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handoutMasterIdLst>
    <p:handoutMasterId r:id="rId18"/>
  </p:handoutMasterIdLst>
  <p:sldIdLst>
    <p:sldId id="1196" r:id="rId2"/>
    <p:sldId id="1194" r:id="rId3"/>
    <p:sldId id="256" r:id="rId4"/>
    <p:sldId id="1180" r:id="rId5"/>
    <p:sldId id="1181" r:id="rId6"/>
    <p:sldId id="1186" r:id="rId7"/>
    <p:sldId id="1159" r:id="rId8"/>
    <p:sldId id="1156" r:id="rId9"/>
    <p:sldId id="1149" r:id="rId10"/>
    <p:sldId id="1178" r:id="rId11"/>
    <p:sldId id="1169" r:id="rId12"/>
    <p:sldId id="1179" r:id="rId13"/>
    <p:sldId id="1168" r:id="rId14"/>
    <p:sldId id="1191" r:id="rId15"/>
    <p:sldId id="1192" r:id="rId16"/>
  </p:sldIdLst>
  <p:sldSz cx="12192000" cy="6858000"/>
  <p:notesSz cx="7099300" cy="102346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A1A42E-9635-48ED-A31C-3B34D71B1AD6}">
          <p14:sldIdLst>
            <p14:sldId id="1196"/>
            <p14:sldId id="1194"/>
            <p14:sldId id="256"/>
            <p14:sldId id="1180"/>
            <p14:sldId id="1181"/>
            <p14:sldId id="1186"/>
            <p14:sldId id="1159"/>
            <p14:sldId id="1156"/>
            <p14:sldId id="1149"/>
            <p14:sldId id="1178"/>
            <p14:sldId id="1169"/>
            <p14:sldId id="1179"/>
            <p14:sldId id="1168"/>
            <p14:sldId id="1191"/>
            <p14:sldId id="11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966"/>
    <a:srgbClr val="FF9FA8"/>
    <a:srgbClr val="FBBFC8"/>
    <a:srgbClr val="F6DF98"/>
    <a:srgbClr val="800080"/>
    <a:srgbClr val="F3CF64"/>
    <a:srgbClr val="FFFD99"/>
    <a:srgbClr val="F2F2F2"/>
    <a:srgbClr val="EAEB01"/>
    <a:srgbClr val="800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70" autoAdjust="0"/>
    <p:restoredTop sz="83129" autoAdjust="0"/>
  </p:normalViewPr>
  <p:slideViewPr>
    <p:cSldViewPr snapToGrid="0">
      <p:cViewPr>
        <p:scale>
          <a:sx n="145" d="100"/>
          <a:sy n="145" d="100"/>
        </p:scale>
        <p:origin x="120" y="-128"/>
      </p:cViewPr>
      <p:guideLst/>
    </p:cSldViewPr>
  </p:slideViewPr>
  <p:notesTextViewPr>
    <p:cViewPr>
      <p:scale>
        <a:sx n="120" d="100"/>
        <a:sy n="120" d="100"/>
      </p:scale>
      <p:origin x="0" y="0"/>
    </p:cViewPr>
  </p:notesTextViewPr>
  <p:sorterViewPr>
    <p:cViewPr>
      <p:scale>
        <a:sx n="200" d="100"/>
        <a:sy n="200" d="100"/>
      </p:scale>
      <p:origin x="0" y="-235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4021139" y="1"/>
            <a:ext cx="3076575" cy="512763"/>
          </a:xfrm>
          <a:prstGeom prst="rect">
            <a:avLst/>
          </a:prstGeom>
        </p:spPr>
        <p:txBody>
          <a:bodyPr vert="horz" lIns="91440" tIns="45720" rIns="91440" bIns="45720" rtlCol="0"/>
          <a:lstStyle>
            <a:lvl1pPr algn="r">
              <a:defRPr sz="1200"/>
            </a:lvl1pPr>
          </a:lstStyle>
          <a:p>
            <a:fld id="{C70AB553-F76C-4E9E-A6A8-687C6D4F2678}" type="datetimeFigureOut">
              <a:rPr lang="zh-TW" altLang="en-US" smtClean="0"/>
              <a:t>2025/10/1</a:t>
            </a:fld>
            <a:endParaRPr lang="zh-TW" altLang="en-US"/>
          </a:p>
        </p:txBody>
      </p:sp>
      <p:sp>
        <p:nvSpPr>
          <p:cNvPr id="4" name="Footer Placeholder 3"/>
          <p:cNvSpPr>
            <a:spLocks noGrp="1"/>
          </p:cNvSpPr>
          <p:nvPr>
            <p:ph type="ftr" sz="quarter" idx="2"/>
          </p:nvPr>
        </p:nvSpPr>
        <p:spPr>
          <a:xfrm>
            <a:off x="1" y="9721851"/>
            <a:ext cx="3076575" cy="512763"/>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4021139" y="9721851"/>
            <a:ext cx="3076575" cy="512763"/>
          </a:xfrm>
          <a:prstGeom prst="rect">
            <a:avLst/>
          </a:prstGeom>
        </p:spPr>
        <p:txBody>
          <a:bodyPr vert="horz" lIns="91440" tIns="45720" rIns="91440" bIns="45720" rtlCol="0" anchor="b"/>
          <a:lstStyle>
            <a:lvl1pPr algn="r">
              <a:defRPr sz="1200"/>
            </a:lvl1pPr>
          </a:lstStyle>
          <a:p>
            <a:fld id="{56A29E38-24E5-4270-86F6-0CA4D49E0625}" type="slidenum">
              <a:rPr lang="zh-TW" altLang="en-US" smtClean="0"/>
              <a:t>‹#›</a:t>
            </a:fld>
            <a:endParaRPr lang="zh-TW" altLang="en-US"/>
          </a:p>
        </p:txBody>
      </p:sp>
    </p:spTree>
    <p:extLst>
      <p:ext uri="{BB962C8B-B14F-4D97-AF65-F5344CB8AC3E}">
        <p14:creationId xmlns:p14="http://schemas.microsoft.com/office/powerpoint/2010/main" val="12523679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endParaRPr lang="zh-TW" altLang="en-US"/>
          </a:p>
        </p:txBody>
      </p:sp>
      <p:sp>
        <p:nvSpPr>
          <p:cNvPr id="3" name="Date Placeholder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fld id="{C2CF7E20-0940-468E-AEA3-3A81AFC8423F}" type="datetimeFigureOut">
              <a:rPr lang="zh-TW" altLang="en-US" smtClean="0"/>
              <a:t>2025/10/1</a:t>
            </a:fld>
            <a:endParaRPr lang="zh-TW" altLang="en-US"/>
          </a:p>
        </p:txBody>
      </p:sp>
      <p:sp>
        <p:nvSpPr>
          <p:cNvPr id="4" name="Slide Image Placeholder 3"/>
          <p:cNvSpPr>
            <a:spLocks noGrp="1" noRot="1" noChangeAspect="1"/>
          </p:cNvSpPr>
          <p:nvPr>
            <p:ph type="sldImg" idx="2"/>
          </p:nvPr>
        </p:nvSpPr>
        <p:spPr>
          <a:xfrm>
            <a:off x="481013" y="1279525"/>
            <a:ext cx="6137275" cy="3452813"/>
          </a:xfrm>
          <a:prstGeom prst="rect">
            <a:avLst/>
          </a:prstGeom>
          <a:noFill/>
          <a:ln w="12700">
            <a:solidFill>
              <a:prstClr val="black"/>
            </a:solidFill>
          </a:ln>
        </p:spPr>
        <p:txBody>
          <a:bodyPr vert="horz" lIns="99048" tIns="49524" rIns="99048" bIns="49524" rtlCol="0" anchor="ctr"/>
          <a:lstStyle/>
          <a:p>
            <a:endParaRPr lang="zh-TW" altLang="en-US"/>
          </a:p>
        </p:txBody>
      </p:sp>
      <p:sp>
        <p:nvSpPr>
          <p:cNvPr id="5" name="Notes Placeholder 4"/>
          <p:cNvSpPr>
            <a:spLocks noGrp="1"/>
          </p:cNvSpPr>
          <p:nvPr>
            <p:ph type="body" sz="quarter" idx="3"/>
          </p:nvPr>
        </p:nvSpPr>
        <p:spPr>
          <a:xfrm>
            <a:off x="709930" y="4925408"/>
            <a:ext cx="5679440" cy="4029878"/>
          </a:xfrm>
          <a:prstGeom prst="rect">
            <a:avLst/>
          </a:prstGeom>
        </p:spPr>
        <p:txBody>
          <a:bodyPr vert="horz" lIns="99048" tIns="49524" rIns="99048" bIns="49524" rtlCol="0"/>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1" y="9721108"/>
            <a:ext cx="3076363" cy="513507"/>
          </a:xfrm>
          <a:prstGeom prst="rect">
            <a:avLst/>
          </a:prstGeom>
        </p:spPr>
        <p:txBody>
          <a:bodyPr vert="horz" lIns="99048" tIns="49524" rIns="99048" bIns="49524" rtlCol="0" anchor="b"/>
          <a:lstStyle>
            <a:lvl1pPr algn="l">
              <a:defRPr sz="1300"/>
            </a:lvl1pPr>
          </a:lstStyle>
          <a:p>
            <a:endParaRPr lang="zh-TW" altLang="en-US"/>
          </a:p>
        </p:txBody>
      </p:sp>
      <p:sp>
        <p:nvSpPr>
          <p:cNvPr id="7" name="Slide Number Placeholder 6"/>
          <p:cNvSpPr>
            <a:spLocks noGrp="1"/>
          </p:cNvSpPr>
          <p:nvPr>
            <p:ph type="sldNum" sz="quarter" idx="5"/>
          </p:nvPr>
        </p:nvSpPr>
        <p:spPr>
          <a:xfrm>
            <a:off x="4021295" y="9721108"/>
            <a:ext cx="3076363" cy="513507"/>
          </a:xfrm>
          <a:prstGeom prst="rect">
            <a:avLst/>
          </a:prstGeom>
        </p:spPr>
        <p:txBody>
          <a:bodyPr vert="horz" lIns="99048" tIns="49524" rIns="99048" bIns="49524" rtlCol="0" anchor="b"/>
          <a:lstStyle>
            <a:lvl1pPr algn="r">
              <a:defRPr sz="1300"/>
            </a:lvl1pPr>
          </a:lstStyle>
          <a:p>
            <a:fld id="{7EE20D91-FCA7-443A-BB7B-86FCD89A57B0}" type="slidenum">
              <a:rPr lang="zh-TW" altLang="en-US" smtClean="0"/>
              <a:t>‹#›</a:t>
            </a:fld>
            <a:endParaRPr lang="zh-TW" altLang="en-US"/>
          </a:p>
        </p:txBody>
      </p:sp>
    </p:spTree>
    <p:extLst>
      <p:ext uri="{BB962C8B-B14F-4D97-AF65-F5344CB8AC3E}">
        <p14:creationId xmlns:p14="http://schemas.microsoft.com/office/powerpoint/2010/main" val="4137020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2</a:t>
            </a:fld>
            <a:endParaRPr lang="zh-TW" altLang="en-US"/>
          </a:p>
        </p:txBody>
      </p:sp>
    </p:spTree>
    <p:extLst>
      <p:ext uri="{BB962C8B-B14F-4D97-AF65-F5344CB8AC3E}">
        <p14:creationId xmlns:p14="http://schemas.microsoft.com/office/powerpoint/2010/main" val="2185696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My name is Chun-Feng Wu.</a:t>
            </a:r>
            <a:br>
              <a:rPr lang="en-US" altLang="zh-CN"/>
            </a:br>
            <a:r>
              <a:rPr lang="en-US" altLang="zh-CN"/>
              <a:t>In this presentation, I will briefly introduce myself and </a:t>
            </a:r>
            <a:r>
              <a:rPr lang="en-US" altLang="zh-TW"/>
              <a:t>share</a:t>
            </a:r>
            <a:r>
              <a:rPr lang="en-US" altLang="zh-CN"/>
              <a:t> some key idea of my researches.</a:t>
            </a:r>
          </a:p>
          <a:p>
            <a:endParaRPr lang="en-US" altLang="zh-CN"/>
          </a:p>
          <a:p>
            <a:r>
              <a:rPr lang="en-US" altLang="zh-CN"/>
              <a:t>Intensive data movement is one of the critical issue when Von-Neumann machines enter the big data era.</a:t>
            </a:r>
          </a:p>
          <a:p>
            <a:r>
              <a:rPr lang="en-US" altLang="zh-CN"/>
              <a:t>To deal with this issue, my research is to enable a fast, large and device-friendly next-generation computing system.</a:t>
            </a:r>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3</a:t>
            </a:fld>
            <a:endParaRPr lang="zh-TW" altLang="en-US"/>
          </a:p>
        </p:txBody>
      </p:sp>
    </p:spTree>
    <p:extLst>
      <p:ext uri="{BB962C8B-B14F-4D97-AF65-F5344CB8AC3E}">
        <p14:creationId xmlns:p14="http://schemas.microsoft.com/office/powerpoint/2010/main" val="3508759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US" altLang="zh-TW" b="0" i="0" dirty="0">
                <a:solidFill>
                  <a:srgbClr val="000000"/>
                </a:solidFill>
                <a:effectLst/>
                <a:latin typeface="Söhne"/>
              </a:rPr>
              <a:t>It's important to note that while descriptor tables are a part of x86 architecture and legacy operating system design, modern operating systems, including Linux, have largely shifted away from relying on descriptor tables for memory protection and process isolation. Instead, they use memory paging (as discussed earlier) for finer-grained and more flexible memory management and protection. Descriptor tables are still used for some low-level CPU-specific tasks, but they are mostly managed by the kernel and are not directly exposed to user-level processes in contemporary operating systems.</a:t>
            </a:r>
          </a:p>
          <a:p>
            <a:pPr algn="l"/>
            <a:br>
              <a:rPr lang="en-US" altLang="zh-TW" b="0" i="0" dirty="0">
                <a:solidFill>
                  <a:srgbClr val="000000"/>
                </a:solidFill>
                <a:effectLst/>
                <a:latin typeface="Söhne"/>
              </a:rPr>
            </a:br>
            <a:endParaRPr lang="en-US" altLang="zh-TW" b="0" i="0" dirty="0">
              <a:solidFill>
                <a:srgbClr val="000000"/>
              </a:solidFill>
              <a:effectLst/>
              <a:latin typeface="Söhne"/>
            </a:endParaRPr>
          </a:p>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4</a:t>
            </a:fld>
            <a:endParaRPr lang="zh-TW" altLang="en-US"/>
          </a:p>
        </p:txBody>
      </p:sp>
    </p:spTree>
    <p:extLst>
      <p:ext uri="{BB962C8B-B14F-4D97-AF65-F5344CB8AC3E}">
        <p14:creationId xmlns:p14="http://schemas.microsoft.com/office/powerpoint/2010/main" val="1668281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https://</a:t>
            </a:r>
            <a:r>
              <a:rPr kumimoji="1" lang="en-US" altLang="zh-TW" dirty="0" err="1"/>
              <a:t>stackoverflow.com</a:t>
            </a:r>
            <a:r>
              <a:rPr kumimoji="1" lang="en-US" altLang="zh-TW" dirty="0"/>
              <a:t>/questions/2754295/what-segments-does-c-compiled-program-use</a:t>
            </a:r>
          </a:p>
          <a:p>
            <a:r>
              <a:rPr kumimoji="1" lang="en-US" altLang="zh-TW" dirty="0"/>
              <a:t>https://</a:t>
            </a:r>
            <a:r>
              <a:rPr kumimoji="1" lang="en-US" altLang="zh-TW" dirty="0" err="1"/>
              <a:t>stackoverflow.com</a:t>
            </a:r>
            <a:r>
              <a:rPr kumimoji="1" lang="en-US" altLang="zh-TW" dirty="0"/>
              <a:t>/questions/14500495/thread-local-and-context-switch</a:t>
            </a:r>
          </a:p>
          <a:p>
            <a:pPr fontAlgn="base"/>
            <a:r>
              <a:rPr lang="en-US" altLang="zh-TW" sz="1200" b="0" i="0" kern="1200" dirty="0">
                <a:solidFill>
                  <a:schemeClr val="tx1"/>
                </a:solidFill>
                <a:effectLst/>
                <a:latin typeface="+mn-lt"/>
                <a:ea typeface="+mn-ea"/>
                <a:cs typeface="+mn-cs"/>
              </a:rPr>
              <a:t>Thread Local Storage is just that - storage per thread. Each thread has it's own private data structure. That thread, whichever processor it runs on, is the same thread. The OS doesn't schedule work WITHIN threads, it schedules which of the threads runs.</a:t>
            </a:r>
          </a:p>
          <a:p>
            <a:pPr fontAlgn="base"/>
            <a:r>
              <a:rPr lang="en-US" altLang="zh-TW" sz="1200" b="0" i="0" kern="1200" dirty="0">
                <a:solidFill>
                  <a:schemeClr val="tx1"/>
                </a:solidFill>
                <a:effectLst/>
                <a:latin typeface="+mn-lt"/>
                <a:ea typeface="+mn-ea"/>
                <a:cs typeface="+mn-cs"/>
              </a:rPr>
              <a:t>The thread local storage is </a:t>
            </a:r>
            <a:r>
              <a:rPr lang="en-US" altLang="zh-TW" sz="1200" b="0" i="0" kern="1200" dirty="0" err="1">
                <a:solidFill>
                  <a:schemeClr val="tx1"/>
                </a:solidFill>
                <a:effectLst/>
                <a:latin typeface="+mn-lt"/>
                <a:ea typeface="+mn-ea"/>
                <a:cs typeface="+mn-cs"/>
              </a:rPr>
              <a:t>acomplished</a:t>
            </a:r>
            <a:r>
              <a:rPr lang="en-US" altLang="zh-TW" sz="1200" b="0" i="0" kern="1200" dirty="0">
                <a:solidFill>
                  <a:schemeClr val="tx1"/>
                </a:solidFill>
                <a:effectLst/>
                <a:latin typeface="+mn-lt"/>
                <a:ea typeface="+mn-ea"/>
                <a:cs typeface="+mn-cs"/>
              </a:rPr>
              <a:t> by having some sort of indirection, which is changed along with the thread itself. There are several ways to do this, for example, the OS may have a particular page at a particular offset from the start of virtual memory in the process, and when a thread is scheduled, the page-table is updated to match the thread.</a:t>
            </a:r>
          </a:p>
          <a:p>
            <a:pPr fontAlgn="base"/>
            <a:r>
              <a:rPr lang="en-US" altLang="zh-TW" sz="1200" b="0" i="0" kern="1200" dirty="0">
                <a:solidFill>
                  <a:schemeClr val="tx1"/>
                </a:solidFill>
                <a:effectLst/>
                <a:latin typeface="+mn-lt"/>
                <a:ea typeface="+mn-ea"/>
                <a:cs typeface="+mn-cs"/>
              </a:rPr>
              <a:t>In x86 processors, FS or GS is typically used for "per-thread" data, so the OS will switch the FS register [or the content of the base-address of the register in case of 64-bit processors]. When reading the TLS, the compiler will use the FS or GS segment register to prefix the memory read/write operations, and thus you always get "your private data", not some other threads.</a:t>
            </a:r>
          </a:p>
          <a:p>
            <a:endParaRPr kumimoji="1" lang="en-US" altLang="zh-TW" dirty="0"/>
          </a:p>
          <a:p>
            <a:endParaRPr kumimoji="1" lang="en-US" altLang="zh-TW" dirty="0"/>
          </a:p>
          <a:p>
            <a:r>
              <a:rPr kumimoji="1" lang="en-US" altLang="zh-TW" dirty="0"/>
              <a:t>https://</a:t>
            </a:r>
            <a:r>
              <a:rPr kumimoji="1" lang="en-US" altLang="zh-TW" dirty="0" err="1"/>
              <a:t>stackoverflow.com</a:t>
            </a:r>
            <a:r>
              <a:rPr kumimoji="1" lang="en-US" altLang="zh-TW" dirty="0"/>
              <a:t>/questions/35692188/what-is-thread-local-storage-why-we-need-it</a:t>
            </a:r>
          </a:p>
          <a:p>
            <a:pPr fontAlgn="base"/>
            <a:r>
              <a:rPr lang="en-US" altLang="zh-TW" sz="1200" kern="1200" dirty="0">
                <a:solidFill>
                  <a:schemeClr val="tx1"/>
                </a:solidFill>
                <a:effectLst/>
                <a:latin typeface="+mn-lt"/>
                <a:ea typeface="+mn-ea"/>
                <a:cs typeface="+mn-cs"/>
              </a:rPr>
              <a:t>Static and global data are shared across all the threads. If you modified a global/static variable it is visible to all the threads. Unlike global/shared variable if you create a variable in TLS, every thread has its own copy of the variable, i.e. changes to the variable is local to the thread. Unlike global variable where an access is made through </a:t>
            </a:r>
            <a:r>
              <a:rPr lang="en-US" altLang="zh-TW" sz="1200" i="1" kern="1200" dirty="0">
                <a:solidFill>
                  <a:schemeClr val="tx1"/>
                </a:solidFill>
                <a:effectLst/>
                <a:latin typeface="+mn-lt"/>
                <a:ea typeface="+mn-ea"/>
                <a:cs typeface="+mn-cs"/>
              </a:rPr>
              <a:t>ds</a:t>
            </a:r>
            <a:r>
              <a:rPr lang="en-US" altLang="zh-TW" sz="1200" kern="1200" dirty="0">
                <a:solidFill>
                  <a:schemeClr val="tx1"/>
                </a:solidFill>
                <a:effectLst/>
                <a:latin typeface="+mn-lt"/>
                <a:ea typeface="+mn-ea"/>
                <a:cs typeface="+mn-cs"/>
              </a:rPr>
              <a:t> segment, the TLS variable are accessed using (</a:t>
            </a:r>
            <a:r>
              <a:rPr lang="en-US" altLang="zh-TW" sz="1200" i="1" kern="1200" dirty="0" err="1">
                <a:solidFill>
                  <a:schemeClr val="tx1"/>
                </a:solidFill>
                <a:effectLst/>
                <a:latin typeface="+mn-lt"/>
                <a:ea typeface="+mn-ea"/>
                <a:cs typeface="+mn-cs"/>
              </a:rPr>
              <a:t>gs</a:t>
            </a:r>
            <a:r>
              <a:rPr lang="en-US" altLang="zh-TW" sz="1200" i="1" kern="1200" dirty="0">
                <a:solidFill>
                  <a:schemeClr val="tx1"/>
                </a:solidFill>
                <a:effectLst/>
                <a:latin typeface="+mn-lt"/>
                <a:ea typeface="+mn-ea"/>
                <a:cs typeface="+mn-cs"/>
              </a:rPr>
              <a:t>/fs</a:t>
            </a:r>
            <a:r>
              <a:rPr lang="en-US" altLang="zh-TW" sz="1200" kern="1200" dirty="0">
                <a:solidFill>
                  <a:schemeClr val="tx1"/>
                </a:solidFill>
                <a:effectLst/>
                <a:latin typeface="+mn-lt"/>
                <a:ea typeface="+mn-ea"/>
                <a:cs typeface="+mn-cs"/>
              </a:rPr>
              <a:t>) segment. A good way to learn about it is to look at the disassembly generated by the compiler.</a:t>
            </a:r>
            <a:br>
              <a:rPr lang="en-US" altLang="zh-TW" sz="1200" kern="1200" dirty="0">
                <a:solidFill>
                  <a:schemeClr val="tx1"/>
                </a:solidFill>
                <a:effectLst/>
                <a:latin typeface="+mn-lt"/>
                <a:ea typeface="+mn-ea"/>
                <a:cs typeface="+mn-cs"/>
              </a:rPr>
            </a:br>
            <a:br>
              <a:rPr lang="en-US" altLang="zh-TW" sz="1200" kern="1200" dirty="0">
                <a:solidFill>
                  <a:schemeClr val="tx1"/>
                </a:solidFill>
                <a:effectLst/>
                <a:latin typeface="+mn-lt"/>
                <a:ea typeface="+mn-ea"/>
                <a:cs typeface="+mn-cs"/>
              </a:rPr>
            </a:br>
            <a:r>
              <a:rPr lang="en-US" altLang="zh-TW" sz="1200" kern="1200" dirty="0">
                <a:solidFill>
                  <a:schemeClr val="tx1"/>
                </a:solidFill>
                <a:effectLst/>
                <a:latin typeface="+mn-lt"/>
                <a:ea typeface="+mn-ea"/>
                <a:cs typeface="+mn-cs"/>
              </a:rPr>
              <a:t>PDA: https://</a:t>
            </a:r>
            <a:r>
              <a:rPr lang="en-US" altLang="zh-TW" sz="1200" kern="1200" dirty="0" err="1">
                <a:solidFill>
                  <a:schemeClr val="tx1"/>
                </a:solidFill>
                <a:effectLst/>
                <a:latin typeface="+mn-lt"/>
                <a:ea typeface="+mn-ea"/>
                <a:cs typeface="+mn-cs"/>
              </a:rPr>
              <a:t>blog.csdn.net</a:t>
            </a:r>
            <a:r>
              <a:rPr lang="en-US" altLang="zh-TW" sz="1200" kern="1200" dirty="0">
                <a:solidFill>
                  <a:schemeClr val="tx1"/>
                </a:solidFill>
                <a:effectLst/>
                <a:latin typeface="+mn-lt"/>
                <a:ea typeface="+mn-ea"/>
                <a:cs typeface="+mn-cs"/>
              </a:rPr>
              <a:t>/</a:t>
            </a:r>
            <a:r>
              <a:rPr lang="en-US" altLang="zh-TW" sz="1200" kern="1200" dirty="0" err="1">
                <a:solidFill>
                  <a:schemeClr val="tx1"/>
                </a:solidFill>
                <a:effectLst/>
                <a:latin typeface="+mn-lt"/>
                <a:ea typeface="+mn-ea"/>
                <a:cs typeface="+mn-cs"/>
              </a:rPr>
              <a:t>bingqingsuimeng</a:t>
            </a:r>
            <a:r>
              <a:rPr lang="en-US" altLang="zh-TW" sz="1200" kern="1200" dirty="0">
                <a:solidFill>
                  <a:schemeClr val="tx1"/>
                </a:solidFill>
                <a:effectLst/>
                <a:latin typeface="+mn-lt"/>
                <a:ea typeface="+mn-ea"/>
                <a:cs typeface="+mn-cs"/>
              </a:rPr>
              <a:t>/article/details/7856702</a:t>
            </a:r>
          </a:p>
          <a:p>
            <a:pPr fontAlgn="base"/>
            <a:br>
              <a:rPr lang="en-US" altLang="zh-TW" sz="1200" b="0" i="0" kern="1200" dirty="0">
                <a:solidFill>
                  <a:schemeClr val="tx1"/>
                </a:solidFill>
                <a:effectLst/>
                <a:latin typeface="+mn-lt"/>
                <a:ea typeface="+mn-ea"/>
                <a:cs typeface="+mn-cs"/>
              </a:rPr>
            </a:b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5</a:t>
            </a:fld>
            <a:endParaRPr lang="zh-TW" altLang="en-US"/>
          </a:p>
        </p:txBody>
      </p:sp>
    </p:spTree>
    <p:extLst>
      <p:ext uri="{BB962C8B-B14F-4D97-AF65-F5344CB8AC3E}">
        <p14:creationId xmlns:p14="http://schemas.microsoft.com/office/powerpoint/2010/main" val="408171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6</a:t>
            </a:fld>
            <a:endParaRPr lang="zh-TW" altLang="en-US"/>
          </a:p>
        </p:txBody>
      </p:sp>
    </p:spTree>
    <p:extLst>
      <p:ext uri="{BB962C8B-B14F-4D97-AF65-F5344CB8AC3E}">
        <p14:creationId xmlns:p14="http://schemas.microsoft.com/office/powerpoint/2010/main" val="1748337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a:solidFill>
                  <a:schemeClr val="tx1"/>
                </a:solidFill>
                <a:effectLst/>
                <a:latin typeface="+mn-lt"/>
                <a:ea typeface="+mn-ea"/>
                <a:cs typeface="+mn-cs"/>
              </a:rPr>
              <a:t>It is not possible for user-space applications to execute kernel code directly </a:t>
            </a:r>
          </a:p>
          <a:p>
            <a:endParaRPr lang="en-US" altLang="zh-TW"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a:solidFill>
                  <a:schemeClr val="tx1"/>
                </a:solidFill>
                <a:effectLst/>
                <a:latin typeface="+mn-lt"/>
                <a:ea typeface="+mn-ea"/>
                <a:cs typeface="+mn-cs"/>
              </a:rPr>
              <a:t>Before causing the trap into the kernel, user-space sticks in eax the number corresponding to the desired system call.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a:solidFill>
                  <a:schemeClr val="tx1"/>
                </a:solidFill>
                <a:effectLst/>
                <a:latin typeface="+mn-lt"/>
                <a:ea typeface="+mn-ea"/>
                <a:cs typeface="+mn-cs"/>
              </a:rPr>
              <a:t>The system call handler then reads the value from eax. Other architectures do something similar. </a:t>
            </a:r>
            <a:endParaRPr lang="en-US" altLang="zh-TW"/>
          </a:p>
          <a:p>
            <a:endParaRPr lang="en-US" altLang="zh-TW" sz="1200" kern="1200">
              <a:solidFill>
                <a:schemeClr val="tx1"/>
              </a:solidFill>
              <a:effectLst/>
              <a:latin typeface="+mn-lt"/>
              <a:ea typeface="+mn-ea"/>
              <a:cs typeface="+mn-cs"/>
            </a:endParaRPr>
          </a:p>
          <a:p>
            <a:endParaRPr lang="en-US" altLang="zh-TW"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a:solidFill>
                  <a:schemeClr val="tx1"/>
                </a:solidFill>
                <a:latin typeface="+mn-lt"/>
                <a:cs typeface="Arial" panose="020B0604020202020204" pitchFamily="34" charset="0"/>
                <a:sym typeface="Wingdings" pitchFamily="2" charset="2"/>
              </a:rPr>
              <a:t>A</a:t>
            </a:r>
            <a:r>
              <a:rPr kumimoji="1" lang="zh-TW" altLang="en-US">
                <a:solidFill>
                  <a:schemeClr val="tx1"/>
                </a:solidFill>
                <a:latin typeface="+mn-lt"/>
                <a:cs typeface="Arial" panose="020B0604020202020204" pitchFamily="34" charset="0"/>
                <a:sym typeface="Wingdings" pitchFamily="2" charset="2"/>
              </a:rPr>
              <a:t> </a:t>
            </a:r>
            <a:r>
              <a:rPr lang="en-US" altLang="zh-TW">
                <a:solidFill>
                  <a:schemeClr val="tx1"/>
                </a:solidFill>
                <a:latin typeface="+mn-lt"/>
                <a:cs typeface="Arial" panose="020B0604020202020204" pitchFamily="34" charset="0"/>
                <a:sym typeface="Wingdings" pitchFamily="2" charset="2"/>
              </a:rPr>
              <a:t>faster</a:t>
            </a:r>
            <a:r>
              <a:rPr lang="zh-TW" altLang="en-US">
                <a:solidFill>
                  <a:schemeClr val="tx1"/>
                </a:solidFill>
                <a:latin typeface="+mn-lt"/>
                <a:cs typeface="Arial" panose="020B0604020202020204" pitchFamily="34" charset="0"/>
                <a:sym typeface="Wingdings" pitchFamily="2" charset="2"/>
              </a:rPr>
              <a:t> </a:t>
            </a:r>
            <a:r>
              <a:rPr lang="en-US" altLang="zh-TW">
                <a:solidFill>
                  <a:schemeClr val="tx1"/>
                </a:solidFill>
                <a:latin typeface="+mn-lt"/>
                <a:cs typeface="Arial" panose="020B0604020202020204" pitchFamily="34" charset="0"/>
                <a:sym typeface="Wingdings" pitchFamily="2" charset="2"/>
              </a:rPr>
              <a:t>way:</a:t>
            </a:r>
            <a:r>
              <a:rPr lang="zh-TW" altLang="en-US">
                <a:solidFill>
                  <a:schemeClr val="tx1"/>
                </a:solidFill>
                <a:latin typeface="+mn-lt"/>
                <a:cs typeface="Arial" panose="020B0604020202020204" pitchFamily="34" charset="0"/>
                <a:sym typeface="Wingdings" pitchFamily="2" charset="2"/>
              </a:rPr>
              <a:t> </a:t>
            </a:r>
            <a:r>
              <a:rPr lang="en-US" altLang="zh-TW">
                <a:solidFill>
                  <a:schemeClr val="tx1"/>
                </a:solidFill>
                <a:latin typeface="+mn-lt"/>
                <a:cs typeface="Arial" panose="020B0604020202020204" pitchFamily="34" charset="0"/>
                <a:sym typeface="Wingdings" pitchFamily="2" charset="2"/>
              </a:rPr>
              <a:t>Sysenter</a:t>
            </a:r>
            <a:endParaRPr kumimoji="1" lang="zh-TW" altLang="en-US">
              <a:solidFill>
                <a:schemeClr val="tx1"/>
              </a:solidFill>
              <a:latin typeface="+mn-lt"/>
              <a:cs typeface="Arial" panose="020B0604020202020204" pitchFamily="34" charset="0"/>
            </a:endParaRPr>
          </a:p>
          <a:p>
            <a:endParaRPr lang="en-US" altLang="zh-TW"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7</a:t>
            </a:fld>
            <a:endParaRPr lang="zh-TW" altLang="en-US"/>
          </a:p>
        </p:txBody>
      </p:sp>
    </p:spTree>
    <p:extLst>
      <p:ext uri="{BB962C8B-B14F-4D97-AF65-F5344CB8AC3E}">
        <p14:creationId xmlns:p14="http://schemas.microsoft.com/office/powerpoint/2010/main" val="4093491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10"/>
          </p:nvPr>
        </p:nvSpPr>
        <p:spPr/>
        <p:txBody>
          <a:bodyPr/>
          <a:lstStyle/>
          <a:p>
            <a:fld id="{7EE20D91-FCA7-443A-BB7B-86FCD89A57B0}" type="slidenum">
              <a:rPr lang="zh-TW" altLang="en-US" smtClean="0"/>
              <a:t>8</a:t>
            </a:fld>
            <a:endParaRPr lang="zh-TW" altLang="en-US"/>
          </a:p>
        </p:txBody>
      </p:sp>
    </p:spTree>
    <p:extLst>
      <p:ext uri="{BB962C8B-B14F-4D97-AF65-F5344CB8AC3E}">
        <p14:creationId xmlns:p14="http://schemas.microsoft.com/office/powerpoint/2010/main" val="3804019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9</a:t>
            </a:fld>
            <a:endParaRPr lang="zh-TW" altLang="en-US"/>
          </a:p>
        </p:txBody>
      </p:sp>
    </p:spTree>
    <p:extLst>
      <p:ext uri="{BB962C8B-B14F-4D97-AF65-F5344CB8AC3E}">
        <p14:creationId xmlns:p14="http://schemas.microsoft.com/office/powerpoint/2010/main" val="3168405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10</a:t>
            </a:fld>
            <a:endParaRPr lang="zh-TW" altLang="en-US"/>
          </a:p>
        </p:txBody>
      </p:sp>
    </p:spTree>
    <p:extLst>
      <p:ext uri="{BB962C8B-B14F-4D97-AF65-F5344CB8AC3E}">
        <p14:creationId xmlns:p14="http://schemas.microsoft.com/office/powerpoint/2010/main" val="3564833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11</a:t>
            </a:fld>
            <a:endParaRPr lang="zh-TW" altLang="en-US"/>
          </a:p>
        </p:txBody>
      </p:sp>
    </p:spTree>
    <p:extLst>
      <p:ext uri="{BB962C8B-B14F-4D97-AF65-F5344CB8AC3E}">
        <p14:creationId xmlns:p14="http://schemas.microsoft.com/office/powerpoint/2010/main" val="2525377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Actually, there is no specific name for the table inside interrupt controller</a:t>
            </a:r>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12</a:t>
            </a:fld>
            <a:endParaRPr lang="zh-TW" altLang="en-US"/>
          </a:p>
        </p:txBody>
      </p:sp>
    </p:spTree>
    <p:extLst>
      <p:ext uri="{BB962C8B-B14F-4D97-AF65-F5344CB8AC3E}">
        <p14:creationId xmlns:p14="http://schemas.microsoft.com/office/powerpoint/2010/main" val="804525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EE20D91-FCA7-443A-BB7B-86FCD89A57B0}" type="slidenum">
              <a:rPr lang="zh-TW" altLang="en-US" smtClean="0"/>
              <a:t>13</a:t>
            </a:fld>
            <a:endParaRPr lang="zh-TW" altLang="en-US"/>
          </a:p>
        </p:txBody>
      </p:sp>
    </p:spTree>
    <p:extLst>
      <p:ext uri="{BB962C8B-B14F-4D97-AF65-F5344CB8AC3E}">
        <p14:creationId xmlns:p14="http://schemas.microsoft.com/office/powerpoint/2010/main" val="29382358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圖片 3" descr="一張含有 符號, 標誌, 圖形, 圓形 的圖片&#10;&#10;自動產生的描述">
            <a:extLst>
              <a:ext uri="{FF2B5EF4-FFF2-40B4-BE49-F238E27FC236}">
                <a16:creationId xmlns:a16="http://schemas.microsoft.com/office/drawing/2014/main" id="{B56F5430-B8B8-5B49-D020-4366AEE738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3050" y="-256485"/>
            <a:ext cx="1906380" cy="1906380"/>
          </a:xfrm>
          <a:prstGeom prst="rect">
            <a:avLst/>
          </a:prstGeom>
        </p:spPr>
      </p:pic>
    </p:spTree>
    <p:extLst>
      <p:ext uri="{BB962C8B-B14F-4D97-AF65-F5344CB8AC3E}">
        <p14:creationId xmlns:p14="http://schemas.microsoft.com/office/powerpoint/2010/main" val="96630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7800" y="174625"/>
            <a:ext cx="11836400" cy="1063625"/>
          </a:xfrm>
        </p:spPr>
        <p:txBody>
          <a:bodyPr>
            <a:normAutofit/>
          </a:bodyPr>
          <a:lstStyle>
            <a:lvl1pPr algn="ctr" rtl="0" fontAlgn="base">
              <a:spcBef>
                <a:spcPct val="0"/>
              </a:spcBef>
              <a:spcAft>
                <a:spcPct val="0"/>
              </a:spcAft>
              <a:defRPr kumimoji="1" lang="zh-TW" altLang="en-US" sz="4400" b="1" kern="1200" dirty="0">
                <a:solidFill>
                  <a:schemeClr val="tx1"/>
                </a:solidFill>
                <a:latin typeface="Calibri" panose="020F0502020204030204" pitchFamily="34" charset="0"/>
                <a:ea typeface="+mj-ea"/>
                <a:cs typeface="Calibri" panose="020F0502020204030204" pitchFamily="34" charset="0"/>
              </a:defRPr>
            </a:lvl1pPr>
          </a:lstStyle>
          <a:p>
            <a:r>
              <a:rPr lang="en-US" altLang="zh-TW" dirty="0"/>
              <a:t>Click to edit Master title style</a:t>
            </a:r>
            <a:endParaRPr lang="zh-TW" altLang="en-US" dirty="0"/>
          </a:p>
        </p:txBody>
      </p:sp>
      <p:sp>
        <p:nvSpPr>
          <p:cNvPr id="3" name="Content Placeholder 2"/>
          <p:cNvSpPr>
            <a:spLocks noGrp="1"/>
          </p:cNvSpPr>
          <p:nvPr>
            <p:ph idx="1"/>
          </p:nvPr>
        </p:nvSpPr>
        <p:spPr>
          <a:xfrm>
            <a:off x="177800" y="1238250"/>
            <a:ext cx="11836400" cy="5441950"/>
          </a:xfrm>
        </p:spPr>
        <p:txBody>
          <a:bodyPr/>
          <a:lstStyle>
            <a:lvl1pPr algn="just">
              <a:spcBef>
                <a:spcPts val="0"/>
              </a:spcBef>
              <a:defRPr sz="2800">
                <a:latin typeface="Calibri" panose="020F0502020204030204" pitchFamily="34" charset="0"/>
                <a:cs typeface="Calibri" panose="020F0502020204030204" pitchFamily="34" charset="0"/>
              </a:defRPr>
            </a:lvl1pPr>
            <a:lvl2pPr marL="742950" indent="-285750" algn="just">
              <a:spcBef>
                <a:spcPts val="0"/>
              </a:spcBef>
              <a:buFont typeface="Arial" panose="020B0604020202020204" pitchFamily="34" charset="0"/>
              <a:buChar char="•"/>
              <a:defRPr sz="2400">
                <a:latin typeface="Calibri" panose="020F0502020204030204" pitchFamily="34" charset="0"/>
                <a:cs typeface="Calibri" panose="020F0502020204030204" pitchFamily="34" charset="0"/>
              </a:defRPr>
            </a:lvl2pPr>
            <a:lvl3pPr algn="just">
              <a:spcBef>
                <a:spcPts val="0"/>
              </a:spcBef>
              <a:defRPr sz="2000">
                <a:latin typeface="Calibri" panose="020F0502020204030204" pitchFamily="34" charset="0"/>
                <a:cs typeface="Calibri" panose="020F0502020204030204" pitchFamily="34" charset="0"/>
              </a:defRPr>
            </a:lvl3pPr>
            <a:lvl4pPr algn="just">
              <a:spcBef>
                <a:spcPts val="0"/>
              </a:spcBef>
              <a:defRPr sz="2400">
                <a:latin typeface="Calibri" panose="020F0502020204030204" pitchFamily="34" charset="0"/>
                <a:cs typeface="Calibri" panose="020F0502020204030204" pitchFamily="34" charset="0"/>
              </a:defRPr>
            </a:lvl4pPr>
            <a:lvl5pPr algn="just">
              <a:spcBef>
                <a:spcPts val="0"/>
              </a:spcBef>
              <a:defRPr sz="2400">
                <a:latin typeface="Calibri" panose="020F0502020204030204" pitchFamily="34" charset="0"/>
                <a:cs typeface="Calibri" panose="020F0502020204030204" pitchFamily="34" charset="0"/>
              </a:defRPr>
            </a:lvl5pPr>
          </a:lstStyle>
          <a:p>
            <a:pPr lvl="0"/>
            <a:r>
              <a:rPr lang="en-US" altLang="zh-TW" dirty="0"/>
              <a:t>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12" name="Slide Number Placeholder 8"/>
          <p:cNvSpPr>
            <a:spLocks noGrp="1"/>
          </p:cNvSpPr>
          <p:nvPr>
            <p:ph type="sldNum" sz="quarter" idx="4"/>
          </p:nvPr>
        </p:nvSpPr>
        <p:spPr>
          <a:xfrm>
            <a:off x="11668124" y="11113"/>
            <a:ext cx="523875" cy="484187"/>
          </a:xfrm>
          <a:prstGeom prst="rect">
            <a:avLst/>
          </a:prstGeom>
        </p:spPr>
        <p:txBody>
          <a:bodyPr vert="horz" lIns="91440" tIns="45720" rIns="91440" bIns="45720" rtlCol="0" anchor="ctr"/>
          <a:lstStyle>
            <a:lvl1pPr algn="ctr">
              <a:defRPr sz="1600" b="0">
                <a:solidFill>
                  <a:schemeClr val="tx1"/>
                </a:solidFill>
                <a:latin typeface="+mn-lt"/>
                <a:cs typeface="Arial" panose="020B0604020202020204" pitchFamily="34" charset="0"/>
              </a:defRPr>
            </a:lvl1pPr>
          </a:lstStyle>
          <a:p>
            <a:fld id="{E24E6636-6BA5-4AAC-8485-BE8D914D288B}" type="slidenum">
              <a:rPr lang="zh-TW" altLang="en-US" smtClean="0"/>
              <a:pPr/>
              <a:t>‹#›</a:t>
            </a:fld>
            <a:endParaRPr lang="zh-TW" altLang="en-US" dirty="0"/>
          </a:p>
        </p:txBody>
      </p:sp>
      <p:sp>
        <p:nvSpPr>
          <p:cNvPr id="4" name="文字方塊 3">
            <a:extLst>
              <a:ext uri="{FF2B5EF4-FFF2-40B4-BE49-F238E27FC236}">
                <a16:creationId xmlns:a16="http://schemas.microsoft.com/office/drawing/2014/main" id="{F2B048F7-DAB4-F1CA-94CE-9FBF17A495C6}"/>
              </a:ext>
            </a:extLst>
          </p:cNvPr>
          <p:cNvSpPr txBox="1"/>
          <p:nvPr userDrawn="1"/>
        </p:nvSpPr>
        <p:spPr>
          <a:xfrm>
            <a:off x="0" y="-37131"/>
            <a:ext cx="4750018" cy="276999"/>
          </a:xfrm>
          <a:prstGeom prst="rect">
            <a:avLst/>
          </a:prstGeom>
          <a:noFill/>
        </p:spPr>
        <p:txBody>
          <a:bodyPr wrap="none" rtlCol="0">
            <a:spAutoFit/>
          </a:bodyPr>
          <a:lstStyle/>
          <a:p>
            <a:r>
              <a:rPr kumimoji="1" lang="en-US" altLang="zh-TW" sz="1200" b="1" i="0" dirty="0">
                <a:solidFill>
                  <a:schemeClr val="bg1">
                    <a:lumMod val="85000"/>
                  </a:schemeClr>
                </a:solidFill>
                <a:latin typeface="Bradley Hand" pitchFamily="2" charset="0"/>
                <a:ea typeface="Brush Script MT" panose="03060802040406070304" pitchFamily="66" charset="-122"/>
                <a:cs typeface="Brush Script MT" panose="03060802040406070304" pitchFamily="66" charset="-122"/>
              </a:rPr>
              <a:t>National Yang Ming Chiao Tung University, Prof. Chun-Feng Wu</a:t>
            </a:r>
            <a:endParaRPr kumimoji="1" lang="zh-TW" altLang="en-US" sz="1200" b="1" i="0" dirty="0">
              <a:solidFill>
                <a:schemeClr val="bg1">
                  <a:lumMod val="85000"/>
                </a:schemeClr>
              </a:solidFill>
              <a:latin typeface="Bradley Hand" pitchFamily="2" charset="0"/>
              <a:ea typeface="STXingkai" panose="02010800040101010101" pitchFamily="2" charset="-122"/>
              <a:cs typeface="Brush Script MT" panose="03060802040406070304" pitchFamily="66" charset="-122"/>
            </a:endParaRPr>
          </a:p>
        </p:txBody>
      </p:sp>
    </p:spTree>
    <p:extLst>
      <p:ext uri="{BB962C8B-B14F-4D97-AF65-F5344CB8AC3E}">
        <p14:creationId xmlns:p14="http://schemas.microsoft.com/office/powerpoint/2010/main" val="108185610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Edit Master text styles</a:t>
            </a:r>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B2307BF4-857F-4354-B3C4-3040B9A2E51B}" type="datetime1">
              <a:rPr lang="zh-TW" altLang="en-US" smtClean="0"/>
              <a:t>2025/10/1</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44603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10EEA130-8DE6-4C11-A9CB-C786C33DE380}" type="datetime1">
              <a:rPr lang="zh-TW" altLang="en-US" smtClean="0"/>
              <a:t>2025/10/1</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933340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p:cNvSpPr>
            <a:spLocks noGrp="1"/>
          </p:cNvSpPr>
          <p:nvPr>
            <p:ph type="dt" sz="half" idx="10"/>
          </p:nvPr>
        </p:nvSpPr>
        <p:spPr>
          <a:xfrm>
            <a:off x="348342" y="6356350"/>
            <a:ext cx="1800000" cy="365125"/>
          </a:xfrm>
          <a:prstGeom prst="rect">
            <a:avLst/>
          </a:prstGeom>
        </p:spPr>
        <p:txBody>
          <a:bodyPr/>
          <a:lstStyle/>
          <a:p>
            <a:fld id="{9D1323E2-54AF-4A4F-968B-FCF5A3DE404F}" type="datetime1">
              <a:rPr lang="zh-TW" altLang="en-US" smtClean="0"/>
              <a:t>2025/10/1</a:t>
            </a:fld>
            <a:endParaRPr lang="zh-TW" altLang="en-US"/>
          </a:p>
        </p:txBody>
      </p:sp>
      <p:sp>
        <p:nvSpPr>
          <p:cNvPr id="8" name="Footer Placeholder 7"/>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9" name="Slide Number Placeholder 8"/>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4074015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Date Placeholder 2"/>
          <p:cNvSpPr>
            <a:spLocks noGrp="1"/>
          </p:cNvSpPr>
          <p:nvPr>
            <p:ph type="dt" sz="half" idx="10"/>
          </p:nvPr>
        </p:nvSpPr>
        <p:spPr>
          <a:xfrm>
            <a:off x="348342" y="6356350"/>
            <a:ext cx="1800000" cy="365125"/>
          </a:xfrm>
          <a:prstGeom prst="rect">
            <a:avLst/>
          </a:prstGeom>
        </p:spPr>
        <p:txBody>
          <a:bodyPr/>
          <a:lstStyle/>
          <a:p>
            <a:fld id="{51747F57-0BE0-4E55-AF02-7E0C58AC5A0B}" type="datetime1">
              <a:rPr lang="zh-TW" altLang="en-US" smtClean="0"/>
              <a:t>2025/10/1</a:t>
            </a:fld>
            <a:endParaRPr lang="zh-TW" altLang="en-US"/>
          </a:p>
        </p:txBody>
      </p:sp>
      <p:sp>
        <p:nvSpPr>
          <p:cNvPr id="4" name="Footer Placeholder 3"/>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5" name="Slide Number Placeholder 4"/>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29600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48342" y="6356350"/>
            <a:ext cx="1800000" cy="365125"/>
          </a:xfrm>
          <a:prstGeom prst="rect">
            <a:avLst/>
          </a:prstGeom>
        </p:spPr>
        <p:txBody>
          <a:bodyPr/>
          <a:lstStyle/>
          <a:p>
            <a:fld id="{3BBAC840-47DB-4C07-9D45-73E1CD955F46}" type="datetime1">
              <a:rPr lang="zh-TW" altLang="en-US" smtClean="0"/>
              <a:t>2025/10/1</a:t>
            </a:fld>
            <a:endParaRPr lang="zh-TW" altLang="en-US"/>
          </a:p>
        </p:txBody>
      </p:sp>
      <p:sp>
        <p:nvSpPr>
          <p:cNvPr id="3" name="Footer Placeholder 2"/>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4" name="Slide Number Placeholder 3"/>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750865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B8C0969B-135B-4FC6-B762-AA1CE3881354}" type="datetime1">
              <a:rPr lang="zh-TW" altLang="en-US" smtClean="0"/>
              <a:t>2025/10/1</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94921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Edit Master text styles</a:t>
            </a:r>
          </a:p>
        </p:txBody>
      </p:sp>
      <p:sp>
        <p:nvSpPr>
          <p:cNvPr id="5" name="Date Placeholder 4"/>
          <p:cNvSpPr>
            <a:spLocks noGrp="1"/>
          </p:cNvSpPr>
          <p:nvPr>
            <p:ph type="dt" sz="half" idx="10"/>
          </p:nvPr>
        </p:nvSpPr>
        <p:spPr>
          <a:xfrm>
            <a:off x="348342" y="6356350"/>
            <a:ext cx="1800000" cy="365125"/>
          </a:xfrm>
          <a:prstGeom prst="rect">
            <a:avLst/>
          </a:prstGeom>
        </p:spPr>
        <p:txBody>
          <a:bodyPr/>
          <a:lstStyle/>
          <a:p>
            <a:fld id="{24AF6340-6F1C-4989-B134-2CA68BC9EAFF}" type="datetime1">
              <a:rPr lang="zh-TW" altLang="en-US" smtClean="0"/>
              <a:t>2025/10/1</a:t>
            </a:fld>
            <a:endParaRPr lang="zh-TW" altLang="en-US"/>
          </a:p>
        </p:txBody>
      </p:sp>
      <p:sp>
        <p:nvSpPr>
          <p:cNvPr id="6" name="Footer Placeholder 5"/>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7" name="Slide Number Placeholder 6"/>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165085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Vertical Text Placeholder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60D8C7A9-0C67-4424-9979-8CFF97287F2E}" type="datetime1">
              <a:rPr lang="zh-TW" altLang="en-US" smtClean="0"/>
              <a:t>2025/10/1</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3206704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p:cNvSpPr>
            <a:spLocks noGrp="1"/>
          </p:cNvSpPr>
          <p:nvPr>
            <p:ph type="dt" sz="half" idx="10"/>
          </p:nvPr>
        </p:nvSpPr>
        <p:spPr>
          <a:xfrm>
            <a:off x="348342" y="6356350"/>
            <a:ext cx="1800000" cy="365125"/>
          </a:xfrm>
          <a:prstGeom prst="rect">
            <a:avLst/>
          </a:prstGeom>
        </p:spPr>
        <p:txBody>
          <a:bodyPr/>
          <a:lstStyle/>
          <a:p>
            <a:fld id="{AD10B1A8-9302-408C-B76D-C3FA78E2A799}" type="datetime1">
              <a:rPr lang="zh-TW" altLang="en-US" smtClean="0"/>
              <a:t>2025/10/1</a:t>
            </a:fld>
            <a:endParaRPr lang="zh-TW" altLang="en-US"/>
          </a:p>
        </p:txBody>
      </p:sp>
      <p:sp>
        <p:nvSpPr>
          <p:cNvPr id="5" name="Footer Placeholder 4"/>
          <p:cNvSpPr>
            <a:spLocks noGrp="1"/>
          </p:cNvSpPr>
          <p:nvPr>
            <p:ph type="ftr" sz="quarter" idx="11"/>
          </p:nvPr>
        </p:nvSpPr>
        <p:spPr>
          <a:xfrm>
            <a:off x="2510971" y="6356350"/>
            <a:ext cx="7170058" cy="365125"/>
          </a:xfrm>
          <a:prstGeom prst="rect">
            <a:avLst/>
          </a:prstGeom>
        </p:spPr>
        <p:txBody>
          <a:bodyPr/>
          <a:lstStyle/>
          <a:p>
            <a:endParaRPr lang="zh-TW" altLang="en-US"/>
          </a:p>
        </p:txBody>
      </p:sp>
      <p:sp>
        <p:nvSpPr>
          <p:cNvPr id="6" name="Slide Number Placeholder 5"/>
          <p:cNvSpPr>
            <a:spLocks noGrp="1"/>
          </p:cNvSpPr>
          <p:nvPr>
            <p:ph type="sldNum" sz="quarter" idx="12"/>
          </p:nvPr>
        </p:nvSpPr>
        <p:spPr>
          <a:xfrm>
            <a:off x="10043658" y="6356350"/>
            <a:ext cx="1800000" cy="365125"/>
          </a:xfrm>
          <a:prstGeom prst="rect">
            <a:avLst/>
          </a:prstGeom>
        </p:spPr>
        <p:txBody>
          <a:bodyPr/>
          <a:lstStyle/>
          <a:p>
            <a:fld id="{BCBB8336-A5C1-489A-A9F1-A8585D2E8774}" type="slidenum">
              <a:rPr lang="zh-TW" altLang="en-US" smtClean="0"/>
              <a:t>‹#›</a:t>
            </a:fld>
            <a:endParaRPr lang="zh-TW" altLang="en-US"/>
          </a:p>
        </p:txBody>
      </p:sp>
    </p:spTree>
    <p:extLst>
      <p:ext uri="{BB962C8B-B14F-4D97-AF65-F5344CB8AC3E}">
        <p14:creationId xmlns:p14="http://schemas.microsoft.com/office/powerpoint/2010/main" val="1634339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8343" y="365125"/>
            <a:ext cx="11495314" cy="1325563"/>
          </a:xfrm>
          <a:prstGeom prst="rect">
            <a:avLst/>
          </a:prstGeom>
        </p:spPr>
        <p:txBody>
          <a:bodyPr vert="horz" lIns="91440" tIns="45720" rIns="91440" bIns="45720" rtlCol="0" anchor="ctr">
            <a:normAutofit/>
          </a:bodyPr>
          <a:lstStyle/>
          <a:p>
            <a:pPr lvl="0" algn="ctr" rtl="0" fontAlgn="base">
              <a:spcBef>
                <a:spcPct val="0"/>
              </a:spcBef>
              <a:spcAft>
                <a:spcPct val="0"/>
              </a:spcAft>
            </a:pPr>
            <a:r>
              <a:rPr kumimoji="1" lang="en-US" altLang="zh-TW" sz="4400" b="0" i="0" u="none" strike="noStrike" kern="1200" cap="none" spc="0" normalizeH="0" baseline="0" noProof="0" dirty="0">
                <a:ln>
                  <a:noFill/>
                </a:ln>
                <a:solidFill>
                  <a:srgbClr val="750F6D"/>
                </a:solidFill>
                <a:effectLst/>
                <a:uLnTx/>
                <a:uFillTx/>
                <a:latin typeface="Arial"/>
                <a:ea typeface="新細明體"/>
                <a:cs typeface="+mj-cs"/>
              </a:rPr>
              <a:t>Click to edit Master title style</a:t>
            </a:r>
            <a:endParaRPr lang="zh-TW" altLang="en-US" dirty="0"/>
          </a:p>
        </p:txBody>
      </p:sp>
      <p:sp>
        <p:nvSpPr>
          <p:cNvPr id="3" name="Text Placeholder 2"/>
          <p:cNvSpPr>
            <a:spLocks noGrp="1"/>
          </p:cNvSpPr>
          <p:nvPr>
            <p:ph type="body" idx="1"/>
          </p:nvPr>
        </p:nvSpPr>
        <p:spPr>
          <a:xfrm>
            <a:off x="348343" y="1825625"/>
            <a:ext cx="11495314" cy="4351338"/>
          </a:xfrm>
          <a:prstGeom prst="rect">
            <a:avLst/>
          </a:prstGeom>
        </p:spPr>
        <p:txBody>
          <a:bodyPr vert="horz" lIns="91440" tIns="45720" rIns="91440" bIns="45720" rtlCol="0">
            <a:normAutofit/>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1" lang="en-US" altLang="zh-TW" sz="3200" b="0" i="0" u="none" strike="noStrike" kern="1200" cap="none" spc="0" normalizeH="0" baseline="0" noProof="0" dirty="0">
                <a:ln>
                  <a:noFill/>
                </a:ln>
                <a:solidFill>
                  <a:srgbClr val="333333"/>
                </a:solidFill>
                <a:effectLst/>
                <a:uLnTx/>
                <a:uFillTx/>
                <a:latin typeface="Palatino Linotype"/>
                <a:ea typeface="新細明體"/>
                <a:cs typeface="+mn-cs"/>
              </a:rPr>
              <a:t>Click to edit Master text styles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1" lang="en-US" altLang="zh-TW" sz="2800" b="0" i="0" u="none" strike="noStrike" kern="1200" cap="none" spc="0" normalizeH="0" baseline="0" noProof="0" dirty="0">
                <a:ln>
                  <a:noFill/>
                </a:ln>
                <a:solidFill>
                  <a:srgbClr val="333333"/>
                </a:solidFill>
                <a:effectLst/>
                <a:uLnTx/>
                <a:uFillTx/>
                <a:latin typeface="Palatino Linotype"/>
                <a:ea typeface="新細明體"/>
                <a:cs typeface="+mn-cs"/>
              </a:rPr>
              <a:t>Second level</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400" b="0" i="0" u="none" strike="noStrike" kern="1200" cap="none" spc="0" normalizeH="0" baseline="0" noProof="0" dirty="0">
                <a:ln>
                  <a:noFill/>
                </a:ln>
                <a:solidFill>
                  <a:srgbClr val="333333"/>
                </a:solidFill>
                <a:effectLst/>
                <a:uLnTx/>
                <a:uFillTx/>
                <a:latin typeface="Palatino Linotype"/>
                <a:ea typeface="新細明體"/>
                <a:cs typeface="+mn-cs"/>
              </a:rPr>
              <a:t>Third level</a:t>
            </a: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Fourth level</a:t>
            </a:r>
          </a:p>
          <a:p>
            <a:pPr marL="2057400" marR="0" lvl="4" indent="-228600" algn="l" defTabSz="914400" rtl="0" eaLnBrk="1" fontAlgn="base" latinLnBrk="0" hangingPunct="1">
              <a:lnSpc>
                <a:spcPct val="100000"/>
              </a:lnSpc>
              <a:spcBef>
                <a:spcPct val="20000"/>
              </a:spcBef>
              <a:spcAft>
                <a:spcPct val="0"/>
              </a:spcAft>
              <a:buClrTx/>
              <a:buSzTx/>
              <a:buFontTx/>
              <a:buChar char="»"/>
              <a:tabLst/>
              <a:defRPr/>
            </a:pPr>
            <a:r>
              <a:rPr kumimoji="1" lang="en-US" altLang="zh-TW" sz="2000" b="0" i="0" u="none" strike="noStrike" kern="1200" cap="none" spc="0" normalizeH="0" baseline="0" noProof="0" dirty="0">
                <a:ln>
                  <a:noFill/>
                </a:ln>
                <a:solidFill>
                  <a:srgbClr val="333333"/>
                </a:solidFill>
                <a:effectLst/>
                <a:uLnTx/>
                <a:uFillTx/>
                <a:latin typeface="Palatino Linotype"/>
                <a:ea typeface="新細明體"/>
                <a:cs typeface="+mn-cs"/>
              </a:rPr>
              <a:t>Fifth level</a:t>
            </a:r>
          </a:p>
        </p:txBody>
      </p:sp>
      <p:sp>
        <p:nvSpPr>
          <p:cNvPr id="7" name="Date Placeholder 6"/>
          <p:cNvSpPr>
            <a:spLocks noGrp="1"/>
          </p:cNvSpPr>
          <p:nvPr>
            <p:ph type="dt" sz="half" idx="2"/>
          </p:nvPr>
        </p:nvSpPr>
        <p:spPr>
          <a:xfrm>
            <a:off x="0" y="6477000"/>
            <a:ext cx="18000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A3A5E517-2EE9-4B06-A2F1-C885ADB8BF5D}" type="datetime1">
              <a:rPr lang="zh-TW" altLang="en-US" smtClean="0"/>
              <a:t>2025/10/1</a:t>
            </a:fld>
            <a:endParaRPr lang="zh-TW" altLang="en-US" dirty="0"/>
          </a:p>
        </p:txBody>
      </p:sp>
      <p:sp>
        <p:nvSpPr>
          <p:cNvPr id="9" name="Slide Number Placeholder 8"/>
          <p:cNvSpPr>
            <a:spLocks noGrp="1"/>
          </p:cNvSpPr>
          <p:nvPr>
            <p:ph type="sldNum" sz="quarter" idx="4"/>
          </p:nvPr>
        </p:nvSpPr>
        <p:spPr>
          <a:xfrm>
            <a:off x="10392000" y="6476999"/>
            <a:ext cx="1800000" cy="365125"/>
          </a:xfrm>
          <a:prstGeom prst="rect">
            <a:avLst/>
          </a:prstGeom>
        </p:spPr>
        <p:txBody>
          <a:bodyPr vert="horz" lIns="91440" tIns="45720" rIns="91440" bIns="45720" rtlCol="0" anchor="ctr"/>
          <a:lstStyle>
            <a:lvl1pPr algn="r">
              <a:defRPr sz="1200" b="1">
                <a:solidFill>
                  <a:schemeClr val="tx1">
                    <a:tint val="75000"/>
                  </a:schemeClr>
                </a:solidFill>
                <a:latin typeface="Arial" panose="020B0604020202020204" pitchFamily="34" charset="0"/>
                <a:cs typeface="Arial" panose="020B0604020202020204" pitchFamily="34" charset="0"/>
              </a:defRPr>
            </a:lvl1pPr>
          </a:lstStyle>
          <a:p>
            <a:fld id="{E24E6636-6BA5-4AAC-8485-BE8D914D288B}" type="slidenum">
              <a:rPr lang="zh-TW" altLang="en-US" smtClean="0"/>
              <a:pPr/>
              <a:t>‹#›</a:t>
            </a:fld>
            <a:endParaRPr lang="zh-TW" altLang="en-US"/>
          </a:p>
        </p:txBody>
      </p:sp>
    </p:spTree>
    <p:extLst>
      <p:ext uri="{BB962C8B-B14F-4D97-AF65-F5344CB8AC3E}">
        <p14:creationId xmlns:p14="http://schemas.microsoft.com/office/powerpoint/2010/main" val="3847488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fontAlgn="base" latinLnBrk="0" hangingPunct="1">
        <a:lnSpc>
          <a:spcPct val="90000"/>
        </a:lnSpc>
        <a:spcBef>
          <a:spcPct val="0"/>
        </a:spcBef>
        <a:spcAft>
          <a:spcPct val="0"/>
        </a:spcAft>
        <a:buNone/>
        <a:defRPr kumimoji="1" lang="zh-TW" altLang="en-US" sz="4400" kern="1200" dirty="0" smtClean="0">
          <a:solidFill>
            <a:schemeClr val="tx1"/>
          </a:solidFill>
          <a:latin typeface="+mj-lt"/>
          <a:ea typeface="+mj-ea"/>
          <a:cs typeface="+mj-cs"/>
        </a:defRPr>
      </a:lvl1pPr>
    </p:titleStyle>
    <p:bodyStyle>
      <a:lvl1pPr marL="342900" marR="0" indent="-3429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1pPr>
      <a:lvl2pPr marL="742950" marR="0" indent="-28575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2pPr>
      <a:lvl3pPr marL="11430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3pPr>
      <a:lvl4pPr marL="1600200" marR="0" indent="-228600" algn="l" defTabSz="914400" rtl="0" eaLnBrk="1" fontAlgn="base" latinLnBrk="0" hangingPunct="1">
        <a:lnSpc>
          <a:spcPct val="100000"/>
        </a:lnSpc>
        <a:spcBef>
          <a:spcPct val="20000"/>
        </a:spcBef>
        <a:spcAft>
          <a:spcPct val="0"/>
        </a:spcAft>
        <a:buClrTx/>
        <a:buSzTx/>
        <a:buFontTx/>
        <a:buChar char="–"/>
        <a:tabLst/>
        <a:defRPr kumimoji="1" lang="en-US" altLang="zh-TW" sz="3200" kern="1200" dirty="0" smtClean="0">
          <a:solidFill>
            <a:srgbClr val="333333"/>
          </a:solidFill>
          <a:latin typeface="+mn-lt"/>
          <a:ea typeface="+mn-ea"/>
          <a:cs typeface="+mn-cs"/>
        </a:defRPr>
      </a:lvl4pPr>
      <a:lvl5pPr marL="2057400" marR="0" indent="-228600" algn="l" defTabSz="914400" rtl="0" eaLnBrk="1" fontAlgn="base" latinLnBrk="0" hangingPunct="1">
        <a:lnSpc>
          <a:spcPct val="100000"/>
        </a:lnSpc>
        <a:spcBef>
          <a:spcPct val="20000"/>
        </a:spcBef>
        <a:spcAft>
          <a:spcPct val="0"/>
        </a:spcAft>
        <a:buClrTx/>
        <a:buSzTx/>
        <a:buFontTx/>
        <a:buChar char="»"/>
        <a:tabLst/>
        <a:defRPr kumimoji="1" lang="zh-TW" altLang="en-US" sz="3200" kern="1200" dirty="0" smtClean="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cfwu@g.harvard.edu"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cfwu417.github.io/"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zhuanlan.zhihu.com/p/313725721"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270E10-FFD5-F756-E5BC-9AF868D2A4AA}"/>
              </a:ext>
            </a:extLst>
          </p:cNvPr>
          <p:cNvSpPr>
            <a:spLocks noGrp="1"/>
          </p:cNvSpPr>
          <p:nvPr>
            <p:ph type="title"/>
          </p:nvPr>
        </p:nvSpPr>
        <p:spPr/>
        <p:txBody>
          <a:bodyPr/>
          <a:lstStyle/>
          <a:p>
            <a:r>
              <a:rPr kumimoji="1" lang="en-US" altLang="zh-TW" dirty="0"/>
              <a:t>Heads Up</a:t>
            </a:r>
            <a:endParaRPr kumimoji="1" lang="zh-TW" altLang="en-US" dirty="0"/>
          </a:p>
        </p:txBody>
      </p:sp>
      <p:sp>
        <p:nvSpPr>
          <p:cNvPr id="3" name="內容版面配置區 2">
            <a:extLst>
              <a:ext uri="{FF2B5EF4-FFF2-40B4-BE49-F238E27FC236}">
                <a16:creationId xmlns:a16="http://schemas.microsoft.com/office/drawing/2014/main" id="{CC8A1B73-5013-A0AF-1BC0-3C8367932DFA}"/>
              </a:ext>
            </a:extLst>
          </p:cNvPr>
          <p:cNvSpPr>
            <a:spLocks noGrp="1"/>
          </p:cNvSpPr>
          <p:nvPr>
            <p:ph idx="1"/>
          </p:nvPr>
        </p:nvSpPr>
        <p:spPr/>
        <p:txBody>
          <a:bodyPr/>
          <a:lstStyle/>
          <a:p>
            <a:r>
              <a:rPr kumimoji="1" lang="en-US" altLang="zh-TW" dirty="0"/>
              <a:t>Our lecture this week will be split into Wednesday (10/1) 10:10 -11:00 and Thursday (10/2) 10:10 – 11:00.</a:t>
            </a:r>
          </a:p>
          <a:p>
            <a:r>
              <a:rPr lang="en-US" altLang="zh-TW" dirty="0"/>
              <a:t>Tomorrow</a:t>
            </a:r>
            <a:r>
              <a:rPr lang="en-US" altLang="zh-TW" dirty="0">
                <a:solidFill>
                  <a:srgbClr val="C00000"/>
                </a:solidFill>
              </a:rPr>
              <a:t> (10/2), </a:t>
            </a:r>
            <a:r>
              <a:rPr lang="en-US" altLang="zh-TW" dirty="0"/>
              <a:t>we invite a professor from US to give us a talk in </a:t>
            </a:r>
            <a:r>
              <a:rPr lang="en-US" altLang="zh-TW" b="1" dirty="0">
                <a:solidFill>
                  <a:srgbClr val="C00000"/>
                </a:solidFill>
              </a:rPr>
              <a:t>AB101</a:t>
            </a:r>
            <a:r>
              <a:rPr lang="en-US" altLang="zh-TW" dirty="0"/>
              <a:t>.</a:t>
            </a:r>
          </a:p>
          <a:p>
            <a:pPr lvl="1"/>
            <a:r>
              <a:rPr kumimoji="1" lang="en-US" altLang="zh-TW" dirty="0">
                <a:solidFill>
                  <a:srgbClr val="C00000"/>
                </a:solidFill>
              </a:rPr>
              <a:t>Important</a:t>
            </a:r>
            <a:r>
              <a:rPr kumimoji="1" lang="en-US" altLang="zh-TW" dirty="0"/>
              <a:t>: For those joining with us </a:t>
            </a:r>
            <a:r>
              <a:rPr kumimoji="1" lang="en-US" altLang="zh-TW" dirty="0">
                <a:solidFill>
                  <a:srgbClr val="C00000"/>
                </a:solidFill>
              </a:rPr>
              <a:t>online or in-person</a:t>
            </a:r>
            <a:r>
              <a:rPr kumimoji="1" lang="en-US" altLang="zh-TW" dirty="0"/>
              <a:t>, you can get a 2pts bonus on your final score directly.</a:t>
            </a:r>
            <a:endParaRPr kumimoji="1" lang="zh-TW" altLang="en-US" dirty="0"/>
          </a:p>
        </p:txBody>
      </p:sp>
      <p:sp>
        <p:nvSpPr>
          <p:cNvPr id="4" name="投影片編號版面配置區 3">
            <a:extLst>
              <a:ext uri="{FF2B5EF4-FFF2-40B4-BE49-F238E27FC236}">
                <a16:creationId xmlns:a16="http://schemas.microsoft.com/office/drawing/2014/main" id="{82BBE9C6-EC7A-2DFA-0BB3-C23A40ACA169}"/>
              </a:ext>
            </a:extLst>
          </p:cNvPr>
          <p:cNvSpPr>
            <a:spLocks noGrp="1"/>
          </p:cNvSpPr>
          <p:nvPr>
            <p:ph type="sldNum" sz="quarter" idx="4"/>
          </p:nvPr>
        </p:nvSpPr>
        <p:spPr/>
        <p:txBody>
          <a:bodyPr/>
          <a:lstStyle/>
          <a:p>
            <a:fld id="{E24E6636-6BA5-4AAC-8485-BE8D914D288B}" type="slidenum">
              <a:rPr lang="zh-TW" altLang="en-US" smtClean="0"/>
              <a:pPr/>
              <a:t>1</a:t>
            </a:fld>
            <a:endParaRPr lang="zh-TW" altLang="en-US" dirty="0"/>
          </a:p>
        </p:txBody>
      </p:sp>
    </p:spTree>
    <p:extLst>
      <p:ext uri="{BB962C8B-B14F-4D97-AF65-F5344CB8AC3E}">
        <p14:creationId xmlns:p14="http://schemas.microsoft.com/office/powerpoint/2010/main" val="192730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8F323-7DC8-B5C0-1D9C-794CDF23910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732E32A-3D7D-6B96-48AB-B8EF28E54D1E}"/>
              </a:ext>
            </a:extLst>
          </p:cNvPr>
          <p:cNvSpPr>
            <a:spLocks noGrp="1"/>
          </p:cNvSpPr>
          <p:nvPr>
            <p:ph type="title"/>
          </p:nvPr>
        </p:nvSpPr>
        <p:spPr/>
        <p:txBody>
          <a:bodyPr/>
          <a:lstStyle/>
          <a:p>
            <a:r>
              <a:rPr kumimoji="1" lang="en-US" altLang="zh-TW" dirty="0"/>
              <a:t>Q &amp; A</a:t>
            </a:r>
            <a:endParaRPr kumimoji="1" lang="zh-TW" altLang="en-US" dirty="0"/>
          </a:p>
        </p:txBody>
      </p:sp>
      <p:sp>
        <p:nvSpPr>
          <p:cNvPr id="3" name="內容版面配置區 2">
            <a:extLst>
              <a:ext uri="{FF2B5EF4-FFF2-40B4-BE49-F238E27FC236}">
                <a16:creationId xmlns:a16="http://schemas.microsoft.com/office/drawing/2014/main" id="{440E4F35-413F-5D18-EDA8-3B4DCCD966FD}"/>
              </a:ext>
            </a:extLst>
          </p:cNvPr>
          <p:cNvSpPr>
            <a:spLocks noGrp="1"/>
          </p:cNvSpPr>
          <p:nvPr>
            <p:ph idx="1"/>
          </p:nvPr>
        </p:nvSpPr>
        <p:spPr/>
        <p:txBody>
          <a:bodyPr>
            <a:normAutofit/>
          </a:bodyPr>
          <a:lstStyle/>
          <a:p>
            <a:r>
              <a:rPr kumimoji="1" lang="en-US" altLang="zh-TW" dirty="0"/>
              <a:t>Q1: </a:t>
            </a:r>
            <a:r>
              <a:rPr lang="en-US" altLang="zh-TW" dirty="0"/>
              <a:t>Linux starts to support </a:t>
            </a:r>
            <a:r>
              <a:rPr lang="en-US" altLang="zh-TW" dirty="0">
                <a:solidFill>
                  <a:srgbClr val="C00000"/>
                </a:solidFill>
              </a:rPr>
              <a:t>TLB PID tag </a:t>
            </a:r>
            <a:r>
              <a:rPr lang="en-US" altLang="zh-TW" dirty="0"/>
              <a:t>(Address Space Identifiers / ASIDs) from 2011 (Kernel 2.6.37)? </a:t>
            </a:r>
            <a:r>
              <a:rPr lang="en-US" altLang="zh-TW" u="sng" dirty="0"/>
              <a:t>Details:</a:t>
            </a:r>
            <a:r>
              <a:rPr lang="en-US" altLang="zh-TW" dirty="0"/>
              <a:t> </a:t>
            </a:r>
            <a:r>
              <a:rPr lang="en-US" altLang="zh-TW" dirty="0">
                <a:solidFill>
                  <a:srgbClr val="C00000"/>
                </a:solidFill>
              </a:rPr>
              <a:t>Without having to flush the TLB on every context switch</a:t>
            </a:r>
            <a:r>
              <a:rPr lang="en-US" altLang="zh-TW" dirty="0"/>
              <a:t>, as each translation is tagged with a process ID (or ASID).</a:t>
            </a:r>
          </a:p>
          <a:p>
            <a:pPr lvl="1"/>
            <a:r>
              <a:rPr kumimoji="1" lang="en-US" altLang="zh-TW" dirty="0">
                <a:solidFill>
                  <a:schemeClr val="tx1"/>
                </a:solidFill>
              </a:rPr>
              <a:t>But, when shall kernel still to </a:t>
            </a:r>
            <a:r>
              <a:rPr lang="en-US" altLang="zh-TW" dirty="0">
                <a:solidFill>
                  <a:schemeClr val="tx1"/>
                </a:solidFill>
              </a:rPr>
              <a:t>Flush TLB: (1) Page table changes (e.g., COW). (2) Reassigning ASID (e.g., 8bits </a:t>
            </a:r>
            <a:r>
              <a:rPr lang="en-US" altLang="zh-TW" dirty="0">
                <a:solidFill>
                  <a:schemeClr val="tx1"/>
                </a:solidFill>
                <a:sym typeface="Wingdings" pitchFamily="2" charset="2"/>
              </a:rPr>
              <a:t> 256 processes)</a:t>
            </a:r>
            <a:r>
              <a:rPr lang="en-US" altLang="zh-TW" dirty="0">
                <a:solidFill>
                  <a:schemeClr val="tx1"/>
                </a:solidFill>
              </a:rPr>
              <a:t>. </a:t>
            </a:r>
            <a:endParaRPr kumimoji="1" lang="en-US" altLang="zh-TW" dirty="0">
              <a:solidFill>
                <a:schemeClr val="tx1"/>
              </a:solidFill>
            </a:endParaRPr>
          </a:p>
          <a:p>
            <a:r>
              <a:rPr lang="en-US" altLang="zh-TW" dirty="0"/>
              <a:t>Q2:</a:t>
            </a:r>
            <a:r>
              <a:rPr lang="zh-TW" altLang="en-US" dirty="0"/>
              <a:t> </a:t>
            </a:r>
            <a:r>
              <a:rPr lang="en-US" altLang="zh-TW" dirty="0"/>
              <a:t>How to avoid CFS triggering rescheduling frequently, when all process having the same priority. Ans: Preemption only happens if the </a:t>
            </a:r>
            <a:r>
              <a:rPr lang="en-US" altLang="zh-TW" dirty="0" err="1">
                <a:solidFill>
                  <a:srgbClr val="C00000"/>
                </a:solidFill>
              </a:rPr>
              <a:t>vruntime</a:t>
            </a:r>
            <a:r>
              <a:rPr lang="en-US" altLang="zh-TW" dirty="0">
                <a:solidFill>
                  <a:srgbClr val="C00000"/>
                </a:solidFill>
              </a:rPr>
              <a:t> gap </a:t>
            </a:r>
            <a:r>
              <a:rPr lang="en-US" altLang="zh-TW" dirty="0"/>
              <a:t>exceeds the </a:t>
            </a:r>
            <a:r>
              <a:rPr lang="en-US" altLang="zh-TW" dirty="0">
                <a:solidFill>
                  <a:srgbClr val="C00000"/>
                </a:solidFill>
              </a:rPr>
              <a:t>wakeup-granularity threshold (Global kernel parameter, 100us ~ 1ms).</a:t>
            </a:r>
            <a:endParaRPr kumimoji="1" lang="zh-TW" altLang="en-US" dirty="0">
              <a:solidFill>
                <a:srgbClr val="C00000"/>
              </a:solidFill>
            </a:endParaRPr>
          </a:p>
        </p:txBody>
      </p:sp>
      <p:sp>
        <p:nvSpPr>
          <p:cNvPr id="4" name="投影片編號版面配置區 3">
            <a:extLst>
              <a:ext uri="{FF2B5EF4-FFF2-40B4-BE49-F238E27FC236}">
                <a16:creationId xmlns:a16="http://schemas.microsoft.com/office/drawing/2014/main" id="{9F2ED9A5-7B49-D7D8-6DC5-61DC840F2199}"/>
              </a:ext>
            </a:extLst>
          </p:cNvPr>
          <p:cNvSpPr>
            <a:spLocks noGrp="1"/>
          </p:cNvSpPr>
          <p:nvPr>
            <p:ph type="sldNum" sz="quarter" idx="4"/>
          </p:nvPr>
        </p:nvSpPr>
        <p:spPr/>
        <p:txBody>
          <a:bodyPr/>
          <a:lstStyle/>
          <a:p>
            <a:fld id="{E24E6636-6BA5-4AAC-8485-BE8D914D288B}" type="slidenum">
              <a:rPr lang="zh-TW" altLang="en-US" smtClean="0"/>
              <a:pPr/>
              <a:t>2</a:t>
            </a:fld>
            <a:endParaRPr lang="zh-TW" altLang="en-US" dirty="0"/>
          </a:p>
        </p:txBody>
      </p:sp>
    </p:spTree>
    <p:extLst>
      <p:ext uri="{BB962C8B-B14F-4D97-AF65-F5344CB8AC3E}">
        <p14:creationId xmlns:p14="http://schemas.microsoft.com/office/powerpoint/2010/main" val="407002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up)">
                                      <p:cBhvr>
                                        <p:cTn id="7" dur="500"/>
                                        <p:tgtEl>
                                          <p:spTgt spid="3">
                                            <p:txEl>
                                              <p:pRg st="2" end="2"/>
                                            </p:txEl>
                                          </p:spTgt>
                                        </p:tgtEl>
                                      </p:cBhvr>
                                    </p:animEffect>
                                  </p:childTnLst>
                                </p:cTn>
                              </p:par>
                              <p:par>
                                <p:cTn id="8" presetID="9" presetClass="emph" presetSubtype="0" nodeType="withEffect">
                                  <p:stCondLst>
                                    <p:cond delay="0"/>
                                  </p:stCondLst>
                                  <p:childTnLst>
                                    <p:set>
                                      <p:cBhvr>
                                        <p:cTn id="9" dur="indefinite"/>
                                        <p:tgtEl>
                                          <p:spTgt spid="3">
                                            <p:txEl>
                                              <p:pRg st="0" end="0"/>
                                            </p:txEl>
                                          </p:spTgt>
                                        </p:tgtEl>
                                        <p:attrNameLst>
                                          <p:attrName>style.opacity</p:attrName>
                                        </p:attrNameLst>
                                      </p:cBhvr>
                                      <p:to>
                                        <p:strVal val="0.25"/>
                                      </p:to>
                                    </p:set>
                                    <p:animEffect filter="image" prLst="opacity: 0.25">
                                      <p:cBhvr rctx="IE">
                                        <p:cTn id="10" dur="indefinite"/>
                                        <p:tgtEl>
                                          <p:spTgt spid="3">
                                            <p:txEl>
                                              <p:pRg st="0" end="0"/>
                                            </p:txEl>
                                          </p:spTgt>
                                        </p:tgtEl>
                                      </p:cBhvr>
                                    </p:animEffect>
                                  </p:childTnLst>
                                </p:cTn>
                              </p:par>
                              <p:par>
                                <p:cTn id="11" presetID="9" presetClass="emph" presetSubtype="0" nodeType="withEffect">
                                  <p:stCondLst>
                                    <p:cond delay="0"/>
                                  </p:stCondLst>
                                  <p:childTnLst>
                                    <p:set>
                                      <p:cBhvr>
                                        <p:cTn id="12" dur="indefinite"/>
                                        <p:tgtEl>
                                          <p:spTgt spid="3">
                                            <p:txEl>
                                              <p:pRg st="1" end="1"/>
                                            </p:txEl>
                                          </p:spTgt>
                                        </p:tgtEl>
                                        <p:attrNameLst>
                                          <p:attrName>style.opacity</p:attrName>
                                        </p:attrNameLst>
                                      </p:cBhvr>
                                      <p:to>
                                        <p:strVal val="0.25"/>
                                      </p:to>
                                    </p:set>
                                    <p:animEffect filter="image" prLst="opacity: 0.25">
                                      <p:cBhvr rctx="IE">
                                        <p:cTn id="13" dur="indefinite"/>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1653411"/>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L2: Process</a:t>
            </a:r>
            <a:r>
              <a:rPr lang="zh-TW" altLang="en-US" b="1" dirty="0">
                <a:latin typeface="Calibri" panose="020F0502020204030204" pitchFamily="34" charset="0"/>
                <a:ea typeface="Tahoma" panose="020B0604030504040204" pitchFamily="34" charset="0"/>
                <a:cs typeface="Calibri" panose="020F0502020204030204" pitchFamily="34" charset="0"/>
              </a:rPr>
              <a:t> </a:t>
            </a:r>
            <a:r>
              <a:rPr lang="en-US" altLang="zh-TW" b="1" dirty="0">
                <a:latin typeface="Calibri" panose="020F0502020204030204" pitchFamily="34" charset="0"/>
                <a:ea typeface="Tahoma" panose="020B0604030504040204" pitchFamily="34" charset="0"/>
                <a:cs typeface="Calibri" panose="020F0502020204030204" pitchFamily="34" charset="0"/>
              </a:rPr>
              <a:t>&amp;</a:t>
            </a:r>
            <a:r>
              <a:rPr lang="zh-TW" altLang="en-US" b="1" dirty="0">
                <a:latin typeface="Calibri" panose="020F0502020204030204" pitchFamily="34" charset="0"/>
                <a:ea typeface="Tahoma" panose="020B0604030504040204" pitchFamily="34" charset="0"/>
                <a:cs typeface="Calibri" panose="020F0502020204030204" pitchFamily="34" charset="0"/>
              </a:rPr>
              <a:t> </a:t>
            </a:r>
            <a:r>
              <a:rPr lang="en-US" altLang="zh-TW" b="1" dirty="0">
                <a:latin typeface="Calibri" panose="020F0502020204030204" pitchFamily="34" charset="0"/>
                <a:ea typeface="Tahoma" panose="020B0604030504040204" pitchFamily="34" charset="0"/>
                <a:cs typeface="Calibri" panose="020F0502020204030204" pitchFamily="34" charset="0"/>
              </a:rPr>
              <a:t>Interrupts</a:t>
            </a:r>
          </a:p>
        </p:txBody>
      </p:sp>
      <p:sp>
        <p:nvSpPr>
          <p:cNvPr id="9" name="Rectangle 3">
            <a:extLst>
              <a:ext uri="{FF2B5EF4-FFF2-40B4-BE49-F238E27FC236}">
                <a16:creationId xmlns:a16="http://schemas.microsoft.com/office/drawing/2014/main" id="{5AFF0398-C56C-EF34-D937-57DAB24DA303}"/>
              </a:ext>
            </a:extLst>
          </p:cNvPr>
          <p:cNvSpPr txBox="1">
            <a:spLocks noChangeArrowheads="1"/>
          </p:cNvSpPr>
          <p:nvPr/>
        </p:nvSpPr>
        <p:spPr bwMode="auto">
          <a:xfrm>
            <a:off x="1132114" y="3762490"/>
            <a:ext cx="9927772" cy="1318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rtl="0" fontAlgn="base">
              <a:spcBef>
                <a:spcPct val="20000"/>
              </a:spcBef>
              <a:spcAft>
                <a:spcPct val="0"/>
              </a:spcAft>
              <a:buFontTx/>
              <a:buNone/>
              <a:defRPr kumimoji="1" sz="3200" kern="1200">
                <a:solidFill>
                  <a:srgbClr val="333333"/>
                </a:solidFill>
                <a:latin typeface="+mn-lt"/>
                <a:ea typeface="+mn-ea"/>
                <a:cs typeface="+mn-cs"/>
              </a:defRPr>
            </a:lvl1pPr>
            <a:lvl2pPr marL="742950" indent="-285750" algn="l" rtl="0" fontAlgn="base">
              <a:spcBef>
                <a:spcPct val="20000"/>
              </a:spcBef>
              <a:spcAft>
                <a:spcPct val="0"/>
              </a:spcAft>
              <a:buChar char="–"/>
              <a:defRPr kumimoji="1" sz="2800" kern="1200">
                <a:solidFill>
                  <a:srgbClr val="333333"/>
                </a:solidFill>
                <a:latin typeface="+mn-lt"/>
                <a:ea typeface="+mn-ea"/>
                <a:cs typeface="+mn-cs"/>
              </a:defRPr>
            </a:lvl2pPr>
            <a:lvl3pPr marL="1143000" indent="-228600" algn="l" rtl="0" fontAlgn="base">
              <a:spcBef>
                <a:spcPct val="20000"/>
              </a:spcBef>
              <a:spcAft>
                <a:spcPct val="0"/>
              </a:spcAft>
              <a:buChar char="•"/>
              <a:defRPr kumimoji="1" sz="2400" kern="1200">
                <a:solidFill>
                  <a:srgbClr val="333333"/>
                </a:solidFill>
                <a:latin typeface="+mn-lt"/>
                <a:ea typeface="+mn-ea"/>
                <a:cs typeface="+mn-cs"/>
              </a:defRPr>
            </a:lvl3pPr>
            <a:lvl4pPr marL="1600200" indent="-228600" algn="l" rtl="0" fontAlgn="base">
              <a:spcBef>
                <a:spcPct val="20000"/>
              </a:spcBef>
              <a:spcAft>
                <a:spcPct val="0"/>
              </a:spcAft>
              <a:buChar char="–"/>
              <a:defRPr kumimoji="1" sz="2000" kern="1200">
                <a:solidFill>
                  <a:srgbClr val="333333"/>
                </a:solidFill>
                <a:latin typeface="+mn-lt"/>
                <a:ea typeface="+mn-ea"/>
                <a:cs typeface="+mn-cs"/>
              </a:defRPr>
            </a:lvl4pPr>
            <a:lvl5pPr marL="2057400" indent="-228600" algn="l" rtl="0" fontAlgn="base">
              <a:spcBef>
                <a:spcPct val="20000"/>
              </a:spcBef>
              <a:spcAft>
                <a:spcPct val="0"/>
              </a:spcAft>
              <a:buChar char="»"/>
              <a:defRPr kumimoji="1" sz="20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TW" sz="2800" b="1" dirty="0">
                <a:solidFill>
                  <a:schemeClr val="tx1"/>
                </a:solidFill>
                <a:latin typeface="Palatino Linotype" panose="02040502050505030304" pitchFamily="18" charset="0"/>
                <a:ea typeface="新細明體"/>
              </a:rPr>
              <a:t>Chun-Feng Wu (</a:t>
            </a:r>
            <a:r>
              <a:rPr lang="zh-TW" altLang="en-US" sz="2800" b="1" dirty="0">
                <a:solidFill>
                  <a:schemeClr val="tx1"/>
                </a:solidFill>
                <a:latin typeface="Kaiti TC" panose="02010600040101010101" pitchFamily="2" charset="-120"/>
                <a:ea typeface="Kaiti TC" panose="02010600040101010101" pitchFamily="2" charset="-120"/>
              </a:rPr>
              <a:t>吳俊峯</a:t>
            </a:r>
            <a:r>
              <a:rPr lang="en-US" altLang="zh-TW" sz="2800" b="1" dirty="0">
                <a:solidFill>
                  <a:schemeClr val="tx1"/>
                </a:solidFill>
                <a:latin typeface="Palatino Linotype" panose="02040502050505030304" pitchFamily="18" charset="0"/>
                <a:ea typeface="新細明體"/>
              </a:rPr>
              <a:t>)</a:t>
            </a:r>
          </a:p>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TW" sz="2000" b="1" dirty="0">
                <a:solidFill>
                  <a:schemeClr val="tx1"/>
                </a:solidFill>
                <a:latin typeface="Palatino Linotype" panose="02040502050505030304" pitchFamily="18" charset="0"/>
                <a:ea typeface="新細明體"/>
              </a:rPr>
              <a:t>Assistant</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Professor, National</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Yang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Ming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Chiao</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Tung</a:t>
            </a:r>
            <a:r>
              <a:rPr lang="zh-TW" altLang="en-US" sz="2000" b="1" dirty="0">
                <a:solidFill>
                  <a:schemeClr val="tx1"/>
                </a:solidFill>
                <a:latin typeface="Palatino Linotype" panose="02040502050505030304" pitchFamily="18" charset="0"/>
                <a:ea typeface="新細明體"/>
              </a:rPr>
              <a:t> </a:t>
            </a:r>
            <a:r>
              <a:rPr lang="en-US" altLang="zh-TW" sz="2000" b="1" dirty="0">
                <a:solidFill>
                  <a:schemeClr val="tx1"/>
                </a:solidFill>
                <a:latin typeface="Palatino Linotype" panose="02040502050505030304" pitchFamily="18" charset="0"/>
                <a:ea typeface="新細明體"/>
              </a:rPr>
              <a:t>University</a:t>
            </a:r>
          </a:p>
        </p:txBody>
      </p:sp>
      <p:grpSp>
        <p:nvGrpSpPr>
          <p:cNvPr id="10" name="Group 17">
            <a:extLst>
              <a:ext uri="{FF2B5EF4-FFF2-40B4-BE49-F238E27FC236}">
                <a16:creationId xmlns:a16="http://schemas.microsoft.com/office/drawing/2014/main" id="{89C9EB9B-D847-8763-647D-4A1AC557E2CA}"/>
              </a:ext>
            </a:extLst>
          </p:cNvPr>
          <p:cNvGrpSpPr/>
          <p:nvPr/>
        </p:nvGrpSpPr>
        <p:grpSpPr>
          <a:xfrm>
            <a:off x="4539533" y="4639104"/>
            <a:ext cx="3482385" cy="1144694"/>
            <a:chOff x="4604975" y="4666826"/>
            <a:chExt cx="3482385" cy="1144694"/>
          </a:xfrm>
        </p:grpSpPr>
        <p:sp>
          <p:nvSpPr>
            <p:cNvPr id="11" name="Rectangle 1">
              <a:extLst>
                <a:ext uri="{FF2B5EF4-FFF2-40B4-BE49-F238E27FC236}">
                  <a16:creationId xmlns:a16="http://schemas.microsoft.com/office/drawing/2014/main" id="{38E8E4F6-0E2B-B4A8-C878-7642B7F99112}"/>
                </a:ext>
              </a:extLst>
            </p:cNvPr>
            <p:cNvSpPr/>
            <p:nvPr/>
          </p:nvSpPr>
          <p:spPr>
            <a:xfrm>
              <a:off x="6003635" y="4666826"/>
              <a:ext cx="184730" cy="461665"/>
            </a:xfrm>
            <a:prstGeom prst="rect">
              <a:avLst/>
            </a:prstGeom>
          </p:spPr>
          <p:txBody>
            <a:bodyPr wrap="none">
              <a:spAutoFit/>
            </a:bodyPr>
            <a:lstStyle/>
            <a:p>
              <a:pPr lvl="0" algn="ctr">
                <a:defRPr/>
              </a:pPr>
              <a:endParaRPr kumimoji="1" lang="en-US" altLang="zh-TW" sz="2400" dirty="0">
                <a:solidFill>
                  <a:schemeClr val="bg1"/>
                </a:solidFill>
                <a:latin typeface="Palatino Linotype"/>
                <a:ea typeface="新細明體"/>
              </a:endParaRPr>
            </a:p>
          </p:txBody>
        </p:sp>
        <p:sp>
          <p:nvSpPr>
            <p:cNvPr id="12" name="Rectangle 3">
              <a:extLst>
                <a:ext uri="{FF2B5EF4-FFF2-40B4-BE49-F238E27FC236}">
                  <a16:creationId xmlns:a16="http://schemas.microsoft.com/office/drawing/2014/main" id="{65F24944-F567-4E32-2237-25794D664663}"/>
                </a:ext>
              </a:extLst>
            </p:cNvPr>
            <p:cNvSpPr txBox="1">
              <a:spLocks noChangeArrowheads="1"/>
            </p:cNvSpPr>
            <p:nvPr/>
          </p:nvSpPr>
          <p:spPr bwMode="auto">
            <a:xfrm>
              <a:off x="4911634" y="4786024"/>
              <a:ext cx="3175726" cy="1025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marL="0" indent="0" algn="ctr" rtl="0" fontAlgn="base">
                <a:spcBef>
                  <a:spcPct val="20000"/>
                </a:spcBef>
                <a:spcAft>
                  <a:spcPct val="0"/>
                </a:spcAft>
                <a:buFontTx/>
                <a:buNone/>
                <a:defRPr kumimoji="1" sz="3200" kern="1200">
                  <a:solidFill>
                    <a:srgbClr val="333333"/>
                  </a:solidFill>
                  <a:latin typeface="+mn-lt"/>
                  <a:ea typeface="+mn-ea"/>
                  <a:cs typeface="+mn-cs"/>
                </a:defRPr>
              </a:lvl1pPr>
              <a:lvl2pPr marL="742950" indent="-285750" algn="l" rtl="0" fontAlgn="base">
                <a:spcBef>
                  <a:spcPct val="20000"/>
                </a:spcBef>
                <a:spcAft>
                  <a:spcPct val="0"/>
                </a:spcAft>
                <a:buChar char="–"/>
                <a:defRPr kumimoji="1" sz="2800" kern="1200">
                  <a:solidFill>
                    <a:srgbClr val="333333"/>
                  </a:solidFill>
                  <a:latin typeface="+mn-lt"/>
                  <a:ea typeface="+mn-ea"/>
                  <a:cs typeface="+mn-cs"/>
                </a:defRPr>
              </a:lvl2pPr>
              <a:lvl3pPr marL="1143000" indent="-228600" algn="l" rtl="0" fontAlgn="base">
                <a:spcBef>
                  <a:spcPct val="20000"/>
                </a:spcBef>
                <a:spcAft>
                  <a:spcPct val="0"/>
                </a:spcAft>
                <a:buChar char="•"/>
                <a:defRPr kumimoji="1" sz="2400" kern="1200">
                  <a:solidFill>
                    <a:srgbClr val="333333"/>
                  </a:solidFill>
                  <a:latin typeface="+mn-lt"/>
                  <a:ea typeface="+mn-ea"/>
                  <a:cs typeface="+mn-cs"/>
                </a:defRPr>
              </a:lvl3pPr>
              <a:lvl4pPr marL="1600200" indent="-228600" algn="l" rtl="0" fontAlgn="base">
                <a:spcBef>
                  <a:spcPct val="20000"/>
                </a:spcBef>
                <a:spcAft>
                  <a:spcPct val="0"/>
                </a:spcAft>
                <a:buChar char="–"/>
                <a:defRPr kumimoji="1" sz="2000" kern="1200">
                  <a:solidFill>
                    <a:srgbClr val="333333"/>
                  </a:solidFill>
                  <a:latin typeface="+mn-lt"/>
                  <a:ea typeface="+mn-ea"/>
                  <a:cs typeface="+mn-cs"/>
                </a:defRPr>
              </a:lvl4pPr>
              <a:lvl5pPr marL="2057400" indent="-228600" algn="l" rtl="0" fontAlgn="base">
                <a:spcBef>
                  <a:spcPct val="20000"/>
                </a:spcBef>
                <a:spcAft>
                  <a:spcPct val="0"/>
                </a:spcAft>
                <a:buChar char="»"/>
                <a:defRPr kumimoji="1" sz="2000" kern="1200">
                  <a:solidFill>
                    <a:srgbClr val="33333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US" altLang="zh-TW" sz="1800" u="sng" dirty="0">
                  <a:solidFill>
                    <a:schemeClr val="tx1">
                      <a:lumMod val="75000"/>
                      <a:lumOff val="25000"/>
                    </a:schemeClr>
                  </a:solidFill>
                  <a:latin typeface="Palatino Linotype" panose="02040502050505030304" pitchFamily="18" charset="0"/>
                  <a:ea typeface="新細明體"/>
                  <a:hlinkClick r:id="rId3">
                    <a:extLst>
                      <a:ext uri="{A12FA001-AC4F-418D-AE19-62706E023703}">
                        <ahyp:hlinkClr xmlns:ahyp="http://schemas.microsoft.com/office/drawing/2018/hyperlinkcolor" val="tx"/>
                      </a:ext>
                    </a:extLst>
                  </a:hlinkClick>
                </a:rPr>
                <a:t>cfwu417@</a:t>
              </a:r>
              <a:r>
                <a:rPr lang="en-US" altLang="zh-TW" sz="1800" u="sng" dirty="0">
                  <a:solidFill>
                    <a:schemeClr val="tx1">
                      <a:lumMod val="75000"/>
                      <a:lumOff val="25000"/>
                    </a:schemeClr>
                  </a:solidFill>
                  <a:latin typeface="Palatino Linotype" panose="02040502050505030304" pitchFamily="18" charset="0"/>
                  <a:ea typeface="新細明體"/>
                </a:rPr>
                <a:t>cs.nycu.edu.tw</a:t>
              </a:r>
            </a:p>
            <a:p>
              <a:pPr marL="0" marR="0" lvl="0" indent="0" algn="l" defTabSz="914400" rtl="0" eaLnBrk="1" fontAlgn="base" latinLnBrk="0" hangingPunct="1">
                <a:lnSpc>
                  <a:spcPct val="100000"/>
                </a:lnSpc>
                <a:spcBef>
                  <a:spcPct val="20000"/>
                </a:spcBef>
                <a:spcAft>
                  <a:spcPct val="0"/>
                </a:spcAft>
                <a:buClrTx/>
                <a:buSzTx/>
                <a:buFontTx/>
                <a:buNone/>
                <a:tabLst/>
                <a:defRPr/>
              </a:pPr>
              <a:r>
                <a:rPr lang="en-US" altLang="zh-TW" sz="1800" dirty="0">
                  <a:solidFill>
                    <a:schemeClr val="tx1">
                      <a:lumMod val="75000"/>
                      <a:lumOff val="25000"/>
                    </a:schemeClr>
                  </a:solidFill>
                  <a:latin typeface="Palatino Linotype" panose="02040502050505030304" pitchFamily="18" charset="0"/>
                  <a:ea typeface="新細明體"/>
                  <a:hlinkClick r:id="rId4">
                    <a:extLst>
                      <a:ext uri="{A12FA001-AC4F-418D-AE19-62706E023703}">
                        <ahyp:hlinkClr xmlns:ahyp="http://schemas.microsoft.com/office/drawing/2018/hyperlinkcolor" val="tx"/>
                      </a:ext>
                    </a:extLst>
                  </a:hlinkClick>
                </a:rPr>
                <a:t>https://cfwu417.github.io</a:t>
              </a:r>
              <a:endParaRPr lang="en-US" altLang="zh-TW" sz="1800" dirty="0">
                <a:solidFill>
                  <a:schemeClr val="tx1">
                    <a:lumMod val="75000"/>
                    <a:lumOff val="25000"/>
                  </a:schemeClr>
                </a:solidFill>
                <a:latin typeface="Palatino Linotype" panose="02040502050505030304" pitchFamily="18" charset="0"/>
                <a:ea typeface="新細明體"/>
              </a:endParaRPr>
            </a:p>
          </p:txBody>
        </p:sp>
        <p:pic>
          <p:nvPicPr>
            <p:cNvPr id="13" name="Picture 14" descr="Shape&#10;&#10;Description automatically generated with low confidence">
              <a:extLst>
                <a:ext uri="{FF2B5EF4-FFF2-40B4-BE49-F238E27FC236}">
                  <a16:creationId xmlns:a16="http://schemas.microsoft.com/office/drawing/2014/main" id="{505174C7-FCE3-7C3B-8944-531A7458B502}"/>
                </a:ext>
              </a:extLst>
            </p:cNvPr>
            <p:cNvPicPr>
              <a:picLocks noChangeAspect="1"/>
            </p:cNvPicPr>
            <p:nvPr/>
          </p:nvPicPr>
          <p:blipFill>
            <a:blip r:embed="rId5">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604975" y="4972996"/>
              <a:ext cx="360000" cy="360000"/>
            </a:xfrm>
            <a:prstGeom prst="rect">
              <a:avLst/>
            </a:prstGeom>
          </p:spPr>
        </p:pic>
        <p:pic>
          <p:nvPicPr>
            <p:cNvPr id="14" name="Picture 16" descr="Shape&#10;&#10;Description automatically generated with low confidence">
              <a:extLst>
                <a:ext uri="{FF2B5EF4-FFF2-40B4-BE49-F238E27FC236}">
                  <a16:creationId xmlns:a16="http://schemas.microsoft.com/office/drawing/2014/main" id="{97C273A0-DE4B-A1A6-8CD5-00C49E144049}"/>
                </a:ext>
              </a:extLst>
            </p:cNvPr>
            <p:cNvPicPr>
              <a:picLocks noChangeAspect="1"/>
            </p:cNvPicPr>
            <p:nvPr/>
          </p:nvPicPr>
          <p:blipFill>
            <a:blip r:embed="rId6">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604975" y="5301873"/>
              <a:ext cx="360000" cy="360000"/>
            </a:xfrm>
            <a:prstGeom prst="rect">
              <a:avLst/>
            </a:prstGeom>
          </p:spPr>
        </p:pic>
      </p:grpSp>
    </p:spTree>
    <p:extLst>
      <p:ext uri="{BB962C8B-B14F-4D97-AF65-F5344CB8AC3E}">
        <p14:creationId xmlns:p14="http://schemas.microsoft.com/office/powerpoint/2010/main" val="3432692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lang="en-US" altLang="zh-TW" sz="4400" dirty="0">
                <a:solidFill>
                  <a:srgbClr val="C00000"/>
                </a:solidFill>
              </a:rPr>
              <a:t>Recap: </a:t>
            </a:r>
            <a:r>
              <a:rPr kumimoji="1" lang="en-US" altLang="zh-TW" u="sng" dirty="0"/>
              <a:t>Process</a:t>
            </a:r>
            <a:r>
              <a:rPr kumimoji="1" lang="en-US" altLang="zh-TW" dirty="0"/>
              <a:t> Context Switch</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t>Process</a:t>
            </a:r>
            <a:r>
              <a:rPr kumimoji="1" lang="zh-TW" altLang="en-US" dirty="0"/>
              <a:t> </a:t>
            </a:r>
            <a:r>
              <a:rPr lang="en-US" altLang="zh-TW" dirty="0"/>
              <a:t>Context: Contents of </a:t>
            </a:r>
            <a:r>
              <a:rPr lang="en-US" altLang="zh-TW" dirty="0">
                <a:solidFill>
                  <a:srgbClr val="C00000"/>
                </a:solidFill>
              </a:rPr>
              <a:t>user address space</a:t>
            </a:r>
            <a:r>
              <a:rPr lang="zh-TW" altLang="en-US" dirty="0">
                <a:solidFill>
                  <a:srgbClr val="C00000"/>
                </a:solidFill>
              </a:rPr>
              <a:t> </a:t>
            </a:r>
            <a:r>
              <a:rPr lang="en-US" altLang="zh-TW" dirty="0">
                <a:solidFill>
                  <a:schemeClr val="tx1"/>
                </a:solidFill>
              </a:rPr>
              <a:t>(e.g.,</a:t>
            </a:r>
            <a:r>
              <a:rPr lang="zh-TW" altLang="en-US" dirty="0">
                <a:solidFill>
                  <a:schemeClr val="tx1"/>
                </a:solidFill>
              </a:rPr>
              <a:t> </a:t>
            </a:r>
            <a:r>
              <a:rPr lang="en-US" altLang="zh-TW" dirty="0">
                <a:solidFill>
                  <a:schemeClr val="tx1"/>
                </a:solidFill>
              </a:rPr>
              <a:t>page</a:t>
            </a:r>
            <a:r>
              <a:rPr lang="zh-TW" altLang="en-US" dirty="0">
                <a:solidFill>
                  <a:schemeClr val="tx1"/>
                </a:solidFill>
              </a:rPr>
              <a:t> </a:t>
            </a:r>
            <a:r>
              <a:rPr lang="en-US" altLang="zh-TW" dirty="0">
                <a:solidFill>
                  <a:schemeClr val="tx1"/>
                </a:solidFill>
              </a:rPr>
              <a:t>table)</a:t>
            </a:r>
            <a:r>
              <a:rPr lang="en-US" altLang="zh-TW" dirty="0">
                <a:solidFill>
                  <a:srgbClr val="C00000"/>
                </a:solidFill>
              </a:rPr>
              <a:t>, hardware registers </a:t>
            </a:r>
            <a:r>
              <a:rPr lang="en-US" altLang="zh-TW" dirty="0">
                <a:solidFill>
                  <a:schemeClr val="tx1"/>
                </a:solidFill>
              </a:rPr>
              <a:t>(e.g., PC) </a:t>
            </a:r>
            <a:r>
              <a:rPr lang="en-US" altLang="zh-TW" dirty="0"/>
              <a:t>and </a:t>
            </a:r>
            <a:r>
              <a:rPr lang="en-US" altLang="zh-TW" dirty="0">
                <a:solidFill>
                  <a:srgbClr val="C00000"/>
                </a:solidFill>
              </a:rPr>
              <a:t>kernel data structures </a:t>
            </a:r>
            <a:r>
              <a:rPr lang="en-US" altLang="zh-TW" dirty="0"/>
              <a:t>that relate to the process.</a:t>
            </a:r>
          </a:p>
          <a:p>
            <a:pPr lvl="1"/>
            <a:r>
              <a:rPr kumimoji="1" lang="en-US" altLang="zh-TW" dirty="0"/>
              <a:t>You can also think </a:t>
            </a:r>
            <a:r>
              <a:rPr lang="en-US" altLang="zh-TW" dirty="0"/>
              <a:t>like this, context is very similar to an ”environment” to run something.</a:t>
            </a:r>
            <a:endParaRPr kumimoji="1" lang="en-US" altLang="zh-TW" dirty="0"/>
          </a:p>
          <a:p>
            <a:r>
              <a:rPr lang="en-US" altLang="zh-TW" dirty="0"/>
              <a:t>Process </a:t>
            </a:r>
            <a:r>
              <a:rPr kumimoji="1" lang="en-US" altLang="zh-TW" dirty="0"/>
              <a:t>Context</a:t>
            </a:r>
            <a:r>
              <a:rPr kumimoji="1" lang="zh-TW" altLang="en-US" dirty="0"/>
              <a:t> </a:t>
            </a:r>
            <a:r>
              <a:rPr kumimoji="1" lang="en-US" altLang="zh-TW" dirty="0"/>
              <a:t>Switch:</a:t>
            </a:r>
            <a:r>
              <a:rPr kumimoji="1" lang="zh-TW" altLang="en-US" dirty="0"/>
              <a:t> </a:t>
            </a:r>
            <a:r>
              <a:rPr kumimoji="1" lang="en-US" altLang="zh-TW" dirty="0"/>
              <a:t>Switching</a:t>
            </a:r>
            <a:r>
              <a:rPr kumimoji="1" lang="zh-TW" altLang="en-US" dirty="0"/>
              <a:t> </a:t>
            </a:r>
            <a:r>
              <a:rPr kumimoji="1" lang="en-US" altLang="zh-TW" dirty="0"/>
              <a:t>from</a:t>
            </a:r>
            <a:r>
              <a:rPr kumimoji="1" lang="zh-TW" altLang="en-US" dirty="0"/>
              <a:t> </a:t>
            </a:r>
            <a:r>
              <a:rPr kumimoji="1" lang="en-US" altLang="zh-TW" dirty="0"/>
              <a:t>one</a:t>
            </a:r>
            <a:r>
              <a:rPr kumimoji="1" lang="zh-TW" altLang="en-US" dirty="0"/>
              <a:t> </a:t>
            </a:r>
            <a:r>
              <a:rPr kumimoji="1" lang="en-US" altLang="zh-TW" dirty="0"/>
              <a:t>runnable</a:t>
            </a:r>
            <a:r>
              <a:rPr kumimoji="1" lang="zh-TW" altLang="en-US" dirty="0"/>
              <a:t> </a:t>
            </a:r>
            <a:r>
              <a:rPr kumimoji="1" lang="en-US" altLang="zh-TW" dirty="0"/>
              <a:t>process</a:t>
            </a:r>
            <a:r>
              <a:rPr kumimoji="1" lang="zh-TW" altLang="en-US" dirty="0"/>
              <a:t> </a:t>
            </a:r>
            <a:r>
              <a:rPr kumimoji="1" lang="en-US" altLang="zh-TW" dirty="0"/>
              <a:t>to</a:t>
            </a:r>
            <a:r>
              <a:rPr kumimoji="1" lang="zh-TW" altLang="en-US" dirty="0"/>
              <a:t> </a:t>
            </a:r>
            <a:r>
              <a:rPr kumimoji="1" lang="en-US" altLang="zh-TW" dirty="0"/>
              <a:t>another.</a:t>
            </a:r>
            <a:endParaRPr lang="en-US" altLang="zh-TW" dirty="0"/>
          </a:p>
          <a:p>
            <a:pPr lvl="1"/>
            <a:r>
              <a:rPr lang="en-US" altLang="zh-TW" dirty="0" err="1"/>
              <a:t>s</a:t>
            </a:r>
            <a:r>
              <a:rPr kumimoji="1" lang="en-US" altLang="zh-TW" dirty="0" err="1"/>
              <a:t>witch_mm</a:t>
            </a:r>
            <a:r>
              <a:rPr kumimoji="1" lang="en-US" altLang="zh-TW" dirty="0"/>
              <a:t>():</a:t>
            </a:r>
            <a:r>
              <a:rPr kumimoji="1" lang="zh-TW" altLang="en-US" dirty="0"/>
              <a:t> </a:t>
            </a:r>
            <a:r>
              <a:rPr kumimoji="1" lang="en-US" altLang="zh-TW" dirty="0"/>
              <a:t>Switch</a:t>
            </a:r>
            <a:r>
              <a:rPr kumimoji="1" lang="zh-TW" altLang="en-US" dirty="0"/>
              <a:t> </a:t>
            </a:r>
            <a:r>
              <a:rPr kumimoji="1" lang="en-US" altLang="zh-TW" dirty="0"/>
              <a:t>the</a:t>
            </a:r>
            <a:r>
              <a:rPr kumimoji="1" lang="zh-TW" altLang="en-US" dirty="0"/>
              <a:t> </a:t>
            </a:r>
            <a:r>
              <a:rPr kumimoji="1" lang="en-US" altLang="zh-TW" dirty="0"/>
              <a:t>virtual</a:t>
            </a:r>
            <a:r>
              <a:rPr kumimoji="1" lang="zh-TW" altLang="en-US" dirty="0"/>
              <a:t> </a:t>
            </a:r>
            <a:r>
              <a:rPr kumimoji="1" lang="en-US" altLang="zh-TW" dirty="0"/>
              <a:t>memory</a:t>
            </a:r>
            <a:r>
              <a:rPr kumimoji="1" lang="zh-TW" altLang="en-US" dirty="0"/>
              <a:t> </a:t>
            </a:r>
            <a:r>
              <a:rPr lang="en-US" altLang="zh-TW" dirty="0"/>
              <a:t>mapping</a:t>
            </a:r>
            <a:r>
              <a:rPr lang="zh-TW" altLang="en-US" dirty="0"/>
              <a:t> </a:t>
            </a:r>
            <a:r>
              <a:rPr lang="en-US" altLang="zh-TW" dirty="0"/>
              <a:t>(e.g.,</a:t>
            </a:r>
            <a:r>
              <a:rPr lang="zh-TW" altLang="en-US" dirty="0"/>
              <a:t> </a:t>
            </a:r>
            <a:r>
              <a:rPr lang="en-US" altLang="zh-TW" dirty="0"/>
              <a:t>page</a:t>
            </a:r>
            <a:r>
              <a:rPr lang="zh-TW" altLang="en-US" dirty="0"/>
              <a:t> </a:t>
            </a:r>
            <a:r>
              <a:rPr lang="en-US" altLang="zh-TW" dirty="0"/>
              <a:t>table,</a:t>
            </a:r>
            <a:r>
              <a:rPr lang="zh-TW" altLang="en-US" dirty="0"/>
              <a:t> </a:t>
            </a:r>
            <a:r>
              <a:rPr lang="en-US" altLang="zh-TW" dirty="0"/>
              <a:t>TLB)</a:t>
            </a:r>
            <a:endParaRPr kumimoji="1" lang="en-US" altLang="zh-TW" dirty="0"/>
          </a:p>
          <a:p>
            <a:pPr lvl="1"/>
            <a:r>
              <a:rPr lang="en-US" altLang="zh-TW" dirty="0" err="1">
                <a:solidFill>
                  <a:schemeClr val="bg1">
                    <a:lumMod val="50000"/>
                  </a:schemeClr>
                </a:solidFill>
              </a:rPr>
              <a:t>switch_to</a:t>
            </a:r>
            <a:r>
              <a:rPr lang="en-US" altLang="zh-TW" dirty="0">
                <a:solidFill>
                  <a:schemeClr val="bg1">
                    <a:lumMod val="50000"/>
                  </a:schemeClr>
                </a:solidFill>
              </a:rPr>
              <a:t>():</a:t>
            </a:r>
            <a:r>
              <a:rPr lang="zh-TW" altLang="en-US" dirty="0">
                <a:solidFill>
                  <a:schemeClr val="bg1">
                    <a:lumMod val="50000"/>
                  </a:schemeClr>
                </a:solidFill>
              </a:rPr>
              <a:t> </a:t>
            </a:r>
            <a:r>
              <a:rPr lang="en-US" altLang="zh-TW" dirty="0">
                <a:solidFill>
                  <a:schemeClr val="bg1">
                    <a:lumMod val="50000"/>
                  </a:schemeClr>
                </a:solidFill>
              </a:rPr>
              <a:t>Switch</a:t>
            </a:r>
            <a:r>
              <a:rPr lang="zh-TW" altLang="en-US" dirty="0">
                <a:solidFill>
                  <a:schemeClr val="bg1">
                    <a:lumMod val="50000"/>
                  </a:schemeClr>
                </a:solidFill>
              </a:rPr>
              <a:t> </a:t>
            </a:r>
            <a:r>
              <a:rPr lang="en-US" altLang="zh-TW" dirty="0">
                <a:solidFill>
                  <a:schemeClr val="bg1">
                    <a:lumMod val="50000"/>
                  </a:schemeClr>
                </a:solidFill>
              </a:rPr>
              <a:t>the</a:t>
            </a:r>
            <a:r>
              <a:rPr lang="zh-TW" altLang="en-US" dirty="0">
                <a:solidFill>
                  <a:schemeClr val="bg1">
                    <a:lumMod val="50000"/>
                  </a:schemeClr>
                </a:solidFill>
              </a:rPr>
              <a:t> </a:t>
            </a:r>
            <a:r>
              <a:rPr lang="en-US" altLang="zh-TW" dirty="0">
                <a:solidFill>
                  <a:schemeClr val="bg1">
                    <a:lumMod val="50000"/>
                  </a:schemeClr>
                </a:solidFill>
              </a:rPr>
              <a:t>process</a:t>
            </a:r>
            <a:r>
              <a:rPr lang="zh-TW" altLang="en-US" dirty="0">
                <a:solidFill>
                  <a:schemeClr val="bg1">
                    <a:lumMod val="50000"/>
                  </a:schemeClr>
                </a:solidFill>
              </a:rPr>
              <a:t> </a:t>
            </a:r>
            <a:r>
              <a:rPr lang="en-US" altLang="zh-TW" dirty="0">
                <a:solidFill>
                  <a:schemeClr val="bg1">
                    <a:lumMod val="50000"/>
                  </a:schemeClr>
                </a:solidFill>
              </a:rPr>
              <a:t>state</a:t>
            </a:r>
            <a:r>
              <a:rPr lang="zh-TW" altLang="en-US" dirty="0">
                <a:solidFill>
                  <a:schemeClr val="bg1">
                    <a:lumMod val="50000"/>
                  </a:schemeClr>
                </a:solidFill>
              </a:rPr>
              <a:t> </a:t>
            </a:r>
            <a:r>
              <a:rPr lang="en-US" altLang="zh-TW" dirty="0">
                <a:solidFill>
                  <a:schemeClr val="bg1">
                    <a:lumMod val="50000"/>
                  </a:schemeClr>
                </a:solidFill>
              </a:rPr>
              <a:t>(e.g.,</a:t>
            </a:r>
            <a:r>
              <a:rPr lang="zh-TW" altLang="en-US" dirty="0">
                <a:solidFill>
                  <a:schemeClr val="bg1">
                    <a:lumMod val="50000"/>
                  </a:schemeClr>
                </a:solidFill>
              </a:rPr>
              <a:t> </a:t>
            </a:r>
            <a:r>
              <a:rPr lang="en-US" altLang="zh-TW" dirty="0">
                <a:solidFill>
                  <a:schemeClr val="bg1">
                    <a:lumMod val="50000"/>
                  </a:schemeClr>
                </a:solidFill>
              </a:rPr>
              <a:t>processor</a:t>
            </a:r>
            <a:r>
              <a:rPr lang="zh-TW" altLang="en-US" dirty="0">
                <a:solidFill>
                  <a:schemeClr val="bg1">
                    <a:lumMod val="50000"/>
                  </a:schemeClr>
                </a:solidFill>
              </a:rPr>
              <a:t> </a:t>
            </a:r>
            <a:r>
              <a:rPr lang="en-US" altLang="zh-TW" dirty="0">
                <a:solidFill>
                  <a:schemeClr val="bg1">
                    <a:lumMod val="50000"/>
                  </a:schemeClr>
                </a:solidFill>
              </a:rPr>
              <a:t>register,</a:t>
            </a:r>
            <a:r>
              <a:rPr lang="zh-TW" altLang="en-US" dirty="0">
                <a:solidFill>
                  <a:schemeClr val="bg1">
                    <a:lumMod val="50000"/>
                  </a:schemeClr>
                </a:solidFill>
              </a:rPr>
              <a:t> </a:t>
            </a:r>
            <a:r>
              <a:rPr lang="en-US" altLang="zh-TW" dirty="0">
                <a:solidFill>
                  <a:schemeClr val="bg1">
                    <a:lumMod val="50000"/>
                  </a:schemeClr>
                </a:solidFill>
              </a:rPr>
              <a:t>architecture-specific</a:t>
            </a:r>
            <a:r>
              <a:rPr lang="zh-TW" altLang="en-US" dirty="0">
                <a:solidFill>
                  <a:schemeClr val="bg1">
                    <a:lumMod val="50000"/>
                  </a:schemeClr>
                </a:solidFill>
              </a:rPr>
              <a:t> </a:t>
            </a:r>
            <a:r>
              <a:rPr lang="en-US" altLang="zh-TW" dirty="0">
                <a:solidFill>
                  <a:schemeClr val="bg1">
                    <a:lumMod val="50000"/>
                  </a:schemeClr>
                </a:solidFill>
              </a:rPr>
              <a:t>state)</a:t>
            </a:r>
            <a:endParaRPr kumimoji="1" lang="en-US" altLang="zh-TW" dirty="0">
              <a:solidFill>
                <a:schemeClr val="bg1">
                  <a:lumMod val="50000"/>
                </a:schemeClr>
              </a:solidFill>
            </a:endParaRPr>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4</a:t>
            </a:fld>
            <a:endParaRPr lang="zh-TW" altLang="en-US" dirty="0"/>
          </a:p>
        </p:txBody>
      </p:sp>
      <p:sp>
        <p:nvSpPr>
          <p:cNvPr id="13" name="文字方塊 12">
            <a:extLst>
              <a:ext uri="{FF2B5EF4-FFF2-40B4-BE49-F238E27FC236}">
                <a16:creationId xmlns:a16="http://schemas.microsoft.com/office/drawing/2014/main" id="{52CCA5D1-0F0F-66B0-2909-4FFE625A8550}"/>
              </a:ext>
            </a:extLst>
          </p:cNvPr>
          <p:cNvSpPr txBox="1"/>
          <p:nvPr/>
        </p:nvSpPr>
        <p:spPr>
          <a:xfrm>
            <a:off x="0" y="6396335"/>
            <a:ext cx="7117976" cy="461665"/>
          </a:xfrm>
          <a:prstGeom prst="rect">
            <a:avLst/>
          </a:prstGeom>
          <a:noFill/>
        </p:spPr>
        <p:txBody>
          <a:bodyPr wrap="square" rtlCol="0">
            <a:spAutoFit/>
          </a:bodyPr>
          <a:lstStyle/>
          <a:p>
            <a:r>
              <a:rPr kumimoji="1" lang="en-US" altLang="zh-TW" sz="1200" dirty="0">
                <a:solidFill>
                  <a:schemeClr val="bg1">
                    <a:lumMod val="75000"/>
                  </a:schemeClr>
                </a:solidFill>
              </a:rPr>
              <a:t>Ref1: https://</a:t>
            </a:r>
            <a:r>
              <a:rPr kumimoji="1" lang="en-US" altLang="zh-TW" sz="1200" dirty="0" err="1">
                <a:solidFill>
                  <a:schemeClr val="bg1">
                    <a:lumMod val="75000"/>
                  </a:schemeClr>
                </a:solidFill>
              </a:rPr>
              <a:t>www.beyonddiscovery.org</a:t>
            </a:r>
            <a:r>
              <a:rPr kumimoji="1" lang="en-US" altLang="zh-TW" sz="1200" dirty="0">
                <a:solidFill>
                  <a:schemeClr val="bg1">
                    <a:lumMod val="75000"/>
                  </a:schemeClr>
                </a:solidFill>
              </a:rPr>
              <a:t>/</a:t>
            </a:r>
            <a:r>
              <a:rPr kumimoji="1" lang="en-US" altLang="zh-TW" sz="1200" dirty="0" err="1">
                <a:solidFill>
                  <a:schemeClr val="bg1">
                    <a:lumMod val="75000"/>
                  </a:schemeClr>
                </a:solidFill>
              </a:rPr>
              <a:t>unix</a:t>
            </a:r>
            <a:r>
              <a:rPr kumimoji="1" lang="en-US" altLang="zh-TW" sz="1200" dirty="0">
                <a:solidFill>
                  <a:schemeClr val="bg1">
                    <a:lumMod val="75000"/>
                  </a:schemeClr>
                </a:solidFill>
              </a:rPr>
              <a:t>-operating-system/63-the-context-of-a-process.html</a:t>
            </a:r>
          </a:p>
          <a:p>
            <a:r>
              <a:rPr kumimoji="1" lang="en-US" altLang="zh-TW" sz="1200" dirty="0">
                <a:solidFill>
                  <a:schemeClr val="bg1">
                    <a:lumMod val="75000"/>
                  </a:schemeClr>
                </a:solidFill>
              </a:rPr>
              <a:t>Ref2:</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www.maizure.org</a:t>
            </a:r>
            <a:r>
              <a:rPr kumimoji="1" lang="en-US" altLang="zh-TW" sz="1200" dirty="0">
                <a:solidFill>
                  <a:schemeClr val="bg1">
                    <a:lumMod val="75000"/>
                  </a:schemeClr>
                </a:solidFill>
              </a:rPr>
              <a:t>/projects/evolution_x86_context_switch_linux/</a:t>
            </a:r>
          </a:p>
        </p:txBody>
      </p:sp>
      <p:sp>
        <p:nvSpPr>
          <p:cNvPr id="15" name="矩形 14">
            <a:extLst>
              <a:ext uri="{FF2B5EF4-FFF2-40B4-BE49-F238E27FC236}">
                <a16:creationId xmlns:a16="http://schemas.microsoft.com/office/drawing/2014/main" id="{1F90580B-358C-7474-9622-BED082278B0C}"/>
              </a:ext>
            </a:extLst>
          </p:cNvPr>
          <p:cNvSpPr/>
          <p:nvPr/>
        </p:nvSpPr>
        <p:spPr>
          <a:xfrm>
            <a:off x="614081"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Flush Branch Predictor Buffer</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6" name="TextBox 7">
            <a:extLst>
              <a:ext uri="{FF2B5EF4-FFF2-40B4-BE49-F238E27FC236}">
                <a16:creationId xmlns:a16="http://schemas.microsoft.com/office/drawing/2014/main" id="{414D6594-6858-41E9-7F0A-74126FF0EE0C}"/>
              </a:ext>
            </a:extLst>
          </p:cNvPr>
          <p:cNvSpPr txBox="1"/>
          <p:nvPr/>
        </p:nvSpPr>
        <p:spPr>
          <a:xfrm>
            <a:off x="4469046" y="5418179"/>
            <a:ext cx="3365024" cy="307777"/>
          </a:xfrm>
          <a:prstGeom prst="rect">
            <a:avLst/>
          </a:prstGeom>
          <a:noFill/>
          <a:ln>
            <a:solidFill>
              <a:schemeClr val="tx1"/>
            </a:solidFill>
          </a:ln>
        </p:spPr>
        <p:txBody>
          <a:bodyPr wrap="none" rtlCol="0">
            <a:spAutoFit/>
          </a:bodyPr>
          <a:lstStyle/>
          <a:p>
            <a:r>
              <a:rPr lang="en-US" altLang="zh-TW" sz="1400" b="1" dirty="0">
                <a:latin typeface="Arial" panose="020B0604020202020204" pitchFamily="34" charset="0"/>
                <a:cs typeface="Arial" panose="020B0604020202020204" pitchFamily="34" charset="0"/>
              </a:rPr>
              <a:t>Abstract</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of</a:t>
            </a:r>
            <a:r>
              <a:rPr lang="zh-TW" altLang="en-US" sz="1400" b="1" dirty="0">
                <a:latin typeface="Arial" panose="020B0604020202020204" pitchFamily="34" charset="0"/>
                <a:cs typeface="Arial" panose="020B0604020202020204" pitchFamily="34" charset="0"/>
              </a:rPr>
              <a:t> </a:t>
            </a:r>
            <a:r>
              <a:rPr lang="en-US" altLang="zh-TW" sz="1400" b="1" dirty="0" err="1">
                <a:latin typeface="Arial" panose="020B0604020202020204" pitchFamily="34" charset="0"/>
                <a:cs typeface="Arial" panose="020B0604020202020204" pitchFamily="34" charset="0"/>
              </a:rPr>
              <a:t>switch_mm</a:t>
            </a:r>
            <a:r>
              <a:rPr lang="en-US" altLang="zh-TW" sz="1400" b="1" dirty="0">
                <a:latin typeface="Arial" panose="020B0604020202020204" pitchFamily="34" charset="0"/>
                <a:cs typeface="Arial" panose="020B0604020202020204" pitchFamily="34" charset="0"/>
              </a:rPr>
              <a:t>()</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on</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Linux</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4.4</a:t>
            </a:r>
            <a:endParaRPr lang="en-US" sz="1400" b="1" dirty="0">
              <a:latin typeface="Arial" panose="020B0604020202020204" pitchFamily="34" charset="0"/>
              <a:cs typeface="Arial" panose="020B0604020202020204" pitchFamily="34" charset="0"/>
            </a:endParaRPr>
          </a:p>
        </p:txBody>
      </p:sp>
      <p:sp>
        <p:nvSpPr>
          <p:cNvPr id="17" name="矩形 16">
            <a:extLst>
              <a:ext uri="{FF2B5EF4-FFF2-40B4-BE49-F238E27FC236}">
                <a16:creationId xmlns:a16="http://schemas.microsoft.com/office/drawing/2014/main" id="{1894AFFA-BC5D-3C2E-8ABD-70C63170628D}"/>
              </a:ext>
            </a:extLst>
          </p:cNvPr>
          <p:cNvSpPr/>
          <p:nvPr/>
        </p:nvSpPr>
        <p:spPr>
          <a:xfrm>
            <a:off x="2962974"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Load New Page Table (CR3)</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8" name="矩形 17">
            <a:extLst>
              <a:ext uri="{FF2B5EF4-FFF2-40B4-BE49-F238E27FC236}">
                <a16:creationId xmlns:a16="http://schemas.microsoft.com/office/drawing/2014/main" id="{C767976F-9637-05A7-C107-8C25C087F84F}"/>
              </a:ext>
            </a:extLst>
          </p:cNvPr>
          <p:cNvSpPr/>
          <p:nvPr/>
        </p:nvSpPr>
        <p:spPr>
          <a:xfrm>
            <a:off x="5311867"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Flush TLB</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9" name="矩形 18">
            <a:extLst>
              <a:ext uri="{FF2B5EF4-FFF2-40B4-BE49-F238E27FC236}">
                <a16:creationId xmlns:a16="http://schemas.microsoft.com/office/drawing/2014/main" id="{4628B0F9-5C54-E570-C8B9-FF79130145D8}"/>
              </a:ext>
            </a:extLst>
          </p:cNvPr>
          <p:cNvSpPr/>
          <p:nvPr/>
        </p:nvSpPr>
        <p:spPr>
          <a:xfrm>
            <a:off x="7660760"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Load New CR4 (Page Size Extension)</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0" name="矩形 19">
            <a:extLst>
              <a:ext uri="{FF2B5EF4-FFF2-40B4-BE49-F238E27FC236}">
                <a16:creationId xmlns:a16="http://schemas.microsoft.com/office/drawing/2014/main" id="{CB10BCF7-EEFF-F6CE-8A16-DF93276DEC20}"/>
              </a:ext>
            </a:extLst>
          </p:cNvPr>
          <p:cNvSpPr/>
          <p:nvPr/>
        </p:nvSpPr>
        <p:spPr>
          <a:xfrm>
            <a:off x="10009652" y="4185102"/>
            <a:ext cx="1506072" cy="806824"/>
          </a:xfrm>
          <a:prstGeom prst="rect">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Load LDT</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(Not used for user processes)</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6" name="直線箭頭接點 5">
            <a:extLst>
              <a:ext uri="{FF2B5EF4-FFF2-40B4-BE49-F238E27FC236}">
                <a16:creationId xmlns:a16="http://schemas.microsoft.com/office/drawing/2014/main" id="{761661C3-D342-CC5D-BB58-67A7A74A16A6}"/>
              </a:ext>
            </a:extLst>
          </p:cNvPr>
          <p:cNvCxnSpPr>
            <a:cxnSpLocks/>
            <a:endCxn id="17" idx="1"/>
          </p:cNvCxnSpPr>
          <p:nvPr/>
        </p:nvCxnSpPr>
        <p:spPr>
          <a:xfrm>
            <a:off x="2120153"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 name="直線箭頭接點 9">
            <a:extLst>
              <a:ext uri="{FF2B5EF4-FFF2-40B4-BE49-F238E27FC236}">
                <a16:creationId xmlns:a16="http://schemas.microsoft.com/office/drawing/2014/main" id="{1D7AB363-1712-6DD1-31D9-16EDD0127096}"/>
              </a:ext>
            </a:extLst>
          </p:cNvPr>
          <p:cNvCxnSpPr>
            <a:cxnSpLocks/>
          </p:cNvCxnSpPr>
          <p:nvPr/>
        </p:nvCxnSpPr>
        <p:spPr>
          <a:xfrm>
            <a:off x="4469046"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 name="直線箭頭接點 10">
            <a:extLst>
              <a:ext uri="{FF2B5EF4-FFF2-40B4-BE49-F238E27FC236}">
                <a16:creationId xmlns:a16="http://schemas.microsoft.com/office/drawing/2014/main" id="{3B692CB8-4BB6-5260-4322-28E5D9285618}"/>
              </a:ext>
            </a:extLst>
          </p:cNvPr>
          <p:cNvCxnSpPr>
            <a:cxnSpLocks/>
          </p:cNvCxnSpPr>
          <p:nvPr/>
        </p:nvCxnSpPr>
        <p:spPr>
          <a:xfrm>
            <a:off x="6817939"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2" name="直線箭頭接點 11">
            <a:extLst>
              <a:ext uri="{FF2B5EF4-FFF2-40B4-BE49-F238E27FC236}">
                <a16:creationId xmlns:a16="http://schemas.microsoft.com/office/drawing/2014/main" id="{8F014D17-E0A5-E2C9-3960-468792BD5FC1}"/>
              </a:ext>
            </a:extLst>
          </p:cNvPr>
          <p:cNvCxnSpPr>
            <a:cxnSpLocks/>
          </p:cNvCxnSpPr>
          <p:nvPr/>
        </p:nvCxnSpPr>
        <p:spPr>
          <a:xfrm>
            <a:off x="9166832" y="4585526"/>
            <a:ext cx="842821" cy="2988"/>
          </a:xfrm>
          <a:prstGeom prst="straightConnector1">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60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up)">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lang="en-US" altLang="zh-TW" sz="4400" dirty="0">
                <a:solidFill>
                  <a:srgbClr val="C00000"/>
                </a:solidFill>
              </a:rPr>
              <a:t>Recap: </a:t>
            </a:r>
            <a:r>
              <a:rPr kumimoji="1" lang="en-US" altLang="zh-TW" u="sng" dirty="0"/>
              <a:t>Process</a:t>
            </a:r>
            <a:r>
              <a:rPr kumimoji="1" lang="en-US" altLang="zh-TW" dirty="0"/>
              <a:t> Context </a:t>
            </a:r>
            <a:r>
              <a:rPr lang="en-US" altLang="zh-TW" dirty="0"/>
              <a:t>Switch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p:txBody>
          <a:bodyPr/>
          <a:lstStyle/>
          <a:p>
            <a:r>
              <a:rPr kumimoji="1" lang="en-US" altLang="zh-TW" dirty="0"/>
              <a:t>Process Context</a:t>
            </a:r>
            <a:r>
              <a:rPr kumimoji="1" lang="zh-TW" altLang="en-US" dirty="0"/>
              <a:t> </a:t>
            </a:r>
            <a:r>
              <a:rPr kumimoji="1" lang="en-US" altLang="zh-TW" dirty="0"/>
              <a:t>Switching:</a:t>
            </a:r>
            <a:r>
              <a:rPr kumimoji="1" lang="zh-TW" altLang="en-US" dirty="0"/>
              <a:t> </a:t>
            </a:r>
            <a:r>
              <a:rPr kumimoji="1" lang="en-US" altLang="zh-TW" dirty="0"/>
              <a:t>Switching</a:t>
            </a:r>
            <a:r>
              <a:rPr kumimoji="1" lang="zh-TW" altLang="en-US" dirty="0"/>
              <a:t> </a:t>
            </a:r>
            <a:r>
              <a:rPr kumimoji="1" lang="en-US" altLang="zh-TW" dirty="0"/>
              <a:t>from</a:t>
            </a:r>
            <a:r>
              <a:rPr kumimoji="1" lang="zh-TW" altLang="en-US" dirty="0"/>
              <a:t> </a:t>
            </a:r>
            <a:r>
              <a:rPr kumimoji="1" lang="en-US" altLang="zh-TW" dirty="0"/>
              <a:t>one</a:t>
            </a:r>
            <a:r>
              <a:rPr kumimoji="1" lang="zh-TW" altLang="en-US" dirty="0"/>
              <a:t> </a:t>
            </a:r>
            <a:r>
              <a:rPr kumimoji="1" lang="en-US" altLang="zh-TW" dirty="0"/>
              <a:t>runnable</a:t>
            </a:r>
            <a:r>
              <a:rPr kumimoji="1" lang="zh-TW" altLang="en-US" dirty="0"/>
              <a:t> </a:t>
            </a:r>
            <a:r>
              <a:rPr kumimoji="1" lang="en-US" altLang="zh-TW" dirty="0"/>
              <a:t>process</a:t>
            </a:r>
            <a:r>
              <a:rPr kumimoji="1" lang="zh-TW" altLang="en-US" dirty="0"/>
              <a:t> </a:t>
            </a:r>
            <a:r>
              <a:rPr kumimoji="1" lang="en-US" altLang="zh-TW" dirty="0"/>
              <a:t>to</a:t>
            </a:r>
            <a:r>
              <a:rPr kumimoji="1" lang="zh-TW" altLang="en-US" dirty="0"/>
              <a:t> </a:t>
            </a:r>
            <a:r>
              <a:rPr kumimoji="1" lang="en-US" altLang="zh-TW" dirty="0"/>
              <a:t>another.</a:t>
            </a:r>
            <a:endParaRPr lang="en-US" altLang="zh-TW" dirty="0"/>
          </a:p>
          <a:p>
            <a:pPr lvl="1"/>
            <a:r>
              <a:rPr lang="en-US" altLang="zh-TW" dirty="0" err="1">
                <a:solidFill>
                  <a:schemeClr val="bg1">
                    <a:lumMod val="50000"/>
                  </a:schemeClr>
                </a:solidFill>
              </a:rPr>
              <a:t>s</a:t>
            </a:r>
            <a:r>
              <a:rPr kumimoji="1" lang="en-US" altLang="zh-TW" dirty="0" err="1">
                <a:solidFill>
                  <a:schemeClr val="bg1">
                    <a:lumMod val="50000"/>
                  </a:schemeClr>
                </a:solidFill>
              </a:rPr>
              <a:t>witch_mm</a:t>
            </a:r>
            <a:r>
              <a:rPr kumimoji="1" lang="en-US" altLang="zh-TW" dirty="0">
                <a:solidFill>
                  <a:schemeClr val="bg1">
                    <a:lumMod val="50000"/>
                  </a:schemeClr>
                </a:solidFill>
              </a:rPr>
              <a:t>():</a:t>
            </a:r>
            <a:r>
              <a:rPr kumimoji="1" lang="zh-TW" altLang="en-US" dirty="0">
                <a:solidFill>
                  <a:schemeClr val="bg1">
                    <a:lumMod val="50000"/>
                  </a:schemeClr>
                </a:solidFill>
              </a:rPr>
              <a:t> </a:t>
            </a:r>
            <a:r>
              <a:rPr kumimoji="1" lang="en-US" altLang="zh-TW" dirty="0">
                <a:solidFill>
                  <a:schemeClr val="bg1">
                    <a:lumMod val="50000"/>
                  </a:schemeClr>
                </a:solidFill>
              </a:rPr>
              <a:t>Switch</a:t>
            </a:r>
            <a:r>
              <a:rPr kumimoji="1" lang="zh-TW" altLang="en-US" dirty="0">
                <a:solidFill>
                  <a:schemeClr val="bg1">
                    <a:lumMod val="50000"/>
                  </a:schemeClr>
                </a:solidFill>
              </a:rPr>
              <a:t> </a:t>
            </a:r>
            <a:r>
              <a:rPr kumimoji="1" lang="en-US" altLang="zh-TW" dirty="0">
                <a:solidFill>
                  <a:schemeClr val="bg1">
                    <a:lumMod val="50000"/>
                  </a:schemeClr>
                </a:solidFill>
              </a:rPr>
              <a:t>the</a:t>
            </a:r>
            <a:r>
              <a:rPr kumimoji="1" lang="zh-TW" altLang="en-US" dirty="0">
                <a:solidFill>
                  <a:schemeClr val="bg1">
                    <a:lumMod val="50000"/>
                  </a:schemeClr>
                </a:solidFill>
              </a:rPr>
              <a:t> </a:t>
            </a:r>
            <a:r>
              <a:rPr kumimoji="1" lang="en-US" altLang="zh-TW" dirty="0">
                <a:solidFill>
                  <a:schemeClr val="bg1">
                    <a:lumMod val="50000"/>
                  </a:schemeClr>
                </a:solidFill>
              </a:rPr>
              <a:t>virtual</a:t>
            </a:r>
            <a:r>
              <a:rPr kumimoji="1" lang="zh-TW" altLang="en-US" dirty="0">
                <a:solidFill>
                  <a:schemeClr val="bg1">
                    <a:lumMod val="50000"/>
                  </a:schemeClr>
                </a:solidFill>
              </a:rPr>
              <a:t> </a:t>
            </a:r>
            <a:r>
              <a:rPr kumimoji="1" lang="en-US" altLang="zh-TW" dirty="0">
                <a:solidFill>
                  <a:schemeClr val="bg1">
                    <a:lumMod val="50000"/>
                  </a:schemeClr>
                </a:solidFill>
              </a:rPr>
              <a:t>memory</a:t>
            </a:r>
            <a:r>
              <a:rPr kumimoji="1" lang="zh-TW" altLang="en-US" dirty="0">
                <a:solidFill>
                  <a:schemeClr val="bg1">
                    <a:lumMod val="50000"/>
                  </a:schemeClr>
                </a:solidFill>
              </a:rPr>
              <a:t> </a:t>
            </a:r>
            <a:r>
              <a:rPr lang="en-US" altLang="zh-TW" dirty="0">
                <a:solidFill>
                  <a:schemeClr val="bg1">
                    <a:lumMod val="50000"/>
                  </a:schemeClr>
                </a:solidFill>
              </a:rPr>
              <a:t>mapping</a:t>
            </a:r>
            <a:r>
              <a:rPr lang="zh-TW" altLang="en-US" dirty="0">
                <a:solidFill>
                  <a:schemeClr val="bg1">
                    <a:lumMod val="50000"/>
                  </a:schemeClr>
                </a:solidFill>
              </a:rPr>
              <a:t> </a:t>
            </a:r>
            <a:r>
              <a:rPr lang="en-US" altLang="zh-TW" dirty="0">
                <a:solidFill>
                  <a:schemeClr val="bg1">
                    <a:lumMod val="50000"/>
                  </a:schemeClr>
                </a:solidFill>
              </a:rPr>
              <a:t>(e.g.,</a:t>
            </a:r>
            <a:r>
              <a:rPr lang="zh-TW" altLang="en-US" dirty="0">
                <a:solidFill>
                  <a:schemeClr val="bg1">
                    <a:lumMod val="50000"/>
                  </a:schemeClr>
                </a:solidFill>
              </a:rPr>
              <a:t> </a:t>
            </a:r>
            <a:r>
              <a:rPr lang="en-US" altLang="zh-TW" dirty="0">
                <a:solidFill>
                  <a:schemeClr val="bg1">
                    <a:lumMod val="50000"/>
                  </a:schemeClr>
                </a:solidFill>
              </a:rPr>
              <a:t>page</a:t>
            </a:r>
            <a:r>
              <a:rPr lang="zh-TW" altLang="en-US" dirty="0">
                <a:solidFill>
                  <a:schemeClr val="bg1">
                    <a:lumMod val="50000"/>
                  </a:schemeClr>
                </a:solidFill>
              </a:rPr>
              <a:t> </a:t>
            </a:r>
            <a:r>
              <a:rPr lang="en-US" altLang="zh-TW" dirty="0">
                <a:solidFill>
                  <a:schemeClr val="bg1">
                    <a:lumMod val="50000"/>
                  </a:schemeClr>
                </a:solidFill>
              </a:rPr>
              <a:t>table,</a:t>
            </a:r>
            <a:r>
              <a:rPr lang="zh-TW" altLang="en-US" dirty="0">
                <a:solidFill>
                  <a:schemeClr val="bg1">
                    <a:lumMod val="50000"/>
                  </a:schemeClr>
                </a:solidFill>
              </a:rPr>
              <a:t> </a:t>
            </a:r>
            <a:r>
              <a:rPr lang="en-US" altLang="zh-TW" dirty="0">
                <a:solidFill>
                  <a:schemeClr val="bg1">
                    <a:lumMod val="50000"/>
                  </a:schemeClr>
                </a:solidFill>
              </a:rPr>
              <a:t>TLB)</a:t>
            </a:r>
            <a:endParaRPr kumimoji="1" lang="en-US" altLang="zh-TW" dirty="0">
              <a:solidFill>
                <a:schemeClr val="bg1">
                  <a:lumMod val="50000"/>
                </a:schemeClr>
              </a:solidFill>
            </a:endParaRPr>
          </a:p>
          <a:p>
            <a:pPr lvl="1"/>
            <a:r>
              <a:rPr lang="en-US" altLang="zh-TW" dirty="0" err="1"/>
              <a:t>switch_to</a:t>
            </a:r>
            <a:r>
              <a:rPr lang="en-US" altLang="zh-TW" dirty="0"/>
              <a:t>():</a:t>
            </a:r>
            <a:r>
              <a:rPr lang="zh-TW" altLang="en-US" dirty="0"/>
              <a:t> </a:t>
            </a:r>
            <a:r>
              <a:rPr lang="en-US" altLang="zh-TW" dirty="0"/>
              <a:t>Switch</a:t>
            </a:r>
            <a:r>
              <a:rPr lang="zh-TW" altLang="en-US" dirty="0"/>
              <a:t> </a:t>
            </a:r>
            <a:r>
              <a:rPr lang="en-US" altLang="zh-TW" dirty="0"/>
              <a:t>the</a:t>
            </a:r>
            <a:r>
              <a:rPr lang="zh-TW" altLang="en-US" dirty="0"/>
              <a:t> </a:t>
            </a:r>
            <a:r>
              <a:rPr lang="en-US" altLang="zh-TW" dirty="0"/>
              <a:t>process</a:t>
            </a:r>
            <a:r>
              <a:rPr lang="zh-TW" altLang="en-US" dirty="0"/>
              <a:t> </a:t>
            </a:r>
            <a:r>
              <a:rPr lang="en-US" altLang="zh-TW" dirty="0"/>
              <a:t>state</a:t>
            </a:r>
            <a:r>
              <a:rPr lang="zh-TW" altLang="en-US" dirty="0"/>
              <a:t> </a:t>
            </a:r>
            <a:r>
              <a:rPr lang="en-US" altLang="zh-TW" dirty="0"/>
              <a:t>(e.g.,</a:t>
            </a:r>
            <a:r>
              <a:rPr lang="zh-TW" altLang="en-US" dirty="0"/>
              <a:t> </a:t>
            </a:r>
            <a:r>
              <a:rPr lang="en-US" altLang="zh-TW" dirty="0"/>
              <a:t>processor</a:t>
            </a:r>
            <a:r>
              <a:rPr lang="zh-TW" altLang="en-US" dirty="0"/>
              <a:t> </a:t>
            </a:r>
            <a:r>
              <a:rPr lang="en-US" altLang="zh-TW" dirty="0"/>
              <a:t>register,</a:t>
            </a:r>
            <a:r>
              <a:rPr lang="zh-TW" altLang="en-US" dirty="0"/>
              <a:t> </a:t>
            </a:r>
            <a:r>
              <a:rPr lang="en-US" altLang="zh-TW" dirty="0"/>
              <a:t>architecture-specific</a:t>
            </a:r>
            <a:r>
              <a:rPr lang="zh-TW" altLang="en-US" dirty="0"/>
              <a:t> </a:t>
            </a:r>
            <a:r>
              <a:rPr lang="en-US" altLang="zh-TW" dirty="0"/>
              <a:t>state)</a:t>
            </a:r>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5</a:t>
            </a:fld>
            <a:endParaRPr lang="zh-TW" altLang="en-US" dirty="0"/>
          </a:p>
        </p:txBody>
      </p:sp>
      <p:pic>
        <p:nvPicPr>
          <p:cNvPr id="5" name="Picture 6">
            <a:extLst>
              <a:ext uri="{FF2B5EF4-FFF2-40B4-BE49-F238E27FC236}">
                <a16:creationId xmlns:a16="http://schemas.microsoft.com/office/drawing/2014/main" id="{B66A6105-0991-26A3-1236-5FEB26AFCC4B}"/>
              </a:ext>
            </a:extLst>
          </p:cNvPr>
          <p:cNvPicPr>
            <a:picLocks noChangeAspect="1"/>
          </p:cNvPicPr>
          <p:nvPr/>
        </p:nvPicPr>
        <p:blipFill>
          <a:blip r:embed="rId3"/>
          <a:stretch>
            <a:fillRect/>
          </a:stretch>
        </p:blipFill>
        <p:spPr>
          <a:xfrm>
            <a:off x="438972" y="3117023"/>
            <a:ext cx="11575228" cy="2297003"/>
          </a:xfrm>
          <a:prstGeom prst="rect">
            <a:avLst/>
          </a:prstGeom>
        </p:spPr>
      </p:pic>
      <p:sp>
        <p:nvSpPr>
          <p:cNvPr id="6" name="TextBox 7">
            <a:extLst>
              <a:ext uri="{FF2B5EF4-FFF2-40B4-BE49-F238E27FC236}">
                <a16:creationId xmlns:a16="http://schemas.microsoft.com/office/drawing/2014/main" id="{8CCEF2EF-8CAA-E434-AC0F-9E2F3AE7624A}"/>
              </a:ext>
            </a:extLst>
          </p:cNvPr>
          <p:cNvSpPr txBox="1"/>
          <p:nvPr/>
        </p:nvSpPr>
        <p:spPr>
          <a:xfrm>
            <a:off x="4862608" y="6219854"/>
            <a:ext cx="3264035" cy="307777"/>
          </a:xfrm>
          <a:prstGeom prst="rect">
            <a:avLst/>
          </a:prstGeom>
          <a:noFill/>
          <a:ln>
            <a:solidFill>
              <a:schemeClr val="tx1"/>
            </a:solidFill>
          </a:ln>
        </p:spPr>
        <p:txBody>
          <a:bodyPr wrap="none" rtlCol="0">
            <a:spAutoFit/>
          </a:bodyPr>
          <a:lstStyle/>
          <a:p>
            <a:r>
              <a:rPr lang="en-US" altLang="zh-TW" sz="1400" b="1" dirty="0">
                <a:latin typeface="Arial" panose="020B0604020202020204" pitchFamily="34" charset="0"/>
                <a:cs typeface="Arial" panose="020B0604020202020204" pitchFamily="34" charset="0"/>
              </a:rPr>
              <a:t>Abstract</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of</a:t>
            </a:r>
            <a:r>
              <a:rPr lang="zh-TW" altLang="en-US" sz="1400" b="1" dirty="0">
                <a:latin typeface="Arial" panose="020B0604020202020204" pitchFamily="34" charset="0"/>
                <a:cs typeface="Arial" panose="020B0604020202020204" pitchFamily="34" charset="0"/>
              </a:rPr>
              <a:t> </a:t>
            </a:r>
            <a:r>
              <a:rPr lang="en-US" altLang="zh-TW" sz="1400" b="1" dirty="0" err="1">
                <a:latin typeface="Arial" panose="020B0604020202020204" pitchFamily="34" charset="0"/>
                <a:cs typeface="Arial" panose="020B0604020202020204" pitchFamily="34" charset="0"/>
              </a:rPr>
              <a:t>Switch_to</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on</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Linux</a:t>
            </a:r>
            <a:r>
              <a:rPr lang="zh-TW" altLang="en-US" sz="1400" b="1" dirty="0">
                <a:latin typeface="Arial" panose="020B0604020202020204" pitchFamily="34" charset="0"/>
                <a:cs typeface="Arial" panose="020B0604020202020204" pitchFamily="34" charset="0"/>
              </a:rPr>
              <a:t> </a:t>
            </a:r>
            <a:r>
              <a:rPr lang="en-US" altLang="zh-TW" sz="1400" b="1" dirty="0">
                <a:latin typeface="Arial" panose="020B0604020202020204" pitchFamily="34" charset="0"/>
                <a:cs typeface="Arial" panose="020B0604020202020204" pitchFamily="34" charset="0"/>
              </a:rPr>
              <a:t>2.6.0</a:t>
            </a:r>
            <a:endParaRPr lang="en-US" sz="1400" b="1" dirty="0">
              <a:latin typeface="Arial" panose="020B0604020202020204" pitchFamily="34" charset="0"/>
              <a:cs typeface="Arial" panose="020B0604020202020204" pitchFamily="34" charset="0"/>
            </a:endParaRPr>
          </a:p>
        </p:txBody>
      </p:sp>
      <p:sp>
        <p:nvSpPr>
          <p:cNvPr id="7" name="Rounded Rectangular Callout 8">
            <a:extLst>
              <a:ext uri="{FF2B5EF4-FFF2-40B4-BE49-F238E27FC236}">
                <a16:creationId xmlns:a16="http://schemas.microsoft.com/office/drawing/2014/main" id="{A84D5040-E14F-0D29-9DDB-35BE74235EFE}"/>
              </a:ext>
            </a:extLst>
          </p:cNvPr>
          <p:cNvSpPr/>
          <p:nvPr/>
        </p:nvSpPr>
        <p:spPr>
          <a:xfrm>
            <a:off x="3935779" y="5519928"/>
            <a:ext cx="2290807" cy="536511"/>
          </a:xfrm>
          <a:prstGeom prst="wedgeRoundRectCallout">
            <a:avLst>
              <a:gd name="adj1" fmla="val -21705"/>
              <a:gd name="adj2" fmla="val -93643"/>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err="1">
                <a:solidFill>
                  <a:schemeClr val="tx1"/>
                </a:solidFill>
                <a:latin typeface="Arial" panose="020B0604020202020204" pitchFamily="34" charset="0"/>
                <a:cs typeface="Arial" panose="020B0604020202020204" pitchFamily="34" charset="0"/>
              </a:rPr>
              <a:t>per_Processor_Data_Area</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(PDA), IRQ, </a:t>
            </a:r>
            <a:r>
              <a:rPr lang="en-US" altLang="zh-TW" sz="1400" dirty="0" err="1">
                <a:solidFill>
                  <a:schemeClr val="tx1"/>
                </a:solidFill>
                <a:latin typeface="Arial" panose="020B0604020202020204" pitchFamily="34" charset="0"/>
                <a:cs typeface="Arial" panose="020B0604020202020204" pitchFamily="34" charset="0"/>
              </a:rPr>
              <a:t>mmu_state</a:t>
            </a:r>
            <a:r>
              <a:rPr lang="en-US" altLang="zh-TW" sz="1400" dirty="0">
                <a:solidFill>
                  <a:schemeClr val="tx1"/>
                </a:solidFill>
                <a:latin typeface="Arial" panose="020B0604020202020204" pitchFamily="34" charset="0"/>
                <a:cs typeface="Arial" panose="020B0604020202020204" pitchFamily="34" charset="0"/>
              </a:rPr>
              <a:t>…</a:t>
            </a:r>
            <a:endParaRPr lang="en-US" sz="1400" dirty="0">
              <a:solidFill>
                <a:schemeClr val="tx1"/>
              </a:solidFill>
              <a:latin typeface="Arial" panose="020B0604020202020204" pitchFamily="34" charset="0"/>
              <a:cs typeface="Arial" panose="020B0604020202020204" pitchFamily="34" charset="0"/>
            </a:endParaRPr>
          </a:p>
        </p:txBody>
      </p:sp>
      <p:sp>
        <p:nvSpPr>
          <p:cNvPr id="8" name="Rounded Rectangular Callout 9">
            <a:extLst>
              <a:ext uri="{FF2B5EF4-FFF2-40B4-BE49-F238E27FC236}">
                <a16:creationId xmlns:a16="http://schemas.microsoft.com/office/drawing/2014/main" id="{DA5852BC-D446-0047-8546-17032BA7EF00}"/>
              </a:ext>
            </a:extLst>
          </p:cNvPr>
          <p:cNvSpPr/>
          <p:nvPr/>
        </p:nvSpPr>
        <p:spPr>
          <a:xfrm>
            <a:off x="438972" y="5519268"/>
            <a:ext cx="2188611" cy="637708"/>
          </a:xfrm>
          <a:prstGeom prst="wedgeRoundRectCallout">
            <a:avLst>
              <a:gd name="adj1" fmla="val -21705"/>
              <a:gd name="adj2" fmla="val -93643"/>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latin typeface="Arial" panose="020B0604020202020204" pitchFamily="34" charset="0"/>
                <a:cs typeface="Arial" panose="020B0604020202020204" pitchFamily="34" charset="0"/>
              </a:rPr>
              <a:t>Pointer to TLS</a:t>
            </a:r>
            <a:r>
              <a:rPr lang="zh-TW" altLang="en-US" sz="1400" dirty="0">
                <a:solidFill>
                  <a:schemeClr val="tx1"/>
                </a:solidFill>
                <a:latin typeface="Arial" panose="020B0604020202020204" pitchFamily="34" charset="0"/>
                <a:cs typeface="Arial" panose="020B0604020202020204" pitchFamily="34" charset="0"/>
              </a:rPr>
              <a:t> </a:t>
            </a:r>
            <a:br>
              <a:rPr lang="en-US" altLang="zh-TW" sz="1400" dirty="0">
                <a:solidFill>
                  <a:schemeClr val="tx1"/>
                </a:solidFill>
                <a:latin typeface="Arial" panose="020B0604020202020204" pitchFamily="34" charset="0"/>
                <a:cs typeface="Arial" panose="020B0604020202020204" pitchFamily="34" charset="0"/>
              </a:rPr>
            </a:br>
            <a:r>
              <a:rPr lang="en-US" altLang="zh-TW" sz="1400" dirty="0">
                <a:solidFill>
                  <a:schemeClr val="tx1"/>
                </a:solidFill>
                <a:latin typeface="Arial" panose="020B0604020202020204" pitchFamily="34" charset="0"/>
                <a:cs typeface="Arial" panose="020B0604020202020204" pitchFamily="34" charset="0"/>
              </a:rPr>
              <a:t>(e.g.,</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code run in thread, local</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parameter)</a:t>
            </a:r>
            <a:endParaRPr lang="en-US" sz="1400" dirty="0">
              <a:solidFill>
                <a:schemeClr val="tx1"/>
              </a:solidFill>
              <a:latin typeface="Arial" panose="020B0604020202020204" pitchFamily="34" charset="0"/>
              <a:cs typeface="Arial" panose="020B0604020202020204" pitchFamily="34" charset="0"/>
            </a:endParaRPr>
          </a:p>
        </p:txBody>
      </p:sp>
      <p:sp>
        <p:nvSpPr>
          <p:cNvPr id="9" name="Rounded Rectangular Callout 11">
            <a:extLst>
              <a:ext uri="{FF2B5EF4-FFF2-40B4-BE49-F238E27FC236}">
                <a16:creationId xmlns:a16="http://schemas.microsoft.com/office/drawing/2014/main" id="{4B481604-C57B-FA9F-1BE8-248604DEE4BF}"/>
              </a:ext>
            </a:extLst>
          </p:cNvPr>
          <p:cNvSpPr/>
          <p:nvPr/>
        </p:nvSpPr>
        <p:spPr>
          <a:xfrm>
            <a:off x="6959411" y="2573992"/>
            <a:ext cx="2513659" cy="536511"/>
          </a:xfrm>
          <a:prstGeom prst="wedgeRoundRectCallout">
            <a:avLst>
              <a:gd name="adj1" fmla="val 2352"/>
              <a:gd name="adj2" fmla="val 68825"/>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latin typeface="Arial" panose="020B0604020202020204" pitchFamily="34" charset="0"/>
                <a:cs typeface="Arial" panose="020B0604020202020204" pitchFamily="34" charset="0"/>
              </a:rPr>
              <a:t>Data</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Segment</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and</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Programmer</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Defined</a:t>
            </a:r>
            <a:r>
              <a:rPr lang="zh-TW" altLang="en-US" sz="1400" dirty="0">
                <a:solidFill>
                  <a:schemeClr val="tx1"/>
                </a:solidFill>
                <a:latin typeface="Arial" panose="020B0604020202020204" pitchFamily="34" charset="0"/>
                <a:cs typeface="Arial" panose="020B0604020202020204" pitchFamily="34" charset="0"/>
              </a:rPr>
              <a:t> </a:t>
            </a:r>
            <a:r>
              <a:rPr lang="en-US" altLang="zh-TW" sz="1400" dirty="0">
                <a:solidFill>
                  <a:schemeClr val="tx1"/>
                </a:solidFill>
                <a:latin typeface="Arial" panose="020B0604020202020204" pitchFamily="34" charset="0"/>
                <a:cs typeface="Arial" panose="020B0604020202020204" pitchFamily="34" charset="0"/>
              </a:rPr>
              <a:t>Segment</a:t>
            </a:r>
            <a:endParaRPr lang="en-US" sz="1400" dirty="0">
              <a:solidFill>
                <a:schemeClr val="tx1"/>
              </a:solidFill>
              <a:latin typeface="Arial" panose="020B0604020202020204" pitchFamily="34" charset="0"/>
              <a:cs typeface="Arial" panose="020B0604020202020204" pitchFamily="34" charset="0"/>
            </a:endParaRPr>
          </a:p>
        </p:txBody>
      </p:sp>
      <p:sp>
        <p:nvSpPr>
          <p:cNvPr id="11" name="TextBox 13">
            <a:extLst>
              <a:ext uri="{FF2B5EF4-FFF2-40B4-BE49-F238E27FC236}">
                <a16:creationId xmlns:a16="http://schemas.microsoft.com/office/drawing/2014/main" id="{93D8B521-26A6-E414-BC88-E26868D84E70}"/>
              </a:ext>
            </a:extLst>
          </p:cNvPr>
          <p:cNvSpPr txBox="1"/>
          <p:nvPr/>
        </p:nvSpPr>
        <p:spPr>
          <a:xfrm>
            <a:off x="6959411" y="5358897"/>
            <a:ext cx="4708713" cy="738664"/>
          </a:xfrm>
          <a:prstGeom prst="rect">
            <a:avLst/>
          </a:prstGeom>
          <a:noFill/>
          <a:ln>
            <a:solidFill>
              <a:schemeClr val="accent1">
                <a:shade val="50000"/>
              </a:schemeClr>
            </a:solidFill>
          </a:ln>
        </p:spPr>
        <p:txBody>
          <a:bodyPr wrap="square" rtlCol="0">
            <a:spAutoFit/>
          </a:bodyPr>
          <a:lstStyle/>
          <a:p>
            <a:r>
              <a:rPr lang="en-US" sz="1400" dirty="0"/>
              <a:t>TS: Task Switching Flag (a flag in CR0)</a:t>
            </a:r>
          </a:p>
          <a:p>
            <a:r>
              <a:rPr lang="en-US" sz="1400" dirty="0"/>
              <a:t>ES: Programmer Defined Segment        </a:t>
            </a:r>
            <a:br>
              <a:rPr lang="en-US" sz="1400" dirty="0"/>
            </a:br>
            <a:r>
              <a:rPr lang="en-US" sz="1400" dirty="0"/>
              <a:t>DS: Data Segment    FS/GS: Access thread local storage (TLS)</a:t>
            </a:r>
          </a:p>
        </p:txBody>
      </p:sp>
      <p:sp>
        <p:nvSpPr>
          <p:cNvPr id="12" name="Rounded Rectangular Callout 14">
            <a:extLst>
              <a:ext uri="{FF2B5EF4-FFF2-40B4-BE49-F238E27FC236}">
                <a16:creationId xmlns:a16="http://schemas.microsoft.com/office/drawing/2014/main" id="{5603D832-61E8-A2EB-1C53-5E90A0390A45}"/>
              </a:ext>
            </a:extLst>
          </p:cNvPr>
          <p:cNvSpPr/>
          <p:nvPr/>
        </p:nvSpPr>
        <p:spPr>
          <a:xfrm>
            <a:off x="468998" y="2531623"/>
            <a:ext cx="2871814" cy="538368"/>
          </a:xfrm>
          <a:prstGeom prst="wedgeRoundRectCallout">
            <a:avLst>
              <a:gd name="adj1" fmla="val -30106"/>
              <a:gd name="adj2" fmla="val 74031"/>
              <a:gd name="adj3" fmla="val 16667"/>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TW" sz="1400" dirty="0">
                <a:solidFill>
                  <a:schemeClr val="tx1"/>
                </a:solidFill>
                <a:latin typeface="Arial" panose="020B0604020202020204" pitchFamily="34" charset="0"/>
                <a:cs typeface="Arial" panose="020B0604020202020204" pitchFamily="34" charset="0"/>
              </a:rPr>
              <a:t>Store General Purpose Register</a:t>
            </a:r>
            <a:br>
              <a:rPr lang="en-US" altLang="zh-TW" dirty="0">
                <a:solidFill>
                  <a:schemeClr val="tx1"/>
                </a:solidFill>
                <a:latin typeface="Arial" panose="020B0604020202020204" pitchFamily="34" charset="0"/>
                <a:cs typeface="Arial" panose="020B0604020202020204" pitchFamily="34" charset="0"/>
              </a:rPr>
            </a:br>
            <a:r>
              <a:rPr lang="en-US" altLang="zh-TW" sz="1200" dirty="0">
                <a:solidFill>
                  <a:schemeClr val="tx1"/>
                </a:solidFill>
                <a:latin typeface="Arial" panose="020B0604020202020204" pitchFamily="34" charset="0"/>
                <a:cs typeface="Arial" panose="020B0604020202020204" pitchFamily="34" charset="0"/>
              </a:rPr>
              <a:t>(Hardware Context)</a:t>
            </a:r>
            <a:endParaRPr lang="en-US" sz="1200" dirty="0">
              <a:solidFill>
                <a:schemeClr val="tx1"/>
              </a:solidFill>
              <a:latin typeface="Arial" panose="020B0604020202020204" pitchFamily="34" charset="0"/>
              <a:cs typeface="Arial" panose="020B0604020202020204" pitchFamily="34" charset="0"/>
            </a:endParaRPr>
          </a:p>
        </p:txBody>
      </p:sp>
      <p:sp>
        <p:nvSpPr>
          <p:cNvPr id="13" name="文字方塊 12">
            <a:extLst>
              <a:ext uri="{FF2B5EF4-FFF2-40B4-BE49-F238E27FC236}">
                <a16:creationId xmlns:a16="http://schemas.microsoft.com/office/drawing/2014/main" id="{52CCA5D1-0F0F-66B0-2909-4FFE625A8550}"/>
              </a:ext>
            </a:extLst>
          </p:cNvPr>
          <p:cNvSpPr txBox="1"/>
          <p:nvPr/>
        </p:nvSpPr>
        <p:spPr>
          <a:xfrm>
            <a:off x="0" y="6544875"/>
            <a:ext cx="5903222" cy="276999"/>
          </a:xfrm>
          <a:prstGeom prst="rect">
            <a:avLst/>
          </a:prstGeom>
          <a:noFill/>
        </p:spPr>
        <p:txBody>
          <a:bodyPr wrap="squar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www.maizure.org</a:t>
            </a:r>
            <a:r>
              <a:rPr kumimoji="1" lang="en-US" altLang="zh-TW" sz="1200" dirty="0">
                <a:solidFill>
                  <a:schemeClr val="bg1">
                    <a:lumMod val="75000"/>
                  </a:schemeClr>
                </a:solidFill>
              </a:rPr>
              <a:t>/projects/evolution_x86_context_switch_linux/</a:t>
            </a:r>
          </a:p>
        </p:txBody>
      </p:sp>
    </p:spTree>
    <p:extLst>
      <p:ext uri="{BB962C8B-B14F-4D97-AF65-F5344CB8AC3E}">
        <p14:creationId xmlns:p14="http://schemas.microsoft.com/office/powerpoint/2010/main" val="2486635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3DE261-0CBD-B0D8-C329-0EA19A37C445}"/>
              </a:ext>
            </a:extLst>
          </p:cNvPr>
          <p:cNvSpPr>
            <a:spLocks noGrp="1"/>
          </p:cNvSpPr>
          <p:nvPr>
            <p:ph type="title"/>
          </p:nvPr>
        </p:nvSpPr>
        <p:spPr/>
        <p:txBody>
          <a:bodyPr>
            <a:normAutofit fontScale="90000"/>
          </a:bodyPr>
          <a:lstStyle/>
          <a:p>
            <a:r>
              <a:rPr lang="en-US" altLang="zh-TW" sz="4400" dirty="0">
                <a:solidFill>
                  <a:srgbClr val="C00000"/>
                </a:solidFill>
              </a:rPr>
              <a:t>Recap: </a:t>
            </a:r>
            <a:r>
              <a:rPr kumimoji="1" lang="en-US" altLang="zh-TW" dirty="0"/>
              <a:t>CPU Mode Switch vs Process Context Switch</a:t>
            </a:r>
            <a:endParaRPr kumimoji="1" lang="zh-TW" altLang="en-US" dirty="0"/>
          </a:p>
        </p:txBody>
      </p:sp>
      <p:sp>
        <p:nvSpPr>
          <p:cNvPr id="3" name="內容版面配置區 2">
            <a:extLst>
              <a:ext uri="{FF2B5EF4-FFF2-40B4-BE49-F238E27FC236}">
                <a16:creationId xmlns:a16="http://schemas.microsoft.com/office/drawing/2014/main" id="{00DE24A5-0075-DFF3-15E7-4E66C419DA53}"/>
              </a:ext>
            </a:extLst>
          </p:cNvPr>
          <p:cNvSpPr>
            <a:spLocks noGrp="1"/>
          </p:cNvSpPr>
          <p:nvPr>
            <p:ph idx="1"/>
          </p:nvPr>
        </p:nvSpPr>
        <p:spPr/>
        <p:txBody>
          <a:bodyPr/>
          <a:lstStyle/>
          <a:p>
            <a:r>
              <a:rPr kumimoji="1" lang="en-US" altLang="zh-TW" dirty="0"/>
              <a:t>While facing exceptions or interrupts, CPU switches from user mode to kernel mode to run kernel code. </a:t>
            </a:r>
            <a:endParaRPr lang="en-US" altLang="zh-TW" dirty="0">
              <a:sym typeface="Wingdings" pitchFamily="2" charset="2"/>
            </a:endParaRPr>
          </a:p>
          <a:p>
            <a:pPr lvl="1"/>
            <a:r>
              <a:rPr lang="en-US" altLang="zh-TW" dirty="0">
                <a:sym typeface="Wingdings" pitchFamily="2" charset="2"/>
              </a:rPr>
              <a:t>CPU shall also do context switching but </a:t>
            </a:r>
            <a:r>
              <a:rPr lang="en-US" altLang="zh-TW" dirty="0">
                <a:solidFill>
                  <a:srgbClr val="C00000"/>
                </a:solidFill>
                <a:sym typeface="Wingdings" pitchFamily="2" charset="2"/>
              </a:rPr>
              <a:t>not process-level context switching</a:t>
            </a:r>
            <a:endParaRPr kumimoji="1" lang="en-US" altLang="zh-TW" dirty="0">
              <a:solidFill>
                <a:srgbClr val="C00000"/>
              </a:solidFill>
            </a:endParaRPr>
          </a:p>
          <a:p>
            <a:r>
              <a:rPr kumimoji="1" lang="en-US" altLang="zh-TW" dirty="0"/>
              <a:t>Before switching to kernel mode, CPU shall </a:t>
            </a:r>
            <a:r>
              <a:rPr kumimoji="1" lang="en-US" altLang="zh-TW" dirty="0">
                <a:solidFill>
                  <a:srgbClr val="C00000"/>
                </a:solidFill>
              </a:rPr>
              <a:t>save user mode context</a:t>
            </a:r>
          </a:p>
          <a:p>
            <a:pPr lvl="1"/>
            <a:r>
              <a:rPr kumimoji="1" lang="en-US" altLang="zh-TW" dirty="0">
                <a:solidFill>
                  <a:schemeClr val="tx1"/>
                </a:solidFill>
              </a:rPr>
              <a:t>User mode context: program counter, user-mode-specific state (e.g., </a:t>
            </a:r>
            <a:r>
              <a:rPr lang="en-US" altLang="zh-TW" dirty="0">
                <a:solidFill>
                  <a:schemeClr val="tx1"/>
                </a:solidFill>
              </a:rPr>
              <a:t>us</a:t>
            </a:r>
            <a:r>
              <a:rPr kumimoji="1" lang="en-US" altLang="zh-TW" dirty="0">
                <a:solidFill>
                  <a:schemeClr val="tx1"/>
                </a:solidFill>
              </a:rPr>
              <a:t>er-space </a:t>
            </a:r>
            <a:r>
              <a:rPr lang="en-US" altLang="zh-TW" dirty="0">
                <a:solidFill>
                  <a:schemeClr val="tx1"/>
                </a:solidFill>
              </a:rPr>
              <a:t>s</a:t>
            </a:r>
            <a:r>
              <a:rPr kumimoji="1" lang="en-US" altLang="zh-TW" dirty="0">
                <a:solidFill>
                  <a:schemeClr val="tx1"/>
                </a:solidFill>
              </a:rPr>
              <a:t>tack </a:t>
            </a:r>
            <a:r>
              <a:rPr lang="en-US" altLang="zh-TW" dirty="0">
                <a:solidFill>
                  <a:schemeClr val="tx1"/>
                </a:solidFill>
              </a:rPr>
              <a:t>p</a:t>
            </a:r>
            <a:r>
              <a:rPr kumimoji="1" lang="en-US" altLang="zh-TW" dirty="0">
                <a:solidFill>
                  <a:schemeClr val="tx1"/>
                </a:solidFill>
              </a:rPr>
              <a:t>ointer register (ESP or RSP), floating point register, user-space instruction pointer)</a:t>
            </a:r>
          </a:p>
          <a:p>
            <a:pPr lvl="1"/>
            <a:r>
              <a:rPr lang="en-US" altLang="zh-TW" i="1" dirty="0">
                <a:solidFill>
                  <a:schemeClr val="tx1"/>
                </a:solidFill>
              </a:rPr>
              <a:t>Note: when we say save context, we generally mean to </a:t>
            </a:r>
            <a:r>
              <a:rPr lang="en-US" altLang="zh-TW" i="1" dirty="0">
                <a:solidFill>
                  <a:srgbClr val="C00000"/>
                </a:solidFill>
              </a:rPr>
              <a:t>write back all those registers to </a:t>
            </a:r>
            <a:r>
              <a:rPr lang="en-US" altLang="zh-TW" i="1" dirty="0">
                <a:solidFill>
                  <a:schemeClr val="tx1"/>
                </a:solidFill>
              </a:rPr>
              <a:t>the corresponding </a:t>
            </a:r>
            <a:r>
              <a:rPr lang="en-US" altLang="zh-TW" i="1" dirty="0">
                <a:solidFill>
                  <a:srgbClr val="C00000"/>
                </a:solidFill>
              </a:rPr>
              <a:t>process descriptor (i.e., </a:t>
            </a:r>
            <a:r>
              <a:rPr lang="en-US" altLang="zh-TW" i="1" dirty="0" err="1">
                <a:solidFill>
                  <a:srgbClr val="C00000"/>
                </a:solidFill>
              </a:rPr>
              <a:t>task_struct</a:t>
            </a:r>
            <a:r>
              <a:rPr lang="en-US" altLang="zh-TW" i="1" dirty="0">
                <a:solidFill>
                  <a:srgbClr val="C00000"/>
                </a:solidFill>
              </a:rPr>
              <a:t>) in main memory.</a:t>
            </a:r>
            <a:endParaRPr kumimoji="1" lang="zh-TW" altLang="en-US" i="1" dirty="0">
              <a:solidFill>
                <a:srgbClr val="C00000"/>
              </a:solidFill>
            </a:endParaRPr>
          </a:p>
        </p:txBody>
      </p:sp>
      <p:sp>
        <p:nvSpPr>
          <p:cNvPr id="4" name="投影片編號版面配置區 3">
            <a:extLst>
              <a:ext uri="{FF2B5EF4-FFF2-40B4-BE49-F238E27FC236}">
                <a16:creationId xmlns:a16="http://schemas.microsoft.com/office/drawing/2014/main" id="{1EB5AFCD-4D76-1FD0-28B8-3EBF872554BB}"/>
              </a:ext>
            </a:extLst>
          </p:cNvPr>
          <p:cNvSpPr>
            <a:spLocks noGrp="1"/>
          </p:cNvSpPr>
          <p:nvPr>
            <p:ph type="sldNum" sz="quarter" idx="4"/>
          </p:nvPr>
        </p:nvSpPr>
        <p:spPr/>
        <p:txBody>
          <a:bodyPr/>
          <a:lstStyle/>
          <a:p>
            <a:fld id="{E24E6636-6BA5-4AAC-8485-BE8D914D288B}" type="slidenum">
              <a:rPr lang="zh-TW" altLang="en-US" smtClean="0"/>
              <a:pPr/>
              <a:t>6</a:t>
            </a:fld>
            <a:endParaRPr lang="zh-TW" altLang="en-US" dirty="0"/>
          </a:p>
        </p:txBody>
      </p:sp>
    </p:spTree>
    <p:extLst>
      <p:ext uri="{BB962C8B-B14F-4D97-AF65-F5344CB8AC3E}">
        <p14:creationId xmlns:p14="http://schemas.microsoft.com/office/powerpoint/2010/main" val="3640100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up)">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CDC15-C22B-6A40-A463-6B483A82C1CC}"/>
              </a:ext>
            </a:extLst>
          </p:cNvPr>
          <p:cNvSpPr>
            <a:spLocks noGrp="1"/>
          </p:cNvSpPr>
          <p:nvPr>
            <p:ph type="title"/>
          </p:nvPr>
        </p:nvSpPr>
        <p:spPr/>
        <p:txBody>
          <a:bodyPr>
            <a:normAutofit/>
          </a:bodyPr>
          <a:lstStyle/>
          <a:p>
            <a:r>
              <a:rPr lang="en-US" altLang="zh-TW" sz="4000" dirty="0">
                <a:solidFill>
                  <a:srgbClr val="C00000"/>
                </a:solidFill>
              </a:rPr>
              <a:t>Recap: </a:t>
            </a:r>
            <a:r>
              <a:rPr lang="en-US" altLang="zh-TW" sz="4000" dirty="0">
                <a:cs typeface="Arial" panose="020B0604020202020204" pitchFamily="34" charset="0"/>
              </a:rPr>
              <a:t>System</a:t>
            </a:r>
            <a:r>
              <a:rPr lang="zh-TW" altLang="en-US" sz="4000" dirty="0">
                <a:cs typeface="Arial" panose="020B0604020202020204" pitchFamily="34" charset="0"/>
              </a:rPr>
              <a:t> </a:t>
            </a:r>
            <a:r>
              <a:rPr lang="en-US" altLang="zh-TW" sz="4000" dirty="0">
                <a:cs typeface="Arial" panose="020B0604020202020204" pitchFamily="34" charset="0"/>
              </a:rPr>
              <a:t>Call</a:t>
            </a:r>
            <a:r>
              <a:rPr lang="zh-TW" altLang="en-US" sz="4000" dirty="0">
                <a:cs typeface="Arial" panose="020B0604020202020204" pitchFamily="34" charset="0"/>
              </a:rPr>
              <a:t> </a:t>
            </a:r>
            <a:r>
              <a:rPr lang="en-US" altLang="zh-TW" sz="4000" dirty="0">
                <a:cs typeface="Arial" panose="020B0604020202020204" pitchFamily="34" charset="0"/>
              </a:rPr>
              <a:t>Handler</a:t>
            </a:r>
          </a:p>
        </p:txBody>
      </p:sp>
      <p:sp>
        <p:nvSpPr>
          <p:cNvPr id="3" name="內容版面配置區 2">
            <a:extLst>
              <a:ext uri="{FF2B5EF4-FFF2-40B4-BE49-F238E27FC236}">
                <a16:creationId xmlns:a16="http://schemas.microsoft.com/office/drawing/2014/main" id="{0B887B87-8722-B04D-BA95-A5F95E82603E}"/>
              </a:ext>
            </a:extLst>
          </p:cNvPr>
          <p:cNvSpPr>
            <a:spLocks noGrp="1"/>
          </p:cNvSpPr>
          <p:nvPr>
            <p:ph idx="1"/>
          </p:nvPr>
        </p:nvSpPr>
        <p:spPr/>
        <p:txBody>
          <a:bodyPr>
            <a:normAutofit/>
          </a:bodyPr>
          <a:lstStyle/>
          <a:p>
            <a:pPr algn="l"/>
            <a:r>
              <a:rPr lang="en-US" altLang="zh-TW" dirty="0">
                <a:solidFill>
                  <a:schemeClr val="tx1"/>
                </a:solidFill>
                <a:latin typeface="+mn-lt"/>
                <a:cs typeface="Arial" panose="020B0604020202020204" pitchFamily="34" charset="0"/>
              </a:rPr>
              <a:t>How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run</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r>
              <a:rPr lang="zh-TW" altLang="en-US" dirty="0">
                <a:solidFill>
                  <a:schemeClr val="tx1"/>
                </a:solidFill>
                <a:latin typeface="+mn-lt"/>
                <a:cs typeface="Arial" panose="020B0604020202020204" pitchFamily="34" charset="0"/>
              </a:rPr>
              <a:t> </a:t>
            </a:r>
            <a:endParaRPr lang="en-US" altLang="zh-TW" dirty="0">
              <a:solidFill>
                <a:schemeClr val="tx1"/>
              </a:solidFill>
              <a:latin typeface="+mn-lt"/>
              <a:cs typeface="Arial" panose="020B0604020202020204" pitchFamily="34" charset="0"/>
            </a:endParaRPr>
          </a:p>
          <a:p>
            <a:pPr lvl="1" algn="l"/>
            <a:r>
              <a:rPr lang="en-US" altLang="zh-TW" dirty="0">
                <a:solidFill>
                  <a:schemeClr val="tx1"/>
                </a:solidFill>
                <a:latin typeface="+mn-lt"/>
                <a:cs typeface="Arial" panose="020B0604020202020204" pitchFamily="34" charset="0"/>
              </a:rPr>
              <a:t>User-space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applications</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must</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somehow</a:t>
            </a:r>
            <a:r>
              <a:rPr lang="zh-TW" altLang="en-US" dirty="0">
                <a:solidFill>
                  <a:schemeClr val="tx1"/>
                </a:solidFill>
                <a:latin typeface="+mn-lt"/>
                <a:cs typeface="Arial" panose="020B0604020202020204" pitchFamily="34" charset="0"/>
              </a:rPr>
              <a:t> </a:t>
            </a:r>
            <a:r>
              <a:rPr lang="en-US" altLang="zh-TW" dirty="0">
                <a:solidFill>
                  <a:srgbClr val="C00000"/>
                </a:solidFill>
                <a:latin typeface="+mn-lt"/>
                <a:cs typeface="Arial" panose="020B0604020202020204" pitchFamily="34" charset="0"/>
              </a:rPr>
              <a:t>signal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kernel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sym typeface="Wingdings" pitchFamily="2" charset="2"/>
              </a:rPr>
              <a:t>system</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call</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handler</a:t>
            </a:r>
            <a:endParaRPr lang="en-US" altLang="zh-TW" dirty="0">
              <a:solidFill>
                <a:schemeClr val="tx1"/>
              </a:solidFill>
              <a:latin typeface="+mn-lt"/>
              <a:cs typeface="Arial" panose="020B0604020202020204" pitchFamily="34" charset="0"/>
            </a:endParaRPr>
          </a:p>
          <a:p>
            <a:pPr lvl="1" algn="l"/>
            <a:r>
              <a:rPr kumimoji="1" lang="en-US" altLang="zh-TW" dirty="0">
                <a:solidFill>
                  <a:schemeClr val="tx1"/>
                </a:solidFill>
                <a:latin typeface="+mn-lt"/>
                <a:cs typeface="Arial" panose="020B0604020202020204" pitchFamily="34" charset="0"/>
              </a:rPr>
              <a:t>The</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CPU</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switches</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from</a:t>
            </a:r>
            <a:r>
              <a:rPr kumimoji="1" lang="zh-TW" altLang="en-US" dirty="0">
                <a:solidFill>
                  <a:schemeClr val="tx1"/>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user</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mode</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to</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kernel</a:t>
            </a:r>
            <a:r>
              <a:rPr kumimoji="1" lang="zh-TW" altLang="en-US" dirty="0">
                <a:solidFill>
                  <a:srgbClr val="C00000"/>
                </a:solidFill>
                <a:latin typeface="+mn-lt"/>
                <a:cs typeface="Arial" panose="020B0604020202020204" pitchFamily="34" charset="0"/>
              </a:rPr>
              <a:t> </a:t>
            </a:r>
            <a:r>
              <a:rPr kumimoji="1" lang="en-US" altLang="zh-TW" dirty="0">
                <a:solidFill>
                  <a:srgbClr val="C00000"/>
                </a:solidFill>
                <a:latin typeface="+mn-lt"/>
                <a:cs typeface="Arial" panose="020B0604020202020204" pitchFamily="34" charset="0"/>
              </a:rPr>
              <a:t>mode </a:t>
            </a:r>
            <a:r>
              <a:rPr kumimoji="1" lang="en-US" altLang="zh-TW" dirty="0">
                <a:solidFill>
                  <a:schemeClr val="tx1"/>
                </a:solidFill>
                <a:latin typeface="+mn-lt"/>
                <a:cs typeface="Arial" panose="020B0604020202020204" pitchFamily="34" charset="0"/>
              </a:rPr>
              <a:t>(</a:t>
            </a:r>
            <a:r>
              <a:rPr kumimoji="1" lang="en-US" altLang="zh-TW" b="1" dirty="0">
                <a:solidFill>
                  <a:schemeClr val="tx1"/>
                </a:solidFill>
                <a:latin typeface="+mn-lt"/>
                <a:cs typeface="Arial" panose="020B0604020202020204" pitchFamily="34" charset="0"/>
              </a:rPr>
              <a:t>Not Context Switch!!</a:t>
            </a:r>
            <a:r>
              <a:rPr kumimoji="1" lang="en-US" altLang="zh-TW" dirty="0">
                <a:solidFill>
                  <a:schemeClr val="tx1"/>
                </a:solidFill>
                <a:latin typeface="+mn-lt"/>
                <a:cs typeface="Arial" panose="020B0604020202020204" pitchFamily="34" charset="0"/>
              </a:rPr>
              <a:t>)</a:t>
            </a:r>
          </a:p>
          <a:p>
            <a:pPr lvl="1" algn="l"/>
            <a:r>
              <a:rPr lang="en-US" altLang="zh-TW" dirty="0">
                <a:solidFill>
                  <a:schemeClr val="tx1"/>
                </a:solidFill>
                <a:latin typeface="+mn-lt"/>
                <a:cs typeface="Arial" panose="020B0604020202020204" pitchFamily="34" charset="0"/>
              </a:rPr>
              <a:t>Execute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code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corresponding</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the</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system</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call</a:t>
            </a:r>
            <a:endParaRPr kumimoji="1" lang="en-US" altLang="zh-TW" dirty="0">
              <a:solidFill>
                <a:schemeClr val="tx1"/>
              </a:solidFill>
              <a:latin typeface="+mn-lt"/>
              <a:cs typeface="Arial" panose="020B0604020202020204" pitchFamily="34" charset="0"/>
            </a:endParaRPr>
          </a:p>
          <a:p>
            <a:pPr algn="l"/>
            <a:r>
              <a:rPr kumimoji="1" lang="en-US" altLang="zh-TW" dirty="0">
                <a:solidFill>
                  <a:schemeClr val="tx1"/>
                </a:solidFill>
                <a:latin typeface="+mn-lt"/>
                <a:cs typeface="Arial" panose="020B0604020202020204" pitchFamily="34" charset="0"/>
              </a:rPr>
              <a:t>Details for System</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call</a:t>
            </a:r>
            <a:r>
              <a:rPr kumimoji="1" lang="zh-TW" altLang="en-US" dirty="0">
                <a:solidFill>
                  <a:schemeClr val="tx1"/>
                </a:solidFill>
                <a:latin typeface="+mn-lt"/>
                <a:cs typeface="Arial" panose="020B0604020202020204" pitchFamily="34" charset="0"/>
              </a:rPr>
              <a:t> </a:t>
            </a:r>
            <a:r>
              <a:rPr kumimoji="1" lang="en-US" altLang="zh-TW" dirty="0">
                <a:solidFill>
                  <a:schemeClr val="tx1"/>
                </a:solidFill>
                <a:latin typeface="+mn-lt"/>
                <a:cs typeface="Arial" panose="020B0604020202020204" pitchFamily="34" charset="0"/>
              </a:rPr>
              <a:t>handler</a:t>
            </a:r>
          </a:p>
          <a:p>
            <a:pPr lvl="1" algn="l"/>
            <a:r>
              <a:rPr lang="en-US" altLang="zh-TW" dirty="0">
                <a:solidFill>
                  <a:schemeClr val="tx1"/>
                </a:solidFill>
                <a:latin typeface="+mn-lt"/>
                <a:cs typeface="Arial" panose="020B0604020202020204" pitchFamily="34" charset="0"/>
              </a:rPr>
              <a:t>How</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to</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rPr>
              <a:t>signal</a:t>
            </a:r>
            <a:r>
              <a:rPr lang="zh-TW" altLang="en-US" dirty="0">
                <a:solidFill>
                  <a:schemeClr val="tx1"/>
                </a:solidFill>
                <a:latin typeface="+mn-lt"/>
                <a:cs typeface="Arial" panose="020B0604020202020204" pitchFamily="34" charset="0"/>
              </a:rPr>
              <a:t> </a:t>
            </a:r>
            <a:r>
              <a:rPr lang="en-US" altLang="zh-TW" dirty="0">
                <a:solidFill>
                  <a:schemeClr val="tx1"/>
                </a:solidFill>
                <a:latin typeface="+mn-lt"/>
                <a:cs typeface="Arial" panose="020B0604020202020204" pitchFamily="34" charset="0"/>
                <a:sym typeface="Wingdings" pitchFamily="2" charset="2"/>
              </a:rPr>
              <a:t></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Software</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interrupt</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(i.e.,</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an</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exception)</a:t>
            </a:r>
          </a:p>
          <a:p>
            <a:pPr lvl="1" algn="l"/>
            <a:r>
              <a:rPr kumimoji="1" lang="en-US" altLang="zh-TW" dirty="0">
                <a:solidFill>
                  <a:schemeClr val="tx1"/>
                </a:solidFill>
                <a:latin typeface="+mn-lt"/>
                <a:cs typeface="Arial" panose="020B0604020202020204" pitchFamily="34" charset="0"/>
                <a:sym typeface="Wingdings" pitchFamily="2" charset="2"/>
              </a:rPr>
              <a:t>Run</a:t>
            </a:r>
            <a:r>
              <a:rPr kumimoji="1" lang="zh-TW" altLang="en-US" dirty="0">
                <a:solidFill>
                  <a:schemeClr val="tx1"/>
                </a:solidFill>
                <a:latin typeface="+mn-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INT</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$0x80</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a:t>
            </a:r>
            <a:r>
              <a:rPr kumimoji="1" lang="zh-TW" altLang="en-US" dirty="0">
                <a:solidFill>
                  <a:schemeClr val="tx1"/>
                </a:solidFill>
                <a:latin typeface="+mj-lt"/>
                <a:cs typeface="Arial" panose="020B0604020202020204" pitchFamily="34" charset="0"/>
                <a:sym typeface="Wingdings" pitchFamily="2" charset="2"/>
              </a:rPr>
              <a:t> </a:t>
            </a:r>
            <a:r>
              <a:rPr kumimoji="1" lang="en-US" altLang="zh-TW" u="sng" dirty="0">
                <a:solidFill>
                  <a:schemeClr val="tx1"/>
                </a:solidFill>
                <a:latin typeface="+mj-lt"/>
                <a:cs typeface="Arial" panose="020B0604020202020204" pitchFamily="34" charset="0"/>
                <a:sym typeface="Wingdings" pitchFamily="2" charset="2"/>
              </a:rPr>
              <a:t>Interrupt</a:t>
            </a:r>
            <a:r>
              <a:rPr kumimoji="1" lang="zh-TW" altLang="en-US" u="sng" dirty="0">
                <a:solidFill>
                  <a:schemeClr val="tx1"/>
                </a:solidFill>
                <a:latin typeface="+mj-lt"/>
                <a:cs typeface="Arial" panose="020B0604020202020204" pitchFamily="34" charset="0"/>
                <a:sym typeface="Wingdings" pitchFamily="2" charset="2"/>
              </a:rPr>
              <a:t> </a:t>
            </a:r>
            <a:r>
              <a:rPr kumimoji="1" lang="en-US" altLang="zh-TW" u="sng" dirty="0">
                <a:solidFill>
                  <a:schemeClr val="tx1"/>
                </a:solidFill>
                <a:latin typeface="+mj-lt"/>
                <a:cs typeface="Arial" panose="020B0604020202020204" pitchFamily="34" charset="0"/>
                <a:sym typeface="Wingdings" pitchFamily="2" charset="2"/>
              </a:rPr>
              <a:t>Instruction</a:t>
            </a:r>
            <a:r>
              <a:rPr kumimoji="1" lang="en-US" altLang="zh-TW" dirty="0">
                <a:solidFill>
                  <a:schemeClr val="tx1"/>
                </a:solidFill>
                <a:latin typeface="+mj-lt"/>
                <a:cs typeface="Arial" panose="020B0604020202020204" pitchFamily="34" charset="0"/>
                <a:sym typeface="Wingdings" pitchFamily="2" charset="2"/>
              </a:rPr>
              <a:t>,</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number</a:t>
            </a:r>
            <a:r>
              <a:rPr kumimoji="1" lang="zh-TW" altLang="en-US" dirty="0">
                <a:solidFill>
                  <a:schemeClr val="tx1"/>
                </a:solidFill>
                <a:latin typeface="+mj-lt"/>
                <a:cs typeface="Arial" panose="020B0604020202020204" pitchFamily="34" charset="0"/>
                <a:sym typeface="Wingdings" pitchFamily="2" charset="2"/>
              </a:rPr>
              <a:t> </a:t>
            </a:r>
            <a:r>
              <a:rPr kumimoji="1" lang="en-US" altLang="zh-TW" dirty="0">
                <a:solidFill>
                  <a:schemeClr val="tx1"/>
                </a:solidFill>
                <a:latin typeface="+mj-lt"/>
                <a:cs typeface="Arial" panose="020B0604020202020204" pitchFamily="34" charset="0"/>
                <a:sym typeface="Wingdings" pitchFamily="2" charset="2"/>
              </a:rPr>
              <a:t>128</a:t>
            </a:r>
            <a:r>
              <a:rPr kumimoji="1" lang="zh-TW" altLang="en-US" dirty="0">
                <a:solidFill>
                  <a:schemeClr val="tx1"/>
                </a:solidFill>
                <a:latin typeface="+mj-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(runs</a:t>
            </a:r>
            <a:r>
              <a:rPr kumimoji="1"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the</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system</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call</a:t>
            </a:r>
            <a:r>
              <a:rPr lang="zh-TW" altLang="en-US" dirty="0">
                <a:solidFill>
                  <a:schemeClr val="tx1"/>
                </a:solidFill>
                <a:latin typeface="+mn-lt"/>
                <a:cs typeface="Arial" panose="020B0604020202020204" pitchFamily="34" charset="0"/>
                <a:sym typeface="Wingdings" pitchFamily="2" charset="2"/>
              </a:rPr>
              <a:t> </a:t>
            </a:r>
            <a:r>
              <a:rPr lang="en-US" altLang="zh-TW" dirty="0">
                <a:solidFill>
                  <a:schemeClr val="tx1"/>
                </a:solidFill>
                <a:latin typeface="+mn-lt"/>
                <a:cs typeface="Arial" panose="020B0604020202020204" pitchFamily="34" charset="0"/>
                <a:sym typeface="Wingdings" pitchFamily="2" charset="2"/>
              </a:rPr>
              <a:t>handler)</a:t>
            </a:r>
          </a:p>
        </p:txBody>
      </p:sp>
      <p:sp>
        <p:nvSpPr>
          <p:cNvPr id="4" name="投影片編號版面配置區 3">
            <a:extLst>
              <a:ext uri="{FF2B5EF4-FFF2-40B4-BE49-F238E27FC236}">
                <a16:creationId xmlns:a16="http://schemas.microsoft.com/office/drawing/2014/main" id="{A8297E9D-182C-DF4F-82B6-109193932582}"/>
              </a:ext>
            </a:extLst>
          </p:cNvPr>
          <p:cNvSpPr>
            <a:spLocks noGrp="1"/>
          </p:cNvSpPr>
          <p:nvPr>
            <p:ph type="sldNum" sz="quarter" idx="4"/>
          </p:nvPr>
        </p:nvSpPr>
        <p:spPr/>
        <p:txBody>
          <a:bodyPr/>
          <a:lstStyle/>
          <a:p>
            <a:fld id="{E24E6636-6BA5-4AAC-8485-BE8D914D288B}" type="slidenum">
              <a:rPr lang="zh-TW" altLang="en-US" smtClean="0"/>
              <a:pPr/>
              <a:t>7</a:t>
            </a:fld>
            <a:endParaRPr lang="zh-TW" altLang="en-US" dirty="0"/>
          </a:p>
        </p:txBody>
      </p:sp>
      <p:grpSp>
        <p:nvGrpSpPr>
          <p:cNvPr id="5" name="群組 4">
            <a:extLst>
              <a:ext uri="{FF2B5EF4-FFF2-40B4-BE49-F238E27FC236}">
                <a16:creationId xmlns:a16="http://schemas.microsoft.com/office/drawing/2014/main" id="{6B9663D2-F3FE-40A7-99CF-EA310317172B}"/>
              </a:ext>
            </a:extLst>
          </p:cNvPr>
          <p:cNvGrpSpPr/>
          <p:nvPr/>
        </p:nvGrpSpPr>
        <p:grpSpPr>
          <a:xfrm>
            <a:off x="177800" y="4785940"/>
            <a:ext cx="10971270" cy="1894260"/>
            <a:chOff x="94406" y="4919672"/>
            <a:chExt cx="11693642" cy="1894260"/>
          </a:xfrm>
        </p:grpSpPr>
        <p:grpSp>
          <p:nvGrpSpPr>
            <p:cNvPr id="7" name="群組 6">
              <a:extLst>
                <a:ext uri="{FF2B5EF4-FFF2-40B4-BE49-F238E27FC236}">
                  <a16:creationId xmlns:a16="http://schemas.microsoft.com/office/drawing/2014/main" id="{867E99F5-ED0C-D680-D8B7-DE122EDDEC3E}"/>
                </a:ext>
              </a:extLst>
            </p:cNvPr>
            <p:cNvGrpSpPr/>
            <p:nvPr/>
          </p:nvGrpSpPr>
          <p:grpSpPr>
            <a:xfrm>
              <a:off x="177800" y="5295500"/>
              <a:ext cx="11610248" cy="1518432"/>
              <a:chOff x="1011718" y="5339568"/>
              <a:chExt cx="3473773" cy="1340629"/>
            </a:xfrm>
          </p:grpSpPr>
          <p:sp>
            <p:nvSpPr>
              <p:cNvPr id="12" name="矩形 11">
                <a:extLst>
                  <a:ext uri="{FF2B5EF4-FFF2-40B4-BE49-F238E27FC236}">
                    <a16:creationId xmlns:a16="http://schemas.microsoft.com/office/drawing/2014/main" id="{0BC0BEBC-B884-8775-62D1-AACDF4CD903D}"/>
                  </a:ext>
                </a:extLst>
              </p:cNvPr>
              <p:cNvSpPr/>
              <p:nvPr/>
            </p:nvSpPr>
            <p:spPr>
              <a:xfrm>
                <a:off x="1011718" y="5339568"/>
                <a:ext cx="3473773" cy="134062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cxnSp>
            <p:nvCxnSpPr>
              <p:cNvPr id="13" name="直線接點 12">
                <a:extLst>
                  <a:ext uri="{FF2B5EF4-FFF2-40B4-BE49-F238E27FC236}">
                    <a16:creationId xmlns:a16="http://schemas.microsoft.com/office/drawing/2014/main" id="{763E2091-03C9-F071-2548-F1BF805C5C8A}"/>
                  </a:ext>
                </a:extLst>
              </p:cNvPr>
              <p:cNvCxnSpPr>
                <a:cxnSpLocks/>
              </p:cNvCxnSpPr>
              <p:nvPr/>
            </p:nvCxnSpPr>
            <p:spPr>
              <a:xfrm>
                <a:off x="1011718" y="5339568"/>
                <a:ext cx="3473773" cy="0"/>
              </a:xfrm>
              <a:prstGeom prst="line">
                <a:avLst/>
              </a:prstGeom>
              <a:ln w="317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0" name="文字方塊 9">
              <a:extLst>
                <a:ext uri="{FF2B5EF4-FFF2-40B4-BE49-F238E27FC236}">
                  <a16:creationId xmlns:a16="http://schemas.microsoft.com/office/drawing/2014/main" id="{8DA9D449-5BD2-19D5-8979-96515FCD4B1D}"/>
                </a:ext>
              </a:extLst>
            </p:cNvPr>
            <p:cNvSpPr txBox="1"/>
            <p:nvPr/>
          </p:nvSpPr>
          <p:spPr>
            <a:xfrm>
              <a:off x="94406" y="4919672"/>
              <a:ext cx="1117614" cy="338554"/>
            </a:xfrm>
            <a:prstGeom prst="rect">
              <a:avLst/>
            </a:prstGeom>
            <a:noFill/>
          </p:spPr>
          <p:txBody>
            <a:bodyPr wrap="none" rtlCol="0">
              <a:spAutoFit/>
            </a:bodyPr>
            <a:lstStyle/>
            <a:p>
              <a:r>
                <a:rPr kumimoji="1" lang="en-US" altLang="zh-TW" sz="1600" b="1" i="1" u="sng" dirty="0">
                  <a:solidFill>
                    <a:srgbClr val="C00000"/>
                  </a:solidFill>
                </a:rPr>
                <a:t>User Mode</a:t>
              </a:r>
              <a:endParaRPr kumimoji="1" lang="zh-TW" altLang="en-US" sz="1600" b="1" i="1" u="sng" dirty="0">
                <a:solidFill>
                  <a:srgbClr val="C00000"/>
                </a:solidFill>
              </a:endParaRPr>
            </a:p>
          </p:txBody>
        </p:sp>
        <p:sp>
          <p:nvSpPr>
            <p:cNvPr id="11" name="文字方塊 10">
              <a:extLst>
                <a:ext uri="{FF2B5EF4-FFF2-40B4-BE49-F238E27FC236}">
                  <a16:creationId xmlns:a16="http://schemas.microsoft.com/office/drawing/2014/main" id="{C0173A99-910A-D1D4-D835-A2BA27D8B258}"/>
                </a:ext>
              </a:extLst>
            </p:cNvPr>
            <p:cNvSpPr txBox="1"/>
            <p:nvPr/>
          </p:nvSpPr>
          <p:spPr>
            <a:xfrm>
              <a:off x="105622" y="5339567"/>
              <a:ext cx="1270476" cy="338554"/>
            </a:xfrm>
            <a:prstGeom prst="rect">
              <a:avLst/>
            </a:prstGeom>
            <a:noFill/>
          </p:spPr>
          <p:txBody>
            <a:bodyPr wrap="none" rtlCol="0">
              <a:spAutoFit/>
            </a:bodyPr>
            <a:lstStyle/>
            <a:p>
              <a:r>
                <a:rPr kumimoji="1" lang="en-US" altLang="zh-TW" sz="1600" b="1" i="1" u="sng" dirty="0">
                  <a:solidFill>
                    <a:srgbClr val="C00000"/>
                  </a:solidFill>
                </a:rPr>
                <a:t>Kernel Mode</a:t>
              </a:r>
              <a:endParaRPr kumimoji="1" lang="zh-TW" altLang="en-US" sz="1600" b="1" i="1" u="sng" dirty="0">
                <a:solidFill>
                  <a:srgbClr val="C00000"/>
                </a:solidFill>
              </a:endParaRPr>
            </a:p>
          </p:txBody>
        </p:sp>
      </p:grpSp>
      <p:grpSp>
        <p:nvGrpSpPr>
          <p:cNvPr id="14" name="群組 13">
            <a:extLst>
              <a:ext uri="{FF2B5EF4-FFF2-40B4-BE49-F238E27FC236}">
                <a16:creationId xmlns:a16="http://schemas.microsoft.com/office/drawing/2014/main" id="{C8C435FD-212C-666E-551C-539F9F21CF83}"/>
              </a:ext>
            </a:extLst>
          </p:cNvPr>
          <p:cNvGrpSpPr/>
          <p:nvPr/>
        </p:nvGrpSpPr>
        <p:grpSpPr>
          <a:xfrm>
            <a:off x="1780148" y="4257450"/>
            <a:ext cx="1395534" cy="1395534"/>
            <a:chOff x="1323298" y="4313407"/>
            <a:chExt cx="1395534" cy="1395534"/>
          </a:xfrm>
        </p:grpSpPr>
        <p:pic>
          <p:nvPicPr>
            <p:cNvPr id="15" name="圖片 14">
              <a:extLst>
                <a:ext uri="{FF2B5EF4-FFF2-40B4-BE49-F238E27FC236}">
                  <a16:creationId xmlns:a16="http://schemas.microsoft.com/office/drawing/2014/main" id="{21FEFCD4-F3A1-3E46-4500-5397C78161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16" name="文字方塊 15">
              <a:extLst>
                <a:ext uri="{FF2B5EF4-FFF2-40B4-BE49-F238E27FC236}">
                  <a16:creationId xmlns:a16="http://schemas.microsoft.com/office/drawing/2014/main" id="{35724DAC-5065-6B30-833F-E2B6C8398157}"/>
                </a:ext>
              </a:extLst>
            </p:cNvPr>
            <p:cNvSpPr txBox="1"/>
            <p:nvPr/>
          </p:nvSpPr>
          <p:spPr>
            <a:xfrm>
              <a:off x="1572186" y="5033662"/>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Process A</a:t>
              </a:r>
              <a:endParaRPr kumimoji="1" lang="zh-TW" altLang="en-US" sz="1600" b="1" dirty="0">
                <a:solidFill>
                  <a:schemeClr val="accent5"/>
                </a:solidFill>
              </a:endParaRPr>
            </a:p>
          </p:txBody>
        </p:sp>
      </p:grpSp>
      <p:grpSp>
        <p:nvGrpSpPr>
          <p:cNvPr id="17" name="群組 16">
            <a:extLst>
              <a:ext uri="{FF2B5EF4-FFF2-40B4-BE49-F238E27FC236}">
                <a16:creationId xmlns:a16="http://schemas.microsoft.com/office/drawing/2014/main" id="{A4964323-846C-7F2E-DECF-B4921B97C938}"/>
              </a:ext>
            </a:extLst>
          </p:cNvPr>
          <p:cNvGrpSpPr/>
          <p:nvPr/>
        </p:nvGrpSpPr>
        <p:grpSpPr>
          <a:xfrm>
            <a:off x="3427259" y="5290573"/>
            <a:ext cx="1395534" cy="1395534"/>
            <a:chOff x="1323298" y="4313407"/>
            <a:chExt cx="1395534" cy="1395534"/>
          </a:xfrm>
        </p:grpSpPr>
        <p:pic>
          <p:nvPicPr>
            <p:cNvPr id="18" name="圖片 17">
              <a:extLst>
                <a:ext uri="{FF2B5EF4-FFF2-40B4-BE49-F238E27FC236}">
                  <a16:creationId xmlns:a16="http://schemas.microsoft.com/office/drawing/2014/main" id="{62B1361E-02A9-4ED5-DCCD-0842692BD9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19" name="文字方塊 18">
              <a:extLst>
                <a:ext uri="{FF2B5EF4-FFF2-40B4-BE49-F238E27FC236}">
                  <a16:creationId xmlns:a16="http://schemas.microsoft.com/office/drawing/2014/main" id="{426345CD-3BE6-B223-F85A-71DCFD4F63A2}"/>
                </a:ext>
              </a:extLst>
            </p:cNvPr>
            <p:cNvSpPr txBox="1"/>
            <p:nvPr/>
          </p:nvSpPr>
          <p:spPr>
            <a:xfrm>
              <a:off x="1550338" y="4961690"/>
              <a:ext cx="1035586"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System Call</a:t>
              </a:r>
              <a:br>
                <a:rPr kumimoji="1" lang="en-US" altLang="zh-TW" sz="1600" b="1" dirty="0">
                  <a:solidFill>
                    <a:schemeClr val="accent5"/>
                  </a:solidFill>
                </a:rPr>
              </a:br>
              <a:r>
                <a:rPr kumimoji="1" lang="en-US" altLang="zh-TW" sz="1600" b="1" dirty="0">
                  <a:solidFill>
                    <a:schemeClr val="accent5"/>
                  </a:solidFill>
                </a:rPr>
                <a:t>Handler</a:t>
              </a:r>
              <a:endParaRPr kumimoji="1" lang="zh-TW" altLang="en-US" sz="1600" b="1" dirty="0">
                <a:solidFill>
                  <a:schemeClr val="accent5"/>
                </a:solidFill>
              </a:endParaRPr>
            </a:p>
          </p:txBody>
        </p:sp>
      </p:grpSp>
      <p:sp>
        <p:nvSpPr>
          <p:cNvPr id="20" name="雲朵形圖說文字 19">
            <a:extLst>
              <a:ext uri="{FF2B5EF4-FFF2-40B4-BE49-F238E27FC236}">
                <a16:creationId xmlns:a16="http://schemas.microsoft.com/office/drawing/2014/main" id="{74869462-BAB6-EA84-7E81-967AF5CE49F9}"/>
              </a:ext>
            </a:extLst>
          </p:cNvPr>
          <p:cNvSpPr/>
          <p:nvPr/>
        </p:nvSpPr>
        <p:spPr>
          <a:xfrm>
            <a:off x="3110368" y="4385864"/>
            <a:ext cx="3128503"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a:solidFill>
                  <a:schemeClr val="tx1"/>
                </a:solidFill>
              </a:rPr>
              <a:t>INT $0x80</a:t>
            </a:r>
          </a:p>
          <a:p>
            <a:pPr algn="ctr"/>
            <a:r>
              <a:rPr kumimoji="1" lang="en-US" altLang="zh-TW" b="1" dirty="0" err="1">
                <a:solidFill>
                  <a:schemeClr val="tx1"/>
                </a:solidFill>
              </a:rPr>
              <a:t>eax</a:t>
            </a:r>
            <a:r>
              <a:rPr kumimoji="1" lang="zh-TW" altLang="en-US" b="1" dirty="0">
                <a:solidFill>
                  <a:schemeClr val="tx1"/>
                </a:solidFill>
              </a:rPr>
              <a:t> </a:t>
            </a:r>
            <a:r>
              <a:rPr kumimoji="1" lang="en-US" altLang="zh-TW" b="1" dirty="0">
                <a:solidFill>
                  <a:schemeClr val="tx1"/>
                </a:solidFill>
                <a:sym typeface="Wingdings" pitchFamily="2" charset="2"/>
              </a:rPr>
              <a:t></a:t>
            </a:r>
            <a:r>
              <a:rPr kumimoji="1" lang="zh-TW" altLang="en-US" b="1" dirty="0">
                <a:solidFill>
                  <a:schemeClr val="tx1"/>
                </a:solidFill>
                <a:sym typeface="Wingdings" pitchFamily="2" charset="2"/>
              </a:rPr>
              <a:t> </a:t>
            </a:r>
            <a:r>
              <a:rPr kumimoji="1" lang="en-US" altLang="zh-TW" b="1" dirty="0" err="1">
                <a:solidFill>
                  <a:schemeClr val="tx1"/>
                </a:solidFill>
                <a:sym typeface="Wingdings" pitchFamily="2" charset="2"/>
              </a:rPr>
              <a:t>Sys_Call_Num</a:t>
            </a:r>
            <a:endParaRPr kumimoji="1" lang="zh-TW" altLang="en-US" b="1" dirty="0">
              <a:solidFill>
                <a:schemeClr val="tx1"/>
              </a:solidFill>
            </a:endParaRPr>
          </a:p>
        </p:txBody>
      </p:sp>
      <p:grpSp>
        <p:nvGrpSpPr>
          <p:cNvPr id="21" name="群組 20">
            <a:extLst>
              <a:ext uri="{FF2B5EF4-FFF2-40B4-BE49-F238E27FC236}">
                <a16:creationId xmlns:a16="http://schemas.microsoft.com/office/drawing/2014/main" id="{CC9C18F8-B957-9C8E-43D9-145A0D2EC040}"/>
              </a:ext>
            </a:extLst>
          </p:cNvPr>
          <p:cNvGrpSpPr/>
          <p:nvPr/>
        </p:nvGrpSpPr>
        <p:grpSpPr>
          <a:xfrm>
            <a:off x="9646254" y="4140309"/>
            <a:ext cx="1395534" cy="1395534"/>
            <a:chOff x="1323298" y="4313407"/>
            <a:chExt cx="1395534" cy="1395534"/>
          </a:xfrm>
        </p:grpSpPr>
        <p:pic>
          <p:nvPicPr>
            <p:cNvPr id="22" name="圖片 21">
              <a:extLst>
                <a:ext uri="{FF2B5EF4-FFF2-40B4-BE49-F238E27FC236}">
                  <a16:creationId xmlns:a16="http://schemas.microsoft.com/office/drawing/2014/main" id="{1C987554-CE63-512A-176A-122A1EFC44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23" name="文字方塊 22">
              <a:extLst>
                <a:ext uri="{FF2B5EF4-FFF2-40B4-BE49-F238E27FC236}">
                  <a16:creationId xmlns:a16="http://schemas.microsoft.com/office/drawing/2014/main" id="{E4703C27-67A4-87E6-E493-45D9DF263A8E}"/>
                </a:ext>
              </a:extLst>
            </p:cNvPr>
            <p:cNvSpPr txBox="1"/>
            <p:nvPr/>
          </p:nvSpPr>
          <p:spPr>
            <a:xfrm>
              <a:off x="1572186" y="5033662"/>
              <a:ext cx="994373" cy="318924"/>
            </a:xfrm>
            <a:prstGeom prst="rect">
              <a:avLst/>
            </a:prstGeom>
            <a:solidFill>
              <a:srgbClr val="F6DF98"/>
            </a:solidFill>
          </p:spPr>
          <p:txBody>
            <a:bodyPr wrap="square" lIns="36000" tIns="36000" rIns="36000" bIns="36000" rtlCol="0" anchor="ctr">
              <a:spAutoFit/>
            </a:bodyPr>
            <a:lstStyle/>
            <a:p>
              <a:pPr algn="ctr"/>
              <a:r>
                <a:rPr kumimoji="1" lang="en-US" altLang="zh-TW" sz="1600" b="1" dirty="0">
                  <a:solidFill>
                    <a:schemeClr val="accent5"/>
                  </a:solidFill>
                </a:rPr>
                <a:t>Process A</a:t>
              </a:r>
              <a:endParaRPr kumimoji="1" lang="zh-TW" altLang="en-US" sz="1600" b="1" dirty="0">
                <a:solidFill>
                  <a:schemeClr val="accent5"/>
                </a:solidFill>
              </a:endParaRPr>
            </a:p>
          </p:txBody>
        </p:sp>
      </p:grpSp>
      <p:grpSp>
        <p:nvGrpSpPr>
          <p:cNvPr id="25" name="群組 24">
            <a:extLst>
              <a:ext uri="{FF2B5EF4-FFF2-40B4-BE49-F238E27FC236}">
                <a16:creationId xmlns:a16="http://schemas.microsoft.com/office/drawing/2014/main" id="{22B1FDAB-34CB-13BB-A1A2-CC34B9E45AFD}"/>
              </a:ext>
            </a:extLst>
          </p:cNvPr>
          <p:cNvGrpSpPr/>
          <p:nvPr/>
        </p:nvGrpSpPr>
        <p:grpSpPr>
          <a:xfrm>
            <a:off x="5727374" y="5284667"/>
            <a:ext cx="1395534" cy="1395534"/>
            <a:chOff x="1323298" y="4313407"/>
            <a:chExt cx="1395534" cy="1395534"/>
          </a:xfrm>
        </p:grpSpPr>
        <p:pic>
          <p:nvPicPr>
            <p:cNvPr id="26" name="圖片 25">
              <a:extLst>
                <a:ext uri="{FF2B5EF4-FFF2-40B4-BE49-F238E27FC236}">
                  <a16:creationId xmlns:a16="http://schemas.microsoft.com/office/drawing/2014/main" id="{8B3BA1C6-1DFB-B46E-1499-6536887CB4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27" name="文字方塊 26">
              <a:extLst>
                <a:ext uri="{FF2B5EF4-FFF2-40B4-BE49-F238E27FC236}">
                  <a16:creationId xmlns:a16="http://schemas.microsoft.com/office/drawing/2014/main" id="{409746E5-3967-429D-F168-BFC16A2A6396}"/>
                </a:ext>
              </a:extLst>
            </p:cNvPr>
            <p:cNvSpPr txBox="1"/>
            <p:nvPr/>
          </p:nvSpPr>
          <p:spPr>
            <a:xfrm>
              <a:off x="1550338" y="4961690"/>
              <a:ext cx="1018261"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Check Sys</a:t>
              </a:r>
              <a:br>
                <a:rPr kumimoji="1" lang="en-US" altLang="zh-TW" sz="1600" b="1" dirty="0">
                  <a:solidFill>
                    <a:schemeClr val="accent5"/>
                  </a:solidFill>
                </a:rPr>
              </a:br>
              <a:r>
                <a:rPr kumimoji="1" lang="en-US" altLang="zh-TW" sz="1600" b="1" dirty="0">
                  <a:solidFill>
                    <a:schemeClr val="accent5"/>
                  </a:solidFill>
                </a:rPr>
                <a:t>_</a:t>
              </a:r>
              <a:r>
                <a:rPr kumimoji="1" lang="en-US" altLang="zh-TW" sz="1600" b="1" dirty="0" err="1">
                  <a:solidFill>
                    <a:schemeClr val="accent5"/>
                  </a:solidFill>
                </a:rPr>
                <a:t>Call_Table</a:t>
              </a:r>
              <a:endParaRPr kumimoji="1" lang="zh-TW" altLang="en-US" sz="1600" b="1" dirty="0">
                <a:solidFill>
                  <a:schemeClr val="accent5"/>
                </a:solidFill>
              </a:endParaRPr>
            </a:p>
          </p:txBody>
        </p:sp>
      </p:grpSp>
      <p:grpSp>
        <p:nvGrpSpPr>
          <p:cNvPr id="28" name="群組 27">
            <a:extLst>
              <a:ext uri="{FF2B5EF4-FFF2-40B4-BE49-F238E27FC236}">
                <a16:creationId xmlns:a16="http://schemas.microsoft.com/office/drawing/2014/main" id="{F5C85AE1-1E0D-5289-0154-AEB905C6A467}"/>
              </a:ext>
            </a:extLst>
          </p:cNvPr>
          <p:cNvGrpSpPr/>
          <p:nvPr/>
        </p:nvGrpSpPr>
        <p:grpSpPr>
          <a:xfrm>
            <a:off x="8117812" y="5223217"/>
            <a:ext cx="1395534" cy="1395534"/>
            <a:chOff x="1323298" y="4313407"/>
            <a:chExt cx="1395534" cy="1395534"/>
          </a:xfrm>
        </p:grpSpPr>
        <p:pic>
          <p:nvPicPr>
            <p:cNvPr id="29" name="圖片 28">
              <a:extLst>
                <a:ext uri="{FF2B5EF4-FFF2-40B4-BE49-F238E27FC236}">
                  <a16:creationId xmlns:a16="http://schemas.microsoft.com/office/drawing/2014/main" id="{31A68F42-4265-BBCD-8974-44E12CD6D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298" y="4313407"/>
              <a:ext cx="1395534" cy="1395534"/>
            </a:xfrm>
            <a:prstGeom prst="rect">
              <a:avLst/>
            </a:prstGeom>
          </p:spPr>
        </p:pic>
        <p:sp>
          <p:nvSpPr>
            <p:cNvPr id="30" name="文字方塊 29">
              <a:extLst>
                <a:ext uri="{FF2B5EF4-FFF2-40B4-BE49-F238E27FC236}">
                  <a16:creationId xmlns:a16="http://schemas.microsoft.com/office/drawing/2014/main" id="{22DD9C07-64CC-91CE-470E-259B42057C23}"/>
                </a:ext>
              </a:extLst>
            </p:cNvPr>
            <p:cNvSpPr txBox="1"/>
            <p:nvPr/>
          </p:nvSpPr>
          <p:spPr>
            <a:xfrm>
              <a:off x="1550338" y="4961690"/>
              <a:ext cx="1035586" cy="492443"/>
            </a:xfrm>
            <a:prstGeom prst="rect">
              <a:avLst/>
            </a:prstGeom>
            <a:solidFill>
              <a:srgbClr val="F6DF98"/>
            </a:solidFill>
          </p:spPr>
          <p:txBody>
            <a:bodyPr wrap="square" lIns="0" tIns="0" rIns="0" bIns="0" rtlCol="0">
              <a:spAutoFit/>
            </a:bodyPr>
            <a:lstStyle/>
            <a:p>
              <a:pPr algn="ctr"/>
              <a:r>
                <a:rPr kumimoji="1" lang="en-US" altLang="zh-TW" sz="1600" b="1" dirty="0">
                  <a:solidFill>
                    <a:schemeClr val="accent5"/>
                  </a:solidFill>
                </a:rPr>
                <a:t>Run </a:t>
              </a:r>
              <a:br>
                <a:rPr kumimoji="1" lang="en-US" altLang="zh-TW" sz="1600" b="1" dirty="0">
                  <a:solidFill>
                    <a:schemeClr val="accent5"/>
                  </a:solidFill>
                </a:rPr>
              </a:br>
              <a:r>
                <a:rPr kumimoji="1" lang="en-US" altLang="zh-TW" sz="1600" b="1" dirty="0">
                  <a:solidFill>
                    <a:schemeClr val="accent5"/>
                  </a:solidFill>
                </a:rPr>
                <a:t>System Call</a:t>
              </a:r>
              <a:endParaRPr kumimoji="1" lang="zh-TW" altLang="en-US" sz="1600" b="1" dirty="0">
                <a:solidFill>
                  <a:schemeClr val="accent5"/>
                </a:solidFill>
              </a:endParaRPr>
            </a:p>
          </p:txBody>
        </p:sp>
      </p:grpSp>
      <p:sp>
        <p:nvSpPr>
          <p:cNvPr id="31" name="雲朵形圖說文字 30">
            <a:extLst>
              <a:ext uri="{FF2B5EF4-FFF2-40B4-BE49-F238E27FC236}">
                <a16:creationId xmlns:a16="http://schemas.microsoft.com/office/drawing/2014/main" id="{4E9648BE-1F64-0D7D-90FF-58EB69280B86}"/>
              </a:ext>
            </a:extLst>
          </p:cNvPr>
          <p:cNvSpPr/>
          <p:nvPr/>
        </p:nvSpPr>
        <p:spPr>
          <a:xfrm>
            <a:off x="6251935" y="4331107"/>
            <a:ext cx="3128503" cy="738630"/>
          </a:xfrm>
          <a:prstGeom prst="cloudCallout">
            <a:avLst>
              <a:gd name="adj1" fmla="val -38002"/>
              <a:gd name="adj2" fmla="val 20383"/>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b="1" dirty="0" err="1">
                <a:solidFill>
                  <a:schemeClr val="tx1"/>
                </a:solidFill>
              </a:rPr>
              <a:t>Sys_Call_Table</a:t>
            </a:r>
            <a:r>
              <a:rPr kumimoji="1" lang="en-US" altLang="zh-TW" b="1" dirty="0">
                <a:solidFill>
                  <a:schemeClr val="tx1"/>
                </a:solidFill>
              </a:rPr>
              <a:t>[</a:t>
            </a:r>
            <a:br>
              <a:rPr kumimoji="1" lang="en-US" altLang="zh-TW" b="1" dirty="0">
                <a:solidFill>
                  <a:schemeClr val="tx1"/>
                </a:solidFill>
              </a:rPr>
            </a:br>
            <a:r>
              <a:rPr kumimoji="1" lang="en-US" altLang="zh-TW" b="1" dirty="0" err="1">
                <a:solidFill>
                  <a:schemeClr val="tx1"/>
                </a:solidFill>
              </a:rPr>
              <a:t>Sys_Call_Num</a:t>
            </a:r>
            <a:r>
              <a:rPr kumimoji="1" lang="en-US" altLang="zh-TW" b="1" dirty="0">
                <a:solidFill>
                  <a:schemeClr val="tx1"/>
                </a:solidFill>
              </a:rPr>
              <a:t>]</a:t>
            </a:r>
            <a:endParaRPr kumimoji="1" lang="zh-TW" altLang="en-US" b="1" dirty="0">
              <a:solidFill>
                <a:schemeClr val="tx1"/>
              </a:solidFill>
            </a:endParaRPr>
          </a:p>
        </p:txBody>
      </p:sp>
    </p:spTree>
    <p:extLst>
      <p:ext uri="{BB962C8B-B14F-4D97-AF65-F5344CB8AC3E}">
        <p14:creationId xmlns:p14="http://schemas.microsoft.com/office/powerpoint/2010/main" val="1871834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down)">
                                      <p:cBhvr>
                                        <p:cTn id="18" dur="500"/>
                                        <p:tgtEl>
                                          <p:spTgt spid="20"/>
                                        </p:tgtEl>
                                      </p:cBhvr>
                                    </p:animEffect>
                                  </p:childTnLst>
                                </p:cTn>
                              </p:par>
                              <p:par>
                                <p:cTn id="19" presetID="42" presetClass="path" presetSubtype="0" accel="50000" decel="50000" fill="hold" nodeType="withEffect">
                                  <p:stCondLst>
                                    <p:cond delay="0"/>
                                  </p:stCondLst>
                                  <p:childTnLst>
                                    <p:animMotion origin="layout" path="M -3.125E-6 -2.22222E-6 L 0.1349 0.15162 " pathEditMode="relative" rAng="0" ptsTypes="AA">
                                      <p:cBhvr>
                                        <p:cTn id="20" dur="2000" fill="hold"/>
                                        <p:tgtEl>
                                          <p:spTgt spid="14"/>
                                        </p:tgtEl>
                                        <p:attrNameLst>
                                          <p:attrName>ppt_x</p:attrName>
                                          <p:attrName>ppt_y</p:attrName>
                                        </p:attrNameLst>
                                      </p:cBhvr>
                                      <p:rCtr x="6745" y="7569"/>
                                    </p:animMotion>
                                  </p:childTnLst>
                                </p:cTn>
                              </p:par>
                              <p:par>
                                <p:cTn id="21" presetID="10"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par>
                          <p:cTn id="27" fill="hold">
                            <p:stCondLst>
                              <p:cond delay="2000"/>
                            </p:stCondLst>
                            <p:childTnLst>
                              <p:par>
                                <p:cTn id="28" presetID="1" presetClass="entr" presetSubtype="0" fill="hold" nodeType="after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par>
                                <p:cTn id="34" presetID="10" presetClass="entr" presetSubtype="0" fill="hold" grpId="2"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500"/>
                                        <p:tgtEl>
                                          <p:spTgt spid="31"/>
                                        </p:tgtEl>
                                      </p:cBhvr>
                                    </p:animEffect>
                                  </p:childTnLst>
                                </p:cTn>
                              </p:par>
                              <p:par>
                                <p:cTn id="37" presetID="10" presetClass="exit" presetSubtype="0" fill="hold" grpId="1" nodeType="withEffect">
                                  <p:stCondLst>
                                    <p:cond delay="0"/>
                                  </p:stCondLst>
                                  <p:childTnLst>
                                    <p:animEffect transition="out" filter="fade">
                                      <p:cBhvr>
                                        <p:cTn id="38" dur="500"/>
                                        <p:tgtEl>
                                          <p:spTgt spid="20"/>
                                        </p:tgtEl>
                                      </p:cBhvr>
                                    </p:animEffect>
                                    <p:set>
                                      <p:cBhvr>
                                        <p:cTn id="39" dur="1" fill="hold">
                                          <p:stCondLst>
                                            <p:cond delay="499"/>
                                          </p:stCondLst>
                                        </p:cTn>
                                        <p:tgtEl>
                                          <p:spTgt spid="20"/>
                                        </p:tgtEl>
                                        <p:attrNameLst>
                                          <p:attrName>style.visibility</p:attrName>
                                        </p:attrNameLst>
                                      </p:cBhvr>
                                      <p:to>
                                        <p:strVal val="hidden"/>
                                      </p:to>
                                    </p:set>
                                  </p:childTnLst>
                                </p:cTn>
                              </p:par>
                              <p:par>
                                <p:cTn id="40" presetID="1" presetClass="exit" presetSubtype="0" fill="hold" nodeType="withEffect">
                                  <p:stCondLst>
                                    <p:cond delay="0"/>
                                  </p:stCondLst>
                                  <p:childTnLst>
                                    <p:set>
                                      <p:cBhvr>
                                        <p:cTn id="41" dur="1" fill="hold">
                                          <p:stCondLst>
                                            <p:cond delay="0"/>
                                          </p:stCondLst>
                                        </p:cTn>
                                        <p:tgtEl>
                                          <p:spTgt spid="14"/>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17"/>
                                        </p:tgtEl>
                                        <p:attrNameLst>
                                          <p:attrName>style.visibility</p:attrName>
                                        </p:attrNameLst>
                                      </p:cBhvr>
                                      <p:to>
                                        <p:strVal val="hidden"/>
                                      </p:to>
                                    </p:set>
                                  </p:childTnLst>
                                </p:cTn>
                              </p:par>
                            </p:childTnLst>
                          </p:cTn>
                        </p:par>
                        <p:par>
                          <p:cTn id="44" fill="hold">
                            <p:stCondLst>
                              <p:cond delay="500"/>
                            </p:stCondLst>
                            <p:childTnLst>
                              <p:par>
                                <p:cTn id="45" presetID="1" presetClass="entr" presetSubtype="0" fill="hold" nodeType="after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xit" presetSubtype="0" fill="hold" grpId="3" nodeType="withEffect">
                                  <p:stCondLst>
                                    <p:cond delay="0"/>
                                  </p:stCondLst>
                                  <p:childTnLst>
                                    <p:set>
                                      <p:cBhvr>
                                        <p:cTn id="52" dur="1" fill="hold">
                                          <p:stCondLst>
                                            <p:cond delay="0"/>
                                          </p:stCondLst>
                                        </p:cTn>
                                        <p:tgtEl>
                                          <p:spTgt spid="31"/>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5"/>
                                        </p:tgtEl>
                                        <p:attrNameLst>
                                          <p:attrName>style.visibility</p:attrName>
                                        </p:attrNameLst>
                                      </p:cBhvr>
                                      <p:to>
                                        <p:strVal val="hidden"/>
                                      </p:to>
                                    </p:set>
                                  </p:childTnLst>
                                </p:cTn>
                              </p:par>
                            </p:childTnLst>
                          </p:cTn>
                        </p:par>
                        <p:par>
                          <p:cTn id="55" fill="hold">
                            <p:stCondLst>
                              <p:cond delay="0"/>
                            </p:stCondLst>
                            <p:childTnLst>
                              <p:par>
                                <p:cTn id="56" presetID="1" presetClass="entr" presetSubtype="0" fill="hold" nodeType="afterEffect">
                                  <p:stCondLst>
                                    <p:cond delay="0"/>
                                  </p:stCondLst>
                                  <p:childTnLst>
                                    <p:set>
                                      <p:cBhvr>
                                        <p:cTn id="57" dur="1" fill="hold">
                                          <p:stCondLst>
                                            <p:cond delay="0"/>
                                          </p:stCondLst>
                                        </p:cTn>
                                        <p:tgtEl>
                                          <p:spTgt spid="28"/>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0" presetClass="path" presetSubtype="0" accel="50000" decel="50000" fill="hold" nodeType="clickEffect">
                                  <p:stCondLst>
                                    <p:cond delay="0"/>
                                  </p:stCondLst>
                                  <p:childTnLst>
                                    <p:animMotion origin="layout" path="M 0.00078 -4.44444E-6 L 0.12552 -0.15439 " pathEditMode="relative" rAng="0" ptsTypes="AA">
                                      <p:cBhvr>
                                        <p:cTn id="61" dur="2000" fill="hold"/>
                                        <p:tgtEl>
                                          <p:spTgt spid="28"/>
                                        </p:tgtEl>
                                        <p:attrNameLst>
                                          <p:attrName>ppt_x</p:attrName>
                                          <p:attrName>ppt_y</p:attrName>
                                        </p:attrNameLst>
                                      </p:cBhvr>
                                      <p:rCtr x="6237" y="-7731"/>
                                    </p:animMotion>
                                  </p:childTnLst>
                                </p:cTn>
                              </p:par>
                            </p:childTnLst>
                          </p:cTn>
                        </p:par>
                        <p:par>
                          <p:cTn id="62" fill="hold">
                            <p:stCondLst>
                              <p:cond delay="2000"/>
                            </p:stCondLst>
                            <p:childTnLst>
                              <p:par>
                                <p:cTn id="63" presetID="1" presetClass="exit" presetSubtype="0" fill="hold" nodeType="afterEffect">
                                  <p:stCondLst>
                                    <p:cond delay="0"/>
                                  </p:stCondLst>
                                  <p:childTnLst>
                                    <p:set>
                                      <p:cBhvr>
                                        <p:cTn id="64" dur="1" fill="hold">
                                          <p:stCondLst>
                                            <p:cond delay="0"/>
                                          </p:stCondLst>
                                        </p:cTn>
                                        <p:tgtEl>
                                          <p:spTgt spid="28"/>
                                        </p:tgtEl>
                                        <p:attrNameLst>
                                          <p:attrName>style.visibility</p:attrName>
                                        </p:attrNameLst>
                                      </p:cBhvr>
                                      <p:to>
                                        <p:strVal val="hidden"/>
                                      </p:to>
                                    </p:set>
                                  </p:childTnLst>
                                </p:cTn>
                              </p:par>
                            </p:childTnLst>
                          </p:cTn>
                        </p:par>
                        <p:par>
                          <p:cTn id="65" fill="hold">
                            <p:stCondLst>
                              <p:cond delay="2000"/>
                            </p:stCondLst>
                            <p:childTnLst>
                              <p:par>
                                <p:cTn id="66" presetID="10" presetClass="entr" presetSubtype="0" fill="hold" nodeType="after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31" grpId="2" animBg="1"/>
      <p:bldP spid="31" grpId="3"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32691" y="2470860"/>
            <a:ext cx="10926618" cy="1916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kumimoji="1" sz="4400" kern="1200">
                <a:solidFill>
                  <a:srgbClr val="750F6D"/>
                </a:solidFill>
                <a:latin typeface="+mj-lt"/>
                <a:ea typeface="+mj-ea"/>
                <a:cs typeface="+mj-cs"/>
              </a:defRPr>
            </a:lvl1pPr>
            <a:lvl2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rgbClr val="750F6D"/>
                </a:solidFill>
                <a:latin typeface="Arial" panose="020B0604020202020204" pitchFamily="34" charset="0"/>
                <a:ea typeface="新細明體" panose="02020500000000000000" pitchFamily="18" charset="-120"/>
              </a:defRPr>
            </a:lvl9pPr>
          </a:lstStyle>
          <a:p>
            <a:r>
              <a:rPr lang="en-US" altLang="zh-TW" b="1" dirty="0">
                <a:latin typeface="Calibri" panose="020F0502020204030204" pitchFamily="34" charset="0"/>
                <a:ea typeface="Tahoma" panose="020B0604030504040204" pitchFamily="34" charset="0"/>
                <a:cs typeface="Calibri" panose="020F0502020204030204" pitchFamily="34" charset="0"/>
              </a:rPr>
              <a:t>Interrupts</a:t>
            </a:r>
          </a:p>
        </p:txBody>
      </p:sp>
    </p:spTree>
    <p:extLst>
      <p:ext uri="{BB962C8B-B14F-4D97-AF65-F5344CB8AC3E}">
        <p14:creationId xmlns:p14="http://schemas.microsoft.com/office/powerpoint/2010/main" val="1189360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Handling Hardware Events</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238250"/>
            <a:ext cx="7217410" cy="5441950"/>
          </a:xfrm>
        </p:spPr>
        <p:txBody>
          <a:bodyPr/>
          <a:lstStyle/>
          <a:p>
            <a:endParaRPr kumimoji="1" lang="en-US" altLang="zh-TW" dirty="0"/>
          </a:p>
          <a:p>
            <a:r>
              <a:rPr kumimoji="1" lang="en-US" altLang="zh-TW" dirty="0"/>
              <a:t>How CPUs work with slower </a:t>
            </a:r>
            <a:r>
              <a:rPr lang="en-US" altLang="zh-TW" dirty="0"/>
              <a:t>h</a:t>
            </a:r>
            <a:r>
              <a:rPr kumimoji="1" lang="en-US" altLang="zh-TW" dirty="0"/>
              <a:t>ardware </a:t>
            </a:r>
            <a:r>
              <a:rPr lang="en-US" altLang="zh-TW" dirty="0"/>
              <a:t>d</a:t>
            </a:r>
            <a:r>
              <a:rPr kumimoji="1" lang="en-US" altLang="zh-TW" dirty="0"/>
              <a:t>evices</a:t>
            </a:r>
          </a:p>
          <a:p>
            <a:pPr lvl="1"/>
            <a:r>
              <a:rPr lang="en-US" altLang="zh-TW" dirty="0"/>
              <a:t>Polling: Periodically, the </a:t>
            </a:r>
            <a:r>
              <a:rPr lang="en-US" altLang="zh-TW" dirty="0">
                <a:solidFill>
                  <a:srgbClr val="C00000"/>
                </a:solidFill>
              </a:rPr>
              <a:t>kernel checks hardware </a:t>
            </a:r>
            <a:r>
              <a:rPr lang="en-US" altLang="zh-TW" dirty="0"/>
              <a:t>status and responds accordingly.</a:t>
            </a:r>
          </a:p>
          <a:p>
            <a:pPr lvl="1"/>
            <a:r>
              <a:rPr lang="en-US" altLang="zh-TW" dirty="0"/>
              <a:t>Interrupt: Let the </a:t>
            </a:r>
            <a:r>
              <a:rPr lang="en-US" altLang="zh-TW" dirty="0">
                <a:solidFill>
                  <a:srgbClr val="C00000"/>
                </a:solidFill>
              </a:rPr>
              <a:t>hardware to signal</a:t>
            </a:r>
            <a:r>
              <a:rPr lang="en-US" altLang="zh-TW" dirty="0"/>
              <a:t> to the kernel.</a:t>
            </a:r>
            <a:endParaRPr kumimoji="1" lang="en-US" altLang="zh-TW" dirty="0"/>
          </a:p>
          <a:p>
            <a:r>
              <a:rPr kumimoji="1" lang="en-US" altLang="zh-TW" dirty="0"/>
              <a:t>What causes interrupts:</a:t>
            </a:r>
          </a:p>
          <a:p>
            <a:pPr lvl="1"/>
            <a:r>
              <a:rPr kumimoji="1" lang="en-US" altLang="zh-TW" dirty="0"/>
              <a:t>Interrupt (Asynchronous, Hardware </a:t>
            </a:r>
            <a:r>
              <a:rPr lang="en-US" altLang="zh-TW" dirty="0"/>
              <a:t>Interrupts): Hardware devices </a:t>
            </a:r>
            <a:r>
              <a:rPr lang="en-US" altLang="zh-TW" dirty="0">
                <a:solidFill>
                  <a:srgbClr val="C00000"/>
                </a:solidFill>
              </a:rPr>
              <a:t>physically produce electronic signals</a:t>
            </a:r>
            <a:r>
              <a:rPr lang="en-US" altLang="zh-TW" dirty="0"/>
              <a:t>, which are directed into </a:t>
            </a:r>
            <a:r>
              <a:rPr lang="en-US" altLang="zh-TW" dirty="0">
                <a:solidFill>
                  <a:srgbClr val="C00000"/>
                </a:solidFill>
              </a:rPr>
              <a:t>input pins on an interrupt controller</a:t>
            </a:r>
            <a:r>
              <a:rPr lang="en-US" altLang="zh-TW" dirty="0"/>
              <a:t>.</a:t>
            </a:r>
            <a:endParaRPr kumimoji="1" lang="en-US" altLang="zh-TW" dirty="0"/>
          </a:p>
          <a:p>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9</a:t>
            </a:fld>
            <a:endParaRPr lang="zh-TW" altLang="en-US" dirty="0"/>
          </a:p>
        </p:txBody>
      </p:sp>
      <p:sp>
        <p:nvSpPr>
          <p:cNvPr id="5" name="矩形 4">
            <a:extLst>
              <a:ext uri="{FF2B5EF4-FFF2-40B4-BE49-F238E27FC236}">
                <a16:creationId xmlns:a16="http://schemas.microsoft.com/office/drawing/2014/main" id="{59228A93-0EA5-BD3B-1F90-460B6F29AB65}"/>
              </a:ext>
            </a:extLst>
          </p:cNvPr>
          <p:cNvSpPr/>
          <p:nvPr/>
        </p:nvSpPr>
        <p:spPr>
          <a:xfrm>
            <a:off x="7777316" y="1738413"/>
            <a:ext cx="4152745" cy="407262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Motherboard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 name="文字方塊 8">
            <a:extLst>
              <a:ext uri="{FF2B5EF4-FFF2-40B4-BE49-F238E27FC236}">
                <a16:creationId xmlns:a16="http://schemas.microsoft.com/office/drawing/2014/main" id="{9D24A877-206D-B6AE-4FFC-1886C4603A5E}"/>
              </a:ext>
            </a:extLst>
          </p:cNvPr>
          <p:cNvSpPr txBox="1"/>
          <p:nvPr/>
        </p:nvSpPr>
        <p:spPr>
          <a:xfrm>
            <a:off x="8126071" y="5901050"/>
            <a:ext cx="3803990" cy="523220"/>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Note: After 2019, all northbridge functions </a:t>
            </a:r>
          </a:p>
          <a:p>
            <a:r>
              <a:rPr kumimoji="1" lang="en-US" altLang="zh-TW" sz="1400" b="1" dirty="0">
                <a:solidFill>
                  <a:srgbClr val="0070C0"/>
                </a:solidFill>
                <a:latin typeface="Arial" panose="020B0604020202020204" pitchFamily="34" charset="0"/>
                <a:cs typeface="Arial" panose="020B0604020202020204" pitchFamily="34" charset="0"/>
              </a:rPr>
              <a:t>had been integrated into CPU!!</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2" name="文字方塊 11">
            <a:extLst>
              <a:ext uri="{FF2B5EF4-FFF2-40B4-BE49-F238E27FC236}">
                <a16:creationId xmlns:a16="http://schemas.microsoft.com/office/drawing/2014/main" id="{0767D059-5B35-ECD9-44BB-F9418AF54803}"/>
              </a:ext>
            </a:extLst>
          </p:cNvPr>
          <p:cNvSpPr txBox="1"/>
          <p:nvPr/>
        </p:nvSpPr>
        <p:spPr>
          <a:xfrm>
            <a:off x="0" y="6396335"/>
            <a:ext cx="4027641" cy="461665"/>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hlinkClick r:id="rId3"/>
              </a:rPr>
              <a:t>https://zhuanlan.zhihu.com/p/313725721</a:t>
            </a:r>
            <a:endParaRPr kumimoji="1" lang="en-US" altLang="zh-TW" sz="1200" dirty="0">
              <a:solidFill>
                <a:schemeClr val="bg1">
                  <a:lumMod val="75000"/>
                </a:schemeClr>
              </a:solidFill>
            </a:endParaRPr>
          </a:p>
          <a:p>
            <a:r>
              <a:rPr kumimoji="1" lang="en-US" altLang="zh-TW" sz="1200" dirty="0">
                <a:solidFill>
                  <a:schemeClr val="bg1">
                    <a:lumMod val="75000"/>
                  </a:schemeClr>
                </a:solidFill>
              </a:rPr>
              <a:t>Ref2:</a:t>
            </a:r>
            <a:r>
              <a:rPr kumimoji="1" lang="zh-TW" altLang="en-US" sz="1200" dirty="0">
                <a:solidFill>
                  <a:schemeClr val="bg1">
                    <a:lumMod val="75000"/>
                  </a:schemeClr>
                </a:solidFill>
              </a:rPr>
              <a:t> </a:t>
            </a:r>
            <a:r>
              <a:rPr kumimoji="1" lang="en-US" altLang="zh-TW" sz="1200" dirty="0">
                <a:solidFill>
                  <a:schemeClr val="bg1">
                    <a:lumMod val="75000"/>
                  </a:schemeClr>
                </a:solidFill>
              </a:rPr>
              <a:t>https://</a:t>
            </a:r>
            <a:r>
              <a:rPr kumimoji="1" lang="en-US" altLang="zh-TW" sz="1200" dirty="0" err="1">
                <a:solidFill>
                  <a:schemeClr val="bg1">
                    <a:lumMod val="75000"/>
                  </a:schemeClr>
                </a:solidFill>
              </a:rPr>
              <a:t>en.wikipedia.org</a:t>
            </a:r>
            <a:r>
              <a:rPr kumimoji="1" lang="en-US" altLang="zh-TW" sz="1200" dirty="0">
                <a:solidFill>
                  <a:schemeClr val="bg1">
                    <a:lumMod val="75000"/>
                  </a:schemeClr>
                </a:solidFill>
              </a:rPr>
              <a:t>/wiki/Northbridge_(computing)</a:t>
            </a:r>
          </a:p>
        </p:txBody>
      </p:sp>
      <p:grpSp>
        <p:nvGrpSpPr>
          <p:cNvPr id="64" name="群組 63">
            <a:extLst>
              <a:ext uri="{FF2B5EF4-FFF2-40B4-BE49-F238E27FC236}">
                <a16:creationId xmlns:a16="http://schemas.microsoft.com/office/drawing/2014/main" id="{404DB057-7842-AAAC-D0CE-258942E1C510}"/>
              </a:ext>
            </a:extLst>
          </p:cNvPr>
          <p:cNvGrpSpPr/>
          <p:nvPr/>
        </p:nvGrpSpPr>
        <p:grpSpPr>
          <a:xfrm>
            <a:off x="10269117" y="3111892"/>
            <a:ext cx="1515213" cy="777724"/>
            <a:chOff x="10269117" y="3111892"/>
            <a:chExt cx="1515213" cy="777724"/>
          </a:xfrm>
        </p:grpSpPr>
        <p:cxnSp>
          <p:nvCxnSpPr>
            <p:cNvPr id="18" name="直線接點 17">
              <a:extLst>
                <a:ext uri="{FF2B5EF4-FFF2-40B4-BE49-F238E27FC236}">
                  <a16:creationId xmlns:a16="http://schemas.microsoft.com/office/drawing/2014/main" id="{B3F3A90F-0EC6-2F21-CB48-C269793DE105}"/>
                </a:ext>
              </a:extLst>
            </p:cNvPr>
            <p:cNvCxnSpPr>
              <a:cxnSpLocks/>
            </p:cNvCxnSpPr>
            <p:nvPr/>
          </p:nvCxnSpPr>
          <p:spPr>
            <a:xfrm>
              <a:off x="10269117" y="3513454"/>
              <a:ext cx="40364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899913A7-632C-618B-F1DA-89FA074F0353}"/>
                </a:ext>
              </a:extLst>
            </p:cNvPr>
            <p:cNvCxnSpPr>
              <a:cxnSpLocks/>
            </p:cNvCxnSpPr>
            <p:nvPr/>
          </p:nvCxnSpPr>
          <p:spPr>
            <a:xfrm>
              <a:off x="10672761" y="3257549"/>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64C25631-9780-14EF-CF19-0F9FBD026016}"/>
                </a:ext>
              </a:extLst>
            </p:cNvPr>
            <p:cNvCxnSpPr>
              <a:cxnSpLocks/>
            </p:cNvCxnSpPr>
            <p:nvPr/>
          </p:nvCxnSpPr>
          <p:spPr>
            <a:xfrm>
              <a:off x="10662601" y="3257549"/>
              <a:ext cx="1981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76CB5695-465B-5574-E647-38903527D76F}"/>
                </a:ext>
              </a:extLst>
            </p:cNvPr>
            <p:cNvCxnSpPr>
              <a:cxnSpLocks/>
            </p:cNvCxnSpPr>
            <p:nvPr/>
          </p:nvCxnSpPr>
          <p:spPr>
            <a:xfrm>
              <a:off x="10670221" y="3743960"/>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圓角矩形 27">
              <a:extLst>
                <a:ext uri="{FF2B5EF4-FFF2-40B4-BE49-F238E27FC236}">
                  <a16:creationId xmlns:a16="http://schemas.microsoft.com/office/drawing/2014/main" id="{06DB8595-EF80-D27C-406B-A23FD123E2AF}"/>
                </a:ext>
              </a:extLst>
            </p:cNvPr>
            <p:cNvSpPr/>
            <p:nvPr/>
          </p:nvSpPr>
          <p:spPr>
            <a:xfrm>
              <a:off x="10869930" y="3111892"/>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DRAM</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9" name="圓角矩形 28">
              <a:extLst>
                <a:ext uri="{FF2B5EF4-FFF2-40B4-BE49-F238E27FC236}">
                  <a16:creationId xmlns:a16="http://schemas.microsoft.com/office/drawing/2014/main" id="{E8574694-ED8A-41A9-EF53-06B5A000937A}"/>
                </a:ext>
              </a:extLst>
            </p:cNvPr>
            <p:cNvSpPr/>
            <p:nvPr/>
          </p:nvSpPr>
          <p:spPr>
            <a:xfrm>
              <a:off x="10869930" y="3598303"/>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GPU</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63" name="群組 62">
            <a:extLst>
              <a:ext uri="{FF2B5EF4-FFF2-40B4-BE49-F238E27FC236}">
                <a16:creationId xmlns:a16="http://schemas.microsoft.com/office/drawing/2014/main" id="{B6F9EB6E-A4FE-CF35-B3D5-99B2695A0A16}"/>
              </a:ext>
            </a:extLst>
          </p:cNvPr>
          <p:cNvGrpSpPr/>
          <p:nvPr/>
        </p:nvGrpSpPr>
        <p:grpSpPr>
          <a:xfrm>
            <a:off x="7966819" y="1892934"/>
            <a:ext cx="2305156" cy="3292475"/>
            <a:chOff x="7966819" y="1892934"/>
            <a:chExt cx="2305156" cy="3292475"/>
          </a:xfrm>
        </p:grpSpPr>
        <p:sp>
          <p:nvSpPr>
            <p:cNvPr id="7" name="矩形 6">
              <a:extLst>
                <a:ext uri="{FF2B5EF4-FFF2-40B4-BE49-F238E27FC236}">
                  <a16:creationId xmlns:a16="http://schemas.microsoft.com/office/drawing/2014/main" id="{AC1E176E-3D2D-1FD3-C4AC-14E0029D0DB7}"/>
                </a:ext>
              </a:extLst>
            </p:cNvPr>
            <p:cNvSpPr/>
            <p:nvPr/>
          </p:nvSpPr>
          <p:spPr>
            <a:xfrm>
              <a:off x="8279345" y="4665344"/>
              <a:ext cx="1866900" cy="520065"/>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Interrupt Controller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(I/O APIC)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5" name="矩形 14">
              <a:extLst>
                <a:ext uri="{FF2B5EF4-FFF2-40B4-BE49-F238E27FC236}">
                  <a16:creationId xmlns:a16="http://schemas.microsoft.com/office/drawing/2014/main" id="{438A62E0-B075-E36E-61A5-3A1DEA15CCE0}"/>
                </a:ext>
              </a:extLst>
            </p:cNvPr>
            <p:cNvSpPr/>
            <p:nvPr/>
          </p:nvSpPr>
          <p:spPr>
            <a:xfrm>
              <a:off x="8121801" y="1892934"/>
              <a:ext cx="1002266"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6" name="矩形 15">
              <a:extLst>
                <a:ext uri="{FF2B5EF4-FFF2-40B4-BE49-F238E27FC236}">
                  <a16:creationId xmlns:a16="http://schemas.microsoft.com/office/drawing/2014/main" id="{FD84199D-A48E-4277-E936-E83C2ACFEEE8}"/>
                </a:ext>
              </a:extLst>
            </p:cNvPr>
            <p:cNvSpPr/>
            <p:nvPr/>
          </p:nvSpPr>
          <p:spPr>
            <a:xfrm>
              <a:off x="9271850" y="1892934"/>
              <a:ext cx="1000125"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43" name="直線接點 42">
              <a:extLst>
                <a:ext uri="{FF2B5EF4-FFF2-40B4-BE49-F238E27FC236}">
                  <a16:creationId xmlns:a16="http://schemas.microsoft.com/office/drawing/2014/main" id="{D9578038-C6D0-D7B2-4945-C12F6B28C380}"/>
                </a:ext>
              </a:extLst>
            </p:cNvPr>
            <p:cNvCxnSpPr>
              <a:cxnSpLocks/>
            </p:cNvCxnSpPr>
            <p:nvPr/>
          </p:nvCxnSpPr>
          <p:spPr>
            <a:xfrm>
              <a:off x="7966965" y="2127885"/>
              <a:ext cx="0" cy="28708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387E2BE6-CFBE-43B4-B339-06B6ABE1B455}"/>
                </a:ext>
              </a:extLst>
            </p:cNvPr>
            <p:cNvCxnSpPr>
              <a:cxnSpLocks/>
              <a:endCxn id="15" idx="1"/>
            </p:cNvCxnSpPr>
            <p:nvPr/>
          </p:nvCxnSpPr>
          <p:spPr>
            <a:xfrm>
              <a:off x="7966819" y="2127885"/>
              <a:ext cx="15498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99530FE4-47CC-D9BB-FCE0-8CF77793174B}"/>
                </a:ext>
              </a:extLst>
            </p:cNvPr>
            <p:cNvCxnSpPr>
              <a:cxnSpLocks/>
            </p:cNvCxnSpPr>
            <p:nvPr/>
          </p:nvCxnSpPr>
          <p:spPr>
            <a:xfrm>
              <a:off x="7966965" y="4986572"/>
              <a:ext cx="3123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群組 61">
            <a:extLst>
              <a:ext uri="{FF2B5EF4-FFF2-40B4-BE49-F238E27FC236}">
                <a16:creationId xmlns:a16="http://schemas.microsoft.com/office/drawing/2014/main" id="{AB2122B2-74D9-C2BC-CA33-1804D4702E59}"/>
              </a:ext>
            </a:extLst>
          </p:cNvPr>
          <p:cNvGrpSpPr/>
          <p:nvPr/>
        </p:nvGrpSpPr>
        <p:grpSpPr>
          <a:xfrm>
            <a:off x="8124087" y="2362835"/>
            <a:ext cx="2147888" cy="2919730"/>
            <a:chOff x="8124087" y="2362835"/>
            <a:chExt cx="2147888" cy="2919730"/>
          </a:xfrm>
        </p:grpSpPr>
        <p:sp>
          <p:nvSpPr>
            <p:cNvPr id="6" name="矩形 5">
              <a:extLst>
                <a:ext uri="{FF2B5EF4-FFF2-40B4-BE49-F238E27FC236}">
                  <a16:creationId xmlns:a16="http://schemas.microsoft.com/office/drawing/2014/main" id="{B840B442-F28B-6B3C-0D1A-E4EA1FE7DEA6}"/>
                </a:ext>
              </a:extLst>
            </p:cNvPr>
            <p:cNvSpPr/>
            <p:nvPr/>
          </p:nvSpPr>
          <p:spPr>
            <a:xfrm>
              <a:off x="8126945" y="4115435"/>
              <a:ext cx="2145030" cy="116713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Southbridge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(I/O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8" name="矩形 7">
              <a:extLst>
                <a:ext uri="{FF2B5EF4-FFF2-40B4-BE49-F238E27FC236}">
                  <a16:creationId xmlns:a16="http://schemas.microsoft.com/office/drawing/2014/main" id="{9EFFFF51-984A-DC0F-5889-71A2B3A58DBD}"/>
                </a:ext>
              </a:extLst>
            </p:cNvPr>
            <p:cNvSpPr/>
            <p:nvPr/>
          </p:nvSpPr>
          <p:spPr>
            <a:xfrm>
              <a:off x="8124087" y="3257549"/>
              <a:ext cx="2145030"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Northbridge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(Memory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13" name="矩形 12">
              <a:extLst>
                <a:ext uri="{FF2B5EF4-FFF2-40B4-BE49-F238E27FC236}">
                  <a16:creationId xmlns:a16="http://schemas.microsoft.com/office/drawing/2014/main" id="{E4927536-3941-A3EA-E820-2834C5673B37}"/>
                </a:ext>
              </a:extLst>
            </p:cNvPr>
            <p:cNvSpPr/>
            <p:nvPr/>
          </p:nvSpPr>
          <p:spPr>
            <a:xfrm>
              <a:off x="8126945" y="2362835"/>
              <a:ext cx="1000125"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4" name="矩形 13">
              <a:extLst>
                <a:ext uri="{FF2B5EF4-FFF2-40B4-BE49-F238E27FC236}">
                  <a16:creationId xmlns:a16="http://schemas.microsoft.com/office/drawing/2014/main" id="{58857E46-1A8B-66DE-9489-756B982133A2}"/>
                </a:ext>
              </a:extLst>
            </p:cNvPr>
            <p:cNvSpPr/>
            <p:nvPr/>
          </p:nvSpPr>
          <p:spPr>
            <a:xfrm>
              <a:off x="9271850" y="2362835"/>
              <a:ext cx="1000125"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30" name="直線接點 29">
              <a:extLst>
                <a:ext uri="{FF2B5EF4-FFF2-40B4-BE49-F238E27FC236}">
                  <a16:creationId xmlns:a16="http://schemas.microsoft.com/office/drawing/2014/main" id="{2A91E5A7-F432-E22B-9513-EF8A698988E7}"/>
                </a:ext>
              </a:extLst>
            </p:cNvPr>
            <p:cNvCxnSpPr>
              <a:cxnSpLocks/>
            </p:cNvCxnSpPr>
            <p:nvPr/>
          </p:nvCxnSpPr>
          <p:spPr>
            <a:xfrm>
              <a:off x="8624149" y="2865755"/>
              <a:ext cx="0" cy="1630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B126330A-3D3B-5718-CDA7-1742EA0F357A}"/>
                </a:ext>
              </a:extLst>
            </p:cNvPr>
            <p:cNvCxnSpPr>
              <a:cxnSpLocks/>
            </p:cNvCxnSpPr>
            <p:nvPr/>
          </p:nvCxnSpPr>
          <p:spPr>
            <a:xfrm>
              <a:off x="9771912" y="2863813"/>
              <a:ext cx="0" cy="16302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3D0FDAC2-785D-6280-0A3F-41DD0C72E4C6}"/>
                </a:ext>
              </a:extLst>
            </p:cNvPr>
            <p:cNvCxnSpPr>
              <a:cxnSpLocks/>
            </p:cNvCxnSpPr>
            <p:nvPr/>
          </p:nvCxnSpPr>
          <p:spPr>
            <a:xfrm>
              <a:off x="9217034" y="3026839"/>
              <a:ext cx="0" cy="23070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DAD04AC8-D599-A3BC-28E7-874BD52283BB}"/>
                </a:ext>
              </a:extLst>
            </p:cNvPr>
            <p:cNvCxnSpPr>
              <a:cxnSpLocks/>
            </p:cNvCxnSpPr>
            <p:nvPr/>
          </p:nvCxnSpPr>
          <p:spPr>
            <a:xfrm>
              <a:off x="8623769" y="3026839"/>
              <a:ext cx="114814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6A562E9C-1225-72C4-A568-90AA5D37C465}"/>
                </a:ext>
              </a:extLst>
            </p:cNvPr>
            <p:cNvCxnSpPr>
              <a:cxnSpLocks/>
            </p:cNvCxnSpPr>
            <p:nvPr/>
          </p:nvCxnSpPr>
          <p:spPr>
            <a:xfrm>
              <a:off x="9228970" y="3760469"/>
              <a:ext cx="0" cy="3549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群組 64">
            <a:extLst>
              <a:ext uri="{FF2B5EF4-FFF2-40B4-BE49-F238E27FC236}">
                <a16:creationId xmlns:a16="http://schemas.microsoft.com/office/drawing/2014/main" id="{03FDDAE2-429B-E574-8A34-1E526F377C1F}"/>
              </a:ext>
            </a:extLst>
          </p:cNvPr>
          <p:cNvGrpSpPr/>
          <p:nvPr/>
        </p:nvGrpSpPr>
        <p:grpSpPr>
          <a:xfrm>
            <a:off x="10146245" y="4337129"/>
            <a:ext cx="1638085" cy="1253197"/>
            <a:chOff x="10146245" y="4337129"/>
            <a:chExt cx="1638085" cy="1253197"/>
          </a:xfrm>
        </p:grpSpPr>
        <p:cxnSp>
          <p:nvCxnSpPr>
            <p:cNvPr id="37" name="直線接點 36">
              <a:extLst>
                <a:ext uri="{FF2B5EF4-FFF2-40B4-BE49-F238E27FC236}">
                  <a16:creationId xmlns:a16="http://schemas.microsoft.com/office/drawing/2014/main" id="{A99EF251-5987-282D-FBD6-99D65E4C3E46}"/>
                </a:ext>
              </a:extLst>
            </p:cNvPr>
            <p:cNvCxnSpPr>
              <a:cxnSpLocks/>
              <a:stCxn id="7" idx="3"/>
            </p:cNvCxnSpPr>
            <p:nvPr/>
          </p:nvCxnSpPr>
          <p:spPr>
            <a:xfrm flipV="1">
              <a:off x="10146245" y="4862868"/>
              <a:ext cx="51635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5A04FD74-85DB-1AEB-2771-8EC2483501E4}"/>
                </a:ext>
              </a:extLst>
            </p:cNvPr>
            <p:cNvCxnSpPr>
              <a:cxnSpLocks/>
            </p:cNvCxnSpPr>
            <p:nvPr/>
          </p:nvCxnSpPr>
          <p:spPr>
            <a:xfrm>
              <a:off x="10672761" y="4482786"/>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937E4405-4349-A49B-9C81-F016769FD6D4}"/>
                </a:ext>
              </a:extLst>
            </p:cNvPr>
            <p:cNvCxnSpPr>
              <a:cxnSpLocks/>
            </p:cNvCxnSpPr>
            <p:nvPr/>
          </p:nvCxnSpPr>
          <p:spPr>
            <a:xfrm>
              <a:off x="10662601" y="4482786"/>
              <a:ext cx="1981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C0C1150C-DD3D-0477-D6ED-83BCA8561D78}"/>
                </a:ext>
              </a:extLst>
            </p:cNvPr>
            <p:cNvCxnSpPr>
              <a:cxnSpLocks/>
            </p:cNvCxnSpPr>
            <p:nvPr/>
          </p:nvCxnSpPr>
          <p:spPr>
            <a:xfrm>
              <a:off x="10680612" y="4969197"/>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圓角矩形 40">
              <a:extLst>
                <a:ext uri="{FF2B5EF4-FFF2-40B4-BE49-F238E27FC236}">
                  <a16:creationId xmlns:a16="http://schemas.microsoft.com/office/drawing/2014/main" id="{EC87647D-B2CA-5EF2-1CE9-5F14D6A66FD7}"/>
                </a:ext>
              </a:extLst>
            </p:cNvPr>
            <p:cNvSpPr/>
            <p:nvPr/>
          </p:nvSpPr>
          <p:spPr>
            <a:xfrm>
              <a:off x="10869930" y="433712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Keyboard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42" name="圓角矩形 41">
              <a:extLst>
                <a:ext uri="{FF2B5EF4-FFF2-40B4-BE49-F238E27FC236}">
                  <a16:creationId xmlns:a16="http://schemas.microsoft.com/office/drawing/2014/main" id="{56820A37-32FC-4138-7928-96208DA9D011}"/>
                </a:ext>
              </a:extLst>
            </p:cNvPr>
            <p:cNvSpPr/>
            <p:nvPr/>
          </p:nvSpPr>
          <p:spPr>
            <a:xfrm>
              <a:off x="10869930" y="4823540"/>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HDD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5" name="直線接點 54">
              <a:extLst>
                <a:ext uri="{FF2B5EF4-FFF2-40B4-BE49-F238E27FC236}">
                  <a16:creationId xmlns:a16="http://schemas.microsoft.com/office/drawing/2014/main" id="{41317142-6817-CDE0-F9F7-B725CB4EFD63}"/>
                </a:ext>
              </a:extLst>
            </p:cNvPr>
            <p:cNvCxnSpPr>
              <a:cxnSpLocks/>
            </p:cNvCxnSpPr>
            <p:nvPr/>
          </p:nvCxnSpPr>
          <p:spPr>
            <a:xfrm>
              <a:off x="10670221" y="5444670"/>
              <a:ext cx="1905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圓角矩形 55">
              <a:extLst>
                <a:ext uri="{FF2B5EF4-FFF2-40B4-BE49-F238E27FC236}">
                  <a16:creationId xmlns:a16="http://schemas.microsoft.com/office/drawing/2014/main" id="{6C4734EC-D617-AF3D-0323-BF3CF40528F5}"/>
                </a:ext>
              </a:extLst>
            </p:cNvPr>
            <p:cNvSpPr/>
            <p:nvPr/>
          </p:nvSpPr>
          <p:spPr>
            <a:xfrm>
              <a:off x="10869930" y="5299013"/>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PCIE</a:t>
              </a:r>
              <a:r>
                <a:rPr kumimoji="1" lang="zh-TW" altLang="en-US" sz="1400" dirty="0">
                  <a:solidFill>
                    <a:schemeClr val="tx1"/>
                  </a:solidFill>
                  <a:latin typeface="Arial" panose="020B0604020202020204" pitchFamily="34" charset="0"/>
                  <a:cs typeface="Arial" panose="020B0604020202020204" pitchFamily="34" charset="0"/>
                </a:rPr>
                <a:t> </a:t>
              </a:r>
              <a:r>
                <a:rPr kumimoji="1" lang="en-US" altLang="zh-TW" sz="1400" dirty="0">
                  <a:solidFill>
                    <a:schemeClr val="tx1"/>
                  </a:solidFill>
                  <a:latin typeface="Arial" panose="020B0604020202020204" pitchFamily="34" charset="0"/>
                  <a:cs typeface="Arial" panose="020B0604020202020204" pitchFamily="34" charset="0"/>
                </a:rPr>
                <a:t>SSD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7" name="直線接點 56">
              <a:extLst>
                <a:ext uri="{FF2B5EF4-FFF2-40B4-BE49-F238E27FC236}">
                  <a16:creationId xmlns:a16="http://schemas.microsoft.com/office/drawing/2014/main" id="{07E09B6A-CD1E-A980-37B7-263171A120D7}"/>
                </a:ext>
              </a:extLst>
            </p:cNvPr>
            <p:cNvCxnSpPr>
              <a:cxnSpLocks/>
            </p:cNvCxnSpPr>
            <p:nvPr/>
          </p:nvCxnSpPr>
          <p:spPr>
            <a:xfrm>
              <a:off x="10673929" y="4946693"/>
              <a:ext cx="0" cy="5029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8" name="圓角矩形 57">
            <a:extLst>
              <a:ext uri="{FF2B5EF4-FFF2-40B4-BE49-F238E27FC236}">
                <a16:creationId xmlns:a16="http://schemas.microsoft.com/office/drawing/2014/main" id="{F30D72A8-38A1-0ADE-0500-842F66AA74F6}"/>
              </a:ext>
            </a:extLst>
          </p:cNvPr>
          <p:cNvSpPr/>
          <p:nvPr/>
        </p:nvSpPr>
        <p:spPr>
          <a:xfrm>
            <a:off x="8050180" y="3166557"/>
            <a:ext cx="2297326" cy="2384767"/>
          </a:xfrm>
          <a:prstGeom prst="roundRect">
            <a:avLst>
              <a:gd name="adj" fmla="val 7163"/>
            </a:avLst>
          </a:prstGeom>
          <a:noFill/>
          <a:ln w="1905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bIns="0" rtlCol="0" anchor="b"/>
          <a:lstStyle/>
          <a:p>
            <a:pPr algn="ctr"/>
            <a:r>
              <a:rPr kumimoji="1" lang="en-US" altLang="zh-TW" sz="1400" dirty="0">
                <a:solidFill>
                  <a:srgbClr val="0070C0"/>
                </a:solidFill>
                <a:latin typeface="Arial" panose="020B0604020202020204" pitchFamily="34" charset="0"/>
                <a:cs typeface="Arial" panose="020B0604020202020204" pitchFamily="34" charset="0"/>
              </a:rPr>
              <a:t>Chipset</a:t>
            </a:r>
            <a:endParaRPr kumimoji="1" lang="zh-TW" altLang="en-US" sz="1400"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6044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62"/>
                                        </p:tgtEl>
                                        <p:attrNameLst>
                                          <p:attrName>style.visibility</p:attrName>
                                        </p:attrNameLst>
                                      </p:cBhvr>
                                      <p:to>
                                        <p:strVal val="visible"/>
                                      </p:to>
                                    </p:set>
                                    <p:animEffect transition="in" filter="wipe(up)">
                                      <p:cBhvr>
                                        <p:cTn id="30" dur="500"/>
                                        <p:tgtEl>
                                          <p:spTgt spid="6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500"/>
                                        <p:tgtEl>
                                          <p:spTgt spid="5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wipe(left)">
                                      <p:cBhvr>
                                        <p:cTn id="40" dur="500"/>
                                        <p:tgtEl>
                                          <p:spTgt spid="64"/>
                                        </p:tgtEl>
                                      </p:cBhvr>
                                    </p:animEffect>
                                  </p:childTnLst>
                                </p:cTn>
                              </p:par>
                              <p:par>
                                <p:cTn id="41" presetID="1" presetClass="exit" presetSubtype="0" fill="hold" grpId="1" nodeType="withEffect">
                                  <p:stCondLst>
                                    <p:cond delay="0"/>
                                  </p:stCondLst>
                                  <p:childTnLst>
                                    <p:set>
                                      <p:cBhvr>
                                        <p:cTn id="42" dur="1" fill="hold">
                                          <p:stCondLst>
                                            <p:cond delay="0"/>
                                          </p:stCondLst>
                                        </p:cTn>
                                        <p:tgtEl>
                                          <p:spTgt spid="58"/>
                                        </p:tgtEl>
                                        <p:attrNameLst>
                                          <p:attrName>style.visibility</p:attrName>
                                        </p:attrNameLst>
                                      </p:cBhvr>
                                      <p:to>
                                        <p:strVal val="hidden"/>
                                      </p:to>
                                    </p:set>
                                  </p:childTnLst>
                                </p:cTn>
                              </p:par>
                              <p:par>
                                <p:cTn id="43" presetID="22" presetClass="entr" presetSubtype="8" fill="hold" nodeType="withEffect">
                                  <p:stCondLst>
                                    <p:cond delay="0"/>
                                  </p:stCondLst>
                                  <p:childTnLst>
                                    <p:set>
                                      <p:cBhvr>
                                        <p:cTn id="44" dur="1" fill="hold">
                                          <p:stCondLst>
                                            <p:cond delay="0"/>
                                          </p:stCondLst>
                                        </p:cTn>
                                        <p:tgtEl>
                                          <p:spTgt spid="65"/>
                                        </p:tgtEl>
                                        <p:attrNameLst>
                                          <p:attrName>style.visibility</p:attrName>
                                        </p:attrNameLst>
                                      </p:cBhvr>
                                      <p:to>
                                        <p:strVal val="visible"/>
                                      </p:to>
                                    </p:set>
                                    <p:animEffect transition="in" filter="wipe(left)">
                                      <p:cBhvr>
                                        <p:cTn id="45" dur="500"/>
                                        <p:tgtEl>
                                          <p:spTgt spid="6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63"/>
                                        </p:tgtEl>
                                        <p:attrNameLst>
                                          <p:attrName>style.visibility</p:attrName>
                                        </p:attrNameLst>
                                      </p:cBhvr>
                                      <p:to>
                                        <p:strVal val="visible"/>
                                      </p:to>
                                    </p:set>
                                    <p:animEffect transition="in" filter="fade">
                                      <p:cBhvr>
                                        <p:cTn id="50" dur="500"/>
                                        <p:tgtEl>
                                          <p:spTgt spid="6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58" grpId="0" animBg="1"/>
      <p:bldP spid="58"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792A2-BC8E-AC0E-DF2A-8CA6B1E1022B}"/>
              </a:ext>
            </a:extLst>
          </p:cNvPr>
          <p:cNvSpPr>
            <a:spLocks noGrp="1"/>
          </p:cNvSpPr>
          <p:nvPr>
            <p:ph type="title"/>
          </p:nvPr>
        </p:nvSpPr>
        <p:spPr/>
        <p:txBody>
          <a:bodyPr/>
          <a:lstStyle/>
          <a:p>
            <a:r>
              <a:rPr kumimoji="1" lang="en-US" altLang="zh-TW" dirty="0"/>
              <a:t>Handling Hardware Events (Count.)</a:t>
            </a:r>
            <a:endParaRPr kumimoji="1" lang="zh-TW" altLang="en-US" dirty="0"/>
          </a:p>
        </p:txBody>
      </p:sp>
      <p:sp>
        <p:nvSpPr>
          <p:cNvPr id="3" name="內容版面配置區 2">
            <a:extLst>
              <a:ext uri="{FF2B5EF4-FFF2-40B4-BE49-F238E27FC236}">
                <a16:creationId xmlns:a16="http://schemas.microsoft.com/office/drawing/2014/main" id="{84965213-1CB3-DA61-889B-5F452778A22F}"/>
              </a:ext>
            </a:extLst>
          </p:cNvPr>
          <p:cNvSpPr>
            <a:spLocks noGrp="1"/>
          </p:cNvSpPr>
          <p:nvPr>
            <p:ph idx="1"/>
          </p:nvPr>
        </p:nvSpPr>
        <p:spPr>
          <a:xfrm>
            <a:off x="177800" y="1238250"/>
            <a:ext cx="11652250" cy="5441950"/>
          </a:xfrm>
        </p:spPr>
        <p:txBody>
          <a:bodyPr/>
          <a:lstStyle/>
          <a:p>
            <a:endParaRPr kumimoji="1" lang="en-US" altLang="zh-TW" dirty="0"/>
          </a:p>
          <a:p>
            <a:r>
              <a:rPr kumimoji="1" lang="en-US" altLang="zh-TW" dirty="0"/>
              <a:t>How CPUs work with slower </a:t>
            </a:r>
            <a:r>
              <a:rPr lang="en-US" altLang="zh-TW" dirty="0"/>
              <a:t>h</a:t>
            </a:r>
            <a:r>
              <a:rPr kumimoji="1" lang="en-US" altLang="zh-TW" dirty="0"/>
              <a:t>ardware </a:t>
            </a:r>
            <a:r>
              <a:rPr lang="en-US" altLang="zh-TW" dirty="0"/>
              <a:t>d</a:t>
            </a:r>
            <a:r>
              <a:rPr kumimoji="1" lang="en-US" altLang="zh-TW" dirty="0"/>
              <a:t>evices</a:t>
            </a:r>
          </a:p>
          <a:p>
            <a:pPr lvl="1"/>
            <a:r>
              <a:rPr lang="en-US" altLang="zh-TW" dirty="0"/>
              <a:t>Polling: Periodically, the </a:t>
            </a:r>
            <a:r>
              <a:rPr lang="en-US" altLang="zh-TW" dirty="0">
                <a:solidFill>
                  <a:srgbClr val="C00000"/>
                </a:solidFill>
              </a:rPr>
              <a:t>kernel checks hardware </a:t>
            </a:r>
            <a:r>
              <a:rPr lang="en-US" altLang="zh-TW" dirty="0"/>
              <a:t>status and responds accordingly.</a:t>
            </a:r>
          </a:p>
          <a:p>
            <a:pPr lvl="1"/>
            <a:r>
              <a:rPr lang="en-US" altLang="zh-TW" dirty="0"/>
              <a:t>Interrupt: Let the </a:t>
            </a:r>
            <a:r>
              <a:rPr lang="en-US" altLang="zh-TW" dirty="0">
                <a:solidFill>
                  <a:srgbClr val="C00000"/>
                </a:solidFill>
              </a:rPr>
              <a:t>hardware to signal</a:t>
            </a:r>
            <a:r>
              <a:rPr lang="en-US" altLang="zh-TW" dirty="0"/>
              <a:t> to the kernel.</a:t>
            </a:r>
            <a:endParaRPr kumimoji="1" lang="en-US" altLang="zh-TW" dirty="0"/>
          </a:p>
          <a:p>
            <a:r>
              <a:rPr kumimoji="1" lang="en-US" altLang="zh-TW" dirty="0"/>
              <a:t>What causes interrupts:</a:t>
            </a:r>
          </a:p>
          <a:p>
            <a:pPr lvl="1"/>
            <a:r>
              <a:rPr kumimoji="1" lang="en-US" altLang="zh-TW" dirty="0"/>
              <a:t>Interrupt (Asynchronous, Hardware </a:t>
            </a:r>
            <a:r>
              <a:rPr lang="en-US" altLang="zh-TW" dirty="0"/>
              <a:t>Interrupts): Hardware devices </a:t>
            </a:r>
            <a:r>
              <a:rPr lang="en-US" altLang="zh-TW" dirty="0">
                <a:solidFill>
                  <a:srgbClr val="C00000"/>
                </a:solidFill>
              </a:rPr>
              <a:t>physically produce electronic signals</a:t>
            </a:r>
            <a:r>
              <a:rPr lang="en-US" altLang="zh-TW" dirty="0"/>
              <a:t>, which are directed into </a:t>
            </a:r>
            <a:r>
              <a:rPr lang="en-US" altLang="zh-TW" dirty="0">
                <a:solidFill>
                  <a:srgbClr val="C00000"/>
                </a:solidFill>
              </a:rPr>
              <a:t>input pins on an interrupt controller </a:t>
            </a:r>
            <a:br>
              <a:rPr lang="en-US" altLang="zh-TW" dirty="0"/>
            </a:br>
            <a:r>
              <a:rPr lang="en-US" altLang="zh-TW" dirty="0"/>
              <a:t>(e.g.,</a:t>
            </a:r>
            <a:r>
              <a:rPr lang="zh-TW" altLang="en-US" dirty="0"/>
              <a:t> </a:t>
            </a:r>
            <a:r>
              <a:rPr lang="en-US" altLang="zh-TW" dirty="0"/>
              <a:t>keyboard,</a:t>
            </a:r>
            <a:r>
              <a:rPr lang="zh-TW" altLang="en-US" dirty="0"/>
              <a:t> </a:t>
            </a:r>
            <a:r>
              <a:rPr lang="en-US" altLang="zh-TW" dirty="0"/>
              <a:t>disk).</a:t>
            </a:r>
            <a:endParaRPr kumimoji="1" lang="en-US" altLang="zh-TW" dirty="0"/>
          </a:p>
          <a:p>
            <a:pPr lvl="1"/>
            <a:r>
              <a:rPr lang="en-US" altLang="zh-TW" dirty="0"/>
              <a:t>Exceptions (Synchronous, Software Interrupts): Exceptions are </a:t>
            </a:r>
            <a:r>
              <a:rPr lang="en-US" altLang="zh-TW" dirty="0">
                <a:solidFill>
                  <a:srgbClr val="C00000"/>
                </a:solidFill>
              </a:rPr>
              <a:t>produced by the processor</a:t>
            </a:r>
            <a:r>
              <a:rPr lang="en-US" altLang="zh-TW" dirty="0"/>
              <a:t> while executing instructions either in response to a </a:t>
            </a:r>
            <a:r>
              <a:rPr lang="en-US" altLang="zh-TW" dirty="0">
                <a:solidFill>
                  <a:srgbClr val="C00000"/>
                </a:solidFill>
              </a:rPr>
              <a:t>programming error</a:t>
            </a:r>
            <a:r>
              <a:rPr lang="zh-TW" altLang="en-US" dirty="0">
                <a:solidFill>
                  <a:srgbClr val="C00000"/>
                </a:solidFill>
              </a:rPr>
              <a:t> </a:t>
            </a:r>
            <a:r>
              <a:rPr lang="en-US" altLang="zh-TW" dirty="0">
                <a:solidFill>
                  <a:schemeClr val="tx1"/>
                </a:solidFill>
              </a:rPr>
              <a:t>(e.g.,</a:t>
            </a:r>
            <a:r>
              <a:rPr lang="zh-TW" altLang="en-US" dirty="0">
                <a:solidFill>
                  <a:schemeClr val="tx1"/>
                </a:solidFill>
              </a:rPr>
              <a:t> </a:t>
            </a:r>
            <a:r>
              <a:rPr lang="en-US" altLang="zh-TW" dirty="0">
                <a:solidFill>
                  <a:schemeClr val="tx1"/>
                </a:solidFill>
              </a:rPr>
              <a:t>divide</a:t>
            </a:r>
            <a:r>
              <a:rPr lang="zh-TW" altLang="en-US" dirty="0">
                <a:solidFill>
                  <a:schemeClr val="tx1"/>
                </a:solidFill>
              </a:rPr>
              <a:t> </a:t>
            </a:r>
            <a:r>
              <a:rPr lang="en-US" altLang="zh-TW" dirty="0">
                <a:solidFill>
                  <a:schemeClr val="tx1"/>
                </a:solidFill>
              </a:rPr>
              <a:t>by</a:t>
            </a:r>
            <a:r>
              <a:rPr lang="zh-TW" altLang="en-US" dirty="0">
                <a:solidFill>
                  <a:schemeClr val="tx1"/>
                </a:solidFill>
              </a:rPr>
              <a:t> </a:t>
            </a:r>
            <a:r>
              <a:rPr lang="en-US" altLang="zh-TW" dirty="0">
                <a:solidFill>
                  <a:schemeClr val="tx1"/>
                </a:solidFill>
              </a:rPr>
              <a:t>zero) </a:t>
            </a:r>
            <a:r>
              <a:rPr lang="en-US" altLang="zh-TW" dirty="0"/>
              <a:t>or</a:t>
            </a:r>
            <a:r>
              <a:rPr lang="zh-TW" altLang="en-US" dirty="0"/>
              <a:t> </a:t>
            </a:r>
            <a:r>
              <a:rPr lang="en-US" altLang="zh-TW" dirty="0">
                <a:solidFill>
                  <a:srgbClr val="C00000"/>
                </a:solidFill>
              </a:rPr>
              <a:t>abnormal</a:t>
            </a:r>
            <a:r>
              <a:rPr lang="zh-TW" altLang="en-US" dirty="0">
                <a:solidFill>
                  <a:srgbClr val="C00000"/>
                </a:solidFill>
              </a:rPr>
              <a:t> </a:t>
            </a:r>
            <a:r>
              <a:rPr lang="en-US" altLang="zh-TW" dirty="0">
                <a:solidFill>
                  <a:srgbClr val="C00000"/>
                </a:solidFill>
              </a:rPr>
              <a:t>condition</a:t>
            </a:r>
            <a:r>
              <a:rPr lang="zh-TW" altLang="en-US" dirty="0"/>
              <a:t> </a:t>
            </a:r>
            <a:r>
              <a:rPr lang="en-US" altLang="zh-TW" dirty="0"/>
              <a:t>(e.g.,</a:t>
            </a:r>
            <a:r>
              <a:rPr lang="zh-TW" altLang="en-US" dirty="0"/>
              <a:t> </a:t>
            </a:r>
            <a:r>
              <a:rPr lang="en-US" altLang="zh-TW" dirty="0"/>
              <a:t>call</a:t>
            </a:r>
            <a:r>
              <a:rPr lang="zh-TW" altLang="en-US" dirty="0"/>
              <a:t> </a:t>
            </a:r>
            <a:r>
              <a:rPr lang="en-US" altLang="zh-TW" dirty="0"/>
              <a:t>a</a:t>
            </a:r>
            <a:r>
              <a:rPr lang="zh-TW" altLang="en-US" dirty="0"/>
              <a:t> </a:t>
            </a:r>
            <a:r>
              <a:rPr lang="en-US" altLang="zh-TW" dirty="0"/>
              <a:t>system</a:t>
            </a:r>
            <a:r>
              <a:rPr lang="zh-TW" altLang="en-US" dirty="0"/>
              <a:t> </a:t>
            </a:r>
            <a:r>
              <a:rPr lang="en-US" altLang="zh-TW" dirty="0"/>
              <a:t>call</a:t>
            </a:r>
            <a:r>
              <a:rPr lang="zh-TW" altLang="en-US" dirty="0"/>
              <a:t> </a:t>
            </a:r>
            <a:r>
              <a:rPr lang="en-US" altLang="zh-TW" dirty="0"/>
              <a:t>or</a:t>
            </a:r>
            <a:r>
              <a:rPr lang="zh-TW" altLang="en-US" dirty="0"/>
              <a:t> </a:t>
            </a:r>
            <a:r>
              <a:rPr lang="en-US" altLang="zh-TW" dirty="0"/>
              <a:t>a</a:t>
            </a:r>
            <a:r>
              <a:rPr lang="zh-TW" altLang="en-US" dirty="0"/>
              <a:t> </a:t>
            </a:r>
            <a:r>
              <a:rPr lang="en-US" altLang="zh-TW" dirty="0"/>
              <a:t>page</a:t>
            </a:r>
            <a:r>
              <a:rPr lang="zh-TW" altLang="en-US" dirty="0"/>
              <a:t> </a:t>
            </a:r>
            <a:r>
              <a:rPr lang="en-US" altLang="zh-TW" dirty="0"/>
              <a:t>fault).</a:t>
            </a:r>
          </a:p>
          <a:p>
            <a:pPr lvl="1"/>
            <a:endParaRPr lang="en-US" altLang="zh-TW" dirty="0"/>
          </a:p>
          <a:p>
            <a:endParaRPr kumimoji="1" lang="en-US" altLang="zh-TW" dirty="0"/>
          </a:p>
        </p:txBody>
      </p:sp>
      <p:sp>
        <p:nvSpPr>
          <p:cNvPr id="4" name="投影片編號版面配置區 3">
            <a:extLst>
              <a:ext uri="{FF2B5EF4-FFF2-40B4-BE49-F238E27FC236}">
                <a16:creationId xmlns:a16="http://schemas.microsoft.com/office/drawing/2014/main" id="{6A06F240-0FEB-9369-0526-9006FD2F28FC}"/>
              </a:ext>
            </a:extLst>
          </p:cNvPr>
          <p:cNvSpPr>
            <a:spLocks noGrp="1"/>
          </p:cNvSpPr>
          <p:nvPr>
            <p:ph type="sldNum" sz="quarter" idx="4"/>
          </p:nvPr>
        </p:nvSpPr>
        <p:spPr/>
        <p:txBody>
          <a:bodyPr/>
          <a:lstStyle/>
          <a:p>
            <a:fld id="{E24E6636-6BA5-4AAC-8485-BE8D914D288B}" type="slidenum">
              <a:rPr lang="zh-TW" altLang="en-US" smtClean="0"/>
              <a:pPr/>
              <a:t>10</a:t>
            </a:fld>
            <a:endParaRPr lang="zh-TW" altLang="en-US" dirty="0"/>
          </a:p>
        </p:txBody>
      </p:sp>
    </p:spTree>
    <p:extLst>
      <p:ext uri="{BB962C8B-B14F-4D97-AF65-F5344CB8AC3E}">
        <p14:creationId xmlns:p14="http://schemas.microsoft.com/office/powerpoint/2010/main" val="3768365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3">
                                            <p:txEl>
                                              <p:pRg st="1" end="1"/>
                                            </p:txEl>
                                          </p:spTgt>
                                        </p:tgtEl>
                                        <p:attrNameLst>
                                          <p:attrName>style.opacity</p:attrName>
                                        </p:attrNameLst>
                                      </p:cBhvr>
                                      <p:to>
                                        <p:strVal val="0.5"/>
                                      </p:to>
                                    </p:set>
                                    <p:animEffect filter="image" prLst="opacity: 0.5">
                                      <p:cBhvr rctx="IE">
                                        <p:cTn id="7" dur="indefinite"/>
                                        <p:tgtEl>
                                          <p:spTgt spid="3">
                                            <p:txEl>
                                              <p:pRg st="1" end="1"/>
                                            </p:txEl>
                                          </p:spTgt>
                                        </p:tgtEl>
                                      </p:cBhvr>
                                    </p:animEffect>
                                  </p:childTnLst>
                                </p:cTn>
                              </p:par>
                              <p:par>
                                <p:cTn id="8" presetID="9" presetClass="emph" presetSubtype="0" nodeType="withEffect">
                                  <p:stCondLst>
                                    <p:cond delay="0"/>
                                  </p:stCondLst>
                                  <p:childTnLst>
                                    <p:set>
                                      <p:cBhvr>
                                        <p:cTn id="9" dur="indefinite"/>
                                        <p:tgtEl>
                                          <p:spTgt spid="3">
                                            <p:txEl>
                                              <p:pRg st="2" end="2"/>
                                            </p:txEl>
                                          </p:spTgt>
                                        </p:tgtEl>
                                        <p:attrNameLst>
                                          <p:attrName>style.opacity</p:attrName>
                                        </p:attrNameLst>
                                      </p:cBhvr>
                                      <p:to>
                                        <p:strVal val="0.5"/>
                                      </p:to>
                                    </p:set>
                                    <p:animEffect filter="image" prLst="opacity: 0.5">
                                      <p:cBhvr rctx="IE">
                                        <p:cTn id="10" dur="indefinite"/>
                                        <p:tgtEl>
                                          <p:spTgt spid="3">
                                            <p:txEl>
                                              <p:pRg st="2" end="2"/>
                                            </p:txEl>
                                          </p:spTgt>
                                        </p:tgtEl>
                                      </p:cBhvr>
                                    </p:animEffect>
                                  </p:childTnLst>
                                </p:cTn>
                              </p:par>
                              <p:par>
                                <p:cTn id="11" presetID="9" presetClass="emph" presetSubtype="0" nodeType="withEffect">
                                  <p:stCondLst>
                                    <p:cond delay="0"/>
                                  </p:stCondLst>
                                  <p:childTnLst>
                                    <p:set>
                                      <p:cBhvr>
                                        <p:cTn id="12" dur="indefinite"/>
                                        <p:tgtEl>
                                          <p:spTgt spid="3">
                                            <p:txEl>
                                              <p:pRg st="3" end="3"/>
                                            </p:txEl>
                                          </p:spTgt>
                                        </p:tgtEl>
                                        <p:attrNameLst>
                                          <p:attrName>style.opacity</p:attrName>
                                        </p:attrNameLst>
                                      </p:cBhvr>
                                      <p:to>
                                        <p:strVal val="0.5"/>
                                      </p:to>
                                    </p:set>
                                    <p:animEffect filter="image" prLst="opacity: 0.5">
                                      <p:cBhvr rctx="IE">
                                        <p:cTn id="13" dur="indefinite"/>
                                        <p:tgtEl>
                                          <p:spTgt spid="3">
                                            <p:txEl>
                                              <p:pRg st="3" end="3"/>
                                            </p:txEl>
                                          </p:spTgt>
                                        </p:tgtEl>
                                      </p:cBhvr>
                                    </p:animEffect>
                                  </p:childTnLst>
                                </p:cTn>
                              </p:par>
                              <p:par>
                                <p:cTn id="14" presetID="9" presetClass="emph" presetSubtype="0" nodeType="withEffect">
                                  <p:stCondLst>
                                    <p:cond delay="0"/>
                                  </p:stCondLst>
                                  <p:childTnLst>
                                    <p:set>
                                      <p:cBhvr>
                                        <p:cTn id="15" dur="indefinite"/>
                                        <p:tgtEl>
                                          <p:spTgt spid="3">
                                            <p:txEl>
                                              <p:pRg st="5" end="5"/>
                                            </p:txEl>
                                          </p:spTgt>
                                        </p:tgtEl>
                                        <p:attrNameLst>
                                          <p:attrName>style.opacity</p:attrName>
                                        </p:attrNameLst>
                                      </p:cBhvr>
                                      <p:to>
                                        <p:strVal val="0.5"/>
                                      </p:to>
                                    </p:set>
                                    <p:animEffect filter="image" prLst="opacity: 0.5">
                                      <p:cBhvr rctx="IE">
                                        <p:cTn id="16" dur="indefinite"/>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BAA54BE-2718-3EB9-2482-AF6DAE82945A}"/>
              </a:ext>
            </a:extLst>
          </p:cNvPr>
          <p:cNvSpPr>
            <a:spLocks noGrp="1"/>
          </p:cNvSpPr>
          <p:nvPr>
            <p:ph idx="1"/>
          </p:nvPr>
        </p:nvSpPr>
        <p:spPr>
          <a:xfrm>
            <a:off x="15240" y="1268697"/>
            <a:ext cx="7457615" cy="5441950"/>
          </a:xfrm>
        </p:spPr>
        <p:txBody>
          <a:bodyPr>
            <a:normAutofit/>
          </a:bodyPr>
          <a:lstStyle/>
          <a:p>
            <a:r>
              <a:rPr kumimoji="1" lang="en-US" altLang="zh-TW" dirty="0">
                <a:solidFill>
                  <a:srgbClr val="C00000"/>
                </a:solidFill>
              </a:rPr>
              <a:t>Different devices </a:t>
            </a:r>
            <a:r>
              <a:rPr kumimoji="1" lang="en-US" altLang="zh-TW" dirty="0"/>
              <a:t>can be associated with different interrupts by means of a </a:t>
            </a:r>
            <a:r>
              <a:rPr kumimoji="1" lang="en-US" altLang="zh-TW" dirty="0">
                <a:solidFill>
                  <a:srgbClr val="C00000"/>
                </a:solidFill>
              </a:rPr>
              <a:t>unique interrupt value (max: 256) </a:t>
            </a:r>
            <a:r>
              <a:rPr kumimoji="1" lang="en-US" altLang="zh-TW" dirty="0"/>
              <a:t>associated with each interrupt (Just like system call!)</a:t>
            </a:r>
            <a:endParaRPr lang="en-US" altLang="zh-TW" dirty="0"/>
          </a:p>
          <a:p>
            <a:r>
              <a:rPr kumimoji="1" lang="en-US" altLang="zh-TW" dirty="0"/>
              <a:t>Interrupt Request (IRQ): </a:t>
            </a:r>
          </a:p>
          <a:p>
            <a:pPr lvl="1"/>
            <a:r>
              <a:rPr lang="en-US" altLang="zh-TW" dirty="0">
                <a:solidFill>
                  <a:srgbClr val="C00000"/>
                </a:solidFill>
              </a:rPr>
              <a:t>Specific interrupt </a:t>
            </a:r>
            <a:r>
              <a:rPr lang="en-US" altLang="zh-TW" dirty="0"/>
              <a:t>is associated with </a:t>
            </a:r>
            <a:r>
              <a:rPr lang="en-US" altLang="zh-TW" dirty="0">
                <a:solidFill>
                  <a:srgbClr val="C00000"/>
                </a:solidFill>
              </a:rPr>
              <a:t>a specific device</a:t>
            </a:r>
            <a:r>
              <a:rPr lang="en-US" altLang="zh-TW" dirty="0"/>
              <a:t>, </a:t>
            </a:r>
          </a:p>
          <a:p>
            <a:pPr marL="457200" lvl="1" indent="0">
              <a:buNone/>
            </a:pPr>
            <a:r>
              <a:rPr lang="en-US" altLang="zh-TW" dirty="0"/>
              <a:t>and the </a:t>
            </a:r>
            <a:r>
              <a:rPr lang="en-US" altLang="zh-TW" dirty="0">
                <a:solidFill>
                  <a:srgbClr val="C00000"/>
                </a:solidFill>
              </a:rPr>
              <a:t>kernel knows this. </a:t>
            </a:r>
            <a:r>
              <a:rPr lang="en-US" altLang="zh-TW" dirty="0">
                <a:solidFill>
                  <a:schemeClr val="tx1"/>
                </a:solidFill>
              </a:rPr>
              <a:t>(Assigned during boot)</a:t>
            </a:r>
          </a:p>
          <a:p>
            <a:pPr lvl="1"/>
            <a:r>
              <a:rPr lang="en-US" altLang="zh-TW" dirty="0"/>
              <a:t>IRQ 0 </a:t>
            </a:r>
            <a:r>
              <a:rPr lang="en-US" altLang="zh-TW" dirty="0">
                <a:sym typeface="Wingdings" pitchFamily="2" charset="2"/>
              </a:rPr>
              <a:t> timer interrupt</a:t>
            </a:r>
          </a:p>
          <a:p>
            <a:pPr lvl="1"/>
            <a:r>
              <a:rPr lang="en-US" altLang="zh-TW" dirty="0">
                <a:sym typeface="Wingdings" pitchFamily="2" charset="2"/>
              </a:rPr>
              <a:t>IRQ 1  keyboard interrupt</a:t>
            </a:r>
          </a:p>
          <a:p>
            <a:pPr lvl="1"/>
            <a:r>
              <a:rPr lang="en-US" altLang="zh-TW" dirty="0">
                <a:sym typeface="Wingdings" pitchFamily="2" charset="2"/>
              </a:rPr>
              <a:t>Dynamically Allocate IRQ #  PCI devices</a:t>
            </a:r>
            <a:endParaRPr kumimoji="1" lang="en-US" altLang="zh-TW" dirty="0"/>
          </a:p>
        </p:txBody>
      </p:sp>
      <p:sp>
        <p:nvSpPr>
          <p:cNvPr id="2" name="標題 1">
            <a:extLst>
              <a:ext uri="{FF2B5EF4-FFF2-40B4-BE49-F238E27FC236}">
                <a16:creationId xmlns:a16="http://schemas.microsoft.com/office/drawing/2014/main" id="{76615A16-456A-C4C1-A53C-A28B3FE56ECA}"/>
              </a:ext>
            </a:extLst>
          </p:cNvPr>
          <p:cNvSpPr>
            <a:spLocks noGrp="1"/>
          </p:cNvSpPr>
          <p:nvPr>
            <p:ph type="title"/>
          </p:nvPr>
        </p:nvSpPr>
        <p:spPr/>
        <p:txBody>
          <a:bodyPr/>
          <a:lstStyle/>
          <a:p>
            <a:r>
              <a:rPr kumimoji="1" lang="en-US" altLang="zh-TW" dirty="0"/>
              <a:t>Interrup</a:t>
            </a:r>
            <a:r>
              <a:rPr lang="en-US" altLang="zh-TW" dirty="0"/>
              <a:t>t Request (IRQ)</a:t>
            </a:r>
            <a:endParaRPr kumimoji="1" lang="zh-TW" altLang="en-US" dirty="0"/>
          </a:p>
        </p:txBody>
      </p:sp>
      <p:sp>
        <p:nvSpPr>
          <p:cNvPr id="4" name="投影片編號版面配置區 3">
            <a:extLst>
              <a:ext uri="{FF2B5EF4-FFF2-40B4-BE49-F238E27FC236}">
                <a16:creationId xmlns:a16="http://schemas.microsoft.com/office/drawing/2014/main" id="{C49BE4F4-D949-1DDD-A02A-D9593B004A8C}"/>
              </a:ext>
            </a:extLst>
          </p:cNvPr>
          <p:cNvSpPr>
            <a:spLocks noGrp="1"/>
          </p:cNvSpPr>
          <p:nvPr>
            <p:ph type="sldNum" sz="quarter" idx="4"/>
          </p:nvPr>
        </p:nvSpPr>
        <p:spPr/>
        <p:txBody>
          <a:bodyPr/>
          <a:lstStyle/>
          <a:p>
            <a:fld id="{E24E6636-6BA5-4AAC-8485-BE8D914D288B}" type="slidenum">
              <a:rPr lang="zh-TW" altLang="en-US" smtClean="0"/>
              <a:pPr/>
              <a:t>11</a:t>
            </a:fld>
            <a:endParaRPr lang="zh-TW" altLang="en-US" dirty="0"/>
          </a:p>
        </p:txBody>
      </p:sp>
      <p:grpSp>
        <p:nvGrpSpPr>
          <p:cNvPr id="136" name="群組 135">
            <a:extLst>
              <a:ext uri="{FF2B5EF4-FFF2-40B4-BE49-F238E27FC236}">
                <a16:creationId xmlns:a16="http://schemas.microsoft.com/office/drawing/2014/main" id="{4825A023-26C7-3A1A-B53F-414B99B74BDB}"/>
              </a:ext>
            </a:extLst>
          </p:cNvPr>
          <p:cNvGrpSpPr/>
          <p:nvPr/>
        </p:nvGrpSpPr>
        <p:grpSpPr>
          <a:xfrm>
            <a:off x="7315200" y="898897"/>
            <a:ext cx="4614861" cy="5983734"/>
            <a:chOff x="7315200" y="961251"/>
            <a:chExt cx="4614861" cy="5983734"/>
          </a:xfrm>
        </p:grpSpPr>
        <p:pic>
          <p:nvPicPr>
            <p:cNvPr id="130" name="圖片 129">
              <a:extLst>
                <a:ext uri="{FF2B5EF4-FFF2-40B4-BE49-F238E27FC236}">
                  <a16:creationId xmlns:a16="http://schemas.microsoft.com/office/drawing/2014/main" id="{21A2EFC8-AFB5-606E-D7EF-35FE506D44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9894" y="1145627"/>
              <a:ext cx="4060167" cy="5701259"/>
            </a:xfrm>
            <a:prstGeom prst="rect">
              <a:avLst/>
            </a:prstGeom>
          </p:spPr>
        </p:pic>
        <p:sp>
          <p:nvSpPr>
            <p:cNvPr id="131" name="文字方塊 130">
              <a:extLst>
                <a:ext uri="{FF2B5EF4-FFF2-40B4-BE49-F238E27FC236}">
                  <a16:creationId xmlns:a16="http://schemas.microsoft.com/office/drawing/2014/main" id="{6726A730-B7B7-1058-2240-D5E52B0F0091}"/>
                </a:ext>
              </a:extLst>
            </p:cNvPr>
            <p:cNvSpPr txBox="1"/>
            <p:nvPr/>
          </p:nvSpPr>
          <p:spPr>
            <a:xfrm>
              <a:off x="7315200" y="961251"/>
              <a:ext cx="2226443" cy="276999"/>
            </a:xfrm>
            <a:prstGeom prst="rect">
              <a:avLst/>
            </a:prstGeom>
            <a:noFill/>
          </p:spPr>
          <p:txBody>
            <a:bodyPr wrap="none" rtlCol="0">
              <a:spAutoFit/>
            </a:bodyPr>
            <a:lstStyle/>
            <a:p>
              <a:r>
                <a:rPr kumimoji="1" lang="en-US" altLang="zh-TW" sz="1200" dirty="0">
                  <a:solidFill>
                    <a:srgbClr val="C00000"/>
                  </a:solidFill>
                  <a:latin typeface="Arial" panose="020B0604020202020204" pitchFamily="34" charset="0"/>
                  <a:cs typeface="Arial" panose="020B0604020202020204" pitchFamily="34" charset="0"/>
                </a:rPr>
                <a:t>Interrupt Vector Number (IVN)</a:t>
              </a:r>
              <a:endParaRPr kumimoji="1" lang="zh-TW" altLang="en-US" sz="1200" dirty="0">
                <a:solidFill>
                  <a:srgbClr val="C00000"/>
                </a:solidFill>
                <a:latin typeface="Arial" panose="020B0604020202020204" pitchFamily="34" charset="0"/>
                <a:cs typeface="Arial" panose="020B0604020202020204" pitchFamily="34" charset="0"/>
              </a:endParaRPr>
            </a:p>
          </p:txBody>
        </p:sp>
        <p:sp>
          <p:nvSpPr>
            <p:cNvPr id="132" name="矩形 131">
              <a:extLst>
                <a:ext uri="{FF2B5EF4-FFF2-40B4-BE49-F238E27FC236}">
                  <a16:creationId xmlns:a16="http://schemas.microsoft.com/office/drawing/2014/main" id="{8FC626F8-B53E-97DD-D1A6-82E8C1540382}"/>
                </a:ext>
              </a:extLst>
            </p:cNvPr>
            <p:cNvSpPr/>
            <p:nvPr/>
          </p:nvSpPr>
          <p:spPr>
            <a:xfrm>
              <a:off x="9965094" y="2341983"/>
              <a:ext cx="1073019" cy="91440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3" name="矩形 132">
              <a:extLst>
                <a:ext uri="{FF2B5EF4-FFF2-40B4-BE49-F238E27FC236}">
                  <a16:creationId xmlns:a16="http://schemas.microsoft.com/office/drawing/2014/main" id="{79FB7783-4265-94F8-4ACA-0E2606FE705F}"/>
                </a:ext>
              </a:extLst>
            </p:cNvPr>
            <p:cNvSpPr/>
            <p:nvPr/>
          </p:nvSpPr>
          <p:spPr>
            <a:xfrm>
              <a:off x="9965094" y="5060301"/>
              <a:ext cx="1073019" cy="91440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4" name="矩形 133">
              <a:extLst>
                <a:ext uri="{FF2B5EF4-FFF2-40B4-BE49-F238E27FC236}">
                  <a16:creationId xmlns:a16="http://schemas.microsoft.com/office/drawing/2014/main" id="{BDD75351-F0AA-FCF5-35CA-E4D19BFD2B00}"/>
                </a:ext>
              </a:extLst>
            </p:cNvPr>
            <p:cNvSpPr/>
            <p:nvPr/>
          </p:nvSpPr>
          <p:spPr>
            <a:xfrm>
              <a:off x="11210198" y="6083558"/>
              <a:ext cx="504000" cy="450979"/>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5" name="文字方塊 134">
              <a:extLst>
                <a:ext uri="{FF2B5EF4-FFF2-40B4-BE49-F238E27FC236}">
                  <a16:creationId xmlns:a16="http://schemas.microsoft.com/office/drawing/2014/main" id="{0C7D2FBA-0DAB-686B-5262-E500C37EADDD}"/>
                </a:ext>
              </a:extLst>
            </p:cNvPr>
            <p:cNvSpPr txBox="1"/>
            <p:nvPr/>
          </p:nvSpPr>
          <p:spPr>
            <a:xfrm>
              <a:off x="8910529" y="6421765"/>
              <a:ext cx="2299669" cy="523220"/>
            </a:xfrm>
            <a:prstGeom prst="rect">
              <a:avLst/>
            </a:prstGeom>
            <a:noFill/>
          </p:spPr>
          <p:txBody>
            <a:bodyPr wrap="none" rtlCol="0">
              <a:spAutoFit/>
            </a:bodyPr>
            <a:lstStyle/>
            <a:p>
              <a:pPr algn="ctr"/>
              <a:r>
                <a:rPr kumimoji="1" lang="en-US" altLang="zh-TW" sz="1400" dirty="0">
                  <a:latin typeface="Arial" panose="020B0604020202020204" pitchFamily="34" charset="0"/>
                  <a:cs typeface="Arial" panose="020B0604020202020204" pitchFamily="34" charset="0"/>
                </a:rPr>
                <a:t>X86 Interrupt Vector Table </a:t>
              </a:r>
            </a:p>
            <a:p>
              <a:pPr algn="ctr"/>
              <a:r>
                <a:rPr kumimoji="1" lang="en-US" altLang="zh-TW" sz="1400" dirty="0">
                  <a:latin typeface="Arial" panose="020B0604020202020204" pitchFamily="34" charset="0"/>
                  <a:cs typeface="Arial" panose="020B0604020202020204" pitchFamily="34" charset="0"/>
                </a:rPr>
                <a:t>(Arch Dependent)</a:t>
              </a:r>
              <a:endParaRPr kumimoji="1" lang="zh-TW" altLang="en-US" sz="1400" dirty="0">
                <a:latin typeface="Arial" panose="020B0604020202020204" pitchFamily="34" charset="0"/>
                <a:cs typeface="Arial" panose="020B0604020202020204" pitchFamily="34" charset="0"/>
              </a:endParaRPr>
            </a:p>
          </p:txBody>
        </p:sp>
      </p:grpSp>
      <p:sp>
        <p:nvSpPr>
          <p:cNvPr id="137" name="文字方塊 136">
            <a:extLst>
              <a:ext uri="{FF2B5EF4-FFF2-40B4-BE49-F238E27FC236}">
                <a16:creationId xmlns:a16="http://schemas.microsoft.com/office/drawing/2014/main" id="{4ED23327-9DDA-A278-B981-65E645654128}"/>
              </a:ext>
            </a:extLst>
          </p:cNvPr>
          <p:cNvSpPr txBox="1"/>
          <p:nvPr/>
        </p:nvSpPr>
        <p:spPr>
          <a:xfrm>
            <a:off x="0" y="6572147"/>
            <a:ext cx="7084440" cy="276999"/>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Fan, </a:t>
            </a:r>
            <a:r>
              <a:rPr kumimoji="1" lang="en-US" altLang="zh-TW" sz="1200" dirty="0" err="1">
                <a:solidFill>
                  <a:schemeClr val="bg1">
                    <a:lumMod val="75000"/>
                  </a:schemeClr>
                </a:solidFill>
              </a:rPr>
              <a:t>Xiaocong</a:t>
            </a:r>
            <a:r>
              <a:rPr kumimoji="1" lang="en-US" altLang="zh-TW" sz="1200" dirty="0">
                <a:solidFill>
                  <a:schemeClr val="bg1">
                    <a:lumMod val="75000"/>
                  </a:schemeClr>
                </a:solidFill>
              </a:rPr>
              <a:t>. Real-time embedded systems: design principles and engineering practices. </a:t>
            </a:r>
            <a:r>
              <a:rPr kumimoji="1" lang="en-US" altLang="zh-TW" sz="1200" dirty="0" err="1">
                <a:solidFill>
                  <a:schemeClr val="bg1">
                    <a:lumMod val="75000"/>
                  </a:schemeClr>
                </a:solidFill>
              </a:rPr>
              <a:t>Newnes</a:t>
            </a:r>
            <a:r>
              <a:rPr kumimoji="1" lang="en-US" altLang="zh-TW" sz="1200" dirty="0">
                <a:solidFill>
                  <a:schemeClr val="bg1">
                    <a:lumMod val="75000"/>
                  </a:schemeClr>
                </a:solidFill>
              </a:rPr>
              <a:t>, 2015.</a:t>
            </a:r>
          </a:p>
        </p:txBody>
      </p:sp>
      <p:sp>
        <p:nvSpPr>
          <p:cNvPr id="138" name="橢圓 137">
            <a:extLst>
              <a:ext uri="{FF2B5EF4-FFF2-40B4-BE49-F238E27FC236}">
                <a16:creationId xmlns:a16="http://schemas.microsoft.com/office/drawing/2014/main" id="{2BD87CEE-7EEF-0785-DA3E-A0B34CE4DDA1}"/>
              </a:ext>
            </a:extLst>
          </p:cNvPr>
          <p:cNvSpPr/>
          <p:nvPr/>
        </p:nvSpPr>
        <p:spPr>
          <a:xfrm>
            <a:off x="7896021" y="6490155"/>
            <a:ext cx="391609" cy="332706"/>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45778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6"/>
                                        </p:tgtEl>
                                        <p:attrNameLst>
                                          <p:attrName>style.visibility</p:attrName>
                                        </p:attrNameLst>
                                      </p:cBhvr>
                                      <p:to>
                                        <p:strVal val="visible"/>
                                      </p:to>
                                    </p:set>
                                    <p:animEffect transition="in" filter="fade">
                                      <p:cBhvr>
                                        <p:cTn id="29" dur="500"/>
                                        <p:tgtEl>
                                          <p:spTgt spid="13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8"/>
                                        </p:tgtEl>
                                        <p:attrNameLst>
                                          <p:attrName>style.visibility</p:attrName>
                                        </p:attrNameLst>
                                      </p:cBhvr>
                                      <p:to>
                                        <p:strVal val="visible"/>
                                      </p:to>
                                    </p:set>
                                    <p:animEffect transition="in" filter="fade">
                                      <p:cBhvr>
                                        <p:cTn id="34"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BAA54BE-2718-3EB9-2482-AF6DAE82945A}"/>
              </a:ext>
            </a:extLst>
          </p:cNvPr>
          <p:cNvSpPr>
            <a:spLocks noGrp="1"/>
          </p:cNvSpPr>
          <p:nvPr>
            <p:ph idx="1"/>
          </p:nvPr>
        </p:nvSpPr>
        <p:spPr>
          <a:xfrm>
            <a:off x="15240" y="1268697"/>
            <a:ext cx="7469943" cy="5441950"/>
          </a:xfrm>
        </p:spPr>
        <p:txBody>
          <a:bodyPr>
            <a:normAutofit/>
          </a:bodyPr>
          <a:lstStyle/>
          <a:p>
            <a:pPr algn="l"/>
            <a:r>
              <a:rPr lang="en-US" altLang="zh-TW" dirty="0"/>
              <a:t>How an interrupt works:</a:t>
            </a:r>
          </a:p>
          <a:p>
            <a:pPr lvl="1" algn="l"/>
            <a:r>
              <a:rPr kumimoji="1" lang="en-US" altLang="zh-TW" dirty="0"/>
              <a:t>Hardware devices send out </a:t>
            </a:r>
            <a:r>
              <a:rPr lang="en-US" altLang="zh-TW" dirty="0"/>
              <a:t>an </a:t>
            </a:r>
            <a:r>
              <a:rPr lang="en-US" altLang="zh-TW" dirty="0">
                <a:solidFill>
                  <a:srgbClr val="C00000"/>
                </a:solidFill>
              </a:rPr>
              <a:t>interrupt signal</a:t>
            </a:r>
            <a:r>
              <a:rPr lang="en-US" altLang="zh-TW" dirty="0"/>
              <a:t>.</a:t>
            </a:r>
            <a:endParaRPr kumimoji="1" lang="en-US" altLang="zh-TW" dirty="0"/>
          </a:p>
          <a:p>
            <a:pPr lvl="1" algn="l"/>
            <a:r>
              <a:rPr kumimoji="1" lang="en-US" altLang="zh-TW" dirty="0"/>
              <a:t>The CPU</a:t>
            </a:r>
            <a:r>
              <a:rPr kumimoji="1" lang="zh-TW" altLang="en-US" dirty="0"/>
              <a:t> </a:t>
            </a:r>
            <a:r>
              <a:rPr kumimoji="1" lang="en-US" altLang="zh-TW" dirty="0"/>
              <a:t>stops </a:t>
            </a:r>
            <a:r>
              <a:rPr lang="en-US" altLang="zh-TW" dirty="0"/>
              <a:t>current execution.</a:t>
            </a:r>
          </a:p>
          <a:p>
            <a:pPr lvl="1" algn="l"/>
            <a:r>
              <a:rPr lang="en-US" altLang="zh-TW" dirty="0"/>
              <a:t>The interrupt controller sends </a:t>
            </a:r>
            <a:r>
              <a:rPr lang="en-US" altLang="zh-TW" dirty="0">
                <a:solidFill>
                  <a:srgbClr val="C00000"/>
                </a:solidFill>
              </a:rPr>
              <a:t>INT</a:t>
            </a:r>
            <a:r>
              <a:rPr lang="zh-TW" altLang="en-US" dirty="0">
                <a:solidFill>
                  <a:srgbClr val="C00000"/>
                </a:solidFill>
              </a:rPr>
              <a:t> </a:t>
            </a:r>
            <a:r>
              <a:rPr lang="en-US" altLang="zh-TW" dirty="0">
                <a:solidFill>
                  <a:srgbClr val="C00000"/>
                </a:solidFill>
              </a:rPr>
              <a:t>#</a:t>
            </a:r>
            <a:r>
              <a:rPr lang="zh-TW" altLang="en-US" dirty="0"/>
              <a:t> </a:t>
            </a:r>
            <a:r>
              <a:rPr lang="en-US" altLang="zh-TW" dirty="0"/>
              <a:t>to the CPU.</a:t>
            </a:r>
          </a:p>
          <a:p>
            <a:pPr lvl="1" algn="l"/>
            <a:r>
              <a:rPr lang="en-US" altLang="zh-TW" dirty="0"/>
              <a:t>CPU</a:t>
            </a:r>
            <a:r>
              <a:rPr lang="zh-TW" altLang="en-US" dirty="0"/>
              <a:t> </a:t>
            </a:r>
            <a:r>
              <a:rPr lang="en-US" altLang="zh-TW" dirty="0">
                <a:solidFill>
                  <a:srgbClr val="C00000"/>
                </a:solidFill>
              </a:rPr>
              <a:t>accesses</a:t>
            </a:r>
            <a:r>
              <a:rPr lang="zh-TW" altLang="en-US" dirty="0">
                <a:solidFill>
                  <a:srgbClr val="C00000"/>
                </a:solidFill>
              </a:rPr>
              <a:t> </a:t>
            </a:r>
            <a:r>
              <a:rPr lang="en-US" altLang="zh-TW" dirty="0">
                <a:solidFill>
                  <a:srgbClr val="C00000"/>
                </a:solidFill>
              </a:rPr>
              <a:t>the</a:t>
            </a:r>
            <a:r>
              <a:rPr lang="zh-TW" altLang="en-US" dirty="0">
                <a:solidFill>
                  <a:srgbClr val="C00000"/>
                </a:solidFill>
              </a:rPr>
              <a:t> </a:t>
            </a:r>
            <a:r>
              <a:rPr lang="en-US" altLang="zh-TW" dirty="0">
                <a:solidFill>
                  <a:srgbClr val="C00000"/>
                </a:solidFill>
              </a:rPr>
              <a:t>Interrupt</a:t>
            </a:r>
            <a:r>
              <a:rPr lang="zh-TW" altLang="en-US" dirty="0">
                <a:solidFill>
                  <a:srgbClr val="C00000"/>
                </a:solidFill>
              </a:rPr>
              <a:t> </a:t>
            </a:r>
            <a:r>
              <a:rPr lang="en-US" altLang="zh-TW" dirty="0">
                <a:solidFill>
                  <a:srgbClr val="C00000"/>
                </a:solidFill>
              </a:rPr>
              <a:t>Vector</a:t>
            </a:r>
            <a:r>
              <a:rPr lang="zh-TW" altLang="en-US" dirty="0">
                <a:solidFill>
                  <a:srgbClr val="C00000"/>
                </a:solidFill>
              </a:rPr>
              <a:t> </a:t>
            </a:r>
            <a:r>
              <a:rPr lang="en-US" altLang="zh-TW" dirty="0">
                <a:solidFill>
                  <a:srgbClr val="C00000"/>
                </a:solidFill>
              </a:rPr>
              <a:t>Table</a:t>
            </a:r>
            <a:r>
              <a:rPr lang="zh-TW" altLang="en-US" dirty="0">
                <a:solidFill>
                  <a:srgbClr val="C00000"/>
                </a:solidFill>
              </a:rPr>
              <a:t> </a:t>
            </a:r>
            <a:r>
              <a:rPr lang="en-US" altLang="zh-TW" dirty="0"/>
              <a:t>by</a:t>
            </a:r>
            <a:r>
              <a:rPr lang="zh-TW" altLang="en-US" dirty="0"/>
              <a:t> </a:t>
            </a:r>
            <a:r>
              <a:rPr lang="en-US" altLang="zh-TW" dirty="0"/>
              <a:t>INT</a:t>
            </a:r>
            <a:r>
              <a:rPr lang="zh-TW" altLang="en-US" dirty="0"/>
              <a:t> </a:t>
            </a:r>
            <a:r>
              <a:rPr lang="en-US" altLang="zh-TW" dirty="0"/>
              <a:t>#</a:t>
            </a:r>
            <a:r>
              <a:rPr lang="zh-TW" altLang="en-US" dirty="0"/>
              <a:t> * </a:t>
            </a:r>
            <a:r>
              <a:rPr lang="en-US" altLang="zh-TW" dirty="0"/>
              <a:t>4</a:t>
            </a:r>
          </a:p>
          <a:p>
            <a:pPr lvl="1" algn="l"/>
            <a:r>
              <a:rPr kumimoji="1" lang="en-US" altLang="zh-TW" dirty="0"/>
              <a:t>The CPU runs the</a:t>
            </a:r>
            <a:r>
              <a:rPr kumimoji="1" lang="zh-TW" altLang="en-US" dirty="0"/>
              <a:t> </a:t>
            </a:r>
            <a:r>
              <a:rPr kumimoji="1" lang="en-US" altLang="zh-TW" dirty="0">
                <a:solidFill>
                  <a:srgbClr val="C00000"/>
                </a:solidFill>
              </a:rPr>
              <a:t>interrupt</a:t>
            </a:r>
            <a:r>
              <a:rPr kumimoji="1" lang="zh-TW" altLang="en-US" dirty="0">
                <a:solidFill>
                  <a:srgbClr val="C00000"/>
                </a:solidFill>
              </a:rPr>
              <a:t> </a:t>
            </a:r>
            <a:r>
              <a:rPr kumimoji="1" lang="en-US" altLang="zh-TW" dirty="0">
                <a:solidFill>
                  <a:srgbClr val="C00000"/>
                </a:solidFill>
              </a:rPr>
              <a:t>service</a:t>
            </a:r>
            <a:r>
              <a:rPr kumimoji="1" lang="zh-TW" altLang="en-US" dirty="0">
                <a:solidFill>
                  <a:srgbClr val="C00000"/>
                </a:solidFill>
              </a:rPr>
              <a:t> </a:t>
            </a:r>
            <a:r>
              <a:rPr kumimoji="1" lang="en-US" altLang="zh-TW" dirty="0">
                <a:solidFill>
                  <a:srgbClr val="C00000"/>
                </a:solidFill>
              </a:rPr>
              <a:t>routine</a:t>
            </a:r>
            <a:r>
              <a:rPr lang="en-US" altLang="zh-TW" dirty="0"/>
              <a:t> to handle the interrupt.</a:t>
            </a:r>
            <a:endParaRPr kumimoji="1" lang="en-US" altLang="zh-TW" dirty="0"/>
          </a:p>
        </p:txBody>
      </p:sp>
      <p:sp>
        <p:nvSpPr>
          <p:cNvPr id="2" name="標題 1">
            <a:extLst>
              <a:ext uri="{FF2B5EF4-FFF2-40B4-BE49-F238E27FC236}">
                <a16:creationId xmlns:a16="http://schemas.microsoft.com/office/drawing/2014/main" id="{76615A16-456A-C4C1-A53C-A28B3FE56ECA}"/>
              </a:ext>
            </a:extLst>
          </p:cNvPr>
          <p:cNvSpPr>
            <a:spLocks noGrp="1"/>
          </p:cNvSpPr>
          <p:nvPr>
            <p:ph type="title"/>
          </p:nvPr>
        </p:nvSpPr>
        <p:spPr/>
        <p:txBody>
          <a:bodyPr/>
          <a:lstStyle/>
          <a:p>
            <a:r>
              <a:rPr kumimoji="1" lang="en-US" altLang="zh-TW" dirty="0"/>
              <a:t>How an Interrupt Works</a:t>
            </a:r>
            <a:endParaRPr kumimoji="1" lang="zh-TW" altLang="en-US" dirty="0"/>
          </a:p>
        </p:txBody>
      </p:sp>
      <p:sp>
        <p:nvSpPr>
          <p:cNvPr id="4" name="投影片編號版面配置區 3">
            <a:extLst>
              <a:ext uri="{FF2B5EF4-FFF2-40B4-BE49-F238E27FC236}">
                <a16:creationId xmlns:a16="http://schemas.microsoft.com/office/drawing/2014/main" id="{C49BE4F4-D949-1DDD-A02A-D9593B004A8C}"/>
              </a:ext>
            </a:extLst>
          </p:cNvPr>
          <p:cNvSpPr>
            <a:spLocks noGrp="1"/>
          </p:cNvSpPr>
          <p:nvPr>
            <p:ph type="sldNum" sz="quarter" idx="4"/>
          </p:nvPr>
        </p:nvSpPr>
        <p:spPr/>
        <p:txBody>
          <a:bodyPr/>
          <a:lstStyle/>
          <a:p>
            <a:fld id="{E24E6636-6BA5-4AAC-8485-BE8D914D288B}" type="slidenum">
              <a:rPr lang="zh-TW" altLang="en-US" smtClean="0"/>
              <a:pPr/>
              <a:t>12</a:t>
            </a:fld>
            <a:endParaRPr lang="zh-TW" altLang="en-US" dirty="0"/>
          </a:p>
        </p:txBody>
      </p:sp>
      <p:sp>
        <p:nvSpPr>
          <p:cNvPr id="5" name="矩形 4">
            <a:extLst>
              <a:ext uri="{FF2B5EF4-FFF2-40B4-BE49-F238E27FC236}">
                <a16:creationId xmlns:a16="http://schemas.microsoft.com/office/drawing/2014/main" id="{CAEF2BCE-7D0E-7A84-2ADD-1C16554F4880}"/>
              </a:ext>
            </a:extLst>
          </p:cNvPr>
          <p:cNvSpPr/>
          <p:nvPr/>
        </p:nvSpPr>
        <p:spPr>
          <a:xfrm>
            <a:off x="7637012" y="1426586"/>
            <a:ext cx="4152745" cy="439871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zh-TW" sz="1400" dirty="0">
                <a:solidFill>
                  <a:schemeClr val="tx1"/>
                </a:solidFill>
                <a:latin typeface="Arial" panose="020B0604020202020204" pitchFamily="34" charset="0"/>
                <a:cs typeface="Arial" panose="020B0604020202020204" pitchFamily="34" charset="0"/>
              </a:rPr>
              <a:t>Motherboard</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24" name="矩形 23">
            <a:extLst>
              <a:ext uri="{FF2B5EF4-FFF2-40B4-BE49-F238E27FC236}">
                <a16:creationId xmlns:a16="http://schemas.microsoft.com/office/drawing/2014/main" id="{CD01B13C-6B20-A08A-3C11-7D003DAA2E5C}"/>
              </a:ext>
            </a:extLst>
          </p:cNvPr>
          <p:cNvSpPr/>
          <p:nvPr/>
        </p:nvSpPr>
        <p:spPr>
          <a:xfrm>
            <a:off x="7986641" y="4129696"/>
            <a:ext cx="2145030" cy="134190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Southbridge</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lumMod val="50000"/>
                    <a:lumOff val="50000"/>
                  </a:schemeClr>
                </a:solidFill>
                <a:latin typeface="Arial" panose="020B0604020202020204" pitchFamily="34" charset="0"/>
                <a:cs typeface="Arial" panose="020B0604020202020204" pitchFamily="34" charset="0"/>
              </a:rPr>
              <a:t>(I/O Controller Hub)</a:t>
            </a:r>
            <a:endParaRPr kumimoji="1" lang="zh-TW" altLang="en-US" sz="1400" dirty="0">
              <a:solidFill>
                <a:schemeClr val="tx1">
                  <a:lumMod val="50000"/>
                  <a:lumOff val="50000"/>
                </a:schemeClr>
              </a:solidFill>
              <a:latin typeface="Arial" panose="020B0604020202020204" pitchFamily="34" charset="0"/>
              <a:cs typeface="Arial" panose="020B0604020202020204" pitchFamily="34" charset="0"/>
            </a:endParaRPr>
          </a:p>
        </p:txBody>
      </p:sp>
      <p:cxnSp>
        <p:nvCxnSpPr>
          <p:cNvPr id="34" name="直線接點 33">
            <a:extLst>
              <a:ext uri="{FF2B5EF4-FFF2-40B4-BE49-F238E27FC236}">
                <a16:creationId xmlns:a16="http://schemas.microsoft.com/office/drawing/2014/main" id="{0D29653C-D830-9959-9195-D7C64B09B3E1}"/>
              </a:ext>
            </a:extLst>
          </p:cNvPr>
          <p:cNvCxnSpPr>
            <a:cxnSpLocks/>
          </p:cNvCxnSpPr>
          <p:nvPr/>
        </p:nvCxnSpPr>
        <p:spPr>
          <a:xfrm>
            <a:off x="10023139" y="4762036"/>
            <a:ext cx="518003"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BE9D0D46-66D4-C6CA-6E75-C1C844C94E34}"/>
              </a:ext>
            </a:extLst>
          </p:cNvPr>
          <p:cNvCxnSpPr>
            <a:cxnSpLocks/>
          </p:cNvCxnSpPr>
          <p:nvPr/>
        </p:nvCxnSpPr>
        <p:spPr>
          <a:xfrm flipV="1">
            <a:off x="10541142" y="4168674"/>
            <a:ext cx="0" cy="593362"/>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圓角矩形 37">
            <a:extLst>
              <a:ext uri="{FF2B5EF4-FFF2-40B4-BE49-F238E27FC236}">
                <a16:creationId xmlns:a16="http://schemas.microsoft.com/office/drawing/2014/main" id="{6C93A089-53E5-CC8B-9262-DA561E8EB5DF}"/>
              </a:ext>
            </a:extLst>
          </p:cNvPr>
          <p:cNvSpPr/>
          <p:nvPr/>
        </p:nvSpPr>
        <p:spPr>
          <a:xfrm>
            <a:off x="10730460" y="435475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Keyboard</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40" name="直線接點 39">
            <a:extLst>
              <a:ext uri="{FF2B5EF4-FFF2-40B4-BE49-F238E27FC236}">
                <a16:creationId xmlns:a16="http://schemas.microsoft.com/office/drawing/2014/main" id="{B95F9E0B-522E-8A04-8C01-6EE26909793E}"/>
              </a:ext>
            </a:extLst>
          </p:cNvPr>
          <p:cNvCxnSpPr>
            <a:cxnSpLocks/>
          </p:cNvCxnSpPr>
          <p:nvPr/>
        </p:nvCxnSpPr>
        <p:spPr>
          <a:xfrm>
            <a:off x="10024729" y="5267064"/>
            <a:ext cx="115920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ABAAFCD0-0162-649A-B841-B5A31165261A}"/>
              </a:ext>
            </a:extLst>
          </p:cNvPr>
          <p:cNvSpPr/>
          <p:nvPr/>
        </p:nvSpPr>
        <p:spPr>
          <a:xfrm>
            <a:off x="7984499" y="1663250"/>
            <a:ext cx="1898319" cy="4699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Local APIC</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1" name="直線接點 50">
            <a:extLst>
              <a:ext uri="{FF2B5EF4-FFF2-40B4-BE49-F238E27FC236}">
                <a16:creationId xmlns:a16="http://schemas.microsoft.com/office/drawing/2014/main" id="{53985844-5F4B-F7BD-BAD2-03B60234DAA5}"/>
              </a:ext>
            </a:extLst>
          </p:cNvPr>
          <p:cNvCxnSpPr>
            <a:cxnSpLocks/>
          </p:cNvCxnSpPr>
          <p:nvPr/>
        </p:nvCxnSpPr>
        <p:spPr>
          <a:xfrm>
            <a:off x="7843859" y="1898200"/>
            <a:ext cx="0" cy="3110666"/>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直線接點 51">
            <a:extLst>
              <a:ext uri="{FF2B5EF4-FFF2-40B4-BE49-F238E27FC236}">
                <a16:creationId xmlns:a16="http://schemas.microsoft.com/office/drawing/2014/main" id="{7BC87234-F63F-DD19-4447-5602241BE648}"/>
              </a:ext>
            </a:extLst>
          </p:cNvPr>
          <p:cNvCxnSpPr>
            <a:cxnSpLocks/>
            <a:endCxn id="49" idx="1"/>
          </p:cNvCxnSpPr>
          <p:nvPr/>
        </p:nvCxnSpPr>
        <p:spPr>
          <a:xfrm>
            <a:off x="7829518" y="1898201"/>
            <a:ext cx="154981"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6AFF3B14-0D7E-D805-3F7D-E056EA2EE8AC}"/>
              </a:ext>
            </a:extLst>
          </p:cNvPr>
          <p:cNvSpPr/>
          <p:nvPr/>
        </p:nvSpPr>
        <p:spPr>
          <a:xfrm>
            <a:off x="7986641" y="2138519"/>
            <a:ext cx="1896172" cy="5029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CPU</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53" name="直線接點 52">
            <a:extLst>
              <a:ext uri="{FF2B5EF4-FFF2-40B4-BE49-F238E27FC236}">
                <a16:creationId xmlns:a16="http://schemas.microsoft.com/office/drawing/2014/main" id="{F2655EC6-BB3A-FE94-163F-7C422CBA9194}"/>
              </a:ext>
            </a:extLst>
          </p:cNvPr>
          <p:cNvCxnSpPr>
            <a:cxnSpLocks/>
          </p:cNvCxnSpPr>
          <p:nvPr/>
        </p:nvCxnSpPr>
        <p:spPr>
          <a:xfrm>
            <a:off x="7843859" y="4996745"/>
            <a:ext cx="31238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圓角矩形 63">
            <a:extLst>
              <a:ext uri="{FF2B5EF4-FFF2-40B4-BE49-F238E27FC236}">
                <a16:creationId xmlns:a16="http://schemas.microsoft.com/office/drawing/2014/main" id="{AAE72B5C-860E-02A4-FEDB-384036DCC1BA}"/>
              </a:ext>
            </a:extLst>
          </p:cNvPr>
          <p:cNvSpPr/>
          <p:nvPr/>
        </p:nvSpPr>
        <p:spPr>
          <a:xfrm>
            <a:off x="10433020" y="3878509"/>
            <a:ext cx="914400" cy="291313"/>
          </a:xfrm>
          <a:prstGeom prst="roundRect">
            <a:avLst>
              <a:gd name="adj" fmla="val 3888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Timer</a:t>
            </a:r>
            <a:endParaRPr kumimoji="1" lang="zh-TW" altLang="en-US" sz="1400" dirty="0">
              <a:solidFill>
                <a:schemeClr val="tx1"/>
              </a:solidFill>
              <a:latin typeface="Arial" panose="020B0604020202020204" pitchFamily="34" charset="0"/>
              <a:cs typeface="Arial" panose="020B0604020202020204" pitchFamily="34" charset="0"/>
            </a:endParaRPr>
          </a:p>
        </p:txBody>
      </p:sp>
      <p:cxnSp>
        <p:nvCxnSpPr>
          <p:cNvPr id="66" name="直線接點 65">
            <a:extLst>
              <a:ext uri="{FF2B5EF4-FFF2-40B4-BE49-F238E27FC236}">
                <a16:creationId xmlns:a16="http://schemas.microsoft.com/office/drawing/2014/main" id="{15E8B3F3-0C19-09B4-8C90-2078668F2A41}"/>
              </a:ext>
            </a:extLst>
          </p:cNvPr>
          <p:cNvCxnSpPr>
            <a:cxnSpLocks/>
          </p:cNvCxnSpPr>
          <p:nvPr/>
        </p:nvCxnSpPr>
        <p:spPr>
          <a:xfrm>
            <a:off x="10024729" y="4905069"/>
            <a:ext cx="1157677"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直線接點 70">
            <a:extLst>
              <a:ext uri="{FF2B5EF4-FFF2-40B4-BE49-F238E27FC236}">
                <a16:creationId xmlns:a16="http://schemas.microsoft.com/office/drawing/2014/main" id="{90B94639-1B60-5A7B-789A-BA3526FB025B}"/>
              </a:ext>
            </a:extLst>
          </p:cNvPr>
          <p:cNvCxnSpPr>
            <a:cxnSpLocks/>
          </p:cNvCxnSpPr>
          <p:nvPr/>
        </p:nvCxnSpPr>
        <p:spPr>
          <a:xfrm>
            <a:off x="10024729" y="5045367"/>
            <a:ext cx="1159200"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3" name="文字方塊 72">
            <a:extLst>
              <a:ext uri="{FF2B5EF4-FFF2-40B4-BE49-F238E27FC236}">
                <a16:creationId xmlns:a16="http://schemas.microsoft.com/office/drawing/2014/main" id="{FFFD1EF9-A4D6-FA6B-6999-B8D9CCEA5318}"/>
              </a:ext>
            </a:extLst>
          </p:cNvPr>
          <p:cNvSpPr txBox="1"/>
          <p:nvPr/>
        </p:nvSpPr>
        <p:spPr>
          <a:xfrm>
            <a:off x="10079463" y="4476517"/>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IRQ0</a:t>
            </a:r>
            <a:endParaRPr kumimoji="1" lang="zh-TW" altLang="en-US" sz="1200" dirty="0">
              <a:latin typeface="Arial" panose="020B0604020202020204" pitchFamily="34" charset="0"/>
              <a:cs typeface="Arial" panose="020B0604020202020204" pitchFamily="34" charset="0"/>
            </a:endParaRPr>
          </a:p>
        </p:txBody>
      </p:sp>
      <p:sp>
        <p:nvSpPr>
          <p:cNvPr id="76" name="文字方塊 75">
            <a:extLst>
              <a:ext uri="{FF2B5EF4-FFF2-40B4-BE49-F238E27FC236}">
                <a16:creationId xmlns:a16="http://schemas.microsoft.com/office/drawing/2014/main" id="{25641F21-B402-7ED8-0A8A-F7030AC2E5F9}"/>
              </a:ext>
            </a:extLst>
          </p:cNvPr>
          <p:cNvSpPr txBox="1"/>
          <p:nvPr/>
        </p:nvSpPr>
        <p:spPr>
          <a:xfrm>
            <a:off x="11177956" y="4894663"/>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IRQ2</a:t>
            </a:r>
            <a:endParaRPr kumimoji="1" lang="zh-TW" altLang="en-US" sz="1200" dirty="0">
              <a:latin typeface="Arial" panose="020B0604020202020204" pitchFamily="34" charset="0"/>
              <a:cs typeface="Arial" panose="020B0604020202020204" pitchFamily="34" charset="0"/>
            </a:endParaRPr>
          </a:p>
        </p:txBody>
      </p:sp>
      <p:sp>
        <p:nvSpPr>
          <p:cNvPr id="77" name="文字方塊 76">
            <a:extLst>
              <a:ext uri="{FF2B5EF4-FFF2-40B4-BE49-F238E27FC236}">
                <a16:creationId xmlns:a16="http://schemas.microsoft.com/office/drawing/2014/main" id="{74AF5070-CB33-6D6C-573A-877712359F44}"/>
              </a:ext>
            </a:extLst>
          </p:cNvPr>
          <p:cNvSpPr txBox="1"/>
          <p:nvPr/>
        </p:nvSpPr>
        <p:spPr>
          <a:xfrm rot="5400000">
            <a:off x="10458191" y="5021290"/>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cxnSp>
        <p:nvCxnSpPr>
          <p:cNvPr id="79" name="直線接點 78">
            <a:extLst>
              <a:ext uri="{FF2B5EF4-FFF2-40B4-BE49-F238E27FC236}">
                <a16:creationId xmlns:a16="http://schemas.microsoft.com/office/drawing/2014/main" id="{C481E1F2-A113-325F-7F72-BC4E4FC843CB}"/>
              </a:ext>
            </a:extLst>
          </p:cNvPr>
          <p:cNvCxnSpPr>
            <a:cxnSpLocks/>
          </p:cNvCxnSpPr>
          <p:nvPr/>
        </p:nvCxnSpPr>
        <p:spPr>
          <a:xfrm flipV="1">
            <a:off x="11173755" y="4646072"/>
            <a:ext cx="0" cy="244894"/>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6" name="文字方塊 85">
            <a:extLst>
              <a:ext uri="{FF2B5EF4-FFF2-40B4-BE49-F238E27FC236}">
                <a16:creationId xmlns:a16="http://schemas.microsoft.com/office/drawing/2014/main" id="{9137218E-DE47-FBAE-478D-89AFE06C467D}"/>
              </a:ext>
            </a:extLst>
          </p:cNvPr>
          <p:cNvSpPr txBox="1"/>
          <p:nvPr/>
        </p:nvSpPr>
        <p:spPr>
          <a:xfrm>
            <a:off x="11177956" y="5150000"/>
            <a:ext cx="543739"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IRQ8</a:t>
            </a:r>
            <a:endParaRPr kumimoji="1" lang="zh-TW" altLang="en-US" sz="1200" dirty="0">
              <a:latin typeface="Arial" panose="020B0604020202020204" pitchFamily="34" charset="0"/>
              <a:cs typeface="Arial" panose="020B0604020202020204" pitchFamily="34" charset="0"/>
            </a:endParaRPr>
          </a:p>
        </p:txBody>
      </p:sp>
      <p:sp>
        <p:nvSpPr>
          <p:cNvPr id="88" name="矩形 87">
            <a:extLst>
              <a:ext uri="{FF2B5EF4-FFF2-40B4-BE49-F238E27FC236}">
                <a16:creationId xmlns:a16="http://schemas.microsoft.com/office/drawing/2014/main" id="{03FF381B-4147-F584-6A63-B9C0955E8E47}"/>
              </a:ext>
            </a:extLst>
          </p:cNvPr>
          <p:cNvSpPr/>
          <p:nvPr/>
        </p:nvSpPr>
        <p:spPr>
          <a:xfrm>
            <a:off x="7998877" y="2926666"/>
            <a:ext cx="3662544"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kumimoji="1" lang="en-US" altLang="zh-TW" sz="1400" dirty="0">
                <a:solidFill>
                  <a:schemeClr val="tx1"/>
                </a:solidFill>
                <a:latin typeface="Arial" panose="020B0604020202020204" pitchFamily="34" charset="0"/>
                <a:cs typeface="Arial" panose="020B0604020202020204" pitchFamily="34" charset="0"/>
              </a:rPr>
              <a:t>Memory</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48" name="矩形 47">
            <a:extLst>
              <a:ext uri="{FF2B5EF4-FFF2-40B4-BE49-F238E27FC236}">
                <a16:creationId xmlns:a16="http://schemas.microsoft.com/office/drawing/2014/main" id="{175DD826-B8B8-14A7-0D7F-A4A5C33DA5FC}"/>
              </a:ext>
            </a:extLst>
          </p:cNvPr>
          <p:cNvSpPr/>
          <p:nvPr/>
        </p:nvSpPr>
        <p:spPr>
          <a:xfrm>
            <a:off x="8156239" y="4675517"/>
            <a:ext cx="1866900" cy="711001"/>
          </a:xfrm>
          <a:prstGeom prst="rect">
            <a:avLst/>
          </a:prstGeom>
          <a:solidFill>
            <a:schemeClr val="accent2">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1400" dirty="0">
                <a:solidFill>
                  <a:schemeClr val="tx1"/>
                </a:solidFill>
                <a:latin typeface="Arial" panose="020B0604020202020204" pitchFamily="34" charset="0"/>
                <a:cs typeface="Arial" panose="020B0604020202020204" pitchFamily="34" charset="0"/>
              </a:rPr>
              <a:t>Interrupt Controller</a:t>
            </a:r>
            <a:endParaRPr kumimoji="1" lang="zh-TW" altLang="en-US" sz="1400" dirty="0">
              <a:solidFill>
                <a:schemeClr val="tx1"/>
              </a:solidFill>
              <a:latin typeface="Arial" panose="020B0604020202020204" pitchFamily="34" charset="0"/>
              <a:cs typeface="Arial" panose="020B0604020202020204" pitchFamily="34" charset="0"/>
            </a:endParaRPr>
          </a:p>
        </p:txBody>
      </p:sp>
      <p:grpSp>
        <p:nvGrpSpPr>
          <p:cNvPr id="7" name="群組 6">
            <a:extLst>
              <a:ext uri="{FF2B5EF4-FFF2-40B4-BE49-F238E27FC236}">
                <a16:creationId xmlns:a16="http://schemas.microsoft.com/office/drawing/2014/main" id="{7B0BE6AF-C642-67E6-FD95-2DF6765C83FE}"/>
              </a:ext>
            </a:extLst>
          </p:cNvPr>
          <p:cNvGrpSpPr/>
          <p:nvPr/>
        </p:nvGrpSpPr>
        <p:grpSpPr>
          <a:xfrm>
            <a:off x="9882822" y="4112418"/>
            <a:ext cx="1778600" cy="806732"/>
            <a:chOff x="10198705" y="4970492"/>
            <a:chExt cx="1778600" cy="806732"/>
          </a:xfrm>
        </p:grpSpPr>
        <p:sp>
          <p:nvSpPr>
            <p:cNvPr id="57" name="文字方塊 56">
              <a:extLst>
                <a:ext uri="{FF2B5EF4-FFF2-40B4-BE49-F238E27FC236}">
                  <a16:creationId xmlns:a16="http://schemas.microsoft.com/office/drawing/2014/main" id="{2D5E6CA0-A1B1-10EA-12CB-45AF5DC9FD00}"/>
                </a:ext>
              </a:extLst>
            </p:cNvPr>
            <p:cNvSpPr txBox="1"/>
            <p:nvPr/>
          </p:nvSpPr>
          <p:spPr>
            <a:xfrm>
              <a:off x="11056860" y="4970492"/>
              <a:ext cx="920445"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Interrupt</a:t>
              </a:r>
              <a:endParaRPr kumimoji="1" lang="zh-TW" altLang="en-US" sz="1400" b="1" dirty="0">
                <a:solidFill>
                  <a:srgbClr val="C00000"/>
                </a:solidFill>
                <a:latin typeface="Arial" panose="020B0604020202020204" pitchFamily="34" charset="0"/>
                <a:cs typeface="Arial" panose="020B0604020202020204" pitchFamily="34" charset="0"/>
              </a:endParaRPr>
            </a:p>
          </p:txBody>
        </p:sp>
        <p:sp>
          <p:nvSpPr>
            <p:cNvPr id="75" name="文字方塊 74">
              <a:extLst>
                <a:ext uri="{FF2B5EF4-FFF2-40B4-BE49-F238E27FC236}">
                  <a16:creationId xmlns:a16="http://schemas.microsoft.com/office/drawing/2014/main" id="{3B3DA43C-8BFE-60AC-AE81-EA76182A07BA}"/>
                </a:ext>
              </a:extLst>
            </p:cNvPr>
            <p:cNvSpPr txBox="1"/>
            <p:nvPr/>
          </p:nvSpPr>
          <p:spPr>
            <a:xfrm>
              <a:off x="10986539" y="5500225"/>
              <a:ext cx="543739" cy="276999"/>
            </a:xfrm>
            <a:prstGeom prst="rect">
              <a:avLst/>
            </a:prstGeom>
            <a:noFill/>
          </p:spPr>
          <p:txBody>
            <a:bodyPr wrap="none" rtlCol="0">
              <a:spAutoFit/>
            </a:bodyPr>
            <a:lstStyle/>
            <a:p>
              <a:r>
                <a:rPr kumimoji="1" lang="en-US" altLang="zh-TW" sz="1200" b="1" dirty="0">
                  <a:solidFill>
                    <a:srgbClr val="C00000"/>
                  </a:solidFill>
                  <a:latin typeface="Arial" panose="020B0604020202020204" pitchFamily="34" charset="0"/>
                  <a:cs typeface="Arial" panose="020B0604020202020204" pitchFamily="34" charset="0"/>
                </a:rPr>
                <a:t>IRQ1</a:t>
              </a:r>
              <a:endParaRPr kumimoji="1" lang="zh-TW" altLang="en-US" sz="1200" b="1" dirty="0">
                <a:solidFill>
                  <a:srgbClr val="C00000"/>
                </a:solidFill>
                <a:latin typeface="Arial" panose="020B0604020202020204" pitchFamily="34" charset="0"/>
                <a:cs typeface="Arial" panose="020B0604020202020204" pitchFamily="34" charset="0"/>
              </a:endParaRPr>
            </a:p>
          </p:txBody>
        </p:sp>
        <p:cxnSp>
          <p:nvCxnSpPr>
            <p:cNvPr id="61" name="直線接點 60">
              <a:extLst>
                <a:ext uri="{FF2B5EF4-FFF2-40B4-BE49-F238E27FC236}">
                  <a16:creationId xmlns:a16="http://schemas.microsoft.com/office/drawing/2014/main" id="{BC728473-E627-85EE-FED6-4ED2A6504C34}"/>
                </a:ext>
              </a:extLst>
            </p:cNvPr>
            <p:cNvCxnSpPr>
              <a:cxnSpLocks/>
            </p:cNvCxnSpPr>
            <p:nvPr/>
          </p:nvCxnSpPr>
          <p:spPr>
            <a:xfrm>
              <a:off x="11490825" y="5500225"/>
              <a:ext cx="0" cy="27699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942E40E4-AFD5-549C-2F1D-A3ADBCD3A5CC}"/>
                </a:ext>
              </a:extLst>
            </p:cNvPr>
            <p:cNvCxnSpPr>
              <a:cxnSpLocks/>
            </p:cNvCxnSpPr>
            <p:nvPr/>
          </p:nvCxnSpPr>
          <p:spPr>
            <a:xfrm>
              <a:off x="10198705" y="5763143"/>
              <a:ext cx="1303863" cy="2005"/>
            </a:xfrm>
            <a:prstGeom prst="line">
              <a:avLst/>
            </a:prstGeom>
            <a:ln w="38100">
              <a:solidFill>
                <a:srgbClr val="C00000"/>
              </a:solidFill>
              <a:headEnd type="triangle"/>
            </a:ln>
          </p:spPr>
          <p:style>
            <a:lnRef idx="1">
              <a:schemeClr val="accent1"/>
            </a:lnRef>
            <a:fillRef idx="0">
              <a:schemeClr val="accent1"/>
            </a:fillRef>
            <a:effectRef idx="0">
              <a:schemeClr val="accent1"/>
            </a:effectRef>
            <a:fontRef idx="minor">
              <a:schemeClr val="tx1"/>
            </a:fontRef>
          </p:style>
        </p:cxnSp>
      </p:grpSp>
      <p:grpSp>
        <p:nvGrpSpPr>
          <p:cNvPr id="8" name="群組 7">
            <a:extLst>
              <a:ext uri="{FF2B5EF4-FFF2-40B4-BE49-F238E27FC236}">
                <a16:creationId xmlns:a16="http://schemas.microsoft.com/office/drawing/2014/main" id="{98D08567-5277-D496-4D07-E01BEDB74E42}"/>
              </a:ext>
            </a:extLst>
          </p:cNvPr>
          <p:cNvGrpSpPr/>
          <p:nvPr/>
        </p:nvGrpSpPr>
        <p:grpSpPr>
          <a:xfrm>
            <a:off x="7633482" y="1428149"/>
            <a:ext cx="2348872" cy="4001702"/>
            <a:chOff x="7947925" y="2284660"/>
            <a:chExt cx="2348872" cy="4001702"/>
          </a:xfrm>
        </p:grpSpPr>
        <p:sp>
          <p:nvSpPr>
            <p:cNvPr id="89" name="文字方塊 88">
              <a:extLst>
                <a:ext uri="{FF2B5EF4-FFF2-40B4-BE49-F238E27FC236}">
                  <a16:creationId xmlns:a16="http://schemas.microsoft.com/office/drawing/2014/main" id="{01433C64-7FF2-E61B-9F67-2C5BB40AC071}"/>
                </a:ext>
              </a:extLst>
            </p:cNvPr>
            <p:cNvSpPr txBox="1"/>
            <p:nvPr/>
          </p:nvSpPr>
          <p:spPr>
            <a:xfrm>
              <a:off x="7947925" y="2284660"/>
              <a:ext cx="920445"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INT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0x81</a:t>
              </a:r>
              <a:endParaRPr kumimoji="1" lang="zh-TW" altLang="en-US" sz="1400" b="1" dirty="0">
                <a:solidFill>
                  <a:srgbClr val="C00000"/>
                </a:solidFill>
                <a:latin typeface="Arial" panose="020B0604020202020204" pitchFamily="34" charset="0"/>
                <a:cs typeface="Arial" panose="020B0604020202020204" pitchFamily="34" charset="0"/>
              </a:endParaRPr>
            </a:p>
          </p:txBody>
        </p:sp>
        <p:cxnSp>
          <p:nvCxnSpPr>
            <p:cNvPr id="42" name="直線接點 41">
              <a:extLst>
                <a:ext uri="{FF2B5EF4-FFF2-40B4-BE49-F238E27FC236}">
                  <a16:creationId xmlns:a16="http://schemas.microsoft.com/office/drawing/2014/main" id="{FA7007A5-C913-87A7-0CB4-0D5DC60563CD}"/>
                </a:ext>
              </a:extLst>
            </p:cNvPr>
            <p:cNvCxnSpPr>
              <a:cxnSpLocks/>
            </p:cNvCxnSpPr>
            <p:nvPr/>
          </p:nvCxnSpPr>
          <p:spPr>
            <a:xfrm>
              <a:off x="8159742" y="2749685"/>
              <a:ext cx="0" cy="309890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0" name="直線接點 99">
              <a:extLst>
                <a:ext uri="{FF2B5EF4-FFF2-40B4-BE49-F238E27FC236}">
                  <a16:creationId xmlns:a16="http://schemas.microsoft.com/office/drawing/2014/main" id="{F0DCAA50-4AFA-FC2D-FA3D-DEE1D18CDD30}"/>
                </a:ext>
              </a:extLst>
            </p:cNvPr>
            <p:cNvCxnSpPr>
              <a:cxnSpLocks/>
            </p:cNvCxnSpPr>
            <p:nvPr/>
          </p:nvCxnSpPr>
          <p:spPr>
            <a:xfrm flipV="1">
              <a:off x="8145401" y="5853379"/>
              <a:ext cx="32672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4" name="直線接點 103">
              <a:extLst>
                <a:ext uri="{FF2B5EF4-FFF2-40B4-BE49-F238E27FC236}">
                  <a16:creationId xmlns:a16="http://schemas.microsoft.com/office/drawing/2014/main" id="{7570E4B4-B26F-A88C-4378-650119EAFDDB}"/>
                </a:ext>
              </a:extLst>
            </p:cNvPr>
            <p:cNvCxnSpPr>
              <a:cxnSpLocks/>
            </p:cNvCxnSpPr>
            <p:nvPr/>
          </p:nvCxnSpPr>
          <p:spPr>
            <a:xfrm flipH="1" flipV="1">
              <a:off x="8164328" y="2749685"/>
              <a:ext cx="276695" cy="1796"/>
            </a:xfrm>
            <a:prstGeom prst="line">
              <a:avLst/>
            </a:prstGeom>
            <a:ln w="38100">
              <a:solidFill>
                <a:srgbClr val="C00000"/>
              </a:solidFill>
              <a:headEnd type="triangle"/>
            </a:ln>
          </p:spPr>
          <p:style>
            <a:lnRef idx="1">
              <a:schemeClr val="accent1"/>
            </a:lnRef>
            <a:fillRef idx="0">
              <a:schemeClr val="accent1"/>
            </a:fillRef>
            <a:effectRef idx="0">
              <a:schemeClr val="accent1"/>
            </a:effectRef>
            <a:fontRef idx="minor">
              <a:schemeClr val="tx1"/>
            </a:fontRef>
          </p:style>
        </p:cxnSp>
        <p:sp>
          <p:nvSpPr>
            <p:cNvPr id="108" name="文字方塊 107">
              <a:extLst>
                <a:ext uri="{FF2B5EF4-FFF2-40B4-BE49-F238E27FC236}">
                  <a16:creationId xmlns:a16="http://schemas.microsoft.com/office/drawing/2014/main" id="{EEB885FA-8DC3-BAF9-4483-73265D17E86E}"/>
                </a:ext>
              </a:extLst>
            </p:cNvPr>
            <p:cNvSpPr txBox="1"/>
            <p:nvPr/>
          </p:nvSpPr>
          <p:spPr>
            <a:xfrm>
              <a:off x="8541444" y="5763142"/>
              <a:ext cx="1755353" cy="523220"/>
            </a:xfrm>
            <a:prstGeom prst="rect">
              <a:avLst/>
            </a:prstGeom>
            <a:noFill/>
          </p:spPr>
          <p:txBody>
            <a:bodyPr wrap="none" rtlCol="0">
              <a:spAutoFit/>
            </a:bodyPr>
            <a:lstStyle/>
            <a:p>
              <a:pPr algn="ctr"/>
              <a:r>
                <a:rPr kumimoji="1" lang="en-US" altLang="zh-TW" sz="1400" b="1" dirty="0">
                  <a:solidFill>
                    <a:srgbClr val="C00000"/>
                  </a:solidFill>
                  <a:latin typeface="Arial" panose="020B0604020202020204" pitchFamily="34" charset="0"/>
                  <a:cs typeface="Arial" panose="020B0604020202020204" pitchFamily="34" charset="0"/>
                </a:rPr>
                <a:t>IRQ</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1</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sym typeface="Wingdings" pitchFamily="2" charset="2"/>
                </a:rPr>
                <a: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INT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0x81</a:t>
              </a:r>
              <a:br>
                <a:rPr kumimoji="1" lang="en-US" altLang="zh-TW" sz="1400" b="1" dirty="0">
                  <a:solidFill>
                    <a:srgbClr val="C00000"/>
                  </a:solidFill>
                  <a:latin typeface="Arial" panose="020B0604020202020204" pitchFamily="34" charset="0"/>
                  <a:cs typeface="Arial" panose="020B0604020202020204" pitchFamily="34" charset="0"/>
                </a:rPr>
              </a:br>
              <a:r>
                <a:rPr kumimoji="1" lang="en-US" altLang="zh-TW" sz="1400" b="1" dirty="0">
                  <a:solidFill>
                    <a:srgbClr val="C00000"/>
                  </a:solidFill>
                  <a:latin typeface="Arial" panose="020B0604020202020204" pitchFamily="34" charset="0"/>
                  <a:cs typeface="Arial" panose="020B0604020202020204" pitchFamily="34" charset="0"/>
                </a:rPr>
                <a:t>(Translates to IVN)</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sp>
        <p:nvSpPr>
          <p:cNvPr id="109" name="文字方塊 108">
            <a:extLst>
              <a:ext uri="{FF2B5EF4-FFF2-40B4-BE49-F238E27FC236}">
                <a16:creationId xmlns:a16="http://schemas.microsoft.com/office/drawing/2014/main" id="{C1792F3D-55E0-E4D3-86B7-397F40367674}"/>
              </a:ext>
            </a:extLst>
          </p:cNvPr>
          <p:cNvSpPr txBox="1"/>
          <p:nvPr/>
        </p:nvSpPr>
        <p:spPr>
          <a:xfrm>
            <a:off x="8156239" y="2386509"/>
            <a:ext cx="1601721"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0x81</a:t>
            </a:r>
            <a:r>
              <a:rPr kumimoji="1" lang="zh-TW" altLang="en-US" sz="1400" b="1" dirty="0">
                <a:solidFill>
                  <a:srgbClr val="C00000"/>
                </a:solidFill>
                <a:latin typeface="Arial" panose="020B0604020202020204" pitchFamily="34" charset="0"/>
                <a:cs typeface="Arial" panose="020B0604020202020204" pitchFamily="34" charset="0"/>
              </a:rPr>
              <a:t> * </a:t>
            </a:r>
            <a:r>
              <a:rPr kumimoji="1" lang="en-US" altLang="zh-TW" sz="1400" b="1" dirty="0">
                <a:solidFill>
                  <a:srgbClr val="C00000"/>
                </a:solidFill>
                <a:latin typeface="Arial" panose="020B0604020202020204" pitchFamily="34" charset="0"/>
                <a:cs typeface="Arial" panose="020B0604020202020204" pitchFamily="34" charset="0"/>
              </a:rPr>
              <a:t>4</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a:t>
            </a:r>
            <a:r>
              <a:rPr kumimoji="1" lang="zh-TW" altLang="en-US" sz="1400" b="1" dirty="0">
                <a:solidFill>
                  <a:srgbClr val="C00000"/>
                </a:solidFill>
                <a:latin typeface="Arial" panose="020B0604020202020204" pitchFamily="34" charset="0"/>
                <a:cs typeface="Arial" panose="020B0604020202020204" pitchFamily="34" charset="0"/>
              </a:rPr>
              <a:t> </a:t>
            </a:r>
            <a:r>
              <a:rPr kumimoji="1" lang="en-US" altLang="zh-TW" sz="1400" b="1" dirty="0">
                <a:solidFill>
                  <a:srgbClr val="C00000"/>
                </a:solidFill>
                <a:latin typeface="Arial" panose="020B0604020202020204" pitchFamily="34" charset="0"/>
                <a:cs typeface="Arial" panose="020B0604020202020204" pitchFamily="34" charset="0"/>
              </a:rPr>
              <a:t>0x204</a:t>
            </a:r>
            <a:r>
              <a:rPr kumimoji="1" lang="zh-TW" altLang="en-US" sz="1400" b="1" dirty="0">
                <a:solidFill>
                  <a:srgbClr val="C00000"/>
                </a:solidFill>
                <a:latin typeface="Arial" panose="020B0604020202020204" pitchFamily="34" charset="0"/>
                <a:cs typeface="Arial" panose="020B0604020202020204" pitchFamily="34" charset="0"/>
              </a:rPr>
              <a:t> </a:t>
            </a:r>
          </a:p>
        </p:txBody>
      </p:sp>
      <p:grpSp>
        <p:nvGrpSpPr>
          <p:cNvPr id="11" name="群組 10">
            <a:extLst>
              <a:ext uri="{FF2B5EF4-FFF2-40B4-BE49-F238E27FC236}">
                <a16:creationId xmlns:a16="http://schemas.microsoft.com/office/drawing/2014/main" id="{DBC19B23-99BD-D213-D768-DE7B78ED02B1}"/>
              </a:ext>
            </a:extLst>
          </p:cNvPr>
          <p:cNvGrpSpPr/>
          <p:nvPr/>
        </p:nvGrpSpPr>
        <p:grpSpPr>
          <a:xfrm>
            <a:off x="7808783" y="3776549"/>
            <a:ext cx="1061509" cy="392021"/>
            <a:chOff x="8124666" y="4634623"/>
            <a:chExt cx="1061509" cy="392021"/>
          </a:xfrm>
        </p:grpSpPr>
        <p:sp>
          <p:nvSpPr>
            <p:cNvPr id="110" name="左大括弧 109">
              <a:extLst>
                <a:ext uri="{FF2B5EF4-FFF2-40B4-BE49-F238E27FC236}">
                  <a16:creationId xmlns:a16="http://schemas.microsoft.com/office/drawing/2014/main" id="{B19CECCC-DCBB-3B84-9D68-9F1559F8AD07}"/>
                </a:ext>
              </a:extLst>
            </p:cNvPr>
            <p:cNvSpPr/>
            <p:nvPr/>
          </p:nvSpPr>
          <p:spPr>
            <a:xfrm rot="16200000">
              <a:off x="8450470" y="4500085"/>
              <a:ext cx="144000" cy="413075"/>
            </a:xfrm>
            <a:prstGeom prst="leftBrace">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solidFill>
                  <a:srgbClr val="0070C0"/>
                </a:solidFill>
              </a:endParaRPr>
            </a:p>
          </p:txBody>
        </p:sp>
        <p:sp>
          <p:nvSpPr>
            <p:cNvPr id="111" name="文字方塊 110">
              <a:extLst>
                <a:ext uri="{FF2B5EF4-FFF2-40B4-BE49-F238E27FC236}">
                  <a16:creationId xmlns:a16="http://schemas.microsoft.com/office/drawing/2014/main" id="{0AB86A44-790B-D342-5523-B3F584CEE376}"/>
                </a:ext>
              </a:extLst>
            </p:cNvPr>
            <p:cNvSpPr txBox="1"/>
            <p:nvPr/>
          </p:nvSpPr>
          <p:spPr>
            <a:xfrm>
              <a:off x="8124666" y="4718867"/>
              <a:ext cx="1061509"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4B</a:t>
              </a:r>
              <a:r>
                <a:rPr kumimoji="1" lang="zh-TW" altLang="en-US" sz="1400" b="1" dirty="0">
                  <a:solidFill>
                    <a:srgbClr val="0070C0"/>
                  </a:solidFill>
                  <a:latin typeface="Arial" panose="020B0604020202020204" pitchFamily="34" charset="0"/>
                  <a:cs typeface="Arial" panose="020B0604020202020204" pitchFamily="34" charset="0"/>
                </a:rPr>
                <a:t> </a:t>
              </a:r>
              <a:r>
                <a:rPr kumimoji="1" lang="en-US" altLang="zh-TW" sz="1400" b="1" dirty="0">
                  <a:solidFill>
                    <a:srgbClr val="0070C0"/>
                  </a:solidFill>
                  <a:latin typeface="Arial" panose="020B0604020202020204" pitchFamily="34" charset="0"/>
                  <a:cs typeface="Arial" panose="020B0604020202020204" pitchFamily="34" charset="0"/>
                </a:rPr>
                <a:t>(CS:IP)</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0" name="群組 9">
            <a:extLst>
              <a:ext uri="{FF2B5EF4-FFF2-40B4-BE49-F238E27FC236}">
                <a16:creationId xmlns:a16="http://schemas.microsoft.com/office/drawing/2014/main" id="{A3A5ED5F-E385-A8D3-64CD-6F517A3AE88E}"/>
              </a:ext>
            </a:extLst>
          </p:cNvPr>
          <p:cNvGrpSpPr/>
          <p:nvPr/>
        </p:nvGrpSpPr>
        <p:grpSpPr>
          <a:xfrm>
            <a:off x="7998877" y="2926595"/>
            <a:ext cx="2196209" cy="837067"/>
            <a:chOff x="8314760" y="3784669"/>
            <a:chExt cx="2196209" cy="837067"/>
          </a:xfrm>
        </p:grpSpPr>
        <p:sp>
          <p:nvSpPr>
            <p:cNvPr id="90" name="矩形 89">
              <a:extLst>
                <a:ext uri="{FF2B5EF4-FFF2-40B4-BE49-F238E27FC236}">
                  <a16:creationId xmlns:a16="http://schemas.microsoft.com/office/drawing/2014/main" id="{DE3BC005-230C-A172-2E21-71E336216136}"/>
                </a:ext>
              </a:extLst>
            </p:cNvPr>
            <p:cNvSpPr/>
            <p:nvPr/>
          </p:nvSpPr>
          <p:spPr>
            <a:xfrm>
              <a:off x="8314760"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0</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1" name="矩形 90">
              <a:extLst>
                <a:ext uri="{FF2B5EF4-FFF2-40B4-BE49-F238E27FC236}">
                  <a16:creationId xmlns:a16="http://schemas.microsoft.com/office/drawing/2014/main" id="{689C9299-418D-A6A2-3F43-8ADB9A9A956C}"/>
                </a:ext>
              </a:extLst>
            </p:cNvPr>
            <p:cNvSpPr/>
            <p:nvPr/>
          </p:nvSpPr>
          <p:spPr>
            <a:xfrm>
              <a:off x="9394991"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81</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92" name="矩形 91">
              <a:extLst>
                <a:ext uri="{FF2B5EF4-FFF2-40B4-BE49-F238E27FC236}">
                  <a16:creationId xmlns:a16="http://schemas.microsoft.com/office/drawing/2014/main" id="{8ED68375-2A22-D45E-5B27-448C922CD235}"/>
                </a:ext>
              </a:extLst>
            </p:cNvPr>
            <p:cNvSpPr/>
            <p:nvPr/>
          </p:nvSpPr>
          <p:spPr>
            <a:xfrm>
              <a:off x="10096721"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255</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15" name="文字方塊 114">
              <a:extLst>
                <a:ext uri="{FF2B5EF4-FFF2-40B4-BE49-F238E27FC236}">
                  <a16:creationId xmlns:a16="http://schemas.microsoft.com/office/drawing/2014/main" id="{8575355B-9E06-AE62-C3F7-0D0C0A3553B0}"/>
                </a:ext>
              </a:extLst>
            </p:cNvPr>
            <p:cNvSpPr txBox="1"/>
            <p:nvPr/>
          </p:nvSpPr>
          <p:spPr>
            <a:xfrm>
              <a:off x="9100049" y="4030171"/>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sp>
          <p:nvSpPr>
            <p:cNvPr id="116" name="文字方塊 115">
              <a:extLst>
                <a:ext uri="{FF2B5EF4-FFF2-40B4-BE49-F238E27FC236}">
                  <a16:creationId xmlns:a16="http://schemas.microsoft.com/office/drawing/2014/main" id="{8D7815A7-15DD-84E5-E997-B4474C9B0E82}"/>
                </a:ext>
              </a:extLst>
            </p:cNvPr>
            <p:cNvSpPr txBox="1"/>
            <p:nvPr/>
          </p:nvSpPr>
          <p:spPr>
            <a:xfrm>
              <a:off x="9788444" y="4045334"/>
              <a:ext cx="338554" cy="276999"/>
            </a:xfrm>
            <a:prstGeom prst="rect">
              <a:avLst/>
            </a:prstGeom>
            <a:noFill/>
          </p:spPr>
          <p:txBody>
            <a:bodyPr wrap="none" rtlCol="0">
              <a:spAutoFit/>
            </a:bodyPr>
            <a:lstStyle/>
            <a:p>
              <a:r>
                <a:rPr kumimoji="1" lang="en-US" altLang="zh-TW" sz="1200" dirty="0">
                  <a:latin typeface="Arial" panose="020B0604020202020204" pitchFamily="34" charset="0"/>
                  <a:cs typeface="Arial" panose="020B0604020202020204" pitchFamily="34" charset="0"/>
                </a:rPr>
                <a:t>…</a:t>
              </a:r>
              <a:endParaRPr kumimoji="1" lang="zh-TW" altLang="en-US" sz="1200" dirty="0">
                <a:latin typeface="Arial" panose="020B0604020202020204" pitchFamily="34" charset="0"/>
                <a:cs typeface="Arial" panose="020B0604020202020204" pitchFamily="34" charset="0"/>
              </a:endParaRPr>
            </a:p>
          </p:txBody>
        </p:sp>
        <p:sp>
          <p:nvSpPr>
            <p:cNvPr id="118" name="矩形 117">
              <a:extLst>
                <a:ext uri="{FF2B5EF4-FFF2-40B4-BE49-F238E27FC236}">
                  <a16:creationId xmlns:a16="http://schemas.microsoft.com/office/drawing/2014/main" id="{6C276251-EB03-42EB-817D-FFA541C79C3C}"/>
                </a:ext>
              </a:extLst>
            </p:cNvPr>
            <p:cNvSpPr/>
            <p:nvPr/>
          </p:nvSpPr>
          <p:spPr>
            <a:xfrm>
              <a:off x="8729335" y="3789684"/>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1</a:t>
              </a:r>
            </a:p>
            <a:p>
              <a:pPr algn="ctr"/>
              <a:r>
                <a:rPr kumimoji="1" lang="en-US" altLang="zh-TW" sz="1400" dirty="0" err="1">
                  <a:solidFill>
                    <a:schemeClr val="tx1"/>
                  </a:solidFill>
                  <a:latin typeface="Arial" panose="020B0604020202020204" pitchFamily="34" charset="0"/>
                  <a:cs typeface="Arial" panose="020B0604020202020204" pitchFamily="34" charset="0"/>
                </a:rPr>
                <a:t>Vec</a:t>
              </a:r>
              <a:endParaRPr kumimoji="1" lang="zh-TW" altLang="en-US" sz="1400" dirty="0">
                <a:solidFill>
                  <a:schemeClr val="tx1"/>
                </a:solidFill>
                <a:latin typeface="Arial" panose="020B0604020202020204" pitchFamily="34" charset="0"/>
                <a:cs typeface="Arial" panose="020B0604020202020204" pitchFamily="34" charset="0"/>
              </a:endParaRPr>
            </a:p>
          </p:txBody>
        </p:sp>
      </p:grpSp>
      <p:grpSp>
        <p:nvGrpSpPr>
          <p:cNvPr id="12" name="群組 11">
            <a:extLst>
              <a:ext uri="{FF2B5EF4-FFF2-40B4-BE49-F238E27FC236}">
                <a16:creationId xmlns:a16="http://schemas.microsoft.com/office/drawing/2014/main" id="{3E5AD215-3930-7DF0-8EAB-010A4EB6B299}"/>
              </a:ext>
            </a:extLst>
          </p:cNvPr>
          <p:cNvGrpSpPr/>
          <p:nvPr/>
        </p:nvGrpSpPr>
        <p:grpSpPr>
          <a:xfrm>
            <a:off x="7959877" y="2675263"/>
            <a:ext cx="1685201" cy="307777"/>
            <a:chOff x="8275760" y="3533337"/>
            <a:chExt cx="1685201" cy="307777"/>
          </a:xfrm>
        </p:grpSpPr>
        <p:sp>
          <p:nvSpPr>
            <p:cNvPr id="114" name="文字方塊 113">
              <a:extLst>
                <a:ext uri="{FF2B5EF4-FFF2-40B4-BE49-F238E27FC236}">
                  <a16:creationId xmlns:a16="http://schemas.microsoft.com/office/drawing/2014/main" id="{F1277D9E-2B8E-D01C-57CD-C97EB0EC8E34}"/>
                </a:ext>
              </a:extLst>
            </p:cNvPr>
            <p:cNvSpPr txBox="1"/>
            <p:nvPr/>
          </p:nvSpPr>
          <p:spPr>
            <a:xfrm>
              <a:off x="8275760" y="3533337"/>
              <a:ext cx="482824"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0x0</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17" name="文字方塊 116">
              <a:extLst>
                <a:ext uri="{FF2B5EF4-FFF2-40B4-BE49-F238E27FC236}">
                  <a16:creationId xmlns:a16="http://schemas.microsoft.com/office/drawing/2014/main" id="{346BCF43-291A-D063-C0CE-5C3873BE87E2}"/>
                </a:ext>
              </a:extLst>
            </p:cNvPr>
            <p:cNvSpPr txBox="1"/>
            <p:nvPr/>
          </p:nvSpPr>
          <p:spPr>
            <a:xfrm>
              <a:off x="9279364" y="3533337"/>
              <a:ext cx="681597"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0x204</a:t>
              </a:r>
              <a:endParaRPr kumimoji="1" lang="zh-TW" altLang="en-US" sz="1400" b="1" dirty="0">
                <a:solidFill>
                  <a:srgbClr val="0070C0"/>
                </a:solidFill>
                <a:latin typeface="Arial" panose="020B0604020202020204" pitchFamily="34" charset="0"/>
                <a:cs typeface="Arial" panose="020B0604020202020204" pitchFamily="34" charset="0"/>
              </a:endParaRPr>
            </a:p>
          </p:txBody>
        </p:sp>
        <p:sp>
          <p:nvSpPr>
            <p:cNvPr id="119" name="文字方塊 118">
              <a:extLst>
                <a:ext uri="{FF2B5EF4-FFF2-40B4-BE49-F238E27FC236}">
                  <a16:creationId xmlns:a16="http://schemas.microsoft.com/office/drawing/2014/main" id="{88B0ECE1-136A-2509-5863-0BE24FFABE4F}"/>
                </a:ext>
              </a:extLst>
            </p:cNvPr>
            <p:cNvSpPr txBox="1"/>
            <p:nvPr/>
          </p:nvSpPr>
          <p:spPr>
            <a:xfrm>
              <a:off x="8701542" y="3533337"/>
              <a:ext cx="482824"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0x4</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4" name="群組 13">
            <a:extLst>
              <a:ext uri="{FF2B5EF4-FFF2-40B4-BE49-F238E27FC236}">
                <a16:creationId xmlns:a16="http://schemas.microsoft.com/office/drawing/2014/main" id="{C8DBAC02-20BA-BD00-CA00-C9BB7BDB1378}"/>
              </a:ext>
            </a:extLst>
          </p:cNvPr>
          <p:cNvGrpSpPr/>
          <p:nvPr/>
        </p:nvGrpSpPr>
        <p:grpSpPr>
          <a:xfrm>
            <a:off x="10305296" y="2675263"/>
            <a:ext cx="763351" cy="1083384"/>
            <a:chOff x="10621179" y="3533337"/>
            <a:chExt cx="763351" cy="1083384"/>
          </a:xfrm>
        </p:grpSpPr>
        <p:sp>
          <p:nvSpPr>
            <p:cNvPr id="93" name="矩形 92">
              <a:extLst>
                <a:ext uri="{FF2B5EF4-FFF2-40B4-BE49-F238E27FC236}">
                  <a16:creationId xmlns:a16="http://schemas.microsoft.com/office/drawing/2014/main" id="{D225F8C7-BCE1-AA17-5608-C31CCFE13B93}"/>
                </a:ext>
              </a:extLst>
            </p:cNvPr>
            <p:cNvSpPr/>
            <p:nvPr/>
          </p:nvSpPr>
          <p:spPr>
            <a:xfrm>
              <a:off x="10746037" y="3784669"/>
              <a:ext cx="414248" cy="8320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TW" sz="1400" dirty="0">
                  <a:solidFill>
                    <a:schemeClr val="tx1"/>
                  </a:solidFill>
                  <a:latin typeface="Arial" panose="020B0604020202020204" pitchFamily="34" charset="0"/>
                  <a:cs typeface="Arial" panose="020B0604020202020204" pitchFamily="34" charset="0"/>
                </a:rPr>
                <a:t>ISR</a:t>
              </a:r>
              <a:br>
                <a:rPr kumimoji="1" lang="en-US" altLang="zh-TW" sz="1400" dirty="0">
                  <a:solidFill>
                    <a:schemeClr val="tx1"/>
                  </a:solidFill>
                  <a:latin typeface="Arial" panose="020B0604020202020204" pitchFamily="34" charset="0"/>
                  <a:cs typeface="Arial" panose="020B0604020202020204" pitchFamily="34" charset="0"/>
                </a:rPr>
              </a:br>
              <a:r>
                <a:rPr kumimoji="1" lang="en-US" altLang="zh-TW" sz="1400" dirty="0">
                  <a:solidFill>
                    <a:schemeClr val="tx1"/>
                  </a:solidFill>
                  <a:latin typeface="Arial" panose="020B0604020202020204" pitchFamily="34" charset="0"/>
                  <a:cs typeface="Arial" panose="020B0604020202020204" pitchFamily="34" charset="0"/>
                </a:rPr>
                <a:t>81</a:t>
              </a:r>
              <a:endParaRPr kumimoji="1" lang="zh-TW" altLang="en-US" sz="1400" dirty="0">
                <a:solidFill>
                  <a:schemeClr val="tx1"/>
                </a:solidFill>
                <a:latin typeface="Arial" panose="020B0604020202020204" pitchFamily="34" charset="0"/>
                <a:cs typeface="Arial" panose="020B0604020202020204" pitchFamily="34" charset="0"/>
              </a:endParaRPr>
            </a:p>
          </p:txBody>
        </p:sp>
        <p:sp>
          <p:nvSpPr>
            <p:cNvPr id="120" name="文字方塊 119">
              <a:extLst>
                <a:ext uri="{FF2B5EF4-FFF2-40B4-BE49-F238E27FC236}">
                  <a16:creationId xmlns:a16="http://schemas.microsoft.com/office/drawing/2014/main" id="{F49A3F02-FA14-00CF-6E71-32E170BE6585}"/>
                </a:ext>
              </a:extLst>
            </p:cNvPr>
            <p:cNvSpPr txBox="1"/>
            <p:nvPr/>
          </p:nvSpPr>
          <p:spPr>
            <a:xfrm>
              <a:off x="10621179" y="3533337"/>
              <a:ext cx="763351" cy="307777"/>
            </a:xfrm>
            <a:prstGeom prst="rect">
              <a:avLst/>
            </a:prstGeom>
            <a:noFill/>
          </p:spPr>
          <p:txBody>
            <a:bodyPr wrap="none" rtlCol="0">
              <a:spAutoFit/>
            </a:bodyPr>
            <a:lstStyle/>
            <a:p>
              <a:r>
                <a:rPr kumimoji="1" lang="en-US" altLang="zh-TW" sz="1400" b="1" dirty="0">
                  <a:solidFill>
                    <a:srgbClr val="0070C0"/>
                  </a:solidFill>
                  <a:latin typeface="Arial" panose="020B0604020202020204" pitchFamily="34" charset="0"/>
                  <a:cs typeface="Arial" panose="020B0604020202020204" pitchFamily="34" charset="0"/>
                </a:rPr>
                <a:t>CS‘:IP’</a:t>
              </a:r>
              <a:endParaRPr kumimoji="1" lang="zh-TW" altLang="en-US" sz="1400" b="1" dirty="0">
                <a:solidFill>
                  <a:srgbClr val="0070C0"/>
                </a:solidFill>
                <a:latin typeface="Arial" panose="020B0604020202020204" pitchFamily="34" charset="0"/>
                <a:cs typeface="Arial" panose="020B0604020202020204" pitchFamily="34" charset="0"/>
              </a:endParaRPr>
            </a:p>
          </p:txBody>
        </p:sp>
      </p:grpSp>
      <p:grpSp>
        <p:nvGrpSpPr>
          <p:cNvPr id="13" name="群組 12">
            <a:extLst>
              <a:ext uri="{FF2B5EF4-FFF2-40B4-BE49-F238E27FC236}">
                <a16:creationId xmlns:a16="http://schemas.microsoft.com/office/drawing/2014/main" id="{74B22B85-478A-B501-8C23-52E33D61E31C}"/>
              </a:ext>
            </a:extLst>
          </p:cNvPr>
          <p:cNvGrpSpPr/>
          <p:nvPr/>
        </p:nvGrpSpPr>
        <p:grpSpPr>
          <a:xfrm>
            <a:off x="9122720" y="2164799"/>
            <a:ext cx="763351" cy="745544"/>
            <a:chOff x="9438603" y="3022873"/>
            <a:chExt cx="763351" cy="745544"/>
          </a:xfrm>
        </p:grpSpPr>
        <p:cxnSp>
          <p:nvCxnSpPr>
            <p:cNvPr id="122" name="曲線接點 121">
              <a:extLst>
                <a:ext uri="{FF2B5EF4-FFF2-40B4-BE49-F238E27FC236}">
                  <a16:creationId xmlns:a16="http://schemas.microsoft.com/office/drawing/2014/main" id="{2A220A9D-14A3-11F0-FC72-20FC8723C85D}"/>
                </a:ext>
              </a:extLst>
            </p:cNvPr>
            <p:cNvCxnSpPr>
              <a:cxnSpLocks/>
            </p:cNvCxnSpPr>
            <p:nvPr/>
          </p:nvCxnSpPr>
          <p:spPr>
            <a:xfrm rot="5400000" flipH="1" flipV="1">
              <a:off x="9437184" y="3396362"/>
              <a:ext cx="532353" cy="211757"/>
            </a:xfrm>
            <a:prstGeom prst="curvedConnector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4" name="文字方塊 123">
              <a:extLst>
                <a:ext uri="{FF2B5EF4-FFF2-40B4-BE49-F238E27FC236}">
                  <a16:creationId xmlns:a16="http://schemas.microsoft.com/office/drawing/2014/main" id="{CB343087-72B5-D098-2287-83C49D2A5B31}"/>
                </a:ext>
              </a:extLst>
            </p:cNvPr>
            <p:cNvSpPr txBox="1"/>
            <p:nvPr/>
          </p:nvSpPr>
          <p:spPr>
            <a:xfrm>
              <a:off x="9438603" y="3022873"/>
              <a:ext cx="763351"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CS‘:IP’</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grpSp>
        <p:nvGrpSpPr>
          <p:cNvPr id="15" name="群組 14">
            <a:extLst>
              <a:ext uri="{FF2B5EF4-FFF2-40B4-BE49-F238E27FC236}">
                <a16:creationId xmlns:a16="http://schemas.microsoft.com/office/drawing/2014/main" id="{0AE6E52C-8C7C-BA31-930B-5A459B487206}"/>
              </a:ext>
            </a:extLst>
          </p:cNvPr>
          <p:cNvGrpSpPr/>
          <p:nvPr/>
        </p:nvGrpSpPr>
        <p:grpSpPr>
          <a:xfrm>
            <a:off x="9629117" y="2327971"/>
            <a:ext cx="1572867" cy="607439"/>
            <a:chOff x="9945000" y="3186045"/>
            <a:chExt cx="1572867" cy="607439"/>
          </a:xfrm>
        </p:grpSpPr>
        <p:cxnSp>
          <p:nvCxnSpPr>
            <p:cNvPr id="125" name="曲線接點 124">
              <a:extLst>
                <a:ext uri="{FF2B5EF4-FFF2-40B4-BE49-F238E27FC236}">
                  <a16:creationId xmlns:a16="http://schemas.microsoft.com/office/drawing/2014/main" id="{CCD0E404-D1E0-CAA7-5F9F-0494CA59C474}"/>
                </a:ext>
              </a:extLst>
            </p:cNvPr>
            <p:cNvCxnSpPr>
              <a:cxnSpLocks/>
            </p:cNvCxnSpPr>
            <p:nvPr/>
          </p:nvCxnSpPr>
          <p:spPr>
            <a:xfrm rot="10800000">
              <a:off x="9945000" y="3312340"/>
              <a:ext cx="1024649" cy="481144"/>
            </a:xfrm>
            <a:prstGeom prst="curvedConnector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7" name="文字方塊 126">
              <a:extLst>
                <a:ext uri="{FF2B5EF4-FFF2-40B4-BE49-F238E27FC236}">
                  <a16:creationId xmlns:a16="http://schemas.microsoft.com/office/drawing/2014/main" id="{F14A7328-FFB8-6CD2-B6B4-52FF1161E3A7}"/>
                </a:ext>
              </a:extLst>
            </p:cNvPr>
            <p:cNvSpPr txBox="1"/>
            <p:nvPr/>
          </p:nvSpPr>
          <p:spPr>
            <a:xfrm>
              <a:off x="10318500" y="3186045"/>
              <a:ext cx="1199367" cy="307777"/>
            </a:xfrm>
            <a:prstGeom prst="rect">
              <a:avLst/>
            </a:prstGeom>
            <a:noFill/>
          </p:spPr>
          <p:txBody>
            <a:bodyPr wrap="none" rtlCol="0">
              <a:spAutoFit/>
            </a:bodyPr>
            <a:lstStyle/>
            <a:p>
              <a:r>
                <a:rPr kumimoji="1" lang="en-US" altLang="zh-TW" sz="1400" b="1" dirty="0">
                  <a:solidFill>
                    <a:srgbClr val="C00000"/>
                  </a:solidFill>
                  <a:latin typeface="Arial" panose="020B0604020202020204" pitchFamily="34" charset="0"/>
                  <a:cs typeface="Arial" panose="020B0604020202020204" pitchFamily="34" charset="0"/>
                </a:rPr>
                <a:t>Code of ISR</a:t>
              </a:r>
              <a:endParaRPr kumimoji="1" lang="zh-TW" altLang="en-US" sz="1400" b="1" dirty="0">
                <a:solidFill>
                  <a:srgbClr val="C00000"/>
                </a:solidFill>
                <a:latin typeface="Arial" panose="020B0604020202020204" pitchFamily="34" charset="0"/>
                <a:cs typeface="Arial" panose="020B0604020202020204" pitchFamily="34" charset="0"/>
              </a:endParaRPr>
            </a:p>
          </p:txBody>
        </p:sp>
      </p:grpSp>
      <p:sp>
        <p:nvSpPr>
          <p:cNvPr id="128" name="文字方塊 127">
            <a:extLst>
              <a:ext uri="{FF2B5EF4-FFF2-40B4-BE49-F238E27FC236}">
                <a16:creationId xmlns:a16="http://schemas.microsoft.com/office/drawing/2014/main" id="{92455F60-8B50-A9D1-0FC3-CDBCBC6A4C47}"/>
              </a:ext>
            </a:extLst>
          </p:cNvPr>
          <p:cNvSpPr txBox="1"/>
          <p:nvPr/>
        </p:nvSpPr>
        <p:spPr>
          <a:xfrm>
            <a:off x="9504395" y="1407389"/>
            <a:ext cx="2369559" cy="276999"/>
          </a:xfrm>
          <a:prstGeom prst="rect">
            <a:avLst/>
          </a:prstGeom>
          <a:noFill/>
        </p:spPr>
        <p:txBody>
          <a:bodyPr wrap="none" rtlCol="0">
            <a:spAutoFit/>
          </a:bodyPr>
          <a:lstStyle/>
          <a:p>
            <a:r>
              <a:rPr kumimoji="1" lang="en-US" altLang="zh-TW" sz="1200" b="1" dirty="0">
                <a:solidFill>
                  <a:schemeClr val="tx1">
                    <a:lumMod val="50000"/>
                    <a:lumOff val="50000"/>
                  </a:schemeClr>
                </a:solidFill>
                <a:latin typeface="Arial" panose="020B0604020202020204" pitchFamily="34" charset="0"/>
                <a:cs typeface="Arial" panose="020B0604020202020204" pitchFamily="34" charset="0"/>
              </a:rPr>
              <a:t>ISR=Interrupt Service</a:t>
            </a:r>
            <a:r>
              <a:rPr kumimoji="1" lang="zh-TW" altLang="en-US" sz="1200" b="1" dirty="0">
                <a:solidFill>
                  <a:schemeClr val="tx1">
                    <a:lumMod val="50000"/>
                    <a:lumOff val="50000"/>
                  </a:schemeClr>
                </a:solidFill>
                <a:latin typeface="Arial" panose="020B0604020202020204" pitchFamily="34" charset="0"/>
                <a:cs typeface="Arial" panose="020B0604020202020204" pitchFamily="34" charset="0"/>
              </a:rPr>
              <a:t> </a:t>
            </a:r>
            <a:r>
              <a:rPr kumimoji="1" lang="en-US" altLang="zh-TW" sz="1200" b="1" dirty="0">
                <a:solidFill>
                  <a:schemeClr val="tx1">
                    <a:lumMod val="50000"/>
                    <a:lumOff val="50000"/>
                  </a:schemeClr>
                </a:solidFill>
                <a:latin typeface="Arial" panose="020B0604020202020204" pitchFamily="34" charset="0"/>
                <a:cs typeface="Arial" panose="020B0604020202020204" pitchFamily="34" charset="0"/>
              </a:rPr>
              <a:t>Routine</a:t>
            </a:r>
            <a:endParaRPr kumimoji="1" lang="zh-TW" altLang="en-US" sz="1200" b="1"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6" name="文字方塊 5">
            <a:extLst>
              <a:ext uri="{FF2B5EF4-FFF2-40B4-BE49-F238E27FC236}">
                <a16:creationId xmlns:a16="http://schemas.microsoft.com/office/drawing/2014/main" id="{4C7D9ECD-EBE5-D22D-1C65-D8A72E8C566C}"/>
              </a:ext>
            </a:extLst>
          </p:cNvPr>
          <p:cNvSpPr txBox="1"/>
          <p:nvPr/>
        </p:nvSpPr>
        <p:spPr>
          <a:xfrm>
            <a:off x="0" y="6572147"/>
            <a:ext cx="7084440" cy="276999"/>
          </a:xfrm>
          <a:prstGeom prst="rect">
            <a:avLst/>
          </a:prstGeom>
          <a:noFill/>
        </p:spPr>
        <p:txBody>
          <a:bodyPr wrap="none" rtlCol="0">
            <a:spAutoFit/>
          </a:bodyPr>
          <a:lstStyle/>
          <a:p>
            <a:r>
              <a:rPr kumimoji="1" lang="en-US" altLang="zh-TW" sz="1200" dirty="0">
                <a:solidFill>
                  <a:schemeClr val="bg1">
                    <a:lumMod val="75000"/>
                  </a:schemeClr>
                </a:solidFill>
              </a:rPr>
              <a:t>Ref1:</a:t>
            </a:r>
            <a:r>
              <a:rPr kumimoji="1" lang="zh-TW" altLang="en-US" sz="1200" dirty="0">
                <a:solidFill>
                  <a:schemeClr val="bg1">
                    <a:lumMod val="75000"/>
                  </a:schemeClr>
                </a:solidFill>
              </a:rPr>
              <a:t> </a:t>
            </a:r>
            <a:r>
              <a:rPr kumimoji="1" lang="en-US" altLang="zh-TW" sz="1200" dirty="0">
                <a:solidFill>
                  <a:schemeClr val="bg1">
                    <a:lumMod val="75000"/>
                  </a:schemeClr>
                </a:solidFill>
              </a:rPr>
              <a:t>Fan, </a:t>
            </a:r>
            <a:r>
              <a:rPr kumimoji="1" lang="en-US" altLang="zh-TW" sz="1200" dirty="0" err="1">
                <a:solidFill>
                  <a:schemeClr val="bg1">
                    <a:lumMod val="75000"/>
                  </a:schemeClr>
                </a:solidFill>
              </a:rPr>
              <a:t>Xiaocong</a:t>
            </a:r>
            <a:r>
              <a:rPr kumimoji="1" lang="en-US" altLang="zh-TW" sz="1200" dirty="0">
                <a:solidFill>
                  <a:schemeClr val="bg1">
                    <a:lumMod val="75000"/>
                  </a:schemeClr>
                </a:solidFill>
              </a:rPr>
              <a:t>. Real-time embedded systems: design principles and engineering practices. </a:t>
            </a:r>
            <a:r>
              <a:rPr kumimoji="1" lang="en-US" altLang="zh-TW" sz="1200" dirty="0" err="1">
                <a:solidFill>
                  <a:schemeClr val="bg1">
                    <a:lumMod val="75000"/>
                  </a:schemeClr>
                </a:solidFill>
              </a:rPr>
              <a:t>Newnes</a:t>
            </a:r>
            <a:r>
              <a:rPr kumimoji="1" lang="en-US" altLang="zh-TW" sz="1200" dirty="0">
                <a:solidFill>
                  <a:schemeClr val="bg1">
                    <a:lumMod val="75000"/>
                  </a:schemeClr>
                </a:solidFill>
              </a:rPr>
              <a:t>, 2015.</a:t>
            </a:r>
          </a:p>
        </p:txBody>
      </p:sp>
      <p:sp>
        <p:nvSpPr>
          <p:cNvPr id="16" name="文字方塊 15">
            <a:extLst>
              <a:ext uri="{FF2B5EF4-FFF2-40B4-BE49-F238E27FC236}">
                <a16:creationId xmlns:a16="http://schemas.microsoft.com/office/drawing/2014/main" id="{9DB73002-1766-D1A6-664D-577C6E15F8E5}"/>
              </a:ext>
            </a:extLst>
          </p:cNvPr>
          <p:cNvSpPr txBox="1"/>
          <p:nvPr/>
        </p:nvSpPr>
        <p:spPr>
          <a:xfrm>
            <a:off x="-374469" y="1837509"/>
            <a:ext cx="184731" cy="369332"/>
          </a:xfrm>
          <a:prstGeom prst="rect">
            <a:avLst/>
          </a:prstGeom>
          <a:noFill/>
        </p:spPr>
        <p:txBody>
          <a:bodyPr wrap="none" rtlCol="0">
            <a:spAutoFit/>
          </a:bodyPr>
          <a:lstStyle/>
          <a:p>
            <a:endParaRPr kumimoji="1" lang="zh-TW" altLang="en-US"/>
          </a:p>
        </p:txBody>
      </p:sp>
    </p:spTree>
    <p:extLst>
      <p:ext uri="{BB962C8B-B14F-4D97-AF65-F5344CB8AC3E}">
        <p14:creationId xmlns:p14="http://schemas.microsoft.com/office/powerpoint/2010/main" val="1993835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8"/>
                                        </p:tgtEl>
                                      </p:cBhvr>
                                    </p:animEffect>
                                    <p:animScale>
                                      <p:cBhvr>
                                        <p:cTn id="7" dur="250" autoRev="1" fill="hold"/>
                                        <p:tgtEl>
                                          <p:spTgt spid="38"/>
                                        </p:tgtEl>
                                      </p:cBhvr>
                                      <p:by x="105000" y="105000"/>
                                    </p:animScale>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par>
                          <p:cTn id="14" fill="hold">
                            <p:stCondLst>
                              <p:cond delay="500"/>
                            </p:stCondLst>
                            <p:childTnLst>
                              <p:par>
                                <p:cTn id="15" presetID="22" presetClass="entr" presetSubtype="2"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09"/>
                                        </p:tgtEl>
                                        <p:attrNameLst>
                                          <p:attrName>style.visibility</p:attrName>
                                        </p:attrNameLst>
                                      </p:cBhvr>
                                      <p:to>
                                        <p:strVal val="visible"/>
                                      </p:to>
                                    </p:set>
                                    <p:animEffect transition="in" filter="fade">
                                      <p:cBhvr>
                                        <p:cTn id="43" dur="500"/>
                                        <p:tgtEl>
                                          <p:spTgt spid="109"/>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109"/>
                                        </p:tgtEl>
                                        <p:attrNameLst>
                                          <p:attrName>style.visibility</p:attrName>
                                        </p:attrNameLst>
                                      </p:cBhvr>
                                      <p:to>
                                        <p:strVal val="hidden"/>
                                      </p:to>
                                    </p:set>
                                  </p:childTnLst>
                                </p:cTn>
                              </p:par>
                              <p:par>
                                <p:cTn id="48" presetID="10" presetClass="entr" presetSubtype="0" fill="hold" nodeType="withEffect">
                                  <p:stCondLst>
                                    <p:cond delay="0"/>
                                  </p:stCondLst>
                                  <p:childTnLst>
                                    <p:set>
                                      <p:cBhvr>
                                        <p:cTn id="49" dur="1" fill="hold">
                                          <p:stCondLst>
                                            <p:cond delay="0"/>
                                          </p:stCondLst>
                                        </p:cTn>
                                        <p:tgtEl>
                                          <p:spTgt spid="3">
                                            <p:txEl>
                                              <p:pRg st="4" end="4"/>
                                            </p:txEl>
                                          </p:spTgt>
                                        </p:tgtEl>
                                        <p:attrNameLst>
                                          <p:attrName>style.visibility</p:attrName>
                                        </p:attrNameLst>
                                      </p:cBhvr>
                                      <p:to>
                                        <p:strVal val="visible"/>
                                      </p:to>
                                    </p:set>
                                    <p:animEffect transition="in" filter="fade">
                                      <p:cBhvr>
                                        <p:cTn id="50" dur="500"/>
                                        <p:tgtEl>
                                          <p:spTgt spid="3">
                                            <p:txEl>
                                              <p:pRg st="4" end="4"/>
                                            </p:txEl>
                                          </p:spTgt>
                                        </p:tgtEl>
                                      </p:cBhvr>
                                    </p:animEffect>
                                  </p:childTnLst>
                                </p:cTn>
                              </p:par>
                            </p:childTnLst>
                          </p:cTn>
                        </p:par>
                        <p:par>
                          <p:cTn id="51" fill="hold">
                            <p:stCondLst>
                              <p:cond delay="500"/>
                            </p:stCondLst>
                            <p:childTnLst>
                              <p:par>
                                <p:cTn id="52" presetID="22" presetClass="entr" presetSubtype="4" fill="hold"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down)">
                                      <p:cBhvr>
                                        <p:cTn id="54"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childTnLst>
                                </p:cTn>
                              </p:par>
                              <p:par>
                                <p:cTn id="60" presetID="10" presetClass="entr" presetSubtype="0" fill="hold" nodeType="withEffect">
                                  <p:stCondLst>
                                    <p:cond delay="0"/>
                                  </p:stCondLst>
                                  <p:childTnLst>
                                    <p:set>
                                      <p:cBhvr>
                                        <p:cTn id="61" dur="1" fill="hold">
                                          <p:stCondLst>
                                            <p:cond delay="0"/>
                                          </p:stCondLst>
                                        </p:cTn>
                                        <p:tgtEl>
                                          <p:spTgt spid="3">
                                            <p:txEl>
                                              <p:pRg st="5" end="5"/>
                                            </p:txEl>
                                          </p:spTgt>
                                        </p:tgtEl>
                                        <p:attrNameLst>
                                          <p:attrName>style.visibility</p:attrName>
                                        </p:attrNameLst>
                                      </p:cBhvr>
                                      <p:to>
                                        <p:strVal val="visible"/>
                                      </p:to>
                                    </p:set>
                                    <p:animEffect transition="in" filter="fade">
                                      <p:cBhvr>
                                        <p:cTn id="62" dur="500"/>
                                        <p:tgtEl>
                                          <p:spTgt spid="3">
                                            <p:txEl>
                                              <p:pRg st="5" end="5"/>
                                            </p:txEl>
                                          </p:spTgt>
                                        </p:tgtEl>
                                      </p:cBhvr>
                                    </p:animEffect>
                                  </p:childTnLst>
                                </p:cTn>
                              </p:par>
                            </p:childTnLst>
                          </p:cTn>
                        </p:par>
                        <p:par>
                          <p:cTn id="63" fill="hold">
                            <p:stCondLst>
                              <p:cond delay="500"/>
                            </p:stCondLst>
                            <p:childTnLst>
                              <p:par>
                                <p:cTn id="64" presetID="22" presetClass="entr" presetSubtype="2" fill="hold"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right)">
                                      <p:cBhvr>
                                        <p:cTn id="6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109" grpId="0"/>
      <p:bldP spid="109"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679866-913C-A073-6986-1295654BE079}"/>
              </a:ext>
            </a:extLst>
          </p:cNvPr>
          <p:cNvSpPr>
            <a:spLocks noGrp="1"/>
          </p:cNvSpPr>
          <p:nvPr>
            <p:ph type="title"/>
          </p:nvPr>
        </p:nvSpPr>
        <p:spPr/>
        <p:txBody>
          <a:bodyPr/>
          <a:lstStyle/>
          <a:p>
            <a:r>
              <a:rPr kumimoji="1" lang="en-US" altLang="zh-TW" dirty="0"/>
              <a:t>Interrupt Handler</a:t>
            </a:r>
            <a:endParaRPr kumimoji="1" lang="zh-TW" altLang="en-US" dirty="0"/>
          </a:p>
        </p:txBody>
      </p:sp>
      <p:sp>
        <p:nvSpPr>
          <p:cNvPr id="3" name="內容版面配置區 2">
            <a:extLst>
              <a:ext uri="{FF2B5EF4-FFF2-40B4-BE49-F238E27FC236}">
                <a16:creationId xmlns:a16="http://schemas.microsoft.com/office/drawing/2014/main" id="{80109A77-5AC8-2023-4C95-A90A404A044B}"/>
              </a:ext>
            </a:extLst>
          </p:cNvPr>
          <p:cNvSpPr>
            <a:spLocks noGrp="1"/>
          </p:cNvSpPr>
          <p:nvPr>
            <p:ph idx="1"/>
          </p:nvPr>
        </p:nvSpPr>
        <p:spPr/>
        <p:txBody>
          <a:bodyPr/>
          <a:lstStyle/>
          <a:p>
            <a:r>
              <a:rPr kumimoji="1" lang="en-US" altLang="zh-TW" dirty="0"/>
              <a:t>Interrupt</a:t>
            </a:r>
            <a:r>
              <a:rPr kumimoji="1" lang="zh-TW" altLang="en-US" dirty="0"/>
              <a:t> </a:t>
            </a:r>
            <a:r>
              <a:rPr kumimoji="1" lang="en-US" altLang="zh-TW" dirty="0"/>
              <a:t>Service</a:t>
            </a:r>
            <a:r>
              <a:rPr kumimoji="1" lang="zh-TW" altLang="en-US" dirty="0"/>
              <a:t> </a:t>
            </a:r>
            <a:r>
              <a:rPr lang="en-US" altLang="zh-TW" dirty="0"/>
              <a:t>Routine (ISR)</a:t>
            </a:r>
            <a:r>
              <a:rPr lang="zh-TW" altLang="en-US" dirty="0"/>
              <a:t> </a:t>
            </a:r>
            <a:r>
              <a:rPr lang="en-US" altLang="zh-TW" dirty="0"/>
              <a:t>or</a:t>
            </a:r>
            <a:r>
              <a:rPr lang="zh-TW" altLang="en-US" dirty="0"/>
              <a:t> </a:t>
            </a:r>
            <a:r>
              <a:rPr lang="en-US" altLang="zh-TW" dirty="0"/>
              <a:t>Interrupt</a:t>
            </a:r>
            <a:r>
              <a:rPr lang="zh-TW" altLang="en-US" dirty="0"/>
              <a:t> </a:t>
            </a:r>
            <a:r>
              <a:rPr lang="en-US" altLang="zh-TW" dirty="0"/>
              <a:t>Handler:</a:t>
            </a:r>
            <a:r>
              <a:rPr lang="zh-TW" altLang="en-US" dirty="0"/>
              <a:t> </a:t>
            </a:r>
            <a:r>
              <a:rPr lang="en-US" altLang="zh-TW" dirty="0"/>
              <a:t>The</a:t>
            </a:r>
            <a:r>
              <a:rPr lang="zh-TW" altLang="en-US" dirty="0"/>
              <a:t> </a:t>
            </a:r>
            <a:r>
              <a:rPr lang="en-US" altLang="zh-TW" dirty="0"/>
              <a:t>function</a:t>
            </a:r>
            <a:r>
              <a:rPr lang="zh-TW" altLang="en-US" dirty="0"/>
              <a:t> </a:t>
            </a:r>
            <a:r>
              <a:rPr lang="en-US" altLang="zh-TW" dirty="0"/>
              <a:t>the</a:t>
            </a:r>
            <a:r>
              <a:rPr lang="zh-TW" altLang="en-US" dirty="0"/>
              <a:t> </a:t>
            </a:r>
            <a:r>
              <a:rPr lang="en-US" altLang="zh-TW" dirty="0"/>
              <a:t>kernel</a:t>
            </a:r>
            <a:r>
              <a:rPr lang="zh-TW" altLang="en-US" dirty="0"/>
              <a:t> </a:t>
            </a:r>
            <a:r>
              <a:rPr lang="en-US" altLang="zh-TW" dirty="0"/>
              <a:t>runs</a:t>
            </a:r>
            <a:r>
              <a:rPr lang="zh-TW" altLang="en-US" dirty="0"/>
              <a:t> </a:t>
            </a:r>
            <a:r>
              <a:rPr lang="en-US" altLang="zh-TW" dirty="0"/>
              <a:t>in</a:t>
            </a:r>
            <a:r>
              <a:rPr lang="zh-TW" altLang="en-US" dirty="0"/>
              <a:t> </a:t>
            </a:r>
            <a:r>
              <a:rPr lang="en-US" altLang="zh-TW" dirty="0"/>
              <a:t>response</a:t>
            </a:r>
            <a:r>
              <a:rPr lang="zh-TW" altLang="en-US" dirty="0"/>
              <a:t> </a:t>
            </a:r>
            <a:r>
              <a:rPr lang="en-US" altLang="zh-TW" dirty="0"/>
              <a:t>to</a:t>
            </a:r>
            <a:r>
              <a:rPr lang="zh-TW" altLang="en-US" dirty="0"/>
              <a:t> </a:t>
            </a:r>
            <a:r>
              <a:rPr lang="en-US" altLang="zh-TW" dirty="0"/>
              <a:t>a</a:t>
            </a:r>
            <a:r>
              <a:rPr lang="zh-TW" altLang="en-US" dirty="0"/>
              <a:t> </a:t>
            </a:r>
            <a:r>
              <a:rPr lang="en-US" altLang="zh-TW" dirty="0"/>
              <a:t>specific</a:t>
            </a:r>
            <a:r>
              <a:rPr lang="zh-TW" altLang="en-US" dirty="0"/>
              <a:t> </a:t>
            </a:r>
            <a:r>
              <a:rPr lang="en-US" altLang="zh-TW" dirty="0"/>
              <a:t>interrupt.</a:t>
            </a:r>
          </a:p>
          <a:p>
            <a:pPr lvl="1"/>
            <a:r>
              <a:rPr kumimoji="1" lang="en-US" altLang="zh-TW" dirty="0"/>
              <a:t>It</a:t>
            </a:r>
            <a:r>
              <a:rPr kumimoji="1" lang="zh-TW" altLang="en-US" dirty="0"/>
              <a:t> </a:t>
            </a:r>
            <a:r>
              <a:rPr kumimoji="1" lang="en-US" altLang="zh-TW" dirty="0"/>
              <a:t>is</a:t>
            </a:r>
            <a:r>
              <a:rPr kumimoji="1" lang="zh-TW" altLang="en-US" dirty="0"/>
              <a:t> </a:t>
            </a:r>
            <a:r>
              <a:rPr kumimoji="1" lang="en-US" altLang="zh-TW" dirty="0"/>
              <a:t>part</a:t>
            </a:r>
            <a:r>
              <a:rPr kumimoji="1" lang="zh-TW" altLang="en-US" dirty="0"/>
              <a:t> </a:t>
            </a:r>
            <a:r>
              <a:rPr kumimoji="1" lang="en-US" altLang="zh-TW" dirty="0"/>
              <a:t>of</a:t>
            </a:r>
            <a:r>
              <a:rPr kumimoji="1" lang="zh-TW" altLang="en-US" dirty="0"/>
              <a:t> </a:t>
            </a:r>
            <a:r>
              <a:rPr kumimoji="1" lang="en-US" altLang="zh-TW" dirty="0"/>
              <a:t>a</a:t>
            </a:r>
            <a:r>
              <a:rPr kumimoji="1" lang="zh-TW" altLang="en-US" dirty="0"/>
              <a:t> </a:t>
            </a:r>
            <a:r>
              <a:rPr kumimoji="1" lang="en-US" altLang="zh-TW" dirty="0">
                <a:solidFill>
                  <a:srgbClr val="C00000"/>
                </a:solidFill>
              </a:rPr>
              <a:t>device</a:t>
            </a:r>
            <a:r>
              <a:rPr kumimoji="1" lang="zh-TW" altLang="en-US" dirty="0">
                <a:solidFill>
                  <a:srgbClr val="C00000"/>
                </a:solidFill>
              </a:rPr>
              <a:t> </a:t>
            </a:r>
            <a:r>
              <a:rPr kumimoji="1" lang="en-US" altLang="zh-TW" dirty="0">
                <a:solidFill>
                  <a:srgbClr val="C00000"/>
                </a:solidFill>
              </a:rPr>
              <a:t>driver</a:t>
            </a:r>
            <a:r>
              <a:rPr kumimoji="1" lang="zh-TW" altLang="en-US" dirty="0">
                <a:solidFill>
                  <a:srgbClr val="C00000"/>
                </a:solidFill>
              </a:rPr>
              <a:t> </a:t>
            </a:r>
            <a:r>
              <a:rPr kumimoji="1" lang="en-US" altLang="zh-TW" dirty="0"/>
              <a:t>(the</a:t>
            </a:r>
            <a:r>
              <a:rPr kumimoji="1" lang="zh-TW" altLang="en-US" dirty="0"/>
              <a:t> </a:t>
            </a:r>
            <a:r>
              <a:rPr kumimoji="1" lang="en-US" altLang="zh-TW" dirty="0">
                <a:solidFill>
                  <a:srgbClr val="C00000"/>
                </a:solidFill>
              </a:rPr>
              <a:t>kernel</a:t>
            </a:r>
            <a:r>
              <a:rPr kumimoji="1" lang="zh-TW" altLang="en-US" dirty="0">
                <a:solidFill>
                  <a:srgbClr val="C00000"/>
                </a:solidFill>
              </a:rPr>
              <a:t> </a:t>
            </a:r>
            <a:r>
              <a:rPr kumimoji="1" lang="en-US" altLang="zh-TW" dirty="0">
                <a:solidFill>
                  <a:srgbClr val="C00000"/>
                </a:solidFill>
              </a:rPr>
              <a:t>code</a:t>
            </a:r>
            <a:r>
              <a:rPr kumimoji="1" lang="zh-TW" altLang="en-US" dirty="0">
                <a:solidFill>
                  <a:srgbClr val="C00000"/>
                </a:solidFill>
              </a:rPr>
              <a:t> </a:t>
            </a:r>
            <a:r>
              <a:rPr kumimoji="1" lang="en-US" altLang="zh-TW" dirty="0"/>
              <a:t>manages</a:t>
            </a:r>
            <a:r>
              <a:rPr kumimoji="1" lang="zh-TW" altLang="en-US" dirty="0"/>
              <a:t> </a:t>
            </a:r>
            <a:r>
              <a:rPr kumimoji="1" lang="en-US" altLang="zh-TW" dirty="0"/>
              <a:t>the</a:t>
            </a:r>
            <a:r>
              <a:rPr kumimoji="1" lang="zh-TW" altLang="en-US" dirty="0"/>
              <a:t> </a:t>
            </a:r>
            <a:r>
              <a:rPr kumimoji="1" lang="en-US" altLang="zh-TW" dirty="0"/>
              <a:t>device)</a:t>
            </a:r>
          </a:p>
          <a:p>
            <a:r>
              <a:rPr lang="en-US" altLang="zh-TW" dirty="0"/>
              <a:t>Challenge: ISR is </a:t>
            </a:r>
            <a:r>
              <a:rPr lang="en-US" altLang="zh-TW" dirty="0">
                <a:solidFill>
                  <a:srgbClr val="C00000"/>
                </a:solidFill>
              </a:rPr>
              <a:t>non-</a:t>
            </a:r>
            <a:r>
              <a:rPr lang="en-US" altLang="zh-TW" dirty="0" err="1">
                <a:solidFill>
                  <a:srgbClr val="C00000"/>
                </a:solidFill>
              </a:rPr>
              <a:t>blockable</a:t>
            </a:r>
            <a:r>
              <a:rPr lang="en-US" altLang="zh-TW" dirty="0">
                <a:solidFill>
                  <a:srgbClr val="C00000"/>
                </a:solidFill>
              </a:rPr>
              <a:t> (Cannot Sleep)</a:t>
            </a:r>
            <a:r>
              <a:rPr lang="en-US" altLang="zh-TW" dirty="0"/>
              <a:t>. The handler shall run quickly, to resume execution of the interrupted code as soon as possible. </a:t>
            </a:r>
            <a:endParaRPr kumimoji="1" lang="en-US" altLang="zh-TW" dirty="0"/>
          </a:p>
          <a:p>
            <a:r>
              <a:rPr kumimoji="1" lang="en-US" altLang="zh-TW" dirty="0"/>
              <a:t>Split the ISR into two parts (Top Halves + Bottom Halves):</a:t>
            </a:r>
          </a:p>
          <a:p>
            <a:pPr lvl="1"/>
            <a:r>
              <a:rPr kumimoji="1" lang="en-US" altLang="zh-TW" dirty="0"/>
              <a:t>Top Halves: </a:t>
            </a:r>
            <a:r>
              <a:rPr lang="en-US" altLang="zh-TW" dirty="0">
                <a:solidFill>
                  <a:srgbClr val="C00000"/>
                </a:solidFill>
              </a:rPr>
              <a:t>Run immediately </a:t>
            </a:r>
            <a:r>
              <a:rPr lang="en-US" altLang="zh-TW" dirty="0"/>
              <a:t>upon receipt of the interrupt and performs only the </a:t>
            </a:r>
            <a:r>
              <a:rPr lang="en-US" altLang="zh-TW" dirty="0">
                <a:solidFill>
                  <a:srgbClr val="C00000"/>
                </a:solidFill>
              </a:rPr>
              <a:t>work that is time-critical</a:t>
            </a:r>
            <a:r>
              <a:rPr lang="en-US" altLang="zh-TW" dirty="0"/>
              <a:t>.</a:t>
            </a:r>
            <a:endParaRPr kumimoji="1" lang="en-US" altLang="zh-TW" dirty="0"/>
          </a:p>
          <a:p>
            <a:pPr lvl="1"/>
            <a:r>
              <a:rPr lang="en-US" altLang="zh-TW" dirty="0"/>
              <a:t>Bottom Halves: Work that can be performed later is </a:t>
            </a:r>
            <a:r>
              <a:rPr lang="en-US" altLang="zh-TW" dirty="0">
                <a:solidFill>
                  <a:srgbClr val="C00000"/>
                </a:solidFill>
              </a:rPr>
              <a:t>deferred</a:t>
            </a:r>
            <a:r>
              <a:rPr lang="en-US" altLang="zh-TW" dirty="0"/>
              <a:t> until the bottom half.</a:t>
            </a:r>
          </a:p>
          <a:p>
            <a:pPr lvl="1"/>
            <a:r>
              <a:rPr kumimoji="1" lang="en-US" altLang="zh-TW" dirty="0"/>
              <a:t>Example: </a:t>
            </a:r>
          </a:p>
          <a:p>
            <a:pPr marL="1371600" lvl="2" indent="-457200">
              <a:buFont typeface="+mj-lt"/>
              <a:buAutoNum type="arabicPeriod"/>
            </a:pPr>
            <a:r>
              <a:rPr kumimoji="1" lang="en-US" altLang="zh-TW" dirty="0"/>
              <a:t>A network </a:t>
            </a:r>
            <a:r>
              <a:rPr lang="en-US" altLang="zh-TW" dirty="0"/>
              <a:t>c</a:t>
            </a:r>
            <a:r>
              <a:rPr kumimoji="1" lang="en-US" altLang="zh-TW" dirty="0"/>
              <a:t>ard </a:t>
            </a:r>
            <a:r>
              <a:rPr lang="en-US" altLang="zh-TW" dirty="0"/>
              <a:t>r</a:t>
            </a:r>
            <a:r>
              <a:rPr kumimoji="1" lang="en-US" altLang="zh-TW" dirty="0"/>
              <a:t>eceived a Packet. </a:t>
            </a:r>
          </a:p>
          <a:p>
            <a:pPr marL="1371600" lvl="2" indent="-457200">
              <a:buFont typeface="+mj-lt"/>
              <a:buAutoNum type="arabicPeriod"/>
            </a:pPr>
            <a:r>
              <a:rPr lang="en-US" altLang="zh-TW" dirty="0"/>
              <a:t>T</a:t>
            </a:r>
            <a:r>
              <a:rPr kumimoji="1" lang="en-US" altLang="zh-TW" dirty="0"/>
              <a:t>op Halves move the packet from the buffer in the network card to host memory. </a:t>
            </a:r>
          </a:p>
          <a:p>
            <a:pPr marL="1371600" lvl="2" indent="-457200">
              <a:buFont typeface="+mj-lt"/>
              <a:buAutoNum type="arabicPeriod"/>
            </a:pPr>
            <a:r>
              <a:rPr kumimoji="1" lang="en-US" altLang="zh-TW" dirty="0"/>
              <a:t>Bottom Halves will process the packet later</a:t>
            </a:r>
            <a:r>
              <a:rPr lang="en-US" altLang="zh-TW" dirty="0"/>
              <a:t>.</a:t>
            </a:r>
            <a:endParaRPr kumimoji="1" lang="zh-TW" altLang="en-US" dirty="0"/>
          </a:p>
        </p:txBody>
      </p:sp>
      <p:sp>
        <p:nvSpPr>
          <p:cNvPr id="4" name="投影片編號版面配置區 3">
            <a:extLst>
              <a:ext uri="{FF2B5EF4-FFF2-40B4-BE49-F238E27FC236}">
                <a16:creationId xmlns:a16="http://schemas.microsoft.com/office/drawing/2014/main" id="{009481E5-4339-55E9-65B7-914221CEF4C9}"/>
              </a:ext>
            </a:extLst>
          </p:cNvPr>
          <p:cNvSpPr>
            <a:spLocks noGrp="1"/>
          </p:cNvSpPr>
          <p:nvPr>
            <p:ph type="sldNum" sz="quarter" idx="4"/>
          </p:nvPr>
        </p:nvSpPr>
        <p:spPr/>
        <p:txBody>
          <a:bodyPr/>
          <a:lstStyle/>
          <a:p>
            <a:fld id="{E24E6636-6BA5-4AAC-8485-BE8D914D288B}" type="slidenum">
              <a:rPr lang="zh-TW" altLang="en-US" smtClean="0"/>
              <a:pPr/>
              <a:t>13</a:t>
            </a:fld>
            <a:endParaRPr lang="zh-TW" altLang="en-US" dirty="0"/>
          </a:p>
        </p:txBody>
      </p:sp>
    </p:spTree>
    <p:extLst>
      <p:ext uri="{BB962C8B-B14F-4D97-AF65-F5344CB8AC3E}">
        <p14:creationId xmlns:p14="http://schemas.microsoft.com/office/powerpoint/2010/main" val="3294062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9" presetClass="emph" presetSubtype="0" nodeType="withEffect">
                                  <p:stCondLst>
                                    <p:cond delay="0"/>
                                  </p:stCondLst>
                                  <p:childTnLst>
                                    <p:set>
                                      <p:cBhvr>
                                        <p:cTn id="14" dur="indefinite"/>
                                        <p:tgtEl>
                                          <p:spTgt spid="3">
                                            <p:txEl>
                                              <p:pRg st="0" end="0"/>
                                            </p:txEl>
                                          </p:spTgt>
                                        </p:tgtEl>
                                        <p:attrNameLst>
                                          <p:attrName>style.opacity</p:attrName>
                                        </p:attrNameLst>
                                      </p:cBhvr>
                                      <p:to>
                                        <p:strVal val="0.5"/>
                                      </p:to>
                                    </p:set>
                                    <p:animEffect filter="image" prLst="opacity: 0.5">
                                      <p:cBhvr rctx="IE">
                                        <p:cTn id="15" dur="indefinite"/>
                                        <p:tgtEl>
                                          <p:spTgt spid="3">
                                            <p:txEl>
                                              <p:pRg st="0" end="0"/>
                                            </p:txEl>
                                          </p:spTgt>
                                        </p:tgtEl>
                                      </p:cBhvr>
                                    </p:animEffect>
                                  </p:childTnLst>
                                </p:cTn>
                              </p:par>
                              <p:par>
                                <p:cTn id="16" presetID="9" presetClass="emph" presetSubtype="0" nodeType="withEffect">
                                  <p:stCondLst>
                                    <p:cond delay="0"/>
                                  </p:stCondLst>
                                  <p:childTnLst>
                                    <p:set>
                                      <p:cBhvr>
                                        <p:cTn id="17" dur="indefinite"/>
                                        <p:tgtEl>
                                          <p:spTgt spid="3">
                                            <p:txEl>
                                              <p:pRg st="1" end="1"/>
                                            </p:txEl>
                                          </p:spTgt>
                                        </p:tgtEl>
                                        <p:attrNameLst>
                                          <p:attrName>style.opacity</p:attrName>
                                        </p:attrNameLst>
                                      </p:cBhvr>
                                      <p:to>
                                        <p:strVal val="0.5"/>
                                      </p:to>
                                    </p:set>
                                    <p:animEffect filter="image" prLst="opacity: 0.5">
                                      <p:cBhvr rctx="IE">
                                        <p:cTn id="18" dur="indefinite"/>
                                        <p:tgtEl>
                                          <p:spTgt spid="3">
                                            <p:txEl>
                                              <p:pRg st="1" end="1"/>
                                            </p:txEl>
                                          </p:spTgt>
                                        </p:tgtEl>
                                      </p:cBhvr>
                                    </p:animEffect>
                                  </p:childTnLst>
                                </p:cTn>
                              </p:par>
                              <p:par>
                                <p:cTn id="19" presetID="9" presetClass="emph" presetSubtype="0" nodeType="withEffect">
                                  <p:stCondLst>
                                    <p:cond delay="0"/>
                                  </p:stCondLst>
                                  <p:childTnLst>
                                    <p:set>
                                      <p:cBhvr>
                                        <p:cTn id="20" dur="indefinite"/>
                                        <p:tgtEl>
                                          <p:spTgt spid="3">
                                            <p:txEl>
                                              <p:pRg st="2" end="2"/>
                                            </p:txEl>
                                          </p:spTgt>
                                        </p:tgtEl>
                                        <p:attrNameLst>
                                          <p:attrName>style.opacity</p:attrName>
                                        </p:attrNameLst>
                                      </p:cBhvr>
                                      <p:to>
                                        <p:strVal val="0.5"/>
                                      </p:to>
                                    </p:set>
                                    <p:animEffect filter="image" prLst="opacity: 0.5">
                                      <p:cBhvr rctx="IE">
                                        <p:cTn id="21" dur="indefinite"/>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500"/>
                                        <p:tgtEl>
                                          <p:spTgt spid="3">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288CDF1-12CA-49D6-0840-E34C8599A6E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D7B5818-612A-2E3F-B545-3A8573A48132}"/>
              </a:ext>
            </a:extLst>
          </p:cNvPr>
          <p:cNvSpPr>
            <a:spLocks noGrp="1"/>
          </p:cNvSpPr>
          <p:nvPr>
            <p:ph type="title"/>
          </p:nvPr>
        </p:nvSpPr>
        <p:spPr/>
        <p:txBody>
          <a:bodyPr/>
          <a:lstStyle/>
          <a:p>
            <a:r>
              <a:rPr kumimoji="1" lang="en-US" altLang="zh-TW" dirty="0"/>
              <a:t>Q &amp; A</a:t>
            </a:r>
            <a:endParaRPr kumimoji="1" lang="zh-TW" altLang="en-US" dirty="0"/>
          </a:p>
        </p:txBody>
      </p:sp>
      <p:sp>
        <p:nvSpPr>
          <p:cNvPr id="3" name="內容版面配置區 2">
            <a:extLst>
              <a:ext uri="{FF2B5EF4-FFF2-40B4-BE49-F238E27FC236}">
                <a16:creationId xmlns:a16="http://schemas.microsoft.com/office/drawing/2014/main" id="{288A43FE-3B59-4569-C5B4-8CDC750701AC}"/>
              </a:ext>
            </a:extLst>
          </p:cNvPr>
          <p:cNvSpPr>
            <a:spLocks noGrp="1"/>
          </p:cNvSpPr>
          <p:nvPr>
            <p:ph idx="1"/>
          </p:nvPr>
        </p:nvSpPr>
        <p:spPr/>
        <p:txBody>
          <a:bodyPr>
            <a:normAutofit fontScale="92500" lnSpcReduction="20000"/>
          </a:bodyPr>
          <a:lstStyle/>
          <a:p>
            <a:r>
              <a:rPr kumimoji="1" lang="en-US" altLang="zh-TW" dirty="0"/>
              <a:t>Q1: </a:t>
            </a:r>
            <a:r>
              <a:rPr lang="en-US" altLang="zh-TW" dirty="0"/>
              <a:t>In kernel 2.5, we have active array and expired array. So, active array is a kind of running queue, while expired array is like a waiting queue? </a:t>
            </a:r>
            <a:r>
              <a:rPr kumimoji="1" lang="en-US" altLang="zh-TW" u="sng" dirty="0"/>
              <a:t>Ans: </a:t>
            </a:r>
            <a:r>
              <a:rPr lang="en-US" altLang="zh-TW" dirty="0">
                <a:solidFill>
                  <a:srgbClr val="C00000"/>
                </a:solidFill>
              </a:rPr>
              <a:t>The expired array is not the same as the sleep/wait queues. Blocked/sleeping tasks are removed from the priority arrays and sit in wait queues until they become runnable again. The expired array simply holds runnable tasks that have used up their current quantum and will only be considered again after the active/expired swap.</a:t>
            </a:r>
            <a:endParaRPr kumimoji="1" lang="en-US" altLang="zh-TW" u="sng" dirty="0"/>
          </a:p>
          <a:p>
            <a:r>
              <a:rPr lang="en-US" altLang="zh-TW" dirty="0"/>
              <a:t>Q2: Why did the O(N) scheduler used before Linux Kernel 2.4 become inefficient when the number of processes increased, and how did the O(1) scheduler in Kernel 2.5 improve scalability with its active/ expired arrays and bitmap design?. </a:t>
            </a:r>
            <a:r>
              <a:rPr lang="en-US" altLang="zh-TW" u="sng" dirty="0"/>
              <a:t>Ans: </a:t>
            </a:r>
            <a:r>
              <a:rPr lang="en-US" altLang="zh-TW" dirty="0"/>
              <a:t>During the boot process, the kernel image is stored on disk (e.g., SSD, HDD, or flash memory), and it needs to be loaded into main memory (RAM) before execution can begin.</a:t>
            </a:r>
          </a:p>
          <a:p>
            <a:r>
              <a:rPr lang="en-US" altLang="zh-TW" dirty="0"/>
              <a:t>Q3:</a:t>
            </a:r>
            <a:r>
              <a:rPr lang="en-US" altLang="zh-TW" dirty="0">
                <a:latin typeface="Calibri Light" panose="020F0302020204030204" pitchFamily="34" charset="0"/>
                <a:cs typeface="Calibri Light" panose="020F0302020204030204" pitchFamily="34" charset="0"/>
              </a:rPr>
              <a:t> </a:t>
            </a:r>
            <a:r>
              <a:rPr lang="en-US" altLang="zh-TW" dirty="0" err="1">
                <a:latin typeface="Calibri Light" panose="020F0302020204030204" pitchFamily="34" charset="0"/>
                <a:cs typeface="Calibri Light" panose="020F0302020204030204" pitchFamily="34" charset="0"/>
              </a:rPr>
              <a:t>init</a:t>
            </a:r>
            <a:r>
              <a:rPr lang="en-US" altLang="zh-TW" dirty="0"/>
              <a:t> process is a </a:t>
            </a:r>
            <a:r>
              <a:rPr lang="en-US" altLang="zh-TW" dirty="0">
                <a:solidFill>
                  <a:srgbClr val="C00000"/>
                </a:solidFill>
              </a:rPr>
              <a:t>user process </a:t>
            </a:r>
            <a:r>
              <a:rPr lang="en-US" altLang="zh-TW" dirty="0"/>
              <a:t>not kernel process.</a:t>
            </a:r>
          </a:p>
          <a:p>
            <a:r>
              <a:rPr kumimoji="1" lang="en-US" altLang="zh-TW" dirty="0"/>
              <a:t>Q4: </a:t>
            </a:r>
            <a:r>
              <a:rPr lang="en-US" altLang="zh-TW" dirty="0">
                <a:effectLst/>
              </a:rPr>
              <a:t>If the C library is in user space, how does the OS understand C code in kernel space? </a:t>
            </a:r>
            <a:r>
              <a:rPr lang="en-US" altLang="zh-TW" u="sng" dirty="0">
                <a:effectLst/>
              </a:rPr>
              <a:t>Ans:</a:t>
            </a:r>
            <a:r>
              <a:rPr lang="en-US" altLang="zh-TW" dirty="0">
                <a:effectLst/>
              </a:rPr>
              <a:t> kernel does not use standard C library. Kernel programming uses </a:t>
            </a:r>
            <a:r>
              <a:rPr lang="en-US" altLang="zh-TW" dirty="0">
                <a:solidFill>
                  <a:srgbClr val="C00000"/>
                </a:solidFill>
                <a:effectLst/>
              </a:rPr>
              <a:t>kernel C code</a:t>
            </a:r>
            <a:r>
              <a:rPr lang="en-US" altLang="zh-TW" dirty="0">
                <a:effectLst/>
              </a:rPr>
              <a:t>.</a:t>
            </a:r>
          </a:p>
          <a:p>
            <a:endParaRPr kumimoji="1" lang="zh-TW" altLang="en-US" dirty="0"/>
          </a:p>
        </p:txBody>
      </p:sp>
      <p:sp>
        <p:nvSpPr>
          <p:cNvPr id="4" name="投影片編號版面配置區 3">
            <a:extLst>
              <a:ext uri="{FF2B5EF4-FFF2-40B4-BE49-F238E27FC236}">
                <a16:creationId xmlns:a16="http://schemas.microsoft.com/office/drawing/2014/main" id="{D02FFBDA-5DA0-52E9-F852-F4DEB0AAE27B}"/>
              </a:ext>
            </a:extLst>
          </p:cNvPr>
          <p:cNvSpPr>
            <a:spLocks noGrp="1"/>
          </p:cNvSpPr>
          <p:nvPr>
            <p:ph type="sldNum" sz="quarter" idx="4"/>
          </p:nvPr>
        </p:nvSpPr>
        <p:spPr/>
        <p:txBody>
          <a:bodyPr/>
          <a:lstStyle/>
          <a:p>
            <a:fld id="{E24E6636-6BA5-4AAC-8485-BE8D914D288B}" type="slidenum">
              <a:rPr lang="zh-TW" altLang="en-US" smtClean="0"/>
              <a:pPr/>
              <a:t>14</a:t>
            </a:fld>
            <a:endParaRPr lang="zh-TW" altLang="en-US" dirty="0"/>
          </a:p>
        </p:txBody>
      </p:sp>
    </p:spTree>
    <p:extLst>
      <p:ext uri="{BB962C8B-B14F-4D97-AF65-F5344CB8AC3E}">
        <p14:creationId xmlns:p14="http://schemas.microsoft.com/office/powerpoint/2010/main" val="2885713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par>
                                <p:cTn id="8" presetID="9" presetClass="emph" presetSubtype="0" nodeType="withEffect">
                                  <p:stCondLst>
                                    <p:cond delay="0"/>
                                  </p:stCondLst>
                                  <p:childTnLst>
                                    <p:set>
                                      <p:cBhvr>
                                        <p:cTn id="9" dur="indefinite"/>
                                        <p:tgtEl>
                                          <p:spTgt spid="3">
                                            <p:txEl>
                                              <p:pRg st="0" end="0"/>
                                            </p:txEl>
                                          </p:spTgt>
                                        </p:tgtEl>
                                        <p:attrNameLst>
                                          <p:attrName>style.opacity</p:attrName>
                                        </p:attrNameLst>
                                      </p:cBhvr>
                                      <p:to>
                                        <p:strVal val="0.25"/>
                                      </p:to>
                                    </p:set>
                                    <p:animEffect filter="image" prLst="opacity: 0.25">
                                      <p:cBhvr rctx="IE">
                                        <p:cTn id="10" dur="indefinite"/>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up)">
                                      <p:cBhvr>
                                        <p:cTn id="20" dur="500"/>
                                        <p:tgtEl>
                                          <p:spTgt spid="3">
                                            <p:txEl>
                                              <p:pRg st="3" end="3"/>
                                            </p:txEl>
                                          </p:spTgt>
                                        </p:tgtEl>
                                      </p:cBhvr>
                                    </p:animEffect>
                                  </p:childTnLst>
                                </p:cTn>
                              </p:par>
                              <p:par>
                                <p:cTn id="21" presetID="9" presetClass="emph" presetSubtype="0" nodeType="withEffect">
                                  <p:stCondLst>
                                    <p:cond delay="0"/>
                                  </p:stCondLst>
                                  <p:childTnLst>
                                    <p:set>
                                      <p:cBhvr>
                                        <p:cTn id="22" dur="indefinite"/>
                                        <p:tgtEl>
                                          <p:spTgt spid="3">
                                            <p:txEl>
                                              <p:pRg st="1" end="1"/>
                                            </p:txEl>
                                          </p:spTgt>
                                        </p:tgtEl>
                                        <p:attrNameLst>
                                          <p:attrName>style.opacity</p:attrName>
                                        </p:attrNameLst>
                                      </p:cBhvr>
                                      <p:to>
                                        <p:strVal val="0.25"/>
                                      </p:to>
                                    </p:set>
                                    <p:animEffect filter="image" prLst="opacity: 0.25">
                                      <p:cBhvr rctx="IE">
                                        <p:cTn id="23" dur="indefinite"/>
                                        <p:tgtEl>
                                          <p:spTgt spid="3">
                                            <p:txEl>
                                              <p:pRg st="1" end="1"/>
                                            </p:txEl>
                                          </p:spTgt>
                                        </p:tgtEl>
                                      </p:cBhvr>
                                    </p:animEffect>
                                  </p:childTnLst>
                                </p:cTn>
                              </p:par>
                              <p:par>
                                <p:cTn id="24" presetID="9" presetClass="emph" presetSubtype="0" nodeType="withEffect">
                                  <p:stCondLst>
                                    <p:cond delay="0"/>
                                  </p:stCondLst>
                                  <p:childTnLst>
                                    <p:set>
                                      <p:cBhvr>
                                        <p:cTn id="25" dur="indefinite"/>
                                        <p:tgtEl>
                                          <p:spTgt spid="3">
                                            <p:txEl>
                                              <p:pRg st="2" end="2"/>
                                            </p:txEl>
                                          </p:spTgt>
                                        </p:tgtEl>
                                        <p:attrNameLst>
                                          <p:attrName>style.opacity</p:attrName>
                                        </p:attrNameLst>
                                      </p:cBhvr>
                                      <p:to>
                                        <p:strVal val="0.25"/>
                                      </p:to>
                                    </p:set>
                                    <p:animEffect filter="image" prLst="opacity: 0.25">
                                      <p:cBhvr rctx="IE">
                                        <p:cTn id="26" dur="indefinite"/>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CC58CA-1263-69C7-E8D2-7733452461D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ADAD326-F4C3-BC99-3AF9-8AAEFDEEEBF7}"/>
              </a:ext>
            </a:extLst>
          </p:cNvPr>
          <p:cNvSpPr>
            <a:spLocks noGrp="1"/>
          </p:cNvSpPr>
          <p:nvPr>
            <p:ph type="title"/>
          </p:nvPr>
        </p:nvSpPr>
        <p:spPr/>
        <p:txBody>
          <a:bodyPr/>
          <a:lstStyle/>
          <a:p>
            <a:r>
              <a:rPr kumimoji="1" lang="en-US" altLang="zh-TW" dirty="0"/>
              <a:t>Q &amp; A</a:t>
            </a:r>
            <a:endParaRPr kumimoji="1" lang="zh-TW" altLang="en-US" dirty="0"/>
          </a:p>
        </p:txBody>
      </p:sp>
      <p:sp>
        <p:nvSpPr>
          <p:cNvPr id="3" name="內容版面配置區 2">
            <a:extLst>
              <a:ext uri="{FF2B5EF4-FFF2-40B4-BE49-F238E27FC236}">
                <a16:creationId xmlns:a16="http://schemas.microsoft.com/office/drawing/2014/main" id="{F891B200-E709-85C5-77F4-8F4B6F542B7F}"/>
              </a:ext>
            </a:extLst>
          </p:cNvPr>
          <p:cNvSpPr>
            <a:spLocks noGrp="1"/>
          </p:cNvSpPr>
          <p:nvPr>
            <p:ph idx="1"/>
          </p:nvPr>
        </p:nvSpPr>
        <p:spPr/>
        <p:txBody>
          <a:bodyPr/>
          <a:lstStyle/>
          <a:p>
            <a:pPr algn="l"/>
            <a:r>
              <a:rPr kumimoji="1" lang="en-US" altLang="zh-TW" dirty="0"/>
              <a:t>Q5: </a:t>
            </a:r>
            <a:r>
              <a:rPr lang="en-US" altLang="zh-TW" dirty="0"/>
              <a:t>Why does Linux not design threads as an independent structure, but instead represent them with the same </a:t>
            </a:r>
            <a:r>
              <a:rPr lang="en-US" altLang="zh-TW" dirty="0" err="1"/>
              <a:t>task_struct</a:t>
            </a:r>
            <a:r>
              <a:rPr lang="en-US" altLang="zh-TW" dirty="0"/>
              <a:t> as processes? What are the trade offs of this approach?</a:t>
            </a:r>
          </a:p>
          <a:p>
            <a:pPr lvl="1" algn="l">
              <a:buClr>
                <a:schemeClr val="accent6">
                  <a:lumMod val="75000"/>
                </a:schemeClr>
              </a:buClr>
              <a:buSzPct val="120000"/>
              <a:buFont typeface="標準系統字體"/>
              <a:buChar char="👍"/>
            </a:pPr>
            <a:r>
              <a:rPr lang="en-US" altLang="zh-TW" dirty="0">
                <a:solidFill>
                  <a:schemeClr val="accent6">
                    <a:lumMod val="75000"/>
                  </a:schemeClr>
                </a:solidFill>
              </a:rPr>
              <a:t>Robustness</a:t>
            </a:r>
            <a:r>
              <a:rPr lang="en-US" altLang="zh-TW" dirty="0"/>
              <a:t>: The scheduler only handles </a:t>
            </a:r>
            <a:r>
              <a:rPr lang="en-US" altLang="zh-TW" dirty="0" err="1"/>
              <a:t>task_structs</a:t>
            </a:r>
            <a:r>
              <a:rPr lang="en-US" altLang="zh-TW" dirty="0"/>
              <a:t>, so the </a:t>
            </a:r>
            <a:r>
              <a:rPr lang="en-US" altLang="zh-TW" dirty="0">
                <a:solidFill>
                  <a:schemeClr val="accent5">
                    <a:lumMod val="75000"/>
                  </a:schemeClr>
                </a:solidFill>
              </a:rPr>
              <a:t>same code works for both processes and threads</a:t>
            </a:r>
            <a:r>
              <a:rPr lang="en-US" altLang="zh-TW" dirty="0"/>
              <a:t>. No need to duplicate logic for different object types.</a:t>
            </a:r>
          </a:p>
          <a:p>
            <a:pPr lvl="1" algn="l">
              <a:buClr>
                <a:schemeClr val="accent6">
                  <a:lumMod val="75000"/>
                </a:schemeClr>
              </a:buClr>
              <a:buSzPct val="120000"/>
              <a:buFont typeface="標準系統字體"/>
              <a:buChar char="👍"/>
            </a:pPr>
            <a:r>
              <a:rPr lang="en-US" altLang="zh-TW" dirty="0">
                <a:solidFill>
                  <a:schemeClr val="accent6">
                    <a:lumMod val="75000"/>
                  </a:schemeClr>
                </a:solidFill>
              </a:rPr>
              <a:t>Flexible</a:t>
            </a:r>
            <a:r>
              <a:rPr lang="en-US" altLang="zh-TW" dirty="0"/>
              <a:t>: With clone(), you </a:t>
            </a:r>
            <a:r>
              <a:rPr lang="en-US" altLang="zh-TW" dirty="0">
                <a:solidFill>
                  <a:schemeClr val="accent5">
                    <a:lumMod val="75000"/>
                  </a:schemeClr>
                </a:solidFill>
              </a:rPr>
              <a:t>can decide which parts to share</a:t>
            </a:r>
            <a:r>
              <a:rPr lang="en-US" altLang="zh-TW" dirty="0"/>
              <a:t>. This is more powerful than a rigid “thread object” that always shares everything.</a:t>
            </a:r>
          </a:p>
          <a:p>
            <a:pPr lvl="1" algn="l">
              <a:buClr>
                <a:srgbClr val="C00000"/>
              </a:buClr>
              <a:buSzPct val="120000"/>
              <a:buFont typeface="標準系統字體"/>
              <a:buChar char="👎"/>
            </a:pPr>
            <a:r>
              <a:rPr lang="en-US" altLang="zh-TW" dirty="0">
                <a:solidFill>
                  <a:srgbClr val="C00000"/>
                </a:solidFill>
              </a:rPr>
              <a:t>Memory Overhead</a:t>
            </a:r>
            <a:r>
              <a:rPr lang="en-US" altLang="zh-TW" dirty="0"/>
              <a:t>: Every </a:t>
            </a:r>
            <a:r>
              <a:rPr lang="en-US" altLang="zh-TW" dirty="0">
                <a:solidFill>
                  <a:schemeClr val="accent5">
                    <a:lumMod val="75000"/>
                  </a:schemeClr>
                </a:solidFill>
              </a:rPr>
              <a:t>thread needs a full </a:t>
            </a:r>
            <a:r>
              <a:rPr lang="en-US" altLang="zh-TW" dirty="0" err="1">
                <a:solidFill>
                  <a:schemeClr val="accent5">
                    <a:lumMod val="75000"/>
                  </a:schemeClr>
                </a:solidFill>
              </a:rPr>
              <a:t>task_struct</a:t>
            </a:r>
            <a:r>
              <a:rPr lang="en-US" altLang="zh-TW" dirty="0"/>
              <a:t>, kernel stack, scheduling entity. Thousands of threads cost noticeable kernel memory.</a:t>
            </a:r>
          </a:p>
          <a:p>
            <a:pPr lvl="1" algn="l">
              <a:buClr>
                <a:srgbClr val="C00000"/>
              </a:buClr>
              <a:buSzPct val="120000"/>
              <a:buFont typeface="標準系統字體"/>
              <a:buChar char="👎"/>
            </a:pPr>
            <a:r>
              <a:rPr lang="en-US" altLang="zh-TW" dirty="0">
                <a:solidFill>
                  <a:srgbClr val="C00000"/>
                </a:solidFill>
              </a:rPr>
              <a:t>Scheduling unfairness: </a:t>
            </a:r>
            <a:r>
              <a:rPr lang="en-US" altLang="zh-TW" dirty="0">
                <a:solidFill>
                  <a:schemeClr val="accent5">
                    <a:lumMod val="75000"/>
                  </a:schemeClr>
                </a:solidFill>
              </a:rPr>
              <a:t>CFS is fair among tasks, not processes</a:t>
            </a:r>
            <a:r>
              <a:rPr lang="en-US" altLang="zh-TW" dirty="0"/>
              <a:t>. A process with 100 threads may have more CPU than a single-threaded process.</a:t>
            </a:r>
            <a:endParaRPr kumimoji="1" lang="zh-TW" altLang="en-US" dirty="0"/>
          </a:p>
        </p:txBody>
      </p:sp>
      <p:sp>
        <p:nvSpPr>
          <p:cNvPr id="4" name="投影片編號版面配置區 3">
            <a:extLst>
              <a:ext uri="{FF2B5EF4-FFF2-40B4-BE49-F238E27FC236}">
                <a16:creationId xmlns:a16="http://schemas.microsoft.com/office/drawing/2014/main" id="{4BADEFB4-66B4-244C-FCD6-3C0A51E4E56D}"/>
              </a:ext>
            </a:extLst>
          </p:cNvPr>
          <p:cNvSpPr>
            <a:spLocks noGrp="1"/>
          </p:cNvSpPr>
          <p:nvPr>
            <p:ph type="sldNum" sz="quarter" idx="4"/>
          </p:nvPr>
        </p:nvSpPr>
        <p:spPr/>
        <p:txBody>
          <a:bodyPr/>
          <a:lstStyle/>
          <a:p>
            <a:fld id="{E24E6636-6BA5-4AAC-8485-BE8D914D288B}" type="slidenum">
              <a:rPr lang="zh-TW" altLang="en-US" smtClean="0"/>
              <a:pPr/>
              <a:t>15</a:t>
            </a:fld>
            <a:endParaRPr lang="zh-TW" altLang="en-US" dirty="0"/>
          </a:p>
        </p:txBody>
      </p:sp>
    </p:spTree>
    <p:extLst>
      <p:ext uri="{BB962C8B-B14F-4D97-AF65-F5344CB8AC3E}">
        <p14:creationId xmlns:p14="http://schemas.microsoft.com/office/powerpoint/2010/main" val="919925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190484</TotalTime>
  <Words>2533</Words>
  <Application>Microsoft Macintosh PowerPoint</Application>
  <PresentationFormat>寬螢幕</PresentationFormat>
  <Paragraphs>224</Paragraphs>
  <Slides>15</Slides>
  <Notes>12</Notes>
  <HiddenSlides>2</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15</vt:i4>
      </vt:variant>
    </vt:vector>
  </HeadingPairs>
  <TitlesOfParts>
    <vt:vector size="25" baseType="lpstr">
      <vt:lpstr>標準系統字體</vt:lpstr>
      <vt:lpstr>Kaiti TC</vt:lpstr>
      <vt:lpstr>Söhne</vt:lpstr>
      <vt:lpstr>Arial</vt:lpstr>
      <vt:lpstr>Bradley Hand</vt:lpstr>
      <vt:lpstr>Calibri</vt:lpstr>
      <vt:lpstr>Calibri Light</vt:lpstr>
      <vt:lpstr>Palatino Linotype</vt:lpstr>
      <vt:lpstr>Wingdings</vt:lpstr>
      <vt:lpstr>Office Theme</vt:lpstr>
      <vt:lpstr>Heads Up</vt:lpstr>
      <vt:lpstr>Q &amp; A</vt:lpstr>
      <vt:lpstr>PowerPoint 簡報</vt:lpstr>
      <vt:lpstr>Recap: Process Context Switch</vt:lpstr>
      <vt:lpstr>Recap: Process Context Switch (Count.)</vt:lpstr>
      <vt:lpstr>Recap: CPU Mode Switch vs Process Context Switch</vt:lpstr>
      <vt:lpstr>Recap: System Call Handler</vt:lpstr>
      <vt:lpstr>PowerPoint 簡報</vt:lpstr>
      <vt:lpstr>Handling Hardware Events</vt:lpstr>
      <vt:lpstr>Handling Hardware Events (Count.)</vt:lpstr>
      <vt:lpstr>Interrupt Request (IRQ)</vt:lpstr>
      <vt:lpstr>How an Interrupt Works</vt:lpstr>
      <vt:lpstr>Interrupt Handler</vt:lpstr>
      <vt:lpstr>Q &amp; A</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 Ming-Chang</dc:creator>
  <cp:lastModifiedBy>吳俊峯</cp:lastModifiedBy>
  <cp:revision>1398</cp:revision>
  <dcterms:created xsi:type="dcterms:W3CDTF">2017-10-03T14:18:54Z</dcterms:created>
  <dcterms:modified xsi:type="dcterms:W3CDTF">2025-10-01T02:02:47Z</dcterms:modified>
</cp:coreProperties>
</file>