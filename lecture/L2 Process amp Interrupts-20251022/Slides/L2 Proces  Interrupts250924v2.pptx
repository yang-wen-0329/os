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1196" r:id="rId2"/>
    <p:sldId id="1194" r:id="rId3"/>
    <p:sldId id="1195" r:id="rId4"/>
    <p:sldId id="256" r:id="rId5"/>
    <p:sldId id="1189" r:id="rId6"/>
    <p:sldId id="1129" r:id="rId7"/>
    <p:sldId id="1134" r:id="rId8"/>
    <p:sldId id="1188" r:id="rId9"/>
    <p:sldId id="1146" r:id="rId10"/>
    <p:sldId id="1180" r:id="rId11"/>
    <p:sldId id="1181" r:id="rId12"/>
    <p:sldId id="1186" r:id="rId13"/>
    <p:sldId id="1148" r:id="rId14"/>
    <p:sldId id="1157" r:id="rId15"/>
    <p:sldId id="1159" r:id="rId16"/>
    <p:sldId id="1161" r:id="rId17"/>
    <p:sldId id="1193" r:id="rId18"/>
    <p:sldId id="1156" r:id="rId19"/>
    <p:sldId id="1149" r:id="rId20"/>
    <p:sldId id="1178" r:id="rId21"/>
    <p:sldId id="1169" r:id="rId22"/>
    <p:sldId id="1179" r:id="rId23"/>
    <p:sldId id="1168" r:id="rId24"/>
    <p:sldId id="1191" r:id="rId25"/>
    <p:sldId id="1192" r:id="rId26"/>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1196"/>
            <p14:sldId id="1194"/>
            <p14:sldId id="1195"/>
            <p14:sldId id="256"/>
            <p14:sldId id="1189"/>
            <p14:sldId id="1129"/>
            <p14:sldId id="1134"/>
            <p14:sldId id="1188"/>
            <p14:sldId id="1146"/>
            <p14:sldId id="1180"/>
            <p14:sldId id="1181"/>
            <p14:sldId id="1186"/>
            <p14:sldId id="1148"/>
            <p14:sldId id="1157"/>
            <p14:sldId id="1159"/>
            <p14:sldId id="1161"/>
            <p14:sldId id="1193"/>
            <p14:sldId id="1156"/>
            <p14:sldId id="1149"/>
            <p14:sldId id="1178"/>
            <p14:sldId id="1169"/>
            <p14:sldId id="1179"/>
            <p14:sldId id="1168"/>
            <p14:sldId id="1191"/>
            <p14:sldId id="11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966"/>
    <a:srgbClr val="FF9FA8"/>
    <a:srgbClr val="FBBFC8"/>
    <a:srgbClr val="F6DF98"/>
    <a:srgbClr val="800080"/>
    <a:srgbClr val="F3CF64"/>
    <a:srgbClr val="FFFD99"/>
    <a:srgbClr val="F2F2F2"/>
    <a:srgbClr val="EAEB01"/>
    <a:srgbClr val="800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0" autoAdjust="0"/>
    <p:restoredTop sz="83129" autoAdjust="0"/>
  </p:normalViewPr>
  <p:slideViewPr>
    <p:cSldViewPr snapToGrid="0">
      <p:cViewPr varScale="1">
        <p:scale>
          <a:sx n="105" d="100"/>
          <a:sy n="105" d="100"/>
        </p:scale>
        <p:origin x="840" y="192"/>
      </p:cViewPr>
      <p:guideLst/>
    </p:cSldViewPr>
  </p:slideViewPr>
  <p:notesTextViewPr>
    <p:cViewPr>
      <p:scale>
        <a:sx n="120" d="100"/>
        <a:sy n="120" d="100"/>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2025/9/24</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2025/9/24</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man7.org/linux/man-pages/man2/fork.2.html"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kernel.org/doc/Documentation/vm/overcommit-accounting" TargetMode="External"/><Relationship Id="rId5" Type="http://schemas.openxmlformats.org/officeDocument/2006/relationships/hyperlink" Target="http://man7.org/linux/man-pages/man2/vfork.2.html" TargetMode="External"/><Relationship Id="rId4" Type="http://schemas.openxmlformats.org/officeDocument/2006/relationships/hyperlink" Target="http://man7.org/linux/man-pages/man2/clone.2.htm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3508759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4DED2-F5CE-250F-55FB-D023108CA2B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7A34B6B-1E37-3CE7-BD5B-9FB57A90D26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43D8E07-19E8-E584-B719-4BEDA32B58C2}"/>
              </a:ext>
            </a:extLst>
          </p:cNvPr>
          <p:cNvSpPr>
            <a:spLocks noGrp="1"/>
          </p:cNvSpPr>
          <p:nvPr>
            <p:ph type="body" idx="1"/>
          </p:nvPr>
        </p:nvSpPr>
        <p:spPr/>
        <p:txBody>
          <a:bodyPr/>
          <a:lstStyle/>
          <a:p>
            <a:pPr fontAlgn="base"/>
            <a:r>
              <a:rPr lang="en-US" altLang="zh-TW" sz="1200" b="0" i="0" kern="1200" dirty="0">
                <a:solidFill>
                  <a:schemeClr val="tx1"/>
                </a:solidFill>
                <a:effectLst/>
                <a:latin typeface="+mn-lt"/>
                <a:ea typeface="+mn-ea"/>
                <a:cs typeface="+mn-cs"/>
              </a:rPr>
              <a:t>Depends on the Operating System, hardware architecture and </a:t>
            </a:r>
            <a:r>
              <a:rPr lang="en-US" altLang="zh-TW" sz="1200" b="0" i="0" kern="1200" dirty="0" err="1">
                <a:solidFill>
                  <a:schemeClr val="tx1"/>
                </a:solidFill>
                <a:effectLst/>
                <a:latin typeface="+mn-lt"/>
                <a:ea typeface="+mn-ea"/>
                <a:cs typeface="+mn-cs"/>
              </a:rPr>
              <a:t>libc</a:t>
            </a:r>
            <a:r>
              <a:rPr lang="en-US" altLang="zh-TW" sz="1200" b="0" i="0" kern="1200" dirty="0">
                <a:solidFill>
                  <a:schemeClr val="tx1"/>
                </a:solidFill>
                <a:effectLst/>
                <a:latin typeface="+mn-lt"/>
                <a:ea typeface="+mn-ea"/>
                <a:cs typeface="+mn-cs"/>
              </a:rPr>
              <a:t>. But yes in case of recent Linux with MMU the </a:t>
            </a:r>
            <a:r>
              <a:rPr lang="en-US" altLang="zh-TW" sz="1200" b="0" i="0" u="sng" kern="1200" dirty="0">
                <a:solidFill>
                  <a:schemeClr val="tx1"/>
                </a:solidFill>
                <a:effectLst/>
                <a:latin typeface="+mn-lt"/>
                <a:ea typeface="+mn-ea"/>
                <a:cs typeface="+mn-cs"/>
                <a:hlinkClick r:id="rId3"/>
              </a:rPr>
              <a:t>fork(2)</a:t>
            </a:r>
            <a:r>
              <a:rPr lang="en-US" altLang="zh-TW" sz="1200" b="0" i="0" kern="1200" dirty="0">
                <a:solidFill>
                  <a:schemeClr val="tx1"/>
                </a:solidFill>
                <a:effectLst/>
                <a:latin typeface="+mn-lt"/>
                <a:ea typeface="+mn-ea"/>
                <a:cs typeface="+mn-cs"/>
              </a:rPr>
              <a:t> will work with copy-on-write. It will only (allocate and) copy a few system structures and the page table, but the heap pages actually point to the ones of the parent until written.</a:t>
            </a:r>
          </a:p>
          <a:p>
            <a:pPr fontAlgn="base"/>
            <a:r>
              <a:rPr lang="en-US" altLang="zh-TW" sz="1200" b="0" i="0" kern="1200" dirty="0">
                <a:solidFill>
                  <a:schemeClr val="tx1"/>
                </a:solidFill>
                <a:effectLst/>
                <a:latin typeface="+mn-lt"/>
                <a:ea typeface="+mn-ea"/>
                <a:cs typeface="+mn-cs"/>
              </a:rPr>
              <a:t>More control over this can be exercised with the </a:t>
            </a:r>
            <a:r>
              <a:rPr lang="en-US" altLang="zh-TW" sz="1200" b="0" i="0" u="sng" kern="1200" dirty="0">
                <a:solidFill>
                  <a:schemeClr val="tx1"/>
                </a:solidFill>
                <a:effectLst/>
                <a:latin typeface="+mn-lt"/>
                <a:ea typeface="+mn-ea"/>
                <a:cs typeface="+mn-cs"/>
                <a:hlinkClick r:id="rId4"/>
              </a:rPr>
              <a:t>clone(2)</a:t>
            </a:r>
            <a:r>
              <a:rPr lang="en-US" altLang="zh-TW" sz="1200" b="0" i="0" kern="1200" dirty="0">
                <a:solidFill>
                  <a:schemeClr val="tx1"/>
                </a:solidFill>
                <a:effectLst/>
                <a:latin typeface="+mn-lt"/>
                <a:ea typeface="+mn-ea"/>
                <a:cs typeface="+mn-cs"/>
              </a:rPr>
              <a:t> call. And </a:t>
            </a:r>
            <a:r>
              <a:rPr lang="en-US" altLang="zh-TW" sz="1200" b="0" i="0" u="sng" kern="1200" dirty="0">
                <a:solidFill>
                  <a:schemeClr val="tx1"/>
                </a:solidFill>
                <a:effectLst/>
                <a:latin typeface="+mn-lt"/>
                <a:ea typeface="+mn-ea"/>
                <a:cs typeface="+mn-cs"/>
                <a:hlinkClick r:id="rId5"/>
              </a:rPr>
              <a:t>vfork(2)</a:t>
            </a:r>
            <a:r>
              <a:rPr lang="en-US" altLang="zh-TW" sz="1200" b="0" i="0" kern="1200" dirty="0">
                <a:solidFill>
                  <a:schemeClr val="tx1"/>
                </a:solidFill>
                <a:effectLst/>
                <a:latin typeface="+mn-lt"/>
                <a:ea typeface="+mn-ea"/>
                <a:cs typeface="+mn-cs"/>
              </a:rPr>
              <a:t> </a:t>
            </a:r>
            <a:r>
              <a:rPr lang="en-US" altLang="zh-TW" sz="1200" b="0" i="0" kern="1200" dirty="0" err="1">
                <a:solidFill>
                  <a:schemeClr val="tx1"/>
                </a:solidFill>
                <a:effectLst/>
                <a:latin typeface="+mn-lt"/>
                <a:ea typeface="+mn-ea"/>
                <a:cs typeface="+mn-cs"/>
              </a:rPr>
              <a:t>beeing</a:t>
            </a:r>
            <a:r>
              <a:rPr lang="en-US" altLang="zh-TW" sz="1200" b="0" i="0" kern="1200" dirty="0">
                <a:solidFill>
                  <a:schemeClr val="tx1"/>
                </a:solidFill>
                <a:effectLst/>
                <a:latin typeface="+mn-lt"/>
                <a:ea typeface="+mn-ea"/>
                <a:cs typeface="+mn-cs"/>
              </a:rPr>
              <a:t> a special variant which does not expect the pages to be used. This is typically used before exec().</a:t>
            </a:r>
          </a:p>
          <a:p>
            <a:pPr fontAlgn="base"/>
            <a:r>
              <a:rPr lang="en-US" altLang="zh-TW" sz="1200" b="0" i="0" kern="1200" dirty="0">
                <a:solidFill>
                  <a:schemeClr val="tx1"/>
                </a:solidFill>
                <a:effectLst/>
                <a:latin typeface="+mn-lt"/>
                <a:ea typeface="+mn-ea"/>
                <a:cs typeface="+mn-cs"/>
              </a:rPr>
              <a:t>As for the allocation: the malloc() has meta information over requested memory blocks (address and size) and the C variable is a pointer (both in process memory heap and stacks). Those two look the same for the child (same values because same underlying memory page seen in the address space of both processes). So from a C program point of view the array is already allocated and the variable initialized when the process comes into existence. The underlying memory pages are however pointing to the original physical ones of the parent process, so no extra memory pages are needed until they are modified.</a:t>
            </a:r>
          </a:p>
          <a:p>
            <a:pPr fontAlgn="base"/>
            <a:r>
              <a:rPr lang="en-US" altLang="zh-TW" sz="1200" b="0" i="0" kern="1200" dirty="0">
                <a:solidFill>
                  <a:schemeClr val="tx1"/>
                </a:solidFill>
                <a:effectLst/>
                <a:latin typeface="+mn-lt"/>
                <a:ea typeface="+mn-ea"/>
                <a:cs typeface="+mn-cs"/>
              </a:rPr>
              <a:t>If the child allocates a new array it depends if it fits into the already existing heap pages or if the </a:t>
            </a:r>
            <a:r>
              <a:rPr lang="en-US" altLang="zh-TW" sz="1200" b="0" i="0" kern="1200" dirty="0" err="1">
                <a:solidFill>
                  <a:schemeClr val="tx1"/>
                </a:solidFill>
                <a:effectLst/>
                <a:latin typeface="+mn-lt"/>
                <a:ea typeface="+mn-ea"/>
                <a:cs typeface="+mn-cs"/>
              </a:rPr>
              <a:t>brk</a:t>
            </a:r>
            <a:r>
              <a:rPr lang="en-US" altLang="zh-TW" sz="1200" b="0" i="0" kern="1200" dirty="0">
                <a:solidFill>
                  <a:schemeClr val="tx1"/>
                </a:solidFill>
                <a:effectLst/>
                <a:latin typeface="+mn-lt"/>
                <a:ea typeface="+mn-ea"/>
                <a:cs typeface="+mn-cs"/>
              </a:rPr>
              <a:t> of the process needs to be increased. In both cases only the modified pages get copied and the new pages get allocated only for the child.</a:t>
            </a:r>
          </a:p>
          <a:p>
            <a:pPr fontAlgn="base"/>
            <a:r>
              <a:rPr lang="en-US" altLang="zh-TW" sz="1200" b="0" i="0" kern="1200" dirty="0">
                <a:solidFill>
                  <a:schemeClr val="tx1"/>
                </a:solidFill>
                <a:effectLst/>
                <a:latin typeface="+mn-lt"/>
                <a:ea typeface="+mn-ea"/>
                <a:cs typeface="+mn-cs"/>
              </a:rPr>
              <a:t>This also means that the physical memory might run out after malloc(). (Which is bad as the program cannot check the error return code of "a operation in a random code line"). Some operating systems will not allow this form of overcommit: So if you fork a process it will not allocate the pages, but it requires them to be available at that moment (kind of reserves them) just in case. In Linux this is </a:t>
            </a:r>
            <a:r>
              <a:rPr lang="en-US" altLang="zh-TW" sz="1200" b="0" i="0" u="sng" kern="1200" dirty="0">
                <a:solidFill>
                  <a:schemeClr val="tx1"/>
                </a:solidFill>
                <a:effectLst/>
                <a:latin typeface="+mn-lt"/>
                <a:ea typeface="+mn-ea"/>
                <a:cs typeface="+mn-cs"/>
                <a:hlinkClick r:id="rId6"/>
              </a:rPr>
              <a:t>configurable and called overcommit-accounting</a:t>
            </a:r>
            <a:r>
              <a:rPr lang="en-US" altLang="zh-TW" sz="1200" b="0" i="0" kern="1200" dirty="0">
                <a:solidFill>
                  <a:schemeClr val="tx1"/>
                </a:solidFill>
                <a:effectLst/>
                <a:latin typeface="+mn-lt"/>
                <a:ea typeface="+mn-ea"/>
                <a:cs typeface="+mn-cs"/>
              </a:rPr>
              <a:t>.</a:t>
            </a:r>
          </a:p>
          <a:p>
            <a:endParaRPr kumimoji="1" lang="zh-TW" altLang="en-US" dirty="0"/>
          </a:p>
        </p:txBody>
      </p:sp>
      <p:sp>
        <p:nvSpPr>
          <p:cNvPr id="4" name="投影片編號版面配置區 3">
            <a:extLst>
              <a:ext uri="{FF2B5EF4-FFF2-40B4-BE49-F238E27FC236}">
                <a16:creationId xmlns:a16="http://schemas.microsoft.com/office/drawing/2014/main" id="{E4F184E9-43D4-E214-3FBD-DDEFC84989A2}"/>
              </a:ext>
            </a:extLst>
          </p:cNvPr>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2376390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752618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2386203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9655B-AE32-B2AB-E244-0F1ED402AF9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D529756-070B-BC3A-3C4D-89C1FA30353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7492236-AB2C-9EA6-779C-39A7FC7F373D}"/>
              </a:ext>
            </a:extLst>
          </p:cNvPr>
          <p:cNvSpPr>
            <a:spLocks noGrp="1"/>
          </p:cNvSpPr>
          <p:nvPr>
            <p:ph type="body" idx="1"/>
          </p:nvPr>
        </p:nvSpPr>
        <p:spPr/>
        <p:txBody>
          <a:bodyPr/>
          <a:lstStyle/>
          <a:p>
            <a:r>
              <a:rPr kumimoji="1" lang="en-US" altLang="zh-TW" dirty="0"/>
              <a:t>0.75ms when there is more than 8 processes.</a:t>
            </a:r>
          </a:p>
          <a:p>
            <a:endParaRPr kumimoji="1" lang="en-US" altLang="zh-TW" dirty="0"/>
          </a:p>
          <a:p>
            <a:r>
              <a:rPr kumimoji="1" lang="en-US" altLang="zh-TW" dirty="0"/>
              <a:t>Practical is for systems without FPU.</a:t>
            </a:r>
            <a:endParaRPr kumimoji="1" lang="zh-TW" altLang="en-US" dirty="0"/>
          </a:p>
        </p:txBody>
      </p:sp>
      <p:sp>
        <p:nvSpPr>
          <p:cNvPr id="4" name="投影片編號版面配置區 3">
            <a:extLst>
              <a:ext uri="{FF2B5EF4-FFF2-40B4-BE49-F238E27FC236}">
                <a16:creationId xmlns:a16="http://schemas.microsoft.com/office/drawing/2014/main" id="{8FB63824-EE4D-CED8-5E6A-493ABF23F1E3}"/>
              </a:ext>
            </a:extLst>
          </p:cNvPr>
          <p:cNvSpPr>
            <a:spLocks noGrp="1"/>
          </p:cNvSpPr>
          <p:nvPr>
            <p:ph type="sldNum" sz="quarter" idx="5"/>
          </p:nvPr>
        </p:nvSpPr>
        <p:spPr/>
        <p:txBody>
          <a:bodyPr/>
          <a:lstStyle/>
          <a:p>
            <a:fld id="{7EE20D91-FCA7-443A-BB7B-86FCD89A57B0}" type="slidenum">
              <a:rPr lang="zh-TW" altLang="en-US" smtClean="0"/>
              <a:t>8</a:t>
            </a:fld>
            <a:endParaRPr lang="zh-TW" altLang="en-US"/>
          </a:p>
        </p:txBody>
      </p:sp>
    </p:spTree>
    <p:extLst>
      <p:ext uri="{BB962C8B-B14F-4D97-AF65-F5344CB8AC3E}">
        <p14:creationId xmlns:p14="http://schemas.microsoft.com/office/powerpoint/2010/main" val="2616974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4053132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b="0" i="0" dirty="0">
                <a:solidFill>
                  <a:srgbClr val="000000"/>
                </a:solidFill>
                <a:effectLst/>
                <a:latin typeface="Söhne"/>
              </a:rPr>
              <a:t>It's important to note that while descriptor tables are a part of x86 architecture and legacy operating system design, modern operating systems, including Linux, have largely shifted away from relying on descriptor tables for memory protection and process isolation. Instead, they use memory paging (as discussed earlier) for finer-grained and more flexible memory management and protection. Descriptor tables are still used for some low-level CPU-specific tasks, but they are mostly managed by the kernel and are not directly exposed to user-level processes in contemporary operating systems.</a:t>
            </a:r>
          </a:p>
          <a:p>
            <a:pPr algn="l"/>
            <a:br>
              <a:rPr lang="en-US" altLang="zh-TW" b="0" i="0" dirty="0">
                <a:solidFill>
                  <a:srgbClr val="000000"/>
                </a:solidFill>
                <a:effectLst/>
                <a:latin typeface="Söhne"/>
              </a:rPr>
            </a:br>
            <a:endParaRPr lang="en-US" altLang="zh-TW" b="0" i="0" dirty="0">
              <a:solidFill>
                <a:srgbClr val="000000"/>
              </a:solidFill>
              <a:effectLst/>
              <a:latin typeface="Söhne"/>
            </a:endParaRP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1668281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https://</a:t>
            </a:r>
            <a:r>
              <a:rPr kumimoji="1" lang="en-US" altLang="zh-TW" dirty="0" err="1"/>
              <a:t>stackoverflow.com</a:t>
            </a:r>
            <a:r>
              <a:rPr kumimoji="1" lang="en-US" altLang="zh-TW" dirty="0"/>
              <a:t>/questions/2754295/what-segments-does-c-compiled-program-use</a:t>
            </a:r>
          </a:p>
          <a:p>
            <a:r>
              <a:rPr kumimoji="1" lang="en-US" altLang="zh-TW" dirty="0"/>
              <a:t>https://</a:t>
            </a:r>
            <a:r>
              <a:rPr kumimoji="1" lang="en-US" altLang="zh-TW" dirty="0" err="1"/>
              <a:t>stackoverflow.com</a:t>
            </a:r>
            <a:r>
              <a:rPr kumimoji="1" lang="en-US" altLang="zh-TW" dirty="0"/>
              <a:t>/questions/14500495/thread-local-and-context-switch</a:t>
            </a:r>
          </a:p>
          <a:p>
            <a:pPr fontAlgn="base"/>
            <a:r>
              <a:rPr lang="en-US" altLang="zh-TW" sz="1200" b="0" i="0" kern="1200" dirty="0">
                <a:solidFill>
                  <a:schemeClr val="tx1"/>
                </a:solidFill>
                <a:effectLst/>
                <a:latin typeface="+mn-lt"/>
                <a:ea typeface="+mn-ea"/>
                <a:cs typeface="+mn-cs"/>
              </a:rPr>
              <a:t>Thread Local Storage is just that - storage per thread. Each thread has it's own private data structure. That thread, whichever processor it runs on, is the same thread. The OS doesn't schedule work WITHIN threads, it schedules which of the threads runs.</a:t>
            </a:r>
          </a:p>
          <a:p>
            <a:pPr fontAlgn="base"/>
            <a:r>
              <a:rPr lang="en-US" altLang="zh-TW" sz="1200" b="0" i="0" kern="1200" dirty="0">
                <a:solidFill>
                  <a:schemeClr val="tx1"/>
                </a:solidFill>
                <a:effectLst/>
                <a:latin typeface="+mn-lt"/>
                <a:ea typeface="+mn-ea"/>
                <a:cs typeface="+mn-cs"/>
              </a:rPr>
              <a:t>The thread local storage is </a:t>
            </a:r>
            <a:r>
              <a:rPr lang="en-US" altLang="zh-TW" sz="1200" b="0" i="0" kern="1200" dirty="0" err="1">
                <a:solidFill>
                  <a:schemeClr val="tx1"/>
                </a:solidFill>
                <a:effectLst/>
                <a:latin typeface="+mn-lt"/>
                <a:ea typeface="+mn-ea"/>
                <a:cs typeface="+mn-cs"/>
              </a:rPr>
              <a:t>acomplished</a:t>
            </a:r>
            <a:r>
              <a:rPr lang="en-US" altLang="zh-TW" sz="1200" b="0" i="0" kern="1200" dirty="0">
                <a:solidFill>
                  <a:schemeClr val="tx1"/>
                </a:solidFill>
                <a:effectLst/>
                <a:latin typeface="+mn-lt"/>
                <a:ea typeface="+mn-ea"/>
                <a:cs typeface="+mn-cs"/>
              </a:rPr>
              <a:t> by having some sort of indirection, which is changed along with the thread itself. There are several ways to do this, for example, the OS may have a particular page at a particular offset from the start of virtual memory in the process, and when a thread is scheduled, the page-table is updated to match the thread.</a:t>
            </a:r>
          </a:p>
          <a:p>
            <a:pPr fontAlgn="base"/>
            <a:r>
              <a:rPr lang="en-US" altLang="zh-TW" sz="1200" b="0" i="0" kern="1200" dirty="0">
                <a:solidFill>
                  <a:schemeClr val="tx1"/>
                </a:solidFill>
                <a:effectLst/>
                <a:latin typeface="+mn-lt"/>
                <a:ea typeface="+mn-ea"/>
                <a:cs typeface="+mn-cs"/>
              </a:rPr>
              <a:t>In x86 processors, FS or GS is typically used for "per-thread" data, so the OS will switch the FS register [or the content of the base-address of the register in case of 64-bit processors]. When reading the TLS, the compiler will use the FS or GS segment register to prefix the memory read/write operations, and thus you always get "your private data", not some other threads.</a:t>
            </a:r>
          </a:p>
          <a:p>
            <a:endParaRPr kumimoji="1" lang="en-US" altLang="zh-TW" dirty="0"/>
          </a:p>
          <a:p>
            <a:endParaRPr kumimoji="1" lang="en-US" altLang="zh-TW" dirty="0"/>
          </a:p>
          <a:p>
            <a:r>
              <a:rPr kumimoji="1" lang="en-US" altLang="zh-TW" dirty="0"/>
              <a:t>https://</a:t>
            </a:r>
            <a:r>
              <a:rPr kumimoji="1" lang="en-US" altLang="zh-TW" dirty="0" err="1"/>
              <a:t>stackoverflow.com</a:t>
            </a:r>
            <a:r>
              <a:rPr kumimoji="1" lang="en-US" altLang="zh-TW" dirty="0"/>
              <a:t>/questions/35692188/what-is-thread-local-storage-why-we-need-it</a:t>
            </a:r>
          </a:p>
          <a:p>
            <a:pPr fontAlgn="base"/>
            <a:r>
              <a:rPr lang="en-US" altLang="zh-TW" sz="1200" kern="1200" dirty="0">
                <a:solidFill>
                  <a:schemeClr val="tx1"/>
                </a:solidFill>
                <a:effectLst/>
                <a:latin typeface="+mn-lt"/>
                <a:ea typeface="+mn-ea"/>
                <a:cs typeface="+mn-cs"/>
              </a:rPr>
              <a:t>Static and global data are shared across all the threads. If you modified a global/static variable it is visible to all the threads. Unlike global/shared variable if you create a variable in TLS, every thread has its own copy of the variable, i.e. changes to the variable is local to the thread. Unlike global variable where an access is made through </a:t>
            </a:r>
            <a:r>
              <a:rPr lang="en-US" altLang="zh-TW" sz="1200" i="1" kern="1200" dirty="0">
                <a:solidFill>
                  <a:schemeClr val="tx1"/>
                </a:solidFill>
                <a:effectLst/>
                <a:latin typeface="+mn-lt"/>
                <a:ea typeface="+mn-ea"/>
                <a:cs typeface="+mn-cs"/>
              </a:rPr>
              <a:t>ds</a:t>
            </a:r>
            <a:r>
              <a:rPr lang="en-US" altLang="zh-TW" sz="1200" kern="1200" dirty="0">
                <a:solidFill>
                  <a:schemeClr val="tx1"/>
                </a:solidFill>
                <a:effectLst/>
                <a:latin typeface="+mn-lt"/>
                <a:ea typeface="+mn-ea"/>
                <a:cs typeface="+mn-cs"/>
              </a:rPr>
              <a:t> segment, the TLS variable are accessed using (</a:t>
            </a:r>
            <a:r>
              <a:rPr lang="en-US" altLang="zh-TW" sz="1200" i="1" kern="1200" dirty="0" err="1">
                <a:solidFill>
                  <a:schemeClr val="tx1"/>
                </a:solidFill>
                <a:effectLst/>
                <a:latin typeface="+mn-lt"/>
                <a:ea typeface="+mn-ea"/>
                <a:cs typeface="+mn-cs"/>
              </a:rPr>
              <a:t>gs</a:t>
            </a:r>
            <a:r>
              <a:rPr lang="en-US" altLang="zh-TW" sz="1200" i="1" kern="1200" dirty="0">
                <a:solidFill>
                  <a:schemeClr val="tx1"/>
                </a:solidFill>
                <a:effectLst/>
                <a:latin typeface="+mn-lt"/>
                <a:ea typeface="+mn-ea"/>
                <a:cs typeface="+mn-cs"/>
              </a:rPr>
              <a:t>/fs</a:t>
            </a:r>
            <a:r>
              <a:rPr lang="en-US" altLang="zh-TW" sz="1200" kern="1200" dirty="0">
                <a:solidFill>
                  <a:schemeClr val="tx1"/>
                </a:solidFill>
                <a:effectLst/>
                <a:latin typeface="+mn-lt"/>
                <a:ea typeface="+mn-ea"/>
                <a:cs typeface="+mn-cs"/>
              </a:rPr>
              <a:t>) segment. A good way to learn about it is to look at the disassembly generated by the compiler.</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PDA: https://</a:t>
            </a:r>
            <a:r>
              <a:rPr lang="en-US" altLang="zh-TW" sz="1200" kern="1200" dirty="0" err="1">
                <a:solidFill>
                  <a:schemeClr val="tx1"/>
                </a:solidFill>
                <a:effectLst/>
                <a:latin typeface="+mn-lt"/>
                <a:ea typeface="+mn-ea"/>
                <a:cs typeface="+mn-cs"/>
              </a:rPr>
              <a:t>blog.csdn.net</a:t>
            </a:r>
            <a:r>
              <a:rPr lang="en-US" altLang="zh-TW" sz="1200" kern="1200" dirty="0">
                <a:solidFill>
                  <a:schemeClr val="tx1"/>
                </a:solidFill>
                <a:effectLst/>
                <a:latin typeface="+mn-lt"/>
                <a:ea typeface="+mn-ea"/>
                <a:cs typeface="+mn-cs"/>
              </a:rPr>
              <a:t>/</a:t>
            </a:r>
            <a:r>
              <a:rPr lang="en-US" altLang="zh-TW" sz="1200" kern="1200" dirty="0" err="1">
                <a:solidFill>
                  <a:schemeClr val="tx1"/>
                </a:solidFill>
                <a:effectLst/>
                <a:latin typeface="+mn-lt"/>
                <a:ea typeface="+mn-ea"/>
                <a:cs typeface="+mn-cs"/>
              </a:rPr>
              <a:t>bingqingsuimeng</a:t>
            </a:r>
            <a:r>
              <a:rPr lang="en-US" altLang="zh-TW" sz="1200" kern="1200" dirty="0">
                <a:solidFill>
                  <a:schemeClr val="tx1"/>
                </a:solidFill>
                <a:effectLst/>
                <a:latin typeface="+mn-lt"/>
                <a:ea typeface="+mn-ea"/>
                <a:cs typeface="+mn-cs"/>
              </a:rPr>
              <a:t>/article/details/7856702</a:t>
            </a:r>
          </a:p>
          <a:p>
            <a:pPr fontAlgn="base"/>
            <a:br>
              <a:rPr lang="en-US" altLang="zh-TW" sz="1200" b="0" i="0" kern="1200" dirty="0">
                <a:solidFill>
                  <a:schemeClr val="tx1"/>
                </a:solidFill>
                <a:effectLst/>
                <a:latin typeface="+mn-lt"/>
                <a:ea typeface="+mn-ea"/>
                <a:cs typeface="+mn-cs"/>
              </a:rPr>
            </a:b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11</a:t>
            </a:fld>
            <a:endParaRPr lang="zh-TW" altLang="en-US"/>
          </a:p>
        </p:txBody>
      </p:sp>
    </p:spTree>
    <p:extLst>
      <p:ext uri="{BB962C8B-B14F-4D97-AF65-F5344CB8AC3E}">
        <p14:creationId xmlns:p14="http://schemas.microsoft.com/office/powerpoint/2010/main" val="408171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12</a:t>
            </a:fld>
            <a:endParaRPr lang="zh-TW" altLang="en-US"/>
          </a:p>
        </p:txBody>
      </p:sp>
    </p:spTree>
    <p:extLst>
      <p:ext uri="{BB962C8B-B14F-4D97-AF65-F5344CB8AC3E}">
        <p14:creationId xmlns:p14="http://schemas.microsoft.com/office/powerpoint/2010/main" val="1748337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13</a:t>
            </a:fld>
            <a:endParaRPr lang="zh-TW" altLang="en-US"/>
          </a:p>
        </p:txBody>
      </p:sp>
    </p:spTree>
    <p:extLst>
      <p:ext uri="{BB962C8B-B14F-4D97-AF65-F5344CB8AC3E}">
        <p14:creationId xmlns:p14="http://schemas.microsoft.com/office/powerpoint/2010/main" val="2507094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It is not possible for user-space applications to execute kernel code directly </a:t>
            </a:r>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14</a:t>
            </a:fld>
            <a:endParaRPr lang="zh-TW" altLang="en-US"/>
          </a:p>
        </p:txBody>
      </p:sp>
    </p:spTree>
    <p:extLst>
      <p:ext uri="{BB962C8B-B14F-4D97-AF65-F5344CB8AC3E}">
        <p14:creationId xmlns:p14="http://schemas.microsoft.com/office/powerpoint/2010/main" val="2050942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It is not possible for user-space applications to execute kernel code directly </a:t>
            </a:r>
          </a:p>
          <a:p>
            <a:endParaRPr lang="en-US" altLang="zh-TW"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tx1"/>
                </a:solidFill>
                <a:effectLst/>
                <a:latin typeface="+mn-lt"/>
                <a:ea typeface="+mn-ea"/>
                <a:cs typeface="+mn-cs"/>
              </a:rPr>
              <a:t>Before causing the trap into the kernel, user-space sticks in eax the number corresponding to the desired system 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tx1"/>
                </a:solidFill>
                <a:effectLst/>
                <a:latin typeface="+mn-lt"/>
                <a:ea typeface="+mn-ea"/>
                <a:cs typeface="+mn-cs"/>
              </a:rPr>
              <a:t>The system call handler then reads the value from eax. Other architectures do something similar. </a:t>
            </a:r>
            <a:endParaRPr lang="en-US" altLang="zh-TW"/>
          </a:p>
          <a:p>
            <a:endParaRPr lang="en-US" altLang="zh-TW" sz="1200" kern="1200">
              <a:solidFill>
                <a:schemeClr val="tx1"/>
              </a:solidFill>
              <a:effectLst/>
              <a:latin typeface="+mn-lt"/>
              <a:ea typeface="+mn-ea"/>
              <a:cs typeface="+mn-cs"/>
            </a:endParaRPr>
          </a:p>
          <a:p>
            <a:endParaRPr lang="en-US" altLang="zh-TW"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a:solidFill>
                  <a:schemeClr val="tx1"/>
                </a:solidFill>
                <a:latin typeface="+mn-lt"/>
                <a:cs typeface="Arial" panose="020B0604020202020204" pitchFamily="34" charset="0"/>
                <a:sym typeface="Wingdings" pitchFamily="2" charset="2"/>
              </a:rPr>
              <a:t>A</a:t>
            </a:r>
            <a:r>
              <a:rPr kumimoji="1"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faster</a:t>
            </a:r>
            <a:r>
              <a:rPr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way:</a:t>
            </a:r>
            <a:r>
              <a:rPr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Sysenter</a:t>
            </a:r>
            <a:endParaRPr kumimoji="1" lang="zh-TW" altLang="en-US">
              <a:solidFill>
                <a:schemeClr val="tx1"/>
              </a:solidFill>
              <a:latin typeface="+mn-lt"/>
              <a:cs typeface="Arial" panose="020B0604020202020204" pitchFamily="34" charset="0"/>
            </a:endParaRPr>
          </a:p>
          <a:p>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15</a:t>
            </a:fld>
            <a:endParaRPr lang="zh-TW" altLang="en-US"/>
          </a:p>
        </p:txBody>
      </p:sp>
    </p:spTree>
    <p:extLst>
      <p:ext uri="{BB962C8B-B14F-4D97-AF65-F5344CB8AC3E}">
        <p14:creationId xmlns:p14="http://schemas.microsoft.com/office/powerpoint/2010/main" val="4093491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a:solidFill>
                  <a:schemeClr val="tx1"/>
                </a:solidFill>
                <a:effectLst/>
                <a:latin typeface="+mn-lt"/>
                <a:ea typeface="+mn-ea"/>
                <a:cs typeface="+mn-cs"/>
              </a:rPr>
              <a:t>It is not possible for user-space applications to execute kernel code directly </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How system call runs (Detail) https://0xax.gitbooks.io/</a:t>
            </a:r>
            <a:r>
              <a:rPr lang="en-US" altLang="zh-TW" sz="1200" kern="1200" dirty="0" err="1">
                <a:solidFill>
                  <a:schemeClr val="tx1"/>
                </a:solidFill>
                <a:effectLst/>
                <a:latin typeface="+mn-lt"/>
                <a:ea typeface="+mn-ea"/>
                <a:cs typeface="+mn-cs"/>
              </a:rPr>
              <a:t>linux</a:t>
            </a:r>
            <a:r>
              <a:rPr lang="en-US" altLang="zh-TW" sz="1200" kern="1200" dirty="0">
                <a:solidFill>
                  <a:schemeClr val="tx1"/>
                </a:solidFill>
                <a:effectLst/>
                <a:latin typeface="+mn-lt"/>
                <a:ea typeface="+mn-ea"/>
                <a:cs typeface="+mn-cs"/>
              </a:rPr>
              <a:t>-insides/content/</a:t>
            </a:r>
            <a:r>
              <a:rPr lang="en-US" altLang="zh-TW" sz="1200" kern="1200" dirty="0" err="1">
                <a:solidFill>
                  <a:schemeClr val="tx1"/>
                </a:solidFill>
                <a:effectLst/>
                <a:latin typeface="+mn-lt"/>
                <a:ea typeface="+mn-ea"/>
                <a:cs typeface="+mn-cs"/>
              </a:rPr>
              <a:t>SysCall</a:t>
            </a:r>
            <a:r>
              <a:rPr lang="en-US" altLang="zh-TW" sz="1200" kern="1200" dirty="0">
                <a:solidFill>
                  <a:schemeClr val="tx1"/>
                </a:solidFill>
                <a:effectLst/>
                <a:latin typeface="+mn-lt"/>
                <a:ea typeface="+mn-ea"/>
                <a:cs typeface="+mn-cs"/>
              </a:rPr>
              <a:t>/linux-syscall-2.html</a:t>
            </a:r>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16</a:t>
            </a:fld>
            <a:endParaRPr lang="zh-TW" altLang="en-US"/>
          </a:p>
        </p:txBody>
      </p:sp>
    </p:spTree>
    <p:extLst>
      <p:ext uri="{BB962C8B-B14F-4D97-AF65-F5344CB8AC3E}">
        <p14:creationId xmlns:p14="http://schemas.microsoft.com/office/powerpoint/2010/main" val="537220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18</a:t>
            </a:fld>
            <a:endParaRPr lang="zh-TW" altLang="en-US"/>
          </a:p>
        </p:txBody>
      </p:sp>
    </p:spTree>
    <p:extLst>
      <p:ext uri="{BB962C8B-B14F-4D97-AF65-F5344CB8AC3E}">
        <p14:creationId xmlns:p14="http://schemas.microsoft.com/office/powerpoint/2010/main" val="38040190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19</a:t>
            </a:fld>
            <a:endParaRPr lang="zh-TW" altLang="en-US"/>
          </a:p>
        </p:txBody>
      </p:sp>
    </p:spTree>
    <p:extLst>
      <p:ext uri="{BB962C8B-B14F-4D97-AF65-F5344CB8AC3E}">
        <p14:creationId xmlns:p14="http://schemas.microsoft.com/office/powerpoint/2010/main" val="3168405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20</a:t>
            </a:fld>
            <a:endParaRPr lang="zh-TW" altLang="en-US"/>
          </a:p>
        </p:txBody>
      </p:sp>
    </p:spTree>
    <p:extLst>
      <p:ext uri="{BB962C8B-B14F-4D97-AF65-F5344CB8AC3E}">
        <p14:creationId xmlns:p14="http://schemas.microsoft.com/office/powerpoint/2010/main" val="3564833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21</a:t>
            </a:fld>
            <a:endParaRPr lang="zh-TW" altLang="en-US"/>
          </a:p>
        </p:txBody>
      </p:sp>
    </p:spTree>
    <p:extLst>
      <p:ext uri="{BB962C8B-B14F-4D97-AF65-F5344CB8AC3E}">
        <p14:creationId xmlns:p14="http://schemas.microsoft.com/office/powerpoint/2010/main" val="25253773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Actually, there is no specific name for the table inside interrupt controller</a:t>
            </a:r>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22</a:t>
            </a:fld>
            <a:endParaRPr lang="zh-TW" altLang="en-US"/>
          </a:p>
        </p:txBody>
      </p:sp>
    </p:spTree>
    <p:extLst>
      <p:ext uri="{BB962C8B-B14F-4D97-AF65-F5344CB8AC3E}">
        <p14:creationId xmlns:p14="http://schemas.microsoft.com/office/powerpoint/2010/main" val="804525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23</a:t>
            </a:fld>
            <a:endParaRPr lang="zh-TW" altLang="en-US"/>
          </a:p>
        </p:txBody>
      </p:sp>
    </p:spTree>
    <p:extLst>
      <p:ext uri="{BB962C8B-B14F-4D97-AF65-F5344CB8AC3E}">
        <p14:creationId xmlns:p14="http://schemas.microsoft.com/office/powerpoint/2010/main" val="29382358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B56F5430-B8B8-5B49-D020-4366AEE738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3050" y="-256485"/>
            <a:ext cx="1906380" cy="1906380"/>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marL="742950" indent="-285750" algn="just">
              <a:spcBef>
                <a:spcPts val="0"/>
              </a:spcBef>
              <a:buFont typeface="Arial" panose="020B0604020202020204" pitchFamily="34" charset="0"/>
              <a:buChar char="•"/>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2025/9/24</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2025/9/24</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2025/9/24</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2025/9/24</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2025/9/24</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2025/9/24</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2025/9/24</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2025/9/24</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2025/9/24</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2025/9/24</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cfwu@g.harvard.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cfwu417.github.io/"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eveloper.ibm.com/tutorials/l-completely-fair-schedule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codingnote.cc/zh-tw/p/78397/"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codingnote.cc/zh-tw/p/78397/"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mechpen.github.io/posts/2020-04-27-cfs-group/index.html"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tssurya.wordpress.com/2014/08/19/adding-a-hello-world-system-call-to-linux-kernel-3-16-0/"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zhuanlan.zhihu.com/p/313725721"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270E10-FFD5-F756-E5BC-9AF868D2A4AA}"/>
              </a:ext>
            </a:extLst>
          </p:cNvPr>
          <p:cNvSpPr>
            <a:spLocks noGrp="1"/>
          </p:cNvSpPr>
          <p:nvPr>
            <p:ph type="title"/>
          </p:nvPr>
        </p:nvSpPr>
        <p:spPr/>
        <p:txBody>
          <a:bodyPr/>
          <a:lstStyle/>
          <a:p>
            <a:r>
              <a:rPr kumimoji="1" lang="en-US" altLang="zh-TW" dirty="0"/>
              <a:t>Heads Up</a:t>
            </a:r>
            <a:endParaRPr kumimoji="1" lang="zh-TW" altLang="en-US" dirty="0"/>
          </a:p>
        </p:txBody>
      </p:sp>
      <p:sp>
        <p:nvSpPr>
          <p:cNvPr id="3" name="內容版面配置區 2">
            <a:extLst>
              <a:ext uri="{FF2B5EF4-FFF2-40B4-BE49-F238E27FC236}">
                <a16:creationId xmlns:a16="http://schemas.microsoft.com/office/drawing/2014/main" id="{CC8A1B73-5013-A0AF-1BC0-3C8367932DFA}"/>
              </a:ext>
            </a:extLst>
          </p:cNvPr>
          <p:cNvSpPr>
            <a:spLocks noGrp="1"/>
          </p:cNvSpPr>
          <p:nvPr>
            <p:ph idx="1"/>
          </p:nvPr>
        </p:nvSpPr>
        <p:spPr/>
        <p:txBody>
          <a:bodyPr/>
          <a:lstStyle/>
          <a:p>
            <a:r>
              <a:rPr kumimoji="1" lang="en-US" altLang="zh-TW" dirty="0"/>
              <a:t>Our lecture next week will be split into Wednesday (10/1) 10:10 -11:00 and Thursday (10/2) 10:10 – 11:00.</a:t>
            </a:r>
          </a:p>
          <a:p>
            <a:r>
              <a:rPr lang="en-US" altLang="zh-TW" dirty="0"/>
              <a:t>Next </a:t>
            </a:r>
            <a:r>
              <a:rPr lang="en-US" altLang="zh-TW" dirty="0">
                <a:solidFill>
                  <a:srgbClr val="C00000"/>
                </a:solidFill>
              </a:rPr>
              <a:t>Thursday (10/2), </a:t>
            </a:r>
            <a:r>
              <a:rPr lang="en-US" altLang="zh-TW" dirty="0"/>
              <a:t>we invite a professor from US to give us a talk in AB101.</a:t>
            </a:r>
          </a:p>
          <a:p>
            <a:pPr lvl="1"/>
            <a:r>
              <a:rPr kumimoji="1" lang="en-US" altLang="zh-TW" dirty="0">
                <a:solidFill>
                  <a:srgbClr val="C00000"/>
                </a:solidFill>
              </a:rPr>
              <a:t>Important</a:t>
            </a:r>
            <a:r>
              <a:rPr kumimoji="1" lang="en-US" altLang="zh-TW" dirty="0"/>
              <a:t>: For those joining with us </a:t>
            </a:r>
            <a:r>
              <a:rPr kumimoji="1" lang="en-US" altLang="zh-TW" dirty="0">
                <a:solidFill>
                  <a:srgbClr val="C00000"/>
                </a:solidFill>
              </a:rPr>
              <a:t>online or in-person</a:t>
            </a:r>
            <a:r>
              <a:rPr kumimoji="1" lang="en-US" altLang="zh-TW" dirty="0"/>
              <a:t>, you can get a 2pts bonus on your final score directly.</a:t>
            </a:r>
            <a:endParaRPr kumimoji="1" lang="zh-TW" altLang="en-US" dirty="0"/>
          </a:p>
        </p:txBody>
      </p:sp>
      <p:sp>
        <p:nvSpPr>
          <p:cNvPr id="4" name="投影片編號版面配置區 3">
            <a:extLst>
              <a:ext uri="{FF2B5EF4-FFF2-40B4-BE49-F238E27FC236}">
                <a16:creationId xmlns:a16="http://schemas.microsoft.com/office/drawing/2014/main" id="{82BBE9C6-EC7A-2DFA-0BB3-C23A40ACA169}"/>
              </a:ext>
            </a:extLst>
          </p:cNvPr>
          <p:cNvSpPr>
            <a:spLocks noGrp="1"/>
          </p:cNvSpPr>
          <p:nvPr>
            <p:ph type="sldNum" sz="quarter" idx="4"/>
          </p:nvPr>
        </p:nvSpPr>
        <p:spPr/>
        <p:txBody>
          <a:bodyPr/>
          <a:lstStyle/>
          <a:p>
            <a:fld id="{E24E6636-6BA5-4AAC-8485-BE8D914D288B}" type="slidenum">
              <a:rPr lang="zh-TW" altLang="en-US" smtClean="0"/>
              <a:pPr/>
              <a:t>1</a:t>
            </a:fld>
            <a:endParaRPr lang="zh-TW" altLang="en-US" dirty="0"/>
          </a:p>
        </p:txBody>
      </p:sp>
    </p:spTree>
    <p:extLst>
      <p:ext uri="{BB962C8B-B14F-4D97-AF65-F5344CB8AC3E}">
        <p14:creationId xmlns:p14="http://schemas.microsoft.com/office/powerpoint/2010/main" val="192730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8F323-7DC8-B5C0-1D9C-794CDF23910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732E32A-3D7D-6B96-48AB-B8EF28E54D1E}"/>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440E4F35-413F-5D18-EDA8-3B4DCCD966FD}"/>
              </a:ext>
            </a:extLst>
          </p:cNvPr>
          <p:cNvSpPr>
            <a:spLocks noGrp="1"/>
          </p:cNvSpPr>
          <p:nvPr>
            <p:ph idx="1"/>
          </p:nvPr>
        </p:nvSpPr>
        <p:spPr/>
        <p:txBody>
          <a:bodyPr>
            <a:normAutofit/>
          </a:bodyPr>
          <a:lstStyle/>
          <a:p>
            <a:r>
              <a:rPr kumimoji="1" lang="en-US" altLang="zh-TW" dirty="0"/>
              <a:t>Q1: </a:t>
            </a:r>
            <a:r>
              <a:rPr lang="en-US" altLang="zh-TW" dirty="0"/>
              <a:t>In kernel 2.5, we have active array and expired array. So, active array is a kind of running queue, while expired array is like a waiting queue? </a:t>
            </a:r>
            <a:r>
              <a:rPr kumimoji="1" lang="en-US" altLang="zh-TW" u="sng" dirty="0"/>
              <a:t>Ans: </a:t>
            </a:r>
            <a:r>
              <a:rPr lang="en-US" altLang="zh-TW" dirty="0">
                <a:solidFill>
                  <a:schemeClr val="tx1"/>
                </a:solidFill>
              </a:rPr>
              <a:t>The expired array is not the same as the sleep/wait queues. </a:t>
            </a:r>
            <a:r>
              <a:rPr lang="en-US" altLang="zh-TW" dirty="0">
                <a:solidFill>
                  <a:schemeClr val="accent5">
                    <a:lumMod val="75000"/>
                  </a:schemeClr>
                </a:solidFill>
              </a:rPr>
              <a:t>Blocked/sleeping tasks are removed from the priority arrays (also removed from the </a:t>
            </a:r>
            <a:r>
              <a:rPr lang="en-US" altLang="zh-TW" dirty="0" err="1">
                <a:solidFill>
                  <a:schemeClr val="accent5">
                    <a:lumMod val="75000"/>
                  </a:schemeClr>
                </a:solidFill>
              </a:rPr>
              <a:t>rb</a:t>
            </a:r>
            <a:r>
              <a:rPr lang="en-US" altLang="zh-TW" dirty="0">
                <a:solidFill>
                  <a:schemeClr val="accent5">
                    <a:lumMod val="75000"/>
                  </a:schemeClr>
                </a:solidFill>
              </a:rPr>
              <a:t> tree under CFS) and sit in wait queues until they become runnable again. </a:t>
            </a:r>
            <a:r>
              <a:rPr lang="en-US" altLang="zh-TW" dirty="0">
                <a:solidFill>
                  <a:schemeClr val="tx1"/>
                </a:solidFill>
              </a:rPr>
              <a:t>The expired array simply holds runnable tasks that have used up their current quantum and will only be considered again after the active/expired swap.</a:t>
            </a:r>
            <a:endParaRPr kumimoji="1" lang="en-US" altLang="zh-TW" u="sng" dirty="0">
              <a:solidFill>
                <a:schemeClr val="tx1"/>
              </a:solidFill>
            </a:endParaRPr>
          </a:p>
          <a:p>
            <a:r>
              <a:rPr lang="en-US" altLang="zh-TW" dirty="0"/>
              <a:t>Q2:</a:t>
            </a:r>
            <a:r>
              <a:rPr lang="zh-TW" altLang="en-US" dirty="0"/>
              <a:t> </a:t>
            </a:r>
            <a:r>
              <a:rPr lang="en-US" altLang="zh-TW" dirty="0"/>
              <a:t>Does the child process inherit the parent‘s scheduling policy?</a:t>
            </a:r>
            <a:r>
              <a:rPr lang="zh-TW" altLang="en-US" dirty="0"/>
              <a:t> </a:t>
            </a:r>
            <a:r>
              <a:rPr lang="en-US" altLang="zh-TW" dirty="0"/>
              <a:t>If forking a process owning multiple threads, would all threads be inheriting? </a:t>
            </a:r>
            <a:r>
              <a:rPr lang="en-US" altLang="zh-TW" u="sng" dirty="0"/>
              <a:t>Ans:</a:t>
            </a:r>
            <a:r>
              <a:rPr lang="en-US" altLang="zh-TW" dirty="0"/>
              <a:t> Yes. No.</a:t>
            </a:r>
          </a:p>
          <a:p>
            <a:r>
              <a:rPr kumimoji="1" lang="en-US" altLang="zh-TW" dirty="0"/>
              <a:t>Q3</a:t>
            </a:r>
            <a:r>
              <a:rPr lang="en-US" altLang="zh-TW" dirty="0"/>
              <a:t>: Does CFS consider scenarios involving multiple physical cores? Ans: Yes. </a:t>
            </a:r>
            <a:r>
              <a:rPr lang="en-US" altLang="zh-TW" dirty="0">
                <a:solidFill>
                  <a:schemeClr val="accent5">
                    <a:lumMod val="75000"/>
                  </a:schemeClr>
                </a:solidFill>
              </a:rPr>
              <a:t>Each core has its run tree </a:t>
            </a:r>
            <a:r>
              <a:rPr lang="en-US" altLang="zh-TW" dirty="0"/>
              <a:t>(i.e., red-black tree). Processes allocated to a core will not be rescheduled on other cores unless there is a need of load balancing.</a:t>
            </a:r>
            <a:endParaRPr kumimoji="1" lang="zh-TW" altLang="en-US" dirty="0"/>
          </a:p>
        </p:txBody>
      </p:sp>
      <p:sp>
        <p:nvSpPr>
          <p:cNvPr id="4" name="投影片編號版面配置區 3">
            <a:extLst>
              <a:ext uri="{FF2B5EF4-FFF2-40B4-BE49-F238E27FC236}">
                <a16:creationId xmlns:a16="http://schemas.microsoft.com/office/drawing/2014/main" id="{9F2ED9A5-7B49-D7D8-6DC5-61DC840F2199}"/>
              </a:ext>
            </a:extLst>
          </p:cNvPr>
          <p:cNvSpPr>
            <a:spLocks noGrp="1"/>
          </p:cNvSpPr>
          <p:nvPr>
            <p:ph type="sldNum" sz="quarter" idx="4"/>
          </p:nvPr>
        </p:nvSpPr>
        <p:spPr/>
        <p:txBody>
          <a:bodyPr/>
          <a:lstStyle/>
          <a:p>
            <a:fld id="{E24E6636-6BA5-4AAC-8485-BE8D914D288B}" type="slidenum">
              <a:rPr lang="zh-TW" altLang="en-US" smtClean="0"/>
              <a:pPr/>
              <a:t>2</a:t>
            </a:fld>
            <a:endParaRPr lang="zh-TW" altLang="en-US" dirty="0"/>
          </a:p>
        </p:txBody>
      </p:sp>
    </p:spTree>
    <p:extLst>
      <p:ext uri="{BB962C8B-B14F-4D97-AF65-F5344CB8AC3E}">
        <p14:creationId xmlns:p14="http://schemas.microsoft.com/office/powerpoint/2010/main" val="407002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par>
                                <p:cTn id="13" presetID="9" presetClass="emph" presetSubtype="0" nodeType="withEffect">
                                  <p:stCondLst>
                                    <p:cond delay="0"/>
                                  </p:stCondLst>
                                  <p:childTnLst>
                                    <p:set>
                                      <p:cBhvr>
                                        <p:cTn id="14" dur="indefinite"/>
                                        <p:tgtEl>
                                          <p:spTgt spid="3">
                                            <p:txEl>
                                              <p:pRg st="0" end="0"/>
                                            </p:txEl>
                                          </p:spTgt>
                                        </p:tgtEl>
                                        <p:attrNameLst>
                                          <p:attrName>style.opacity</p:attrName>
                                        </p:attrNameLst>
                                      </p:cBhvr>
                                      <p:to>
                                        <p:strVal val="0.25"/>
                                      </p:to>
                                    </p:set>
                                    <p:animEffect filter="image" prLst="opacity: 0.25">
                                      <p:cBhvr rctx="IE">
                                        <p:cTn id="15" dur="indefinite"/>
                                        <p:tgtEl>
                                          <p:spTgt spid="3">
                                            <p:txEl>
                                              <p:pRg st="0" end="0"/>
                                            </p:txEl>
                                          </p:spTgt>
                                        </p:tgtEl>
                                      </p:cBhvr>
                                    </p:animEffect>
                                  </p:childTnLst>
                                </p:cTn>
                              </p:par>
                              <p:par>
                                <p:cTn id="16" presetID="9" presetClass="emph" presetSubtype="0" nodeType="withEffect">
                                  <p:stCondLst>
                                    <p:cond delay="0"/>
                                  </p:stCondLst>
                                  <p:childTnLst>
                                    <p:set>
                                      <p:cBhvr>
                                        <p:cTn id="17" dur="indefinite"/>
                                        <p:tgtEl>
                                          <p:spTgt spid="3">
                                            <p:txEl>
                                              <p:pRg st="1" end="1"/>
                                            </p:txEl>
                                          </p:spTgt>
                                        </p:tgtEl>
                                        <p:attrNameLst>
                                          <p:attrName>style.opacity</p:attrName>
                                        </p:attrNameLst>
                                      </p:cBhvr>
                                      <p:to>
                                        <p:strVal val="0.25"/>
                                      </p:to>
                                    </p:set>
                                    <p:animEffect filter="image" prLst="opacity: 0.25">
                                      <p:cBhvr rctx="IE">
                                        <p:cTn id="18" dur="indefinite"/>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026EB-98D2-B84F-4A87-3279FA6943B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A6F5CAE-25BA-E3E7-DDC9-9A65237F5D40}"/>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DBFE68E5-70F3-EC6C-F2DC-D64EA015CA8C}"/>
              </a:ext>
            </a:extLst>
          </p:cNvPr>
          <p:cNvSpPr>
            <a:spLocks noGrp="1"/>
          </p:cNvSpPr>
          <p:nvPr>
            <p:ph idx="1"/>
          </p:nvPr>
        </p:nvSpPr>
        <p:spPr/>
        <p:txBody>
          <a:bodyPr>
            <a:normAutofit lnSpcReduction="10000"/>
          </a:bodyPr>
          <a:lstStyle/>
          <a:p>
            <a:pPr algn="l"/>
            <a:r>
              <a:rPr kumimoji="1" lang="en-US" altLang="zh-TW" dirty="0"/>
              <a:t>Q4: </a:t>
            </a:r>
            <a:r>
              <a:rPr lang="en-US" altLang="zh-TW" dirty="0"/>
              <a:t>Why does Linux not design threads as an independent structure, but instead represent them with the same </a:t>
            </a:r>
            <a:r>
              <a:rPr lang="en-US" altLang="zh-TW" dirty="0" err="1"/>
              <a:t>task_struct</a:t>
            </a:r>
            <a:r>
              <a:rPr lang="en-US" altLang="zh-TW" dirty="0"/>
              <a:t> as processes? What are the trade offs of this approach?</a:t>
            </a:r>
          </a:p>
          <a:p>
            <a:pPr lvl="1" algn="l">
              <a:buClr>
                <a:schemeClr val="accent6">
                  <a:lumMod val="75000"/>
                </a:schemeClr>
              </a:buClr>
              <a:buSzPct val="120000"/>
              <a:buFont typeface="標準系統字體"/>
              <a:buChar char="👍"/>
            </a:pPr>
            <a:r>
              <a:rPr lang="en-US" altLang="zh-TW" dirty="0">
                <a:solidFill>
                  <a:schemeClr val="accent6">
                    <a:lumMod val="75000"/>
                  </a:schemeClr>
                </a:solidFill>
              </a:rPr>
              <a:t>Robustness</a:t>
            </a:r>
            <a:r>
              <a:rPr lang="en-US" altLang="zh-TW" dirty="0"/>
              <a:t>: The scheduler only handles </a:t>
            </a:r>
            <a:r>
              <a:rPr lang="en-US" altLang="zh-TW" dirty="0" err="1"/>
              <a:t>task_structs</a:t>
            </a:r>
            <a:r>
              <a:rPr lang="en-US" altLang="zh-TW" dirty="0"/>
              <a:t>, so the </a:t>
            </a:r>
            <a:r>
              <a:rPr lang="en-US" altLang="zh-TW" dirty="0">
                <a:solidFill>
                  <a:schemeClr val="accent5">
                    <a:lumMod val="75000"/>
                  </a:schemeClr>
                </a:solidFill>
              </a:rPr>
              <a:t>same code works for both processes and threads</a:t>
            </a:r>
            <a:r>
              <a:rPr lang="en-US" altLang="zh-TW" dirty="0"/>
              <a:t>. No need to duplicate logic for different object types.</a:t>
            </a:r>
          </a:p>
          <a:p>
            <a:pPr lvl="1" algn="l">
              <a:buClr>
                <a:schemeClr val="accent6">
                  <a:lumMod val="75000"/>
                </a:schemeClr>
              </a:buClr>
              <a:buSzPct val="120000"/>
              <a:buFont typeface="標準系統字體"/>
              <a:buChar char="👍"/>
            </a:pPr>
            <a:r>
              <a:rPr lang="en-US" altLang="zh-TW" dirty="0">
                <a:solidFill>
                  <a:schemeClr val="accent6">
                    <a:lumMod val="75000"/>
                  </a:schemeClr>
                </a:solidFill>
              </a:rPr>
              <a:t>Flexible</a:t>
            </a:r>
            <a:r>
              <a:rPr lang="en-US" altLang="zh-TW" dirty="0"/>
              <a:t>: With clone(), you </a:t>
            </a:r>
            <a:r>
              <a:rPr lang="en-US" altLang="zh-TW" dirty="0">
                <a:solidFill>
                  <a:schemeClr val="accent5">
                    <a:lumMod val="75000"/>
                  </a:schemeClr>
                </a:solidFill>
              </a:rPr>
              <a:t>can decide which parts to share</a:t>
            </a:r>
            <a:r>
              <a:rPr lang="en-US" altLang="zh-TW" dirty="0"/>
              <a:t>. This is more powerful than a rigid “thread object” that always shares everything.</a:t>
            </a:r>
          </a:p>
          <a:p>
            <a:pPr lvl="1" algn="l">
              <a:buClr>
                <a:srgbClr val="C00000"/>
              </a:buClr>
              <a:buSzPct val="120000"/>
              <a:buFont typeface="標準系統字體"/>
              <a:buChar char="👎"/>
            </a:pPr>
            <a:r>
              <a:rPr lang="en-US" altLang="zh-TW" dirty="0">
                <a:solidFill>
                  <a:srgbClr val="C00000"/>
                </a:solidFill>
              </a:rPr>
              <a:t>Memory Overhead</a:t>
            </a:r>
            <a:r>
              <a:rPr lang="en-US" altLang="zh-TW" dirty="0"/>
              <a:t>: Every </a:t>
            </a:r>
            <a:r>
              <a:rPr lang="en-US" altLang="zh-TW" dirty="0">
                <a:solidFill>
                  <a:schemeClr val="accent5">
                    <a:lumMod val="75000"/>
                  </a:schemeClr>
                </a:solidFill>
              </a:rPr>
              <a:t>thread needs a full </a:t>
            </a:r>
            <a:r>
              <a:rPr lang="en-US" altLang="zh-TW" dirty="0" err="1">
                <a:solidFill>
                  <a:schemeClr val="accent5">
                    <a:lumMod val="75000"/>
                  </a:schemeClr>
                </a:solidFill>
              </a:rPr>
              <a:t>task_struct</a:t>
            </a:r>
            <a:r>
              <a:rPr lang="en-US" altLang="zh-TW" dirty="0"/>
              <a:t>, kernel stack, scheduling entity. Thousands of threads cost noticeable kernel memory.</a:t>
            </a:r>
          </a:p>
          <a:p>
            <a:pPr lvl="1" algn="l">
              <a:buClr>
                <a:srgbClr val="C00000"/>
              </a:buClr>
              <a:buSzPct val="120000"/>
              <a:buFont typeface="標準系統字體"/>
              <a:buChar char="👎"/>
            </a:pPr>
            <a:r>
              <a:rPr lang="en-US" altLang="zh-TW" dirty="0">
                <a:solidFill>
                  <a:srgbClr val="C00000"/>
                </a:solidFill>
              </a:rPr>
              <a:t>Scheduling unfairness: </a:t>
            </a:r>
            <a:r>
              <a:rPr lang="en-US" altLang="zh-TW" dirty="0">
                <a:solidFill>
                  <a:schemeClr val="accent5">
                    <a:lumMod val="75000"/>
                  </a:schemeClr>
                </a:solidFill>
              </a:rPr>
              <a:t>CFS is fair among tasks, not processes</a:t>
            </a:r>
            <a:r>
              <a:rPr lang="en-US" altLang="zh-TW" dirty="0"/>
              <a:t>. A process with 100 threads may have more CPU than a single-threaded process.</a:t>
            </a:r>
          </a:p>
          <a:p>
            <a:pPr algn="l">
              <a:buClr>
                <a:srgbClr val="C00000"/>
              </a:buClr>
              <a:buSzPct val="120000"/>
              <a:buFont typeface="Arial" panose="020B0604020202020204" pitchFamily="34" charset="0"/>
              <a:buChar char="•"/>
            </a:pPr>
            <a:r>
              <a:rPr kumimoji="1" lang="en-US" altLang="zh-TW" dirty="0">
                <a:solidFill>
                  <a:schemeClr val="tx1"/>
                </a:solidFill>
              </a:rPr>
              <a:t>Linux prevents kernel stack overflow by design discipline (no recursion, no big locals), separate IRQ stacks, and debug/guard mechanisms. If overflow still happens, the kernel crashes — </a:t>
            </a:r>
            <a:r>
              <a:rPr kumimoji="1" lang="en-US" altLang="zh-TW" dirty="0">
                <a:solidFill>
                  <a:srgbClr val="C00000"/>
                </a:solidFill>
              </a:rPr>
              <a:t>so kernel developers work hard to make it practically impossible.</a:t>
            </a:r>
            <a:endParaRPr kumimoji="1" lang="zh-TW" altLang="en-US" dirty="0">
              <a:solidFill>
                <a:srgbClr val="C00000"/>
              </a:solidFill>
            </a:endParaRPr>
          </a:p>
        </p:txBody>
      </p:sp>
      <p:sp>
        <p:nvSpPr>
          <p:cNvPr id="4" name="投影片編號版面配置區 3">
            <a:extLst>
              <a:ext uri="{FF2B5EF4-FFF2-40B4-BE49-F238E27FC236}">
                <a16:creationId xmlns:a16="http://schemas.microsoft.com/office/drawing/2014/main" id="{F047B6A8-F2A7-B9F2-1322-B3582501E837}"/>
              </a:ext>
            </a:extLst>
          </p:cNvPr>
          <p:cNvSpPr>
            <a:spLocks noGrp="1"/>
          </p:cNvSpPr>
          <p:nvPr>
            <p:ph type="sldNum" sz="quarter" idx="4"/>
          </p:nvPr>
        </p:nvSpPr>
        <p:spPr/>
        <p:txBody>
          <a:bodyPr/>
          <a:lstStyle/>
          <a:p>
            <a:fld id="{E24E6636-6BA5-4AAC-8485-BE8D914D288B}" type="slidenum">
              <a:rPr lang="zh-TW" altLang="en-US" smtClean="0"/>
              <a:pPr/>
              <a:t>3</a:t>
            </a:fld>
            <a:endParaRPr lang="zh-TW" altLang="en-US" dirty="0"/>
          </a:p>
        </p:txBody>
      </p:sp>
    </p:spTree>
    <p:extLst>
      <p:ext uri="{BB962C8B-B14F-4D97-AF65-F5344CB8AC3E}">
        <p14:creationId xmlns:p14="http://schemas.microsoft.com/office/powerpoint/2010/main" val="235474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up)">
                                      <p:cBhvr>
                                        <p:cTn id="7" dur="500"/>
                                        <p:tgtEl>
                                          <p:spTgt spid="3">
                                            <p:txEl>
                                              <p:pRg st="5" end="5"/>
                                            </p:txEl>
                                          </p:spTgt>
                                        </p:tgtEl>
                                      </p:cBhvr>
                                    </p:animEffect>
                                  </p:childTnLst>
                                </p:cTn>
                              </p:par>
                              <p:par>
                                <p:cTn id="8" presetID="9" presetClass="emph" presetSubtype="0" nodeType="withEffect">
                                  <p:stCondLst>
                                    <p:cond delay="0"/>
                                  </p:stCondLst>
                                  <p:childTnLst>
                                    <p:set>
                                      <p:cBhvr>
                                        <p:cTn id="9" dur="indefinite"/>
                                        <p:tgtEl>
                                          <p:spTgt spid="3">
                                            <p:txEl>
                                              <p:pRg st="0" end="0"/>
                                            </p:txEl>
                                          </p:spTgt>
                                        </p:tgtEl>
                                        <p:attrNameLst>
                                          <p:attrName>style.opacity</p:attrName>
                                        </p:attrNameLst>
                                      </p:cBhvr>
                                      <p:to>
                                        <p:strVal val="0.25"/>
                                      </p:to>
                                    </p:set>
                                    <p:animEffect filter="image" prLst="opacity: 0.25">
                                      <p:cBhvr rctx="IE">
                                        <p:cTn id="10" dur="indefinite"/>
                                        <p:tgtEl>
                                          <p:spTgt spid="3">
                                            <p:txEl>
                                              <p:pRg st="0" end="0"/>
                                            </p:txEl>
                                          </p:spTgt>
                                        </p:tgtEl>
                                      </p:cBhvr>
                                    </p:animEffect>
                                  </p:childTnLst>
                                </p:cTn>
                              </p:par>
                              <p:par>
                                <p:cTn id="11" presetID="9" presetClass="emph" presetSubtype="0" nodeType="withEffect">
                                  <p:stCondLst>
                                    <p:cond delay="0"/>
                                  </p:stCondLst>
                                  <p:childTnLst>
                                    <p:set>
                                      <p:cBhvr>
                                        <p:cTn id="12" dur="indefinite"/>
                                        <p:tgtEl>
                                          <p:spTgt spid="3">
                                            <p:txEl>
                                              <p:pRg st="1" end="1"/>
                                            </p:txEl>
                                          </p:spTgt>
                                        </p:tgtEl>
                                        <p:attrNameLst>
                                          <p:attrName>style.opacity</p:attrName>
                                        </p:attrNameLst>
                                      </p:cBhvr>
                                      <p:to>
                                        <p:strVal val="0.25"/>
                                      </p:to>
                                    </p:set>
                                    <p:animEffect filter="image" prLst="opacity: 0.25">
                                      <p:cBhvr rctx="IE">
                                        <p:cTn id="13" dur="indefinite"/>
                                        <p:tgtEl>
                                          <p:spTgt spid="3">
                                            <p:txEl>
                                              <p:pRg st="1" end="1"/>
                                            </p:txEl>
                                          </p:spTgt>
                                        </p:tgtEl>
                                      </p:cBhvr>
                                    </p:animEffect>
                                  </p:childTnLst>
                                </p:cTn>
                              </p:par>
                              <p:par>
                                <p:cTn id="14" presetID="9" presetClass="emph" presetSubtype="0" nodeType="withEffect">
                                  <p:stCondLst>
                                    <p:cond delay="0"/>
                                  </p:stCondLst>
                                  <p:childTnLst>
                                    <p:set>
                                      <p:cBhvr>
                                        <p:cTn id="15" dur="indefinite"/>
                                        <p:tgtEl>
                                          <p:spTgt spid="3">
                                            <p:txEl>
                                              <p:pRg st="2" end="2"/>
                                            </p:txEl>
                                          </p:spTgt>
                                        </p:tgtEl>
                                        <p:attrNameLst>
                                          <p:attrName>style.opacity</p:attrName>
                                        </p:attrNameLst>
                                      </p:cBhvr>
                                      <p:to>
                                        <p:strVal val="0.25"/>
                                      </p:to>
                                    </p:set>
                                    <p:animEffect filter="image" prLst="opacity: 0.25">
                                      <p:cBhvr rctx="IE">
                                        <p:cTn id="16" dur="indefinite"/>
                                        <p:tgtEl>
                                          <p:spTgt spid="3">
                                            <p:txEl>
                                              <p:pRg st="2" end="2"/>
                                            </p:txEl>
                                          </p:spTgt>
                                        </p:tgtEl>
                                      </p:cBhvr>
                                    </p:animEffect>
                                  </p:childTnLst>
                                </p:cTn>
                              </p:par>
                              <p:par>
                                <p:cTn id="17" presetID="9" presetClass="emph" presetSubtype="0" nodeType="withEffect">
                                  <p:stCondLst>
                                    <p:cond delay="0"/>
                                  </p:stCondLst>
                                  <p:childTnLst>
                                    <p:set>
                                      <p:cBhvr>
                                        <p:cTn id="18" dur="indefinite"/>
                                        <p:tgtEl>
                                          <p:spTgt spid="3">
                                            <p:txEl>
                                              <p:pRg st="3" end="3"/>
                                            </p:txEl>
                                          </p:spTgt>
                                        </p:tgtEl>
                                        <p:attrNameLst>
                                          <p:attrName>style.opacity</p:attrName>
                                        </p:attrNameLst>
                                      </p:cBhvr>
                                      <p:to>
                                        <p:strVal val="0.25"/>
                                      </p:to>
                                    </p:set>
                                    <p:animEffect filter="image" prLst="opacity: 0.25">
                                      <p:cBhvr rctx="IE">
                                        <p:cTn id="19" dur="indefinite"/>
                                        <p:tgtEl>
                                          <p:spTgt spid="3">
                                            <p:txEl>
                                              <p:pRg st="3" end="3"/>
                                            </p:txEl>
                                          </p:spTgt>
                                        </p:tgtEl>
                                      </p:cBhvr>
                                    </p:animEffect>
                                  </p:childTnLst>
                                </p:cTn>
                              </p:par>
                              <p:par>
                                <p:cTn id="20" presetID="9" presetClass="emph" presetSubtype="0" nodeType="withEffect">
                                  <p:stCondLst>
                                    <p:cond delay="0"/>
                                  </p:stCondLst>
                                  <p:childTnLst>
                                    <p:set>
                                      <p:cBhvr>
                                        <p:cTn id="21" dur="indefinite"/>
                                        <p:tgtEl>
                                          <p:spTgt spid="3">
                                            <p:txEl>
                                              <p:pRg st="4" end="4"/>
                                            </p:txEl>
                                          </p:spTgt>
                                        </p:tgtEl>
                                        <p:attrNameLst>
                                          <p:attrName>style.opacity</p:attrName>
                                        </p:attrNameLst>
                                      </p:cBhvr>
                                      <p:to>
                                        <p:strVal val="0.25"/>
                                      </p:to>
                                    </p:set>
                                    <p:animEffect filter="image" prLst="opacity: 0.25">
                                      <p:cBhvr rctx="IE">
                                        <p:cTn id="22"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1653411"/>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L2: Process</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&amp;</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
        <p:nvSpPr>
          <p:cNvPr id="9" name="Rectangle 3">
            <a:extLst>
              <a:ext uri="{FF2B5EF4-FFF2-40B4-BE49-F238E27FC236}">
                <a16:creationId xmlns:a16="http://schemas.microsoft.com/office/drawing/2014/main" id="{5AFF0398-C56C-EF34-D937-57DAB24DA303}"/>
              </a:ext>
            </a:extLst>
          </p:cNvPr>
          <p:cNvSpPr txBox="1">
            <a:spLocks noChangeArrowheads="1"/>
          </p:cNvSpPr>
          <p:nvPr/>
        </p:nvSpPr>
        <p:spPr bwMode="auto">
          <a:xfrm>
            <a:off x="1132114" y="3762490"/>
            <a:ext cx="9927772" cy="131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800" b="1" dirty="0">
                <a:solidFill>
                  <a:schemeClr val="tx1"/>
                </a:solidFill>
                <a:latin typeface="Palatino Linotype" panose="02040502050505030304" pitchFamily="18" charset="0"/>
                <a:ea typeface="新細明體"/>
              </a:rPr>
              <a:t>Chun-Feng Wu (</a:t>
            </a:r>
            <a:r>
              <a:rPr lang="zh-TW" altLang="en-US" sz="2800" b="1" dirty="0">
                <a:solidFill>
                  <a:schemeClr val="tx1"/>
                </a:solidFill>
                <a:latin typeface="Kaiti TC" panose="02010600040101010101" pitchFamily="2" charset="-120"/>
                <a:ea typeface="Kaiti TC" panose="02010600040101010101" pitchFamily="2" charset="-120"/>
              </a:rPr>
              <a:t>吳俊峯</a:t>
            </a:r>
            <a:r>
              <a:rPr lang="en-US" altLang="zh-TW" sz="2800" b="1" dirty="0">
                <a:solidFill>
                  <a:schemeClr val="tx1"/>
                </a:solidFill>
                <a:latin typeface="Palatino Linotype" panose="02040502050505030304" pitchFamily="18" charset="0"/>
                <a:ea typeface="新細明體"/>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000" b="1" dirty="0">
                <a:solidFill>
                  <a:schemeClr val="tx1"/>
                </a:solidFill>
                <a:latin typeface="Palatino Linotype" panose="02040502050505030304" pitchFamily="18" charset="0"/>
                <a:ea typeface="新細明體"/>
              </a:rPr>
              <a:t>Assistant</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Professor, National</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Yang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Ming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Chiao</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Tung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University</a:t>
            </a:r>
          </a:p>
        </p:txBody>
      </p:sp>
      <p:grpSp>
        <p:nvGrpSpPr>
          <p:cNvPr id="10" name="Group 17">
            <a:extLst>
              <a:ext uri="{FF2B5EF4-FFF2-40B4-BE49-F238E27FC236}">
                <a16:creationId xmlns:a16="http://schemas.microsoft.com/office/drawing/2014/main" id="{89C9EB9B-D847-8763-647D-4A1AC557E2CA}"/>
              </a:ext>
            </a:extLst>
          </p:cNvPr>
          <p:cNvGrpSpPr/>
          <p:nvPr/>
        </p:nvGrpSpPr>
        <p:grpSpPr>
          <a:xfrm>
            <a:off x="4539533" y="4639104"/>
            <a:ext cx="3482385" cy="1144694"/>
            <a:chOff x="4604975" y="4666826"/>
            <a:chExt cx="3482385" cy="1144694"/>
          </a:xfrm>
        </p:grpSpPr>
        <p:sp>
          <p:nvSpPr>
            <p:cNvPr id="11" name="Rectangle 1">
              <a:extLst>
                <a:ext uri="{FF2B5EF4-FFF2-40B4-BE49-F238E27FC236}">
                  <a16:creationId xmlns:a16="http://schemas.microsoft.com/office/drawing/2014/main" id="{38E8E4F6-0E2B-B4A8-C878-7642B7F99112}"/>
                </a:ext>
              </a:extLst>
            </p:cNvPr>
            <p:cNvSpPr/>
            <p:nvPr/>
          </p:nvSpPr>
          <p:spPr>
            <a:xfrm>
              <a:off x="6003635" y="4666826"/>
              <a:ext cx="184730" cy="461665"/>
            </a:xfrm>
            <a:prstGeom prst="rect">
              <a:avLst/>
            </a:prstGeom>
          </p:spPr>
          <p:txBody>
            <a:bodyPr wrap="none">
              <a:spAutoFit/>
            </a:bodyPr>
            <a:lstStyle/>
            <a:p>
              <a:pPr lvl="0" algn="ctr">
                <a:defRPr/>
              </a:pPr>
              <a:endParaRPr kumimoji="1" lang="en-US" altLang="zh-TW" sz="2400" dirty="0">
                <a:solidFill>
                  <a:schemeClr val="bg1"/>
                </a:solidFill>
                <a:latin typeface="Palatino Linotype"/>
                <a:ea typeface="新細明體"/>
              </a:endParaRPr>
            </a:p>
          </p:txBody>
        </p:sp>
        <p:sp>
          <p:nvSpPr>
            <p:cNvPr id="12" name="Rectangle 3">
              <a:extLst>
                <a:ext uri="{FF2B5EF4-FFF2-40B4-BE49-F238E27FC236}">
                  <a16:creationId xmlns:a16="http://schemas.microsoft.com/office/drawing/2014/main" id="{65F24944-F567-4E32-2237-25794D664663}"/>
                </a:ext>
              </a:extLst>
            </p:cNvPr>
            <p:cNvSpPr txBox="1">
              <a:spLocks noChangeArrowheads="1"/>
            </p:cNvSpPr>
            <p:nvPr/>
          </p:nvSpPr>
          <p:spPr bwMode="auto">
            <a:xfrm>
              <a:off x="4911634" y="4786024"/>
              <a:ext cx="3175726" cy="1025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u="sng" dirty="0">
                  <a:solidFill>
                    <a:schemeClr val="tx1">
                      <a:lumMod val="75000"/>
                      <a:lumOff val="25000"/>
                    </a:schemeClr>
                  </a:solidFill>
                  <a:latin typeface="Palatino Linotype" panose="02040502050505030304" pitchFamily="18" charset="0"/>
                  <a:ea typeface="新細明體"/>
                  <a:hlinkClick r:id="rId3">
                    <a:extLst>
                      <a:ext uri="{A12FA001-AC4F-418D-AE19-62706E023703}">
                        <ahyp:hlinkClr xmlns:ahyp="http://schemas.microsoft.com/office/drawing/2018/hyperlinkcolor" val="tx"/>
                      </a:ext>
                    </a:extLst>
                  </a:hlinkClick>
                </a:rPr>
                <a:t>cfwu417@</a:t>
              </a:r>
              <a:r>
                <a:rPr lang="en-US" altLang="zh-TW" sz="1800" u="sng" dirty="0">
                  <a:solidFill>
                    <a:schemeClr val="tx1">
                      <a:lumMod val="75000"/>
                      <a:lumOff val="25000"/>
                    </a:schemeClr>
                  </a:solidFill>
                  <a:latin typeface="Palatino Linotype" panose="02040502050505030304" pitchFamily="18" charset="0"/>
                  <a:ea typeface="新細明體"/>
                </a:rPr>
                <a:t>cs.nycu.edu.tw</a:t>
              </a:r>
            </a:p>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dirty="0">
                  <a:solidFill>
                    <a:schemeClr val="tx1">
                      <a:lumMod val="75000"/>
                      <a:lumOff val="25000"/>
                    </a:schemeClr>
                  </a:solidFill>
                  <a:latin typeface="Palatino Linotype" panose="02040502050505030304" pitchFamily="18" charset="0"/>
                  <a:ea typeface="新細明體"/>
                  <a:hlinkClick r:id="rId4">
                    <a:extLst>
                      <a:ext uri="{A12FA001-AC4F-418D-AE19-62706E023703}">
                        <ahyp:hlinkClr xmlns:ahyp="http://schemas.microsoft.com/office/drawing/2018/hyperlinkcolor" val="tx"/>
                      </a:ext>
                    </a:extLst>
                  </a:hlinkClick>
                </a:rPr>
                <a:t>https://cfwu417.github.io</a:t>
              </a:r>
              <a:endParaRPr lang="en-US" altLang="zh-TW" sz="1800" dirty="0">
                <a:solidFill>
                  <a:schemeClr val="tx1">
                    <a:lumMod val="75000"/>
                    <a:lumOff val="25000"/>
                  </a:schemeClr>
                </a:solidFill>
                <a:latin typeface="Palatino Linotype" panose="02040502050505030304" pitchFamily="18" charset="0"/>
                <a:ea typeface="新細明體"/>
              </a:endParaRPr>
            </a:p>
          </p:txBody>
        </p:sp>
        <p:pic>
          <p:nvPicPr>
            <p:cNvPr id="13" name="Picture 14" descr="Shape&#10;&#10;Description automatically generated with low confidence">
              <a:extLst>
                <a:ext uri="{FF2B5EF4-FFF2-40B4-BE49-F238E27FC236}">
                  <a16:creationId xmlns:a16="http://schemas.microsoft.com/office/drawing/2014/main" id="{505174C7-FCE3-7C3B-8944-531A7458B502}"/>
                </a:ext>
              </a:extLst>
            </p:cNvPr>
            <p:cNvPicPr>
              <a:picLocks noChangeAspect="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4972996"/>
              <a:ext cx="360000" cy="360000"/>
            </a:xfrm>
            <a:prstGeom prst="rect">
              <a:avLst/>
            </a:prstGeom>
          </p:spPr>
        </p:pic>
        <p:pic>
          <p:nvPicPr>
            <p:cNvPr id="14" name="Picture 16" descr="Shape&#10;&#10;Description automatically generated with low confidence">
              <a:extLst>
                <a:ext uri="{FF2B5EF4-FFF2-40B4-BE49-F238E27FC236}">
                  <a16:creationId xmlns:a16="http://schemas.microsoft.com/office/drawing/2014/main" id="{97C273A0-DE4B-A1A6-8CD5-00C49E144049}"/>
                </a:ext>
              </a:extLst>
            </p:cNvPr>
            <p:cNvPicPr>
              <a:picLocks noChangeAspect="1"/>
            </p:cNvPicPr>
            <p:nvPr/>
          </p:nvPicPr>
          <p:blipFill>
            <a:blip r:embed="rId6">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5301873"/>
              <a:ext cx="360000" cy="360000"/>
            </a:xfrm>
            <a:prstGeom prst="rect">
              <a:avLst/>
            </a:prstGeom>
          </p:spPr>
        </p:pic>
      </p:grpSp>
    </p:spTree>
    <p:extLst>
      <p:ext uri="{BB962C8B-B14F-4D97-AF65-F5344CB8AC3E}">
        <p14:creationId xmlns:p14="http://schemas.microsoft.com/office/powerpoint/2010/main" val="3432692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4B5F-77D0-12AC-93F5-73ADAC79B67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5876894-4880-DC6F-2743-4F88D9246338}"/>
              </a:ext>
            </a:extLst>
          </p:cNvPr>
          <p:cNvSpPr>
            <a:spLocks noGrp="1"/>
          </p:cNvSpPr>
          <p:nvPr>
            <p:ph type="title"/>
          </p:nvPr>
        </p:nvSpPr>
        <p:spPr/>
        <p:txBody>
          <a:bodyPr/>
          <a:lstStyle/>
          <a:p>
            <a:r>
              <a:rPr lang="en-US" altLang="zh-TW" sz="4400" dirty="0">
                <a:solidFill>
                  <a:srgbClr val="C00000"/>
                </a:solidFill>
              </a:rPr>
              <a:t>Recap: </a:t>
            </a:r>
            <a:r>
              <a:rPr kumimoji="1" lang="en-US" altLang="zh-TW" dirty="0"/>
              <a:t>Process Creation</a:t>
            </a:r>
            <a:endParaRPr kumimoji="1" lang="zh-TW" altLang="en-US" dirty="0"/>
          </a:p>
        </p:txBody>
      </p:sp>
      <p:sp>
        <p:nvSpPr>
          <p:cNvPr id="3" name="內容版面配置區 2">
            <a:extLst>
              <a:ext uri="{FF2B5EF4-FFF2-40B4-BE49-F238E27FC236}">
                <a16:creationId xmlns:a16="http://schemas.microsoft.com/office/drawing/2014/main" id="{82A51B2B-1048-8B4D-C6B8-3794049BFD3B}"/>
              </a:ext>
            </a:extLst>
          </p:cNvPr>
          <p:cNvSpPr>
            <a:spLocks noGrp="1"/>
          </p:cNvSpPr>
          <p:nvPr>
            <p:ph idx="1"/>
          </p:nvPr>
        </p:nvSpPr>
        <p:spPr/>
        <p:txBody>
          <a:bodyPr>
            <a:normAutofit/>
          </a:bodyPr>
          <a:lstStyle/>
          <a:p>
            <a:pPr algn="l"/>
            <a:r>
              <a:rPr kumimoji="1" lang="en-US" altLang="zh-TW" dirty="0"/>
              <a:t>Process</a:t>
            </a:r>
            <a:r>
              <a:rPr kumimoji="1" lang="zh-TW" altLang="en-US" dirty="0"/>
              <a:t> </a:t>
            </a:r>
            <a:r>
              <a:rPr kumimoji="1" lang="en-US" altLang="zh-TW" dirty="0"/>
              <a:t>Creation = fork() + exec()</a:t>
            </a:r>
          </a:p>
          <a:p>
            <a:pPr lvl="1" algn="l"/>
            <a:r>
              <a:rPr lang="en-US" altLang="zh-TW" dirty="0"/>
              <a:t>fork():</a:t>
            </a:r>
            <a:r>
              <a:rPr lang="zh-TW" altLang="en-US" dirty="0"/>
              <a:t> </a:t>
            </a:r>
            <a:r>
              <a:rPr lang="en-US" altLang="zh-TW" dirty="0"/>
              <a:t>Create</a:t>
            </a:r>
            <a:r>
              <a:rPr lang="zh-TW" altLang="en-US" dirty="0"/>
              <a:t> </a:t>
            </a:r>
            <a:r>
              <a:rPr lang="en-US" altLang="zh-TW" dirty="0"/>
              <a:t>a</a:t>
            </a:r>
            <a:r>
              <a:rPr lang="zh-TW" altLang="en-US" dirty="0"/>
              <a:t> </a:t>
            </a:r>
            <a:r>
              <a:rPr lang="en-US" altLang="zh-TW" dirty="0"/>
              <a:t>child</a:t>
            </a:r>
            <a:r>
              <a:rPr lang="zh-TW" altLang="en-US" dirty="0"/>
              <a:t> </a:t>
            </a:r>
            <a:r>
              <a:rPr lang="en-US" altLang="zh-TW" dirty="0"/>
              <a:t>by</a:t>
            </a:r>
            <a:r>
              <a:rPr lang="zh-TW" altLang="en-US" dirty="0"/>
              <a:t> </a:t>
            </a:r>
            <a:r>
              <a:rPr lang="en-US" altLang="zh-TW" dirty="0">
                <a:solidFill>
                  <a:srgbClr val="C00000"/>
                </a:solidFill>
              </a:rPr>
              <a:t>copying</a:t>
            </a:r>
            <a:r>
              <a:rPr lang="zh-TW" altLang="en-US" dirty="0"/>
              <a:t> </a:t>
            </a:r>
            <a:r>
              <a:rPr lang="en-US" altLang="zh-TW" dirty="0"/>
              <a:t>its</a:t>
            </a:r>
            <a:r>
              <a:rPr lang="zh-TW" altLang="en-US" dirty="0"/>
              <a:t> </a:t>
            </a:r>
            <a:r>
              <a:rPr lang="en-US" altLang="zh-TW" dirty="0"/>
              <a:t>parent. (Reason: efficient and simple!)</a:t>
            </a:r>
            <a:r>
              <a:rPr lang="zh-TW" altLang="en-US" dirty="0"/>
              <a:t> </a:t>
            </a:r>
            <a:br>
              <a:rPr lang="en-US" altLang="zh-TW" dirty="0"/>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 Page Frames</a:t>
            </a:r>
            <a:r>
              <a:rPr lang="zh-TW" altLang="en-US" i="1" dirty="0">
                <a:solidFill>
                  <a:schemeClr val="tx1">
                    <a:lumMod val="50000"/>
                    <a:lumOff val="50000"/>
                  </a:schemeClr>
                </a:solidFill>
              </a:rPr>
              <a:t> </a:t>
            </a:r>
            <a:r>
              <a:rPr lang="en-US" altLang="zh-TW" i="1" dirty="0">
                <a:solidFill>
                  <a:schemeClr val="tx1">
                    <a:lumMod val="50000"/>
                    <a:lumOff val="50000"/>
                  </a:schemeClr>
                </a:solidFill>
              </a:rPr>
              <a:t>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t>e</a:t>
            </a:r>
            <a:r>
              <a:rPr kumimoji="1" lang="en-US" altLang="zh-TW" dirty="0"/>
              <a:t>xec():</a:t>
            </a:r>
            <a:r>
              <a:rPr kumimoji="1" lang="zh-TW" altLang="en-US" dirty="0"/>
              <a:t> </a:t>
            </a:r>
            <a:r>
              <a:rPr kumimoji="1" lang="en-US" altLang="zh-TW" dirty="0"/>
              <a:t>Loads</a:t>
            </a:r>
            <a:r>
              <a:rPr kumimoji="1" lang="zh-TW" altLang="en-US" dirty="0"/>
              <a:t> </a:t>
            </a:r>
            <a:r>
              <a:rPr kumimoji="1" lang="en-US" altLang="zh-TW" dirty="0"/>
              <a:t>a</a:t>
            </a:r>
            <a:r>
              <a:rPr kumimoji="1" lang="zh-TW" altLang="en-US" dirty="0"/>
              <a:t> </a:t>
            </a:r>
            <a:r>
              <a:rPr kumimoji="1" lang="en-US" altLang="zh-TW" dirty="0"/>
              <a:t>new</a:t>
            </a:r>
            <a:r>
              <a:rPr kumimoji="1" lang="zh-TW" altLang="en-US" dirty="0"/>
              <a:t> </a:t>
            </a:r>
            <a:r>
              <a:rPr kumimoji="1" lang="en-US" altLang="zh-TW" dirty="0"/>
              <a:t>executable</a:t>
            </a:r>
            <a:r>
              <a:rPr kumimoji="1" lang="zh-TW" altLang="en-US" dirty="0"/>
              <a:t> </a:t>
            </a:r>
            <a:r>
              <a:rPr lang="en-US" altLang="zh-TW" dirty="0"/>
              <a:t>into</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 (i.e., memory)</a:t>
            </a:r>
            <a:r>
              <a:rPr lang="zh-TW" altLang="en-US" dirty="0"/>
              <a:t> </a:t>
            </a:r>
            <a:r>
              <a:rPr lang="en-US" altLang="zh-TW" dirty="0"/>
              <a:t>and</a:t>
            </a:r>
            <a:r>
              <a:rPr lang="zh-TW" altLang="en-US" dirty="0"/>
              <a:t> </a:t>
            </a:r>
            <a:r>
              <a:rPr lang="en-US" altLang="zh-TW" dirty="0"/>
              <a:t>runs</a:t>
            </a:r>
            <a:r>
              <a:rPr lang="zh-TW" altLang="en-US" dirty="0"/>
              <a:t> </a:t>
            </a:r>
            <a:r>
              <a:rPr lang="en-US" altLang="zh-TW" dirty="0"/>
              <a:t>it.</a:t>
            </a:r>
            <a:endParaRPr kumimoji="1" lang="en-US" altLang="zh-TW" dirty="0"/>
          </a:p>
          <a:p>
            <a:pPr algn="l"/>
            <a:r>
              <a:rPr lang="en-US" altLang="zh-TW" dirty="0"/>
              <a:t>Copy-on-Write</a:t>
            </a:r>
            <a:r>
              <a:rPr lang="zh-TW" altLang="en-US" dirty="0"/>
              <a:t> </a:t>
            </a:r>
            <a:r>
              <a:rPr lang="en-US" altLang="zh-TW" dirty="0"/>
              <a:t>(</a:t>
            </a:r>
            <a:r>
              <a:rPr lang="en-US" altLang="zh-TW" dirty="0" err="1"/>
              <a:t>CoW</a:t>
            </a:r>
            <a:r>
              <a:rPr lang="en-US" altLang="zh-TW" dirty="0"/>
              <a:t>)</a:t>
            </a:r>
          </a:p>
          <a:p>
            <a:pPr lvl="1" algn="l"/>
            <a:r>
              <a:rPr lang="en-US" altLang="zh-TW" dirty="0"/>
              <a:t>Challenge:</a:t>
            </a:r>
            <a:r>
              <a:rPr lang="zh-TW" altLang="en-US" dirty="0"/>
              <a:t> </a:t>
            </a:r>
            <a:r>
              <a:rPr lang="en-US" altLang="zh-TW" dirty="0"/>
              <a:t>Naively</a:t>
            </a:r>
            <a:r>
              <a:rPr lang="zh-TW" altLang="en-US" dirty="0"/>
              <a:t> </a:t>
            </a:r>
            <a:r>
              <a:rPr lang="en-US" altLang="zh-TW" dirty="0">
                <a:solidFill>
                  <a:srgbClr val="C00000"/>
                </a:solidFill>
              </a:rPr>
              <a:t>copying</a:t>
            </a:r>
            <a:r>
              <a:rPr lang="zh-TW" altLang="en-US" dirty="0"/>
              <a:t> </a:t>
            </a:r>
            <a:r>
              <a:rPr lang="en-US" altLang="zh-TW" dirty="0"/>
              <a:t>all</a:t>
            </a:r>
            <a:r>
              <a:rPr lang="zh-TW" altLang="en-US" dirty="0"/>
              <a:t> </a:t>
            </a:r>
            <a:r>
              <a:rPr lang="en-US" altLang="zh-TW" dirty="0"/>
              <a:t>resources</a:t>
            </a:r>
            <a:r>
              <a:rPr lang="zh-TW" altLang="en-US" dirty="0"/>
              <a:t> </a:t>
            </a:r>
            <a:r>
              <a:rPr lang="en-US" altLang="zh-TW" dirty="0"/>
              <a:t>from</a:t>
            </a:r>
            <a:r>
              <a:rPr lang="zh-TW" altLang="en-US" dirty="0"/>
              <a:t> </a:t>
            </a:r>
            <a:r>
              <a:rPr lang="en-US" altLang="zh-TW" dirty="0"/>
              <a:t>a</a:t>
            </a:r>
            <a:r>
              <a:rPr lang="zh-TW" altLang="en-US" dirty="0"/>
              <a:t> </a:t>
            </a:r>
            <a:r>
              <a:rPr lang="en-US" altLang="zh-TW" dirty="0"/>
              <a:t>parent</a:t>
            </a:r>
            <a:r>
              <a:rPr lang="zh-TW" altLang="en-US" dirty="0"/>
              <a:t> </a:t>
            </a:r>
            <a:r>
              <a:rPr lang="en-US" altLang="zh-TW" dirty="0"/>
              <a:t>process</a:t>
            </a:r>
            <a:r>
              <a:rPr lang="zh-TW" altLang="en-US" dirty="0"/>
              <a:t> </a:t>
            </a:r>
            <a:r>
              <a:rPr lang="en-US" altLang="zh-TW" dirty="0"/>
              <a:t>is</a:t>
            </a:r>
            <a:r>
              <a:rPr lang="zh-TW" altLang="en-US" dirty="0"/>
              <a:t> </a:t>
            </a:r>
            <a:r>
              <a:rPr lang="en-US" altLang="zh-TW" dirty="0">
                <a:solidFill>
                  <a:srgbClr val="C00000"/>
                </a:solidFill>
              </a:rPr>
              <a:t>time</a:t>
            </a:r>
            <a:r>
              <a:rPr lang="zh-TW" altLang="en-US" dirty="0">
                <a:solidFill>
                  <a:srgbClr val="C00000"/>
                </a:solidFill>
              </a:rPr>
              <a:t> </a:t>
            </a:r>
            <a:r>
              <a:rPr lang="en-US" altLang="zh-TW" dirty="0">
                <a:solidFill>
                  <a:srgbClr val="C00000"/>
                </a:solidFill>
              </a:rPr>
              <a:t>consuming</a:t>
            </a:r>
            <a:r>
              <a:rPr lang="en-US" altLang="zh-TW" dirty="0"/>
              <a:t>.</a:t>
            </a:r>
          </a:p>
          <a:p>
            <a:pPr lvl="1" algn="l"/>
            <a:r>
              <a:rPr lang="en-US" altLang="zh-TW" dirty="0"/>
              <a:t>How</a:t>
            </a:r>
            <a:r>
              <a:rPr lang="zh-TW" altLang="en-US" dirty="0"/>
              <a:t> </a:t>
            </a:r>
            <a:r>
              <a:rPr lang="en-US" altLang="zh-TW" dirty="0" err="1"/>
              <a:t>CoW</a:t>
            </a:r>
            <a:r>
              <a:rPr lang="zh-TW" altLang="en-US" dirty="0"/>
              <a:t> </a:t>
            </a:r>
            <a:r>
              <a:rPr lang="en-US" altLang="zh-TW" dirty="0"/>
              <a:t>works:</a:t>
            </a:r>
            <a:r>
              <a:rPr lang="zh-TW" altLang="en-US" dirty="0"/>
              <a:t> </a:t>
            </a:r>
            <a:r>
              <a:rPr lang="en-US" altLang="zh-TW" dirty="0">
                <a:solidFill>
                  <a:srgbClr val="C00000"/>
                </a:solidFill>
              </a:rPr>
              <a:t>Delay</a:t>
            </a:r>
            <a:r>
              <a:rPr lang="zh-TW" altLang="en-US" dirty="0"/>
              <a:t> </a:t>
            </a:r>
            <a:r>
              <a:rPr lang="en-US" altLang="zh-TW" dirty="0"/>
              <a:t>and</a:t>
            </a:r>
            <a:r>
              <a:rPr lang="zh-TW" altLang="en-US" dirty="0"/>
              <a:t> </a:t>
            </a:r>
            <a:r>
              <a:rPr lang="en-US" altLang="zh-TW" dirty="0"/>
              <a:t>prevent</a:t>
            </a:r>
            <a:r>
              <a:rPr lang="zh-TW" altLang="en-US" dirty="0"/>
              <a:t> </a:t>
            </a:r>
            <a:r>
              <a:rPr lang="en-US" altLang="zh-TW" dirty="0"/>
              <a:t>copying</a:t>
            </a:r>
            <a:r>
              <a:rPr lang="zh-TW" altLang="en-US" dirty="0"/>
              <a:t> </a:t>
            </a:r>
            <a:r>
              <a:rPr lang="en-US" altLang="zh-TW" dirty="0"/>
              <a:t>data</a:t>
            </a:r>
            <a:r>
              <a:rPr lang="zh-TW" altLang="en-US" dirty="0"/>
              <a:t> </a:t>
            </a:r>
            <a:r>
              <a:rPr lang="en-US" altLang="zh-TW" dirty="0">
                <a:solidFill>
                  <a:srgbClr val="C00000"/>
                </a:solidFill>
              </a:rPr>
              <a:t>until</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data</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written</a:t>
            </a:r>
            <a:r>
              <a:rPr lang="en-US" altLang="zh-TW" dirty="0"/>
              <a:t>.</a:t>
            </a:r>
            <a:r>
              <a:rPr lang="zh-TW" altLang="en-US" dirty="0"/>
              <a:t> </a:t>
            </a:r>
            <a:r>
              <a:rPr lang="en-US" altLang="zh-TW" dirty="0"/>
              <a:t>(i.e.,</a:t>
            </a:r>
            <a:r>
              <a:rPr lang="zh-TW" altLang="en-US" dirty="0"/>
              <a:t> </a:t>
            </a:r>
            <a:r>
              <a:rPr lang="en-US" altLang="zh-TW" dirty="0"/>
              <a:t>resources</a:t>
            </a:r>
            <a:r>
              <a:rPr lang="zh-TW" altLang="en-US" dirty="0"/>
              <a:t> </a:t>
            </a:r>
            <a:r>
              <a:rPr lang="en-US" altLang="zh-TW" dirty="0"/>
              <a:t>are</a:t>
            </a:r>
            <a:r>
              <a:rPr lang="zh-TW" altLang="en-US" dirty="0"/>
              <a:t> </a:t>
            </a:r>
            <a:r>
              <a:rPr lang="en-US" altLang="zh-TW" dirty="0"/>
              <a:t>shared</a:t>
            </a:r>
            <a:r>
              <a:rPr lang="zh-TW" altLang="en-US" dirty="0"/>
              <a:t> </a:t>
            </a:r>
            <a:r>
              <a:rPr lang="en-US" altLang="zh-TW" dirty="0"/>
              <a:t>read-only)</a:t>
            </a:r>
          </a:p>
        </p:txBody>
      </p:sp>
      <p:sp>
        <p:nvSpPr>
          <p:cNvPr id="4" name="投影片編號版面配置區 3">
            <a:extLst>
              <a:ext uri="{FF2B5EF4-FFF2-40B4-BE49-F238E27FC236}">
                <a16:creationId xmlns:a16="http://schemas.microsoft.com/office/drawing/2014/main" id="{ADB25D7E-FAD2-8A74-8726-D0CEC1DC8CB3}"/>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grpSp>
        <p:nvGrpSpPr>
          <p:cNvPr id="59" name="群組 58">
            <a:extLst>
              <a:ext uri="{FF2B5EF4-FFF2-40B4-BE49-F238E27FC236}">
                <a16:creationId xmlns:a16="http://schemas.microsoft.com/office/drawing/2014/main" id="{46C9D57A-9DD0-B2D0-2B27-D156E168B26F}"/>
              </a:ext>
            </a:extLst>
          </p:cNvPr>
          <p:cNvGrpSpPr/>
          <p:nvPr/>
        </p:nvGrpSpPr>
        <p:grpSpPr>
          <a:xfrm>
            <a:off x="1353700" y="5095364"/>
            <a:ext cx="9484599" cy="1762636"/>
            <a:chOff x="584893" y="5119533"/>
            <a:chExt cx="9484599" cy="1762636"/>
          </a:xfrm>
        </p:grpSpPr>
        <p:sp>
          <p:nvSpPr>
            <p:cNvPr id="5" name="矩形 4">
              <a:extLst>
                <a:ext uri="{FF2B5EF4-FFF2-40B4-BE49-F238E27FC236}">
                  <a16:creationId xmlns:a16="http://schemas.microsoft.com/office/drawing/2014/main" id="{29409691-A1FF-5A35-1854-C940D03F985E}"/>
                </a:ext>
              </a:extLst>
            </p:cNvPr>
            <p:cNvSpPr/>
            <p:nvPr/>
          </p:nvSpPr>
          <p:spPr>
            <a:xfrm>
              <a:off x="691662" y="5122123"/>
              <a:ext cx="9377830" cy="1037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C65FE1EB-B206-591D-9376-7C4C74E7B129}"/>
                </a:ext>
              </a:extLst>
            </p:cNvPr>
            <p:cNvSpPr/>
            <p:nvPr/>
          </p:nvSpPr>
          <p:spPr>
            <a:xfrm>
              <a:off x="1312985" y="5119533"/>
              <a:ext cx="835629" cy="1040144"/>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sp>
          <p:nvSpPr>
            <p:cNvPr id="13" name="文字方塊 12">
              <a:extLst>
                <a:ext uri="{FF2B5EF4-FFF2-40B4-BE49-F238E27FC236}">
                  <a16:creationId xmlns:a16="http://schemas.microsoft.com/office/drawing/2014/main" id="{C3498458-99DA-A043-872A-BC12DF20D138}"/>
                </a:ext>
              </a:extLst>
            </p:cNvPr>
            <p:cNvSpPr txBox="1"/>
            <p:nvPr/>
          </p:nvSpPr>
          <p:spPr>
            <a:xfrm>
              <a:off x="4370902" y="6543615"/>
              <a:ext cx="2658164" cy="338554"/>
            </a:xfrm>
            <a:prstGeom prst="rect">
              <a:avLst/>
            </a:prstGeom>
            <a:noFill/>
          </p:spPr>
          <p:txBody>
            <a:bodyPr wrap="none" rtlCol="0">
              <a:spAutoFit/>
            </a:bodyPr>
            <a:lstStyle/>
            <a:p>
              <a:r>
                <a:rPr kumimoji="1" lang="en-US" altLang="zh-TW" sz="1600" dirty="0"/>
                <a:t>Physical</a:t>
              </a:r>
              <a:r>
                <a:rPr kumimoji="1" lang="zh-TW" altLang="en-US" sz="1600" dirty="0"/>
                <a:t> </a:t>
              </a:r>
              <a:r>
                <a:rPr kumimoji="1" lang="en-US" altLang="zh-TW" sz="1600" dirty="0"/>
                <a:t>Address</a:t>
              </a:r>
              <a:r>
                <a:rPr kumimoji="1" lang="zh-TW" altLang="en-US" sz="1600" dirty="0"/>
                <a:t> </a:t>
              </a:r>
              <a:r>
                <a:rPr kumimoji="1" lang="en-US" altLang="zh-TW" sz="1600" dirty="0"/>
                <a:t>(e.g.,</a:t>
              </a:r>
              <a:r>
                <a:rPr kumimoji="1" lang="zh-TW" altLang="en-US" sz="1600" dirty="0"/>
                <a:t> </a:t>
              </a:r>
              <a:r>
                <a:rPr kumimoji="1" lang="en-US" altLang="zh-TW" sz="1600" dirty="0"/>
                <a:t>DRAM)</a:t>
              </a:r>
              <a:endParaRPr kumimoji="1" lang="zh-TW" altLang="en-US" sz="1600" dirty="0"/>
            </a:p>
          </p:txBody>
        </p:sp>
        <p:sp>
          <p:nvSpPr>
            <p:cNvPr id="16" name="矩形 15">
              <a:extLst>
                <a:ext uri="{FF2B5EF4-FFF2-40B4-BE49-F238E27FC236}">
                  <a16:creationId xmlns:a16="http://schemas.microsoft.com/office/drawing/2014/main" id="{1AD34BA9-69BE-A5AE-6DB2-DCE2E6B1CDF5}"/>
                </a:ext>
              </a:extLst>
            </p:cNvPr>
            <p:cNvSpPr/>
            <p:nvPr/>
          </p:nvSpPr>
          <p:spPr>
            <a:xfrm>
              <a:off x="7335721"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br>
                <a:rPr kumimoji="1" lang="en-US" altLang="zh-TW" sz="1400" dirty="0">
                  <a:solidFill>
                    <a:schemeClr val="tx1"/>
                  </a:solidFill>
                </a:rPr>
              </a:br>
              <a:r>
                <a:rPr kumimoji="1" lang="en-US" altLang="zh-TW" sz="1400" dirty="0">
                  <a:solidFill>
                    <a:schemeClr val="tx1"/>
                  </a:solidFill>
                </a:rPr>
                <a:t>(</a:t>
              </a:r>
              <a:r>
                <a:rPr kumimoji="1" lang="en-US" altLang="zh-TW" sz="1400" dirty="0" err="1">
                  <a:solidFill>
                    <a:schemeClr val="tx1"/>
                  </a:solidFill>
                </a:rPr>
                <a:t>e.g</a:t>
              </a:r>
              <a:r>
                <a:rPr kumimoji="1" lang="en-US" altLang="zh-TW" sz="1400" dirty="0">
                  <a:solidFill>
                    <a:schemeClr val="tx1"/>
                  </a:solidFill>
                </a:rPr>
                <a:t>, heap)</a:t>
              </a:r>
              <a:endParaRPr kumimoji="1" lang="zh-TW" altLang="en-US" sz="1400" dirty="0">
                <a:solidFill>
                  <a:schemeClr val="tx1"/>
                </a:solidFill>
              </a:endParaRPr>
            </a:p>
          </p:txBody>
        </p:sp>
        <p:sp>
          <p:nvSpPr>
            <p:cNvPr id="17" name="矩形 16">
              <a:extLst>
                <a:ext uri="{FF2B5EF4-FFF2-40B4-BE49-F238E27FC236}">
                  <a16:creationId xmlns:a16="http://schemas.microsoft.com/office/drawing/2014/main" id="{7AFBE5F3-A9CA-6FD1-56CF-471D3341EBA3}"/>
                </a:ext>
              </a:extLst>
            </p:cNvPr>
            <p:cNvSpPr/>
            <p:nvPr/>
          </p:nvSpPr>
          <p:spPr>
            <a:xfrm>
              <a:off x="8648624"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p>
            <a:p>
              <a:pPr algn="ctr"/>
              <a:r>
                <a:rPr kumimoji="1" lang="en-US" altLang="zh-TW" sz="1400" dirty="0">
                  <a:solidFill>
                    <a:schemeClr val="tx1"/>
                  </a:solidFill>
                </a:rPr>
                <a:t>(e.g., heap)</a:t>
              </a:r>
              <a:endParaRPr kumimoji="1" lang="zh-TW" altLang="en-US" sz="1400" dirty="0">
                <a:solidFill>
                  <a:schemeClr val="tx1"/>
                </a:solidFill>
              </a:endParaRPr>
            </a:p>
          </p:txBody>
        </p:sp>
        <p:sp>
          <p:nvSpPr>
            <p:cNvPr id="19" name="文字方塊 18">
              <a:extLst>
                <a:ext uri="{FF2B5EF4-FFF2-40B4-BE49-F238E27FC236}">
                  <a16:creationId xmlns:a16="http://schemas.microsoft.com/office/drawing/2014/main" id="{3CA130A6-E74C-BBC9-B15E-56CEC839A08F}"/>
                </a:ext>
              </a:extLst>
            </p:cNvPr>
            <p:cNvSpPr txBox="1"/>
            <p:nvPr/>
          </p:nvSpPr>
          <p:spPr>
            <a:xfrm>
              <a:off x="7438172" y="6234352"/>
              <a:ext cx="466794" cy="307777"/>
            </a:xfrm>
            <a:prstGeom prst="rect">
              <a:avLst/>
            </a:prstGeom>
            <a:noFill/>
          </p:spPr>
          <p:txBody>
            <a:bodyPr wrap="none" rtlCol="0">
              <a:spAutoFit/>
            </a:bodyPr>
            <a:lstStyle/>
            <a:p>
              <a:r>
                <a:rPr kumimoji="1" lang="en-US" altLang="zh-TW" sz="1400" dirty="0"/>
                <a:t>4KB</a:t>
              </a:r>
              <a:endParaRPr kumimoji="1" lang="zh-TW" altLang="en-US" sz="1400" dirty="0"/>
            </a:p>
          </p:txBody>
        </p:sp>
        <p:cxnSp>
          <p:nvCxnSpPr>
            <p:cNvPr id="21" name="曲線接點 20">
              <a:extLst>
                <a:ext uri="{FF2B5EF4-FFF2-40B4-BE49-F238E27FC236}">
                  <a16:creationId xmlns:a16="http://schemas.microsoft.com/office/drawing/2014/main" id="{53AC8096-4EE4-F833-857E-0087B24E85DA}"/>
                </a:ext>
              </a:extLst>
            </p:cNvPr>
            <p:cNvCxnSpPr>
              <a:cxnSpLocks/>
            </p:cNvCxnSpPr>
            <p:nvPr/>
          </p:nvCxnSpPr>
          <p:spPr>
            <a:xfrm rot="5400000" flipH="1" flipV="1">
              <a:off x="7564799" y="6124676"/>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A137D582-1076-E715-8336-385E0EE2C25D}"/>
                </a:ext>
              </a:extLst>
            </p:cNvPr>
            <p:cNvSpPr txBox="1"/>
            <p:nvPr/>
          </p:nvSpPr>
          <p:spPr>
            <a:xfrm>
              <a:off x="584893" y="6322101"/>
              <a:ext cx="1825115" cy="523220"/>
            </a:xfrm>
            <a:prstGeom prst="rect">
              <a:avLst/>
            </a:prstGeom>
            <a:noFill/>
          </p:spPr>
          <p:txBody>
            <a:bodyPr wrap="none" rtlCol="0">
              <a:spAutoFit/>
            </a:bodyPr>
            <a:lstStyle/>
            <a:p>
              <a:pPr algn="ctr"/>
              <a:r>
                <a:rPr kumimoji="1" lang="en-US" altLang="zh-TW" sz="1400" dirty="0"/>
                <a:t>Assume only one-level</a:t>
              </a:r>
              <a:br>
                <a:rPr kumimoji="1" lang="en-US" altLang="zh-TW" sz="1400" dirty="0"/>
              </a:br>
              <a:r>
                <a:rPr kumimoji="1" lang="en-US" altLang="zh-TW" sz="1400" dirty="0"/>
                <a:t>(4-level Actually)</a:t>
              </a:r>
              <a:endParaRPr kumimoji="1" lang="zh-TW" altLang="en-US" sz="1400" dirty="0"/>
            </a:p>
          </p:txBody>
        </p:sp>
        <p:cxnSp>
          <p:nvCxnSpPr>
            <p:cNvPr id="25" name="曲線接點 24">
              <a:extLst>
                <a:ext uri="{FF2B5EF4-FFF2-40B4-BE49-F238E27FC236}">
                  <a16:creationId xmlns:a16="http://schemas.microsoft.com/office/drawing/2014/main" id="{B4EEE6CD-D521-60CF-8967-257987C6981E}"/>
                </a:ext>
              </a:extLst>
            </p:cNvPr>
            <p:cNvCxnSpPr>
              <a:cxnSpLocks/>
            </p:cNvCxnSpPr>
            <p:nvPr/>
          </p:nvCxnSpPr>
          <p:spPr>
            <a:xfrm rot="5400000" flipH="1" flipV="1">
              <a:off x="1684634"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矩形 44">
            <a:extLst>
              <a:ext uri="{FF2B5EF4-FFF2-40B4-BE49-F238E27FC236}">
                <a16:creationId xmlns:a16="http://schemas.microsoft.com/office/drawing/2014/main" id="{CA9F2870-3554-6B87-E674-A89518A89263}"/>
              </a:ext>
            </a:extLst>
          </p:cNvPr>
          <p:cNvSpPr/>
          <p:nvPr/>
        </p:nvSpPr>
        <p:spPr>
          <a:xfrm>
            <a:off x="4312115" y="5091899"/>
            <a:ext cx="835851" cy="103971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grpSp>
        <p:nvGrpSpPr>
          <p:cNvPr id="81" name="群組 80">
            <a:extLst>
              <a:ext uri="{FF2B5EF4-FFF2-40B4-BE49-F238E27FC236}">
                <a16:creationId xmlns:a16="http://schemas.microsoft.com/office/drawing/2014/main" id="{97FB89D0-84FE-9D11-9A04-D470431A8EC8}"/>
              </a:ext>
            </a:extLst>
          </p:cNvPr>
          <p:cNvGrpSpPr/>
          <p:nvPr/>
        </p:nvGrpSpPr>
        <p:grpSpPr>
          <a:xfrm>
            <a:off x="2985063" y="5617810"/>
            <a:ext cx="2711794" cy="969681"/>
            <a:chOff x="1896785" y="5641979"/>
            <a:chExt cx="2711794" cy="969681"/>
          </a:xfrm>
        </p:grpSpPr>
        <p:cxnSp>
          <p:nvCxnSpPr>
            <p:cNvPr id="50" name="直線箭頭接點 49">
              <a:extLst>
                <a:ext uri="{FF2B5EF4-FFF2-40B4-BE49-F238E27FC236}">
                  <a16:creationId xmlns:a16="http://schemas.microsoft.com/office/drawing/2014/main" id="{1C7086E0-2D9C-DC5A-0765-0E59FD3ADBFC}"/>
                </a:ext>
              </a:extLst>
            </p:cNvPr>
            <p:cNvCxnSpPr>
              <a:cxnSpLocks/>
            </p:cNvCxnSpPr>
            <p:nvPr/>
          </p:nvCxnSpPr>
          <p:spPr>
            <a:xfrm>
              <a:off x="1896785" y="5641979"/>
              <a:ext cx="1284837" cy="0"/>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D7FD8D2A-6F7F-364E-EC87-B21C42D89CC1}"/>
                </a:ext>
              </a:extLst>
            </p:cNvPr>
            <p:cNvSpPr txBox="1"/>
            <p:nvPr/>
          </p:nvSpPr>
          <p:spPr>
            <a:xfrm>
              <a:off x="2558274" y="6303883"/>
              <a:ext cx="2050305" cy="307777"/>
            </a:xfrm>
            <a:prstGeom prst="rect">
              <a:avLst/>
            </a:prstGeom>
            <a:noFill/>
          </p:spPr>
          <p:txBody>
            <a:bodyPr wrap="none" rtlCol="0">
              <a:spAutoFit/>
            </a:bodyPr>
            <a:lstStyle/>
            <a:p>
              <a:pPr algn="ctr"/>
              <a:r>
                <a:rPr kumimoji="1" lang="en-US" altLang="zh-TW" sz="1400" dirty="0">
                  <a:solidFill>
                    <a:srgbClr val="C00000"/>
                  </a:solidFill>
                </a:rPr>
                <a:t>Fork() </a:t>
              </a:r>
              <a:r>
                <a:rPr kumimoji="1" lang="en-US" altLang="zh-TW" sz="1400" dirty="0">
                  <a:solidFill>
                    <a:srgbClr val="C00000"/>
                  </a:solidFill>
                  <a:sym typeface="Wingdings" pitchFamily="2" charset="2"/>
                </a:rPr>
                <a:t></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Copy</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Page</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Table</a:t>
              </a:r>
              <a:endParaRPr kumimoji="1" lang="zh-TW" altLang="en-US" sz="1400" dirty="0">
                <a:solidFill>
                  <a:srgbClr val="C00000"/>
                </a:solidFill>
              </a:endParaRPr>
            </a:p>
          </p:txBody>
        </p:sp>
        <p:cxnSp>
          <p:nvCxnSpPr>
            <p:cNvPr id="53" name="曲線接點 52">
              <a:extLst>
                <a:ext uri="{FF2B5EF4-FFF2-40B4-BE49-F238E27FC236}">
                  <a16:creationId xmlns:a16="http://schemas.microsoft.com/office/drawing/2014/main" id="{0CFD7F0D-8F7E-3C60-6E87-E89B0B69A06B}"/>
                </a:ext>
              </a:extLst>
            </p:cNvPr>
            <p:cNvCxnSpPr>
              <a:cxnSpLocks/>
            </p:cNvCxnSpPr>
            <p:nvPr/>
          </p:nvCxnSpPr>
          <p:spPr>
            <a:xfrm rot="5400000" flipH="1" flipV="1">
              <a:off x="3523421"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文字方塊 25">
            <a:extLst>
              <a:ext uri="{FF2B5EF4-FFF2-40B4-BE49-F238E27FC236}">
                <a16:creationId xmlns:a16="http://schemas.microsoft.com/office/drawing/2014/main" id="{0C355609-45D9-BAD3-E256-96C4554FBE15}"/>
              </a:ext>
            </a:extLst>
          </p:cNvPr>
          <p:cNvSpPr txBox="1"/>
          <p:nvPr/>
        </p:nvSpPr>
        <p:spPr>
          <a:xfrm>
            <a:off x="2013274" y="5358400"/>
            <a:ext cx="960391" cy="523220"/>
          </a:xfrm>
          <a:prstGeom prst="rect">
            <a:avLst/>
          </a:prstGeom>
          <a:noFill/>
        </p:spPr>
        <p:txBody>
          <a:bodyPr wrap="none" rtlCol="0">
            <a:spAutoFit/>
          </a:bodyPr>
          <a:lstStyle/>
          <a:p>
            <a:pPr algn="ctr"/>
            <a:r>
              <a:rPr kumimoji="1" lang="en-US" altLang="zh-TW" sz="1400" dirty="0"/>
              <a:t>P1’s </a:t>
            </a:r>
            <a:br>
              <a:rPr kumimoji="1" lang="en-US" altLang="zh-TW" sz="1400" dirty="0"/>
            </a:br>
            <a:r>
              <a:rPr kumimoji="1" lang="en-US" altLang="zh-TW" sz="1400" dirty="0"/>
              <a:t>Page Table</a:t>
            </a:r>
            <a:endParaRPr kumimoji="1" lang="zh-TW" altLang="en-US" sz="1400" dirty="0"/>
          </a:p>
        </p:txBody>
      </p:sp>
      <p:sp>
        <p:nvSpPr>
          <p:cNvPr id="46" name="文字方塊 45">
            <a:extLst>
              <a:ext uri="{FF2B5EF4-FFF2-40B4-BE49-F238E27FC236}">
                <a16:creationId xmlns:a16="http://schemas.microsoft.com/office/drawing/2014/main" id="{CF677A56-76A2-4BE9-A188-20C12121F732}"/>
              </a:ext>
            </a:extLst>
          </p:cNvPr>
          <p:cNvSpPr txBox="1"/>
          <p:nvPr/>
        </p:nvSpPr>
        <p:spPr>
          <a:xfrm>
            <a:off x="4259477" y="5343672"/>
            <a:ext cx="960391" cy="523220"/>
          </a:xfrm>
          <a:prstGeom prst="rect">
            <a:avLst/>
          </a:prstGeom>
          <a:noFill/>
        </p:spPr>
        <p:txBody>
          <a:bodyPr wrap="none" rtlCol="0">
            <a:spAutoFit/>
          </a:bodyPr>
          <a:lstStyle/>
          <a:p>
            <a:pPr algn="ctr"/>
            <a:r>
              <a:rPr kumimoji="1" lang="en-US" altLang="zh-TW" sz="1400" dirty="0"/>
              <a:t>P2’s </a:t>
            </a:r>
            <a:br>
              <a:rPr kumimoji="1" lang="en-US" altLang="zh-TW" sz="1400" dirty="0"/>
            </a:br>
            <a:r>
              <a:rPr kumimoji="1" lang="en-US" altLang="zh-TW" sz="1400" dirty="0"/>
              <a:t>Page Table</a:t>
            </a:r>
            <a:endParaRPr kumimoji="1" lang="zh-TW" altLang="en-US" sz="1400" dirty="0"/>
          </a:p>
        </p:txBody>
      </p:sp>
      <p:grpSp>
        <p:nvGrpSpPr>
          <p:cNvPr id="63" name="群組 62">
            <a:extLst>
              <a:ext uri="{FF2B5EF4-FFF2-40B4-BE49-F238E27FC236}">
                <a16:creationId xmlns:a16="http://schemas.microsoft.com/office/drawing/2014/main" id="{FCF4FDF7-3A00-AB24-A6E9-3F461B248567}"/>
              </a:ext>
            </a:extLst>
          </p:cNvPr>
          <p:cNvGrpSpPr/>
          <p:nvPr/>
        </p:nvGrpSpPr>
        <p:grpSpPr>
          <a:xfrm>
            <a:off x="2039996" y="5053642"/>
            <a:ext cx="3174971" cy="312156"/>
            <a:chOff x="1271189" y="5077811"/>
            <a:chExt cx="3174971" cy="312156"/>
          </a:xfrm>
        </p:grpSpPr>
        <p:sp>
          <p:nvSpPr>
            <p:cNvPr id="61" name="文字方塊 60">
              <a:extLst>
                <a:ext uri="{FF2B5EF4-FFF2-40B4-BE49-F238E27FC236}">
                  <a16:creationId xmlns:a16="http://schemas.microsoft.com/office/drawing/2014/main" id="{580B927B-C692-471D-FFA1-7EE2A089023C}"/>
                </a:ext>
              </a:extLst>
            </p:cNvPr>
            <p:cNvSpPr txBox="1"/>
            <p:nvPr/>
          </p:nvSpPr>
          <p:spPr>
            <a:xfrm>
              <a:off x="1271189" y="5082190"/>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sp>
          <p:nvSpPr>
            <p:cNvPr id="62" name="文字方塊 61">
              <a:extLst>
                <a:ext uri="{FF2B5EF4-FFF2-40B4-BE49-F238E27FC236}">
                  <a16:creationId xmlns:a16="http://schemas.microsoft.com/office/drawing/2014/main" id="{38A0F0A9-DD4D-B171-8707-A405F56629D9}"/>
                </a:ext>
              </a:extLst>
            </p:cNvPr>
            <p:cNvSpPr txBox="1"/>
            <p:nvPr/>
          </p:nvSpPr>
          <p:spPr>
            <a:xfrm>
              <a:off x="3501093" y="5077811"/>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grpSp>
      <p:grpSp>
        <p:nvGrpSpPr>
          <p:cNvPr id="78" name="群組 77">
            <a:extLst>
              <a:ext uri="{FF2B5EF4-FFF2-40B4-BE49-F238E27FC236}">
                <a16:creationId xmlns:a16="http://schemas.microsoft.com/office/drawing/2014/main" id="{4D6444C0-20EB-14BD-0A68-40D3AF240A87}"/>
              </a:ext>
            </a:extLst>
          </p:cNvPr>
          <p:cNvGrpSpPr/>
          <p:nvPr/>
        </p:nvGrpSpPr>
        <p:grpSpPr>
          <a:xfrm>
            <a:off x="1683631" y="4417405"/>
            <a:ext cx="6756752" cy="1643919"/>
            <a:chOff x="914824" y="4441574"/>
            <a:chExt cx="6756752" cy="1643919"/>
          </a:xfrm>
        </p:grpSpPr>
        <p:grpSp>
          <p:nvGrpSpPr>
            <p:cNvPr id="77" name="群組 76">
              <a:extLst>
                <a:ext uri="{FF2B5EF4-FFF2-40B4-BE49-F238E27FC236}">
                  <a16:creationId xmlns:a16="http://schemas.microsoft.com/office/drawing/2014/main" id="{524CF689-3310-353B-9FB2-27308B0C66F0}"/>
                </a:ext>
              </a:extLst>
            </p:cNvPr>
            <p:cNvGrpSpPr/>
            <p:nvPr/>
          </p:nvGrpSpPr>
          <p:grpSpPr>
            <a:xfrm>
              <a:off x="914824" y="4441574"/>
              <a:ext cx="6756752" cy="1560380"/>
              <a:chOff x="914824" y="4441574"/>
              <a:chExt cx="6756752" cy="1560380"/>
            </a:xfrm>
          </p:grpSpPr>
          <p:grpSp>
            <p:nvGrpSpPr>
              <p:cNvPr id="44" name="群組 43">
                <a:extLst>
                  <a:ext uri="{FF2B5EF4-FFF2-40B4-BE49-F238E27FC236}">
                    <a16:creationId xmlns:a16="http://schemas.microsoft.com/office/drawing/2014/main" id="{1E682874-0DCE-6E65-355F-74FAC13AA652}"/>
                  </a:ext>
                </a:extLst>
              </p:cNvPr>
              <p:cNvGrpSpPr/>
              <p:nvPr/>
            </p:nvGrpSpPr>
            <p:grpSpPr>
              <a:xfrm>
                <a:off x="914824" y="4441574"/>
                <a:ext cx="6756752" cy="1560380"/>
                <a:chOff x="914817" y="4645514"/>
                <a:chExt cx="6756752" cy="1560380"/>
              </a:xfrm>
            </p:grpSpPr>
            <p:sp>
              <p:nvSpPr>
                <p:cNvPr id="27" name="文字方塊 26">
                  <a:extLst>
                    <a:ext uri="{FF2B5EF4-FFF2-40B4-BE49-F238E27FC236}">
                      <a16:creationId xmlns:a16="http://schemas.microsoft.com/office/drawing/2014/main" id="{654F0DC1-94A0-1911-CA90-6C596870F66C}"/>
                    </a:ext>
                  </a:extLst>
                </p:cNvPr>
                <p:cNvSpPr txBox="1"/>
                <p:nvPr/>
              </p:nvSpPr>
              <p:spPr>
                <a:xfrm>
                  <a:off x="1635049" y="4675264"/>
                  <a:ext cx="3732074" cy="523220"/>
                </a:xfrm>
                <a:prstGeom prst="rect">
                  <a:avLst/>
                </a:prstGeom>
                <a:noFill/>
              </p:spPr>
              <p:txBody>
                <a:bodyPr wrap="square" rtlCol="0">
                  <a:spAutoFit/>
                </a:bodyPr>
                <a:lstStyle/>
                <a:p>
                  <a:r>
                    <a:rPr kumimoji="1" lang="en-US" altLang="zh-TW" sz="1400" dirty="0"/>
                    <a:t>CPU </a:t>
                  </a:r>
                  <a:r>
                    <a:rPr kumimoji="1" lang="en-US" altLang="zh-TW" sz="1400" dirty="0">
                      <a:solidFill>
                        <a:srgbClr val="C00000"/>
                      </a:solidFill>
                    </a:rPr>
                    <a:t>walks the</a:t>
                  </a:r>
                  <a:r>
                    <a:rPr kumimoji="1" lang="zh-TW" altLang="en-US" sz="1400" dirty="0">
                      <a:solidFill>
                        <a:srgbClr val="C00000"/>
                      </a:solidFill>
                    </a:rPr>
                    <a:t> </a:t>
                  </a:r>
                  <a:r>
                    <a:rPr kumimoji="1" lang="en-US" altLang="zh-TW" sz="1400" dirty="0">
                      <a:solidFill>
                        <a:srgbClr val="C00000"/>
                      </a:solidFill>
                    </a:rPr>
                    <a:t>page table </a:t>
                  </a:r>
                  <a:r>
                    <a:rPr kumimoji="1" lang="en-US" altLang="zh-TW" sz="1400" dirty="0"/>
                    <a:t>to </a:t>
                  </a:r>
                  <a:r>
                    <a:rPr kumimoji="1" lang="en-US" altLang="zh-TW" sz="1400" dirty="0">
                      <a:solidFill>
                        <a:srgbClr val="C00000"/>
                      </a:solidFill>
                    </a:rPr>
                    <a:t>get a location</a:t>
                  </a:r>
                  <a:r>
                    <a:rPr kumimoji="1" lang="en-US" altLang="zh-TW" sz="1400" dirty="0"/>
                    <a:t> </a:t>
                  </a:r>
                </a:p>
                <a:p>
                  <a:r>
                    <a:rPr kumimoji="1" lang="en-US" altLang="zh-TW" sz="1400" dirty="0"/>
                    <a:t>of a page frame </a:t>
                  </a:r>
                  <a:r>
                    <a:rPr kumimoji="1" lang="en-US" altLang="zh-TW" sz="1400" dirty="0">
                      <a:solidFill>
                        <a:srgbClr val="C00000"/>
                      </a:solidFill>
                    </a:rPr>
                    <a:t>before accesses</a:t>
                  </a:r>
                  <a:r>
                    <a:rPr kumimoji="1" lang="en-US" altLang="zh-TW" sz="1400" dirty="0"/>
                    <a:t> the page frame.</a:t>
                  </a:r>
                </a:p>
              </p:txBody>
            </p:sp>
            <p:sp>
              <p:nvSpPr>
                <p:cNvPr id="28" name="矩形 27">
                  <a:extLst>
                    <a:ext uri="{FF2B5EF4-FFF2-40B4-BE49-F238E27FC236}">
                      <a16:creationId xmlns:a16="http://schemas.microsoft.com/office/drawing/2014/main" id="{60E405FF-F031-10DE-0BF3-A63A5A551316}"/>
                    </a:ext>
                  </a:extLst>
                </p:cNvPr>
                <p:cNvSpPr/>
                <p:nvPr/>
              </p:nvSpPr>
              <p:spPr>
                <a:xfrm>
                  <a:off x="990924" y="4645514"/>
                  <a:ext cx="644124" cy="37216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CPU</a:t>
                  </a:r>
                  <a:endParaRPr kumimoji="1" lang="zh-TW" altLang="en-US" sz="1400" dirty="0">
                    <a:solidFill>
                      <a:schemeClr val="tx1"/>
                    </a:solidFill>
                  </a:endParaRPr>
                </a:p>
              </p:txBody>
            </p:sp>
            <p:cxnSp>
              <p:nvCxnSpPr>
                <p:cNvPr id="30" name="直線箭頭接點 29">
                  <a:extLst>
                    <a:ext uri="{FF2B5EF4-FFF2-40B4-BE49-F238E27FC236}">
                      <a16:creationId xmlns:a16="http://schemas.microsoft.com/office/drawing/2014/main" id="{43EE9DF5-481D-3D40-7DB7-1CCD4403412C}"/>
                    </a:ext>
                  </a:extLst>
                </p:cNvPr>
                <p:cNvCxnSpPr>
                  <a:cxnSpLocks/>
                </p:cNvCxnSpPr>
                <p:nvPr/>
              </p:nvCxnSpPr>
              <p:spPr>
                <a:xfrm>
                  <a:off x="1159338" y="5017682"/>
                  <a:ext cx="0" cy="118821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1" name="群組 40">
                  <a:extLst>
                    <a:ext uri="{FF2B5EF4-FFF2-40B4-BE49-F238E27FC236}">
                      <a16:creationId xmlns:a16="http://schemas.microsoft.com/office/drawing/2014/main" id="{34D9A740-89EA-FFB6-25CD-3073992F5CDD}"/>
                    </a:ext>
                  </a:extLst>
                </p:cNvPr>
                <p:cNvGrpSpPr/>
                <p:nvPr/>
              </p:nvGrpSpPr>
              <p:grpSpPr>
                <a:xfrm>
                  <a:off x="1497451" y="5016539"/>
                  <a:ext cx="6174118" cy="312728"/>
                  <a:chOff x="1497451" y="5016539"/>
                  <a:chExt cx="6174118" cy="312728"/>
                </a:xfrm>
              </p:grpSpPr>
              <p:cxnSp>
                <p:nvCxnSpPr>
                  <p:cNvPr id="33" name="肘形接點 32">
                    <a:extLst>
                      <a:ext uri="{FF2B5EF4-FFF2-40B4-BE49-F238E27FC236}">
                        <a16:creationId xmlns:a16="http://schemas.microsoft.com/office/drawing/2014/main" id="{4B935BDC-6A37-8141-0F03-830889E19514}"/>
                      </a:ext>
                    </a:extLst>
                  </p:cNvPr>
                  <p:cNvCxnSpPr>
                    <a:cxnSpLocks/>
                  </p:cNvCxnSpPr>
                  <p:nvPr/>
                </p:nvCxnSpPr>
                <p:spPr>
                  <a:xfrm>
                    <a:off x="1497451" y="5198961"/>
                    <a:ext cx="6174118" cy="13030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C41290AE-BA06-AE52-EE5B-26B021BB3F6E}"/>
                      </a:ext>
                    </a:extLst>
                  </p:cNvPr>
                  <p:cNvCxnSpPr>
                    <a:cxnSpLocks/>
                  </p:cNvCxnSpPr>
                  <p:nvPr/>
                </p:nvCxnSpPr>
                <p:spPr>
                  <a:xfrm>
                    <a:off x="1497451" y="5016539"/>
                    <a:ext cx="0" cy="18242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42" name="橢圓 41">
                  <a:extLst>
                    <a:ext uri="{FF2B5EF4-FFF2-40B4-BE49-F238E27FC236}">
                      <a16:creationId xmlns:a16="http://schemas.microsoft.com/office/drawing/2014/main" id="{9D437D2E-463E-8A02-E15E-5AF35E7FB301}"/>
                    </a:ext>
                  </a:extLst>
                </p:cNvPr>
                <p:cNvSpPr/>
                <p:nvPr/>
              </p:nvSpPr>
              <p:spPr>
                <a:xfrm>
                  <a:off x="914817" y="507526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1</a:t>
                  </a:r>
                  <a:endParaRPr kumimoji="1" lang="zh-TW" altLang="en-US" sz="1400" dirty="0"/>
                </a:p>
              </p:txBody>
            </p:sp>
            <p:sp>
              <p:nvSpPr>
                <p:cNvPr id="43" name="橢圓 42">
                  <a:extLst>
                    <a:ext uri="{FF2B5EF4-FFF2-40B4-BE49-F238E27FC236}">
                      <a16:creationId xmlns:a16="http://schemas.microsoft.com/office/drawing/2014/main" id="{53A438AF-AA0D-FD90-E73C-B25C0284EED7}"/>
                    </a:ext>
                  </a:extLst>
                </p:cNvPr>
                <p:cNvSpPr/>
                <p:nvPr/>
              </p:nvSpPr>
              <p:spPr>
                <a:xfrm>
                  <a:off x="5815701" y="500163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2</a:t>
                  </a:r>
                  <a:endParaRPr kumimoji="1" lang="zh-TW" altLang="en-US" sz="1400" dirty="0"/>
                </a:p>
              </p:txBody>
            </p:sp>
          </p:grpSp>
          <p:cxnSp>
            <p:nvCxnSpPr>
              <p:cNvPr id="68" name="直線箭頭接點 67">
                <a:extLst>
                  <a:ext uri="{FF2B5EF4-FFF2-40B4-BE49-F238E27FC236}">
                    <a16:creationId xmlns:a16="http://schemas.microsoft.com/office/drawing/2014/main" id="{0F8C1B91-8A91-DEA8-BBDA-7215F48EA3DB}"/>
                  </a:ext>
                </a:extLst>
              </p:cNvPr>
              <p:cNvCxnSpPr>
                <a:cxnSpLocks/>
              </p:cNvCxnSpPr>
              <p:nvPr/>
            </p:nvCxnSpPr>
            <p:spPr>
              <a:xfrm>
                <a:off x="1159338" y="6001954"/>
                <a:ext cx="15539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5" name="矩形 74">
              <a:extLst>
                <a:ext uri="{FF2B5EF4-FFF2-40B4-BE49-F238E27FC236}">
                  <a16:creationId xmlns:a16="http://schemas.microsoft.com/office/drawing/2014/main" id="{34075E71-735C-F514-187E-14F936E0B955}"/>
                </a:ext>
              </a:extLst>
            </p:cNvPr>
            <p:cNvSpPr/>
            <p:nvPr/>
          </p:nvSpPr>
          <p:spPr>
            <a:xfrm>
              <a:off x="1311620" y="5937539"/>
              <a:ext cx="651666"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grpSp>
        <p:nvGrpSpPr>
          <p:cNvPr id="98" name="群組 97">
            <a:extLst>
              <a:ext uri="{FF2B5EF4-FFF2-40B4-BE49-F238E27FC236}">
                <a16:creationId xmlns:a16="http://schemas.microsoft.com/office/drawing/2014/main" id="{5056FEB0-3631-9C4B-B704-BCCD990CB8AC}"/>
              </a:ext>
            </a:extLst>
          </p:cNvPr>
          <p:cNvGrpSpPr/>
          <p:nvPr/>
        </p:nvGrpSpPr>
        <p:grpSpPr>
          <a:xfrm>
            <a:off x="2932830" y="5827730"/>
            <a:ext cx="1375075" cy="523220"/>
            <a:chOff x="2164023" y="5851899"/>
            <a:chExt cx="1375075" cy="523220"/>
          </a:xfrm>
        </p:grpSpPr>
        <p:cxnSp>
          <p:nvCxnSpPr>
            <p:cNvPr id="82" name="直線箭頭接點 81">
              <a:extLst>
                <a:ext uri="{FF2B5EF4-FFF2-40B4-BE49-F238E27FC236}">
                  <a16:creationId xmlns:a16="http://schemas.microsoft.com/office/drawing/2014/main" id="{EAB0BB31-9E6B-3E6B-7891-ACF2259BA249}"/>
                </a:ext>
              </a:extLst>
            </p:cNvPr>
            <p:cNvCxnSpPr>
              <a:cxnSpLocks/>
            </p:cNvCxnSpPr>
            <p:nvPr/>
          </p:nvCxnSpPr>
          <p:spPr>
            <a:xfrm flipV="1">
              <a:off x="3395098" y="6018163"/>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3" name="文字方塊 82">
              <a:extLst>
                <a:ext uri="{FF2B5EF4-FFF2-40B4-BE49-F238E27FC236}">
                  <a16:creationId xmlns:a16="http://schemas.microsoft.com/office/drawing/2014/main" id="{A06C634B-013D-74A0-AD72-D5583CF0B989}"/>
                </a:ext>
              </a:extLst>
            </p:cNvPr>
            <p:cNvSpPr txBox="1"/>
            <p:nvPr/>
          </p:nvSpPr>
          <p:spPr>
            <a:xfrm>
              <a:off x="2164023" y="5851899"/>
              <a:ext cx="1302151" cy="523220"/>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to</a:t>
              </a:r>
              <a:r>
                <a:rPr kumimoji="1" lang="zh-TW" altLang="en-US" sz="1400" dirty="0">
                  <a:solidFill>
                    <a:srgbClr val="0070C0"/>
                  </a:solidFill>
                </a:rPr>
                <a:t> </a:t>
              </a:r>
              <a:r>
                <a:rPr kumimoji="1" lang="en-US" altLang="zh-TW" sz="1400" dirty="0">
                  <a:solidFill>
                    <a:srgbClr val="0070C0"/>
                  </a:solidFill>
                </a:rPr>
                <a:t>a</a:t>
              </a:r>
              <a:r>
                <a:rPr kumimoji="1" lang="zh-TW" altLang="en-US" sz="1400" dirty="0">
                  <a:solidFill>
                    <a:srgbClr val="0070C0"/>
                  </a:solidFill>
                </a:rPr>
                <a:t> </a:t>
              </a:r>
              <a:r>
                <a:rPr kumimoji="1" lang="en-US" altLang="zh-TW" sz="1400" dirty="0">
                  <a:solidFill>
                    <a:srgbClr val="0070C0"/>
                  </a:solidFill>
                </a:rPr>
                <a:t>Page</a:t>
              </a:r>
              <a:br>
                <a:rPr kumimoji="1" lang="en-US" altLang="zh-TW" sz="1400" dirty="0">
                  <a:solidFill>
                    <a:srgbClr val="0070C0"/>
                  </a:solidFill>
                </a:rPr>
              </a:br>
              <a:r>
                <a:rPr kumimoji="1" lang="en-US" altLang="zh-TW" sz="1400" dirty="0">
                  <a:solidFill>
                    <a:srgbClr val="0070C0"/>
                  </a:solidFill>
                </a:rPr>
                <a:t>(Page Fault)</a:t>
              </a:r>
              <a:endParaRPr kumimoji="1" lang="zh-TW" altLang="en-US" sz="1400" dirty="0">
                <a:solidFill>
                  <a:srgbClr val="0070C0"/>
                </a:solidFill>
              </a:endParaRPr>
            </a:p>
          </p:txBody>
        </p:sp>
      </p:grpSp>
      <p:grpSp>
        <p:nvGrpSpPr>
          <p:cNvPr id="99" name="群組 98">
            <a:extLst>
              <a:ext uri="{FF2B5EF4-FFF2-40B4-BE49-F238E27FC236}">
                <a16:creationId xmlns:a16="http://schemas.microsoft.com/office/drawing/2014/main" id="{D8CAEFCA-A4C8-C58E-9429-11BBED4C3580}"/>
              </a:ext>
            </a:extLst>
          </p:cNvPr>
          <p:cNvGrpSpPr/>
          <p:nvPr/>
        </p:nvGrpSpPr>
        <p:grpSpPr>
          <a:xfrm>
            <a:off x="6273535" y="5101141"/>
            <a:ext cx="1790680" cy="1407526"/>
            <a:chOff x="5504728" y="5125310"/>
            <a:chExt cx="1790680" cy="1407526"/>
          </a:xfrm>
        </p:grpSpPr>
        <p:sp>
          <p:nvSpPr>
            <p:cNvPr id="80" name="矩形 79">
              <a:extLst>
                <a:ext uri="{FF2B5EF4-FFF2-40B4-BE49-F238E27FC236}">
                  <a16:creationId xmlns:a16="http://schemas.microsoft.com/office/drawing/2014/main" id="{D1EDE2A7-5A14-DDD8-4ED1-9310DC1C9B4F}"/>
                </a:ext>
              </a:extLst>
            </p:cNvPr>
            <p:cNvSpPr/>
            <p:nvPr/>
          </p:nvSpPr>
          <p:spPr>
            <a:xfrm>
              <a:off x="5504728" y="5125310"/>
              <a:ext cx="671696" cy="1034353"/>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New</a:t>
              </a:r>
            </a:p>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cxnSp>
          <p:nvCxnSpPr>
            <p:cNvPr id="89" name="直線箭頭接點 88">
              <a:extLst>
                <a:ext uri="{FF2B5EF4-FFF2-40B4-BE49-F238E27FC236}">
                  <a16:creationId xmlns:a16="http://schemas.microsoft.com/office/drawing/2014/main" id="{5DCD3E2E-B88A-68BB-99B8-78C2A95F70B6}"/>
                </a:ext>
              </a:extLst>
            </p:cNvPr>
            <p:cNvCxnSpPr>
              <a:cxnSpLocks/>
            </p:cNvCxnSpPr>
            <p:nvPr/>
          </p:nvCxnSpPr>
          <p:spPr>
            <a:xfrm flipH="1">
              <a:off x="6210946" y="5639605"/>
              <a:ext cx="1084462" cy="2896"/>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92" name="文字方塊 91">
              <a:extLst>
                <a:ext uri="{FF2B5EF4-FFF2-40B4-BE49-F238E27FC236}">
                  <a16:creationId xmlns:a16="http://schemas.microsoft.com/office/drawing/2014/main" id="{494A011B-19DE-B110-AEF2-67B6A57290E3}"/>
                </a:ext>
              </a:extLst>
            </p:cNvPr>
            <p:cNvSpPr txBox="1"/>
            <p:nvPr/>
          </p:nvSpPr>
          <p:spPr>
            <a:xfrm>
              <a:off x="5954910" y="6225059"/>
              <a:ext cx="1253035" cy="307777"/>
            </a:xfrm>
            <a:prstGeom prst="rect">
              <a:avLst/>
            </a:prstGeom>
            <a:noFill/>
          </p:spPr>
          <p:txBody>
            <a:bodyPr wrap="none" rtlCol="0">
              <a:spAutoFit/>
            </a:bodyPr>
            <a:lstStyle/>
            <a:p>
              <a:pPr algn="ctr"/>
              <a:r>
                <a:rPr kumimoji="1" lang="en-US" altLang="zh-TW" sz="1400" dirty="0">
                  <a:solidFill>
                    <a:srgbClr val="C00000"/>
                  </a:solidFill>
                </a:rPr>
                <a:t>Copy-on-Write</a:t>
              </a:r>
              <a:endParaRPr kumimoji="1" lang="zh-TW" altLang="en-US" sz="1400" dirty="0">
                <a:solidFill>
                  <a:srgbClr val="C00000"/>
                </a:solidFill>
              </a:endParaRPr>
            </a:p>
          </p:txBody>
        </p:sp>
        <p:cxnSp>
          <p:nvCxnSpPr>
            <p:cNvPr id="93" name="曲線接點 92">
              <a:extLst>
                <a:ext uri="{FF2B5EF4-FFF2-40B4-BE49-F238E27FC236}">
                  <a16:creationId xmlns:a16="http://schemas.microsoft.com/office/drawing/2014/main" id="{540F7871-D75D-500B-45FD-B1A322485F24}"/>
                </a:ext>
              </a:extLst>
            </p:cNvPr>
            <p:cNvCxnSpPr>
              <a:cxnSpLocks/>
            </p:cNvCxnSpPr>
            <p:nvPr/>
          </p:nvCxnSpPr>
          <p:spPr>
            <a:xfrm rot="5400000" flipH="1" flipV="1">
              <a:off x="6246127" y="5950907"/>
              <a:ext cx="580618" cy="13634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0" name="群組 99">
            <a:extLst>
              <a:ext uri="{FF2B5EF4-FFF2-40B4-BE49-F238E27FC236}">
                <a16:creationId xmlns:a16="http://schemas.microsoft.com/office/drawing/2014/main" id="{37F29A8C-41CC-9C62-0796-0EFF60BFE7ED}"/>
              </a:ext>
            </a:extLst>
          </p:cNvPr>
          <p:cNvGrpSpPr/>
          <p:nvPr/>
        </p:nvGrpSpPr>
        <p:grpSpPr>
          <a:xfrm>
            <a:off x="5203688" y="5191823"/>
            <a:ext cx="1056446" cy="307777"/>
            <a:chOff x="4492756" y="5215992"/>
            <a:chExt cx="1056446" cy="307777"/>
          </a:xfrm>
        </p:grpSpPr>
        <p:sp>
          <p:nvSpPr>
            <p:cNvPr id="96" name="文字方塊 95">
              <a:extLst>
                <a:ext uri="{FF2B5EF4-FFF2-40B4-BE49-F238E27FC236}">
                  <a16:creationId xmlns:a16="http://schemas.microsoft.com/office/drawing/2014/main" id="{4E4EFA82-2970-8838-9185-7ADFA5C99341}"/>
                </a:ext>
              </a:extLst>
            </p:cNvPr>
            <p:cNvSpPr txBox="1"/>
            <p:nvPr/>
          </p:nvSpPr>
          <p:spPr>
            <a:xfrm>
              <a:off x="4492756" y="5215992"/>
              <a:ext cx="973536"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Data</a:t>
              </a:r>
              <a:endParaRPr kumimoji="1" lang="zh-TW" altLang="en-US" sz="1400" dirty="0">
                <a:solidFill>
                  <a:srgbClr val="0070C0"/>
                </a:solidFill>
              </a:endParaRPr>
            </a:p>
          </p:txBody>
        </p:sp>
        <p:cxnSp>
          <p:nvCxnSpPr>
            <p:cNvPr id="97" name="直線箭頭接點 96">
              <a:extLst>
                <a:ext uri="{FF2B5EF4-FFF2-40B4-BE49-F238E27FC236}">
                  <a16:creationId xmlns:a16="http://schemas.microsoft.com/office/drawing/2014/main" id="{4F492763-1696-531E-CCAD-121211552F7D}"/>
                </a:ext>
              </a:extLst>
            </p:cNvPr>
            <p:cNvCxnSpPr>
              <a:cxnSpLocks/>
            </p:cNvCxnSpPr>
            <p:nvPr/>
          </p:nvCxnSpPr>
          <p:spPr>
            <a:xfrm flipV="1">
              <a:off x="5405202" y="5373242"/>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BF3656EB-CAB3-7C8A-1AA6-3A92E6764EE9}"/>
              </a:ext>
            </a:extLst>
          </p:cNvPr>
          <p:cNvSpPr txBox="1"/>
          <p:nvPr/>
        </p:nvSpPr>
        <p:spPr>
          <a:xfrm>
            <a:off x="7913547" y="6624534"/>
            <a:ext cx="7540387" cy="276999"/>
          </a:xfrm>
          <a:prstGeom prst="rect">
            <a:avLst/>
          </a:prstGeom>
          <a:noFill/>
        </p:spPr>
        <p:txBody>
          <a:bodyPr wrap="square">
            <a:spAutoFit/>
          </a:bodyPr>
          <a:lstStyle/>
          <a:p>
            <a:r>
              <a:rPr lang="en-US" altLang="zh-TW" sz="1200" dirty="0">
                <a:solidFill>
                  <a:schemeClr val="bg1">
                    <a:lumMod val="85000"/>
                  </a:schemeClr>
                </a:solidFill>
              </a:rPr>
              <a:t>Ref: </a:t>
            </a:r>
            <a:r>
              <a:rPr lang="zh-TW" altLang="en-US" sz="1200" dirty="0">
                <a:solidFill>
                  <a:schemeClr val="bg1">
                    <a:lumMod val="85000"/>
                  </a:schemeClr>
                </a:solidFill>
              </a:rPr>
              <a:t>https://blog.csdn.net/qq_34556414/article/details/108399543</a:t>
            </a:r>
          </a:p>
        </p:txBody>
      </p:sp>
      <p:sp>
        <p:nvSpPr>
          <p:cNvPr id="6" name="文字方塊 5">
            <a:extLst>
              <a:ext uri="{FF2B5EF4-FFF2-40B4-BE49-F238E27FC236}">
                <a16:creationId xmlns:a16="http://schemas.microsoft.com/office/drawing/2014/main" id="{B9F5C6C9-A71E-76A9-B944-292C42F853E5}"/>
              </a:ext>
            </a:extLst>
          </p:cNvPr>
          <p:cNvSpPr txBox="1"/>
          <p:nvPr/>
        </p:nvSpPr>
        <p:spPr>
          <a:xfrm>
            <a:off x="7195093" y="3982655"/>
            <a:ext cx="4013599" cy="923330"/>
          </a:xfrm>
          <a:prstGeom prst="rect">
            <a:avLst/>
          </a:prstGeom>
          <a:noFill/>
          <a:ln w="19050">
            <a:solidFill>
              <a:srgbClr val="C00000"/>
            </a:solidFill>
          </a:ln>
        </p:spPr>
        <p:txBody>
          <a:bodyPr wrap="none" rtlCol="0">
            <a:spAutoFit/>
          </a:bodyPr>
          <a:lstStyle/>
          <a:p>
            <a:r>
              <a:rPr kumimoji="1" lang="en-US" altLang="zh-TW" dirty="0"/>
              <a:t>Paging: Evenly partition the land</a:t>
            </a:r>
          </a:p>
          <a:p>
            <a:r>
              <a:rPr kumimoji="1" lang="en-US" altLang="zh-TW" dirty="0"/>
              <a:t>Virtual Address: Mail Address</a:t>
            </a:r>
            <a:br>
              <a:rPr kumimoji="1" lang="en-US" altLang="zh-TW" dirty="0"/>
            </a:br>
            <a:r>
              <a:rPr kumimoji="1" lang="en-US" altLang="zh-TW" dirty="0"/>
              <a:t>Physical Address: Latitude and Longitude</a:t>
            </a:r>
            <a:endParaRPr kumimoji="1" lang="zh-TW" altLang="en-US" dirty="0"/>
          </a:p>
        </p:txBody>
      </p:sp>
      <p:sp>
        <p:nvSpPr>
          <p:cNvPr id="11" name="矩形 10">
            <a:extLst>
              <a:ext uri="{FF2B5EF4-FFF2-40B4-BE49-F238E27FC236}">
                <a16:creationId xmlns:a16="http://schemas.microsoft.com/office/drawing/2014/main" id="{23D5BF8C-5C8A-C79E-0C06-8D0C0FAE16AA}"/>
              </a:ext>
            </a:extLst>
          </p:cNvPr>
          <p:cNvSpPr/>
          <p:nvPr/>
        </p:nvSpPr>
        <p:spPr>
          <a:xfrm>
            <a:off x="2726778" y="5913370"/>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W</a:t>
            </a:r>
            <a:endParaRPr kumimoji="1" lang="zh-TW" altLang="en-US" sz="1400" dirty="0">
              <a:solidFill>
                <a:schemeClr val="tx1"/>
              </a:solidFill>
            </a:endParaRPr>
          </a:p>
        </p:txBody>
      </p:sp>
      <p:grpSp>
        <p:nvGrpSpPr>
          <p:cNvPr id="20" name="群組 19">
            <a:extLst>
              <a:ext uri="{FF2B5EF4-FFF2-40B4-BE49-F238E27FC236}">
                <a16:creationId xmlns:a16="http://schemas.microsoft.com/office/drawing/2014/main" id="{8055BEAD-59DF-4E14-CBBF-98A4034DDC59}"/>
              </a:ext>
            </a:extLst>
          </p:cNvPr>
          <p:cNvGrpSpPr/>
          <p:nvPr/>
        </p:nvGrpSpPr>
        <p:grpSpPr>
          <a:xfrm>
            <a:off x="4312917" y="5913507"/>
            <a:ext cx="833552" cy="149390"/>
            <a:chOff x="4312114" y="5919270"/>
            <a:chExt cx="833552" cy="149390"/>
          </a:xfrm>
        </p:grpSpPr>
        <p:sp>
          <p:nvSpPr>
            <p:cNvPr id="79" name="矩形 78">
              <a:extLst>
                <a:ext uri="{FF2B5EF4-FFF2-40B4-BE49-F238E27FC236}">
                  <a16:creationId xmlns:a16="http://schemas.microsoft.com/office/drawing/2014/main" id="{975B63E3-7626-BC34-C63A-6FB8BD409D73}"/>
                </a:ext>
              </a:extLst>
            </p:cNvPr>
            <p:cNvSpPr/>
            <p:nvPr/>
          </p:nvSpPr>
          <p:spPr>
            <a:xfrm>
              <a:off x="4312114" y="5919270"/>
              <a:ext cx="648553"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4" name="矩形 13">
              <a:extLst>
                <a:ext uri="{FF2B5EF4-FFF2-40B4-BE49-F238E27FC236}">
                  <a16:creationId xmlns:a16="http://schemas.microsoft.com/office/drawing/2014/main" id="{8F78CE89-9C39-629C-B71D-0B8B9EC956AB}"/>
                </a:ext>
              </a:extLst>
            </p:cNvPr>
            <p:cNvSpPr/>
            <p:nvPr/>
          </p:nvSpPr>
          <p:spPr>
            <a:xfrm>
              <a:off x="4958367" y="5920706"/>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R</a:t>
              </a:r>
              <a:endParaRPr kumimoji="1" lang="zh-TW" altLang="en-US" sz="1400" dirty="0">
                <a:solidFill>
                  <a:schemeClr val="tx1"/>
                </a:solidFill>
              </a:endParaRPr>
            </a:p>
          </p:txBody>
        </p:sp>
      </p:grpSp>
      <p:sp>
        <p:nvSpPr>
          <p:cNvPr id="15" name="矩形 14">
            <a:extLst>
              <a:ext uri="{FF2B5EF4-FFF2-40B4-BE49-F238E27FC236}">
                <a16:creationId xmlns:a16="http://schemas.microsoft.com/office/drawing/2014/main" id="{B2F148A0-CAF3-2281-A8F0-DF55E4126744}"/>
              </a:ext>
            </a:extLst>
          </p:cNvPr>
          <p:cNvSpPr/>
          <p:nvPr/>
        </p:nvSpPr>
        <p:spPr>
          <a:xfrm>
            <a:off x="2079131" y="5911545"/>
            <a:ext cx="651666"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8" name="矩形 17">
            <a:extLst>
              <a:ext uri="{FF2B5EF4-FFF2-40B4-BE49-F238E27FC236}">
                <a16:creationId xmlns:a16="http://schemas.microsoft.com/office/drawing/2014/main" id="{19CE2AA7-BB14-4429-9A0B-B5347B1E5656}"/>
              </a:ext>
            </a:extLst>
          </p:cNvPr>
          <p:cNvSpPr/>
          <p:nvPr/>
        </p:nvSpPr>
        <p:spPr>
          <a:xfrm>
            <a:off x="2731528" y="5908951"/>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R</a:t>
            </a:r>
            <a:endParaRPr kumimoji="1" lang="zh-TW" altLang="en-US" sz="1400" dirty="0">
              <a:solidFill>
                <a:schemeClr val="tx1"/>
              </a:solidFill>
            </a:endParaRPr>
          </a:p>
        </p:txBody>
      </p:sp>
      <p:grpSp>
        <p:nvGrpSpPr>
          <p:cNvPr id="22" name="群組 21">
            <a:extLst>
              <a:ext uri="{FF2B5EF4-FFF2-40B4-BE49-F238E27FC236}">
                <a16:creationId xmlns:a16="http://schemas.microsoft.com/office/drawing/2014/main" id="{038FB1BE-2956-F42D-68A8-59B1DEC84FDD}"/>
              </a:ext>
            </a:extLst>
          </p:cNvPr>
          <p:cNvGrpSpPr/>
          <p:nvPr/>
        </p:nvGrpSpPr>
        <p:grpSpPr>
          <a:xfrm>
            <a:off x="4323243" y="5907641"/>
            <a:ext cx="829257" cy="147954"/>
            <a:chOff x="4322813" y="5763415"/>
            <a:chExt cx="829257" cy="147954"/>
          </a:xfrm>
        </p:grpSpPr>
        <p:sp>
          <p:nvSpPr>
            <p:cNvPr id="95" name="矩形 94">
              <a:extLst>
                <a:ext uri="{FF2B5EF4-FFF2-40B4-BE49-F238E27FC236}">
                  <a16:creationId xmlns:a16="http://schemas.microsoft.com/office/drawing/2014/main" id="{82FA439E-17B0-0DFF-BCC4-EEA8BBDED6E2}"/>
                </a:ext>
              </a:extLst>
            </p:cNvPr>
            <p:cNvSpPr/>
            <p:nvPr/>
          </p:nvSpPr>
          <p:spPr>
            <a:xfrm>
              <a:off x="4322813" y="5763415"/>
              <a:ext cx="632893"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0" name="矩形 9">
              <a:extLst>
                <a:ext uri="{FF2B5EF4-FFF2-40B4-BE49-F238E27FC236}">
                  <a16:creationId xmlns:a16="http://schemas.microsoft.com/office/drawing/2014/main" id="{B6DACA71-2233-039B-701F-6DE98DD46604}"/>
                </a:ext>
              </a:extLst>
            </p:cNvPr>
            <p:cNvSpPr/>
            <p:nvPr/>
          </p:nvSpPr>
          <p:spPr>
            <a:xfrm>
              <a:off x="4964771" y="5763415"/>
              <a:ext cx="187299"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W</a:t>
              </a:r>
              <a:endParaRPr kumimoji="1" lang="zh-TW" altLang="en-US" sz="1400" dirty="0">
                <a:solidFill>
                  <a:schemeClr val="tx1"/>
                </a:solidFill>
              </a:endParaRPr>
            </a:p>
          </p:txBody>
        </p:sp>
      </p:grpSp>
    </p:spTree>
    <p:extLst>
      <p:ext uri="{BB962C8B-B14F-4D97-AF65-F5344CB8AC3E}">
        <p14:creationId xmlns:p14="http://schemas.microsoft.com/office/powerpoint/2010/main" val="337077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500"/>
                                        <p:tgtEl>
                                          <p:spTgt spid="5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down)">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mph" presetSubtype="0" grpId="1" nodeType="clickEffect">
                                  <p:stCondLst>
                                    <p:cond delay="0"/>
                                  </p:stCondLst>
                                  <p:childTnLst>
                                    <p:set>
                                      <p:cBhvr>
                                        <p:cTn id="42" dur="indefinite"/>
                                        <p:tgtEl>
                                          <p:spTgt spid="6"/>
                                        </p:tgtEl>
                                        <p:attrNameLst>
                                          <p:attrName>style.opacity</p:attrName>
                                        </p:attrNameLst>
                                      </p:cBhvr>
                                      <p:to>
                                        <p:strVal val="0.25"/>
                                      </p:to>
                                    </p:set>
                                    <p:animEffect filter="image" prLst="opacity: 0.25">
                                      <p:cBhvr rctx="IE">
                                        <p:cTn id="43" dur="indefinite"/>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fade">
                                      <p:cBhvr>
                                        <p:cTn id="48" dur="500"/>
                                        <p:tgtEl>
                                          <p:spTgt spid="78"/>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xit" presetSubtype="0" fill="hold" nodeType="withEffect">
                                  <p:stCondLst>
                                    <p:cond delay="0"/>
                                  </p:stCondLst>
                                  <p:childTnLst>
                                    <p:animEffect transition="out" filter="fade">
                                      <p:cBhvr>
                                        <p:cTn id="58" dur="500"/>
                                        <p:tgtEl>
                                          <p:spTgt spid="78"/>
                                        </p:tgtEl>
                                      </p:cBhvr>
                                    </p:animEffect>
                                    <p:set>
                                      <p:cBhvr>
                                        <p:cTn id="59" dur="1" fill="hold">
                                          <p:stCondLst>
                                            <p:cond delay="499"/>
                                          </p:stCondLst>
                                        </p:cTn>
                                        <p:tgtEl>
                                          <p:spTgt spid="78"/>
                                        </p:tgtEl>
                                        <p:attrNameLst>
                                          <p:attrName>style.visibility</p:attrName>
                                        </p:attrNameLst>
                                      </p:cBhvr>
                                      <p:to>
                                        <p:strVal val="hidden"/>
                                      </p:to>
                                    </p:set>
                                  </p:childTnLst>
                                </p:cTn>
                              </p:par>
                              <p:par>
                                <p:cTn id="60" presetID="22" presetClass="entr" presetSubtype="8" fill="hold" grpId="0" nodeType="with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left)">
                                      <p:cBhvr>
                                        <p:cTn id="62" dur="500"/>
                                        <p:tgtEl>
                                          <p:spTgt spid="45"/>
                                        </p:tgtEl>
                                      </p:cBhvr>
                                    </p:animEffect>
                                  </p:childTnLst>
                                </p:cTn>
                              </p:par>
                              <p:par>
                                <p:cTn id="63" presetID="22" presetClass="entr" presetSubtype="8" fill="hold" nodeType="with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wipe(left)">
                                      <p:cBhvr>
                                        <p:cTn id="65" dur="500"/>
                                        <p:tgtEl>
                                          <p:spTgt spid="81"/>
                                        </p:tgtEl>
                                      </p:cBhvr>
                                    </p:animEffect>
                                  </p:childTnLst>
                                </p:cTn>
                              </p:par>
                              <p:par>
                                <p:cTn id="66" presetID="1"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3"/>
                                        </p:tgtEl>
                                        <p:attrNameLst>
                                          <p:attrName>style.visibility</p:attrName>
                                        </p:attrNameLst>
                                      </p:cBhvr>
                                      <p:to>
                                        <p:strVal val="visible"/>
                                      </p:to>
                                    </p:set>
                                    <p:animEffect transition="in" filter="fade">
                                      <p:cBhvr>
                                        <p:cTn id="72" dur="500"/>
                                        <p:tgtEl>
                                          <p:spTgt spid="63"/>
                                        </p:tgtEl>
                                      </p:cBhvr>
                                    </p:animEffect>
                                  </p:childTnLst>
                                </p:cTn>
                              </p:par>
                              <p:par>
                                <p:cTn id="73" presetID="10" presetClass="exit" presetSubtype="0" fill="hold" nodeType="withEffect">
                                  <p:stCondLst>
                                    <p:cond delay="0"/>
                                  </p:stCondLst>
                                  <p:childTnLst>
                                    <p:animEffect transition="out" filter="fade">
                                      <p:cBhvr>
                                        <p:cTn id="74" dur="500"/>
                                        <p:tgtEl>
                                          <p:spTgt spid="81"/>
                                        </p:tgtEl>
                                      </p:cBhvr>
                                    </p:animEffect>
                                    <p:set>
                                      <p:cBhvr>
                                        <p:cTn id="75" dur="1" fill="hold">
                                          <p:stCondLst>
                                            <p:cond delay="499"/>
                                          </p:stCondLst>
                                        </p:cTn>
                                        <p:tgtEl>
                                          <p:spTgt spid="81"/>
                                        </p:tgtEl>
                                        <p:attrNameLst>
                                          <p:attrName>style.visibility</p:attrName>
                                        </p:attrNameLst>
                                      </p:cBhvr>
                                      <p:to>
                                        <p:strVal val="hidden"/>
                                      </p:to>
                                    </p:set>
                                  </p:childTnLst>
                                </p:cTn>
                              </p:par>
                              <p:par>
                                <p:cTn id="76" presetID="22" presetClass="entr" presetSubtype="8"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wipe(left)">
                                      <p:cBhvr>
                                        <p:cTn id="78" dur="500"/>
                                        <p:tgtEl>
                                          <p:spTgt spid="20"/>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wipe(left)">
                                      <p:cBhvr>
                                        <p:cTn id="81" dur="500"/>
                                        <p:tgtEl>
                                          <p:spTgt spid="1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98"/>
                                        </p:tgtEl>
                                        <p:attrNameLst>
                                          <p:attrName>style.visibility</p:attrName>
                                        </p:attrNameLst>
                                      </p:cBhvr>
                                      <p:to>
                                        <p:strVal val="visible"/>
                                      </p:to>
                                    </p:set>
                                    <p:animEffect transition="in" filter="fade">
                                      <p:cBhvr>
                                        <p:cTn id="86" dur="500"/>
                                        <p:tgtEl>
                                          <p:spTgt spid="9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2" fill="hold" nodeType="clickEffect">
                                  <p:stCondLst>
                                    <p:cond delay="0"/>
                                  </p:stCondLst>
                                  <p:childTnLst>
                                    <p:set>
                                      <p:cBhvr>
                                        <p:cTn id="90" dur="1" fill="hold">
                                          <p:stCondLst>
                                            <p:cond delay="0"/>
                                          </p:stCondLst>
                                        </p:cTn>
                                        <p:tgtEl>
                                          <p:spTgt spid="99"/>
                                        </p:tgtEl>
                                        <p:attrNameLst>
                                          <p:attrName>style.visibility</p:attrName>
                                        </p:attrNameLst>
                                      </p:cBhvr>
                                      <p:to>
                                        <p:strVal val="visible"/>
                                      </p:to>
                                    </p:set>
                                    <p:animEffect transition="in" filter="wipe(right)">
                                      <p:cBhvr>
                                        <p:cTn id="91" dur="500"/>
                                        <p:tgtEl>
                                          <p:spTgt spid="99"/>
                                        </p:tgtEl>
                                      </p:cBhvr>
                                    </p:animEffect>
                                  </p:childTnLst>
                                </p:cTn>
                              </p:par>
                            </p:childTnLst>
                          </p:cTn>
                        </p:par>
                        <p:par>
                          <p:cTn id="92" fill="hold">
                            <p:stCondLst>
                              <p:cond delay="500"/>
                            </p:stCondLst>
                            <p:childTnLst>
                              <p:par>
                                <p:cTn id="93" presetID="10" presetClass="entr" presetSubtype="0" fill="hold" nodeType="afterEffect">
                                  <p:stCondLst>
                                    <p:cond delay="0"/>
                                  </p:stCondLst>
                                  <p:childTnLst>
                                    <p:set>
                                      <p:cBhvr>
                                        <p:cTn id="94" dur="1" fill="hold">
                                          <p:stCondLst>
                                            <p:cond delay="0"/>
                                          </p:stCondLst>
                                        </p:cTn>
                                        <p:tgtEl>
                                          <p:spTgt spid="100"/>
                                        </p:tgtEl>
                                        <p:attrNameLst>
                                          <p:attrName>style.visibility</p:attrName>
                                        </p:attrNameLst>
                                      </p:cBhvr>
                                      <p:to>
                                        <p:strVal val="visible"/>
                                      </p:to>
                                    </p:set>
                                    <p:animEffect transition="in" filter="fade">
                                      <p:cBhvr>
                                        <p:cTn id="95" dur="500"/>
                                        <p:tgtEl>
                                          <p:spTgt spid="10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down)">
                                      <p:cBhvr>
                                        <p:cTn id="10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6" grpId="0"/>
      <p:bldP spid="46" grpId="0"/>
      <p:bldP spid="6" grpId="0" animBg="1"/>
      <p:bldP spid="6" grpId="1" animBg="1"/>
      <p:bldP spid="11" grpId="0" animBg="1"/>
      <p:bldP spid="15"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lang="en-US" altLang="zh-TW" sz="4400" dirty="0">
                <a:solidFill>
                  <a:srgbClr val="C00000"/>
                </a:solidFill>
              </a:rPr>
              <a:t>Recap: </a:t>
            </a:r>
            <a:r>
              <a:rPr kumimoji="1" lang="en-US" altLang="zh-TW" dirty="0"/>
              <a:t>Process vs Thread</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normAutofit/>
          </a:bodyPr>
          <a:lstStyle/>
          <a:p>
            <a:r>
              <a:rPr kumimoji="1" lang="en-US" altLang="zh-TW" dirty="0"/>
              <a:t>Thread </a:t>
            </a:r>
            <a:r>
              <a:rPr kumimoji="1" lang="en-US" altLang="zh-TW" i="1" dirty="0">
                <a:solidFill>
                  <a:srgbClr val="C00000"/>
                </a:solidFill>
              </a:rPr>
              <a:t>(Lightweight Process)</a:t>
            </a:r>
            <a:r>
              <a:rPr kumimoji="1" lang="en-US" altLang="zh-TW" dirty="0"/>
              <a:t>:</a:t>
            </a:r>
            <a:r>
              <a:rPr kumimoji="1" lang="zh-TW" altLang="en-US" dirty="0"/>
              <a:t> </a:t>
            </a:r>
            <a:r>
              <a:rPr kumimoji="1" lang="en-US" altLang="zh-TW" dirty="0"/>
              <a:t>Executes</a:t>
            </a:r>
            <a:r>
              <a:rPr kumimoji="1" lang="zh-TW" altLang="en-US" dirty="0">
                <a:solidFill>
                  <a:srgbClr val="C00000"/>
                </a:solidFill>
              </a:rPr>
              <a:t> </a:t>
            </a:r>
            <a:r>
              <a:rPr kumimoji="1" lang="en-US" altLang="zh-TW" dirty="0">
                <a:solidFill>
                  <a:srgbClr val="C00000"/>
                </a:solidFill>
              </a:rPr>
              <a:t>within</a:t>
            </a:r>
            <a:r>
              <a:rPr kumimoji="1" lang="zh-TW" altLang="en-US" dirty="0">
                <a:solidFill>
                  <a:srgbClr val="C00000"/>
                </a:solidFill>
              </a:rPr>
              <a:t> </a:t>
            </a:r>
            <a:r>
              <a:rPr kumimoji="1" lang="en-US" altLang="zh-TW" dirty="0">
                <a:solidFill>
                  <a:srgbClr val="C00000"/>
                </a:solidFill>
              </a:rPr>
              <a:t>the</a:t>
            </a:r>
            <a:r>
              <a:rPr kumimoji="1" lang="zh-TW" altLang="en-US" dirty="0">
                <a:solidFill>
                  <a:srgbClr val="C00000"/>
                </a:solidFill>
              </a:rPr>
              <a:t> </a:t>
            </a:r>
            <a:r>
              <a:rPr kumimoji="1" lang="en-US" altLang="zh-TW" dirty="0">
                <a:solidFill>
                  <a:srgbClr val="C00000"/>
                </a:solidFill>
              </a:rPr>
              <a:t>same</a:t>
            </a:r>
            <a:r>
              <a:rPr kumimoji="1" lang="zh-TW" altLang="en-US" dirty="0">
                <a:solidFill>
                  <a:srgbClr val="C00000"/>
                </a:solidFill>
              </a:rPr>
              <a:t> </a:t>
            </a:r>
            <a:r>
              <a:rPr kumimoji="1" lang="en-US" altLang="zh-TW" dirty="0">
                <a:solidFill>
                  <a:srgbClr val="C00000"/>
                </a:solidFill>
              </a:rPr>
              <a:t>program</a:t>
            </a:r>
            <a:r>
              <a:rPr kumimoji="1" lang="zh-TW" altLang="en-US" dirty="0"/>
              <a:t> </a:t>
            </a:r>
            <a:r>
              <a:rPr kumimoji="1" lang="en-US" altLang="zh-TW" dirty="0"/>
              <a:t>in</a:t>
            </a:r>
            <a:r>
              <a:rPr kumimoji="1" lang="zh-TW" altLang="en-US" dirty="0"/>
              <a:t> </a:t>
            </a:r>
            <a:r>
              <a:rPr kumimoji="1" lang="en-US" altLang="zh-TW" dirty="0"/>
              <a:t>a </a:t>
            </a:r>
            <a:r>
              <a:rPr lang="en-US" altLang="zh-TW" dirty="0">
                <a:solidFill>
                  <a:srgbClr val="C00000"/>
                </a:solidFill>
              </a:rPr>
              <a:t>s</a:t>
            </a:r>
            <a:r>
              <a:rPr kumimoji="1" lang="en-US" altLang="zh-TW" dirty="0">
                <a:solidFill>
                  <a:srgbClr val="C00000"/>
                </a:solidFill>
              </a:rPr>
              <a:t>hared</a:t>
            </a:r>
            <a:r>
              <a:rPr kumimoji="1" lang="zh-TW" altLang="en-US" dirty="0">
                <a:solidFill>
                  <a:srgbClr val="C00000"/>
                </a:solidFill>
              </a:rPr>
              <a:t> </a:t>
            </a:r>
            <a:r>
              <a:rPr kumimoji="1" lang="en-US" altLang="zh-TW" dirty="0">
                <a:solidFill>
                  <a:srgbClr val="C00000"/>
                </a:solidFill>
              </a:rPr>
              <a:t>memory</a:t>
            </a:r>
            <a:r>
              <a:rPr kumimoji="1" lang="zh-TW" altLang="en-US" dirty="0">
                <a:solidFill>
                  <a:srgbClr val="C00000"/>
                </a:solidFill>
              </a:rPr>
              <a:t> </a:t>
            </a:r>
            <a:r>
              <a:rPr kumimoji="1" lang="en-US" altLang="zh-TW" dirty="0">
                <a:solidFill>
                  <a:srgbClr val="C00000"/>
                </a:solidFill>
              </a:rPr>
              <a:t>address</a:t>
            </a:r>
            <a:r>
              <a:rPr kumimoji="1" lang="zh-TW" altLang="en-US" dirty="0">
                <a:solidFill>
                  <a:srgbClr val="C00000"/>
                </a:solidFill>
              </a:rPr>
              <a:t> </a:t>
            </a:r>
            <a:r>
              <a:rPr kumimoji="1" lang="en-US" altLang="zh-TW" dirty="0">
                <a:solidFill>
                  <a:srgbClr val="C00000"/>
                </a:solidFill>
              </a:rPr>
              <a:t>space </a:t>
            </a:r>
            <a:r>
              <a:rPr kumimoji="1" lang="en-US" altLang="zh-TW" dirty="0"/>
              <a:t>(also</a:t>
            </a:r>
            <a:r>
              <a:rPr kumimoji="1" lang="zh-TW" altLang="en-US" dirty="0"/>
              <a:t> </a:t>
            </a:r>
            <a:r>
              <a:rPr kumimoji="1" lang="en-US" altLang="zh-TW" dirty="0"/>
              <a:t>share</a:t>
            </a:r>
            <a:r>
              <a:rPr kumimoji="1" lang="zh-TW" altLang="en-US" dirty="0"/>
              <a:t> </a:t>
            </a:r>
            <a:r>
              <a:rPr kumimoji="1" lang="en-US" altLang="zh-TW" dirty="0"/>
              <a:t>open</a:t>
            </a:r>
            <a:r>
              <a:rPr kumimoji="1" lang="zh-TW" altLang="en-US" dirty="0"/>
              <a:t> </a:t>
            </a:r>
            <a:r>
              <a:rPr kumimoji="1" lang="en-US" altLang="zh-TW" dirty="0"/>
              <a:t>files</a:t>
            </a:r>
            <a:r>
              <a:rPr kumimoji="1" lang="zh-TW" altLang="en-US" dirty="0"/>
              <a:t> </a:t>
            </a:r>
            <a:r>
              <a:rPr kumimoji="1" lang="en-US" altLang="zh-TW" dirty="0"/>
              <a:t>and</a:t>
            </a:r>
            <a:r>
              <a:rPr kumimoji="1" lang="zh-TW" altLang="en-US" dirty="0"/>
              <a:t> </a:t>
            </a:r>
            <a:r>
              <a:rPr kumimoji="1" lang="en-US" altLang="zh-TW" dirty="0"/>
              <a:t>page</a:t>
            </a:r>
            <a:r>
              <a:rPr kumimoji="1" lang="zh-TW" altLang="en-US" dirty="0"/>
              <a:t> </a:t>
            </a:r>
            <a:r>
              <a:rPr kumimoji="1" lang="en-US" altLang="zh-TW" dirty="0"/>
              <a:t>tables).</a:t>
            </a:r>
          </a:p>
          <a:p>
            <a:pPr lvl="1"/>
            <a:r>
              <a:rPr kumimoji="1" lang="en-US" altLang="zh-TW" dirty="0"/>
              <a:t>Linux</a:t>
            </a:r>
            <a:r>
              <a:rPr kumimoji="1" lang="zh-TW" altLang="en-US" dirty="0"/>
              <a:t> </a:t>
            </a:r>
            <a:r>
              <a:rPr kumimoji="1" lang="en-US" altLang="zh-TW" dirty="0"/>
              <a:t>implements</a:t>
            </a:r>
            <a:r>
              <a:rPr kumimoji="1" lang="zh-TW" altLang="en-US" dirty="0"/>
              <a:t> </a:t>
            </a:r>
            <a:r>
              <a:rPr kumimoji="1" lang="en-US" altLang="zh-TW" dirty="0"/>
              <a:t>all</a:t>
            </a:r>
            <a:r>
              <a:rPr kumimoji="1" lang="zh-TW" altLang="en-US" dirty="0"/>
              <a:t> </a:t>
            </a:r>
            <a:r>
              <a:rPr kumimoji="1" lang="en-US" altLang="zh-TW" dirty="0"/>
              <a:t>threads</a:t>
            </a:r>
            <a:r>
              <a:rPr kumimoji="1" lang="zh-TW" altLang="en-US" dirty="0"/>
              <a:t> </a:t>
            </a:r>
            <a:r>
              <a:rPr kumimoji="1" lang="en-US" altLang="zh-TW" dirty="0"/>
              <a:t>as</a:t>
            </a:r>
            <a:r>
              <a:rPr kumimoji="1" lang="zh-TW" altLang="en-US" dirty="0"/>
              <a:t> </a:t>
            </a:r>
            <a:r>
              <a:rPr lang="en-US" altLang="zh-TW" dirty="0">
                <a:solidFill>
                  <a:srgbClr val="C00000"/>
                </a:solidFill>
              </a:rPr>
              <a:t>standard</a:t>
            </a:r>
            <a:r>
              <a:rPr lang="zh-TW" altLang="en-US" dirty="0">
                <a:solidFill>
                  <a:srgbClr val="C00000"/>
                </a:solidFill>
              </a:rPr>
              <a:t> </a:t>
            </a:r>
            <a:r>
              <a:rPr lang="en-US" altLang="zh-TW" dirty="0">
                <a:solidFill>
                  <a:srgbClr val="C00000"/>
                </a:solidFill>
              </a:rPr>
              <a:t>processes</a:t>
            </a:r>
            <a:r>
              <a:rPr lang="zh-TW" altLang="en-US" dirty="0">
                <a:solidFill>
                  <a:srgbClr val="C00000"/>
                </a:solidFill>
              </a:rPr>
              <a:t> </a:t>
            </a:r>
            <a:r>
              <a:rPr lang="en-US" altLang="zh-TW" dirty="0"/>
              <a:t>(Have their own</a:t>
            </a:r>
            <a:r>
              <a:rPr lang="zh-TW" altLang="en-US" dirty="0"/>
              <a:t> </a:t>
            </a:r>
            <a:r>
              <a:rPr lang="en-US" altLang="zh-TW" dirty="0" err="1">
                <a:latin typeface="+mj-lt"/>
              </a:rPr>
              <a:t>task_struct</a:t>
            </a:r>
            <a:r>
              <a:rPr lang="en-US" altLang="zh-TW" dirty="0"/>
              <a:t>).</a:t>
            </a:r>
            <a:r>
              <a:rPr lang="zh-TW" altLang="en-US" dirty="0"/>
              <a:t> </a:t>
            </a:r>
            <a:endParaRPr lang="en-US" altLang="zh-TW" dirty="0"/>
          </a:p>
          <a:p>
            <a:pPr lvl="1"/>
            <a:r>
              <a:rPr lang="en-US" altLang="zh-TW" dirty="0"/>
              <a:t>Threads</a:t>
            </a:r>
            <a:r>
              <a:rPr lang="zh-TW" altLang="en-US" dirty="0"/>
              <a:t> </a:t>
            </a:r>
            <a:r>
              <a:rPr lang="en-US" altLang="zh-TW" dirty="0">
                <a:solidFill>
                  <a:srgbClr val="C00000"/>
                </a:solidFill>
              </a:rPr>
              <a:t>have</a:t>
            </a:r>
            <a:r>
              <a:rPr lang="zh-TW" altLang="en-US" dirty="0"/>
              <a:t> </a:t>
            </a:r>
            <a:r>
              <a:rPr lang="en-US" altLang="zh-TW" dirty="0"/>
              <a:t>their</a:t>
            </a:r>
            <a:r>
              <a:rPr lang="zh-TW" altLang="en-US" dirty="0"/>
              <a:t> </a:t>
            </a:r>
            <a:r>
              <a:rPr lang="en-US" altLang="zh-TW" dirty="0"/>
              <a:t>own:</a:t>
            </a:r>
            <a:r>
              <a:rPr lang="zh-TW" altLang="en-US" dirty="0"/>
              <a:t> </a:t>
            </a:r>
            <a:r>
              <a:rPr lang="en-US" altLang="zh-TW" dirty="0"/>
              <a:t>(1)</a:t>
            </a:r>
            <a:r>
              <a:rPr lang="zh-TW" altLang="en-US" dirty="0"/>
              <a:t> </a:t>
            </a:r>
            <a:r>
              <a:rPr lang="en-US" altLang="zh-TW" dirty="0"/>
              <a:t>Program</a:t>
            </a:r>
            <a:r>
              <a:rPr lang="zh-TW" altLang="en-US" dirty="0"/>
              <a:t> </a:t>
            </a:r>
            <a:r>
              <a:rPr lang="en-US" altLang="zh-TW" dirty="0"/>
              <a:t>Counter,</a:t>
            </a:r>
            <a:r>
              <a:rPr lang="zh-TW" altLang="en-US" dirty="0"/>
              <a:t> </a:t>
            </a:r>
            <a:r>
              <a:rPr lang="en-US" altLang="zh-TW" dirty="0"/>
              <a:t>(2)</a:t>
            </a:r>
            <a:r>
              <a:rPr lang="zh-TW" altLang="en-US" dirty="0"/>
              <a:t> </a:t>
            </a:r>
            <a:r>
              <a:rPr lang="en-US" altLang="zh-TW" dirty="0"/>
              <a:t>Registers,</a:t>
            </a:r>
            <a:r>
              <a:rPr lang="zh-TW" altLang="en-US" dirty="0"/>
              <a:t> </a:t>
            </a:r>
            <a:r>
              <a:rPr lang="en-US" altLang="zh-TW" dirty="0"/>
              <a:t>(3)</a:t>
            </a:r>
            <a:r>
              <a:rPr lang="zh-TW" altLang="en-US" dirty="0"/>
              <a:t> </a:t>
            </a:r>
            <a:r>
              <a:rPr lang="en-US" altLang="zh-TW" dirty="0"/>
              <a:t>Stack,</a:t>
            </a:r>
            <a:r>
              <a:rPr lang="zh-TW" altLang="en-US" dirty="0"/>
              <a:t> </a:t>
            </a:r>
            <a:r>
              <a:rPr lang="en-US" altLang="zh-TW" dirty="0"/>
              <a:t>(4)</a:t>
            </a:r>
            <a:r>
              <a:rPr lang="zh-TW" altLang="en-US" dirty="0"/>
              <a:t> </a:t>
            </a:r>
            <a:r>
              <a:rPr lang="en-US" altLang="zh-TW" dirty="0"/>
              <a:t>State</a:t>
            </a:r>
          </a:p>
          <a:p>
            <a:pPr lvl="1"/>
            <a:r>
              <a:rPr kumimoji="1" lang="en-US" altLang="zh-TW" dirty="0"/>
              <a:t>Linux</a:t>
            </a:r>
            <a:r>
              <a:rPr kumimoji="1" lang="zh-TW" altLang="en-US" dirty="0"/>
              <a:t> </a:t>
            </a:r>
            <a:r>
              <a:rPr kumimoji="1" lang="en-US" altLang="zh-TW" i="1" dirty="0">
                <a:solidFill>
                  <a:srgbClr val="C00000"/>
                </a:solidFill>
              </a:rPr>
              <a:t>does</a:t>
            </a:r>
            <a:r>
              <a:rPr kumimoji="1" lang="zh-TW" altLang="en-US" i="1" dirty="0">
                <a:solidFill>
                  <a:srgbClr val="C00000"/>
                </a:solidFill>
              </a:rPr>
              <a:t> </a:t>
            </a:r>
            <a:r>
              <a:rPr kumimoji="1" lang="en-US" altLang="zh-TW" i="1" dirty="0">
                <a:solidFill>
                  <a:srgbClr val="C00000"/>
                </a:solidFill>
              </a:rPr>
              <a:t>not</a:t>
            </a:r>
            <a:r>
              <a:rPr kumimoji="1" lang="zh-TW" altLang="en-US" dirty="0"/>
              <a:t> </a:t>
            </a:r>
            <a:r>
              <a:rPr kumimoji="1" lang="en-US" altLang="zh-TW" dirty="0"/>
              <a:t>provide</a:t>
            </a:r>
            <a:r>
              <a:rPr kumimoji="1" lang="zh-TW" altLang="en-US" dirty="0"/>
              <a:t> </a:t>
            </a:r>
            <a:r>
              <a:rPr kumimoji="1" lang="en-US" altLang="zh-TW" dirty="0"/>
              <a:t>any</a:t>
            </a:r>
            <a:r>
              <a:rPr kumimoji="1" lang="zh-TW" altLang="en-US" dirty="0"/>
              <a:t> </a:t>
            </a:r>
            <a:r>
              <a:rPr kumimoji="1" lang="en-US" altLang="zh-TW" dirty="0"/>
              <a:t>special</a:t>
            </a:r>
            <a:r>
              <a:rPr kumimoji="1" lang="zh-TW" altLang="en-US" dirty="0"/>
              <a:t> </a:t>
            </a:r>
            <a:r>
              <a:rPr kumimoji="1" lang="en-US" altLang="zh-TW" dirty="0"/>
              <a:t>scheduling</a:t>
            </a:r>
            <a:r>
              <a:rPr kumimoji="1" lang="zh-TW" altLang="en-US" dirty="0"/>
              <a:t> </a:t>
            </a:r>
            <a:r>
              <a:rPr kumimoji="1" lang="en-US" altLang="zh-TW" dirty="0"/>
              <a:t>or</a:t>
            </a:r>
            <a:r>
              <a:rPr kumimoji="1" lang="zh-TW" altLang="en-US" dirty="0"/>
              <a:t> </a:t>
            </a:r>
            <a:r>
              <a:rPr kumimoji="1" lang="en-US" altLang="zh-TW" dirty="0"/>
              <a:t>data</a:t>
            </a:r>
            <a:r>
              <a:rPr kumimoji="1" lang="zh-TW" altLang="en-US" dirty="0"/>
              <a:t> </a:t>
            </a:r>
            <a:r>
              <a:rPr kumimoji="1" lang="en-US" altLang="zh-TW" dirty="0"/>
              <a:t>structures</a:t>
            </a:r>
            <a:r>
              <a:rPr kumimoji="1" lang="zh-TW" altLang="en-US" dirty="0"/>
              <a:t> </a:t>
            </a:r>
            <a:r>
              <a:rPr kumimoji="1" lang="en-US" altLang="zh-TW" dirty="0"/>
              <a:t>to</a:t>
            </a:r>
            <a:r>
              <a:rPr kumimoji="1" lang="zh-TW" altLang="en-US" dirty="0"/>
              <a:t> </a:t>
            </a:r>
            <a:r>
              <a:rPr kumimoji="1" lang="en-US" altLang="zh-TW" dirty="0"/>
              <a:t>represent</a:t>
            </a:r>
            <a:r>
              <a:rPr kumimoji="1" lang="zh-TW" altLang="en-US" dirty="0"/>
              <a:t> </a:t>
            </a:r>
            <a:r>
              <a:rPr kumimoji="1" lang="en-US" altLang="zh-TW" dirty="0"/>
              <a:t>threads.</a:t>
            </a:r>
          </a:p>
          <a:p>
            <a:r>
              <a:rPr lang="en-US" altLang="zh-TW" dirty="0"/>
              <a:t>Creating Threads:</a:t>
            </a:r>
            <a:r>
              <a:rPr lang="zh-TW" altLang="en-US" dirty="0"/>
              <a:t> </a:t>
            </a:r>
            <a:r>
              <a:rPr lang="en-US" altLang="zh-TW" dirty="0">
                <a:solidFill>
                  <a:srgbClr val="C00000"/>
                </a:solidFill>
                <a:latin typeface="+mj-lt"/>
              </a:rPr>
              <a:t>clone()</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identical</a:t>
            </a:r>
            <a:r>
              <a:rPr lang="zh-TW" altLang="en-US" dirty="0">
                <a:solidFill>
                  <a:srgbClr val="C00000"/>
                </a:solidFill>
              </a:rPr>
              <a:t> </a:t>
            </a:r>
            <a:r>
              <a:rPr lang="en-US" altLang="zh-TW" dirty="0">
                <a:solidFill>
                  <a:srgbClr val="C00000"/>
                </a:solidFill>
              </a:rPr>
              <a:t>to</a:t>
            </a:r>
            <a:r>
              <a:rPr lang="zh-TW" altLang="en-US" dirty="0">
                <a:solidFill>
                  <a:srgbClr val="C00000"/>
                </a:solidFill>
              </a:rPr>
              <a:t> </a:t>
            </a:r>
            <a:r>
              <a:rPr lang="en-US" altLang="zh-TW" dirty="0">
                <a:solidFill>
                  <a:srgbClr val="C00000"/>
                </a:solidFill>
                <a:latin typeface="+mj-lt"/>
              </a:rPr>
              <a:t>fork()</a:t>
            </a:r>
            <a:r>
              <a:rPr lang="en-US" altLang="zh-TW" dirty="0"/>
              <a:t>,</a:t>
            </a:r>
            <a:r>
              <a:rPr lang="zh-TW" altLang="en-US" dirty="0"/>
              <a:t> </a:t>
            </a:r>
            <a:r>
              <a:rPr lang="en-US" altLang="zh-TW" dirty="0"/>
              <a:t>except</a:t>
            </a:r>
            <a:r>
              <a:rPr lang="zh-TW" altLang="en-US" dirty="0"/>
              <a:t> </a:t>
            </a:r>
            <a:r>
              <a:rPr lang="en-US" altLang="zh-TW" dirty="0"/>
              <a:t>that</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a:t>
            </a:r>
            <a:r>
              <a:rPr lang="zh-TW" altLang="en-US" dirty="0"/>
              <a:t> </a:t>
            </a:r>
            <a:r>
              <a:rPr lang="en-US" altLang="zh-TW" dirty="0"/>
              <a:t>file</a:t>
            </a:r>
            <a:r>
              <a:rPr lang="zh-TW" altLang="en-US" dirty="0"/>
              <a:t> </a:t>
            </a:r>
            <a:r>
              <a:rPr lang="en-US" altLang="zh-TW" dirty="0"/>
              <a:t>system</a:t>
            </a:r>
            <a:r>
              <a:rPr lang="zh-TW" altLang="en-US" dirty="0"/>
              <a:t> </a:t>
            </a:r>
            <a:r>
              <a:rPr lang="en-US" altLang="zh-TW" dirty="0"/>
              <a:t>resources,</a:t>
            </a:r>
            <a:r>
              <a:rPr lang="zh-TW" altLang="en-US" dirty="0"/>
              <a:t> </a:t>
            </a:r>
            <a:r>
              <a:rPr lang="en-US" altLang="zh-TW" dirty="0"/>
              <a:t>file</a:t>
            </a:r>
            <a:r>
              <a:rPr lang="zh-TW" altLang="en-US" dirty="0"/>
              <a:t> </a:t>
            </a:r>
            <a:r>
              <a:rPr lang="en-US" altLang="zh-TW" dirty="0"/>
              <a:t>descriptors,</a:t>
            </a:r>
            <a:r>
              <a:rPr lang="zh-TW" altLang="en-US" dirty="0"/>
              <a:t> </a:t>
            </a:r>
            <a:r>
              <a:rPr lang="en-US" altLang="zh-TW" dirty="0"/>
              <a:t>and</a:t>
            </a:r>
            <a:r>
              <a:rPr lang="zh-TW" altLang="en-US" dirty="0"/>
              <a:t> </a:t>
            </a:r>
            <a:r>
              <a:rPr lang="en-US" altLang="zh-TW" dirty="0"/>
              <a:t>signal</a:t>
            </a:r>
            <a:r>
              <a:rPr lang="zh-TW" altLang="en-US" dirty="0"/>
              <a:t> </a:t>
            </a:r>
            <a:r>
              <a:rPr lang="en-US" altLang="zh-TW" dirty="0"/>
              <a:t>handlers</a:t>
            </a:r>
            <a:r>
              <a:rPr lang="zh-TW" altLang="en-US" dirty="0"/>
              <a:t> </a:t>
            </a:r>
            <a:r>
              <a:rPr lang="en-US" altLang="zh-TW" dirty="0">
                <a:solidFill>
                  <a:srgbClr val="C00000"/>
                </a:solidFill>
              </a:rPr>
              <a:t>are</a:t>
            </a:r>
            <a:r>
              <a:rPr lang="zh-TW" altLang="en-US" dirty="0">
                <a:solidFill>
                  <a:srgbClr val="C00000"/>
                </a:solidFill>
              </a:rPr>
              <a:t> </a:t>
            </a:r>
            <a:r>
              <a:rPr lang="en-US" altLang="zh-TW" dirty="0">
                <a:solidFill>
                  <a:srgbClr val="C00000"/>
                </a:solidFill>
              </a:rPr>
              <a:t>shared</a:t>
            </a:r>
            <a:r>
              <a:rPr lang="en-US" altLang="zh-TW" dirty="0"/>
              <a:t>.</a:t>
            </a:r>
          </a:p>
          <a:p>
            <a:pPr lvl="1"/>
            <a:r>
              <a:rPr lang="en-US" altLang="zh-TW" dirty="0">
                <a:latin typeface="+mj-lt"/>
              </a:rPr>
              <a:t>clone (CLONE_VM</a:t>
            </a:r>
            <a:r>
              <a:rPr lang="zh-TW" altLang="en-US" dirty="0">
                <a:latin typeface="+mj-lt"/>
              </a:rPr>
              <a:t> </a:t>
            </a:r>
            <a:r>
              <a:rPr lang="en-US" altLang="zh-TW" dirty="0">
                <a:latin typeface="+mj-lt"/>
              </a:rPr>
              <a:t>|</a:t>
            </a:r>
            <a:r>
              <a:rPr lang="zh-TW" altLang="en-US" dirty="0">
                <a:latin typeface="+mj-lt"/>
              </a:rPr>
              <a:t> </a:t>
            </a:r>
            <a:r>
              <a:rPr lang="en-US" altLang="zh-TW" dirty="0">
                <a:latin typeface="+mj-lt"/>
              </a:rPr>
              <a:t>CLONE_FS | CLONE_FILES | CLONE_SIGHAND, 0)</a:t>
            </a:r>
          </a:p>
          <a:p>
            <a:r>
              <a:rPr kumimoji="1" lang="en-US" altLang="zh-TW" dirty="0"/>
              <a:t>Kernel Threads: Run kernel tasks in the background. </a:t>
            </a:r>
          </a:p>
          <a:p>
            <a:pPr lvl="1"/>
            <a:r>
              <a:rPr kumimoji="1" lang="en-US" altLang="zh-TW" dirty="0"/>
              <a:t>Like normal processes</a:t>
            </a:r>
            <a:r>
              <a:rPr kumimoji="1" lang="en-US" altLang="zh-TW" dirty="0">
                <a:solidFill>
                  <a:schemeClr val="tx1"/>
                </a:solidFill>
              </a:rPr>
              <a:t>,</a:t>
            </a:r>
            <a:r>
              <a:rPr kumimoji="1" lang="en-US" altLang="zh-TW" dirty="0">
                <a:solidFill>
                  <a:srgbClr val="C00000"/>
                </a:solidFill>
              </a:rPr>
              <a:t> schedulable and preemptable</a:t>
            </a:r>
          </a:p>
          <a:p>
            <a:pPr lvl="1"/>
            <a:r>
              <a:rPr lang="en-US" altLang="zh-TW" dirty="0"/>
              <a:t>But, in contrast to normal processes, kernel threads </a:t>
            </a:r>
            <a:r>
              <a:rPr lang="en-US" altLang="zh-TW" dirty="0">
                <a:solidFill>
                  <a:srgbClr val="C00000"/>
                </a:solidFill>
              </a:rPr>
              <a:t>do not have an address space</a:t>
            </a:r>
            <a:r>
              <a:rPr lang="en-US" altLang="zh-TW" dirty="0"/>
              <a:t>. </a:t>
            </a:r>
          </a:p>
          <a:p>
            <a:pPr lvl="1"/>
            <a:r>
              <a:rPr lang="en-US" altLang="zh-TW" dirty="0">
                <a:solidFill>
                  <a:srgbClr val="C00000"/>
                </a:solidFill>
              </a:rPr>
              <a:t>Operate only in kernel-space </a:t>
            </a:r>
            <a:r>
              <a:rPr lang="en-US" altLang="zh-TW" dirty="0"/>
              <a:t>and do not context switch to user-space.</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6</a:t>
            </a:fld>
            <a:endParaRPr lang="zh-TW" altLang="en-US" dirty="0"/>
          </a:p>
        </p:txBody>
      </p:sp>
    </p:spTree>
    <p:extLst>
      <p:ext uri="{BB962C8B-B14F-4D97-AF65-F5344CB8AC3E}">
        <p14:creationId xmlns:p14="http://schemas.microsoft.com/office/powerpoint/2010/main" val="103639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lang="en-US" altLang="zh-TW" sz="4400" dirty="0">
                <a:solidFill>
                  <a:srgbClr val="C00000"/>
                </a:solidFill>
              </a:rPr>
              <a:t>Recap: </a:t>
            </a:r>
            <a:r>
              <a:rPr kumimoji="1" lang="en-US" altLang="zh-TW" dirty="0"/>
              <a:t>Linux Process Scheduler</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952394"/>
            <a:ext cx="11836400" cy="5657528"/>
          </a:xfrm>
        </p:spPr>
        <p:txBody>
          <a:bodyPr tIns="0" bIns="0">
            <a:normAutofit/>
          </a:bodyPr>
          <a:lstStyle/>
          <a:p>
            <a:r>
              <a:rPr kumimoji="1" lang="en-US" altLang="zh-TW" dirty="0"/>
              <a:t>O(N)</a:t>
            </a:r>
            <a:r>
              <a:rPr kumimoji="1" lang="zh-TW" altLang="en-US" dirty="0"/>
              <a:t> </a:t>
            </a:r>
            <a:r>
              <a:rPr kumimoji="1" lang="en-US" altLang="zh-TW" dirty="0"/>
              <a:t>Before</a:t>
            </a:r>
            <a:r>
              <a:rPr kumimoji="1" lang="zh-TW" altLang="en-US" dirty="0"/>
              <a:t> </a:t>
            </a:r>
            <a:r>
              <a:rPr kumimoji="1" lang="en-US" altLang="zh-TW" dirty="0"/>
              <a:t>Ke</a:t>
            </a:r>
            <a:r>
              <a:rPr lang="en-US" altLang="zh-TW" dirty="0"/>
              <a:t>rnel</a:t>
            </a:r>
            <a:r>
              <a:rPr lang="zh-TW" altLang="en-US" dirty="0"/>
              <a:t> </a:t>
            </a:r>
            <a:r>
              <a:rPr lang="en-US" altLang="zh-TW" dirty="0"/>
              <a:t>2.4 (Simple):</a:t>
            </a:r>
            <a:r>
              <a:rPr lang="zh-TW" altLang="en-US" dirty="0"/>
              <a:t> </a:t>
            </a:r>
            <a:endParaRPr lang="en-US" altLang="zh-TW" dirty="0"/>
          </a:p>
          <a:p>
            <a:pPr lvl="1"/>
            <a:r>
              <a:rPr lang="en-US" altLang="zh-TW" dirty="0"/>
              <a:t>All processors </a:t>
            </a:r>
            <a:r>
              <a:rPr lang="en-US" altLang="zh-TW" dirty="0">
                <a:solidFill>
                  <a:srgbClr val="C00000"/>
                </a:solidFill>
              </a:rPr>
              <a:t>share a global </a:t>
            </a:r>
            <a:r>
              <a:rPr lang="en-US" altLang="zh-TW" dirty="0" err="1">
                <a:solidFill>
                  <a:srgbClr val="C00000"/>
                </a:solidFill>
              </a:rPr>
              <a:t>runqueue</a:t>
            </a:r>
            <a:r>
              <a:rPr lang="en-US" altLang="zh-TW" dirty="0"/>
              <a:t>. (Sort processes by their priority)</a:t>
            </a:r>
          </a:p>
          <a:p>
            <a:pPr lvl="1"/>
            <a:r>
              <a:rPr lang="en-US" altLang="zh-TW" dirty="0"/>
              <a:t>Bad: Shall </a:t>
            </a:r>
            <a:r>
              <a:rPr lang="en-US" altLang="zh-TW" dirty="0">
                <a:solidFill>
                  <a:srgbClr val="C00000"/>
                </a:solidFill>
              </a:rPr>
              <a:t>lock the </a:t>
            </a:r>
            <a:r>
              <a:rPr lang="en-US" altLang="zh-TW" dirty="0" err="1">
                <a:solidFill>
                  <a:srgbClr val="C00000"/>
                </a:solidFill>
              </a:rPr>
              <a:t>runqueue</a:t>
            </a:r>
            <a:r>
              <a:rPr lang="en-US" altLang="zh-TW" dirty="0"/>
              <a:t> when a process runs out of its </a:t>
            </a:r>
            <a:r>
              <a:rPr lang="en-US" altLang="zh-TW" dirty="0" err="1"/>
              <a:t>timeslice</a:t>
            </a:r>
            <a:r>
              <a:rPr lang="en-US" altLang="zh-TW" dirty="0"/>
              <a:t>.</a:t>
            </a:r>
          </a:p>
          <a:p>
            <a:pPr lvl="1"/>
            <a:r>
              <a:rPr lang="en-US" altLang="zh-TW" dirty="0"/>
              <a:t>Bad: Processes shall be </a:t>
            </a:r>
            <a:r>
              <a:rPr lang="en-US" altLang="zh-TW" dirty="0">
                <a:solidFill>
                  <a:srgbClr val="C00000"/>
                </a:solidFill>
              </a:rPr>
              <a:t>inserted</a:t>
            </a:r>
            <a:r>
              <a:rPr lang="en-US" altLang="zh-TW" dirty="0"/>
              <a:t> to an expired queue </a:t>
            </a:r>
            <a:r>
              <a:rPr lang="en-US" altLang="zh-TW" dirty="0">
                <a:solidFill>
                  <a:srgbClr val="C00000"/>
                </a:solidFill>
              </a:rPr>
              <a:t>in order</a:t>
            </a:r>
            <a:r>
              <a:rPr lang="en-US" altLang="zh-TW" dirty="0"/>
              <a:t>. (Scale</a:t>
            </a:r>
            <a:r>
              <a:rPr lang="zh-TW" altLang="en-US" dirty="0"/>
              <a:t> </a:t>
            </a:r>
            <a:r>
              <a:rPr lang="en-US" altLang="zh-TW" dirty="0"/>
              <a:t>poorly</a:t>
            </a:r>
            <a:r>
              <a:rPr lang="zh-TW" altLang="en-US" dirty="0"/>
              <a:t> </a:t>
            </a:r>
            <a:r>
              <a:rPr lang="en-US" altLang="zh-TW" dirty="0"/>
              <a:t>when</a:t>
            </a:r>
            <a:r>
              <a:rPr lang="zh-TW" altLang="en-US" dirty="0"/>
              <a:t> </a:t>
            </a:r>
            <a:r>
              <a:rPr lang="en-US" altLang="zh-TW" dirty="0"/>
              <a:t>there</a:t>
            </a:r>
            <a:r>
              <a:rPr lang="zh-TW" altLang="en-US" dirty="0"/>
              <a:t> </a:t>
            </a:r>
            <a:r>
              <a:rPr lang="en-US" altLang="zh-TW" dirty="0"/>
              <a:t>are</a:t>
            </a:r>
            <a:r>
              <a:rPr lang="zh-TW" altLang="en-US" dirty="0"/>
              <a:t> </a:t>
            </a:r>
            <a:r>
              <a:rPr lang="en-US" altLang="zh-TW" dirty="0"/>
              <a:t>tons of</a:t>
            </a:r>
            <a:r>
              <a:rPr lang="zh-TW" altLang="en-US" dirty="0"/>
              <a:t> </a:t>
            </a:r>
            <a:r>
              <a:rPr lang="en-US" altLang="zh-TW" dirty="0"/>
              <a:t>processes)</a:t>
            </a:r>
          </a:p>
          <a:p>
            <a:r>
              <a:rPr kumimoji="1" lang="en-US" altLang="zh-TW" dirty="0"/>
              <a:t>O(1)</a:t>
            </a:r>
            <a:r>
              <a:rPr kumimoji="1" lang="zh-TW" altLang="en-US" dirty="0"/>
              <a:t> </a:t>
            </a:r>
            <a:r>
              <a:rPr kumimoji="1" lang="en-US" altLang="zh-TW" dirty="0"/>
              <a:t>Kernel</a:t>
            </a:r>
            <a:r>
              <a:rPr kumimoji="1" lang="zh-TW" altLang="en-US" dirty="0"/>
              <a:t> </a:t>
            </a:r>
            <a:r>
              <a:rPr kumimoji="1" lang="en-US" altLang="zh-TW" dirty="0"/>
              <a:t>2.5 (Fast):</a:t>
            </a:r>
          </a:p>
          <a:p>
            <a:pPr lvl="1"/>
            <a:r>
              <a:rPr lang="en-US" altLang="zh-TW" dirty="0"/>
              <a:t>Check</a:t>
            </a:r>
            <a:r>
              <a:rPr lang="zh-TW" altLang="en-US" dirty="0"/>
              <a:t> </a:t>
            </a:r>
            <a:r>
              <a:rPr lang="en-US" altLang="zh-TW" dirty="0">
                <a:solidFill>
                  <a:srgbClr val="C00000"/>
                </a:solidFill>
              </a:rPr>
              <a:t>active</a:t>
            </a:r>
            <a:r>
              <a:rPr lang="zh-TW" altLang="en-US" dirty="0">
                <a:solidFill>
                  <a:srgbClr val="C00000"/>
                </a:solidFill>
              </a:rPr>
              <a:t> </a:t>
            </a:r>
            <a:r>
              <a:rPr lang="en-US" altLang="zh-TW" dirty="0">
                <a:solidFill>
                  <a:srgbClr val="C00000"/>
                </a:solidFill>
              </a:rPr>
              <a:t>array</a:t>
            </a:r>
            <a:r>
              <a:rPr lang="zh-TW" altLang="en-US" dirty="0">
                <a:solidFill>
                  <a:srgbClr val="C00000"/>
                </a:solidFill>
              </a:rPr>
              <a:t> </a:t>
            </a:r>
            <a:r>
              <a:rPr lang="en-US" altLang="zh-TW" dirty="0">
                <a:solidFill>
                  <a:srgbClr val="C00000"/>
                </a:solidFill>
              </a:rPr>
              <a:t>(bitmap)</a:t>
            </a:r>
            <a:r>
              <a:rPr lang="zh-TW" altLang="en-US" dirty="0">
                <a:solidFill>
                  <a:srgbClr val="C00000"/>
                </a:solidFill>
              </a:rPr>
              <a:t> </a:t>
            </a:r>
            <a:r>
              <a:rPr lang="en-US" altLang="zh-TW" dirty="0"/>
              <a:t>to</a:t>
            </a:r>
            <a:r>
              <a:rPr lang="zh-TW" altLang="en-US" dirty="0"/>
              <a:t> </a:t>
            </a:r>
            <a:r>
              <a:rPr lang="en-US" altLang="zh-TW" dirty="0"/>
              <a:t>get the target priority</a:t>
            </a:r>
            <a:r>
              <a:rPr lang="zh-TW" altLang="en-US" dirty="0"/>
              <a:t> </a:t>
            </a:r>
            <a:r>
              <a:rPr lang="en-US" altLang="zh-TW" dirty="0"/>
              <a:t>value (leftmost).</a:t>
            </a:r>
          </a:p>
          <a:p>
            <a:pPr lvl="1"/>
            <a:r>
              <a:rPr lang="en-US" altLang="zh-TW" dirty="0"/>
              <a:t>Use</a:t>
            </a:r>
            <a:r>
              <a:rPr lang="zh-TW" altLang="en-US" dirty="0"/>
              <a:t> </a:t>
            </a:r>
            <a:r>
              <a:rPr lang="en-US" altLang="zh-TW" dirty="0"/>
              <a:t>the</a:t>
            </a:r>
            <a:r>
              <a:rPr lang="zh-TW" altLang="en-US" dirty="0"/>
              <a:t> </a:t>
            </a:r>
            <a:r>
              <a:rPr lang="en-US" altLang="zh-TW" dirty="0">
                <a:solidFill>
                  <a:srgbClr val="C00000"/>
                </a:solidFill>
              </a:rPr>
              <a:t>priority</a:t>
            </a:r>
            <a:r>
              <a:rPr lang="zh-TW" altLang="en-US" dirty="0">
                <a:solidFill>
                  <a:srgbClr val="C00000"/>
                </a:solidFill>
              </a:rPr>
              <a:t> </a:t>
            </a:r>
            <a:r>
              <a:rPr lang="en-US" altLang="zh-TW" dirty="0">
                <a:solidFill>
                  <a:srgbClr val="C00000"/>
                </a:solidFill>
              </a:rPr>
              <a:t>value</a:t>
            </a:r>
            <a:r>
              <a:rPr lang="zh-TW" altLang="en-US" dirty="0">
                <a:solidFill>
                  <a:srgbClr val="C00000"/>
                </a:solidFill>
              </a:rPr>
              <a:t> </a:t>
            </a:r>
            <a:r>
              <a:rPr lang="en-US" altLang="zh-TW" dirty="0"/>
              <a:t>to</a:t>
            </a:r>
            <a:r>
              <a:rPr lang="zh-TW" altLang="en-US" dirty="0"/>
              <a:t> </a:t>
            </a:r>
            <a:r>
              <a:rPr lang="en-US" altLang="zh-TW" dirty="0">
                <a:solidFill>
                  <a:srgbClr val="C00000"/>
                </a:solidFill>
              </a:rPr>
              <a:t>get (dequeue)</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next</a:t>
            </a:r>
            <a:r>
              <a:rPr lang="zh-TW" altLang="en-US" dirty="0">
                <a:solidFill>
                  <a:srgbClr val="C00000"/>
                </a:solidFill>
              </a:rPr>
              <a:t> </a:t>
            </a:r>
            <a:r>
              <a:rPr lang="en-US" altLang="zh-TW" dirty="0">
                <a:solidFill>
                  <a:srgbClr val="C00000"/>
                </a:solidFill>
              </a:rPr>
              <a:t>process (FIFO)</a:t>
            </a:r>
            <a:r>
              <a:rPr lang="zh-TW" altLang="en-US" dirty="0">
                <a:solidFill>
                  <a:srgbClr val="C00000"/>
                </a:solidFill>
              </a:rPr>
              <a:t> </a:t>
            </a:r>
            <a:r>
              <a:rPr lang="en-US" altLang="zh-TW" dirty="0"/>
              <a:t>in</a:t>
            </a:r>
            <a:r>
              <a:rPr lang="zh-TW" altLang="en-US" dirty="0"/>
              <a:t> </a:t>
            </a:r>
            <a:r>
              <a:rPr lang="en-US" altLang="zh-TW" dirty="0"/>
              <a:t>the</a:t>
            </a:r>
            <a:r>
              <a:rPr lang="zh-TW" altLang="en-US" dirty="0"/>
              <a:t> </a:t>
            </a:r>
            <a:r>
              <a:rPr lang="en-US" altLang="zh-TW" dirty="0"/>
              <a:t>active</a:t>
            </a:r>
            <a:r>
              <a:rPr lang="zh-TW" altLang="en-US" dirty="0"/>
              <a:t> </a:t>
            </a:r>
            <a:r>
              <a:rPr lang="en-US" altLang="zh-TW" dirty="0"/>
              <a:t>array.</a:t>
            </a:r>
          </a:p>
          <a:p>
            <a:pPr lvl="1"/>
            <a:r>
              <a:rPr lang="en-US" altLang="zh-TW" dirty="0">
                <a:solidFill>
                  <a:srgbClr val="C00000"/>
                </a:solidFill>
              </a:rPr>
              <a:t>Recalculate priority</a:t>
            </a:r>
            <a:r>
              <a:rPr lang="en-US" altLang="zh-TW" dirty="0"/>
              <a:t> and enqueue to the expired </a:t>
            </a:r>
            <a:r>
              <a:rPr lang="en-US" altLang="zh-TW" dirty="0" err="1"/>
              <a:t>bitarray</a:t>
            </a:r>
            <a:r>
              <a:rPr lang="en-US" altLang="zh-TW" dirty="0"/>
              <a:t>.</a:t>
            </a:r>
          </a:p>
          <a:p>
            <a:pPr lvl="1"/>
            <a:r>
              <a:rPr lang="en-US" altLang="zh-TW" dirty="0"/>
              <a:t>When </a:t>
            </a:r>
            <a:r>
              <a:rPr lang="en-US" altLang="zh-TW" dirty="0">
                <a:solidFill>
                  <a:srgbClr val="C00000"/>
                </a:solidFill>
              </a:rPr>
              <a:t>no bit is set</a:t>
            </a:r>
            <a:r>
              <a:rPr lang="en-US" altLang="zh-TW" dirty="0"/>
              <a:t> in active </a:t>
            </a:r>
            <a:r>
              <a:rPr lang="en-US" altLang="zh-TW" dirty="0" err="1"/>
              <a:t>bitarray</a:t>
            </a:r>
            <a:r>
              <a:rPr lang="en-US" altLang="zh-TW" dirty="0"/>
              <a:t>, </a:t>
            </a:r>
            <a:r>
              <a:rPr lang="en-US" altLang="zh-TW" dirty="0">
                <a:solidFill>
                  <a:srgbClr val="C00000"/>
                </a:solidFill>
              </a:rPr>
              <a:t>switch active and expired </a:t>
            </a:r>
            <a:r>
              <a:rPr lang="en-US" altLang="zh-TW" dirty="0" err="1">
                <a:solidFill>
                  <a:srgbClr val="C00000"/>
                </a:solidFill>
              </a:rPr>
              <a:t>bitarrays</a:t>
            </a:r>
            <a:r>
              <a:rPr lang="en-US" altLang="zh-TW" dirty="0"/>
              <a:t>.</a:t>
            </a:r>
          </a:p>
          <a:p>
            <a:pPr lvl="1"/>
            <a:endParaRPr lang="en-US" altLang="zh-TW" dirty="0"/>
          </a:p>
          <a:p>
            <a:pPr marL="457200" lvl="1" indent="0">
              <a:buNone/>
            </a:pPr>
            <a:endParaRPr lang="en-US" altLang="zh-TW" dirty="0"/>
          </a:p>
          <a:p>
            <a:pPr lvl="1"/>
            <a:endParaRPr lang="en-US" altLang="zh-TW" dirty="0"/>
          </a:p>
          <a:p>
            <a:pPr lvl="1"/>
            <a:endParaRPr kumimoji="1" lang="en-US" altLang="zh-TW" dirty="0"/>
          </a:p>
          <a:p>
            <a:pPr lvl="1"/>
            <a:r>
              <a:rPr kumimoji="1" lang="en-US" altLang="zh-TW" dirty="0"/>
              <a:t>Bad:</a:t>
            </a:r>
            <a:r>
              <a:rPr kumimoji="1" lang="zh-TW" altLang="en-US" dirty="0"/>
              <a:t> </a:t>
            </a:r>
            <a:r>
              <a:rPr kumimoji="1" lang="en-US" altLang="zh-TW" dirty="0"/>
              <a:t>Low</a:t>
            </a:r>
            <a:r>
              <a:rPr kumimoji="1" lang="zh-TW" altLang="en-US" dirty="0"/>
              <a:t> </a:t>
            </a:r>
            <a:r>
              <a:rPr kumimoji="1" lang="en-US" altLang="zh-TW" dirty="0"/>
              <a:t>interactive</a:t>
            </a:r>
            <a:r>
              <a:rPr kumimoji="1" lang="zh-TW" altLang="en-US" dirty="0"/>
              <a:t> </a:t>
            </a:r>
            <a:r>
              <a:rPr kumimoji="1" lang="en-US" altLang="zh-TW" dirty="0"/>
              <a:t>performance (Low priority processes)</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sp>
        <p:nvSpPr>
          <p:cNvPr id="5" name="文字方塊 4">
            <a:extLst>
              <a:ext uri="{FF2B5EF4-FFF2-40B4-BE49-F238E27FC236}">
                <a16:creationId xmlns:a16="http://schemas.microsoft.com/office/drawing/2014/main" id="{8193C216-3219-BF9D-C5A1-DAA0AD4FDE33}"/>
              </a:ext>
            </a:extLst>
          </p:cNvPr>
          <p:cNvSpPr txBox="1"/>
          <p:nvPr/>
        </p:nvSpPr>
        <p:spPr>
          <a:xfrm>
            <a:off x="0" y="6598099"/>
            <a:ext cx="477720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err="1">
                <a:solidFill>
                  <a:schemeClr val="bg1">
                    <a:lumMod val="75000"/>
                  </a:schemeClr>
                </a:solidFill>
              </a:rPr>
              <a:t>Jserv’s</a:t>
            </a:r>
            <a:r>
              <a:rPr kumimoji="1" lang="zh-TW" altLang="en-US" sz="1200" dirty="0">
                <a:solidFill>
                  <a:schemeClr val="bg1">
                    <a:lumMod val="75000"/>
                  </a:schemeClr>
                </a:solidFill>
              </a:rPr>
              <a:t> </a:t>
            </a:r>
            <a:r>
              <a:rPr kumimoji="1" lang="en-US" altLang="zh-TW" sz="1200" dirty="0" err="1">
                <a:solidFill>
                  <a:schemeClr val="bg1">
                    <a:lumMod val="75000"/>
                  </a:schemeClr>
                </a:solidFill>
              </a:rPr>
              <a:t>Hackmd</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hackmd.io</a:t>
            </a:r>
            <a:r>
              <a:rPr kumimoji="1" lang="en-US" altLang="zh-TW" sz="1200" dirty="0">
                <a:solidFill>
                  <a:schemeClr val="bg1">
                    <a:lumMod val="75000"/>
                  </a:schemeClr>
                </a:solidFill>
              </a:rPr>
              <a:t>/@</a:t>
            </a:r>
            <a:r>
              <a:rPr kumimoji="1" lang="en-US" altLang="zh-TW" sz="1200" dirty="0" err="1">
                <a:solidFill>
                  <a:schemeClr val="bg1">
                    <a:lumMod val="75000"/>
                  </a:schemeClr>
                </a:solidFill>
              </a:rPr>
              <a:t>sysprog</a:t>
            </a:r>
            <a:r>
              <a:rPr kumimoji="1" lang="en-US" altLang="zh-TW" sz="1200" dirty="0">
                <a:solidFill>
                  <a:schemeClr val="bg1">
                    <a:lumMod val="75000"/>
                  </a:schemeClr>
                </a:solidFill>
              </a:rPr>
              <a:t>/</a:t>
            </a:r>
            <a:r>
              <a:rPr kumimoji="1" lang="en-US" altLang="zh-TW" sz="1200" dirty="0" err="1">
                <a:solidFill>
                  <a:schemeClr val="bg1">
                    <a:lumMod val="75000"/>
                  </a:schemeClr>
                </a:solidFill>
              </a:rPr>
              <a:t>linux</a:t>
            </a:r>
            <a:r>
              <a:rPr kumimoji="1" lang="en-US" altLang="zh-TW" sz="1200" dirty="0">
                <a:solidFill>
                  <a:schemeClr val="bg1">
                    <a:lumMod val="75000"/>
                  </a:schemeClr>
                </a:solidFill>
              </a:rPr>
              <a:t>-scheduler)</a:t>
            </a:r>
            <a:r>
              <a:rPr kumimoji="1" lang="zh-TW" altLang="en-US" sz="1200" dirty="0">
                <a:solidFill>
                  <a:schemeClr val="bg1">
                    <a:lumMod val="75000"/>
                  </a:schemeClr>
                </a:solidFill>
              </a:rPr>
              <a:t> </a:t>
            </a:r>
            <a:r>
              <a:rPr kumimoji="1" lang="en-US" altLang="zh-TW" sz="1200" dirty="0">
                <a:solidFill>
                  <a:schemeClr val="bg1">
                    <a:lumMod val="75000"/>
                  </a:schemeClr>
                </a:solidFill>
              </a:rPr>
              <a:t>, 2022</a:t>
            </a:r>
            <a:endParaRPr kumimoji="1" lang="zh-TW" altLang="en-US" sz="1200" dirty="0">
              <a:solidFill>
                <a:schemeClr val="bg1">
                  <a:lumMod val="75000"/>
                </a:schemeClr>
              </a:solidFill>
            </a:endParaRPr>
          </a:p>
        </p:txBody>
      </p:sp>
      <p:sp>
        <p:nvSpPr>
          <p:cNvPr id="6" name="矩形 5">
            <a:extLst>
              <a:ext uri="{FF2B5EF4-FFF2-40B4-BE49-F238E27FC236}">
                <a16:creationId xmlns:a16="http://schemas.microsoft.com/office/drawing/2014/main" id="{25426596-DDB9-2AFA-AC43-8B402D575501}"/>
              </a:ext>
            </a:extLst>
          </p:cNvPr>
          <p:cNvSpPr/>
          <p:nvPr/>
        </p:nvSpPr>
        <p:spPr>
          <a:xfrm>
            <a:off x="3598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8E246F66-BF48-5858-85A2-FEFE5A30E673}"/>
              </a:ext>
            </a:extLst>
          </p:cNvPr>
          <p:cNvSpPr/>
          <p:nvPr/>
        </p:nvSpPr>
        <p:spPr>
          <a:xfrm>
            <a:off x="7002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矩形 8">
            <a:extLst>
              <a:ext uri="{FF2B5EF4-FFF2-40B4-BE49-F238E27FC236}">
                <a16:creationId xmlns:a16="http://schemas.microsoft.com/office/drawing/2014/main" id="{CC4DEE53-FC83-4CBC-BD20-7D07216865DA}"/>
              </a:ext>
            </a:extLst>
          </p:cNvPr>
          <p:cNvSpPr/>
          <p:nvPr/>
        </p:nvSpPr>
        <p:spPr>
          <a:xfrm>
            <a:off x="8678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CD7B3DC8-3DF4-57E5-0F49-9D7F7F2877FF}"/>
              </a:ext>
            </a:extLst>
          </p:cNvPr>
          <p:cNvSpPr/>
          <p:nvPr/>
        </p:nvSpPr>
        <p:spPr>
          <a:xfrm>
            <a:off x="10405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5147B6C8-FAD5-B566-7974-7263A9C74990}"/>
              </a:ext>
            </a:extLst>
          </p:cNvPr>
          <p:cNvSpPr/>
          <p:nvPr/>
        </p:nvSpPr>
        <p:spPr>
          <a:xfrm>
            <a:off x="12082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AB4E610A-B430-666A-8685-A81BEDCC527E}"/>
              </a:ext>
            </a:extLst>
          </p:cNvPr>
          <p:cNvSpPr/>
          <p:nvPr/>
        </p:nvSpPr>
        <p:spPr>
          <a:xfrm>
            <a:off x="15485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矩形 13">
            <a:extLst>
              <a:ext uri="{FF2B5EF4-FFF2-40B4-BE49-F238E27FC236}">
                <a16:creationId xmlns:a16="http://schemas.microsoft.com/office/drawing/2014/main" id="{4EC24CAC-1051-3CBA-E7CD-6188C5163FE6}"/>
              </a:ext>
            </a:extLst>
          </p:cNvPr>
          <p:cNvSpPr/>
          <p:nvPr/>
        </p:nvSpPr>
        <p:spPr>
          <a:xfrm>
            <a:off x="17212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D7D40323-B41A-E72B-BDC0-0603D207824B}"/>
              </a:ext>
            </a:extLst>
          </p:cNvPr>
          <p:cNvSpPr/>
          <p:nvPr/>
        </p:nvSpPr>
        <p:spPr>
          <a:xfrm>
            <a:off x="18889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C0F45FDA-D357-E89E-D10A-01262454EDFA}"/>
              </a:ext>
            </a:extLst>
          </p:cNvPr>
          <p:cNvSpPr/>
          <p:nvPr/>
        </p:nvSpPr>
        <p:spPr>
          <a:xfrm>
            <a:off x="20616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620240D6-9B6D-D28D-1B3E-23B2885CBB15}"/>
              </a:ext>
            </a:extLst>
          </p:cNvPr>
          <p:cNvSpPr/>
          <p:nvPr/>
        </p:nvSpPr>
        <p:spPr>
          <a:xfrm>
            <a:off x="22292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AEA1D1BA-E546-BD10-A2C0-2905B6F08300}"/>
              </a:ext>
            </a:extLst>
          </p:cNvPr>
          <p:cNvSpPr/>
          <p:nvPr/>
        </p:nvSpPr>
        <p:spPr>
          <a:xfrm>
            <a:off x="24020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0C9E2B4A-17F2-1B6C-83E4-9AB074F6CBD1}"/>
              </a:ext>
            </a:extLst>
          </p:cNvPr>
          <p:cNvSpPr/>
          <p:nvPr/>
        </p:nvSpPr>
        <p:spPr>
          <a:xfrm>
            <a:off x="25696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A2DCF861-F6D9-05F5-2516-B84EADBF0C18}"/>
              </a:ext>
            </a:extLst>
          </p:cNvPr>
          <p:cNvSpPr/>
          <p:nvPr/>
        </p:nvSpPr>
        <p:spPr>
          <a:xfrm>
            <a:off x="29100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6F5689F1-E1C1-761C-23E6-8B806593ABEF}"/>
              </a:ext>
            </a:extLst>
          </p:cNvPr>
          <p:cNvSpPr/>
          <p:nvPr/>
        </p:nvSpPr>
        <p:spPr>
          <a:xfrm>
            <a:off x="30827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707A2E8B-8B5A-3E54-9AD5-95C2F236E48A}"/>
              </a:ext>
            </a:extLst>
          </p:cNvPr>
          <p:cNvSpPr/>
          <p:nvPr/>
        </p:nvSpPr>
        <p:spPr>
          <a:xfrm>
            <a:off x="32503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2CBB166C-FE5C-059F-1E2C-3F46A599345D}"/>
              </a:ext>
            </a:extLst>
          </p:cNvPr>
          <p:cNvSpPr/>
          <p:nvPr/>
        </p:nvSpPr>
        <p:spPr>
          <a:xfrm>
            <a:off x="34230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113D5EA9-9749-7EDF-0804-925DEE771D9A}"/>
              </a:ext>
            </a:extLst>
          </p:cNvPr>
          <p:cNvSpPr/>
          <p:nvPr/>
        </p:nvSpPr>
        <p:spPr>
          <a:xfrm>
            <a:off x="35907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877D539A-8EF6-DE48-B9BF-7B7F1C4E1D9C}"/>
              </a:ext>
            </a:extLst>
          </p:cNvPr>
          <p:cNvSpPr/>
          <p:nvPr/>
        </p:nvSpPr>
        <p:spPr>
          <a:xfrm>
            <a:off x="37634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8E19E5BE-00B8-2BC8-1284-4BB514CF7169}"/>
              </a:ext>
            </a:extLst>
          </p:cNvPr>
          <p:cNvSpPr/>
          <p:nvPr/>
        </p:nvSpPr>
        <p:spPr>
          <a:xfrm>
            <a:off x="39310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 name="矩形 27">
            <a:extLst>
              <a:ext uri="{FF2B5EF4-FFF2-40B4-BE49-F238E27FC236}">
                <a16:creationId xmlns:a16="http://schemas.microsoft.com/office/drawing/2014/main" id="{05789E98-8531-BA38-41EE-E3906AE1C100}"/>
              </a:ext>
            </a:extLst>
          </p:cNvPr>
          <p:cNvSpPr/>
          <p:nvPr/>
        </p:nvSpPr>
        <p:spPr>
          <a:xfrm>
            <a:off x="41038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矩形 28">
            <a:extLst>
              <a:ext uri="{FF2B5EF4-FFF2-40B4-BE49-F238E27FC236}">
                <a16:creationId xmlns:a16="http://schemas.microsoft.com/office/drawing/2014/main" id="{109876FA-A270-60C1-D71C-894DBCD9CAEB}"/>
              </a:ext>
            </a:extLst>
          </p:cNvPr>
          <p:cNvSpPr/>
          <p:nvPr/>
        </p:nvSpPr>
        <p:spPr>
          <a:xfrm>
            <a:off x="42714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 name="矩形 29">
            <a:extLst>
              <a:ext uri="{FF2B5EF4-FFF2-40B4-BE49-F238E27FC236}">
                <a16:creationId xmlns:a16="http://schemas.microsoft.com/office/drawing/2014/main" id="{FEDF031C-D9BD-0F92-62BF-9213C1BA0AED}"/>
              </a:ext>
            </a:extLst>
          </p:cNvPr>
          <p:cNvSpPr/>
          <p:nvPr/>
        </p:nvSpPr>
        <p:spPr>
          <a:xfrm>
            <a:off x="44441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矩形 30">
            <a:extLst>
              <a:ext uri="{FF2B5EF4-FFF2-40B4-BE49-F238E27FC236}">
                <a16:creationId xmlns:a16="http://schemas.microsoft.com/office/drawing/2014/main" id="{22830AD8-0B9E-D0A9-D3E7-FABEC03CA486}"/>
              </a:ext>
            </a:extLst>
          </p:cNvPr>
          <p:cNvSpPr/>
          <p:nvPr/>
        </p:nvSpPr>
        <p:spPr>
          <a:xfrm>
            <a:off x="46118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矩形 31">
            <a:extLst>
              <a:ext uri="{FF2B5EF4-FFF2-40B4-BE49-F238E27FC236}">
                <a16:creationId xmlns:a16="http://schemas.microsoft.com/office/drawing/2014/main" id="{C6D7CC92-BB8C-8B5C-E41E-0A1097542558}"/>
              </a:ext>
            </a:extLst>
          </p:cNvPr>
          <p:cNvSpPr/>
          <p:nvPr/>
        </p:nvSpPr>
        <p:spPr>
          <a:xfrm>
            <a:off x="47845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 name="矩形 32">
            <a:extLst>
              <a:ext uri="{FF2B5EF4-FFF2-40B4-BE49-F238E27FC236}">
                <a16:creationId xmlns:a16="http://schemas.microsoft.com/office/drawing/2014/main" id="{F4D817F6-BCEA-4E9F-A969-F69E52044FFE}"/>
              </a:ext>
            </a:extLst>
          </p:cNvPr>
          <p:cNvSpPr/>
          <p:nvPr/>
        </p:nvSpPr>
        <p:spPr>
          <a:xfrm>
            <a:off x="49521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矩形 33">
            <a:extLst>
              <a:ext uri="{FF2B5EF4-FFF2-40B4-BE49-F238E27FC236}">
                <a16:creationId xmlns:a16="http://schemas.microsoft.com/office/drawing/2014/main" id="{59B37D7D-179F-F444-8CE4-CDE8BD496E2F}"/>
              </a:ext>
            </a:extLst>
          </p:cNvPr>
          <p:cNvSpPr/>
          <p:nvPr/>
        </p:nvSpPr>
        <p:spPr>
          <a:xfrm>
            <a:off x="51248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 name="矩形 35">
            <a:extLst>
              <a:ext uri="{FF2B5EF4-FFF2-40B4-BE49-F238E27FC236}">
                <a16:creationId xmlns:a16="http://schemas.microsoft.com/office/drawing/2014/main" id="{DAC1579E-BC60-F201-77C0-8F6FA3FB5A71}"/>
              </a:ext>
            </a:extLst>
          </p:cNvPr>
          <p:cNvSpPr/>
          <p:nvPr/>
        </p:nvSpPr>
        <p:spPr>
          <a:xfrm>
            <a:off x="54652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 name="矩形 36">
            <a:extLst>
              <a:ext uri="{FF2B5EF4-FFF2-40B4-BE49-F238E27FC236}">
                <a16:creationId xmlns:a16="http://schemas.microsoft.com/office/drawing/2014/main" id="{6CF5E80D-1386-0FF9-7C62-DACCEB24F10D}"/>
              </a:ext>
            </a:extLst>
          </p:cNvPr>
          <p:cNvSpPr/>
          <p:nvPr/>
        </p:nvSpPr>
        <p:spPr>
          <a:xfrm>
            <a:off x="56328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 name="矩形 37">
            <a:extLst>
              <a:ext uri="{FF2B5EF4-FFF2-40B4-BE49-F238E27FC236}">
                <a16:creationId xmlns:a16="http://schemas.microsoft.com/office/drawing/2014/main" id="{B2783E38-162B-09BD-4E87-802E818E3F65}"/>
              </a:ext>
            </a:extLst>
          </p:cNvPr>
          <p:cNvSpPr/>
          <p:nvPr/>
        </p:nvSpPr>
        <p:spPr>
          <a:xfrm>
            <a:off x="3598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矩形 38">
            <a:extLst>
              <a:ext uri="{FF2B5EF4-FFF2-40B4-BE49-F238E27FC236}">
                <a16:creationId xmlns:a16="http://schemas.microsoft.com/office/drawing/2014/main" id="{582C9C52-C702-9E44-F02A-AE3AE0537FF4}"/>
              </a:ext>
            </a:extLst>
          </p:cNvPr>
          <p:cNvSpPr/>
          <p:nvPr/>
        </p:nvSpPr>
        <p:spPr>
          <a:xfrm>
            <a:off x="5274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 name="矩形 39">
            <a:extLst>
              <a:ext uri="{FF2B5EF4-FFF2-40B4-BE49-F238E27FC236}">
                <a16:creationId xmlns:a16="http://schemas.microsoft.com/office/drawing/2014/main" id="{86DBD00F-5613-EC3E-1254-38A6673FD6D3}"/>
              </a:ext>
            </a:extLst>
          </p:cNvPr>
          <p:cNvSpPr/>
          <p:nvPr/>
        </p:nvSpPr>
        <p:spPr>
          <a:xfrm>
            <a:off x="7002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 name="矩形 40">
            <a:extLst>
              <a:ext uri="{FF2B5EF4-FFF2-40B4-BE49-F238E27FC236}">
                <a16:creationId xmlns:a16="http://schemas.microsoft.com/office/drawing/2014/main" id="{7157573A-463E-84F0-6B2A-F0A5AC315D4E}"/>
              </a:ext>
            </a:extLst>
          </p:cNvPr>
          <p:cNvSpPr/>
          <p:nvPr/>
        </p:nvSpPr>
        <p:spPr>
          <a:xfrm>
            <a:off x="8678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矩形 41">
            <a:extLst>
              <a:ext uri="{FF2B5EF4-FFF2-40B4-BE49-F238E27FC236}">
                <a16:creationId xmlns:a16="http://schemas.microsoft.com/office/drawing/2014/main" id="{A37952FB-EF43-9A80-FBB2-8F9CA1E4D680}"/>
              </a:ext>
            </a:extLst>
          </p:cNvPr>
          <p:cNvSpPr/>
          <p:nvPr/>
        </p:nvSpPr>
        <p:spPr>
          <a:xfrm>
            <a:off x="10405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 name="矩形 42">
            <a:extLst>
              <a:ext uri="{FF2B5EF4-FFF2-40B4-BE49-F238E27FC236}">
                <a16:creationId xmlns:a16="http://schemas.microsoft.com/office/drawing/2014/main" id="{DF89DEDF-5DB2-D0B5-6507-5EF97E415728}"/>
              </a:ext>
            </a:extLst>
          </p:cNvPr>
          <p:cNvSpPr/>
          <p:nvPr/>
        </p:nvSpPr>
        <p:spPr>
          <a:xfrm>
            <a:off x="12082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矩形 43">
            <a:extLst>
              <a:ext uri="{FF2B5EF4-FFF2-40B4-BE49-F238E27FC236}">
                <a16:creationId xmlns:a16="http://schemas.microsoft.com/office/drawing/2014/main" id="{E60307B6-8FFB-AFA0-D1EE-0952F97B4794}"/>
              </a:ext>
            </a:extLst>
          </p:cNvPr>
          <p:cNvSpPr/>
          <p:nvPr/>
        </p:nvSpPr>
        <p:spPr>
          <a:xfrm>
            <a:off x="13809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矩形 44">
            <a:extLst>
              <a:ext uri="{FF2B5EF4-FFF2-40B4-BE49-F238E27FC236}">
                <a16:creationId xmlns:a16="http://schemas.microsoft.com/office/drawing/2014/main" id="{905BD76A-E633-5551-1028-320FB683BD19}"/>
              </a:ext>
            </a:extLst>
          </p:cNvPr>
          <p:cNvSpPr/>
          <p:nvPr/>
        </p:nvSpPr>
        <p:spPr>
          <a:xfrm>
            <a:off x="15485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 name="矩形 45">
            <a:extLst>
              <a:ext uri="{FF2B5EF4-FFF2-40B4-BE49-F238E27FC236}">
                <a16:creationId xmlns:a16="http://schemas.microsoft.com/office/drawing/2014/main" id="{CBB9C4C8-FFB2-E9A5-9EA2-D5B076BB60F5}"/>
              </a:ext>
            </a:extLst>
          </p:cNvPr>
          <p:cNvSpPr/>
          <p:nvPr/>
        </p:nvSpPr>
        <p:spPr>
          <a:xfrm>
            <a:off x="17212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 name="矩形 47">
            <a:extLst>
              <a:ext uri="{FF2B5EF4-FFF2-40B4-BE49-F238E27FC236}">
                <a16:creationId xmlns:a16="http://schemas.microsoft.com/office/drawing/2014/main" id="{E21243D5-23E8-EB3E-FA32-D3C14F3C4F64}"/>
              </a:ext>
            </a:extLst>
          </p:cNvPr>
          <p:cNvSpPr/>
          <p:nvPr/>
        </p:nvSpPr>
        <p:spPr>
          <a:xfrm>
            <a:off x="20616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 name="矩形 48">
            <a:extLst>
              <a:ext uri="{FF2B5EF4-FFF2-40B4-BE49-F238E27FC236}">
                <a16:creationId xmlns:a16="http://schemas.microsoft.com/office/drawing/2014/main" id="{2D885B35-D453-997D-5AAC-FEA632873F28}"/>
              </a:ext>
            </a:extLst>
          </p:cNvPr>
          <p:cNvSpPr/>
          <p:nvPr/>
        </p:nvSpPr>
        <p:spPr>
          <a:xfrm>
            <a:off x="22292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矩形 49">
            <a:extLst>
              <a:ext uri="{FF2B5EF4-FFF2-40B4-BE49-F238E27FC236}">
                <a16:creationId xmlns:a16="http://schemas.microsoft.com/office/drawing/2014/main" id="{B8EB2646-BD9E-0B26-2E5A-4C154C298C49}"/>
              </a:ext>
            </a:extLst>
          </p:cNvPr>
          <p:cNvSpPr/>
          <p:nvPr/>
        </p:nvSpPr>
        <p:spPr>
          <a:xfrm>
            <a:off x="24020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矩形 50">
            <a:extLst>
              <a:ext uri="{FF2B5EF4-FFF2-40B4-BE49-F238E27FC236}">
                <a16:creationId xmlns:a16="http://schemas.microsoft.com/office/drawing/2014/main" id="{CC277763-5BBE-C833-9FF2-3470BEF8941B}"/>
              </a:ext>
            </a:extLst>
          </p:cNvPr>
          <p:cNvSpPr/>
          <p:nvPr/>
        </p:nvSpPr>
        <p:spPr>
          <a:xfrm>
            <a:off x="25696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 name="矩形 51">
            <a:extLst>
              <a:ext uri="{FF2B5EF4-FFF2-40B4-BE49-F238E27FC236}">
                <a16:creationId xmlns:a16="http://schemas.microsoft.com/office/drawing/2014/main" id="{52593992-26D8-0246-588A-90B236344F9E}"/>
              </a:ext>
            </a:extLst>
          </p:cNvPr>
          <p:cNvSpPr/>
          <p:nvPr/>
        </p:nvSpPr>
        <p:spPr>
          <a:xfrm>
            <a:off x="27423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 name="矩形 52">
            <a:extLst>
              <a:ext uri="{FF2B5EF4-FFF2-40B4-BE49-F238E27FC236}">
                <a16:creationId xmlns:a16="http://schemas.microsoft.com/office/drawing/2014/main" id="{2B0C16E2-6C3F-D07A-C384-F161EC6A4D67}"/>
              </a:ext>
            </a:extLst>
          </p:cNvPr>
          <p:cNvSpPr/>
          <p:nvPr/>
        </p:nvSpPr>
        <p:spPr>
          <a:xfrm>
            <a:off x="29100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4" name="矩形 53">
            <a:extLst>
              <a:ext uri="{FF2B5EF4-FFF2-40B4-BE49-F238E27FC236}">
                <a16:creationId xmlns:a16="http://schemas.microsoft.com/office/drawing/2014/main" id="{EFC616A2-5330-BD1C-1546-81A164F65105}"/>
              </a:ext>
            </a:extLst>
          </p:cNvPr>
          <p:cNvSpPr/>
          <p:nvPr/>
        </p:nvSpPr>
        <p:spPr>
          <a:xfrm>
            <a:off x="30827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矩形 54">
            <a:extLst>
              <a:ext uri="{FF2B5EF4-FFF2-40B4-BE49-F238E27FC236}">
                <a16:creationId xmlns:a16="http://schemas.microsoft.com/office/drawing/2014/main" id="{E2DA0F21-059D-6A69-9B78-1E2215CB0916}"/>
              </a:ext>
            </a:extLst>
          </p:cNvPr>
          <p:cNvSpPr/>
          <p:nvPr/>
        </p:nvSpPr>
        <p:spPr>
          <a:xfrm>
            <a:off x="32503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 name="矩形 55">
            <a:extLst>
              <a:ext uri="{FF2B5EF4-FFF2-40B4-BE49-F238E27FC236}">
                <a16:creationId xmlns:a16="http://schemas.microsoft.com/office/drawing/2014/main" id="{396D873E-6646-0F37-6E7A-5AE79B7C0D90}"/>
              </a:ext>
            </a:extLst>
          </p:cNvPr>
          <p:cNvSpPr/>
          <p:nvPr/>
        </p:nvSpPr>
        <p:spPr>
          <a:xfrm>
            <a:off x="34230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7" name="矩形 56">
            <a:extLst>
              <a:ext uri="{FF2B5EF4-FFF2-40B4-BE49-F238E27FC236}">
                <a16:creationId xmlns:a16="http://schemas.microsoft.com/office/drawing/2014/main" id="{FBDF44C5-EB5B-3170-EBE5-31500BE1BD41}"/>
              </a:ext>
            </a:extLst>
          </p:cNvPr>
          <p:cNvSpPr/>
          <p:nvPr/>
        </p:nvSpPr>
        <p:spPr>
          <a:xfrm>
            <a:off x="35907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8" name="矩形 57">
            <a:extLst>
              <a:ext uri="{FF2B5EF4-FFF2-40B4-BE49-F238E27FC236}">
                <a16:creationId xmlns:a16="http://schemas.microsoft.com/office/drawing/2014/main" id="{D9370E5B-0C0C-9E2A-2DE8-36D1588F83A2}"/>
              </a:ext>
            </a:extLst>
          </p:cNvPr>
          <p:cNvSpPr/>
          <p:nvPr/>
        </p:nvSpPr>
        <p:spPr>
          <a:xfrm>
            <a:off x="37634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0" name="矩形 59">
            <a:extLst>
              <a:ext uri="{FF2B5EF4-FFF2-40B4-BE49-F238E27FC236}">
                <a16:creationId xmlns:a16="http://schemas.microsoft.com/office/drawing/2014/main" id="{CC6CE2BF-37C5-E1E8-6995-5788C1BBA769}"/>
              </a:ext>
            </a:extLst>
          </p:cNvPr>
          <p:cNvSpPr/>
          <p:nvPr/>
        </p:nvSpPr>
        <p:spPr>
          <a:xfrm>
            <a:off x="41038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1" name="矩形 60">
            <a:extLst>
              <a:ext uri="{FF2B5EF4-FFF2-40B4-BE49-F238E27FC236}">
                <a16:creationId xmlns:a16="http://schemas.microsoft.com/office/drawing/2014/main" id="{1463A44A-B579-06F3-9998-7E7DF6CB1DD6}"/>
              </a:ext>
            </a:extLst>
          </p:cNvPr>
          <p:cNvSpPr/>
          <p:nvPr/>
        </p:nvSpPr>
        <p:spPr>
          <a:xfrm>
            <a:off x="42714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2" name="矩形 61">
            <a:extLst>
              <a:ext uri="{FF2B5EF4-FFF2-40B4-BE49-F238E27FC236}">
                <a16:creationId xmlns:a16="http://schemas.microsoft.com/office/drawing/2014/main" id="{7E7540BE-86A7-F729-7E71-5F464471BA6F}"/>
              </a:ext>
            </a:extLst>
          </p:cNvPr>
          <p:cNvSpPr/>
          <p:nvPr/>
        </p:nvSpPr>
        <p:spPr>
          <a:xfrm>
            <a:off x="44441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矩形 62">
            <a:extLst>
              <a:ext uri="{FF2B5EF4-FFF2-40B4-BE49-F238E27FC236}">
                <a16:creationId xmlns:a16="http://schemas.microsoft.com/office/drawing/2014/main" id="{7814E747-00D6-736C-A6AC-AAC7757FF4A0}"/>
              </a:ext>
            </a:extLst>
          </p:cNvPr>
          <p:cNvSpPr/>
          <p:nvPr/>
        </p:nvSpPr>
        <p:spPr>
          <a:xfrm>
            <a:off x="46118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4" name="矩形 63">
            <a:extLst>
              <a:ext uri="{FF2B5EF4-FFF2-40B4-BE49-F238E27FC236}">
                <a16:creationId xmlns:a16="http://schemas.microsoft.com/office/drawing/2014/main" id="{6E8465CD-CC8F-3B47-DB59-33FD287CEF03}"/>
              </a:ext>
            </a:extLst>
          </p:cNvPr>
          <p:cNvSpPr/>
          <p:nvPr/>
        </p:nvSpPr>
        <p:spPr>
          <a:xfrm>
            <a:off x="47845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5" name="矩形 64">
            <a:extLst>
              <a:ext uri="{FF2B5EF4-FFF2-40B4-BE49-F238E27FC236}">
                <a16:creationId xmlns:a16="http://schemas.microsoft.com/office/drawing/2014/main" id="{988C4D9C-A3F4-B2EC-166E-A086C76BCCD7}"/>
              </a:ext>
            </a:extLst>
          </p:cNvPr>
          <p:cNvSpPr/>
          <p:nvPr/>
        </p:nvSpPr>
        <p:spPr>
          <a:xfrm>
            <a:off x="49521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6" name="矩形 65">
            <a:extLst>
              <a:ext uri="{FF2B5EF4-FFF2-40B4-BE49-F238E27FC236}">
                <a16:creationId xmlns:a16="http://schemas.microsoft.com/office/drawing/2014/main" id="{4BEBCECE-48BB-0D50-3675-C9FB32DAEF58}"/>
              </a:ext>
            </a:extLst>
          </p:cNvPr>
          <p:cNvSpPr/>
          <p:nvPr/>
        </p:nvSpPr>
        <p:spPr>
          <a:xfrm>
            <a:off x="51248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7" name="矩形 66">
            <a:extLst>
              <a:ext uri="{FF2B5EF4-FFF2-40B4-BE49-F238E27FC236}">
                <a16:creationId xmlns:a16="http://schemas.microsoft.com/office/drawing/2014/main" id="{B86CD820-1FDB-48A8-013E-B0A213C4B606}"/>
              </a:ext>
            </a:extLst>
          </p:cNvPr>
          <p:cNvSpPr/>
          <p:nvPr/>
        </p:nvSpPr>
        <p:spPr>
          <a:xfrm>
            <a:off x="52925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8" name="矩形 67">
            <a:extLst>
              <a:ext uri="{FF2B5EF4-FFF2-40B4-BE49-F238E27FC236}">
                <a16:creationId xmlns:a16="http://schemas.microsoft.com/office/drawing/2014/main" id="{C71CBD1A-EB07-82AB-56BA-0CE207E20A3D}"/>
              </a:ext>
            </a:extLst>
          </p:cNvPr>
          <p:cNvSpPr/>
          <p:nvPr/>
        </p:nvSpPr>
        <p:spPr>
          <a:xfrm>
            <a:off x="54652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9" name="矩形 68">
            <a:extLst>
              <a:ext uri="{FF2B5EF4-FFF2-40B4-BE49-F238E27FC236}">
                <a16:creationId xmlns:a16="http://schemas.microsoft.com/office/drawing/2014/main" id="{0F6E3DC4-7C23-86BA-6DC3-E5AF29B5DF2E}"/>
              </a:ext>
            </a:extLst>
          </p:cNvPr>
          <p:cNvSpPr/>
          <p:nvPr/>
        </p:nvSpPr>
        <p:spPr>
          <a:xfrm>
            <a:off x="56328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0" name="矩形 69">
            <a:extLst>
              <a:ext uri="{FF2B5EF4-FFF2-40B4-BE49-F238E27FC236}">
                <a16:creationId xmlns:a16="http://schemas.microsoft.com/office/drawing/2014/main" id="{B8D099FD-2063-A0D1-DF28-DC955412A5F7}"/>
              </a:ext>
            </a:extLst>
          </p:cNvPr>
          <p:cNvSpPr/>
          <p:nvPr/>
        </p:nvSpPr>
        <p:spPr>
          <a:xfrm>
            <a:off x="3598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1" name="矩形 70">
            <a:extLst>
              <a:ext uri="{FF2B5EF4-FFF2-40B4-BE49-F238E27FC236}">
                <a16:creationId xmlns:a16="http://schemas.microsoft.com/office/drawing/2014/main" id="{A24DEB99-21A5-9019-6FD2-4A23C74D458E}"/>
              </a:ext>
            </a:extLst>
          </p:cNvPr>
          <p:cNvSpPr/>
          <p:nvPr/>
        </p:nvSpPr>
        <p:spPr>
          <a:xfrm>
            <a:off x="5274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2" name="矩形 71">
            <a:extLst>
              <a:ext uri="{FF2B5EF4-FFF2-40B4-BE49-F238E27FC236}">
                <a16:creationId xmlns:a16="http://schemas.microsoft.com/office/drawing/2014/main" id="{D175E11E-4855-FDAF-1994-0CE406AC3A1F}"/>
              </a:ext>
            </a:extLst>
          </p:cNvPr>
          <p:cNvSpPr/>
          <p:nvPr/>
        </p:nvSpPr>
        <p:spPr>
          <a:xfrm>
            <a:off x="7002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3" name="矩形 72">
            <a:extLst>
              <a:ext uri="{FF2B5EF4-FFF2-40B4-BE49-F238E27FC236}">
                <a16:creationId xmlns:a16="http://schemas.microsoft.com/office/drawing/2014/main" id="{FFE9540D-21BD-5ED6-0211-C3F5711B2E58}"/>
              </a:ext>
            </a:extLst>
          </p:cNvPr>
          <p:cNvSpPr/>
          <p:nvPr/>
        </p:nvSpPr>
        <p:spPr>
          <a:xfrm>
            <a:off x="8678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5" name="矩形 74">
            <a:extLst>
              <a:ext uri="{FF2B5EF4-FFF2-40B4-BE49-F238E27FC236}">
                <a16:creationId xmlns:a16="http://schemas.microsoft.com/office/drawing/2014/main" id="{61486B14-865B-DD12-60E3-E099C7B59D63}"/>
              </a:ext>
            </a:extLst>
          </p:cNvPr>
          <p:cNvSpPr/>
          <p:nvPr/>
        </p:nvSpPr>
        <p:spPr>
          <a:xfrm>
            <a:off x="12082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6" name="矩形 75">
            <a:extLst>
              <a:ext uri="{FF2B5EF4-FFF2-40B4-BE49-F238E27FC236}">
                <a16:creationId xmlns:a16="http://schemas.microsoft.com/office/drawing/2014/main" id="{4989D250-F656-CF55-15BC-420CCBF56D84}"/>
              </a:ext>
            </a:extLst>
          </p:cNvPr>
          <p:cNvSpPr/>
          <p:nvPr/>
        </p:nvSpPr>
        <p:spPr>
          <a:xfrm>
            <a:off x="13809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7" name="矩形 76">
            <a:extLst>
              <a:ext uri="{FF2B5EF4-FFF2-40B4-BE49-F238E27FC236}">
                <a16:creationId xmlns:a16="http://schemas.microsoft.com/office/drawing/2014/main" id="{1A882D99-0E12-0B36-CB8D-6277F9CFCE42}"/>
              </a:ext>
            </a:extLst>
          </p:cNvPr>
          <p:cNvSpPr/>
          <p:nvPr/>
        </p:nvSpPr>
        <p:spPr>
          <a:xfrm>
            <a:off x="15485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矩形 77">
            <a:extLst>
              <a:ext uri="{FF2B5EF4-FFF2-40B4-BE49-F238E27FC236}">
                <a16:creationId xmlns:a16="http://schemas.microsoft.com/office/drawing/2014/main" id="{DDA36978-5CC4-77C9-9581-01D78CFCB761}"/>
              </a:ext>
            </a:extLst>
          </p:cNvPr>
          <p:cNvSpPr/>
          <p:nvPr/>
        </p:nvSpPr>
        <p:spPr>
          <a:xfrm>
            <a:off x="17212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9" name="矩形 78">
            <a:extLst>
              <a:ext uri="{FF2B5EF4-FFF2-40B4-BE49-F238E27FC236}">
                <a16:creationId xmlns:a16="http://schemas.microsoft.com/office/drawing/2014/main" id="{52348E21-5294-DA98-387F-E13874167CE1}"/>
              </a:ext>
            </a:extLst>
          </p:cNvPr>
          <p:cNvSpPr/>
          <p:nvPr/>
        </p:nvSpPr>
        <p:spPr>
          <a:xfrm>
            <a:off x="18889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0" name="矩形 79">
            <a:extLst>
              <a:ext uri="{FF2B5EF4-FFF2-40B4-BE49-F238E27FC236}">
                <a16:creationId xmlns:a16="http://schemas.microsoft.com/office/drawing/2014/main" id="{199D1A8C-E48B-380A-61E1-B6E2CD158CA8}"/>
              </a:ext>
            </a:extLst>
          </p:cNvPr>
          <p:cNvSpPr/>
          <p:nvPr/>
        </p:nvSpPr>
        <p:spPr>
          <a:xfrm>
            <a:off x="20616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1" name="矩形 80">
            <a:extLst>
              <a:ext uri="{FF2B5EF4-FFF2-40B4-BE49-F238E27FC236}">
                <a16:creationId xmlns:a16="http://schemas.microsoft.com/office/drawing/2014/main" id="{B6B301D7-BDDF-3A81-D6BC-483522F6C4BB}"/>
              </a:ext>
            </a:extLst>
          </p:cNvPr>
          <p:cNvSpPr/>
          <p:nvPr/>
        </p:nvSpPr>
        <p:spPr>
          <a:xfrm>
            <a:off x="22292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2" name="矩形 81">
            <a:extLst>
              <a:ext uri="{FF2B5EF4-FFF2-40B4-BE49-F238E27FC236}">
                <a16:creationId xmlns:a16="http://schemas.microsoft.com/office/drawing/2014/main" id="{CA9A96A0-680E-DF25-D9CF-763CB58ED938}"/>
              </a:ext>
            </a:extLst>
          </p:cNvPr>
          <p:cNvSpPr/>
          <p:nvPr/>
        </p:nvSpPr>
        <p:spPr>
          <a:xfrm>
            <a:off x="24020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矩形 82">
            <a:extLst>
              <a:ext uri="{FF2B5EF4-FFF2-40B4-BE49-F238E27FC236}">
                <a16:creationId xmlns:a16="http://schemas.microsoft.com/office/drawing/2014/main" id="{E8F663F7-11DE-BCDA-28CB-09EBF50BE2F4}"/>
              </a:ext>
            </a:extLst>
          </p:cNvPr>
          <p:cNvSpPr/>
          <p:nvPr/>
        </p:nvSpPr>
        <p:spPr>
          <a:xfrm>
            <a:off x="25696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5" name="矩形 84">
            <a:extLst>
              <a:ext uri="{FF2B5EF4-FFF2-40B4-BE49-F238E27FC236}">
                <a16:creationId xmlns:a16="http://schemas.microsoft.com/office/drawing/2014/main" id="{CBC1AB8D-0FCC-CC4B-95D3-9E1D9E8C222B}"/>
              </a:ext>
            </a:extLst>
          </p:cNvPr>
          <p:cNvSpPr/>
          <p:nvPr/>
        </p:nvSpPr>
        <p:spPr>
          <a:xfrm>
            <a:off x="29100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6" name="矩形 85">
            <a:extLst>
              <a:ext uri="{FF2B5EF4-FFF2-40B4-BE49-F238E27FC236}">
                <a16:creationId xmlns:a16="http://schemas.microsoft.com/office/drawing/2014/main" id="{93FA96B2-CDB5-9EE3-B898-5E60FEED23BD}"/>
              </a:ext>
            </a:extLst>
          </p:cNvPr>
          <p:cNvSpPr/>
          <p:nvPr/>
        </p:nvSpPr>
        <p:spPr>
          <a:xfrm>
            <a:off x="30827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7" name="矩形 86">
            <a:extLst>
              <a:ext uri="{FF2B5EF4-FFF2-40B4-BE49-F238E27FC236}">
                <a16:creationId xmlns:a16="http://schemas.microsoft.com/office/drawing/2014/main" id="{1C5820FE-98B8-8A94-920C-876526B6793D}"/>
              </a:ext>
            </a:extLst>
          </p:cNvPr>
          <p:cNvSpPr/>
          <p:nvPr/>
        </p:nvSpPr>
        <p:spPr>
          <a:xfrm>
            <a:off x="32503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8" name="矩形 87">
            <a:extLst>
              <a:ext uri="{FF2B5EF4-FFF2-40B4-BE49-F238E27FC236}">
                <a16:creationId xmlns:a16="http://schemas.microsoft.com/office/drawing/2014/main" id="{3495065F-3900-77DB-8414-EF3D18B1295B}"/>
              </a:ext>
            </a:extLst>
          </p:cNvPr>
          <p:cNvSpPr/>
          <p:nvPr/>
        </p:nvSpPr>
        <p:spPr>
          <a:xfrm>
            <a:off x="34230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9" name="矩形 88">
            <a:extLst>
              <a:ext uri="{FF2B5EF4-FFF2-40B4-BE49-F238E27FC236}">
                <a16:creationId xmlns:a16="http://schemas.microsoft.com/office/drawing/2014/main" id="{3E005947-F706-9ECB-C224-612070BF475D}"/>
              </a:ext>
            </a:extLst>
          </p:cNvPr>
          <p:cNvSpPr/>
          <p:nvPr/>
        </p:nvSpPr>
        <p:spPr>
          <a:xfrm>
            <a:off x="35907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0" name="矩形 89">
            <a:extLst>
              <a:ext uri="{FF2B5EF4-FFF2-40B4-BE49-F238E27FC236}">
                <a16:creationId xmlns:a16="http://schemas.microsoft.com/office/drawing/2014/main" id="{8F9D37EB-8E62-EF4B-2831-9A0F77804FEF}"/>
              </a:ext>
            </a:extLst>
          </p:cNvPr>
          <p:cNvSpPr/>
          <p:nvPr/>
        </p:nvSpPr>
        <p:spPr>
          <a:xfrm>
            <a:off x="37634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1" name="矩形 90">
            <a:extLst>
              <a:ext uri="{FF2B5EF4-FFF2-40B4-BE49-F238E27FC236}">
                <a16:creationId xmlns:a16="http://schemas.microsoft.com/office/drawing/2014/main" id="{7650897C-0D5C-0A19-529A-52B6256107E6}"/>
              </a:ext>
            </a:extLst>
          </p:cNvPr>
          <p:cNvSpPr/>
          <p:nvPr/>
        </p:nvSpPr>
        <p:spPr>
          <a:xfrm>
            <a:off x="39310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2" name="矩形 91">
            <a:extLst>
              <a:ext uri="{FF2B5EF4-FFF2-40B4-BE49-F238E27FC236}">
                <a16:creationId xmlns:a16="http://schemas.microsoft.com/office/drawing/2014/main" id="{1158A31D-0855-89FF-13CC-D6AF631D3171}"/>
              </a:ext>
            </a:extLst>
          </p:cNvPr>
          <p:cNvSpPr/>
          <p:nvPr/>
        </p:nvSpPr>
        <p:spPr>
          <a:xfrm>
            <a:off x="41038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3" name="矩形 92">
            <a:extLst>
              <a:ext uri="{FF2B5EF4-FFF2-40B4-BE49-F238E27FC236}">
                <a16:creationId xmlns:a16="http://schemas.microsoft.com/office/drawing/2014/main" id="{87D47DF2-4298-96FB-E41E-B7F061BB3969}"/>
              </a:ext>
            </a:extLst>
          </p:cNvPr>
          <p:cNvSpPr/>
          <p:nvPr/>
        </p:nvSpPr>
        <p:spPr>
          <a:xfrm>
            <a:off x="42714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4" name="矩形 93">
            <a:extLst>
              <a:ext uri="{FF2B5EF4-FFF2-40B4-BE49-F238E27FC236}">
                <a16:creationId xmlns:a16="http://schemas.microsoft.com/office/drawing/2014/main" id="{A62F82BF-4318-9EB4-0E8F-4883EEAB9026}"/>
              </a:ext>
            </a:extLst>
          </p:cNvPr>
          <p:cNvSpPr/>
          <p:nvPr/>
        </p:nvSpPr>
        <p:spPr>
          <a:xfrm>
            <a:off x="44441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5" name="矩形 94">
            <a:extLst>
              <a:ext uri="{FF2B5EF4-FFF2-40B4-BE49-F238E27FC236}">
                <a16:creationId xmlns:a16="http://schemas.microsoft.com/office/drawing/2014/main" id="{BF12AFF0-1C9F-DFEC-CBB5-328972386BD3}"/>
              </a:ext>
            </a:extLst>
          </p:cNvPr>
          <p:cNvSpPr/>
          <p:nvPr/>
        </p:nvSpPr>
        <p:spPr>
          <a:xfrm>
            <a:off x="46118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6" name="矩形 95">
            <a:extLst>
              <a:ext uri="{FF2B5EF4-FFF2-40B4-BE49-F238E27FC236}">
                <a16:creationId xmlns:a16="http://schemas.microsoft.com/office/drawing/2014/main" id="{683D0442-F160-B799-FF04-61F219D615E5}"/>
              </a:ext>
            </a:extLst>
          </p:cNvPr>
          <p:cNvSpPr/>
          <p:nvPr/>
        </p:nvSpPr>
        <p:spPr>
          <a:xfrm>
            <a:off x="47845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8" name="矩形 97">
            <a:extLst>
              <a:ext uri="{FF2B5EF4-FFF2-40B4-BE49-F238E27FC236}">
                <a16:creationId xmlns:a16="http://schemas.microsoft.com/office/drawing/2014/main" id="{84E7D62D-F04D-354B-126F-B9D1DF3EA78E}"/>
              </a:ext>
            </a:extLst>
          </p:cNvPr>
          <p:cNvSpPr/>
          <p:nvPr/>
        </p:nvSpPr>
        <p:spPr>
          <a:xfrm>
            <a:off x="51248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9" name="矩形 98">
            <a:extLst>
              <a:ext uri="{FF2B5EF4-FFF2-40B4-BE49-F238E27FC236}">
                <a16:creationId xmlns:a16="http://schemas.microsoft.com/office/drawing/2014/main" id="{7EE11842-E6C3-C378-1A3B-32B9C49D060E}"/>
              </a:ext>
            </a:extLst>
          </p:cNvPr>
          <p:cNvSpPr/>
          <p:nvPr/>
        </p:nvSpPr>
        <p:spPr>
          <a:xfrm>
            <a:off x="52925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0" name="矩形 99">
            <a:extLst>
              <a:ext uri="{FF2B5EF4-FFF2-40B4-BE49-F238E27FC236}">
                <a16:creationId xmlns:a16="http://schemas.microsoft.com/office/drawing/2014/main" id="{89AED06D-2A43-BA4F-4263-E9F0328F8CA5}"/>
              </a:ext>
            </a:extLst>
          </p:cNvPr>
          <p:cNvSpPr/>
          <p:nvPr/>
        </p:nvSpPr>
        <p:spPr>
          <a:xfrm>
            <a:off x="54652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矩形 100">
            <a:extLst>
              <a:ext uri="{FF2B5EF4-FFF2-40B4-BE49-F238E27FC236}">
                <a16:creationId xmlns:a16="http://schemas.microsoft.com/office/drawing/2014/main" id="{1DD1A83F-B7F8-5DBF-364E-1D38163B3917}"/>
              </a:ext>
            </a:extLst>
          </p:cNvPr>
          <p:cNvSpPr/>
          <p:nvPr/>
        </p:nvSpPr>
        <p:spPr>
          <a:xfrm>
            <a:off x="56328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矩形 101">
            <a:extLst>
              <a:ext uri="{FF2B5EF4-FFF2-40B4-BE49-F238E27FC236}">
                <a16:creationId xmlns:a16="http://schemas.microsoft.com/office/drawing/2014/main" id="{30787E46-F028-B357-BD3B-0C778ACF622F}"/>
              </a:ext>
            </a:extLst>
          </p:cNvPr>
          <p:cNvSpPr/>
          <p:nvPr/>
        </p:nvSpPr>
        <p:spPr>
          <a:xfrm>
            <a:off x="3598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矩形 102">
            <a:extLst>
              <a:ext uri="{FF2B5EF4-FFF2-40B4-BE49-F238E27FC236}">
                <a16:creationId xmlns:a16="http://schemas.microsoft.com/office/drawing/2014/main" id="{96C72A60-5142-3528-386A-9720DB32FCAF}"/>
              </a:ext>
            </a:extLst>
          </p:cNvPr>
          <p:cNvSpPr/>
          <p:nvPr/>
        </p:nvSpPr>
        <p:spPr>
          <a:xfrm>
            <a:off x="5274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4" name="矩形 103">
            <a:extLst>
              <a:ext uri="{FF2B5EF4-FFF2-40B4-BE49-F238E27FC236}">
                <a16:creationId xmlns:a16="http://schemas.microsoft.com/office/drawing/2014/main" id="{B9FF2E6C-5F20-4CF3-D1A6-DB6F289815E1}"/>
              </a:ext>
            </a:extLst>
          </p:cNvPr>
          <p:cNvSpPr/>
          <p:nvPr/>
        </p:nvSpPr>
        <p:spPr>
          <a:xfrm>
            <a:off x="7002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5" name="矩形 104">
            <a:extLst>
              <a:ext uri="{FF2B5EF4-FFF2-40B4-BE49-F238E27FC236}">
                <a16:creationId xmlns:a16="http://schemas.microsoft.com/office/drawing/2014/main" id="{AA217046-9BE9-3C3F-B76A-A6603A773390}"/>
              </a:ext>
            </a:extLst>
          </p:cNvPr>
          <p:cNvSpPr/>
          <p:nvPr/>
        </p:nvSpPr>
        <p:spPr>
          <a:xfrm>
            <a:off x="8678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矩形 105">
            <a:extLst>
              <a:ext uri="{FF2B5EF4-FFF2-40B4-BE49-F238E27FC236}">
                <a16:creationId xmlns:a16="http://schemas.microsoft.com/office/drawing/2014/main" id="{CC3446C2-7D00-7063-FFC1-EB0662086DDF}"/>
              </a:ext>
            </a:extLst>
          </p:cNvPr>
          <p:cNvSpPr/>
          <p:nvPr/>
        </p:nvSpPr>
        <p:spPr>
          <a:xfrm>
            <a:off x="10405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7" name="矩形 106">
            <a:extLst>
              <a:ext uri="{FF2B5EF4-FFF2-40B4-BE49-F238E27FC236}">
                <a16:creationId xmlns:a16="http://schemas.microsoft.com/office/drawing/2014/main" id="{D999EC79-D1AF-556D-E085-B71908B9D3D2}"/>
              </a:ext>
            </a:extLst>
          </p:cNvPr>
          <p:cNvSpPr/>
          <p:nvPr/>
        </p:nvSpPr>
        <p:spPr>
          <a:xfrm>
            <a:off x="12082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矩形 107">
            <a:extLst>
              <a:ext uri="{FF2B5EF4-FFF2-40B4-BE49-F238E27FC236}">
                <a16:creationId xmlns:a16="http://schemas.microsoft.com/office/drawing/2014/main" id="{8F845C10-961B-027E-0BE5-6CF8F09D6E77}"/>
              </a:ext>
            </a:extLst>
          </p:cNvPr>
          <p:cNvSpPr/>
          <p:nvPr/>
        </p:nvSpPr>
        <p:spPr>
          <a:xfrm>
            <a:off x="13809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矩形 108">
            <a:extLst>
              <a:ext uri="{FF2B5EF4-FFF2-40B4-BE49-F238E27FC236}">
                <a16:creationId xmlns:a16="http://schemas.microsoft.com/office/drawing/2014/main" id="{E6EBC5D9-D107-2723-CDAD-AD38F61A37BA}"/>
              </a:ext>
            </a:extLst>
          </p:cNvPr>
          <p:cNvSpPr/>
          <p:nvPr/>
        </p:nvSpPr>
        <p:spPr>
          <a:xfrm>
            <a:off x="15485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1" name="矩形 110">
            <a:extLst>
              <a:ext uri="{FF2B5EF4-FFF2-40B4-BE49-F238E27FC236}">
                <a16:creationId xmlns:a16="http://schemas.microsoft.com/office/drawing/2014/main" id="{A7FE88CB-4CBD-45C4-5CEE-7439F6B778BB}"/>
              </a:ext>
            </a:extLst>
          </p:cNvPr>
          <p:cNvSpPr/>
          <p:nvPr/>
        </p:nvSpPr>
        <p:spPr>
          <a:xfrm>
            <a:off x="18889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2" name="矩形 111">
            <a:extLst>
              <a:ext uri="{FF2B5EF4-FFF2-40B4-BE49-F238E27FC236}">
                <a16:creationId xmlns:a16="http://schemas.microsoft.com/office/drawing/2014/main" id="{38A8D650-B34F-8559-0E1C-BA16FDE61DCB}"/>
              </a:ext>
            </a:extLst>
          </p:cNvPr>
          <p:cNvSpPr/>
          <p:nvPr/>
        </p:nvSpPr>
        <p:spPr>
          <a:xfrm>
            <a:off x="20616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3" name="矩形 112">
            <a:extLst>
              <a:ext uri="{FF2B5EF4-FFF2-40B4-BE49-F238E27FC236}">
                <a16:creationId xmlns:a16="http://schemas.microsoft.com/office/drawing/2014/main" id="{397C2BB1-EF83-5FA0-124C-ADA9A1D545B5}"/>
              </a:ext>
            </a:extLst>
          </p:cNvPr>
          <p:cNvSpPr/>
          <p:nvPr/>
        </p:nvSpPr>
        <p:spPr>
          <a:xfrm>
            <a:off x="22292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4" name="矩形 113">
            <a:extLst>
              <a:ext uri="{FF2B5EF4-FFF2-40B4-BE49-F238E27FC236}">
                <a16:creationId xmlns:a16="http://schemas.microsoft.com/office/drawing/2014/main" id="{0C0EA991-0CE2-4C96-D9E3-827C2439C3F2}"/>
              </a:ext>
            </a:extLst>
          </p:cNvPr>
          <p:cNvSpPr/>
          <p:nvPr/>
        </p:nvSpPr>
        <p:spPr>
          <a:xfrm>
            <a:off x="24020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5" name="矩形 114">
            <a:extLst>
              <a:ext uri="{FF2B5EF4-FFF2-40B4-BE49-F238E27FC236}">
                <a16:creationId xmlns:a16="http://schemas.microsoft.com/office/drawing/2014/main" id="{912C971B-465E-4506-6333-C5C90BA20531}"/>
              </a:ext>
            </a:extLst>
          </p:cNvPr>
          <p:cNvSpPr/>
          <p:nvPr/>
        </p:nvSpPr>
        <p:spPr>
          <a:xfrm>
            <a:off x="25696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6" name="矩形 115">
            <a:extLst>
              <a:ext uri="{FF2B5EF4-FFF2-40B4-BE49-F238E27FC236}">
                <a16:creationId xmlns:a16="http://schemas.microsoft.com/office/drawing/2014/main" id="{F1A980FD-56C0-A9A4-5427-CA6C49202ADA}"/>
              </a:ext>
            </a:extLst>
          </p:cNvPr>
          <p:cNvSpPr/>
          <p:nvPr/>
        </p:nvSpPr>
        <p:spPr>
          <a:xfrm>
            <a:off x="27423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7" name="矩形 116">
            <a:extLst>
              <a:ext uri="{FF2B5EF4-FFF2-40B4-BE49-F238E27FC236}">
                <a16:creationId xmlns:a16="http://schemas.microsoft.com/office/drawing/2014/main" id="{555E1299-69BB-75F7-9A30-7FC44AB88246}"/>
              </a:ext>
            </a:extLst>
          </p:cNvPr>
          <p:cNvSpPr/>
          <p:nvPr/>
        </p:nvSpPr>
        <p:spPr>
          <a:xfrm>
            <a:off x="29100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矩形 117">
            <a:extLst>
              <a:ext uri="{FF2B5EF4-FFF2-40B4-BE49-F238E27FC236}">
                <a16:creationId xmlns:a16="http://schemas.microsoft.com/office/drawing/2014/main" id="{21A1E35C-A904-AF16-84C1-E43BE44DFC08}"/>
              </a:ext>
            </a:extLst>
          </p:cNvPr>
          <p:cNvSpPr/>
          <p:nvPr/>
        </p:nvSpPr>
        <p:spPr>
          <a:xfrm>
            <a:off x="30827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9" name="矩形 118">
            <a:extLst>
              <a:ext uri="{FF2B5EF4-FFF2-40B4-BE49-F238E27FC236}">
                <a16:creationId xmlns:a16="http://schemas.microsoft.com/office/drawing/2014/main" id="{070A23E9-1254-D475-0857-62DAED7C5F69}"/>
              </a:ext>
            </a:extLst>
          </p:cNvPr>
          <p:cNvSpPr/>
          <p:nvPr/>
        </p:nvSpPr>
        <p:spPr>
          <a:xfrm>
            <a:off x="32503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1" name="矩形 120">
            <a:extLst>
              <a:ext uri="{FF2B5EF4-FFF2-40B4-BE49-F238E27FC236}">
                <a16:creationId xmlns:a16="http://schemas.microsoft.com/office/drawing/2014/main" id="{6DD54C37-A7C6-1620-243E-2E1BBE0756FE}"/>
              </a:ext>
            </a:extLst>
          </p:cNvPr>
          <p:cNvSpPr/>
          <p:nvPr/>
        </p:nvSpPr>
        <p:spPr>
          <a:xfrm>
            <a:off x="35907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2" name="矩形 121">
            <a:extLst>
              <a:ext uri="{FF2B5EF4-FFF2-40B4-BE49-F238E27FC236}">
                <a16:creationId xmlns:a16="http://schemas.microsoft.com/office/drawing/2014/main" id="{2FE81E2F-1E5E-3C8F-754A-B39CB2188C6E}"/>
              </a:ext>
            </a:extLst>
          </p:cNvPr>
          <p:cNvSpPr/>
          <p:nvPr/>
        </p:nvSpPr>
        <p:spPr>
          <a:xfrm>
            <a:off x="37634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3" name="矩形 122">
            <a:extLst>
              <a:ext uri="{FF2B5EF4-FFF2-40B4-BE49-F238E27FC236}">
                <a16:creationId xmlns:a16="http://schemas.microsoft.com/office/drawing/2014/main" id="{67D598F5-5D37-56B4-63F5-BB3EB6E55C71}"/>
              </a:ext>
            </a:extLst>
          </p:cNvPr>
          <p:cNvSpPr/>
          <p:nvPr/>
        </p:nvSpPr>
        <p:spPr>
          <a:xfrm>
            <a:off x="39310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4" name="矩形 123">
            <a:extLst>
              <a:ext uri="{FF2B5EF4-FFF2-40B4-BE49-F238E27FC236}">
                <a16:creationId xmlns:a16="http://schemas.microsoft.com/office/drawing/2014/main" id="{E2F66444-B644-4A7F-C265-BAE87EBABB28}"/>
              </a:ext>
            </a:extLst>
          </p:cNvPr>
          <p:cNvSpPr/>
          <p:nvPr/>
        </p:nvSpPr>
        <p:spPr>
          <a:xfrm>
            <a:off x="41038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5" name="矩形 124">
            <a:extLst>
              <a:ext uri="{FF2B5EF4-FFF2-40B4-BE49-F238E27FC236}">
                <a16:creationId xmlns:a16="http://schemas.microsoft.com/office/drawing/2014/main" id="{01C32A55-2F36-3592-8BF3-6C644F1B4732}"/>
              </a:ext>
            </a:extLst>
          </p:cNvPr>
          <p:cNvSpPr/>
          <p:nvPr/>
        </p:nvSpPr>
        <p:spPr>
          <a:xfrm>
            <a:off x="42714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矩形 125">
            <a:extLst>
              <a:ext uri="{FF2B5EF4-FFF2-40B4-BE49-F238E27FC236}">
                <a16:creationId xmlns:a16="http://schemas.microsoft.com/office/drawing/2014/main" id="{646864E3-626B-C1AA-D0D6-5EE6E96FAAAD}"/>
              </a:ext>
            </a:extLst>
          </p:cNvPr>
          <p:cNvSpPr/>
          <p:nvPr/>
        </p:nvSpPr>
        <p:spPr>
          <a:xfrm>
            <a:off x="44441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7" name="矩形 126">
            <a:extLst>
              <a:ext uri="{FF2B5EF4-FFF2-40B4-BE49-F238E27FC236}">
                <a16:creationId xmlns:a16="http://schemas.microsoft.com/office/drawing/2014/main" id="{00B6907D-9D97-D14E-A24D-7B0DC299DC20}"/>
              </a:ext>
            </a:extLst>
          </p:cNvPr>
          <p:cNvSpPr/>
          <p:nvPr/>
        </p:nvSpPr>
        <p:spPr>
          <a:xfrm>
            <a:off x="46118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8" name="矩形 127">
            <a:extLst>
              <a:ext uri="{FF2B5EF4-FFF2-40B4-BE49-F238E27FC236}">
                <a16:creationId xmlns:a16="http://schemas.microsoft.com/office/drawing/2014/main" id="{2214BD18-5714-172A-81FD-4B9BAA16DC2F}"/>
              </a:ext>
            </a:extLst>
          </p:cNvPr>
          <p:cNvSpPr/>
          <p:nvPr/>
        </p:nvSpPr>
        <p:spPr>
          <a:xfrm>
            <a:off x="47845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9" name="矩形 128">
            <a:extLst>
              <a:ext uri="{FF2B5EF4-FFF2-40B4-BE49-F238E27FC236}">
                <a16:creationId xmlns:a16="http://schemas.microsoft.com/office/drawing/2014/main" id="{9999BFAC-5B86-6FF3-65AE-4AB407319BB8}"/>
              </a:ext>
            </a:extLst>
          </p:cNvPr>
          <p:cNvSpPr/>
          <p:nvPr/>
        </p:nvSpPr>
        <p:spPr>
          <a:xfrm>
            <a:off x="49521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0" name="矩形 129">
            <a:extLst>
              <a:ext uri="{FF2B5EF4-FFF2-40B4-BE49-F238E27FC236}">
                <a16:creationId xmlns:a16="http://schemas.microsoft.com/office/drawing/2014/main" id="{1B9C04B6-54CD-CBCC-2861-40AF60DECCE1}"/>
              </a:ext>
            </a:extLst>
          </p:cNvPr>
          <p:cNvSpPr/>
          <p:nvPr/>
        </p:nvSpPr>
        <p:spPr>
          <a:xfrm>
            <a:off x="51248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1" name="矩形 130">
            <a:extLst>
              <a:ext uri="{FF2B5EF4-FFF2-40B4-BE49-F238E27FC236}">
                <a16:creationId xmlns:a16="http://schemas.microsoft.com/office/drawing/2014/main" id="{1727D3CA-6D3F-4C55-5C62-C1F67279C3DC}"/>
              </a:ext>
            </a:extLst>
          </p:cNvPr>
          <p:cNvSpPr/>
          <p:nvPr/>
        </p:nvSpPr>
        <p:spPr>
          <a:xfrm>
            <a:off x="52925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2" name="矩形 131">
            <a:extLst>
              <a:ext uri="{FF2B5EF4-FFF2-40B4-BE49-F238E27FC236}">
                <a16:creationId xmlns:a16="http://schemas.microsoft.com/office/drawing/2014/main" id="{78C350FA-F29A-C67A-8853-82025F81F7CA}"/>
              </a:ext>
            </a:extLst>
          </p:cNvPr>
          <p:cNvSpPr/>
          <p:nvPr/>
        </p:nvSpPr>
        <p:spPr>
          <a:xfrm>
            <a:off x="54652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84F98D74-536A-15F7-FBE1-94EC646B7016}"/>
              </a:ext>
            </a:extLst>
          </p:cNvPr>
          <p:cNvSpPr/>
          <p:nvPr/>
        </p:nvSpPr>
        <p:spPr>
          <a:xfrm>
            <a:off x="56328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D1183902-FBED-BB64-E9F2-36F43BF65039}"/>
              </a:ext>
            </a:extLst>
          </p:cNvPr>
          <p:cNvSpPr/>
          <p:nvPr/>
        </p:nvSpPr>
        <p:spPr>
          <a:xfrm>
            <a:off x="3598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矩形 134">
            <a:extLst>
              <a:ext uri="{FF2B5EF4-FFF2-40B4-BE49-F238E27FC236}">
                <a16:creationId xmlns:a16="http://schemas.microsoft.com/office/drawing/2014/main" id="{9100EA51-9FDB-6046-F706-89BEC5D3160E}"/>
              </a:ext>
            </a:extLst>
          </p:cNvPr>
          <p:cNvSpPr/>
          <p:nvPr/>
        </p:nvSpPr>
        <p:spPr>
          <a:xfrm>
            <a:off x="52748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6" name="矩形 135">
            <a:extLst>
              <a:ext uri="{FF2B5EF4-FFF2-40B4-BE49-F238E27FC236}">
                <a16:creationId xmlns:a16="http://schemas.microsoft.com/office/drawing/2014/main" id="{7ECB592F-8F7A-1CC2-4155-D0B27A4853B4}"/>
              </a:ext>
            </a:extLst>
          </p:cNvPr>
          <p:cNvSpPr/>
          <p:nvPr/>
        </p:nvSpPr>
        <p:spPr>
          <a:xfrm>
            <a:off x="70020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7" name="矩形 136">
            <a:extLst>
              <a:ext uri="{FF2B5EF4-FFF2-40B4-BE49-F238E27FC236}">
                <a16:creationId xmlns:a16="http://schemas.microsoft.com/office/drawing/2014/main" id="{FEAA6219-93A0-F692-627F-D4128D79A4E8}"/>
              </a:ext>
            </a:extLst>
          </p:cNvPr>
          <p:cNvSpPr/>
          <p:nvPr/>
        </p:nvSpPr>
        <p:spPr>
          <a:xfrm>
            <a:off x="8678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8" name="矩形 137">
            <a:extLst>
              <a:ext uri="{FF2B5EF4-FFF2-40B4-BE49-F238E27FC236}">
                <a16:creationId xmlns:a16="http://schemas.microsoft.com/office/drawing/2014/main" id="{82AD9B49-F08C-9DA9-F471-FB1DCD5D7058}"/>
              </a:ext>
            </a:extLst>
          </p:cNvPr>
          <p:cNvSpPr/>
          <p:nvPr/>
        </p:nvSpPr>
        <p:spPr>
          <a:xfrm>
            <a:off x="104056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9" name="矩形 138">
            <a:extLst>
              <a:ext uri="{FF2B5EF4-FFF2-40B4-BE49-F238E27FC236}">
                <a16:creationId xmlns:a16="http://schemas.microsoft.com/office/drawing/2014/main" id="{5D1D5060-8833-62F8-E130-E3B0284A87C2}"/>
              </a:ext>
            </a:extLst>
          </p:cNvPr>
          <p:cNvSpPr/>
          <p:nvPr/>
        </p:nvSpPr>
        <p:spPr>
          <a:xfrm>
            <a:off x="120820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0" name="矩形 139">
            <a:extLst>
              <a:ext uri="{FF2B5EF4-FFF2-40B4-BE49-F238E27FC236}">
                <a16:creationId xmlns:a16="http://schemas.microsoft.com/office/drawing/2014/main" id="{1ED1812C-71F7-30DB-107A-B870B51B023F}"/>
              </a:ext>
            </a:extLst>
          </p:cNvPr>
          <p:cNvSpPr/>
          <p:nvPr/>
        </p:nvSpPr>
        <p:spPr>
          <a:xfrm>
            <a:off x="138092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1" name="矩形 140">
            <a:extLst>
              <a:ext uri="{FF2B5EF4-FFF2-40B4-BE49-F238E27FC236}">
                <a16:creationId xmlns:a16="http://schemas.microsoft.com/office/drawing/2014/main" id="{C4BBF28B-A8F3-97AE-AEF2-2331A3790C08}"/>
              </a:ext>
            </a:extLst>
          </p:cNvPr>
          <p:cNvSpPr/>
          <p:nvPr/>
        </p:nvSpPr>
        <p:spPr>
          <a:xfrm>
            <a:off x="154856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2" name="矩形 141">
            <a:extLst>
              <a:ext uri="{FF2B5EF4-FFF2-40B4-BE49-F238E27FC236}">
                <a16:creationId xmlns:a16="http://schemas.microsoft.com/office/drawing/2014/main" id="{377A78A8-B943-9426-2CB1-2CE7D81B3C38}"/>
              </a:ext>
            </a:extLst>
          </p:cNvPr>
          <p:cNvSpPr/>
          <p:nvPr/>
        </p:nvSpPr>
        <p:spPr>
          <a:xfrm>
            <a:off x="172128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矩形 142">
            <a:extLst>
              <a:ext uri="{FF2B5EF4-FFF2-40B4-BE49-F238E27FC236}">
                <a16:creationId xmlns:a16="http://schemas.microsoft.com/office/drawing/2014/main" id="{C95423B3-3D12-7A51-29AF-D38CD7128ECE}"/>
              </a:ext>
            </a:extLst>
          </p:cNvPr>
          <p:cNvSpPr/>
          <p:nvPr/>
        </p:nvSpPr>
        <p:spPr>
          <a:xfrm>
            <a:off x="188892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a:extLst>
              <a:ext uri="{FF2B5EF4-FFF2-40B4-BE49-F238E27FC236}">
                <a16:creationId xmlns:a16="http://schemas.microsoft.com/office/drawing/2014/main" id="{AB116770-CBCB-75DA-EF25-2DE1F6C5A69C}"/>
              </a:ext>
            </a:extLst>
          </p:cNvPr>
          <p:cNvSpPr/>
          <p:nvPr/>
        </p:nvSpPr>
        <p:spPr>
          <a:xfrm>
            <a:off x="20616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201" name="群組 200">
            <a:extLst>
              <a:ext uri="{FF2B5EF4-FFF2-40B4-BE49-F238E27FC236}">
                <a16:creationId xmlns:a16="http://schemas.microsoft.com/office/drawing/2014/main" id="{6B676AA0-0C85-BBF7-88DE-5503DCB3A566}"/>
              </a:ext>
            </a:extLst>
          </p:cNvPr>
          <p:cNvGrpSpPr/>
          <p:nvPr/>
        </p:nvGrpSpPr>
        <p:grpSpPr>
          <a:xfrm>
            <a:off x="527481" y="5018308"/>
            <a:ext cx="4937760" cy="1004446"/>
            <a:chOff x="527481" y="5018308"/>
            <a:chExt cx="4937760" cy="1004446"/>
          </a:xfrm>
        </p:grpSpPr>
        <p:sp>
          <p:nvSpPr>
            <p:cNvPr id="7" name="矩形 6">
              <a:extLst>
                <a:ext uri="{FF2B5EF4-FFF2-40B4-BE49-F238E27FC236}">
                  <a16:creationId xmlns:a16="http://schemas.microsoft.com/office/drawing/2014/main" id="{CF0542F0-1330-CE19-7907-BB634AD47922}"/>
                </a:ext>
              </a:extLst>
            </p:cNvPr>
            <p:cNvSpPr/>
            <p:nvPr/>
          </p:nvSpPr>
          <p:spPr>
            <a:xfrm>
              <a:off x="52748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34934486-15DE-138B-B80E-CD14CC12B5EF}"/>
                </a:ext>
              </a:extLst>
            </p:cNvPr>
            <p:cNvSpPr/>
            <p:nvPr/>
          </p:nvSpPr>
          <p:spPr>
            <a:xfrm>
              <a:off x="138092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0B5FD4AB-1B4E-F485-0805-BAAFAAD13E81}"/>
                </a:ext>
              </a:extLst>
            </p:cNvPr>
            <p:cNvSpPr/>
            <p:nvPr/>
          </p:nvSpPr>
          <p:spPr>
            <a:xfrm>
              <a:off x="274236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 name="矩形 34">
              <a:extLst>
                <a:ext uri="{FF2B5EF4-FFF2-40B4-BE49-F238E27FC236}">
                  <a16:creationId xmlns:a16="http://schemas.microsoft.com/office/drawing/2014/main" id="{4FA3199A-CF01-70D7-72B4-2BBCCA874530}"/>
                </a:ext>
              </a:extLst>
            </p:cNvPr>
            <p:cNvSpPr/>
            <p:nvPr/>
          </p:nvSpPr>
          <p:spPr>
            <a:xfrm>
              <a:off x="529252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 name="矩形 46">
              <a:extLst>
                <a:ext uri="{FF2B5EF4-FFF2-40B4-BE49-F238E27FC236}">
                  <a16:creationId xmlns:a16="http://schemas.microsoft.com/office/drawing/2014/main" id="{2281AA4E-A209-2DD4-D52A-05EB22B0F928}"/>
                </a:ext>
              </a:extLst>
            </p:cNvPr>
            <p:cNvSpPr/>
            <p:nvPr/>
          </p:nvSpPr>
          <p:spPr>
            <a:xfrm>
              <a:off x="1888921" y="5217357"/>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9" name="矩形 58">
              <a:extLst>
                <a:ext uri="{FF2B5EF4-FFF2-40B4-BE49-F238E27FC236}">
                  <a16:creationId xmlns:a16="http://schemas.microsoft.com/office/drawing/2014/main" id="{0957FFB9-D83D-A1C7-E206-CF78B51F88C0}"/>
                </a:ext>
              </a:extLst>
            </p:cNvPr>
            <p:cNvSpPr/>
            <p:nvPr/>
          </p:nvSpPr>
          <p:spPr>
            <a:xfrm>
              <a:off x="3931081" y="5217357"/>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4" name="矩形 73">
              <a:extLst>
                <a:ext uri="{FF2B5EF4-FFF2-40B4-BE49-F238E27FC236}">
                  <a16:creationId xmlns:a16="http://schemas.microsoft.com/office/drawing/2014/main" id="{A55453E0-8E43-D72B-B7AF-A7385C3947FD}"/>
                </a:ext>
              </a:extLst>
            </p:cNvPr>
            <p:cNvSpPr/>
            <p:nvPr/>
          </p:nvSpPr>
          <p:spPr>
            <a:xfrm>
              <a:off x="10405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4" name="矩形 83">
              <a:extLst>
                <a:ext uri="{FF2B5EF4-FFF2-40B4-BE49-F238E27FC236}">
                  <a16:creationId xmlns:a16="http://schemas.microsoft.com/office/drawing/2014/main" id="{F9939147-D954-0A21-8B82-A28B9F3AECCD}"/>
                </a:ext>
              </a:extLst>
            </p:cNvPr>
            <p:cNvSpPr/>
            <p:nvPr/>
          </p:nvSpPr>
          <p:spPr>
            <a:xfrm>
              <a:off x="27423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7" name="矩形 96">
              <a:extLst>
                <a:ext uri="{FF2B5EF4-FFF2-40B4-BE49-F238E27FC236}">
                  <a16:creationId xmlns:a16="http://schemas.microsoft.com/office/drawing/2014/main" id="{F43665E2-400B-A954-C4B1-D750C43B34F2}"/>
                </a:ext>
              </a:extLst>
            </p:cNvPr>
            <p:cNvSpPr/>
            <p:nvPr/>
          </p:nvSpPr>
          <p:spPr>
            <a:xfrm>
              <a:off x="49521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矩形 109">
              <a:extLst>
                <a:ext uri="{FF2B5EF4-FFF2-40B4-BE49-F238E27FC236}">
                  <a16:creationId xmlns:a16="http://schemas.microsoft.com/office/drawing/2014/main" id="{E162BDE3-08CD-41D0-1DE7-D475C22B8B4E}"/>
                </a:ext>
              </a:extLst>
            </p:cNvPr>
            <p:cNvSpPr/>
            <p:nvPr/>
          </p:nvSpPr>
          <p:spPr>
            <a:xfrm>
              <a:off x="1721281" y="5615455"/>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0" name="矩形 119">
              <a:extLst>
                <a:ext uri="{FF2B5EF4-FFF2-40B4-BE49-F238E27FC236}">
                  <a16:creationId xmlns:a16="http://schemas.microsoft.com/office/drawing/2014/main" id="{3EB3282F-7913-F7BB-80AE-9D4690C66EBD}"/>
                </a:ext>
              </a:extLst>
            </p:cNvPr>
            <p:cNvSpPr/>
            <p:nvPr/>
          </p:nvSpPr>
          <p:spPr>
            <a:xfrm>
              <a:off x="3423081" y="5615455"/>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a:extLst>
                <a:ext uri="{FF2B5EF4-FFF2-40B4-BE49-F238E27FC236}">
                  <a16:creationId xmlns:a16="http://schemas.microsoft.com/office/drawing/2014/main" id="{3CDFB37C-A58B-0FD2-3596-BD25019BD2A4}"/>
                </a:ext>
              </a:extLst>
            </p:cNvPr>
            <p:cNvSpPr/>
            <p:nvPr/>
          </p:nvSpPr>
          <p:spPr>
            <a:xfrm>
              <a:off x="2229281" y="5819554"/>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167" name="文字方塊 166">
            <a:extLst>
              <a:ext uri="{FF2B5EF4-FFF2-40B4-BE49-F238E27FC236}">
                <a16:creationId xmlns:a16="http://schemas.microsoft.com/office/drawing/2014/main" id="{FEF424C7-035C-0A79-613D-1CC1140C1E4C}"/>
              </a:ext>
            </a:extLst>
          </p:cNvPr>
          <p:cNvSpPr txBox="1"/>
          <p:nvPr/>
        </p:nvSpPr>
        <p:spPr>
          <a:xfrm>
            <a:off x="644317" y="5980848"/>
            <a:ext cx="5384807"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140-bits</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bitmap</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of</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priority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array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(Active</a:t>
            </a:r>
            <a:r>
              <a:rPr kumimoji="1" lang="zh-TW" altLang="en-US" sz="1400" dirty="0">
                <a:latin typeface="Arial" panose="020B0604020202020204" pitchFamily="34" charset="0"/>
                <a:cs typeface="Arial" panose="020B0604020202020204" pitchFamily="34" charset="0"/>
              </a:rPr>
              <a:t> </a:t>
            </a:r>
            <a:r>
              <a:rPr kumimoji="1" lang="en-US" altLang="zh-TW" sz="1400" dirty="0" err="1">
                <a:latin typeface="Arial" panose="020B0604020202020204" pitchFamily="34" charset="0"/>
                <a:cs typeface="Arial" panose="020B0604020202020204" pitchFamily="34" charset="0"/>
              </a:rPr>
              <a:t>bitarray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&amp;</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Expired</a:t>
            </a:r>
            <a:r>
              <a:rPr kumimoji="1" lang="zh-TW" altLang="en-US" sz="1400" dirty="0">
                <a:latin typeface="Arial" panose="020B0604020202020204" pitchFamily="34" charset="0"/>
                <a:cs typeface="Arial" panose="020B0604020202020204" pitchFamily="34" charset="0"/>
              </a:rPr>
              <a:t> </a:t>
            </a:r>
            <a:r>
              <a:rPr kumimoji="1" lang="en-US" altLang="zh-TW" sz="1400" dirty="0" err="1">
                <a:latin typeface="Arial" panose="020B0604020202020204" pitchFamily="34" charset="0"/>
                <a:cs typeface="Arial" panose="020B0604020202020204" pitchFamily="34" charset="0"/>
              </a:rPr>
              <a:t>bitarray</a:t>
            </a:r>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sp>
        <p:nvSpPr>
          <p:cNvPr id="168" name="矩形 167">
            <a:extLst>
              <a:ext uri="{FF2B5EF4-FFF2-40B4-BE49-F238E27FC236}">
                <a16:creationId xmlns:a16="http://schemas.microsoft.com/office/drawing/2014/main" id="{D206E39F-370A-9D15-26CE-96855981222F}"/>
              </a:ext>
            </a:extLst>
          </p:cNvPr>
          <p:cNvSpPr/>
          <p:nvPr/>
        </p:nvSpPr>
        <p:spPr>
          <a:xfrm>
            <a:off x="6902884" y="4818341"/>
            <a:ext cx="900000" cy="2032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0</a:t>
            </a:r>
            <a:endParaRPr kumimoji="1" lang="zh-TW" altLang="en-US" sz="1400" dirty="0">
              <a:solidFill>
                <a:schemeClr val="tx1"/>
              </a:solidFill>
            </a:endParaRPr>
          </a:p>
        </p:txBody>
      </p:sp>
      <p:sp>
        <p:nvSpPr>
          <p:cNvPr id="169" name="矩形 168">
            <a:extLst>
              <a:ext uri="{FF2B5EF4-FFF2-40B4-BE49-F238E27FC236}">
                <a16:creationId xmlns:a16="http://schemas.microsoft.com/office/drawing/2014/main" id="{A2FD7B07-8E64-711C-8A95-F87EC1C0F704}"/>
              </a:ext>
            </a:extLst>
          </p:cNvPr>
          <p:cNvSpPr/>
          <p:nvPr/>
        </p:nvSpPr>
        <p:spPr>
          <a:xfrm>
            <a:off x="6902884" y="5178616"/>
            <a:ext cx="900000" cy="203200"/>
          </a:xfrm>
          <a:prstGeom prst="rect">
            <a:avLst/>
          </a:prstGeom>
          <a:solidFill>
            <a:schemeClr val="bg1">
              <a:lumMod val="9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1</a:t>
            </a:r>
            <a:endParaRPr kumimoji="1" lang="zh-TW" altLang="en-US" sz="1400" dirty="0">
              <a:solidFill>
                <a:schemeClr val="tx1"/>
              </a:solidFill>
            </a:endParaRPr>
          </a:p>
        </p:txBody>
      </p:sp>
      <p:sp>
        <p:nvSpPr>
          <p:cNvPr id="170" name="矩形 169">
            <a:extLst>
              <a:ext uri="{FF2B5EF4-FFF2-40B4-BE49-F238E27FC236}">
                <a16:creationId xmlns:a16="http://schemas.microsoft.com/office/drawing/2014/main" id="{77B9B027-7EA3-2853-31B1-A58574885B50}"/>
              </a:ext>
            </a:extLst>
          </p:cNvPr>
          <p:cNvSpPr/>
          <p:nvPr/>
        </p:nvSpPr>
        <p:spPr>
          <a:xfrm>
            <a:off x="6902884" y="5850299"/>
            <a:ext cx="900000" cy="2032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139</a:t>
            </a:r>
            <a:endParaRPr kumimoji="1" lang="zh-TW" altLang="en-US" sz="1400" dirty="0">
              <a:solidFill>
                <a:schemeClr val="tx1"/>
              </a:solidFill>
            </a:endParaRPr>
          </a:p>
        </p:txBody>
      </p:sp>
      <p:sp>
        <p:nvSpPr>
          <p:cNvPr id="171" name="矩形 170">
            <a:extLst>
              <a:ext uri="{FF2B5EF4-FFF2-40B4-BE49-F238E27FC236}">
                <a16:creationId xmlns:a16="http://schemas.microsoft.com/office/drawing/2014/main" id="{EFBE2776-5AC3-4D3D-1E93-F4EF56FDF3A3}"/>
              </a:ext>
            </a:extLst>
          </p:cNvPr>
          <p:cNvSpPr/>
          <p:nvPr/>
        </p:nvSpPr>
        <p:spPr>
          <a:xfrm>
            <a:off x="8095848" y="4818341"/>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Null</a:t>
            </a:r>
            <a:endParaRPr kumimoji="1" lang="zh-TW" altLang="en-US" sz="1400" dirty="0">
              <a:solidFill>
                <a:schemeClr val="tx1"/>
              </a:solidFill>
            </a:endParaRPr>
          </a:p>
        </p:txBody>
      </p:sp>
      <p:sp>
        <p:nvSpPr>
          <p:cNvPr id="172" name="矩形 171">
            <a:extLst>
              <a:ext uri="{FF2B5EF4-FFF2-40B4-BE49-F238E27FC236}">
                <a16:creationId xmlns:a16="http://schemas.microsoft.com/office/drawing/2014/main" id="{BC2492EE-2487-4135-2048-9B5230068719}"/>
              </a:ext>
            </a:extLst>
          </p:cNvPr>
          <p:cNvSpPr/>
          <p:nvPr/>
        </p:nvSpPr>
        <p:spPr>
          <a:xfrm>
            <a:off x="9268040" y="5178616"/>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3</a:t>
            </a:r>
            <a:endParaRPr kumimoji="1" lang="zh-TW" altLang="en-US" sz="1400" dirty="0">
              <a:solidFill>
                <a:schemeClr val="tx1"/>
              </a:solidFill>
            </a:endParaRPr>
          </a:p>
        </p:txBody>
      </p:sp>
      <p:sp>
        <p:nvSpPr>
          <p:cNvPr id="173" name="矩形 172">
            <a:extLst>
              <a:ext uri="{FF2B5EF4-FFF2-40B4-BE49-F238E27FC236}">
                <a16:creationId xmlns:a16="http://schemas.microsoft.com/office/drawing/2014/main" id="{3FD016DE-2FF4-FEEA-9446-387CAB125ACC}"/>
              </a:ext>
            </a:extLst>
          </p:cNvPr>
          <p:cNvSpPr/>
          <p:nvPr/>
        </p:nvSpPr>
        <p:spPr>
          <a:xfrm>
            <a:off x="8095848" y="5178616"/>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1</a:t>
            </a:r>
            <a:endParaRPr kumimoji="1" lang="zh-TW" altLang="en-US" sz="1400" dirty="0">
              <a:solidFill>
                <a:schemeClr val="tx1"/>
              </a:solidFill>
            </a:endParaRPr>
          </a:p>
        </p:txBody>
      </p:sp>
      <p:sp>
        <p:nvSpPr>
          <p:cNvPr id="174" name="矩形 173">
            <a:extLst>
              <a:ext uri="{FF2B5EF4-FFF2-40B4-BE49-F238E27FC236}">
                <a16:creationId xmlns:a16="http://schemas.microsoft.com/office/drawing/2014/main" id="{BCABB14F-AB5E-CFC6-1429-A6956DAA6345}"/>
              </a:ext>
            </a:extLst>
          </p:cNvPr>
          <p:cNvSpPr/>
          <p:nvPr/>
        </p:nvSpPr>
        <p:spPr>
          <a:xfrm>
            <a:off x="8095848"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10</a:t>
            </a:r>
            <a:endParaRPr kumimoji="1" lang="zh-TW" altLang="en-US" sz="1400" dirty="0">
              <a:solidFill>
                <a:schemeClr val="tx1"/>
              </a:solidFill>
            </a:endParaRPr>
          </a:p>
        </p:txBody>
      </p:sp>
      <p:sp>
        <p:nvSpPr>
          <p:cNvPr id="175" name="矩形 174">
            <a:extLst>
              <a:ext uri="{FF2B5EF4-FFF2-40B4-BE49-F238E27FC236}">
                <a16:creationId xmlns:a16="http://schemas.microsoft.com/office/drawing/2014/main" id="{6A37A37F-68F6-B1AF-7B20-1073E65E41AA}"/>
              </a:ext>
            </a:extLst>
          </p:cNvPr>
          <p:cNvSpPr/>
          <p:nvPr/>
        </p:nvSpPr>
        <p:spPr>
          <a:xfrm>
            <a:off x="9267204"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4</a:t>
            </a:r>
            <a:endParaRPr kumimoji="1" lang="zh-TW" altLang="en-US" sz="1400" dirty="0">
              <a:solidFill>
                <a:schemeClr val="tx1"/>
              </a:solidFill>
            </a:endParaRPr>
          </a:p>
        </p:txBody>
      </p:sp>
      <p:sp>
        <p:nvSpPr>
          <p:cNvPr id="176" name="矩形 175">
            <a:extLst>
              <a:ext uri="{FF2B5EF4-FFF2-40B4-BE49-F238E27FC236}">
                <a16:creationId xmlns:a16="http://schemas.microsoft.com/office/drawing/2014/main" id="{2418E0EC-78C5-E564-8CDC-2428E4AC8A1D}"/>
              </a:ext>
            </a:extLst>
          </p:cNvPr>
          <p:cNvSpPr/>
          <p:nvPr/>
        </p:nvSpPr>
        <p:spPr>
          <a:xfrm>
            <a:off x="10519840"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2</a:t>
            </a:r>
            <a:endParaRPr kumimoji="1" lang="zh-TW" altLang="en-US" sz="1400" dirty="0">
              <a:solidFill>
                <a:schemeClr val="tx1"/>
              </a:solidFill>
            </a:endParaRPr>
          </a:p>
        </p:txBody>
      </p:sp>
      <p:sp>
        <p:nvSpPr>
          <p:cNvPr id="177" name="文字方塊 176">
            <a:extLst>
              <a:ext uri="{FF2B5EF4-FFF2-40B4-BE49-F238E27FC236}">
                <a16:creationId xmlns:a16="http://schemas.microsoft.com/office/drawing/2014/main" id="{603BA664-6F83-3A67-DE82-DE6C5925CE55}"/>
              </a:ext>
            </a:extLst>
          </p:cNvPr>
          <p:cNvSpPr txBox="1"/>
          <p:nvPr/>
        </p:nvSpPr>
        <p:spPr>
          <a:xfrm>
            <a:off x="8575801" y="6115647"/>
            <a:ext cx="114140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Active</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Array</a:t>
            </a:r>
            <a:endParaRPr kumimoji="1" lang="zh-TW" altLang="en-US" sz="1400" dirty="0">
              <a:latin typeface="Arial" panose="020B0604020202020204" pitchFamily="34" charset="0"/>
              <a:cs typeface="Arial" panose="020B0604020202020204" pitchFamily="34" charset="0"/>
            </a:endParaRPr>
          </a:p>
        </p:txBody>
      </p:sp>
      <p:cxnSp>
        <p:nvCxnSpPr>
          <p:cNvPr id="179" name="直線箭頭接點 178">
            <a:extLst>
              <a:ext uri="{FF2B5EF4-FFF2-40B4-BE49-F238E27FC236}">
                <a16:creationId xmlns:a16="http://schemas.microsoft.com/office/drawing/2014/main" id="{FC8E0C5D-C3A8-6ED7-B00A-BBAD70EDA30C}"/>
              </a:ext>
            </a:extLst>
          </p:cNvPr>
          <p:cNvCxnSpPr>
            <a:cxnSpLocks/>
          </p:cNvCxnSpPr>
          <p:nvPr/>
        </p:nvCxnSpPr>
        <p:spPr>
          <a:xfrm>
            <a:off x="7810500" y="4872061"/>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1" name="直線箭頭接點 180">
            <a:extLst>
              <a:ext uri="{FF2B5EF4-FFF2-40B4-BE49-F238E27FC236}">
                <a16:creationId xmlns:a16="http://schemas.microsoft.com/office/drawing/2014/main" id="{3AC65715-2084-3F91-5918-918107420DC7}"/>
              </a:ext>
            </a:extLst>
          </p:cNvPr>
          <p:cNvCxnSpPr>
            <a:cxnSpLocks/>
          </p:cNvCxnSpPr>
          <p:nvPr/>
        </p:nvCxnSpPr>
        <p:spPr>
          <a:xfrm flipH="1">
            <a:off x="7808817" y="4963152"/>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4" name="直線箭頭接點 183">
            <a:extLst>
              <a:ext uri="{FF2B5EF4-FFF2-40B4-BE49-F238E27FC236}">
                <a16:creationId xmlns:a16="http://schemas.microsoft.com/office/drawing/2014/main" id="{53B6A132-F2FC-0009-15A9-500EF4AD65FF}"/>
              </a:ext>
            </a:extLst>
          </p:cNvPr>
          <p:cNvCxnSpPr>
            <a:cxnSpLocks/>
          </p:cNvCxnSpPr>
          <p:nvPr/>
        </p:nvCxnSpPr>
        <p:spPr>
          <a:xfrm>
            <a:off x="7812183" y="5228185"/>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5" name="直線箭頭接點 184">
            <a:extLst>
              <a:ext uri="{FF2B5EF4-FFF2-40B4-BE49-F238E27FC236}">
                <a16:creationId xmlns:a16="http://schemas.microsoft.com/office/drawing/2014/main" id="{D8F10359-FC1D-EA9E-A86D-89B46FA43AD3}"/>
              </a:ext>
            </a:extLst>
          </p:cNvPr>
          <p:cNvCxnSpPr>
            <a:cxnSpLocks/>
          </p:cNvCxnSpPr>
          <p:nvPr/>
        </p:nvCxnSpPr>
        <p:spPr>
          <a:xfrm flipH="1">
            <a:off x="7810500" y="5319276"/>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6" name="直線箭頭接點 185">
            <a:extLst>
              <a:ext uri="{FF2B5EF4-FFF2-40B4-BE49-F238E27FC236}">
                <a16:creationId xmlns:a16="http://schemas.microsoft.com/office/drawing/2014/main" id="{E2C45CB2-9E86-D203-D6D2-0CDD5929C4D8}"/>
              </a:ext>
            </a:extLst>
          </p:cNvPr>
          <p:cNvCxnSpPr>
            <a:cxnSpLocks/>
          </p:cNvCxnSpPr>
          <p:nvPr/>
        </p:nvCxnSpPr>
        <p:spPr>
          <a:xfrm>
            <a:off x="8980887" y="5228185"/>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7" name="直線箭頭接點 186">
            <a:extLst>
              <a:ext uri="{FF2B5EF4-FFF2-40B4-BE49-F238E27FC236}">
                <a16:creationId xmlns:a16="http://schemas.microsoft.com/office/drawing/2014/main" id="{6214E76E-7861-065C-5EA7-480B268600C3}"/>
              </a:ext>
            </a:extLst>
          </p:cNvPr>
          <p:cNvCxnSpPr>
            <a:cxnSpLocks/>
          </p:cNvCxnSpPr>
          <p:nvPr/>
        </p:nvCxnSpPr>
        <p:spPr>
          <a:xfrm flipH="1">
            <a:off x="8979204" y="5319276"/>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8" name="直線箭頭接點 187">
            <a:extLst>
              <a:ext uri="{FF2B5EF4-FFF2-40B4-BE49-F238E27FC236}">
                <a16:creationId xmlns:a16="http://schemas.microsoft.com/office/drawing/2014/main" id="{1500C53C-E200-B223-7E5D-6F2E301CB6F7}"/>
              </a:ext>
            </a:extLst>
          </p:cNvPr>
          <p:cNvCxnSpPr>
            <a:cxnSpLocks/>
          </p:cNvCxnSpPr>
          <p:nvPr/>
        </p:nvCxnSpPr>
        <p:spPr>
          <a:xfrm>
            <a:off x="7788759" y="5911662"/>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9" name="直線箭頭接點 188">
            <a:extLst>
              <a:ext uri="{FF2B5EF4-FFF2-40B4-BE49-F238E27FC236}">
                <a16:creationId xmlns:a16="http://schemas.microsoft.com/office/drawing/2014/main" id="{2B8D9246-9579-5BB9-5E2A-D7A5D7749044}"/>
              </a:ext>
            </a:extLst>
          </p:cNvPr>
          <p:cNvCxnSpPr>
            <a:cxnSpLocks/>
          </p:cNvCxnSpPr>
          <p:nvPr/>
        </p:nvCxnSpPr>
        <p:spPr>
          <a:xfrm flipH="1">
            <a:off x="7787076" y="6002753"/>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0" name="直線箭頭接點 189">
            <a:extLst>
              <a:ext uri="{FF2B5EF4-FFF2-40B4-BE49-F238E27FC236}">
                <a16:creationId xmlns:a16="http://schemas.microsoft.com/office/drawing/2014/main" id="{614EC2C0-0B4B-1338-BB33-1BBCA27F38A2}"/>
              </a:ext>
            </a:extLst>
          </p:cNvPr>
          <p:cNvCxnSpPr>
            <a:cxnSpLocks/>
          </p:cNvCxnSpPr>
          <p:nvPr/>
        </p:nvCxnSpPr>
        <p:spPr>
          <a:xfrm>
            <a:off x="8997531" y="5911662"/>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1" name="直線箭頭接點 190">
            <a:extLst>
              <a:ext uri="{FF2B5EF4-FFF2-40B4-BE49-F238E27FC236}">
                <a16:creationId xmlns:a16="http://schemas.microsoft.com/office/drawing/2014/main" id="{F8496E58-4EB0-F6F0-CBB4-E22AC70B9A6A}"/>
              </a:ext>
            </a:extLst>
          </p:cNvPr>
          <p:cNvCxnSpPr>
            <a:cxnSpLocks/>
          </p:cNvCxnSpPr>
          <p:nvPr/>
        </p:nvCxnSpPr>
        <p:spPr>
          <a:xfrm flipH="1">
            <a:off x="8995848" y="6002753"/>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2" name="直線箭頭接點 191">
            <a:extLst>
              <a:ext uri="{FF2B5EF4-FFF2-40B4-BE49-F238E27FC236}">
                <a16:creationId xmlns:a16="http://schemas.microsoft.com/office/drawing/2014/main" id="{6786070A-93FD-CBB8-4B9C-9547F17F52BD}"/>
              </a:ext>
            </a:extLst>
          </p:cNvPr>
          <p:cNvCxnSpPr>
            <a:cxnSpLocks/>
          </p:cNvCxnSpPr>
          <p:nvPr/>
        </p:nvCxnSpPr>
        <p:spPr>
          <a:xfrm>
            <a:off x="10189207" y="5901869"/>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3" name="直線箭頭接點 192">
            <a:extLst>
              <a:ext uri="{FF2B5EF4-FFF2-40B4-BE49-F238E27FC236}">
                <a16:creationId xmlns:a16="http://schemas.microsoft.com/office/drawing/2014/main" id="{437675D7-CEF0-0E75-4CE9-FAF5C4E84BBE}"/>
              </a:ext>
            </a:extLst>
          </p:cNvPr>
          <p:cNvCxnSpPr>
            <a:cxnSpLocks/>
          </p:cNvCxnSpPr>
          <p:nvPr/>
        </p:nvCxnSpPr>
        <p:spPr>
          <a:xfrm flipH="1">
            <a:off x="10187524" y="5992960"/>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94" name="文字方塊 193">
            <a:extLst>
              <a:ext uri="{FF2B5EF4-FFF2-40B4-BE49-F238E27FC236}">
                <a16:creationId xmlns:a16="http://schemas.microsoft.com/office/drawing/2014/main" id="{A5DBADF4-07ED-5019-9535-9CA445230094}"/>
              </a:ext>
            </a:extLst>
          </p:cNvPr>
          <p:cNvSpPr txBox="1"/>
          <p:nvPr/>
        </p:nvSpPr>
        <p:spPr>
          <a:xfrm rot="16200000">
            <a:off x="7135066" y="5415195"/>
            <a:ext cx="343364" cy="369332"/>
          </a:xfrm>
          <a:prstGeom prst="rect">
            <a:avLst/>
          </a:prstGeom>
          <a:noFill/>
        </p:spPr>
        <p:txBody>
          <a:bodyPr wrap="none" rtlCol="0">
            <a:spAutoFit/>
          </a:bodyPr>
          <a:lstStyle/>
          <a:p>
            <a:r>
              <a:rPr kumimoji="1" lang="en-US" altLang="zh-TW" dirty="0"/>
              <a:t>…</a:t>
            </a:r>
            <a:endParaRPr kumimoji="1" lang="zh-TW" altLang="en-US" dirty="0"/>
          </a:p>
        </p:txBody>
      </p:sp>
      <p:sp>
        <p:nvSpPr>
          <p:cNvPr id="195" name="文字方塊 194">
            <a:extLst>
              <a:ext uri="{FF2B5EF4-FFF2-40B4-BE49-F238E27FC236}">
                <a16:creationId xmlns:a16="http://schemas.microsoft.com/office/drawing/2014/main" id="{20BEC08F-D410-A33F-19C5-D53524C2C728}"/>
              </a:ext>
            </a:extLst>
          </p:cNvPr>
          <p:cNvSpPr txBox="1"/>
          <p:nvPr/>
        </p:nvSpPr>
        <p:spPr>
          <a:xfrm>
            <a:off x="5947909" y="4959919"/>
            <a:ext cx="73289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32 Bits</a:t>
            </a:r>
            <a:endParaRPr kumimoji="1" lang="zh-TW" altLang="en-US" sz="1400" dirty="0">
              <a:latin typeface="Arial" panose="020B0604020202020204" pitchFamily="34" charset="0"/>
              <a:cs typeface="Arial" panose="020B0604020202020204" pitchFamily="34" charset="0"/>
            </a:endParaRPr>
          </a:p>
        </p:txBody>
      </p:sp>
      <p:cxnSp>
        <p:nvCxnSpPr>
          <p:cNvPr id="197" name="直線箭頭接點 196">
            <a:extLst>
              <a:ext uri="{FF2B5EF4-FFF2-40B4-BE49-F238E27FC236}">
                <a16:creationId xmlns:a16="http://schemas.microsoft.com/office/drawing/2014/main" id="{12F7BD5A-76EC-AAB0-D443-B1CA5720E1D3}"/>
              </a:ext>
            </a:extLst>
          </p:cNvPr>
          <p:cNvCxnSpPr>
            <a:cxnSpLocks/>
          </p:cNvCxnSpPr>
          <p:nvPr/>
        </p:nvCxnSpPr>
        <p:spPr>
          <a:xfrm flipH="1">
            <a:off x="5871648" y="5112631"/>
            <a:ext cx="144000"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04" name="群組 203">
            <a:extLst>
              <a:ext uri="{FF2B5EF4-FFF2-40B4-BE49-F238E27FC236}">
                <a16:creationId xmlns:a16="http://schemas.microsoft.com/office/drawing/2014/main" id="{9DE75AA6-56B5-B196-D983-E3114AB17E32}"/>
              </a:ext>
            </a:extLst>
          </p:cNvPr>
          <p:cNvGrpSpPr/>
          <p:nvPr/>
        </p:nvGrpSpPr>
        <p:grpSpPr>
          <a:xfrm>
            <a:off x="361461" y="4664083"/>
            <a:ext cx="5444139" cy="336462"/>
            <a:chOff x="361461" y="4664083"/>
            <a:chExt cx="5444139" cy="336462"/>
          </a:xfrm>
        </p:grpSpPr>
        <p:sp>
          <p:nvSpPr>
            <p:cNvPr id="199" name="左大括弧 198">
              <a:extLst>
                <a:ext uri="{FF2B5EF4-FFF2-40B4-BE49-F238E27FC236}">
                  <a16:creationId xmlns:a16="http://schemas.microsoft.com/office/drawing/2014/main" id="{AAF070B9-3008-34FF-1835-7CE6438581C8}"/>
                </a:ext>
              </a:extLst>
            </p:cNvPr>
            <p:cNvSpPr/>
            <p:nvPr/>
          </p:nvSpPr>
          <p:spPr>
            <a:xfrm rot="5400000">
              <a:off x="3034606" y="2229551"/>
              <a:ext cx="97849" cy="5444139"/>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200" name="文字方塊 199">
              <a:extLst>
                <a:ext uri="{FF2B5EF4-FFF2-40B4-BE49-F238E27FC236}">
                  <a16:creationId xmlns:a16="http://schemas.microsoft.com/office/drawing/2014/main" id="{AC6A3488-2C92-E5B5-AE95-81B6B9403760}"/>
                </a:ext>
              </a:extLst>
            </p:cNvPr>
            <p:cNvSpPr txBox="1"/>
            <p:nvPr/>
          </p:nvSpPr>
          <p:spPr>
            <a:xfrm>
              <a:off x="1759280" y="4664083"/>
              <a:ext cx="3098925" cy="307777"/>
            </a:xfrm>
            <a:prstGeom prst="rect">
              <a:avLst/>
            </a:prstGeom>
            <a:noFill/>
          </p:spPr>
          <p:txBody>
            <a:bodyPr wrap="none" rtlCol="0">
              <a:spAutoFit/>
            </a:bodyPr>
            <a:lstStyle/>
            <a:p>
              <a:r>
                <a:rPr kumimoji="1" lang="en-US" altLang="zh-TW" sz="1400" dirty="0">
                  <a:solidFill>
                    <a:srgbClr val="C00000"/>
                  </a:solidFill>
                  <a:latin typeface="Arial" panose="020B0604020202020204" pitchFamily="34" charset="0"/>
                  <a:cs typeface="Arial" panose="020B0604020202020204" pitchFamily="34" charset="0"/>
                </a:rPr>
                <a:t>Find the leftmost bit with bit set. O(1)</a:t>
              </a:r>
              <a:endParaRPr kumimoji="1" lang="zh-TW" altLang="en-US" sz="1400" dirty="0">
                <a:solidFill>
                  <a:srgbClr val="C00000"/>
                </a:solidFill>
                <a:latin typeface="Arial" panose="020B0604020202020204" pitchFamily="34" charset="0"/>
                <a:cs typeface="Arial" panose="020B0604020202020204" pitchFamily="34" charset="0"/>
              </a:endParaRPr>
            </a:p>
          </p:txBody>
        </p:sp>
      </p:grpSp>
      <p:sp>
        <p:nvSpPr>
          <p:cNvPr id="202" name="矩形 201">
            <a:extLst>
              <a:ext uri="{FF2B5EF4-FFF2-40B4-BE49-F238E27FC236}">
                <a16:creationId xmlns:a16="http://schemas.microsoft.com/office/drawing/2014/main" id="{E59FB863-BC3B-3C38-7511-45F382283F23}"/>
              </a:ext>
            </a:extLst>
          </p:cNvPr>
          <p:cNvSpPr/>
          <p:nvPr/>
        </p:nvSpPr>
        <p:spPr>
          <a:xfrm>
            <a:off x="524941" y="5010897"/>
            <a:ext cx="172720" cy="203200"/>
          </a:xfrm>
          <a:prstGeom prst="rect">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spTree>
    <p:extLst>
      <p:ext uri="{BB962C8B-B14F-4D97-AF65-F5344CB8AC3E}">
        <p14:creationId xmlns:p14="http://schemas.microsoft.com/office/powerpoint/2010/main" val="365965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5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50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5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500"/>
                                        <p:tgtEl>
                                          <p:spTgt spid="4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5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500"/>
                                        <p:tgtEl>
                                          <p:spTgt spid="4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5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500"/>
                                        <p:tgtEl>
                                          <p:spTgt spid="44"/>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5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9" dur="500"/>
                                        <p:tgtEl>
                                          <p:spTgt spid="4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2" dur="500"/>
                                        <p:tgtEl>
                                          <p:spTgt spid="49"/>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5" dur="500"/>
                                        <p:tgtEl>
                                          <p:spTgt spid="50"/>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1"/>
                                        </p:tgtEl>
                                        <p:attrNameLst>
                                          <p:attrName>style.visibility</p:attrName>
                                        </p:attrNameLst>
                                      </p:cBhvr>
                                      <p:to>
                                        <p:strVal val="visible"/>
                                      </p:to>
                                    </p:set>
                                    <p:animEffect transition="in" filter="fade">
                                      <p:cBhvr>
                                        <p:cTn id="138" dur="500"/>
                                        <p:tgtEl>
                                          <p:spTgt spid="51"/>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41" dur="500"/>
                                        <p:tgtEl>
                                          <p:spTgt spid="52"/>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4" dur="500"/>
                                        <p:tgtEl>
                                          <p:spTgt spid="5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7" dur="500"/>
                                        <p:tgtEl>
                                          <p:spTgt spid="54"/>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50" dur="500"/>
                                        <p:tgtEl>
                                          <p:spTgt spid="55"/>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3" dur="500"/>
                                        <p:tgtEl>
                                          <p:spTgt spid="56"/>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6" dur="500"/>
                                        <p:tgtEl>
                                          <p:spTgt spid="57"/>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9" dur="500"/>
                                        <p:tgtEl>
                                          <p:spTgt spid="58"/>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2" dur="500"/>
                                        <p:tgtEl>
                                          <p:spTgt spid="60"/>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61"/>
                                        </p:tgtEl>
                                        <p:attrNameLst>
                                          <p:attrName>style.visibility</p:attrName>
                                        </p:attrNameLst>
                                      </p:cBhvr>
                                      <p:to>
                                        <p:strVal val="visible"/>
                                      </p:to>
                                    </p:set>
                                    <p:animEffect transition="in" filter="fade">
                                      <p:cBhvr>
                                        <p:cTn id="165" dur="500"/>
                                        <p:tgtEl>
                                          <p:spTgt spid="61"/>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62"/>
                                        </p:tgtEl>
                                        <p:attrNameLst>
                                          <p:attrName>style.visibility</p:attrName>
                                        </p:attrNameLst>
                                      </p:cBhvr>
                                      <p:to>
                                        <p:strVal val="visible"/>
                                      </p:to>
                                    </p:set>
                                    <p:animEffect transition="in" filter="fade">
                                      <p:cBhvr>
                                        <p:cTn id="168" dur="500"/>
                                        <p:tgtEl>
                                          <p:spTgt spid="62"/>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3"/>
                                        </p:tgtEl>
                                        <p:attrNameLst>
                                          <p:attrName>style.visibility</p:attrName>
                                        </p:attrNameLst>
                                      </p:cBhvr>
                                      <p:to>
                                        <p:strVal val="visible"/>
                                      </p:to>
                                    </p:set>
                                    <p:animEffect transition="in" filter="fade">
                                      <p:cBhvr>
                                        <p:cTn id="171" dur="500"/>
                                        <p:tgtEl>
                                          <p:spTgt spid="63"/>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4"/>
                                        </p:tgtEl>
                                        <p:attrNameLst>
                                          <p:attrName>style.visibility</p:attrName>
                                        </p:attrNameLst>
                                      </p:cBhvr>
                                      <p:to>
                                        <p:strVal val="visible"/>
                                      </p:to>
                                    </p:set>
                                    <p:animEffect transition="in" filter="fade">
                                      <p:cBhvr>
                                        <p:cTn id="174" dur="500"/>
                                        <p:tgtEl>
                                          <p:spTgt spid="64"/>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5"/>
                                        </p:tgtEl>
                                        <p:attrNameLst>
                                          <p:attrName>style.visibility</p:attrName>
                                        </p:attrNameLst>
                                      </p:cBhvr>
                                      <p:to>
                                        <p:strVal val="visible"/>
                                      </p:to>
                                    </p:set>
                                    <p:animEffect transition="in" filter="fade">
                                      <p:cBhvr>
                                        <p:cTn id="177" dur="500"/>
                                        <p:tgtEl>
                                          <p:spTgt spid="65"/>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6"/>
                                        </p:tgtEl>
                                        <p:attrNameLst>
                                          <p:attrName>style.visibility</p:attrName>
                                        </p:attrNameLst>
                                      </p:cBhvr>
                                      <p:to>
                                        <p:strVal val="visible"/>
                                      </p:to>
                                    </p:set>
                                    <p:animEffect transition="in" filter="fade">
                                      <p:cBhvr>
                                        <p:cTn id="180" dur="500"/>
                                        <p:tgtEl>
                                          <p:spTgt spid="66"/>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7"/>
                                        </p:tgtEl>
                                        <p:attrNameLst>
                                          <p:attrName>style.visibility</p:attrName>
                                        </p:attrNameLst>
                                      </p:cBhvr>
                                      <p:to>
                                        <p:strVal val="visible"/>
                                      </p:to>
                                    </p:set>
                                    <p:animEffect transition="in" filter="fade">
                                      <p:cBhvr>
                                        <p:cTn id="183" dur="500"/>
                                        <p:tgtEl>
                                          <p:spTgt spid="67"/>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8"/>
                                        </p:tgtEl>
                                        <p:attrNameLst>
                                          <p:attrName>style.visibility</p:attrName>
                                        </p:attrNameLst>
                                      </p:cBhvr>
                                      <p:to>
                                        <p:strVal val="visible"/>
                                      </p:to>
                                    </p:set>
                                    <p:animEffect transition="in" filter="fade">
                                      <p:cBhvr>
                                        <p:cTn id="186" dur="500"/>
                                        <p:tgtEl>
                                          <p:spTgt spid="68"/>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9"/>
                                        </p:tgtEl>
                                        <p:attrNameLst>
                                          <p:attrName>style.visibility</p:attrName>
                                        </p:attrNameLst>
                                      </p:cBhvr>
                                      <p:to>
                                        <p:strVal val="visible"/>
                                      </p:to>
                                    </p:set>
                                    <p:animEffect transition="in" filter="fade">
                                      <p:cBhvr>
                                        <p:cTn id="189" dur="500"/>
                                        <p:tgtEl>
                                          <p:spTgt spid="69"/>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0"/>
                                        </p:tgtEl>
                                        <p:attrNameLst>
                                          <p:attrName>style.visibility</p:attrName>
                                        </p:attrNameLst>
                                      </p:cBhvr>
                                      <p:to>
                                        <p:strVal val="visible"/>
                                      </p:to>
                                    </p:set>
                                    <p:animEffect transition="in" filter="fade">
                                      <p:cBhvr>
                                        <p:cTn id="192" dur="500"/>
                                        <p:tgtEl>
                                          <p:spTgt spid="70"/>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5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500"/>
                                        <p:tgtEl>
                                          <p:spTgt spid="72"/>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5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5"/>
                                        </p:tgtEl>
                                        <p:attrNameLst>
                                          <p:attrName>style.visibility</p:attrName>
                                        </p:attrNameLst>
                                      </p:cBhvr>
                                      <p:to>
                                        <p:strVal val="visible"/>
                                      </p:to>
                                    </p:set>
                                    <p:animEffect transition="in" filter="fade">
                                      <p:cBhvr>
                                        <p:cTn id="204" dur="500"/>
                                        <p:tgtEl>
                                          <p:spTgt spid="75"/>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6"/>
                                        </p:tgtEl>
                                        <p:attrNameLst>
                                          <p:attrName>style.visibility</p:attrName>
                                        </p:attrNameLst>
                                      </p:cBhvr>
                                      <p:to>
                                        <p:strVal val="visible"/>
                                      </p:to>
                                    </p:set>
                                    <p:animEffect transition="in" filter="fade">
                                      <p:cBhvr>
                                        <p:cTn id="207" dur="500"/>
                                        <p:tgtEl>
                                          <p:spTgt spid="76"/>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7"/>
                                        </p:tgtEl>
                                        <p:attrNameLst>
                                          <p:attrName>style.visibility</p:attrName>
                                        </p:attrNameLst>
                                      </p:cBhvr>
                                      <p:to>
                                        <p:strVal val="visible"/>
                                      </p:to>
                                    </p:set>
                                    <p:animEffect transition="in" filter="fade">
                                      <p:cBhvr>
                                        <p:cTn id="210" dur="500"/>
                                        <p:tgtEl>
                                          <p:spTgt spid="77"/>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8"/>
                                        </p:tgtEl>
                                        <p:attrNameLst>
                                          <p:attrName>style.visibility</p:attrName>
                                        </p:attrNameLst>
                                      </p:cBhvr>
                                      <p:to>
                                        <p:strVal val="visible"/>
                                      </p:to>
                                    </p:set>
                                    <p:animEffect transition="in" filter="fade">
                                      <p:cBhvr>
                                        <p:cTn id="213" dur="500"/>
                                        <p:tgtEl>
                                          <p:spTgt spid="78"/>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9"/>
                                        </p:tgtEl>
                                        <p:attrNameLst>
                                          <p:attrName>style.visibility</p:attrName>
                                        </p:attrNameLst>
                                      </p:cBhvr>
                                      <p:to>
                                        <p:strVal val="visible"/>
                                      </p:to>
                                    </p:set>
                                    <p:animEffect transition="in" filter="fade">
                                      <p:cBhvr>
                                        <p:cTn id="216" dur="500"/>
                                        <p:tgtEl>
                                          <p:spTgt spid="79"/>
                                        </p:tgtEl>
                                      </p:cBhvr>
                                    </p:animEffect>
                                  </p:childTnLst>
                                </p:cTn>
                              </p:par>
                              <p:par>
                                <p:cTn id="217" presetID="10" presetClass="entr" presetSubtype="0" fill="hold" grpId="0" nodeType="withEffect">
                                  <p:stCondLst>
                                    <p:cond delay="0"/>
                                  </p:stCondLst>
                                  <p:childTnLst>
                                    <p:set>
                                      <p:cBhvr>
                                        <p:cTn id="218" dur="1" fill="hold">
                                          <p:stCondLst>
                                            <p:cond delay="0"/>
                                          </p:stCondLst>
                                        </p:cTn>
                                        <p:tgtEl>
                                          <p:spTgt spid="80"/>
                                        </p:tgtEl>
                                        <p:attrNameLst>
                                          <p:attrName>style.visibility</p:attrName>
                                        </p:attrNameLst>
                                      </p:cBhvr>
                                      <p:to>
                                        <p:strVal val="visible"/>
                                      </p:to>
                                    </p:set>
                                    <p:animEffect transition="in" filter="fade">
                                      <p:cBhvr>
                                        <p:cTn id="219" dur="500"/>
                                        <p:tgtEl>
                                          <p:spTgt spid="80"/>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1"/>
                                        </p:tgtEl>
                                        <p:attrNameLst>
                                          <p:attrName>style.visibility</p:attrName>
                                        </p:attrNameLst>
                                      </p:cBhvr>
                                      <p:to>
                                        <p:strVal val="visible"/>
                                      </p:to>
                                    </p:set>
                                    <p:animEffect transition="in" filter="fade">
                                      <p:cBhvr>
                                        <p:cTn id="222" dur="500"/>
                                        <p:tgtEl>
                                          <p:spTgt spid="81"/>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82"/>
                                        </p:tgtEl>
                                        <p:attrNameLst>
                                          <p:attrName>style.visibility</p:attrName>
                                        </p:attrNameLst>
                                      </p:cBhvr>
                                      <p:to>
                                        <p:strVal val="visible"/>
                                      </p:to>
                                    </p:set>
                                    <p:animEffect transition="in" filter="fade">
                                      <p:cBhvr>
                                        <p:cTn id="225" dur="500"/>
                                        <p:tgtEl>
                                          <p:spTgt spid="82"/>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3"/>
                                        </p:tgtEl>
                                        <p:attrNameLst>
                                          <p:attrName>style.visibility</p:attrName>
                                        </p:attrNameLst>
                                      </p:cBhvr>
                                      <p:to>
                                        <p:strVal val="visible"/>
                                      </p:to>
                                    </p:set>
                                    <p:animEffect transition="in" filter="fade">
                                      <p:cBhvr>
                                        <p:cTn id="228" dur="500"/>
                                        <p:tgtEl>
                                          <p:spTgt spid="83"/>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5"/>
                                        </p:tgtEl>
                                        <p:attrNameLst>
                                          <p:attrName>style.visibility</p:attrName>
                                        </p:attrNameLst>
                                      </p:cBhvr>
                                      <p:to>
                                        <p:strVal val="visible"/>
                                      </p:to>
                                    </p:set>
                                    <p:animEffect transition="in" filter="fade">
                                      <p:cBhvr>
                                        <p:cTn id="231" dur="500"/>
                                        <p:tgtEl>
                                          <p:spTgt spid="85"/>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86"/>
                                        </p:tgtEl>
                                        <p:attrNameLst>
                                          <p:attrName>style.visibility</p:attrName>
                                        </p:attrNameLst>
                                      </p:cBhvr>
                                      <p:to>
                                        <p:strVal val="visible"/>
                                      </p:to>
                                    </p:set>
                                    <p:animEffect transition="in" filter="fade">
                                      <p:cBhvr>
                                        <p:cTn id="234" dur="500"/>
                                        <p:tgtEl>
                                          <p:spTgt spid="86"/>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7"/>
                                        </p:tgtEl>
                                        <p:attrNameLst>
                                          <p:attrName>style.visibility</p:attrName>
                                        </p:attrNameLst>
                                      </p:cBhvr>
                                      <p:to>
                                        <p:strVal val="visible"/>
                                      </p:to>
                                    </p:set>
                                    <p:animEffect transition="in" filter="fade">
                                      <p:cBhvr>
                                        <p:cTn id="237" dur="500"/>
                                        <p:tgtEl>
                                          <p:spTgt spid="87"/>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8"/>
                                        </p:tgtEl>
                                        <p:attrNameLst>
                                          <p:attrName>style.visibility</p:attrName>
                                        </p:attrNameLst>
                                      </p:cBhvr>
                                      <p:to>
                                        <p:strVal val="visible"/>
                                      </p:to>
                                    </p:set>
                                    <p:animEffect transition="in" filter="fade">
                                      <p:cBhvr>
                                        <p:cTn id="240" dur="500"/>
                                        <p:tgtEl>
                                          <p:spTgt spid="88"/>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9"/>
                                        </p:tgtEl>
                                        <p:attrNameLst>
                                          <p:attrName>style.visibility</p:attrName>
                                        </p:attrNameLst>
                                      </p:cBhvr>
                                      <p:to>
                                        <p:strVal val="visible"/>
                                      </p:to>
                                    </p:set>
                                    <p:animEffect transition="in" filter="fade">
                                      <p:cBhvr>
                                        <p:cTn id="243" dur="500"/>
                                        <p:tgtEl>
                                          <p:spTgt spid="89"/>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90"/>
                                        </p:tgtEl>
                                        <p:attrNameLst>
                                          <p:attrName>style.visibility</p:attrName>
                                        </p:attrNameLst>
                                      </p:cBhvr>
                                      <p:to>
                                        <p:strVal val="visible"/>
                                      </p:to>
                                    </p:set>
                                    <p:animEffect transition="in" filter="fade">
                                      <p:cBhvr>
                                        <p:cTn id="246" dur="500"/>
                                        <p:tgtEl>
                                          <p:spTgt spid="90"/>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91"/>
                                        </p:tgtEl>
                                        <p:attrNameLst>
                                          <p:attrName>style.visibility</p:attrName>
                                        </p:attrNameLst>
                                      </p:cBhvr>
                                      <p:to>
                                        <p:strVal val="visible"/>
                                      </p:to>
                                    </p:set>
                                    <p:animEffect transition="in" filter="fade">
                                      <p:cBhvr>
                                        <p:cTn id="249" dur="500"/>
                                        <p:tgtEl>
                                          <p:spTgt spid="91"/>
                                        </p:tgtEl>
                                      </p:cBhvr>
                                    </p:animEffect>
                                  </p:childTnLst>
                                </p:cTn>
                              </p:par>
                              <p:par>
                                <p:cTn id="250" presetID="10" presetClass="entr" presetSubtype="0" fill="hold" grpId="0" nodeType="withEffect">
                                  <p:stCondLst>
                                    <p:cond delay="0"/>
                                  </p:stCondLst>
                                  <p:childTnLst>
                                    <p:set>
                                      <p:cBhvr>
                                        <p:cTn id="251" dur="1" fill="hold">
                                          <p:stCondLst>
                                            <p:cond delay="0"/>
                                          </p:stCondLst>
                                        </p:cTn>
                                        <p:tgtEl>
                                          <p:spTgt spid="92"/>
                                        </p:tgtEl>
                                        <p:attrNameLst>
                                          <p:attrName>style.visibility</p:attrName>
                                        </p:attrNameLst>
                                      </p:cBhvr>
                                      <p:to>
                                        <p:strVal val="visible"/>
                                      </p:to>
                                    </p:set>
                                    <p:animEffect transition="in" filter="fade">
                                      <p:cBhvr>
                                        <p:cTn id="252" dur="500"/>
                                        <p:tgtEl>
                                          <p:spTgt spid="92"/>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93"/>
                                        </p:tgtEl>
                                        <p:attrNameLst>
                                          <p:attrName>style.visibility</p:attrName>
                                        </p:attrNameLst>
                                      </p:cBhvr>
                                      <p:to>
                                        <p:strVal val="visible"/>
                                      </p:to>
                                    </p:set>
                                    <p:animEffect transition="in" filter="fade">
                                      <p:cBhvr>
                                        <p:cTn id="255" dur="500"/>
                                        <p:tgtEl>
                                          <p:spTgt spid="93"/>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94"/>
                                        </p:tgtEl>
                                        <p:attrNameLst>
                                          <p:attrName>style.visibility</p:attrName>
                                        </p:attrNameLst>
                                      </p:cBhvr>
                                      <p:to>
                                        <p:strVal val="visible"/>
                                      </p:to>
                                    </p:set>
                                    <p:animEffect transition="in" filter="fade">
                                      <p:cBhvr>
                                        <p:cTn id="258" dur="500"/>
                                        <p:tgtEl>
                                          <p:spTgt spid="94"/>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95"/>
                                        </p:tgtEl>
                                        <p:attrNameLst>
                                          <p:attrName>style.visibility</p:attrName>
                                        </p:attrNameLst>
                                      </p:cBhvr>
                                      <p:to>
                                        <p:strVal val="visible"/>
                                      </p:to>
                                    </p:set>
                                    <p:animEffect transition="in" filter="fade">
                                      <p:cBhvr>
                                        <p:cTn id="261" dur="500"/>
                                        <p:tgtEl>
                                          <p:spTgt spid="95"/>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96"/>
                                        </p:tgtEl>
                                        <p:attrNameLst>
                                          <p:attrName>style.visibility</p:attrName>
                                        </p:attrNameLst>
                                      </p:cBhvr>
                                      <p:to>
                                        <p:strVal val="visible"/>
                                      </p:to>
                                    </p:set>
                                    <p:animEffect transition="in" filter="fade">
                                      <p:cBhvr>
                                        <p:cTn id="264" dur="500"/>
                                        <p:tgtEl>
                                          <p:spTgt spid="96"/>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8"/>
                                        </p:tgtEl>
                                        <p:attrNameLst>
                                          <p:attrName>style.visibility</p:attrName>
                                        </p:attrNameLst>
                                      </p:cBhvr>
                                      <p:to>
                                        <p:strVal val="visible"/>
                                      </p:to>
                                    </p:set>
                                    <p:animEffect transition="in" filter="fade">
                                      <p:cBhvr>
                                        <p:cTn id="267" dur="500"/>
                                        <p:tgtEl>
                                          <p:spTgt spid="98"/>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99"/>
                                        </p:tgtEl>
                                        <p:attrNameLst>
                                          <p:attrName>style.visibility</p:attrName>
                                        </p:attrNameLst>
                                      </p:cBhvr>
                                      <p:to>
                                        <p:strVal val="visible"/>
                                      </p:to>
                                    </p:set>
                                    <p:animEffect transition="in" filter="fade">
                                      <p:cBhvr>
                                        <p:cTn id="270" dur="500"/>
                                        <p:tgtEl>
                                          <p:spTgt spid="99"/>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100"/>
                                        </p:tgtEl>
                                        <p:attrNameLst>
                                          <p:attrName>style.visibility</p:attrName>
                                        </p:attrNameLst>
                                      </p:cBhvr>
                                      <p:to>
                                        <p:strVal val="visible"/>
                                      </p:to>
                                    </p:set>
                                    <p:animEffect transition="in" filter="fade">
                                      <p:cBhvr>
                                        <p:cTn id="273" dur="500"/>
                                        <p:tgtEl>
                                          <p:spTgt spid="100"/>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101"/>
                                        </p:tgtEl>
                                        <p:attrNameLst>
                                          <p:attrName>style.visibility</p:attrName>
                                        </p:attrNameLst>
                                      </p:cBhvr>
                                      <p:to>
                                        <p:strVal val="visible"/>
                                      </p:to>
                                    </p:set>
                                    <p:animEffect transition="in" filter="fade">
                                      <p:cBhvr>
                                        <p:cTn id="276" dur="500"/>
                                        <p:tgtEl>
                                          <p:spTgt spid="101"/>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102"/>
                                        </p:tgtEl>
                                        <p:attrNameLst>
                                          <p:attrName>style.visibility</p:attrName>
                                        </p:attrNameLst>
                                      </p:cBhvr>
                                      <p:to>
                                        <p:strVal val="visible"/>
                                      </p:to>
                                    </p:set>
                                    <p:animEffect transition="in" filter="fade">
                                      <p:cBhvr>
                                        <p:cTn id="279" dur="500"/>
                                        <p:tgtEl>
                                          <p:spTgt spid="102"/>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103"/>
                                        </p:tgtEl>
                                        <p:attrNameLst>
                                          <p:attrName>style.visibility</p:attrName>
                                        </p:attrNameLst>
                                      </p:cBhvr>
                                      <p:to>
                                        <p:strVal val="visible"/>
                                      </p:to>
                                    </p:set>
                                    <p:animEffect transition="in" filter="fade">
                                      <p:cBhvr>
                                        <p:cTn id="282" dur="500"/>
                                        <p:tgtEl>
                                          <p:spTgt spid="103"/>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04"/>
                                        </p:tgtEl>
                                        <p:attrNameLst>
                                          <p:attrName>style.visibility</p:attrName>
                                        </p:attrNameLst>
                                      </p:cBhvr>
                                      <p:to>
                                        <p:strVal val="visible"/>
                                      </p:to>
                                    </p:set>
                                    <p:animEffect transition="in" filter="fade">
                                      <p:cBhvr>
                                        <p:cTn id="285" dur="500"/>
                                        <p:tgtEl>
                                          <p:spTgt spid="104"/>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05"/>
                                        </p:tgtEl>
                                        <p:attrNameLst>
                                          <p:attrName>style.visibility</p:attrName>
                                        </p:attrNameLst>
                                      </p:cBhvr>
                                      <p:to>
                                        <p:strVal val="visible"/>
                                      </p:to>
                                    </p:set>
                                    <p:animEffect transition="in" filter="fade">
                                      <p:cBhvr>
                                        <p:cTn id="288" dur="500"/>
                                        <p:tgtEl>
                                          <p:spTgt spid="105"/>
                                        </p:tgtEl>
                                      </p:cBhvr>
                                    </p:animEffect>
                                  </p:childTnLst>
                                </p:cTn>
                              </p:par>
                              <p:par>
                                <p:cTn id="289" presetID="10" presetClass="entr" presetSubtype="0" fill="hold" grpId="0" nodeType="withEffect">
                                  <p:stCondLst>
                                    <p:cond delay="0"/>
                                  </p:stCondLst>
                                  <p:childTnLst>
                                    <p:set>
                                      <p:cBhvr>
                                        <p:cTn id="290" dur="1" fill="hold">
                                          <p:stCondLst>
                                            <p:cond delay="0"/>
                                          </p:stCondLst>
                                        </p:cTn>
                                        <p:tgtEl>
                                          <p:spTgt spid="106"/>
                                        </p:tgtEl>
                                        <p:attrNameLst>
                                          <p:attrName>style.visibility</p:attrName>
                                        </p:attrNameLst>
                                      </p:cBhvr>
                                      <p:to>
                                        <p:strVal val="visible"/>
                                      </p:to>
                                    </p:set>
                                    <p:animEffect transition="in" filter="fade">
                                      <p:cBhvr>
                                        <p:cTn id="291" dur="500"/>
                                        <p:tgtEl>
                                          <p:spTgt spid="106"/>
                                        </p:tgtEl>
                                      </p:cBhvr>
                                    </p:animEffect>
                                  </p:childTnLst>
                                </p:cTn>
                              </p:par>
                              <p:par>
                                <p:cTn id="292" presetID="10" presetClass="entr" presetSubtype="0" fill="hold" grpId="0" nodeType="withEffect">
                                  <p:stCondLst>
                                    <p:cond delay="0"/>
                                  </p:stCondLst>
                                  <p:childTnLst>
                                    <p:set>
                                      <p:cBhvr>
                                        <p:cTn id="293" dur="1" fill="hold">
                                          <p:stCondLst>
                                            <p:cond delay="0"/>
                                          </p:stCondLst>
                                        </p:cTn>
                                        <p:tgtEl>
                                          <p:spTgt spid="107"/>
                                        </p:tgtEl>
                                        <p:attrNameLst>
                                          <p:attrName>style.visibility</p:attrName>
                                        </p:attrNameLst>
                                      </p:cBhvr>
                                      <p:to>
                                        <p:strVal val="visible"/>
                                      </p:to>
                                    </p:set>
                                    <p:animEffect transition="in" filter="fade">
                                      <p:cBhvr>
                                        <p:cTn id="294" dur="500"/>
                                        <p:tgtEl>
                                          <p:spTgt spid="107"/>
                                        </p:tgtEl>
                                      </p:cBhvr>
                                    </p:animEffect>
                                  </p:childTnLst>
                                </p:cTn>
                              </p:par>
                              <p:par>
                                <p:cTn id="295" presetID="10" presetClass="entr" presetSubtype="0" fill="hold" grpId="0" nodeType="withEffect">
                                  <p:stCondLst>
                                    <p:cond delay="0"/>
                                  </p:stCondLst>
                                  <p:childTnLst>
                                    <p:set>
                                      <p:cBhvr>
                                        <p:cTn id="296" dur="1" fill="hold">
                                          <p:stCondLst>
                                            <p:cond delay="0"/>
                                          </p:stCondLst>
                                        </p:cTn>
                                        <p:tgtEl>
                                          <p:spTgt spid="108"/>
                                        </p:tgtEl>
                                        <p:attrNameLst>
                                          <p:attrName>style.visibility</p:attrName>
                                        </p:attrNameLst>
                                      </p:cBhvr>
                                      <p:to>
                                        <p:strVal val="visible"/>
                                      </p:to>
                                    </p:set>
                                    <p:animEffect transition="in" filter="fade">
                                      <p:cBhvr>
                                        <p:cTn id="297" dur="500"/>
                                        <p:tgtEl>
                                          <p:spTgt spid="108"/>
                                        </p:tgtEl>
                                      </p:cBhvr>
                                    </p:animEffect>
                                  </p:childTnLst>
                                </p:cTn>
                              </p:par>
                              <p:par>
                                <p:cTn id="298" presetID="10" presetClass="entr" presetSubtype="0" fill="hold" grpId="0" nodeType="withEffect">
                                  <p:stCondLst>
                                    <p:cond delay="0"/>
                                  </p:stCondLst>
                                  <p:childTnLst>
                                    <p:set>
                                      <p:cBhvr>
                                        <p:cTn id="299" dur="1" fill="hold">
                                          <p:stCondLst>
                                            <p:cond delay="0"/>
                                          </p:stCondLst>
                                        </p:cTn>
                                        <p:tgtEl>
                                          <p:spTgt spid="109"/>
                                        </p:tgtEl>
                                        <p:attrNameLst>
                                          <p:attrName>style.visibility</p:attrName>
                                        </p:attrNameLst>
                                      </p:cBhvr>
                                      <p:to>
                                        <p:strVal val="visible"/>
                                      </p:to>
                                    </p:set>
                                    <p:animEffect transition="in" filter="fade">
                                      <p:cBhvr>
                                        <p:cTn id="300" dur="500"/>
                                        <p:tgtEl>
                                          <p:spTgt spid="109"/>
                                        </p:tgtEl>
                                      </p:cBhvr>
                                    </p:animEffect>
                                  </p:childTnLst>
                                </p:cTn>
                              </p:par>
                              <p:par>
                                <p:cTn id="301" presetID="10" presetClass="entr" presetSubtype="0" fill="hold" grpId="0" nodeType="withEffect">
                                  <p:stCondLst>
                                    <p:cond delay="0"/>
                                  </p:stCondLst>
                                  <p:childTnLst>
                                    <p:set>
                                      <p:cBhvr>
                                        <p:cTn id="302" dur="1" fill="hold">
                                          <p:stCondLst>
                                            <p:cond delay="0"/>
                                          </p:stCondLst>
                                        </p:cTn>
                                        <p:tgtEl>
                                          <p:spTgt spid="111"/>
                                        </p:tgtEl>
                                        <p:attrNameLst>
                                          <p:attrName>style.visibility</p:attrName>
                                        </p:attrNameLst>
                                      </p:cBhvr>
                                      <p:to>
                                        <p:strVal val="visible"/>
                                      </p:to>
                                    </p:set>
                                    <p:animEffect transition="in" filter="fade">
                                      <p:cBhvr>
                                        <p:cTn id="303" dur="500"/>
                                        <p:tgtEl>
                                          <p:spTgt spid="111"/>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112"/>
                                        </p:tgtEl>
                                        <p:attrNameLst>
                                          <p:attrName>style.visibility</p:attrName>
                                        </p:attrNameLst>
                                      </p:cBhvr>
                                      <p:to>
                                        <p:strVal val="visible"/>
                                      </p:to>
                                    </p:set>
                                    <p:animEffect transition="in" filter="fade">
                                      <p:cBhvr>
                                        <p:cTn id="306" dur="500"/>
                                        <p:tgtEl>
                                          <p:spTgt spid="112"/>
                                        </p:tgtEl>
                                      </p:cBhvr>
                                    </p:animEffect>
                                  </p:childTnLst>
                                </p:cTn>
                              </p:par>
                              <p:par>
                                <p:cTn id="307" presetID="10" presetClass="entr" presetSubtype="0" fill="hold" grpId="0" nodeType="withEffect">
                                  <p:stCondLst>
                                    <p:cond delay="0"/>
                                  </p:stCondLst>
                                  <p:childTnLst>
                                    <p:set>
                                      <p:cBhvr>
                                        <p:cTn id="308" dur="1" fill="hold">
                                          <p:stCondLst>
                                            <p:cond delay="0"/>
                                          </p:stCondLst>
                                        </p:cTn>
                                        <p:tgtEl>
                                          <p:spTgt spid="113"/>
                                        </p:tgtEl>
                                        <p:attrNameLst>
                                          <p:attrName>style.visibility</p:attrName>
                                        </p:attrNameLst>
                                      </p:cBhvr>
                                      <p:to>
                                        <p:strVal val="visible"/>
                                      </p:to>
                                    </p:set>
                                    <p:animEffect transition="in" filter="fade">
                                      <p:cBhvr>
                                        <p:cTn id="309" dur="500"/>
                                        <p:tgtEl>
                                          <p:spTgt spid="113"/>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114"/>
                                        </p:tgtEl>
                                        <p:attrNameLst>
                                          <p:attrName>style.visibility</p:attrName>
                                        </p:attrNameLst>
                                      </p:cBhvr>
                                      <p:to>
                                        <p:strVal val="visible"/>
                                      </p:to>
                                    </p:set>
                                    <p:animEffect transition="in" filter="fade">
                                      <p:cBhvr>
                                        <p:cTn id="312" dur="500"/>
                                        <p:tgtEl>
                                          <p:spTgt spid="114"/>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115"/>
                                        </p:tgtEl>
                                        <p:attrNameLst>
                                          <p:attrName>style.visibility</p:attrName>
                                        </p:attrNameLst>
                                      </p:cBhvr>
                                      <p:to>
                                        <p:strVal val="visible"/>
                                      </p:to>
                                    </p:set>
                                    <p:animEffect transition="in" filter="fade">
                                      <p:cBhvr>
                                        <p:cTn id="315" dur="500"/>
                                        <p:tgtEl>
                                          <p:spTgt spid="115"/>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116"/>
                                        </p:tgtEl>
                                        <p:attrNameLst>
                                          <p:attrName>style.visibility</p:attrName>
                                        </p:attrNameLst>
                                      </p:cBhvr>
                                      <p:to>
                                        <p:strVal val="visible"/>
                                      </p:to>
                                    </p:set>
                                    <p:animEffect transition="in" filter="fade">
                                      <p:cBhvr>
                                        <p:cTn id="318" dur="500"/>
                                        <p:tgtEl>
                                          <p:spTgt spid="116"/>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117"/>
                                        </p:tgtEl>
                                        <p:attrNameLst>
                                          <p:attrName>style.visibility</p:attrName>
                                        </p:attrNameLst>
                                      </p:cBhvr>
                                      <p:to>
                                        <p:strVal val="visible"/>
                                      </p:to>
                                    </p:set>
                                    <p:animEffect transition="in" filter="fade">
                                      <p:cBhvr>
                                        <p:cTn id="321" dur="500"/>
                                        <p:tgtEl>
                                          <p:spTgt spid="117"/>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118"/>
                                        </p:tgtEl>
                                        <p:attrNameLst>
                                          <p:attrName>style.visibility</p:attrName>
                                        </p:attrNameLst>
                                      </p:cBhvr>
                                      <p:to>
                                        <p:strVal val="visible"/>
                                      </p:to>
                                    </p:set>
                                    <p:animEffect transition="in" filter="fade">
                                      <p:cBhvr>
                                        <p:cTn id="324" dur="500"/>
                                        <p:tgtEl>
                                          <p:spTgt spid="118"/>
                                        </p:tgtEl>
                                      </p:cBhvr>
                                    </p:animEffect>
                                  </p:childTnLst>
                                </p:cTn>
                              </p:par>
                              <p:par>
                                <p:cTn id="325" presetID="10" presetClass="entr" presetSubtype="0" fill="hold" grpId="0" nodeType="withEffect">
                                  <p:stCondLst>
                                    <p:cond delay="0"/>
                                  </p:stCondLst>
                                  <p:childTnLst>
                                    <p:set>
                                      <p:cBhvr>
                                        <p:cTn id="326" dur="1" fill="hold">
                                          <p:stCondLst>
                                            <p:cond delay="0"/>
                                          </p:stCondLst>
                                        </p:cTn>
                                        <p:tgtEl>
                                          <p:spTgt spid="119"/>
                                        </p:tgtEl>
                                        <p:attrNameLst>
                                          <p:attrName>style.visibility</p:attrName>
                                        </p:attrNameLst>
                                      </p:cBhvr>
                                      <p:to>
                                        <p:strVal val="visible"/>
                                      </p:to>
                                    </p:set>
                                    <p:animEffect transition="in" filter="fade">
                                      <p:cBhvr>
                                        <p:cTn id="327" dur="500"/>
                                        <p:tgtEl>
                                          <p:spTgt spid="119"/>
                                        </p:tgtEl>
                                      </p:cBhvr>
                                    </p:animEffect>
                                  </p:childTnLst>
                                </p:cTn>
                              </p:par>
                              <p:par>
                                <p:cTn id="328" presetID="10" presetClass="entr" presetSubtype="0" fill="hold" grpId="0" nodeType="withEffect">
                                  <p:stCondLst>
                                    <p:cond delay="0"/>
                                  </p:stCondLst>
                                  <p:childTnLst>
                                    <p:set>
                                      <p:cBhvr>
                                        <p:cTn id="329" dur="1" fill="hold">
                                          <p:stCondLst>
                                            <p:cond delay="0"/>
                                          </p:stCondLst>
                                        </p:cTn>
                                        <p:tgtEl>
                                          <p:spTgt spid="121"/>
                                        </p:tgtEl>
                                        <p:attrNameLst>
                                          <p:attrName>style.visibility</p:attrName>
                                        </p:attrNameLst>
                                      </p:cBhvr>
                                      <p:to>
                                        <p:strVal val="visible"/>
                                      </p:to>
                                    </p:set>
                                    <p:animEffect transition="in" filter="fade">
                                      <p:cBhvr>
                                        <p:cTn id="330" dur="500"/>
                                        <p:tgtEl>
                                          <p:spTgt spid="121"/>
                                        </p:tgtEl>
                                      </p:cBhvr>
                                    </p:animEffect>
                                  </p:childTnLst>
                                </p:cTn>
                              </p:par>
                              <p:par>
                                <p:cTn id="331" presetID="10" presetClass="entr" presetSubtype="0" fill="hold" grpId="0" nodeType="withEffect">
                                  <p:stCondLst>
                                    <p:cond delay="0"/>
                                  </p:stCondLst>
                                  <p:childTnLst>
                                    <p:set>
                                      <p:cBhvr>
                                        <p:cTn id="332" dur="1" fill="hold">
                                          <p:stCondLst>
                                            <p:cond delay="0"/>
                                          </p:stCondLst>
                                        </p:cTn>
                                        <p:tgtEl>
                                          <p:spTgt spid="122"/>
                                        </p:tgtEl>
                                        <p:attrNameLst>
                                          <p:attrName>style.visibility</p:attrName>
                                        </p:attrNameLst>
                                      </p:cBhvr>
                                      <p:to>
                                        <p:strVal val="visible"/>
                                      </p:to>
                                    </p:set>
                                    <p:animEffect transition="in" filter="fade">
                                      <p:cBhvr>
                                        <p:cTn id="333" dur="500"/>
                                        <p:tgtEl>
                                          <p:spTgt spid="122"/>
                                        </p:tgtEl>
                                      </p:cBhvr>
                                    </p:animEffect>
                                  </p:childTnLst>
                                </p:cTn>
                              </p:par>
                              <p:par>
                                <p:cTn id="334" presetID="10" presetClass="entr" presetSubtype="0" fill="hold" grpId="0" nodeType="withEffect">
                                  <p:stCondLst>
                                    <p:cond delay="0"/>
                                  </p:stCondLst>
                                  <p:childTnLst>
                                    <p:set>
                                      <p:cBhvr>
                                        <p:cTn id="335" dur="1" fill="hold">
                                          <p:stCondLst>
                                            <p:cond delay="0"/>
                                          </p:stCondLst>
                                        </p:cTn>
                                        <p:tgtEl>
                                          <p:spTgt spid="123"/>
                                        </p:tgtEl>
                                        <p:attrNameLst>
                                          <p:attrName>style.visibility</p:attrName>
                                        </p:attrNameLst>
                                      </p:cBhvr>
                                      <p:to>
                                        <p:strVal val="visible"/>
                                      </p:to>
                                    </p:set>
                                    <p:animEffect transition="in" filter="fade">
                                      <p:cBhvr>
                                        <p:cTn id="336" dur="500"/>
                                        <p:tgtEl>
                                          <p:spTgt spid="123"/>
                                        </p:tgtEl>
                                      </p:cBhvr>
                                    </p:animEffect>
                                  </p:childTnLst>
                                </p:cTn>
                              </p:par>
                              <p:par>
                                <p:cTn id="337" presetID="10" presetClass="entr" presetSubtype="0" fill="hold" grpId="0" nodeType="withEffect">
                                  <p:stCondLst>
                                    <p:cond delay="0"/>
                                  </p:stCondLst>
                                  <p:childTnLst>
                                    <p:set>
                                      <p:cBhvr>
                                        <p:cTn id="338" dur="1" fill="hold">
                                          <p:stCondLst>
                                            <p:cond delay="0"/>
                                          </p:stCondLst>
                                        </p:cTn>
                                        <p:tgtEl>
                                          <p:spTgt spid="124"/>
                                        </p:tgtEl>
                                        <p:attrNameLst>
                                          <p:attrName>style.visibility</p:attrName>
                                        </p:attrNameLst>
                                      </p:cBhvr>
                                      <p:to>
                                        <p:strVal val="visible"/>
                                      </p:to>
                                    </p:set>
                                    <p:animEffect transition="in" filter="fade">
                                      <p:cBhvr>
                                        <p:cTn id="339" dur="500"/>
                                        <p:tgtEl>
                                          <p:spTgt spid="124"/>
                                        </p:tgtEl>
                                      </p:cBhvr>
                                    </p:animEffect>
                                  </p:childTnLst>
                                </p:cTn>
                              </p:par>
                              <p:par>
                                <p:cTn id="340" presetID="10" presetClass="entr" presetSubtype="0" fill="hold" grpId="0" nodeType="withEffect">
                                  <p:stCondLst>
                                    <p:cond delay="0"/>
                                  </p:stCondLst>
                                  <p:childTnLst>
                                    <p:set>
                                      <p:cBhvr>
                                        <p:cTn id="341" dur="1" fill="hold">
                                          <p:stCondLst>
                                            <p:cond delay="0"/>
                                          </p:stCondLst>
                                        </p:cTn>
                                        <p:tgtEl>
                                          <p:spTgt spid="125"/>
                                        </p:tgtEl>
                                        <p:attrNameLst>
                                          <p:attrName>style.visibility</p:attrName>
                                        </p:attrNameLst>
                                      </p:cBhvr>
                                      <p:to>
                                        <p:strVal val="visible"/>
                                      </p:to>
                                    </p:set>
                                    <p:animEffect transition="in" filter="fade">
                                      <p:cBhvr>
                                        <p:cTn id="342" dur="500"/>
                                        <p:tgtEl>
                                          <p:spTgt spid="125"/>
                                        </p:tgtEl>
                                      </p:cBhvr>
                                    </p:animEffect>
                                  </p:childTnLst>
                                </p:cTn>
                              </p:par>
                              <p:par>
                                <p:cTn id="343" presetID="10" presetClass="entr" presetSubtype="0" fill="hold" grpId="0" nodeType="withEffect">
                                  <p:stCondLst>
                                    <p:cond delay="0"/>
                                  </p:stCondLst>
                                  <p:childTnLst>
                                    <p:set>
                                      <p:cBhvr>
                                        <p:cTn id="344" dur="1" fill="hold">
                                          <p:stCondLst>
                                            <p:cond delay="0"/>
                                          </p:stCondLst>
                                        </p:cTn>
                                        <p:tgtEl>
                                          <p:spTgt spid="126"/>
                                        </p:tgtEl>
                                        <p:attrNameLst>
                                          <p:attrName>style.visibility</p:attrName>
                                        </p:attrNameLst>
                                      </p:cBhvr>
                                      <p:to>
                                        <p:strVal val="visible"/>
                                      </p:to>
                                    </p:set>
                                    <p:animEffect transition="in" filter="fade">
                                      <p:cBhvr>
                                        <p:cTn id="345" dur="500"/>
                                        <p:tgtEl>
                                          <p:spTgt spid="126"/>
                                        </p:tgtEl>
                                      </p:cBhvr>
                                    </p:animEffect>
                                  </p:childTnLst>
                                </p:cTn>
                              </p:par>
                              <p:par>
                                <p:cTn id="346" presetID="10" presetClass="entr" presetSubtype="0" fill="hold" grpId="0" nodeType="withEffect">
                                  <p:stCondLst>
                                    <p:cond delay="0"/>
                                  </p:stCondLst>
                                  <p:childTnLst>
                                    <p:set>
                                      <p:cBhvr>
                                        <p:cTn id="347" dur="1" fill="hold">
                                          <p:stCondLst>
                                            <p:cond delay="0"/>
                                          </p:stCondLst>
                                        </p:cTn>
                                        <p:tgtEl>
                                          <p:spTgt spid="127"/>
                                        </p:tgtEl>
                                        <p:attrNameLst>
                                          <p:attrName>style.visibility</p:attrName>
                                        </p:attrNameLst>
                                      </p:cBhvr>
                                      <p:to>
                                        <p:strVal val="visible"/>
                                      </p:to>
                                    </p:set>
                                    <p:animEffect transition="in" filter="fade">
                                      <p:cBhvr>
                                        <p:cTn id="348" dur="500"/>
                                        <p:tgtEl>
                                          <p:spTgt spid="127"/>
                                        </p:tgtEl>
                                      </p:cBhvr>
                                    </p:animEffect>
                                  </p:childTnLst>
                                </p:cTn>
                              </p:par>
                              <p:par>
                                <p:cTn id="349" presetID="10" presetClass="entr" presetSubtype="0" fill="hold" grpId="0" nodeType="withEffect">
                                  <p:stCondLst>
                                    <p:cond delay="0"/>
                                  </p:stCondLst>
                                  <p:childTnLst>
                                    <p:set>
                                      <p:cBhvr>
                                        <p:cTn id="350" dur="1" fill="hold">
                                          <p:stCondLst>
                                            <p:cond delay="0"/>
                                          </p:stCondLst>
                                        </p:cTn>
                                        <p:tgtEl>
                                          <p:spTgt spid="128"/>
                                        </p:tgtEl>
                                        <p:attrNameLst>
                                          <p:attrName>style.visibility</p:attrName>
                                        </p:attrNameLst>
                                      </p:cBhvr>
                                      <p:to>
                                        <p:strVal val="visible"/>
                                      </p:to>
                                    </p:set>
                                    <p:animEffect transition="in" filter="fade">
                                      <p:cBhvr>
                                        <p:cTn id="351" dur="500"/>
                                        <p:tgtEl>
                                          <p:spTgt spid="128"/>
                                        </p:tgtEl>
                                      </p:cBhvr>
                                    </p:animEffect>
                                  </p:childTnLst>
                                </p:cTn>
                              </p:par>
                              <p:par>
                                <p:cTn id="352" presetID="10" presetClass="entr" presetSubtype="0" fill="hold" grpId="0" nodeType="withEffect">
                                  <p:stCondLst>
                                    <p:cond delay="0"/>
                                  </p:stCondLst>
                                  <p:childTnLst>
                                    <p:set>
                                      <p:cBhvr>
                                        <p:cTn id="353" dur="1" fill="hold">
                                          <p:stCondLst>
                                            <p:cond delay="0"/>
                                          </p:stCondLst>
                                        </p:cTn>
                                        <p:tgtEl>
                                          <p:spTgt spid="129"/>
                                        </p:tgtEl>
                                        <p:attrNameLst>
                                          <p:attrName>style.visibility</p:attrName>
                                        </p:attrNameLst>
                                      </p:cBhvr>
                                      <p:to>
                                        <p:strVal val="visible"/>
                                      </p:to>
                                    </p:set>
                                    <p:animEffect transition="in" filter="fade">
                                      <p:cBhvr>
                                        <p:cTn id="354" dur="500"/>
                                        <p:tgtEl>
                                          <p:spTgt spid="129"/>
                                        </p:tgtEl>
                                      </p:cBhvr>
                                    </p:animEffect>
                                  </p:childTnLst>
                                </p:cTn>
                              </p:par>
                              <p:par>
                                <p:cTn id="355" presetID="10" presetClass="entr" presetSubtype="0" fill="hold" grpId="0" nodeType="withEffect">
                                  <p:stCondLst>
                                    <p:cond delay="0"/>
                                  </p:stCondLst>
                                  <p:childTnLst>
                                    <p:set>
                                      <p:cBhvr>
                                        <p:cTn id="356" dur="1" fill="hold">
                                          <p:stCondLst>
                                            <p:cond delay="0"/>
                                          </p:stCondLst>
                                        </p:cTn>
                                        <p:tgtEl>
                                          <p:spTgt spid="130"/>
                                        </p:tgtEl>
                                        <p:attrNameLst>
                                          <p:attrName>style.visibility</p:attrName>
                                        </p:attrNameLst>
                                      </p:cBhvr>
                                      <p:to>
                                        <p:strVal val="visible"/>
                                      </p:to>
                                    </p:set>
                                    <p:animEffect transition="in" filter="fade">
                                      <p:cBhvr>
                                        <p:cTn id="357" dur="500"/>
                                        <p:tgtEl>
                                          <p:spTgt spid="130"/>
                                        </p:tgtEl>
                                      </p:cBhvr>
                                    </p:animEffect>
                                  </p:childTnLst>
                                </p:cTn>
                              </p:par>
                              <p:par>
                                <p:cTn id="358" presetID="10" presetClass="entr" presetSubtype="0" fill="hold" grpId="0" nodeType="withEffect">
                                  <p:stCondLst>
                                    <p:cond delay="0"/>
                                  </p:stCondLst>
                                  <p:childTnLst>
                                    <p:set>
                                      <p:cBhvr>
                                        <p:cTn id="359" dur="1" fill="hold">
                                          <p:stCondLst>
                                            <p:cond delay="0"/>
                                          </p:stCondLst>
                                        </p:cTn>
                                        <p:tgtEl>
                                          <p:spTgt spid="131"/>
                                        </p:tgtEl>
                                        <p:attrNameLst>
                                          <p:attrName>style.visibility</p:attrName>
                                        </p:attrNameLst>
                                      </p:cBhvr>
                                      <p:to>
                                        <p:strVal val="visible"/>
                                      </p:to>
                                    </p:set>
                                    <p:animEffect transition="in" filter="fade">
                                      <p:cBhvr>
                                        <p:cTn id="360" dur="500"/>
                                        <p:tgtEl>
                                          <p:spTgt spid="131"/>
                                        </p:tgtEl>
                                      </p:cBhvr>
                                    </p:animEffect>
                                  </p:childTnLst>
                                </p:cTn>
                              </p:par>
                              <p:par>
                                <p:cTn id="361" presetID="10" presetClass="entr" presetSubtype="0" fill="hold" grpId="0" nodeType="withEffect">
                                  <p:stCondLst>
                                    <p:cond delay="0"/>
                                  </p:stCondLst>
                                  <p:childTnLst>
                                    <p:set>
                                      <p:cBhvr>
                                        <p:cTn id="362" dur="1" fill="hold">
                                          <p:stCondLst>
                                            <p:cond delay="0"/>
                                          </p:stCondLst>
                                        </p:cTn>
                                        <p:tgtEl>
                                          <p:spTgt spid="132"/>
                                        </p:tgtEl>
                                        <p:attrNameLst>
                                          <p:attrName>style.visibility</p:attrName>
                                        </p:attrNameLst>
                                      </p:cBhvr>
                                      <p:to>
                                        <p:strVal val="visible"/>
                                      </p:to>
                                    </p:set>
                                    <p:animEffect transition="in" filter="fade">
                                      <p:cBhvr>
                                        <p:cTn id="363" dur="500"/>
                                        <p:tgtEl>
                                          <p:spTgt spid="132"/>
                                        </p:tgtEl>
                                      </p:cBhvr>
                                    </p:animEffect>
                                  </p:childTnLst>
                                </p:cTn>
                              </p:par>
                              <p:par>
                                <p:cTn id="364" presetID="10" presetClass="entr" presetSubtype="0" fill="hold" grpId="0" nodeType="withEffect">
                                  <p:stCondLst>
                                    <p:cond delay="0"/>
                                  </p:stCondLst>
                                  <p:childTnLst>
                                    <p:set>
                                      <p:cBhvr>
                                        <p:cTn id="365" dur="1" fill="hold">
                                          <p:stCondLst>
                                            <p:cond delay="0"/>
                                          </p:stCondLst>
                                        </p:cTn>
                                        <p:tgtEl>
                                          <p:spTgt spid="133"/>
                                        </p:tgtEl>
                                        <p:attrNameLst>
                                          <p:attrName>style.visibility</p:attrName>
                                        </p:attrNameLst>
                                      </p:cBhvr>
                                      <p:to>
                                        <p:strVal val="visible"/>
                                      </p:to>
                                    </p:set>
                                    <p:animEffect transition="in" filter="fade">
                                      <p:cBhvr>
                                        <p:cTn id="366" dur="500"/>
                                        <p:tgtEl>
                                          <p:spTgt spid="133"/>
                                        </p:tgtEl>
                                      </p:cBhvr>
                                    </p:animEffect>
                                  </p:childTnLst>
                                </p:cTn>
                              </p:par>
                              <p:par>
                                <p:cTn id="367" presetID="10" presetClass="entr" presetSubtype="0" fill="hold" grpId="0" nodeType="withEffect">
                                  <p:stCondLst>
                                    <p:cond delay="0"/>
                                  </p:stCondLst>
                                  <p:childTnLst>
                                    <p:set>
                                      <p:cBhvr>
                                        <p:cTn id="368" dur="1" fill="hold">
                                          <p:stCondLst>
                                            <p:cond delay="0"/>
                                          </p:stCondLst>
                                        </p:cTn>
                                        <p:tgtEl>
                                          <p:spTgt spid="134"/>
                                        </p:tgtEl>
                                        <p:attrNameLst>
                                          <p:attrName>style.visibility</p:attrName>
                                        </p:attrNameLst>
                                      </p:cBhvr>
                                      <p:to>
                                        <p:strVal val="visible"/>
                                      </p:to>
                                    </p:set>
                                    <p:animEffect transition="in" filter="fade">
                                      <p:cBhvr>
                                        <p:cTn id="369" dur="500"/>
                                        <p:tgtEl>
                                          <p:spTgt spid="134"/>
                                        </p:tgtEl>
                                      </p:cBhvr>
                                    </p:animEffect>
                                  </p:childTnLst>
                                </p:cTn>
                              </p:par>
                              <p:par>
                                <p:cTn id="370" presetID="10" presetClass="entr" presetSubtype="0" fill="hold" grpId="0" nodeType="withEffect">
                                  <p:stCondLst>
                                    <p:cond delay="0"/>
                                  </p:stCondLst>
                                  <p:childTnLst>
                                    <p:set>
                                      <p:cBhvr>
                                        <p:cTn id="371" dur="1" fill="hold">
                                          <p:stCondLst>
                                            <p:cond delay="0"/>
                                          </p:stCondLst>
                                        </p:cTn>
                                        <p:tgtEl>
                                          <p:spTgt spid="135"/>
                                        </p:tgtEl>
                                        <p:attrNameLst>
                                          <p:attrName>style.visibility</p:attrName>
                                        </p:attrNameLst>
                                      </p:cBhvr>
                                      <p:to>
                                        <p:strVal val="visible"/>
                                      </p:to>
                                    </p:set>
                                    <p:animEffect transition="in" filter="fade">
                                      <p:cBhvr>
                                        <p:cTn id="372" dur="500"/>
                                        <p:tgtEl>
                                          <p:spTgt spid="135"/>
                                        </p:tgtEl>
                                      </p:cBhvr>
                                    </p:animEffect>
                                  </p:childTnLst>
                                </p:cTn>
                              </p:par>
                              <p:par>
                                <p:cTn id="373" presetID="10" presetClass="entr" presetSubtype="0" fill="hold" grpId="0" nodeType="withEffect">
                                  <p:stCondLst>
                                    <p:cond delay="0"/>
                                  </p:stCondLst>
                                  <p:childTnLst>
                                    <p:set>
                                      <p:cBhvr>
                                        <p:cTn id="374" dur="1" fill="hold">
                                          <p:stCondLst>
                                            <p:cond delay="0"/>
                                          </p:stCondLst>
                                        </p:cTn>
                                        <p:tgtEl>
                                          <p:spTgt spid="136"/>
                                        </p:tgtEl>
                                        <p:attrNameLst>
                                          <p:attrName>style.visibility</p:attrName>
                                        </p:attrNameLst>
                                      </p:cBhvr>
                                      <p:to>
                                        <p:strVal val="visible"/>
                                      </p:to>
                                    </p:set>
                                    <p:animEffect transition="in" filter="fade">
                                      <p:cBhvr>
                                        <p:cTn id="375" dur="500"/>
                                        <p:tgtEl>
                                          <p:spTgt spid="136"/>
                                        </p:tgtEl>
                                      </p:cBhvr>
                                    </p:animEffect>
                                  </p:childTnLst>
                                </p:cTn>
                              </p:par>
                              <p:par>
                                <p:cTn id="376" presetID="10" presetClass="entr" presetSubtype="0" fill="hold" grpId="0" nodeType="withEffect">
                                  <p:stCondLst>
                                    <p:cond delay="0"/>
                                  </p:stCondLst>
                                  <p:childTnLst>
                                    <p:set>
                                      <p:cBhvr>
                                        <p:cTn id="377" dur="1" fill="hold">
                                          <p:stCondLst>
                                            <p:cond delay="0"/>
                                          </p:stCondLst>
                                        </p:cTn>
                                        <p:tgtEl>
                                          <p:spTgt spid="137"/>
                                        </p:tgtEl>
                                        <p:attrNameLst>
                                          <p:attrName>style.visibility</p:attrName>
                                        </p:attrNameLst>
                                      </p:cBhvr>
                                      <p:to>
                                        <p:strVal val="visible"/>
                                      </p:to>
                                    </p:set>
                                    <p:animEffect transition="in" filter="fade">
                                      <p:cBhvr>
                                        <p:cTn id="378" dur="500"/>
                                        <p:tgtEl>
                                          <p:spTgt spid="137"/>
                                        </p:tgtEl>
                                      </p:cBhvr>
                                    </p:animEffect>
                                  </p:childTnLst>
                                </p:cTn>
                              </p:par>
                              <p:par>
                                <p:cTn id="379" presetID="10" presetClass="entr" presetSubtype="0" fill="hold" grpId="0" nodeType="withEffect">
                                  <p:stCondLst>
                                    <p:cond delay="0"/>
                                  </p:stCondLst>
                                  <p:childTnLst>
                                    <p:set>
                                      <p:cBhvr>
                                        <p:cTn id="380" dur="1" fill="hold">
                                          <p:stCondLst>
                                            <p:cond delay="0"/>
                                          </p:stCondLst>
                                        </p:cTn>
                                        <p:tgtEl>
                                          <p:spTgt spid="138"/>
                                        </p:tgtEl>
                                        <p:attrNameLst>
                                          <p:attrName>style.visibility</p:attrName>
                                        </p:attrNameLst>
                                      </p:cBhvr>
                                      <p:to>
                                        <p:strVal val="visible"/>
                                      </p:to>
                                    </p:set>
                                    <p:animEffect transition="in" filter="fade">
                                      <p:cBhvr>
                                        <p:cTn id="381" dur="500"/>
                                        <p:tgtEl>
                                          <p:spTgt spid="138"/>
                                        </p:tgtEl>
                                      </p:cBhvr>
                                    </p:animEffect>
                                  </p:childTnLst>
                                </p:cTn>
                              </p:par>
                              <p:par>
                                <p:cTn id="382" presetID="10" presetClass="entr" presetSubtype="0" fill="hold" grpId="0" nodeType="withEffect">
                                  <p:stCondLst>
                                    <p:cond delay="0"/>
                                  </p:stCondLst>
                                  <p:childTnLst>
                                    <p:set>
                                      <p:cBhvr>
                                        <p:cTn id="383" dur="1" fill="hold">
                                          <p:stCondLst>
                                            <p:cond delay="0"/>
                                          </p:stCondLst>
                                        </p:cTn>
                                        <p:tgtEl>
                                          <p:spTgt spid="139"/>
                                        </p:tgtEl>
                                        <p:attrNameLst>
                                          <p:attrName>style.visibility</p:attrName>
                                        </p:attrNameLst>
                                      </p:cBhvr>
                                      <p:to>
                                        <p:strVal val="visible"/>
                                      </p:to>
                                    </p:set>
                                    <p:animEffect transition="in" filter="fade">
                                      <p:cBhvr>
                                        <p:cTn id="384" dur="500"/>
                                        <p:tgtEl>
                                          <p:spTgt spid="139"/>
                                        </p:tgtEl>
                                      </p:cBhvr>
                                    </p:animEffect>
                                  </p:childTnLst>
                                </p:cTn>
                              </p:par>
                              <p:par>
                                <p:cTn id="385" presetID="10" presetClass="entr" presetSubtype="0" fill="hold" grpId="0" nodeType="withEffect">
                                  <p:stCondLst>
                                    <p:cond delay="0"/>
                                  </p:stCondLst>
                                  <p:childTnLst>
                                    <p:set>
                                      <p:cBhvr>
                                        <p:cTn id="386" dur="1" fill="hold">
                                          <p:stCondLst>
                                            <p:cond delay="0"/>
                                          </p:stCondLst>
                                        </p:cTn>
                                        <p:tgtEl>
                                          <p:spTgt spid="140"/>
                                        </p:tgtEl>
                                        <p:attrNameLst>
                                          <p:attrName>style.visibility</p:attrName>
                                        </p:attrNameLst>
                                      </p:cBhvr>
                                      <p:to>
                                        <p:strVal val="visible"/>
                                      </p:to>
                                    </p:set>
                                    <p:animEffect transition="in" filter="fade">
                                      <p:cBhvr>
                                        <p:cTn id="387" dur="500"/>
                                        <p:tgtEl>
                                          <p:spTgt spid="140"/>
                                        </p:tgtEl>
                                      </p:cBhvr>
                                    </p:animEffect>
                                  </p:childTnLst>
                                </p:cTn>
                              </p:par>
                              <p:par>
                                <p:cTn id="388" presetID="10" presetClass="entr" presetSubtype="0" fill="hold" grpId="0" nodeType="withEffect">
                                  <p:stCondLst>
                                    <p:cond delay="0"/>
                                  </p:stCondLst>
                                  <p:childTnLst>
                                    <p:set>
                                      <p:cBhvr>
                                        <p:cTn id="389" dur="1" fill="hold">
                                          <p:stCondLst>
                                            <p:cond delay="0"/>
                                          </p:stCondLst>
                                        </p:cTn>
                                        <p:tgtEl>
                                          <p:spTgt spid="141"/>
                                        </p:tgtEl>
                                        <p:attrNameLst>
                                          <p:attrName>style.visibility</p:attrName>
                                        </p:attrNameLst>
                                      </p:cBhvr>
                                      <p:to>
                                        <p:strVal val="visible"/>
                                      </p:to>
                                    </p:set>
                                    <p:animEffect transition="in" filter="fade">
                                      <p:cBhvr>
                                        <p:cTn id="390" dur="500"/>
                                        <p:tgtEl>
                                          <p:spTgt spid="141"/>
                                        </p:tgtEl>
                                      </p:cBhvr>
                                    </p:animEffect>
                                  </p:childTnLst>
                                </p:cTn>
                              </p:par>
                              <p:par>
                                <p:cTn id="391" presetID="10" presetClass="entr" presetSubtype="0" fill="hold" grpId="0" nodeType="withEffect">
                                  <p:stCondLst>
                                    <p:cond delay="0"/>
                                  </p:stCondLst>
                                  <p:childTnLst>
                                    <p:set>
                                      <p:cBhvr>
                                        <p:cTn id="392" dur="1" fill="hold">
                                          <p:stCondLst>
                                            <p:cond delay="0"/>
                                          </p:stCondLst>
                                        </p:cTn>
                                        <p:tgtEl>
                                          <p:spTgt spid="142"/>
                                        </p:tgtEl>
                                        <p:attrNameLst>
                                          <p:attrName>style.visibility</p:attrName>
                                        </p:attrNameLst>
                                      </p:cBhvr>
                                      <p:to>
                                        <p:strVal val="visible"/>
                                      </p:to>
                                    </p:set>
                                    <p:animEffect transition="in" filter="fade">
                                      <p:cBhvr>
                                        <p:cTn id="393" dur="500"/>
                                        <p:tgtEl>
                                          <p:spTgt spid="142"/>
                                        </p:tgtEl>
                                      </p:cBhvr>
                                    </p:animEffect>
                                  </p:childTnLst>
                                </p:cTn>
                              </p:par>
                              <p:par>
                                <p:cTn id="394" presetID="10" presetClass="entr" presetSubtype="0" fill="hold" grpId="0" nodeType="withEffect">
                                  <p:stCondLst>
                                    <p:cond delay="0"/>
                                  </p:stCondLst>
                                  <p:childTnLst>
                                    <p:set>
                                      <p:cBhvr>
                                        <p:cTn id="395" dur="1" fill="hold">
                                          <p:stCondLst>
                                            <p:cond delay="0"/>
                                          </p:stCondLst>
                                        </p:cTn>
                                        <p:tgtEl>
                                          <p:spTgt spid="143"/>
                                        </p:tgtEl>
                                        <p:attrNameLst>
                                          <p:attrName>style.visibility</p:attrName>
                                        </p:attrNameLst>
                                      </p:cBhvr>
                                      <p:to>
                                        <p:strVal val="visible"/>
                                      </p:to>
                                    </p:set>
                                    <p:animEffect transition="in" filter="fade">
                                      <p:cBhvr>
                                        <p:cTn id="396" dur="500"/>
                                        <p:tgtEl>
                                          <p:spTgt spid="143"/>
                                        </p:tgtEl>
                                      </p:cBhvr>
                                    </p:animEffect>
                                  </p:childTnLst>
                                </p:cTn>
                              </p:par>
                              <p:par>
                                <p:cTn id="397" presetID="10" presetClass="entr" presetSubtype="0" fill="hold" grpId="0" nodeType="withEffect">
                                  <p:stCondLst>
                                    <p:cond delay="0"/>
                                  </p:stCondLst>
                                  <p:childTnLst>
                                    <p:set>
                                      <p:cBhvr>
                                        <p:cTn id="398" dur="1" fill="hold">
                                          <p:stCondLst>
                                            <p:cond delay="0"/>
                                          </p:stCondLst>
                                        </p:cTn>
                                        <p:tgtEl>
                                          <p:spTgt spid="144"/>
                                        </p:tgtEl>
                                        <p:attrNameLst>
                                          <p:attrName>style.visibility</p:attrName>
                                        </p:attrNameLst>
                                      </p:cBhvr>
                                      <p:to>
                                        <p:strVal val="visible"/>
                                      </p:to>
                                    </p:set>
                                    <p:animEffect transition="in" filter="fade">
                                      <p:cBhvr>
                                        <p:cTn id="399" dur="500"/>
                                        <p:tgtEl>
                                          <p:spTgt spid="144"/>
                                        </p:tgtEl>
                                      </p:cBhvr>
                                    </p:animEffect>
                                  </p:childTnLst>
                                </p:cTn>
                              </p:par>
                              <p:par>
                                <p:cTn id="400" presetID="10" presetClass="entr" presetSubtype="0" fill="hold" nodeType="withEffect">
                                  <p:stCondLst>
                                    <p:cond delay="0"/>
                                  </p:stCondLst>
                                  <p:childTnLst>
                                    <p:set>
                                      <p:cBhvr>
                                        <p:cTn id="401" dur="1" fill="hold">
                                          <p:stCondLst>
                                            <p:cond delay="0"/>
                                          </p:stCondLst>
                                        </p:cTn>
                                        <p:tgtEl>
                                          <p:spTgt spid="201"/>
                                        </p:tgtEl>
                                        <p:attrNameLst>
                                          <p:attrName>style.visibility</p:attrName>
                                        </p:attrNameLst>
                                      </p:cBhvr>
                                      <p:to>
                                        <p:strVal val="visible"/>
                                      </p:to>
                                    </p:set>
                                    <p:animEffect transition="in" filter="fade">
                                      <p:cBhvr>
                                        <p:cTn id="402" dur="500"/>
                                        <p:tgtEl>
                                          <p:spTgt spid="201"/>
                                        </p:tgtEl>
                                      </p:cBhvr>
                                    </p:animEffect>
                                  </p:childTnLst>
                                </p:cTn>
                              </p:par>
                              <p:par>
                                <p:cTn id="403" presetID="10" presetClass="entr" presetSubtype="0" fill="hold" grpId="0" nodeType="withEffect">
                                  <p:stCondLst>
                                    <p:cond delay="0"/>
                                  </p:stCondLst>
                                  <p:childTnLst>
                                    <p:set>
                                      <p:cBhvr>
                                        <p:cTn id="404" dur="1" fill="hold">
                                          <p:stCondLst>
                                            <p:cond delay="0"/>
                                          </p:stCondLst>
                                        </p:cTn>
                                        <p:tgtEl>
                                          <p:spTgt spid="167"/>
                                        </p:tgtEl>
                                        <p:attrNameLst>
                                          <p:attrName>style.visibility</p:attrName>
                                        </p:attrNameLst>
                                      </p:cBhvr>
                                      <p:to>
                                        <p:strVal val="visible"/>
                                      </p:to>
                                    </p:set>
                                    <p:animEffect transition="in" filter="fade">
                                      <p:cBhvr>
                                        <p:cTn id="405" dur="500"/>
                                        <p:tgtEl>
                                          <p:spTgt spid="167"/>
                                        </p:tgtEl>
                                      </p:cBhvr>
                                    </p:animEffect>
                                  </p:childTnLst>
                                </p:cTn>
                              </p:par>
                              <p:par>
                                <p:cTn id="406" presetID="10" presetClass="entr" presetSubtype="0" fill="hold" nodeType="withEffect">
                                  <p:stCondLst>
                                    <p:cond delay="0"/>
                                  </p:stCondLst>
                                  <p:childTnLst>
                                    <p:set>
                                      <p:cBhvr>
                                        <p:cTn id="407" dur="1" fill="hold">
                                          <p:stCondLst>
                                            <p:cond delay="0"/>
                                          </p:stCondLst>
                                        </p:cTn>
                                        <p:tgtEl>
                                          <p:spTgt spid="197"/>
                                        </p:tgtEl>
                                        <p:attrNameLst>
                                          <p:attrName>style.visibility</p:attrName>
                                        </p:attrNameLst>
                                      </p:cBhvr>
                                      <p:to>
                                        <p:strVal val="visible"/>
                                      </p:to>
                                    </p:set>
                                    <p:animEffect transition="in" filter="fade">
                                      <p:cBhvr>
                                        <p:cTn id="408" dur="500"/>
                                        <p:tgtEl>
                                          <p:spTgt spid="197"/>
                                        </p:tgtEl>
                                      </p:cBhvr>
                                    </p:animEffect>
                                  </p:childTnLst>
                                </p:cTn>
                              </p:par>
                              <p:par>
                                <p:cTn id="409" presetID="10" presetClass="entr" presetSubtype="0" fill="hold" grpId="0" nodeType="withEffect">
                                  <p:stCondLst>
                                    <p:cond delay="0"/>
                                  </p:stCondLst>
                                  <p:childTnLst>
                                    <p:set>
                                      <p:cBhvr>
                                        <p:cTn id="410" dur="1" fill="hold">
                                          <p:stCondLst>
                                            <p:cond delay="0"/>
                                          </p:stCondLst>
                                        </p:cTn>
                                        <p:tgtEl>
                                          <p:spTgt spid="195"/>
                                        </p:tgtEl>
                                        <p:attrNameLst>
                                          <p:attrName>style.visibility</p:attrName>
                                        </p:attrNameLst>
                                      </p:cBhvr>
                                      <p:to>
                                        <p:strVal val="visible"/>
                                      </p:to>
                                    </p:set>
                                    <p:animEffect transition="in" filter="fade">
                                      <p:cBhvr>
                                        <p:cTn id="411" dur="500"/>
                                        <p:tgtEl>
                                          <p:spTgt spid="195"/>
                                        </p:tgtEl>
                                      </p:cBhvr>
                                    </p:animEffect>
                                  </p:childTnLst>
                                </p:cTn>
                              </p:par>
                            </p:childTnLst>
                          </p:cTn>
                        </p:par>
                      </p:childTnLst>
                    </p:cTn>
                  </p:par>
                  <p:par>
                    <p:cTn id="412" fill="hold">
                      <p:stCondLst>
                        <p:cond delay="indefinite"/>
                      </p:stCondLst>
                      <p:childTnLst>
                        <p:par>
                          <p:cTn id="413" fill="hold">
                            <p:stCondLst>
                              <p:cond delay="0"/>
                            </p:stCondLst>
                            <p:childTnLst>
                              <p:par>
                                <p:cTn id="414" presetID="26" presetClass="emph" presetSubtype="0" fill="hold" nodeType="clickEffect">
                                  <p:stCondLst>
                                    <p:cond delay="0"/>
                                  </p:stCondLst>
                                  <p:childTnLst>
                                    <p:animEffect transition="out" filter="fade">
                                      <p:cBhvr>
                                        <p:cTn id="415" dur="1000" tmFilter="0, 0; .2, .5; .8, .5; 1, 0"/>
                                        <p:tgtEl>
                                          <p:spTgt spid="201"/>
                                        </p:tgtEl>
                                      </p:cBhvr>
                                    </p:animEffect>
                                    <p:animScale>
                                      <p:cBhvr>
                                        <p:cTn id="416" dur="500" autoRev="1" fill="hold"/>
                                        <p:tgtEl>
                                          <p:spTgt spid="201"/>
                                        </p:tgtEl>
                                      </p:cBhvr>
                                      <p:by x="105000" y="105000"/>
                                    </p:animScale>
                                  </p:childTnLst>
                                </p:cTn>
                              </p:par>
                            </p:childTnLst>
                          </p:cTn>
                        </p:par>
                      </p:childTnLst>
                    </p:cTn>
                  </p:par>
                  <p:par>
                    <p:cTn id="417" fill="hold">
                      <p:stCondLst>
                        <p:cond delay="indefinite"/>
                      </p:stCondLst>
                      <p:childTnLst>
                        <p:par>
                          <p:cTn id="418" fill="hold">
                            <p:stCondLst>
                              <p:cond delay="0"/>
                            </p:stCondLst>
                            <p:childTnLst>
                              <p:par>
                                <p:cTn id="419" presetID="22" presetClass="entr" presetSubtype="1" fill="hold" grpId="0" nodeType="clickEffect">
                                  <p:stCondLst>
                                    <p:cond delay="0"/>
                                  </p:stCondLst>
                                  <p:childTnLst>
                                    <p:set>
                                      <p:cBhvr>
                                        <p:cTn id="420" dur="1" fill="hold">
                                          <p:stCondLst>
                                            <p:cond delay="0"/>
                                          </p:stCondLst>
                                        </p:cTn>
                                        <p:tgtEl>
                                          <p:spTgt spid="202"/>
                                        </p:tgtEl>
                                        <p:attrNameLst>
                                          <p:attrName>style.visibility</p:attrName>
                                        </p:attrNameLst>
                                      </p:cBhvr>
                                      <p:to>
                                        <p:strVal val="visible"/>
                                      </p:to>
                                    </p:set>
                                    <p:animEffect transition="in" filter="wipe(up)">
                                      <p:cBhvr>
                                        <p:cTn id="421" dur="500"/>
                                        <p:tgtEl>
                                          <p:spTgt spid="202"/>
                                        </p:tgtEl>
                                      </p:cBhvr>
                                    </p:animEffect>
                                  </p:childTnLst>
                                </p:cTn>
                              </p:par>
                              <p:par>
                                <p:cTn id="422" presetID="22" presetClass="entr" presetSubtype="1" fill="hold" nodeType="withEffect">
                                  <p:stCondLst>
                                    <p:cond delay="0"/>
                                  </p:stCondLst>
                                  <p:childTnLst>
                                    <p:set>
                                      <p:cBhvr>
                                        <p:cTn id="423" dur="1" fill="hold">
                                          <p:stCondLst>
                                            <p:cond delay="0"/>
                                          </p:stCondLst>
                                        </p:cTn>
                                        <p:tgtEl>
                                          <p:spTgt spid="204"/>
                                        </p:tgtEl>
                                        <p:attrNameLst>
                                          <p:attrName>style.visibility</p:attrName>
                                        </p:attrNameLst>
                                      </p:cBhvr>
                                      <p:to>
                                        <p:strVal val="visible"/>
                                      </p:to>
                                    </p:set>
                                    <p:animEffect transition="in" filter="wipe(up)">
                                      <p:cBhvr>
                                        <p:cTn id="424" dur="500"/>
                                        <p:tgtEl>
                                          <p:spTgt spid="204"/>
                                        </p:tgtEl>
                                      </p:cBhvr>
                                    </p:animEffect>
                                  </p:childTnLst>
                                </p:cTn>
                              </p:par>
                              <p:par>
                                <p:cTn id="425" presetID="10" presetClass="entr" presetSubtype="0" fill="hold" nodeType="withEffect">
                                  <p:stCondLst>
                                    <p:cond delay="0"/>
                                  </p:stCondLst>
                                  <p:childTnLst>
                                    <p:set>
                                      <p:cBhvr>
                                        <p:cTn id="426" dur="1" fill="hold">
                                          <p:stCondLst>
                                            <p:cond delay="0"/>
                                          </p:stCondLst>
                                        </p:cTn>
                                        <p:tgtEl>
                                          <p:spTgt spid="3">
                                            <p:txEl>
                                              <p:pRg st="5" end="5"/>
                                            </p:txEl>
                                          </p:spTgt>
                                        </p:tgtEl>
                                        <p:attrNameLst>
                                          <p:attrName>style.visibility</p:attrName>
                                        </p:attrNameLst>
                                      </p:cBhvr>
                                      <p:to>
                                        <p:strVal val="visible"/>
                                      </p:to>
                                    </p:set>
                                    <p:animEffect transition="in" filter="fade">
                                      <p:cBhvr>
                                        <p:cTn id="427" dur="500"/>
                                        <p:tgtEl>
                                          <p:spTgt spid="3">
                                            <p:txEl>
                                              <p:pRg st="5" end="5"/>
                                            </p:txEl>
                                          </p:spTgt>
                                        </p:tgtEl>
                                      </p:cBhvr>
                                    </p:animEffect>
                                  </p:childTnLst>
                                </p:cTn>
                              </p:par>
                            </p:childTnLst>
                          </p:cTn>
                        </p:par>
                      </p:childTnLst>
                    </p:cTn>
                  </p:par>
                  <p:par>
                    <p:cTn id="428" fill="hold">
                      <p:stCondLst>
                        <p:cond delay="indefinite"/>
                      </p:stCondLst>
                      <p:childTnLst>
                        <p:par>
                          <p:cTn id="429" fill="hold">
                            <p:stCondLst>
                              <p:cond delay="0"/>
                            </p:stCondLst>
                            <p:childTnLst>
                              <p:par>
                                <p:cTn id="430" presetID="10" presetClass="entr" presetSubtype="0" fill="hold" grpId="0" nodeType="clickEffect">
                                  <p:stCondLst>
                                    <p:cond delay="0"/>
                                  </p:stCondLst>
                                  <p:childTnLst>
                                    <p:set>
                                      <p:cBhvr>
                                        <p:cTn id="431" dur="1" fill="hold">
                                          <p:stCondLst>
                                            <p:cond delay="0"/>
                                          </p:stCondLst>
                                        </p:cTn>
                                        <p:tgtEl>
                                          <p:spTgt spid="168"/>
                                        </p:tgtEl>
                                        <p:attrNameLst>
                                          <p:attrName>style.visibility</p:attrName>
                                        </p:attrNameLst>
                                      </p:cBhvr>
                                      <p:to>
                                        <p:strVal val="visible"/>
                                      </p:to>
                                    </p:set>
                                    <p:animEffect transition="in" filter="fade">
                                      <p:cBhvr>
                                        <p:cTn id="432" dur="500"/>
                                        <p:tgtEl>
                                          <p:spTgt spid="168"/>
                                        </p:tgtEl>
                                      </p:cBhvr>
                                    </p:animEffect>
                                  </p:childTnLst>
                                </p:cTn>
                              </p:par>
                              <p:par>
                                <p:cTn id="433" presetID="10" presetClass="entr" presetSubtype="0" fill="hold" grpId="0" nodeType="withEffect">
                                  <p:stCondLst>
                                    <p:cond delay="0"/>
                                  </p:stCondLst>
                                  <p:childTnLst>
                                    <p:set>
                                      <p:cBhvr>
                                        <p:cTn id="434" dur="1" fill="hold">
                                          <p:stCondLst>
                                            <p:cond delay="0"/>
                                          </p:stCondLst>
                                        </p:cTn>
                                        <p:tgtEl>
                                          <p:spTgt spid="169"/>
                                        </p:tgtEl>
                                        <p:attrNameLst>
                                          <p:attrName>style.visibility</p:attrName>
                                        </p:attrNameLst>
                                      </p:cBhvr>
                                      <p:to>
                                        <p:strVal val="visible"/>
                                      </p:to>
                                    </p:set>
                                    <p:animEffect transition="in" filter="fade">
                                      <p:cBhvr>
                                        <p:cTn id="435" dur="500"/>
                                        <p:tgtEl>
                                          <p:spTgt spid="169"/>
                                        </p:tgtEl>
                                      </p:cBhvr>
                                    </p:animEffect>
                                  </p:childTnLst>
                                </p:cTn>
                              </p:par>
                              <p:par>
                                <p:cTn id="436" presetID="10" presetClass="entr" presetSubtype="0" fill="hold" grpId="0" nodeType="withEffect">
                                  <p:stCondLst>
                                    <p:cond delay="0"/>
                                  </p:stCondLst>
                                  <p:childTnLst>
                                    <p:set>
                                      <p:cBhvr>
                                        <p:cTn id="437" dur="1" fill="hold">
                                          <p:stCondLst>
                                            <p:cond delay="0"/>
                                          </p:stCondLst>
                                        </p:cTn>
                                        <p:tgtEl>
                                          <p:spTgt spid="170"/>
                                        </p:tgtEl>
                                        <p:attrNameLst>
                                          <p:attrName>style.visibility</p:attrName>
                                        </p:attrNameLst>
                                      </p:cBhvr>
                                      <p:to>
                                        <p:strVal val="visible"/>
                                      </p:to>
                                    </p:set>
                                    <p:animEffect transition="in" filter="fade">
                                      <p:cBhvr>
                                        <p:cTn id="438" dur="500"/>
                                        <p:tgtEl>
                                          <p:spTgt spid="170"/>
                                        </p:tgtEl>
                                      </p:cBhvr>
                                    </p:animEffect>
                                  </p:childTnLst>
                                </p:cTn>
                              </p:par>
                              <p:par>
                                <p:cTn id="439" presetID="10" presetClass="entr" presetSubtype="0" fill="hold" grpId="0" nodeType="withEffect">
                                  <p:stCondLst>
                                    <p:cond delay="0"/>
                                  </p:stCondLst>
                                  <p:childTnLst>
                                    <p:set>
                                      <p:cBhvr>
                                        <p:cTn id="440" dur="1" fill="hold">
                                          <p:stCondLst>
                                            <p:cond delay="0"/>
                                          </p:stCondLst>
                                        </p:cTn>
                                        <p:tgtEl>
                                          <p:spTgt spid="171"/>
                                        </p:tgtEl>
                                        <p:attrNameLst>
                                          <p:attrName>style.visibility</p:attrName>
                                        </p:attrNameLst>
                                      </p:cBhvr>
                                      <p:to>
                                        <p:strVal val="visible"/>
                                      </p:to>
                                    </p:set>
                                    <p:animEffect transition="in" filter="fade">
                                      <p:cBhvr>
                                        <p:cTn id="441" dur="500"/>
                                        <p:tgtEl>
                                          <p:spTgt spid="171"/>
                                        </p:tgtEl>
                                      </p:cBhvr>
                                    </p:animEffect>
                                  </p:childTnLst>
                                </p:cTn>
                              </p:par>
                              <p:par>
                                <p:cTn id="442" presetID="10" presetClass="entr" presetSubtype="0" fill="hold" grpId="0" nodeType="withEffect">
                                  <p:stCondLst>
                                    <p:cond delay="0"/>
                                  </p:stCondLst>
                                  <p:childTnLst>
                                    <p:set>
                                      <p:cBhvr>
                                        <p:cTn id="443" dur="1" fill="hold">
                                          <p:stCondLst>
                                            <p:cond delay="0"/>
                                          </p:stCondLst>
                                        </p:cTn>
                                        <p:tgtEl>
                                          <p:spTgt spid="172"/>
                                        </p:tgtEl>
                                        <p:attrNameLst>
                                          <p:attrName>style.visibility</p:attrName>
                                        </p:attrNameLst>
                                      </p:cBhvr>
                                      <p:to>
                                        <p:strVal val="visible"/>
                                      </p:to>
                                    </p:set>
                                    <p:animEffect transition="in" filter="fade">
                                      <p:cBhvr>
                                        <p:cTn id="444" dur="500"/>
                                        <p:tgtEl>
                                          <p:spTgt spid="172"/>
                                        </p:tgtEl>
                                      </p:cBhvr>
                                    </p:animEffect>
                                  </p:childTnLst>
                                </p:cTn>
                              </p:par>
                              <p:par>
                                <p:cTn id="445" presetID="10" presetClass="entr" presetSubtype="0" fill="hold" grpId="0" nodeType="withEffect">
                                  <p:stCondLst>
                                    <p:cond delay="0"/>
                                  </p:stCondLst>
                                  <p:childTnLst>
                                    <p:set>
                                      <p:cBhvr>
                                        <p:cTn id="446" dur="1" fill="hold">
                                          <p:stCondLst>
                                            <p:cond delay="0"/>
                                          </p:stCondLst>
                                        </p:cTn>
                                        <p:tgtEl>
                                          <p:spTgt spid="173"/>
                                        </p:tgtEl>
                                        <p:attrNameLst>
                                          <p:attrName>style.visibility</p:attrName>
                                        </p:attrNameLst>
                                      </p:cBhvr>
                                      <p:to>
                                        <p:strVal val="visible"/>
                                      </p:to>
                                    </p:set>
                                    <p:animEffect transition="in" filter="fade">
                                      <p:cBhvr>
                                        <p:cTn id="447" dur="500"/>
                                        <p:tgtEl>
                                          <p:spTgt spid="173"/>
                                        </p:tgtEl>
                                      </p:cBhvr>
                                    </p:animEffect>
                                  </p:childTnLst>
                                </p:cTn>
                              </p:par>
                              <p:par>
                                <p:cTn id="448" presetID="10" presetClass="entr" presetSubtype="0" fill="hold" grpId="0" nodeType="withEffect">
                                  <p:stCondLst>
                                    <p:cond delay="0"/>
                                  </p:stCondLst>
                                  <p:childTnLst>
                                    <p:set>
                                      <p:cBhvr>
                                        <p:cTn id="449" dur="1" fill="hold">
                                          <p:stCondLst>
                                            <p:cond delay="0"/>
                                          </p:stCondLst>
                                        </p:cTn>
                                        <p:tgtEl>
                                          <p:spTgt spid="174"/>
                                        </p:tgtEl>
                                        <p:attrNameLst>
                                          <p:attrName>style.visibility</p:attrName>
                                        </p:attrNameLst>
                                      </p:cBhvr>
                                      <p:to>
                                        <p:strVal val="visible"/>
                                      </p:to>
                                    </p:set>
                                    <p:animEffect transition="in" filter="fade">
                                      <p:cBhvr>
                                        <p:cTn id="450" dur="500"/>
                                        <p:tgtEl>
                                          <p:spTgt spid="174"/>
                                        </p:tgtEl>
                                      </p:cBhvr>
                                    </p:animEffect>
                                  </p:childTnLst>
                                </p:cTn>
                              </p:par>
                              <p:par>
                                <p:cTn id="451" presetID="10" presetClass="entr" presetSubtype="0" fill="hold" grpId="0" nodeType="withEffect">
                                  <p:stCondLst>
                                    <p:cond delay="0"/>
                                  </p:stCondLst>
                                  <p:childTnLst>
                                    <p:set>
                                      <p:cBhvr>
                                        <p:cTn id="452" dur="1" fill="hold">
                                          <p:stCondLst>
                                            <p:cond delay="0"/>
                                          </p:stCondLst>
                                        </p:cTn>
                                        <p:tgtEl>
                                          <p:spTgt spid="175"/>
                                        </p:tgtEl>
                                        <p:attrNameLst>
                                          <p:attrName>style.visibility</p:attrName>
                                        </p:attrNameLst>
                                      </p:cBhvr>
                                      <p:to>
                                        <p:strVal val="visible"/>
                                      </p:to>
                                    </p:set>
                                    <p:animEffect transition="in" filter="fade">
                                      <p:cBhvr>
                                        <p:cTn id="453" dur="500"/>
                                        <p:tgtEl>
                                          <p:spTgt spid="175"/>
                                        </p:tgtEl>
                                      </p:cBhvr>
                                    </p:animEffect>
                                  </p:childTnLst>
                                </p:cTn>
                              </p:par>
                              <p:par>
                                <p:cTn id="454" presetID="10" presetClass="entr" presetSubtype="0" fill="hold" grpId="0" nodeType="withEffect">
                                  <p:stCondLst>
                                    <p:cond delay="0"/>
                                  </p:stCondLst>
                                  <p:childTnLst>
                                    <p:set>
                                      <p:cBhvr>
                                        <p:cTn id="455" dur="1" fill="hold">
                                          <p:stCondLst>
                                            <p:cond delay="0"/>
                                          </p:stCondLst>
                                        </p:cTn>
                                        <p:tgtEl>
                                          <p:spTgt spid="176"/>
                                        </p:tgtEl>
                                        <p:attrNameLst>
                                          <p:attrName>style.visibility</p:attrName>
                                        </p:attrNameLst>
                                      </p:cBhvr>
                                      <p:to>
                                        <p:strVal val="visible"/>
                                      </p:to>
                                    </p:set>
                                    <p:animEffect transition="in" filter="fade">
                                      <p:cBhvr>
                                        <p:cTn id="456" dur="500"/>
                                        <p:tgtEl>
                                          <p:spTgt spid="176"/>
                                        </p:tgtEl>
                                      </p:cBhvr>
                                    </p:animEffect>
                                  </p:childTnLst>
                                </p:cTn>
                              </p:par>
                              <p:par>
                                <p:cTn id="457" presetID="10" presetClass="entr" presetSubtype="0" fill="hold" grpId="0" nodeType="withEffect">
                                  <p:stCondLst>
                                    <p:cond delay="0"/>
                                  </p:stCondLst>
                                  <p:childTnLst>
                                    <p:set>
                                      <p:cBhvr>
                                        <p:cTn id="458" dur="1" fill="hold">
                                          <p:stCondLst>
                                            <p:cond delay="0"/>
                                          </p:stCondLst>
                                        </p:cTn>
                                        <p:tgtEl>
                                          <p:spTgt spid="177"/>
                                        </p:tgtEl>
                                        <p:attrNameLst>
                                          <p:attrName>style.visibility</p:attrName>
                                        </p:attrNameLst>
                                      </p:cBhvr>
                                      <p:to>
                                        <p:strVal val="visible"/>
                                      </p:to>
                                    </p:set>
                                    <p:animEffect transition="in" filter="fade">
                                      <p:cBhvr>
                                        <p:cTn id="459" dur="500"/>
                                        <p:tgtEl>
                                          <p:spTgt spid="177"/>
                                        </p:tgtEl>
                                      </p:cBhvr>
                                    </p:animEffect>
                                  </p:childTnLst>
                                </p:cTn>
                              </p:par>
                              <p:par>
                                <p:cTn id="460" presetID="10" presetClass="entr" presetSubtype="0" fill="hold" nodeType="withEffect">
                                  <p:stCondLst>
                                    <p:cond delay="0"/>
                                  </p:stCondLst>
                                  <p:childTnLst>
                                    <p:set>
                                      <p:cBhvr>
                                        <p:cTn id="461" dur="1" fill="hold">
                                          <p:stCondLst>
                                            <p:cond delay="0"/>
                                          </p:stCondLst>
                                        </p:cTn>
                                        <p:tgtEl>
                                          <p:spTgt spid="179"/>
                                        </p:tgtEl>
                                        <p:attrNameLst>
                                          <p:attrName>style.visibility</p:attrName>
                                        </p:attrNameLst>
                                      </p:cBhvr>
                                      <p:to>
                                        <p:strVal val="visible"/>
                                      </p:to>
                                    </p:set>
                                    <p:animEffect transition="in" filter="fade">
                                      <p:cBhvr>
                                        <p:cTn id="462" dur="500"/>
                                        <p:tgtEl>
                                          <p:spTgt spid="179"/>
                                        </p:tgtEl>
                                      </p:cBhvr>
                                    </p:animEffect>
                                  </p:childTnLst>
                                </p:cTn>
                              </p:par>
                              <p:par>
                                <p:cTn id="463" presetID="10" presetClass="entr" presetSubtype="0" fill="hold" nodeType="withEffect">
                                  <p:stCondLst>
                                    <p:cond delay="0"/>
                                  </p:stCondLst>
                                  <p:childTnLst>
                                    <p:set>
                                      <p:cBhvr>
                                        <p:cTn id="464" dur="1" fill="hold">
                                          <p:stCondLst>
                                            <p:cond delay="0"/>
                                          </p:stCondLst>
                                        </p:cTn>
                                        <p:tgtEl>
                                          <p:spTgt spid="181"/>
                                        </p:tgtEl>
                                        <p:attrNameLst>
                                          <p:attrName>style.visibility</p:attrName>
                                        </p:attrNameLst>
                                      </p:cBhvr>
                                      <p:to>
                                        <p:strVal val="visible"/>
                                      </p:to>
                                    </p:set>
                                    <p:animEffect transition="in" filter="fade">
                                      <p:cBhvr>
                                        <p:cTn id="465" dur="500"/>
                                        <p:tgtEl>
                                          <p:spTgt spid="181"/>
                                        </p:tgtEl>
                                      </p:cBhvr>
                                    </p:animEffect>
                                  </p:childTnLst>
                                </p:cTn>
                              </p:par>
                              <p:par>
                                <p:cTn id="466" presetID="10" presetClass="entr" presetSubtype="0" fill="hold" nodeType="withEffect">
                                  <p:stCondLst>
                                    <p:cond delay="0"/>
                                  </p:stCondLst>
                                  <p:childTnLst>
                                    <p:set>
                                      <p:cBhvr>
                                        <p:cTn id="467" dur="1" fill="hold">
                                          <p:stCondLst>
                                            <p:cond delay="0"/>
                                          </p:stCondLst>
                                        </p:cTn>
                                        <p:tgtEl>
                                          <p:spTgt spid="184"/>
                                        </p:tgtEl>
                                        <p:attrNameLst>
                                          <p:attrName>style.visibility</p:attrName>
                                        </p:attrNameLst>
                                      </p:cBhvr>
                                      <p:to>
                                        <p:strVal val="visible"/>
                                      </p:to>
                                    </p:set>
                                    <p:animEffect transition="in" filter="fade">
                                      <p:cBhvr>
                                        <p:cTn id="468" dur="500"/>
                                        <p:tgtEl>
                                          <p:spTgt spid="184"/>
                                        </p:tgtEl>
                                      </p:cBhvr>
                                    </p:animEffect>
                                  </p:childTnLst>
                                </p:cTn>
                              </p:par>
                              <p:par>
                                <p:cTn id="469" presetID="10" presetClass="entr" presetSubtype="0" fill="hold" nodeType="withEffect">
                                  <p:stCondLst>
                                    <p:cond delay="0"/>
                                  </p:stCondLst>
                                  <p:childTnLst>
                                    <p:set>
                                      <p:cBhvr>
                                        <p:cTn id="470" dur="1" fill="hold">
                                          <p:stCondLst>
                                            <p:cond delay="0"/>
                                          </p:stCondLst>
                                        </p:cTn>
                                        <p:tgtEl>
                                          <p:spTgt spid="185"/>
                                        </p:tgtEl>
                                        <p:attrNameLst>
                                          <p:attrName>style.visibility</p:attrName>
                                        </p:attrNameLst>
                                      </p:cBhvr>
                                      <p:to>
                                        <p:strVal val="visible"/>
                                      </p:to>
                                    </p:set>
                                    <p:animEffect transition="in" filter="fade">
                                      <p:cBhvr>
                                        <p:cTn id="471" dur="500"/>
                                        <p:tgtEl>
                                          <p:spTgt spid="185"/>
                                        </p:tgtEl>
                                      </p:cBhvr>
                                    </p:animEffect>
                                  </p:childTnLst>
                                </p:cTn>
                              </p:par>
                              <p:par>
                                <p:cTn id="472" presetID="10" presetClass="entr" presetSubtype="0" fill="hold" nodeType="withEffect">
                                  <p:stCondLst>
                                    <p:cond delay="0"/>
                                  </p:stCondLst>
                                  <p:childTnLst>
                                    <p:set>
                                      <p:cBhvr>
                                        <p:cTn id="473" dur="1" fill="hold">
                                          <p:stCondLst>
                                            <p:cond delay="0"/>
                                          </p:stCondLst>
                                        </p:cTn>
                                        <p:tgtEl>
                                          <p:spTgt spid="186"/>
                                        </p:tgtEl>
                                        <p:attrNameLst>
                                          <p:attrName>style.visibility</p:attrName>
                                        </p:attrNameLst>
                                      </p:cBhvr>
                                      <p:to>
                                        <p:strVal val="visible"/>
                                      </p:to>
                                    </p:set>
                                    <p:animEffect transition="in" filter="fade">
                                      <p:cBhvr>
                                        <p:cTn id="474" dur="500"/>
                                        <p:tgtEl>
                                          <p:spTgt spid="186"/>
                                        </p:tgtEl>
                                      </p:cBhvr>
                                    </p:animEffect>
                                  </p:childTnLst>
                                </p:cTn>
                              </p:par>
                              <p:par>
                                <p:cTn id="475" presetID="10" presetClass="entr" presetSubtype="0" fill="hold" nodeType="withEffect">
                                  <p:stCondLst>
                                    <p:cond delay="0"/>
                                  </p:stCondLst>
                                  <p:childTnLst>
                                    <p:set>
                                      <p:cBhvr>
                                        <p:cTn id="476" dur="1" fill="hold">
                                          <p:stCondLst>
                                            <p:cond delay="0"/>
                                          </p:stCondLst>
                                        </p:cTn>
                                        <p:tgtEl>
                                          <p:spTgt spid="187"/>
                                        </p:tgtEl>
                                        <p:attrNameLst>
                                          <p:attrName>style.visibility</p:attrName>
                                        </p:attrNameLst>
                                      </p:cBhvr>
                                      <p:to>
                                        <p:strVal val="visible"/>
                                      </p:to>
                                    </p:set>
                                    <p:animEffect transition="in" filter="fade">
                                      <p:cBhvr>
                                        <p:cTn id="477" dur="500"/>
                                        <p:tgtEl>
                                          <p:spTgt spid="187"/>
                                        </p:tgtEl>
                                      </p:cBhvr>
                                    </p:animEffect>
                                  </p:childTnLst>
                                </p:cTn>
                              </p:par>
                              <p:par>
                                <p:cTn id="478" presetID="10" presetClass="entr" presetSubtype="0" fill="hold" nodeType="withEffect">
                                  <p:stCondLst>
                                    <p:cond delay="0"/>
                                  </p:stCondLst>
                                  <p:childTnLst>
                                    <p:set>
                                      <p:cBhvr>
                                        <p:cTn id="479" dur="1" fill="hold">
                                          <p:stCondLst>
                                            <p:cond delay="0"/>
                                          </p:stCondLst>
                                        </p:cTn>
                                        <p:tgtEl>
                                          <p:spTgt spid="188"/>
                                        </p:tgtEl>
                                        <p:attrNameLst>
                                          <p:attrName>style.visibility</p:attrName>
                                        </p:attrNameLst>
                                      </p:cBhvr>
                                      <p:to>
                                        <p:strVal val="visible"/>
                                      </p:to>
                                    </p:set>
                                    <p:animEffect transition="in" filter="fade">
                                      <p:cBhvr>
                                        <p:cTn id="480" dur="500"/>
                                        <p:tgtEl>
                                          <p:spTgt spid="188"/>
                                        </p:tgtEl>
                                      </p:cBhvr>
                                    </p:animEffect>
                                  </p:childTnLst>
                                </p:cTn>
                              </p:par>
                              <p:par>
                                <p:cTn id="481" presetID="10" presetClass="entr" presetSubtype="0" fill="hold" nodeType="withEffect">
                                  <p:stCondLst>
                                    <p:cond delay="0"/>
                                  </p:stCondLst>
                                  <p:childTnLst>
                                    <p:set>
                                      <p:cBhvr>
                                        <p:cTn id="482" dur="1" fill="hold">
                                          <p:stCondLst>
                                            <p:cond delay="0"/>
                                          </p:stCondLst>
                                        </p:cTn>
                                        <p:tgtEl>
                                          <p:spTgt spid="189"/>
                                        </p:tgtEl>
                                        <p:attrNameLst>
                                          <p:attrName>style.visibility</p:attrName>
                                        </p:attrNameLst>
                                      </p:cBhvr>
                                      <p:to>
                                        <p:strVal val="visible"/>
                                      </p:to>
                                    </p:set>
                                    <p:animEffect transition="in" filter="fade">
                                      <p:cBhvr>
                                        <p:cTn id="483" dur="500"/>
                                        <p:tgtEl>
                                          <p:spTgt spid="189"/>
                                        </p:tgtEl>
                                      </p:cBhvr>
                                    </p:animEffect>
                                  </p:childTnLst>
                                </p:cTn>
                              </p:par>
                              <p:par>
                                <p:cTn id="484" presetID="10" presetClass="entr" presetSubtype="0" fill="hold" nodeType="withEffect">
                                  <p:stCondLst>
                                    <p:cond delay="0"/>
                                  </p:stCondLst>
                                  <p:childTnLst>
                                    <p:set>
                                      <p:cBhvr>
                                        <p:cTn id="485" dur="1" fill="hold">
                                          <p:stCondLst>
                                            <p:cond delay="0"/>
                                          </p:stCondLst>
                                        </p:cTn>
                                        <p:tgtEl>
                                          <p:spTgt spid="190"/>
                                        </p:tgtEl>
                                        <p:attrNameLst>
                                          <p:attrName>style.visibility</p:attrName>
                                        </p:attrNameLst>
                                      </p:cBhvr>
                                      <p:to>
                                        <p:strVal val="visible"/>
                                      </p:to>
                                    </p:set>
                                    <p:animEffect transition="in" filter="fade">
                                      <p:cBhvr>
                                        <p:cTn id="486" dur="500"/>
                                        <p:tgtEl>
                                          <p:spTgt spid="190"/>
                                        </p:tgtEl>
                                      </p:cBhvr>
                                    </p:animEffect>
                                  </p:childTnLst>
                                </p:cTn>
                              </p:par>
                              <p:par>
                                <p:cTn id="487" presetID="10" presetClass="entr" presetSubtype="0" fill="hold" nodeType="withEffect">
                                  <p:stCondLst>
                                    <p:cond delay="0"/>
                                  </p:stCondLst>
                                  <p:childTnLst>
                                    <p:set>
                                      <p:cBhvr>
                                        <p:cTn id="488" dur="1" fill="hold">
                                          <p:stCondLst>
                                            <p:cond delay="0"/>
                                          </p:stCondLst>
                                        </p:cTn>
                                        <p:tgtEl>
                                          <p:spTgt spid="191"/>
                                        </p:tgtEl>
                                        <p:attrNameLst>
                                          <p:attrName>style.visibility</p:attrName>
                                        </p:attrNameLst>
                                      </p:cBhvr>
                                      <p:to>
                                        <p:strVal val="visible"/>
                                      </p:to>
                                    </p:set>
                                    <p:animEffect transition="in" filter="fade">
                                      <p:cBhvr>
                                        <p:cTn id="489" dur="500"/>
                                        <p:tgtEl>
                                          <p:spTgt spid="191"/>
                                        </p:tgtEl>
                                      </p:cBhvr>
                                    </p:animEffect>
                                  </p:childTnLst>
                                </p:cTn>
                              </p:par>
                              <p:par>
                                <p:cTn id="490" presetID="10" presetClass="entr" presetSubtype="0" fill="hold" nodeType="withEffect">
                                  <p:stCondLst>
                                    <p:cond delay="0"/>
                                  </p:stCondLst>
                                  <p:childTnLst>
                                    <p:set>
                                      <p:cBhvr>
                                        <p:cTn id="491" dur="1" fill="hold">
                                          <p:stCondLst>
                                            <p:cond delay="0"/>
                                          </p:stCondLst>
                                        </p:cTn>
                                        <p:tgtEl>
                                          <p:spTgt spid="192"/>
                                        </p:tgtEl>
                                        <p:attrNameLst>
                                          <p:attrName>style.visibility</p:attrName>
                                        </p:attrNameLst>
                                      </p:cBhvr>
                                      <p:to>
                                        <p:strVal val="visible"/>
                                      </p:to>
                                    </p:set>
                                    <p:animEffect transition="in" filter="fade">
                                      <p:cBhvr>
                                        <p:cTn id="492" dur="500"/>
                                        <p:tgtEl>
                                          <p:spTgt spid="192"/>
                                        </p:tgtEl>
                                      </p:cBhvr>
                                    </p:animEffect>
                                  </p:childTnLst>
                                </p:cTn>
                              </p:par>
                              <p:par>
                                <p:cTn id="493" presetID="10" presetClass="entr" presetSubtype="0" fill="hold" nodeType="withEffect">
                                  <p:stCondLst>
                                    <p:cond delay="0"/>
                                  </p:stCondLst>
                                  <p:childTnLst>
                                    <p:set>
                                      <p:cBhvr>
                                        <p:cTn id="494" dur="1" fill="hold">
                                          <p:stCondLst>
                                            <p:cond delay="0"/>
                                          </p:stCondLst>
                                        </p:cTn>
                                        <p:tgtEl>
                                          <p:spTgt spid="193"/>
                                        </p:tgtEl>
                                        <p:attrNameLst>
                                          <p:attrName>style.visibility</p:attrName>
                                        </p:attrNameLst>
                                      </p:cBhvr>
                                      <p:to>
                                        <p:strVal val="visible"/>
                                      </p:to>
                                    </p:set>
                                    <p:animEffect transition="in" filter="fade">
                                      <p:cBhvr>
                                        <p:cTn id="495" dur="500"/>
                                        <p:tgtEl>
                                          <p:spTgt spid="193"/>
                                        </p:tgtEl>
                                      </p:cBhvr>
                                    </p:animEffect>
                                  </p:childTnLst>
                                </p:cTn>
                              </p:par>
                              <p:par>
                                <p:cTn id="496" presetID="10" presetClass="entr" presetSubtype="0" fill="hold" grpId="0" nodeType="withEffect">
                                  <p:stCondLst>
                                    <p:cond delay="0"/>
                                  </p:stCondLst>
                                  <p:childTnLst>
                                    <p:set>
                                      <p:cBhvr>
                                        <p:cTn id="497" dur="1" fill="hold">
                                          <p:stCondLst>
                                            <p:cond delay="0"/>
                                          </p:stCondLst>
                                        </p:cTn>
                                        <p:tgtEl>
                                          <p:spTgt spid="194"/>
                                        </p:tgtEl>
                                        <p:attrNameLst>
                                          <p:attrName>style.visibility</p:attrName>
                                        </p:attrNameLst>
                                      </p:cBhvr>
                                      <p:to>
                                        <p:strVal val="visible"/>
                                      </p:to>
                                    </p:set>
                                    <p:animEffect transition="in" filter="fade">
                                      <p:cBhvr>
                                        <p:cTn id="498" dur="500"/>
                                        <p:tgtEl>
                                          <p:spTgt spid="194"/>
                                        </p:tgtEl>
                                      </p:cBhvr>
                                    </p:animEffect>
                                  </p:childTnLst>
                                </p:cTn>
                              </p:par>
                              <p:par>
                                <p:cTn id="499" presetID="10" presetClass="entr" presetSubtype="0" fill="hold" nodeType="withEffect">
                                  <p:stCondLst>
                                    <p:cond delay="0"/>
                                  </p:stCondLst>
                                  <p:childTnLst>
                                    <p:set>
                                      <p:cBhvr>
                                        <p:cTn id="500" dur="1" fill="hold">
                                          <p:stCondLst>
                                            <p:cond delay="0"/>
                                          </p:stCondLst>
                                        </p:cTn>
                                        <p:tgtEl>
                                          <p:spTgt spid="3">
                                            <p:txEl>
                                              <p:pRg st="6" end="6"/>
                                            </p:txEl>
                                          </p:spTgt>
                                        </p:tgtEl>
                                        <p:attrNameLst>
                                          <p:attrName>style.visibility</p:attrName>
                                        </p:attrNameLst>
                                      </p:cBhvr>
                                      <p:to>
                                        <p:strVal val="visible"/>
                                      </p:to>
                                    </p:set>
                                    <p:animEffect transition="in" filter="fade">
                                      <p:cBhvr>
                                        <p:cTn id="501" dur="500"/>
                                        <p:tgtEl>
                                          <p:spTgt spid="3">
                                            <p:txEl>
                                              <p:pRg st="6" end="6"/>
                                            </p:txEl>
                                          </p:spTgt>
                                        </p:tgtEl>
                                      </p:cBhvr>
                                    </p:animEffect>
                                  </p:childTnLst>
                                </p:cTn>
                              </p:par>
                            </p:childTnLst>
                          </p:cTn>
                        </p:par>
                        <p:par>
                          <p:cTn id="502" fill="hold">
                            <p:stCondLst>
                              <p:cond delay="500"/>
                            </p:stCondLst>
                            <p:childTnLst>
                              <p:par>
                                <p:cTn id="503" presetID="26" presetClass="emph" presetSubtype="0" fill="hold" grpId="1" nodeType="afterEffect">
                                  <p:stCondLst>
                                    <p:cond delay="0"/>
                                  </p:stCondLst>
                                  <p:childTnLst>
                                    <p:animEffect transition="out" filter="fade">
                                      <p:cBhvr>
                                        <p:cTn id="504" dur="1000" tmFilter="0, 0; .2, .5; .8, .5; 1, 0"/>
                                        <p:tgtEl>
                                          <p:spTgt spid="169"/>
                                        </p:tgtEl>
                                      </p:cBhvr>
                                    </p:animEffect>
                                    <p:animScale>
                                      <p:cBhvr>
                                        <p:cTn id="505" dur="500" autoRev="1" fill="hold"/>
                                        <p:tgtEl>
                                          <p:spTgt spid="169"/>
                                        </p:tgtEl>
                                      </p:cBhvr>
                                      <p:by x="105000" y="105000"/>
                                    </p:animScale>
                                  </p:childTnLst>
                                </p:cTn>
                              </p:par>
                            </p:childTnLst>
                          </p:cTn>
                        </p:par>
                      </p:childTnLst>
                    </p:cTn>
                  </p:par>
                  <p:par>
                    <p:cTn id="506" fill="hold">
                      <p:stCondLst>
                        <p:cond delay="indefinite"/>
                      </p:stCondLst>
                      <p:childTnLst>
                        <p:par>
                          <p:cTn id="507" fill="hold">
                            <p:stCondLst>
                              <p:cond delay="0"/>
                            </p:stCondLst>
                            <p:childTnLst>
                              <p:par>
                                <p:cTn id="508" presetID="10" presetClass="entr" presetSubtype="0" fill="hold" nodeType="clickEffect">
                                  <p:stCondLst>
                                    <p:cond delay="0"/>
                                  </p:stCondLst>
                                  <p:childTnLst>
                                    <p:set>
                                      <p:cBhvr>
                                        <p:cTn id="509" dur="1" fill="hold">
                                          <p:stCondLst>
                                            <p:cond delay="0"/>
                                          </p:stCondLst>
                                        </p:cTn>
                                        <p:tgtEl>
                                          <p:spTgt spid="3">
                                            <p:txEl>
                                              <p:pRg st="7" end="7"/>
                                            </p:txEl>
                                          </p:spTgt>
                                        </p:tgtEl>
                                        <p:attrNameLst>
                                          <p:attrName>style.visibility</p:attrName>
                                        </p:attrNameLst>
                                      </p:cBhvr>
                                      <p:to>
                                        <p:strVal val="visible"/>
                                      </p:to>
                                    </p:set>
                                    <p:animEffect transition="in" filter="fade">
                                      <p:cBhvr>
                                        <p:cTn id="510" dur="500"/>
                                        <p:tgtEl>
                                          <p:spTgt spid="3">
                                            <p:txEl>
                                              <p:pRg st="7" end="7"/>
                                            </p:txEl>
                                          </p:spTgt>
                                        </p:tgtEl>
                                      </p:cBhvr>
                                    </p:animEffect>
                                  </p:childTnLst>
                                </p:cTn>
                              </p:par>
                              <p:par>
                                <p:cTn id="511" presetID="10" presetClass="entr" presetSubtype="0" fill="hold" nodeType="withEffect">
                                  <p:stCondLst>
                                    <p:cond delay="0"/>
                                  </p:stCondLst>
                                  <p:childTnLst>
                                    <p:set>
                                      <p:cBhvr>
                                        <p:cTn id="512" dur="1" fill="hold">
                                          <p:stCondLst>
                                            <p:cond delay="0"/>
                                          </p:stCondLst>
                                        </p:cTn>
                                        <p:tgtEl>
                                          <p:spTgt spid="3">
                                            <p:txEl>
                                              <p:pRg st="8" end="8"/>
                                            </p:txEl>
                                          </p:spTgt>
                                        </p:tgtEl>
                                        <p:attrNameLst>
                                          <p:attrName>style.visibility</p:attrName>
                                        </p:attrNameLst>
                                      </p:cBhvr>
                                      <p:to>
                                        <p:strVal val="visible"/>
                                      </p:to>
                                    </p:set>
                                    <p:animEffect transition="in" filter="fade">
                                      <p:cBhvr>
                                        <p:cTn id="513" dur="500"/>
                                        <p:tgtEl>
                                          <p:spTgt spid="3">
                                            <p:txEl>
                                              <p:pRg st="8" end="8"/>
                                            </p:txEl>
                                          </p:spTgt>
                                        </p:tgtEl>
                                      </p:cBhvr>
                                    </p:animEffect>
                                  </p:childTnLst>
                                </p:cTn>
                              </p:par>
                            </p:childTnLst>
                          </p:cTn>
                        </p:par>
                      </p:childTnLst>
                    </p:cTn>
                  </p:par>
                  <p:par>
                    <p:cTn id="514" fill="hold">
                      <p:stCondLst>
                        <p:cond delay="indefinite"/>
                      </p:stCondLst>
                      <p:childTnLst>
                        <p:par>
                          <p:cTn id="515" fill="hold">
                            <p:stCondLst>
                              <p:cond delay="0"/>
                            </p:stCondLst>
                            <p:childTnLst>
                              <p:par>
                                <p:cTn id="516" presetID="10" presetClass="entr" presetSubtype="0" fill="hold" nodeType="clickEffect">
                                  <p:stCondLst>
                                    <p:cond delay="0"/>
                                  </p:stCondLst>
                                  <p:childTnLst>
                                    <p:set>
                                      <p:cBhvr>
                                        <p:cTn id="517" dur="1" fill="hold">
                                          <p:stCondLst>
                                            <p:cond delay="0"/>
                                          </p:stCondLst>
                                        </p:cTn>
                                        <p:tgtEl>
                                          <p:spTgt spid="3">
                                            <p:txEl>
                                              <p:pRg st="13" end="13"/>
                                            </p:txEl>
                                          </p:spTgt>
                                        </p:tgtEl>
                                        <p:attrNameLst>
                                          <p:attrName>style.visibility</p:attrName>
                                        </p:attrNameLst>
                                      </p:cBhvr>
                                      <p:to>
                                        <p:strVal val="visible"/>
                                      </p:to>
                                    </p:set>
                                    <p:animEffect transition="in" filter="fade">
                                      <p:cBhvr>
                                        <p:cTn id="51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5" grpId="0" animBg="1"/>
      <p:bldP spid="76" grpId="0" animBg="1"/>
      <p:bldP spid="77" grpId="0" animBg="1"/>
      <p:bldP spid="78" grpId="0" animBg="1"/>
      <p:bldP spid="79" grpId="0" animBg="1"/>
      <p:bldP spid="80" grpId="0" animBg="1"/>
      <p:bldP spid="81" grpId="0" animBg="1"/>
      <p:bldP spid="82" grpId="0" animBg="1"/>
      <p:bldP spid="83"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67" grpId="0"/>
      <p:bldP spid="168" grpId="0" animBg="1"/>
      <p:bldP spid="169" grpId="0" animBg="1"/>
      <p:bldP spid="169" grpId="1" animBg="1"/>
      <p:bldP spid="170" grpId="0" animBg="1"/>
      <p:bldP spid="171" grpId="0" animBg="1"/>
      <p:bldP spid="172" grpId="0" animBg="1"/>
      <p:bldP spid="173" grpId="0" animBg="1"/>
      <p:bldP spid="174" grpId="0" animBg="1"/>
      <p:bldP spid="175" grpId="0" animBg="1"/>
      <p:bldP spid="176" grpId="0" animBg="1"/>
      <p:bldP spid="177" grpId="0"/>
      <p:bldP spid="194" grpId="0"/>
      <p:bldP spid="195" grpId="0"/>
      <p:bldP spid="20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DDD0-008D-FCA7-9C9E-8AF5AED5C40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BE740B6-B89D-C2AF-BCC5-335967081996}"/>
              </a:ext>
            </a:extLst>
          </p:cNvPr>
          <p:cNvSpPr>
            <a:spLocks noGrp="1"/>
          </p:cNvSpPr>
          <p:nvPr>
            <p:ph type="title"/>
          </p:nvPr>
        </p:nvSpPr>
        <p:spPr/>
        <p:txBody>
          <a:bodyPr/>
          <a:lstStyle/>
          <a:p>
            <a:r>
              <a:rPr lang="en-US" altLang="zh-TW" sz="4400" dirty="0">
                <a:solidFill>
                  <a:srgbClr val="C00000"/>
                </a:solidFill>
              </a:rPr>
              <a:t>Recap: </a:t>
            </a:r>
            <a:r>
              <a:rPr kumimoji="1" lang="en-US" altLang="zh-TW" dirty="0"/>
              <a:t>Linux Process Scheduler</a:t>
            </a:r>
            <a:endParaRPr kumimoji="1" lang="zh-TW" altLang="en-US" dirty="0"/>
          </a:p>
        </p:txBody>
      </p:sp>
      <p:sp>
        <p:nvSpPr>
          <p:cNvPr id="3" name="內容版面配置區 2">
            <a:extLst>
              <a:ext uri="{FF2B5EF4-FFF2-40B4-BE49-F238E27FC236}">
                <a16:creationId xmlns:a16="http://schemas.microsoft.com/office/drawing/2014/main" id="{C8F138B4-BE3C-BC41-95E2-C309BC38F458}"/>
              </a:ext>
            </a:extLst>
          </p:cNvPr>
          <p:cNvSpPr>
            <a:spLocks noGrp="1"/>
          </p:cNvSpPr>
          <p:nvPr>
            <p:ph idx="1"/>
          </p:nvPr>
        </p:nvSpPr>
        <p:spPr/>
        <p:txBody>
          <a:bodyPr/>
          <a:lstStyle/>
          <a:p>
            <a:r>
              <a:rPr kumimoji="1" lang="en-US" altLang="zh-TW" dirty="0">
                <a:solidFill>
                  <a:schemeClr val="tx1">
                    <a:lumMod val="50000"/>
                    <a:lumOff val="50000"/>
                  </a:schemeClr>
                </a:solidFill>
              </a:rPr>
              <a:t>O(N)</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Before</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a:t>
            </a:r>
            <a:r>
              <a:rPr lang="en-US" altLang="zh-TW" dirty="0">
                <a:solidFill>
                  <a:schemeClr val="tx1">
                    <a:lumMod val="50000"/>
                    <a:lumOff val="50000"/>
                  </a:schemeClr>
                </a:solidFill>
              </a:rPr>
              <a:t>rnel</a:t>
            </a:r>
            <a:r>
              <a:rPr lang="zh-TW" altLang="en-US" dirty="0">
                <a:solidFill>
                  <a:schemeClr val="tx1">
                    <a:lumMod val="50000"/>
                    <a:lumOff val="50000"/>
                  </a:schemeClr>
                </a:solidFill>
              </a:rPr>
              <a:t> </a:t>
            </a:r>
            <a:r>
              <a:rPr lang="en-US" altLang="zh-TW" dirty="0">
                <a:solidFill>
                  <a:schemeClr val="tx1">
                    <a:lumMod val="50000"/>
                    <a:lumOff val="50000"/>
                  </a:schemeClr>
                </a:solidFill>
              </a:rPr>
              <a:t>2.4</a:t>
            </a:r>
          </a:p>
          <a:p>
            <a:r>
              <a:rPr kumimoji="1" lang="en-US" altLang="zh-TW" dirty="0">
                <a:solidFill>
                  <a:schemeClr val="tx1">
                    <a:lumMod val="50000"/>
                    <a:lumOff val="50000"/>
                  </a:schemeClr>
                </a:solidFill>
              </a:rPr>
              <a:t>O(1)</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Kernel</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2.5</a:t>
            </a:r>
          </a:p>
          <a:p>
            <a:r>
              <a:rPr lang="en-US" altLang="zh-TW" dirty="0"/>
              <a:t>Completely</a:t>
            </a:r>
            <a:r>
              <a:rPr lang="zh-TW" altLang="en-US" dirty="0"/>
              <a:t> </a:t>
            </a:r>
            <a:r>
              <a:rPr lang="en-US" altLang="zh-TW" dirty="0"/>
              <a:t>Fair</a:t>
            </a:r>
            <a:r>
              <a:rPr lang="zh-TW" altLang="en-US" dirty="0"/>
              <a:t> </a:t>
            </a:r>
            <a:r>
              <a:rPr lang="en-US" altLang="zh-TW" dirty="0"/>
              <a:t>Scheduler</a:t>
            </a:r>
            <a:r>
              <a:rPr lang="zh-TW" altLang="en-US" dirty="0"/>
              <a:t> </a:t>
            </a:r>
            <a:r>
              <a:rPr lang="en-US" altLang="zh-TW" dirty="0"/>
              <a:t>(CFS)</a:t>
            </a:r>
            <a:r>
              <a:rPr lang="zh-TW" altLang="en-US" dirty="0"/>
              <a:t> </a:t>
            </a:r>
            <a:r>
              <a:rPr lang="en-US" altLang="zh-TW" dirty="0"/>
              <a:t>Kernel</a:t>
            </a:r>
            <a:r>
              <a:rPr lang="zh-TW" altLang="en-US" dirty="0"/>
              <a:t> </a:t>
            </a:r>
            <a:r>
              <a:rPr lang="en-US" altLang="zh-TW" dirty="0"/>
              <a:t>2.6 O(log(N):</a:t>
            </a:r>
          </a:p>
          <a:p>
            <a:pPr lvl="1"/>
            <a:r>
              <a:rPr kumimoji="1" lang="en-US" altLang="zh-TW" dirty="0"/>
              <a:t>Goal: more</a:t>
            </a:r>
            <a:r>
              <a:rPr kumimoji="1" lang="zh-TW" altLang="en-US" dirty="0"/>
              <a:t> </a:t>
            </a:r>
            <a:r>
              <a:rPr kumimoji="1" lang="en-US" altLang="zh-TW" dirty="0"/>
              <a:t>interactive and more</a:t>
            </a:r>
            <a:r>
              <a:rPr kumimoji="1" lang="zh-TW" altLang="en-US" dirty="0"/>
              <a:t> </a:t>
            </a:r>
            <a:r>
              <a:rPr kumimoji="1" lang="en-US" altLang="zh-TW" dirty="0"/>
              <a:t>“Fair”</a:t>
            </a:r>
            <a:r>
              <a:rPr kumimoji="1" lang="zh-TW" altLang="en-US" dirty="0"/>
              <a:t> </a:t>
            </a:r>
            <a:r>
              <a:rPr kumimoji="1" lang="en-US" altLang="zh-TW" dirty="0"/>
              <a:t>than</a:t>
            </a:r>
            <a:r>
              <a:rPr kumimoji="1" lang="zh-TW" altLang="en-US" dirty="0"/>
              <a:t> </a:t>
            </a:r>
            <a:r>
              <a:rPr kumimoji="1" lang="en-US" altLang="zh-TW" dirty="0"/>
              <a:t>O(1</a:t>
            </a:r>
            <a:r>
              <a:rPr lang="en-US" altLang="zh-TW" dirty="0"/>
              <a:t>).</a:t>
            </a:r>
          </a:p>
          <a:p>
            <a:pPr lvl="1"/>
            <a:r>
              <a:rPr kumimoji="1" lang="en-US" altLang="zh-TW" dirty="0"/>
              <a:t>Concept: (1) Instead of statically mapping </a:t>
            </a:r>
            <a:r>
              <a:rPr kumimoji="1" lang="en-US" altLang="zh-TW" dirty="0" err="1"/>
              <a:t>timeslice</a:t>
            </a:r>
            <a:r>
              <a:rPr kumimoji="1" lang="en-US" altLang="zh-TW" dirty="0"/>
              <a:t>, each process would receive</a:t>
            </a:r>
            <a:r>
              <a:rPr lang="en-US" altLang="zh-TW" dirty="0"/>
              <a:t> </a:t>
            </a:r>
            <a:r>
              <a:rPr lang="en-US" altLang="zh-TW" dirty="0">
                <a:solidFill>
                  <a:srgbClr val="C00000"/>
                </a:solidFill>
              </a:rPr>
              <a:t>1/n of the processor’s time </a:t>
            </a:r>
            <a:r>
              <a:rPr lang="en-US" altLang="zh-TW" dirty="0"/>
              <a:t>(fair share). (2) Schedule processes for </a:t>
            </a:r>
            <a:r>
              <a:rPr lang="en-US" altLang="zh-TW" dirty="0">
                <a:solidFill>
                  <a:srgbClr val="C00000"/>
                </a:solidFill>
              </a:rPr>
              <a:t>infinitely small durations</a:t>
            </a:r>
            <a:r>
              <a:rPr lang="en-US" altLang="zh-TW" dirty="0"/>
              <a:t>. </a:t>
            </a:r>
          </a:p>
        </p:txBody>
      </p:sp>
      <p:sp>
        <p:nvSpPr>
          <p:cNvPr id="4" name="投影片編號版面配置區 3">
            <a:extLst>
              <a:ext uri="{FF2B5EF4-FFF2-40B4-BE49-F238E27FC236}">
                <a16:creationId xmlns:a16="http://schemas.microsoft.com/office/drawing/2014/main" id="{816C6273-4408-6904-0510-3AC91FA0E5B7}"/>
              </a:ext>
            </a:extLst>
          </p:cNvPr>
          <p:cNvSpPr>
            <a:spLocks noGrp="1"/>
          </p:cNvSpPr>
          <p:nvPr>
            <p:ph type="sldNum" sz="quarter" idx="4"/>
          </p:nvPr>
        </p:nvSpPr>
        <p:spPr/>
        <p:txBody>
          <a:bodyPr/>
          <a:lstStyle/>
          <a:p>
            <a:fld id="{E24E6636-6BA5-4AAC-8485-BE8D914D288B}" type="slidenum">
              <a:rPr lang="zh-TW" altLang="en-US" smtClean="0"/>
              <a:pPr/>
              <a:t>8</a:t>
            </a:fld>
            <a:endParaRPr lang="zh-TW" altLang="en-US" dirty="0"/>
          </a:p>
        </p:txBody>
      </p:sp>
      <p:sp>
        <p:nvSpPr>
          <p:cNvPr id="5" name="文字方塊 4">
            <a:extLst>
              <a:ext uri="{FF2B5EF4-FFF2-40B4-BE49-F238E27FC236}">
                <a16:creationId xmlns:a16="http://schemas.microsoft.com/office/drawing/2014/main" id="{ADCCE4F7-FAEA-F3A4-D2A0-C756C2C3E30D}"/>
              </a:ext>
            </a:extLst>
          </p:cNvPr>
          <p:cNvSpPr txBox="1"/>
          <p:nvPr/>
        </p:nvSpPr>
        <p:spPr>
          <a:xfrm>
            <a:off x="59494" y="6452422"/>
            <a:ext cx="7385676" cy="461665"/>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https://developer.ibm.com/tutorials/l-completely-fair-scheduler/</a:t>
            </a:r>
            <a:r>
              <a:rPr kumimoji="1" lang="en-US" altLang="zh-TW" sz="1200" dirty="0">
                <a:solidFill>
                  <a:schemeClr val="bg1">
                    <a:lumMod val="75000"/>
                  </a:schemeClr>
                </a:solidFill>
              </a:rPr>
              <a:t>   Ref2: </a:t>
            </a:r>
            <a:r>
              <a:rPr kumimoji="1" lang="en-US" altLang="zh-TW" sz="1200" dirty="0">
                <a:solidFill>
                  <a:schemeClr val="bg1">
                    <a:lumMod val="75000"/>
                  </a:schemeClr>
                </a:solidFill>
                <a:hlinkClick r:id="rId4">
                  <a:extLst>
                    <a:ext uri="{A12FA001-AC4F-418D-AE19-62706E023703}">
                      <ahyp:hlinkClr xmlns:ahyp="http://schemas.microsoft.com/office/drawing/2018/hyperlinkcolor" val="tx"/>
                    </a:ext>
                  </a:extLst>
                </a:hlinkClick>
              </a:rPr>
              <a:t>https://codingnote.cc/zh-tw/p/78397/</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Ref3: https://</a:t>
            </a:r>
            <a:r>
              <a:rPr kumimoji="1" lang="en-US" altLang="zh-TW" sz="1200" dirty="0" err="1">
                <a:solidFill>
                  <a:schemeClr val="bg1">
                    <a:lumMod val="75000"/>
                  </a:schemeClr>
                </a:solidFill>
              </a:rPr>
              <a:t>mechpen.github.io</a:t>
            </a:r>
            <a:r>
              <a:rPr kumimoji="1" lang="en-US" altLang="zh-TW" sz="1200" dirty="0">
                <a:solidFill>
                  <a:schemeClr val="bg1">
                    <a:lumMod val="75000"/>
                  </a:schemeClr>
                </a:solidFill>
              </a:rPr>
              <a:t>/posts/2020-04-27-cfs-group/</a:t>
            </a:r>
            <a:r>
              <a:rPr kumimoji="1" lang="en-US" altLang="zh-TW" sz="1200" dirty="0" err="1">
                <a:solidFill>
                  <a:schemeClr val="bg1">
                    <a:lumMod val="75000"/>
                  </a:schemeClr>
                </a:solidFill>
              </a:rPr>
              <a:t>index.html</a:t>
            </a:r>
            <a:endParaRPr kumimoji="1" lang="en-US" altLang="zh-TW" sz="1200" dirty="0">
              <a:solidFill>
                <a:schemeClr val="bg1">
                  <a:lumMod val="75000"/>
                </a:schemeClr>
              </a:solidFill>
            </a:endParaRPr>
          </a:p>
        </p:txBody>
      </p:sp>
      <p:sp>
        <p:nvSpPr>
          <p:cNvPr id="30" name="文字方塊 29">
            <a:extLst>
              <a:ext uri="{FF2B5EF4-FFF2-40B4-BE49-F238E27FC236}">
                <a16:creationId xmlns:a16="http://schemas.microsoft.com/office/drawing/2014/main" id="{1990761B-6554-58FB-BE44-AFB2A4F45820}"/>
              </a:ext>
            </a:extLst>
          </p:cNvPr>
          <p:cNvSpPr txBox="1"/>
          <p:nvPr/>
        </p:nvSpPr>
        <p:spPr>
          <a:xfrm>
            <a:off x="177800" y="3799140"/>
            <a:ext cx="7343243" cy="553998"/>
          </a:xfrm>
          <a:prstGeom prst="rect">
            <a:avLst/>
          </a:prstGeom>
          <a:noFill/>
          <a:ln w="19050">
            <a:noFill/>
          </a:ln>
        </p:spPr>
        <p:txBody>
          <a:bodyPr wrap="square" lIns="72000" tIns="0" rIns="0" bIns="0" rtlCol="0">
            <a:spAutoFit/>
          </a:bodyPr>
          <a:lstStyle/>
          <a:p>
            <a:r>
              <a:rPr kumimoji="1" lang="en-US" altLang="zh-TW" dirty="0"/>
              <a:t>Virtual Runtime: Real system running time + Priority </a:t>
            </a:r>
            <a:br>
              <a:rPr kumimoji="1" lang="en-US" altLang="zh-TW" dirty="0"/>
            </a:br>
            <a:r>
              <a:rPr kumimoji="1" lang="en-US" altLang="zh-TW" dirty="0"/>
              <a:t>(</a:t>
            </a:r>
            <a:r>
              <a:rPr kumimoji="1" lang="en-US" altLang="zh-TW" dirty="0">
                <a:solidFill>
                  <a:srgbClr val="C00000"/>
                </a:solidFill>
              </a:rPr>
              <a:t>Keep</a:t>
            </a:r>
            <a:r>
              <a:rPr kumimoji="1" lang="en-US" altLang="zh-TW" dirty="0"/>
              <a:t> the </a:t>
            </a:r>
            <a:r>
              <a:rPr kumimoji="1" lang="en-US" altLang="zh-TW" dirty="0">
                <a:solidFill>
                  <a:srgbClr val="C00000"/>
                </a:solidFill>
              </a:rPr>
              <a:t>virtual runtime </a:t>
            </a:r>
            <a:r>
              <a:rPr kumimoji="1" lang="en-US" altLang="zh-TW" dirty="0"/>
              <a:t>of all running processes </a:t>
            </a:r>
            <a:r>
              <a:rPr kumimoji="1" lang="en-US" altLang="zh-TW" dirty="0">
                <a:solidFill>
                  <a:srgbClr val="C00000"/>
                </a:solidFill>
              </a:rPr>
              <a:t>the same</a:t>
            </a:r>
            <a:r>
              <a:rPr kumimoji="1" lang="en-US" altLang="zh-TW" dirty="0"/>
              <a:t>)</a:t>
            </a:r>
          </a:p>
        </p:txBody>
      </p:sp>
      <p:grpSp>
        <p:nvGrpSpPr>
          <p:cNvPr id="61" name="群組 60">
            <a:extLst>
              <a:ext uri="{FF2B5EF4-FFF2-40B4-BE49-F238E27FC236}">
                <a16:creationId xmlns:a16="http://schemas.microsoft.com/office/drawing/2014/main" id="{6AE7F410-554D-793B-A1C3-3DFF602BDE23}"/>
              </a:ext>
            </a:extLst>
          </p:cNvPr>
          <p:cNvGrpSpPr/>
          <p:nvPr/>
        </p:nvGrpSpPr>
        <p:grpSpPr>
          <a:xfrm>
            <a:off x="7498515" y="3986208"/>
            <a:ext cx="4771941" cy="2831321"/>
            <a:chOff x="7420059" y="3699332"/>
            <a:chExt cx="4771941" cy="2831321"/>
          </a:xfrm>
        </p:grpSpPr>
        <p:sp>
          <p:nvSpPr>
            <p:cNvPr id="6" name="橢圓 5">
              <a:extLst>
                <a:ext uri="{FF2B5EF4-FFF2-40B4-BE49-F238E27FC236}">
                  <a16:creationId xmlns:a16="http://schemas.microsoft.com/office/drawing/2014/main" id="{6750229C-550E-38EB-D951-ECC69F1E4F74}"/>
                </a:ext>
              </a:extLst>
            </p:cNvPr>
            <p:cNvSpPr/>
            <p:nvPr/>
          </p:nvSpPr>
          <p:spPr>
            <a:xfrm>
              <a:off x="9334754" y="3699332"/>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50</a:t>
              </a:r>
              <a:endParaRPr kumimoji="1" lang="zh-TW" altLang="en-US" sz="1400" dirty="0"/>
            </a:p>
          </p:txBody>
        </p:sp>
        <p:sp>
          <p:nvSpPr>
            <p:cNvPr id="7" name="橢圓 6">
              <a:extLst>
                <a:ext uri="{FF2B5EF4-FFF2-40B4-BE49-F238E27FC236}">
                  <a16:creationId xmlns:a16="http://schemas.microsoft.com/office/drawing/2014/main" id="{FA3500EE-777F-8053-7DA2-7EFE61EBBEAB}"/>
                </a:ext>
              </a:extLst>
            </p:cNvPr>
            <p:cNvSpPr/>
            <p:nvPr/>
          </p:nvSpPr>
          <p:spPr>
            <a:xfrm>
              <a:off x="8540448" y="4251755"/>
              <a:ext cx="405353" cy="414779"/>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30</a:t>
              </a:r>
              <a:endParaRPr kumimoji="1" lang="zh-TW" altLang="en-US" sz="1400" dirty="0"/>
            </a:p>
          </p:txBody>
        </p:sp>
        <p:sp>
          <p:nvSpPr>
            <p:cNvPr id="8" name="橢圓 7">
              <a:extLst>
                <a:ext uri="{FF2B5EF4-FFF2-40B4-BE49-F238E27FC236}">
                  <a16:creationId xmlns:a16="http://schemas.microsoft.com/office/drawing/2014/main" id="{5733450D-34D2-7905-C050-9C4A3DD25798}"/>
                </a:ext>
              </a:extLst>
            </p:cNvPr>
            <p:cNvSpPr/>
            <p:nvPr/>
          </p:nvSpPr>
          <p:spPr>
            <a:xfrm>
              <a:off x="10287071" y="4251754"/>
              <a:ext cx="405353" cy="414779"/>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80</a:t>
              </a:r>
              <a:endParaRPr kumimoji="1" lang="zh-TW" altLang="en-US" sz="1400" dirty="0"/>
            </a:p>
          </p:txBody>
        </p:sp>
        <p:sp>
          <p:nvSpPr>
            <p:cNvPr id="9" name="橢圓 8">
              <a:extLst>
                <a:ext uri="{FF2B5EF4-FFF2-40B4-BE49-F238E27FC236}">
                  <a16:creationId xmlns:a16="http://schemas.microsoft.com/office/drawing/2014/main" id="{EB0757BE-4A93-A0DF-8824-89F6F8D8F212}"/>
                </a:ext>
              </a:extLst>
            </p:cNvPr>
            <p:cNvSpPr/>
            <p:nvPr/>
          </p:nvSpPr>
          <p:spPr>
            <a:xfrm>
              <a:off x="8135095" y="4975715"/>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5</a:t>
              </a:r>
              <a:endParaRPr kumimoji="1" lang="zh-TW" altLang="en-US" sz="1400" dirty="0"/>
            </a:p>
          </p:txBody>
        </p:sp>
        <p:sp>
          <p:nvSpPr>
            <p:cNvPr id="11" name="橢圓 10">
              <a:extLst>
                <a:ext uri="{FF2B5EF4-FFF2-40B4-BE49-F238E27FC236}">
                  <a16:creationId xmlns:a16="http://schemas.microsoft.com/office/drawing/2014/main" id="{9D176E9C-38A9-45B9-D57E-0CDB50972B33}"/>
                </a:ext>
              </a:extLst>
            </p:cNvPr>
            <p:cNvSpPr/>
            <p:nvPr/>
          </p:nvSpPr>
          <p:spPr>
            <a:xfrm>
              <a:off x="9828299" y="4994704"/>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70</a:t>
              </a:r>
              <a:endParaRPr kumimoji="1" lang="zh-TW" altLang="en-US" sz="1400" dirty="0"/>
            </a:p>
          </p:txBody>
        </p:sp>
        <p:sp>
          <p:nvSpPr>
            <p:cNvPr id="12" name="橢圓 11">
              <a:extLst>
                <a:ext uri="{FF2B5EF4-FFF2-40B4-BE49-F238E27FC236}">
                  <a16:creationId xmlns:a16="http://schemas.microsoft.com/office/drawing/2014/main" id="{16D27158-4CE6-5FC6-B44D-6C7847317516}"/>
                </a:ext>
              </a:extLst>
            </p:cNvPr>
            <p:cNvSpPr/>
            <p:nvPr/>
          </p:nvSpPr>
          <p:spPr>
            <a:xfrm>
              <a:off x="10772072" y="4994704"/>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90</a:t>
              </a:r>
              <a:endParaRPr kumimoji="1" lang="zh-TW" altLang="en-US" sz="1400" dirty="0"/>
            </a:p>
          </p:txBody>
        </p:sp>
        <p:cxnSp>
          <p:nvCxnSpPr>
            <p:cNvPr id="14" name="直線箭頭接點 13">
              <a:extLst>
                <a:ext uri="{FF2B5EF4-FFF2-40B4-BE49-F238E27FC236}">
                  <a16:creationId xmlns:a16="http://schemas.microsoft.com/office/drawing/2014/main" id="{C53022E6-A80C-A968-8624-74D2705C5C28}"/>
                </a:ext>
              </a:extLst>
            </p:cNvPr>
            <p:cNvCxnSpPr>
              <a:cxnSpLocks/>
            </p:cNvCxnSpPr>
            <p:nvPr/>
          </p:nvCxnSpPr>
          <p:spPr>
            <a:xfrm flipH="1">
              <a:off x="8082880" y="6079040"/>
              <a:ext cx="3280528"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43D3856A-C409-9B5E-9B8C-C469134EF130}"/>
                </a:ext>
              </a:extLst>
            </p:cNvPr>
            <p:cNvSpPr txBox="1"/>
            <p:nvPr/>
          </p:nvSpPr>
          <p:spPr>
            <a:xfrm>
              <a:off x="10405934" y="6180105"/>
              <a:ext cx="1786066" cy="307777"/>
            </a:xfrm>
            <a:prstGeom prst="rect">
              <a:avLst/>
            </a:prstGeom>
            <a:noFill/>
          </p:spPr>
          <p:txBody>
            <a:bodyPr wrap="none" rtlCol="0">
              <a:spAutoFit/>
            </a:bodyPr>
            <a:lstStyle/>
            <a:p>
              <a:r>
                <a:rPr kumimoji="1" lang="en-US" altLang="zh-TW" sz="1400" b="1" dirty="0">
                  <a:latin typeface="Arial" panose="020B0604020202020204" pitchFamily="34" charset="0"/>
                  <a:cs typeface="Arial" panose="020B0604020202020204" pitchFamily="34" charset="0"/>
                </a:rPr>
                <a:t>Least Need of CPU</a:t>
              </a:r>
              <a:endParaRPr kumimoji="1" lang="zh-TW" altLang="en-US" sz="1400" b="1" dirty="0">
                <a:latin typeface="Arial" panose="020B0604020202020204" pitchFamily="34" charset="0"/>
                <a:cs typeface="Arial" panose="020B0604020202020204" pitchFamily="34" charset="0"/>
              </a:endParaRPr>
            </a:p>
          </p:txBody>
        </p:sp>
        <p:sp>
          <p:nvSpPr>
            <p:cNvPr id="18" name="文字方塊 17">
              <a:extLst>
                <a:ext uri="{FF2B5EF4-FFF2-40B4-BE49-F238E27FC236}">
                  <a16:creationId xmlns:a16="http://schemas.microsoft.com/office/drawing/2014/main" id="{5DC8C3E3-F8E9-CE5E-1016-FE6432410545}"/>
                </a:ext>
              </a:extLst>
            </p:cNvPr>
            <p:cNvSpPr txBox="1"/>
            <p:nvPr/>
          </p:nvSpPr>
          <p:spPr>
            <a:xfrm>
              <a:off x="7420059" y="6222876"/>
              <a:ext cx="1736373" cy="307777"/>
            </a:xfrm>
            <a:prstGeom prst="rect">
              <a:avLst/>
            </a:prstGeom>
            <a:noFill/>
          </p:spPr>
          <p:txBody>
            <a:bodyPr wrap="none" rtlCol="0">
              <a:spAutoFit/>
            </a:bodyPr>
            <a:lstStyle/>
            <a:p>
              <a:r>
                <a:rPr kumimoji="1" lang="en-US" altLang="zh-TW" sz="1400" b="1" dirty="0">
                  <a:latin typeface="Arial" panose="020B0604020202020204" pitchFamily="34" charset="0"/>
                  <a:cs typeface="Arial" panose="020B0604020202020204" pitchFamily="34" charset="0"/>
                </a:rPr>
                <a:t>Most Need of CPU</a:t>
              </a:r>
              <a:endParaRPr kumimoji="1" lang="zh-TW" altLang="en-US" sz="1400" b="1" dirty="0">
                <a:latin typeface="Arial" panose="020B0604020202020204" pitchFamily="34" charset="0"/>
                <a:cs typeface="Arial" panose="020B0604020202020204" pitchFamily="34" charset="0"/>
              </a:endParaRPr>
            </a:p>
          </p:txBody>
        </p:sp>
        <p:sp>
          <p:nvSpPr>
            <p:cNvPr id="19" name="文字方塊 18">
              <a:extLst>
                <a:ext uri="{FF2B5EF4-FFF2-40B4-BE49-F238E27FC236}">
                  <a16:creationId xmlns:a16="http://schemas.microsoft.com/office/drawing/2014/main" id="{B89EF2CA-B058-93B7-07F2-E83ABC2B9094}"/>
                </a:ext>
              </a:extLst>
            </p:cNvPr>
            <p:cNvSpPr txBox="1"/>
            <p:nvPr/>
          </p:nvSpPr>
          <p:spPr>
            <a:xfrm>
              <a:off x="8822286" y="5771263"/>
              <a:ext cx="2012026"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Virtual Runtime</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(Index)</a:t>
              </a:r>
              <a:endParaRPr kumimoji="1" lang="zh-TW" altLang="en-US" sz="1400" dirty="0">
                <a:latin typeface="Arial" panose="020B0604020202020204" pitchFamily="34" charset="0"/>
                <a:cs typeface="Arial" panose="020B0604020202020204" pitchFamily="34" charset="0"/>
              </a:endParaRPr>
            </a:p>
          </p:txBody>
        </p:sp>
        <p:cxnSp>
          <p:nvCxnSpPr>
            <p:cNvPr id="22" name="直線箭頭接點 21">
              <a:extLst>
                <a:ext uri="{FF2B5EF4-FFF2-40B4-BE49-F238E27FC236}">
                  <a16:creationId xmlns:a16="http://schemas.microsoft.com/office/drawing/2014/main" id="{7B4C71ED-AA32-A428-F9A6-937072A89BEB}"/>
                </a:ext>
              </a:extLst>
            </p:cNvPr>
            <p:cNvCxnSpPr>
              <a:cxnSpLocks/>
            </p:cNvCxnSpPr>
            <p:nvPr/>
          </p:nvCxnSpPr>
          <p:spPr>
            <a:xfrm flipH="1">
              <a:off x="8132090" y="5354318"/>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字方塊 25">
              <a:extLst>
                <a:ext uri="{FF2B5EF4-FFF2-40B4-BE49-F238E27FC236}">
                  <a16:creationId xmlns:a16="http://schemas.microsoft.com/office/drawing/2014/main" id="{B2280C9E-AE4F-C827-77AE-7257DFEB072E}"/>
                </a:ext>
              </a:extLst>
            </p:cNvPr>
            <p:cNvSpPr txBox="1"/>
            <p:nvPr/>
          </p:nvSpPr>
          <p:spPr>
            <a:xfrm>
              <a:off x="7900296"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sp>
          <p:nvSpPr>
            <p:cNvPr id="28" name="文字方塊 27">
              <a:extLst>
                <a:ext uri="{FF2B5EF4-FFF2-40B4-BE49-F238E27FC236}">
                  <a16:creationId xmlns:a16="http://schemas.microsoft.com/office/drawing/2014/main" id="{2283BECB-2E44-D6F0-16A7-6431CE43B7D2}"/>
                </a:ext>
              </a:extLst>
            </p:cNvPr>
            <p:cNvSpPr txBox="1"/>
            <p:nvPr/>
          </p:nvSpPr>
          <p:spPr>
            <a:xfrm>
              <a:off x="7467206" y="5901856"/>
              <a:ext cx="633507"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Small</a:t>
              </a:r>
              <a:endParaRPr kumimoji="1" lang="zh-TW" altLang="en-US" sz="1400" dirty="0">
                <a:latin typeface="Arial" panose="020B0604020202020204" pitchFamily="34" charset="0"/>
                <a:cs typeface="Arial" panose="020B0604020202020204" pitchFamily="34" charset="0"/>
              </a:endParaRPr>
            </a:p>
          </p:txBody>
        </p:sp>
        <p:sp>
          <p:nvSpPr>
            <p:cNvPr id="29" name="文字方塊 28">
              <a:extLst>
                <a:ext uri="{FF2B5EF4-FFF2-40B4-BE49-F238E27FC236}">
                  <a16:creationId xmlns:a16="http://schemas.microsoft.com/office/drawing/2014/main" id="{1A160D1F-DC33-1886-5DE9-99297A1A23F4}"/>
                </a:ext>
              </a:extLst>
            </p:cNvPr>
            <p:cNvSpPr txBox="1"/>
            <p:nvPr/>
          </p:nvSpPr>
          <p:spPr>
            <a:xfrm>
              <a:off x="11345575" y="5897125"/>
              <a:ext cx="64152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Large</a:t>
              </a:r>
              <a:endParaRPr kumimoji="1" lang="zh-TW" altLang="en-US" sz="1400" dirty="0">
                <a:latin typeface="Arial" panose="020B0604020202020204" pitchFamily="34" charset="0"/>
                <a:cs typeface="Arial" panose="020B0604020202020204" pitchFamily="34" charset="0"/>
              </a:endParaRPr>
            </a:p>
          </p:txBody>
        </p:sp>
        <p:cxnSp>
          <p:nvCxnSpPr>
            <p:cNvPr id="33" name="直線箭頭接點 32">
              <a:extLst>
                <a:ext uri="{FF2B5EF4-FFF2-40B4-BE49-F238E27FC236}">
                  <a16:creationId xmlns:a16="http://schemas.microsoft.com/office/drawing/2014/main" id="{F3A46264-E85B-BC7B-FED7-F6B279E7D446}"/>
                </a:ext>
              </a:extLst>
            </p:cNvPr>
            <p:cNvCxnSpPr>
              <a:cxnSpLocks/>
            </p:cNvCxnSpPr>
            <p:nvPr/>
          </p:nvCxnSpPr>
          <p:spPr>
            <a:xfrm>
              <a:off x="8477191" y="5346659"/>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ECD99AC8-CF24-0891-3ADD-938B83514EE6}"/>
                </a:ext>
              </a:extLst>
            </p:cNvPr>
            <p:cNvSpPr txBox="1"/>
            <p:nvPr/>
          </p:nvSpPr>
          <p:spPr>
            <a:xfrm>
              <a:off x="8371676"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36" name="直線箭頭接點 35">
              <a:extLst>
                <a:ext uri="{FF2B5EF4-FFF2-40B4-BE49-F238E27FC236}">
                  <a16:creationId xmlns:a16="http://schemas.microsoft.com/office/drawing/2014/main" id="{99EB4E5C-264A-690B-2B1E-ACD97DB74CA2}"/>
                </a:ext>
              </a:extLst>
            </p:cNvPr>
            <p:cNvCxnSpPr>
              <a:cxnSpLocks/>
            </p:cNvCxnSpPr>
            <p:nvPr/>
          </p:nvCxnSpPr>
          <p:spPr>
            <a:xfrm>
              <a:off x="8934732" y="4583854"/>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613BAA8C-4CF5-E6F4-DF87-9C23E199B356}"/>
                </a:ext>
              </a:extLst>
            </p:cNvPr>
            <p:cNvSpPr txBox="1"/>
            <p:nvPr/>
          </p:nvSpPr>
          <p:spPr>
            <a:xfrm>
              <a:off x="8829217" y="4750619"/>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38" name="直線箭頭接點 37">
              <a:extLst>
                <a:ext uri="{FF2B5EF4-FFF2-40B4-BE49-F238E27FC236}">
                  <a16:creationId xmlns:a16="http://schemas.microsoft.com/office/drawing/2014/main" id="{3EA78BFC-1064-F66A-FDBC-20CD961823A8}"/>
                </a:ext>
              </a:extLst>
            </p:cNvPr>
            <p:cNvCxnSpPr>
              <a:cxnSpLocks/>
            </p:cNvCxnSpPr>
            <p:nvPr/>
          </p:nvCxnSpPr>
          <p:spPr>
            <a:xfrm>
              <a:off x="10193512" y="5317369"/>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字方塊 38">
              <a:extLst>
                <a:ext uri="{FF2B5EF4-FFF2-40B4-BE49-F238E27FC236}">
                  <a16:creationId xmlns:a16="http://schemas.microsoft.com/office/drawing/2014/main" id="{5D45893E-CB6E-6E87-2AD8-1936F20F883F}"/>
                </a:ext>
              </a:extLst>
            </p:cNvPr>
            <p:cNvSpPr txBox="1"/>
            <p:nvPr/>
          </p:nvSpPr>
          <p:spPr>
            <a:xfrm>
              <a:off x="10087997"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0" name="直線箭頭接點 39">
              <a:extLst>
                <a:ext uri="{FF2B5EF4-FFF2-40B4-BE49-F238E27FC236}">
                  <a16:creationId xmlns:a16="http://schemas.microsoft.com/office/drawing/2014/main" id="{6DF95A93-1318-F92F-2292-38B6F02D8F8B}"/>
                </a:ext>
              </a:extLst>
            </p:cNvPr>
            <p:cNvCxnSpPr>
              <a:cxnSpLocks/>
            </p:cNvCxnSpPr>
            <p:nvPr/>
          </p:nvCxnSpPr>
          <p:spPr>
            <a:xfrm>
              <a:off x="11128185" y="5347487"/>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D6215B2E-6DAB-4BD7-F272-54F77087834E}"/>
                </a:ext>
              </a:extLst>
            </p:cNvPr>
            <p:cNvSpPr txBox="1"/>
            <p:nvPr/>
          </p:nvSpPr>
          <p:spPr>
            <a:xfrm>
              <a:off x="11022670"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2" name="直線箭頭接點 41">
              <a:extLst>
                <a:ext uri="{FF2B5EF4-FFF2-40B4-BE49-F238E27FC236}">
                  <a16:creationId xmlns:a16="http://schemas.microsoft.com/office/drawing/2014/main" id="{A4004EFA-B5CA-1DD1-17EF-DC05202FC452}"/>
                </a:ext>
              </a:extLst>
            </p:cNvPr>
            <p:cNvCxnSpPr>
              <a:cxnSpLocks/>
            </p:cNvCxnSpPr>
            <p:nvPr/>
          </p:nvCxnSpPr>
          <p:spPr>
            <a:xfrm flipH="1">
              <a:off x="9767303" y="5305316"/>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ABC41976-F10D-E225-98E7-922F3DDAA71F}"/>
                </a:ext>
              </a:extLst>
            </p:cNvPr>
            <p:cNvSpPr txBox="1"/>
            <p:nvPr/>
          </p:nvSpPr>
          <p:spPr>
            <a:xfrm>
              <a:off x="9535509"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6" name="直線箭頭接點 45">
              <a:extLst>
                <a:ext uri="{FF2B5EF4-FFF2-40B4-BE49-F238E27FC236}">
                  <a16:creationId xmlns:a16="http://schemas.microsoft.com/office/drawing/2014/main" id="{CC26CB3C-C5CC-1A78-FC85-30CF305CBE32}"/>
                </a:ext>
              </a:extLst>
            </p:cNvPr>
            <p:cNvCxnSpPr>
              <a:cxnSpLocks/>
            </p:cNvCxnSpPr>
            <p:nvPr/>
          </p:nvCxnSpPr>
          <p:spPr>
            <a:xfrm flipH="1">
              <a:off x="10752912" y="5347724"/>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字方塊 46">
              <a:extLst>
                <a:ext uri="{FF2B5EF4-FFF2-40B4-BE49-F238E27FC236}">
                  <a16:creationId xmlns:a16="http://schemas.microsoft.com/office/drawing/2014/main" id="{565F2C52-65F4-9E0D-20C1-697FAB6EC6FC}"/>
                </a:ext>
              </a:extLst>
            </p:cNvPr>
            <p:cNvSpPr txBox="1"/>
            <p:nvPr/>
          </p:nvSpPr>
          <p:spPr>
            <a:xfrm>
              <a:off x="10521118"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8" name="直線箭頭接點 47">
              <a:extLst>
                <a:ext uri="{FF2B5EF4-FFF2-40B4-BE49-F238E27FC236}">
                  <a16:creationId xmlns:a16="http://schemas.microsoft.com/office/drawing/2014/main" id="{05FC332D-94C5-4272-8EC9-6D7A2291A615}"/>
                </a:ext>
              </a:extLst>
            </p:cNvPr>
            <p:cNvCxnSpPr>
              <a:cxnSpLocks/>
              <a:stCxn id="6" idx="3"/>
              <a:endCxn id="7" idx="7"/>
            </p:cNvCxnSpPr>
            <p:nvPr/>
          </p:nvCxnSpPr>
          <p:spPr>
            <a:xfrm flipH="1">
              <a:off x="8886438" y="4053368"/>
              <a:ext cx="507679" cy="25913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直線箭頭接點 50">
              <a:extLst>
                <a:ext uri="{FF2B5EF4-FFF2-40B4-BE49-F238E27FC236}">
                  <a16:creationId xmlns:a16="http://schemas.microsoft.com/office/drawing/2014/main" id="{A0912102-9B58-7288-1CC5-244FCF541C2D}"/>
                </a:ext>
              </a:extLst>
            </p:cNvPr>
            <p:cNvCxnSpPr>
              <a:cxnSpLocks/>
              <a:stCxn id="6" idx="5"/>
              <a:endCxn id="8" idx="1"/>
            </p:cNvCxnSpPr>
            <p:nvPr/>
          </p:nvCxnSpPr>
          <p:spPr>
            <a:xfrm>
              <a:off x="9680744" y="4053368"/>
              <a:ext cx="665690" cy="25912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直線箭頭接點 53">
              <a:extLst>
                <a:ext uri="{FF2B5EF4-FFF2-40B4-BE49-F238E27FC236}">
                  <a16:creationId xmlns:a16="http://schemas.microsoft.com/office/drawing/2014/main" id="{B4B80601-E928-EC3C-6BE9-6E511C0B86E1}"/>
                </a:ext>
              </a:extLst>
            </p:cNvPr>
            <p:cNvCxnSpPr>
              <a:cxnSpLocks/>
              <a:endCxn id="9" idx="0"/>
            </p:cNvCxnSpPr>
            <p:nvPr/>
          </p:nvCxnSpPr>
          <p:spPr>
            <a:xfrm flipH="1">
              <a:off x="8337772" y="4603811"/>
              <a:ext cx="263036" cy="37190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6" name="直線箭頭接點 55">
              <a:extLst>
                <a:ext uri="{FF2B5EF4-FFF2-40B4-BE49-F238E27FC236}">
                  <a16:creationId xmlns:a16="http://schemas.microsoft.com/office/drawing/2014/main" id="{A45D6AAD-FFD9-220F-CEF1-08A8AC0C22BB}"/>
                </a:ext>
              </a:extLst>
            </p:cNvPr>
            <p:cNvCxnSpPr>
              <a:cxnSpLocks/>
            </p:cNvCxnSpPr>
            <p:nvPr/>
          </p:nvCxnSpPr>
          <p:spPr>
            <a:xfrm flipH="1">
              <a:off x="10066653" y="4614217"/>
              <a:ext cx="263036" cy="37190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箭頭接點 56">
              <a:extLst>
                <a:ext uri="{FF2B5EF4-FFF2-40B4-BE49-F238E27FC236}">
                  <a16:creationId xmlns:a16="http://schemas.microsoft.com/office/drawing/2014/main" id="{F1D7536A-C53B-86F9-DFE9-E194D28D4AE5}"/>
                </a:ext>
              </a:extLst>
            </p:cNvPr>
            <p:cNvCxnSpPr>
              <a:cxnSpLocks/>
              <a:stCxn id="8" idx="5"/>
              <a:endCxn id="12" idx="0"/>
            </p:cNvCxnSpPr>
            <p:nvPr/>
          </p:nvCxnSpPr>
          <p:spPr>
            <a:xfrm>
              <a:off x="10633061" y="4605790"/>
              <a:ext cx="341688" cy="38891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60" name="矩形 59">
            <a:extLst>
              <a:ext uri="{FF2B5EF4-FFF2-40B4-BE49-F238E27FC236}">
                <a16:creationId xmlns:a16="http://schemas.microsoft.com/office/drawing/2014/main" id="{C75D2B9E-02DE-1F6A-12BB-95F6BCC8C579}"/>
              </a:ext>
            </a:extLst>
          </p:cNvPr>
          <p:cNvSpPr/>
          <p:nvPr/>
        </p:nvSpPr>
        <p:spPr>
          <a:xfrm>
            <a:off x="108738" y="3809176"/>
            <a:ext cx="7414294" cy="252460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文字方塊 62">
            <a:extLst>
              <a:ext uri="{FF2B5EF4-FFF2-40B4-BE49-F238E27FC236}">
                <a16:creationId xmlns:a16="http://schemas.microsoft.com/office/drawing/2014/main" id="{5DC908F3-1D6B-472A-0E72-D830442507AD}"/>
              </a:ext>
            </a:extLst>
          </p:cNvPr>
          <p:cNvSpPr txBox="1"/>
          <p:nvPr/>
        </p:nvSpPr>
        <p:spPr>
          <a:xfrm>
            <a:off x="81350" y="4302454"/>
            <a:ext cx="7441729" cy="2031325"/>
          </a:xfrm>
          <a:prstGeom prst="rect">
            <a:avLst/>
          </a:prstGeom>
          <a:noFill/>
        </p:spPr>
        <p:txBody>
          <a:bodyPr wrap="square">
            <a:spAutoFit/>
          </a:bodyPr>
          <a:lstStyle/>
          <a:p>
            <a:br>
              <a:rPr kumimoji="1" lang="en-US" altLang="zh-TW" dirty="0"/>
            </a:br>
            <a:r>
              <a:rPr kumimoji="1" lang="en-US" altLang="zh-TW" dirty="0"/>
              <a:t>(Theory) </a:t>
            </a:r>
            <a:r>
              <a:rPr kumimoji="1" lang="en-US" altLang="zh-TW" dirty="0" err="1"/>
              <a:t>Vruntime</a:t>
            </a:r>
            <a:r>
              <a:rPr kumimoji="1" lang="en-US" altLang="zh-TW" dirty="0"/>
              <a:t> += </a:t>
            </a:r>
            <a:r>
              <a:rPr kumimoji="1" lang="en-US" altLang="zh-TW" dirty="0" err="1"/>
              <a:t>delta_exec</a:t>
            </a:r>
            <a:r>
              <a:rPr kumimoji="1" lang="en-US" altLang="zh-TW" dirty="0"/>
              <a:t> * NICE_0_Weight/</a:t>
            </a:r>
            <a:r>
              <a:rPr kumimoji="1" lang="en-US" altLang="zh-TW" dirty="0" err="1"/>
              <a:t>NICE_Weight</a:t>
            </a:r>
            <a:br>
              <a:rPr kumimoji="1" lang="en-US" altLang="zh-TW" dirty="0"/>
            </a:br>
            <a:endParaRPr kumimoji="1" lang="en-US" altLang="zh-TW" dirty="0"/>
          </a:p>
          <a:p>
            <a:r>
              <a:rPr kumimoji="1" lang="en-US" altLang="zh-TW" i="1" dirty="0">
                <a:solidFill>
                  <a:schemeClr val="bg1">
                    <a:lumMod val="75000"/>
                  </a:schemeClr>
                </a:solidFill>
              </a:rPr>
              <a:t>__</a:t>
            </a:r>
            <a:r>
              <a:rPr kumimoji="1" lang="en-US" altLang="zh-TW" i="1" dirty="0" err="1">
                <a:solidFill>
                  <a:schemeClr val="bg1">
                    <a:lumMod val="75000"/>
                  </a:schemeClr>
                </a:solidFill>
              </a:rPr>
              <a:t>sched_period</a:t>
            </a:r>
            <a:r>
              <a:rPr kumimoji="1" lang="en-US" altLang="zh-TW" dirty="0">
                <a:solidFill>
                  <a:schemeClr val="bg1">
                    <a:lumMod val="75000"/>
                  </a:schemeClr>
                </a:solidFill>
              </a:rPr>
              <a:t>: Period</a:t>
            </a:r>
            <a:r>
              <a:rPr kumimoji="1" lang="zh-TW" altLang="en-US" dirty="0">
                <a:solidFill>
                  <a:schemeClr val="bg1">
                    <a:lumMod val="75000"/>
                  </a:schemeClr>
                </a:solidFill>
              </a:rPr>
              <a:t> </a:t>
            </a:r>
            <a:r>
              <a:rPr kumimoji="1" lang="en-US" altLang="zh-TW" dirty="0">
                <a:solidFill>
                  <a:schemeClr val="bg1">
                    <a:lumMod val="75000"/>
                  </a:schemeClr>
                </a:solidFill>
              </a:rPr>
              <a:t>to enter scheduler (e.g., </a:t>
            </a:r>
            <a:r>
              <a:rPr kumimoji="1" lang="zh-TW" altLang="en-US" dirty="0">
                <a:solidFill>
                  <a:schemeClr val="bg1">
                    <a:lumMod val="75000"/>
                  </a:schemeClr>
                </a:solidFill>
              </a:rPr>
              <a:t> </a:t>
            </a:r>
            <a:r>
              <a:rPr kumimoji="1" lang="en-US" altLang="zh-TW" dirty="0">
                <a:solidFill>
                  <a:schemeClr val="bg1">
                    <a:lumMod val="75000"/>
                  </a:schemeClr>
                </a:solidFill>
              </a:rPr>
              <a:t>6ms or 0.75ms, a constant)</a:t>
            </a:r>
          </a:p>
          <a:p>
            <a:r>
              <a:rPr kumimoji="1" lang="en-US" altLang="zh-TW" i="1" dirty="0" err="1">
                <a:solidFill>
                  <a:schemeClr val="bg1">
                    <a:lumMod val="75000"/>
                  </a:schemeClr>
                </a:solidFill>
              </a:rPr>
              <a:t>delta_exec</a:t>
            </a:r>
            <a:r>
              <a:rPr kumimoji="1" lang="en-US" altLang="zh-TW" dirty="0">
                <a:solidFill>
                  <a:schemeClr val="bg1">
                    <a:lumMod val="75000"/>
                  </a:schemeClr>
                </a:solidFill>
              </a:rPr>
              <a:t>: execution time for a process (or called wall time)</a:t>
            </a:r>
          </a:p>
          <a:p>
            <a:r>
              <a:rPr kumimoji="1" lang="en-US" altLang="zh-TW" i="1" dirty="0" err="1">
                <a:solidFill>
                  <a:schemeClr val="bg1">
                    <a:lumMod val="75000"/>
                  </a:schemeClr>
                </a:solidFill>
              </a:rPr>
              <a:t>NICE_Weight</a:t>
            </a:r>
            <a:r>
              <a:rPr kumimoji="1" lang="en-US" altLang="zh-TW" i="1" dirty="0">
                <a:solidFill>
                  <a:schemeClr val="bg1">
                    <a:lumMod val="75000"/>
                  </a:schemeClr>
                </a:solidFill>
              </a:rPr>
              <a:t>: Weight for the corresponding nice value (e.g., 0 </a:t>
            </a:r>
            <a:r>
              <a:rPr kumimoji="1" lang="en-US" altLang="zh-TW" i="1" dirty="0">
                <a:solidFill>
                  <a:schemeClr val="bg1">
                    <a:lumMod val="75000"/>
                  </a:schemeClr>
                </a:solidFill>
                <a:sym typeface="Wingdings" pitchFamily="2" charset="2"/>
              </a:rPr>
              <a:t> </a:t>
            </a:r>
            <a:r>
              <a:rPr kumimoji="1" lang="en-US" altLang="zh-TW" i="1" dirty="0">
                <a:solidFill>
                  <a:schemeClr val="bg1">
                    <a:lumMod val="75000"/>
                  </a:schemeClr>
                </a:solidFill>
              </a:rPr>
              <a:t>1024)</a:t>
            </a:r>
          </a:p>
          <a:p>
            <a:r>
              <a:rPr kumimoji="1" lang="en-US" altLang="zh-TW" i="1" dirty="0" err="1">
                <a:solidFill>
                  <a:schemeClr val="bg1">
                    <a:lumMod val="75000"/>
                  </a:schemeClr>
                </a:solidFill>
              </a:rPr>
              <a:t>NICE_k_Weight</a:t>
            </a:r>
            <a:r>
              <a:rPr kumimoji="1" lang="en-US" altLang="zh-TW" i="1" dirty="0">
                <a:solidFill>
                  <a:schemeClr val="bg1">
                    <a:lumMod val="75000"/>
                  </a:schemeClr>
                </a:solidFill>
              </a:rPr>
              <a:t>: Overall</a:t>
            </a:r>
            <a:r>
              <a:rPr kumimoji="1" lang="zh-TW" altLang="en-US" i="1" dirty="0">
                <a:solidFill>
                  <a:schemeClr val="bg1">
                    <a:lumMod val="75000"/>
                  </a:schemeClr>
                </a:solidFill>
              </a:rPr>
              <a:t> </a:t>
            </a:r>
            <a:r>
              <a:rPr kumimoji="1" lang="en-US" altLang="zh-TW" i="1" dirty="0">
                <a:solidFill>
                  <a:schemeClr val="bg1">
                    <a:lumMod val="75000"/>
                  </a:schemeClr>
                </a:solidFill>
              </a:rPr>
              <a:t>weights of the all k running processes</a:t>
            </a:r>
          </a:p>
        </p:txBody>
      </p:sp>
      <p:sp>
        <p:nvSpPr>
          <p:cNvPr id="64" name="文字方塊 63">
            <a:extLst>
              <a:ext uri="{FF2B5EF4-FFF2-40B4-BE49-F238E27FC236}">
                <a16:creationId xmlns:a16="http://schemas.microsoft.com/office/drawing/2014/main" id="{9DB1FE00-1C8C-9D82-D0CA-EDAF09A20FA4}"/>
              </a:ext>
            </a:extLst>
          </p:cNvPr>
          <p:cNvSpPr txBox="1"/>
          <p:nvPr/>
        </p:nvSpPr>
        <p:spPr>
          <a:xfrm>
            <a:off x="59494" y="4869719"/>
            <a:ext cx="7544654" cy="369332"/>
          </a:xfrm>
          <a:prstGeom prst="rect">
            <a:avLst/>
          </a:prstGeom>
          <a:noFill/>
        </p:spPr>
        <p:txBody>
          <a:bodyPr wrap="square">
            <a:spAutoFit/>
          </a:bodyPr>
          <a:lstStyle/>
          <a:p>
            <a:r>
              <a:rPr kumimoji="1" lang="en-US" altLang="zh-TW" dirty="0">
                <a:solidFill>
                  <a:schemeClr val="tx1">
                    <a:lumMod val="50000"/>
                    <a:lumOff val="50000"/>
                  </a:schemeClr>
                </a:solidFill>
              </a:rPr>
              <a:t>(Practical) </a:t>
            </a:r>
            <a:r>
              <a:rPr kumimoji="1" lang="en-US" altLang="zh-TW" dirty="0" err="1">
                <a:solidFill>
                  <a:schemeClr val="tx1">
                    <a:lumMod val="50000"/>
                    <a:lumOff val="50000"/>
                  </a:schemeClr>
                </a:solidFill>
              </a:rPr>
              <a:t>Vruntime</a:t>
            </a:r>
            <a:r>
              <a:rPr kumimoji="1" lang="en-US" altLang="zh-TW" dirty="0">
                <a:solidFill>
                  <a:schemeClr val="tx1">
                    <a:lumMod val="50000"/>
                    <a:lumOff val="50000"/>
                  </a:schemeClr>
                </a:solidFill>
              </a:rPr>
              <a:t> += (</a:t>
            </a:r>
            <a:r>
              <a:rPr kumimoji="1" lang="en-US" altLang="zh-TW" dirty="0" err="1">
                <a:solidFill>
                  <a:schemeClr val="tx1">
                    <a:lumMod val="50000"/>
                    <a:lumOff val="50000"/>
                  </a:schemeClr>
                </a:solidFill>
              </a:rPr>
              <a:t>delta_exec</a:t>
            </a:r>
            <a:r>
              <a:rPr kumimoji="1" lang="en-US" altLang="zh-TW" dirty="0">
                <a:solidFill>
                  <a:schemeClr val="tx1">
                    <a:lumMod val="50000"/>
                    <a:lumOff val="50000"/>
                  </a:schemeClr>
                </a:solidFill>
              </a:rPr>
              <a:t> * NICE_0_Weight * 2</a:t>
            </a:r>
            <a:r>
              <a:rPr kumimoji="1" lang="en-US" altLang="zh-TW" baseline="30000" dirty="0">
                <a:solidFill>
                  <a:schemeClr val="tx1">
                    <a:lumMod val="50000"/>
                    <a:lumOff val="50000"/>
                  </a:schemeClr>
                </a:solidFill>
              </a:rPr>
              <a:t>32</a:t>
            </a:r>
            <a:r>
              <a:rPr kumimoji="1" lang="en-US" altLang="zh-TW" dirty="0">
                <a:solidFill>
                  <a:schemeClr val="tx1">
                    <a:lumMod val="50000"/>
                    <a:lumOff val="50000"/>
                  </a:schemeClr>
                </a:solidFill>
              </a:rPr>
              <a:t>/</a:t>
            </a:r>
            <a:r>
              <a:rPr kumimoji="1" lang="en-US" altLang="zh-TW" dirty="0" err="1">
                <a:solidFill>
                  <a:schemeClr val="tx1">
                    <a:lumMod val="50000"/>
                    <a:lumOff val="50000"/>
                  </a:schemeClr>
                </a:solidFill>
              </a:rPr>
              <a:t>NICE_Weight</a:t>
            </a:r>
            <a:r>
              <a:rPr kumimoji="1" lang="en-US" altLang="zh-TW" dirty="0">
                <a:solidFill>
                  <a:schemeClr val="tx1">
                    <a:lumMod val="50000"/>
                    <a:lumOff val="50000"/>
                  </a:schemeClr>
                </a:solidFill>
              </a:rPr>
              <a:t>) &gt;&gt; 32</a:t>
            </a:r>
          </a:p>
        </p:txBody>
      </p:sp>
      <p:sp>
        <p:nvSpPr>
          <p:cNvPr id="10" name="文字方塊 9">
            <a:extLst>
              <a:ext uri="{FF2B5EF4-FFF2-40B4-BE49-F238E27FC236}">
                <a16:creationId xmlns:a16="http://schemas.microsoft.com/office/drawing/2014/main" id="{4A7675B9-08B3-41DF-F05F-546D31415EDC}"/>
              </a:ext>
            </a:extLst>
          </p:cNvPr>
          <p:cNvSpPr txBox="1"/>
          <p:nvPr/>
        </p:nvSpPr>
        <p:spPr>
          <a:xfrm>
            <a:off x="124455" y="4273013"/>
            <a:ext cx="7441729" cy="369332"/>
          </a:xfrm>
          <a:prstGeom prst="rect">
            <a:avLst/>
          </a:prstGeom>
          <a:noFill/>
        </p:spPr>
        <p:txBody>
          <a:bodyPr wrap="square">
            <a:spAutoFit/>
          </a:bodyPr>
          <a:lstStyle/>
          <a:p>
            <a:r>
              <a:rPr kumimoji="1" lang="en-US" altLang="zh-TW" dirty="0" err="1"/>
              <a:t>Allocated_CPU_Time</a:t>
            </a:r>
            <a:r>
              <a:rPr kumimoji="1" lang="en-US" altLang="zh-TW" dirty="0"/>
              <a:t> = __</a:t>
            </a:r>
            <a:r>
              <a:rPr kumimoji="1" lang="en-US" altLang="zh-TW" dirty="0" err="1"/>
              <a:t>sched_period</a:t>
            </a:r>
            <a:r>
              <a:rPr kumimoji="1" lang="en-US" altLang="zh-TW" dirty="0"/>
              <a:t>() * </a:t>
            </a:r>
            <a:r>
              <a:rPr kumimoji="1" lang="en-US" altLang="zh-TW" dirty="0" err="1"/>
              <a:t>NICE_Weight</a:t>
            </a:r>
            <a:r>
              <a:rPr kumimoji="1" lang="en-US" altLang="zh-TW" dirty="0"/>
              <a:t> /</a:t>
            </a:r>
            <a:r>
              <a:rPr kumimoji="1" lang="en-US" altLang="zh-TW" dirty="0" err="1"/>
              <a:t>NICE_k_Weight</a:t>
            </a:r>
            <a:endParaRPr kumimoji="1" lang="en-US" altLang="zh-TW" dirty="0"/>
          </a:p>
        </p:txBody>
      </p:sp>
      <p:sp>
        <p:nvSpPr>
          <p:cNvPr id="13" name="矩形 12">
            <a:extLst>
              <a:ext uri="{FF2B5EF4-FFF2-40B4-BE49-F238E27FC236}">
                <a16:creationId xmlns:a16="http://schemas.microsoft.com/office/drawing/2014/main" id="{0E16376A-E368-748E-1E62-79FEF2032B47}"/>
              </a:ext>
            </a:extLst>
          </p:cNvPr>
          <p:cNvSpPr/>
          <p:nvPr/>
        </p:nvSpPr>
        <p:spPr>
          <a:xfrm>
            <a:off x="8223529" y="1079207"/>
            <a:ext cx="3790671" cy="284546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b="1" dirty="0">
                <a:solidFill>
                  <a:schemeClr val="tx1"/>
                </a:solidFill>
              </a:rPr>
              <a:t>Example</a:t>
            </a:r>
            <a:endParaRPr kumimoji="1" lang="zh-TW" altLang="en-US" b="1" dirty="0">
              <a:solidFill>
                <a:schemeClr val="tx1"/>
              </a:solidFill>
            </a:endParaRPr>
          </a:p>
        </p:txBody>
      </p:sp>
      <p:sp>
        <p:nvSpPr>
          <p:cNvPr id="15" name="文字方塊 14">
            <a:extLst>
              <a:ext uri="{FF2B5EF4-FFF2-40B4-BE49-F238E27FC236}">
                <a16:creationId xmlns:a16="http://schemas.microsoft.com/office/drawing/2014/main" id="{71DE737A-C794-835E-5A4C-1E0E084F3C67}"/>
              </a:ext>
            </a:extLst>
          </p:cNvPr>
          <p:cNvSpPr txBox="1"/>
          <p:nvPr/>
        </p:nvSpPr>
        <p:spPr>
          <a:xfrm>
            <a:off x="8323387" y="1306654"/>
            <a:ext cx="3759875" cy="369332"/>
          </a:xfrm>
          <a:prstGeom prst="rect">
            <a:avLst/>
          </a:prstGeom>
          <a:noFill/>
        </p:spPr>
        <p:txBody>
          <a:bodyPr wrap="none" rtlCol="0">
            <a:spAutoFit/>
          </a:bodyPr>
          <a:lstStyle/>
          <a:p>
            <a:r>
              <a:rPr kumimoji="1" lang="en-US" altLang="zh-TW" dirty="0"/>
              <a:t>Two Process: P1 (Nice 0), P2 (Nice 19)</a:t>
            </a:r>
            <a:endParaRPr kumimoji="1" lang="zh-TW" altLang="en-US" dirty="0"/>
          </a:p>
        </p:txBody>
      </p:sp>
      <p:sp>
        <p:nvSpPr>
          <p:cNvPr id="16" name="文字方塊 15">
            <a:extLst>
              <a:ext uri="{FF2B5EF4-FFF2-40B4-BE49-F238E27FC236}">
                <a16:creationId xmlns:a16="http://schemas.microsoft.com/office/drawing/2014/main" id="{60786F47-E05E-C759-F3D6-0FA88A66B7EC}"/>
              </a:ext>
            </a:extLst>
          </p:cNvPr>
          <p:cNvSpPr txBox="1"/>
          <p:nvPr/>
        </p:nvSpPr>
        <p:spPr>
          <a:xfrm>
            <a:off x="8601167" y="1648411"/>
            <a:ext cx="3161122" cy="830997"/>
          </a:xfrm>
          <a:prstGeom prst="rect">
            <a:avLst/>
          </a:prstGeom>
          <a:noFill/>
          <a:ln w="19050">
            <a:solidFill>
              <a:schemeClr val="tx1"/>
            </a:solidFill>
            <a:prstDash val="sysDot"/>
          </a:ln>
        </p:spPr>
        <p:txBody>
          <a:bodyPr wrap="none" lIns="0" tIns="0" rIns="0" bIns="0" rtlCol="0">
            <a:spAutoFit/>
          </a:bodyPr>
          <a:lstStyle/>
          <a:p>
            <a:r>
              <a:rPr kumimoji="1" lang="en-US" altLang="zh-TW" dirty="0"/>
              <a:t>Overall CPU: </a:t>
            </a:r>
          </a:p>
          <a:p>
            <a:r>
              <a:rPr kumimoji="1" lang="en-US" altLang="zh-TW" dirty="0"/>
              <a:t>P1: 6ms*1024/(1024+15) = 5.9ms</a:t>
            </a:r>
          </a:p>
          <a:p>
            <a:r>
              <a:rPr kumimoji="1" lang="en-US" altLang="zh-TW" dirty="0"/>
              <a:t>P2: 6ms*15/(1024+15) = 0.1ms</a:t>
            </a:r>
          </a:p>
        </p:txBody>
      </p:sp>
      <p:sp>
        <p:nvSpPr>
          <p:cNvPr id="20" name="文字方塊 19">
            <a:extLst>
              <a:ext uri="{FF2B5EF4-FFF2-40B4-BE49-F238E27FC236}">
                <a16:creationId xmlns:a16="http://schemas.microsoft.com/office/drawing/2014/main" id="{8CB157A5-2B49-38C1-5754-FBF05CBE456D}"/>
              </a:ext>
            </a:extLst>
          </p:cNvPr>
          <p:cNvSpPr txBox="1"/>
          <p:nvPr/>
        </p:nvSpPr>
        <p:spPr>
          <a:xfrm>
            <a:off x="8212655" y="2473177"/>
            <a:ext cx="3887283" cy="923330"/>
          </a:xfrm>
          <a:prstGeom prst="rect">
            <a:avLst/>
          </a:prstGeom>
          <a:noFill/>
        </p:spPr>
        <p:txBody>
          <a:bodyPr wrap="none" rtlCol="0">
            <a:spAutoFit/>
          </a:bodyPr>
          <a:lstStyle/>
          <a:p>
            <a:r>
              <a:rPr kumimoji="1" lang="en-US" altLang="zh-TW" dirty="0"/>
              <a:t>- Initial </a:t>
            </a:r>
            <a:r>
              <a:rPr kumimoji="1" lang="en-US" altLang="zh-TW" dirty="0" err="1"/>
              <a:t>Vruntime</a:t>
            </a:r>
            <a:r>
              <a:rPr kumimoji="1" lang="en-US" altLang="zh-TW" dirty="0"/>
              <a:t> to 0</a:t>
            </a:r>
          </a:p>
          <a:p>
            <a:r>
              <a:rPr kumimoji="1" lang="en-US" altLang="zh-TW" dirty="0"/>
              <a:t>- P1 runs first, facing I/O after 1ms</a:t>
            </a:r>
          </a:p>
          <a:p>
            <a:r>
              <a:rPr kumimoji="1" lang="en-US" altLang="zh-TW" dirty="0"/>
              <a:t>- P2 takes over, after 0.05ms P1 finishes</a:t>
            </a:r>
          </a:p>
        </p:txBody>
      </p:sp>
      <p:sp>
        <p:nvSpPr>
          <p:cNvPr id="21" name="文字方塊 20">
            <a:extLst>
              <a:ext uri="{FF2B5EF4-FFF2-40B4-BE49-F238E27FC236}">
                <a16:creationId xmlns:a16="http://schemas.microsoft.com/office/drawing/2014/main" id="{1290EB74-90AF-AC6C-539A-D5574161BF50}"/>
              </a:ext>
            </a:extLst>
          </p:cNvPr>
          <p:cNvSpPr txBox="1"/>
          <p:nvPr/>
        </p:nvSpPr>
        <p:spPr>
          <a:xfrm>
            <a:off x="10296339" y="3886256"/>
            <a:ext cx="1737292" cy="276999"/>
          </a:xfrm>
          <a:prstGeom prst="rect">
            <a:avLst/>
          </a:prstGeom>
          <a:solidFill>
            <a:schemeClr val="bg1"/>
          </a:solidFill>
        </p:spPr>
        <p:txBody>
          <a:bodyPr wrap="none" lIns="90000" tIns="0" bIns="0" rtlCol="0">
            <a:spAutoFit/>
          </a:bodyPr>
          <a:lstStyle/>
          <a:p>
            <a:r>
              <a:rPr kumimoji="1" lang="en-US" altLang="zh-TW" i="1" dirty="0">
                <a:solidFill>
                  <a:srgbClr val="C00000"/>
                </a:solidFill>
              </a:rPr>
              <a:t>P1 preempts P2!</a:t>
            </a:r>
            <a:endParaRPr kumimoji="1" lang="zh-TW" altLang="en-US" i="1" dirty="0">
              <a:solidFill>
                <a:srgbClr val="C00000"/>
              </a:solidFill>
            </a:endParaRPr>
          </a:p>
        </p:txBody>
      </p:sp>
      <p:sp>
        <p:nvSpPr>
          <p:cNvPr id="24" name="文字方塊 23">
            <a:extLst>
              <a:ext uri="{FF2B5EF4-FFF2-40B4-BE49-F238E27FC236}">
                <a16:creationId xmlns:a16="http://schemas.microsoft.com/office/drawing/2014/main" id="{B0761E8D-E851-E172-1C79-A855D750667C}"/>
              </a:ext>
            </a:extLst>
          </p:cNvPr>
          <p:cNvSpPr txBox="1"/>
          <p:nvPr/>
        </p:nvSpPr>
        <p:spPr>
          <a:xfrm>
            <a:off x="8510625" y="3287667"/>
            <a:ext cx="3707404" cy="646331"/>
          </a:xfrm>
          <a:prstGeom prst="rect">
            <a:avLst/>
          </a:prstGeom>
          <a:noFill/>
        </p:spPr>
        <p:txBody>
          <a:bodyPr wrap="square">
            <a:spAutoFit/>
          </a:bodyPr>
          <a:lstStyle/>
          <a:p>
            <a:r>
              <a:rPr kumimoji="1" lang="en-US" altLang="zh-TW" dirty="0">
                <a:solidFill>
                  <a:srgbClr val="C00000"/>
                </a:solidFill>
              </a:rPr>
              <a:t>P1’s </a:t>
            </a:r>
            <a:r>
              <a:rPr kumimoji="1" lang="en-US" altLang="zh-TW" dirty="0" err="1">
                <a:solidFill>
                  <a:srgbClr val="C00000"/>
                </a:solidFill>
              </a:rPr>
              <a:t>vruntime</a:t>
            </a:r>
            <a:r>
              <a:rPr kumimoji="1" lang="en-US" altLang="zh-TW" dirty="0">
                <a:solidFill>
                  <a:srgbClr val="C00000"/>
                </a:solidFill>
              </a:rPr>
              <a:t> += 1*1024/1024 = 1</a:t>
            </a:r>
          </a:p>
          <a:p>
            <a:r>
              <a:rPr kumimoji="1" lang="en-US" altLang="zh-TW" dirty="0"/>
              <a:t>P2’s </a:t>
            </a:r>
            <a:r>
              <a:rPr kumimoji="1" lang="en-US" altLang="zh-TW" dirty="0" err="1"/>
              <a:t>vruntime</a:t>
            </a:r>
            <a:r>
              <a:rPr kumimoji="1" lang="en-US" altLang="zh-TW" dirty="0"/>
              <a:t> += 0.05*1024/15 = 3</a:t>
            </a:r>
          </a:p>
        </p:txBody>
      </p:sp>
    </p:spTree>
    <p:extLst>
      <p:ext uri="{BB962C8B-B14F-4D97-AF65-F5344CB8AC3E}">
        <p14:creationId xmlns:p14="http://schemas.microsoft.com/office/powerpoint/2010/main" val="220381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500"/>
                                        <p:tgtEl>
                                          <p:spTgt spid="6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par>
                                <p:cTn id="26" presetID="9" presetClass="emph" presetSubtype="0" grpId="0" nodeType="withEffect">
                                  <p:stCondLst>
                                    <p:cond delay="0"/>
                                  </p:stCondLst>
                                  <p:childTnLst>
                                    <p:set>
                                      <p:cBhvr>
                                        <p:cTn id="27" dur="indefinite"/>
                                        <p:tgtEl>
                                          <p:spTgt spid="3">
                                            <p:txEl>
                                              <p:pRg st="0" end="0"/>
                                            </p:txEl>
                                          </p:spTgt>
                                        </p:tgtEl>
                                        <p:attrNameLst>
                                          <p:attrName>style.opacity</p:attrName>
                                        </p:attrNameLst>
                                      </p:cBhvr>
                                      <p:to>
                                        <p:strVal val="0.25"/>
                                      </p:to>
                                    </p:set>
                                    <p:animEffect filter="image" prLst="opacity: 0.25">
                                      <p:cBhvr rctx="IE">
                                        <p:cTn id="28" dur="indefinite"/>
                                        <p:tgtEl>
                                          <p:spTgt spid="3">
                                            <p:txEl>
                                              <p:pRg st="0" end="0"/>
                                            </p:txEl>
                                          </p:spTgt>
                                        </p:tgtEl>
                                      </p:cBhvr>
                                    </p:animEffect>
                                  </p:childTnLst>
                                </p:cTn>
                              </p:par>
                              <p:par>
                                <p:cTn id="29" presetID="9" presetClass="emph" presetSubtype="0" grpId="0" nodeType="withEffect">
                                  <p:stCondLst>
                                    <p:cond delay="0"/>
                                  </p:stCondLst>
                                  <p:childTnLst>
                                    <p:set>
                                      <p:cBhvr>
                                        <p:cTn id="30" dur="indefinite"/>
                                        <p:tgtEl>
                                          <p:spTgt spid="3">
                                            <p:txEl>
                                              <p:pRg st="1" end="1"/>
                                            </p:txEl>
                                          </p:spTgt>
                                        </p:tgtEl>
                                        <p:attrNameLst>
                                          <p:attrName>style.opacity</p:attrName>
                                        </p:attrNameLst>
                                      </p:cBhvr>
                                      <p:to>
                                        <p:strVal val="0.25"/>
                                      </p:to>
                                    </p:set>
                                    <p:animEffect filter="image" prLst="opacity: 0.25">
                                      <p:cBhvr rctx="IE">
                                        <p:cTn id="31" dur="indefinite"/>
                                        <p:tgtEl>
                                          <p:spTgt spid="3">
                                            <p:txEl>
                                              <p:pRg st="1" end="1"/>
                                            </p:txEl>
                                          </p:spTgt>
                                        </p:tgtEl>
                                      </p:cBhvr>
                                    </p:animEffect>
                                  </p:childTnLst>
                                </p:cTn>
                              </p:par>
                              <p:par>
                                <p:cTn id="32" presetID="9" presetClass="emph" presetSubtype="0" grpId="0" nodeType="withEffect">
                                  <p:stCondLst>
                                    <p:cond delay="0"/>
                                  </p:stCondLst>
                                  <p:childTnLst>
                                    <p:set>
                                      <p:cBhvr>
                                        <p:cTn id="33" dur="indefinite"/>
                                        <p:tgtEl>
                                          <p:spTgt spid="3">
                                            <p:txEl>
                                              <p:pRg st="2" end="2"/>
                                            </p:txEl>
                                          </p:spTgt>
                                        </p:tgtEl>
                                        <p:attrNameLst>
                                          <p:attrName>style.opacity</p:attrName>
                                        </p:attrNameLst>
                                      </p:cBhvr>
                                      <p:to>
                                        <p:strVal val="0.25"/>
                                      </p:to>
                                    </p:set>
                                    <p:animEffect filter="image" prLst="opacity: 0.25">
                                      <p:cBhvr rctx="IE">
                                        <p:cTn id="34" dur="indefinite"/>
                                        <p:tgtEl>
                                          <p:spTgt spid="3">
                                            <p:txEl>
                                              <p:pRg st="2" end="2"/>
                                            </p:txEl>
                                          </p:spTgt>
                                        </p:tgtEl>
                                      </p:cBhvr>
                                    </p:animEffect>
                                  </p:childTnLst>
                                </p:cTn>
                              </p:par>
                              <p:par>
                                <p:cTn id="35" presetID="9" presetClass="emph" presetSubtype="0" grpId="0" nodeType="withEffect">
                                  <p:stCondLst>
                                    <p:cond delay="0"/>
                                  </p:stCondLst>
                                  <p:childTnLst>
                                    <p:set>
                                      <p:cBhvr>
                                        <p:cTn id="36" dur="indefinite"/>
                                        <p:tgtEl>
                                          <p:spTgt spid="3">
                                            <p:txEl>
                                              <p:pRg st="3" end="3"/>
                                            </p:txEl>
                                          </p:spTgt>
                                        </p:tgtEl>
                                        <p:attrNameLst>
                                          <p:attrName>style.opacity</p:attrName>
                                        </p:attrNameLst>
                                      </p:cBhvr>
                                      <p:to>
                                        <p:strVal val="0.25"/>
                                      </p:to>
                                    </p:set>
                                    <p:animEffect filter="image" prLst="opacity: 0.25">
                                      <p:cBhvr rctx="IE">
                                        <p:cTn id="37" dur="indefinite"/>
                                        <p:tgtEl>
                                          <p:spTgt spid="3">
                                            <p:txEl>
                                              <p:pRg st="3" end="3"/>
                                            </p:txEl>
                                          </p:spTgt>
                                        </p:tgtEl>
                                      </p:cBhvr>
                                    </p:animEffect>
                                  </p:childTnLst>
                                </p:cTn>
                              </p:par>
                              <p:par>
                                <p:cTn id="38" presetID="9" presetClass="emph" presetSubtype="0" grpId="0" nodeType="withEffect">
                                  <p:stCondLst>
                                    <p:cond delay="0"/>
                                  </p:stCondLst>
                                  <p:childTnLst>
                                    <p:set>
                                      <p:cBhvr>
                                        <p:cTn id="39" dur="indefinite"/>
                                        <p:tgtEl>
                                          <p:spTgt spid="3">
                                            <p:txEl>
                                              <p:pRg st="4" end="4"/>
                                            </p:txEl>
                                          </p:spTgt>
                                        </p:tgtEl>
                                        <p:attrNameLst>
                                          <p:attrName>style.opacity</p:attrName>
                                        </p:attrNameLst>
                                      </p:cBhvr>
                                      <p:to>
                                        <p:strVal val="0.25"/>
                                      </p:to>
                                    </p:set>
                                    <p:animEffect filter="image" prLst="opacity: 0.25">
                                      <p:cBhvr rctx="IE">
                                        <p:cTn id="40" dur="indefinite"/>
                                        <p:tgtEl>
                                          <p:spTgt spid="3">
                                            <p:txEl>
                                              <p:pRg st="4" end="4"/>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up)">
                                      <p:cBhvr>
                                        <p:cTn id="47" dur="500"/>
                                        <p:tgtEl>
                                          <p:spTgt spid="15"/>
                                        </p:tgtEl>
                                      </p:cBhvr>
                                    </p:animEffect>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up)">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up)">
                                      <p:cBhvr>
                                        <p:cTn id="61" dur="5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left)">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0" grpId="0"/>
      <p:bldP spid="60" grpId="0" animBg="1"/>
      <p:bldP spid="63" grpId="0"/>
      <p:bldP spid="64" grpId="0"/>
      <p:bldP spid="10" grpId="0"/>
      <p:bldP spid="13" grpId="0" animBg="1"/>
      <p:bldP spid="15" grpId="0"/>
      <p:bldP spid="16" grpId="0" animBg="1"/>
      <p:bldP spid="20" grpId="0"/>
      <p:bldP spid="21" grpId="0" animBg="1"/>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lang="en-US" altLang="zh-TW" sz="4400" dirty="0">
                <a:solidFill>
                  <a:srgbClr val="C00000"/>
                </a:solidFill>
              </a:rPr>
              <a:t>Recap: </a:t>
            </a:r>
            <a:r>
              <a:rPr kumimoji="1" lang="en-US" altLang="zh-TW" dirty="0"/>
              <a:t>Linux Process Scheduler</a:t>
            </a:r>
            <a:r>
              <a:rPr kumimoji="1" lang="zh-TW" altLang="en-US" dirty="0"/>
              <a:t> </a:t>
            </a:r>
            <a:r>
              <a:rPr kumimoji="1" lang="en-US" altLang="zh-TW" dirty="0"/>
              <a:t>(Count.)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solidFill>
                  <a:schemeClr val="tx1">
                    <a:lumMod val="50000"/>
                    <a:lumOff val="50000"/>
                  </a:schemeClr>
                </a:solidFill>
              </a:rPr>
              <a:t>O(N)</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Before</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a:t>
            </a:r>
            <a:r>
              <a:rPr lang="en-US" altLang="zh-TW" dirty="0">
                <a:solidFill>
                  <a:schemeClr val="tx1">
                    <a:lumMod val="50000"/>
                    <a:lumOff val="50000"/>
                  </a:schemeClr>
                </a:solidFill>
              </a:rPr>
              <a:t>rnel</a:t>
            </a:r>
            <a:r>
              <a:rPr lang="zh-TW" altLang="en-US" dirty="0">
                <a:solidFill>
                  <a:schemeClr val="tx1">
                    <a:lumMod val="50000"/>
                    <a:lumOff val="50000"/>
                  </a:schemeClr>
                </a:solidFill>
              </a:rPr>
              <a:t> </a:t>
            </a:r>
            <a:r>
              <a:rPr lang="en-US" altLang="zh-TW" dirty="0">
                <a:solidFill>
                  <a:schemeClr val="tx1">
                    <a:lumMod val="50000"/>
                    <a:lumOff val="50000"/>
                  </a:schemeClr>
                </a:solidFill>
              </a:rPr>
              <a:t>2.4</a:t>
            </a:r>
          </a:p>
          <a:p>
            <a:r>
              <a:rPr kumimoji="1" lang="en-US" altLang="zh-TW" dirty="0">
                <a:solidFill>
                  <a:schemeClr val="tx1">
                    <a:lumMod val="50000"/>
                    <a:lumOff val="50000"/>
                  </a:schemeClr>
                </a:solidFill>
              </a:rPr>
              <a:t>O(1)</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Kernel</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2.5</a:t>
            </a:r>
          </a:p>
          <a:p>
            <a:r>
              <a:rPr lang="en-US" altLang="zh-TW" dirty="0"/>
              <a:t>Completely</a:t>
            </a:r>
            <a:r>
              <a:rPr lang="zh-TW" altLang="en-US" dirty="0"/>
              <a:t> </a:t>
            </a:r>
            <a:r>
              <a:rPr lang="en-US" altLang="zh-TW" dirty="0"/>
              <a:t>Fair</a:t>
            </a:r>
            <a:r>
              <a:rPr lang="zh-TW" altLang="en-US" dirty="0"/>
              <a:t> </a:t>
            </a:r>
            <a:r>
              <a:rPr lang="en-US" altLang="zh-TW" dirty="0"/>
              <a:t>Scheduler</a:t>
            </a:r>
            <a:r>
              <a:rPr lang="zh-TW" altLang="en-US" dirty="0"/>
              <a:t> </a:t>
            </a:r>
            <a:r>
              <a:rPr lang="en-US" altLang="zh-TW" dirty="0"/>
              <a:t>(CFS)</a:t>
            </a:r>
            <a:r>
              <a:rPr lang="zh-TW" altLang="en-US" dirty="0"/>
              <a:t> </a:t>
            </a:r>
            <a:r>
              <a:rPr lang="en-US" altLang="zh-TW" dirty="0"/>
              <a:t>Kernel</a:t>
            </a:r>
            <a:r>
              <a:rPr lang="zh-TW" altLang="en-US" dirty="0"/>
              <a:t> </a:t>
            </a:r>
            <a:r>
              <a:rPr lang="en-US" altLang="zh-TW" dirty="0"/>
              <a:t>2.6:</a:t>
            </a:r>
          </a:p>
          <a:p>
            <a:pPr lvl="1"/>
            <a:r>
              <a:rPr kumimoji="1" lang="en-US" altLang="zh-TW" dirty="0"/>
              <a:t>Goal:  Be more</a:t>
            </a:r>
            <a:r>
              <a:rPr kumimoji="1" lang="zh-TW" altLang="en-US" dirty="0"/>
              <a:t> </a:t>
            </a:r>
            <a:r>
              <a:rPr kumimoji="1" lang="en-US" altLang="zh-TW" dirty="0"/>
              <a:t>interactive and “Fair”</a:t>
            </a:r>
            <a:r>
              <a:rPr kumimoji="1" lang="zh-TW" altLang="en-US" dirty="0"/>
              <a:t> </a:t>
            </a:r>
            <a:r>
              <a:rPr kumimoji="1" lang="en-US" altLang="zh-TW" dirty="0"/>
              <a:t>than</a:t>
            </a:r>
            <a:r>
              <a:rPr kumimoji="1" lang="zh-TW" altLang="en-US" dirty="0"/>
              <a:t> </a:t>
            </a:r>
            <a:r>
              <a:rPr kumimoji="1" lang="en-US" altLang="zh-TW" dirty="0"/>
              <a:t>O(1</a:t>
            </a:r>
            <a:r>
              <a:rPr lang="en-US" altLang="zh-TW" dirty="0"/>
              <a:t>).</a:t>
            </a:r>
          </a:p>
          <a:p>
            <a:pPr lvl="1"/>
            <a:r>
              <a:rPr kumimoji="1" lang="en-US" altLang="zh-TW" dirty="0"/>
              <a:t>How to decide the weight? </a:t>
            </a:r>
            <a:endParaRPr lang="en-US" altLang="zh-TW" dirty="0"/>
          </a:p>
          <a:p>
            <a:pPr marL="457200" lvl="1" indent="0">
              <a:buNone/>
            </a:pPr>
            <a:r>
              <a:rPr lang="en-US" altLang="zh-TW" dirty="0"/>
              <a:t>     Ans: Follow the 10% effect</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sp>
        <p:nvSpPr>
          <p:cNvPr id="5" name="文字方塊 4">
            <a:extLst>
              <a:ext uri="{FF2B5EF4-FFF2-40B4-BE49-F238E27FC236}">
                <a16:creationId xmlns:a16="http://schemas.microsoft.com/office/drawing/2014/main" id="{8193C216-3219-BF9D-C5A1-DAA0AD4FDE33}"/>
              </a:ext>
            </a:extLst>
          </p:cNvPr>
          <p:cNvSpPr txBox="1"/>
          <p:nvPr/>
        </p:nvSpPr>
        <p:spPr>
          <a:xfrm>
            <a:off x="-1" y="6033869"/>
            <a:ext cx="4726871" cy="830997"/>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https://developer.ibm.com/tutorials/l-completely-fair-scheduler/</a:t>
            </a:r>
          </a:p>
          <a:p>
            <a:r>
              <a:rPr kumimoji="1" lang="en-US" altLang="zh-TW" sz="1200" dirty="0">
                <a:solidFill>
                  <a:schemeClr val="bg1">
                    <a:lumMod val="75000"/>
                  </a:schemeClr>
                </a:solidFill>
              </a:rPr>
              <a:t>Ref2: </a:t>
            </a:r>
            <a:r>
              <a:rPr kumimoji="1" lang="en-US" altLang="zh-TW" sz="1200" dirty="0">
                <a:solidFill>
                  <a:schemeClr val="bg1">
                    <a:lumMod val="75000"/>
                  </a:schemeClr>
                </a:solidFill>
                <a:hlinkClick r:id="rId3">
                  <a:extLst>
                    <a:ext uri="{A12FA001-AC4F-418D-AE19-62706E023703}">
                      <ahyp:hlinkClr xmlns:ahyp="http://schemas.microsoft.com/office/drawing/2018/hyperlinkcolor" val="tx"/>
                    </a:ext>
                  </a:extLst>
                </a:hlinkClick>
              </a:rPr>
              <a:t>https://codingnote.cc/zh-tw/p/78397/</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Ref3: </a:t>
            </a:r>
            <a:r>
              <a:rPr kumimoji="1" lang="en-US" altLang="zh-TW" sz="1200" dirty="0">
                <a:solidFill>
                  <a:schemeClr val="bg1">
                    <a:lumMod val="75000"/>
                  </a:schemeClr>
                </a:solidFill>
                <a:hlinkClick r:id="rId4">
                  <a:extLst>
                    <a:ext uri="{A12FA001-AC4F-418D-AE19-62706E023703}">
                      <ahyp:hlinkClr xmlns:ahyp="http://schemas.microsoft.com/office/drawing/2018/hyperlinkcolor" val="tx"/>
                    </a:ext>
                  </a:extLst>
                </a:hlinkClick>
              </a:rPr>
              <a:t>https://mechpen.github.io/posts/2020-04-27-cfs-group/index.html</a:t>
            </a:r>
            <a:br>
              <a:rPr kumimoji="1" lang="en-US" altLang="zh-TW" sz="1200" dirty="0">
                <a:solidFill>
                  <a:schemeClr val="bg1">
                    <a:lumMod val="75000"/>
                  </a:schemeClr>
                </a:solidFill>
              </a:rPr>
            </a:br>
            <a:r>
              <a:rPr kumimoji="1" lang="en-US" altLang="zh-TW" sz="1200" dirty="0">
                <a:solidFill>
                  <a:schemeClr val="bg1">
                    <a:lumMod val="75000"/>
                  </a:schemeClr>
                </a:solidFill>
              </a:rPr>
              <a:t>Ref4: https://</a:t>
            </a:r>
            <a:r>
              <a:rPr kumimoji="1" lang="en-US" altLang="zh-TW" sz="1200" dirty="0" err="1">
                <a:solidFill>
                  <a:schemeClr val="bg1">
                    <a:lumMod val="75000"/>
                  </a:schemeClr>
                </a:solidFill>
              </a:rPr>
              <a:t>hackmd.io</a:t>
            </a:r>
            <a:r>
              <a:rPr kumimoji="1" lang="en-US" altLang="zh-TW" sz="1200" dirty="0">
                <a:solidFill>
                  <a:schemeClr val="bg1">
                    <a:lumMod val="75000"/>
                  </a:schemeClr>
                </a:solidFill>
              </a:rPr>
              <a:t>/@</a:t>
            </a:r>
            <a:r>
              <a:rPr kumimoji="1" lang="en-US" altLang="zh-TW" sz="1200" dirty="0" err="1">
                <a:solidFill>
                  <a:schemeClr val="bg1">
                    <a:lumMod val="75000"/>
                  </a:schemeClr>
                </a:solidFill>
              </a:rPr>
              <a:t>RinHizakura</a:t>
            </a:r>
            <a:r>
              <a:rPr kumimoji="1" lang="en-US" altLang="zh-TW" sz="1200" dirty="0">
                <a:solidFill>
                  <a:schemeClr val="bg1">
                    <a:lumMod val="75000"/>
                  </a:schemeClr>
                </a:solidFill>
              </a:rPr>
              <a:t>/B18MhT00t</a:t>
            </a:r>
          </a:p>
        </p:txBody>
      </p:sp>
      <p:grpSp>
        <p:nvGrpSpPr>
          <p:cNvPr id="21" name="群組 20">
            <a:extLst>
              <a:ext uri="{FF2B5EF4-FFF2-40B4-BE49-F238E27FC236}">
                <a16:creationId xmlns:a16="http://schemas.microsoft.com/office/drawing/2014/main" id="{8E1E7AB7-0094-0416-BD55-BDDF2EBF1E44}"/>
              </a:ext>
            </a:extLst>
          </p:cNvPr>
          <p:cNvGrpSpPr/>
          <p:nvPr/>
        </p:nvGrpSpPr>
        <p:grpSpPr>
          <a:xfrm>
            <a:off x="353736" y="3797706"/>
            <a:ext cx="6034084" cy="2236163"/>
            <a:chOff x="353736" y="3797706"/>
            <a:chExt cx="6034084" cy="2236163"/>
          </a:xfrm>
        </p:grpSpPr>
        <p:sp>
          <p:nvSpPr>
            <p:cNvPr id="27" name="文字方塊 26">
              <a:extLst>
                <a:ext uri="{FF2B5EF4-FFF2-40B4-BE49-F238E27FC236}">
                  <a16:creationId xmlns:a16="http://schemas.microsoft.com/office/drawing/2014/main" id="{B4748AC9-4DBB-35FA-C59F-FFAFC6FCC301}"/>
                </a:ext>
              </a:extLst>
            </p:cNvPr>
            <p:cNvSpPr txBox="1"/>
            <p:nvPr/>
          </p:nvSpPr>
          <p:spPr>
            <a:xfrm>
              <a:off x="2363435" y="5726092"/>
              <a:ext cx="1406091"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Virtual Runtime</a:t>
              </a:r>
              <a:endParaRPr kumimoji="1" lang="zh-TW" altLang="en-US" sz="1400" dirty="0">
                <a:latin typeface="Arial" panose="020B0604020202020204" pitchFamily="34" charset="0"/>
                <a:cs typeface="Arial" panose="020B0604020202020204" pitchFamily="34" charset="0"/>
              </a:endParaRPr>
            </a:p>
          </p:txBody>
        </p:sp>
        <p:pic>
          <p:nvPicPr>
            <p:cNvPr id="13" name="圖片 12">
              <a:extLst>
                <a:ext uri="{FF2B5EF4-FFF2-40B4-BE49-F238E27FC236}">
                  <a16:creationId xmlns:a16="http://schemas.microsoft.com/office/drawing/2014/main" id="{0E2C8853-1407-8F25-AED2-E6B5981DF8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3736" y="3797706"/>
              <a:ext cx="6034084" cy="1903555"/>
            </a:xfrm>
            <a:prstGeom prst="rect">
              <a:avLst/>
            </a:prstGeom>
          </p:spPr>
        </p:pic>
      </p:grpSp>
      <p:sp>
        <p:nvSpPr>
          <p:cNvPr id="20" name="文字方塊 19">
            <a:extLst>
              <a:ext uri="{FF2B5EF4-FFF2-40B4-BE49-F238E27FC236}">
                <a16:creationId xmlns:a16="http://schemas.microsoft.com/office/drawing/2014/main" id="{A65548B8-3A6B-00DD-8C27-2CE484F02B72}"/>
              </a:ext>
            </a:extLst>
          </p:cNvPr>
          <p:cNvSpPr txBox="1"/>
          <p:nvPr/>
        </p:nvSpPr>
        <p:spPr>
          <a:xfrm>
            <a:off x="6846086" y="2216509"/>
            <a:ext cx="5247300" cy="276999"/>
          </a:xfrm>
          <a:prstGeom prst="rect">
            <a:avLst/>
          </a:prstGeom>
          <a:noFill/>
          <a:ln w="19050">
            <a:solidFill>
              <a:schemeClr val="tx1"/>
            </a:solidFill>
          </a:ln>
        </p:spPr>
        <p:txBody>
          <a:bodyPr wrap="square" lIns="72000" tIns="0" rIns="0" bIns="0" rtlCol="0">
            <a:spAutoFit/>
          </a:bodyPr>
          <a:lstStyle/>
          <a:p>
            <a:r>
              <a:rPr kumimoji="1" lang="en-US" altLang="zh-TW" dirty="0" err="1"/>
              <a:t>Vruntime</a:t>
            </a:r>
            <a:r>
              <a:rPr kumimoji="1" lang="en-US" altLang="zh-TW" dirty="0"/>
              <a:t> = </a:t>
            </a:r>
            <a:r>
              <a:rPr kumimoji="1" lang="en-US" altLang="zh-TW" dirty="0" err="1"/>
              <a:t>delta_exec</a:t>
            </a:r>
            <a:r>
              <a:rPr kumimoji="1" lang="en-US" altLang="zh-TW" dirty="0"/>
              <a:t> * </a:t>
            </a:r>
            <a:r>
              <a:rPr kumimoji="1" lang="en-US" altLang="zh-TW" b="1" dirty="0" err="1">
                <a:solidFill>
                  <a:srgbClr val="C00000"/>
                </a:solidFill>
              </a:rPr>
              <a:t>NICE_Weight</a:t>
            </a:r>
            <a:r>
              <a:rPr kumimoji="1" lang="en-US" altLang="zh-TW" b="1" dirty="0">
                <a:solidFill>
                  <a:srgbClr val="C00000"/>
                </a:solidFill>
              </a:rPr>
              <a:t>/</a:t>
            </a:r>
            <a:r>
              <a:rPr kumimoji="1" lang="en-US" altLang="zh-TW" b="1" dirty="0" err="1">
                <a:solidFill>
                  <a:srgbClr val="C00000"/>
                </a:solidFill>
              </a:rPr>
              <a:t>NICE_k_Weight</a:t>
            </a:r>
            <a:endParaRPr kumimoji="1" lang="en-US" altLang="zh-TW" b="1" i="1" dirty="0">
              <a:solidFill>
                <a:srgbClr val="C00000"/>
              </a:solidFill>
            </a:endParaRPr>
          </a:p>
        </p:txBody>
      </p:sp>
      <p:grpSp>
        <p:nvGrpSpPr>
          <p:cNvPr id="32" name="群組 31">
            <a:extLst>
              <a:ext uri="{FF2B5EF4-FFF2-40B4-BE49-F238E27FC236}">
                <a16:creationId xmlns:a16="http://schemas.microsoft.com/office/drawing/2014/main" id="{33AB6685-5639-EBA6-F740-9B1F4C87E91C}"/>
              </a:ext>
            </a:extLst>
          </p:cNvPr>
          <p:cNvGrpSpPr/>
          <p:nvPr/>
        </p:nvGrpSpPr>
        <p:grpSpPr>
          <a:xfrm>
            <a:off x="6694395" y="2998340"/>
            <a:ext cx="4992388" cy="3758804"/>
            <a:chOff x="6694395" y="2998340"/>
            <a:chExt cx="4992388" cy="3758804"/>
          </a:xfrm>
        </p:grpSpPr>
        <p:pic>
          <p:nvPicPr>
            <p:cNvPr id="16" name="圖片 15">
              <a:extLst>
                <a:ext uri="{FF2B5EF4-FFF2-40B4-BE49-F238E27FC236}">
                  <a16:creationId xmlns:a16="http://schemas.microsoft.com/office/drawing/2014/main" id="{475B96F7-9E49-50B1-8BE4-3B4162FA7F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94395" y="2998340"/>
              <a:ext cx="4992388" cy="3502285"/>
            </a:xfrm>
            <a:prstGeom prst="rect">
              <a:avLst/>
            </a:prstGeom>
          </p:spPr>
        </p:pic>
        <p:sp>
          <p:nvSpPr>
            <p:cNvPr id="23" name="文字方塊 22">
              <a:extLst>
                <a:ext uri="{FF2B5EF4-FFF2-40B4-BE49-F238E27FC236}">
                  <a16:creationId xmlns:a16="http://schemas.microsoft.com/office/drawing/2014/main" id="{CE2220D2-E920-D27A-8CF4-8CCBB25265BC}"/>
                </a:ext>
              </a:extLst>
            </p:cNvPr>
            <p:cNvSpPr txBox="1"/>
            <p:nvPr/>
          </p:nvSpPr>
          <p:spPr>
            <a:xfrm>
              <a:off x="8487543" y="6449367"/>
              <a:ext cx="1478290"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Linux Kernel 4.4</a:t>
              </a:r>
              <a:endParaRPr kumimoji="1" lang="zh-TW" altLang="en-US" sz="1400" dirty="0">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94097E09-812A-FF88-87A3-B123F627DA2C}"/>
              </a:ext>
            </a:extLst>
          </p:cNvPr>
          <p:cNvGrpSpPr/>
          <p:nvPr/>
        </p:nvGrpSpPr>
        <p:grpSpPr>
          <a:xfrm>
            <a:off x="9965833" y="6149788"/>
            <a:ext cx="2097049" cy="531895"/>
            <a:chOff x="9965833" y="6149788"/>
            <a:chExt cx="2097049" cy="531895"/>
          </a:xfrm>
        </p:grpSpPr>
        <p:sp>
          <p:nvSpPr>
            <p:cNvPr id="24" name="橢圓 23">
              <a:extLst>
                <a:ext uri="{FF2B5EF4-FFF2-40B4-BE49-F238E27FC236}">
                  <a16:creationId xmlns:a16="http://schemas.microsoft.com/office/drawing/2014/main" id="{CF5EC153-C1BF-A2E1-4360-115B08DFA257}"/>
                </a:ext>
              </a:extLst>
            </p:cNvPr>
            <p:cNvSpPr/>
            <p:nvPr/>
          </p:nvSpPr>
          <p:spPr>
            <a:xfrm>
              <a:off x="10157012" y="6149788"/>
              <a:ext cx="1201270" cy="224118"/>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文字方塊 24">
              <a:extLst>
                <a:ext uri="{FF2B5EF4-FFF2-40B4-BE49-F238E27FC236}">
                  <a16:creationId xmlns:a16="http://schemas.microsoft.com/office/drawing/2014/main" id="{9741DB6C-B958-B7F0-07FB-103D3E6A46CF}"/>
                </a:ext>
              </a:extLst>
            </p:cNvPr>
            <p:cNvSpPr txBox="1"/>
            <p:nvPr/>
          </p:nvSpPr>
          <p:spPr>
            <a:xfrm>
              <a:off x="9965833" y="6373906"/>
              <a:ext cx="2097049" cy="307777"/>
            </a:xfrm>
            <a:prstGeom prst="rect">
              <a:avLst/>
            </a:prstGeom>
            <a:noFill/>
          </p:spPr>
          <p:txBody>
            <a:bodyPr wrap="none" rtlCol="0">
              <a:spAutoFit/>
            </a:bodyPr>
            <a:lstStyle/>
            <a:p>
              <a:r>
                <a:rPr kumimoji="1" lang="en-US" altLang="zh-TW" sz="1400" dirty="0">
                  <a:solidFill>
                    <a:srgbClr val="0070C0"/>
                  </a:solidFill>
                  <a:latin typeface="Arial" panose="020B0604020202020204" pitchFamily="34" charset="0"/>
                  <a:cs typeface="Arial" panose="020B0604020202020204" pitchFamily="34" charset="0"/>
                </a:rPr>
                <a:t>(18-15)/(18+15) = ~10%</a:t>
              </a:r>
              <a:endParaRPr kumimoji="1" lang="zh-TW" altLang="en-US" sz="1400" dirty="0">
                <a:solidFill>
                  <a:srgbClr val="0070C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3946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u="sng" dirty="0"/>
              <a:t>Process</a:t>
            </a:r>
            <a:r>
              <a:rPr kumimoji="1" lang="en-US" altLang="zh-TW" dirty="0"/>
              <a:t> Context Switch</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a:t>
            </a:r>
            <a:r>
              <a:rPr kumimoji="1" lang="zh-TW" altLang="en-US" dirty="0"/>
              <a:t> </a:t>
            </a:r>
            <a:r>
              <a:rPr lang="en-US" altLang="zh-TW" dirty="0"/>
              <a:t>Context: Contents of </a:t>
            </a:r>
            <a:r>
              <a:rPr lang="en-US" altLang="zh-TW" dirty="0">
                <a:solidFill>
                  <a:srgbClr val="C00000"/>
                </a:solidFill>
              </a:rPr>
              <a:t>user address space</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page</a:t>
            </a:r>
            <a:r>
              <a:rPr lang="zh-TW" altLang="en-US" dirty="0">
                <a:solidFill>
                  <a:schemeClr val="tx1"/>
                </a:solidFill>
              </a:rPr>
              <a:t> </a:t>
            </a:r>
            <a:r>
              <a:rPr lang="en-US" altLang="zh-TW" dirty="0">
                <a:solidFill>
                  <a:schemeClr val="tx1"/>
                </a:solidFill>
              </a:rPr>
              <a:t>table)</a:t>
            </a:r>
            <a:r>
              <a:rPr lang="en-US" altLang="zh-TW" dirty="0">
                <a:solidFill>
                  <a:srgbClr val="C00000"/>
                </a:solidFill>
              </a:rPr>
              <a:t>, hardware registers </a:t>
            </a:r>
            <a:r>
              <a:rPr lang="en-US" altLang="zh-TW" dirty="0">
                <a:solidFill>
                  <a:schemeClr val="tx1"/>
                </a:solidFill>
              </a:rPr>
              <a:t>(e.g., PC) </a:t>
            </a:r>
            <a:r>
              <a:rPr lang="en-US" altLang="zh-TW" dirty="0"/>
              <a:t>and </a:t>
            </a:r>
            <a:r>
              <a:rPr lang="en-US" altLang="zh-TW" dirty="0">
                <a:solidFill>
                  <a:srgbClr val="C00000"/>
                </a:solidFill>
              </a:rPr>
              <a:t>kernel data structures </a:t>
            </a:r>
            <a:r>
              <a:rPr lang="en-US" altLang="zh-TW" dirty="0"/>
              <a:t>that relate to the process.</a:t>
            </a:r>
          </a:p>
          <a:p>
            <a:pPr lvl="1"/>
            <a:r>
              <a:rPr kumimoji="1" lang="en-US" altLang="zh-TW" dirty="0"/>
              <a:t>You can also think </a:t>
            </a:r>
            <a:r>
              <a:rPr lang="en-US" altLang="zh-TW" dirty="0"/>
              <a:t>like this, context is very similar to an ”environment” to run something.</a:t>
            </a:r>
            <a:endParaRPr kumimoji="1" lang="en-US" altLang="zh-TW" dirty="0"/>
          </a:p>
          <a:p>
            <a:r>
              <a:rPr lang="en-US" altLang="zh-TW" dirty="0"/>
              <a:t>Process </a:t>
            </a:r>
            <a:r>
              <a:rPr kumimoji="1" lang="en-US" altLang="zh-TW" dirty="0"/>
              <a:t>Context</a:t>
            </a:r>
            <a:r>
              <a:rPr kumimoji="1" lang="zh-TW" altLang="en-US" dirty="0"/>
              <a:t> </a:t>
            </a:r>
            <a:r>
              <a:rPr kumimoji="1" lang="en-US" altLang="zh-TW" dirty="0"/>
              <a:t>Switch:</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t>s</a:t>
            </a:r>
            <a:r>
              <a:rPr kumimoji="1" lang="en-US" altLang="zh-TW" dirty="0" err="1"/>
              <a:t>witch_mm</a:t>
            </a:r>
            <a:r>
              <a:rPr kumimoji="1" lang="en-US" altLang="zh-TW" dirty="0"/>
              <a:t>():</a:t>
            </a:r>
            <a:r>
              <a:rPr kumimoji="1" lang="zh-TW" altLang="en-US" dirty="0"/>
              <a:t> </a:t>
            </a:r>
            <a:r>
              <a:rPr kumimoji="1" lang="en-US" altLang="zh-TW" dirty="0"/>
              <a:t>Switch</a:t>
            </a:r>
            <a:r>
              <a:rPr kumimoji="1" lang="zh-TW" altLang="en-US" dirty="0"/>
              <a:t> </a:t>
            </a:r>
            <a:r>
              <a:rPr kumimoji="1" lang="en-US" altLang="zh-TW" dirty="0"/>
              <a:t>the</a:t>
            </a:r>
            <a:r>
              <a:rPr kumimoji="1" lang="zh-TW" altLang="en-US" dirty="0"/>
              <a:t> </a:t>
            </a:r>
            <a:r>
              <a:rPr kumimoji="1" lang="en-US" altLang="zh-TW" dirty="0"/>
              <a:t>virtual</a:t>
            </a:r>
            <a:r>
              <a:rPr kumimoji="1" lang="zh-TW" altLang="en-US" dirty="0"/>
              <a:t> </a:t>
            </a:r>
            <a:r>
              <a:rPr kumimoji="1" lang="en-US" altLang="zh-TW" dirty="0"/>
              <a:t>memory</a:t>
            </a:r>
            <a:r>
              <a:rPr kumimoji="1" lang="zh-TW" altLang="en-US" dirty="0"/>
              <a:t> </a:t>
            </a:r>
            <a:r>
              <a:rPr lang="en-US" altLang="zh-TW" dirty="0"/>
              <a:t>mapping</a:t>
            </a:r>
            <a:r>
              <a:rPr lang="zh-TW" altLang="en-US" dirty="0"/>
              <a:t> </a:t>
            </a:r>
            <a:r>
              <a:rPr lang="en-US" altLang="zh-TW" dirty="0"/>
              <a:t>(e.g.,</a:t>
            </a:r>
            <a:r>
              <a:rPr lang="zh-TW" altLang="en-US" dirty="0"/>
              <a:t> </a:t>
            </a:r>
            <a:r>
              <a:rPr lang="en-US" altLang="zh-TW" dirty="0"/>
              <a:t>page</a:t>
            </a:r>
            <a:r>
              <a:rPr lang="zh-TW" altLang="en-US" dirty="0"/>
              <a:t> </a:t>
            </a:r>
            <a:r>
              <a:rPr lang="en-US" altLang="zh-TW" dirty="0"/>
              <a:t>table,</a:t>
            </a:r>
            <a:r>
              <a:rPr lang="zh-TW" altLang="en-US" dirty="0"/>
              <a:t> </a:t>
            </a:r>
            <a:r>
              <a:rPr lang="en-US" altLang="zh-TW" dirty="0"/>
              <a:t>TLB)</a:t>
            </a:r>
            <a:endParaRPr kumimoji="1" lang="en-US" altLang="zh-TW" dirty="0"/>
          </a:p>
          <a:p>
            <a:pPr lvl="1"/>
            <a:r>
              <a:rPr lang="en-US" altLang="zh-TW" dirty="0" err="1">
                <a:solidFill>
                  <a:schemeClr val="bg1">
                    <a:lumMod val="50000"/>
                  </a:schemeClr>
                </a:solidFill>
              </a:rPr>
              <a:t>switch_to</a:t>
            </a:r>
            <a:r>
              <a:rPr lang="en-US" altLang="zh-TW" dirty="0">
                <a:solidFill>
                  <a:schemeClr val="bg1">
                    <a:lumMod val="50000"/>
                  </a:schemeClr>
                </a:solidFill>
              </a:rPr>
              <a:t>():</a:t>
            </a:r>
            <a:r>
              <a:rPr lang="zh-TW" altLang="en-US" dirty="0">
                <a:solidFill>
                  <a:schemeClr val="bg1">
                    <a:lumMod val="50000"/>
                  </a:schemeClr>
                </a:solidFill>
              </a:rPr>
              <a:t> </a:t>
            </a:r>
            <a:r>
              <a:rPr lang="en-US" altLang="zh-TW" dirty="0">
                <a:solidFill>
                  <a:schemeClr val="bg1">
                    <a:lumMod val="50000"/>
                  </a:schemeClr>
                </a:solidFill>
              </a:rPr>
              <a:t>Switch</a:t>
            </a:r>
            <a:r>
              <a:rPr lang="zh-TW" altLang="en-US" dirty="0">
                <a:solidFill>
                  <a:schemeClr val="bg1">
                    <a:lumMod val="50000"/>
                  </a:schemeClr>
                </a:solidFill>
              </a:rPr>
              <a:t> </a:t>
            </a:r>
            <a:r>
              <a:rPr lang="en-US" altLang="zh-TW" dirty="0">
                <a:solidFill>
                  <a:schemeClr val="bg1">
                    <a:lumMod val="50000"/>
                  </a:schemeClr>
                </a:solidFill>
              </a:rPr>
              <a:t>the</a:t>
            </a:r>
            <a:r>
              <a:rPr lang="zh-TW" altLang="en-US" dirty="0">
                <a:solidFill>
                  <a:schemeClr val="bg1">
                    <a:lumMod val="50000"/>
                  </a:schemeClr>
                </a:solidFill>
              </a:rPr>
              <a:t> </a:t>
            </a:r>
            <a:r>
              <a:rPr lang="en-US" altLang="zh-TW" dirty="0">
                <a:solidFill>
                  <a:schemeClr val="bg1">
                    <a:lumMod val="50000"/>
                  </a:schemeClr>
                </a:solidFill>
              </a:rPr>
              <a:t>process</a:t>
            </a:r>
            <a:r>
              <a:rPr lang="zh-TW" altLang="en-US" dirty="0">
                <a:solidFill>
                  <a:schemeClr val="bg1">
                    <a:lumMod val="50000"/>
                  </a:schemeClr>
                </a:solidFill>
              </a:rPr>
              <a:t> </a:t>
            </a:r>
            <a:r>
              <a:rPr lang="en-US" altLang="zh-TW" dirty="0">
                <a:solidFill>
                  <a:schemeClr val="bg1">
                    <a:lumMod val="50000"/>
                  </a:schemeClr>
                </a:solidFill>
              </a:rPr>
              <a:t>state</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processor</a:t>
            </a:r>
            <a:r>
              <a:rPr lang="zh-TW" altLang="en-US" dirty="0">
                <a:solidFill>
                  <a:schemeClr val="bg1">
                    <a:lumMod val="50000"/>
                  </a:schemeClr>
                </a:solidFill>
              </a:rPr>
              <a:t> </a:t>
            </a:r>
            <a:r>
              <a:rPr lang="en-US" altLang="zh-TW" dirty="0">
                <a:solidFill>
                  <a:schemeClr val="bg1">
                    <a:lumMod val="50000"/>
                  </a:schemeClr>
                </a:solidFill>
              </a:rPr>
              <a:t>register,</a:t>
            </a:r>
            <a:r>
              <a:rPr lang="zh-TW" altLang="en-US" dirty="0">
                <a:solidFill>
                  <a:schemeClr val="bg1">
                    <a:lumMod val="50000"/>
                  </a:schemeClr>
                </a:solidFill>
              </a:rPr>
              <a:t> </a:t>
            </a:r>
            <a:r>
              <a:rPr lang="en-US" altLang="zh-TW" dirty="0">
                <a:solidFill>
                  <a:schemeClr val="bg1">
                    <a:lumMod val="50000"/>
                  </a:schemeClr>
                </a:solidFill>
              </a:rPr>
              <a:t>architecture-specific</a:t>
            </a:r>
            <a:r>
              <a:rPr lang="zh-TW" altLang="en-US" dirty="0">
                <a:solidFill>
                  <a:schemeClr val="bg1">
                    <a:lumMod val="50000"/>
                  </a:schemeClr>
                </a:solidFill>
              </a:rPr>
              <a:t> </a:t>
            </a:r>
            <a:r>
              <a:rPr lang="en-US" altLang="zh-TW" dirty="0">
                <a:solidFill>
                  <a:schemeClr val="bg1">
                    <a:lumMod val="50000"/>
                  </a:schemeClr>
                </a:solidFill>
              </a:rPr>
              <a:t>state)</a:t>
            </a:r>
            <a:endParaRPr kumimoji="1" lang="en-US" altLang="zh-TW" dirty="0">
              <a:solidFill>
                <a:schemeClr val="bg1">
                  <a:lumMod val="50000"/>
                </a:schemeClr>
              </a:solidFill>
            </a:endParaRP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396335"/>
            <a:ext cx="7117976" cy="461665"/>
          </a:xfrm>
          <a:prstGeom prst="rect">
            <a:avLst/>
          </a:prstGeom>
          <a:noFill/>
        </p:spPr>
        <p:txBody>
          <a:bodyPr wrap="square" rtlCol="0">
            <a:spAutoFit/>
          </a:bodyPr>
          <a:lstStyle/>
          <a:p>
            <a:r>
              <a:rPr kumimoji="1" lang="en-US" altLang="zh-TW" sz="1200" dirty="0">
                <a:solidFill>
                  <a:schemeClr val="bg1">
                    <a:lumMod val="75000"/>
                  </a:schemeClr>
                </a:solidFill>
              </a:rPr>
              <a:t>Ref1: https://</a:t>
            </a:r>
            <a:r>
              <a:rPr kumimoji="1" lang="en-US" altLang="zh-TW" sz="1200" dirty="0" err="1">
                <a:solidFill>
                  <a:schemeClr val="bg1">
                    <a:lumMod val="75000"/>
                  </a:schemeClr>
                </a:solidFill>
              </a:rPr>
              <a:t>www.beyonddiscovery.org</a:t>
            </a:r>
            <a:r>
              <a:rPr kumimoji="1" lang="en-US" altLang="zh-TW" sz="1200" dirty="0">
                <a:solidFill>
                  <a:schemeClr val="bg1">
                    <a:lumMod val="75000"/>
                  </a:schemeClr>
                </a:solidFill>
              </a:rPr>
              <a:t>/</a:t>
            </a:r>
            <a:r>
              <a:rPr kumimoji="1" lang="en-US" altLang="zh-TW" sz="1200" dirty="0" err="1">
                <a:solidFill>
                  <a:schemeClr val="bg1">
                    <a:lumMod val="75000"/>
                  </a:schemeClr>
                </a:solidFill>
              </a:rPr>
              <a:t>unix</a:t>
            </a:r>
            <a:r>
              <a:rPr kumimoji="1" lang="en-US" altLang="zh-TW" sz="1200" dirty="0">
                <a:solidFill>
                  <a:schemeClr val="bg1">
                    <a:lumMod val="75000"/>
                  </a:schemeClr>
                </a:solidFill>
              </a:rPr>
              <a:t>-operating-system/63-the-context-of-a-process.html</a:t>
            </a: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
        <p:nvSpPr>
          <p:cNvPr id="15" name="矩形 14">
            <a:extLst>
              <a:ext uri="{FF2B5EF4-FFF2-40B4-BE49-F238E27FC236}">
                <a16:creationId xmlns:a16="http://schemas.microsoft.com/office/drawing/2014/main" id="{1F90580B-358C-7474-9622-BED082278B0C}"/>
              </a:ext>
            </a:extLst>
          </p:cNvPr>
          <p:cNvSpPr/>
          <p:nvPr/>
        </p:nvSpPr>
        <p:spPr>
          <a:xfrm>
            <a:off x="614081"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Branch Predictor Buffer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TextBox 7">
            <a:extLst>
              <a:ext uri="{FF2B5EF4-FFF2-40B4-BE49-F238E27FC236}">
                <a16:creationId xmlns:a16="http://schemas.microsoft.com/office/drawing/2014/main" id="{414D6594-6858-41E9-7F0A-74126FF0EE0C}"/>
              </a:ext>
            </a:extLst>
          </p:cNvPr>
          <p:cNvSpPr txBox="1"/>
          <p:nvPr/>
        </p:nvSpPr>
        <p:spPr>
          <a:xfrm>
            <a:off x="4469046" y="5418179"/>
            <a:ext cx="3365024"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switch_mm</a:t>
            </a:r>
            <a:r>
              <a:rPr lang="en-US" altLang="zh-TW" sz="1400" b="1" dirty="0">
                <a:latin typeface="Arial" panose="020B0604020202020204" pitchFamily="34" charset="0"/>
                <a:cs typeface="Arial" panose="020B0604020202020204" pitchFamily="34" charset="0"/>
              </a:rPr>
              <a: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4.4</a:t>
            </a:r>
            <a:endParaRPr lang="en-US" sz="1400" b="1" dirty="0">
              <a:latin typeface="Arial" panose="020B0604020202020204" pitchFamily="34" charset="0"/>
              <a:cs typeface="Arial" panose="020B0604020202020204" pitchFamily="34" charset="0"/>
            </a:endParaRPr>
          </a:p>
        </p:txBody>
      </p:sp>
      <p:sp>
        <p:nvSpPr>
          <p:cNvPr id="17" name="矩形 16">
            <a:extLst>
              <a:ext uri="{FF2B5EF4-FFF2-40B4-BE49-F238E27FC236}">
                <a16:creationId xmlns:a16="http://schemas.microsoft.com/office/drawing/2014/main" id="{1894AFFA-BC5D-3C2E-8ABD-70C63170628D}"/>
              </a:ext>
            </a:extLst>
          </p:cNvPr>
          <p:cNvSpPr/>
          <p:nvPr/>
        </p:nvSpPr>
        <p:spPr>
          <a:xfrm>
            <a:off x="2962974"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Page Table (CR3)</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8" name="矩形 17">
            <a:extLst>
              <a:ext uri="{FF2B5EF4-FFF2-40B4-BE49-F238E27FC236}">
                <a16:creationId xmlns:a16="http://schemas.microsoft.com/office/drawing/2014/main" id="{C767976F-9637-05A7-C107-8C25C087F84F}"/>
              </a:ext>
            </a:extLst>
          </p:cNvPr>
          <p:cNvSpPr/>
          <p:nvPr/>
        </p:nvSpPr>
        <p:spPr>
          <a:xfrm>
            <a:off x="5311867"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TLB</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9" name="矩形 18">
            <a:extLst>
              <a:ext uri="{FF2B5EF4-FFF2-40B4-BE49-F238E27FC236}">
                <a16:creationId xmlns:a16="http://schemas.microsoft.com/office/drawing/2014/main" id="{4628B0F9-5C54-E570-C8B9-FF79130145D8}"/>
              </a:ext>
            </a:extLst>
          </p:cNvPr>
          <p:cNvSpPr/>
          <p:nvPr/>
        </p:nvSpPr>
        <p:spPr>
          <a:xfrm>
            <a:off x="7660760"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CR4 (Page Size Extension)</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0" name="矩形 19">
            <a:extLst>
              <a:ext uri="{FF2B5EF4-FFF2-40B4-BE49-F238E27FC236}">
                <a16:creationId xmlns:a16="http://schemas.microsoft.com/office/drawing/2014/main" id="{CB10BCF7-EEFF-F6CE-8A16-DF93276DEC20}"/>
              </a:ext>
            </a:extLst>
          </p:cNvPr>
          <p:cNvSpPr/>
          <p:nvPr/>
        </p:nvSpPr>
        <p:spPr>
          <a:xfrm>
            <a:off x="10009652"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LDT</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(Not used for user processes)</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 name="直線箭頭接點 5">
            <a:extLst>
              <a:ext uri="{FF2B5EF4-FFF2-40B4-BE49-F238E27FC236}">
                <a16:creationId xmlns:a16="http://schemas.microsoft.com/office/drawing/2014/main" id="{761661C3-D342-CC5D-BB58-67A7A74A16A6}"/>
              </a:ext>
            </a:extLst>
          </p:cNvPr>
          <p:cNvCxnSpPr>
            <a:cxnSpLocks/>
            <a:endCxn id="17" idx="1"/>
          </p:cNvCxnSpPr>
          <p:nvPr/>
        </p:nvCxnSpPr>
        <p:spPr>
          <a:xfrm>
            <a:off x="2120153"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1D7AB363-1712-6DD1-31D9-16EDD0127096}"/>
              </a:ext>
            </a:extLst>
          </p:cNvPr>
          <p:cNvCxnSpPr>
            <a:cxnSpLocks/>
          </p:cNvCxnSpPr>
          <p:nvPr/>
        </p:nvCxnSpPr>
        <p:spPr>
          <a:xfrm>
            <a:off x="4469046"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3B692CB8-4BB6-5260-4322-28E5D9285618}"/>
              </a:ext>
            </a:extLst>
          </p:cNvPr>
          <p:cNvCxnSpPr>
            <a:cxnSpLocks/>
          </p:cNvCxnSpPr>
          <p:nvPr/>
        </p:nvCxnSpPr>
        <p:spPr>
          <a:xfrm>
            <a:off x="6817939"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8F014D17-E0A5-E2C9-3960-468792BD5FC1}"/>
              </a:ext>
            </a:extLst>
          </p:cNvPr>
          <p:cNvCxnSpPr>
            <a:cxnSpLocks/>
          </p:cNvCxnSpPr>
          <p:nvPr/>
        </p:nvCxnSpPr>
        <p:spPr>
          <a:xfrm>
            <a:off x="9166832"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6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up)">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u="sng" dirty="0"/>
              <a:t>Process</a:t>
            </a:r>
            <a:r>
              <a:rPr kumimoji="1" lang="en-US" altLang="zh-TW" dirty="0"/>
              <a:t> Context </a:t>
            </a:r>
            <a:r>
              <a:rPr lang="en-US" altLang="zh-TW" dirty="0"/>
              <a:t>Switch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 Context</a:t>
            </a:r>
            <a:r>
              <a:rPr kumimoji="1" lang="zh-TW" altLang="en-US" dirty="0"/>
              <a:t> </a:t>
            </a:r>
            <a:r>
              <a:rPr kumimoji="1" lang="en-US" altLang="zh-TW" dirty="0"/>
              <a:t>Switching:</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solidFill>
                  <a:schemeClr val="bg1">
                    <a:lumMod val="50000"/>
                  </a:schemeClr>
                </a:solidFill>
              </a:rPr>
              <a:t>s</a:t>
            </a:r>
            <a:r>
              <a:rPr kumimoji="1" lang="en-US" altLang="zh-TW" dirty="0" err="1">
                <a:solidFill>
                  <a:schemeClr val="bg1">
                    <a:lumMod val="50000"/>
                  </a:schemeClr>
                </a:solidFill>
              </a:rPr>
              <a:t>witch_mm</a:t>
            </a:r>
            <a:r>
              <a:rPr kumimoji="1" lang="en-US" altLang="zh-TW" dirty="0">
                <a:solidFill>
                  <a:schemeClr val="bg1">
                    <a:lumMod val="50000"/>
                  </a:schemeClr>
                </a:solidFill>
              </a:rPr>
              <a:t>():</a:t>
            </a:r>
            <a:r>
              <a:rPr kumimoji="1" lang="zh-TW" altLang="en-US" dirty="0">
                <a:solidFill>
                  <a:schemeClr val="bg1">
                    <a:lumMod val="50000"/>
                  </a:schemeClr>
                </a:solidFill>
              </a:rPr>
              <a:t> </a:t>
            </a:r>
            <a:r>
              <a:rPr kumimoji="1" lang="en-US" altLang="zh-TW" dirty="0">
                <a:solidFill>
                  <a:schemeClr val="bg1">
                    <a:lumMod val="50000"/>
                  </a:schemeClr>
                </a:solidFill>
              </a:rPr>
              <a:t>Switch</a:t>
            </a:r>
            <a:r>
              <a:rPr kumimoji="1" lang="zh-TW" altLang="en-US" dirty="0">
                <a:solidFill>
                  <a:schemeClr val="bg1">
                    <a:lumMod val="50000"/>
                  </a:schemeClr>
                </a:solidFill>
              </a:rPr>
              <a:t> </a:t>
            </a:r>
            <a:r>
              <a:rPr kumimoji="1" lang="en-US" altLang="zh-TW" dirty="0">
                <a:solidFill>
                  <a:schemeClr val="bg1">
                    <a:lumMod val="50000"/>
                  </a:schemeClr>
                </a:solidFill>
              </a:rPr>
              <a:t>the</a:t>
            </a:r>
            <a:r>
              <a:rPr kumimoji="1" lang="zh-TW" altLang="en-US" dirty="0">
                <a:solidFill>
                  <a:schemeClr val="bg1">
                    <a:lumMod val="50000"/>
                  </a:schemeClr>
                </a:solidFill>
              </a:rPr>
              <a:t> </a:t>
            </a:r>
            <a:r>
              <a:rPr kumimoji="1" lang="en-US" altLang="zh-TW" dirty="0">
                <a:solidFill>
                  <a:schemeClr val="bg1">
                    <a:lumMod val="50000"/>
                  </a:schemeClr>
                </a:solidFill>
              </a:rPr>
              <a:t>virtual</a:t>
            </a:r>
            <a:r>
              <a:rPr kumimoji="1" lang="zh-TW" altLang="en-US" dirty="0">
                <a:solidFill>
                  <a:schemeClr val="bg1">
                    <a:lumMod val="50000"/>
                  </a:schemeClr>
                </a:solidFill>
              </a:rPr>
              <a:t> </a:t>
            </a:r>
            <a:r>
              <a:rPr kumimoji="1" lang="en-US" altLang="zh-TW" dirty="0">
                <a:solidFill>
                  <a:schemeClr val="bg1">
                    <a:lumMod val="50000"/>
                  </a:schemeClr>
                </a:solidFill>
              </a:rPr>
              <a:t>memory</a:t>
            </a:r>
            <a:r>
              <a:rPr kumimoji="1" lang="zh-TW" altLang="en-US" dirty="0">
                <a:solidFill>
                  <a:schemeClr val="bg1">
                    <a:lumMod val="50000"/>
                  </a:schemeClr>
                </a:solidFill>
              </a:rPr>
              <a:t> </a:t>
            </a:r>
            <a:r>
              <a:rPr lang="en-US" altLang="zh-TW" dirty="0">
                <a:solidFill>
                  <a:schemeClr val="bg1">
                    <a:lumMod val="50000"/>
                  </a:schemeClr>
                </a:solidFill>
              </a:rPr>
              <a:t>mapping</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page</a:t>
            </a:r>
            <a:r>
              <a:rPr lang="zh-TW" altLang="en-US" dirty="0">
                <a:solidFill>
                  <a:schemeClr val="bg1">
                    <a:lumMod val="50000"/>
                  </a:schemeClr>
                </a:solidFill>
              </a:rPr>
              <a:t> </a:t>
            </a:r>
            <a:r>
              <a:rPr lang="en-US" altLang="zh-TW" dirty="0">
                <a:solidFill>
                  <a:schemeClr val="bg1">
                    <a:lumMod val="50000"/>
                  </a:schemeClr>
                </a:solidFill>
              </a:rPr>
              <a:t>table,</a:t>
            </a:r>
            <a:r>
              <a:rPr lang="zh-TW" altLang="en-US" dirty="0">
                <a:solidFill>
                  <a:schemeClr val="bg1">
                    <a:lumMod val="50000"/>
                  </a:schemeClr>
                </a:solidFill>
              </a:rPr>
              <a:t> </a:t>
            </a:r>
            <a:r>
              <a:rPr lang="en-US" altLang="zh-TW" dirty="0">
                <a:solidFill>
                  <a:schemeClr val="bg1">
                    <a:lumMod val="50000"/>
                  </a:schemeClr>
                </a:solidFill>
              </a:rPr>
              <a:t>TLB)</a:t>
            </a:r>
            <a:endParaRPr kumimoji="1" lang="en-US" altLang="zh-TW" dirty="0">
              <a:solidFill>
                <a:schemeClr val="bg1">
                  <a:lumMod val="50000"/>
                </a:schemeClr>
              </a:solidFill>
            </a:endParaRPr>
          </a:p>
          <a:p>
            <a:pPr lvl="1"/>
            <a:r>
              <a:rPr lang="en-US" altLang="zh-TW" dirty="0" err="1"/>
              <a:t>switch_to</a:t>
            </a:r>
            <a:r>
              <a:rPr lang="en-US" altLang="zh-TW" dirty="0"/>
              <a:t>():</a:t>
            </a:r>
            <a:r>
              <a:rPr lang="zh-TW" altLang="en-US" dirty="0"/>
              <a:t> </a:t>
            </a:r>
            <a:r>
              <a:rPr lang="en-US" altLang="zh-TW" dirty="0"/>
              <a:t>Switch</a:t>
            </a:r>
            <a:r>
              <a:rPr lang="zh-TW" altLang="en-US" dirty="0"/>
              <a:t> </a:t>
            </a:r>
            <a:r>
              <a:rPr lang="en-US" altLang="zh-TW" dirty="0"/>
              <a:t>the</a:t>
            </a:r>
            <a:r>
              <a:rPr lang="zh-TW" altLang="en-US" dirty="0"/>
              <a:t> </a:t>
            </a:r>
            <a:r>
              <a:rPr lang="en-US" altLang="zh-TW" dirty="0"/>
              <a:t>process</a:t>
            </a:r>
            <a:r>
              <a:rPr lang="zh-TW" altLang="en-US" dirty="0"/>
              <a:t> </a:t>
            </a:r>
            <a:r>
              <a:rPr lang="en-US" altLang="zh-TW" dirty="0"/>
              <a:t>state</a:t>
            </a:r>
            <a:r>
              <a:rPr lang="zh-TW" altLang="en-US" dirty="0"/>
              <a:t> </a:t>
            </a:r>
            <a:r>
              <a:rPr lang="en-US" altLang="zh-TW" dirty="0"/>
              <a:t>(e.g.,</a:t>
            </a:r>
            <a:r>
              <a:rPr lang="zh-TW" altLang="en-US" dirty="0"/>
              <a:t> </a:t>
            </a:r>
            <a:r>
              <a:rPr lang="en-US" altLang="zh-TW" dirty="0"/>
              <a:t>processor</a:t>
            </a:r>
            <a:r>
              <a:rPr lang="zh-TW" altLang="en-US" dirty="0"/>
              <a:t> </a:t>
            </a:r>
            <a:r>
              <a:rPr lang="en-US" altLang="zh-TW" dirty="0"/>
              <a:t>register,</a:t>
            </a:r>
            <a:r>
              <a:rPr lang="zh-TW" altLang="en-US" dirty="0"/>
              <a:t> </a:t>
            </a:r>
            <a:r>
              <a:rPr lang="en-US" altLang="zh-TW" dirty="0"/>
              <a:t>architecture-specific</a:t>
            </a:r>
            <a:r>
              <a:rPr lang="zh-TW" altLang="en-US" dirty="0"/>
              <a:t> </a:t>
            </a:r>
            <a:r>
              <a:rPr lang="en-US" altLang="zh-TW" dirty="0"/>
              <a:t>state)</a:t>
            </a:r>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pic>
        <p:nvPicPr>
          <p:cNvPr id="5" name="Picture 6">
            <a:extLst>
              <a:ext uri="{FF2B5EF4-FFF2-40B4-BE49-F238E27FC236}">
                <a16:creationId xmlns:a16="http://schemas.microsoft.com/office/drawing/2014/main" id="{B66A6105-0991-26A3-1236-5FEB26AFCC4B}"/>
              </a:ext>
            </a:extLst>
          </p:cNvPr>
          <p:cNvPicPr>
            <a:picLocks noChangeAspect="1"/>
          </p:cNvPicPr>
          <p:nvPr/>
        </p:nvPicPr>
        <p:blipFill>
          <a:blip r:embed="rId3"/>
          <a:stretch>
            <a:fillRect/>
          </a:stretch>
        </p:blipFill>
        <p:spPr>
          <a:xfrm>
            <a:off x="438972" y="3117023"/>
            <a:ext cx="11575228" cy="2297003"/>
          </a:xfrm>
          <a:prstGeom prst="rect">
            <a:avLst/>
          </a:prstGeom>
        </p:spPr>
      </p:pic>
      <p:sp>
        <p:nvSpPr>
          <p:cNvPr id="6" name="TextBox 7">
            <a:extLst>
              <a:ext uri="{FF2B5EF4-FFF2-40B4-BE49-F238E27FC236}">
                <a16:creationId xmlns:a16="http://schemas.microsoft.com/office/drawing/2014/main" id="{8CCEF2EF-8CAA-E434-AC0F-9E2F3AE7624A}"/>
              </a:ext>
            </a:extLst>
          </p:cNvPr>
          <p:cNvSpPr txBox="1"/>
          <p:nvPr/>
        </p:nvSpPr>
        <p:spPr>
          <a:xfrm>
            <a:off x="4862608" y="6219854"/>
            <a:ext cx="3264035"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Switch_to</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2.6.0</a:t>
            </a:r>
            <a:endParaRPr lang="en-US" sz="1400" b="1" dirty="0">
              <a:latin typeface="Arial" panose="020B0604020202020204" pitchFamily="34" charset="0"/>
              <a:cs typeface="Arial" panose="020B0604020202020204" pitchFamily="34" charset="0"/>
            </a:endParaRPr>
          </a:p>
        </p:txBody>
      </p:sp>
      <p:sp>
        <p:nvSpPr>
          <p:cNvPr id="7" name="Rounded Rectangular Callout 8">
            <a:extLst>
              <a:ext uri="{FF2B5EF4-FFF2-40B4-BE49-F238E27FC236}">
                <a16:creationId xmlns:a16="http://schemas.microsoft.com/office/drawing/2014/main" id="{A84D5040-E14F-0D29-9DDB-35BE74235EFE}"/>
              </a:ext>
            </a:extLst>
          </p:cNvPr>
          <p:cNvSpPr/>
          <p:nvPr/>
        </p:nvSpPr>
        <p:spPr>
          <a:xfrm>
            <a:off x="3935779" y="5519928"/>
            <a:ext cx="2290807" cy="536511"/>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err="1">
                <a:solidFill>
                  <a:schemeClr val="tx1"/>
                </a:solidFill>
                <a:latin typeface="Arial" panose="020B0604020202020204" pitchFamily="34" charset="0"/>
                <a:cs typeface="Arial" panose="020B0604020202020204" pitchFamily="34" charset="0"/>
              </a:rPr>
              <a:t>per_Processor_Data_Area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(PDA), IRQ, </a:t>
            </a:r>
            <a:r>
              <a:rPr lang="en-US" altLang="zh-TW" sz="1400" dirty="0" err="1">
                <a:solidFill>
                  <a:schemeClr val="tx1"/>
                </a:solidFill>
                <a:latin typeface="Arial" panose="020B0604020202020204" pitchFamily="34" charset="0"/>
                <a:cs typeface="Arial" panose="020B0604020202020204" pitchFamily="34" charset="0"/>
              </a:rPr>
              <a:t>mmu_state</a:t>
            </a:r>
            <a:r>
              <a:rPr lang="en-US" altLang="zh-TW" sz="1400" dirty="0">
                <a:solidFill>
                  <a:schemeClr val="tx1"/>
                </a:solidFill>
                <a:latin typeface="Arial" panose="020B0604020202020204" pitchFamily="34" charset="0"/>
                <a:cs typeface="Arial" panose="020B0604020202020204" pitchFamily="34" charset="0"/>
              </a:rPr>
              <a:t>…</a:t>
            </a:r>
            <a:endParaRPr lang="en-US" sz="1400" dirty="0">
              <a:solidFill>
                <a:schemeClr val="tx1"/>
              </a:solidFill>
              <a:latin typeface="Arial" panose="020B0604020202020204" pitchFamily="34" charset="0"/>
              <a:cs typeface="Arial" panose="020B0604020202020204" pitchFamily="34" charset="0"/>
            </a:endParaRPr>
          </a:p>
        </p:txBody>
      </p:sp>
      <p:sp>
        <p:nvSpPr>
          <p:cNvPr id="8" name="Rounded Rectangular Callout 9">
            <a:extLst>
              <a:ext uri="{FF2B5EF4-FFF2-40B4-BE49-F238E27FC236}">
                <a16:creationId xmlns:a16="http://schemas.microsoft.com/office/drawing/2014/main" id="{DA5852BC-D446-0047-8546-17032BA7EF00}"/>
              </a:ext>
            </a:extLst>
          </p:cNvPr>
          <p:cNvSpPr/>
          <p:nvPr/>
        </p:nvSpPr>
        <p:spPr>
          <a:xfrm>
            <a:off x="438972" y="5519268"/>
            <a:ext cx="2188611" cy="637708"/>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Pointer to TLS</a:t>
            </a:r>
            <a:r>
              <a:rPr lang="zh-TW" altLang="en-US" sz="1400" dirty="0">
                <a:solidFill>
                  <a:schemeClr val="tx1"/>
                </a:solidFill>
                <a:latin typeface="Arial" panose="020B0604020202020204" pitchFamily="34" charset="0"/>
                <a:cs typeface="Arial" panose="020B0604020202020204" pitchFamily="34" charset="0"/>
              </a:rPr>
              <a:t> </a:t>
            </a:r>
            <a:br>
              <a:rPr lang="en-US" altLang="zh-TW" sz="1400" dirty="0">
                <a:solidFill>
                  <a:schemeClr val="tx1"/>
                </a:solidFill>
                <a:latin typeface="Arial" panose="020B0604020202020204" pitchFamily="34" charset="0"/>
                <a:cs typeface="Arial" panose="020B0604020202020204" pitchFamily="34" charset="0"/>
              </a:rPr>
            </a:br>
            <a:r>
              <a:rPr lang="en-US" altLang="zh-TW" sz="1400" dirty="0">
                <a:solidFill>
                  <a:schemeClr val="tx1"/>
                </a:solidFill>
                <a:latin typeface="Arial" panose="020B0604020202020204" pitchFamily="34" charset="0"/>
                <a:cs typeface="Arial" panose="020B0604020202020204" pitchFamily="34" charset="0"/>
              </a:rPr>
              <a:t>(e.g.,</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code run in thread, local</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parameter)</a:t>
            </a:r>
            <a:endParaRPr lang="en-US" sz="1400" dirty="0">
              <a:solidFill>
                <a:schemeClr val="tx1"/>
              </a:solidFill>
              <a:latin typeface="Arial" panose="020B0604020202020204" pitchFamily="34" charset="0"/>
              <a:cs typeface="Arial" panose="020B0604020202020204" pitchFamily="34" charset="0"/>
            </a:endParaRPr>
          </a:p>
        </p:txBody>
      </p:sp>
      <p:sp>
        <p:nvSpPr>
          <p:cNvPr id="9" name="Rounded Rectangular Callout 11">
            <a:extLst>
              <a:ext uri="{FF2B5EF4-FFF2-40B4-BE49-F238E27FC236}">
                <a16:creationId xmlns:a16="http://schemas.microsoft.com/office/drawing/2014/main" id="{4B481604-C57B-FA9F-1BE8-248604DEE4BF}"/>
              </a:ext>
            </a:extLst>
          </p:cNvPr>
          <p:cNvSpPr/>
          <p:nvPr/>
        </p:nvSpPr>
        <p:spPr>
          <a:xfrm>
            <a:off x="6959411" y="2573992"/>
            <a:ext cx="2513659" cy="536511"/>
          </a:xfrm>
          <a:prstGeom prst="wedgeRoundRectCallout">
            <a:avLst>
              <a:gd name="adj1" fmla="val 2352"/>
              <a:gd name="adj2" fmla="val 68825"/>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Data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and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Programmer</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Defined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endParaRPr lang="en-US" sz="1400" dirty="0">
              <a:solidFill>
                <a:schemeClr val="tx1"/>
              </a:solidFill>
              <a:latin typeface="Arial" panose="020B0604020202020204" pitchFamily="34" charset="0"/>
              <a:cs typeface="Arial" panose="020B0604020202020204" pitchFamily="34" charset="0"/>
            </a:endParaRPr>
          </a:p>
        </p:txBody>
      </p:sp>
      <p:sp>
        <p:nvSpPr>
          <p:cNvPr id="11" name="TextBox 13">
            <a:extLst>
              <a:ext uri="{FF2B5EF4-FFF2-40B4-BE49-F238E27FC236}">
                <a16:creationId xmlns:a16="http://schemas.microsoft.com/office/drawing/2014/main" id="{93D8B521-26A6-E414-BC88-E26868D84E70}"/>
              </a:ext>
            </a:extLst>
          </p:cNvPr>
          <p:cNvSpPr txBox="1"/>
          <p:nvPr/>
        </p:nvSpPr>
        <p:spPr>
          <a:xfrm>
            <a:off x="6959411" y="5358897"/>
            <a:ext cx="4708713" cy="738664"/>
          </a:xfrm>
          <a:prstGeom prst="rect">
            <a:avLst/>
          </a:prstGeom>
          <a:noFill/>
          <a:ln>
            <a:solidFill>
              <a:schemeClr val="accent1">
                <a:shade val="50000"/>
              </a:schemeClr>
            </a:solidFill>
          </a:ln>
        </p:spPr>
        <p:txBody>
          <a:bodyPr wrap="square" rtlCol="0">
            <a:spAutoFit/>
          </a:bodyPr>
          <a:lstStyle/>
          <a:p>
            <a:r>
              <a:rPr lang="en-US" sz="1400" dirty="0"/>
              <a:t>TS: Task Switching Flag (a flag in CR0)</a:t>
            </a:r>
          </a:p>
          <a:p>
            <a:r>
              <a:rPr lang="en-US" sz="1400" dirty="0"/>
              <a:t>ES: Programmer Defined Segment        </a:t>
            </a:r>
            <a:br>
              <a:rPr lang="en-US" sz="1400" dirty="0"/>
            </a:br>
            <a:r>
              <a:rPr lang="en-US" sz="1400" dirty="0"/>
              <a:t>DS: Data Segment    FS/GS: Access thread local storage (TLS)</a:t>
            </a:r>
          </a:p>
        </p:txBody>
      </p:sp>
      <p:sp>
        <p:nvSpPr>
          <p:cNvPr id="12" name="Rounded Rectangular Callout 14">
            <a:extLst>
              <a:ext uri="{FF2B5EF4-FFF2-40B4-BE49-F238E27FC236}">
                <a16:creationId xmlns:a16="http://schemas.microsoft.com/office/drawing/2014/main" id="{5603D832-61E8-A2EB-1C53-5E90A0390A45}"/>
              </a:ext>
            </a:extLst>
          </p:cNvPr>
          <p:cNvSpPr/>
          <p:nvPr/>
        </p:nvSpPr>
        <p:spPr>
          <a:xfrm>
            <a:off x="468998" y="2531623"/>
            <a:ext cx="2871814" cy="538368"/>
          </a:xfrm>
          <a:prstGeom prst="wedgeRoundRectCallout">
            <a:avLst>
              <a:gd name="adj1" fmla="val -30106"/>
              <a:gd name="adj2" fmla="val 74031"/>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Store General Purpose Register</a:t>
            </a:r>
            <a:br>
              <a:rPr lang="en-US" altLang="zh-TW" dirty="0">
                <a:solidFill>
                  <a:schemeClr val="tx1"/>
                </a:solidFill>
                <a:latin typeface="Arial" panose="020B0604020202020204" pitchFamily="34" charset="0"/>
                <a:cs typeface="Arial" panose="020B0604020202020204" pitchFamily="34" charset="0"/>
              </a:rPr>
            </a:br>
            <a:r>
              <a:rPr lang="en-US" altLang="zh-TW" sz="1200" dirty="0">
                <a:solidFill>
                  <a:schemeClr val="tx1"/>
                </a:solidFill>
                <a:latin typeface="Arial" panose="020B0604020202020204" pitchFamily="34" charset="0"/>
                <a:cs typeface="Arial" panose="020B0604020202020204" pitchFamily="34" charset="0"/>
              </a:rPr>
              <a:t>(Hardware Context)</a:t>
            </a:r>
            <a:endParaRPr lang="en-US" sz="1200" dirty="0">
              <a:solidFill>
                <a:schemeClr val="tx1"/>
              </a:solidFill>
              <a:latin typeface="Arial" panose="020B0604020202020204" pitchFamily="34" charset="0"/>
              <a:cs typeface="Arial" panose="020B0604020202020204" pitchFamily="34" charset="0"/>
            </a:endParaRPr>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544875"/>
            <a:ext cx="5903222" cy="276999"/>
          </a:xfrm>
          <a:prstGeom prst="rect">
            <a:avLst/>
          </a:prstGeom>
          <a:noFill/>
        </p:spPr>
        <p:txBody>
          <a:bodyPr wrap="squar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Tree>
    <p:extLst>
      <p:ext uri="{BB962C8B-B14F-4D97-AF65-F5344CB8AC3E}">
        <p14:creationId xmlns:p14="http://schemas.microsoft.com/office/powerpoint/2010/main" val="2486635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3DE261-0CBD-B0D8-C329-0EA19A37C445}"/>
              </a:ext>
            </a:extLst>
          </p:cNvPr>
          <p:cNvSpPr>
            <a:spLocks noGrp="1"/>
          </p:cNvSpPr>
          <p:nvPr>
            <p:ph type="title"/>
          </p:nvPr>
        </p:nvSpPr>
        <p:spPr/>
        <p:txBody>
          <a:bodyPr/>
          <a:lstStyle/>
          <a:p>
            <a:r>
              <a:rPr kumimoji="1" lang="en-US" altLang="zh-TW" dirty="0"/>
              <a:t>CPU Mode Switch vs Process Context Switch</a:t>
            </a:r>
            <a:endParaRPr kumimoji="1" lang="zh-TW" altLang="en-US" dirty="0"/>
          </a:p>
        </p:txBody>
      </p:sp>
      <p:sp>
        <p:nvSpPr>
          <p:cNvPr id="3" name="內容版面配置區 2">
            <a:extLst>
              <a:ext uri="{FF2B5EF4-FFF2-40B4-BE49-F238E27FC236}">
                <a16:creationId xmlns:a16="http://schemas.microsoft.com/office/drawing/2014/main" id="{00DE24A5-0075-DFF3-15E7-4E66C419DA53}"/>
              </a:ext>
            </a:extLst>
          </p:cNvPr>
          <p:cNvSpPr>
            <a:spLocks noGrp="1"/>
          </p:cNvSpPr>
          <p:nvPr>
            <p:ph idx="1"/>
          </p:nvPr>
        </p:nvSpPr>
        <p:spPr/>
        <p:txBody>
          <a:bodyPr/>
          <a:lstStyle/>
          <a:p>
            <a:r>
              <a:rPr kumimoji="1" lang="en-US" altLang="zh-TW" dirty="0"/>
              <a:t>While facing exceptions or interrupts, CPU switches from user mode to kernel mode to run kernel code. </a:t>
            </a:r>
            <a:endParaRPr lang="en-US" altLang="zh-TW" dirty="0">
              <a:sym typeface="Wingdings" pitchFamily="2" charset="2"/>
            </a:endParaRPr>
          </a:p>
          <a:p>
            <a:pPr lvl="1"/>
            <a:r>
              <a:rPr lang="en-US" altLang="zh-TW" dirty="0">
                <a:sym typeface="Wingdings" pitchFamily="2" charset="2"/>
              </a:rPr>
              <a:t>CPU shall also do context switching but </a:t>
            </a:r>
            <a:r>
              <a:rPr lang="en-US" altLang="zh-TW" dirty="0">
                <a:solidFill>
                  <a:srgbClr val="C00000"/>
                </a:solidFill>
                <a:sym typeface="Wingdings" pitchFamily="2" charset="2"/>
              </a:rPr>
              <a:t>not process-level context switching</a:t>
            </a:r>
            <a:endParaRPr kumimoji="1" lang="en-US" altLang="zh-TW" dirty="0">
              <a:solidFill>
                <a:srgbClr val="C00000"/>
              </a:solidFill>
            </a:endParaRPr>
          </a:p>
          <a:p>
            <a:r>
              <a:rPr kumimoji="1" lang="en-US" altLang="zh-TW" dirty="0"/>
              <a:t>Before switching to kernel mode, CPU shall </a:t>
            </a:r>
            <a:r>
              <a:rPr kumimoji="1" lang="en-US" altLang="zh-TW" dirty="0">
                <a:solidFill>
                  <a:srgbClr val="C00000"/>
                </a:solidFill>
              </a:rPr>
              <a:t>save user mode context</a:t>
            </a:r>
          </a:p>
          <a:p>
            <a:pPr lvl="1"/>
            <a:r>
              <a:rPr kumimoji="1" lang="en-US" altLang="zh-TW" dirty="0">
                <a:solidFill>
                  <a:schemeClr val="tx1"/>
                </a:solidFill>
              </a:rPr>
              <a:t>User mode context: program counter, user-mode-specific state (e.g., </a:t>
            </a:r>
            <a:r>
              <a:rPr lang="en-US" altLang="zh-TW" dirty="0">
                <a:solidFill>
                  <a:schemeClr val="tx1"/>
                </a:solidFill>
              </a:rPr>
              <a:t>us</a:t>
            </a:r>
            <a:r>
              <a:rPr kumimoji="1" lang="en-US" altLang="zh-TW" dirty="0">
                <a:solidFill>
                  <a:schemeClr val="tx1"/>
                </a:solidFill>
              </a:rPr>
              <a:t>er-space </a:t>
            </a:r>
            <a:r>
              <a:rPr lang="en-US" altLang="zh-TW" dirty="0">
                <a:solidFill>
                  <a:schemeClr val="tx1"/>
                </a:solidFill>
              </a:rPr>
              <a:t>s</a:t>
            </a:r>
            <a:r>
              <a:rPr kumimoji="1" lang="en-US" altLang="zh-TW" dirty="0">
                <a:solidFill>
                  <a:schemeClr val="tx1"/>
                </a:solidFill>
              </a:rPr>
              <a:t>tack </a:t>
            </a:r>
            <a:r>
              <a:rPr lang="en-US" altLang="zh-TW" dirty="0">
                <a:solidFill>
                  <a:schemeClr val="tx1"/>
                </a:solidFill>
              </a:rPr>
              <a:t>p</a:t>
            </a:r>
            <a:r>
              <a:rPr kumimoji="1" lang="en-US" altLang="zh-TW" dirty="0">
                <a:solidFill>
                  <a:schemeClr val="tx1"/>
                </a:solidFill>
              </a:rPr>
              <a:t>ointer register (ESP or RSP), floating point register, user-space instruction pointer)</a:t>
            </a:r>
          </a:p>
          <a:p>
            <a:pPr lvl="1"/>
            <a:r>
              <a:rPr lang="en-US" altLang="zh-TW" i="1" dirty="0">
                <a:solidFill>
                  <a:schemeClr val="tx1"/>
                </a:solidFill>
              </a:rPr>
              <a:t>Note: when we say save context, we generally mean to </a:t>
            </a:r>
            <a:r>
              <a:rPr lang="en-US" altLang="zh-TW" i="1" dirty="0">
                <a:solidFill>
                  <a:srgbClr val="C00000"/>
                </a:solidFill>
              </a:rPr>
              <a:t>write back all those registers to </a:t>
            </a:r>
            <a:r>
              <a:rPr lang="en-US" altLang="zh-TW" i="1" dirty="0">
                <a:solidFill>
                  <a:schemeClr val="tx1"/>
                </a:solidFill>
              </a:rPr>
              <a:t>the corresponding </a:t>
            </a:r>
            <a:r>
              <a:rPr lang="en-US" altLang="zh-TW" i="1" dirty="0">
                <a:solidFill>
                  <a:srgbClr val="C00000"/>
                </a:solidFill>
              </a:rPr>
              <a:t>process descriptor (i.e., </a:t>
            </a:r>
            <a:r>
              <a:rPr lang="en-US" altLang="zh-TW" i="1" dirty="0" err="1">
                <a:solidFill>
                  <a:srgbClr val="C00000"/>
                </a:solidFill>
              </a:rPr>
              <a:t>task_struct</a:t>
            </a:r>
            <a:r>
              <a:rPr lang="en-US" altLang="zh-TW" i="1" dirty="0">
                <a:solidFill>
                  <a:srgbClr val="C00000"/>
                </a:solidFill>
              </a:rPr>
              <a:t>) in main memory.</a:t>
            </a:r>
            <a:endParaRPr kumimoji="1" lang="zh-TW" altLang="en-US" i="1" dirty="0">
              <a:solidFill>
                <a:srgbClr val="C00000"/>
              </a:solidFill>
            </a:endParaRPr>
          </a:p>
        </p:txBody>
      </p:sp>
      <p:sp>
        <p:nvSpPr>
          <p:cNvPr id="4" name="投影片編號版面配置區 3">
            <a:extLst>
              <a:ext uri="{FF2B5EF4-FFF2-40B4-BE49-F238E27FC236}">
                <a16:creationId xmlns:a16="http://schemas.microsoft.com/office/drawing/2014/main" id="{1EB5AFCD-4D76-1FD0-28B8-3EBF872554BB}"/>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spTree>
    <p:extLst>
      <p:ext uri="{BB962C8B-B14F-4D97-AF65-F5344CB8AC3E}">
        <p14:creationId xmlns:p14="http://schemas.microsoft.com/office/powerpoint/2010/main" val="364010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up)">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System Call</a:t>
            </a:r>
          </a:p>
        </p:txBody>
      </p:sp>
    </p:spTree>
    <p:extLst>
      <p:ext uri="{BB962C8B-B14F-4D97-AF65-F5344CB8AC3E}">
        <p14:creationId xmlns:p14="http://schemas.microsoft.com/office/powerpoint/2010/main" val="4177269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What is System Call</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Goal: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let user-space</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processes </a:t>
            </a:r>
            <a:r>
              <a:rPr lang="en-US" altLang="zh-TW" dirty="0">
                <a:solidFill>
                  <a:srgbClr val="C00000"/>
                </a:solidFill>
                <a:latin typeface="+mn-lt"/>
                <a:cs typeface="Arial" panose="020B0604020202020204" pitchFamily="34" charset="0"/>
              </a:rPr>
              <a:t>interact with the operating</a:t>
            </a:r>
            <a:r>
              <a:rPr lang="zh-TW" altLang="en-US" dirty="0">
                <a:solidFill>
                  <a:srgbClr val="C00000"/>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system</a:t>
            </a:r>
            <a:r>
              <a:rPr lang="en-US" altLang="zh-TW" dirty="0">
                <a:solidFill>
                  <a:schemeClr val="tx1"/>
                </a:solidFill>
                <a:latin typeface="+mn-lt"/>
                <a:cs typeface="Arial" panose="020B0604020202020204" pitchFamily="34" charset="0"/>
              </a:rPr>
              <a:t>, the kernel provides a set of interfaces, called system calls.</a:t>
            </a:r>
          </a:p>
          <a:p>
            <a:pPr algn="l"/>
            <a:r>
              <a:rPr lang="en-US" altLang="zh-TW" dirty="0">
                <a:solidFill>
                  <a:schemeClr val="tx1"/>
                </a:solidFill>
                <a:latin typeface="+mn-lt"/>
                <a:cs typeface="Arial" panose="020B0604020202020204" pitchFamily="34" charset="0"/>
              </a:rPr>
              <a:t>How to run: 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are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accessed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via</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function</a:t>
            </a:r>
            <a:r>
              <a:rPr lang="zh-TW" altLang="en-US" dirty="0">
                <a:solidFill>
                  <a:srgbClr val="C00000"/>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calls</a:t>
            </a:r>
            <a:r>
              <a:rPr lang="zh-TW" altLang="en-US" dirty="0">
                <a:solidFill>
                  <a:srgbClr val="C00000"/>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defined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library.</a:t>
            </a:r>
          </a:p>
          <a:p>
            <a:pPr algn="l"/>
            <a:endParaRPr kumimoji="1"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Numbers: Each system call has a </a:t>
            </a:r>
            <a:r>
              <a:rPr lang="en-US" altLang="zh-TW" dirty="0">
                <a:solidFill>
                  <a:srgbClr val="C00000"/>
                </a:solidFill>
                <a:latin typeface="+mn-lt"/>
                <a:cs typeface="Arial" panose="020B0604020202020204" pitchFamily="34" charset="0"/>
              </a:rPr>
              <a:t>unique number</a:t>
            </a:r>
            <a:r>
              <a:rPr lang="en-US" altLang="zh-TW" dirty="0">
                <a:solidFill>
                  <a:schemeClr val="tx1"/>
                </a:solidFill>
                <a:latin typeface="+mn-lt"/>
                <a:cs typeface="Arial" panose="020B0604020202020204" pitchFamily="34" charset="0"/>
              </a:rPr>
              <a:t>. </a:t>
            </a:r>
            <a:br>
              <a:rPr lang="en-US" altLang="zh-TW" dirty="0">
                <a:solidFill>
                  <a:schemeClr val="tx1"/>
                </a:solidFill>
                <a:latin typeface="+mn-lt"/>
                <a:cs typeface="Arial" panose="020B0604020202020204" pitchFamily="34" charset="0"/>
              </a:rPr>
            </a:br>
            <a:r>
              <a:rPr lang="en-US" altLang="zh-TW" dirty="0">
                <a:solidFill>
                  <a:schemeClr val="tx1"/>
                </a:solidFill>
                <a:latin typeface="+mn-lt"/>
                <a:cs typeface="Arial" panose="020B0604020202020204" pitchFamily="34" charset="0"/>
              </a:rPr>
              <a:t>(Cannot change all corresponding numbers during runtime.)</a:t>
            </a:r>
          </a:p>
          <a:p>
            <a:pPr algn="l"/>
            <a:r>
              <a:rPr lang="en-US" altLang="zh-TW" dirty="0" err="1">
                <a:solidFill>
                  <a:schemeClr val="tx1"/>
                </a:solidFill>
                <a:latin typeface="+mj-lt"/>
                <a:cs typeface="Arial" panose="020B0604020202020204" pitchFamily="34" charset="0"/>
              </a:rPr>
              <a:t>s</a:t>
            </a:r>
            <a:r>
              <a:rPr kumimoji="1" lang="en-US" altLang="zh-TW" dirty="0" err="1">
                <a:solidFill>
                  <a:schemeClr val="tx1"/>
                </a:solidFill>
                <a:latin typeface="+mj-lt"/>
                <a:cs typeface="Arial" panose="020B0604020202020204" pitchFamily="34" charset="0"/>
              </a:rPr>
              <a:t>ys_call</a:t>
            </a:r>
            <a:r>
              <a:rPr lang="en-US" altLang="zh-TW" dirty="0" err="1">
                <a:solidFill>
                  <a:schemeClr val="tx1"/>
                </a:solidFill>
                <a:latin typeface="+mj-lt"/>
                <a:cs typeface="Arial" panose="020B0604020202020204" pitchFamily="34" charset="0"/>
              </a:rPr>
              <a:t>_table</a:t>
            </a:r>
            <a:r>
              <a:rPr lang="en-US" altLang="zh-TW" dirty="0">
                <a:solidFill>
                  <a:schemeClr val="tx1"/>
                </a:solidFill>
                <a:latin typeface="+mn-lt"/>
                <a:cs typeface="Arial" panose="020B0604020202020204" pitchFamily="34" charset="0"/>
              </a:rPr>
              <a:t>: The kernel </a:t>
            </a:r>
            <a:r>
              <a:rPr lang="en-US" altLang="zh-TW" dirty="0">
                <a:solidFill>
                  <a:srgbClr val="C00000"/>
                </a:solidFill>
                <a:latin typeface="+mn-lt"/>
                <a:cs typeface="Arial" panose="020B0604020202020204" pitchFamily="34" charset="0"/>
              </a:rPr>
              <a:t>keeps a list of all system calls </a:t>
            </a:r>
            <a:r>
              <a:rPr lang="en-US" altLang="zh-TW" dirty="0">
                <a:solidFill>
                  <a:schemeClr val="tx1"/>
                </a:solidFill>
                <a:latin typeface="+mn-lt"/>
                <a:cs typeface="Arial" panose="020B0604020202020204" pitchFamily="34" charset="0"/>
              </a:rPr>
              <a:t>in the system call table.</a:t>
            </a:r>
            <a:br>
              <a:rPr lang="en-US" altLang="zh-TW" dirty="0">
                <a:solidFill>
                  <a:schemeClr val="tx1"/>
                </a:solidFill>
                <a:latin typeface="+mn-lt"/>
                <a:cs typeface="Arial" panose="020B0604020202020204" pitchFamily="34" charset="0"/>
              </a:rPr>
            </a:br>
            <a:endParaRPr lang="en-US" altLang="zh-TW"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14</a:t>
            </a:fld>
            <a:endParaRPr lang="zh-TW" altLang="en-US" dirty="0"/>
          </a:p>
        </p:txBody>
      </p:sp>
      <p:grpSp>
        <p:nvGrpSpPr>
          <p:cNvPr id="21" name="群組 20">
            <a:extLst>
              <a:ext uri="{FF2B5EF4-FFF2-40B4-BE49-F238E27FC236}">
                <a16:creationId xmlns:a16="http://schemas.microsoft.com/office/drawing/2014/main" id="{C9CB9B83-09AF-C3D9-1899-30520BBD2D0B}"/>
              </a:ext>
            </a:extLst>
          </p:cNvPr>
          <p:cNvGrpSpPr/>
          <p:nvPr/>
        </p:nvGrpSpPr>
        <p:grpSpPr>
          <a:xfrm>
            <a:off x="1303000" y="2646239"/>
            <a:ext cx="1506072" cy="1226445"/>
            <a:chOff x="1374717" y="4564687"/>
            <a:chExt cx="1506072" cy="1226445"/>
          </a:xfrm>
        </p:grpSpPr>
        <p:sp>
          <p:nvSpPr>
            <p:cNvPr id="6" name="矩形 5">
              <a:extLst>
                <a:ext uri="{FF2B5EF4-FFF2-40B4-BE49-F238E27FC236}">
                  <a16:creationId xmlns:a16="http://schemas.microsoft.com/office/drawing/2014/main" id="{12CBE47E-57B8-41E6-9F7C-3F4A6A64C777}"/>
                </a:ext>
              </a:extLst>
            </p:cNvPr>
            <p:cNvSpPr/>
            <p:nvPr/>
          </p:nvSpPr>
          <p:spPr>
            <a:xfrm>
              <a:off x="1374717" y="4564687"/>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Call to </a:t>
              </a:r>
              <a:r>
                <a:rPr kumimoji="1" lang="en-US" altLang="zh-TW" sz="1400" dirty="0" err="1">
                  <a:solidFill>
                    <a:schemeClr val="tx1"/>
                  </a:solidFill>
                  <a:latin typeface="Arial" panose="020B0604020202020204" pitchFamily="34" charset="0"/>
                  <a:cs typeface="Arial" panose="020B0604020202020204" pitchFamily="34" charset="0"/>
                </a:rPr>
                <a:t>printf</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5" name="文字方塊 4">
              <a:extLst>
                <a:ext uri="{FF2B5EF4-FFF2-40B4-BE49-F238E27FC236}">
                  <a16:creationId xmlns:a16="http://schemas.microsoft.com/office/drawing/2014/main" id="{63250FD1-45DD-3B5F-83A1-F5AC32B3A197}"/>
                </a:ext>
              </a:extLst>
            </p:cNvPr>
            <p:cNvSpPr txBox="1"/>
            <p:nvPr/>
          </p:nvSpPr>
          <p:spPr>
            <a:xfrm>
              <a:off x="1556999" y="5452578"/>
              <a:ext cx="1123577" cy="338554"/>
            </a:xfrm>
            <a:prstGeom prst="rect">
              <a:avLst/>
            </a:prstGeom>
            <a:noFill/>
          </p:spPr>
          <p:txBody>
            <a:bodyPr wrap="none" rtlCol="0">
              <a:spAutoFit/>
            </a:bodyPr>
            <a:lstStyle/>
            <a:p>
              <a:r>
                <a:rPr kumimoji="1" lang="en-US" altLang="zh-TW" sz="1600" dirty="0"/>
                <a:t>Application</a:t>
              </a:r>
              <a:endParaRPr kumimoji="1" lang="zh-TW" altLang="en-US" sz="1600" dirty="0"/>
            </a:p>
          </p:txBody>
        </p:sp>
      </p:grpSp>
      <p:grpSp>
        <p:nvGrpSpPr>
          <p:cNvPr id="22" name="群組 21">
            <a:extLst>
              <a:ext uri="{FF2B5EF4-FFF2-40B4-BE49-F238E27FC236}">
                <a16:creationId xmlns:a16="http://schemas.microsoft.com/office/drawing/2014/main" id="{C23C5D9D-DBBE-B51D-FAF6-1CF941979C10}"/>
              </a:ext>
            </a:extLst>
          </p:cNvPr>
          <p:cNvGrpSpPr/>
          <p:nvPr/>
        </p:nvGrpSpPr>
        <p:grpSpPr>
          <a:xfrm>
            <a:off x="2719208" y="2646239"/>
            <a:ext cx="5002632" cy="1224340"/>
            <a:chOff x="2790925" y="4564687"/>
            <a:chExt cx="5002632" cy="1224340"/>
          </a:xfrm>
        </p:grpSpPr>
        <p:sp>
          <p:nvSpPr>
            <p:cNvPr id="8" name="矩形 7">
              <a:extLst>
                <a:ext uri="{FF2B5EF4-FFF2-40B4-BE49-F238E27FC236}">
                  <a16:creationId xmlns:a16="http://schemas.microsoft.com/office/drawing/2014/main" id="{77D2BCF8-8CAA-D09A-E237-2A4CAE6565ED}"/>
                </a:ext>
              </a:extLst>
            </p:cNvPr>
            <p:cNvSpPr/>
            <p:nvPr/>
          </p:nvSpPr>
          <p:spPr>
            <a:xfrm>
              <a:off x="3633391" y="4564687"/>
              <a:ext cx="4160166"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err="1">
                  <a:solidFill>
                    <a:schemeClr val="tx1"/>
                  </a:solidFill>
                  <a:latin typeface="Arial" panose="020B0604020202020204" pitchFamily="34" charset="0"/>
                  <a:cs typeface="Arial" panose="020B0604020202020204" pitchFamily="34" charset="0"/>
                </a:rPr>
                <a:t>Printf</a:t>
              </a:r>
              <a:r>
                <a:rPr kumimoji="1" lang="en-US" altLang="zh-TW" sz="1400" dirty="0">
                  <a:solidFill>
                    <a:schemeClr val="tx1"/>
                  </a:solidFill>
                  <a:latin typeface="Arial" panose="020B0604020202020204" pitchFamily="34" charset="0"/>
                  <a:cs typeface="Arial" panose="020B0604020202020204" pitchFamily="34" charset="0"/>
                </a:rPr>
                <a:t>() in the C library          write() in the C library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7" name="文字方塊 6">
              <a:extLst>
                <a:ext uri="{FF2B5EF4-FFF2-40B4-BE49-F238E27FC236}">
                  <a16:creationId xmlns:a16="http://schemas.microsoft.com/office/drawing/2014/main" id="{D48A97E4-3976-8AC0-AF77-E74BBFEABBF3}"/>
                </a:ext>
              </a:extLst>
            </p:cNvPr>
            <p:cNvSpPr txBox="1"/>
            <p:nvPr/>
          </p:nvSpPr>
          <p:spPr>
            <a:xfrm>
              <a:off x="5183571" y="5450473"/>
              <a:ext cx="912429" cy="338554"/>
            </a:xfrm>
            <a:prstGeom prst="rect">
              <a:avLst/>
            </a:prstGeom>
            <a:noFill/>
          </p:spPr>
          <p:txBody>
            <a:bodyPr wrap="none" rtlCol="0">
              <a:spAutoFit/>
            </a:bodyPr>
            <a:lstStyle/>
            <a:p>
              <a:r>
                <a:rPr kumimoji="1" lang="en-US" altLang="zh-TW" sz="1600" dirty="0"/>
                <a:t>C</a:t>
              </a:r>
              <a:r>
                <a:rPr kumimoji="1" lang="zh-TW" altLang="en-US" sz="1600" dirty="0"/>
                <a:t> </a:t>
              </a:r>
              <a:r>
                <a:rPr kumimoji="1" lang="en-US" altLang="zh-TW" sz="1600" dirty="0"/>
                <a:t>Library</a:t>
              </a:r>
              <a:endParaRPr kumimoji="1" lang="zh-TW" altLang="en-US" sz="1600" dirty="0"/>
            </a:p>
          </p:txBody>
        </p:sp>
        <p:cxnSp>
          <p:nvCxnSpPr>
            <p:cNvPr id="12" name="直線箭頭接點 11">
              <a:extLst>
                <a:ext uri="{FF2B5EF4-FFF2-40B4-BE49-F238E27FC236}">
                  <a16:creationId xmlns:a16="http://schemas.microsoft.com/office/drawing/2014/main" id="{CF72185F-7432-F332-E5A8-33DCD88F176E}"/>
                </a:ext>
              </a:extLst>
            </p:cNvPr>
            <p:cNvCxnSpPr>
              <a:cxnSpLocks/>
            </p:cNvCxnSpPr>
            <p:nvPr/>
          </p:nvCxnSpPr>
          <p:spPr>
            <a:xfrm>
              <a:off x="2790925" y="4968099"/>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箭頭接點 14">
              <a:extLst>
                <a:ext uri="{FF2B5EF4-FFF2-40B4-BE49-F238E27FC236}">
                  <a16:creationId xmlns:a16="http://schemas.microsoft.com/office/drawing/2014/main" id="{8DCB8E05-E7F4-0964-0D23-15FE89041CEE}"/>
                </a:ext>
              </a:extLst>
            </p:cNvPr>
            <p:cNvCxnSpPr>
              <a:cxnSpLocks/>
            </p:cNvCxnSpPr>
            <p:nvPr/>
          </p:nvCxnSpPr>
          <p:spPr>
            <a:xfrm>
              <a:off x="5552054" y="4968099"/>
              <a:ext cx="38581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群組 22">
            <a:extLst>
              <a:ext uri="{FF2B5EF4-FFF2-40B4-BE49-F238E27FC236}">
                <a16:creationId xmlns:a16="http://schemas.microsoft.com/office/drawing/2014/main" id="{0B8833AD-2DC0-6B8F-6C33-5E1DA431A085}"/>
              </a:ext>
            </a:extLst>
          </p:cNvPr>
          <p:cNvGrpSpPr/>
          <p:nvPr/>
        </p:nvGrpSpPr>
        <p:grpSpPr>
          <a:xfrm>
            <a:off x="7670987" y="2646239"/>
            <a:ext cx="2776125" cy="1224340"/>
            <a:chOff x="7742704" y="4564687"/>
            <a:chExt cx="2776125" cy="1224340"/>
          </a:xfrm>
        </p:grpSpPr>
        <p:sp>
          <p:nvSpPr>
            <p:cNvPr id="9" name="矩形 8">
              <a:extLst>
                <a:ext uri="{FF2B5EF4-FFF2-40B4-BE49-F238E27FC236}">
                  <a16:creationId xmlns:a16="http://schemas.microsoft.com/office/drawing/2014/main" id="{71677797-F4D9-849C-129D-39B19BB0BCE8}"/>
                </a:ext>
              </a:extLst>
            </p:cNvPr>
            <p:cNvSpPr/>
            <p:nvPr/>
          </p:nvSpPr>
          <p:spPr>
            <a:xfrm>
              <a:off x="8702254" y="4564687"/>
              <a:ext cx="1816575"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Write() system call</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0" name="文字方塊 9">
              <a:extLst>
                <a:ext uri="{FF2B5EF4-FFF2-40B4-BE49-F238E27FC236}">
                  <a16:creationId xmlns:a16="http://schemas.microsoft.com/office/drawing/2014/main" id="{3BA840B3-5FAC-6EC5-B4B6-1C91F65D5A05}"/>
                </a:ext>
              </a:extLst>
            </p:cNvPr>
            <p:cNvSpPr txBox="1"/>
            <p:nvPr/>
          </p:nvSpPr>
          <p:spPr>
            <a:xfrm>
              <a:off x="9250763" y="5450473"/>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cxnSp>
          <p:nvCxnSpPr>
            <p:cNvPr id="17" name="直線箭頭接點 16">
              <a:extLst>
                <a:ext uri="{FF2B5EF4-FFF2-40B4-BE49-F238E27FC236}">
                  <a16:creationId xmlns:a16="http://schemas.microsoft.com/office/drawing/2014/main" id="{7FC761FB-C59E-E4B0-31F6-59FA23AAD4D4}"/>
                </a:ext>
              </a:extLst>
            </p:cNvPr>
            <p:cNvCxnSpPr>
              <a:cxnSpLocks/>
            </p:cNvCxnSpPr>
            <p:nvPr/>
          </p:nvCxnSpPr>
          <p:spPr>
            <a:xfrm>
              <a:off x="7742704" y="4968099"/>
              <a:ext cx="112661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文字方塊 23">
            <a:extLst>
              <a:ext uri="{FF2B5EF4-FFF2-40B4-BE49-F238E27FC236}">
                <a16:creationId xmlns:a16="http://schemas.microsoft.com/office/drawing/2014/main" id="{819653BF-D3E3-1E3A-94F0-AF84B17EC7AF}"/>
              </a:ext>
            </a:extLst>
          </p:cNvPr>
          <p:cNvSpPr txBox="1"/>
          <p:nvPr/>
        </p:nvSpPr>
        <p:spPr>
          <a:xfrm>
            <a:off x="10489138" y="2680319"/>
            <a:ext cx="1483035" cy="738664"/>
          </a:xfrm>
          <a:prstGeom prst="rect">
            <a:avLst/>
          </a:prstGeom>
          <a:noFill/>
        </p:spPr>
        <p:txBody>
          <a:bodyPr wrap="none" rtlCol="0">
            <a:spAutoFit/>
          </a:bodyPr>
          <a:lstStyle/>
          <a:p>
            <a:r>
              <a:rPr kumimoji="1" lang="en-US" altLang="zh-TW" sz="1400" i="1" dirty="0">
                <a:solidFill>
                  <a:schemeClr val="accent5"/>
                </a:solidFill>
              </a:rPr>
              <a:t>Monitor is a </a:t>
            </a:r>
            <a:br>
              <a:rPr kumimoji="1" lang="en-US" altLang="zh-TW" sz="1400" i="1" dirty="0">
                <a:solidFill>
                  <a:schemeClr val="accent5"/>
                </a:solidFill>
              </a:rPr>
            </a:br>
            <a:r>
              <a:rPr kumimoji="1" lang="en-US" altLang="zh-TW" sz="1400" i="1" dirty="0">
                <a:solidFill>
                  <a:schemeClr val="accent5"/>
                </a:solidFill>
              </a:rPr>
              <a:t>character device! </a:t>
            </a:r>
          </a:p>
          <a:p>
            <a:r>
              <a:rPr kumimoji="1" lang="en-US" altLang="zh-TW" sz="1400" i="1" dirty="0">
                <a:solidFill>
                  <a:schemeClr val="accent5"/>
                </a:solidFill>
              </a:rPr>
              <a:t>(Backed by a file)</a:t>
            </a:r>
            <a:endParaRPr kumimoji="1" lang="zh-TW" altLang="en-US" sz="1400" i="1" dirty="0">
              <a:solidFill>
                <a:schemeClr val="accent5"/>
              </a:solidFill>
            </a:endParaRPr>
          </a:p>
        </p:txBody>
      </p:sp>
      <p:pic>
        <p:nvPicPr>
          <p:cNvPr id="28" name="圖片 27">
            <a:extLst>
              <a:ext uri="{FF2B5EF4-FFF2-40B4-BE49-F238E27FC236}">
                <a16:creationId xmlns:a16="http://schemas.microsoft.com/office/drawing/2014/main" id="{B5B52799-451F-D51A-328F-2DA915361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8518" y="5186609"/>
            <a:ext cx="5105400" cy="1282700"/>
          </a:xfrm>
          <a:prstGeom prst="rect">
            <a:avLst/>
          </a:prstGeom>
        </p:spPr>
      </p:pic>
      <p:sp>
        <p:nvSpPr>
          <p:cNvPr id="29" name="文字方塊 28">
            <a:extLst>
              <a:ext uri="{FF2B5EF4-FFF2-40B4-BE49-F238E27FC236}">
                <a16:creationId xmlns:a16="http://schemas.microsoft.com/office/drawing/2014/main" id="{DD206F09-F06D-1592-438E-33A4F879AED7}"/>
              </a:ext>
            </a:extLst>
          </p:cNvPr>
          <p:cNvSpPr txBox="1"/>
          <p:nvPr/>
        </p:nvSpPr>
        <p:spPr>
          <a:xfrm>
            <a:off x="3782133" y="6550223"/>
            <a:ext cx="4133119" cy="307777"/>
          </a:xfrm>
          <a:prstGeom prst="rect">
            <a:avLst/>
          </a:prstGeom>
          <a:noFill/>
        </p:spPr>
        <p:txBody>
          <a:bodyPr wrap="none" rtlCol="0">
            <a:spAutoFit/>
          </a:bodyPr>
          <a:lstStyle/>
          <a:p>
            <a:r>
              <a:rPr kumimoji="1" lang="en-US" altLang="zh-TW" sz="1400" i="1" dirty="0">
                <a:solidFill>
                  <a:schemeClr val="accent5"/>
                </a:solidFill>
              </a:rPr>
              <a:t>Linux</a:t>
            </a:r>
            <a:r>
              <a:rPr kumimoji="1" lang="zh-TW" altLang="en-US" sz="1400" i="1" dirty="0">
                <a:solidFill>
                  <a:schemeClr val="accent5"/>
                </a:solidFill>
              </a:rPr>
              <a:t> </a:t>
            </a:r>
            <a:r>
              <a:rPr kumimoji="1" lang="en-US" altLang="zh-TW" sz="1400" i="1" dirty="0">
                <a:solidFill>
                  <a:schemeClr val="accent5"/>
                </a:solidFill>
              </a:rPr>
              <a:t>4.17.4</a:t>
            </a:r>
            <a:r>
              <a:rPr kumimoji="1" lang="zh-TW" altLang="en-US" sz="1400" i="1" dirty="0">
                <a:solidFill>
                  <a:schemeClr val="accent5"/>
                </a:solidFill>
              </a:rPr>
              <a:t> </a:t>
            </a:r>
            <a:r>
              <a:rPr kumimoji="1" lang="en-US" altLang="zh-TW" sz="1400" i="1" dirty="0">
                <a:solidFill>
                  <a:schemeClr val="accent5"/>
                </a:solidFill>
                <a:sym typeface="Wingdings" pitchFamily="2" charset="2"/>
              </a:rPr>
              <a:t></a:t>
            </a:r>
            <a:r>
              <a:rPr kumimoji="1" lang="zh-TW" altLang="en-US" sz="1400" i="1" dirty="0">
                <a:solidFill>
                  <a:schemeClr val="accent5"/>
                </a:solidFill>
                <a:sym typeface="Wingdings" pitchFamily="2" charset="2"/>
              </a:rPr>
              <a:t> </a:t>
            </a:r>
            <a:r>
              <a:rPr kumimoji="1" lang="en-US" altLang="zh-TW" sz="1400" i="1" dirty="0">
                <a:solidFill>
                  <a:schemeClr val="accent5"/>
                </a:solidFill>
                <a:sym typeface="Wingdings" pitchFamily="2" charset="2"/>
              </a:rPr>
              <a:t>/arch/x86/entry/</a:t>
            </a:r>
            <a:r>
              <a:rPr kumimoji="1" lang="en-US" altLang="zh-TW" sz="1400" i="1" dirty="0" err="1">
                <a:solidFill>
                  <a:schemeClr val="accent5"/>
                </a:solidFill>
                <a:sym typeface="Wingdings" pitchFamily="2" charset="2"/>
              </a:rPr>
              <a:t>syscalls</a:t>
            </a:r>
            <a:r>
              <a:rPr kumimoji="1" lang="en-US" altLang="zh-TW" sz="1400" i="1" dirty="0">
                <a:solidFill>
                  <a:schemeClr val="accent5"/>
                </a:solidFill>
                <a:sym typeface="Wingdings" pitchFamily="2" charset="2"/>
              </a:rPr>
              <a:t>/syscall_64.tbl</a:t>
            </a:r>
            <a:endParaRPr kumimoji="1" lang="zh-TW" altLang="en-US" sz="1400" i="1" dirty="0">
              <a:solidFill>
                <a:schemeClr val="accent5"/>
              </a:solidFill>
            </a:endParaRPr>
          </a:p>
        </p:txBody>
      </p:sp>
    </p:spTree>
    <p:extLst>
      <p:ext uri="{BB962C8B-B14F-4D97-AF65-F5344CB8AC3E}">
        <p14:creationId xmlns:p14="http://schemas.microsoft.com/office/powerpoint/2010/main" val="222940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System</a:t>
            </a:r>
            <a:r>
              <a:rPr lang="zh-TW" altLang="en-US" sz="4000" dirty="0">
                <a:cs typeface="Arial" panose="020B0604020202020204" pitchFamily="34" charset="0"/>
              </a:rPr>
              <a:t> </a:t>
            </a:r>
            <a:r>
              <a:rPr lang="en-US" altLang="zh-TW" sz="4000" dirty="0">
                <a:cs typeface="Arial" panose="020B0604020202020204" pitchFamily="34" charset="0"/>
              </a:rPr>
              <a:t>Call</a:t>
            </a:r>
            <a:r>
              <a:rPr lang="zh-TW" altLang="en-US" sz="4000" dirty="0">
                <a:cs typeface="Arial" panose="020B0604020202020204" pitchFamily="34" charset="0"/>
              </a:rPr>
              <a:t> </a:t>
            </a:r>
            <a:r>
              <a:rPr lang="en-US" altLang="zh-TW" sz="4000" dirty="0">
                <a:cs typeface="Arial" panose="020B0604020202020204" pitchFamily="34" charset="0"/>
              </a:rPr>
              <a:t>Handler</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run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User-space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applications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must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somehow</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endParaRPr lang="en-US" altLang="zh-TW" dirty="0">
              <a:solidFill>
                <a:schemeClr val="tx1"/>
              </a:solidFill>
              <a:latin typeface="+mn-lt"/>
              <a:cs typeface="Arial" panose="020B0604020202020204" pitchFamily="34" charset="0"/>
            </a:endParaRPr>
          </a:p>
          <a:p>
            <a:pPr lvl="1" algn="l"/>
            <a:r>
              <a:rPr kumimoji="1" lang="en-US" altLang="zh-TW" dirty="0">
                <a:solidFill>
                  <a:schemeClr val="tx1"/>
                </a:solidFill>
                <a:latin typeface="+mn-lt"/>
                <a:cs typeface="Arial" panose="020B0604020202020204" pitchFamily="34" charset="0"/>
              </a:rPr>
              <a:t>The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CPU</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switches</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from</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user</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to</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kernel</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 </a:t>
            </a:r>
            <a:r>
              <a:rPr kumimoji="1" lang="en-US" altLang="zh-TW" dirty="0">
                <a:solidFill>
                  <a:schemeClr val="tx1"/>
                </a:solidFill>
                <a:latin typeface="+mn-lt"/>
                <a:cs typeface="Arial" panose="020B0604020202020204" pitchFamily="34" charset="0"/>
              </a:rPr>
              <a:t>(</a:t>
            </a:r>
            <a:r>
              <a:rPr kumimoji="1" lang="en-US" altLang="zh-TW" b="1" dirty="0">
                <a:solidFill>
                  <a:schemeClr val="tx1"/>
                </a:solidFill>
                <a:latin typeface="+mn-lt"/>
                <a:cs typeface="Arial" panose="020B0604020202020204" pitchFamily="34" charset="0"/>
              </a:rPr>
              <a:t>Not Context Switch!!</a:t>
            </a:r>
            <a:r>
              <a:rPr kumimoji="1"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Execute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code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corresponding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Details for 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handler</a:t>
            </a:r>
          </a:p>
          <a:p>
            <a:pPr lvl="1"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Software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interrupt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an</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exception)</a:t>
            </a:r>
          </a:p>
          <a:p>
            <a:pPr lvl="1" algn="l"/>
            <a:r>
              <a:rPr kumimoji="1" lang="en-US" altLang="zh-TW" dirty="0">
                <a:solidFill>
                  <a:schemeClr val="tx1"/>
                </a:solidFill>
                <a:latin typeface="+mn-lt"/>
                <a:cs typeface="Arial" panose="020B0604020202020204" pitchFamily="34" charset="0"/>
                <a:sym typeface="Wingdings" pitchFamily="2" charset="2"/>
              </a:rPr>
              <a:t>Run</a:t>
            </a:r>
            <a:r>
              <a:rPr kumimoji="1" lang="zh-TW" altLang="en-US" dirty="0">
                <a:solidFill>
                  <a:schemeClr val="tx1"/>
                </a:solidFill>
                <a:latin typeface="+mn-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INT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$0x80</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Interrupt</a:t>
            </a:r>
            <a:r>
              <a:rPr kumimoji="1" lang="zh-TW" altLang="en-US" u="sng"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Instruction</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number</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128</a:t>
            </a:r>
            <a:r>
              <a:rPr kumimoji="1" lang="zh-TW" altLang="en-US" dirty="0">
                <a:solidFill>
                  <a:schemeClr val="tx1"/>
                </a:solidFill>
                <a:latin typeface="+mj-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(runs</a:t>
            </a:r>
            <a:r>
              <a:rPr kumimoji="1"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the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grpSp>
        <p:nvGrpSpPr>
          <p:cNvPr id="5" name="群組 4">
            <a:extLst>
              <a:ext uri="{FF2B5EF4-FFF2-40B4-BE49-F238E27FC236}">
                <a16:creationId xmlns:a16="http://schemas.microsoft.com/office/drawing/2014/main" id="{6B9663D2-F3FE-40A7-99CF-EA310317172B}"/>
              </a:ext>
            </a:extLst>
          </p:cNvPr>
          <p:cNvGrpSpPr/>
          <p:nvPr/>
        </p:nvGrpSpPr>
        <p:grpSpPr>
          <a:xfrm>
            <a:off x="177800" y="4785940"/>
            <a:ext cx="10971270" cy="1894260"/>
            <a:chOff x="94406" y="4919672"/>
            <a:chExt cx="11693642" cy="1894260"/>
          </a:xfrm>
        </p:grpSpPr>
        <p:grpSp>
          <p:nvGrpSpPr>
            <p:cNvPr id="7" name="群組 6">
              <a:extLst>
                <a:ext uri="{FF2B5EF4-FFF2-40B4-BE49-F238E27FC236}">
                  <a16:creationId xmlns:a16="http://schemas.microsoft.com/office/drawing/2014/main" id="{867E99F5-ED0C-D680-D8B7-DE122EDDEC3E}"/>
                </a:ext>
              </a:extLst>
            </p:cNvPr>
            <p:cNvGrpSpPr/>
            <p:nvPr/>
          </p:nvGrpSpPr>
          <p:grpSpPr>
            <a:xfrm>
              <a:off x="177800" y="5295500"/>
              <a:ext cx="11610248" cy="1518432"/>
              <a:chOff x="1011718" y="5339568"/>
              <a:chExt cx="3473773" cy="1340629"/>
            </a:xfrm>
          </p:grpSpPr>
          <p:sp>
            <p:nvSpPr>
              <p:cNvPr id="12" name="矩形 11">
                <a:extLst>
                  <a:ext uri="{FF2B5EF4-FFF2-40B4-BE49-F238E27FC236}">
                    <a16:creationId xmlns:a16="http://schemas.microsoft.com/office/drawing/2014/main" id="{0BC0BEBC-B884-8775-62D1-AACDF4CD903D}"/>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13" name="直線接點 12">
                <a:extLst>
                  <a:ext uri="{FF2B5EF4-FFF2-40B4-BE49-F238E27FC236}">
                    <a16:creationId xmlns:a16="http://schemas.microsoft.com/office/drawing/2014/main" id="{763E2091-03C9-F071-2548-F1BF805C5C8A}"/>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 name="文字方塊 9">
              <a:extLst>
                <a:ext uri="{FF2B5EF4-FFF2-40B4-BE49-F238E27FC236}">
                  <a16:creationId xmlns:a16="http://schemas.microsoft.com/office/drawing/2014/main" id="{8DA9D449-5BD2-19D5-8979-96515FCD4B1D}"/>
                </a:ext>
              </a:extLst>
            </p:cNvPr>
            <p:cNvSpPr txBox="1"/>
            <p:nvPr/>
          </p:nvSpPr>
          <p:spPr>
            <a:xfrm>
              <a:off x="94406" y="4919672"/>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sp>
          <p:nvSpPr>
            <p:cNvPr id="11" name="文字方塊 10">
              <a:extLst>
                <a:ext uri="{FF2B5EF4-FFF2-40B4-BE49-F238E27FC236}">
                  <a16:creationId xmlns:a16="http://schemas.microsoft.com/office/drawing/2014/main" id="{C0173A99-910A-D1D4-D835-A2BA27D8B258}"/>
                </a:ext>
              </a:extLst>
            </p:cNvPr>
            <p:cNvSpPr txBox="1"/>
            <p:nvPr/>
          </p:nvSpPr>
          <p:spPr>
            <a:xfrm>
              <a:off x="105622" y="5339567"/>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grpSp>
        <p:nvGrpSpPr>
          <p:cNvPr id="14" name="群組 13">
            <a:extLst>
              <a:ext uri="{FF2B5EF4-FFF2-40B4-BE49-F238E27FC236}">
                <a16:creationId xmlns:a16="http://schemas.microsoft.com/office/drawing/2014/main" id="{C8C435FD-212C-666E-551C-539F9F21CF83}"/>
              </a:ext>
            </a:extLst>
          </p:cNvPr>
          <p:cNvGrpSpPr/>
          <p:nvPr/>
        </p:nvGrpSpPr>
        <p:grpSpPr>
          <a:xfrm>
            <a:off x="1780148" y="4257450"/>
            <a:ext cx="1395534" cy="1395534"/>
            <a:chOff x="1323298" y="4313407"/>
            <a:chExt cx="1395534" cy="1395534"/>
          </a:xfrm>
        </p:grpSpPr>
        <p:pic>
          <p:nvPicPr>
            <p:cNvPr id="15" name="圖片 14">
              <a:extLst>
                <a:ext uri="{FF2B5EF4-FFF2-40B4-BE49-F238E27FC236}">
                  <a16:creationId xmlns:a16="http://schemas.microsoft.com/office/drawing/2014/main" id="{21FEFCD4-F3A1-3E46-4500-5397C7816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6" name="文字方塊 15">
              <a:extLst>
                <a:ext uri="{FF2B5EF4-FFF2-40B4-BE49-F238E27FC236}">
                  <a16:creationId xmlns:a16="http://schemas.microsoft.com/office/drawing/2014/main" id="{35724DAC-5065-6B30-833F-E2B6C8398157}"/>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17" name="群組 16">
            <a:extLst>
              <a:ext uri="{FF2B5EF4-FFF2-40B4-BE49-F238E27FC236}">
                <a16:creationId xmlns:a16="http://schemas.microsoft.com/office/drawing/2014/main" id="{A4964323-846C-7F2E-DECF-B4921B97C938}"/>
              </a:ext>
            </a:extLst>
          </p:cNvPr>
          <p:cNvGrpSpPr/>
          <p:nvPr/>
        </p:nvGrpSpPr>
        <p:grpSpPr>
          <a:xfrm>
            <a:off x="3427259" y="5290573"/>
            <a:ext cx="1395534" cy="1395534"/>
            <a:chOff x="1323298" y="4313407"/>
            <a:chExt cx="1395534" cy="1395534"/>
          </a:xfrm>
        </p:grpSpPr>
        <p:pic>
          <p:nvPicPr>
            <p:cNvPr id="18" name="圖片 17">
              <a:extLst>
                <a:ext uri="{FF2B5EF4-FFF2-40B4-BE49-F238E27FC236}">
                  <a16:creationId xmlns:a16="http://schemas.microsoft.com/office/drawing/2014/main" id="{62B1361E-02A9-4ED5-DCCD-0842692BD9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9" name="文字方塊 18">
              <a:extLst>
                <a:ext uri="{FF2B5EF4-FFF2-40B4-BE49-F238E27FC236}">
                  <a16:creationId xmlns:a16="http://schemas.microsoft.com/office/drawing/2014/main" id="{426345CD-3BE6-B223-F85A-71DCFD4F63A2}"/>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System Call</a:t>
              </a:r>
              <a:br>
                <a:rPr kumimoji="1" lang="en-US" altLang="zh-TW" sz="1600" b="1" dirty="0">
                  <a:solidFill>
                    <a:schemeClr val="accent5"/>
                  </a:solidFill>
                </a:rPr>
              </a:br>
              <a:r>
                <a:rPr kumimoji="1" lang="en-US" altLang="zh-TW" sz="1600" b="1" dirty="0">
                  <a:solidFill>
                    <a:schemeClr val="accent5"/>
                  </a:solidFill>
                </a:rPr>
                <a:t>Handler</a:t>
              </a:r>
              <a:endParaRPr kumimoji="1" lang="zh-TW" altLang="en-US" sz="1600" b="1" dirty="0">
                <a:solidFill>
                  <a:schemeClr val="accent5"/>
                </a:solidFill>
              </a:endParaRPr>
            </a:p>
          </p:txBody>
        </p:sp>
      </p:grpSp>
      <p:sp>
        <p:nvSpPr>
          <p:cNvPr id="20" name="雲朵形圖說文字 19">
            <a:extLst>
              <a:ext uri="{FF2B5EF4-FFF2-40B4-BE49-F238E27FC236}">
                <a16:creationId xmlns:a16="http://schemas.microsoft.com/office/drawing/2014/main" id="{74869462-BAB6-EA84-7E81-967AF5CE49F9}"/>
              </a:ext>
            </a:extLst>
          </p:cNvPr>
          <p:cNvSpPr/>
          <p:nvPr/>
        </p:nvSpPr>
        <p:spPr>
          <a:xfrm>
            <a:off x="3110368" y="4385864"/>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INT $0x80</a:t>
            </a:r>
          </a:p>
          <a:p>
            <a:pPr algn="ctr"/>
            <a:r>
              <a:rPr kumimoji="1" lang="en-US" altLang="zh-TW" b="1" dirty="0" err="1">
                <a:solidFill>
                  <a:schemeClr val="tx1"/>
                </a:solidFill>
              </a:rPr>
              <a:t>eax</a:t>
            </a:r>
            <a:r>
              <a:rPr kumimoji="1" lang="zh-TW" altLang="en-US" b="1" dirty="0">
                <a:solidFill>
                  <a:schemeClr val="tx1"/>
                </a:solidFill>
              </a:rPr>
              <a:t> </a:t>
            </a:r>
            <a:r>
              <a:rPr kumimoji="1" lang="en-US" altLang="zh-TW" b="1" dirty="0">
                <a:solidFill>
                  <a:schemeClr val="tx1"/>
                </a:solidFill>
                <a:sym typeface="Wingdings" pitchFamily="2" charset="2"/>
              </a:rPr>
              <a:t></a:t>
            </a:r>
            <a:r>
              <a:rPr kumimoji="1" lang="zh-TW" altLang="en-US" b="1" dirty="0">
                <a:solidFill>
                  <a:schemeClr val="tx1"/>
                </a:solidFill>
                <a:sym typeface="Wingdings" pitchFamily="2" charset="2"/>
              </a:rPr>
              <a:t> </a:t>
            </a:r>
            <a:r>
              <a:rPr kumimoji="1" lang="en-US" altLang="zh-TW" b="1" dirty="0" err="1">
                <a:solidFill>
                  <a:schemeClr val="tx1"/>
                </a:solidFill>
                <a:sym typeface="Wingdings" pitchFamily="2" charset="2"/>
              </a:rPr>
              <a:t>Sys_Call_Num</a:t>
            </a:r>
            <a:endParaRPr kumimoji="1" lang="zh-TW" altLang="en-US" b="1" dirty="0">
              <a:solidFill>
                <a:schemeClr val="tx1"/>
              </a:solidFill>
            </a:endParaRPr>
          </a:p>
        </p:txBody>
      </p:sp>
      <p:grpSp>
        <p:nvGrpSpPr>
          <p:cNvPr id="21" name="群組 20">
            <a:extLst>
              <a:ext uri="{FF2B5EF4-FFF2-40B4-BE49-F238E27FC236}">
                <a16:creationId xmlns:a16="http://schemas.microsoft.com/office/drawing/2014/main" id="{CC9C18F8-B957-9C8E-43D9-145A0D2EC040}"/>
              </a:ext>
            </a:extLst>
          </p:cNvPr>
          <p:cNvGrpSpPr/>
          <p:nvPr/>
        </p:nvGrpSpPr>
        <p:grpSpPr>
          <a:xfrm>
            <a:off x="9646254" y="4140309"/>
            <a:ext cx="1395534" cy="1395534"/>
            <a:chOff x="1323298" y="4313407"/>
            <a:chExt cx="1395534" cy="1395534"/>
          </a:xfrm>
        </p:grpSpPr>
        <p:pic>
          <p:nvPicPr>
            <p:cNvPr id="22" name="圖片 21">
              <a:extLst>
                <a:ext uri="{FF2B5EF4-FFF2-40B4-BE49-F238E27FC236}">
                  <a16:creationId xmlns:a16="http://schemas.microsoft.com/office/drawing/2014/main" id="{1C987554-CE63-512A-176A-122A1EFC4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3" name="文字方塊 22">
              <a:extLst>
                <a:ext uri="{FF2B5EF4-FFF2-40B4-BE49-F238E27FC236}">
                  <a16:creationId xmlns:a16="http://schemas.microsoft.com/office/drawing/2014/main" id="{E4703C27-67A4-87E6-E493-45D9DF263A8E}"/>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25" name="群組 24">
            <a:extLst>
              <a:ext uri="{FF2B5EF4-FFF2-40B4-BE49-F238E27FC236}">
                <a16:creationId xmlns:a16="http://schemas.microsoft.com/office/drawing/2014/main" id="{22B1FDAB-34CB-13BB-A1A2-CC34B9E45AFD}"/>
              </a:ext>
            </a:extLst>
          </p:cNvPr>
          <p:cNvGrpSpPr/>
          <p:nvPr/>
        </p:nvGrpSpPr>
        <p:grpSpPr>
          <a:xfrm>
            <a:off x="5727374" y="5284667"/>
            <a:ext cx="1395534" cy="1395534"/>
            <a:chOff x="1323298" y="4313407"/>
            <a:chExt cx="1395534" cy="1395534"/>
          </a:xfrm>
        </p:grpSpPr>
        <p:pic>
          <p:nvPicPr>
            <p:cNvPr id="26" name="圖片 25">
              <a:extLst>
                <a:ext uri="{FF2B5EF4-FFF2-40B4-BE49-F238E27FC236}">
                  <a16:creationId xmlns:a16="http://schemas.microsoft.com/office/drawing/2014/main" id="{8B3BA1C6-1DFB-B46E-1499-6536887CB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7" name="文字方塊 26">
              <a:extLst>
                <a:ext uri="{FF2B5EF4-FFF2-40B4-BE49-F238E27FC236}">
                  <a16:creationId xmlns:a16="http://schemas.microsoft.com/office/drawing/2014/main" id="{409746E5-3967-429D-F168-BFC16A2A6396}"/>
                </a:ext>
              </a:extLst>
            </p:cNvPr>
            <p:cNvSpPr txBox="1"/>
            <p:nvPr/>
          </p:nvSpPr>
          <p:spPr>
            <a:xfrm>
              <a:off x="1550338" y="4961690"/>
              <a:ext cx="1018261"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Check Sys</a:t>
              </a:r>
              <a:br>
                <a:rPr kumimoji="1" lang="en-US" altLang="zh-TW" sz="1600" b="1" dirty="0">
                  <a:solidFill>
                    <a:schemeClr val="accent5"/>
                  </a:solidFill>
                </a:rPr>
              </a:br>
              <a:r>
                <a:rPr kumimoji="1" lang="en-US" altLang="zh-TW" sz="1600" b="1" dirty="0">
                  <a:solidFill>
                    <a:schemeClr val="accent5"/>
                  </a:solidFill>
                </a:rPr>
                <a:t>_</a:t>
              </a:r>
              <a:r>
                <a:rPr kumimoji="1" lang="en-US" altLang="zh-TW" sz="1600" b="1" dirty="0" err="1">
                  <a:solidFill>
                    <a:schemeClr val="accent5"/>
                  </a:solidFill>
                </a:rPr>
                <a:t>Call_Table</a:t>
              </a:r>
              <a:endParaRPr kumimoji="1" lang="zh-TW" altLang="en-US" sz="1600" b="1" dirty="0">
                <a:solidFill>
                  <a:schemeClr val="accent5"/>
                </a:solidFill>
              </a:endParaRPr>
            </a:p>
          </p:txBody>
        </p:sp>
      </p:grpSp>
      <p:grpSp>
        <p:nvGrpSpPr>
          <p:cNvPr id="28" name="群組 27">
            <a:extLst>
              <a:ext uri="{FF2B5EF4-FFF2-40B4-BE49-F238E27FC236}">
                <a16:creationId xmlns:a16="http://schemas.microsoft.com/office/drawing/2014/main" id="{F5C85AE1-1E0D-5289-0154-AEB905C6A467}"/>
              </a:ext>
            </a:extLst>
          </p:cNvPr>
          <p:cNvGrpSpPr/>
          <p:nvPr/>
        </p:nvGrpSpPr>
        <p:grpSpPr>
          <a:xfrm>
            <a:off x="8117812" y="5223217"/>
            <a:ext cx="1395534" cy="1395534"/>
            <a:chOff x="1323298" y="4313407"/>
            <a:chExt cx="1395534" cy="1395534"/>
          </a:xfrm>
        </p:grpSpPr>
        <p:pic>
          <p:nvPicPr>
            <p:cNvPr id="29" name="圖片 28">
              <a:extLst>
                <a:ext uri="{FF2B5EF4-FFF2-40B4-BE49-F238E27FC236}">
                  <a16:creationId xmlns:a16="http://schemas.microsoft.com/office/drawing/2014/main" id="{31A68F42-4265-BBCD-8974-44E12CD6D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30" name="文字方塊 29">
              <a:extLst>
                <a:ext uri="{FF2B5EF4-FFF2-40B4-BE49-F238E27FC236}">
                  <a16:creationId xmlns:a16="http://schemas.microsoft.com/office/drawing/2014/main" id="{22DD9C07-64CC-91CE-470E-259B42057C23}"/>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Run </a:t>
              </a:r>
              <a:br>
                <a:rPr kumimoji="1" lang="en-US" altLang="zh-TW" sz="1600" b="1" dirty="0">
                  <a:solidFill>
                    <a:schemeClr val="accent5"/>
                  </a:solidFill>
                </a:rPr>
              </a:br>
              <a:r>
                <a:rPr kumimoji="1" lang="en-US" altLang="zh-TW" sz="1600" b="1" dirty="0">
                  <a:solidFill>
                    <a:schemeClr val="accent5"/>
                  </a:solidFill>
                </a:rPr>
                <a:t>System Call</a:t>
              </a:r>
              <a:endParaRPr kumimoji="1" lang="zh-TW" altLang="en-US" sz="1600" b="1" dirty="0">
                <a:solidFill>
                  <a:schemeClr val="accent5"/>
                </a:solidFill>
              </a:endParaRPr>
            </a:p>
          </p:txBody>
        </p:sp>
      </p:grpSp>
      <p:sp>
        <p:nvSpPr>
          <p:cNvPr id="31" name="雲朵形圖說文字 30">
            <a:extLst>
              <a:ext uri="{FF2B5EF4-FFF2-40B4-BE49-F238E27FC236}">
                <a16:creationId xmlns:a16="http://schemas.microsoft.com/office/drawing/2014/main" id="{4E9648BE-1F64-0D7D-90FF-58EB69280B86}"/>
              </a:ext>
            </a:extLst>
          </p:cNvPr>
          <p:cNvSpPr/>
          <p:nvPr/>
        </p:nvSpPr>
        <p:spPr>
          <a:xfrm>
            <a:off x="6251935" y="4331107"/>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err="1">
                <a:solidFill>
                  <a:schemeClr val="tx1"/>
                </a:solidFill>
              </a:rPr>
              <a:t>Sys_Call_Table</a:t>
            </a:r>
            <a:r>
              <a:rPr kumimoji="1" lang="en-US" altLang="zh-TW" b="1" dirty="0">
                <a:solidFill>
                  <a:schemeClr val="tx1"/>
                </a:solidFill>
              </a:rPr>
              <a:t>[</a:t>
            </a:r>
            <a:br>
              <a:rPr kumimoji="1" lang="en-US" altLang="zh-TW" b="1" dirty="0">
                <a:solidFill>
                  <a:schemeClr val="tx1"/>
                </a:solidFill>
              </a:rPr>
            </a:br>
            <a:r>
              <a:rPr kumimoji="1" lang="en-US" altLang="zh-TW" b="1" dirty="0" err="1">
                <a:solidFill>
                  <a:schemeClr val="tx1"/>
                </a:solidFill>
              </a:rPr>
              <a:t>Sys_Call_Num</a:t>
            </a:r>
            <a:r>
              <a:rPr kumimoji="1" lang="en-US" altLang="zh-TW" b="1" dirty="0">
                <a:solidFill>
                  <a:schemeClr val="tx1"/>
                </a:solidFill>
              </a:rPr>
              <a:t>]</a:t>
            </a:r>
            <a:endParaRPr kumimoji="1" lang="zh-TW" altLang="en-US" b="1" dirty="0">
              <a:solidFill>
                <a:schemeClr val="tx1"/>
              </a:solidFill>
            </a:endParaRPr>
          </a:p>
        </p:txBody>
      </p:sp>
    </p:spTree>
    <p:extLst>
      <p:ext uri="{BB962C8B-B14F-4D97-AF65-F5344CB8AC3E}">
        <p14:creationId xmlns:p14="http://schemas.microsoft.com/office/powerpoint/2010/main" val="187183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par>
                                <p:cTn id="19" presetID="42" presetClass="path" presetSubtype="0" accel="50000" decel="50000" fill="hold" nodeType="withEffect">
                                  <p:stCondLst>
                                    <p:cond delay="0"/>
                                  </p:stCondLst>
                                  <p:childTnLst>
                                    <p:animMotion origin="layout" path="M -3.125E-6 -2.22222E-6 L 0.1349 0.15162 " pathEditMode="relative" rAng="0" ptsTypes="AA">
                                      <p:cBhvr>
                                        <p:cTn id="20" dur="2000" fill="hold"/>
                                        <p:tgtEl>
                                          <p:spTgt spid="14"/>
                                        </p:tgtEl>
                                        <p:attrNameLst>
                                          <p:attrName>ppt_x</p:attrName>
                                          <p:attrName>ppt_y</p:attrName>
                                        </p:attrNameLst>
                                      </p:cBhvr>
                                      <p:rCtr x="6745" y="7569"/>
                                    </p:animMotion>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2000"/>
                            </p:stCondLst>
                            <p:childTnLst>
                              <p:par>
                                <p:cTn id="28" presetID="1" presetClass="entr" presetSubtype="0"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4" presetID="10" presetClass="entr" presetSubtype="0" fill="hold" grpId="2"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xit" presetSubtype="0" fill="hold" grpId="1" nodeType="withEffect">
                                  <p:stCondLst>
                                    <p:cond delay="0"/>
                                  </p:stCondLst>
                                  <p:childTnLst>
                                    <p:animEffect transition="out" filter="fade">
                                      <p:cBhvr>
                                        <p:cTn id="38" dur="500"/>
                                        <p:tgtEl>
                                          <p:spTgt spid="20"/>
                                        </p:tgtEl>
                                      </p:cBhvr>
                                    </p:animEffect>
                                    <p:set>
                                      <p:cBhvr>
                                        <p:cTn id="39" dur="1" fill="hold">
                                          <p:stCondLst>
                                            <p:cond delay="499"/>
                                          </p:stCondLst>
                                        </p:cTn>
                                        <p:tgtEl>
                                          <p:spTgt spid="20"/>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14"/>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17"/>
                                        </p:tgtEl>
                                        <p:attrNameLst>
                                          <p:attrName>style.visibility</p:attrName>
                                        </p:attrNameLst>
                                      </p:cBhvr>
                                      <p:to>
                                        <p:strVal val="hidden"/>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xit" presetSubtype="0" fill="hold" grpId="3" nodeType="withEffect">
                                  <p:stCondLst>
                                    <p:cond delay="0"/>
                                  </p:stCondLst>
                                  <p:childTnLst>
                                    <p:set>
                                      <p:cBhvr>
                                        <p:cTn id="52" dur="1" fill="hold">
                                          <p:stCondLst>
                                            <p:cond delay="0"/>
                                          </p:stCondLst>
                                        </p:cTn>
                                        <p:tgtEl>
                                          <p:spTgt spid="3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5"/>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0" presetClass="path" presetSubtype="0" accel="50000" decel="50000" fill="hold" nodeType="clickEffect">
                                  <p:stCondLst>
                                    <p:cond delay="0"/>
                                  </p:stCondLst>
                                  <p:childTnLst>
                                    <p:animMotion origin="layout" path="M 0.00078 -4.44444E-6 L 0.12552 -0.15439 " pathEditMode="relative" rAng="0" ptsTypes="AA">
                                      <p:cBhvr>
                                        <p:cTn id="61" dur="2000" fill="hold"/>
                                        <p:tgtEl>
                                          <p:spTgt spid="28"/>
                                        </p:tgtEl>
                                        <p:attrNameLst>
                                          <p:attrName>ppt_x</p:attrName>
                                          <p:attrName>ppt_y</p:attrName>
                                        </p:attrNameLst>
                                      </p:cBhvr>
                                      <p:rCtr x="6237" y="-7731"/>
                                    </p:animMotion>
                                  </p:childTnLst>
                                </p:cTn>
                              </p:par>
                            </p:childTnLst>
                          </p:cTn>
                        </p:par>
                        <p:par>
                          <p:cTn id="62" fill="hold">
                            <p:stCondLst>
                              <p:cond delay="2000"/>
                            </p:stCondLst>
                            <p:childTnLst>
                              <p:par>
                                <p:cTn id="63" presetID="1" presetClass="exit" presetSubtype="0" fill="hold" nodeType="afterEffect">
                                  <p:stCondLst>
                                    <p:cond delay="0"/>
                                  </p:stCondLst>
                                  <p:childTnLst>
                                    <p:set>
                                      <p:cBhvr>
                                        <p:cTn id="64" dur="1" fill="hold">
                                          <p:stCondLst>
                                            <p:cond delay="0"/>
                                          </p:stCondLst>
                                        </p:cTn>
                                        <p:tgtEl>
                                          <p:spTgt spid="28"/>
                                        </p:tgtEl>
                                        <p:attrNameLst>
                                          <p:attrName>style.visibility</p:attrName>
                                        </p:attrNameLst>
                                      </p:cBhvr>
                                      <p:to>
                                        <p:strVal val="hidden"/>
                                      </p:to>
                                    </p:set>
                                  </p:childTnLst>
                                </p:cTn>
                              </p:par>
                            </p:childTnLst>
                          </p:cTn>
                        </p:par>
                        <p:par>
                          <p:cTn id="65" fill="hold">
                            <p:stCondLst>
                              <p:cond delay="2000"/>
                            </p:stCondLst>
                            <p:childTnLst>
                              <p:par>
                                <p:cTn id="66" presetID="10" presetClass="entr" presetSubtype="0" fill="hold"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1" grpId="2" animBg="1"/>
      <p:bldP spid="31" grpId="3"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How to Implement a</a:t>
            </a:r>
            <a:r>
              <a:rPr lang="zh-TW" altLang="en-US" sz="4000" dirty="0">
                <a:cs typeface="Arial" panose="020B0604020202020204" pitchFamily="34" charset="0"/>
              </a:rPr>
              <a:t> </a:t>
            </a:r>
            <a:r>
              <a:rPr lang="en-US" altLang="zh-TW" sz="4000" dirty="0">
                <a:cs typeface="Arial" panose="020B0604020202020204" pitchFamily="34" charset="0"/>
              </a:rPr>
              <a:t>System Call</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rgbClr val="C00000"/>
                </a:solidFill>
                <a:latin typeface="+mn-lt"/>
                <a:cs typeface="Arial" panose="020B0604020202020204" pitchFamily="34" charset="0"/>
              </a:rPr>
              <a:t>Adding</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(Registering)</a:t>
            </a:r>
            <a:r>
              <a:rPr kumimoji="1" lang="zh-TW" altLang="en-US" dirty="0">
                <a:solidFill>
                  <a:srgbClr val="C00000"/>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a</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new</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to</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Linux</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is</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easy</a:t>
            </a:r>
            <a:r>
              <a:rPr lang="zh-TW" altLang="en-US" dirty="0">
                <a:solidFill>
                  <a:srgbClr val="C00000"/>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and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not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be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concerned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with</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behavior</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of</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handler</a:t>
            </a: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r>
              <a:rPr lang="en-US" altLang="zh-TW" dirty="0">
                <a:solidFill>
                  <a:schemeClr val="tx1"/>
                </a:solidFill>
                <a:latin typeface="+mn-lt"/>
                <a:cs typeface="Arial" panose="020B0604020202020204" pitchFamily="34" charset="0"/>
              </a:rPr>
              <a:t>Brief</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Procedures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(Details: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See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References):</a:t>
            </a:r>
          </a:p>
          <a:p>
            <a:pPr lvl="1" algn="l"/>
            <a:r>
              <a:rPr lang="en-US" altLang="zh-TW" dirty="0">
                <a:solidFill>
                  <a:schemeClr val="tx1"/>
                </a:solidFill>
                <a:latin typeface="+mn-lt"/>
                <a:cs typeface="Arial" panose="020B0604020202020204" pitchFamily="34" charset="0"/>
              </a:rPr>
              <a:t>Write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(e.g.,</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sys_hello.c</a:t>
            </a:r>
            <a:r>
              <a:rPr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Create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Makefile</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Add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table</a:t>
            </a:r>
          </a:p>
          <a:p>
            <a:pPr lvl="2" algn="l"/>
            <a:r>
              <a:rPr lang="en-US" altLang="zh-TW" dirty="0">
                <a:solidFill>
                  <a:schemeClr val="tx1"/>
                </a:solidFill>
                <a:latin typeface="+mn-lt"/>
                <a:cs typeface="Arial" panose="020B0604020202020204" pitchFamily="34" charset="0"/>
              </a:rPr>
              <a:t>Parameters:</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System_call_number</a:t>
            </a:r>
            <a:r>
              <a:rPr lang="en-US" altLang="zh-TW" dirty="0">
                <a:solidFill>
                  <a:schemeClr val="tx1"/>
                </a:solidFill>
                <a:latin typeface="+mn-lt"/>
                <a:cs typeface="Arial" panose="020B0604020202020204" pitchFamily="34" charset="0"/>
              </a:rPr>
              <a: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arch(e.g.,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64),</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system_call_name</a:t>
            </a:r>
            <a:r>
              <a:rPr lang="en-US" altLang="zh-TW" dirty="0">
                <a:solidFill>
                  <a:schemeClr val="tx1"/>
                </a:solidFill>
                <a:latin typeface="+mn-lt"/>
                <a:cs typeface="Arial" panose="020B0604020202020204" pitchFamily="34" charset="0"/>
              </a:rPr>
              <a:t>,</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program_of_system_call</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Add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header</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file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(include/</a:t>
            </a:r>
            <a:r>
              <a:rPr lang="en-US" altLang="zh-TW" dirty="0" err="1">
                <a:solidFill>
                  <a:schemeClr val="tx1"/>
                </a:solidFill>
                <a:latin typeface="+mn-lt"/>
                <a:cs typeface="Arial" panose="020B0604020202020204" pitchFamily="34" charset="0"/>
              </a:rPr>
              <a:t>linux</a:t>
            </a:r>
            <a:r>
              <a:rPr lang="en-US" altLang="zh-TW" dirty="0">
                <a:solidFill>
                  <a:schemeClr val="tx1"/>
                </a:solidFill>
                <a:latin typeface="+mn-lt"/>
                <a:cs typeface="Arial" panose="020B0604020202020204" pitchFamily="34" charset="0"/>
              </a:rPr>
              <a:t>/</a:t>
            </a:r>
            <a:r>
              <a:rPr lang="en-US" altLang="zh-TW" dirty="0" err="1">
                <a:solidFill>
                  <a:schemeClr val="tx1"/>
                </a:solidFill>
                <a:latin typeface="+mn-lt"/>
                <a:cs typeface="Arial" panose="020B0604020202020204" pitchFamily="34" charset="0"/>
              </a:rPr>
              <a:t>syscalls.h</a:t>
            </a:r>
            <a:r>
              <a:rPr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Compile/Install/Update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16</a:t>
            </a:fld>
            <a:endParaRPr lang="zh-TW" altLang="en-US" dirty="0"/>
          </a:p>
        </p:txBody>
      </p:sp>
      <p:sp>
        <p:nvSpPr>
          <p:cNvPr id="5" name="文字方塊 4">
            <a:extLst>
              <a:ext uri="{FF2B5EF4-FFF2-40B4-BE49-F238E27FC236}">
                <a16:creationId xmlns:a16="http://schemas.microsoft.com/office/drawing/2014/main" id="{617853E9-BA6A-D809-99E1-77088EE322D7}"/>
              </a:ext>
            </a:extLst>
          </p:cNvPr>
          <p:cNvSpPr txBox="1"/>
          <p:nvPr/>
        </p:nvSpPr>
        <p:spPr>
          <a:xfrm>
            <a:off x="-20083" y="6322126"/>
            <a:ext cx="6705016" cy="553998"/>
          </a:xfrm>
          <a:prstGeom prst="rect">
            <a:avLst/>
          </a:prstGeom>
          <a:noFill/>
        </p:spPr>
        <p:txBody>
          <a:bodyPr wrap="square" rtlCol="0" anchor="b">
            <a:spAutoFit/>
          </a:bodyPr>
          <a:lstStyle/>
          <a:p>
            <a:r>
              <a:rPr lang="en-US" altLang="zh-TW" sz="1000" dirty="0">
                <a:solidFill>
                  <a:schemeClr val="tx1">
                    <a:lumMod val="50000"/>
                    <a:lumOff val="50000"/>
                  </a:schemeClr>
                </a:solidFill>
                <a:latin typeface="Arial" panose="020B0604020202020204" pitchFamily="34" charset="0"/>
                <a:cs typeface="Arial" panose="020B0604020202020204" pitchFamily="34" charset="0"/>
              </a:rPr>
              <a:t>[1] https://medium.com/anubhav-shrimal/adding-a-hello-world-system-call-to-linux-kernel-dad32875872.</a:t>
            </a:r>
          </a:p>
          <a:p>
            <a:r>
              <a:rPr lang="en-US" altLang="zh-TW" sz="1000" dirty="0">
                <a:solidFill>
                  <a:schemeClr val="tx1">
                    <a:lumMod val="50000"/>
                    <a:lumOff val="50000"/>
                  </a:schemeClr>
                </a:solidFill>
                <a:latin typeface="Arial" panose="020B0604020202020204" pitchFamily="34" charset="0"/>
                <a:cs typeface="Arial" panose="020B0604020202020204" pitchFamily="34" charset="0"/>
              </a:rPr>
              <a:t>[2]</a:t>
            </a:r>
            <a:r>
              <a:rPr lang="zh-TW" altLang="en-US" sz="1000" dirty="0">
                <a:solidFill>
                  <a:schemeClr val="tx1">
                    <a:lumMod val="50000"/>
                    <a:lumOff val="50000"/>
                  </a:schemeClr>
                </a:solidFill>
                <a:latin typeface="Arial" panose="020B0604020202020204" pitchFamily="34" charset="0"/>
                <a:cs typeface="Arial" panose="020B0604020202020204" pitchFamily="34" charset="0"/>
              </a:rPr>
              <a:t> </a:t>
            </a:r>
            <a:r>
              <a:rPr lang="en-US" altLang="zh-TW" sz="1000" dirty="0">
                <a:solidFill>
                  <a:schemeClr val="tx1">
                    <a:lumMod val="50000"/>
                    <a:lumOff val="50000"/>
                  </a:schemeClr>
                </a:solidFill>
                <a:latin typeface="Arial" panose="020B0604020202020204" pitchFamily="34" charset="0"/>
                <a:cs typeface="Arial" panose="020B0604020202020204" pitchFamily="34" charset="0"/>
                <a:hlinkClick r:id="rId3"/>
              </a:rPr>
              <a:t>https://tssurya.wordpress.com/2014/08/19/adding-a-hello-world-system-call-to-linux-kernel-3-16-0/</a:t>
            </a:r>
            <a:endParaRPr lang="en-US" altLang="zh-TW" sz="1000" dirty="0">
              <a:solidFill>
                <a:schemeClr val="tx1">
                  <a:lumMod val="50000"/>
                  <a:lumOff val="50000"/>
                </a:schemeClr>
              </a:solidFill>
              <a:latin typeface="Arial" panose="020B0604020202020204" pitchFamily="34" charset="0"/>
              <a:cs typeface="Arial" panose="020B0604020202020204" pitchFamily="34" charset="0"/>
            </a:endParaRPr>
          </a:p>
          <a:p>
            <a:r>
              <a:rPr lang="en-US" altLang="zh-TW" sz="1000" dirty="0">
                <a:solidFill>
                  <a:schemeClr val="tx1">
                    <a:lumMod val="50000"/>
                    <a:lumOff val="50000"/>
                  </a:schemeClr>
                </a:solidFill>
                <a:latin typeface="Arial" panose="020B0604020202020204" pitchFamily="34" charset="0"/>
                <a:cs typeface="Arial" panose="020B0604020202020204" pitchFamily="34" charset="0"/>
              </a:rPr>
              <a:t>[3]</a:t>
            </a:r>
            <a:r>
              <a:rPr lang="zh-TW" altLang="en-US" sz="1000" dirty="0">
                <a:solidFill>
                  <a:schemeClr val="tx1">
                    <a:lumMod val="50000"/>
                    <a:lumOff val="50000"/>
                  </a:schemeClr>
                </a:solidFill>
                <a:latin typeface="Arial" panose="020B0604020202020204" pitchFamily="34" charset="0"/>
                <a:cs typeface="Arial" panose="020B0604020202020204" pitchFamily="34" charset="0"/>
              </a:rPr>
              <a:t> </a:t>
            </a:r>
            <a:r>
              <a:rPr lang="en-US" altLang="zh-TW" sz="1000" dirty="0">
                <a:solidFill>
                  <a:schemeClr val="tx1">
                    <a:lumMod val="50000"/>
                    <a:lumOff val="50000"/>
                  </a:schemeClr>
                </a:solidFill>
                <a:latin typeface="Arial" panose="020B0604020202020204" pitchFamily="34" charset="0"/>
                <a:cs typeface="Arial" panose="020B0604020202020204" pitchFamily="34" charset="0"/>
              </a:rPr>
              <a:t>https://</a:t>
            </a:r>
            <a:r>
              <a:rPr lang="en-US" altLang="zh-TW" sz="1000" dirty="0" err="1">
                <a:solidFill>
                  <a:schemeClr val="tx1">
                    <a:lumMod val="50000"/>
                    <a:lumOff val="50000"/>
                  </a:schemeClr>
                </a:solidFill>
                <a:latin typeface="Arial" panose="020B0604020202020204" pitchFamily="34" charset="0"/>
                <a:cs typeface="Arial" panose="020B0604020202020204" pitchFamily="34" charset="0"/>
              </a:rPr>
              <a:t>dev.to</a:t>
            </a:r>
            <a:r>
              <a:rPr lang="en-US" altLang="zh-TW" sz="1000" dirty="0">
                <a:solidFill>
                  <a:schemeClr val="tx1">
                    <a:lumMod val="50000"/>
                    <a:lumOff val="50000"/>
                  </a:schemeClr>
                </a:solidFill>
                <a:latin typeface="Arial" panose="020B0604020202020204" pitchFamily="34" charset="0"/>
                <a:cs typeface="Arial" panose="020B0604020202020204" pitchFamily="34" charset="0"/>
              </a:rPr>
              <a:t>/jasper/adding-a-system-call-to-the-linux-kernel-5-8-1-in-ubuntu-20-04-lts-2ga8</a:t>
            </a:r>
          </a:p>
        </p:txBody>
      </p:sp>
      <p:grpSp>
        <p:nvGrpSpPr>
          <p:cNvPr id="29" name="群組 28">
            <a:extLst>
              <a:ext uri="{FF2B5EF4-FFF2-40B4-BE49-F238E27FC236}">
                <a16:creationId xmlns:a16="http://schemas.microsoft.com/office/drawing/2014/main" id="{F97ED421-EC77-9155-3C22-09F5122C971F}"/>
              </a:ext>
            </a:extLst>
          </p:cNvPr>
          <p:cNvGrpSpPr/>
          <p:nvPr/>
        </p:nvGrpSpPr>
        <p:grpSpPr>
          <a:xfrm>
            <a:off x="1486453" y="2301875"/>
            <a:ext cx="4160166" cy="1326777"/>
            <a:chOff x="1665747" y="2301875"/>
            <a:chExt cx="4160166" cy="1326777"/>
          </a:xfrm>
        </p:grpSpPr>
        <p:sp>
          <p:nvSpPr>
            <p:cNvPr id="7" name="矩形 6">
              <a:extLst>
                <a:ext uri="{FF2B5EF4-FFF2-40B4-BE49-F238E27FC236}">
                  <a16:creationId xmlns:a16="http://schemas.microsoft.com/office/drawing/2014/main" id="{D99AD1C9-ADFA-96F0-11AE-648B3240FAD6}"/>
                </a:ext>
              </a:extLst>
            </p:cNvPr>
            <p:cNvSpPr/>
            <p:nvPr/>
          </p:nvSpPr>
          <p:spPr>
            <a:xfrm>
              <a:off x="1849847" y="2545573"/>
              <a:ext cx="1305859" cy="53622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call read()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8" name="文字方塊 7">
              <a:extLst>
                <a:ext uri="{FF2B5EF4-FFF2-40B4-BE49-F238E27FC236}">
                  <a16:creationId xmlns:a16="http://schemas.microsoft.com/office/drawing/2014/main" id="{8D0E2D9C-8587-8135-F1D7-1C418E3879F5}"/>
                </a:ext>
              </a:extLst>
            </p:cNvPr>
            <p:cNvSpPr txBox="1"/>
            <p:nvPr/>
          </p:nvSpPr>
          <p:spPr>
            <a:xfrm>
              <a:off x="1979644" y="3064549"/>
              <a:ext cx="1123577" cy="338554"/>
            </a:xfrm>
            <a:prstGeom prst="rect">
              <a:avLst/>
            </a:prstGeom>
            <a:noFill/>
          </p:spPr>
          <p:txBody>
            <a:bodyPr wrap="none" rtlCol="0">
              <a:spAutoFit/>
            </a:bodyPr>
            <a:lstStyle/>
            <a:p>
              <a:r>
                <a:rPr kumimoji="1" lang="en-US" altLang="zh-TW" sz="1600" dirty="0"/>
                <a:t>Application</a:t>
              </a:r>
              <a:endParaRPr kumimoji="1" lang="zh-TW" altLang="en-US" sz="1600" dirty="0"/>
            </a:p>
          </p:txBody>
        </p:sp>
        <p:sp>
          <p:nvSpPr>
            <p:cNvPr id="10" name="矩形 9">
              <a:extLst>
                <a:ext uri="{FF2B5EF4-FFF2-40B4-BE49-F238E27FC236}">
                  <a16:creationId xmlns:a16="http://schemas.microsoft.com/office/drawing/2014/main" id="{0B4050F8-6817-9759-7665-5B129CB0F0E8}"/>
                </a:ext>
              </a:extLst>
            </p:cNvPr>
            <p:cNvSpPr/>
            <p:nvPr/>
          </p:nvSpPr>
          <p:spPr>
            <a:xfrm>
              <a:off x="4108521" y="2545582"/>
              <a:ext cx="1550180" cy="536217"/>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read()</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wrapper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 name="文字方塊 10">
              <a:extLst>
                <a:ext uri="{FF2B5EF4-FFF2-40B4-BE49-F238E27FC236}">
                  <a16:creationId xmlns:a16="http://schemas.microsoft.com/office/drawing/2014/main" id="{925070B5-AD59-2C19-42FB-5D3E7B77CD29}"/>
                </a:ext>
              </a:extLst>
            </p:cNvPr>
            <p:cNvSpPr txBox="1"/>
            <p:nvPr/>
          </p:nvSpPr>
          <p:spPr>
            <a:xfrm>
              <a:off x="4483512" y="3057749"/>
              <a:ext cx="912429" cy="338554"/>
            </a:xfrm>
            <a:prstGeom prst="rect">
              <a:avLst/>
            </a:prstGeom>
            <a:noFill/>
          </p:spPr>
          <p:txBody>
            <a:bodyPr wrap="none" rtlCol="0">
              <a:spAutoFit/>
            </a:bodyPr>
            <a:lstStyle/>
            <a:p>
              <a:r>
                <a:rPr kumimoji="1" lang="en-US" altLang="zh-TW" sz="1600" dirty="0"/>
                <a:t>C</a:t>
              </a:r>
              <a:r>
                <a:rPr kumimoji="1" lang="zh-TW" altLang="en-US" sz="1600" dirty="0"/>
                <a:t> </a:t>
              </a:r>
              <a:r>
                <a:rPr kumimoji="1" lang="en-US" altLang="zh-TW" sz="1600" dirty="0"/>
                <a:t>Library</a:t>
              </a:r>
              <a:endParaRPr kumimoji="1" lang="zh-TW" altLang="en-US" sz="1600" dirty="0"/>
            </a:p>
          </p:txBody>
        </p:sp>
        <p:sp>
          <p:nvSpPr>
            <p:cNvPr id="18" name="矩形 17">
              <a:extLst>
                <a:ext uri="{FF2B5EF4-FFF2-40B4-BE49-F238E27FC236}">
                  <a16:creationId xmlns:a16="http://schemas.microsoft.com/office/drawing/2014/main" id="{1628708C-2618-B532-42B8-80DDADDF62E8}"/>
                </a:ext>
              </a:extLst>
            </p:cNvPr>
            <p:cNvSpPr/>
            <p:nvPr/>
          </p:nvSpPr>
          <p:spPr>
            <a:xfrm>
              <a:off x="1665747" y="2301875"/>
              <a:ext cx="4160166" cy="132677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User</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Space</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30" name="群組 29">
            <a:extLst>
              <a:ext uri="{FF2B5EF4-FFF2-40B4-BE49-F238E27FC236}">
                <a16:creationId xmlns:a16="http://schemas.microsoft.com/office/drawing/2014/main" id="{C488F950-1025-16DC-0D9B-52DA90810CB1}"/>
              </a:ext>
            </a:extLst>
          </p:cNvPr>
          <p:cNvGrpSpPr/>
          <p:nvPr/>
        </p:nvGrpSpPr>
        <p:grpSpPr>
          <a:xfrm>
            <a:off x="5971179" y="2301875"/>
            <a:ext cx="4210597" cy="1326777"/>
            <a:chOff x="6150473" y="2301875"/>
            <a:chExt cx="4210597" cy="1326777"/>
          </a:xfrm>
        </p:grpSpPr>
        <p:sp>
          <p:nvSpPr>
            <p:cNvPr id="21" name="矩形 20">
              <a:extLst>
                <a:ext uri="{FF2B5EF4-FFF2-40B4-BE49-F238E27FC236}">
                  <a16:creationId xmlns:a16="http://schemas.microsoft.com/office/drawing/2014/main" id="{AC725A00-DCE5-B254-1BE8-A81D67468271}"/>
                </a:ext>
              </a:extLst>
            </p:cNvPr>
            <p:cNvSpPr/>
            <p:nvPr/>
          </p:nvSpPr>
          <p:spPr>
            <a:xfrm>
              <a:off x="6385004" y="2545573"/>
              <a:ext cx="1305859" cy="53622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err="1">
                  <a:solidFill>
                    <a:schemeClr val="tx1"/>
                  </a:solidFill>
                  <a:latin typeface="Arial" panose="020B0604020202020204" pitchFamily="34" charset="0"/>
                  <a:cs typeface="Arial" panose="020B0604020202020204" pitchFamily="34" charset="0"/>
                </a:rPr>
                <a:t>system_call</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2" name="文字方塊 21">
              <a:extLst>
                <a:ext uri="{FF2B5EF4-FFF2-40B4-BE49-F238E27FC236}">
                  <a16:creationId xmlns:a16="http://schemas.microsoft.com/office/drawing/2014/main" id="{844F5463-8C27-D622-51C3-61161E9ACDF2}"/>
                </a:ext>
              </a:extLst>
            </p:cNvPr>
            <p:cNvSpPr txBox="1"/>
            <p:nvPr/>
          </p:nvSpPr>
          <p:spPr>
            <a:xfrm>
              <a:off x="6150473" y="3073735"/>
              <a:ext cx="1833259" cy="338554"/>
            </a:xfrm>
            <a:prstGeom prst="rect">
              <a:avLst/>
            </a:prstGeom>
            <a:noFill/>
          </p:spPr>
          <p:txBody>
            <a:bodyPr wrap="none" rtlCol="0">
              <a:spAutoFit/>
            </a:bodyPr>
            <a:lstStyle/>
            <a:p>
              <a:r>
                <a:rPr kumimoji="1" lang="en-US" altLang="zh-TW" sz="1600" dirty="0"/>
                <a:t>System</a:t>
              </a:r>
              <a:r>
                <a:rPr kumimoji="1" lang="zh-TW" altLang="en-US" sz="1600" dirty="0"/>
                <a:t> </a:t>
              </a:r>
              <a:r>
                <a:rPr kumimoji="1" lang="en-US" altLang="zh-TW" sz="1600" dirty="0"/>
                <a:t>Call</a:t>
              </a:r>
              <a:r>
                <a:rPr kumimoji="1" lang="zh-TW" altLang="en-US" sz="1600" dirty="0"/>
                <a:t> </a:t>
              </a:r>
              <a:r>
                <a:rPr kumimoji="1" lang="en-US" altLang="zh-TW" sz="1600" dirty="0"/>
                <a:t>Handler</a:t>
              </a:r>
              <a:endParaRPr kumimoji="1" lang="zh-TW" altLang="en-US" sz="1600" dirty="0"/>
            </a:p>
          </p:txBody>
        </p:sp>
        <p:sp>
          <p:nvSpPr>
            <p:cNvPr id="23" name="矩形 22">
              <a:extLst>
                <a:ext uri="{FF2B5EF4-FFF2-40B4-BE49-F238E27FC236}">
                  <a16:creationId xmlns:a16="http://schemas.microsoft.com/office/drawing/2014/main" id="{5AA49360-16DA-5D59-3B39-78044BC746C3}"/>
                </a:ext>
              </a:extLst>
            </p:cNvPr>
            <p:cNvSpPr/>
            <p:nvPr/>
          </p:nvSpPr>
          <p:spPr>
            <a:xfrm>
              <a:off x="8643678" y="2545582"/>
              <a:ext cx="1550180" cy="536217"/>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err="1">
                  <a:solidFill>
                    <a:schemeClr val="tx1"/>
                  </a:solidFill>
                  <a:latin typeface="Arial" panose="020B0604020202020204" pitchFamily="34" charset="0"/>
                  <a:cs typeface="Arial" panose="020B0604020202020204" pitchFamily="34" charset="0"/>
                </a:rPr>
                <a:t>sys_read</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文字方塊 23">
              <a:extLst>
                <a:ext uri="{FF2B5EF4-FFF2-40B4-BE49-F238E27FC236}">
                  <a16:creationId xmlns:a16="http://schemas.microsoft.com/office/drawing/2014/main" id="{390CEE0F-142C-2805-4E7B-631956F72D39}"/>
                </a:ext>
              </a:extLst>
            </p:cNvPr>
            <p:cNvSpPr txBox="1"/>
            <p:nvPr/>
          </p:nvSpPr>
          <p:spPr>
            <a:xfrm>
              <a:off x="8856668" y="3057749"/>
              <a:ext cx="1100558" cy="338554"/>
            </a:xfrm>
            <a:prstGeom prst="rect">
              <a:avLst/>
            </a:prstGeom>
            <a:noFill/>
          </p:spPr>
          <p:txBody>
            <a:bodyPr wrap="none" rtlCol="0">
              <a:spAutoFit/>
            </a:bodyPr>
            <a:lstStyle/>
            <a:p>
              <a:r>
                <a:rPr kumimoji="1" lang="en-US" altLang="zh-TW" sz="1600" dirty="0"/>
                <a:t>System</a:t>
              </a:r>
              <a:r>
                <a:rPr kumimoji="1" lang="zh-TW" altLang="en-US" sz="1600" dirty="0"/>
                <a:t> </a:t>
              </a:r>
              <a:r>
                <a:rPr kumimoji="1" lang="en-US" altLang="zh-TW" sz="1600" dirty="0"/>
                <a:t>call</a:t>
              </a:r>
              <a:endParaRPr kumimoji="1" lang="zh-TW" altLang="en-US" sz="1600" dirty="0"/>
            </a:p>
          </p:txBody>
        </p:sp>
        <p:sp>
          <p:nvSpPr>
            <p:cNvPr id="26" name="矩形 25">
              <a:extLst>
                <a:ext uri="{FF2B5EF4-FFF2-40B4-BE49-F238E27FC236}">
                  <a16:creationId xmlns:a16="http://schemas.microsoft.com/office/drawing/2014/main" id="{514F01C9-3222-55C2-8FE1-1E588B32692F}"/>
                </a:ext>
              </a:extLst>
            </p:cNvPr>
            <p:cNvSpPr/>
            <p:nvPr/>
          </p:nvSpPr>
          <p:spPr>
            <a:xfrm>
              <a:off x="6200904" y="2301875"/>
              <a:ext cx="4160166" cy="132677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Kernel</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Space</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41FFB343-5D25-F4FD-16F8-B99E89816F8A}"/>
              </a:ext>
            </a:extLst>
          </p:cNvPr>
          <p:cNvGrpSpPr/>
          <p:nvPr/>
        </p:nvGrpSpPr>
        <p:grpSpPr>
          <a:xfrm>
            <a:off x="2969677" y="2823482"/>
            <a:ext cx="5494707" cy="0"/>
            <a:chOff x="3148971" y="2823482"/>
            <a:chExt cx="5494707" cy="0"/>
          </a:xfrm>
        </p:grpSpPr>
        <p:cxnSp>
          <p:nvCxnSpPr>
            <p:cNvPr id="12" name="直線箭頭接點 11">
              <a:extLst>
                <a:ext uri="{FF2B5EF4-FFF2-40B4-BE49-F238E27FC236}">
                  <a16:creationId xmlns:a16="http://schemas.microsoft.com/office/drawing/2014/main" id="{84072CCA-E085-C038-905C-269FA5FB87F8}"/>
                </a:ext>
              </a:extLst>
            </p:cNvPr>
            <p:cNvCxnSpPr>
              <a:cxnSpLocks/>
            </p:cNvCxnSpPr>
            <p:nvPr/>
          </p:nvCxnSpPr>
          <p:spPr>
            <a:xfrm>
              <a:off x="3148971" y="2823482"/>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4">
              <a:extLst>
                <a:ext uri="{FF2B5EF4-FFF2-40B4-BE49-F238E27FC236}">
                  <a16:creationId xmlns:a16="http://schemas.microsoft.com/office/drawing/2014/main" id="{046FAC7B-C521-325C-84B3-BDDD93C1F332}"/>
                </a:ext>
              </a:extLst>
            </p:cNvPr>
            <p:cNvCxnSpPr>
              <a:cxnSpLocks/>
            </p:cNvCxnSpPr>
            <p:nvPr/>
          </p:nvCxnSpPr>
          <p:spPr>
            <a:xfrm>
              <a:off x="7684128" y="2823482"/>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箭頭接點 26">
              <a:extLst>
                <a:ext uri="{FF2B5EF4-FFF2-40B4-BE49-F238E27FC236}">
                  <a16:creationId xmlns:a16="http://schemas.microsoft.com/office/drawing/2014/main" id="{2F15CB82-2BD5-76B7-7B6A-652BA778F775}"/>
                </a:ext>
              </a:extLst>
            </p:cNvPr>
            <p:cNvCxnSpPr>
              <a:cxnSpLocks/>
            </p:cNvCxnSpPr>
            <p:nvPr/>
          </p:nvCxnSpPr>
          <p:spPr>
            <a:xfrm>
              <a:off x="5658701" y="2823482"/>
              <a:ext cx="72630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3669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3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3B9446-15D1-06BB-E2FA-5FBDE9C1C2B9}"/>
              </a:ext>
            </a:extLst>
          </p:cNvPr>
          <p:cNvSpPr>
            <a:spLocks noGrp="1"/>
          </p:cNvSpPr>
          <p:nvPr>
            <p:ph type="title"/>
          </p:nvPr>
        </p:nvSpPr>
        <p:spPr/>
        <p:txBody>
          <a:bodyPr/>
          <a:lstStyle/>
          <a:p>
            <a:r>
              <a:rPr kumimoji="1" lang="en-US" altLang="zh-TW" dirty="0"/>
              <a:t>How to Run System Call: x86 vs RISC-V</a:t>
            </a:r>
            <a:endParaRPr kumimoji="1" lang="zh-TW" altLang="en-US" dirty="0"/>
          </a:p>
        </p:txBody>
      </p:sp>
      <p:sp>
        <p:nvSpPr>
          <p:cNvPr id="3" name="內容版面配置區 2">
            <a:extLst>
              <a:ext uri="{FF2B5EF4-FFF2-40B4-BE49-F238E27FC236}">
                <a16:creationId xmlns:a16="http://schemas.microsoft.com/office/drawing/2014/main" id="{44FD379A-45FF-8683-3DF2-B77C33C25EB0}"/>
              </a:ext>
            </a:extLst>
          </p:cNvPr>
          <p:cNvSpPr>
            <a:spLocks noGrp="1"/>
          </p:cNvSpPr>
          <p:nvPr>
            <p:ph idx="1"/>
          </p:nvPr>
        </p:nvSpPr>
        <p:spPr/>
        <p:txBody>
          <a:bodyPr/>
          <a:lstStyle/>
          <a:p>
            <a:r>
              <a:rPr kumimoji="1" lang="en-US" altLang="zh-TW" dirty="0"/>
              <a:t>From the perspective of kernel programmer: </a:t>
            </a:r>
          </a:p>
          <a:p>
            <a:r>
              <a:rPr lang="en-US" altLang="zh-TW" dirty="0"/>
              <a:t>x</a:t>
            </a:r>
            <a:r>
              <a:rPr kumimoji="1" lang="en-US" altLang="zh-TW" dirty="0"/>
              <a:t>86-64: </a:t>
            </a:r>
            <a:r>
              <a:rPr lang="en-US" altLang="zh-TW" dirty="0" err="1">
                <a:latin typeface="Calibri Light" panose="020F0302020204030204" pitchFamily="34" charset="0"/>
                <a:cs typeface="Calibri Light" panose="020F0302020204030204" pitchFamily="34" charset="0"/>
              </a:rPr>
              <a:t>syscall</a:t>
            </a:r>
            <a:r>
              <a:rPr kumimoji="1" lang="en-US" altLang="zh-TW" dirty="0"/>
              <a:t>→</a:t>
            </a:r>
            <a:r>
              <a:rPr lang="en-US" altLang="zh-TW" dirty="0">
                <a:sym typeface="Wingdings" pitchFamily="2" charset="2"/>
              </a:rPr>
              <a:t> </a:t>
            </a:r>
            <a:r>
              <a:rPr kumimoji="1" lang="en-US" altLang="zh-TW" dirty="0">
                <a:latin typeface="+mj-lt"/>
              </a:rPr>
              <a:t>do_syscall_64() </a:t>
            </a:r>
            <a:r>
              <a:rPr kumimoji="1" lang="en-US" altLang="zh-TW" dirty="0"/>
              <a:t>→ </a:t>
            </a:r>
            <a:r>
              <a:rPr kumimoji="1" lang="en-US" altLang="zh-TW" dirty="0" err="1">
                <a:latin typeface="Calibri Light" panose="020F0302020204030204" pitchFamily="34" charset="0"/>
                <a:cs typeface="Calibri Light" panose="020F0302020204030204" pitchFamily="34" charset="0"/>
              </a:rPr>
              <a:t>sys_call_table</a:t>
            </a:r>
            <a:r>
              <a:rPr kumimoji="1" lang="en-US" altLang="zh-TW" dirty="0"/>
              <a:t>[</a:t>
            </a:r>
            <a:r>
              <a:rPr kumimoji="1" lang="en-US" altLang="zh-TW" dirty="0" err="1"/>
              <a:t>rax</a:t>
            </a:r>
            <a:r>
              <a:rPr kumimoji="1" lang="en-US" altLang="zh-TW" dirty="0"/>
              <a:t>] → </a:t>
            </a:r>
            <a:r>
              <a:rPr kumimoji="1" lang="en-US" altLang="zh-TW" dirty="0">
                <a:latin typeface="Calibri Light" panose="020F0302020204030204" pitchFamily="34" charset="0"/>
                <a:cs typeface="Calibri Light" panose="020F0302020204030204" pitchFamily="34" charset="0"/>
              </a:rPr>
              <a:t>sys_*()</a:t>
            </a:r>
          </a:p>
          <a:p>
            <a:r>
              <a:rPr lang="en-US" altLang="zh-TW" dirty="0"/>
              <a:t>RISC-V: </a:t>
            </a:r>
            <a:r>
              <a:rPr lang="en-US" altLang="zh-TW" dirty="0" err="1">
                <a:latin typeface="+mj-lt"/>
              </a:rPr>
              <a:t>ecall</a:t>
            </a:r>
            <a:r>
              <a:rPr lang="en-US" altLang="zh-TW" dirty="0"/>
              <a:t> → </a:t>
            </a:r>
            <a:r>
              <a:rPr lang="en-US" altLang="zh-TW" dirty="0" err="1">
                <a:latin typeface="Calibri Light" panose="020F0302020204030204" pitchFamily="34" charset="0"/>
                <a:cs typeface="Calibri Light" panose="020F0302020204030204" pitchFamily="34" charset="0"/>
              </a:rPr>
              <a:t>do_trap_ecall_u</a:t>
            </a:r>
            <a:r>
              <a:rPr lang="en-US" altLang="zh-TW" dirty="0">
                <a:latin typeface="Calibri Light" panose="020F0302020204030204" pitchFamily="34" charset="0"/>
                <a:cs typeface="Calibri Light" panose="020F0302020204030204" pitchFamily="34" charset="0"/>
              </a:rPr>
              <a:t>() </a:t>
            </a:r>
            <a:r>
              <a:rPr lang="en-US" altLang="zh-TW" dirty="0"/>
              <a:t>→ </a:t>
            </a:r>
            <a:r>
              <a:rPr lang="en-US" altLang="zh-TW" dirty="0" err="1">
                <a:latin typeface="Calibri Light" panose="020F0302020204030204" pitchFamily="34" charset="0"/>
                <a:cs typeface="Calibri Light" panose="020F0302020204030204" pitchFamily="34" charset="0"/>
              </a:rPr>
              <a:t>sys_call_table</a:t>
            </a:r>
            <a:r>
              <a:rPr lang="en-US" altLang="zh-TW" dirty="0"/>
              <a:t>[a7] → </a:t>
            </a:r>
            <a:r>
              <a:rPr lang="en-US" altLang="zh-TW" dirty="0">
                <a:latin typeface="Calibri Light" panose="020F0302020204030204" pitchFamily="34" charset="0"/>
                <a:cs typeface="Calibri Light" panose="020F0302020204030204" pitchFamily="34" charset="0"/>
              </a:rPr>
              <a:t>sys_*()</a:t>
            </a:r>
            <a:endParaRPr kumimoji="1" lang="zh-TW" altLang="en-US" dirty="0">
              <a:latin typeface="Calibri Light" panose="020F0302020204030204" pitchFamily="34" charset="0"/>
              <a:cs typeface="Calibri Light" panose="020F0302020204030204" pitchFamily="34" charset="0"/>
            </a:endParaRPr>
          </a:p>
        </p:txBody>
      </p:sp>
      <p:sp>
        <p:nvSpPr>
          <p:cNvPr id="4" name="投影片編號版面配置區 3">
            <a:extLst>
              <a:ext uri="{FF2B5EF4-FFF2-40B4-BE49-F238E27FC236}">
                <a16:creationId xmlns:a16="http://schemas.microsoft.com/office/drawing/2014/main" id="{45824046-577C-534B-5D36-915F6B1047F9}"/>
              </a:ext>
            </a:extLst>
          </p:cNvPr>
          <p:cNvSpPr>
            <a:spLocks noGrp="1"/>
          </p:cNvSpPr>
          <p:nvPr>
            <p:ph type="sldNum" sz="quarter" idx="4"/>
          </p:nvPr>
        </p:nvSpPr>
        <p:spPr/>
        <p:txBody>
          <a:bodyPr/>
          <a:lstStyle/>
          <a:p>
            <a:fld id="{E24E6636-6BA5-4AAC-8485-BE8D914D288B}" type="slidenum">
              <a:rPr lang="zh-TW" altLang="en-US" smtClean="0"/>
              <a:pPr/>
              <a:t>17</a:t>
            </a:fld>
            <a:endParaRPr lang="zh-TW" altLang="en-US" dirty="0"/>
          </a:p>
        </p:txBody>
      </p:sp>
      <p:sp>
        <p:nvSpPr>
          <p:cNvPr id="6" name="文字方塊 5">
            <a:extLst>
              <a:ext uri="{FF2B5EF4-FFF2-40B4-BE49-F238E27FC236}">
                <a16:creationId xmlns:a16="http://schemas.microsoft.com/office/drawing/2014/main" id="{F92228B1-A29B-E662-E930-4EE43F07E333}"/>
              </a:ext>
            </a:extLst>
          </p:cNvPr>
          <p:cNvSpPr txBox="1"/>
          <p:nvPr/>
        </p:nvSpPr>
        <p:spPr>
          <a:xfrm>
            <a:off x="7377176" y="3497699"/>
            <a:ext cx="6096000" cy="369332"/>
          </a:xfrm>
          <a:prstGeom prst="rect">
            <a:avLst/>
          </a:prstGeom>
          <a:noFill/>
        </p:spPr>
        <p:txBody>
          <a:bodyPr wrap="square">
            <a:spAutoFit/>
          </a:bodyPr>
          <a:lstStyle/>
          <a:p>
            <a:r>
              <a:rPr lang="en-US" altLang="zh-TW" dirty="0"/>
              <a:t>Actual kernel functions that implement system calls</a:t>
            </a:r>
            <a:endParaRPr lang="zh-TW" altLang="en-US" dirty="0"/>
          </a:p>
        </p:txBody>
      </p:sp>
      <p:sp>
        <p:nvSpPr>
          <p:cNvPr id="7" name="文字方塊 6">
            <a:extLst>
              <a:ext uri="{FF2B5EF4-FFF2-40B4-BE49-F238E27FC236}">
                <a16:creationId xmlns:a16="http://schemas.microsoft.com/office/drawing/2014/main" id="{AF0B3332-BACD-C3A9-7D05-39081ACB4C6B}"/>
              </a:ext>
            </a:extLst>
          </p:cNvPr>
          <p:cNvSpPr txBox="1"/>
          <p:nvPr/>
        </p:nvSpPr>
        <p:spPr>
          <a:xfrm>
            <a:off x="177800" y="3337274"/>
            <a:ext cx="6096000" cy="369332"/>
          </a:xfrm>
          <a:prstGeom prst="rect">
            <a:avLst/>
          </a:prstGeom>
          <a:noFill/>
        </p:spPr>
        <p:txBody>
          <a:bodyPr wrap="square">
            <a:spAutoFit/>
          </a:bodyPr>
          <a:lstStyle/>
          <a:p>
            <a:r>
              <a:rPr lang="en-US" altLang="zh-TW" dirty="0"/>
              <a:t>User mode </a:t>
            </a:r>
            <a:r>
              <a:rPr lang="en-US" altLang="zh-TW" dirty="0" err="1"/>
              <a:t>processesuser</a:t>
            </a:r>
            <a:r>
              <a:rPr lang="en-US" altLang="zh-TW" dirty="0"/>
              <a:t> mode executes </a:t>
            </a:r>
            <a:r>
              <a:rPr lang="en-US" altLang="zh-TW" dirty="0" err="1"/>
              <a:t>ecall</a:t>
            </a:r>
            <a:endParaRPr lang="zh-TW" altLang="en-US" dirty="0"/>
          </a:p>
        </p:txBody>
      </p:sp>
      <p:sp>
        <p:nvSpPr>
          <p:cNvPr id="8" name="文字方塊 7">
            <a:extLst>
              <a:ext uri="{FF2B5EF4-FFF2-40B4-BE49-F238E27FC236}">
                <a16:creationId xmlns:a16="http://schemas.microsoft.com/office/drawing/2014/main" id="{005AE9B3-B196-582E-4337-2BB733B166AC}"/>
              </a:ext>
            </a:extLst>
          </p:cNvPr>
          <p:cNvSpPr txBox="1"/>
          <p:nvPr/>
        </p:nvSpPr>
        <p:spPr>
          <a:xfrm>
            <a:off x="2805176" y="4264890"/>
            <a:ext cx="6096000" cy="369332"/>
          </a:xfrm>
          <a:prstGeom prst="rect">
            <a:avLst/>
          </a:prstGeom>
          <a:noFill/>
        </p:spPr>
        <p:txBody>
          <a:bodyPr wrap="square">
            <a:spAutoFit/>
          </a:bodyPr>
          <a:lstStyle/>
          <a:p>
            <a:r>
              <a:rPr lang="en-US" altLang="zh-TW" dirty="0"/>
              <a:t>RISC-V Linux handler for user-mode </a:t>
            </a:r>
            <a:r>
              <a:rPr lang="en-US" altLang="zh-TW" dirty="0" err="1"/>
              <a:t>ecall</a:t>
            </a:r>
            <a:endParaRPr lang="zh-TW" altLang="en-US" dirty="0"/>
          </a:p>
        </p:txBody>
      </p:sp>
      <p:cxnSp>
        <p:nvCxnSpPr>
          <p:cNvPr id="10" name="曲線接點 9">
            <a:extLst>
              <a:ext uri="{FF2B5EF4-FFF2-40B4-BE49-F238E27FC236}">
                <a16:creationId xmlns:a16="http://schemas.microsoft.com/office/drawing/2014/main" id="{2B6358F8-2C5C-BDBE-581B-8B1189D80DF2}"/>
              </a:ext>
            </a:extLst>
          </p:cNvPr>
          <p:cNvCxnSpPr>
            <a:cxnSpLocks/>
          </p:cNvCxnSpPr>
          <p:nvPr/>
        </p:nvCxnSpPr>
        <p:spPr>
          <a:xfrm rot="16200000" flipH="1">
            <a:off x="1793240" y="2710989"/>
            <a:ext cx="780288" cy="438912"/>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曲線接點 11">
            <a:extLst>
              <a:ext uri="{FF2B5EF4-FFF2-40B4-BE49-F238E27FC236}">
                <a16:creationId xmlns:a16="http://schemas.microsoft.com/office/drawing/2014/main" id="{B5C0D4D7-522D-6B41-BECF-C574982F20EA}"/>
              </a:ext>
            </a:extLst>
          </p:cNvPr>
          <p:cNvCxnSpPr>
            <a:cxnSpLocks/>
          </p:cNvCxnSpPr>
          <p:nvPr/>
        </p:nvCxnSpPr>
        <p:spPr>
          <a:xfrm rot="16200000" flipH="1">
            <a:off x="9293352" y="2761202"/>
            <a:ext cx="780288" cy="438912"/>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曲線接點 12">
            <a:extLst>
              <a:ext uri="{FF2B5EF4-FFF2-40B4-BE49-F238E27FC236}">
                <a16:creationId xmlns:a16="http://schemas.microsoft.com/office/drawing/2014/main" id="{E4D4D07F-84EC-99DD-CB4B-1F990A0DD6B8}"/>
              </a:ext>
            </a:extLst>
          </p:cNvPr>
          <p:cNvCxnSpPr>
            <a:cxnSpLocks/>
          </p:cNvCxnSpPr>
          <p:nvPr/>
        </p:nvCxnSpPr>
        <p:spPr>
          <a:xfrm rot="16200000" flipH="1">
            <a:off x="3978622" y="3121408"/>
            <a:ext cx="1593156" cy="531368"/>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028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Tree>
    <p:extLst>
      <p:ext uri="{BB962C8B-B14F-4D97-AF65-F5344CB8AC3E}">
        <p14:creationId xmlns:p14="http://schemas.microsoft.com/office/powerpoint/2010/main" val="1189360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21741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a:t>
            </a:r>
            <a:r>
              <a:rPr lang="en-US" altLang="zh-TW" dirty="0"/>
              <a:t>.</a:t>
            </a:r>
            <a:endParaRPr kumimoji="1"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19</a:t>
            </a:fld>
            <a:endParaRPr lang="zh-TW" altLang="en-US" dirty="0"/>
          </a:p>
        </p:txBody>
      </p:sp>
      <p:sp>
        <p:nvSpPr>
          <p:cNvPr id="5" name="矩形 4">
            <a:extLst>
              <a:ext uri="{FF2B5EF4-FFF2-40B4-BE49-F238E27FC236}">
                <a16:creationId xmlns:a16="http://schemas.microsoft.com/office/drawing/2014/main" id="{59228A93-0EA5-BD3B-1F90-460B6F29AB65}"/>
              </a:ext>
            </a:extLst>
          </p:cNvPr>
          <p:cNvSpPr/>
          <p:nvPr/>
        </p:nvSpPr>
        <p:spPr>
          <a:xfrm>
            <a:off x="7777316" y="1738413"/>
            <a:ext cx="4152745" cy="40726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 name="文字方塊 8">
            <a:extLst>
              <a:ext uri="{FF2B5EF4-FFF2-40B4-BE49-F238E27FC236}">
                <a16:creationId xmlns:a16="http://schemas.microsoft.com/office/drawing/2014/main" id="{9D24A877-206D-B6AE-4FFC-1886C4603A5E}"/>
              </a:ext>
            </a:extLst>
          </p:cNvPr>
          <p:cNvSpPr txBox="1"/>
          <p:nvPr/>
        </p:nvSpPr>
        <p:spPr>
          <a:xfrm>
            <a:off x="8126071" y="5901050"/>
            <a:ext cx="3803990" cy="523220"/>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Note: After 2019, all northbridge functions </a:t>
            </a:r>
          </a:p>
          <a:p>
            <a:r>
              <a:rPr kumimoji="1" lang="en-US" altLang="zh-TW" sz="1400" b="1" dirty="0">
                <a:solidFill>
                  <a:srgbClr val="0070C0"/>
                </a:solidFill>
                <a:latin typeface="Arial" panose="020B0604020202020204" pitchFamily="34" charset="0"/>
                <a:cs typeface="Arial" panose="020B0604020202020204" pitchFamily="34" charset="0"/>
              </a:rPr>
              <a:t>had been integrated into CPU!!</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2" name="文字方塊 11">
            <a:extLst>
              <a:ext uri="{FF2B5EF4-FFF2-40B4-BE49-F238E27FC236}">
                <a16:creationId xmlns:a16="http://schemas.microsoft.com/office/drawing/2014/main" id="{0767D059-5B35-ECD9-44BB-F9418AF54803}"/>
              </a:ext>
            </a:extLst>
          </p:cNvPr>
          <p:cNvSpPr txBox="1"/>
          <p:nvPr/>
        </p:nvSpPr>
        <p:spPr>
          <a:xfrm>
            <a:off x="0" y="6396335"/>
            <a:ext cx="4027641" cy="461665"/>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https://zhuanlan.zhihu.com/p/313725721</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en.wikipedia.org</a:t>
            </a:r>
            <a:r>
              <a:rPr kumimoji="1" lang="en-US" altLang="zh-TW" sz="1200" dirty="0">
                <a:solidFill>
                  <a:schemeClr val="bg1">
                    <a:lumMod val="75000"/>
                  </a:schemeClr>
                </a:solidFill>
              </a:rPr>
              <a:t>/wiki/Northbridge_(computing)</a:t>
            </a:r>
          </a:p>
        </p:txBody>
      </p:sp>
      <p:grpSp>
        <p:nvGrpSpPr>
          <p:cNvPr id="64" name="群組 63">
            <a:extLst>
              <a:ext uri="{FF2B5EF4-FFF2-40B4-BE49-F238E27FC236}">
                <a16:creationId xmlns:a16="http://schemas.microsoft.com/office/drawing/2014/main" id="{404DB057-7842-AAAC-D0CE-258942E1C510}"/>
              </a:ext>
            </a:extLst>
          </p:cNvPr>
          <p:cNvGrpSpPr/>
          <p:nvPr/>
        </p:nvGrpSpPr>
        <p:grpSpPr>
          <a:xfrm>
            <a:off x="10269117" y="3111892"/>
            <a:ext cx="1515213" cy="777724"/>
            <a:chOff x="10269117" y="3111892"/>
            <a:chExt cx="1515213" cy="777724"/>
          </a:xfrm>
        </p:grpSpPr>
        <p:cxnSp>
          <p:nvCxnSpPr>
            <p:cNvPr id="18" name="直線接點 17">
              <a:extLst>
                <a:ext uri="{FF2B5EF4-FFF2-40B4-BE49-F238E27FC236}">
                  <a16:creationId xmlns:a16="http://schemas.microsoft.com/office/drawing/2014/main" id="{B3F3A90F-0EC6-2F21-CB48-C269793DE105}"/>
                </a:ext>
              </a:extLst>
            </p:cNvPr>
            <p:cNvCxnSpPr>
              <a:cxnSpLocks/>
            </p:cNvCxnSpPr>
            <p:nvPr/>
          </p:nvCxnSpPr>
          <p:spPr>
            <a:xfrm>
              <a:off x="10269117" y="3513454"/>
              <a:ext cx="4036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899913A7-632C-618B-F1DA-89FA074F0353}"/>
                </a:ext>
              </a:extLst>
            </p:cNvPr>
            <p:cNvCxnSpPr>
              <a:cxnSpLocks/>
            </p:cNvCxnSpPr>
            <p:nvPr/>
          </p:nvCxnSpPr>
          <p:spPr>
            <a:xfrm>
              <a:off x="10672761" y="3257549"/>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64C25631-9780-14EF-CF19-0F9FBD026016}"/>
                </a:ext>
              </a:extLst>
            </p:cNvPr>
            <p:cNvCxnSpPr>
              <a:cxnSpLocks/>
            </p:cNvCxnSpPr>
            <p:nvPr/>
          </p:nvCxnSpPr>
          <p:spPr>
            <a:xfrm>
              <a:off x="10662601" y="3257549"/>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76CB5695-465B-5574-E647-38903527D76F}"/>
                </a:ext>
              </a:extLst>
            </p:cNvPr>
            <p:cNvCxnSpPr>
              <a:cxnSpLocks/>
            </p:cNvCxnSpPr>
            <p:nvPr/>
          </p:nvCxnSpPr>
          <p:spPr>
            <a:xfrm>
              <a:off x="10670221" y="374396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圓角矩形 27">
              <a:extLst>
                <a:ext uri="{FF2B5EF4-FFF2-40B4-BE49-F238E27FC236}">
                  <a16:creationId xmlns:a16="http://schemas.microsoft.com/office/drawing/2014/main" id="{06DB8595-EF80-D27C-406B-A23FD123E2AF}"/>
                </a:ext>
              </a:extLst>
            </p:cNvPr>
            <p:cNvSpPr/>
            <p:nvPr/>
          </p:nvSpPr>
          <p:spPr>
            <a:xfrm>
              <a:off x="10869930" y="3111892"/>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DRAM</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9" name="圓角矩形 28">
              <a:extLst>
                <a:ext uri="{FF2B5EF4-FFF2-40B4-BE49-F238E27FC236}">
                  <a16:creationId xmlns:a16="http://schemas.microsoft.com/office/drawing/2014/main" id="{E8574694-ED8A-41A9-EF53-06B5A000937A}"/>
                </a:ext>
              </a:extLst>
            </p:cNvPr>
            <p:cNvSpPr/>
            <p:nvPr/>
          </p:nvSpPr>
          <p:spPr>
            <a:xfrm>
              <a:off x="10869930" y="359830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GPU</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63" name="群組 62">
            <a:extLst>
              <a:ext uri="{FF2B5EF4-FFF2-40B4-BE49-F238E27FC236}">
                <a16:creationId xmlns:a16="http://schemas.microsoft.com/office/drawing/2014/main" id="{B6F9EB6E-A4FE-CF35-B3D5-99B2695A0A16}"/>
              </a:ext>
            </a:extLst>
          </p:cNvPr>
          <p:cNvGrpSpPr/>
          <p:nvPr/>
        </p:nvGrpSpPr>
        <p:grpSpPr>
          <a:xfrm>
            <a:off x="7966819" y="1892934"/>
            <a:ext cx="2305156" cy="3292475"/>
            <a:chOff x="7966819" y="1892934"/>
            <a:chExt cx="2305156" cy="3292475"/>
          </a:xfrm>
        </p:grpSpPr>
        <p:sp>
          <p:nvSpPr>
            <p:cNvPr id="7" name="矩形 6">
              <a:extLst>
                <a:ext uri="{FF2B5EF4-FFF2-40B4-BE49-F238E27FC236}">
                  <a16:creationId xmlns:a16="http://schemas.microsoft.com/office/drawing/2014/main" id="{AC1E176E-3D2D-1FD3-C4AC-14E0029D0DB7}"/>
                </a:ext>
              </a:extLst>
            </p:cNvPr>
            <p:cNvSpPr/>
            <p:nvPr/>
          </p:nvSpPr>
          <p:spPr>
            <a:xfrm>
              <a:off x="8279345" y="4665344"/>
              <a:ext cx="1866900" cy="520065"/>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(I/O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438A62E0-B075-E36E-61A5-3A1DEA15CCE0}"/>
                </a:ext>
              </a:extLst>
            </p:cNvPr>
            <p:cNvSpPr/>
            <p:nvPr/>
          </p:nvSpPr>
          <p:spPr>
            <a:xfrm>
              <a:off x="8121801" y="1892934"/>
              <a:ext cx="1002266"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矩形 15">
              <a:extLst>
                <a:ext uri="{FF2B5EF4-FFF2-40B4-BE49-F238E27FC236}">
                  <a16:creationId xmlns:a16="http://schemas.microsoft.com/office/drawing/2014/main" id="{FD84199D-A48E-4277-E936-E83C2ACFEEE8}"/>
                </a:ext>
              </a:extLst>
            </p:cNvPr>
            <p:cNvSpPr/>
            <p:nvPr/>
          </p:nvSpPr>
          <p:spPr>
            <a:xfrm>
              <a:off x="9271850" y="1892934"/>
              <a:ext cx="1000125"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3" name="直線接點 42">
              <a:extLst>
                <a:ext uri="{FF2B5EF4-FFF2-40B4-BE49-F238E27FC236}">
                  <a16:creationId xmlns:a16="http://schemas.microsoft.com/office/drawing/2014/main" id="{D9578038-C6D0-D7B2-4945-C12F6B28C380}"/>
                </a:ext>
              </a:extLst>
            </p:cNvPr>
            <p:cNvCxnSpPr>
              <a:cxnSpLocks/>
            </p:cNvCxnSpPr>
            <p:nvPr/>
          </p:nvCxnSpPr>
          <p:spPr>
            <a:xfrm>
              <a:off x="7966965" y="2127885"/>
              <a:ext cx="0" cy="28708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387E2BE6-CFBE-43B4-B339-06B6ABE1B455}"/>
                </a:ext>
              </a:extLst>
            </p:cNvPr>
            <p:cNvCxnSpPr>
              <a:cxnSpLocks/>
              <a:endCxn id="15" idx="1"/>
            </p:cNvCxnSpPr>
            <p:nvPr/>
          </p:nvCxnSpPr>
          <p:spPr>
            <a:xfrm>
              <a:off x="7966819" y="2127885"/>
              <a:ext cx="1549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99530FE4-47CC-D9BB-FCE0-8CF77793174B}"/>
                </a:ext>
              </a:extLst>
            </p:cNvPr>
            <p:cNvCxnSpPr>
              <a:cxnSpLocks/>
            </p:cNvCxnSpPr>
            <p:nvPr/>
          </p:nvCxnSpPr>
          <p:spPr>
            <a:xfrm>
              <a:off x="7966965" y="4986572"/>
              <a:ext cx="3123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群組 61">
            <a:extLst>
              <a:ext uri="{FF2B5EF4-FFF2-40B4-BE49-F238E27FC236}">
                <a16:creationId xmlns:a16="http://schemas.microsoft.com/office/drawing/2014/main" id="{AB2122B2-74D9-C2BC-CA33-1804D4702E59}"/>
              </a:ext>
            </a:extLst>
          </p:cNvPr>
          <p:cNvGrpSpPr/>
          <p:nvPr/>
        </p:nvGrpSpPr>
        <p:grpSpPr>
          <a:xfrm>
            <a:off x="8124087" y="2362835"/>
            <a:ext cx="2147888" cy="2919730"/>
            <a:chOff x="8124087" y="2362835"/>
            <a:chExt cx="2147888" cy="2919730"/>
          </a:xfrm>
        </p:grpSpPr>
        <p:sp>
          <p:nvSpPr>
            <p:cNvPr id="6" name="矩形 5">
              <a:extLst>
                <a:ext uri="{FF2B5EF4-FFF2-40B4-BE49-F238E27FC236}">
                  <a16:creationId xmlns:a16="http://schemas.microsoft.com/office/drawing/2014/main" id="{B840B442-F28B-6B3C-0D1A-E4EA1FE7DEA6}"/>
                </a:ext>
              </a:extLst>
            </p:cNvPr>
            <p:cNvSpPr/>
            <p:nvPr/>
          </p:nvSpPr>
          <p:spPr>
            <a:xfrm>
              <a:off x="8126945" y="4115435"/>
              <a:ext cx="2145030" cy="116713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矩形 7">
              <a:extLst>
                <a:ext uri="{FF2B5EF4-FFF2-40B4-BE49-F238E27FC236}">
                  <a16:creationId xmlns:a16="http://schemas.microsoft.com/office/drawing/2014/main" id="{9EFFFF51-984A-DC0F-5889-71A2B3A58DBD}"/>
                </a:ext>
              </a:extLst>
            </p:cNvPr>
            <p:cNvSpPr/>
            <p:nvPr/>
          </p:nvSpPr>
          <p:spPr>
            <a:xfrm>
              <a:off x="8124087" y="3257549"/>
              <a:ext cx="2145030"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Northbridge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(Memory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矩形 12">
              <a:extLst>
                <a:ext uri="{FF2B5EF4-FFF2-40B4-BE49-F238E27FC236}">
                  <a16:creationId xmlns:a16="http://schemas.microsoft.com/office/drawing/2014/main" id="{E4927536-3941-A3EA-E820-2834C5673B37}"/>
                </a:ext>
              </a:extLst>
            </p:cNvPr>
            <p:cNvSpPr/>
            <p:nvPr/>
          </p:nvSpPr>
          <p:spPr>
            <a:xfrm>
              <a:off x="8126945"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4" name="矩形 13">
              <a:extLst>
                <a:ext uri="{FF2B5EF4-FFF2-40B4-BE49-F238E27FC236}">
                  <a16:creationId xmlns:a16="http://schemas.microsoft.com/office/drawing/2014/main" id="{58857E46-1A8B-66DE-9489-756B982133A2}"/>
                </a:ext>
              </a:extLst>
            </p:cNvPr>
            <p:cNvSpPr/>
            <p:nvPr/>
          </p:nvSpPr>
          <p:spPr>
            <a:xfrm>
              <a:off x="9271850"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30" name="直線接點 29">
              <a:extLst>
                <a:ext uri="{FF2B5EF4-FFF2-40B4-BE49-F238E27FC236}">
                  <a16:creationId xmlns:a16="http://schemas.microsoft.com/office/drawing/2014/main" id="{2A91E5A7-F432-E22B-9513-EF8A698988E7}"/>
                </a:ext>
              </a:extLst>
            </p:cNvPr>
            <p:cNvCxnSpPr>
              <a:cxnSpLocks/>
            </p:cNvCxnSpPr>
            <p:nvPr/>
          </p:nvCxnSpPr>
          <p:spPr>
            <a:xfrm>
              <a:off x="8624149" y="2865755"/>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126330A-3D3B-5718-CDA7-1742EA0F357A}"/>
                </a:ext>
              </a:extLst>
            </p:cNvPr>
            <p:cNvCxnSpPr>
              <a:cxnSpLocks/>
            </p:cNvCxnSpPr>
            <p:nvPr/>
          </p:nvCxnSpPr>
          <p:spPr>
            <a:xfrm>
              <a:off x="9771912" y="2863813"/>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3D0FDAC2-785D-6280-0A3F-41DD0C72E4C6}"/>
                </a:ext>
              </a:extLst>
            </p:cNvPr>
            <p:cNvCxnSpPr>
              <a:cxnSpLocks/>
            </p:cNvCxnSpPr>
            <p:nvPr/>
          </p:nvCxnSpPr>
          <p:spPr>
            <a:xfrm>
              <a:off x="9217034" y="3026839"/>
              <a:ext cx="0" cy="2307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DAD04AC8-D599-A3BC-28E7-874BD52283BB}"/>
                </a:ext>
              </a:extLst>
            </p:cNvPr>
            <p:cNvCxnSpPr>
              <a:cxnSpLocks/>
            </p:cNvCxnSpPr>
            <p:nvPr/>
          </p:nvCxnSpPr>
          <p:spPr>
            <a:xfrm>
              <a:off x="8623769" y="3026839"/>
              <a:ext cx="11481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6A562E9C-1225-72C4-A568-90AA5D37C465}"/>
                </a:ext>
              </a:extLst>
            </p:cNvPr>
            <p:cNvCxnSpPr>
              <a:cxnSpLocks/>
            </p:cNvCxnSpPr>
            <p:nvPr/>
          </p:nvCxnSpPr>
          <p:spPr>
            <a:xfrm>
              <a:off x="9228970" y="3760469"/>
              <a:ext cx="0" cy="3549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群組 64">
            <a:extLst>
              <a:ext uri="{FF2B5EF4-FFF2-40B4-BE49-F238E27FC236}">
                <a16:creationId xmlns:a16="http://schemas.microsoft.com/office/drawing/2014/main" id="{03FDDAE2-429B-E574-8A34-1E526F377C1F}"/>
              </a:ext>
            </a:extLst>
          </p:cNvPr>
          <p:cNvGrpSpPr/>
          <p:nvPr/>
        </p:nvGrpSpPr>
        <p:grpSpPr>
          <a:xfrm>
            <a:off x="10146245" y="4337129"/>
            <a:ext cx="1638085" cy="1253197"/>
            <a:chOff x="10146245" y="4337129"/>
            <a:chExt cx="1638085" cy="1253197"/>
          </a:xfrm>
        </p:grpSpPr>
        <p:cxnSp>
          <p:nvCxnSpPr>
            <p:cNvPr id="37" name="直線接點 36">
              <a:extLst>
                <a:ext uri="{FF2B5EF4-FFF2-40B4-BE49-F238E27FC236}">
                  <a16:creationId xmlns:a16="http://schemas.microsoft.com/office/drawing/2014/main" id="{A99EF251-5987-282D-FBD6-99D65E4C3E46}"/>
                </a:ext>
              </a:extLst>
            </p:cNvPr>
            <p:cNvCxnSpPr>
              <a:cxnSpLocks/>
              <a:stCxn id="7" idx="3"/>
            </p:cNvCxnSpPr>
            <p:nvPr/>
          </p:nvCxnSpPr>
          <p:spPr>
            <a:xfrm flipV="1">
              <a:off x="10146245" y="4862868"/>
              <a:ext cx="5163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5A04FD74-85DB-1AEB-2771-8EC2483501E4}"/>
                </a:ext>
              </a:extLst>
            </p:cNvPr>
            <p:cNvCxnSpPr>
              <a:cxnSpLocks/>
            </p:cNvCxnSpPr>
            <p:nvPr/>
          </p:nvCxnSpPr>
          <p:spPr>
            <a:xfrm>
              <a:off x="10672761" y="4482786"/>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937E4405-4349-A49B-9C81-F016769FD6D4}"/>
                </a:ext>
              </a:extLst>
            </p:cNvPr>
            <p:cNvCxnSpPr>
              <a:cxnSpLocks/>
            </p:cNvCxnSpPr>
            <p:nvPr/>
          </p:nvCxnSpPr>
          <p:spPr>
            <a:xfrm>
              <a:off x="10662601" y="4482786"/>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C0C1150C-DD3D-0477-D6ED-83BCA8561D78}"/>
                </a:ext>
              </a:extLst>
            </p:cNvPr>
            <p:cNvCxnSpPr>
              <a:cxnSpLocks/>
            </p:cNvCxnSpPr>
            <p:nvPr/>
          </p:nvCxnSpPr>
          <p:spPr>
            <a:xfrm>
              <a:off x="10680612" y="4969197"/>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圓角矩形 40">
              <a:extLst>
                <a:ext uri="{FF2B5EF4-FFF2-40B4-BE49-F238E27FC236}">
                  <a16:creationId xmlns:a16="http://schemas.microsoft.com/office/drawing/2014/main" id="{EC87647D-B2CA-5EF2-1CE9-5F14D6A66FD7}"/>
                </a:ext>
              </a:extLst>
            </p:cNvPr>
            <p:cNvSpPr/>
            <p:nvPr/>
          </p:nvSpPr>
          <p:spPr>
            <a:xfrm>
              <a:off x="10869930" y="433712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2" name="圓角矩形 41">
              <a:extLst>
                <a:ext uri="{FF2B5EF4-FFF2-40B4-BE49-F238E27FC236}">
                  <a16:creationId xmlns:a16="http://schemas.microsoft.com/office/drawing/2014/main" id="{56820A37-32FC-4138-7928-96208DA9D011}"/>
                </a:ext>
              </a:extLst>
            </p:cNvPr>
            <p:cNvSpPr/>
            <p:nvPr/>
          </p:nvSpPr>
          <p:spPr>
            <a:xfrm>
              <a:off x="10869930" y="4823540"/>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HDD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5" name="直線接點 54">
              <a:extLst>
                <a:ext uri="{FF2B5EF4-FFF2-40B4-BE49-F238E27FC236}">
                  <a16:creationId xmlns:a16="http://schemas.microsoft.com/office/drawing/2014/main" id="{41317142-6817-CDE0-F9F7-B725CB4EFD63}"/>
                </a:ext>
              </a:extLst>
            </p:cNvPr>
            <p:cNvCxnSpPr>
              <a:cxnSpLocks/>
            </p:cNvCxnSpPr>
            <p:nvPr/>
          </p:nvCxnSpPr>
          <p:spPr>
            <a:xfrm>
              <a:off x="10670221" y="544467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圓角矩形 55">
              <a:extLst>
                <a:ext uri="{FF2B5EF4-FFF2-40B4-BE49-F238E27FC236}">
                  <a16:creationId xmlns:a16="http://schemas.microsoft.com/office/drawing/2014/main" id="{6C4734EC-D617-AF3D-0323-BF3CF40528F5}"/>
                </a:ext>
              </a:extLst>
            </p:cNvPr>
            <p:cNvSpPr/>
            <p:nvPr/>
          </p:nvSpPr>
          <p:spPr>
            <a:xfrm>
              <a:off x="10869930" y="529901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PCIE</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SSD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7" name="直線接點 56">
              <a:extLst>
                <a:ext uri="{FF2B5EF4-FFF2-40B4-BE49-F238E27FC236}">
                  <a16:creationId xmlns:a16="http://schemas.microsoft.com/office/drawing/2014/main" id="{07E09B6A-CD1E-A980-37B7-263171A120D7}"/>
                </a:ext>
              </a:extLst>
            </p:cNvPr>
            <p:cNvCxnSpPr>
              <a:cxnSpLocks/>
            </p:cNvCxnSpPr>
            <p:nvPr/>
          </p:nvCxnSpPr>
          <p:spPr>
            <a:xfrm>
              <a:off x="10673929" y="4946693"/>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 name="圓角矩形 57">
            <a:extLst>
              <a:ext uri="{FF2B5EF4-FFF2-40B4-BE49-F238E27FC236}">
                <a16:creationId xmlns:a16="http://schemas.microsoft.com/office/drawing/2014/main" id="{F30D72A8-38A1-0ADE-0500-842F66AA74F6}"/>
              </a:ext>
            </a:extLst>
          </p:cNvPr>
          <p:cNvSpPr/>
          <p:nvPr/>
        </p:nvSpPr>
        <p:spPr>
          <a:xfrm>
            <a:off x="8050180" y="3166557"/>
            <a:ext cx="2297326" cy="2384767"/>
          </a:xfrm>
          <a:prstGeom prst="roundRect">
            <a:avLst>
              <a:gd name="adj" fmla="val 7163"/>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gn="ctr"/>
            <a:r>
              <a:rPr kumimoji="1" lang="en-US" altLang="zh-TW" sz="1400" dirty="0">
                <a:solidFill>
                  <a:srgbClr val="0070C0"/>
                </a:solidFill>
                <a:latin typeface="Arial" panose="020B0604020202020204" pitchFamily="34" charset="0"/>
                <a:cs typeface="Arial" panose="020B0604020202020204" pitchFamily="34" charset="0"/>
              </a:rPr>
              <a:t>Chipset</a:t>
            </a:r>
            <a:endParaRPr kumimoji="1" lang="zh-TW" altLang="en-US" sz="14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04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up)">
                                      <p:cBhvr>
                                        <p:cTn id="30" dur="500"/>
                                        <p:tgtEl>
                                          <p:spTgt spid="6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58"/>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wipe(left)">
                                      <p:cBhvr>
                                        <p:cTn id="45" dur="500"/>
                                        <p:tgtEl>
                                          <p:spTgt spid="6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500"/>
                                        <p:tgtEl>
                                          <p:spTgt spid="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58" grpId="0" animBg="1"/>
      <p:bldP spid="58"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1165225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 </a:t>
            </a:r>
            <a:br>
              <a:rPr lang="en-US" altLang="zh-TW" dirty="0"/>
            </a:br>
            <a:r>
              <a:rPr lang="en-US" altLang="zh-TW" dirty="0"/>
              <a:t>(e.g.,</a:t>
            </a:r>
            <a:r>
              <a:rPr lang="zh-TW" altLang="en-US" dirty="0"/>
              <a:t> </a:t>
            </a:r>
            <a:r>
              <a:rPr lang="en-US" altLang="zh-TW" dirty="0"/>
              <a:t>keyboard,</a:t>
            </a:r>
            <a:r>
              <a:rPr lang="zh-TW" altLang="en-US" dirty="0"/>
              <a:t> </a:t>
            </a:r>
            <a:r>
              <a:rPr lang="en-US" altLang="zh-TW" dirty="0"/>
              <a:t>disk).</a:t>
            </a:r>
            <a:endParaRPr kumimoji="1" lang="en-US" altLang="zh-TW" dirty="0"/>
          </a:p>
          <a:p>
            <a:pPr lvl="1"/>
            <a:r>
              <a:rPr lang="en-US" altLang="zh-TW" dirty="0"/>
              <a:t>Exceptions (Synchronous, Software Interrupts): Exceptions are </a:t>
            </a:r>
            <a:r>
              <a:rPr lang="en-US" altLang="zh-TW" dirty="0">
                <a:solidFill>
                  <a:srgbClr val="C00000"/>
                </a:solidFill>
              </a:rPr>
              <a:t>produced by the processor</a:t>
            </a:r>
            <a:r>
              <a:rPr lang="en-US" altLang="zh-TW" dirty="0"/>
              <a:t> while executing instructions either in response to a </a:t>
            </a:r>
            <a:r>
              <a:rPr lang="en-US" altLang="zh-TW" dirty="0">
                <a:solidFill>
                  <a:srgbClr val="C00000"/>
                </a:solidFill>
              </a:rPr>
              <a:t>programming error</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divide</a:t>
            </a:r>
            <a:r>
              <a:rPr lang="zh-TW" altLang="en-US" dirty="0">
                <a:solidFill>
                  <a:schemeClr val="tx1"/>
                </a:solidFill>
              </a:rPr>
              <a:t> </a:t>
            </a:r>
            <a:r>
              <a:rPr lang="en-US" altLang="zh-TW" dirty="0">
                <a:solidFill>
                  <a:schemeClr val="tx1"/>
                </a:solidFill>
              </a:rPr>
              <a:t>by</a:t>
            </a:r>
            <a:r>
              <a:rPr lang="zh-TW" altLang="en-US" dirty="0">
                <a:solidFill>
                  <a:schemeClr val="tx1"/>
                </a:solidFill>
              </a:rPr>
              <a:t> </a:t>
            </a:r>
            <a:r>
              <a:rPr lang="en-US" altLang="zh-TW" dirty="0">
                <a:solidFill>
                  <a:schemeClr val="tx1"/>
                </a:solidFill>
              </a:rPr>
              <a:t>zero) </a:t>
            </a:r>
            <a:r>
              <a:rPr lang="en-US" altLang="zh-TW" dirty="0"/>
              <a:t>or</a:t>
            </a:r>
            <a:r>
              <a:rPr lang="zh-TW" altLang="en-US" dirty="0"/>
              <a:t> </a:t>
            </a:r>
            <a:r>
              <a:rPr lang="en-US" altLang="zh-TW" dirty="0">
                <a:solidFill>
                  <a:srgbClr val="C00000"/>
                </a:solidFill>
              </a:rPr>
              <a:t>abnormal</a:t>
            </a:r>
            <a:r>
              <a:rPr lang="zh-TW" altLang="en-US" dirty="0">
                <a:solidFill>
                  <a:srgbClr val="C00000"/>
                </a:solidFill>
              </a:rPr>
              <a:t> </a:t>
            </a:r>
            <a:r>
              <a:rPr lang="en-US" altLang="zh-TW" dirty="0">
                <a:solidFill>
                  <a:srgbClr val="C00000"/>
                </a:solidFill>
              </a:rPr>
              <a:t>condition</a:t>
            </a:r>
            <a:r>
              <a:rPr lang="zh-TW" altLang="en-US" dirty="0"/>
              <a:t> </a:t>
            </a:r>
            <a:r>
              <a:rPr lang="en-US" altLang="zh-TW" dirty="0"/>
              <a:t>(e.g.,</a:t>
            </a:r>
            <a:r>
              <a:rPr lang="zh-TW" altLang="en-US" dirty="0"/>
              <a:t> </a:t>
            </a:r>
            <a:r>
              <a:rPr lang="en-US" altLang="zh-TW" dirty="0"/>
              <a:t>call</a:t>
            </a:r>
            <a:r>
              <a:rPr lang="zh-TW" altLang="en-US" dirty="0"/>
              <a:t> </a:t>
            </a:r>
            <a:r>
              <a:rPr lang="en-US" altLang="zh-TW" dirty="0"/>
              <a:t>a</a:t>
            </a:r>
            <a:r>
              <a:rPr lang="zh-TW" altLang="en-US" dirty="0"/>
              <a:t> </a:t>
            </a:r>
            <a:r>
              <a:rPr lang="en-US" altLang="zh-TW" dirty="0"/>
              <a:t>system</a:t>
            </a:r>
            <a:r>
              <a:rPr lang="zh-TW" altLang="en-US" dirty="0"/>
              <a:t> </a:t>
            </a:r>
            <a:r>
              <a:rPr lang="en-US" altLang="zh-TW" dirty="0"/>
              <a:t>call</a:t>
            </a:r>
            <a:r>
              <a:rPr lang="zh-TW" altLang="en-US" dirty="0"/>
              <a:t> </a:t>
            </a:r>
            <a:r>
              <a:rPr lang="en-US" altLang="zh-TW" dirty="0"/>
              <a:t>or</a:t>
            </a:r>
            <a:r>
              <a:rPr lang="zh-TW" altLang="en-US" dirty="0"/>
              <a:t> </a:t>
            </a:r>
            <a:r>
              <a:rPr lang="en-US" altLang="zh-TW" dirty="0"/>
              <a:t>a</a:t>
            </a:r>
            <a:r>
              <a:rPr lang="zh-TW" altLang="en-US" dirty="0"/>
              <a:t> </a:t>
            </a:r>
            <a:r>
              <a:rPr lang="en-US" altLang="zh-TW" dirty="0"/>
              <a:t>page</a:t>
            </a:r>
            <a:r>
              <a:rPr lang="zh-TW" altLang="en-US" dirty="0"/>
              <a:t> </a:t>
            </a:r>
            <a:r>
              <a:rPr lang="en-US" altLang="zh-TW" dirty="0"/>
              <a:t>fault).</a:t>
            </a:r>
          </a:p>
          <a:p>
            <a:pPr lvl="1"/>
            <a:endParaRPr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20</a:t>
            </a:fld>
            <a:endParaRPr lang="zh-TW" altLang="en-US" dirty="0"/>
          </a:p>
        </p:txBody>
      </p:sp>
    </p:spTree>
    <p:extLst>
      <p:ext uri="{BB962C8B-B14F-4D97-AF65-F5344CB8AC3E}">
        <p14:creationId xmlns:p14="http://schemas.microsoft.com/office/powerpoint/2010/main" val="376836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1" end="1"/>
                                            </p:txEl>
                                          </p:spTgt>
                                        </p:tgtEl>
                                        <p:attrNameLst>
                                          <p:attrName>style.opacity</p:attrName>
                                        </p:attrNameLst>
                                      </p:cBhvr>
                                      <p:to>
                                        <p:strVal val="0.5"/>
                                      </p:to>
                                    </p:set>
                                    <p:animEffect filter="image" prLst="opacity: 0.5">
                                      <p:cBhvr rctx="IE">
                                        <p:cTn id="7" dur="indefinite"/>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nodeType="withEffect">
                                  <p:stCondLst>
                                    <p:cond delay="0"/>
                                  </p:stCondLst>
                                  <p:childTnLst>
                                    <p:set>
                                      <p:cBhvr>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p:cTn id="15" dur="indefinite"/>
                                        <p:tgtEl>
                                          <p:spTgt spid="3">
                                            <p:txEl>
                                              <p:pRg st="5" end="5"/>
                                            </p:txEl>
                                          </p:spTgt>
                                        </p:tgtEl>
                                        <p:attrNameLst>
                                          <p:attrName>style.opacity</p:attrName>
                                        </p:attrNameLst>
                                      </p:cBhvr>
                                      <p:to>
                                        <p:strVal val="0.5"/>
                                      </p:to>
                                    </p:set>
                                    <p:animEffect filter="image" prLst="opacity: 0.5">
                                      <p:cBhvr rctx="IE">
                                        <p:cTn id="16"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57615" cy="5441950"/>
          </a:xfrm>
        </p:spPr>
        <p:txBody>
          <a:bodyPr>
            <a:normAutofit/>
          </a:bodyPr>
          <a:lstStyle/>
          <a:p>
            <a:r>
              <a:rPr kumimoji="1" lang="en-US" altLang="zh-TW" dirty="0">
                <a:solidFill>
                  <a:srgbClr val="C00000"/>
                </a:solidFill>
              </a:rPr>
              <a:t>Different devices </a:t>
            </a:r>
            <a:r>
              <a:rPr kumimoji="1" lang="en-US" altLang="zh-TW" dirty="0"/>
              <a:t>can be associated with different interrupts by means of a </a:t>
            </a:r>
            <a:r>
              <a:rPr kumimoji="1" lang="en-US" altLang="zh-TW" dirty="0">
                <a:solidFill>
                  <a:srgbClr val="C00000"/>
                </a:solidFill>
              </a:rPr>
              <a:t>unique interrupt value (max: 256) </a:t>
            </a:r>
            <a:r>
              <a:rPr kumimoji="1" lang="en-US" altLang="zh-TW" dirty="0"/>
              <a:t>associated with each interrupt (Just like system call!)</a:t>
            </a:r>
            <a:endParaRPr lang="en-US" altLang="zh-TW" dirty="0"/>
          </a:p>
          <a:p>
            <a:r>
              <a:rPr kumimoji="1" lang="en-US" altLang="zh-TW" dirty="0"/>
              <a:t>Interrupt Request (IRQ): </a:t>
            </a:r>
          </a:p>
          <a:p>
            <a:pPr lvl="1"/>
            <a:r>
              <a:rPr lang="en-US" altLang="zh-TW" dirty="0">
                <a:solidFill>
                  <a:srgbClr val="C00000"/>
                </a:solidFill>
              </a:rPr>
              <a:t>Specific interrupt </a:t>
            </a:r>
            <a:r>
              <a:rPr lang="en-US" altLang="zh-TW" dirty="0"/>
              <a:t>is associated with </a:t>
            </a:r>
            <a:r>
              <a:rPr lang="en-US" altLang="zh-TW" dirty="0">
                <a:solidFill>
                  <a:srgbClr val="C00000"/>
                </a:solidFill>
              </a:rPr>
              <a:t>a specific device</a:t>
            </a:r>
            <a:r>
              <a:rPr lang="en-US" altLang="zh-TW" dirty="0"/>
              <a:t>, </a:t>
            </a:r>
          </a:p>
          <a:p>
            <a:pPr marL="457200" lvl="1" indent="0">
              <a:buNone/>
            </a:pPr>
            <a:r>
              <a:rPr lang="en-US" altLang="zh-TW" dirty="0"/>
              <a:t>and the </a:t>
            </a:r>
            <a:r>
              <a:rPr lang="en-US" altLang="zh-TW" dirty="0">
                <a:solidFill>
                  <a:srgbClr val="C00000"/>
                </a:solidFill>
              </a:rPr>
              <a:t>kernel knows this. </a:t>
            </a:r>
            <a:r>
              <a:rPr lang="en-US" altLang="zh-TW" dirty="0">
                <a:solidFill>
                  <a:schemeClr val="tx1"/>
                </a:solidFill>
              </a:rPr>
              <a:t>(Assigned during boot)</a:t>
            </a:r>
          </a:p>
          <a:p>
            <a:pPr lvl="1"/>
            <a:r>
              <a:rPr lang="en-US" altLang="zh-TW" dirty="0"/>
              <a:t>IRQ 0 </a:t>
            </a:r>
            <a:r>
              <a:rPr lang="en-US" altLang="zh-TW" dirty="0">
                <a:sym typeface="Wingdings" pitchFamily="2" charset="2"/>
              </a:rPr>
              <a:t> timer interrupt</a:t>
            </a:r>
          </a:p>
          <a:p>
            <a:pPr lvl="1"/>
            <a:r>
              <a:rPr lang="en-US" altLang="zh-TW" dirty="0">
                <a:sym typeface="Wingdings" pitchFamily="2" charset="2"/>
              </a:rPr>
              <a:t>IRQ 1  keyboard interrupt</a:t>
            </a:r>
          </a:p>
          <a:p>
            <a:pPr lvl="1"/>
            <a:r>
              <a:rPr lang="en-US" altLang="zh-TW" dirty="0">
                <a:sym typeface="Wingdings" pitchFamily="2" charset="2"/>
              </a:rPr>
              <a:t>Dynamically Allocate IRQ #  PCI devices</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Interrup</a:t>
            </a:r>
            <a:r>
              <a:rPr lang="en-US" altLang="zh-TW" dirty="0"/>
              <a:t>t Request (IRQ)</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21</a:t>
            </a:fld>
            <a:endParaRPr lang="zh-TW" altLang="en-US" dirty="0"/>
          </a:p>
        </p:txBody>
      </p:sp>
      <p:grpSp>
        <p:nvGrpSpPr>
          <p:cNvPr id="136" name="群組 135">
            <a:extLst>
              <a:ext uri="{FF2B5EF4-FFF2-40B4-BE49-F238E27FC236}">
                <a16:creationId xmlns:a16="http://schemas.microsoft.com/office/drawing/2014/main" id="{4825A023-26C7-3A1A-B53F-414B99B74BDB}"/>
              </a:ext>
            </a:extLst>
          </p:cNvPr>
          <p:cNvGrpSpPr/>
          <p:nvPr/>
        </p:nvGrpSpPr>
        <p:grpSpPr>
          <a:xfrm>
            <a:off x="7315200" y="898897"/>
            <a:ext cx="4614861" cy="5983734"/>
            <a:chOff x="7315200" y="961251"/>
            <a:chExt cx="4614861" cy="5983734"/>
          </a:xfrm>
        </p:grpSpPr>
        <p:pic>
          <p:nvPicPr>
            <p:cNvPr id="130" name="圖片 129">
              <a:extLst>
                <a:ext uri="{FF2B5EF4-FFF2-40B4-BE49-F238E27FC236}">
                  <a16:creationId xmlns:a16="http://schemas.microsoft.com/office/drawing/2014/main" id="{21A2EFC8-AFB5-606E-D7EF-35FE506D4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9894" y="1145627"/>
              <a:ext cx="4060167" cy="5701259"/>
            </a:xfrm>
            <a:prstGeom prst="rect">
              <a:avLst/>
            </a:prstGeom>
          </p:spPr>
        </p:pic>
        <p:sp>
          <p:nvSpPr>
            <p:cNvPr id="131" name="文字方塊 130">
              <a:extLst>
                <a:ext uri="{FF2B5EF4-FFF2-40B4-BE49-F238E27FC236}">
                  <a16:creationId xmlns:a16="http://schemas.microsoft.com/office/drawing/2014/main" id="{6726A730-B7B7-1058-2240-D5E52B0F0091}"/>
                </a:ext>
              </a:extLst>
            </p:cNvPr>
            <p:cNvSpPr txBox="1"/>
            <p:nvPr/>
          </p:nvSpPr>
          <p:spPr>
            <a:xfrm>
              <a:off x="7315200" y="961251"/>
              <a:ext cx="2226443" cy="276999"/>
            </a:xfrm>
            <a:prstGeom prst="rect">
              <a:avLst/>
            </a:prstGeom>
            <a:noFill/>
          </p:spPr>
          <p:txBody>
            <a:bodyPr wrap="none" rtlCol="0">
              <a:spAutoFit/>
            </a:bodyPr>
            <a:lstStyle/>
            <a:p>
              <a:r>
                <a:rPr kumimoji="1" lang="en-US" altLang="zh-TW" sz="1200" dirty="0">
                  <a:solidFill>
                    <a:srgbClr val="C00000"/>
                  </a:solidFill>
                  <a:latin typeface="Arial" panose="020B0604020202020204" pitchFamily="34" charset="0"/>
                  <a:cs typeface="Arial" panose="020B0604020202020204" pitchFamily="34" charset="0"/>
                </a:rPr>
                <a:t>Interrupt Vector Number (IVN)</a:t>
              </a:r>
              <a:endParaRPr kumimoji="1" lang="zh-TW" altLang="en-US" sz="1200" dirty="0">
                <a:solidFill>
                  <a:srgbClr val="C00000"/>
                </a:solidFill>
                <a:latin typeface="Arial" panose="020B0604020202020204" pitchFamily="34" charset="0"/>
                <a:cs typeface="Arial" panose="020B0604020202020204" pitchFamily="34" charset="0"/>
              </a:endParaRPr>
            </a:p>
          </p:txBody>
        </p:sp>
        <p:sp>
          <p:nvSpPr>
            <p:cNvPr id="132" name="矩形 131">
              <a:extLst>
                <a:ext uri="{FF2B5EF4-FFF2-40B4-BE49-F238E27FC236}">
                  <a16:creationId xmlns:a16="http://schemas.microsoft.com/office/drawing/2014/main" id="{8FC626F8-B53E-97DD-D1A6-82E8C1540382}"/>
                </a:ext>
              </a:extLst>
            </p:cNvPr>
            <p:cNvSpPr/>
            <p:nvPr/>
          </p:nvSpPr>
          <p:spPr>
            <a:xfrm>
              <a:off x="9965094" y="2341983"/>
              <a:ext cx="1073019" cy="9144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79FB7783-4265-94F8-4ACA-0E2606FE705F}"/>
                </a:ext>
              </a:extLst>
            </p:cNvPr>
            <p:cNvSpPr/>
            <p:nvPr/>
          </p:nvSpPr>
          <p:spPr>
            <a:xfrm>
              <a:off x="9965094" y="5060301"/>
              <a:ext cx="1073019" cy="91440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BDD75351-F0AA-FCF5-35CA-E4D19BFD2B00}"/>
                </a:ext>
              </a:extLst>
            </p:cNvPr>
            <p:cNvSpPr/>
            <p:nvPr/>
          </p:nvSpPr>
          <p:spPr>
            <a:xfrm>
              <a:off x="11210198" y="6083558"/>
              <a:ext cx="504000" cy="45097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文字方塊 134">
              <a:extLst>
                <a:ext uri="{FF2B5EF4-FFF2-40B4-BE49-F238E27FC236}">
                  <a16:creationId xmlns:a16="http://schemas.microsoft.com/office/drawing/2014/main" id="{0C7D2FBA-0DAB-686B-5262-E500C37EADDD}"/>
                </a:ext>
              </a:extLst>
            </p:cNvPr>
            <p:cNvSpPr txBox="1"/>
            <p:nvPr/>
          </p:nvSpPr>
          <p:spPr>
            <a:xfrm>
              <a:off x="8910529" y="6421765"/>
              <a:ext cx="2299669" cy="523220"/>
            </a:xfrm>
            <a:prstGeom prst="rect">
              <a:avLst/>
            </a:prstGeom>
            <a:noFill/>
          </p:spPr>
          <p:txBody>
            <a:bodyPr wrap="none" rtlCol="0">
              <a:spAutoFit/>
            </a:bodyPr>
            <a:lstStyle/>
            <a:p>
              <a:pPr algn="ctr"/>
              <a:r>
                <a:rPr kumimoji="1" lang="en-US" altLang="zh-TW" sz="1400" dirty="0">
                  <a:latin typeface="Arial" panose="020B0604020202020204" pitchFamily="34" charset="0"/>
                  <a:cs typeface="Arial" panose="020B0604020202020204" pitchFamily="34" charset="0"/>
                </a:rPr>
                <a:t>X86 Interrupt Vector Table </a:t>
              </a:r>
            </a:p>
            <a:p>
              <a:pPr algn="ctr"/>
              <a:r>
                <a:rPr kumimoji="1" lang="en-US" altLang="zh-TW" sz="1400" dirty="0">
                  <a:latin typeface="Arial" panose="020B0604020202020204" pitchFamily="34" charset="0"/>
                  <a:cs typeface="Arial" panose="020B0604020202020204" pitchFamily="34" charset="0"/>
                </a:rPr>
                <a:t>(Arch Dependent)</a:t>
              </a:r>
              <a:endParaRPr kumimoji="1" lang="zh-TW" altLang="en-US" sz="1400" dirty="0">
                <a:latin typeface="Arial" panose="020B0604020202020204" pitchFamily="34" charset="0"/>
                <a:cs typeface="Arial" panose="020B0604020202020204" pitchFamily="34" charset="0"/>
              </a:endParaRPr>
            </a:p>
          </p:txBody>
        </p:sp>
      </p:grpSp>
      <p:sp>
        <p:nvSpPr>
          <p:cNvPr id="137" name="文字方塊 136">
            <a:extLst>
              <a:ext uri="{FF2B5EF4-FFF2-40B4-BE49-F238E27FC236}">
                <a16:creationId xmlns:a16="http://schemas.microsoft.com/office/drawing/2014/main" id="{4ED23327-9DDA-A278-B981-65E645654128}"/>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38" name="橢圓 137">
            <a:extLst>
              <a:ext uri="{FF2B5EF4-FFF2-40B4-BE49-F238E27FC236}">
                <a16:creationId xmlns:a16="http://schemas.microsoft.com/office/drawing/2014/main" id="{2BD87CEE-7EEF-0785-DA3E-A0B34CE4DDA1}"/>
              </a:ext>
            </a:extLst>
          </p:cNvPr>
          <p:cNvSpPr/>
          <p:nvPr/>
        </p:nvSpPr>
        <p:spPr>
          <a:xfrm>
            <a:off x="7896021" y="6490155"/>
            <a:ext cx="391609" cy="332706"/>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45778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animEffect transition="in" filter="fade">
                                      <p:cBhvr>
                                        <p:cTn id="29" dur="500"/>
                                        <p:tgtEl>
                                          <p:spTgt spid="13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8"/>
                                        </p:tgtEl>
                                        <p:attrNameLst>
                                          <p:attrName>style.visibility</p:attrName>
                                        </p:attrNameLst>
                                      </p:cBhvr>
                                      <p:to>
                                        <p:strVal val="visible"/>
                                      </p:to>
                                    </p:set>
                                    <p:animEffect transition="in" filter="fade">
                                      <p:cBhvr>
                                        <p:cTn id="34"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69943" cy="5441950"/>
          </a:xfrm>
        </p:spPr>
        <p:txBody>
          <a:bodyPr>
            <a:normAutofit/>
          </a:bodyPr>
          <a:lstStyle/>
          <a:p>
            <a:pPr algn="l"/>
            <a:r>
              <a:rPr lang="en-US" altLang="zh-TW" dirty="0"/>
              <a:t>How an interrupt works:</a:t>
            </a:r>
          </a:p>
          <a:p>
            <a:pPr lvl="1" algn="l"/>
            <a:r>
              <a:rPr kumimoji="1" lang="en-US" altLang="zh-TW" dirty="0"/>
              <a:t>Hardware devices send out </a:t>
            </a:r>
            <a:r>
              <a:rPr lang="en-US" altLang="zh-TW" dirty="0"/>
              <a:t>an </a:t>
            </a:r>
            <a:r>
              <a:rPr lang="en-US" altLang="zh-TW" dirty="0">
                <a:solidFill>
                  <a:srgbClr val="C00000"/>
                </a:solidFill>
              </a:rPr>
              <a:t>interrupt signal</a:t>
            </a:r>
            <a:r>
              <a:rPr lang="en-US" altLang="zh-TW" dirty="0"/>
              <a:t>.</a:t>
            </a:r>
            <a:endParaRPr kumimoji="1" lang="en-US" altLang="zh-TW" dirty="0"/>
          </a:p>
          <a:p>
            <a:pPr lvl="1" algn="l"/>
            <a:r>
              <a:rPr kumimoji="1" lang="en-US" altLang="zh-TW" dirty="0"/>
              <a:t>The CPU</a:t>
            </a:r>
            <a:r>
              <a:rPr kumimoji="1" lang="zh-TW" altLang="en-US" dirty="0"/>
              <a:t> </a:t>
            </a:r>
            <a:r>
              <a:rPr kumimoji="1" lang="en-US" altLang="zh-TW" dirty="0"/>
              <a:t>stops </a:t>
            </a:r>
            <a:r>
              <a:rPr lang="en-US" altLang="zh-TW" dirty="0"/>
              <a:t>current execution.</a:t>
            </a:r>
          </a:p>
          <a:p>
            <a:pPr lvl="1" algn="l"/>
            <a:r>
              <a:rPr lang="en-US" altLang="zh-TW" dirty="0"/>
              <a:t>The interrupt controller sends </a:t>
            </a:r>
            <a:r>
              <a:rPr lang="en-US" altLang="zh-TW" dirty="0">
                <a:solidFill>
                  <a:srgbClr val="C00000"/>
                </a:solidFill>
              </a:rPr>
              <a:t>INT</a:t>
            </a:r>
            <a:r>
              <a:rPr lang="zh-TW" altLang="en-US" dirty="0">
                <a:solidFill>
                  <a:srgbClr val="C00000"/>
                </a:solidFill>
              </a:rPr>
              <a:t> </a:t>
            </a:r>
            <a:r>
              <a:rPr lang="en-US" altLang="zh-TW" dirty="0">
                <a:solidFill>
                  <a:srgbClr val="C00000"/>
                </a:solidFill>
              </a:rPr>
              <a:t>#</a:t>
            </a:r>
            <a:r>
              <a:rPr lang="zh-TW" altLang="en-US" dirty="0"/>
              <a:t> </a:t>
            </a:r>
            <a:r>
              <a:rPr lang="en-US" altLang="zh-TW" dirty="0"/>
              <a:t>to the CPU.</a:t>
            </a:r>
          </a:p>
          <a:p>
            <a:pPr lvl="1" algn="l"/>
            <a:r>
              <a:rPr lang="en-US" altLang="zh-TW" dirty="0"/>
              <a:t>CPU</a:t>
            </a:r>
            <a:r>
              <a:rPr lang="zh-TW" altLang="en-US" dirty="0"/>
              <a:t> </a:t>
            </a:r>
            <a:r>
              <a:rPr lang="en-US" altLang="zh-TW" dirty="0">
                <a:solidFill>
                  <a:srgbClr val="C00000"/>
                </a:solidFill>
              </a:rPr>
              <a:t>accesses</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Interrupt</a:t>
            </a:r>
            <a:r>
              <a:rPr lang="zh-TW" altLang="en-US" dirty="0">
                <a:solidFill>
                  <a:srgbClr val="C00000"/>
                </a:solidFill>
              </a:rPr>
              <a:t> </a:t>
            </a:r>
            <a:r>
              <a:rPr lang="en-US" altLang="zh-TW" dirty="0">
                <a:solidFill>
                  <a:srgbClr val="C00000"/>
                </a:solidFill>
              </a:rPr>
              <a:t>Vector</a:t>
            </a:r>
            <a:r>
              <a:rPr lang="zh-TW" altLang="en-US" dirty="0">
                <a:solidFill>
                  <a:srgbClr val="C00000"/>
                </a:solidFill>
              </a:rPr>
              <a:t> </a:t>
            </a:r>
            <a:r>
              <a:rPr lang="en-US" altLang="zh-TW" dirty="0">
                <a:solidFill>
                  <a:srgbClr val="C00000"/>
                </a:solidFill>
              </a:rPr>
              <a:t>Table</a:t>
            </a:r>
            <a:r>
              <a:rPr lang="zh-TW" altLang="en-US" dirty="0">
                <a:solidFill>
                  <a:srgbClr val="C00000"/>
                </a:solidFill>
              </a:rPr>
              <a:t> </a:t>
            </a:r>
            <a:r>
              <a:rPr lang="en-US" altLang="zh-TW" dirty="0"/>
              <a:t>by</a:t>
            </a:r>
            <a:r>
              <a:rPr lang="zh-TW" altLang="en-US" dirty="0"/>
              <a:t> </a:t>
            </a:r>
            <a:r>
              <a:rPr lang="en-US" altLang="zh-TW" dirty="0"/>
              <a:t>INT</a:t>
            </a:r>
            <a:r>
              <a:rPr lang="zh-TW" altLang="en-US" dirty="0"/>
              <a:t> </a:t>
            </a:r>
            <a:r>
              <a:rPr lang="en-US" altLang="zh-TW" dirty="0"/>
              <a:t>#</a:t>
            </a:r>
            <a:r>
              <a:rPr lang="zh-TW" altLang="en-US" dirty="0"/>
              <a:t> * </a:t>
            </a:r>
            <a:r>
              <a:rPr lang="en-US" altLang="zh-TW" dirty="0"/>
              <a:t>4</a:t>
            </a:r>
          </a:p>
          <a:p>
            <a:pPr lvl="1" algn="l"/>
            <a:r>
              <a:rPr kumimoji="1" lang="en-US" altLang="zh-TW" dirty="0"/>
              <a:t>The CPU runs the</a:t>
            </a:r>
            <a:r>
              <a:rPr kumimoji="1" lang="zh-TW" altLang="en-US" dirty="0"/>
              <a:t> </a:t>
            </a:r>
            <a:r>
              <a:rPr kumimoji="1" lang="en-US" altLang="zh-TW" dirty="0">
                <a:solidFill>
                  <a:srgbClr val="C00000"/>
                </a:solidFill>
              </a:rPr>
              <a:t>interrupt</a:t>
            </a:r>
            <a:r>
              <a:rPr kumimoji="1" lang="zh-TW" altLang="en-US" dirty="0">
                <a:solidFill>
                  <a:srgbClr val="C00000"/>
                </a:solidFill>
              </a:rPr>
              <a:t> </a:t>
            </a:r>
            <a:r>
              <a:rPr kumimoji="1" lang="en-US" altLang="zh-TW" dirty="0">
                <a:solidFill>
                  <a:srgbClr val="C00000"/>
                </a:solidFill>
              </a:rPr>
              <a:t>service</a:t>
            </a:r>
            <a:r>
              <a:rPr kumimoji="1" lang="zh-TW" altLang="en-US" dirty="0">
                <a:solidFill>
                  <a:srgbClr val="C00000"/>
                </a:solidFill>
              </a:rPr>
              <a:t> </a:t>
            </a:r>
            <a:r>
              <a:rPr kumimoji="1" lang="en-US" altLang="zh-TW" dirty="0">
                <a:solidFill>
                  <a:srgbClr val="C00000"/>
                </a:solidFill>
              </a:rPr>
              <a:t>routine</a:t>
            </a:r>
            <a:r>
              <a:rPr lang="en-US" altLang="zh-TW" dirty="0"/>
              <a:t> to handle the interrupt.</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How an Interrupt Works</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22</a:t>
            </a:fld>
            <a:endParaRPr lang="zh-TW" altLang="en-US" dirty="0"/>
          </a:p>
        </p:txBody>
      </p:sp>
      <p:sp>
        <p:nvSpPr>
          <p:cNvPr id="5" name="矩形 4">
            <a:extLst>
              <a:ext uri="{FF2B5EF4-FFF2-40B4-BE49-F238E27FC236}">
                <a16:creationId xmlns:a16="http://schemas.microsoft.com/office/drawing/2014/main" id="{CAEF2BCE-7D0E-7A84-2ADD-1C16554F4880}"/>
              </a:ext>
            </a:extLst>
          </p:cNvPr>
          <p:cNvSpPr/>
          <p:nvPr/>
        </p:nvSpPr>
        <p:spPr>
          <a:xfrm>
            <a:off x="7637012" y="1426586"/>
            <a:ext cx="4152745" cy="439871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矩形 23">
            <a:extLst>
              <a:ext uri="{FF2B5EF4-FFF2-40B4-BE49-F238E27FC236}">
                <a16:creationId xmlns:a16="http://schemas.microsoft.com/office/drawing/2014/main" id="{CD01B13C-6B20-A08A-3C11-7D003DAA2E5C}"/>
              </a:ext>
            </a:extLst>
          </p:cNvPr>
          <p:cNvSpPr/>
          <p:nvPr/>
        </p:nvSpPr>
        <p:spPr>
          <a:xfrm>
            <a:off x="7986641" y="4129696"/>
            <a:ext cx="2145030" cy="134190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34" name="直線接點 33">
            <a:extLst>
              <a:ext uri="{FF2B5EF4-FFF2-40B4-BE49-F238E27FC236}">
                <a16:creationId xmlns:a16="http://schemas.microsoft.com/office/drawing/2014/main" id="{0D29653C-D830-9959-9195-D7C64B09B3E1}"/>
              </a:ext>
            </a:extLst>
          </p:cNvPr>
          <p:cNvCxnSpPr>
            <a:cxnSpLocks/>
          </p:cNvCxnSpPr>
          <p:nvPr/>
        </p:nvCxnSpPr>
        <p:spPr>
          <a:xfrm>
            <a:off x="10023139" y="4762036"/>
            <a:ext cx="518003"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BE9D0D46-66D4-C6CA-6E75-C1C844C94E34}"/>
              </a:ext>
            </a:extLst>
          </p:cNvPr>
          <p:cNvCxnSpPr>
            <a:cxnSpLocks/>
          </p:cNvCxnSpPr>
          <p:nvPr/>
        </p:nvCxnSpPr>
        <p:spPr>
          <a:xfrm flipV="1">
            <a:off x="10541142" y="4168674"/>
            <a:ext cx="0" cy="593362"/>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圓角矩形 37">
            <a:extLst>
              <a:ext uri="{FF2B5EF4-FFF2-40B4-BE49-F238E27FC236}">
                <a16:creationId xmlns:a16="http://schemas.microsoft.com/office/drawing/2014/main" id="{6C93A089-53E5-CC8B-9262-DA561E8EB5DF}"/>
              </a:ext>
            </a:extLst>
          </p:cNvPr>
          <p:cNvSpPr/>
          <p:nvPr/>
        </p:nvSpPr>
        <p:spPr>
          <a:xfrm>
            <a:off x="10730460" y="435475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0" name="直線接點 39">
            <a:extLst>
              <a:ext uri="{FF2B5EF4-FFF2-40B4-BE49-F238E27FC236}">
                <a16:creationId xmlns:a16="http://schemas.microsoft.com/office/drawing/2014/main" id="{B95F9E0B-522E-8A04-8C01-6EE26909793E}"/>
              </a:ext>
            </a:extLst>
          </p:cNvPr>
          <p:cNvCxnSpPr>
            <a:cxnSpLocks/>
          </p:cNvCxnSpPr>
          <p:nvPr/>
        </p:nvCxnSpPr>
        <p:spPr>
          <a:xfrm>
            <a:off x="10024729" y="5267064"/>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ABAAFCD0-0162-649A-B841-B5A31165261A}"/>
              </a:ext>
            </a:extLst>
          </p:cNvPr>
          <p:cNvSpPr/>
          <p:nvPr/>
        </p:nvSpPr>
        <p:spPr>
          <a:xfrm>
            <a:off x="7984499" y="1663250"/>
            <a:ext cx="1898319"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1" name="直線接點 50">
            <a:extLst>
              <a:ext uri="{FF2B5EF4-FFF2-40B4-BE49-F238E27FC236}">
                <a16:creationId xmlns:a16="http://schemas.microsoft.com/office/drawing/2014/main" id="{53985844-5F4B-F7BD-BAD2-03B60234DAA5}"/>
              </a:ext>
            </a:extLst>
          </p:cNvPr>
          <p:cNvCxnSpPr>
            <a:cxnSpLocks/>
          </p:cNvCxnSpPr>
          <p:nvPr/>
        </p:nvCxnSpPr>
        <p:spPr>
          <a:xfrm>
            <a:off x="7843859" y="1898200"/>
            <a:ext cx="0" cy="3110666"/>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7BC87234-F63F-DD19-4447-5602241BE648}"/>
              </a:ext>
            </a:extLst>
          </p:cNvPr>
          <p:cNvCxnSpPr>
            <a:cxnSpLocks/>
            <a:endCxn id="49" idx="1"/>
          </p:cNvCxnSpPr>
          <p:nvPr/>
        </p:nvCxnSpPr>
        <p:spPr>
          <a:xfrm>
            <a:off x="7829518" y="1898201"/>
            <a:ext cx="15498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6AFF3B14-0D7E-D805-3F7D-E056EA2EE8AC}"/>
              </a:ext>
            </a:extLst>
          </p:cNvPr>
          <p:cNvSpPr/>
          <p:nvPr/>
        </p:nvSpPr>
        <p:spPr>
          <a:xfrm>
            <a:off x="7986641" y="2138519"/>
            <a:ext cx="1896172"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3" name="直線接點 52">
            <a:extLst>
              <a:ext uri="{FF2B5EF4-FFF2-40B4-BE49-F238E27FC236}">
                <a16:creationId xmlns:a16="http://schemas.microsoft.com/office/drawing/2014/main" id="{F2655EC6-BB3A-FE94-163F-7C422CBA9194}"/>
              </a:ext>
            </a:extLst>
          </p:cNvPr>
          <p:cNvCxnSpPr>
            <a:cxnSpLocks/>
          </p:cNvCxnSpPr>
          <p:nvPr/>
        </p:nvCxnSpPr>
        <p:spPr>
          <a:xfrm>
            <a:off x="7843859" y="4996745"/>
            <a:ext cx="31238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圓角矩形 63">
            <a:extLst>
              <a:ext uri="{FF2B5EF4-FFF2-40B4-BE49-F238E27FC236}">
                <a16:creationId xmlns:a16="http://schemas.microsoft.com/office/drawing/2014/main" id="{AAE72B5C-860E-02A4-FEDB-384036DCC1BA}"/>
              </a:ext>
            </a:extLst>
          </p:cNvPr>
          <p:cNvSpPr/>
          <p:nvPr/>
        </p:nvSpPr>
        <p:spPr>
          <a:xfrm>
            <a:off x="10433020" y="387850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Timer</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6" name="直線接點 65">
            <a:extLst>
              <a:ext uri="{FF2B5EF4-FFF2-40B4-BE49-F238E27FC236}">
                <a16:creationId xmlns:a16="http://schemas.microsoft.com/office/drawing/2014/main" id="{15E8B3F3-0C19-09B4-8C90-2078668F2A41}"/>
              </a:ext>
            </a:extLst>
          </p:cNvPr>
          <p:cNvCxnSpPr>
            <a:cxnSpLocks/>
          </p:cNvCxnSpPr>
          <p:nvPr/>
        </p:nvCxnSpPr>
        <p:spPr>
          <a:xfrm>
            <a:off x="10024729" y="4905069"/>
            <a:ext cx="1157677"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90B94639-1B60-5A7B-789A-BA3526FB025B}"/>
              </a:ext>
            </a:extLst>
          </p:cNvPr>
          <p:cNvCxnSpPr>
            <a:cxnSpLocks/>
          </p:cNvCxnSpPr>
          <p:nvPr/>
        </p:nvCxnSpPr>
        <p:spPr>
          <a:xfrm>
            <a:off x="10024729" y="5045367"/>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FFFD1EF9-A4D6-FA6B-6999-B8D9CCEA5318}"/>
              </a:ext>
            </a:extLst>
          </p:cNvPr>
          <p:cNvSpPr txBox="1"/>
          <p:nvPr/>
        </p:nvSpPr>
        <p:spPr>
          <a:xfrm>
            <a:off x="10079463" y="4476517"/>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IRQ0</a:t>
            </a:r>
            <a:endParaRPr kumimoji="1" lang="zh-TW" altLang="en-US" sz="1200" dirty="0">
              <a:latin typeface="Arial" panose="020B0604020202020204" pitchFamily="34" charset="0"/>
              <a:cs typeface="Arial" panose="020B0604020202020204" pitchFamily="34" charset="0"/>
            </a:endParaRPr>
          </a:p>
        </p:txBody>
      </p:sp>
      <p:sp>
        <p:nvSpPr>
          <p:cNvPr id="76" name="文字方塊 75">
            <a:extLst>
              <a:ext uri="{FF2B5EF4-FFF2-40B4-BE49-F238E27FC236}">
                <a16:creationId xmlns:a16="http://schemas.microsoft.com/office/drawing/2014/main" id="{25641F21-B402-7ED8-0A8A-F7030AC2E5F9}"/>
              </a:ext>
            </a:extLst>
          </p:cNvPr>
          <p:cNvSpPr txBox="1"/>
          <p:nvPr/>
        </p:nvSpPr>
        <p:spPr>
          <a:xfrm>
            <a:off x="11177956" y="4894663"/>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IRQ2</a:t>
            </a:r>
            <a:endParaRPr kumimoji="1" lang="zh-TW" altLang="en-US" sz="1200" dirty="0">
              <a:latin typeface="Arial" panose="020B0604020202020204" pitchFamily="34" charset="0"/>
              <a:cs typeface="Arial" panose="020B0604020202020204" pitchFamily="34" charset="0"/>
            </a:endParaRPr>
          </a:p>
        </p:txBody>
      </p:sp>
      <p:sp>
        <p:nvSpPr>
          <p:cNvPr id="77" name="文字方塊 76">
            <a:extLst>
              <a:ext uri="{FF2B5EF4-FFF2-40B4-BE49-F238E27FC236}">
                <a16:creationId xmlns:a16="http://schemas.microsoft.com/office/drawing/2014/main" id="{74AF5070-CB33-6D6C-573A-877712359F44}"/>
              </a:ext>
            </a:extLst>
          </p:cNvPr>
          <p:cNvSpPr txBox="1"/>
          <p:nvPr/>
        </p:nvSpPr>
        <p:spPr>
          <a:xfrm rot="5400000">
            <a:off x="10458191" y="5021290"/>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cxnSp>
        <p:nvCxnSpPr>
          <p:cNvPr id="79" name="直線接點 78">
            <a:extLst>
              <a:ext uri="{FF2B5EF4-FFF2-40B4-BE49-F238E27FC236}">
                <a16:creationId xmlns:a16="http://schemas.microsoft.com/office/drawing/2014/main" id="{C481E1F2-A113-325F-7F72-BC4E4FC843CB}"/>
              </a:ext>
            </a:extLst>
          </p:cNvPr>
          <p:cNvCxnSpPr>
            <a:cxnSpLocks/>
          </p:cNvCxnSpPr>
          <p:nvPr/>
        </p:nvCxnSpPr>
        <p:spPr>
          <a:xfrm flipV="1">
            <a:off x="11173755" y="4646072"/>
            <a:ext cx="0" cy="244894"/>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9137218E-DE47-FBAE-478D-89AFE06C467D}"/>
              </a:ext>
            </a:extLst>
          </p:cNvPr>
          <p:cNvSpPr txBox="1"/>
          <p:nvPr/>
        </p:nvSpPr>
        <p:spPr>
          <a:xfrm>
            <a:off x="11177956" y="5150000"/>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IRQ8</a:t>
            </a:r>
            <a:endParaRPr kumimoji="1" lang="zh-TW" altLang="en-US" sz="1200" dirty="0">
              <a:latin typeface="Arial" panose="020B0604020202020204" pitchFamily="34" charset="0"/>
              <a:cs typeface="Arial" panose="020B0604020202020204" pitchFamily="34" charset="0"/>
            </a:endParaRPr>
          </a:p>
        </p:txBody>
      </p:sp>
      <p:sp>
        <p:nvSpPr>
          <p:cNvPr id="88" name="矩形 87">
            <a:extLst>
              <a:ext uri="{FF2B5EF4-FFF2-40B4-BE49-F238E27FC236}">
                <a16:creationId xmlns:a16="http://schemas.microsoft.com/office/drawing/2014/main" id="{03FF381B-4147-F584-6A63-B9C0955E8E47}"/>
              </a:ext>
            </a:extLst>
          </p:cNvPr>
          <p:cNvSpPr/>
          <p:nvPr/>
        </p:nvSpPr>
        <p:spPr>
          <a:xfrm>
            <a:off x="7998877" y="2926666"/>
            <a:ext cx="3662544"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en-US" altLang="zh-TW" sz="1400" dirty="0">
                <a:solidFill>
                  <a:schemeClr val="tx1"/>
                </a:solidFill>
                <a:latin typeface="Arial" panose="020B0604020202020204" pitchFamily="34" charset="0"/>
                <a:cs typeface="Arial" panose="020B0604020202020204" pitchFamily="34" charset="0"/>
              </a:rPr>
              <a:t>Memory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8" name="矩形 47">
            <a:extLst>
              <a:ext uri="{FF2B5EF4-FFF2-40B4-BE49-F238E27FC236}">
                <a16:creationId xmlns:a16="http://schemas.microsoft.com/office/drawing/2014/main" id="{175DD826-B8B8-14A7-0D7F-A4A5C33DA5FC}"/>
              </a:ext>
            </a:extLst>
          </p:cNvPr>
          <p:cNvSpPr/>
          <p:nvPr/>
        </p:nvSpPr>
        <p:spPr>
          <a:xfrm>
            <a:off x="8156239" y="4675517"/>
            <a:ext cx="1866900" cy="7110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endParaRPr kumimoji="1" lang="zh-TW" altLang="en-US" sz="1400" dirty="0">
              <a:solidFill>
                <a:schemeClr val="tx1"/>
              </a:solidFill>
              <a:latin typeface="Arial" panose="020B0604020202020204" pitchFamily="34" charset="0"/>
              <a:cs typeface="Arial" panose="020B0604020202020204" pitchFamily="34" charset="0"/>
            </a:endParaRPr>
          </a:p>
        </p:txBody>
      </p:sp>
      <p:grpSp>
        <p:nvGrpSpPr>
          <p:cNvPr id="7" name="群組 6">
            <a:extLst>
              <a:ext uri="{FF2B5EF4-FFF2-40B4-BE49-F238E27FC236}">
                <a16:creationId xmlns:a16="http://schemas.microsoft.com/office/drawing/2014/main" id="{7B0BE6AF-C642-67E6-FD95-2DF6765C83FE}"/>
              </a:ext>
            </a:extLst>
          </p:cNvPr>
          <p:cNvGrpSpPr/>
          <p:nvPr/>
        </p:nvGrpSpPr>
        <p:grpSpPr>
          <a:xfrm>
            <a:off x="9882822" y="4112418"/>
            <a:ext cx="1778600" cy="806732"/>
            <a:chOff x="10198705" y="4970492"/>
            <a:chExt cx="1778600" cy="806732"/>
          </a:xfrm>
        </p:grpSpPr>
        <p:sp>
          <p:nvSpPr>
            <p:cNvPr id="57" name="文字方塊 56">
              <a:extLst>
                <a:ext uri="{FF2B5EF4-FFF2-40B4-BE49-F238E27FC236}">
                  <a16:creationId xmlns:a16="http://schemas.microsoft.com/office/drawing/2014/main" id="{2D5E6CA0-A1B1-10EA-12CB-45AF5DC9FD00}"/>
                </a:ext>
              </a:extLst>
            </p:cNvPr>
            <p:cNvSpPr txBox="1"/>
            <p:nvPr/>
          </p:nvSpPr>
          <p:spPr>
            <a:xfrm>
              <a:off x="11056860" y="4970492"/>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Interrupt</a:t>
              </a:r>
              <a:endParaRPr kumimoji="1" lang="zh-TW" altLang="en-US" sz="1400" b="1" dirty="0">
                <a:solidFill>
                  <a:srgbClr val="C00000"/>
                </a:solidFill>
                <a:latin typeface="Arial" panose="020B0604020202020204" pitchFamily="34" charset="0"/>
                <a:cs typeface="Arial" panose="020B0604020202020204" pitchFamily="34" charset="0"/>
              </a:endParaRPr>
            </a:p>
          </p:txBody>
        </p:sp>
        <p:sp>
          <p:nvSpPr>
            <p:cNvPr id="75" name="文字方塊 74">
              <a:extLst>
                <a:ext uri="{FF2B5EF4-FFF2-40B4-BE49-F238E27FC236}">
                  <a16:creationId xmlns:a16="http://schemas.microsoft.com/office/drawing/2014/main" id="{3B3DA43C-8BFE-60AC-AE81-EA76182A07BA}"/>
                </a:ext>
              </a:extLst>
            </p:cNvPr>
            <p:cNvSpPr txBox="1"/>
            <p:nvPr/>
          </p:nvSpPr>
          <p:spPr>
            <a:xfrm>
              <a:off x="10986539" y="5500225"/>
              <a:ext cx="543739" cy="276999"/>
            </a:xfrm>
            <a:prstGeom prst="rect">
              <a:avLst/>
            </a:prstGeom>
            <a:noFill/>
          </p:spPr>
          <p:txBody>
            <a:bodyPr wrap="none" rtlCol="0">
              <a:spAutoFit/>
            </a:bodyPr>
            <a:lstStyle/>
            <a:p>
              <a:r>
                <a:rPr kumimoji="1" lang="en-US" altLang="zh-TW" sz="1200" b="1" dirty="0">
                  <a:solidFill>
                    <a:srgbClr val="C00000"/>
                  </a:solidFill>
                  <a:latin typeface="Arial" panose="020B0604020202020204" pitchFamily="34" charset="0"/>
                  <a:cs typeface="Arial" panose="020B0604020202020204" pitchFamily="34" charset="0"/>
                </a:rPr>
                <a:t>IRQ1</a:t>
              </a:r>
              <a:endParaRPr kumimoji="1" lang="zh-TW" altLang="en-US" sz="1200" b="1" dirty="0">
                <a:solidFill>
                  <a:srgbClr val="C00000"/>
                </a:solidFill>
                <a:latin typeface="Arial" panose="020B0604020202020204" pitchFamily="34" charset="0"/>
                <a:cs typeface="Arial" panose="020B0604020202020204" pitchFamily="34" charset="0"/>
              </a:endParaRPr>
            </a:p>
          </p:txBody>
        </p:sp>
        <p:cxnSp>
          <p:nvCxnSpPr>
            <p:cNvPr id="61" name="直線接點 60">
              <a:extLst>
                <a:ext uri="{FF2B5EF4-FFF2-40B4-BE49-F238E27FC236}">
                  <a16:creationId xmlns:a16="http://schemas.microsoft.com/office/drawing/2014/main" id="{BC728473-E627-85EE-FED6-4ED2A6504C34}"/>
                </a:ext>
              </a:extLst>
            </p:cNvPr>
            <p:cNvCxnSpPr>
              <a:cxnSpLocks/>
            </p:cNvCxnSpPr>
            <p:nvPr/>
          </p:nvCxnSpPr>
          <p:spPr>
            <a:xfrm>
              <a:off x="11490825" y="5500225"/>
              <a:ext cx="0" cy="27699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942E40E4-AFD5-549C-2F1D-A3ADBCD3A5CC}"/>
                </a:ext>
              </a:extLst>
            </p:cNvPr>
            <p:cNvCxnSpPr>
              <a:cxnSpLocks/>
            </p:cNvCxnSpPr>
            <p:nvPr/>
          </p:nvCxnSpPr>
          <p:spPr>
            <a:xfrm>
              <a:off x="10198705" y="5763143"/>
              <a:ext cx="1303863" cy="2005"/>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grpSp>
        <p:nvGrpSpPr>
          <p:cNvPr id="8" name="群組 7">
            <a:extLst>
              <a:ext uri="{FF2B5EF4-FFF2-40B4-BE49-F238E27FC236}">
                <a16:creationId xmlns:a16="http://schemas.microsoft.com/office/drawing/2014/main" id="{98D08567-5277-D496-4D07-E01BEDB74E42}"/>
              </a:ext>
            </a:extLst>
          </p:cNvPr>
          <p:cNvGrpSpPr/>
          <p:nvPr/>
        </p:nvGrpSpPr>
        <p:grpSpPr>
          <a:xfrm>
            <a:off x="7633482" y="1428149"/>
            <a:ext cx="2348872" cy="4001702"/>
            <a:chOff x="7947925" y="2284660"/>
            <a:chExt cx="2348872" cy="4001702"/>
          </a:xfrm>
        </p:grpSpPr>
        <p:sp>
          <p:nvSpPr>
            <p:cNvPr id="89" name="文字方塊 88">
              <a:extLst>
                <a:ext uri="{FF2B5EF4-FFF2-40B4-BE49-F238E27FC236}">
                  <a16:creationId xmlns:a16="http://schemas.microsoft.com/office/drawing/2014/main" id="{01433C64-7FF2-E61B-9F67-2C5BB40AC071}"/>
                </a:ext>
              </a:extLst>
            </p:cNvPr>
            <p:cNvSpPr txBox="1"/>
            <p:nvPr/>
          </p:nvSpPr>
          <p:spPr>
            <a:xfrm>
              <a:off x="7947925" y="2284660"/>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endParaRPr kumimoji="1" lang="zh-TW" altLang="en-US" sz="1400" b="1" dirty="0">
                <a:solidFill>
                  <a:srgbClr val="C00000"/>
                </a:solidFill>
                <a:latin typeface="Arial" panose="020B0604020202020204" pitchFamily="34" charset="0"/>
                <a:cs typeface="Arial" panose="020B0604020202020204" pitchFamily="34" charset="0"/>
              </a:endParaRPr>
            </a:p>
          </p:txBody>
        </p:sp>
        <p:cxnSp>
          <p:nvCxnSpPr>
            <p:cNvPr id="42" name="直線接點 41">
              <a:extLst>
                <a:ext uri="{FF2B5EF4-FFF2-40B4-BE49-F238E27FC236}">
                  <a16:creationId xmlns:a16="http://schemas.microsoft.com/office/drawing/2014/main" id="{FA7007A5-C913-87A7-0CB4-0D5DC60563CD}"/>
                </a:ext>
              </a:extLst>
            </p:cNvPr>
            <p:cNvCxnSpPr>
              <a:cxnSpLocks/>
            </p:cNvCxnSpPr>
            <p:nvPr/>
          </p:nvCxnSpPr>
          <p:spPr>
            <a:xfrm>
              <a:off x="8159742" y="2749685"/>
              <a:ext cx="0" cy="309890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F0DCAA50-4AFA-FC2D-FA3D-DEE1D18CDD30}"/>
                </a:ext>
              </a:extLst>
            </p:cNvPr>
            <p:cNvCxnSpPr>
              <a:cxnSpLocks/>
            </p:cNvCxnSpPr>
            <p:nvPr/>
          </p:nvCxnSpPr>
          <p:spPr>
            <a:xfrm flipV="1">
              <a:off x="8145401" y="5853379"/>
              <a:ext cx="32672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7570E4B4-B26F-A88C-4378-650119EAFDDB}"/>
                </a:ext>
              </a:extLst>
            </p:cNvPr>
            <p:cNvCxnSpPr>
              <a:cxnSpLocks/>
            </p:cNvCxnSpPr>
            <p:nvPr/>
          </p:nvCxnSpPr>
          <p:spPr>
            <a:xfrm flipH="1" flipV="1">
              <a:off x="8164328" y="2749685"/>
              <a:ext cx="276695" cy="1796"/>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sp>
          <p:nvSpPr>
            <p:cNvPr id="108" name="文字方塊 107">
              <a:extLst>
                <a:ext uri="{FF2B5EF4-FFF2-40B4-BE49-F238E27FC236}">
                  <a16:creationId xmlns:a16="http://schemas.microsoft.com/office/drawing/2014/main" id="{EEB885FA-8DC3-BAF9-4483-73265D17E86E}"/>
                </a:ext>
              </a:extLst>
            </p:cNvPr>
            <p:cNvSpPr txBox="1"/>
            <p:nvPr/>
          </p:nvSpPr>
          <p:spPr>
            <a:xfrm>
              <a:off x="8541444" y="5763142"/>
              <a:ext cx="1755353" cy="523220"/>
            </a:xfrm>
            <a:prstGeom prst="rect">
              <a:avLst/>
            </a:prstGeom>
            <a:noFill/>
          </p:spPr>
          <p:txBody>
            <a:bodyPr wrap="none" rtlCol="0">
              <a:spAutoFit/>
            </a:bodyPr>
            <a:lstStyle/>
            <a:p>
              <a:pPr algn="ctr"/>
              <a:r>
                <a:rPr kumimoji="1" lang="en-US" altLang="zh-TW" sz="1400" b="1" dirty="0">
                  <a:solidFill>
                    <a:srgbClr val="C00000"/>
                  </a:solidFill>
                  <a:latin typeface="Arial" panose="020B0604020202020204" pitchFamily="34" charset="0"/>
                  <a:cs typeface="Arial" panose="020B0604020202020204" pitchFamily="34" charset="0"/>
                </a:rPr>
                <a:t>IRQ</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1</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sym typeface="Wingdings" pitchFamily="2" charset="2"/>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br>
                <a:rPr kumimoji="1" lang="en-US" altLang="zh-TW" sz="1400" b="1" dirty="0">
                  <a:solidFill>
                    <a:srgbClr val="C00000"/>
                  </a:solidFill>
                  <a:latin typeface="Arial" panose="020B0604020202020204" pitchFamily="34" charset="0"/>
                  <a:cs typeface="Arial" panose="020B0604020202020204" pitchFamily="34" charset="0"/>
                </a:rPr>
              </a:br>
              <a:r>
                <a:rPr kumimoji="1" lang="en-US" altLang="zh-TW" sz="1400" b="1" dirty="0">
                  <a:solidFill>
                    <a:srgbClr val="C00000"/>
                  </a:solidFill>
                  <a:latin typeface="Arial" panose="020B0604020202020204" pitchFamily="34" charset="0"/>
                  <a:cs typeface="Arial" panose="020B0604020202020204" pitchFamily="34" charset="0"/>
                </a:rPr>
                <a:t>(Translates to IVN)</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09" name="文字方塊 108">
            <a:extLst>
              <a:ext uri="{FF2B5EF4-FFF2-40B4-BE49-F238E27FC236}">
                <a16:creationId xmlns:a16="http://schemas.microsoft.com/office/drawing/2014/main" id="{C1792F3D-55E0-E4D3-86B7-397F40367674}"/>
              </a:ext>
            </a:extLst>
          </p:cNvPr>
          <p:cNvSpPr txBox="1"/>
          <p:nvPr/>
        </p:nvSpPr>
        <p:spPr>
          <a:xfrm>
            <a:off x="8156239" y="2386509"/>
            <a:ext cx="160172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0x81</a:t>
            </a:r>
            <a:r>
              <a:rPr kumimoji="1" lang="zh-TW" altLang="en-US" sz="1400" b="1" dirty="0">
                <a:solidFill>
                  <a:srgbClr val="C00000"/>
                </a:solidFill>
                <a:latin typeface="Arial" panose="020B0604020202020204" pitchFamily="34" charset="0"/>
                <a:cs typeface="Arial" panose="020B0604020202020204" pitchFamily="34" charset="0"/>
              </a:rPr>
              <a:t> * </a:t>
            </a:r>
            <a:r>
              <a:rPr kumimoji="1" lang="en-US" altLang="zh-TW" sz="1400" b="1" dirty="0">
                <a:solidFill>
                  <a:srgbClr val="C00000"/>
                </a:solidFill>
                <a:latin typeface="Arial" panose="020B0604020202020204" pitchFamily="34" charset="0"/>
                <a:cs typeface="Arial" panose="020B0604020202020204" pitchFamily="34" charset="0"/>
              </a:rPr>
              <a:t>4</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0x204</a:t>
            </a:r>
            <a:r>
              <a:rPr kumimoji="1" lang="zh-TW" altLang="en-US" sz="1400" b="1" dirty="0">
                <a:solidFill>
                  <a:srgbClr val="C00000"/>
                </a:solidFill>
                <a:latin typeface="Arial" panose="020B0604020202020204" pitchFamily="34" charset="0"/>
                <a:cs typeface="Arial" panose="020B0604020202020204" pitchFamily="34" charset="0"/>
              </a:rPr>
              <a:t> </a:t>
            </a:r>
          </a:p>
        </p:txBody>
      </p:sp>
      <p:grpSp>
        <p:nvGrpSpPr>
          <p:cNvPr id="11" name="群組 10">
            <a:extLst>
              <a:ext uri="{FF2B5EF4-FFF2-40B4-BE49-F238E27FC236}">
                <a16:creationId xmlns:a16="http://schemas.microsoft.com/office/drawing/2014/main" id="{DBC19B23-99BD-D213-D768-DE7B78ED02B1}"/>
              </a:ext>
            </a:extLst>
          </p:cNvPr>
          <p:cNvGrpSpPr/>
          <p:nvPr/>
        </p:nvGrpSpPr>
        <p:grpSpPr>
          <a:xfrm>
            <a:off x="7808783" y="3776549"/>
            <a:ext cx="1061509" cy="392021"/>
            <a:chOff x="8124666" y="4634623"/>
            <a:chExt cx="1061509" cy="392021"/>
          </a:xfrm>
        </p:grpSpPr>
        <p:sp>
          <p:nvSpPr>
            <p:cNvPr id="110" name="左大括弧 109">
              <a:extLst>
                <a:ext uri="{FF2B5EF4-FFF2-40B4-BE49-F238E27FC236}">
                  <a16:creationId xmlns:a16="http://schemas.microsoft.com/office/drawing/2014/main" id="{B19CECCC-DCBB-3B84-9D68-9F1559F8AD07}"/>
                </a:ext>
              </a:extLst>
            </p:cNvPr>
            <p:cNvSpPr/>
            <p:nvPr/>
          </p:nvSpPr>
          <p:spPr>
            <a:xfrm rot="16200000">
              <a:off x="8450470" y="4500085"/>
              <a:ext cx="144000" cy="413075"/>
            </a:xfrm>
            <a:prstGeom prst="lef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rgbClr val="0070C0"/>
                </a:solidFill>
              </a:endParaRPr>
            </a:p>
          </p:txBody>
        </p:sp>
        <p:sp>
          <p:nvSpPr>
            <p:cNvPr id="111" name="文字方塊 110">
              <a:extLst>
                <a:ext uri="{FF2B5EF4-FFF2-40B4-BE49-F238E27FC236}">
                  <a16:creationId xmlns:a16="http://schemas.microsoft.com/office/drawing/2014/main" id="{0AB86A44-790B-D342-5523-B3F584CEE376}"/>
                </a:ext>
              </a:extLst>
            </p:cNvPr>
            <p:cNvSpPr txBox="1"/>
            <p:nvPr/>
          </p:nvSpPr>
          <p:spPr>
            <a:xfrm>
              <a:off x="8124666" y="4718867"/>
              <a:ext cx="1061509"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4B</a:t>
              </a:r>
              <a:r>
                <a:rPr kumimoji="1" lang="zh-TW" altLang="en-US" sz="1400" b="1" dirty="0">
                  <a:solidFill>
                    <a:srgbClr val="0070C0"/>
                  </a:solidFill>
                  <a:latin typeface="Arial" panose="020B0604020202020204" pitchFamily="34" charset="0"/>
                  <a:cs typeface="Arial" panose="020B0604020202020204" pitchFamily="34" charset="0"/>
                </a:rPr>
                <a:t> </a:t>
              </a:r>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0" name="群組 9">
            <a:extLst>
              <a:ext uri="{FF2B5EF4-FFF2-40B4-BE49-F238E27FC236}">
                <a16:creationId xmlns:a16="http://schemas.microsoft.com/office/drawing/2014/main" id="{A3A5ED5F-E385-A8D3-64CD-6F517A3AE88E}"/>
              </a:ext>
            </a:extLst>
          </p:cNvPr>
          <p:cNvGrpSpPr/>
          <p:nvPr/>
        </p:nvGrpSpPr>
        <p:grpSpPr>
          <a:xfrm>
            <a:off x="7998877" y="2926595"/>
            <a:ext cx="2196209" cy="837067"/>
            <a:chOff x="8314760" y="3784669"/>
            <a:chExt cx="2196209" cy="837067"/>
          </a:xfrm>
        </p:grpSpPr>
        <p:sp>
          <p:nvSpPr>
            <p:cNvPr id="90" name="矩形 89">
              <a:extLst>
                <a:ext uri="{FF2B5EF4-FFF2-40B4-BE49-F238E27FC236}">
                  <a16:creationId xmlns:a16="http://schemas.microsoft.com/office/drawing/2014/main" id="{DE3BC005-230C-A172-2E21-71E336216136}"/>
                </a:ext>
              </a:extLst>
            </p:cNvPr>
            <p:cNvSpPr/>
            <p:nvPr/>
          </p:nvSpPr>
          <p:spPr>
            <a:xfrm>
              <a:off x="8314760"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0</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1" name="矩形 90">
              <a:extLst>
                <a:ext uri="{FF2B5EF4-FFF2-40B4-BE49-F238E27FC236}">
                  <a16:creationId xmlns:a16="http://schemas.microsoft.com/office/drawing/2014/main" id="{689C9299-418D-A6A2-3F43-8ADB9A9A956C}"/>
                </a:ext>
              </a:extLst>
            </p:cNvPr>
            <p:cNvSpPr/>
            <p:nvPr/>
          </p:nvSpPr>
          <p:spPr>
            <a:xfrm>
              <a:off x="939499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2" name="矩形 91">
              <a:extLst>
                <a:ext uri="{FF2B5EF4-FFF2-40B4-BE49-F238E27FC236}">
                  <a16:creationId xmlns:a16="http://schemas.microsoft.com/office/drawing/2014/main" id="{8ED68375-2A22-D45E-5B27-448C922CD235}"/>
                </a:ext>
              </a:extLst>
            </p:cNvPr>
            <p:cNvSpPr/>
            <p:nvPr/>
          </p:nvSpPr>
          <p:spPr>
            <a:xfrm>
              <a:off x="1009672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255</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5" name="文字方塊 114">
              <a:extLst>
                <a:ext uri="{FF2B5EF4-FFF2-40B4-BE49-F238E27FC236}">
                  <a16:creationId xmlns:a16="http://schemas.microsoft.com/office/drawing/2014/main" id="{8575355B-9E06-AE62-C3F7-0D0C0A3553B0}"/>
                </a:ext>
              </a:extLst>
            </p:cNvPr>
            <p:cNvSpPr txBox="1"/>
            <p:nvPr/>
          </p:nvSpPr>
          <p:spPr>
            <a:xfrm>
              <a:off x="9100049" y="4030171"/>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6" name="文字方塊 115">
              <a:extLst>
                <a:ext uri="{FF2B5EF4-FFF2-40B4-BE49-F238E27FC236}">
                  <a16:creationId xmlns:a16="http://schemas.microsoft.com/office/drawing/2014/main" id="{8D7815A7-15DD-84E5-E997-B4474C9B0E82}"/>
                </a:ext>
              </a:extLst>
            </p:cNvPr>
            <p:cNvSpPr txBox="1"/>
            <p:nvPr/>
          </p:nvSpPr>
          <p:spPr>
            <a:xfrm>
              <a:off x="9788444" y="4045334"/>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8" name="矩形 117">
              <a:extLst>
                <a:ext uri="{FF2B5EF4-FFF2-40B4-BE49-F238E27FC236}">
                  <a16:creationId xmlns:a16="http://schemas.microsoft.com/office/drawing/2014/main" id="{6C276251-EB03-42EB-817D-FFA541C79C3C}"/>
                </a:ext>
              </a:extLst>
            </p:cNvPr>
            <p:cNvSpPr/>
            <p:nvPr/>
          </p:nvSpPr>
          <p:spPr>
            <a:xfrm>
              <a:off x="8729335" y="3789684"/>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12" name="群組 11">
            <a:extLst>
              <a:ext uri="{FF2B5EF4-FFF2-40B4-BE49-F238E27FC236}">
                <a16:creationId xmlns:a16="http://schemas.microsoft.com/office/drawing/2014/main" id="{3E5AD215-3930-7DF0-8EAB-010A4EB6B299}"/>
              </a:ext>
            </a:extLst>
          </p:cNvPr>
          <p:cNvGrpSpPr/>
          <p:nvPr/>
        </p:nvGrpSpPr>
        <p:grpSpPr>
          <a:xfrm>
            <a:off x="7959877" y="2675263"/>
            <a:ext cx="1685201" cy="307777"/>
            <a:chOff x="8275760" y="3533337"/>
            <a:chExt cx="1685201" cy="307777"/>
          </a:xfrm>
        </p:grpSpPr>
        <p:sp>
          <p:nvSpPr>
            <p:cNvPr id="114" name="文字方塊 113">
              <a:extLst>
                <a:ext uri="{FF2B5EF4-FFF2-40B4-BE49-F238E27FC236}">
                  <a16:creationId xmlns:a16="http://schemas.microsoft.com/office/drawing/2014/main" id="{F1277D9E-2B8E-D01C-57CD-C97EB0EC8E34}"/>
                </a:ext>
              </a:extLst>
            </p:cNvPr>
            <p:cNvSpPr txBox="1"/>
            <p:nvPr/>
          </p:nvSpPr>
          <p:spPr>
            <a:xfrm>
              <a:off x="8275760"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0x0</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7" name="文字方塊 116">
              <a:extLst>
                <a:ext uri="{FF2B5EF4-FFF2-40B4-BE49-F238E27FC236}">
                  <a16:creationId xmlns:a16="http://schemas.microsoft.com/office/drawing/2014/main" id="{346BCF43-291A-D063-C0CE-5C3873BE87E2}"/>
                </a:ext>
              </a:extLst>
            </p:cNvPr>
            <p:cNvSpPr txBox="1"/>
            <p:nvPr/>
          </p:nvSpPr>
          <p:spPr>
            <a:xfrm>
              <a:off x="9279364" y="3533337"/>
              <a:ext cx="681597"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0x204</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9" name="文字方塊 118">
              <a:extLst>
                <a:ext uri="{FF2B5EF4-FFF2-40B4-BE49-F238E27FC236}">
                  <a16:creationId xmlns:a16="http://schemas.microsoft.com/office/drawing/2014/main" id="{88B0ECE1-136A-2509-5863-0BE24FFABE4F}"/>
                </a:ext>
              </a:extLst>
            </p:cNvPr>
            <p:cNvSpPr txBox="1"/>
            <p:nvPr/>
          </p:nvSpPr>
          <p:spPr>
            <a:xfrm>
              <a:off x="8701542"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0x4</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4" name="群組 13">
            <a:extLst>
              <a:ext uri="{FF2B5EF4-FFF2-40B4-BE49-F238E27FC236}">
                <a16:creationId xmlns:a16="http://schemas.microsoft.com/office/drawing/2014/main" id="{C8DBAC02-20BA-BD00-CA00-C9BB7BDB1378}"/>
              </a:ext>
            </a:extLst>
          </p:cNvPr>
          <p:cNvGrpSpPr/>
          <p:nvPr/>
        </p:nvGrpSpPr>
        <p:grpSpPr>
          <a:xfrm>
            <a:off x="10305296" y="2675263"/>
            <a:ext cx="763351" cy="1083384"/>
            <a:chOff x="10621179" y="3533337"/>
            <a:chExt cx="763351" cy="1083384"/>
          </a:xfrm>
        </p:grpSpPr>
        <p:sp>
          <p:nvSpPr>
            <p:cNvPr id="93" name="矩形 92">
              <a:extLst>
                <a:ext uri="{FF2B5EF4-FFF2-40B4-BE49-F238E27FC236}">
                  <a16:creationId xmlns:a16="http://schemas.microsoft.com/office/drawing/2014/main" id="{D225F8C7-BCE1-AA17-5608-C31CCFE13B93}"/>
                </a:ext>
              </a:extLst>
            </p:cNvPr>
            <p:cNvSpPr/>
            <p:nvPr/>
          </p:nvSpPr>
          <p:spPr>
            <a:xfrm>
              <a:off x="10746037"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20" name="文字方塊 119">
              <a:extLst>
                <a:ext uri="{FF2B5EF4-FFF2-40B4-BE49-F238E27FC236}">
                  <a16:creationId xmlns:a16="http://schemas.microsoft.com/office/drawing/2014/main" id="{F49A3F02-FA14-00CF-6E71-32E170BE6585}"/>
                </a:ext>
              </a:extLst>
            </p:cNvPr>
            <p:cNvSpPr txBox="1"/>
            <p:nvPr/>
          </p:nvSpPr>
          <p:spPr>
            <a:xfrm>
              <a:off x="10621179" y="3533337"/>
              <a:ext cx="763351"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3" name="群組 12">
            <a:extLst>
              <a:ext uri="{FF2B5EF4-FFF2-40B4-BE49-F238E27FC236}">
                <a16:creationId xmlns:a16="http://schemas.microsoft.com/office/drawing/2014/main" id="{74B22B85-478A-B501-8C23-52E33D61E31C}"/>
              </a:ext>
            </a:extLst>
          </p:cNvPr>
          <p:cNvGrpSpPr/>
          <p:nvPr/>
        </p:nvGrpSpPr>
        <p:grpSpPr>
          <a:xfrm>
            <a:off x="9122720" y="2164799"/>
            <a:ext cx="763351" cy="745544"/>
            <a:chOff x="9438603" y="3022873"/>
            <a:chExt cx="763351" cy="745544"/>
          </a:xfrm>
        </p:grpSpPr>
        <p:cxnSp>
          <p:nvCxnSpPr>
            <p:cNvPr id="122" name="曲線接點 121">
              <a:extLst>
                <a:ext uri="{FF2B5EF4-FFF2-40B4-BE49-F238E27FC236}">
                  <a16:creationId xmlns:a16="http://schemas.microsoft.com/office/drawing/2014/main" id="{2A220A9D-14A3-11F0-FC72-20FC8723C85D}"/>
                </a:ext>
              </a:extLst>
            </p:cNvPr>
            <p:cNvCxnSpPr>
              <a:cxnSpLocks/>
            </p:cNvCxnSpPr>
            <p:nvPr/>
          </p:nvCxnSpPr>
          <p:spPr>
            <a:xfrm rot="5400000" flipH="1" flipV="1">
              <a:off x="9437184" y="3396362"/>
              <a:ext cx="532353" cy="211757"/>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4" name="文字方塊 123">
              <a:extLst>
                <a:ext uri="{FF2B5EF4-FFF2-40B4-BE49-F238E27FC236}">
                  <a16:creationId xmlns:a16="http://schemas.microsoft.com/office/drawing/2014/main" id="{CB343087-72B5-D098-2287-83C49D2A5B31}"/>
                </a:ext>
              </a:extLst>
            </p:cNvPr>
            <p:cNvSpPr txBox="1"/>
            <p:nvPr/>
          </p:nvSpPr>
          <p:spPr>
            <a:xfrm>
              <a:off x="9438603" y="3022873"/>
              <a:ext cx="76335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CS‘:IP’</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grpSp>
        <p:nvGrpSpPr>
          <p:cNvPr id="15" name="群組 14">
            <a:extLst>
              <a:ext uri="{FF2B5EF4-FFF2-40B4-BE49-F238E27FC236}">
                <a16:creationId xmlns:a16="http://schemas.microsoft.com/office/drawing/2014/main" id="{0AE6E52C-8C7C-BA31-930B-5A459B487206}"/>
              </a:ext>
            </a:extLst>
          </p:cNvPr>
          <p:cNvGrpSpPr/>
          <p:nvPr/>
        </p:nvGrpSpPr>
        <p:grpSpPr>
          <a:xfrm>
            <a:off x="9629117" y="2327971"/>
            <a:ext cx="1572867" cy="607439"/>
            <a:chOff x="9945000" y="3186045"/>
            <a:chExt cx="1572867" cy="607439"/>
          </a:xfrm>
        </p:grpSpPr>
        <p:cxnSp>
          <p:nvCxnSpPr>
            <p:cNvPr id="125" name="曲線接點 124">
              <a:extLst>
                <a:ext uri="{FF2B5EF4-FFF2-40B4-BE49-F238E27FC236}">
                  <a16:creationId xmlns:a16="http://schemas.microsoft.com/office/drawing/2014/main" id="{CCD0E404-D1E0-CAA7-5F9F-0494CA59C474}"/>
                </a:ext>
              </a:extLst>
            </p:cNvPr>
            <p:cNvCxnSpPr>
              <a:cxnSpLocks/>
            </p:cNvCxnSpPr>
            <p:nvPr/>
          </p:nvCxnSpPr>
          <p:spPr>
            <a:xfrm rot="10800000">
              <a:off x="9945000" y="3312340"/>
              <a:ext cx="1024649" cy="481144"/>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7" name="文字方塊 126">
              <a:extLst>
                <a:ext uri="{FF2B5EF4-FFF2-40B4-BE49-F238E27FC236}">
                  <a16:creationId xmlns:a16="http://schemas.microsoft.com/office/drawing/2014/main" id="{F14A7328-FFB8-6CD2-B6B4-52FF1161E3A7}"/>
                </a:ext>
              </a:extLst>
            </p:cNvPr>
            <p:cNvSpPr txBox="1"/>
            <p:nvPr/>
          </p:nvSpPr>
          <p:spPr>
            <a:xfrm>
              <a:off x="10318500" y="3186045"/>
              <a:ext cx="1199367"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Code of ISR</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28" name="文字方塊 127">
            <a:extLst>
              <a:ext uri="{FF2B5EF4-FFF2-40B4-BE49-F238E27FC236}">
                <a16:creationId xmlns:a16="http://schemas.microsoft.com/office/drawing/2014/main" id="{92455F60-8B50-A9D1-0FC3-CDBCBC6A4C47}"/>
              </a:ext>
            </a:extLst>
          </p:cNvPr>
          <p:cNvSpPr txBox="1"/>
          <p:nvPr/>
        </p:nvSpPr>
        <p:spPr>
          <a:xfrm>
            <a:off x="9504395" y="1407389"/>
            <a:ext cx="2369559" cy="276999"/>
          </a:xfrm>
          <a:prstGeom prst="rect">
            <a:avLst/>
          </a:prstGeom>
          <a:noFill/>
        </p:spPr>
        <p:txBody>
          <a:bodyPr wrap="none" rtlCol="0">
            <a:spAutoFit/>
          </a:bodyPr>
          <a:lstStyle/>
          <a:p>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ISR=Interrupt Service</a:t>
            </a:r>
            <a:r>
              <a:rPr kumimoji="1" lang="zh-TW" altLang="en-US" sz="1200" b="1" dirty="0">
                <a:solidFill>
                  <a:schemeClr val="tx1">
                    <a:lumMod val="50000"/>
                    <a:lumOff val="50000"/>
                  </a:schemeClr>
                </a:solidFill>
                <a:latin typeface="Arial" panose="020B0604020202020204" pitchFamily="34" charset="0"/>
                <a:cs typeface="Arial" panose="020B0604020202020204" pitchFamily="34" charset="0"/>
              </a:rPr>
              <a:t> </a:t>
            </a:r>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Routine</a:t>
            </a:r>
            <a:endParaRPr kumimoji="1" lang="zh-TW" altLang="en-US" sz="1200" b="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 name="文字方塊 5">
            <a:extLst>
              <a:ext uri="{FF2B5EF4-FFF2-40B4-BE49-F238E27FC236}">
                <a16:creationId xmlns:a16="http://schemas.microsoft.com/office/drawing/2014/main" id="{4C7D9ECD-EBE5-D22D-1C65-D8A72E8C566C}"/>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6" name="文字方塊 15">
            <a:extLst>
              <a:ext uri="{FF2B5EF4-FFF2-40B4-BE49-F238E27FC236}">
                <a16:creationId xmlns:a16="http://schemas.microsoft.com/office/drawing/2014/main" id="{9DB73002-1766-D1A6-664D-577C6E15F8E5}"/>
              </a:ext>
            </a:extLst>
          </p:cNvPr>
          <p:cNvSpPr txBox="1"/>
          <p:nvPr/>
        </p:nvSpPr>
        <p:spPr>
          <a:xfrm>
            <a:off x="-374469" y="1837509"/>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199383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8"/>
                                        </p:tgtEl>
                                      </p:cBhvr>
                                    </p:animEffect>
                                    <p:animScale>
                                      <p:cBhvr>
                                        <p:cTn id="7" dur="250" autoRev="1" fill="hold"/>
                                        <p:tgtEl>
                                          <p:spTgt spid="38"/>
                                        </p:tgtEl>
                                      </p:cBhvr>
                                      <p:by x="105000" y="105000"/>
                                    </p:animScale>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500"/>
                                        <p:tgtEl>
                                          <p:spTgt spid="10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09"/>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3">
                                            <p:txEl>
                                              <p:pRg st="4" end="4"/>
                                            </p:txEl>
                                          </p:spTgt>
                                        </p:tgtEl>
                                        <p:attrNameLst>
                                          <p:attrName>style.visibility</p:attrName>
                                        </p:attrNameLst>
                                      </p:cBhvr>
                                      <p:to>
                                        <p:strVal val="visible"/>
                                      </p:to>
                                    </p:set>
                                    <p:animEffect transition="in" filter="fade">
                                      <p:cBhvr>
                                        <p:cTn id="50" dur="500"/>
                                        <p:tgtEl>
                                          <p:spTgt spid="3">
                                            <p:txEl>
                                              <p:pRg st="4" end="4"/>
                                            </p:txEl>
                                          </p:spTgt>
                                        </p:tgtEl>
                                      </p:cBhvr>
                                    </p:animEffect>
                                  </p:childTnLst>
                                </p:cTn>
                              </p:par>
                            </p:childTnLst>
                          </p:cTn>
                        </p:par>
                        <p:par>
                          <p:cTn id="51" fill="hold">
                            <p:stCondLst>
                              <p:cond delay="500"/>
                            </p:stCondLst>
                            <p:childTnLst>
                              <p:par>
                                <p:cTn id="52" presetID="22" presetClass="entr" presetSubtype="4"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childTnLst>
                          </p:cTn>
                        </p:par>
                        <p:par>
                          <p:cTn id="63" fill="hold">
                            <p:stCondLst>
                              <p:cond delay="500"/>
                            </p:stCondLst>
                            <p:childTnLst>
                              <p:par>
                                <p:cTn id="64" presetID="22" presetClass="entr" presetSubtype="2"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right)">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09" grpId="0"/>
      <p:bldP spid="109"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679866-913C-A073-6986-1295654BE079}"/>
              </a:ext>
            </a:extLst>
          </p:cNvPr>
          <p:cNvSpPr>
            <a:spLocks noGrp="1"/>
          </p:cNvSpPr>
          <p:nvPr>
            <p:ph type="title"/>
          </p:nvPr>
        </p:nvSpPr>
        <p:spPr/>
        <p:txBody>
          <a:bodyPr/>
          <a:lstStyle/>
          <a:p>
            <a:r>
              <a:rPr kumimoji="1" lang="en-US" altLang="zh-TW" dirty="0"/>
              <a:t>Interrupt Handler</a:t>
            </a:r>
            <a:endParaRPr kumimoji="1" lang="zh-TW" altLang="en-US" dirty="0"/>
          </a:p>
        </p:txBody>
      </p:sp>
      <p:sp>
        <p:nvSpPr>
          <p:cNvPr id="3" name="內容版面配置區 2">
            <a:extLst>
              <a:ext uri="{FF2B5EF4-FFF2-40B4-BE49-F238E27FC236}">
                <a16:creationId xmlns:a16="http://schemas.microsoft.com/office/drawing/2014/main" id="{80109A77-5AC8-2023-4C95-A90A404A044B}"/>
              </a:ext>
            </a:extLst>
          </p:cNvPr>
          <p:cNvSpPr>
            <a:spLocks noGrp="1"/>
          </p:cNvSpPr>
          <p:nvPr>
            <p:ph idx="1"/>
          </p:nvPr>
        </p:nvSpPr>
        <p:spPr/>
        <p:txBody>
          <a:bodyPr/>
          <a:lstStyle/>
          <a:p>
            <a:r>
              <a:rPr kumimoji="1" lang="en-US" altLang="zh-TW" dirty="0"/>
              <a:t>Interrupt</a:t>
            </a:r>
            <a:r>
              <a:rPr kumimoji="1" lang="zh-TW" altLang="en-US" dirty="0"/>
              <a:t> </a:t>
            </a:r>
            <a:r>
              <a:rPr kumimoji="1" lang="en-US" altLang="zh-TW" dirty="0"/>
              <a:t>Service</a:t>
            </a:r>
            <a:r>
              <a:rPr kumimoji="1" lang="zh-TW" altLang="en-US" dirty="0"/>
              <a:t> </a:t>
            </a:r>
            <a:r>
              <a:rPr lang="en-US" altLang="zh-TW" dirty="0"/>
              <a:t>Routine (ISR)</a:t>
            </a:r>
            <a:r>
              <a:rPr lang="zh-TW" altLang="en-US" dirty="0"/>
              <a:t> </a:t>
            </a:r>
            <a:r>
              <a:rPr lang="en-US" altLang="zh-TW" dirty="0"/>
              <a:t>or</a:t>
            </a:r>
            <a:r>
              <a:rPr lang="zh-TW" altLang="en-US" dirty="0"/>
              <a:t> </a:t>
            </a:r>
            <a:r>
              <a:rPr lang="en-US" altLang="zh-TW" dirty="0"/>
              <a:t>Interrupt</a:t>
            </a:r>
            <a:r>
              <a:rPr lang="zh-TW" altLang="en-US" dirty="0"/>
              <a:t> </a:t>
            </a:r>
            <a:r>
              <a:rPr lang="en-US" altLang="zh-TW" dirty="0"/>
              <a:t>Handler:</a:t>
            </a:r>
            <a:r>
              <a:rPr lang="zh-TW" altLang="en-US" dirty="0"/>
              <a:t> </a:t>
            </a:r>
            <a:r>
              <a:rPr lang="en-US" altLang="zh-TW" dirty="0"/>
              <a:t>The</a:t>
            </a:r>
            <a:r>
              <a:rPr lang="zh-TW" altLang="en-US" dirty="0"/>
              <a:t> </a:t>
            </a:r>
            <a:r>
              <a:rPr lang="en-US" altLang="zh-TW" dirty="0"/>
              <a:t>function</a:t>
            </a:r>
            <a:r>
              <a:rPr lang="zh-TW" altLang="en-US" dirty="0"/>
              <a:t> </a:t>
            </a:r>
            <a:r>
              <a:rPr lang="en-US" altLang="zh-TW" dirty="0"/>
              <a:t>the</a:t>
            </a:r>
            <a:r>
              <a:rPr lang="zh-TW" altLang="en-US" dirty="0"/>
              <a:t> </a:t>
            </a:r>
            <a:r>
              <a:rPr lang="en-US" altLang="zh-TW" dirty="0"/>
              <a:t>kernel</a:t>
            </a:r>
            <a:r>
              <a:rPr lang="zh-TW" altLang="en-US" dirty="0"/>
              <a:t> </a:t>
            </a:r>
            <a:r>
              <a:rPr lang="en-US" altLang="zh-TW" dirty="0"/>
              <a:t>runs</a:t>
            </a:r>
            <a:r>
              <a:rPr lang="zh-TW" altLang="en-US" dirty="0"/>
              <a:t> </a:t>
            </a:r>
            <a:r>
              <a:rPr lang="en-US" altLang="zh-TW" dirty="0"/>
              <a:t>in</a:t>
            </a:r>
            <a:r>
              <a:rPr lang="zh-TW" altLang="en-US" dirty="0"/>
              <a:t> </a:t>
            </a:r>
            <a:r>
              <a:rPr lang="en-US" altLang="zh-TW" dirty="0"/>
              <a:t>response</a:t>
            </a:r>
            <a:r>
              <a:rPr lang="zh-TW" altLang="en-US" dirty="0"/>
              <a:t> </a:t>
            </a:r>
            <a:r>
              <a:rPr lang="en-US" altLang="zh-TW" dirty="0"/>
              <a:t>to</a:t>
            </a:r>
            <a:r>
              <a:rPr lang="zh-TW" altLang="en-US" dirty="0"/>
              <a:t> </a:t>
            </a:r>
            <a:r>
              <a:rPr lang="en-US" altLang="zh-TW" dirty="0"/>
              <a:t>a</a:t>
            </a:r>
            <a:r>
              <a:rPr lang="zh-TW" altLang="en-US" dirty="0"/>
              <a:t> </a:t>
            </a:r>
            <a:r>
              <a:rPr lang="en-US" altLang="zh-TW" dirty="0"/>
              <a:t>specific</a:t>
            </a:r>
            <a:r>
              <a:rPr lang="zh-TW" altLang="en-US" dirty="0"/>
              <a:t> </a:t>
            </a:r>
            <a:r>
              <a:rPr lang="en-US" altLang="zh-TW" dirty="0"/>
              <a:t>interrupt.</a:t>
            </a:r>
          </a:p>
          <a:p>
            <a:pPr lvl="1"/>
            <a:r>
              <a:rPr kumimoji="1" lang="en-US" altLang="zh-TW" dirty="0"/>
              <a:t>It</a:t>
            </a:r>
            <a:r>
              <a:rPr kumimoji="1" lang="zh-TW" altLang="en-US" dirty="0"/>
              <a:t> </a:t>
            </a:r>
            <a:r>
              <a:rPr kumimoji="1" lang="en-US" altLang="zh-TW" dirty="0"/>
              <a:t>is</a:t>
            </a:r>
            <a:r>
              <a:rPr kumimoji="1" lang="zh-TW" altLang="en-US" dirty="0"/>
              <a:t> </a:t>
            </a:r>
            <a:r>
              <a:rPr kumimoji="1" lang="en-US" altLang="zh-TW" dirty="0"/>
              <a:t>part</a:t>
            </a:r>
            <a:r>
              <a:rPr kumimoji="1" lang="zh-TW" altLang="en-US" dirty="0"/>
              <a:t> </a:t>
            </a:r>
            <a:r>
              <a:rPr kumimoji="1" lang="en-US" altLang="zh-TW" dirty="0"/>
              <a:t>of</a:t>
            </a:r>
            <a:r>
              <a:rPr kumimoji="1" lang="zh-TW" altLang="en-US" dirty="0"/>
              <a:t> </a:t>
            </a:r>
            <a:r>
              <a:rPr kumimoji="1" lang="en-US" altLang="zh-TW" dirty="0"/>
              <a:t>a</a:t>
            </a:r>
            <a:r>
              <a:rPr kumimoji="1" lang="zh-TW" altLang="en-US" dirty="0"/>
              <a:t> </a:t>
            </a:r>
            <a:r>
              <a:rPr kumimoji="1" lang="en-US" altLang="zh-TW" dirty="0">
                <a:solidFill>
                  <a:srgbClr val="C00000"/>
                </a:solidFill>
              </a:rPr>
              <a:t>device</a:t>
            </a:r>
            <a:r>
              <a:rPr kumimoji="1" lang="zh-TW" altLang="en-US" dirty="0">
                <a:solidFill>
                  <a:srgbClr val="C00000"/>
                </a:solidFill>
              </a:rPr>
              <a:t> </a:t>
            </a:r>
            <a:r>
              <a:rPr kumimoji="1" lang="en-US" altLang="zh-TW" dirty="0">
                <a:solidFill>
                  <a:srgbClr val="C00000"/>
                </a:solidFill>
              </a:rPr>
              <a:t>driver</a:t>
            </a:r>
            <a:r>
              <a:rPr kumimoji="1" lang="zh-TW" altLang="en-US" dirty="0">
                <a:solidFill>
                  <a:srgbClr val="C00000"/>
                </a:solidFill>
              </a:rPr>
              <a:t> </a:t>
            </a:r>
            <a:r>
              <a:rPr kumimoji="1" lang="en-US" altLang="zh-TW" dirty="0"/>
              <a:t>(the</a:t>
            </a:r>
            <a:r>
              <a:rPr kumimoji="1" lang="zh-TW" altLang="en-US" dirty="0"/>
              <a:t> </a:t>
            </a:r>
            <a:r>
              <a:rPr kumimoji="1" lang="en-US" altLang="zh-TW" dirty="0">
                <a:solidFill>
                  <a:srgbClr val="C00000"/>
                </a:solidFill>
              </a:rPr>
              <a:t>kernel</a:t>
            </a:r>
            <a:r>
              <a:rPr kumimoji="1" lang="zh-TW" altLang="en-US" dirty="0">
                <a:solidFill>
                  <a:srgbClr val="C00000"/>
                </a:solidFill>
              </a:rPr>
              <a:t> </a:t>
            </a:r>
            <a:r>
              <a:rPr kumimoji="1" lang="en-US" altLang="zh-TW" dirty="0">
                <a:solidFill>
                  <a:srgbClr val="C00000"/>
                </a:solidFill>
              </a:rPr>
              <a:t>code</a:t>
            </a:r>
            <a:r>
              <a:rPr kumimoji="1" lang="zh-TW" altLang="en-US" dirty="0">
                <a:solidFill>
                  <a:srgbClr val="C00000"/>
                </a:solidFill>
              </a:rPr>
              <a:t> </a:t>
            </a:r>
            <a:r>
              <a:rPr kumimoji="1" lang="en-US" altLang="zh-TW" dirty="0"/>
              <a:t>manages</a:t>
            </a:r>
            <a:r>
              <a:rPr kumimoji="1" lang="zh-TW" altLang="en-US" dirty="0"/>
              <a:t> </a:t>
            </a:r>
            <a:r>
              <a:rPr kumimoji="1" lang="en-US" altLang="zh-TW" dirty="0"/>
              <a:t>the</a:t>
            </a:r>
            <a:r>
              <a:rPr kumimoji="1" lang="zh-TW" altLang="en-US" dirty="0"/>
              <a:t> </a:t>
            </a:r>
            <a:r>
              <a:rPr kumimoji="1" lang="en-US" altLang="zh-TW" dirty="0"/>
              <a:t>device)</a:t>
            </a:r>
          </a:p>
          <a:p>
            <a:r>
              <a:rPr lang="en-US" altLang="zh-TW" dirty="0"/>
              <a:t>Challenge: ISR is </a:t>
            </a:r>
            <a:r>
              <a:rPr lang="en-US" altLang="zh-TW" dirty="0">
                <a:solidFill>
                  <a:srgbClr val="C00000"/>
                </a:solidFill>
              </a:rPr>
              <a:t>non-</a:t>
            </a:r>
            <a:r>
              <a:rPr lang="en-US" altLang="zh-TW" dirty="0" err="1">
                <a:solidFill>
                  <a:srgbClr val="C00000"/>
                </a:solidFill>
              </a:rPr>
              <a:t>blockable</a:t>
            </a:r>
            <a:r>
              <a:rPr lang="en-US" altLang="zh-TW" dirty="0">
                <a:solidFill>
                  <a:srgbClr val="C00000"/>
                </a:solidFill>
              </a:rPr>
              <a:t> (Cannot Sleep)</a:t>
            </a:r>
            <a:r>
              <a:rPr lang="en-US" altLang="zh-TW" dirty="0"/>
              <a:t>. The handler shall run quickly, to resume execution of the interrupted code as soon as possible. </a:t>
            </a:r>
            <a:endParaRPr kumimoji="1" lang="en-US" altLang="zh-TW" dirty="0"/>
          </a:p>
          <a:p>
            <a:r>
              <a:rPr kumimoji="1" lang="en-US" altLang="zh-TW" dirty="0"/>
              <a:t>Split the ISR into two parts (Top Halves + Bottom Halves):</a:t>
            </a:r>
          </a:p>
          <a:p>
            <a:pPr lvl="1"/>
            <a:r>
              <a:rPr kumimoji="1" lang="en-US" altLang="zh-TW" dirty="0"/>
              <a:t>Top Halves: </a:t>
            </a:r>
            <a:r>
              <a:rPr lang="en-US" altLang="zh-TW" dirty="0">
                <a:solidFill>
                  <a:srgbClr val="C00000"/>
                </a:solidFill>
              </a:rPr>
              <a:t>Run immediately </a:t>
            </a:r>
            <a:r>
              <a:rPr lang="en-US" altLang="zh-TW" dirty="0"/>
              <a:t>upon receipt of the interrupt and performs only the </a:t>
            </a:r>
            <a:r>
              <a:rPr lang="en-US" altLang="zh-TW" dirty="0">
                <a:solidFill>
                  <a:srgbClr val="C00000"/>
                </a:solidFill>
              </a:rPr>
              <a:t>work that is time-critical</a:t>
            </a:r>
            <a:r>
              <a:rPr lang="en-US" altLang="zh-TW" dirty="0"/>
              <a:t>.</a:t>
            </a:r>
            <a:endParaRPr kumimoji="1" lang="en-US" altLang="zh-TW" dirty="0"/>
          </a:p>
          <a:p>
            <a:pPr lvl="1"/>
            <a:r>
              <a:rPr lang="en-US" altLang="zh-TW" dirty="0"/>
              <a:t>Bottom Halves: Work that can be performed later is </a:t>
            </a:r>
            <a:r>
              <a:rPr lang="en-US" altLang="zh-TW" dirty="0">
                <a:solidFill>
                  <a:srgbClr val="C00000"/>
                </a:solidFill>
              </a:rPr>
              <a:t>deferred</a:t>
            </a:r>
            <a:r>
              <a:rPr lang="en-US" altLang="zh-TW" dirty="0"/>
              <a:t> until the bottom half.</a:t>
            </a:r>
          </a:p>
          <a:p>
            <a:pPr lvl="1"/>
            <a:r>
              <a:rPr kumimoji="1" lang="en-US" altLang="zh-TW" dirty="0"/>
              <a:t>Example: </a:t>
            </a:r>
          </a:p>
          <a:p>
            <a:pPr marL="1371600" lvl="2" indent="-457200">
              <a:buFont typeface="+mj-lt"/>
              <a:buAutoNum type="arabicPeriod"/>
            </a:pPr>
            <a:r>
              <a:rPr kumimoji="1" lang="en-US" altLang="zh-TW" dirty="0"/>
              <a:t>A network </a:t>
            </a:r>
            <a:r>
              <a:rPr lang="en-US" altLang="zh-TW" dirty="0"/>
              <a:t>c</a:t>
            </a:r>
            <a:r>
              <a:rPr kumimoji="1" lang="en-US" altLang="zh-TW" dirty="0"/>
              <a:t>ard </a:t>
            </a:r>
            <a:r>
              <a:rPr lang="en-US" altLang="zh-TW" dirty="0"/>
              <a:t>r</a:t>
            </a:r>
            <a:r>
              <a:rPr kumimoji="1" lang="en-US" altLang="zh-TW" dirty="0"/>
              <a:t>eceived a Packet. </a:t>
            </a:r>
          </a:p>
          <a:p>
            <a:pPr marL="1371600" lvl="2" indent="-457200">
              <a:buFont typeface="+mj-lt"/>
              <a:buAutoNum type="arabicPeriod"/>
            </a:pPr>
            <a:r>
              <a:rPr lang="en-US" altLang="zh-TW" dirty="0"/>
              <a:t>T</a:t>
            </a:r>
            <a:r>
              <a:rPr kumimoji="1" lang="en-US" altLang="zh-TW" dirty="0"/>
              <a:t>op Halves move the packet from the buffer in the network card to host memory. </a:t>
            </a:r>
          </a:p>
          <a:p>
            <a:pPr marL="1371600" lvl="2" indent="-457200">
              <a:buFont typeface="+mj-lt"/>
              <a:buAutoNum type="arabicPeriod"/>
            </a:pPr>
            <a:r>
              <a:rPr kumimoji="1" lang="en-US" altLang="zh-TW" dirty="0"/>
              <a:t>Bottom Halves will process the packet later</a:t>
            </a:r>
            <a:r>
              <a:rPr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009481E5-4339-55E9-65B7-914221CEF4C9}"/>
              </a:ext>
            </a:extLst>
          </p:cNvPr>
          <p:cNvSpPr>
            <a:spLocks noGrp="1"/>
          </p:cNvSpPr>
          <p:nvPr>
            <p:ph type="sldNum" sz="quarter" idx="4"/>
          </p:nvPr>
        </p:nvSpPr>
        <p:spPr/>
        <p:txBody>
          <a:bodyPr/>
          <a:lstStyle/>
          <a:p>
            <a:fld id="{E24E6636-6BA5-4AAC-8485-BE8D914D288B}" type="slidenum">
              <a:rPr lang="zh-TW" altLang="en-US" smtClean="0"/>
              <a:pPr/>
              <a:t>23</a:t>
            </a:fld>
            <a:endParaRPr lang="zh-TW" altLang="en-US" dirty="0"/>
          </a:p>
        </p:txBody>
      </p:sp>
    </p:spTree>
    <p:extLst>
      <p:ext uri="{BB962C8B-B14F-4D97-AF65-F5344CB8AC3E}">
        <p14:creationId xmlns:p14="http://schemas.microsoft.com/office/powerpoint/2010/main" val="3294062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9" presetClass="emph" presetSubtype="0" nodeType="withEffect">
                                  <p:stCondLst>
                                    <p:cond delay="0"/>
                                  </p:stCondLst>
                                  <p:childTnLst>
                                    <p:set>
                                      <p:cBhvr>
                                        <p:cTn id="14" dur="indefinite"/>
                                        <p:tgtEl>
                                          <p:spTgt spid="3">
                                            <p:txEl>
                                              <p:pRg st="0" end="0"/>
                                            </p:txEl>
                                          </p:spTgt>
                                        </p:tgtEl>
                                        <p:attrNameLst>
                                          <p:attrName>style.opacity</p:attrName>
                                        </p:attrNameLst>
                                      </p:cBhvr>
                                      <p:to>
                                        <p:strVal val="0.5"/>
                                      </p:to>
                                    </p:set>
                                    <p:animEffect filter="image" prLst="opacity: 0.5">
                                      <p:cBhvr rctx="IE">
                                        <p:cTn id="15" dur="indefinite"/>
                                        <p:tgtEl>
                                          <p:spTgt spid="3">
                                            <p:txEl>
                                              <p:pRg st="0" end="0"/>
                                            </p:txEl>
                                          </p:spTgt>
                                        </p:tgtEl>
                                      </p:cBhvr>
                                    </p:animEffect>
                                  </p:childTnLst>
                                </p:cTn>
                              </p:par>
                              <p:par>
                                <p:cTn id="16" presetID="9" presetClass="emph" presetSubtype="0" nodeType="withEffect">
                                  <p:stCondLst>
                                    <p:cond delay="0"/>
                                  </p:stCondLst>
                                  <p:childTnLst>
                                    <p:set>
                                      <p:cBhvr>
                                        <p:cTn id="17" dur="indefinite"/>
                                        <p:tgtEl>
                                          <p:spTgt spid="3">
                                            <p:txEl>
                                              <p:pRg st="1" end="1"/>
                                            </p:txEl>
                                          </p:spTgt>
                                        </p:tgtEl>
                                        <p:attrNameLst>
                                          <p:attrName>style.opacity</p:attrName>
                                        </p:attrNameLst>
                                      </p:cBhvr>
                                      <p:to>
                                        <p:strVal val="0.5"/>
                                      </p:to>
                                    </p:set>
                                    <p:animEffect filter="image" prLst="opacity: 0.5">
                                      <p:cBhvr rctx="IE">
                                        <p:cTn id="18" dur="indefinite"/>
                                        <p:tgtEl>
                                          <p:spTgt spid="3">
                                            <p:txEl>
                                              <p:pRg st="1" end="1"/>
                                            </p:txEl>
                                          </p:spTgt>
                                        </p:tgtEl>
                                      </p:cBhvr>
                                    </p:animEffect>
                                  </p:childTnLst>
                                </p:cTn>
                              </p:par>
                              <p:par>
                                <p:cTn id="19" presetID="9" presetClass="emph" presetSubtype="0" nodeType="withEffect">
                                  <p:stCondLst>
                                    <p:cond delay="0"/>
                                  </p:stCondLst>
                                  <p:childTnLst>
                                    <p:set>
                                      <p:cBhvr>
                                        <p:cTn id="20" dur="indefinite"/>
                                        <p:tgtEl>
                                          <p:spTgt spid="3">
                                            <p:txEl>
                                              <p:pRg st="2" end="2"/>
                                            </p:txEl>
                                          </p:spTgt>
                                        </p:tgtEl>
                                        <p:attrNameLst>
                                          <p:attrName>style.opacity</p:attrName>
                                        </p:attrNameLst>
                                      </p:cBhvr>
                                      <p:to>
                                        <p:strVal val="0.5"/>
                                      </p:to>
                                    </p:set>
                                    <p:animEffect filter="image" prLst="opacity: 0.5">
                                      <p:cBhvr rctx="IE">
                                        <p:cTn id="21" dur="indefinite"/>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88CDF1-12CA-49D6-0840-E34C8599A6E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D7B5818-612A-2E3F-B545-3A8573A48132}"/>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288A43FE-3B59-4569-C5B4-8CDC750701AC}"/>
              </a:ext>
            </a:extLst>
          </p:cNvPr>
          <p:cNvSpPr>
            <a:spLocks noGrp="1"/>
          </p:cNvSpPr>
          <p:nvPr>
            <p:ph idx="1"/>
          </p:nvPr>
        </p:nvSpPr>
        <p:spPr/>
        <p:txBody>
          <a:bodyPr>
            <a:normAutofit fontScale="92500" lnSpcReduction="20000"/>
          </a:bodyPr>
          <a:lstStyle/>
          <a:p>
            <a:r>
              <a:rPr kumimoji="1" lang="en-US" altLang="zh-TW" dirty="0"/>
              <a:t>Q1: </a:t>
            </a:r>
            <a:r>
              <a:rPr lang="en-US" altLang="zh-TW" dirty="0"/>
              <a:t>In kernel 2.5, we have active array and expired array. So, active array is a kind of running queue, while expired array is like a waiting queue? </a:t>
            </a:r>
            <a:r>
              <a:rPr kumimoji="1" lang="en-US" altLang="zh-TW" u="sng" dirty="0"/>
              <a:t>Ans: </a:t>
            </a:r>
            <a:r>
              <a:rPr lang="en-US" altLang="zh-TW" dirty="0">
                <a:solidFill>
                  <a:srgbClr val="C00000"/>
                </a:solidFill>
              </a:rPr>
              <a:t>The expired array is not the same as the sleep/wait queues. Blocked/sleeping tasks are removed from the priority arrays and sit in wait queues until they become runnable again. The expired array simply holds runnable tasks that have used up their current quantum and will only be considered again after the active/expired swap.</a:t>
            </a:r>
            <a:endParaRPr kumimoji="1" lang="en-US" altLang="zh-TW" u="sng" dirty="0"/>
          </a:p>
          <a:p>
            <a:r>
              <a:rPr lang="en-US" altLang="zh-TW" dirty="0"/>
              <a:t>Q2: Why did the O(N) scheduler used before Linux Kernel 2.4 become inefficient when the number of processes increased, and how did the O(1) scheduler in Kernel 2.5 improve scalability with its active/ expired arrays and bitmap design?. </a:t>
            </a:r>
            <a:r>
              <a:rPr lang="en-US" altLang="zh-TW" u="sng" dirty="0"/>
              <a:t>Ans: </a:t>
            </a:r>
            <a:r>
              <a:rPr lang="en-US" altLang="zh-TW" dirty="0"/>
              <a:t>During the boot process, the kernel image is stored on disk (e.g., SSD, HDD, or flash memory), and it needs to be loaded into main memory (RAM) before execution can begin.</a:t>
            </a:r>
          </a:p>
          <a:p>
            <a:r>
              <a:rPr lang="en-US" altLang="zh-TW" dirty="0"/>
              <a:t>Q3:</a:t>
            </a:r>
            <a:r>
              <a:rPr lang="en-US" altLang="zh-TW" dirty="0">
                <a:latin typeface="Calibri Light" panose="020F0302020204030204" pitchFamily="34" charset="0"/>
                <a:cs typeface="Calibri Light" panose="020F0302020204030204" pitchFamily="34" charset="0"/>
              </a:rPr>
              <a:t> </a:t>
            </a:r>
            <a:r>
              <a:rPr lang="en-US" altLang="zh-TW" dirty="0" err="1">
                <a:latin typeface="Calibri Light" panose="020F0302020204030204" pitchFamily="34" charset="0"/>
                <a:cs typeface="Calibri Light" panose="020F0302020204030204" pitchFamily="34" charset="0"/>
              </a:rPr>
              <a:t>init</a:t>
            </a:r>
            <a:r>
              <a:rPr lang="en-US" altLang="zh-TW" dirty="0"/>
              <a:t> process is a </a:t>
            </a:r>
            <a:r>
              <a:rPr lang="en-US" altLang="zh-TW" dirty="0">
                <a:solidFill>
                  <a:srgbClr val="C00000"/>
                </a:solidFill>
              </a:rPr>
              <a:t>user process </a:t>
            </a:r>
            <a:r>
              <a:rPr lang="en-US" altLang="zh-TW" dirty="0"/>
              <a:t>not kernel process.</a:t>
            </a:r>
          </a:p>
          <a:p>
            <a:r>
              <a:rPr kumimoji="1" lang="en-US" altLang="zh-TW" dirty="0"/>
              <a:t>Q4: </a:t>
            </a:r>
            <a:r>
              <a:rPr lang="en-US" altLang="zh-TW" dirty="0">
                <a:effectLst/>
              </a:rPr>
              <a:t>If the C library is in user space, how does the OS understand C code in kernel space? </a:t>
            </a:r>
            <a:r>
              <a:rPr lang="en-US" altLang="zh-TW" u="sng" dirty="0">
                <a:effectLst/>
              </a:rPr>
              <a:t>Ans:</a:t>
            </a:r>
            <a:r>
              <a:rPr lang="en-US" altLang="zh-TW" dirty="0">
                <a:effectLst/>
              </a:rPr>
              <a:t> kernel does not use standard C library. Kernel programming uses </a:t>
            </a:r>
            <a:r>
              <a:rPr lang="en-US" altLang="zh-TW" dirty="0">
                <a:solidFill>
                  <a:srgbClr val="C00000"/>
                </a:solidFill>
                <a:effectLst/>
              </a:rPr>
              <a:t>kernel C code</a:t>
            </a:r>
            <a:r>
              <a:rPr lang="en-US" altLang="zh-TW" dirty="0">
                <a:effectLst/>
              </a:rPr>
              <a:t>.</a:t>
            </a:r>
          </a:p>
          <a:p>
            <a:endParaRPr kumimoji="1" lang="zh-TW" altLang="en-US" dirty="0"/>
          </a:p>
        </p:txBody>
      </p:sp>
      <p:sp>
        <p:nvSpPr>
          <p:cNvPr id="4" name="投影片編號版面配置區 3">
            <a:extLst>
              <a:ext uri="{FF2B5EF4-FFF2-40B4-BE49-F238E27FC236}">
                <a16:creationId xmlns:a16="http://schemas.microsoft.com/office/drawing/2014/main" id="{D02FFBDA-5DA0-52E9-F852-F4DEB0AAE27B}"/>
              </a:ext>
            </a:extLst>
          </p:cNvPr>
          <p:cNvSpPr>
            <a:spLocks noGrp="1"/>
          </p:cNvSpPr>
          <p:nvPr>
            <p:ph type="sldNum" sz="quarter" idx="4"/>
          </p:nvPr>
        </p:nvSpPr>
        <p:spPr/>
        <p:txBody>
          <a:bodyPr/>
          <a:lstStyle/>
          <a:p>
            <a:fld id="{E24E6636-6BA5-4AAC-8485-BE8D914D288B}" type="slidenum">
              <a:rPr lang="zh-TW" altLang="en-US" smtClean="0"/>
              <a:pPr/>
              <a:t>24</a:t>
            </a:fld>
            <a:endParaRPr lang="zh-TW" altLang="en-US" dirty="0"/>
          </a:p>
        </p:txBody>
      </p:sp>
    </p:spTree>
    <p:extLst>
      <p:ext uri="{BB962C8B-B14F-4D97-AF65-F5344CB8AC3E}">
        <p14:creationId xmlns:p14="http://schemas.microsoft.com/office/powerpoint/2010/main" val="288571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0" end="0"/>
                                            </p:txEl>
                                          </p:spTgt>
                                        </p:tgtEl>
                                        <p:attrNameLst>
                                          <p:attrName>style.opacity</p:attrName>
                                        </p:attrNameLst>
                                      </p:cBhvr>
                                      <p:to>
                                        <p:strVal val="0.25"/>
                                      </p:to>
                                    </p:set>
                                    <p:animEffect filter="image" prLst="opacity: 0.25">
                                      <p:cBhvr rctx="IE">
                                        <p:cTn id="10" dur="indefinite"/>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par>
                                <p:cTn id="21" presetID="9" presetClass="emph" presetSubtype="0" nodeType="withEffect">
                                  <p:stCondLst>
                                    <p:cond delay="0"/>
                                  </p:stCondLst>
                                  <p:childTnLst>
                                    <p:set>
                                      <p:cBhvr>
                                        <p:cTn id="22" dur="indefinite"/>
                                        <p:tgtEl>
                                          <p:spTgt spid="3">
                                            <p:txEl>
                                              <p:pRg st="1" end="1"/>
                                            </p:txEl>
                                          </p:spTgt>
                                        </p:tgtEl>
                                        <p:attrNameLst>
                                          <p:attrName>style.opacity</p:attrName>
                                        </p:attrNameLst>
                                      </p:cBhvr>
                                      <p:to>
                                        <p:strVal val="0.25"/>
                                      </p:to>
                                    </p:set>
                                    <p:animEffect filter="image" prLst="opacity: 0.25">
                                      <p:cBhvr rctx="IE">
                                        <p:cTn id="23" dur="indefinite"/>
                                        <p:tgtEl>
                                          <p:spTgt spid="3">
                                            <p:txEl>
                                              <p:pRg st="1" end="1"/>
                                            </p:txEl>
                                          </p:spTgt>
                                        </p:tgtEl>
                                      </p:cBhvr>
                                    </p:animEffect>
                                  </p:childTnLst>
                                </p:cTn>
                              </p:par>
                              <p:par>
                                <p:cTn id="24" presetID="9" presetClass="emph" presetSubtype="0" nodeType="withEffect">
                                  <p:stCondLst>
                                    <p:cond delay="0"/>
                                  </p:stCondLst>
                                  <p:childTnLst>
                                    <p:set>
                                      <p:cBhvr>
                                        <p:cTn id="25" dur="indefinite"/>
                                        <p:tgtEl>
                                          <p:spTgt spid="3">
                                            <p:txEl>
                                              <p:pRg st="2" end="2"/>
                                            </p:txEl>
                                          </p:spTgt>
                                        </p:tgtEl>
                                        <p:attrNameLst>
                                          <p:attrName>style.opacity</p:attrName>
                                        </p:attrNameLst>
                                      </p:cBhvr>
                                      <p:to>
                                        <p:strVal val="0.25"/>
                                      </p:to>
                                    </p:set>
                                    <p:animEffect filter="image" prLst="opacity: 0.25">
                                      <p:cBhvr rctx="IE">
                                        <p:cTn id="26" dur="indefinite"/>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CC58CA-1263-69C7-E8D2-7733452461D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ADAD326-F4C3-BC99-3AF9-8AAEFDEEEBF7}"/>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F891B200-E709-85C5-77F4-8F4B6F542B7F}"/>
              </a:ext>
            </a:extLst>
          </p:cNvPr>
          <p:cNvSpPr>
            <a:spLocks noGrp="1"/>
          </p:cNvSpPr>
          <p:nvPr>
            <p:ph idx="1"/>
          </p:nvPr>
        </p:nvSpPr>
        <p:spPr/>
        <p:txBody>
          <a:bodyPr/>
          <a:lstStyle/>
          <a:p>
            <a:pPr algn="l"/>
            <a:r>
              <a:rPr kumimoji="1" lang="en-US" altLang="zh-TW" dirty="0"/>
              <a:t>Q5: </a:t>
            </a:r>
            <a:r>
              <a:rPr lang="en-US" altLang="zh-TW" dirty="0"/>
              <a:t>Why does Linux not design threads as an independent structure, but instead represent them with the same </a:t>
            </a:r>
            <a:r>
              <a:rPr lang="en-US" altLang="zh-TW" dirty="0" err="1"/>
              <a:t>task_struct</a:t>
            </a:r>
            <a:r>
              <a:rPr lang="en-US" altLang="zh-TW" dirty="0"/>
              <a:t> as processes? What are the trade offs of this approach?</a:t>
            </a:r>
          </a:p>
          <a:p>
            <a:pPr lvl="1" algn="l">
              <a:buClr>
                <a:schemeClr val="accent6">
                  <a:lumMod val="75000"/>
                </a:schemeClr>
              </a:buClr>
              <a:buSzPct val="120000"/>
              <a:buFont typeface="標準系統字體"/>
              <a:buChar char="👍"/>
            </a:pPr>
            <a:r>
              <a:rPr lang="en-US" altLang="zh-TW" dirty="0">
                <a:solidFill>
                  <a:schemeClr val="accent6">
                    <a:lumMod val="75000"/>
                  </a:schemeClr>
                </a:solidFill>
              </a:rPr>
              <a:t>Robustness</a:t>
            </a:r>
            <a:r>
              <a:rPr lang="en-US" altLang="zh-TW" dirty="0"/>
              <a:t>: The scheduler only handles </a:t>
            </a:r>
            <a:r>
              <a:rPr lang="en-US" altLang="zh-TW" dirty="0" err="1"/>
              <a:t>task_structs</a:t>
            </a:r>
            <a:r>
              <a:rPr lang="en-US" altLang="zh-TW" dirty="0"/>
              <a:t>, so the </a:t>
            </a:r>
            <a:r>
              <a:rPr lang="en-US" altLang="zh-TW" dirty="0">
                <a:solidFill>
                  <a:schemeClr val="accent5">
                    <a:lumMod val="75000"/>
                  </a:schemeClr>
                </a:solidFill>
              </a:rPr>
              <a:t>same code works for both processes and threads</a:t>
            </a:r>
            <a:r>
              <a:rPr lang="en-US" altLang="zh-TW" dirty="0"/>
              <a:t>. No need to duplicate logic for different object types.</a:t>
            </a:r>
          </a:p>
          <a:p>
            <a:pPr lvl="1" algn="l">
              <a:buClr>
                <a:schemeClr val="accent6">
                  <a:lumMod val="75000"/>
                </a:schemeClr>
              </a:buClr>
              <a:buSzPct val="120000"/>
              <a:buFont typeface="標準系統字體"/>
              <a:buChar char="👍"/>
            </a:pPr>
            <a:r>
              <a:rPr lang="en-US" altLang="zh-TW" dirty="0">
                <a:solidFill>
                  <a:schemeClr val="accent6">
                    <a:lumMod val="75000"/>
                  </a:schemeClr>
                </a:solidFill>
              </a:rPr>
              <a:t>Flexible</a:t>
            </a:r>
            <a:r>
              <a:rPr lang="en-US" altLang="zh-TW" dirty="0"/>
              <a:t>: With clone(), you </a:t>
            </a:r>
            <a:r>
              <a:rPr lang="en-US" altLang="zh-TW" dirty="0">
                <a:solidFill>
                  <a:schemeClr val="accent5">
                    <a:lumMod val="75000"/>
                  </a:schemeClr>
                </a:solidFill>
              </a:rPr>
              <a:t>can decide which parts to share</a:t>
            </a:r>
            <a:r>
              <a:rPr lang="en-US" altLang="zh-TW" dirty="0"/>
              <a:t>. This is more powerful than a rigid “thread object” that always shares everything.</a:t>
            </a:r>
          </a:p>
          <a:p>
            <a:pPr lvl="1" algn="l">
              <a:buClr>
                <a:srgbClr val="C00000"/>
              </a:buClr>
              <a:buSzPct val="120000"/>
              <a:buFont typeface="標準系統字體"/>
              <a:buChar char="👎"/>
            </a:pPr>
            <a:r>
              <a:rPr lang="en-US" altLang="zh-TW" dirty="0">
                <a:solidFill>
                  <a:srgbClr val="C00000"/>
                </a:solidFill>
              </a:rPr>
              <a:t>Memory Overhead</a:t>
            </a:r>
            <a:r>
              <a:rPr lang="en-US" altLang="zh-TW" dirty="0"/>
              <a:t>: Every </a:t>
            </a:r>
            <a:r>
              <a:rPr lang="en-US" altLang="zh-TW" dirty="0">
                <a:solidFill>
                  <a:schemeClr val="accent5">
                    <a:lumMod val="75000"/>
                  </a:schemeClr>
                </a:solidFill>
              </a:rPr>
              <a:t>thread needs a full </a:t>
            </a:r>
            <a:r>
              <a:rPr lang="en-US" altLang="zh-TW" dirty="0" err="1">
                <a:solidFill>
                  <a:schemeClr val="accent5">
                    <a:lumMod val="75000"/>
                  </a:schemeClr>
                </a:solidFill>
              </a:rPr>
              <a:t>task_struct</a:t>
            </a:r>
            <a:r>
              <a:rPr lang="en-US" altLang="zh-TW" dirty="0"/>
              <a:t>, kernel stack, scheduling entity. Thousands of threads cost noticeable kernel memory.</a:t>
            </a:r>
          </a:p>
          <a:p>
            <a:pPr lvl="1" algn="l">
              <a:buClr>
                <a:srgbClr val="C00000"/>
              </a:buClr>
              <a:buSzPct val="120000"/>
              <a:buFont typeface="標準系統字體"/>
              <a:buChar char="👎"/>
            </a:pPr>
            <a:r>
              <a:rPr lang="en-US" altLang="zh-TW" dirty="0">
                <a:solidFill>
                  <a:srgbClr val="C00000"/>
                </a:solidFill>
              </a:rPr>
              <a:t>Scheduling unfairness: </a:t>
            </a:r>
            <a:r>
              <a:rPr lang="en-US" altLang="zh-TW" dirty="0">
                <a:solidFill>
                  <a:schemeClr val="accent5">
                    <a:lumMod val="75000"/>
                  </a:schemeClr>
                </a:solidFill>
              </a:rPr>
              <a:t>CFS is fair among tasks, not processes</a:t>
            </a:r>
            <a:r>
              <a:rPr lang="en-US" altLang="zh-TW" dirty="0"/>
              <a:t>. A process with 100 threads may have more CPU than a single-threaded process.</a:t>
            </a:r>
            <a:endParaRPr kumimoji="1" lang="zh-TW" altLang="en-US" dirty="0"/>
          </a:p>
        </p:txBody>
      </p:sp>
      <p:sp>
        <p:nvSpPr>
          <p:cNvPr id="4" name="投影片編號版面配置區 3">
            <a:extLst>
              <a:ext uri="{FF2B5EF4-FFF2-40B4-BE49-F238E27FC236}">
                <a16:creationId xmlns:a16="http://schemas.microsoft.com/office/drawing/2014/main" id="{4BADEFB4-66B4-244C-FCD6-3C0A51E4E56D}"/>
              </a:ext>
            </a:extLst>
          </p:cNvPr>
          <p:cNvSpPr>
            <a:spLocks noGrp="1"/>
          </p:cNvSpPr>
          <p:nvPr>
            <p:ph type="sldNum" sz="quarter" idx="4"/>
          </p:nvPr>
        </p:nvSpPr>
        <p:spPr/>
        <p:txBody>
          <a:bodyPr/>
          <a:lstStyle/>
          <a:p>
            <a:fld id="{E24E6636-6BA5-4AAC-8485-BE8D914D288B}" type="slidenum">
              <a:rPr lang="zh-TW" altLang="en-US" smtClean="0"/>
              <a:pPr/>
              <a:t>25</a:t>
            </a:fld>
            <a:endParaRPr lang="zh-TW" altLang="en-US" dirty="0"/>
          </a:p>
        </p:txBody>
      </p:sp>
    </p:spTree>
    <p:extLst>
      <p:ext uri="{BB962C8B-B14F-4D97-AF65-F5344CB8AC3E}">
        <p14:creationId xmlns:p14="http://schemas.microsoft.com/office/powerpoint/2010/main" val="91992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188815</TotalTime>
  <Words>4814</Words>
  <Application>Microsoft Macintosh PowerPoint</Application>
  <PresentationFormat>寬螢幕</PresentationFormat>
  <Paragraphs>447</Paragraphs>
  <Slides>25</Slides>
  <Notes>19</Notes>
  <HiddenSlides>2</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25</vt:i4>
      </vt:variant>
    </vt:vector>
  </HeadingPairs>
  <TitlesOfParts>
    <vt:vector size="35" baseType="lpstr">
      <vt:lpstr>標準系統字體</vt:lpstr>
      <vt:lpstr>Kaiti TC</vt:lpstr>
      <vt:lpstr>Söhne</vt:lpstr>
      <vt:lpstr>Arial</vt:lpstr>
      <vt:lpstr>Bradley Hand</vt:lpstr>
      <vt:lpstr>Calibri</vt:lpstr>
      <vt:lpstr>Calibri Light</vt:lpstr>
      <vt:lpstr>Palatino Linotype</vt:lpstr>
      <vt:lpstr>Wingdings</vt:lpstr>
      <vt:lpstr>Office Theme</vt:lpstr>
      <vt:lpstr>Heads Up</vt:lpstr>
      <vt:lpstr>Q &amp; A</vt:lpstr>
      <vt:lpstr>Q &amp; A</vt:lpstr>
      <vt:lpstr>PowerPoint 簡報</vt:lpstr>
      <vt:lpstr>Recap: Process Creation</vt:lpstr>
      <vt:lpstr>Recap: Process vs Thread</vt:lpstr>
      <vt:lpstr>Recap: Linux Process Scheduler</vt:lpstr>
      <vt:lpstr>Recap: Linux Process Scheduler</vt:lpstr>
      <vt:lpstr>Recap: Linux Process Scheduler (Count.)</vt:lpstr>
      <vt:lpstr>Process Context Switch</vt:lpstr>
      <vt:lpstr>Process Context Switch (Count.)</vt:lpstr>
      <vt:lpstr>CPU Mode Switch vs Process Context Switch</vt:lpstr>
      <vt:lpstr>PowerPoint 簡報</vt:lpstr>
      <vt:lpstr>What is System Call</vt:lpstr>
      <vt:lpstr>System Call Handler</vt:lpstr>
      <vt:lpstr>How to Implement a System Call</vt:lpstr>
      <vt:lpstr>How to Run System Call: x86 vs RISC-V</vt:lpstr>
      <vt:lpstr>PowerPoint 簡報</vt:lpstr>
      <vt:lpstr>Handling Hardware Events</vt:lpstr>
      <vt:lpstr>Handling Hardware Events (Count.)</vt:lpstr>
      <vt:lpstr>Interrupt Request (IRQ)</vt:lpstr>
      <vt:lpstr>How an Interrupt Works</vt:lpstr>
      <vt:lpstr>Interrupt Handler</vt:lpstr>
      <vt:lpstr>Q &amp; A</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吳俊峯</cp:lastModifiedBy>
  <cp:revision>1394</cp:revision>
  <dcterms:created xsi:type="dcterms:W3CDTF">2017-10-03T14:18:54Z</dcterms:created>
  <dcterms:modified xsi:type="dcterms:W3CDTF">2025-09-24T01:53:55Z</dcterms:modified>
</cp:coreProperties>
</file>