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6"/>
  </p:notesMasterIdLst>
  <p:handoutMasterIdLst>
    <p:handoutMasterId r:id="rId37"/>
  </p:handoutMasterIdLst>
  <p:sldIdLst>
    <p:sldId id="256" r:id="rId2"/>
    <p:sldId id="1131" r:id="rId3"/>
    <p:sldId id="1121" r:id="rId4"/>
    <p:sldId id="1123" r:id="rId5"/>
    <p:sldId id="1124" r:id="rId6"/>
    <p:sldId id="1141" r:id="rId7"/>
    <p:sldId id="1128" r:id="rId8"/>
    <p:sldId id="1189" r:id="rId9"/>
    <p:sldId id="1187" r:id="rId10"/>
    <p:sldId id="1175" r:id="rId11"/>
    <p:sldId id="1129" r:id="rId12"/>
    <p:sldId id="1142" r:id="rId13"/>
    <p:sldId id="1132" r:id="rId14"/>
    <p:sldId id="1133" r:id="rId15"/>
    <p:sldId id="1135" r:id="rId16"/>
    <p:sldId id="1144" r:id="rId17"/>
    <p:sldId id="1134" r:id="rId18"/>
    <p:sldId id="1188" r:id="rId19"/>
    <p:sldId id="1146" r:id="rId20"/>
    <p:sldId id="1140" r:id="rId21"/>
    <p:sldId id="1180" r:id="rId22"/>
    <p:sldId id="1181" r:id="rId23"/>
    <p:sldId id="1186" r:id="rId24"/>
    <p:sldId id="1148" r:id="rId25"/>
    <p:sldId id="1157" r:id="rId26"/>
    <p:sldId id="1159" r:id="rId27"/>
    <p:sldId id="1161" r:id="rId28"/>
    <p:sldId id="1193" r:id="rId29"/>
    <p:sldId id="1156" r:id="rId30"/>
    <p:sldId id="1149" r:id="rId31"/>
    <p:sldId id="1178" r:id="rId32"/>
    <p:sldId id="1169" r:id="rId33"/>
    <p:sldId id="1179" r:id="rId34"/>
    <p:sldId id="1194" r:id="rId35"/>
  </p:sldIdLst>
  <p:sldSz cx="12192000" cy="6858000"/>
  <p:notesSz cx="7099300" cy="102346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4A1A42E-9635-48ED-A31C-3B34D71B1AD6}">
          <p14:sldIdLst>
            <p14:sldId id="256"/>
            <p14:sldId id="1131"/>
            <p14:sldId id="1121"/>
            <p14:sldId id="1123"/>
            <p14:sldId id="1124"/>
            <p14:sldId id="1141"/>
            <p14:sldId id="1128"/>
            <p14:sldId id="1189"/>
            <p14:sldId id="1187"/>
            <p14:sldId id="1175"/>
            <p14:sldId id="1129"/>
            <p14:sldId id="1142"/>
            <p14:sldId id="1132"/>
            <p14:sldId id="1133"/>
            <p14:sldId id="1135"/>
            <p14:sldId id="1144"/>
            <p14:sldId id="1134"/>
            <p14:sldId id="1188"/>
            <p14:sldId id="1146"/>
            <p14:sldId id="1140"/>
            <p14:sldId id="1180"/>
            <p14:sldId id="1181"/>
            <p14:sldId id="1186"/>
            <p14:sldId id="1148"/>
            <p14:sldId id="1157"/>
            <p14:sldId id="1159"/>
            <p14:sldId id="1161"/>
            <p14:sldId id="1193"/>
            <p14:sldId id="1156"/>
            <p14:sldId id="1149"/>
            <p14:sldId id="1178"/>
            <p14:sldId id="1169"/>
            <p14:sldId id="1179"/>
            <p14:sldId id="11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FA8"/>
    <a:srgbClr val="FBBFC8"/>
    <a:srgbClr val="F6DF98"/>
    <a:srgbClr val="800080"/>
    <a:srgbClr val="F3CF64"/>
    <a:srgbClr val="FFFD99"/>
    <a:srgbClr val="F2F2F2"/>
    <a:srgbClr val="EAEB01"/>
    <a:srgbClr val="800300"/>
    <a:srgbClr val="EB7B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889" autoAdjust="0"/>
    <p:restoredTop sz="85154" autoAdjust="0"/>
  </p:normalViewPr>
  <p:slideViewPr>
    <p:cSldViewPr snapToGrid="0">
      <p:cViewPr varScale="1">
        <p:scale>
          <a:sx n="96" d="100"/>
          <a:sy n="96" d="100"/>
        </p:scale>
        <p:origin x="1560" y="90"/>
      </p:cViewPr>
      <p:guideLst/>
    </p:cSldViewPr>
  </p:slideViewPr>
  <p:outlineViewPr>
    <p:cViewPr>
      <p:scale>
        <a:sx n="33" d="100"/>
        <a:sy n="33" d="100"/>
      </p:scale>
      <p:origin x="0" y="-29442"/>
    </p:cViewPr>
  </p:outlineViewPr>
  <p:notesTextViewPr>
    <p:cViewPr>
      <p:scale>
        <a:sx n="120" d="100"/>
        <a:sy n="120" d="100"/>
      </p:scale>
      <p:origin x="0" y="0"/>
    </p:cViewPr>
  </p:notesTextViewPr>
  <p:sorterViewPr>
    <p:cViewPr>
      <p:scale>
        <a:sx n="200" d="100"/>
        <a:sy n="200" d="100"/>
      </p:scale>
      <p:origin x="0" y="-235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575" cy="512763"/>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4021139" y="1"/>
            <a:ext cx="3076575" cy="512763"/>
          </a:xfrm>
          <a:prstGeom prst="rect">
            <a:avLst/>
          </a:prstGeom>
        </p:spPr>
        <p:txBody>
          <a:bodyPr vert="horz" lIns="91440" tIns="45720" rIns="91440" bIns="45720" rtlCol="0"/>
          <a:lstStyle>
            <a:lvl1pPr algn="r">
              <a:defRPr sz="1200"/>
            </a:lvl1pPr>
          </a:lstStyle>
          <a:p>
            <a:fld id="{C70AB553-F76C-4E9E-A6A8-687C6D4F2678}" type="datetimeFigureOut">
              <a:rPr lang="zh-TW" altLang="en-US" smtClean="0"/>
              <a:t>2025/10/29</a:t>
            </a:fld>
            <a:endParaRPr lang="zh-TW" altLang="en-US"/>
          </a:p>
        </p:txBody>
      </p:sp>
      <p:sp>
        <p:nvSpPr>
          <p:cNvPr id="4" name="Footer Placeholder 3"/>
          <p:cNvSpPr>
            <a:spLocks noGrp="1"/>
          </p:cNvSpPr>
          <p:nvPr>
            <p:ph type="ftr" sz="quarter" idx="2"/>
          </p:nvPr>
        </p:nvSpPr>
        <p:spPr>
          <a:xfrm>
            <a:off x="1" y="9721851"/>
            <a:ext cx="3076575" cy="512763"/>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4021139" y="9721851"/>
            <a:ext cx="3076575" cy="512763"/>
          </a:xfrm>
          <a:prstGeom prst="rect">
            <a:avLst/>
          </a:prstGeom>
        </p:spPr>
        <p:txBody>
          <a:bodyPr vert="horz" lIns="91440" tIns="45720" rIns="91440" bIns="45720" rtlCol="0" anchor="b"/>
          <a:lstStyle>
            <a:lvl1pPr algn="r">
              <a:defRPr sz="1200"/>
            </a:lvl1pPr>
          </a:lstStyle>
          <a:p>
            <a:fld id="{56A29E38-24E5-4270-86F6-0CA4D49E0625}" type="slidenum">
              <a:rPr lang="zh-TW" altLang="en-US" smtClean="0"/>
              <a:t>‹#›</a:t>
            </a:fld>
            <a:endParaRPr lang="zh-TW" altLang="en-US"/>
          </a:p>
        </p:txBody>
      </p:sp>
    </p:spTree>
    <p:extLst>
      <p:ext uri="{BB962C8B-B14F-4D97-AF65-F5344CB8AC3E}">
        <p14:creationId xmlns:p14="http://schemas.microsoft.com/office/powerpoint/2010/main" val="12523679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endParaRPr lang="zh-TW" altLang="en-US"/>
          </a:p>
        </p:txBody>
      </p:sp>
      <p:sp>
        <p:nvSpPr>
          <p:cNvPr id="3" name="Date Placeholder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fld id="{C2CF7E20-0940-468E-AEA3-3A81AFC8423F}" type="datetimeFigureOut">
              <a:rPr lang="zh-TW" altLang="en-US" smtClean="0"/>
              <a:t>2025/10/29</a:t>
            </a:fld>
            <a:endParaRPr lang="zh-TW" altLang="en-US"/>
          </a:p>
        </p:txBody>
      </p:sp>
      <p:sp>
        <p:nvSpPr>
          <p:cNvPr id="4" name="Slide Image Placeholder 3"/>
          <p:cNvSpPr>
            <a:spLocks noGrp="1" noRot="1" noChangeAspect="1"/>
          </p:cNvSpPr>
          <p:nvPr>
            <p:ph type="sldImg" idx="2"/>
          </p:nvPr>
        </p:nvSpPr>
        <p:spPr>
          <a:xfrm>
            <a:off x="481013" y="1279525"/>
            <a:ext cx="6137275" cy="3452813"/>
          </a:xfrm>
          <a:prstGeom prst="rect">
            <a:avLst/>
          </a:prstGeom>
          <a:noFill/>
          <a:ln w="12700">
            <a:solidFill>
              <a:prstClr val="black"/>
            </a:solidFill>
          </a:ln>
        </p:spPr>
        <p:txBody>
          <a:bodyPr vert="horz" lIns="99048" tIns="49524" rIns="99048" bIns="49524" rtlCol="0" anchor="ctr"/>
          <a:lstStyle/>
          <a:p>
            <a:endParaRPr lang="zh-TW" altLang="en-US"/>
          </a:p>
        </p:txBody>
      </p:sp>
      <p:sp>
        <p:nvSpPr>
          <p:cNvPr id="5" name="Notes Placeholder 4"/>
          <p:cNvSpPr>
            <a:spLocks noGrp="1"/>
          </p:cNvSpPr>
          <p:nvPr>
            <p:ph type="body" sz="quarter" idx="3"/>
          </p:nvPr>
        </p:nvSpPr>
        <p:spPr>
          <a:xfrm>
            <a:off x="709930" y="4925408"/>
            <a:ext cx="5679440" cy="4029878"/>
          </a:xfrm>
          <a:prstGeom prst="rect">
            <a:avLst/>
          </a:prstGeom>
        </p:spPr>
        <p:txBody>
          <a:bodyPr vert="horz" lIns="99048" tIns="49524" rIns="99048" bIns="49524" rtlCol="0"/>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1" y="9721108"/>
            <a:ext cx="3076363" cy="513507"/>
          </a:xfrm>
          <a:prstGeom prst="rect">
            <a:avLst/>
          </a:prstGeom>
        </p:spPr>
        <p:txBody>
          <a:bodyPr vert="horz" lIns="99048" tIns="49524" rIns="99048" bIns="49524" rtlCol="0" anchor="b"/>
          <a:lstStyle>
            <a:lvl1pPr algn="l">
              <a:defRPr sz="1300"/>
            </a:lvl1pPr>
          </a:lstStyle>
          <a:p>
            <a:endParaRPr lang="zh-TW" altLang="en-US"/>
          </a:p>
        </p:txBody>
      </p:sp>
      <p:sp>
        <p:nvSpPr>
          <p:cNvPr id="7" name="Slide Number Placeholder 6"/>
          <p:cNvSpPr>
            <a:spLocks noGrp="1"/>
          </p:cNvSpPr>
          <p:nvPr>
            <p:ph type="sldNum" sz="quarter" idx="5"/>
          </p:nvPr>
        </p:nvSpPr>
        <p:spPr>
          <a:xfrm>
            <a:off x="4021295" y="9721108"/>
            <a:ext cx="3076363" cy="513507"/>
          </a:xfrm>
          <a:prstGeom prst="rect">
            <a:avLst/>
          </a:prstGeom>
        </p:spPr>
        <p:txBody>
          <a:bodyPr vert="horz" lIns="99048" tIns="49524" rIns="99048" bIns="49524" rtlCol="0" anchor="b"/>
          <a:lstStyle>
            <a:lvl1pPr algn="r">
              <a:defRPr sz="1300"/>
            </a:lvl1pPr>
          </a:lstStyle>
          <a:p>
            <a:fld id="{7EE20D91-FCA7-443A-BB7B-86FCD89A57B0}" type="slidenum">
              <a:rPr lang="zh-TW" altLang="en-US" smtClean="0"/>
              <a:t>‹#›</a:t>
            </a:fld>
            <a:endParaRPr lang="zh-TW" altLang="en-US"/>
          </a:p>
        </p:txBody>
      </p:sp>
    </p:spTree>
    <p:extLst>
      <p:ext uri="{BB962C8B-B14F-4D97-AF65-F5344CB8AC3E}">
        <p14:creationId xmlns:p14="http://schemas.microsoft.com/office/powerpoint/2010/main" val="4137020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man7.org/linux/man-pages/man2/fork.2.html"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www.kernel.org/doc/Documentation/vm/overcommit-accounting" TargetMode="External"/><Relationship Id="rId5" Type="http://schemas.openxmlformats.org/officeDocument/2006/relationships/hyperlink" Target="http://man7.org/linux/man-pages/man2/vfork.2.html" TargetMode="External"/><Relationship Id="rId4" Type="http://schemas.openxmlformats.org/officeDocument/2006/relationships/hyperlink" Target="http://man7.org/linux/man-pages/man2/clone.2.html"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Good Morning, My name is Chun-Feng Wu.</a:t>
            </a:r>
            <a:br>
              <a:rPr lang="en-US" altLang="zh-CN" dirty="0"/>
            </a:br>
            <a:r>
              <a:rPr lang="en-US" altLang="zh-CN" dirty="0"/>
              <a:t>In this presentation, I will briefly introduce myself and </a:t>
            </a:r>
            <a:r>
              <a:rPr lang="en-US" altLang="zh-TW" dirty="0"/>
              <a:t>share</a:t>
            </a:r>
            <a:r>
              <a:rPr lang="en-US" altLang="zh-CN" dirty="0"/>
              <a:t> some key idea of my researches.</a:t>
            </a:r>
          </a:p>
          <a:p>
            <a:endParaRPr lang="en-US" altLang="zh-CN" dirty="0"/>
          </a:p>
          <a:p>
            <a:r>
              <a:rPr lang="en-US" altLang="zh-CN" dirty="0"/>
              <a:t>Intensive data movement is one of the critical issue when Von-Neumann machines enter the big data era.</a:t>
            </a:r>
          </a:p>
          <a:p>
            <a:r>
              <a:rPr lang="en-US" altLang="zh-CN" dirty="0"/>
              <a:t>To deal with this issue, my research is to enable a fast, large and device-friendly next-generation computing system.</a:t>
            </a:r>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1</a:t>
            </a:fld>
            <a:endParaRPr lang="zh-TW" altLang="en-US"/>
          </a:p>
        </p:txBody>
      </p:sp>
    </p:spTree>
    <p:extLst>
      <p:ext uri="{BB962C8B-B14F-4D97-AF65-F5344CB8AC3E}">
        <p14:creationId xmlns:p14="http://schemas.microsoft.com/office/powerpoint/2010/main" val="3508759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Good Morning, My name is Chun-Feng Wu.</a:t>
            </a:r>
            <a:br>
              <a:rPr lang="en-US" altLang="zh-CN"/>
            </a:br>
            <a:r>
              <a:rPr lang="en-US" altLang="zh-CN"/>
              <a:t>In this presentation, I will briefly introduce myself and </a:t>
            </a:r>
            <a:r>
              <a:rPr lang="en-US" altLang="zh-TW"/>
              <a:t>share</a:t>
            </a:r>
            <a:r>
              <a:rPr lang="en-US" altLang="zh-CN"/>
              <a:t> some key idea of my researches.</a:t>
            </a:r>
          </a:p>
          <a:p>
            <a:endParaRPr lang="en-US" altLang="zh-CN"/>
          </a:p>
          <a:p>
            <a:r>
              <a:rPr lang="en-US" altLang="zh-CN"/>
              <a:t>Intensive data movement is one of the critical issue when Von-Neumann machines enter the big data era.</a:t>
            </a:r>
          </a:p>
          <a:p>
            <a:r>
              <a:rPr lang="en-US" altLang="zh-CN"/>
              <a:t>To deal with this issue, my research is to enable a fast, large and device-friendly next-generation computing system.</a:t>
            </a:r>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2</a:t>
            </a:fld>
            <a:endParaRPr lang="zh-TW" altLang="en-US"/>
          </a:p>
        </p:txBody>
      </p:sp>
    </p:spTree>
    <p:extLst>
      <p:ext uri="{BB962C8B-B14F-4D97-AF65-F5344CB8AC3E}">
        <p14:creationId xmlns:p14="http://schemas.microsoft.com/office/powerpoint/2010/main" val="3187071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This is the agenda.</a:t>
            </a:r>
          </a:p>
          <a:p>
            <a:r>
              <a:rPr kumimoji="1" lang="en-US" altLang="zh-TW" dirty="0"/>
              <a:t>I will first</a:t>
            </a:r>
            <a:r>
              <a:rPr kumimoji="1" lang="zh-TW" altLang="en-US" dirty="0"/>
              <a:t> </a:t>
            </a:r>
            <a:r>
              <a:rPr kumimoji="1" lang="en-US" altLang="zh-TW" dirty="0"/>
              <a:t>give a brief self-introduction including</a:t>
            </a:r>
            <a:r>
              <a:rPr kumimoji="1" lang="zh-TW" altLang="en-US" dirty="0"/>
              <a:t> </a:t>
            </a:r>
            <a:r>
              <a:rPr kumimoji="1" lang="en-US" altLang="zh-TW" dirty="0"/>
              <a:t>awards, cooperation experiences, and publication.</a:t>
            </a:r>
          </a:p>
          <a:p>
            <a:r>
              <a:rPr kumimoji="1" lang="en-US" altLang="zh-TW" dirty="0"/>
              <a:t>After that, I will give</a:t>
            </a:r>
            <a:r>
              <a:rPr kumimoji="1" lang="zh-TW" altLang="en-US" dirty="0"/>
              <a:t> </a:t>
            </a:r>
            <a:r>
              <a:rPr kumimoji="1" lang="en-US" altLang="zh-TW" dirty="0"/>
              <a:t>a</a:t>
            </a:r>
            <a:r>
              <a:rPr kumimoji="1" lang="zh-TW" altLang="en-US" dirty="0"/>
              <a:t> </a:t>
            </a:r>
            <a:r>
              <a:rPr kumimoji="1" lang="en-US" altLang="zh-TW" dirty="0"/>
              <a:t>deep</a:t>
            </a:r>
            <a:r>
              <a:rPr kumimoji="1" lang="zh-TW" altLang="en-US" dirty="0"/>
              <a:t> </a:t>
            </a:r>
            <a:r>
              <a:rPr kumimoji="1" lang="en-US" altLang="zh-TW" dirty="0"/>
              <a:t>dive</a:t>
            </a:r>
            <a:r>
              <a:rPr kumimoji="1" lang="zh-TW" altLang="en-US" dirty="0"/>
              <a:t> </a:t>
            </a:r>
            <a:r>
              <a:rPr kumimoji="1" lang="en-US" altLang="zh-TW" dirty="0"/>
              <a:t>into my research – the next-generation computing system, and</a:t>
            </a:r>
            <a:r>
              <a:rPr kumimoji="1" lang="zh-TW" altLang="en-US" dirty="0"/>
              <a:t> </a:t>
            </a:r>
            <a:r>
              <a:rPr kumimoji="1" lang="en-US" altLang="zh-TW" dirty="0"/>
              <a:t>present</a:t>
            </a:r>
            <a:r>
              <a:rPr kumimoji="1" lang="zh-TW" altLang="en-US" dirty="0"/>
              <a:t> </a:t>
            </a:r>
            <a:r>
              <a:rPr kumimoji="1" lang="en-US" altLang="zh-TW" dirty="0"/>
              <a:t>my</a:t>
            </a:r>
            <a:r>
              <a:rPr kumimoji="1" lang="zh-TW" altLang="en-US" dirty="0"/>
              <a:t> </a:t>
            </a:r>
            <a:r>
              <a:rPr kumimoji="1" lang="en-US" altLang="zh-TW" dirty="0"/>
              <a:t>future</a:t>
            </a:r>
            <a:r>
              <a:rPr kumimoji="1" lang="zh-TW" altLang="en-US" dirty="0"/>
              <a:t> </a:t>
            </a:r>
            <a:r>
              <a:rPr kumimoji="1" lang="en-US" altLang="zh-TW" dirty="0"/>
              <a:t>plan.</a:t>
            </a:r>
          </a:p>
          <a:p>
            <a:endParaRPr kumimoji="1" lang="en-US" altLang="zh-TW" dirty="0"/>
          </a:p>
          <a:p>
            <a:r>
              <a:rPr kumimoji="1" lang="en-US" altLang="zh-TW" dirty="0"/>
              <a:t>I will then talk about the reason for applying your department, as well as my course plan in the end of presentation.</a:t>
            </a:r>
            <a:br>
              <a:rPr kumimoji="1" lang="en-US" altLang="zh-TW" dirty="0"/>
            </a:br>
            <a:br>
              <a:rPr kumimoji="1" lang="en-US" altLang="zh-TW" dirty="0"/>
            </a:br>
            <a:r>
              <a:rPr lang="en-US" altLang="zh-TW" b="1" dirty="0"/>
              <a:t>Process / Task List / Process Descriptor</a:t>
            </a:r>
          </a:p>
          <a:p>
            <a:r>
              <a:rPr lang="zh-TW" altLang="en-US" b="1" dirty="0"/>
              <a:t>逐字翻譯</a:t>
            </a:r>
          </a:p>
          <a:p>
            <a:r>
              <a:rPr lang="en-US" altLang="zh-TW" b="1" dirty="0"/>
              <a:t>Process: an active program and related resources, such as processor state, memory address space.</a:t>
            </a:r>
            <a:br>
              <a:rPr lang="en-US" altLang="zh-TW" dirty="0"/>
            </a:br>
            <a:r>
              <a:rPr lang="zh-TW" altLang="en-US" b="1" dirty="0"/>
              <a:t>行程（</a:t>
            </a:r>
            <a:r>
              <a:rPr lang="en-US" altLang="zh-TW" b="1" dirty="0"/>
              <a:t>Process</a:t>
            </a:r>
            <a:r>
              <a:rPr lang="zh-TW" altLang="en-US" b="1" dirty="0"/>
              <a:t>）</a:t>
            </a:r>
            <a:r>
              <a:rPr lang="zh-TW" altLang="en-US" dirty="0"/>
              <a:t>：一個</a:t>
            </a:r>
            <a:r>
              <a:rPr lang="zh-TW" altLang="en-US" b="1" dirty="0"/>
              <a:t>正在執行的程式</a:t>
            </a:r>
            <a:r>
              <a:rPr lang="zh-TW" altLang="en-US" dirty="0"/>
              <a:t>以及相關</a:t>
            </a:r>
            <a:r>
              <a:rPr lang="zh-TW" altLang="en-US" b="1" dirty="0"/>
              <a:t>資源</a:t>
            </a:r>
            <a:r>
              <a:rPr lang="zh-TW" altLang="en-US" dirty="0"/>
              <a:t>，例如處理器狀態、</a:t>
            </a:r>
            <a:r>
              <a:rPr lang="zh-TW" altLang="en-US" b="1" dirty="0"/>
              <a:t>記憶體位址空間</a:t>
            </a:r>
            <a:r>
              <a:rPr lang="zh-TW" altLang="en-US" dirty="0"/>
              <a:t>等。</a:t>
            </a:r>
          </a:p>
          <a:p>
            <a:r>
              <a:rPr lang="en-US" altLang="zh-TW" b="1" dirty="0"/>
              <a:t>Task Lists: A list of process descriptors in a circular doubly linked lists.</a:t>
            </a:r>
            <a:br>
              <a:rPr lang="en-US" altLang="zh-TW" dirty="0"/>
            </a:br>
            <a:r>
              <a:rPr lang="zh-TW" altLang="en-US" b="1" dirty="0"/>
              <a:t>工作清單（</a:t>
            </a:r>
            <a:r>
              <a:rPr lang="en-US" altLang="zh-TW" b="1" dirty="0"/>
              <a:t>Task List</a:t>
            </a:r>
            <a:r>
              <a:rPr lang="zh-TW" altLang="en-US" b="1" dirty="0"/>
              <a:t>）</a:t>
            </a:r>
            <a:r>
              <a:rPr lang="zh-TW" altLang="en-US" dirty="0"/>
              <a:t>：由</a:t>
            </a:r>
            <a:r>
              <a:rPr lang="zh-TW" altLang="en-US" b="1" dirty="0"/>
              <a:t>處理程序描述子</a:t>
            </a:r>
            <a:r>
              <a:rPr lang="zh-TW" altLang="en-US" dirty="0"/>
              <a:t>組成的</a:t>
            </a:r>
            <a:r>
              <a:rPr lang="zh-TW" altLang="en-US" b="1" dirty="0"/>
              <a:t>環狀雙向鏈結串列</a:t>
            </a:r>
            <a:r>
              <a:rPr lang="zh-TW" altLang="en-US" dirty="0"/>
              <a:t>。</a:t>
            </a:r>
          </a:p>
          <a:p>
            <a:r>
              <a:rPr lang="en-US" altLang="zh-TW" b="1" dirty="0"/>
              <a:t>Process Descriptor (</a:t>
            </a:r>
            <a:r>
              <a:rPr lang="en-US" altLang="zh-TW" sz="1200" b="1" kern="1200" dirty="0" err="1">
                <a:solidFill>
                  <a:schemeClr val="tx1"/>
                </a:solidFill>
                <a:latin typeface="+mn-lt"/>
                <a:ea typeface="+mn-ea"/>
                <a:cs typeface="+mn-cs"/>
              </a:rPr>
              <a:t>task_struct</a:t>
            </a:r>
            <a:r>
              <a:rPr lang="en-US" altLang="zh-TW" b="1" dirty="0"/>
              <a:t>): Contains all information about a process.</a:t>
            </a:r>
            <a:br>
              <a:rPr lang="en-US" altLang="zh-TW" dirty="0"/>
            </a:br>
            <a:r>
              <a:rPr lang="zh-TW" altLang="en-US" b="1" dirty="0"/>
              <a:t>處理程序描述子（</a:t>
            </a:r>
            <a:r>
              <a:rPr lang="en-US" altLang="zh-TW" sz="1200" b="1" kern="1200" dirty="0" err="1">
                <a:solidFill>
                  <a:schemeClr val="tx1"/>
                </a:solidFill>
                <a:latin typeface="+mn-lt"/>
                <a:ea typeface="+mn-ea"/>
                <a:cs typeface="+mn-cs"/>
              </a:rPr>
              <a:t>task_struct</a:t>
            </a:r>
            <a:r>
              <a:rPr lang="zh-TW" altLang="en-US" b="1" dirty="0"/>
              <a:t>）</a:t>
            </a:r>
            <a:r>
              <a:rPr lang="zh-TW" altLang="en-US" dirty="0"/>
              <a:t>：</a:t>
            </a:r>
            <a:r>
              <a:rPr lang="zh-TW" altLang="en-US" b="1" dirty="0"/>
              <a:t>包含一個行程的所有資訊</a:t>
            </a:r>
            <a:r>
              <a:rPr lang="zh-TW" altLang="en-US" dirty="0"/>
              <a:t>。</a:t>
            </a:r>
          </a:p>
          <a:p>
            <a:pPr lvl="1"/>
            <a:r>
              <a:rPr lang="en-US" altLang="zh-TW" b="1" dirty="0"/>
              <a:t>Process ID (</a:t>
            </a:r>
            <a:r>
              <a:rPr lang="en-US" altLang="zh-TW" b="1" dirty="0" err="1"/>
              <a:t>pid</a:t>
            </a:r>
            <a:r>
              <a:rPr lang="en-US" altLang="zh-TW" b="1" dirty="0"/>
              <a:t>): A unique process identification value</a:t>
            </a:r>
            <a:br>
              <a:rPr lang="en-US" altLang="zh-TW" dirty="0"/>
            </a:br>
            <a:r>
              <a:rPr lang="zh-TW" altLang="en-US" b="1" dirty="0"/>
              <a:t>行程 </a:t>
            </a:r>
            <a:r>
              <a:rPr lang="en-US" altLang="zh-TW" b="1" dirty="0"/>
              <a:t>ID</a:t>
            </a:r>
            <a:r>
              <a:rPr lang="zh-TW" altLang="en-US" b="1" dirty="0"/>
              <a:t>（</a:t>
            </a:r>
            <a:r>
              <a:rPr lang="en-US" altLang="zh-TW" b="1" dirty="0"/>
              <a:t>PID</a:t>
            </a:r>
            <a:r>
              <a:rPr lang="zh-TW" altLang="en-US" b="1" dirty="0"/>
              <a:t>）</a:t>
            </a:r>
            <a:r>
              <a:rPr lang="zh-TW" altLang="en-US" dirty="0"/>
              <a:t>：</a:t>
            </a:r>
            <a:r>
              <a:rPr lang="zh-TW" altLang="en-US" b="1" dirty="0"/>
              <a:t>唯一</a:t>
            </a:r>
            <a:r>
              <a:rPr lang="zh-TW" altLang="en-US" dirty="0"/>
              <a:t>識別一個行程的數值。</a:t>
            </a:r>
          </a:p>
          <a:p>
            <a:pPr lvl="1"/>
            <a:r>
              <a:rPr lang="en-US" altLang="zh-TW" b="1" dirty="0"/>
              <a:t>In Linux, XXX Descriptor means the data structure for maintaining information for XXX.</a:t>
            </a:r>
            <a:br>
              <a:rPr lang="en-US" altLang="zh-TW" dirty="0"/>
            </a:br>
            <a:r>
              <a:rPr lang="zh-TW" altLang="en-US" dirty="0"/>
              <a:t>在 </a:t>
            </a:r>
            <a:r>
              <a:rPr lang="en-US" altLang="zh-TW" dirty="0"/>
              <a:t>Linux </a:t>
            </a:r>
            <a:r>
              <a:rPr lang="zh-TW" altLang="en-US" dirty="0"/>
              <a:t>中，「</a:t>
            </a:r>
            <a:r>
              <a:rPr lang="en-US" altLang="zh-TW" b="1" dirty="0"/>
              <a:t>XXX descriptor</a:t>
            </a:r>
            <a:r>
              <a:rPr lang="zh-TW" altLang="en-US" dirty="0"/>
              <a:t>」指的是</a:t>
            </a:r>
            <a:r>
              <a:rPr lang="zh-TW" altLang="en-US" b="1" dirty="0"/>
              <a:t>維護 </a:t>
            </a:r>
            <a:r>
              <a:rPr lang="en-US" altLang="zh-TW" b="1" dirty="0"/>
              <a:t>XXX </a:t>
            </a:r>
            <a:r>
              <a:rPr lang="zh-TW" altLang="en-US" b="1" dirty="0"/>
              <a:t>資訊的資料結構</a:t>
            </a:r>
            <a:r>
              <a:rPr lang="zh-TW" altLang="en-US" dirty="0"/>
              <a:t>。</a:t>
            </a:r>
          </a:p>
          <a:p>
            <a:pPr lvl="1"/>
            <a:r>
              <a:rPr lang="en-US" altLang="zh-TW" b="1" dirty="0"/>
              <a:t>Process Control Block (A general name) / Process Descriptor (In Linux, called </a:t>
            </a:r>
            <a:r>
              <a:rPr lang="en-US" altLang="zh-TW" sz="1200" b="1" kern="1200" dirty="0" err="1">
                <a:solidFill>
                  <a:schemeClr val="tx1"/>
                </a:solidFill>
                <a:latin typeface="+mn-lt"/>
                <a:ea typeface="+mn-ea"/>
                <a:cs typeface="+mn-cs"/>
              </a:rPr>
              <a:t>task_struct</a:t>
            </a:r>
            <a:r>
              <a:rPr lang="en-US" altLang="zh-TW" b="1" dirty="0"/>
              <a:t>).</a:t>
            </a:r>
            <a:br>
              <a:rPr lang="en-US" altLang="zh-TW" dirty="0"/>
            </a:br>
            <a:r>
              <a:rPr lang="zh-TW" altLang="en-US" b="1" dirty="0"/>
              <a:t>程序控制塊（</a:t>
            </a:r>
            <a:r>
              <a:rPr lang="en-US" altLang="zh-TW" b="1" dirty="0"/>
              <a:t>PCB</a:t>
            </a:r>
            <a:r>
              <a:rPr lang="zh-TW" altLang="en-US" b="1" dirty="0"/>
              <a:t>）是通用名</a:t>
            </a:r>
            <a:r>
              <a:rPr lang="zh-TW" altLang="en-US" dirty="0"/>
              <a:t>；在 </a:t>
            </a:r>
            <a:r>
              <a:rPr lang="en-US" altLang="zh-TW" dirty="0"/>
              <a:t>Linux </a:t>
            </a:r>
            <a:r>
              <a:rPr lang="zh-TW" altLang="en-US" dirty="0"/>
              <a:t>裏它就叫</a:t>
            </a:r>
            <a:r>
              <a:rPr lang="zh-TW" altLang="en-US" b="1" dirty="0"/>
              <a:t>處理程序描述子 </a:t>
            </a:r>
            <a:r>
              <a:rPr lang="en-US" altLang="zh-TW" sz="1200" b="1" kern="1200" dirty="0" err="1">
                <a:solidFill>
                  <a:schemeClr val="tx1"/>
                </a:solidFill>
                <a:latin typeface="+mn-lt"/>
                <a:ea typeface="+mn-ea"/>
                <a:cs typeface="+mn-cs"/>
              </a:rPr>
              <a:t>task_struct</a:t>
            </a:r>
            <a:r>
              <a:rPr lang="zh-TW" altLang="en-US" dirty="0"/>
              <a:t>。</a:t>
            </a:r>
          </a:p>
          <a:p>
            <a:r>
              <a:rPr lang="zh-TW" altLang="en-US" dirty="0"/>
              <a:t>（右圖展示多個 </a:t>
            </a:r>
            <a:r>
              <a:rPr lang="en-US" altLang="zh-TW" sz="1200" kern="1200" dirty="0">
                <a:solidFill>
                  <a:schemeClr val="tx1"/>
                </a:solidFill>
                <a:latin typeface="+mn-lt"/>
                <a:ea typeface="+mn-ea"/>
                <a:cs typeface="+mn-cs"/>
              </a:rPr>
              <a:t>struct </a:t>
            </a:r>
            <a:r>
              <a:rPr lang="en-US" altLang="zh-TW" sz="1200" kern="1200" dirty="0" err="1">
                <a:solidFill>
                  <a:schemeClr val="tx1"/>
                </a:solidFill>
                <a:latin typeface="+mn-lt"/>
                <a:ea typeface="+mn-ea"/>
                <a:cs typeface="+mn-cs"/>
              </a:rPr>
              <a:t>task_struct</a:t>
            </a:r>
            <a:r>
              <a:rPr lang="en-US" altLang="zh-TW" dirty="0"/>
              <a:t> </a:t>
            </a:r>
            <a:r>
              <a:rPr lang="zh-TW" altLang="en-US" dirty="0"/>
              <a:t>以</a:t>
            </a:r>
            <a:r>
              <a:rPr lang="zh-TW" altLang="en-US" b="1" dirty="0"/>
              <a:t>環狀雙向鏈</a:t>
            </a:r>
            <a:r>
              <a:rPr lang="zh-TW" altLang="en-US" dirty="0"/>
              <a:t>串起，形成</a:t>
            </a:r>
            <a:r>
              <a:rPr lang="en-US" altLang="zh-TW" b="1" dirty="0"/>
              <a:t>task list</a:t>
            </a:r>
            <a:r>
              <a:rPr lang="zh-TW" altLang="en-US" dirty="0"/>
              <a:t>。）</a:t>
            </a:r>
          </a:p>
          <a:p>
            <a:br>
              <a:rPr lang="zh-TW" altLang="en-US" dirty="0"/>
            </a:br>
            <a:endParaRPr lang="zh-TW" altLang="en-US" dirty="0"/>
          </a:p>
          <a:p>
            <a:r>
              <a:rPr lang="zh-TW" altLang="en-US" b="1" dirty="0"/>
              <a:t>解說（考點與重點）</a:t>
            </a:r>
          </a:p>
          <a:p>
            <a:r>
              <a:rPr lang="en-US" altLang="zh-TW" b="1" dirty="0"/>
              <a:t>Process vs. Program</a:t>
            </a:r>
            <a:r>
              <a:rPr lang="zh-TW" altLang="en-US" dirty="0"/>
              <a:t>：程式是靜態的檔案；</a:t>
            </a:r>
            <a:r>
              <a:rPr lang="en-US" altLang="zh-TW" b="1" dirty="0"/>
              <a:t>Process</a:t>
            </a:r>
            <a:r>
              <a:rPr lang="zh-TW" altLang="en-US" dirty="0"/>
              <a:t>是</a:t>
            </a:r>
            <a:r>
              <a:rPr lang="zh-TW" altLang="en-US" b="1" dirty="0"/>
              <a:t>執行中的實例</a:t>
            </a:r>
            <a:r>
              <a:rPr lang="zh-TW" altLang="en-US" dirty="0"/>
              <a:t>（有暫存器內容、位址空間、開啟的檔案、信號、排程資訊</a:t>
            </a:r>
            <a:r>
              <a:rPr lang="en-US" altLang="zh-TW" dirty="0"/>
              <a:t>…</a:t>
            </a:r>
            <a:r>
              <a:rPr lang="zh-TW" altLang="en-US" dirty="0"/>
              <a:t>）。</a:t>
            </a:r>
          </a:p>
          <a:p>
            <a:r>
              <a:rPr lang="zh-TW" altLang="en-US" b="1" dirty="0"/>
              <a:t>為什麼用環狀雙向鏈？</a:t>
            </a:r>
            <a:endParaRPr lang="zh-TW" altLang="en-US" dirty="0"/>
          </a:p>
          <a:p>
            <a:pPr lvl="1"/>
            <a:r>
              <a:rPr lang="zh-TW" altLang="en-US" b="1" dirty="0"/>
              <a:t>雙向</a:t>
            </a:r>
            <a:r>
              <a:rPr lang="zh-TW" altLang="en-US" dirty="0"/>
              <a:t>：</a:t>
            </a:r>
            <a:r>
              <a:rPr lang="en-US" altLang="zh-TW" dirty="0"/>
              <a:t>O(1) </a:t>
            </a:r>
            <a:r>
              <a:rPr lang="zh-TW" altLang="en-US" dirty="0"/>
              <a:t>從任一節點</a:t>
            </a:r>
            <a:r>
              <a:rPr lang="zh-TW" altLang="en-US" b="1" dirty="0"/>
              <a:t>插入</a:t>
            </a:r>
            <a:r>
              <a:rPr lang="en-US" altLang="zh-TW" b="1" dirty="0"/>
              <a:t>/</a:t>
            </a:r>
            <a:r>
              <a:rPr lang="zh-TW" altLang="en-US" b="1" dirty="0"/>
              <a:t>刪除</a:t>
            </a:r>
            <a:r>
              <a:rPr lang="zh-TW" altLang="en-US" dirty="0"/>
              <a:t>（知道前後指標）。</a:t>
            </a:r>
          </a:p>
          <a:p>
            <a:pPr lvl="1"/>
            <a:r>
              <a:rPr lang="zh-TW" altLang="en-US" b="1" dirty="0"/>
              <a:t>環狀</a:t>
            </a:r>
            <a:r>
              <a:rPr lang="zh-TW" altLang="en-US" dirty="0"/>
              <a:t>：不需特判「頭</a:t>
            </a:r>
            <a:r>
              <a:rPr lang="en-US" altLang="zh-TW" dirty="0"/>
              <a:t>/</a:t>
            </a:r>
            <a:r>
              <a:rPr lang="zh-TW" altLang="en-US" dirty="0"/>
              <a:t>尾」，可從任一節點</a:t>
            </a:r>
            <a:r>
              <a:rPr lang="zh-TW" altLang="en-US" b="1" dirty="0"/>
              <a:t>無限迴圈遍歷</a:t>
            </a:r>
            <a:r>
              <a:rPr lang="zh-TW" altLang="en-US" dirty="0"/>
              <a:t>；適合排程器在多個行程間輪替。</a:t>
            </a:r>
          </a:p>
          <a:p>
            <a:r>
              <a:rPr lang="en-US" altLang="zh-TW" sz="1200" b="1" kern="1200" dirty="0" err="1">
                <a:solidFill>
                  <a:schemeClr val="tx1"/>
                </a:solidFill>
                <a:latin typeface="+mn-lt"/>
                <a:ea typeface="+mn-ea"/>
                <a:cs typeface="+mn-cs"/>
              </a:rPr>
              <a:t>task_struct</a:t>
            </a:r>
            <a:r>
              <a:rPr lang="en-US" altLang="zh-TW" b="1" dirty="0"/>
              <a:t> </a:t>
            </a:r>
            <a:r>
              <a:rPr lang="zh-TW" altLang="en-US" b="1" dirty="0"/>
              <a:t>典型內容</a:t>
            </a:r>
            <a:r>
              <a:rPr lang="zh-TW" altLang="en-US" dirty="0"/>
              <a:t>（舉例）：</a:t>
            </a:r>
            <a:r>
              <a:rPr lang="en-US" altLang="zh-TW" sz="1200" kern="1200" dirty="0">
                <a:solidFill>
                  <a:schemeClr val="tx1"/>
                </a:solidFill>
                <a:latin typeface="+mn-lt"/>
                <a:ea typeface="+mn-ea"/>
                <a:cs typeface="+mn-cs"/>
              </a:rPr>
              <a:t>state</a:t>
            </a:r>
            <a:r>
              <a:rPr lang="zh-TW" altLang="en-US" dirty="0"/>
              <a:t>（就緒</a:t>
            </a:r>
            <a:r>
              <a:rPr lang="en-US" altLang="zh-TW" dirty="0"/>
              <a:t>/</a:t>
            </a:r>
            <a:r>
              <a:rPr lang="zh-TW" altLang="en-US" dirty="0"/>
              <a:t>睡眠</a:t>
            </a:r>
            <a:r>
              <a:rPr lang="en-US" altLang="zh-TW" dirty="0"/>
              <a:t>…</a:t>
            </a:r>
            <a:r>
              <a:rPr lang="zh-TW" altLang="en-US" dirty="0"/>
              <a:t>）、</a:t>
            </a:r>
            <a:r>
              <a:rPr lang="en-US" altLang="zh-TW" sz="1200" kern="1200" dirty="0" err="1">
                <a:solidFill>
                  <a:schemeClr val="tx1"/>
                </a:solidFill>
                <a:latin typeface="+mn-lt"/>
                <a:ea typeface="+mn-ea"/>
                <a:cs typeface="+mn-cs"/>
              </a:rPr>
              <a:t>prio</a:t>
            </a:r>
            <a:r>
              <a:rPr lang="zh-TW" altLang="en-US" dirty="0"/>
              <a:t>（優先權）、</a:t>
            </a:r>
            <a:r>
              <a:rPr lang="en-US" altLang="zh-TW" sz="1200" kern="1200" dirty="0">
                <a:solidFill>
                  <a:schemeClr val="tx1"/>
                </a:solidFill>
                <a:latin typeface="+mn-lt"/>
                <a:ea typeface="+mn-ea"/>
                <a:cs typeface="+mn-cs"/>
              </a:rPr>
              <a:t>mm</a:t>
            </a:r>
            <a:r>
              <a:rPr lang="en-US" altLang="zh-TW" dirty="0"/>
              <a:t>/</a:t>
            </a:r>
            <a:r>
              <a:rPr lang="en-US" altLang="zh-TW" sz="1200" kern="1200" dirty="0" err="1">
                <a:solidFill>
                  <a:schemeClr val="tx1"/>
                </a:solidFill>
                <a:latin typeface="+mn-lt"/>
                <a:ea typeface="+mn-ea"/>
                <a:cs typeface="+mn-cs"/>
              </a:rPr>
              <a:t>active_mm</a:t>
            </a:r>
            <a:r>
              <a:rPr lang="zh-TW" altLang="en-US" dirty="0"/>
              <a:t>（位址空間）、</a:t>
            </a:r>
            <a:r>
              <a:rPr lang="en-US" altLang="zh-TW" sz="1200" kern="1200" dirty="0" err="1">
                <a:solidFill>
                  <a:schemeClr val="tx1"/>
                </a:solidFill>
                <a:latin typeface="+mn-lt"/>
                <a:ea typeface="+mn-ea"/>
                <a:cs typeface="+mn-cs"/>
              </a:rPr>
              <a:t>pid</a:t>
            </a:r>
            <a:r>
              <a:rPr lang="en-US" altLang="zh-TW" dirty="0"/>
              <a:t>/</a:t>
            </a:r>
            <a:r>
              <a:rPr lang="en-US" altLang="zh-TW" sz="1200" kern="1200" dirty="0" err="1">
                <a:solidFill>
                  <a:schemeClr val="tx1"/>
                </a:solidFill>
                <a:latin typeface="+mn-lt"/>
                <a:ea typeface="+mn-ea"/>
                <a:cs typeface="+mn-cs"/>
              </a:rPr>
              <a:t>tgid</a:t>
            </a:r>
            <a:r>
              <a:rPr lang="zh-TW" altLang="en-US" dirty="0"/>
              <a:t>、</a:t>
            </a:r>
            <a:r>
              <a:rPr lang="en-US" altLang="zh-TW" sz="1200" kern="1200" dirty="0">
                <a:solidFill>
                  <a:schemeClr val="tx1"/>
                </a:solidFill>
                <a:latin typeface="+mn-lt"/>
                <a:ea typeface="+mn-ea"/>
                <a:cs typeface="+mn-cs"/>
              </a:rPr>
              <a:t>parent</a:t>
            </a:r>
            <a:r>
              <a:rPr lang="en-US" altLang="zh-TW" dirty="0"/>
              <a:t>/</a:t>
            </a:r>
            <a:r>
              <a:rPr lang="en-US" altLang="zh-TW" sz="1200" kern="1200" dirty="0">
                <a:solidFill>
                  <a:schemeClr val="tx1"/>
                </a:solidFill>
                <a:latin typeface="+mn-lt"/>
                <a:ea typeface="+mn-ea"/>
                <a:cs typeface="+mn-cs"/>
              </a:rPr>
              <a:t>children</a:t>
            </a:r>
            <a:r>
              <a:rPr lang="zh-TW" altLang="en-US" dirty="0"/>
              <a:t>、</a:t>
            </a:r>
            <a:r>
              <a:rPr lang="en-US" altLang="zh-TW" sz="1200" kern="1200" dirty="0">
                <a:solidFill>
                  <a:schemeClr val="tx1"/>
                </a:solidFill>
                <a:latin typeface="+mn-lt"/>
                <a:ea typeface="+mn-ea"/>
                <a:cs typeface="+mn-cs"/>
              </a:rPr>
              <a:t>files</a:t>
            </a:r>
            <a:r>
              <a:rPr lang="zh-TW" altLang="en-US" dirty="0"/>
              <a:t>、</a:t>
            </a:r>
            <a:r>
              <a:rPr lang="en-US" altLang="zh-TW" sz="1200" kern="1200" dirty="0">
                <a:solidFill>
                  <a:schemeClr val="tx1"/>
                </a:solidFill>
                <a:latin typeface="+mn-lt"/>
                <a:ea typeface="+mn-ea"/>
                <a:cs typeface="+mn-cs"/>
              </a:rPr>
              <a:t>signals</a:t>
            </a:r>
            <a:r>
              <a:rPr lang="zh-TW" altLang="en-US" dirty="0"/>
              <a:t>、</a:t>
            </a:r>
            <a:r>
              <a:rPr lang="en-US" altLang="zh-TW" sz="1200" kern="1200" dirty="0">
                <a:solidFill>
                  <a:schemeClr val="tx1"/>
                </a:solidFill>
                <a:latin typeface="+mn-lt"/>
                <a:ea typeface="+mn-ea"/>
                <a:cs typeface="+mn-cs"/>
              </a:rPr>
              <a:t>se</a:t>
            </a:r>
            <a:r>
              <a:rPr lang="zh-TW" altLang="en-US" dirty="0"/>
              <a:t>（排程實體）、</a:t>
            </a:r>
            <a:r>
              <a:rPr lang="en-US" altLang="zh-TW" sz="1200" kern="1200" dirty="0">
                <a:solidFill>
                  <a:schemeClr val="tx1"/>
                </a:solidFill>
                <a:latin typeface="+mn-lt"/>
                <a:ea typeface="+mn-ea"/>
                <a:cs typeface="+mn-cs"/>
              </a:rPr>
              <a:t>rt</a:t>
            </a:r>
            <a:r>
              <a:rPr lang="zh-TW" altLang="en-US" dirty="0"/>
              <a:t>、</a:t>
            </a:r>
            <a:r>
              <a:rPr lang="en-US" altLang="zh-TW" sz="1200" kern="1200" dirty="0">
                <a:solidFill>
                  <a:schemeClr val="tx1"/>
                </a:solidFill>
                <a:latin typeface="+mn-lt"/>
                <a:ea typeface="+mn-ea"/>
                <a:cs typeface="+mn-cs"/>
              </a:rPr>
              <a:t>stack</a:t>
            </a:r>
            <a:r>
              <a:rPr lang="en-US" altLang="zh-TW" dirty="0"/>
              <a:t> </a:t>
            </a:r>
            <a:r>
              <a:rPr lang="zh-TW" altLang="en-US" dirty="0"/>
              <a:t>等。</a:t>
            </a:r>
          </a:p>
          <a:p>
            <a:r>
              <a:rPr lang="zh-TW" altLang="en-US" b="1" dirty="0"/>
              <a:t>名詞對照</a:t>
            </a:r>
            <a:r>
              <a:rPr lang="zh-TW" altLang="en-US" dirty="0"/>
              <a:t>：</a:t>
            </a:r>
          </a:p>
          <a:p>
            <a:pPr lvl="1"/>
            <a:r>
              <a:rPr lang="en-US" altLang="zh-TW" b="1" dirty="0"/>
              <a:t>PCB</a:t>
            </a:r>
            <a:r>
              <a:rPr lang="zh-TW" altLang="en-US" b="1" dirty="0"/>
              <a:t>（教科書） ≈ </a:t>
            </a:r>
            <a:r>
              <a:rPr lang="en-US" altLang="zh-TW" sz="1200" b="1" kern="1200" dirty="0" err="1">
                <a:solidFill>
                  <a:schemeClr val="tx1"/>
                </a:solidFill>
                <a:latin typeface="+mn-lt"/>
                <a:ea typeface="+mn-ea"/>
                <a:cs typeface="+mn-cs"/>
              </a:rPr>
              <a:t>task_struct</a:t>
            </a:r>
            <a:r>
              <a:rPr lang="zh-TW" altLang="en-US" b="1" dirty="0"/>
              <a:t>（</a:t>
            </a:r>
            <a:r>
              <a:rPr lang="en-US" altLang="zh-TW" b="1" dirty="0"/>
              <a:t>Linux</a:t>
            </a:r>
            <a:r>
              <a:rPr lang="zh-TW" altLang="en-US" b="1" dirty="0"/>
              <a:t>）</a:t>
            </a:r>
            <a:r>
              <a:rPr lang="zh-TW" altLang="en-US" dirty="0"/>
              <a:t>。</a:t>
            </a:r>
          </a:p>
          <a:p>
            <a:pPr lvl="1"/>
            <a:r>
              <a:rPr lang="en-US" altLang="zh-TW" b="1" dirty="0"/>
              <a:t>Task list</a:t>
            </a:r>
            <a:r>
              <a:rPr lang="en-US" altLang="zh-TW" dirty="0"/>
              <a:t> </a:t>
            </a:r>
            <a:r>
              <a:rPr lang="zh-TW" altLang="en-US" dirty="0"/>
              <a:t>常指 </a:t>
            </a:r>
            <a:r>
              <a:rPr lang="zh-TW" altLang="en-US" b="1" dirty="0"/>
              <a:t>所有行程</a:t>
            </a:r>
            <a:r>
              <a:rPr lang="zh-TW" altLang="en-US" dirty="0"/>
              <a:t>或</a:t>
            </a:r>
            <a:r>
              <a:rPr lang="zh-TW" altLang="en-US" b="1" dirty="0"/>
              <a:t>某個排程佇列</a:t>
            </a:r>
            <a:r>
              <a:rPr lang="zh-TW" altLang="en-US" dirty="0"/>
              <a:t>的鏈表頭（如 </a:t>
            </a:r>
            <a:r>
              <a:rPr lang="en-US" altLang="zh-TW" sz="1200" kern="1200" dirty="0" err="1">
                <a:solidFill>
                  <a:schemeClr val="tx1"/>
                </a:solidFill>
                <a:latin typeface="+mn-lt"/>
                <a:ea typeface="+mn-ea"/>
                <a:cs typeface="+mn-cs"/>
              </a:rPr>
              <a:t>init_task</a:t>
            </a:r>
            <a:r>
              <a:rPr lang="en-US" altLang="zh-TW" dirty="0"/>
              <a:t> </a:t>
            </a:r>
            <a:r>
              <a:rPr lang="zh-TW" altLang="en-US" dirty="0"/>
              <a:t>作為環的錨點）。</a:t>
            </a:r>
          </a:p>
          <a:p>
            <a:br>
              <a:rPr lang="zh-TW" altLang="en-US" dirty="0"/>
            </a:br>
            <a:endParaRPr lang="zh-TW" altLang="en-US" dirty="0"/>
          </a:p>
          <a:p>
            <a:r>
              <a:rPr lang="zh-TW" altLang="en-US" b="1" dirty="0"/>
              <a:t>一句話解釋</a:t>
            </a:r>
          </a:p>
          <a:p>
            <a:r>
              <a:rPr lang="en-US" altLang="zh-TW" b="1" dirty="0"/>
              <a:t>Linux </a:t>
            </a:r>
            <a:r>
              <a:rPr lang="zh-TW" altLang="en-US" b="1" dirty="0"/>
              <a:t>用 </a:t>
            </a:r>
            <a:r>
              <a:rPr lang="en-US" altLang="zh-TW" sz="1200" b="1" kern="1200" dirty="0" err="1">
                <a:solidFill>
                  <a:schemeClr val="tx1"/>
                </a:solidFill>
                <a:latin typeface="+mn-lt"/>
                <a:ea typeface="+mn-ea"/>
                <a:cs typeface="+mn-cs"/>
              </a:rPr>
              <a:t>task_struct</a:t>
            </a:r>
            <a:r>
              <a:rPr lang="zh-TW" altLang="en-US" b="1" dirty="0"/>
              <a:t>（</a:t>
            </a:r>
            <a:r>
              <a:rPr lang="en-US" altLang="zh-TW" b="1" dirty="0"/>
              <a:t>PCB</a:t>
            </a:r>
            <a:r>
              <a:rPr lang="zh-TW" altLang="en-US" b="1" dirty="0"/>
              <a:t>）記錄每個行程的全部狀態，並把它們串成環狀雙向鏈，讓核心能快速地遍歷與排程。</a:t>
            </a:r>
            <a:endParaRPr lang="zh-TW" altLang="en-US" dirty="0"/>
          </a:p>
          <a:p>
            <a:br>
              <a:rPr lang="zh-TW" altLang="en-US" dirty="0"/>
            </a:br>
            <a:endParaRPr lang="zh-TW" altLang="en-US" dirty="0"/>
          </a:p>
          <a:p>
            <a:r>
              <a:rPr lang="zh-TW" altLang="en-US" b="1" dirty="0"/>
              <a:t>白話解說</a:t>
            </a:r>
          </a:p>
          <a:p>
            <a:r>
              <a:rPr lang="zh-TW" altLang="en-US" dirty="0"/>
              <a:t>把系統想成夜市攤位排班表：</a:t>
            </a:r>
          </a:p>
          <a:p>
            <a:r>
              <a:rPr lang="zh-TW" altLang="en-US" b="1" dirty="0"/>
              <a:t>行程</a:t>
            </a:r>
            <a:r>
              <a:rPr lang="zh-TW" altLang="en-US" dirty="0"/>
              <a:t>＝正在營業的</a:t>
            </a:r>
            <a:r>
              <a:rPr lang="zh-TW" altLang="en-US" b="1" dirty="0"/>
              <a:t>某個攤位</a:t>
            </a:r>
            <a:r>
              <a:rPr lang="zh-TW" altLang="en-US" dirty="0"/>
              <a:t>（有位置、器材、現金盒</a:t>
            </a:r>
            <a:r>
              <a:rPr lang="en-US" altLang="zh-TW" dirty="0"/>
              <a:t>…</a:t>
            </a:r>
            <a:r>
              <a:rPr lang="zh-TW" altLang="en-US" dirty="0"/>
              <a:t>）。</a:t>
            </a:r>
          </a:p>
          <a:p>
            <a:r>
              <a:rPr lang="en-US" altLang="zh-TW" sz="1200" b="1" kern="1200" dirty="0" err="1">
                <a:solidFill>
                  <a:schemeClr val="tx1"/>
                </a:solidFill>
                <a:latin typeface="+mn-lt"/>
                <a:ea typeface="+mn-ea"/>
                <a:cs typeface="+mn-cs"/>
              </a:rPr>
              <a:t>task_struct</a:t>
            </a:r>
            <a:r>
              <a:rPr lang="zh-TW" altLang="en-US" dirty="0"/>
              <a:t>＝這個攤位的</a:t>
            </a:r>
            <a:r>
              <a:rPr lang="zh-TW" altLang="en-US" b="1" dirty="0"/>
              <a:t>資料卡</a:t>
            </a:r>
            <a:r>
              <a:rPr lang="zh-TW" altLang="en-US" dirty="0"/>
              <a:t>（老闆是誰、營業狀態、攤位位置、電源插座、進貨單</a:t>
            </a:r>
            <a:r>
              <a:rPr lang="en-US" altLang="zh-TW" dirty="0"/>
              <a:t>…</a:t>
            </a:r>
            <a:r>
              <a:rPr lang="zh-TW" altLang="en-US" dirty="0"/>
              <a:t>）。</a:t>
            </a:r>
          </a:p>
          <a:p>
            <a:r>
              <a:rPr lang="en-US" altLang="zh-TW" b="1" dirty="0"/>
              <a:t>Task list</a:t>
            </a:r>
            <a:r>
              <a:rPr lang="zh-TW" altLang="en-US" b="1" dirty="0"/>
              <a:t>（環狀雙向鏈）</a:t>
            </a:r>
            <a:r>
              <a:rPr lang="zh-TW" altLang="en-US" dirty="0"/>
              <a:t>＝把所有攤位的</a:t>
            </a:r>
            <a:r>
              <a:rPr lang="zh-TW" altLang="en-US" b="1" dirty="0"/>
              <a:t>資料卡圍成一圈</a:t>
            </a:r>
            <a:r>
              <a:rPr lang="zh-TW" altLang="en-US" dirty="0"/>
              <a:t>，管理員從任意卡片開始都能順時針</a:t>
            </a:r>
            <a:r>
              <a:rPr lang="en-US" altLang="zh-TW" dirty="0"/>
              <a:t>/</a:t>
            </a:r>
            <a:r>
              <a:rPr lang="zh-TW" altLang="en-US" dirty="0"/>
              <a:t>逆時針巡邏，</a:t>
            </a:r>
            <a:r>
              <a:rPr lang="zh-TW" altLang="en-US" b="1" dirty="0"/>
              <a:t>抽換攤位</a:t>
            </a:r>
            <a:r>
              <a:rPr lang="zh-TW" altLang="en-US" dirty="0"/>
              <a:t>也不費力。</a:t>
            </a:r>
          </a:p>
          <a:p>
            <a:endParaRPr kumimoji="1"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3</a:t>
            </a:fld>
            <a:endParaRPr lang="zh-TW" altLang="en-US"/>
          </a:p>
        </p:txBody>
      </p:sp>
    </p:spTree>
    <p:extLst>
      <p:ext uri="{BB962C8B-B14F-4D97-AF65-F5344CB8AC3E}">
        <p14:creationId xmlns:p14="http://schemas.microsoft.com/office/powerpoint/2010/main" val="2203327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This is the agenda.</a:t>
            </a:r>
          </a:p>
          <a:p>
            <a:r>
              <a:rPr kumimoji="1" lang="en-US" altLang="zh-TW" dirty="0"/>
              <a:t>I will first</a:t>
            </a:r>
            <a:r>
              <a:rPr kumimoji="1" lang="zh-TW" altLang="en-US" dirty="0"/>
              <a:t> </a:t>
            </a:r>
            <a:r>
              <a:rPr kumimoji="1" lang="en-US" altLang="zh-TW" dirty="0"/>
              <a:t>give a brief self-introduction including</a:t>
            </a:r>
            <a:r>
              <a:rPr kumimoji="1" lang="zh-TW" altLang="en-US" dirty="0"/>
              <a:t> </a:t>
            </a:r>
            <a:r>
              <a:rPr kumimoji="1" lang="en-US" altLang="zh-TW" dirty="0"/>
              <a:t>awards, cooperation experiences, and publication.</a:t>
            </a:r>
          </a:p>
          <a:p>
            <a:r>
              <a:rPr kumimoji="1" lang="en-US" altLang="zh-TW" dirty="0"/>
              <a:t>After that, I will give</a:t>
            </a:r>
            <a:r>
              <a:rPr kumimoji="1" lang="zh-TW" altLang="en-US" dirty="0"/>
              <a:t> </a:t>
            </a:r>
            <a:r>
              <a:rPr kumimoji="1" lang="en-US" altLang="zh-TW" dirty="0"/>
              <a:t>a</a:t>
            </a:r>
            <a:r>
              <a:rPr kumimoji="1" lang="zh-TW" altLang="en-US" dirty="0"/>
              <a:t> </a:t>
            </a:r>
            <a:r>
              <a:rPr kumimoji="1" lang="en-US" altLang="zh-TW" dirty="0"/>
              <a:t>deep</a:t>
            </a:r>
            <a:r>
              <a:rPr kumimoji="1" lang="zh-TW" altLang="en-US" dirty="0"/>
              <a:t> </a:t>
            </a:r>
            <a:r>
              <a:rPr kumimoji="1" lang="en-US" altLang="zh-TW" dirty="0"/>
              <a:t>dive</a:t>
            </a:r>
            <a:r>
              <a:rPr kumimoji="1" lang="zh-TW" altLang="en-US" dirty="0"/>
              <a:t> </a:t>
            </a:r>
            <a:r>
              <a:rPr kumimoji="1" lang="en-US" altLang="zh-TW" dirty="0"/>
              <a:t>into my research – the next-generation computing system, and</a:t>
            </a:r>
            <a:r>
              <a:rPr kumimoji="1" lang="zh-TW" altLang="en-US" dirty="0"/>
              <a:t> </a:t>
            </a:r>
            <a:r>
              <a:rPr kumimoji="1" lang="en-US" altLang="zh-TW" dirty="0"/>
              <a:t>present</a:t>
            </a:r>
            <a:r>
              <a:rPr kumimoji="1" lang="zh-TW" altLang="en-US" dirty="0"/>
              <a:t> </a:t>
            </a:r>
            <a:r>
              <a:rPr kumimoji="1" lang="en-US" altLang="zh-TW" dirty="0"/>
              <a:t>my</a:t>
            </a:r>
            <a:r>
              <a:rPr kumimoji="1" lang="zh-TW" altLang="en-US" dirty="0"/>
              <a:t> </a:t>
            </a:r>
            <a:r>
              <a:rPr kumimoji="1" lang="en-US" altLang="zh-TW" dirty="0"/>
              <a:t>future</a:t>
            </a:r>
            <a:r>
              <a:rPr kumimoji="1" lang="zh-TW" altLang="en-US" dirty="0"/>
              <a:t> </a:t>
            </a:r>
            <a:r>
              <a:rPr kumimoji="1" lang="en-US" altLang="zh-TW" dirty="0"/>
              <a:t>plan.</a:t>
            </a:r>
          </a:p>
          <a:p>
            <a:endParaRPr kumimoji="1" lang="en-US" altLang="zh-TW" dirty="0"/>
          </a:p>
          <a:p>
            <a:r>
              <a:rPr kumimoji="1" lang="en-US" altLang="zh-TW" dirty="0"/>
              <a:t>I will then talk about the reason for applying your department, as well as my course plan in the end of presentation.</a:t>
            </a:r>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4</a:t>
            </a:fld>
            <a:endParaRPr lang="zh-TW" altLang="en-US"/>
          </a:p>
        </p:txBody>
      </p:sp>
    </p:spTree>
    <p:extLst>
      <p:ext uri="{BB962C8B-B14F-4D97-AF65-F5344CB8AC3E}">
        <p14:creationId xmlns:p14="http://schemas.microsoft.com/office/powerpoint/2010/main" val="3882944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好的～我把這張投影片上的英文，分成「關鍵單字」＋「每行句子翻譯」：</a:t>
            </a:r>
          </a:p>
          <a:p>
            <a:r>
              <a:rPr lang="zh-TW" altLang="en-US" b="1" dirty="0"/>
              <a:t>關鍵單字</a:t>
            </a:r>
          </a:p>
          <a:p>
            <a:r>
              <a:rPr lang="en-US" altLang="zh-TW" b="1" dirty="0"/>
              <a:t>state field</a:t>
            </a:r>
            <a:r>
              <a:rPr lang="zh-TW" altLang="en-US" dirty="0"/>
              <a:t>：狀態欄位</a:t>
            </a:r>
          </a:p>
          <a:p>
            <a:r>
              <a:rPr lang="en-US" altLang="zh-TW" b="1" dirty="0"/>
              <a:t>process descriptor</a:t>
            </a:r>
            <a:r>
              <a:rPr lang="zh-TW" altLang="en-US" dirty="0"/>
              <a:t>：行程描述子（</a:t>
            </a:r>
            <a:r>
              <a:rPr lang="en-US" altLang="zh-TW" dirty="0"/>
              <a:t>Linux </a:t>
            </a:r>
            <a:r>
              <a:rPr lang="zh-TW" altLang="en-US" dirty="0"/>
              <a:t>的 </a:t>
            </a:r>
            <a:r>
              <a:rPr lang="en-US" altLang="zh-TW" sz="1200" kern="1200" dirty="0" err="1">
                <a:solidFill>
                  <a:schemeClr val="tx1"/>
                </a:solidFill>
                <a:latin typeface="+mn-lt"/>
                <a:ea typeface="+mn-ea"/>
                <a:cs typeface="+mn-cs"/>
              </a:rPr>
              <a:t>task_struct</a:t>
            </a:r>
            <a:r>
              <a:rPr lang="zh-TW" altLang="en-US" dirty="0"/>
              <a:t>）</a:t>
            </a:r>
          </a:p>
          <a:p>
            <a:r>
              <a:rPr lang="en-US" altLang="zh-TW" b="1" dirty="0"/>
              <a:t>current condition</a:t>
            </a:r>
            <a:r>
              <a:rPr lang="zh-TW" altLang="en-US" dirty="0"/>
              <a:t>：目前狀態</a:t>
            </a:r>
          </a:p>
          <a:p>
            <a:r>
              <a:rPr lang="en-US" altLang="zh-TW" b="1" dirty="0"/>
              <a:t>runnable</a:t>
            </a:r>
            <a:r>
              <a:rPr lang="zh-TW" altLang="en-US" dirty="0"/>
              <a:t>：可執行（可被排程上 </a:t>
            </a:r>
            <a:r>
              <a:rPr lang="en-US" altLang="zh-TW" dirty="0"/>
              <a:t>CPU</a:t>
            </a:r>
            <a:r>
              <a:rPr lang="zh-TW" altLang="en-US" dirty="0"/>
              <a:t>）</a:t>
            </a:r>
          </a:p>
          <a:p>
            <a:r>
              <a:rPr lang="en-US" altLang="zh-TW" b="1" dirty="0"/>
              <a:t>run-queue</a:t>
            </a:r>
            <a:r>
              <a:rPr lang="zh-TW" altLang="en-US" dirty="0"/>
              <a:t>：就緒佇列</a:t>
            </a:r>
          </a:p>
          <a:p>
            <a:r>
              <a:rPr lang="en-US" altLang="zh-TW" b="1" dirty="0"/>
              <a:t>executing in user-space</a:t>
            </a:r>
            <a:r>
              <a:rPr lang="zh-TW" altLang="en-US" dirty="0"/>
              <a:t>：在使用者態執行</a:t>
            </a:r>
          </a:p>
          <a:p>
            <a:r>
              <a:rPr lang="en-US" altLang="zh-TW" b="1" dirty="0"/>
              <a:t>interruptible</a:t>
            </a:r>
            <a:r>
              <a:rPr lang="zh-TW" altLang="en-US" dirty="0"/>
              <a:t>：可被訊號中斷</a:t>
            </a:r>
            <a:r>
              <a:rPr lang="en-US" altLang="zh-TW" dirty="0"/>
              <a:t>/</a:t>
            </a:r>
            <a:r>
              <a:rPr lang="zh-TW" altLang="en-US" dirty="0"/>
              <a:t>喚醒</a:t>
            </a:r>
          </a:p>
          <a:p>
            <a:r>
              <a:rPr lang="en-US" altLang="zh-TW" b="1" dirty="0"/>
              <a:t>uninterruptible</a:t>
            </a:r>
            <a:r>
              <a:rPr lang="zh-TW" altLang="en-US" dirty="0"/>
              <a:t>：不可被訊號喚醒</a:t>
            </a:r>
          </a:p>
          <a:p>
            <a:r>
              <a:rPr lang="en-US" altLang="zh-TW" b="1" dirty="0"/>
              <a:t>signal</a:t>
            </a:r>
            <a:r>
              <a:rPr lang="zh-TW" altLang="en-US" dirty="0"/>
              <a:t>：訊號</a:t>
            </a:r>
          </a:p>
          <a:p>
            <a:r>
              <a:rPr lang="en-US" altLang="zh-TW" b="1" dirty="0"/>
              <a:t>kernel thread</a:t>
            </a:r>
            <a:r>
              <a:rPr lang="zh-TW" altLang="en-US" dirty="0"/>
              <a:t>：核心執行緒</a:t>
            </a:r>
          </a:p>
          <a:p>
            <a:r>
              <a:rPr lang="en-US" altLang="zh-TW" b="1" dirty="0"/>
              <a:t>periodically</a:t>
            </a:r>
            <a:r>
              <a:rPr lang="zh-TW" altLang="en-US" dirty="0"/>
              <a:t>：週期性地</a:t>
            </a:r>
          </a:p>
          <a:p>
            <a:r>
              <a:rPr lang="en-US" altLang="zh-TW" b="1" dirty="0"/>
              <a:t>fork process</a:t>
            </a:r>
            <a:r>
              <a:rPr lang="zh-TW" altLang="en-US" dirty="0"/>
              <a:t>：以 </a:t>
            </a:r>
            <a:r>
              <a:rPr lang="en-US" altLang="zh-TW" sz="1200" kern="1200" dirty="0">
                <a:solidFill>
                  <a:schemeClr val="tx1"/>
                </a:solidFill>
                <a:latin typeface="+mn-lt"/>
                <a:ea typeface="+mn-ea"/>
                <a:cs typeface="+mn-cs"/>
              </a:rPr>
              <a:t>fork()</a:t>
            </a:r>
            <a:r>
              <a:rPr lang="en-US" altLang="zh-TW" dirty="0"/>
              <a:t> </a:t>
            </a:r>
            <a:r>
              <a:rPr lang="zh-TW" altLang="en-US" dirty="0"/>
              <a:t>產生行程</a:t>
            </a:r>
          </a:p>
          <a:p>
            <a:r>
              <a:rPr lang="en-US" altLang="zh-TW" b="1" dirty="0"/>
              <a:t>execution has stopped</a:t>
            </a:r>
            <a:r>
              <a:rPr lang="zh-TW" altLang="en-US" dirty="0"/>
              <a:t>：執行被停止</a:t>
            </a:r>
          </a:p>
          <a:p>
            <a:r>
              <a:rPr lang="en-US" altLang="zh-TW" b="1" dirty="0"/>
              <a:t>SIGCONT</a:t>
            </a:r>
            <a:r>
              <a:rPr lang="zh-TW" altLang="en-US" dirty="0"/>
              <a:t>：讓被停住的行程繼續的訊號</a:t>
            </a:r>
          </a:p>
          <a:p>
            <a:r>
              <a:rPr lang="en-US" altLang="zh-TW" b="1" dirty="0"/>
              <a:t>traced by a debugger</a:t>
            </a:r>
            <a:r>
              <a:rPr lang="zh-TW" altLang="en-US" dirty="0"/>
              <a:t>：被除錯器追蹤（</a:t>
            </a:r>
            <a:r>
              <a:rPr lang="en-US" altLang="zh-TW" sz="1200" kern="1200" dirty="0" err="1">
                <a:solidFill>
                  <a:schemeClr val="tx1"/>
                </a:solidFill>
                <a:latin typeface="+mn-lt"/>
                <a:ea typeface="+mn-ea"/>
                <a:cs typeface="+mn-cs"/>
              </a:rPr>
              <a:t>ptrace</a:t>
            </a:r>
            <a:r>
              <a:rPr lang="zh-TW" altLang="en-US" dirty="0"/>
              <a:t>）</a:t>
            </a:r>
          </a:p>
          <a:p>
            <a:r>
              <a:rPr lang="zh-TW" altLang="en-US" b="1" dirty="0"/>
              <a:t>逐行翻譯</a:t>
            </a:r>
          </a:p>
          <a:p>
            <a:r>
              <a:rPr lang="en-US" altLang="zh-TW" b="1" dirty="0"/>
              <a:t>The state field of the process descriptor describes the current condition of the process (In one of the five states).</a:t>
            </a:r>
            <a:br>
              <a:rPr lang="en-US" altLang="zh-TW" dirty="0"/>
            </a:br>
            <a:r>
              <a:rPr lang="zh-TW" altLang="en-US" dirty="0"/>
              <a:t>行程描述子裡的 </a:t>
            </a:r>
            <a:r>
              <a:rPr lang="en-US" altLang="zh-TW" b="1" dirty="0"/>
              <a:t>state </a:t>
            </a:r>
            <a:r>
              <a:rPr lang="zh-TW" altLang="en-US" b="1" dirty="0"/>
              <a:t>欄位</a:t>
            </a:r>
            <a:r>
              <a:rPr lang="zh-TW" altLang="en-US" dirty="0"/>
              <a:t>，用來描述該行程</a:t>
            </a:r>
            <a:r>
              <a:rPr lang="zh-TW" altLang="en-US" b="1" dirty="0"/>
              <a:t>目前所處的狀態</a:t>
            </a:r>
            <a:r>
              <a:rPr lang="zh-TW" altLang="en-US" dirty="0"/>
              <a:t>（五種之一）。</a:t>
            </a:r>
          </a:p>
          <a:p>
            <a:r>
              <a:rPr lang="en-US" altLang="zh-TW" b="1" dirty="0" err="1"/>
              <a:t>Task_Running</a:t>
            </a:r>
            <a:r>
              <a:rPr lang="en-US" altLang="zh-TW" b="1" dirty="0"/>
              <a:t>: Runnable, either running or on a run-queue. (The only state for a process executing in user-space)</a:t>
            </a:r>
            <a:br>
              <a:rPr lang="en-US" altLang="zh-TW" dirty="0"/>
            </a:br>
            <a:r>
              <a:rPr lang="en-US" altLang="zh-TW" b="1" dirty="0" err="1"/>
              <a:t>Task_Running</a:t>
            </a:r>
            <a:r>
              <a:rPr lang="zh-TW" altLang="en-US" dirty="0"/>
              <a:t>：</a:t>
            </a:r>
            <a:r>
              <a:rPr lang="zh-TW" altLang="en-US" b="1" dirty="0"/>
              <a:t>可執行</a:t>
            </a:r>
            <a:r>
              <a:rPr lang="zh-TW" altLang="en-US" dirty="0"/>
              <a:t>；可能正在跑，或在就緒佇列中等著跑。（當行程在</a:t>
            </a:r>
            <a:r>
              <a:rPr lang="zh-TW" altLang="en-US" b="1" dirty="0"/>
              <a:t>使用者態</a:t>
            </a:r>
            <a:r>
              <a:rPr lang="zh-TW" altLang="en-US" dirty="0"/>
              <a:t>時只會是這個狀態）</a:t>
            </a:r>
          </a:p>
          <a:p>
            <a:r>
              <a:rPr lang="en-US" altLang="zh-TW" b="1" dirty="0" err="1"/>
              <a:t>Task_Interruptible</a:t>
            </a:r>
            <a:r>
              <a:rPr lang="en-US" altLang="zh-TW" b="1" dirty="0"/>
              <a:t>: Sleeping (i.e., blocked), waiting for some condition.</a:t>
            </a:r>
            <a:br>
              <a:rPr lang="en-US" altLang="zh-TW" dirty="0"/>
            </a:br>
            <a:r>
              <a:rPr lang="en-US" altLang="zh-TW" b="1" dirty="0" err="1"/>
              <a:t>Task_Interruptible</a:t>
            </a:r>
            <a:r>
              <a:rPr lang="zh-TW" altLang="en-US" dirty="0"/>
              <a:t>：</a:t>
            </a:r>
            <a:r>
              <a:rPr lang="zh-TW" altLang="en-US" b="1" dirty="0"/>
              <a:t>睡眠</a:t>
            </a:r>
            <a:r>
              <a:rPr lang="en-US" altLang="zh-TW" b="1" dirty="0"/>
              <a:t>/</a:t>
            </a:r>
            <a:r>
              <a:rPr lang="zh-TW" altLang="en-US" b="1" dirty="0"/>
              <a:t>阻塞</a:t>
            </a:r>
            <a:r>
              <a:rPr lang="zh-TW" altLang="en-US" dirty="0"/>
              <a:t>，在等待某個條件；</a:t>
            </a:r>
            <a:r>
              <a:rPr lang="zh-TW" altLang="en-US" b="1" dirty="0"/>
              <a:t>可被訊號喚醒</a:t>
            </a:r>
            <a:r>
              <a:rPr lang="zh-TW" altLang="en-US" dirty="0"/>
              <a:t>。</a:t>
            </a:r>
          </a:p>
          <a:p>
            <a:r>
              <a:rPr lang="en-US" altLang="zh-TW" b="1" dirty="0" err="1"/>
              <a:t>Task_Uninterruptible</a:t>
            </a:r>
            <a:r>
              <a:rPr lang="en-US" altLang="zh-TW" b="1" dirty="0"/>
              <a:t>: Sleeping, does not wake up even receives a signal. (Kernel thread will manage it periodically. Fork Process.)</a:t>
            </a:r>
            <a:br>
              <a:rPr lang="en-US" altLang="zh-TW" dirty="0"/>
            </a:br>
            <a:r>
              <a:rPr lang="en-US" altLang="zh-TW" b="1" dirty="0" err="1"/>
              <a:t>Task_Uninterruptible</a:t>
            </a:r>
            <a:r>
              <a:rPr lang="zh-TW" altLang="en-US" dirty="0"/>
              <a:t>：</a:t>
            </a:r>
            <a:r>
              <a:rPr lang="zh-TW" altLang="en-US" b="1" dirty="0"/>
              <a:t>睡眠</a:t>
            </a:r>
            <a:r>
              <a:rPr lang="zh-TW" altLang="en-US" dirty="0"/>
              <a:t>，就算收到訊號也</a:t>
            </a:r>
            <a:r>
              <a:rPr lang="zh-TW" altLang="en-US" b="1" dirty="0"/>
              <a:t>不會被喚醒</a:t>
            </a:r>
            <a:r>
              <a:rPr lang="zh-TW" altLang="en-US" dirty="0"/>
              <a:t>。（核心執行緒會週期性處理它。常見於 </a:t>
            </a:r>
            <a:r>
              <a:rPr lang="en-US" altLang="zh-TW" dirty="0"/>
              <a:t>I/O </a:t>
            </a:r>
            <a:r>
              <a:rPr lang="zh-TW" altLang="en-US" dirty="0"/>
              <a:t>等待、</a:t>
            </a:r>
            <a:r>
              <a:rPr lang="en-US" altLang="zh-TW" sz="1200" kern="1200" dirty="0">
                <a:solidFill>
                  <a:schemeClr val="tx1"/>
                </a:solidFill>
                <a:latin typeface="+mn-lt"/>
                <a:ea typeface="+mn-ea"/>
                <a:cs typeface="+mn-cs"/>
              </a:rPr>
              <a:t>fork()</a:t>
            </a:r>
            <a:r>
              <a:rPr lang="en-US" altLang="zh-TW" dirty="0"/>
              <a:t> </a:t>
            </a:r>
            <a:r>
              <a:rPr lang="zh-TW" altLang="en-US" dirty="0"/>
              <a:t>中的一些階段。）</a:t>
            </a:r>
          </a:p>
          <a:p>
            <a:r>
              <a:rPr lang="en-US" altLang="zh-TW" b="1" dirty="0"/>
              <a:t>__</a:t>
            </a:r>
            <a:r>
              <a:rPr lang="en-US" altLang="zh-TW" b="1" dirty="0" err="1"/>
              <a:t>Task_Stopped</a:t>
            </a:r>
            <a:r>
              <a:rPr lang="en-US" altLang="zh-TW" b="1" dirty="0"/>
              <a:t>: Execution has stopped. (SIGCONT to resume)</a:t>
            </a:r>
            <a:br>
              <a:rPr lang="en-US" altLang="zh-TW" dirty="0"/>
            </a:br>
            <a:r>
              <a:rPr lang="en-US" altLang="zh-TW" b="1" dirty="0"/>
              <a:t>__</a:t>
            </a:r>
            <a:r>
              <a:rPr lang="en-US" altLang="zh-TW" b="1" dirty="0" err="1"/>
              <a:t>Task_Stopped</a:t>
            </a:r>
            <a:r>
              <a:rPr lang="zh-TW" altLang="en-US" dirty="0"/>
              <a:t>：</a:t>
            </a:r>
            <a:r>
              <a:rPr lang="zh-TW" altLang="en-US" b="1" dirty="0"/>
              <a:t>執行被停止</a:t>
            </a:r>
            <a:r>
              <a:rPr lang="zh-TW" altLang="en-US" dirty="0"/>
              <a:t>（例如 </a:t>
            </a:r>
            <a:r>
              <a:rPr lang="en-US" altLang="zh-TW" sz="1200" kern="1200" dirty="0">
                <a:solidFill>
                  <a:schemeClr val="tx1"/>
                </a:solidFill>
                <a:latin typeface="+mn-lt"/>
                <a:ea typeface="+mn-ea"/>
                <a:cs typeface="+mn-cs"/>
              </a:rPr>
              <a:t>SIGSTOP</a:t>
            </a:r>
            <a:r>
              <a:rPr lang="en-US" altLang="zh-TW" dirty="0"/>
              <a:t> / </a:t>
            </a:r>
            <a:r>
              <a:rPr lang="en-US" altLang="zh-TW" sz="1200" kern="1200" dirty="0">
                <a:solidFill>
                  <a:schemeClr val="tx1"/>
                </a:solidFill>
                <a:latin typeface="+mn-lt"/>
                <a:ea typeface="+mn-ea"/>
                <a:cs typeface="+mn-cs"/>
              </a:rPr>
              <a:t>Ctrl+Z</a:t>
            </a:r>
            <a:r>
              <a:rPr lang="zh-TW" altLang="en-US" dirty="0"/>
              <a:t>）。用 </a:t>
            </a:r>
            <a:r>
              <a:rPr lang="en-US" altLang="zh-TW" sz="1200" b="1" kern="1200" dirty="0">
                <a:solidFill>
                  <a:schemeClr val="tx1"/>
                </a:solidFill>
                <a:latin typeface="+mn-lt"/>
                <a:ea typeface="+mn-ea"/>
                <a:cs typeface="+mn-cs"/>
              </a:rPr>
              <a:t>SIGCONT</a:t>
            </a:r>
            <a:r>
              <a:rPr lang="en-US" altLang="zh-TW" dirty="0"/>
              <a:t> </a:t>
            </a:r>
            <a:r>
              <a:rPr lang="zh-TW" altLang="en-US" dirty="0"/>
              <a:t>使其繼續。</a:t>
            </a:r>
          </a:p>
          <a:p>
            <a:r>
              <a:rPr lang="en-US" altLang="zh-TW" b="1" dirty="0"/>
              <a:t>__</a:t>
            </a:r>
            <a:r>
              <a:rPr lang="en-US" altLang="zh-TW" b="1" dirty="0" err="1"/>
              <a:t>Task_Traced</a:t>
            </a:r>
            <a:r>
              <a:rPr lang="en-US" altLang="zh-TW" b="1" dirty="0"/>
              <a:t>: Processes traced by a Debugger.</a:t>
            </a:r>
            <a:br>
              <a:rPr lang="en-US" altLang="zh-TW" dirty="0"/>
            </a:br>
            <a:r>
              <a:rPr lang="en-US" altLang="zh-TW" b="1" dirty="0"/>
              <a:t>__</a:t>
            </a:r>
            <a:r>
              <a:rPr lang="en-US" altLang="zh-TW" b="1" dirty="0" err="1"/>
              <a:t>Task_Traced</a:t>
            </a:r>
            <a:r>
              <a:rPr lang="zh-TW" altLang="en-US" dirty="0"/>
              <a:t>：</a:t>
            </a:r>
            <a:r>
              <a:rPr lang="zh-TW" altLang="en-US" b="1" dirty="0"/>
              <a:t>被除錯器追蹤</a:t>
            </a:r>
            <a:r>
              <a:rPr lang="zh-TW" altLang="en-US" dirty="0"/>
              <a:t>的行程（例如被 </a:t>
            </a:r>
            <a:r>
              <a:rPr lang="en-US" altLang="zh-TW" sz="1200" kern="1200" dirty="0" err="1">
                <a:solidFill>
                  <a:schemeClr val="tx1"/>
                </a:solidFill>
                <a:latin typeface="+mn-lt"/>
                <a:ea typeface="+mn-ea"/>
                <a:cs typeface="+mn-cs"/>
              </a:rPr>
              <a:t>gdb</a:t>
            </a:r>
            <a:r>
              <a:rPr lang="en-US" altLang="zh-TW" sz="1200" kern="1200" dirty="0">
                <a:solidFill>
                  <a:schemeClr val="tx1"/>
                </a:solidFill>
                <a:latin typeface="+mn-lt"/>
                <a:ea typeface="+mn-ea"/>
                <a:cs typeface="+mn-cs"/>
              </a:rPr>
              <a:t>/</a:t>
            </a:r>
            <a:r>
              <a:rPr lang="en-US" altLang="zh-TW" sz="1200" kern="1200" dirty="0" err="1">
                <a:solidFill>
                  <a:schemeClr val="tx1"/>
                </a:solidFill>
                <a:latin typeface="+mn-lt"/>
                <a:ea typeface="+mn-ea"/>
                <a:cs typeface="+mn-cs"/>
              </a:rPr>
              <a:t>strace</a:t>
            </a:r>
            <a:r>
              <a:rPr lang="en-US" altLang="zh-TW" dirty="0"/>
              <a:t> </a:t>
            </a:r>
            <a:r>
              <a:rPr lang="zh-TW" altLang="en-US" dirty="0"/>
              <a:t>停住）。</a:t>
            </a:r>
          </a:p>
          <a:p>
            <a:r>
              <a:rPr lang="zh-TW" altLang="en-US" b="1" dirty="0"/>
              <a:t>小抄（更白話）</a:t>
            </a:r>
          </a:p>
          <a:p>
            <a:r>
              <a:rPr lang="en-US" altLang="zh-TW" b="1" dirty="0"/>
              <a:t>R</a:t>
            </a:r>
            <a:r>
              <a:rPr lang="zh-TW" altLang="en-US" dirty="0"/>
              <a:t>（</a:t>
            </a:r>
            <a:r>
              <a:rPr lang="en-US" altLang="zh-TW" dirty="0"/>
              <a:t>RUNNING</a:t>
            </a:r>
            <a:r>
              <a:rPr lang="zh-TW" altLang="en-US" dirty="0"/>
              <a:t>）：能跑</a:t>
            </a:r>
            <a:r>
              <a:rPr lang="en-US" altLang="zh-TW" dirty="0"/>
              <a:t>/</a:t>
            </a:r>
            <a:r>
              <a:rPr lang="zh-TW" altLang="en-US" dirty="0"/>
              <a:t>在跑</a:t>
            </a:r>
          </a:p>
          <a:p>
            <a:r>
              <a:rPr lang="en-US" altLang="zh-TW" b="1" dirty="0"/>
              <a:t>S</a:t>
            </a:r>
            <a:r>
              <a:rPr lang="zh-TW" altLang="en-US" dirty="0"/>
              <a:t>（</a:t>
            </a:r>
            <a:r>
              <a:rPr lang="en-US" altLang="zh-TW" dirty="0"/>
              <a:t>INTERRUPTIBLE</a:t>
            </a:r>
            <a:r>
              <a:rPr lang="zh-TW" altLang="en-US" dirty="0"/>
              <a:t>）：在睡、叫得醒</a:t>
            </a:r>
          </a:p>
          <a:p>
            <a:r>
              <a:rPr lang="en-US" altLang="zh-TW" b="1" dirty="0"/>
              <a:t>D</a:t>
            </a:r>
            <a:r>
              <a:rPr lang="zh-TW" altLang="en-US" dirty="0"/>
              <a:t>（</a:t>
            </a:r>
            <a:r>
              <a:rPr lang="en-US" altLang="zh-TW" dirty="0"/>
              <a:t>UNINTERRUPTIBLE</a:t>
            </a:r>
            <a:r>
              <a:rPr lang="zh-TW" altLang="en-US" dirty="0"/>
              <a:t>）：在睡、叫不醒（多半 </a:t>
            </a:r>
            <a:r>
              <a:rPr lang="en-US" altLang="zh-TW" dirty="0"/>
              <a:t>I/O</a:t>
            </a:r>
            <a:r>
              <a:rPr lang="zh-TW" altLang="en-US" dirty="0"/>
              <a:t>）</a:t>
            </a:r>
          </a:p>
          <a:p>
            <a:r>
              <a:rPr lang="en-US" altLang="zh-TW" b="1" dirty="0"/>
              <a:t>T</a:t>
            </a:r>
            <a:r>
              <a:rPr lang="zh-TW" altLang="en-US" dirty="0"/>
              <a:t>（</a:t>
            </a:r>
            <a:r>
              <a:rPr lang="en-US" altLang="zh-TW" dirty="0"/>
              <a:t>STOPPED/TRACED</a:t>
            </a:r>
            <a:r>
              <a:rPr lang="zh-TW" altLang="en-US" dirty="0"/>
              <a:t>）：被停住</a:t>
            </a:r>
            <a:r>
              <a:rPr lang="en-US" altLang="zh-TW" dirty="0"/>
              <a:t>/</a:t>
            </a:r>
            <a:r>
              <a:rPr lang="zh-TW" altLang="en-US" dirty="0"/>
              <a:t>被除錯</a:t>
            </a:r>
          </a:p>
          <a:p>
            <a:r>
              <a:rPr lang="en-US" altLang="zh-TW" b="1" dirty="0"/>
              <a:t>Z</a:t>
            </a:r>
            <a:r>
              <a:rPr lang="zh-TW" altLang="en-US" dirty="0"/>
              <a:t>（</a:t>
            </a:r>
            <a:r>
              <a:rPr lang="en-US" altLang="zh-TW" dirty="0"/>
              <a:t>Zombie</a:t>
            </a:r>
            <a:r>
              <a:rPr lang="zh-TW" altLang="en-US" dirty="0"/>
              <a:t>）：退出待回收（不在這張清單，但常一起考）</a:t>
            </a:r>
          </a:p>
          <a:p>
            <a:endParaRPr kumimoji="1"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5</a:t>
            </a:fld>
            <a:endParaRPr lang="zh-TW" altLang="en-US"/>
          </a:p>
        </p:txBody>
      </p:sp>
    </p:spTree>
    <p:extLst>
      <p:ext uri="{BB962C8B-B14F-4D97-AF65-F5344CB8AC3E}">
        <p14:creationId xmlns:p14="http://schemas.microsoft.com/office/powerpoint/2010/main" val="2592471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好～針對「</a:t>
            </a:r>
            <a:r>
              <a:rPr lang="en-US" altLang="zh-TW" dirty="0"/>
              <a:t>Process State Diagram</a:t>
            </a:r>
            <a:r>
              <a:rPr lang="zh-TW" altLang="en-US" dirty="0"/>
              <a:t>」這張圖上的英文，我把</a:t>
            </a:r>
            <a:r>
              <a:rPr lang="zh-TW" altLang="en-US" b="1" dirty="0"/>
              <a:t>關鍵單字＋片語＋整句</a:t>
            </a:r>
            <a:r>
              <a:rPr lang="zh-TW" altLang="en-US" dirty="0"/>
              <a:t>都用白話翻給你：</a:t>
            </a:r>
          </a:p>
          <a:p>
            <a:r>
              <a:rPr lang="zh-TW" altLang="en-US" b="1" dirty="0"/>
              <a:t>關鍵名詞</a:t>
            </a:r>
          </a:p>
          <a:p>
            <a:r>
              <a:rPr lang="en-US" altLang="zh-TW" b="1" dirty="0"/>
              <a:t>process state</a:t>
            </a:r>
            <a:r>
              <a:rPr lang="zh-TW" altLang="en-US" dirty="0"/>
              <a:t>：行程狀態（現在在做什麼：跑、等、停</a:t>
            </a:r>
            <a:r>
              <a:rPr lang="en-US" altLang="zh-TW" dirty="0"/>
              <a:t>…</a:t>
            </a:r>
            <a:r>
              <a:rPr lang="zh-TW" altLang="en-US" dirty="0"/>
              <a:t>）</a:t>
            </a:r>
          </a:p>
          <a:p>
            <a:r>
              <a:rPr lang="en-US" altLang="zh-TW" b="1" dirty="0"/>
              <a:t>life cycle</a:t>
            </a:r>
            <a:r>
              <a:rPr lang="zh-TW" altLang="en-US" dirty="0"/>
              <a:t>：生命週期（從出生到結束的整段過程）</a:t>
            </a:r>
          </a:p>
          <a:p>
            <a:r>
              <a:rPr lang="en-US" altLang="zh-TW" b="1" dirty="0"/>
              <a:t>scheduler</a:t>
            </a:r>
            <a:r>
              <a:rPr lang="zh-TW" altLang="en-US" dirty="0"/>
              <a:t>：排程器（決定誰上 </a:t>
            </a:r>
            <a:r>
              <a:rPr lang="en-US" altLang="zh-TW" dirty="0"/>
              <a:t>CPU</a:t>
            </a:r>
            <a:r>
              <a:rPr lang="zh-TW" altLang="en-US" dirty="0"/>
              <a:t>）</a:t>
            </a:r>
          </a:p>
          <a:p>
            <a:r>
              <a:rPr lang="en-US" altLang="zh-TW" b="1" dirty="0"/>
              <a:t>run queue</a:t>
            </a:r>
            <a:r>
              <a:rPr lang="zh-TW" altLang="en-US" dirty="0"/>
              <a:t>：就緒佇列（可以跑、等排到的人）</a:t>
            </a:r>
          </a:p>
          <a:p>
            <a:r>
              <a:rPr lang="en-US" altLang="zh-TW" b="1" dirty="0"/>
              <a:t>wait queue</a:t>
            </a:r>
            <a:r>
              <a:rPr lang="zh-TW" altLang="en-US" dirty="0"/>
              <a:t>：等待佇列（睡著等事件的人）</a:t>
            </a:r>
          </a:p>
          <a:p>
            <a:r>
              <a:rPr lang="en-US" altLang="zh-TW" b="1" dirty="0"/>
              <a:t>I/O (input/output)</a:t>
            </a:r>
            <a:r>
              <a:rPr lang="zh-TW" altLang="en-US" dirty="0"/>
              <a:t>：輸入</a:t>
            </a:r>
            <a:r>
              <a:rPr lang="en-US" altLang="zh-TW" dirty="0"/>
              <a:t>/</a:t>
            </a:r>
            <a:r>
              <a:rPr lang="zh-TW" altLang="en-US" dirty="0"/>
              <a:t>輸出（磁碟、網路等）</a:t>
            </a:r>
          </a:p>
          <a:p>
            <a:r>
              <a:rPr lang="en-US" altLang="zh-TW" b="1" dirty="0"/>
              <a:t>event</a:t>
            </a:r>
            <a:r>
              <a:rPr lang="zh-TW" altLang="en-US" dirty="0"/>
              <a:t>：事件（</a:t>
            </a:r>
            <a:r>
              <a:rPr lang="en-US" altLang="zh-TW" dirty="0"/>
              <a:t>I/O </a:t>
            </a:r>
            <a:r>
              <a:rPr lang="zh-TW" altLang="en-US" dirty="0"/>
              <a:t>完成、訊號到</a:t>
            </a:r>
            <a:r>
              <a:rPr lang="en-US" altLang="zh-TW" dirty="0"/>
              <a:t>…</a:t>
            </a:r>
            <a:r>
              <a:rPr lang="zh-TW" altLang="en-US" dirty="0"/>
              <a:t>）</a:t>
            </a:r>
          </a:p>
          <a:p>
            <a:r>
              <a:rPr lang="en-US" altLang="zh-TW" b="1" dirty="0"/>
              <a:t>preempt / preemption</a:t>
            </a:r>
            <a:r>
              <a:rPr lang="zh-TW" altLang="en-US" dirty="0"/>
              <a:t>：搶佔（高優先權把你換下來）</a:t>
            </a:r>
          </a:p>
          <a:p>
            <a:r>
              <a:rPr lang="en-US" altLang="zh-TW" b="1" dirty="0"/>
              <a:t>terminate / termination</a:t>
            </a:r>
            <a:r>
              <a:rPr lang="zh-TW" altLang="en-US" dirty="0"/>
              <a:t>：終止（行程真的結束）</a:t>
            </a:r>
          </a:p>
          <a:p>
            <a:r>
              <a:rPr lang="en-US" altLang="zh-TW" b="1" dirty="0"/>
              <a:t>zombie</a:t>
            </a:r>
            <a:r>
              <a:rPr lang="zh-TW" altLang="en-US" dirty="0"/>
              <a:t>：殭屍（已退出、等父行程回收的殘留表項）</a:t>
            </a:r>
          </a:p>
          <a:p>
            <a:r>
              <a:rPr lang="zh-TW" altLang="en-US" b="1" dirty="0"/>
              <a:t>狀態名詞</a:t>
            </a:r>
          </a:p>
          <a:p>
            <a:r>
              <a:rPr lang="en-US" altLang="zh-TW" b="1" dirty="0"/>
              <a:t>Ready</a:t>
            </a:r>
            <a:r>
              <a:rPr lang="zh-TW" altLang="en-US" dirty="0"/>
              <a:t>：就緒（可以跑，但還沒輪到）</a:t>
            </a:r>
          </a:p>
          <a:p>
            <a:r>
              <a:rPr lang="en-US" altLang="zh-TW" b="1" dirty="0"/>
              <a:t>Running</a:t>
            </a:r>
            <a:r>
              <a:rPr lang="zh-TW" altLang="en-US" dirty="0"/>
              <a:t>：執行中（正在 </a:t>
            </a:r>
            <a:r>
              <a:rPr lang="en-US" altLang="zh-TW" dirty="0"/>
              <a:t>CPU </a:t>
            </a:r>
            <a:r>
              <a:rPr lang="zh-TW" altLang="en-US" dirty="0"/>
              <a:t>上跑）</a:t>
            </a:r>
          </a:p>
          <a:p>
            <a:r>
              <a:rPr lang="en-US" altLang="zh-TW" b="1" dirty="0"/>
              <a:t>Waiting</a:t>
            </a:r>
            <a:r>
              <a:rPr lang="zh-TW" altLang="en-US" dirty="0"/>
              <a:t>：等待</a:t>
            </a:r>
            <a:r>
              <a:rPr lang="en-US" altLang="zh-TW" dirty="0"/>
              <a:t>/</a:t>
            </a:r>
            <a:r>
              <a:rPr lang="zh-TW" altLang="en-US" dirty="0"/>
              <a:t>睡眠（阻塞，等事件）</a:t>
            </a:r>
          </a:p>
          <a:p>
            <a:r>
              <a:rPr lang="en-US" altLang="zh-TW" b="1" dirty="0"/>
              <a:t>TASK_RUNNING</a:t>
            </a:r>
            <a:r>
              <a:rPr lang="zh-TW" altLang="en-US" dirty="0"/>
              <a:t>：</a:t>
            </a:r>
            <a:r>
              <a:rPr lang="en-US" altLang="zh-TW" dirty="0"/>
              <a:t>Linux </a:t>
            </a:r>
            <a:r>
              <a:rPr lang="zh-TW" altLang="en-US" dirty="0"/>
              <a:t>裡「可執行</a:t>
            </a:r>
            <a:r>
              <a:rPr lang="en-US" altLang="zh-TW" dirty="0"/>
              <a:t>/</a:t>
            </a:r>
            <a:r>
              <a:rPr lang="zh-TW" altLang="en-US" dirty="0"/>
              <a:t>執行中」的統稱</a:t>
            </a:r>
          </a:p>
          <a:p>
            <a:r>
              <a:rPr lang="en-US" altLang="zh-TW" b="1" dirty="0"/>
              <a:t>TASK_INTERRUPTIBLE</a:t>
            </a:r>
            <a:r>
              <a:rPr lang="zh-TW" altLang="en-US" dirty="0"/>
              <a:t>：可中斷睡眠（收到訊號可被叫醒）</a:t>
            </a:r>
          </a:p>
          <a:p>
            <a:r>
              <a:rPr lang="en-US" altLang="zh-TW" b="1" dirty="0"/>
              <a:t>TASK_UNINTERRUPTIBLE</a:t>
            </a:r>
            <a:r>
              <a:rPr lang="zh-TW" altLang="en-US" dirty="0"/>
              <a:t>：不可中斷睡眠（多半在等硬體 </a:t>
            </a:r>
            <a:r>
              <a:rPr lang="en-US" altLang="zh-TW" dirty="0"/>
              <a:t>I/O</a:t>
            </a:r>
            <a:r>
              <a:rPr lang="zh-TW" altLang="en-US" dirty="0"/>
              <a:t>）</a:t>
            </a:r>
          </a:p>
          <a:p>
            <a:r>
              <a:rPr lang="zh-TW" altLang="en-US" b="1" dirty="0"/>
              <a:t>動作</a:t>
            </a:r>
            <a:r>
              <a:rPr lang="en-US" altLang="zh-TW" b="1" dirty="0"/>
              <a:t>/</a:t>
            </a:r>
            <a:r>
              <a:rPr lang="zh-TW" altLang="en-US" b="1" dirty="0"/>
              <a:t>轉移用語</a:t>
            </a:r>
          </a:p>
          <a:p>
            <a:r>
              <a:rPr lang="en-US" altLang="zh-TW" b="1" dirty="0"/>
              <a:t>admitted</a:t>
            </a:r>
            <a:r>
              <a:rPr lang="zh-TW" altLang="en-US" dirty="0"/>
              <a:t>：被接納進系統（從 </a:t>
            </a:r>
            <a:r>
              <a:rPr lang="en-US" altLang="zh-TW" dirty="0"/>
              <a:t>New </a:t>
            </a:r>
            <a:r>
              <a:rPr lang="zh-TW" altLang="en-US" dirty="0"/>
              <a:t>進入 </a:t>
            </a:r>
            <a:r>
              <a:rPr lang="en-US" altLang="zh-TW" dirty="0"/>
              <a:t>Ready</a:t>
            </a:r>
            <a:r>
              <a:rPr lang="zh-TW" altLang="en-US" dirty="0"/>
              <a:t>）</a:t>
            </a:r>
          </a:p>
          <a:p>
            <a:r>
              <a:rPr lang="en-US" altLang="zh-TW" b="1" dirty="0"/>
              <a:t>dispatch</a:t>
            </a:r>
            <a:r>
              <a:rPr lang="zh-TW" altLang="en-US" dirty="0"/>
              <a:t>：派發（排程器讓某人上 </a:t>
            </a:r>
            <a:r>
              <a:rPr lang="en-US" altLang="zh-TW" dirty="0"/>
              <a:t>CPU</a:t>
            </a:r>
            <a:r>
              <a:rPr lang="zh-TW" altLang="en-US" dirty="0"/>
              <a:t>）</a:t>
            </a:r>
          </a:p>
          <a:p>
            <a:r>
              <a:rPr lang="en-US" altLang="zh-TW" b="1" dirty="0"/>
              <a:t>interrupt</a:t>
            </a:r>
            <a:r>
              <a:rPr lang="zh-TW" altLang="en-US" dirty="0"/>
              <a:t>：中斷（被打斷、切換出去）</a:t>
            </a:r>
          </a:p>
          <a:p>
            <a:r>
              <a:rPr lang="en-US" altLang="zh-TW" b="1" dirty="0"/>
              <a:t>exit</a:t>
            </a:r>
            <a:r>
              <a:rPr lang="zh-TW" altLang="en-US" dirty="0"/>
              <a:t>：退出（呼叫 </a:t>
            </a:r>
            <a:r>
              <a:rPr lang="en-US" altLang="zh-TW" sz="1200" kern="1200" dirty="0">
                <a:solidFill>
                  <a:schemeClr val="tx1"/>
                </a:solidFill>
                <a:latin typeface="+mn-lt"/>
                <a:ea typeface="+mn-ea"/>
                <a:cs typeface="+mn-cs"/>
              </a:rPr>
              <a:t>exit()</a:t>
            </a:r>
            <a:r>
              <a:rPr lang="en-US" altLang="zh-TW" dirty="0"/>
              <a:t> </a:t>
            </a:r>
            <a:r>
              <a:rPr lang="zh-TW" altLang="en-US" dirty="0"/>
              <a:t>結束）</a:t>
            </a:r>
          </a:p>
          <a:p>
            <a:r>
              <a:rPr lang="en-US" altLang="zh-TW" b="1" dirty="0"/>
              <a:t>fork</a:t>
            </a:r>
            <a:r>
              <a:rPr lang="zh-TW" altLang="en-US" dirty="0"/>
              <a:t>：分裂</a:t>
            </a:r>
            <a:r>
              <a:rPr lang="en-US" altLang="zh-TW" dirty="0"/>
              <a:t>/</a:t>
            </a:r>
            <a:r>
              <a:rPr lang="zh-TW" altLang="en-US" dirty="0"/>
              <a:t>派生（用 </a:t>
            </a:r>
            <a:r>
              <a:rPr lang="en-US" altLang="zh-TW" sz="1200" kern="1200" dirty="0">
                <a:solidFill>
                  <a:schemeClr val="tx1"/>
                </a:solidFill>
                <a:latin typeface="+mn-lt"/>
                <a:ea typeface="+mn-ea"/>
                <a:cs typeface="+mn-cs"/>
              </a:rPr>
              <a:t>fork()</a:t>
            </a:r>
            <a:r>
              <a:rPr lang="en-US" altLang="zh-TW" dirty="0"/>
              <a:t> </a:t>
            </a:r>
            <a:r>
              <a:rPr lang="zh-TW" altLang="en-US" dirty="0"/>
              <a:t>生出新行程）</a:t>
            </a:r>
          </a:p>
          <a:p>
            <a:r>
              <a:rPr lang="en-US" altLang="zh-TW" b="1" dirty="0"/>
              <a:t>woken up</a:t>
            </a:r>
            <a:r>
              <a:rPr lang="zh-TW" altLang="en-US" dirty="0"/>
              <a:t>：被喚醒（從睡眠變回就緒）</a:t>
            </a:r>
          </a:p>
          <a:p>
            <a:r>
              <a:rPr lang="zh-TW" altLang="en-US" b="1" dirty="0"/>
              <a:t>圖上的整句翻譯＋白話</a:t>
            </a:r>
          </a:p>
          <a:p>
            <a:r>
              <a:rPr lang="en-US" altLang="zh-TW" b="1" dirty="0"/>
              <a:t>Existing task calls </a:t>
            </a:r>
            <a:r>
              <a:rPr lang="en-US" altLang="zh-TW" sz="1200" b="1" kern="1200" dirty="0">
                <a:solidFill>
                  <a:schemeClr val="tx1"/>
                </a:solidFill>
                <a:latin typeface="+mn-lt"/>
                <a:ea typeface="+mn-ea"/>
                <a:cs typeface="+mn-cs"/>
              </a:rPr>
              <a:t>fork()</a:t>
            </a:r>
            <a:r>
              <a:rPr lang="en-US" altLang="zh-TW" b="1" dirty="0"/>
              <a:t> and creates a new process.</a:t>
            </a:r>
            <a:br>
              <a:rPr lang="en-US" altLang="zh-TW" dirty="0"/>
            </a:br>
            <a:r>
              <a:rPr lang="zh-TW" altLang="en-US" dirty="0"/>
              <a:t>既有行程呼叫 </a:t>
            </a:r>
            <a:r>
              <a:rPr lang="en-US" altLang="zh-TW" sz="1200" kern="1200" dirty="0">
                <a:solidFill>
                  <a:schemeClr val="tx1"/>
                </a:solidFill>
                <a:latin typeface="+mn-lt"/>
                <a:ea typeface="+mn-ea"/>
                <a:cs typeface="+mn-cs"/>
              </a:rPr>
              <a:t>fork()</a:t>
            </a:r>
            <a:r>
              <a:rPr lang="zh-TW" altLang="en-US" dirty="0"/>
              <a:t>，創建新行程。→ 爸爸生小孩。</a:t>
            </a:r>
          </a:p>
          <a:p>
            <a:r>
              <a:rPr lang="en-US" altLang="zh-TW" b="1" dirty="0"/>
              <a:t>Scheduler dispatches task to run: </a:t>
            </a:r>
            <a:r>
              <a:rPr lang="en-US" altLang="zh-TW" sz="1200" b="1" kern="1200" dirty="0">
                <a:solidFill>
                  <a:schemeClr val="tx1"/>
                </a:solidFill>
                <a:latin typeface="+mn-lt"/>
                <a:ea typeface="+mn-ea"/>
                <a:cs typeface="+mn-cs"/>
              </a:rPr>
              <a:t>schedule()</a:t>
            </a:r>
            <a:r>
              <a:rPr lang="en-US" altLang="zh-TW" b="1" dirty="0"/>
              <a:t> calls </a:t>
            </a:r>
            <a:r>
              <a:rPr lang="en-US" altLang="zh-TW" sz="1200" b="1" kern="1200" dirty="0" err="1">
                <a:solidFill>
                  <a:schemeClr val="tx1"/>
                </a:solidFill>
                <a:latin typeface="+mn-lt"/>
                <a:ea typeface="+mn-ea"/>
                <a:cs typeface="+mn-cs"/>
              </a:rPr>
              <a:t>context_switch</a:t>
            </a:r>
            <a:r>
              <a:rPr lang="en-US" altLang="zh-TW" sz="1200" b="1" kern="1200" dirty="0">
                <a:solidFill>
                  <a:schemeClr val="tx1"/>
                </a:solidFill>
                <a:latin typeface="+mn-lt"/>
                <a:ea typeface="+mn-ea"/>
                <a:cs typeface="+mn-cs"/>
              </a:rPr>
              <a:t>()</a:t>
            </a:r>
            <a:r>
              <a:rPr lang="en-US" altLang="zh-TW" b="1" dirty="0"/>
              <a:t>.</a:t>
            </a:r>
            <a:br>
              <a:rPr lang="en-US" altLang="zh-TW" dirty="0"/>
            </a:br>
            <a:r>
              <a:rPr lang="zh-TW" altLang="en-US" dirty="0"/>
              <a:t>排程器派發工作去執行：</a:t>
            </a:r>
            <a:r>
              <a:rPr lang="en-US" altLang="zh-TW" sz="1200" kern="1200" dirty="0">
                <a:solidFill>
                  <a:schemeClr val="tx1"/>
                </a:solidFill>
                <a:latin typeface="+mn-lt"/>
                <a:ea typeface="+mn-ea"/>
                <a:cs typeface="+mn-cs"/>
              </a:rPr>
              <a:t>schedule()</a:t>
            </a:r>
            <a:r>
              <a:rPr lang="en-US" altLang="zh-TW" dirty="0"/>
              <a:t> </a:t>
            </a:r>
            <a:r>
              <a:rPr lang="zh-TW" altLang="en-US" dirty="0"/>
              <a:t>會做情境切換。→ 換你上機。</a:t>
            </a:r>
          </a:p>
          <a:p>
            <a:r>
              <a:rPr lang="en-US" altLang="zh-TW" b="1" dirty="0"/>
              <a:t>TASK_RUNNING (ready but not running).</a:t>
            </a:r>
            <a:br>
              <a:rPr lang="en-US" altLang="zh-TW" dirty="0"/>
            </a:br>
            <a:r>
              <a:rPr lang="zh-TW" altLang="en-US" dirty="0"/>
              <a:t>可執行（就緒但尚未在跑）。→ 站在場邊等叫號。</a:t>
            </a:r>
          </a:p>
          <a:p>
            <a:r>
              <a:rPr lang="en-US" altLang="zh-TW" b="1" dirty="0"/>
              <a:t>TASK_RUNNING (running).</a:t>
            </a:r>
            <a:br>
              <a:rPr lang="en-US" altLang="zh-TW" dirty="0"/>
            </a:br>
            <a:r>
              <a:rPr lang="zh-TW" altLang="en-US" dirty="0"/>
              <a:t>可執行（而且正在跑）。→ 已經在場上。</a:t>
            </a:r>
          </a:p>
          <a:p>
            <a:r>
              <a:rPr lang="en-US" altLang="zh-TW" b="1" dirty="0"/>
              <a:t>TASK_INTERRUPTIBLE or TASK_UNINTERRUPTIBLE (waiting).</a:t>
            </a:r>
            <a:br>
              <a:rPr lang="en-US" altLang="zh-TW" dirty="0"/>
            </a:br>
            <a:r>
              <a:rPr lang="zh-TW" altLang="en-US" dirty="0"/>
              <a:t>可中斷或不可中斷的睡眠（等待）。→ 睡著等資料；可中斷</a:t>
            </a:r>
            <a:r>
              <a:rPr lang="en-US" altLang="zh-TW" dirty="0"/>
              <a:t>=</a:t>
            </a:r>
            <a:r>
              <a:rPr lang="zh-TW" altLang="en-US" dirty="0"/>
              <a:t>叫得醒，不可中斷</a:t>
            </a:r>
            <a:r>
              <a:rPr lang="en-US" altLang="zh-TW" dirty="0"/>
              <a:t>=</a:t>
            </a:r>
            <a:r>
              <a:rPr lang="zh-TW" altLang="en-US" dirty="0"/>
              <a:t>先別吵。</a:t>
            </a:r>
          </a:p>
          <a:p>
            <a:r>
              <a:rPr lang="en-US" altLang="zh-TW" b="1" dirty="0"/>
              <a:t>Task sleeps on wait queue for a specific event.</a:t>
            </a:r>
            <a:br>
              <a:rPr lang="en-US" altLang="zh-TW" dirty="0"/>
            </a:br>
            <a:r>
              <a:rPr lang="zh-TW" altLang="en-US" dirty="0"/>
              <a:t>任務為了某個特定事件在等待佇列裡睡眠。→ 抽號碼牌等叫號。</a:t>
            </a:r>
          </a:p>
          <a:p>
            <a:r>
              <a:rPr lang="en-US" altLang="zh-TW" b="1" dirty="0"/>
              <a:t>Event occurs and task is woken up and placed back on the run queue.</a:t>
            </a:r>
            <a:br>
              <a:rPr lang="en-US" altLang="zh-TW" dirty="0"/>
            </a:br>
            <a:r>
              <a:rPr lang="zh-TW" altLang="en-US" dirty="0"/>
              <a:t>事件發生，任務被喚醒並放回就緒佇列。→ 叫號到了，回到排隊跑。</a:t>
            </a:r>
          </a:p>
          <a:p>
            <a:r>
              <a:rPr lang="en-US" altLang="zh-TW" b="1" dirty="0"/>
              <a:t>Task is preempted by higher priority task.</a:t>
            </a:r>
            <a:br>
              <a:rPr lang="en-US" altLang="zh-TW" dirty="0"/>
            </a:br>
            <a:r>
              <a:rPr lang="zh-TW" altLang="en-US" dirty="0"/>
              <a:t>任務被較高優先權的任務搶佔。→ 學長插隊，你先下場。</a:t>
            </a:r>
          </a:p>
          <a:p>
            <a:r>
              <a:rPr lang="en-US" altLang="zh-TW" b="1" dirty="0"/>
              <a:t>Task exits via </a:t>
            </a:r>
            <a:r>
              <a:rPr lang="en-US" altLang="zh-TW" sz="1200" b="1" kern="1200" dirty="0" err="1">
                <a:solidFill>
                  <a:schemeClr val="tx1"/>
                </a:solidFill>
                <a:latin typeface="+mn-lt"/>
                <a:ea typeface="+mn-ea"/>
                <a:cs typeface="+mn-cs"/>
              </a:rPr>
              <a:t>do_exit</a:t>
            </a:r>
            <a:r>
              <a:rPr lang="en-US" altLang="zh-TW" b="1" dirty="0"/>
              <a:t>.</a:t>
            </a:r>
            <a:br>
              <a:rPr lang="en-US" altLang="zh-TW" dirty="0"/>
            </a:br>
            <a:r>
              <a:rPr lang="zh-TW" altLang="en-US" dirty="0"/>
              <a:t>任務透過 </a:t>
            </a:r>
            <a:r>
              <a:rPr lang="en-US" altLang="zh-TW" sz="1200" kern="1200" dirty="0" err="1">
                <a:solidFill>
                  <a:schemeClr val="tx1"/>
                </a:solidFill>
                <a:latin typeface="+mn-lt"/>
                <a:ea typeface="+mn-ea"/>
                <a:cs typeface="+mn-cs"/>
              </a:rPr>
              <a:t>do_exit</a:t>
            </a:r>
            <a:r>
              <a:rPr lang="en-US" altLang="zh-TW" dirty="0"/>
              <a:t> </a:t>
            </a:r>
            <a:r>
              <a:rPr lang="zh-TW" altLang="en-US" dirty="0"/>
              <a:t>退出。→ 交卷離場。</a:t>
            </a:r>
          </a:p>
          <a:p>
            <a:r>
              <a:rPr lang="en-US" altLang="zh-TW" b="1" dirty="0"/>
              <a:t>Task is terminated.</a:t>
            </a:r>
            <a:br>
              <a:rPr lang="en-US" altLang="zh-TW" dirty="0"/>
            </a:br>
            <a:r>
              <a:rPr lang="zh-TW" altLang="en-US" dirty="0"/>
              <a:t>任務終止。→ 名字從名單上消失（父行程已 </a:t>
            </a:r>
            <a:r>
              <a:rPr lang="en-US" altLang="zh-TW" dirty="0"/>
              <a:t>wait </a:t>
            </a:r>
            <a:r>
              <a:rPr lang="zh-TW" altLang="en-US" dirty="0"/>
              <a:t>回收）。</a:t>
            </a:r>
          </a:p>
          <a:p>
            <a:r>
              <a:rPr lang="en-US" altLang="zh-TW" b="1" dirty="0"/>
              <a:t>I/O or Event Wait / Completion.</a:t>
            </a:r>
            <a:br>
              <a:rPr lang="en-US" altLang="zh-TW" dirty="0"/>
            </a:br>
            <a:r>
              <a:rPr lang="zh-TW" altLang="en-US" dirty="0"/>
              <a:t>等 </a:t>
            </a:r>
            <a:r>
              <a:rPr lang="en-US" altLang="zh-TW" dirty="0"/>
              <a:t>I/O </a:t>
            </a:r>
            <a:r>
              <a:rPr lang="zh-TW" altLang="en-US" dirty="0"/>
              <a:t>或事件／</a:t>
            </a:r>
            <a:r>
              <a:rPr lang="en-US" altLang="zh-TW" dirty="0"/>
              <a:t>I/O </a:t>
            </a:r>
            <a:r>
              <a:rPr lang="zh-TW" altLang="en-US" dirty="0"/>
              <a:t>或事件完成。→ 等資料→資料到了。</a:t>
            </a:r>
          </a:p>
          <a:p>
            <a:r>
              <a:rPr lang="zh-TW" altLang="en-US" dirty="0"/>
              <a:t>如果你要，我可以把這些做成一張「中英對照小抄」</a:t>
            </a:r>
            <a:r>
              <a:rPr lang="en-US" altLang="zh-TW" dirty="0"/>
              <a:t>PNG/</a:t>
            </a:r>
            <a:r>
              <a:rPr lang="zh-TW" altLang="en-US" dirty="0"/>
              <a:t>表格給你帶著讀。</a:t>
            </a:r>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6</a:t>
            </a:fld>
            <a:endParaRPr lang="zh-TW" altLang="en-US"/>
          </a:p>
        </p:txBody>
      </p:sp>
    </p:spTree>
    <p:extLst>
      <p:ext uri="{BB962C8B-B14F-4D97-AF65-F5344CB8AC3E}">
        <p14:creationId xmlns:p14="http://schemas.microsoft.com/office/powerpoint/2010/main" val="2872643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下面把投影片上的英文先拆字詞、再逐句翻，最後給你白話重點。</a:t>
            </a:r>
          </a:p>
          <a:p>
            <a:r>
              <a:rPr lang="zh-TW" altLang="en-US" b="1" dirty="0"/>
              <a:t>關鍵單字</a:t>
            </a:r>
          </a:p>
          <a:p>
            <a:r>
              <a:rPr lang="en-US" altLang="zh-TW" b="1" dirty="0"/>
              <a:t>descendants</a:t>
            </a:r>
            <a:r>
              <a:rPr lang="zh-TW" altLang="en-US" dirty="0"/>
              <a:t>：後代、子孫（延伸：所有子子孫孫的進程）</a:t>
            </a:r>
          </a:p>
          <a:p>
            <a:r>
              <a:rPr lang="en-US" altLang="zh-TW" b="1" dirty="0" err="1"/>
              <a:t>init</a:t>
            </a:r>
            <a:r>
              <a:rPr lang="en-US" altLang="zh-TW" b="1" dirty="0"/>
              <a:t> process (PID 1)</a:t>
            </a:r>
            <a:r>
              <a:rPr lang="zh-TW" altLang="en-US" dirty="0"/>
              <a:t>：系統啟動後的第一個行程，</a:t>
            </a:r>
            <a:r>
              <a:rPr lang="en-US" altLang="zh-TW" dirty="0"/>
              <a:t>PID=1</a:t>
            </a:r>
          </a:p>
          <a:p>
            <a:r>
              <a:rPr lang="en-US" altLang="zh-TW" b="1" dirty="0"/>
              <a:t>PID (process ID)</a:t>
            </a:r>
            <a:r>
              <a:rPr lang="zh-TW" altLang="en-US" dirty="0"/>
              <a:t>：行程識別碼</a:t>
            </a:r>
          </a:p>
          <a:p>
            <a:r>
              <a:rPr lang="en-US" altLang="zh-TW" b="1" dirty="0"/>
              <a:t>access</a:t>
            </a:r>
            <a:r>
              <a:rPr lang="zh-TW" altLang="en-US" dirty="0"/>
              <a:t>：存取、取得</a:t>
            </a:r>
          </a:p>
          <a:p>
            <a:r>
              <a:rPr lang="en-US" altLang="zh-TW" b="1" dirty="0"/>
              <a:t>parent / children pointer</a:t>
            </a:r>
            <a:r>
              <a:rPr lang="zh-TW" altLang="en-US" dirty="0"/>
              <a:t>：指向父行程／子行程的指標</a:t>
            </a:r>
          </a:p>
          <a:p>
            <a:r>
              <a:rPr lang="en-US" altLang="zh-TW" b="1" dirty="0"/>
              <a:t>process descriptor (</a:t>
            </a:r>
            <a:r>
              <a:rPr lang="en-US" altLang="zh-TW" sz="1200" b="1" kern="1200" dirty="0" err="1">
                <a:solidFill>
                  <a:schemeClr val="tx1"/>
                </a:solidFill>
                <a:latin typeface="+mn-lt"/>
                <a:ea typeface="+mn-ea"/>
                <a:cs typeface="+mn-cs"/>
              </a:rPr>
              <a:t>task_struct</a:t>
            </a:r>
            <a:r>
              <a:rPr lang="en-US" altLang="zh-TW" b="1" dirty="0"/>
              <a:t>)</a:t>
            </a:r>
            <a:r>
              <a:rPr lang="zh-TW" altLang="en-US" dirty="0"/>
              <a:t>：行程描述子（</a:t>
            </a:r>
            <a:r>
              <a:rPr lang="en-US" altLang="zh-TW" dirty="0"/>
              <a:t>Linux </a:t>
            </a:r>
            <a:r>
              <a:rPr lang="zh-TW" altLang="en-US" dirty="0"/>
              <a:t>裡的 </a:t>
            </a:r>
            <a:r>
              <a:rPr lang="en-US" altLang="zh-TW" dirty="0"/>
              <a:t>PCB</a:t>
            </a:r>
            <a:r>
              <a:rPr lang="zh-TW" altLang="en-US" dirty="0"/>
              <a:t>）</a:t>
            </a:r>
          </a:p>
          <a:p>
            <a:r>
              <a:rPr lang="en-US" altLang="zh-TW" b="1" dirty="0"/>
              <a:t>traverse / traversal</a:t>
            </a:r>
            <a:r>
              <a:rPr lang="zh-TW" altLang="en-US" dirty="0"/>
              <a:t>：遍歷、沿著鏈結走訪</a:t>
            </a:r>
          </a:p>
          <a:p>
            <a:r>
              <a:rPr lang="en-US" altLang="zh-TW" b="1" dirty="0" err="1"/>
              <a:t>task_list</a:t>
            </a:r>
            <a:r>
              <a:rPr lang="zh-TW" altLang="en-US" dirty="0"/>
              <a:t>：把所有行程串成一圈的「環狀雙向鏈結串列」</a:t>
            </a:r>
          </a:p>
          <a:p>
            <a:r>
              <a:rPr lang="zh-TW" altLang="en-US" b="1" dirty="0"/>
              <a:t>逐句翻譯</a:t>
            </a:r>
          </a:p>
          <a:p>
            <a:r>
              <a:rPr lang="en-US" altLang="zh-TW" b="1" dirty="0"/>
              <a:t>The first process: All processes are descendants of the </a:t>
            </a:r>
            <a:r>
              <a:rPr lang="en-US" altLang="zh-TW" b="1" dirty="0" err="1"/>
              <a:t>init</a:t>
            </a:r>
            <a:r>
              <a:rPr lang="en-US" altLang="zh-TW" b="1" dirty="0"/>
              <a:t> process (PID 1).</a:t>
            </a:r>
            <a:br>
              <a:rPr lang="en-US" altLang="zh-TW" dirty="0"/>
            </a:br>
            <a:r>
              <a:rPr lang="zh-TW" altLang="en-US" dirty="0"/>
              <a:t>第一個行程：系統裡所有行程都是 </a:t>
            </a:r>
            <a:r>
              <a:rPr lang="en-US" altLang="zh-TW" b="1" dirty="0" err="1"/>
              <a:t>init</a:t>
            </a:r>
            <a:r>
              <a:rPr lang="zh-TW" altLang="en-US" b="1" dirty="0"/>
              <a:t>（</a:t>
            </a:r>
            <a:r>
              <a:rPr lang="en-US" altLang="zh-TW" b="1" dirty="0"/>
              <a:t>PID 1</a:t>
            </a:r>
            <a:r>
              <a:rPr lang="zh-TW" altLang="en-US" b="1" dirty="0"/>
              <a:t>）</a:t>
            </a:r>
            <a:r>
              <a:rPr lang="en-US" altLang="zh-TW" dirty="0"/>
              <a:t> </a:t>
            </a:r>
            <a:r>
              <a:rPr lang="zh-TW" altLang="en-US" dirty="0"/>
              <a:t>的後代。</a:t>
            </a:r>
          </a:p>
          <a:p>
            <a:r>
              <a:rPr lang="en-US" altLang="zh-TW" b="1" dirty="0"/>
              <a:t>How to access one’s parent or children: Use the parent or the children pointer provided by the process descriptor (i.e., </a:t>
            </a:r>
            <a:r>
              <a:rPr lang="en-US" altLang="zh-TW" sz="1200" b="1" kern="1200" dirty="0" err="1">
                <a:solidFill>
                  <a:schemeClr val="tx1"/>
                </a:solidFill>
                <a:latin typeface="+mn-lt"/>
                <a:ea typeface="+mn-ea"/>
                <a:cs typeface="+mn-cs"/>
              </a:rPr>
              <a:t>task_struct</a:t>
            </a:r>
            <a:r>
              <a:rPr lang="en-US" altLang="zh-TW" b="1" dirty="0"/>
              <a:t>), respectively.</a:t>
            </a:r>
            <a:br>
              <a:rPr lang="en-US" altLang="zh-TW" dirty="0"/>
            </a:br>
            <a:r>
              <a:rPr lang="zh-TW" altLang="en-US" dirty="0"/>
              <a:t>要取得自己的父或子行程：用行程描述子（</a:t>
            </a:r>
            <a:r>
              <a:rPr lang="en-US" altLang="zh-TW" sz="1200" kern="1200" dirty="0" err="1">
                <a:solidFill>
                  <a:schemeClr val="tx1"/>
                </a:solidFill>
                <a:latin typeface="+mn-lt"/>
                <a:ea typeface="+mn-ea"/>
                <a:cs typeface="+mn-cs"/>
              </a:rPr>
              <a:t>task_struct</a:t>
            </a:r>
            <a:r>
              <a:rPr lang="zh-TW" altLang="en-US" dirty="0"/>
              <a:t>）裡的 </a:t>
            </a:r>
            <a:r>
              <a:rPr lang="en-US" altLang="zh-TW" sz="1200" b="1" kern="1200" dirty="0">
                <a:solidFill>
                  <a:schemeClr val="tx1"/>
                </a:solidFill>
                <a:latin typeface="+mn-lt"/>
                <a:ea typeface="+mn-ea"/>
                <a:cs typeface="+mn-cs"/>
              </a:rPr>
              <a:t>parent</a:t>
            </a:r>
            <a:r>
              <a:rPr lang="en-US" altLang="zh-TW" b="1" dirty="0"/>
              <a:t> </a:t>
            </a:r>
            <a:r>
              <a:rPr lang="zh-TW" altLang="en-US" b="1" dirty="0"/>
              <a:t>指標</a:t>
            </a:r>
            <a:r>
              <a:rPr lang="zh-TW" altLang="en-US" dirty="0"/>
              <a:t> 或 </a:t>
            </a:r>
            <a:r>
              <a:rPr lang="en-US" altLang="zh-TW" b="1" dirty="0"/>
              <a:t>children</a:t>
            </a:r>
            <a:r>
              <a:rPr lang="zh-TW" altLang="en-US" b="1" dirty="0"/>
              <a:t>（子女清單）指標</a:t>
            </a:r>
            <a:r>
              <a:rPr lang="zh-TW" altLang="en-US" dirty="0"/>
              <a:t>。</a:t>
            </a:r>
          </a:p>
          <a:p>
            <a:r>
              <a:rPr lang="en-US" altLang="zh-TW" b="1" dirty="0"/>
              <a:t>How to access other processes: By traversing through the </a:t>
            </a:r>
            <a:r>
              <a:rPr lang="en-US" altLang="zh-TW" sz="1200" b="1" kern="1200" dirty="0" err="1">
                <a:solidFill>
                  <a:schemeClr val="tx1"/>
                </a:solidFill>
                <a:latin typeface="+mn-lt"/>
                <a:ea typeface="+mn-ea"/>
                <a:cs typeface="+mn-cs"/>
              </a:rPr>
              <a:t>task_list</a:t>
            </a:r>
            <a:r>
              <a:rPr lang="en-US" altLang="zh-TW" b="1" dirty="0"/>
              <a:t>.</a:t>
            </a:r>
            <a:br>
              <a:rPr lang="en-US" altLang="zh-TW" dirty="0"/>
            </a:br>
            <a:r>
              <a:rPr lang="zh-TW" altLang="en-US" dirty="0"/>
              <a:t>要存取系統中的其他行程：</a:t>
            </a:r>
            <a:r>
              <a:rPr lang="zh-TW" altLang="en-US" b="1" dirty="0"/>
              <a:t>沿著 </a:t>
            </a:r>
            <a:r>
              <a:rPr lang="en-US" altLang="zh-TW" sz="1200" b="1" kern="1200" dirty="0" err="1">
                <a:solidFill>
                  <a:schemeClr val="tx1"/>
                </a:solidFill>
                <a:latin typeface="+mn-lt"/>
                <a:ea typeface="+mn-ea"/>
                <a:cs typeface="+mn-cs"/>
              </a:rPr>
              <a:t>task_list</a:t>
            </a:r>
            <a:r>
              <a:rPr lang="en-US" altLang="zh-TW" dirty="0"/>
              <a:t> </a:t>
            </a:r>
            <a:r>
              <a:rPr lang="zh-TW" altLang="en-US" dirty="0"/>
              <a:t>這條環狀雙向鏈結把所有 </a:t>
            </a:r>
            <a:r>
              <a:rPr lang="en-US" altLang="zh-TW" sz="1200" kern="1200" dirty="0" err="1">
                <a:solidFill>
                  <a:schemeClr val="tx1"/>
                </a:solidFill>
                <a:latin typeface="+mn-lt"/>
                <a:ea typeface="+mn-ea"/>
                <a:cs typeface="+mn-cs"/>
              </a:rPr>
              <a:t>task_struct</a:t>
            </a:r>
            <a:r>
              <a:rPr lang="en-US" altLang="zh-TW" dirty="0"/>
              <a:t> </a:t>
            </a:r>
            <a:r>
              <a:rPr lang="zh-TW" altLang="en-US" dirty="0"/>
              <a:t>走一遍。</a:t>
            </a:r>
          </a:p>
          <a:p>
            <a:r>
              <a:rPr lang="zh-TW" altLang="en-US" b="1" dirty="0"/>
              <a:t>白話＋小重點</a:t>
            </a:r>
          </a:p>
          <a:p>
            <a:r>
              <a:rPr lang="en-US" altLang="zh-TW" dirty="0"/>
              <a:t>Linux </a:t>
            </a:r>
            <a:r>
              <a:rPr lang="zh-TW" altLang="en-US" dirty="0"/>
              <a:t>把所有行程看成</a:t>
            </a:r>
            <a:r>
              <a:rPr lang="zh-TW" altLang="en-US" b="1" dirty="0"/>
              <a:t>家譜</a:t>
            </a:r>
            <a:r>
              <a:rPr lang="zh-TW" altLang="en-US" dirty="0"/>
              <a:t>：</a:t>
            </a:r>
            <a:r>
              <a:rPr lang="en-US" altLang="zh-TW" sz="1200" kern="1200" dirty="0" err="1">
                <a:solidFill>
                  <a:schemeClr val="tx1"/>
                </a:solidFill>
                <a:latin typeface="+mn-lt"/>
                <a:ea typeface="+mn-ea"/>
                <a:cs typeface="+mn-cs"/>
              </a:rPr>
              <a:t>init</a:t>
            </a:r>
            <a:r>
              <a:rPr lang="en-US" altLang="zh-TW" dirty="0"/>
              <a:t> </a:t>
            </a:r>
            <a:r>
              <a:rPr lang="zh-TW" altLang="en-US" dirty="0"/>
              <a:t>是老祖宗（</a:t>
            </a:r>
            <a:r>
              <a:rPr lang="en-US" altLang="zh-TW" dirty="0"/>
              <a:t>PID 1</a:t>
            </a:r>
            <a:r>
              <a:rPr lang="zh-TW" altLang="en-US" dirty="0"/>
              <a:t>）。</a:t>
            </a:r>
          </a:p>
          <a:p>
            <a:r>
              <a:rPr lang="zh-TW" altLang="en-US" dirty="0"/>
              <a:t>每個行程的 </a:t>
            </a:r>
            <a:r>
              <a:rPr lang="en-US" altLang="zh-TW" sz="1200" kern="1200" dirty="0" err="1">
                <a:solidFill>
                  <a:schemeClr val="tx1"/>
                </a:solidFill>
                <a:latin typeface="+mn-lt"/>
                <a:ea typeface="+mn-ea"/>
                <a:cs typeface="+mn-cs"/>
              </a:rPr>
              <a:t>task_struct</a:t>
            </a:r>
            <a:r>
              <a:rPr lang="en-US" altLang="zh-TW" dirty="0"/>
              <a:t> </a:t>
            </a:r>
            <a:r>
              <a:rPr lang="zh-TW" altLang="en-US" dirty="0"/>
              <a:t>內建</a:t>
            </a:r>
            <a:r>
              <a:rPr lang="zh-TW" altLang="en-US" b="1" dirty="0"/>
              <a:t>指到爸爸</a:t>
            </a:r>
            <a:r>
              <a:rPr lang="zh-TW" altLang="en-US" dirty="0"/>
              <a:t>與</a:t>
            </a:r>
            <a:r>
              <a:rPr lang="zh-TW" altLang="en-US" b="1" dirty="0"/>
              <a:t>孩子們</a:t>
            </a:r>
            <a:r>
              <a:rPr lang="zh-TW" altLang="en-US" dirty="0"/>
              <a:t>的鏈結；所以你可以：</a:t>
            </a:r>
          </a:p>
          <a:p>
            <a:pPr lvl="1"/>
            <a:r>
              <a:rPr lang="zh-TW" altLang="en-US" dirty="0"/>
              <a:t>找爸爸：</a:t>
            </a:r>
            <a:r>
              <a:rPr lang="en-US" altLang="zh-TW" sz="1200" kern="1200" dirty="0">
                <a:solidFill>
                  <a:schemeClr val="tx1"/>
                </a:solidFill>
                <a:latin typeface="+mn-lt"/>
                <a:ea typeface="+mn-ea"/>
                <a:cs typeface="+mn-cs"/>
              </a:rPr>
              <a:t>task-&gt;parent</a:t>
            </a:r>
            <a:endParaRPr lang="en-US" altLang="zh-TW" dirty="0"/>
          </a:p>
          <a:p>
            <a:pPr lvl="1"/>
            <a:r>
              <a:rPr lang="zh-TW" altLang="en-US" dirty="0"/>
              <a:t>走小孩名單：</a:t>
            </a:r>
            <a:r>
              <a:rPr lang="en-US" altLang="zh-TW" sz="1200" kern="1200" dirty="0">
                <a:solidFill>
                  <a:schemeClr val="tx1"/>
                </a:solidFill>
                <a:latin typeface="+mn-lt"/>
                <a:ea typeface="+mn-ea"/>
                <a:cs typeface="+mn-cs"/>
              </a:rPr>
              <a:t>task-&gt;children</a:t>
            </a:r>
            <a:r>
              <a:rPr lang="zh-TW" altLang="en-US" dirty="0"/>
              <a:t>（</a:t>
            </a:r>
            <a:r>
              <a:rPr lang="en-US" altLang="zh-TW" dirty="0"/>
              <a:t>list</a:t>
            </a:r>
            <a:r>
              <a:rPr lang="zh-TW" altLang="en-US" dirty="0"/>
              <a:t>）</a:t>
            </a:r>
          </a:p>
          <a:p>
            <a:r>
              <a:rPr lang="zh-TW" altLang="en-US" dirty="0"/>
              <a:t>想看到</a:t>
            </a:r>
            <a:r>
              <a:rPr lang="zh-TW" altLang="en-US" b="1" dirty="0"/>
              <a:t>全體</a:t>
            </a:r>
            <a:r>
              <a:rPr lang="zh-TW" altLang="en-US" dirty="0"/>
              <a:t>：從任一 </a:t>
            </a:r>
            <a:r>
              <a:rPr lang="en-US" altLang="zh-TW" sz="1200" kern="1200" dirty="0" err="1">
                <a:solidFill>
                  <a:schemeClr val="tx1"/>
                </a:solidFill>
                <a:latin typeface="+mn-lt"/>
                <a:ea typeface="+mn-ea"/>
                <a:cs typeface="+mn-cs"/>
              </a:rPr>
              <a:t>task_struct</a:t>
            </a:r>
            <a:r>
              <a:rPr lang="en-US" altLang="zh-TW" dirty="0"/>
              <a:t> </a:t>
            </a:r>
            <a:r>
              <a:rPr lang="zh-TW" altLang="en-US" dirty="0"/>
              <a:t>出發，沿著 </a:t>
            </a:r>
            <a:r>
              <a:rPr lang="en-US" altLang="zh-TW" sz="1200" b="1" kern="1200" dirty="0">
                <a:solidFill>
                  <a:schemeClr val="tx1"/>
                </a:solidFill>
                <a:latin typeface="+mn-lt"/>
                <a:ea typeface="+mn-ea"/>
                <a:cs typeface="+mn-cs"/>
              </a:rPr>
              <a:t>task-&gt;tasks</a:t>
            </a:r>
            <a:r>
              <a:rPr lang="en-US" altLang="zh-TW" dirty="0"/>
              <a:t> </a:t>
            </a:r>
            <a:r>
              <a:rPr lang="zh-TW" altLang="en-US" dirty="0"/>
              <a:t>這個成員把 </a:t>
            </a:r>
            <a:r>
              <a:rPr lang="en-US" altLang="zh-TW" sz="1200" b="1" kern="1200" dirty="0" err="1">
                <a:solidFill>
                  <a:schemeClr val="tx1"/>
                </a:solidFill>
                <a:latin typeface="+mn-lt"/>
                <a:ea typeface="+mn-ea"/>
                <a:cs typeface="+mn-cs"/>
              </a:rPr>
              <a:t>task_list</a:t>
            </a:r>
            <a:r>
              <a:rPr lang="en-US" altLang="zh-TW" dirty="0"/>
              <a:t> </a:t>
            </a:r>
            <a:r>
              <a:rPr lang="zh-TW" altLang="en-US" dirty="0"/>
              <a:t>環狀串列走一圈，就能遍歷所有行程。</a:t>
            </a:r>
          </a:p>
          <a:p>
            <a:r>
              <a:rPr lang="zh-TW" altLang="en-US" dirty="0"/>
              <a:t>小知識：若父行程先退出，孩子會被</a:t>
            </a:r>
            <a:r>
              <a:rPr lang="zh-TW" altLang="en-US" b="1" dirty="0"/>
              <a:t>重新認領</a:t>
            </a:r>
            <a:r>
              <a:rPr lang="zh-TW" altLang="en-US" dirty="0"/>
              <a:t>給 </a:t>
            </a:r>
            <a:r>
              <a:rPr lang="en-US" altLang="zh-TW" sz="1200" kern="1200" dirty="0" err="1">
                <a:solidFill>
                  <a:schemeClr val="tx1"/>
                </a:solidFill>
                <a:latin typeface="+mn-lt"/>
                <a:ea typeface="+mn-ea"/>
                <a:cs typeface="+mn-cs"/>
              </a:rPr>
              <a:t>init</a:t>
            </a:r>
            <a:r>
              <a:rPr lang="zh-TW" altLang="en-US" dirty="0"/>
              <a:t>（或 </a:t>
            </a:r>
            <a:r>
              <a:rPr lang="en-US" altLang="zh-TW" sz="1200" kern="1200" dirty="0" err="1">
                <a:solidFill>
                  <a:schemeClr val="tx1"/>
                </a:solidFill>
                <a:latin typeface="+mn-lt"/>
                <a:ea typeface="+mn-ea"/>
                <a:cs typeface="+mn-cs"/>
              </a:rPr>
              <a:t>systemd</a:t>
            </a:r>
            <a:r>
              <a:rPr lang="zh-TW" altLang="en-US" dirty="0"/>
              <a:t>），所以很多孤兒進程最後的爸爸是 </a:t>
            </a:r>
            <a:r>
              <a:rPr lang="en-US" altLang="zh-TW" dirty="0"/>
              <a:t>PID 1</a:t>
            </a:r>
            <a:r>
              <a:rPr lang="zh-TW" altLang="en-US" dirty="0"/>
              <a:t>。</a:t>
            </a:r>
          </a:p>
          <a:p>
            <a:r>
              <a:rPr lang="zh-TW" altLang="en-US" b="1" dirty="0"/>
              <a:t>指令對照（看家譜）</a:t>
            </a:r>
          </a:p>
          <a:p>
            <a:r>
              <a:rPr lang="en-US" altLang="zh-TW" sz="1200" kern="1200" dirty="0" err="1">
                <a:solidFill>
                  <a:schemeClr val="tx1"/>
                </a:solidFill>
                <a:latin typeface="+mn-lt"/>
                <a:ea typeface="+mn-ea"/>
                <a:cs typeface="+mn-cs"/>
              </a:rPr>
              <a:t>pstree</a:t>
            </a:r>
            <a:r>
              <a:rPr lang="en-US" altLang="zh-TW" sz="1200" kern="1200" dirty="0">
                <a:solidFill>
                  <a:schemeClr val="tx1"/>
                </a:solidFill>
                <a:latin typeface="+mn-lt"/>
                <a:ea typeface="+mn-ea"/>
                <a:cs typeface="+mn-cs"/>
              </a:rPr>
              <a:t> -p</a:t>
            </a:r>
            <a:r>
              <a:rPr lang="zh-TW" altLang="en-US" dirty="0"/>
              <a:t>：以樹狀顯示父子關係</a:t>
            </a:r>
          </a:p>
          <a:p>
            <a:r>
              <a:rPr lang="en-US" altLang="zh-TW" sz="1200" kern="1200" dirty="0" err="1">
                <a:solidFill>
                  <a:schemeClr val="tx1"/>
                </a:solidFill>
                <a:latin typeface="+mn-lt"/>
                <a:ea typeface="+mn-ea"/>
                <a:cs typeface="+mn-cs"/>
              </a:rPr>
              <a:t>ps</a:t>
            </a:r>
            <a:r>
              <a:rPr lang="en-US" altLang="zh-TW" sz="1200" kern="1200" dirty="0">
                <a:solidFill>
                  <a:schemeClr val="tx1"/>
                </a:solidFill>
                <a:latin typeface="+mn-lt"/>
                <a:ea typeface="+mn-ea"/>
                <a:cs typeface="+mn-cs"/>
              </a:rPr>
              <a:t> -o </a:t>
            </a:r>
            <a:r>
              <a:rPr lang="en-US" altLang="zh-TW" sz="1200" kern="1200" dirty="0" err="1">
                <a:solidFill>
                  <a:schemeClr val="tx1"/>
                </a:solidFill>
                <a:latin typeface="+mn-lt"/>
                <a:ea typeface="+mn-ea"/>
                <a:cs typeface="+mn-cs"/>
              </a:rPr>
              <a:t>pid,ppid,comm</a:t>
            </a:r>
            <a:r>
              <a:rPr lang="zh-TW" altLang="en-US" dirty="0"/>
              <a:t>：查看 </a:t>
            </a:r>
            <a:r>
              <a:rPr lang="en-US" altLang="zh-TW" dirty="0"/>
              <a:t>PID / </a:t>
            </a:r>
            <a:r>
              <a:rPr lang="zh-TW" altLang="en-US" dirty="0"/>
              <a:t>父 </a:t>
            </a:r>
            <a:r>
              <a:rPr lang="en-US" altLang="zh-TW" dirty="0"/>
              <a:t>PID</a:t>
            </a:r>
          </a:p>
          <a:p>
            <a:r>
              <a:rPr lang="en-US" altLang="zh-TW" sz="1200" kern="1200" dirty="0">
                <a:solidFill>
                  <a:schemeClr val="tx1"/>
                </a:solidFill>
                <a:latin typeface="+mn-lt"/>
                <a:ea typeface="+mn-ea"/>
                <a:cs typeface="+mn-cs"/>
              </a:rPr>
              <a:t>cat /proc/&lt;</a:t>
            </a:r>
            <a:r>
              <a:rPr lang="en-US" altLang="zh-TW" sz="1200" kern="1200" dirty="0" err="1">
                <a:solidFill>
                  <a:schemeClr val="tx1"/>
                </a:solidFill>
                <a:latin typeface="+mn-lt"/>
                <a:ea typeface="+mn-ea"/>
                <a:cs typeface="+mn-cs"/>
              </a:rPr>
              <a:t>pid</a:t>
            </a:r>
            <a:r>
              <a:rPr lang="en-US" altLang="zh-TW" sz="1200" kern="1200" dirty="0">
                <a:solidFill>
                  <a:schemeClr val="tx1"/>
                </a:solidFill>
                <a:latin typeface="+mn-lt"/>
                <a:ea typeface="+mn-ea"/>
                <a:cs typeface="+mn-cs"/>
              </a:rPr>
              <a:t>&gt;/status</a:t>
            </a:r>
            <a:r>
              <a:rPr lang="zh-TW" altLang="en-US" dirty="0"/>
              <a:t>：看 </a:t>
            </a:r>
            <a:r>
              <a:rPr lang="en-US" altLang="zh-TW" sz="1200" kern="1200" dirty="0" err="1">
                <a:solidFill>
                  <a:schemeClr val="tx1"/>
                </a:solidFill>
                <a:latin typeface="+mn-lt"/>
                <a:ea typeface="+mn-ea"/>
                <a:cs typeface="+mn-cs"/>
              </a:rPr>
              <a:t>PPid</a:t>
            </a:r>
            <a:r>
              <a:rPr lang="en-US" altLang="zh-TW" sz="1200" kern="1200" dirty="0">
                <a:solidFill>
                  <a:schemeClr val="tx1"/>
                </a:solidFill>
                <a:latin typeface="+mn-lt"/>
                <a:ea typeface="+mn-ea"/>
                <a:cs typeface="+mn-cs"/>
              </a:rPr>
              <a:t>:</a:t>
            </a:r>
            <a:r>
              <a:rPr lang="en-US" altLang="zh-TW" dirty="0"/>
              <a:t> </a:t>
            </a:r>
            <a:r>
              <a:rPr lang="zh-TW" altLang="en-US" dirty="0"/>
              <a:t>與名稱</a:t>
            </a:r>
          </a:p>
          <a:p>
            <a:r>
              <a:rPr lang="zh-TW" altLang="en-US" dirty="0"/>
              <a:t>一句話總結：</a:t>
            </a:r>
          </a:p>
          <a:p>
            <a:r>
              <a:rPr lang="en-US" altLang="zh-TW" dirty="0"/>
              <a:t>Linux </a:t>
            </a:r>
            <a:r>
              <a:rPr lang="zh-TW" altLang="en-US" dirty="0"/>
              <a:t>進程形成一棵以 </a:t>
            </a:r>
            <a:r>
              <a:rPr lang="en-US" altLang="zh-TW" sz="1200" kern="1200" dirty="0" err="1">
                <a:solidFill>
                  <a:schemeClr val="tx1"/>
                </a:solidFill>
                <a:latin typeface="+mn-lt"/>
                <a:ea typeface="+mn-ea"/>
                <a:cs typeface="+mn-cs"/>
              </a:rPr>
              <a:t>init</a:t>
            </a:r>
            <a:r>
              <a:rPr lang="en-US" altLang="zh-TW" sz="1200" kern="1200" dirty="0">
                <a:solidFill>
                  <a:schemeClr val="tx1"/>
                </a:solidFill>
                <a:latin typeface="+mn-lt"/>
                <a:ea typeface="+mn-ea"/>
                <a:cs typeface="+mn-cs"/>
              </a:rPr>
              <a:t>(PID 1)</a:t>
            </a:r>
            <a:r>
              <a:rPr lang="en-US" altLang="zh-TW" dirty="0"/>
              <a:t> </a:t>
            </a:r>
            <a:r>
              <a:rPr lang="zh-TW" altLang="en-US" dirty="0"/>
              <a:t>為根的家譜樹；每個進程的 </a:t>
            </a:r>
            <a:r>
              <a:rPr lang="en-US" altLang="zh-TW" sz="1200" kern="1200" dirty="0" err="1">
                <a:solidFill>
                  <a:schemeClr val="tx1"/>
                </a:solidFill>
                <a:latin typeface="+mn-lt"/>
                <a:ea typeface="+mn-ea"/>
                <a:cs typeface="+mn-cs"/>
              </a:rPr>
              <a:t>task_struct</a:t>
            </a:r>
            <a:r>
              <a:rPr lang="en-US" altLang="zh-TW" dirty="0"/>
              <a:t> </a:t>
            </a:r>
            <a:r>
              <a:rPr lang="zh-TW" altLang="en-US" dirty="0"/>
              <a:t>都有指到父與子的指標，要找特定親屬就跟著指標走，要看所有進程就遍歷 </a:t>
            </a:r>
            <a:r>
              <a:rPr lang="en-US" altLang="zh-TW" sz="1200" kern="1200" dirty="0" err="1">
                <a:solidFill>
                  <a:schemeClr val="tx1"/>
                </a:solidFill>
                <a:latin typeface="+mn-lt"/>
                <a:ea typeface="+mn-ea"/>
                <a:cs typeface="+mn-cs"/>
              </a:rPr>
              <a:t>task_list</a:t>
            </a:r>
            <a:r>
              <a:rPr lang="zh-TW" altLang="en-US" dirty="0"/>
              <a:t>。</a:t>
            </a: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7</a:t>
            </a:fld>
            <a:endParaRPr lang="zh-TW" altLang="en-US"/>
          </a:p>
        </p:txBody>
      </p:sp>
    </p:spTree>
    <p:extLst>
      <p:ext uri="{BB962C8B-B14F-4D97-AF65-F5344CB8AC3E}">
        <p14:creationId xmlns:p14="http://schemas.microsoft.com/office/powerpoint/2010/main" val="37485759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4DED2-F5CE-250F-55FB-D023108CA2B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7A34B6B-1E37-3CE7-BD5B-9FB57A90D26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43D8E07-19E8-E584-B719-4BEDA32B58C2}"/>
              </a:ext>
            </a:extLst>
          </p:cNvPr>
          <p:cNvSpPr>
            <a:spLocks noGrp="1"/>
          </p:cNvSpPr>
          <p:nvPr>
            <p:ph type="body" idx="1"/>
          </p:nvPr>
        </p:nvSpPr>
        <p:spPr/>
        <p:txBody>
          <a:bodyPr/>
          <a:lstStyle/>
          <a:p>
            <a:r>
              <a:rPr lang="zh-TW" altLang="en-US" dirty="0"/>
              <a:t>來，這張投影片在講「行程是怎麼被建立的」以及「為什麼 </a:t>
            </a:r>
            <a:r>
              <a:rPr lang="en-US" altLang="zh-TW" dirty="0"/>
              <a:t>fork </a:t>
            </a:r>
            <a:r>
              <a:rPr lang="zh-TW" altLang="en-US" dirty="0"/>
              <a:t>不會很慢</a:t>
            </a:r>
            <a:r>
              <a:rPr lang="en-US" altLang="zh-TW" dirty="0"/>
              <a:t>—</a:t>
            </a:r>
            <a:r>
              <a:rPr lang="zh-TW" altLang="en-US" dirty="0"/>
              <a:t>因為用了 </a:t>
            </a:r>
            <a:r>
              <a:rPr lang="en-US" altLang="zh-TW" dirty="0"/>
              <a:t>COW</a:t>
            </a:r>
            <a:r>
              <a:rPr lang="zh-TW" altLang="en-US" dirty="0"/>
              <a:t>」。</a:t>
            </a:r>
          </a:p>
          <a:p>
            <a:r>
              <a:rPr lang="zh-TW" altLang="en-US" b="1" dirty="0"/>
              <a:t>關鍵字（單字）</a:t>
            </a:r>
          </a:p>
          <a:p>
            <a:r>
              <a:rPr lang="en-US" altLang="zh-TW" b="1" dirty="0"/>
              <a:t>Process creation</a:t>
            </a:r>
            <a:r>
              <a:rPr lang="zh-TW" altLang="en-US" dirty="0"/>
              <a:t>：行程建立</a:t>
            </a:r>
          </a:p>
          <a:p>
            <a:r>
              <a:rPr lang="en-US" altLang="zh-TW" b="1" dirty="0"/>
              <a:t>fork()</a:t>
            </a:r>
            <a:r>
              <a:rPr lang="zh-TW" altLang="en-US" dirty="0"/>
              <a:t>：複製父行程，產生</a:t>
            </a:r>
            <a:r>
              <a:rPr lang="zh-TW" altLang="en-US" b="1" dirty="0"/>
              <a:t>子行程</a:t>
            </a:r>
            <a:endParaRPr lang="zh-TW" altLang="en-US" dirty="0"/>
          </a:p>
          <a:p>
            <a:r>
              <a:rPr lang="en-US" altLang="zh-TW" b="1" dirty="0"/>
              <a:t>exec() / </a:t>
            </a:r>
            <a:r>
              <a:rPr lang="en-US" altLang="zh-TW" b="1" dirty="0" err="1"/>
              <a:t>execve</a:t>
            </a:r>
            <a:r>
              <a:rPr lang="en-US" altLang="zh-TW" b="1" dirty="0"/>
              <a:t>()</a:t>
            </a:r>
            <a:r>
              <a:rPr lang="zh-TW" altLang="en-US" dirty="0"/>
              <a:t>：把</a:t>
            </a:r>
            <a:r>
              <a:rPr lang="zh-TW" altLang="en-US" b="1" dirty="0"/>
              <a:t>新的可執行檔</a:t>
            </a:r>
            <a:r>
              <a:rPr lang="zh-TW" altLang="en-US" dirty="0"/>
              <a:t>載入目前行程的位址空間並開始跑</a:t>
            </a:r>
          </a:p>
          <a:p>
            <a:r>
              <a:rPr lang="en-US" altLang="zh-TW" b="1" dirty="0"/>
              <a:t>Copy-on-Write (</a:t>
            </a:r>
            <a:r>
              <a:rPr lang="en-US" altLang="zh-TW" b="1" dirty="0" err="1"/>
              <a:t>CoW</a:t>
            </a:r>
            <a:r>
              <a:rPr lang="en-US" altLang="zh-TW" b="1" dirty="0"/>
              <a:t>)</a:t>
            </a:r>
            <a:r>
              <a:rPr lang="zh-TW" altLang="en-US" dirty="0"/>
              <a:t>：寫入時複製（先共享、寫到才複製）</a:t>
            </a:r>
          </a:p>
          <a:p>
            <a:r>
              <a:rPr lang="en-US" altLang="zh-TW" b="1" dirty="0"/>
              <a:t>PID</a:t>
            </a:r>
            <a:r>
              <a:rPr lang="zh-TW" altLang="en-US" dirty="0"/>
              <a:t>：行程 </a:t>
            </a:r>
            <a:r>
              <a:rPr lang="en-US" altLang="zh-TW" dirty="0"/>
              <a:t>ID</a:t>
            </a:r>
          </a:p>
          <a:p>
            <a:r>
              <a:rPr lang="en-US" altLang="zh-TW" b="1" dirty="0"/>
              <a:t>Page table / page frames</a:t>
            </a:r>
            <a:r>
              <a:rPr lang="zh-TW" altLang="en-US" dirty="0"/>
              <a:t>：頁表 </a:t>
            </a:r>
            <a:r>
              <a:rPr lang="en-US" altLang="zh-TW" dirty="0"/>
              <a:t>/ </a:t>
            </a:r>
            <a:r>
              <a:rPr lang="zh-TW" altLang="en-US" dirty="0"/>
              <a:t>實體頁框</a:t>
            </a:r>
          </a:p>
          <a:p>
            <a:r>
              <a:rPr lang="en-US" altLang="zh-TW" b="1" dirty="0"/>
              <a:t>signal</a:t>
            </a:r>
            <a:r>
              <a:rPr lang="zh-TW" altLang="en-US" dirty="0"/>
              <a:t>：訊號（例如 </a:t>
            </a:r>
            <a:r>
              <a:rPr lang="en-US" altLang="zh-TW" dirty="0"/>
              <a:t>SIGCHLD</a:t>
            </a:r>
            <a:r>
              <a:rPr lang="zh-TW" altLang="en-US" dirty="0"/>
              <a:t>）</a:t>
            </a:r>
          </a:p>
          <a:p>
            <a:r>
              <a:rPr lang="zh-TW" altLang="en-US" b="1" dirty="0"/>
              <a:t>逐句重點與白話</a:t>
            </a:r>
          </a:p>
          <a:p>
            <a:r>
              <a:rPr lang="en-US" altLang="zh-TW" b="1" dirty="0"/>
              <a:t>Process Creation = fork() + exec()</a:t>
            </a:r>
            <a:br>
              <a:rPr lang="en-US" altLang="zh-TW" dirty="0"/>
            </a:br>
            <a:r>
              <a:rPr lang="zh-TW" altLang="en-US" dirty="0"/>
              <a:t>行程通常用「</a:t>
            </a:r>
            <a:r>
              <a:rPr lang="zh-TW" altLang="en-US" b="1" dirty="0"/>
              <a:t>先 </a:t>
            </a:r>
            <a:r>
              <a:rPr lang="en-US" altLang="zh-TW" b="1" dirty="0"/>
              <a:t>fork</a:t>
            </a:r>
            <a:r>
              <a:rPr lang="zh-TW" altLang="en-US" b="1" dirty="0"/>
              <a:t>、再 </a:t>
            </a:r>
            <a:r>
              <a:rPr lang="en-US" altLang="zh-TW" b="1" dirty="0"/>
              <a:t>exec</a:t>
            </a:r>
            <a:r>
              <a:rPr lang="zh-TW" altLang="en-US" dirty="0"/>
              <a:t>」建立：先生出孩子，再讓孩子「換上」要跑的程式。</a:t>
            </a:r>
          </a:p>
          <a:p>
            <a:r>
              <a:rPr lang="en-US" altLang="zh-TW" b="1" dirty="0"/>
              <a:t>fork(): Create a child by copying its parent. (Reason: efficient and simple!)</a:t>
            </a:r>
            <a:br>
              <a:rPr lang="en-US" altLang="zh-TW" dirty="0"/>
            </a:br>
            <a:r>
              <a:rPr lang="en-US" altLang="zh-TW" sz="1200" kern="1200" dirty="0">
                <a:solidFill>
                  <a:schemeClr val="tx1"/>
                </a:solidFill>
                <a:latin typeface="+mn-lt"/>
                <a:ea typeface="+mn-ea"/>
                <a:cs typeface="+mn-cs"/>
              </a:rPr>
              <a:t>fork()</a:t>
            </a:r>
            <a:r>
              <a:rPr lang="en-US" altLang="zh-TW" dirty="0"/>
              <a:t> </a:t>
            </a:r>
            <a:r>
              <a:rPr lang="zh-TW" altLang="en-US" dirty="0"/>
              <a:t>會</a:t>
            </a:r>
            <a:r>
              <a:rPr lang="zh-TW" altLang="en-US" b="1" dirty="0"/>
              <a:t>複製</a:t>
            </a:r>
            <a:r>
              <a:rPr lang="zh-TW" altLang="en-US" dirty="0"/>
              <a:t>父行程做出子行程。</a:t>
            </a:r>
            <a:br>
              <a:rPr lang="zh-TW" altLang="en-US" dirty="0"/>
            </a:br>
            <a:r>
              <a:rPr lang="zh-TW" altLang="en-US" dirty="0"/>
              <a:t>但不是把整個記憶體真的拷一次，因為有 </a:t>
            </a:r>
            <a:r>
              <a:rPr lang="en-US" altLang="zh-TW" b="1" dirty="0"/>
              <a:t>COW</a:t>
            </a:r>
            <a:r>
              <a:rPr lang="zh-TW" altLang="en-US" dirty="0"/>
              <a:t>，所以</a:t>
            </a:r>
            <a:r>
              <a:rPr lang="zh-TW" altLang="en-US" b="1" dirty="0"/>
              <a:t>很省、很快</a:t>
            </a:r>
            <a:r>
              <a:rPr lang="zh-TW" altLang="en-US" dirty="0"/>
              <a:t>。</a:t>
            </a:r>
          </a:p>
          <a:p>
            <a:r>
              <a:rPr lang="en-US" altLang="zh-TW" i="1" dirty="0"/>
              <a:t>Notice: PID, Page Table, Page Frames and some signals are different</a:t>
            </a:r>
            <a:endParaRPr lang="en-US" altLang="zh-TW" dirty="0"/>
          </a:p>
          <a:p>
            <a:pPr lvl="1"/>
            <a:r>
              <a:rPr lang="zh-TW" altLang="en-US" dirty="0"/>
              <a:t>子行程</a:t>
            </a:r>
            <a:r>
              <a:rPr lang="en-US" altLang="zh-TW" b="1" dirty="0"/>
              <a:t>PID </a:t>
            </a:r>
            <a:r>
              <a:rPr lang="zh-TW" altLang="en-US" b="1" dirty="0"/>
              <a:t>不同</a:t>
            </a:r>
            <a:endParaRPr lang="zh-TW" altLang="en-US" dirty="0"/>
          </a:p>
          <a:p>
            <a:pPr lvl="1"/>
            <a:r>
              <a:rPr lang="zh-TW" altLang="en-US" dirty="0"/>
              <a:t>子行程有自己的</a:t>
            </a:r>
            <a:r>
              <a:rPr lang="zh-TW" altLang="en-US" b="1" dirty="0"/>
              <a:t>頁表</a:t>
            </a:r>
            <a:r>
              <a:rPr lang="zh-TW" altLang="en-US" dirty="0"/>
              <a:t>（結構不同），但</a:t>
            </a:r>
            <a:r>
              <a:rPr lang="zh-TW" altLang="en-US" b="1" dirty="0"/>
              <a:t>頁表條目先指向同一批實體頁框</a:t>
            </a:r>
            <a:endParaRPr lang="zh-TW" altLang="en-US" dirty="0"/>
          </a:p>
          <a:p>
            <a:pPr lvl="1"/>
            <a:r>
              <a:rPr lang="zh-TW" altLang="en-US" dirty="0"/>
              <a:t>某些</a:t>
            </a:r>
            <a:r>
              <a:rPr lang="zh-TW" altLang="en-US" b="1" dirty="0"/>
              <a:t>訊號相關狀態</a:t>
            </a:r>
            <a:r>
              <a:rPr lang="zh-TW" altLang="en-US" dirty="0"/>
              <a:t>不完全共用</a:t>
            </a:r>
          </a:p>
          <a:p>
            <a:pPr lvl="1"/>
            <a:r>
              <a:rPr lang="zh-TW" altLang="en-US" dirty="0"/>
              <a:t>檔案描述元（</a:t>
            </a:r>
            <a:r>
              <a:rPr lang="en-US" altLang="zh-TW" dirty="0" err="1"/>
              <a:t>fd</a:t>
            </a:r>
            <a:r>
              <a:rPr lang="zh-TW" altLang="en-US" dirty="0"/>
              <a:t>）最初共享同一組開啟的檔案物件（有獨立的檔案表結構但指向相同 </a:t>
            </a:r>
            <a:r>
              <a:rPr lang="en-US" altLang="zh-TW" sz="1200" kern="1200" dirty="0">
                <a:solidFill>
                  <a:schemeClr val="tx1"/>
                </a:solidFill>
                <a:latin typeface="+mn-lt"/>
                <a:ea typeface="+mn-ea"/>
                <a:cs typeface="+mn-cs"/>
              </a:rPr>
              <a:t>struct file</a:t>
            </a:r>
            <a:r>
              <a:rPr lang="zh-TW" altLang="en-US" dirty="0"/>
              <a:t>），檔案偏移可共享</a:t>
            </a:r>
          </a:p>
          <a:p>
            <a:r>
              <a:rPr lang="en-US" altLang="zh-TW" b="1" dirty="0"/>
              <a:t>exec(): Loads a new executable into the address space (i.e., memory) and runs it.</a:t>
            </a:r>
            <a:br>
              <a:rPr lang="en-US" altLang="zh-TW" dirty="0"/>
            </a:br>
            <a:r>
              <a:rPr lang="en-US" altLang="zh-TW" sz="1200" kern="1200" dirty="0">
                <a:solidFill>
                  <a:schemeClr val="tx1"/>
                </a:solidFill>
                <a:latin typeface="+mn-lt"/>
                <a:ea typeface="+mn-ea"/>
                <a:cs typeface="+mn-cs"/>
              </a:rPr>
              <a:t>exec()</a:t>
            </a:r>
            <a:r>
              <a:rPr lang="en-US" altLang="zh-TW" dirty="0"/>
              <a:t> </a:t>
            </a:r>
            <a:r>
              <a:rPr lang="zh-TW" altLang="en-US" dirty="0"/>
              <a:t>把目前行程的記憶體內容</a:t>
            </a:r>
            <a:r>
              <a:rPr lang="zh-TW" altLang="en-US" b="1" dirty="0"/>
              <a:t>整個換成</a:t>
            </a:r>
            <a:r>
              <a:rPr lang="zh-TW" altLang="en-US" dirty="0"/>
              <a:t>新程式的程式碼</a:t>
            </a:r>
            <a:r>
              <a:rPr lang="en-US" altLang="zh-TW" dirty="0"/>
              <a:t>/</a:t>
            </a:r>
            <a:r>
              <a:rPr lang="zh-TW" altLang="en-US" dirty="0"/>
              <a:t>資料</a:t>
            </a:r>
            <a:r>
              <a:rPr lang="en-US" altLang="zh-TW" dirty="0"/>
              <a:t>/</a:t>
            </a:r>
            <a:r>
              <a:rPr lang="zh-TW" altLang="en-US" dirty="0"/>
              <a:t>堆疊，然後從新程式的 </a:t>
            </a:r>
            <a:r>
              <a:rPr lang="en-US" altLang="zh-TW" sz="1200" kern="1200" dirty="0">
                <a:solidFill>
                  <a:schemeClr val="tx1"/>
                </a:solidFill>
                <a:latin typeface="+mn-lt"/>
                <a:ea typeface="+mn-ea"/>
                <a:cs typeface="+mn-cs"/>
              </a:rPr>
              <a:t>main</a:t>
            </a:r>
            <a:r>
              <a:rPr lang="en-US" altLang="zh-TW" dirty="0"/>
              <a:t> </a:t>
            </a:r>
            <a:r>
              <a:rPr lang="zh-TW" altLang="en-US" dirty="0"/>
              <a:t>開始跑。</a:t>
            </a:r>
            <a:br>
              <a:rPr lang="zh-TW" altLang="en-US" dirty="0"/>
            </a:br>
            <a:r>
              <a:rPr lang="zh-TW" altLang="en-US" dirty="0"/>
              <a:t>常見模式：</a:t>
            </a:r>
            <a:r>
              <a:rPr lang="en-US" altLang="zh-TW" sz="1200" kern="1200" dirty="0">
                <a:solidFill>
                  <a:schemeClr val="tx1"/>
                </a:solidFill>
                <a:latin typeface="+mn-lt"/>
                <a:ea typeface="+mn-ea"/>
                <a:cs typeface="+mn-cs"/>
              </a:rPr>
              <a:t>if (fork()==0) </a:t>
            </a:r>
            <a:r>
              <a:rPr lang="en-US" altLang="zh-TW" sz="1200" kern="1200" dirty="0" err="1">
                <a:solidFill>
                  <a:schemeClr val="tx1"/>
                </a:solidFill>
                <a:latin typeface="+mn-lt"/>
                <a:ea typeface="+mn-ea"/>
                <a:cs typeface="+mn-cs"/>
              </a:rPr>
              <a:t>execvp</a:t>
            </a:r>
            <a:r>
              <a:rPr lang="en-US" altLang="zh-TW" sz="1200" kern="1200" dirty="0">
                <a:solidFill>
                  <a:schemeClr val="tx1"/>
                </a:solidFill>
                <a:latin typeface="+mn-lt"/>
                <a:ea typeface="+mn-ea"/>
                <a:cs typeface="+mn-cs"/>
              </a:rPr>
              <a:t>("ls", </a:t>
            </a:r>
            <a:r>
              <a:rPr lang="en-US" altLang="zh-TW" sz="1200" kern="1200" dirty="0" err="1">
                <a:solidFill>
                  <a:schemeClr val="tx1"/>
                </a:solidFill>
                <a:latin typeface="+mn-lt"/>
                <a:ea typeface="+mn-ea"/>
                <a:cs typeface="+mn-cs"/>
              </a:rPr>
              <a:t>args</a:t>
            </a:r>
            <a:r>
              <a:rPr lang="en-US" altLang="zh-TW" sz="1200" kern="1200" dirty="0">
                <a:solidFill>
                  <a:schemeClr val="tx1"/>
                </a:solidFill>
                <a:latin typeface="+mn-lt"/>
                <a:ea typeface="+mn-ea"/>
                <a:cs typeface="+mn-cs"/>
              </a:rPr>
              <a:t>);</a:t>
            </a:r>
            <a:endParaRPr lang="en-US" altLang="zh-TW" dirty="0"/>
          </a:p>
          <a:p>
            <a:r>
              <a:rPr lang="en-US" altLang="zh-TW" b="1" dirty="0"/>
              <a:t>Copy-on-Write (</a:t>
            </a:r>
            <a:r>
              <a:rPr lang="en-US" altLang="zh-TW" b="1" dirty="0" err="1"/>
              <a:t>CoW</a:t>
            </a:r>
            <a:r>
              <a:rPr lang="en-US" altLang="zh-TW" b="1" dirty="0"/>
              <a:t>)</a:t>
            </a:r>
            <a:endParaRPr lang="en-US" altLang="zh-TW" dirty="0"/>
          </a:p>
          <a:p>
            <a:pPr lvl="1"/>
            <a:r>
              <a:rPr lang="en-US" altLang="zh-TW" b="1" dirty="0"/>
              <a:t>Challenge</a:t>
            </a:r>
            <a:r>
              <a:rPr lang="zh-TW" altLang="en-US" dirty="0"/>
              <a:t>：天真地把父行程的所有資源都複製一份</a:t>
            </a:r>
            <a:r>
              <a:rPr lang="zh-TW" altLang="en-US" b="1" dirty="0"/>
              <a:t>很花時間</a:t>
            </a:r>
            <a:r>
              <a:rPr lang="zh-TW" altLang="en-US" dirty="0"/>
              <a:t>。</a:t>
            </a:r>
          </a:p>
          <a:p>
            <a:pPr lvl="1"/>
            <a:r>
              <a:rPr lang="en-US" altLang="zh-TW" b="1" dirty="0"/>
              <a:t>How </a:t>
            </a:r>
            <a:r>
              <a:rPr lang="en-US" altLang="zh-TW" b="1" dirty="0" err="1"/>
              <a:t>CoW</a:t>
            </a:r>
            <a:r>
              <a:rPr lang="en-US" altLang="zh-TW" b="1" dirty="0"/>
              <a:t> works</a:t>
            </a:r>
            <a:r>
              <a:rPr lang="zh-TW" altLang="en-US" dirty="0"/>
              <a:t>：先</a:t>
            </a:r>
            <a:r>
              <a:rPr lang="zh-TW" altLang="en-US" b="1" dirty="0"/>
              <a:t>延後</a:t>
            </a:r>
            <a:r>
              <a:rPr lang="zh-TW" altLang="en-US" dirty="0"/>
              <a:t>複製，把父子記憶體頁標成</a:t>
            </a:r>
            <a:r>
              <a:rPr lang="zh-TW" altLang="en-US" b="1" dirty="0"/>
              <a:t>唯讀共享</a:t>
            </a:r>
            <a:r>
              <a:rPr lang="zh-TW" altLang="en-US" dirty="0"/>
              <a:t>；</a:t>
            </a:r>
            <a:r>
              <a:rPr lang="zh-TW" altLang="en-US" b="1" dirty="0"/>
              <a:t>直到其中一方要寫</a:t>
            </a:r>
            <a:r>
              <a:rPr lang="zh-TW" altLang="en-US" dirty="0"/>
              <a:t>那一頁，才在</a:t>
            </a:r>
            <a:r>
              <a:rPr lang="zh-TW" altLang="en-US" b="1" dirty="0"/>
              <a:t>寫入時觸發 </a:t>
            </a:r>
            <a:r>
              <a:rPr lang="en-US" altLang="zh-TW" b="1" dirty="0"/>
              <a:t>page fault</a:t>
            </a:r>
            <a:r>
              <a:rPr lang="zh-TW" altLang="en-US" dirty="0"/>
              <a:t>，</a:t>
            </a:r>
            <a:r>
              <a:rPr lang="en-US" altLang="zh-TW" dirty="0"/>
              <a:t>OS </a:t>
            </a:r>
            <a:r>
              <a:rPr lang="zh-TW" altLang="en-US" b="1" dirty="0"/>
              <a:t>真正複製</a:t>
            </a:r>
            <a:r>
              <a:rPr lang="zh-TW" altLang="en-US" dirty="0"/>
              <a:t>那一頁（於是兩邊各有自己的可寫副本）。</a:t>
            </a:r>
          </a:p>
          <a:p>
            <a:r>
              <a:rPr lang="zh-TW" altLang="en-US" b="1" dirty="0"/>
              <a:t>一句話總結</a:t>
            </a:r>
          </a:p>
          <a:p>
            <a:r>
              <a:rPr lang="en-US" altLang="zh-TW" dirty="0"/>
              <a:t>Linux </a:t>
            </a:r>
            <a:r>
              <a:rPr lang="zh-TW" altLang="en-US" dirty="0"/>
              <a:t>先用 </a:t>
            </a:r>
            <a:r>
              <a:rPr lang="en-US" altLang="zh-TW" sz="1200" kern="1200" dirty="0">
                <a:solidFill>
                  <a:schemeClr val="tx1"/>
                </a:solidFill>
                <a:latin typeface="+mn-lt"/>
                <a:ea typeface="+mn-ea"/>
                <a:cs typeface="+mn-cs"/>
              </a:rPr>
              <a:t>fork()</a:t>
            </a:r>
            <a:r>
              <a:rPr lang="en-US" altLang="zh-TW" dirty="0"/>
              <a:t> </a:t>
            </a:r>
            <a:r>
              <a:rPr lang="zh-TW" altLang="en-US" dirty="0"/>
              <a:t>很快地「複製出一個殼」（靠 </a:t>
            </a:r>
            <a:r>
              <a:rPr lang="en-US" altLang="zh-TW" dirty="0"/>
              <a:t>COW </a:t>
            </a:r>
            <a:r>
              <a:rPr lang="zh-TW" altLang="en-US" dirty="0"/>
              <a:t>幾乎不拷資料），接著子行程再 </a:t>
            </a:r>
            <a:r>
              <a:rPr lang="en-US" altLang="zh-TW" sz="1200" kern="1200" dirty="0">
                <a:solidFill>
                  <a:schemeClr val="tx1"/>
                </a:solidFill>
                <a:latin typeface="+mn-lt"/>
                <a:ea typeface="+mn-ea"/>
                <a:cs typeface="+mn-cs"/>
              </a:rPr>
              <a:t>exec()</a:t>
            </a:r>
            <a:r>
              <a:rPr lang="en-US" altLang="zh-TW" dirty="0"/>
              <a:t> </a:t>
            </a:r>
            <a:r>
              <a:rPr lang="zh-TW" altLang="en-US" dirty="0"/>
              <a:t>把自己換成要執行的新程式；只有當真的寫入記憶體時，才做逐頁複製。</a:t>
            </a:r>
          </a:p>
          <a:p>
            <a:r>
              <a:rPr lang="zh-TW" altLang="en-US" b="1" dirty="0"/>
              <a:t>迷你範例（看出 </a:t>
            </a:r>
            <a:r>
              <a:rPr lang="en-US" altLang="zh-TW" b="1" dirty="0"/>
              <a:t>fork + exec </a:t>
            </a:r>
            <a:r>
              <a:rPr lang="zh-TW" altLang="en-US" b="1" dirty="0"/>
              <a:t>流程）</a:t>
            </a:r>
          </a:p>
          <a:p>
            <a:r>
              <a:rPr lang="en-US" altLang="zh-TW" sz="1200" kern="1200" dirty="0" err="1">
                <a:solidFill>
                  <a:schemeClr val="tx1"/>
                </a:solidFill>
                <a:latin typeface="+mn-lt"/>
                <a:ea typeface="+mn-ea"/>
                <a:cs typeface="+mn-cs"/>
              </a:rPr>
              <a:t>pid_t</a:t>
            </a:r>
            <a:r>
              <a:rPr lang="en-US" altLang="zh-TW" sz="1200" kern="1200" dirty="0">
                <a:solidFill>
                  <a:schemeClr val="tx1"/>
                </a:solidFill>
                <a:latin typeface="+mn-lt"/>
                <a:ea typeface="+mn-ea"/>
                <a:cs typeface="+mn-cs"/>
              </a:rPr>
              <a:t> </a:t>
            </a:r>
            <a:r>
              <a:rPr lang="en-US" altLang="zh-TW" sz="1200" kern="1200" dirty="0" err="1">
                <a:solidFill>
                  <a:schemeClr val="tx1"/>
                </a:solidFill>
                <a:latin typeface="+mn-lt"/>
                <a:ea typeface="+mn-ea"/>
                <a:cs typeface="+mn-cs"/>
              </a:rPr>
              <a:t>pid</a:t>
            </a:r>
            <a:r>
              <a:rPr lang="en-US" altLang="zh-TW" sz="1200" kern="1200" dirty="0">
                <a:solidFill>
                  <a:schemeClr val="tx1"/>
                </a:solidFill>
                <a:latin typeface="+mn-lt"/>
                <a:ea typeface="+mn-ea"/>
                <a:cs typeface="+mn-cs"/>
              </a:rPr>
              <a:t> = fork();</a:t>
            </a:r>
          </a:p>
          <a:p>
            <a:r>
              <a:rPr lang="en-US" altLang="zh-TW" sz="1200" kern="1200" dirty="0">
                <a:solidFill>
                  <a:schemeClr val="tx1"/>
                </a:solidFill>
                <a:latin typeface="+mn-lt"/>
                <a:ea typeface="+mn-ea"/>
                <a:cs typeface="+mn-cs"/>
              </a:rPr>
              <a:t>if (</a:t>
            </a:r>
            <a:r>
              <a:rPr lang="en-US" altLang="zh-TW" sz="1200" kern="1200" dirty="0" err="1">
                <a:solidFill>
                  <a:schemeClr val="tx1"/>
                </a:solidFill>
                <a:latin typeface="+mn-lt"/>
                <a:ea typeface="+mn-ea"/>
                <a:cs typeface="+mn-cs"/>
              </a:rPr>
              <a:t>pid</a:t>
            </a:r>
            <a:r>
              <a:rPr lang="en-US" altLang="zh-TW" sz="1200" kern="1200" dirty="0">
                <a:solidFill>
                  <a:schemeClr val="tx1"/>
                </a:solidFill>
                <a:latin typeface="+mn-lt"/>
                <a:ea typeface="+mn-ea"/>
                <a:cs typeface="+mn-cs"/>
              </a:rPr>
              <a:t> == 0) {                 // child</a:t>
            </a:r>
          </a:p>
          <a:p>
            <a:r>
              <a:rPr lang="en-US" altLang="zh-TW" sz="1200" kern="1200" dirty="0">
                <a:solidFill>
                  <a:schemeClr val="tx1"/>
                </a:solidFill>
                <a:latin typeface="+mn-lt"/>
                <a:ea typeface="+mn-ea"/>
                <a:cs typeface="+mn-cs"/>
              </a:rPr>
              <a:t>    char *</a:t>
            </a:r>
            <a:r>
              <a:rPr lang="en-US" altLang="zh-TW" sz="1200" kern="1200" dirty="0" err="1">
                <a:solidFill>
                  <a:schemeClr val="tx1"/>
                </a:solidFill>
                <a:latin typeface="+mn-lt"/>
                <a:ea typeface="+mn-ea"/>
                <a:cs typeface="+mn-cs"/>
              </a:rPr>
              <a:t>argv</a:t>
            </a:r>
            <a:r>
              <a:rPr lang="en-US" altLang="zh-TW" sz="1200" kern="1200" dirty="0">
                <a:solidFill>
                  <a:schemeClr val="tx1"/>
                </a:solidFill>
                <a:latin typeface="+mn-lt"/>
                <a:ea typeface="+mn-ea"/>
                <a:cs typeface="+mn-cs"/>
              </a:rPr>
              <a:t>[] = {"ls", "-l", NULL};</a:t>
            </a:r>
          </a:p>
          <a:p>
            <a:r>
              <a:rPr lang="en-US" altLang="zh-TW" sz="1200" kern="1200" dirty="0">
                <a:solidFill>
                  <a:schemeClr val="tx1"/>
                </a:solidFill>
                <a:latin typeface="+mn-lt"/>
                <a:ea typeface="+mn-ea"/>
                <a:cs typeface="+mn-cs"/>
              </a:rPr>
              <a:t>    </a:t>
            </a:r>
            <a:r>
              <a:rPr lang="en-US" altLang="zh-TW" sz="1200" kern="1200" dirty="0" err="1">
                <a:solidFill>
                  <a:schemeClr val="tx1"/>
                </a:solidFill>
                <a:latin typeface="+mn-lt"/>
                <a:ea typeface="+mn-ea"/>
                <a:cs typeface="+mn-cs"/>
              </a:rPr>
              <a:t>execvp</a:t>
            </a:r>
            <a:r>
              <a:rPr lang="en-US" altLang="zh-TW" sz="1200" kern="1200" dirty="0">
                <a:solidFill>
                  <a:schemeClr val="tx1"/>
                </a:solidFill>
                <a:latin typeface="+mn-lt"/>
                <a:ea typeface="+mn-ea"/>
                <a:cs typeface="+mn-cs"/>
              </a:rPr>
              <a:t>("ls", </a:t>
            </a:r>
            <a:r>
              <a:rPr lang="en-US" altLang="zh-TW" sz="1200" kern="1200" dirty="0" err="1">
                <a:solidFill>
                  <a:schemeClr val="tx1"/>
                </a:solidFill>
                <a:latin typeface="+mn-lt"/>
                <a:ea typeface="+mn-ea"/>
                <a:cs typeface="+mn-cs"/>
              </a:rPr>
              <a:t>argv</a:t>
            </a:r>
            <a:r>
              <a:rPr lang="en-US" altLang="zh-TW" sz="1200" kern="1200" dirty="0">
                <a:solidFill>
                  <a:schemeClr val="tx1"/>
                </a:solidFill>
                <a:latin typeface="+mn-lt"/>
                <a:ea typeface="+mn-ea"/>
                <a:cs typeface="+mn-cs"/>
              </a:rPr>
              <a:t>);         // </a:t>
            </a:r>
            <a:r>
              <a:rPr lang="zh-TW" altLang="en-US" sz="1200" kern="1200" dirty="0">
                <a:solidFill>
                  <a:schemeClr val="tx1"/>
                </a:solidFill>
                <a:latin typeface="+mn-lt"/>
                <a:ea typeface="+mn-ea"/>
                <a:cs typeface="+mn-cs"/>
              </a:rPr>
              <a:t>換成 </a:t>
            </a:r>
            <a:r>
              <a:rPr lang="en-US" altLang="zh-TW" sz="1200" kern="1200" dirty="0">
                <a:solidFill>
                  <a:schemeClr val="tx1"/>
                </a:solidFill>
                <a:latin typeface="+mn-lt"/>
                <a:ea typeface="+mn-ea"/>
                <a:cs typeface="+mn-cs"/>
              </a:rPr>
              <a:t>ls </a:t>
            </a:r>
            <a:r>
              <a:rPr lang="zh-TW" altLang="en-US" sz="1200" kern="1200" dirty="0">
                <a:solidFill>
                  <a:schemeClr val="tx1"/>
                </a:solidFill>
                <a:latin typeface="+mn-lt"/>
                <a:ea typeface="+mn-ea"/>
                <a:cs typeface="+mn-cs"/>
              </a:rPr>
              <a:t>程式（成功不會回來）</a:t>
            </a:r>
          </a:p>
          <a:p>
            <a:r>
              <a:rPr lang="zh-TW" altLang="en-US" sz="1200" kern="1200" dirty="0">
                <a:solidFill>
                  <a:schemeClr val="tx1"/>
                </a:solidFill>
                <a:latin typeface="+mn-lt"/>
                <a:ea typeface="+mn-ea"/>
                <a:cs typeface="+mn-cs"/>
              </a:rPr>
              <a:t>    </a:t>
            </a:r>
            <a:r>
              <a:rPr lang="en-US" altLang="zh-TW" sz="1200" kern="1200" dirty="0">
                <a:solidFill>
                  <a:schemeClr val="tx1"/>
                </a:solidFill>
                <a:latin typeface="+mn-lt"/>
                <a:ea typeface="+mn-ea"/>
                <a:cs typeface="+mn-cs"/>
              </a:rPr>
              <a:t>_exit(127);                 // exec </a:t>
            </a:r>
            <a:r>
              <a:rPr lang="zh-TW" altLang="en-US" sz="1200" kern="1200" dirty="0">
                <a:solidFill>
                  <a:schemeClr val="tx1"/>
                </a:solidFill>
                <a:latin typeface="+mn-lt"/>
                <a:ea typeface="+mn-ea"/>
                <a:cs typeface="+mn-cs"/>
              </a:rPr>
              <a:t>失敗才會走到這</a:t>
            </a:r>
          </a:p>
          <a:p>
            <a:r>
              <a:rPr lang="en-US" altLang="zh-TW" sz="1200" kern="1200" dirty="0">
                <a:solidFill>
                  <a:schemeClr val="tx1"/>
                </a:solidFill>
                <a:latin typeface="+mn-lt"/>
                <a:ea typeface="+mn-ea"/>
                <a:cs typeface="+mn-cs"/>
              </a:rPr>
              <a:t>} else if (</a:t>
            </a:r>
            <a:r>
              <a:rPr lang="en-US" altLang="zh-TW" sz="1200" kern="1200" dirty="0" err="1">
                <a:solidFill>
                  <a:schemeClr val="tx1"/>
                </a:solidFill>
                <a:latin typeface="+mn-lt"/>
                <a:ea typeface="+mn-ea"/>
                <a:cs typeface="+mn-cs"/>
              </a:rPr>
              <a:t>pid</a:t>
            </a:r>
            <a:r>
              <a:rPr lang="en-US" altLang="zh-TW" sz="1200" kern="1200" dirty="0">
                <a:solidFill>
                  <a:schemeClr val="tx1"/>
                </a:solidFill>
                <a:latin typeface="+mn-lt"/>
                <a:ea typeface="+mn-ea"/>
                <a:cs typeface="+mn-cs"/>
              </a:rPr>
              <a:t> &gt; 0) {           // parent</a:t>
            </a:r>
          </a:p>
          <a:p>
            <a:r>
              <a:rPr lang="en-US" altLang="zh-TW" sz="1200" kern="1200" dirty="0">
                <a:solidFill>
                  <a:schemeClr val="tx1"/>
                </a:solidFill>
                <a:latin typeface="+mn-lt"/>
                <a:ea typeface="+mn-ea"/>
                <a:cs typeface="+mn-cs"/>
              </a:rPr>
              <a:t>    wait(NULL);                 // </a:t>
            </a:r>
            <a:r>
              <a:rPr lang="zh-TW" altLang="en-US" sz="1200" kern="1200" dirty="0">
                <a:solidFill>
                  <a:schemeClr val="tx1"/>
                </a:solidFill>
                <a:latin typeface="+mn-lt"/>
                <a:ea typeface="+mn-ea"/>
                <a:cs typeface="+mn-cs"/>
              </a:rPr>
              <a:t>等子行程結束</a:t>
            </a:r>
          </a:p>
          <a:p>
            <a:r>
              <a:rPr lang="en-US" altLang="zh-TW" sz="1200" kern="1200" dirty="0">
                <a:solidFill>
                  <a:schemeClr val="tx1"/>
                </a:solidFill>
                <a:latin typeface="+mn-lt"/>
                <a:ea typeface="+mn-ea"/>
                <a:cs typeface="+mn-cs"/>
              </a:rPr>
              <a:t>}</a:t>
            </a:r>
          </a:p>
          <a:p>
            <a:r>
              <a:rPr lang="en-US" altLang="zh-TW" b="1" dirty="0"/>
              <a:t>COW </a:t>
            </a:r>
            <a:r>
              <a:rPr lang="zh-TW" altLang="en-US" b="1" dirty="0"/>
              <a:t>小提醒</a:t>
            </a:r>
          </a:p>
          <a:p>
            <a:r>
              <a:rPr lang="zh-TW" altLang="en-US" dirty="0"/>
              <a:t>父子「讀同一頁」不會複製；</a:t>
            </a:r>
            <a:r>
              <a:rPr lang="zh-TW" altLang="en-US" b="1" dirty="0"/>
              <a:t>其中一方寫</a:t>
            </a:r>
            <a:r>
              <a:rPr lang="zh-TW" altLang="en-US" dirty="0"/>
              <a:t>才分家。</a:t>
            </a:r>
          </a:p>
          <a:p>
            <a:r>
              <a:rPr lang="zh-TW" altLang="en-US" dirty="0"/>
              <a:t>因為頁被標唯讀，寫入時會產生</a:t>
            </a:r>
            <a:r>
              <a:rPr lang="zh-TW" altLang="en-US" b="1" dirty="0"/>
              <a:t>保護錯誤（</a:t>
            </a:r>
            <a:r>
              <a:rPr lang="en-US" altLang="zh-TW" b="1" dirty="0"/>
              <a:t>page fault</a:t>
            </a:r>
            <a:r>
              <a:rPr lang="zh-TW" altLang="en-US" b="1" dirty="0"/>
              <a:t>）</a:t>
            </a:r>
            <a:r>
              <a:rPr lang="zh-TW" altLang="en-US" dirty="0"/>
              <a:t>，核心在處理器例外裡複製那一頁、改成可寫，再重試。</a:t>
            </a:r>
          </a:p>
          <a:p>
            <a:r>
              <a:rPr lang="zh-TW" altLang="en-US" dirty="0"/>
              <a:t>這也是為什麼 </a:t>
            </a:r>
            <a:r>
              <a:rPr lang="en-US" altLang="zh-TW" sz="1200" kern="1200" dirty="0">
                <a:solidFill>
                  <a:schemeClr val="tx1"/>
                </a:solidFill>
                <a:latin typeface="+mn-lt"/>
                <a:ea typeface="+mn-ea"/>
                <a:cs typeface="+mn-cs"/>
              </a:rPr>
              <a:t>fork()</a:t>
            </a:r>
            <a:r>
              <a:rPr lang="en-US" altLang="zh-TW" dirty="0"/>
              <a:t> </a:t>
            </a:r>
            <a:r>
              <a:rPr lang="zh-TW" altLang="en-US" dirty="0"/>
              <a:t>在大型程式上通常仍很快。</a:t>
            </a:r>
          </a:p>
          <a:p>
            <a:endParaRPr kumimoji="1" lang="zh-TW" altLang="en-US" dirty="0"/>
          </a:p>
        </p:txBody>
      </p:sp>
      <p:sp>
        <p:nvSpPr>
          <p:cNvPr id="4" name="投影片編號版面配置區 3">
            <a:extLst>
              <a:ext uri="{FF2B5EF4-FFF2-40B4-BE49-F238E27FC236}">
                <a16:creationId xmlns:a16="http://schemas.microsoft.com/office/drawing/2014/main" id="{E4F184E9-43D4-E214-3FBD-DDEFC84989A2}"/>
              </a:ext>
            </a:extLst>
          </p:cNvPr>
          <p:cNvSpPr>
            <a:spLocks noGrp="1"/>
          </p:cNvSpPr>
          <p:nvPr>
            <p:ph type="sldNum" sz="quarter" idx="5"/>
          </p:nvPr>
        </p:nvSpPr>
        <p:spPr/>
        <p:txBody>
          <a:bodyPr/>
          <a:lstStyle/>
          <a:p>
            <a:fld id="{7EE20D91-FCA7-443A-BB7B-86FCD89A57B0}" type="slidenum">
              <a:rPr lang="zh-TW" altLang="en-US" smtClean="0"/>
              <a:t>8</a:t>
            </a:fld>
            <a:endParaRPr lang="zh-TW" altLang="en-US"/>
          </a:p>
        </p:txBody>
      </p:sp>
    </p:spTree>
    <p:extLst>
      <p:ext uri="{BB962C8B-B14F-4D97-AF65-F5344CB8AC3E}">
        <p14:creationId xmlns:p14="http://schemas.microsoft.com/office/powerpoint/2010/main" val="23763902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fontAlgn="base"/>
            <a:r>
              <a:rPr lang="en-US" altLang="zh-TW" sz="1200" b="0" i="0" kern="1200" dirty="0">
                <a:solidFill>
                  <a:schemeClr val="tx1"/>
                </a:solidFill>
                <a:effectLst/>
                <a:latin typeface="+mn-lt"/>
                <a:ea typeface="+mn-ea"/>
                <a:cs typeface="+mn-cs"/>
              </a:rPr>
              <a:t>Depends on the Operating System, hardware architecture and </a:t>
            </a:r>
            <a:r>
              <a:rPr lang="en-US" altLang="zh-TW" sz="1200" b="0" i="0" kern="1200" dirty="0" err="1">
                <a:solidFill>
                  <a:schemeClr val="tx1"/>
                </a:solidFill>
                <a:effectLst/>
                <a:latin typeface="+mn-lt"/>
                <a:ea typeface="+mn-ea"/>
                <a:cs typeface="+mn-cs"/>
              </a:rPr>
              <a:t>libc</a:t>
            </a:r>
            <a:r>
              <a:rPr lang="en-US" altLang="zh-TW" sz="1200" b="0" i="0" kern="1200" dirty="0">
                <a:solidFill>
                  <a:schemeClr val="tx1"/>
                </a:solidFill>
                <a:effectLst/>
                <a:latin typeface="+mn-lt"/>
                <a:ea typeface="+mn-ea"/>
                <a:cs typeface="+mn-cs"/>
              </a:rPr>
              <a:t>. But yes in case of recent Linux with MMU the </a:t>
            </a:r>
            <a:r>
              <a:rPr lang="en-US" altLang="zh-TW" sz="1200" b="0" i="0" u="sng" kern="1200" dirty="0">
                <a:solidFill>
                  <a:schemeClr val="tx1"/>
                </a:solidFill>
                <a:effectLst/>
                <a:latin typeface="+mn-lt"/>
                <a:ea typeface="+mn-ea"/>
                <a:cs typeface="+mn-cs"/>
                <a:hlinkClick r:id="rId3"/>
              </a:rPr>
              <a:t>fork(2)</a:t>
            </a:r>
            <a:r>
              <a:rPr lang="en-US" altLang="zh-TW" sz="1200" b="0" i="0" kern="1200" dirty="0">
                <a:solidFill>
                  <a:schemeClr val="tx1"/>
                </a:solidFill>
                <a:effectLst/>
                <a:latin typeface="+mn-lt"/>
                <a:ea typeface="+mn-ea"/>
                <a:cs typeface="+mn-cs"/>
              </a:rPr>
              <a:t> will work with copy-on-write. It will only (allocate and) copy a few system structures and the page table, but the heap pages actually point to the ones of the parent until written.</a:t>
            </a:r>
          </a:p>
          <a:p>
            <a:pPr fontAlgn="base"/>
            <a:r>
              <a:rPr lang="en-US" altLang="zh-TW" sz="1200" b="0" i="0" kern="1200" dirty="0">
                <a:solidFill>
                  <a:schemeClr val="tx1"/>
                </a:solidFill>
                <a:effectLst/>
                <a:latin typeface="+mn-lt"/>
                <a:ea typeface="+mn-ea"/>
                <a:cs typeface="+mn-cs"/>
              </a:rPr>
              <a:t>More control over this can be exercised with the </a:t>
            </a:r>
            <a:r>
              <a:rPr lang="en-US" altLang="zh-TW" sz="1200" b="0" i="0" u="sng" kern="1200" dirty="0">
                <a:solidFill>
                  <a:schemeClr val="tx1"/>
                </a:solidFill>
                <a:effectLst/>
                <a:latin typeface="+mn-lt"/>
                <a:ea typeface="+mn-ea"/>
                <a:cs typeface="+mn-cs"/>
                <a:hlinkClick r:id="rId4"/>
              </a:rPr>
              <a:t>clone(2)</a:t>
            </a:r>
            <a:r>
              <a:rPr lang="en-US" altLang="zh-TW" sz="1200" b="0" i="0" kern="1200" dirty="0">
                <a:solidFill>
                  <a:schemeClr val="tx1"/>
                </a:solidFill>
                <a:effectLst/>
                <a:latin typeface="+mn-lt"/>
                <a:ea typeface="+mn-ea"/>
                <a:cs typeface="+mn-cs"/>
              </a:rPr>
              <a:t> call. And </a:t>
            </a:r>
            <a:r>
              <a:rPr lang="en-US" altLang="zh-TW" sz="1200" b="0" i="0" u="sng" kern="1200" dirty="0">
                <a:solidFill>
                  <a:schemeClr val="tx1"/>
                </a:solidFill>
                <a:effectLst/>
                <a:latin typeface="+mn-lt"/>
                <a:ea typeface="+mn-ea"/>
                <a:cs typeface="+mn-cs"/>
                <a:hlinkClick r:id="rId5"/>
              </a:rPr>
              <a:t>vfork(2)</a:t>
            </a:r>
            <a:r>
              <a:rPr lang="en-US" altLang="zh-TW" sz="1200" b="0" i="0" kern="1200" dirty="0">
                <a:solidFill>
                  <a:schemeClr val="tx1"/>
                </a:solidFill>
                <a:effectLst/>
                <a:latin typeface="+mn-lt"/>
                <a:ea typeface="+mn-ea"/>
                <a:cs typeface="+mn-cs"/>
              </a:rPr>
              <a:t> </a:t>
            </a:r>
            <a:r>
              <a:rPr lang="en-US" altLang="zh-TW" sz="1200" b="0" i="0" kern="1200" dirty="0" err="1">
                <a:solidFill>
                  <a:schemeClr val="tx1"/>
                </a:solidFill>
                <a:effectLst/>
                <a:latin typeface="+mn-lt"/>
                <a:ea typeface="+mn-ea"/>
                <a:cs typeface="+mn-cs"/>
              </a:rPr>
              <a:t>beeing</a:t>
            </a:r>
            <a:r>
              <a:rPr lang="en-US" altLang="zh-TW" sz="1200" b="0" i="0" kern="1200" dirty="0">
                <a:solidFill>
                  <a:schemeClr val="tx1"/>
                </a:solidFill>
                <a:effectLst/>
                <a:latin typeface="+mn-lt"/>
                <a:ea typeface="+mn-ea"/>
                <a:cs typeface="+mn-cs"/>
              </a:rPr>
              <a:t> a special variant which does not expect the pages to be used. This is typically used before exec().</a:t>
            </a:r>
          </a:p>
          <a:p>
            <a:pPr fontAlgn="base"/>
            <a:r>
              <a:rPr lang="en-US" altLang="zh-TW" sz="1200" b="0" i="0" kern="1200" dirty="0">
                <a:solidFill>
                  <a:schemeClr val="tx1"/>
                </a:solidFill>
                <a:effectLst/>
                <a:latin typeface="+mn-lt"/>
                <a:ea typeface="+mn-ea"/>
                <a:cs typeface="+mn-cs"/>
              </a:rPr>
              <a:t>As for the allocation: the malloc() has meta information over requested memory blocks (address and size) and the C variable is a pointer (both in process memory heap and stacks). Those two look the same for the child (same values because same underlying memory page seen in the address space of both processes). So from a C program point of view the array is already allocated and the variable initialized when the process comes into existence. The underlying memory pages are however pointing to the original physical ones of the parent process, so no extra memory pages are needed until they are modified.</a:t>
            </a:r>
          </a:p>
          <a:p>
            <a:pPr fontAlgn="base"/>
            <a:r>
              <a:rPr lang="en-US" altLang="zh-TW" sz="1200" b="0" i="0" kern="1200" dirty="0">
                <a:solidFill>
                  <a:schemeClr val="tx1"/>
                </a:solidFill>
                <a:effectLst/>
                <a:latin typeface="+mn-lt"/>
                <a:ea typeface="+mn-ea"/>
                <a:cs typeface="+mn-cs"/>
              </a:rPr>
              <a:t>If the child allocates a new array it depends if it fits into the already existing heap pages or if the </a:t>
            </a:r>
            <a:r>
              <a:rPr lang="en-US" altLang="zh-TW" sz="1200" b="0" i="0" kern="1200" dirty="0" err="1">
                <a:solidFill>
                  <a:schemeClr val="tx1"/>
                </a:solidFill>
                <a:effectLst/>
                <a:latin typeface="+mn-lt"/>
                <a:ea typeface="+mn-ea"/>
                <a:cs typeface="+mn-cs"/>
              </a:rPr>
              <a:t>brk</a:t>
            </a:r>
            <a:r>
              <a:rPr lang="en-US" altLang="zh-TW" sz="1200" b="0" i="0" kern="1200" dirty="0">
                <a:solidFill>
                  <a:schemeClr val="tx1"/>
                </a:solidFill>
                <a:effectLst/>
                <a:latin typeface="+mn-lt"/>
                <a:ea typeface="+mn-ea"/>
                <a:cs typeface="+mn-cs"/>
              </a:rPr>
              <a:t> of the process needs to be increased. In both cases only the modified pages get copied and the new pages get allocated only for the child.</a:t>
            </a:r>
          </a:p>
          <a:p>
            <a:pPr fontAlgn="base"/>
            <a:r>
              <a:rPr lang="en-US" altLang="zh-TW" sz="1200" b="0" i="0" kern="1200" dirty="0">
                <a:solidFill>
                  <a:schemeClr val="tx1"/>
                </a:solidFill>
                <a:effectLst/>
                <a:latin typeface="+mn-lt"/>
                <a:ea typeface="+mn-ea"/>
                <a:cs typeface="+mn-cs"/>
              </a:rPr>
              <a:t>This also means that the physical memory might run out after malloc(). (Which is bad as the program cannot check the error return code of "a operation in a random code line"). Some operating systems will not allow this form of overcommit: So if you fork a process it will not allocate the pages, but it requires them to be available at that moment (kind of reserves them) just in case. In Linux this is </a:t>
            </a:r>
            <a:r>
              <a:rPr lang="en-US" altLang="zh-TW" sz="1200" b="0" i="0" u="sng" kern="1200" dirty="0">
                <a:solidFill>
                  <a:schemeClr val="tx1"/>
                </a:solidFill>
                <a:effectLst/>
                <a:latin typeface="+mn-lt"/>
                <a:ea typeface="+mn-ea"/>
                <a:cs typeface="+mn-cs"/>
                <a:hlinkClick r:id="rId6"/>
              </a:rPr>
              <a:t>configurable and called overcommit-accounting</a:t>
            </a:r>
            <a:r>
              <a:rPr lang="en-US" altLang="zh-TW" sz="1200" b="0" i="0" kern="1200" dirty="0">
                <a:solidFill>
                  <a:schemeClr val="tx1"/>
                </a:solidFill>
                <a:effectLst/>
                <a:latin typeface="+mn-lt"/>
                <a:ea typeface="+mn-ea"/>
                <a:cs typeface="+mn-cs"/>
              </a:rPr>
              <a:t>.</a:t>
            </a: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9</a:t>
            </a:fld>
            <a:endParaRPr lang="zh-TW" altLang="en-US"/>
          </a:p>
        </p:txBody>
      </p:sp>
    </p:spTree>
    <p:extLst>
      <p:ext uri="{BB962C8B-B14F-4D97-AF65-F5344CB8AC3E}">
        <p14:creationId xmlns:p14="http://schemas.microsoft.com/office/powerpoint/2010/main" val="1896975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下面這張講的是 </a:t>
            </a:r>
            <a:r>
              <a:rPr lang="en-US" altLang="zh-TW" b="1" dirty="0"/>
              <a:t>Linux </a:t>
            </a:r>
            <a:r>
              <a:rPr lang="zh-TW" altLang="en-US" b="1" dirty="0"/>
              <a:t>裡 </a:t>
            </a:r>
            <a:r>
              <a:rPr lang="en-US" altLang="zh-TW" sz="1200" b="1" kern="1200" dirty="0" err="1">
                <a:solidFill>
                  <a:schemeClr val="tx1"/>
                </a:solidFill>
                <a:latin typeface="+mn-lt"/>
                <a:ea typeface="+mn-ea"/>
                <a:cs typeface="+mn-cs"/>
              </a:rPr>
              <a:t>copy_process</a:t>
            </a:r>
            <a:r>
              <a:rPr lang="en-US" altLang="zh-TW" sz="1200" b="1" kern="1200" dirty="0">
                <a:solidFill>
                  <a:schemeClr val="tx1"/>
                </a:solidFill>
                <a:latin typeface="+mn-lt"/>
                <a:ea typeface="+mn-ea"/>
                <a:cs typeface="+mn-cs"/>
              </a:rPr>
              <a:t>()</a:t>
            </a:r>
            <a:r>
              <a:rPr lang="en-US" altLang="zh-TW" b="1" dirty="0"/>
              <a:t> </a:t>
            </a:r>
            <a:r>
              <a:rPr lang="zh-TW" altLang="en-US" b="1" dirty="0"/>
              <a:t>在做什麼</a:t>
            </a:r>
            <a:r>
              <a:rPr lang="zh-TW" altLang="en-US" dirty="0"/>
              <a:t>（也就是 </a:t>
            </a:r>
            <a:r>
              <a:rPr lang="en-US" altLang="zh-TW" sz="1200" kern="1200" dirty="0">
                <a:solidFill>
                  <a:schemeClr val="tx1"/>
                </a:solidFill>
                <a:latin typeface="+mn-lt"/>
                <a:ea typeface="+mn-ea"/>
                <a:cs typeface="+mn-cs"/>
              </a:rPr>
              <a:t>fork/clone</a:t>
            </a:r>
            <a:r>
              <a:rPr lang="en-US" altLang="zh-TW" dirty="0"/>
              <a:t> </a:t>
            </a:r>
            <a:r>
              <a:rPr lang="zh-TW" altLang="en-US" dirty="0"/>
              <a:t>背後的實作步驟）。我先逐句翻，後面用白話補充重點。</a:t>
            </a:r>
          </a:p>
          <a:p>
            <a:r>
              <a:rPr lang="zh-TW" altLang="en-US" b="1" dirty="0"/>
              <a:t>逐句翻譯＋重點</a:t>
            </a:r>
          </a:p>
          <a:p>
            <a:r>
              <a:rPr lang="en-US" altLang="zh-TW" b="1" dirty="0"/>
              <a:t>Allocate a new kernel stack (e.g., </a:t>
            </a:r>
            <a:r>
              <a:rPr lang="en-US" altLang="zh-TW" b="1" dirty="0" err="1"/>
              <a:t>thread_info</a:t>
            </a:r>
            <a:r>
              <a:rPr lang="en-US" altLang="zh-TW" b="1" dirty="0"/>
              <a:t>) and process descriptor (i.e., </a:t>
            </a:r>
            <a:r>
              <a:rPr lang="en-US" altLang="zh-TW" b="1" dirty="0" err="1"/>
              <a:t>task_struct</a:t>
            </a:r>
            <a:r>
              <a:rPr lang="en-US" altLang="zh-TW" b="1" dirty="0"/>
              <a:t>)</a:t>
            </a:r>
            <a:br>
              <a:rPr lang="en-US" altLang="zh-TW" dirty="0"/>
            </a:br>
            <a:r>
              <a:rPr lang="zh-TW" altLang="en-US" dirty="0"/>
              <a:t>配一個</a:t>
            </a:r>
            <a:r>
              <a:rPr lang="zh-TW" altLang="en-US" b="1" dirty="0"/>
              <a:t>新的核心堆疊</a:t>
            </a:r>
            <a:r>
              <a:rPr lang="zh-TW" altLang="en-US" dirty="0"/>
              <a:t>（裡面有 </a:t>
            </a:r>
            <a:r>
              <a:rPr lang="en-US" altLang="zh-TW" sz="1200" kern="1200" dirty="0" err="1">
                <a:solidFill>
                  <a:schemeClr val="tx1"/>
                </a:solidFill>
                <a:latin typeface="+mn-lt"/>
                <a:ea typeface="+mn-ea"/>
                <a:cs typeface="+mn-cs"/>
              </a:rPr>
              <a:t>thread_info</a:t>
            </a:r>
            <a:r>
              <a:rPr lang="zh-TW" altLang="en-US" dirty="0"/>
              <a:t>）以及</a:t>
            </a:r>
            <a:r>
              <a:rPr lang="zh-TW" altLang="en-US" b="1" dirty="0"/>
              <a:t>行程描述子</a:t>
            </a:r>
            <a:r>
              <a:rPr lang="zh-TW" altLang="en-US" dirty="0"/>
              <a:t> </a:t>
            </a:r>
            <a:r>
              <a:rPr lang="en-US" altLang="zh-TW" sz="1200" kern="1200" dirty="0" err="1">
                <a:solidFill>
                  <a:schemeClr val="tx1"/>
                </a:solidFill>
                <a:latin typeface="+mn-lt"/>
                <a:ea typeface="+mn-ea"/>
                <a:cs typeface="+mn-cs"/>
              </a:rPr>
              <a:t>task_struct</a:t>
            </a:r>
            <a:r>
              <a:rPr lang="zh-TW" altLang="en-US" dirty="0"/>
              <a:t>。</a:t>
            </a:r>
            <a:br>
              <a:rPr lang="zh-TW" altLang="en-US" dirty="0"/>
            </a:br>
            <a:r>
              <a:rPr lang="zh-TW" altLang="en-US" dirty="0"/>
              <a:t>→ 每個 </a:t>
            </a:r>
            <a:r>
              <a:rPr lang="en-US" altLang="zh-TW" dirty="0"/>
              <a:t>task </a:t>
            </a:r>
            <a:r>
              <a:rPr lang="zh-TW" altLang="en-US" dirty="0"/>
              <a:t>都有</a:t>
            </a:r>
            <a:r>
              <a:rPr lang="zh-TW" altLang="en-US" b="1" dirty="0"/>
              <a:t>自己的 </a:t>
            </a:r>
            <a:r>
              <a:rPr lang="en-US" altLang="zh-TW" b="1" dirty="0"/>
              <a:t>kernel stack</a:t>
            </a:r>
            <a:r>
              <a:rPr lang="en-US" altLang="zh-TW" dirty="0"/>
              <a:t> </a:t>
            </a:r>
            <a:r>
              <a:rPr lang="zh-TW" altLang="en-US" dirty="0"/>
              <a:t>與 </a:t>
            </a:r>
            <a:r>
              <a:rPr lang="en-US" altLang="zh-TW" sz="1200" kern="1200" dirty="0" err="1">
                <a:solidFill>
                  <a:schemeClr val="tx1"/>
                </a:solidFill>
                <a:latin typeface="+mn-lt"/>
                <a:ea typeface="+mn-ea"/>
                <a:cs typeface="+mn-cs"/>
              </a:rPr>
              <a:t>task_struct</a:t>
            </a:r>
            <a:r>
              <a:rPr lang="zh-TW" altLang="en-US" dirty="0"/>
              <a:t>。</a:t>
            </a:r>
          </a:p>
          <a:p>
            <a:r>
              <a:rPr lang="en-US" altLang="zh-TW" b="1" dirty="0"/>
              <a:t>Copy (e.g., program counter, states) or set (e.g., PID) fields in the process descriptor</a:t>
            </a:r>
            <a:br>
              <a:rPr lang="en-US" altLang="zh-TW" dirty="0"/>
            </a:br>
            <a:r>
              <a:rPr lang="zh-TW" altLang="en-US" dirty="0"/>
              <a:t>把一些欄位</a:t>
            </a:r>
            <a:r>
              <a:rPr lang="zh-TW" altLang="en-US" b="1" dirty="0"/>
              <a:t>複製</a:t>
            </a:r>
            <a:r>
              <a:rPr lang="zh-TW" altLang="en-US" dirty="0"/>
              <a:t>（如程式計數器、狀態），並</a:t>
            </a:r>
            <a:r>
              <a:rPr lang="zh-TW" altLang="en-US" b="1" dirty="0"/>
              <a:t>設定</a:t>
            </a:r>
            <a:r>
              <a:rPr lang="zh-TW" altLang="en-US" dirty="0"/>
              <a:t>新的欄位（如 </a:t>
            </a:r>
            <a:r>
              <a:rPr lang="en-US" altLang="zh-TW" dirty="0"/>
              <a:t>PID</a:t>
            </a:r>
            <a:r>
              <a:rPr lang="zh-TW" altLang="en-US" dirty="0"/>
              <a:t>）到 </a:t>
            </a:r>
            <a:r>
              <a:rPr lang="en-US" altLang="zh-TW" sz="1200" kern="1200" dirty="0" err="1">
                <a:solidFill>
                  <a:schemeClr val="tx1"/>
                </a:solidFill>
                <a:latin typeface="+mn-lt"/>
                <a:ea typeface="+mn-ea"/>
                <a:cs typeface="+mn-cs"/>
              </a:rPr>
              <a:t>task_struct</a:t>
            </a:r>
            <a:r>
              <a:rPr lang="zh-TW" altLang="en-US" dirty="0"/>
              <a:t>。</a:t>
            </a:r>
            <a:br>
              <a:rPr lang="zh-TW" altLang="en-US" dirty="0"/>
            </a:br>
            <a:r>
              <a:rPr lang="zh-TW" altLang="en-US" dirty="0"/>
              <a:t>→ 建好子行程的「身份證」。</a:t>
            </a:r>
          </a:p>
          <a:p>
            <a:r>
              <a:rPr lang="en-US" altLang="zh-TW" b="1" dirty="0"/>
              <a:t>Set the state field to TASK_UNINTERRUPTIBLE (Reason: initialization is non-interruptible)</a:t>
            </a:r>
            <a:br>
              <a:rPr lang="en-US" altLang="zh-TW" dirty="0"/>
            </a:br>
            <a:r>
              <a:rPr lang="zh-TW" altLang="en-US" dirty="0"/>
              <a:t>先把子行程的狀態設成 </a:t>
            </a:r>
            <a:r>
              <a:rPr lang="zh-TW" altLang="en-US" b="1" dirty="0"/>
              <a:t>不可中斷睡眠</a:t>
            </a:r>
            <a:r>
              <a:rPr lang="zh-TW" altLang="en-US" dirty="0"/>
              <a:t>，因為建立中的過程不希望被打斷。</a:t>
            </a:r>
            <a:br>
              <a:rPr lang="zh-TW" altLang="en-US" dirty="0"/>
            </a:br>
            <a:r>
              <a:rPr lang="zh-TW" altLang="en-US" dirty="0"/>
              <a:t>→ 初始化穩定完成後，才轉回可執行。</a:t>
            </a:r>
          </a:p>
          <a:p>
            <a:r>
              <a:rPr lang="en-US" altLang="zh-TW" b="1" dirty="0"/>
              <a:t>Duplicate parent’s page table</a:t>
            </a:r>
            <a:br>
              <a:rPr lang="en-US" altLang="zh-TW" dirty="0"/>
            </a:br>
            <a:r>
              <a:rPr lang="zh-TW" altLang="en-US" b="1" dirty="0"/>
              <a:t>複製父行程的頁表結構</a:t>
            </a:r>
            <a:r>
              <a:rPr lang="zh-TW" altLang="en-US" dirty="0"/>
              <a:t>（不是把所有實體記憶體真的複製）</a:t>
            </a:r>
            <a:r>
              <a:rPr lang="en-US" altLang="zh-TW" dirty="0"/>
              <a:t>——</a:t>
            </a:r>
            <a:r>
              <a:rPr lang="zh-TW" altLang="en-US" dirty="0"/>
              <a:t>配合 </a:t>
            </a:r>
            <a:r>
              <a:rPr lang="en-US" altLang="zh-TW" b="1" dirty="0"/>
              <a:t>COW</a:t>
            </a:r>
            <a:r>
              <a:rPr lang="zh-TW" altLang="en-US" dirty="0"/>
              <a:t>，父子</a:t>
            </a:r>
            <a:r>
              <a:rPr lang="zh-TW" altLang="en-US" b="1" dirty="0"/>
              <a:t>先共享同一批 </a:t>
            </a:r>
            <a:r>
              <a:rPr lang="en-US" altLang="zh-TW" b="1" dirty="0"/>
              <a:t>page frame</a:t>
            </a:r>
            <a:r>
              <a:rPr lang="zh-TW" altLang="en-US" b="1" dirty="0"/>
              <a:t>（唯讀）</a:t>
            </a:r>
            <a:r>
              <a:rPr lang="zh-TW" altLang="en-US" dirty="0"/>
              <a:t>。</a:t>
            </a:r>
            <a:br>
              <a:rPr lang="zh-TW" altLang="en-US" dirty="0"/>
            </a:br>
            <a:r>
              <a:rPr lang="zh-TW" altLang="en-US" dirty="0"/>
              <a:t>→ 直到有寫入，才逐頁複製。</a:t>
            </a:r>
          </a:p>
          <a:p>
            <a:r>
              <a:rPr lang="en-US" altLang="zh-TW" b="1" dirty="0"/>
              <a:t>Duplicate (Process) or Share (Thread): Open files, filesystem information, signal handlers, process address space (Notice: Does not share Stack), and namespace.</a:t>
            </a:r>
            <a:br>
              <a:rPr lang="en-US" altLang="zh-TW" dirty="0"/>
            </a:br>
            <a:r>
              <a:rPr lang="zh-TW" altLang="en-US" dirty="0"/>
              <a:t>依照是「</a:t>
            </a:r>
            <a:r>
              <a:rPr lang="zh-TW" altLang="en-US" b="1" dirty="0"/>
              <a:t>新行程</a:t>
            </a:r>
            <a:r>
              <a:rPr lang="zh-TW" altLang="en-US" dirty="0"/>
              <a:t>」或「</a:t>
            </a:r>
            <a:r>
              <a:rPr lang="zh-TW" altLang="en-US" b="1" dirty="0"/>
              <a:t>同一行程內的新執行緒</a:t>
            </a:r>
            <a:r>
              <a:rPr lang="zh-TW" altLang="en-US" dirty="0"/>
              <a:t>」決定</a:t>
            </a:r>
            <a:r>
              <a:rPr lang="zh-TW" altLang="en-US" b="1" dirty="0"/>
              <a:t>複製</a:t>
            </a:r>
            <a:r>
              <a:rPr lang="zh-TW" altLang="en-US" dirty="0"/>
              <a:t>或</a:t>
            </a:r>
            <a:r>
              <a:rPr lang="zh-TW" altLang="en-US" b="1" dirty="0"/>
              <a:t>共享</a:t>
            </a:r>
            <a:r>
              <a:rPr lang="zh-TW" altLang="en-US" dirty="0"/>
              <a:t>下列資源：</a:t>
            </a:r>
          </a:p>
          <a:p>
            <a:pPr lvl="1"/>
            <a:r>
              <a:rPr lang="zh-TW" altLang="en-US" dirty="0"/>
              <a:t>開啟的檔案（</a:t>
            </a:r>
            <a:r>
              <a:rPr lang="en-US" altLang="zh-TW" dirty="0"/>
              <a:t>file table</a:t>
            </a:r>
            <a:r>
              <a:rPr lang="zh-TW" altLang="en-US" dirty="0"/>
              <a:t>）</a:t>
            </a:r>
          </a:p>
          <a:p>
            <a:pPr lvl="1"/>
            <a:r>
              <a:rPr lang="zh-TW" altLang="en-US" dirty="0"/>
              <a:t>檔案系統資訊（</a:t>
            </a:r>
            <a:r>
              <a:rPr lang="en-US" altLang="zh-TW" dirty="0" err="1"/>
              <a:t>cwd</a:t>
            </a:r>
            <a:r>
              <a:rPr lang="zh-TW" altLang="en-US" dirty="0"/>
              <a:t>、</a:t>
            </a:r>
            <a:r>
              <a:rPr lang="en-US" altLang="zh-TW" dirty="0" err="1"/>
              <a:t>umask</a:t>
            </a:r>
            <a:r>
              <a:rPr lang="en-US" altLang="zh-TW" dirty="0"/>
              <a:t> </a:t>
            </a:r>
            <a:r>
              <a:rPr lang="zh-TW" altLang="en-US" dirty="0"/>
              <a:t>等）</a:t>
            </a:r>
          </a:p>
          <a:p>
            <a:pPr lvl="1"/>
            <a:r>
              <a:rPr lang="zh-TW" altLang="en-US" dirty="0"/>
              <a:t>訊號處理器（</a:t>
            </a:r>
            <a:r>
              <a:rPr lang="en-US" altLang="zh-TW" dirty="0"/>
              <a:t>signal handlers</a:t>
            </a:r>
            <a:r>
              <a:rPr lang="zh-TW" altLang="en-US" dirty="0"/>
              <a:t>）</a:t>
            </a:r>
          </a:p>
          <a:p>
            <a:pPr lvl="1"/>
            <a:r>
              <a:rPr lang="zh-TW" altLang="en-US" b="1" dirty="0"/>
              <a:t>位址空間</a:t>
            </a:r>
            <a:r>
              <a:rPr lang="zh-TW" altLang="en-US" dirty="0"/>
              <a:t>（</a:t>
            </a:r>
            <a:r>
              <a:rPr lang="en-US" altLang="zh-TW" dirty="0"/>
              <a:t>process address space</a:t>
            </a:r>
            <a:r>
              <a:rPr lang="zh-TW" altLang="en-US" dirty="0"/>
              <a:t>；</a:t>
            </a:r>
            <a:r>
              <a:rPr lang="zh-TW" altLang="en-US" i="1" dirty="0"/>
              <a:t>執行緒會共享同一個位址空間</a:t>
            </a:r>
            <a:r>
              <a:rPr lang="zh-TW" altLang="en-US" dirty="0"/>
              <a:t>）</a:t>
            </a:r>
          </a:p>
          <a:p>
            <a:pPr lvl="1"/>
            <a:r>
              <a:rPr lang="zh-TW" altLang="en-US" b="1" dirty="0"/>
              <a:t>注意：不共享堆疊（</a:t>
            </a:r>
            <a:r>
              <a:rPr lang="en-US" altLang="zh-TW" b="1" dirty="0"/>
              <a:t>Stack</a:t>
            </a:r>
            <a:r>
              <a:rPr lang="zh-TW" altLang="en-US" b="1" dirty="0"/>
              <a:t>）</a:t>
            </a:r>
            <a:r>
              <a:rPr lang="en-US" altLang="zh-TW" dirty="0"/>
              <a:t> → </a:t>
            </a:r>
            <a:r>
              <a:rPr lang="zh-TW" altLang="en-US" dirty="0"/>
              <a:t>每個執行緒有自己的</a:t>
            </a:r>
            <a:r>
              <a:rPr lang="zh-TW" altLang="en-US" b="1" dirty="0"/>
              <a:t>使用者堆疊</a:t>
            </a:r>
            <a:r>
              <a:rPr lang="zh-TW" altLang="en-US" dirty="0"/>
              <a:t>與</a:t>
            </a:r>
            <a:r>
              <a:rPr lang="zh-TW" altLang="en-US" b="1" dirty="0"/>
              <a:t>核心堆疊</a:t>
            </a:r>
            <a:endParaRPr lang="zh-TW" altLang="en-US" dirty="0"/>
          </a:p>
          <a:p>
            <a:pPr lvl="1"/>
            <a:r>
              <a:rPr lang="en-US" altLang="zh-TW" dirty="0"/>
              <a:t>namespace</a:t>
            </a:r>
            <a:r>
              <a:rPr lang="zh-TW" altLang="en-US" dirty="0"/>
              <a:t>（使用 </a:t>
            </a:r>
            <a:r>
              <a:rPr lang="en-US" altLang="zh-TW" sz="1200" kern="1200" dirty="0">
                <a:solidFill>
                  <a:schemeClr val="tx1"/>
                </a:solidFill>
                <a:latin typeface="+mn-lt"/>
                <a:ea typeface="+mn-ea"/>
                <a:cs typeface="+mn-cs"/>
              </a:rPr>
              <a:t>clone()</a:t>
            </a:r>
            <a:r>
              <a:rPr lang="en-US" altLang="zh-TW" dirty="0"/>
              <a:t> </a:t>
            </a:r>
            <a:r>
              <a:rPr lang="zh-TW" altLang="en-US" dirty="0"/>
              <a:t>可選擇建立</a:t>
            </a:r>
            <a:r>
              <a:rPr lang="en-US" altLang="zh-TW" dirty="0"/>
              <a:t>/</a:t>
            </a:r>
            <a:r>
              <a:rPr lang="zh-TW" altLang="en-US" dirty="0"/>
              <a:t>共享不同的命名空間）</a:t>
            </a:r>
          </a:p>
          <a:p>
            <a:r>
              <a:rPr lang="zh-TW" altLang="en-US" b="1" dirty="0"/>
              <a:t>白話總結</a:t>
            </a:r>
          </a:p>
          <a:p>
            <a:r>
              <a:rPr lang="en-US" altLang="zh-TW" sz="1200" kern="1200" dirty="0" err="1">
                <a:solidFill>
                  <a:schemeClr val="tx1"/>
                </a:solidFill>
                <a:latin typeface="+mn-lt"/>
                <a:ea typeface="+mn-ea"/>
                <a:cs typeface="+mn-cs"/>
              </a:rPr>
              <a:t>copy_process</a:t>
            </a:r>
            <a:r>
              <a:rPr lang="en-US" altLang="zh-TW" sz="1200" kern="1200" dirty="0">
                <a:solidFill>
                  <a:schemeClr val="tx1"/>
                </a:solidFill>
                <a:latin typeface="+mn-lt"/>
                <a:ea typeface="+mn-ea"/>
                <a:cs typeface="+mn-cs"/>
              </a:rPr>
              <a:t>()</a:t>
            </a:r>
            <a:r>
              <a:rPr lang="en-US" altLang="zh-TW" dirty="0"/>
              <a:t> </a:t>
            </a:r>
            <a:r>
              <a:rPr lang="zh-TW" altLang="en-US" dirty="0"/>
              <a:t>幫你生出一個 </a:t>
            </a:r>
            <a:r>
              <a:rPr lang="zh-TW" altLang="en-US" b="1" dirty="0"/>
              <a:t>新 </a:t>
            </a:r>
            <a:r>
              <a:rPr lang="en-US" altLang="zh-TW" b="1" dirty="0"/>
              <a:t>task</a:t>
            </a:r>
            <a:r>
              <a:rPr lang="zh-TW" altLang="en-US" dirty="0"/>
              <a:t>：配 </a:t>
            </a:r>
            <a:r>
              <a:rPr lang="en-US" altLang="zh-TW" b="1" dirty="0"/>
              <a:t>kernel stack</a:t>
            </a:r>
            <a:r>
              <a:rPr lang="zh-TW" altLang="en-US" dirty="0"/>
              <a:t>、</a:t>
            </a:r>
            <a:r>
              <a:rPr lang="en-US" altLang="zh-TW" sz="1200" kern="1200" dirty="0" err="1">
                <a:solidFill>
                  <a:schemeClr val="tx1"/>
                </a:solidFill>
                <a:latin typeface="+mn-lt"/>
                <a:ea typeface="+mn-ea"/>
                <a:cs typeface="+mn-cs"/>
              </a:rPr>
              <a:t>task_struct</a:t>
            </a:r>
            <a:r>
              <a:rPr lang="zh-TW" altLang="en-US" dirty="0"/>
              <a:t>，設好 </a:t>
            </a:r>
            <a:r>
              <a:rPr lang="en-US" altLang="zh-TW" b="1" dirty="0"/>
              <a:t>PID</a:t>
            </a:r>
            <a:r>
              <a:rPr lang="zh-TW" altLang="en-US" dirty="0"/>
              <a:t>、</a:t>
            </a:r>
            <a:r>
              <a:rPr lang="zh-TW" altLang="en-US" b="1" dirty="0"/>
              <a:t>狀態</a:t>
            </a:r>
            <a:r>
              <a:rPr lang="zh-TW" altLang="en-US" dirty="0"/>
              <a:t>。</a:t>
            </a:r>
          </a:p>
          <a:p>
            <a:r>
              <a:rPr lang="zh-TW" altLang="en-US" dirty="0"/>
              <a:t>記憶體採 </a:t>
            </a:r>
            <a:r>
              <a:rPr lang="en-US" altLang="zh-TW" b="1" dirty="0"/>
              <a:t>COW</a:t>
            </a:r>
            <a:r>
              <a:rPr lang="zh-TW" altLang="en-US" dirty="0"/>
              <a:t>：頁表複製、實體頁</a:t>
            </a:r>
            <a:r>
              <a:rPr lang="zh-TW" altLang="en-US" b="1" dirty="0"/>
              <a:t>先共享唯讀</a:t>
            </a:r>
            <a:r>
              <a:rPr lang="zh-TW" altLang="en-US" dirty="0"/>
              <a:t>，寫了才真正分家。</a:t>
            </a:r>
          </a:p>
          <a:p>
            <a:r>
              <a:rPr lang="zh-TW" altLang="en-US" b="1" dirty="0"/>
              <a:t>行程 </a:t>
            </a:r>
            <a:r>
              <a:rPr lang="en-US" altLang="zh-TW" b="1" dirty="0"/>
              <a:t>vs </a:t>
            </a:r>
            <a:r>
              <a:rPr lang="zh-TW" altLang="en-US" b="1" dirty="0"/>
              <a:t>執行緒</a:t>
            </a:r>
            <a:r>
              <a:rPr lang="zh-TW" altLang="en-US" dirty="0"/>
              <a:t>：</a:t>
            </a:r>
          </a:p>
          <a:p>
            <a:pPr lvl="1"/>
            <a:r>
              <a:rPr lang="zh-TW" altLang="en-US" dirty="0"/>
              <a:t>行程（</a:t>
            </a:r>
            <a:r>
              <a:rPr lang="en-US" altLang="zh-TW" sz="1200" kern="1200" dirty="0">
                <a:solidFill>
                  <a:schemeClr val="tx1"/>
                </a:solidFill>
                <a:latin typeface="+mn-lt"/>
                <a:ea typeface="+mn-ea"/>
                <a:cs typeface="+mn-cs"/>
              </a:rPr>
              <a:t>fork()</a:t>
            </a:r>
            <a:r>
              <a:rPr lang="zh-TW" altLang="en-US" dirty="0"/>
              <a:t>）：多數資源</a:t>
            </a:r>
            <a:r>
              <a:rPr lang="zh-TW" altLang="en-US" b="1" dirty="0"/>
              <a:t>各有一份</a:t>
            </a:r>
            <a:r>
              <a:rPr lang="zh-TW" altLang="en-US" dirty="0"/>
              <a:t>（位址空間不共享）。</a:t>
            </a:r>
          </a:p>
          <a:p>
            <a:pPr lvl="1"/>
            <a:r>
              <a:rPr lang="zh-TW" altLang="en-US" dirty="0"/>
              <a:t>執行緒（</a:t>
            </a:r>
            <a:r>
              <a:rPr lang="en-US" altLang="zh-TW" sz="1200" kern="1200" dirty="0">
                <a:solidFill>
                  <a:schemeClr val="tx1"/>
                </a:solidFill>
                <a:latin typeface="+mn-lt"/>
                <a:ea typeface="+mn-ea"/>
                <a:cs typeface="+mn-cs"/>
              </a:rPr>
              <a:t>clone()</a:t>
            </a:r>
            <a:r>
              <a:rPr lang="en-US" altLang="zh-TW" dirty="0"/>
              <a:t> + </a:t>
            </a:r>
            <a:r>
              <a:rPr lang="en-US" altLang="zh-TW" sz="1200" kern="1200" dirty="0">
                <a:solidFill>
                  <a:schemeClr val="tx1"/>
                </a:solidFill>
                <a:latin typeface="+mn-lt"/>
                <a:ea typeface="+mn-ea"/>
                <a:cs typeface="+mn-cs"/>
              </a:rPr>
              <a:t>CLONE_VM</a:t>
            </a:r>
            <a:r>
              <a:rPr lang="en-US" altLang="zh-TW" dirty="0"/>
              <a:t>…</a:t>
            </a:r>
            <a:r>
              <a:rPr lang="zh-TW" altLang="en-US" dirty="0"/>
              <a:t>）：</a:t>
            </a:r>
            <a:r>
              <a:rPr lang="zh-TW" altLang="en-US" b="1" dirty="0"/>
              <a:t>共享位址空間</a:t>
            </a:r>
            <a:r>
              <a:rPr lang="en-US" altLang="zh-TW" b="1" dirty="0"/>
              <a:t>/</a:t>
            </a:r>
            <a:r>
              <a:rPr lang="zh-TW" altLang="en-US" b="1" dirty="0"/>
              <a:t>檔案等</a:t>
            </a:r>
            <a:r>
              <a:rPr lang="zh-TW" altLang="en-US" dirty="0"/>
              <a:t>，但</a:t>
            </a:r>
            <a:r>
              <a:rPr lang="zh-TW" altLang="en-US" b="1" dirty="0"/>
              <a:t>每個執行緒仍有自己的 </a:t>
            </a:r>
            <a:r>
              <a:rPr lang="en-US" altLang="zh-TW" b="1" dirty="0"/>
              <a:t>user stack </a:t>
            </a:r>
            <a:r>
              <a:rPr lang="zh-TW" altLang="en-US" b="1" dirty="0"/>
              <a:t>與 </a:t>
            </a:r>
            <a:r>
              <a:rPr lang="en-US" altLang="zh-TW" b="1" dirty="0"/>
              <a:t>kernel stack</a:t>
            </a:r>
            <a:r>
              <a:rPr lang="zh-TW" altLang="en-US" dirty="0"/>
              <a:t>。</a:t>
            </a:r>
          </a:p>
          <a:p>
            <a:r>
              <a:rPr lang="zh-TW" altLang="en-US" dirty="0"/>
              <a:t>如果你想對照原始碼，可以看（不同版本路徑略有差異）：</a:t>
            </a:r>
            <a:br>
              <a:rPr lang="zh-TW" altLang="en-US" dirty="0"/>
            </a:br>
            <a:r>
              <a:rPr lang="en-US" altLang="zh-TW" sz="1200" kern="1200" dirty="0">
                <a:solidFill>
                  <a:schemeClr val="tx1"/>
                </a:solidFill>
                <a:latin typeface="+mn-lt"/>
                <a:ea typeface="+mn-ea"/>
                <a:cs typeface="+mn-cs"/>
              </a:rPr>
              <a:t>kernel/</a:t>
            </a:r>
            <a:r>
              <a:rPr lang="en-US" altLang="zh-TW" sz="1200" kern="1200" dirty="0" err="1">
                <a:solidFill>
                  <a:schemeClr val="tx1"/>
                </a:solidFill>
                <a:latin typeface="+mn-lt"/>
                <a:ea typeface="+mn-ea"/>
                <a:cs typeface="+mn-cs"/>
              </a:rPr>
              <a:t>fork.c</a:t>
            </a:r>
            <a:r>
              <a:rPr lang="en-US" altLang="zh-TW" dirty="0"/>
              <a:t> </a:t>
            </a:r>
            <a:r>
              <a:rPr lang="zh-TW" altLang="en-US" dirty="0"/>
              <a:t>裡的 </a:t>
            </a:r>
            <a:r>
              <a:rPr lang="en-US" altLang="zh-TW" sz="1200" kern="1200" dirty="0" err="1">
                <a:solidFill>
                  <a:schemeClr val="tx1"/>
                </a:solidFill>
                <a:latin typeface="+mn-lt"/>
                <a:ea typeface="+mn-ea"/>
                <a:cs typeface="+mn-cs"/>
              </a:rPr>
              <a:t>copy_process</a:t>
            </a:r>
            <a:r>
              <a:rPr lang="en-US" altLang="zh-TW" sz="1200" kern="1200" dirty="0">
                <a:solidFill>
                  <a:schemeClr val="tx1"/>
                </a:solidFill>
                <a:latin typeface="+mn-lt"/>
                <a:ea typeface="+mn-ea"/>
                <a:cs typeface="+mn-cs"/>
              </a:rPr>
              <a:t>()</a:t>
            </a:r>
            <a:r>
              <a:rPr lang="zh-TW" altLang="en-US" dirty="0"/>
              <a:t>、</a:t>
            </a:r>
            <a:r>
              <a:rPr lang="en-US" altLang="zh-TW" sz="1200" kern="1200" dirty="0">
                <a:solidFill>
                  <a:schemeClr val="tx1"/>
                </a:solidFill>
                <a:latin typeface="+mn-lt"/>
                <a:ea typeface="+mn-ea"/>
                <a:cs typeface="+mn-cs"/>
              </a:rPr>
              <a:t>_</a:t>
            </a:r>
            <a:r>
              <a:rPr lang="en-US" altLang="zh-TW" sz="1200" kern="1200" dirty="0" err="1">
                <a:solidFill>
                  <a:schemeClr val="tx1"/>
                </a:solidFill>
                <a:latin typeface="+mn-lt"/>
                <a:ea typeface="+mn-ea"/>
                <a:cs typeface="+mn-cs"/>
              </a:rPr>
              <a:t>do_fork</a:t>
            </a:r>
            <a:r>
              <a:rPr lang="en-US" altLang="zh-TW" sz="1200" kern="1200" dirty="0">
                <a:solidFill>
                  <a:schemeClr val="tx1"/>
                </a:solidFill>
                <a:latin typeface="+mn-lt"/>
                <a:ea typeface="+mn-ea"/>
                <a:cs typeface="+mn-cs"/>
              </a:rPr>
              <a:t>()</a:t>
            </a:r>
            <a:r>
              <a:rPr lang="en-US" altLang="zh-TW" dirty="0"/>
              <a:t> / </a:t>
            </a:r>
            <a:r>
              <a:rPr lang="en-US" altLang="zh-TW" sz="1200" kern="1200" dirty="0" err="1">
                <a:solidFill>
                  <a:schemeClr val="tx1"/>
                </a:solidFill>
                <a:latin typeface="+mn-lt"/>
                <a:ea typeface="+mn-ea"/>
                <a:cs typeface="+mn-cs"/>
              </a:rPr>
              <a:t>kernel_clone</a:t>
            </a:r>
            <a:r>
              <a:rPr lang="en-US" altLang="zh-TW" sz="1200" kern="1200" dirty="0">
                <a:solidFill>
                  <a:schemeClr val="tx1"/>
                </a:solidFill>
                <a:latin typeface="+mn-lt"/>
                <a:ea typeface="+mn-ea"/>
                <a:cs typeface="+mn-cs"/>
              </a:rPr>
              <a:t>()</a:t>
            </a:r>
            <a:r>
              <a:rPr lang="zh-TW" altLang="en-US" dirty="0"/>
              <a:t>，以及 </a:t>
            </a:r>
            <a:r>
              <a:rPr lang="en-US" altLang="zh-TW" sz="1200" kern="1200" dirty="0">
                <a:solidFill>
                  <a:schemeClr val="tx1"/>
                </a:solidFill>
                <a:latin typeface="+mn-lt"/>
                <a:ea typeface="+mn-ea"/>
                <a:cs typeface="+mn-cs"/>
              </a:rPr>
              <a:t>clone</a:t>
            </a:r>
            <a:r>
              <a:rPr lang="en-US" altLang="zh-TW" dirty="0"/>
              <a:t> </a:t>
            </a:r>
            <a:r>
              <a:rPr lang="zh-TW" altLang="en-US" dirty="0"/>
              <a:t>的 </a:t>
            </a:r>
            <a:r>
              <a:rPr lang="en-US" altLang="zh-TW" sz="1200" kern="1200" dirty="0">
                <a:solidFill>
                  <a:schemeClr val="tx1"/>
                </a:solidFill>
                <a:latin typeface="+mn-lt"/>
                <a:ea typeface="+mn-ea"/>
                <a:cs typeface="+mn-cs"/>
              </a:rPr>
              <a:t>CLONE_*</a:t>
            </a:r>
            <a:r>
              <a:rPr lang="en-US" altLang="zh-TW" dirty="0"/>
              <a:t> </a:t>
            </a:r>
            <a:r>
              <a:rPr lang="zh-TW" altLang="en-US" dirty="0"/>
              <a:t>旗標。</a:t>
            </a: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10</a:t>
            </a:fld>
            <a:endParaRPr lang="zh-TW" altLang="en-US"/>
          </a:p>
        </p:txBody>
      </p:sp>
    </p:spTree>
    <p:extLst>
      <p:ext uri="{BB962C8B-B14F-4D97-AF65-F5344CB8AC3E}">
        <p14:creationId xmlns:p14="http://schemas.microsoft.com/office/powerpoint/2010/main" val="32414406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來，把這張「</a:t>
            </a:r>
            <a:r>
              <a:rPr lang="en-US" altLang="zh-TW" dirty="0"/>
              <a:t>Process vs Thread</a:t>
            </a:r>
            <a:r>
              <a:rPr lang="zh-TW" altLang="en-US" dirty="0"/>
              <a:t>」講到超清楚：</a:t>
            </a:r>
          </a:p>
          <a:p>
            <a:r>
              <a:rPr lang="zh-TW" altLang="en-US" b="1" dirty="0"/>
              <a:t>關鍵觀念（白話）</a:t>
            </a:r>
          </a:p>
          <a:p>
            <a:r>
              <a:rPr lang="en-US" altLang="zh-TW" b="1" dirty="0"/>
              <a:t>Process</a:t>
            </a:r>
            <a:r>
              <a:rPr lang="zh-TW" altLang="en-US" b="1" dirty="0"/>
              <a:t>（行程）</a:t>
            </a:r>
            <a:r>
              <a:rPr lang="zh-TW" altLang="en-US" dirty="0"/>
              <a:t>：一個獨立的「程式實例」。有</a:t>
            </a:r>
            <a:r>
              <a:rPr lang="zh-TW" altLang="en-US" b="1" dirty="0"/>
              <a:t>自己的位址空間</a:t>
            </a:r>
            <a:r>
              <a:rPr lang="zh-TW" altLang="en-US" dirty="0"/>
              <a:t>、開啟檔案表、訊號處理器等。</a:t>
            </a:r>
          </a:p>
          <a:p>
            <a:r>
              <a:rPr lang="en-US" altLang="zh-TW" b="1" dirty="0"/>
              <a:t>Thread</a:t>
            </a:r>
            <a:r>
              <a:rPr lang="zh-TW" altLang="en-US" b="1" dirty="0"/>
              <a:t>（執行緒）</a:t>
            </a:r>
            <a:r>
              <a:rPr lang="zh-TW" altLang="en-US" dirty="0"/>
              <a:t>：在</a:t>
            </a:r>
            <a:r>
              <a:rPr lang="zh-TW" altLang="en-US" b="1" dirty="0"/>
              <a:t>同一個行程裡</a:t>
            </a:r>
            <a:r>
              <a:rPr lang="zh-TW" altLang="en-US" dirty="0"/>
              <a:t>一起工作的多個「工人」。</a:t>
            </a:r>
            <a:r>
              <a:rPr lang="zh-TW" altLang="en-US" b="1" dirty="0"/>
              <a:t>共享</a:t>
            </a:r>
            <a:r>
              <a:rPr lang="zh-TW" altLang="en-US" dirty="0"/>
              <a:t>同一個位址空間、開啟檔案、頁表等，但</a:t>
            </a:r>
            <a:r>
              <a:rPr lang="zh-TW" altLang="en-US" b="1" dirty="0"/>
              <a:t>各自</a:t>
            </a:r>
            <a:r>
              <a:rPr lang="zh-TW" altLang="en-US" dirty="0"/>
              <a:t>有自己的程式計數器、暫存器、</a:t>
            </a:r>
            <a:r>
              <a:rPr lang="zh-TW" altLang="en-US" b="1" dirty="0"/>
              <a:t>自己的使用者堆疊</a:t>
            </a:r>
            <a:r>
              <a:rPr lang="zh-TW" altLang="en-US" dirty="0"/>
              <a:t>與</a:t>
            </a:r>
            <a:r>
              <a:rPr lang="zh-TW" altLang="en-US" b="1" dirty="0"/>
              <a:t>自己的核心堆疊</a:t>
            </a:r>
            <a:r>
              <a:rPr lang="zh-TW" altLang="en-US" dirty="0"/>
              <a:t>、以及 </a:t>
            </a:r>
            <a:r>
              <a:rPr lang="en-US" altLang="zh-TW" sz="1200" kern="1200" dirty="0" err="1">
                <a:solidFill>
                  <a:schemeClr val="tx1"/>
                </a:solidFill>
                <a:latin typeface="+mn-lt"/>
                <a:ea typeface="+mn-ea"/>
                <a:cs typeface="+mn-cs"/>
              </a:rPr>
              <a:t>task_struct</a:t>
            </a:r>
            <a:r>
              <a:rPr lang="zh-TW" altLang="en-US" dirty="0"/>
              <a:t>。</a:t>
            </a:r>
          </a:p>
          <a:p>
            <a:r>
              <a:rPr lang="zh-TW" altLang="en-US" b="1" dirty="0"/>
              <a:t>投影片逐點解釋</a:t>
            </a:r>
          </a:p>
          <a:p>
            <a:r>
              <a:rPr lang="en-US" altLang="zh-TW" b="1" dirty="0"/>
              <a:t>Thread (Lightweight Process)</a:t>
            </a:r>
            <a:endParaRPr lang="en-US" altLang="zh-TW" dirty="0"/>
          </a:p>
          <a:p>
            <a:pPr lvl="1"/>
            <a:r>
              <a:rPr lang="zh-TW" altLang="en-US" dirty="0"/>
              <a:t>在</a:t>
            </a:r>
            <a:r>
              <a:rPr lang="zh-TW" altLang="en-US" b="1" dirty="0"/>
              <a:t>同一個程式</a:t>
            </a:r>
            <a:r>
              <a:rPr lang="zh-TW" altLang="en-US" dirty="0"/>
              <a:t>內執行，</a:t>
            </a:r>
            <a:r>
              <a:rPr lang="zh-TW" altLang="en-US" b="1" dirty="0"/>
              <a:t>共享記憶體位址空間</a:t>
            </a:r>
            <a:r>
              <a:rPr lang="zh-TW" altLang="en-US" dirty="0"/>
              <a:t>（也共享開啟檔案與頁表）。</a:t>
            </a:r>
          </a:p>
          <a:p>
            <a:pPr lvl="1"/>
            <a:r>
              <a:rPr lang="zh-TW" altLang="en-US" dirty="0"/>
              <a:t>在 </a:t>
            </a:r>
            <a:r>
              <a:rPr lang="en-US" altLang="zh-TW" dirty="0"/>
              <a:t>Linux</a:t>
            </a:r>
            <a:r>
              <a:rPr lang="zh-TW" altLang="en-US" dirty="0"/>
              <a:t>，</a:t>
            </a:r>
            <a:r>
              <a:rPr lang="zh-TW" altLang="en-US" b="1" dirty="0"/>
              <a:t>每個 </a:t>
            </a:r>
            <a:r>
              <a:rPr lang="en-US" altLang="zh-TW" b="1" dirty="0"/>
              <a:t>thread </a:t>
            </a:r>
            <a:r>
              <a:rPr lang="zh-TW" altLang="en-US" b="1" dirty="0"/>
              <a:t>其實就是一個標準的 </a:t>
            </a:r>
            <a:r>
              <a:rPr lang="en-US" altLang="zh-TW" b="1" dirty="0"/>
              <a:t>task</a:t>
            </a:r>
            <a:r>
              <a:rPr lang="zh-TW" altLang="en-US" dirty="0"/>
              <a:t>：都有自己的 </a:t>
            </a:r>
            <a:r>
              <a:rPr lang="en-US" altLang="zh-TW" sz="1200" kern="1200" dirty="0" err="1">
                <a:solidFill>
                  <a:schemeClr val="tx1"/>
                </a:solidFill>
                <a:latin typeface="+mn-lt"/>
                <a:ea typeface="+mn-ea"/>
                <a:cs typeface="+mn-cs"/>
              </a:rPr>
              <a:t>task_struct</a:t>
            </a:r>
            <a:r>
              <a:rPr lang="zh-TW" altLang="en-US" dirty="0"/>
              <a:t>。</a:t>
            </a:r>
          </a:p>
          <a:p>
            <a:pPr lvl="1"/>
            <a:r>
              <a:rPr lang="en-US" altLang="zh-TW" dirty="0"/>
              <a:t>Thread </a:t>
            </a:r>
            <a:r>
              <a:rPr lang="zh-TW" altLang="en-US" dirty="0"/>
              <a:t>仍有自己的：</a:t>
            </a:r>
            <a:r>
              <a:rPr lang="en-US" altLang="zh-TW" dirty="0"/>
              <a:t>(1) Program Counter</a:t>
            </a:r>
            <a:r>
              <a:rPr lang="zh-TW" altLang="en-US" dirty="0"/>
              <a:t>、</a:t>
            </a:r>
            <a:r>
              <a:rPr lang="en-US" altLang="zh-TW" dirty="0"/>
              <a:t>(2) Registers</a:t>
            </a:r>
            <a:r>
              <a:rPr lang="zh-TW" altLang="en-US" dirty="0"/>
              <a:t>、</a:t>
            </a:r>
            <a:r>
              <a:rPr lang="en-US" altLang="zh-TW" dirty="0"/>
              <a:t>(3) Stack</a:t>
            </a:r>
            <a:r>
              <a:rPr lang="zh-TW" altLang="en-US" dirty="0"/>
              <a:t>、</a:t>
            </a:r>
            <a:r>
              <a:rPr lang="en-US" altLang="zh-TW" dirty="0"/>
              <a:t>(4) State</a:t>
            </a:r>
            <a:r>
              <a:rPr lang="zh-TW" altLang="en-US" dirty="0"/>
              <a:t>。</a:t>
            </a:r>
          </a:p>
          <a:p>
            <a:pPr lvl="1"/>
            <a:r>
              <a:rPr lang="en-US" altLang="zh-TW" dirty="0"/>
              <a:t>Linux </a:t>
            </a:r>
            <a:r>
              <a:rPr lang="zh-TW" altLang="en-US" b="1" dirty="0"/>
              <a:t>沒有</a:t>
            </a:r>
            <a:r>
              <a:rPr lang="zh-TW" altLang="en-US" dirty="0"/>
              <a:t>為 </a:t>
            </a:r>
            <a:r>
              <a:rPr lang="en-US" altLang="zh-TW" dirty="0"/>
              <a:t>thread </a:t>
            </a:r>
            <a:r>
              <a:rPr lang="zh-TW" altLang="en-US" dirty="0"/>
              <a:t>另外做一套排程器或特別資料結構；就是「多個 </a:t>
            </a:r>
            <a:r>
              <a:rPr lang="en-US" altLang="zh-TW" dirty="0"/>
              <a:t>task </a:t>
            </a:r>
            <a:r>
              <a:rPr lang="zh-TW" altLang="en-US" dirty="0"/>
              <a:t>共享某些資源」。</a:t>
            </a:r>
          </a:p>
          <a:p>
            <a:r>
              <a:rPr lang="en-US" altLang="zh-TW" b="1" dirty="0"/>
              <a:t>Creating Threads</a:t>
            </a:r>
            <a:r>
              <a:rPr lang="zh-TW" altLang="en-US" b="1" dirty="0"/>
              <a:t>：</a:t>
            </a:r>
            <a:r>
              <a:rPr lang="en-US" altLang="zh-TW" sz="1200" b="1" kern="1200" dirty="0">
                <a:solidFill>
                  <a:schemeClr val="tx1"/>
                </a:solidFill>
                <a:latin typeface="+mn-lt"/>
                <a:ea typeface="+mn-ea"/>
                <a:cs typeface="+mn-cs"/>
              </a:rPr>
              <a:t>clone()</a:t>
            </a:r>
            <a:r>
              <a:rPr lang="en-US" altLang="zh-TW" b="1" dirty="0"/>
              <a:t> ≈ </a:t>
            </a:r>
            <a:r>
              <a:rPr lang="en-US" altLang="zh-TW" sz="1200" b="1" kern="1200" dirty="0">
                <a:solidFill>
                  <a:schemeClr val="tx1"/>
                </a:solidFill>
                <a:latin typeface="+mn-lt"/>
                <a:ea typeface="+mn-ea"/>
                <a:cs typeface="+mn-cs"/>
              </a:rPr>
              <a:t>fork()</a:t>
            </a:r>
            <a:r>
              <a:rPr lang="zh-TW" altLang="en-US" b="1" dirty="0"/>
              <a:t>，但會</a:t>
            </a:r>
            <a:r>
              <a:rPr lang="zh-TW" altLang="en-US" dirty="0"/>
              <a:t>共享</a:t>
            </a:r>
            <a:r>
              <a:rPr lang="zh-TW" altLang="en-US" b="1" dirty="0"/>
              <a:t>關鍵資源</a:t>
            </a:r>
            <a:endParaRPr lang="zh-TW" altLang="en-US" dirty="0"/>
          </a:p>
          <a:p>
            <a:pPr lvl="1"/>
            <a:r>
              <a:rPr lang="en-US" altLang="zh-TW" sz="1200" kern="1200" dirty="0">
                <a:solidFill>
                  <a:schemeClr val="tx1"/>
                </a:solidFill>
                <a:latin typeface="+mn-lt"/>
                <a:ea typeface="+mn-ea"/>
                <a:cs typeface="+mn-cs"/>
              </a:rPr>
              <a:t>clone(CLONE_VM | CLONE_FS | CLONE_FILES | CLONE_SIGHAND, 0)</a:t>
            </a:r>
            <a:endParaRPr lang="en-US" altLang="zh-TW" dirty="0"/>
          </a:p>
          <a:p>
            <a:pPr lvl="2"/>
            <a:r>
              <a:rPr lang="en-US" altLang="zh-TW" sz="1200" kern="1200" dirty="0">
                <a:solidFill>
                  <a:schemeClr val="tx1"/>
                </a:solidFill>
                <a:latin typeface="+mn-lt"/>
                <a:ea typeface="+mn-ea"/>
                <a:cs typeface="+mn-cs"/>
              </a:rPr>
              <a:t>CLONE_VM</a:t>
            </a:r>
            <a:r>
              <a:rPr lang="zh-TW" altLang="en-US" dirty="0"/>
              <a:t>：共享位址空間</a:t>
            </a:r>
          </a:p>
          <a:p>
            <a:pPr lvl="2"/>
            <a:r>
              <a:rPr lang="en-US" altLang="zh-TW" sz="1200" kern="1200" dirty="0">
                <a:solidFill>
                  <a:schemeClr val="tx1"/>
                </a:solidFill>
                <a:latin typeface="+mn-lt"/>
                <a:ea typeface="+mn-ea"/>
                <a:cs typeface="+mn-cs"/>
              </a:rPr>
              <a:t>CLONE_FS</a:t>
            </a:r>
            <a:r>
              <a:rPr lang="zh-TW" altLang="en-US" dirty="0"/>
              <a:t>：共享檔案系統資訊（</a:t>
            </a:r>
            <a:r>
              <a:rPr lang="en-US" altLang="zh-TW" dirty="0" err="1"/>
              <a:t>cwd</a:t>
            </a:r>
            <a:r>
              <a:rPr lang="zh-TW" altLang="en-US" dirty="0"/>
              <a:t>、</a:t>
            </a:r>
            <a:r>
              <a:rPr lang="en-US" altLang="zh-TW" dirty="0" err="1"/>
              <a:t>umask</a:t>
            </a:r>
            <a:r>
              <a:rPr lang="en-US" altLang="zh-TW" dirty="0"/>
              <a:t> …</a:t>
            </a:r>
            <a:r>
              <a:rPr lang="zh-TW" altLang="en-US" dirty="0"/>
              <a:t>）</a:t>
            </a:r>
          </a:p>
          <a:p>
            <a:pPr lvl="2"/>
            <a:r>
              <a:rPr lang="en-US" altLang="zh-TW" sz="1200" kern="1200" dirty="0">
                <a:solidFill>
                  <a:schemeClr val="tx1"/>
                </a:solidFill>
                <a:latin typeface="+mn-lt"/>
                <a:ea typeface="+mn-ea"/>
                <a:cs typeface="+mn-cs"/>
              </a:rPr>
              <a:t>CLONE_FILES</a:t>
            </a:r>
            <a:r>
              <a:rPr lang="zh-TW" altLang="en-US" dirty="0"/>
              <a:t>：共享開啟檔案表</a:t>
            </a:r>
          </a:p>
          <a:p>
            <a:pPr lvl="2"/>
            <a:r>
              <a:rPr lang="en-US" altLang="zh-TW" sz="1200" kern="1200" dirty="0">
                <a:solidFill>
                  <a:schemeClr val="tx1"/>
                </a:solidFill>
                <a:latin typeface="+mn-lt"/>
                <a:ea typeface="+mn-ea"/>
                <a:cs typeface="+mn-cs"/>
              </a:rPr>
              <a:t>CLONE_SIGHAND</a:t>
            </a:r>
            <a:r>
              <a:rPr lang="zh-TW" altLang="en-US" dirty="0"/>
              <a:t>：共享訊號處理器</a:t>
            </a:r>
          </a:p>
          <a:p>
            <a:pPr lvl="1"/>
            <a:r>
              <a:rPr lang="zh-TW" altLang="en-US" dirty="0"/>
              <a:t>所以：</a:t>
            </a:r>
            <a:r>
              <a:rPr lang="en-US" altLang="zh-TW" b="1" dirty="0"/>
              <a:t>process = </a:t>
            </a:r>
            <a:r>
              <a:rPr lang="zh-TW" altLang="en-US" b="1" dirty="0"/>
              <a:t>各自一套資源</a:t>
            </a:r>
            <a:r>
              <a:rPr lang="zh-TW" altLang="en-US" dirty="0"/>
              <a:t>；</a:t>
            </a:r>
            <a:r>
              <a:rPr lang="en-US" altLang="zh-TW" b="1" dirty="0"/>
              <a:t>thread = </a:t>
            </a:r>
            <a:r>
              <a:rPr lang="zh-TW" altLang="en-US" b="1" dirty="0"/>
              <a:t>多個 </a:t>
            </a:r>
            <a:r>
              <a:rPr lang="en-US" altLang="zh-TW" b="1" dirty="0"/>
              <a:t>task </a:t>
            </a:r>
            <a:r>
              <a:rPr lang="zh-TW" altLang="en-US" b="1" dirty="0"/>
              <a:t>共享一套資源</a:t>
            </a:r>
            <a:r>
              <a:rPr lang="zh-TW" altLang="en-US" dirty="0"/>
              <a:t>（但各自有堆疊與執行狀態）。</a:t>
            </a:r>
          </a:p>
          <a:p>
            <a:r>
              <a:rPr lang="en-US" altLang="zh-TW" b="1" dirty="0"/>
              <a:t>Kernel Threads</a:t>
            </a:r>
            <a:r>
              <a:rPr lang="zh-TW" altLang="en-US" b="1" dirty="0"/>
              <a:t>（核心執行緒）</a:t>
            </a:r>
            <a:endParaRPr lang="zh-TW" altLang="en-US" dirty="0"/>
          </a:p>
          <a:p>
            <a:pPr lvl="1"/>
            <a:r>
              <a:rPr lang="zh-TW" altLang="en-US" dirty="0"/>
              <a:t>跑在背景做核心工作（如寫回快取、</a:t>
            </a:r>
            <a:r>
              <a:rPr lang="en-US" altLang="zh-TW" dirty="0" err="1"/>
              <a:t>kworker</a:t>
            </a:r>
            <a:r>
              <a:rPr lang="en-US" altLang="zh-TW" dirty="0"/>
              <a:t> </a:t>
            </a:r>
            <a:r>
              <a:rPr lang="zh-TW" altLang="en-US" dirty="0"/>
              <a:t>等）。</a:t>
            </a:r>
          </a:p>
          <a:p>
            <a:pPr lvl="1"/>
            <a:r>
              <a:rPr lang="zh-TW" altLang="en-US" dirty="0"/>
              <a:t>和一般 </a:t>
            </a:r>
            <a:r>
              <a:rPr lang="en-US" altLang="zh-TW" dirty="0"/>
              <a:t>task </a:t>
            </a:r>
            <a:r>
              <a:rPr lang="zh-TW" altLang="en-US" dirty="0"/>
              <a:t>一樣：</a:t>
            </a:r>
            <a:r>
              <a:rPr lang="zh-TW" altLang="en-US" b="1" dirty="0"/>
              <a:t>可被排程、可被搶佔</a:t>
            </a:r>
            <a:r>
              <a:rPr lang="zh-TW" altLang="en-US" dirty="0"/>
              <a:t>。</a:t>
            </a:r>
          </a:p>
          <a:p>
            <a:pPr lvl="1"/>
            <a:r>
              <a:rPr lang="zh-TW" altLang="en-US" dirty="0"/>
              <a:t>但跟一般行程不同：</a:t>
            </a:r>
            <a:r>
              <a:rPr lang="zh-TW" altLang="en-US" b="1" dirty="0"/>
              <a:t>沒有使用者位址空間</a:t>
            </a:r>
            <a:r>
              <a:rPr lang="zh-TW" altLang="en-US" dirty="0"/>
              <a:t>、</a:t>
            </a:r>
            <a:r>
              <a:rPr lang="zh-TW" altLang="en-US" b="1" dirty="0"/>
              <a:t>只在 </a:t>
            </a:r>
            <a:r>
              <a:rPr lang="en-US" altLang="zh-TW" b="1" dirty="0"/>
              <a:t>kernel space </a:t>
            </a:r>
            <a:r>
              <a:rPr lang="zh-TW" altLang="en-US" b="1" dirty="0"/>
              <a:t>執行</a:t>
            </a:r>
            <a:r>
              <a:rPr lang="zh-TW" altLang="en-US" dirty="0"/>
              <a:t>，不會切回 </a:t>
            </a:r>
            <a:r>
              <a:rPr lang="en-US" altLang="zh-TW" dirty="0"/>
              <a:t>user space</a:t>
            </a:r>
            <a:r>
              <a:rPr lang="zh-TW" altLang="en-US" dirty="0"/>
              <a:t>。</a:t>
            </a:r>
          </a:p>
          <a:p>
            <a:r>
              <a:rPr lang="zh-TW" altLang="en-US" b="1" dirty="0"/>
              <a:t>一句話總結</a:t>
            </a:r>
          </a:p>
          <a:p>
            <a:r>
              <a:rPr lang="zh-TW" altLang="en-US" b="1" dirty="0"/>
              <a:t>行程 </a:t>
            </a:r>
            <a:r>
              <a:rPr lang="en-US" altLang="zh-TW" b="1" dirty="0"/>
              <a:t>= </a:t>
            </a:r>
            <a:r>
              <a:rPr lang="zh-TW" altLang="en-US" b="1" dirty="0"/>
              <a:t>一個獨立房子</a:t>
            </a:r>
            <a:r>
              <a:rPr lang="zh-TW" altLang="en-US" dirty="0"/>
              <a:t>；</a:t>
            </a:r>
            <a:r>
              <a:rPr lang="zh-TW" altLang="en-US" b="1" dirty="0"/>
              <a:t>執行緒 </a:t>
            </a:r>
            <a:r>
              <a:rPr lang="en-US" altLang="zh-TW" b="1" dirty="0"/>
              <a:t>= </a:t>
            </a:r>
            <a:r>
              <a:rPr lang="zh-TW" altLang="en-US" b="1" dirty="0"/>
              <a:t>同一房子裡的多人合住</a:t>
            </a:r>
            <a:r>
              <a:rPr lang="zh-TW" altLang="en-US" dirty="0"/>
              <a:t>（共用客廳</a:t>
            </a:r>
            <a:r>
              <a:rPr lang="en-US" altLang="zh-TW" dirty="0"/>
              <a:t>=</a:t>
            </a:r>
            <a:r>
              <a:rPr lang="zh-TW" altLang="en-US" dirty="0"/>
              <a:t>位址空間</a:t>
            </a:r>
            <a:r>
              <a:rPr lang="en-US" altLang="zh-TW" dirty="0"/>
              <a:t>/</a:t>
            </a:r>
            <a:r>
              <a:rPr lang="zh-TW" altLang="en-US" dirty="0"/>
              <a:t>檔案表），但每人有自己的床（</a:t>
            </a:r>
            <a:r>
              <a:rPr lang="en-US" altLang="zh-TW" dirty="0"/>
              <a:t>stack</a:t>
            </a:r>
            <a:r>
              <a:rPr lang="zh-TW" altLang="en-US" dirty="0"/>
              <a:t>）與日程（</a:t>
            </a:r>
            <a:r>
              <a:rPr lang="en-US" altLang="zh-TW" dirty="0"/>
              <a:t>PC/</a:t>
            </a:r>
            <a:r>
              <a:rPr lang="zh-TW" altLang="en-US" dirty="0"/>
              <a:t>暫存器）。在 </a:t>
            </a:r>
            <a:r>
              <a:rPr lang="en-US" altLang="zh-TW" dirty="0"/>
              <a:t>Linux </a:t>
            </a:r>
            <a:r>
              <a:rPr lang="zh-TW" altLang="en-US" dirty="0"/>
              <a:t>裡，</a:t>
            </a:r>
            <a:r>
              <a:rPr lang="en-US" altLang="zh-TW" dirty="0"/>
              <a:t>threads </a:t>
            </a:r>
            <a:r>
              <a:rPr lang="zh-TW" altLang="en-US" dirty="0"/>
              <a:t>其實就是用 </a:t>
            </a:r>
            <a:r>
              <a:rPr lang="en-US" altLang="zh-TW" sz="1200" kern="1200" dirty="0">
                <a:solidFill>
                  <a:schemeClr val="tx1"/>
                </a:solidFill>
                <a:latin typeface="+mn-lt"/>
                <a:ea typeface="+mn-ea"/>
                <a:cs typeface="+mn-cs"/>
              </a:rPr>
              <a:t>clone()</a:t>
            </a:r>
            <a:r>
              <a:rPr lang="en-US" altLang="zh-TW" dirty="0"/>
              <a:t> </a:t>
            </a:r>
            <a:r>
              <a:rPr lang="zh-TW" altLang="en-US" dirty="0"/>
              <a:t>建的多個 </a:t>
            </a:r>
            <a:r>
              <a:rPr lang="en-US" altLang="zh-TW" sz="1200" kern="1200" dirty="0" err="1">
                <a:solidFill>
                  <a:schemeClr val="tx1"/>
                </a:solidFill>
                <a:latin typeface="+mn-lt"/>
                <a:ea typeface="+mn-ea"/>
                <a:cs typeface="+mn-cs"/>
              </a:rPr>
              <a:t>task_struct</a:t>
            </a:r>
            <a:r>
              <a:rPr lang="zh-TW" altLang="en-US" dirty="0"/>
              <a:t>，藉由旗標決定哪些資源共享。</a:t>
            </a:r>
          </a:p>
          <a:p>
            <a:br>
              <a:rPr kumimoji="1" lang="en-US" altLang="zh-TW" dirty="0"/>
            </a:br>
            <a:r>
              <a:rPr lang="zh-TW" altLang="en-US" dirty="0"/>
              <a:t>短答：</a:t>
            </a:r>
            <a:r>
              <a:rPr lang="zh-TW" altLang="en-US" b="1" dirty="0"/>
              <a:t>不是一對一。</a:t>
            </a:r>
            <a:br>
              <a:rPr lang="zh-TW" altLang="en-US" dirty="0"/>
            </a:br>
            <a:r>
              <a:rPr lang="zh-TW" altLang="en-US" dirty="0"/>
              <a:t>在 </a:t>
            </a:r>
            <a:r>
              <a:rPr lang="en-US" altLang="zh-TW" dirty="0"/>
              <a:t>Linux </a:t>
            </a:r>
            <a:r>
              <a:rPr lang="zh-TW" altLang="en-US" dirty="0"/>
              <a:t>裡：</a:t>
            </a:r>
          </a:p>
          <a:p>
            <a:r>
              <a:rPr lang="en-US" altLang="zh-TW" b="1" dirty="0"/>
              <a:t>task = </a:t>
            </a:r>
            <a:r>
              <a:rPr lang="zh-TW" altLang="en-US" b="1" dirty="0"/>
              <a:t>可被排程的實體</a:t>
            </a:r>
            <a:r>
              <a:rPr lang="zh-TW" altLang="en-US" dirty="0"/>
              <a:t>，每個 </a:t>
            </a:r>
            <a:r>
              <a:rPr lang="en-US" altLang="zh-TW" dirty="0"/>
              <a:t>task </a:t>
            </a:r>
            <a:r>
              <a:rPr lang="zh-TW" altLang="en-US" dirty="0"/>
              <a:t>都有一個 </a:t>
            </a:r>
            <a:r>
              <a:rPr lang="en-US" altLang="zh-TW" sz="1200" b="1" kern="1200" dirty="0" err="1">
                <a:solidFill>
                  <a:schemeClr val="tx1"/>
                </a:solidFill>
                <a:latin typeface="+mn-lt"/>
                <a:ea typeface="+mn-ea"/>
                <a:cs typeface="+mn-cs"/>
              </a:rPr>
              <a:t>task_struct</a:t>
            </a:r>
            <a:r>
              <a:rPr lang="zh-TW" altLang="en-US" dirty="0"/>
              <a:t>。</a:t>
            </a:r>
          </a:p>
          <a:p>
            <a:r>
              <a:rPr lang="en-US" altLang="zh-TW" b="1" dirty="0"/>
              <a:t>thread = </a:t>
            </a:r>
            <a:r>
              <a:rPr lang="zh-TW" altLang="en-US" b="1" dirty="0"/>
              <a:t>一個 </a:t>
            </a:r>
            <a:r>
              <a:rPr lang="en-US" altLang="zh-TW" b="1" dirty="0"/>
              <a:t>task</a:t>
            </a:r>
            <a:r>
              <a:rPr lang="zh-TW" altLang="en-US" dirty="0"/>
              <a:t>。</a:t>
            </a:r>
          </a:p>
          <a:p>
            <a:r>
              <a:rPr lang="en-US" altLang="zh-TW" b="1" dirty="0"/>
              <a:t>process = </a:t>
            </a:r>
            <a:r>
              <a:rPr lang="zh-TW" altLang="en-US" b="1" dirty="0"/>
              <a:t>一組共享資源的 </a:t>
            </a:r>
            <a:r>
              <a:rPr lang="en-US" altLang="zh-TW" b="1" dirty="0"/>
              <a:t>threads</a:t>
            </a:r>
            <a:r>
              <a:rPr lang="zh-TW" altLang="en-US" b="1" dirty="0"/>
              <a:t>（</a:t>
            </a:r>
            <a:r>
              <a:rPr lang="en-US" altLang="zh-TW" b="1" dirty="0"/>
              <a:t>= </a:t>
            </a:r>
            <a:r>
              <a:rPr lang="zh-TW" altLang="en-US" b="1" dirty="0"/>
              <a:t>一個 </a:t>
            </a:r>
            <a:r>
              <a:rPr lang="en-US" altLang="zh-TW" b="1" i="1" dirty="0"/>
              <a:t>thread group</a:t>
            </a:r>
            <a:r>
              <a:rPr lang="zh-TW" altLang="en-US" b="1" dirty="0"/>
              <a:t>）</a:t>
            </a:r>
            <a:r>
              <a:rPr lang="zh-TW" altLang="en-US" dirty="0"/>
              <a:t>。</a:t>
            </a:r>
          </a:p>
          <a:p>
            <a:r>
              <a:rPr lang="zh-TW" altLang="en-US" dirty="0"/>
              <a:t>所以：</a:t>
            </a:r>
          </a:p>
          <a:p>
            <a:r>
              <a:rPr lang="zh-TW" altLang="en-US" dirty="0"/>
              <a:t>單執行緒行程 → </a:t>
            </a:r>
            <a:r>
              <a:rPr lang="en-US" altLang="zh-TW" b="1" dirty="0"/>
              <a:t>1 </a:t>
            </a:r>
            <a:r>
              <a:rPr lang="zh-TW" altLang="en-US" b="1" dirty="0"/>
              <a:t>個 </a:t>
            </a:r>
            <a:r>
              <a:rPr lang="en-US" altLang="zh-TW" b="1" dirty="0"/>
              <a:t>process = 1 </a:t>
            </a:r>
            <a:r>
              <a:rPr lang="zh-TW" altLang="en-US" b="1" dirty="0"/>
              <a:t>個 </a:t>
            </a:r>
            <a:r>
              <a:rPr lang="en-US" altLang="zh-TW" b="1" dirty="0"/>
              <a:t>thread = 1 </a:t>
            </a:r>
            <a:r>
              <a:rPr lang="zh-TW" altLang="en-US" b="1" dirty="0"/>
              <a:t>個 </a:t>
            </a:r>
            <a:r>
              <a:rPr lang="en-US" altLang="zh-TW" b="1" dirty="0"/>
              <a:t>task</a:t>
            </a:r>
            <a:r>
              <a:rPr lang="zh-TW" altLang="en-US" dirty="0"/>
              <a:t>。</a:t>
            </a:r>
          </a:p>
          <a:p>
            <a:r>
              <a:rPr lang="zh-TW" altLang="en-US" dirty="0"/>
              <a:t>有 </a:t>
            </a:r>
            <a:r>
              <a:rPr lang="en-US" altLang="zh-TW" dirty="0"/>
              <a:t>N </a:t>
            </a:r>
            <a:r>
              <a:rPr lang="zh-TW" altLang="en-US" dirty="0"/>
              <a:t>個執行緒的行程 → </a:t>
            </a:r>
            <a:r>
              <a:rPr lang="en-US" altLang="zh-TW" b="1" dirty="0"/>
              <a:t>1 </a:t>
            </a:r>
            <a:r>
              <a:rPr lang="zh-TW" altLang="en-US" b="1" dirty="0"/>
              <a:t>個 </a:t>
            </a:r>
            <a:r>
              <a:rPr lang="en-US" altLang="zh-TW" b="1" dirty="0"/>
              <a:t>process = N </a:t>
            </a:r>
            <a:r>
              <a:rPr lang="zh-TW" altLang="en-US" b="1" dirty="0"/>
              <a:t>個 </a:t>
            </a:r>
            <a:r>
              <a:rPr lang="en-US" altLang="zh-TW" b="1" dirty="0"/>
              <a:t>threads = N </a:t>
            </a:r>
            <a:r>
              <a:rPr lang="zh-TW" altLang="en-US" b="1" dirty="0"/>
              <a:t>個 </a:t>
            </a:r>
            <a:r>
              <a:rPr lang="en-US" altLang="zh-TW" b="1" dirty="0"/>
              <a:t>tasks</a:t>
            </a:r>
            <a:r>
              <a:rPr lang="zh-TW" altLang="en-US" dirty="0"/>
              <a:t>（每個 </a:t>
            </a:r>
            <a:r>
              <a:rPr lang="en-US" altLang="zh-TW" dirty="0"/>
              <a:t>thread </a:t>
            </a:r>
            <a:r>
              <a:rPr lang="zh-TW" altLang="en-US" dirty="0"/>
              <a:t>都有自己的 </a:t>
            </a:r>
            <a:r>
              <a:rPr lang="en-US" altLang="zh-TW" sz="1200" kern="1200" dirty="0" err="1">
                <a:solidFill>
                  <a:schemeClr val="tx1"/>
                </a:solidFill>
                <a:latin typeface="+mn-lt"/>
                <a:ea typeface="+mn-ea"/>
                <a:cs typeface="+mn-cs"/>
              </a:rPr>
              <a:t>task_struct</a:t>
            </a:r>
            <a:r>
              <a:rPr lang="zh-TW" altLang="en-US" dirty="0"/>
              <a:t>）。</a:t>
            </a:r>
          </a:p>
          <a:p>
            <a:r>
              <a:rPr lang="zh-TW" altLang="en-US" dirty="0"/>
              <a:t>再補幾個常見對照：</a:t>
            </a:r>
          </a:p>
          <a:p>
            <a:r>
              <a:rPr lang="en-US" altLang="zh-TW" b="1" dirty="0"/>
              <a:t>TID</a:t>
            </a:r>
            <a:r>
              <a:rPr lang="zh-TW" altLang="en-US" b="1" dirty="0"/>
              <a:t>（</a:t>
            </a:r>
            <a:r>
              <a:rPr lang="en-US" altLang="zh-TW" b="1" dirty="0"/>
              <a:t>thread ID</a:t>
            </a:r>
            <a:r>
              <a:rPr lang="zh-TW" altLang="en-US" b="1" dirty="0"/>
              <a:t>）</a:t>
            </a:r>
            <a:r>
              <a:rPr lang="zh-TW" altLang="en-US" dirty="0"/>
              <a:t>：每個 </a:t>
            </a:r>
            <a:r>
              <a:rPr lang="en-US" altLang="zh-TW" dirty="0"/>
              <a:t>thread </a:t>
            </a:r>
            <a:r>
              <a:rPr lang="zh-TW" altLang="en-US" dirty="0"/>
              <a:t>的 </a:t>
            </a:r>
            <a:r>
              <a:rPr lang="en-US" altLang="zh-TW" dirty="0"/>
              <a:t>PID</a:t>
            </a:r>
            <a:r>
              <a:rPr lang="zh-TW" altLang="en-US" dirty="0"/>
              <a:t>（在同一 </a:t>
            </a:r>
            <a:r>
              <a:rPr lang="en-US" altLang="zh-TW" dirty="0"/>
              <a:t>PID namespace </a:t>
            </a:r>
            <a:r>
              <a:rPr lang="zh-TW" altLang="en-US" dirty="0"/>
              <a:t>內唯一）。</a:t>
            </a:r>
          </a:p>
          <a:p>
            <a:r>
              <a:rPr lang="en-US" altLang="zh-TW" b="1" dirty="0"/>
              <a:t>TGID</a:t>
            </a:r>
            <a:r>
              <a:rPr lang="zh-TW" altLang="en-US" b="1" dirty="0"/>
              <a:t>（</a:t>
            </a:r>
            <a:r>
              <a:rPr lang="en-US" altLang="zh-TW" b="1" dirty="0"/>
              <a:t>thread group ID</a:t>
            </a:r>
            <a:r>
              <a:rPr lang="zh-TW" altLang="en-US" b="1" dirty="0"/>
              <a:t>）</a:t>
            </a:r>
            <a:r>
              <a:rPr lang="zh-TW" altLang="en-US" dirty="0"/>
              <a:t>：整個行程的 </a:t>
            </a:r>
            <a:r>
              <a:rPr lang="en-US" altLang="zh-TW" dirty="0"/>
              <a:t>ID</a:t>
            </a:r>
            <a:r>
              <a:rPr lang="zh-TW" altLang="en-US" dirty="0"/>
              <a:t>，等於</a:t>
            </a:r>
            <a:r>
              <a:rPr lang="zh-TW" altLang="en-US" b="1" dirty="0"/>
              <a:t>主執行緒的 </a:t>
            </a:r>
            <a:r>
              <a:rPr lang="en-US" altLang="zh-TW" b="1" dirty="0"/>
              <a:t>PID</a:t>
            </a:r>
            <a:r>
              <a:rPr lang="zh-TW" altLang="en-US" dirty="0"/>
              <a:t>。</a:t>
            </a:r>
          </a:p>
          <a:p>
            <a:r>
              <a:rPr lang="zh-TW" altLang="en-US" dirty="0"/>
              <a:t>共享的（在同一 </a:t>
            </a:r>
            <a:r>
              <a:rPr lang="en-US" altLang="zh-TW" dirty="0"/>
              <a:t>process </a:t>
            </a:r>
            <a:r>
              <a:rPr lang="zh-TW" altLang="en-US" dirty="0"/>
              <a:t>內）：</a:t>
            </a:r>
            <a:r>
              <a:rPr lang="zh-TW" altLang="en-US" b="1" dirty="0"/>
              <a:t>位址空間 </a:t>
            </a:r>
            <a:r>
              <a:rPr lang="en-US" altLang="zh-TW" sz="1200" b="1" kern="1200" dirty="0" err="1">
                <a:solidFill>
                  <a:schemeClr val="tx1"/>
                </a:solidFill>
                <a:latin typeface="+mn-lt"/>
                <a:ea typeface="+mn-ea"/>
                <a:cs typeface="+mn-cs"/>
              </a:rPr>
              <a:t>mm_struct</a:t>
            </a:r>
            <a:r>
              <a:rPr lang="zh-TW" altLang="en-US" b="1" dirty="0"/>
              <a:t>（</a:t>
            </a:r>
            <a:r>
              <a:rPr lang="en-US" altLang="zh-TW" b="1" dirty="0"/>
              <a:t>= page tables</a:t>
            </a:r>
            <a:r>
              <a:rPr lang="zh-TW" altLang="en-US" b="1" dirty="0"/>
              <a:t>）</a:t>
            </a:r>
            <a:r>
              <a:rPr lang="zh-TW" altLang="en-US" dirty="0"/>
              <a:t>、開啟檔案表、訊號處理器（視 </a:t>
            </a:r>
            <a:r>
              <a:rPr lang="en-US" altLang="zh-TW" sz="1200" kern="1200" dirty="0">
                <a:solidFill>
                  <a:schemeClr val="tx1"/>
                </a:solidFill>
                <a:latin typeface="+mn-lt"/>
                <a:ea typeface="+mn-ea"/>
                <a:cs typeface="+mn-cs"/>
              </a:rPr>
              <a:t>CLONE_*</a:t>
            </a:r>
            <a:r>
              <a:rPr lang="en-US" altLang="zh-TW" dirty="0"/>
              <a:t> </a:t>
            </a:r>
            <a:r>
              <a:rPr lang="zh-TW" altLang="en-US" dirty="0"/>
              <a:t>旗標）。</a:t>
            </a:r>
          </a:p>
          <a:p>
            <a:r>
              <a:rPr lang="zh-TW" altLang="en-US" dirty="0"/>
              <a:t>各自擁有：</a:t>
            </a:r>
            <a:r>
              <a:rPr lang="zh-TW" altLang="en-US" b="1" dirty="0"/>
              <a:t>暫存器、</a:t>
            </a:r>
            <a:r>
              <a:rPr lang="en-US" altLang="zh-TW" b="1" dirty="0"/>
              <a:t>user stack</a:t>
            </a:r>
            <a:r>
              <a:rPr lang="zh-TW" altLang="en-US" b="1" dirty="0"/>
              <a:t>、</a:t>
            </a:r>
            <a:r>
              <a:rPr lang="en-US" altLang="zh-TW" b="1" dirty="0"/>
              <a:t>kernel stack</a:t>
            </a:r>
            <a:r>
              <a:rPr lang="zh-TW" altLang="en-US" b="1" dirty="0"/>
              <a:t>、</a:t>
            </a:r>
            <a:r>
              <a:rPr lang="en-US" altLang="zh-TW" sz="1200" b="1" kern="1200" dirty="0" err="1">
                <a:solidFill>
                  <a:schemeClr val="tx1"/>
                </a:solidFill>
                <a:latin typeface="+mn-lt"/>
                <a:ea typeface="+mn-ea"/>
                <a:cs typeface="+mn-cs"/>
              </a:rPr>
              <a:t>task_struct</a:t>
            </a:r>
            <a:r>
              <a:rPr lang="zh-TW" altLang="en-US" b="1" dirty="0"/>
              <a:t>、狀態</a:t>
            </a:r>
            <a:r>
              <a:rPr lang="zh-TW" altLang="en-US" dirty="0"/>
              <a:t>。</a:t>
            </a:r>
          </a:p>
          <a:p>
            <a:r>
              <a:rPr lang="zh-TW" altLang="en-US" b="1" dirty="0"/>
              <a:t>核心執行緒</a:t>
            </a:r>
            <a:r>
              <a:rPr lang="zh-TW" altLang="en-US" dirty="0"/>
              <a:t>也是 </a:t>
            </a:r>
            <a:r>
              <a:rPr lang="en-US" altLang="zh-TW" dirty="0"/>
              <a:t>task</a:t>
            </a:r>
            <a:r>
              <a:rPr lang="zh-TW" altLang="en-US" dirty="0"/>
              <a:t>（有 </a:t>
            </a:r>
            <a:r>
              <a:rPr lang="en-US" altLang="zh-TW" sz="1200" kern="1200" dirty="0" err="1">
                <a:solidFill>
                  <a:schemeClr val="tx1"/>
                </a:solidFill>
                <a:latin typeface="+mn-lt"/>
                <a:ea typeface="+mn-ea"/>
                <a:cs typeface="+mn-cs"/>
              </a:rPr>
              <a:t>task_struct</a:t>
            </a:r>
            <a:r>
              <a:rPr lang="zh-TW" altLang="en-US" dirty="0"/>
              <a:t>），但</a:t>
            </a:r>
            <a:r>
              <a:rPr lang="zh-TW" altLang="en-US" b="1" dirty="0"/>
              <a:t>沒有使用者位址空間</a:t>
            </a:r>
            <a:r>
              <a:rPr lang="zh-TW" altLang="en-US" dirty="0"/>
              <a:t>。</a:t>
            </a:r>
          </a:p>
          <a:p>
            <a:r>
              <a:rPr lang="zh-TW" altLang="en-US" dirty="0"/>
              <a:t>一句話：</a:t>
            </a:r>
          </a:p>
          <a:p>
            <a:r>
              <a:rPr lang="zh-TW" altLang="en-US" dirty="0"/>
              <a:t>「</a:t>
            </a:r>
            <a:r>
              <a:rPr lang="en-US" altLang="zh-TW" dirty="0"/>
              <a:t>Linux </a:t>
            </a:r>
            <a:r>
              <a:rPr lang="zh-TW" altLang="en-US" dirty="0"/>
              <a:t>把</a:t>
            </a:r>
            <a:r>
              <a:rPr lang="zh-TW" altLang="en-US" b="1" dirty="0"/>
              <a:t>每個執行緒都當作一個標準的可排程單位（</a:t>
            </a:r>
            <a:r>
              <a:rPr lang="en-US" altLang="zh-TW" b="1" dirty="0"/>
              <a:t>task</a:t>
            </a:r>
            <a:r>
              <a:rPr lang="zh-TW" altLang="en-US" b="1" dirty="0"/>
              <a:t>）</a:t>
            </a:r>
            <a:r>
              <a:rPr lang="zh-TW" altLang="en-US" dirty="0"/>
              <a:t>；而我們口中的</a:t>
            </a:r>
            <a:r>
              <a:rPr lang="en-US" altLang="zh-TW" dirty="0"/>
              <a:t>『</a:t>
            </a:r>
            <a:r>
              <a:rPr lang="zh-TW" altLang="en-US" dirty="0"/>
              <a:t>行程</a:t>
            </a:r>
            <a:r>
              <a:rPr lang="en-US" altLang="zh-TW" dirty="0"/>
              <a:t>』</a:t>
            </a:r>
            <a:r>
              <a:rPr lang="zh-TW" altLang="en-US" dirty="0"/>
              <a:t>其實是</a:t>
            </a:r>
            <a:r>
              <a:rPr lang="zh-TW" altLang="en-US" b="1" dirty="0"/>
              <a:t>一群共享位址空間的 </a:t>
            </a:r>
            <a:r>
              <a:rPr lang="en-US" altLang="zh-TW" b="1" dirty="0"/>
              <a:t>tasks</a:t>
            </a:r>
            <a:r>
              <a:rPr lang="zh-TW" altLang="en-US" dirty="0"/>
              <a:t>。」</a:t>
            </a: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11</a:t>
            </a:fld>
            <a:endParaRPr lang="zh-TW" altLang="en-US"/>
          </a:p>
        </p:txBody>
      </p:sp>
    </p:spTree>
    <p:extLst>
      <p:ext uri="{BB962C8B-B14F-4D97-AF65-F5344CB8AC3E}">
        <p14:creationId xmlns:p14="http://schemas.microsoft.com/office/powerpoint/2010/main" val="752618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這頁在講「行程怎麼結束」。我把流程用白話＋對照關鍵函式說一遍：</a:t>
            </a:r>
          </a:p>
          <a:p>
            <a:r>
              <a:rPr lang="zh-TW" altLang="en-US" b="1" dirty="0"/>
              <a:t>一口氣看懂</a:t>
            </a:r>
          </a:p>
          <a:p>
            <a:r>
              <a:rPr lang="zh-TW" altLang="en-US" b="1" dirty="0"/>
              <a:t>觸發退出</a:t>
            </a:r>
            <a:br>
              <a:rPr lang="zh-TW" altLang="en-US" dirty="0"/>
            </a:br>
            <a:r>
              <a:rPr lang="zh-TW" altLang="en-US" dirty="0"/>
              <a:t>程式呼叫 </a:t>
            </a:r>
            <a:r>
              <a:rPr lang="en-US" altLang="zh-TW" sz="1200" kern="1200" dirty="0">
                <a:solidFill>
                  <a:schemeClr val="tx1"/>
                </a:solidFill>
                <a:latin typeface="+mn-lt"/>
                <a:ea typeface="+mn-ea"/>
                <a:cs typeface="+mn-cs"/>
              </a:rPr>
              <a:t>exit()</a:t>
            </a:r>
            <a:r>
              <a:rPr lang="zh-TW" altLang="en-US" dirty="0"/>
              <a:t>（或執行到 </a:t>
            </a:r>
            <a:r>
              <a:rPr lang="en-US" altLang="zh-TW" sz="1200" kern="1200" dirty="0">
                <a:solidFill>
                  <a:schemeClr val="tx1"/>
                </a:solidFill>
                <a:latin typeface="+mn-lt"/>
                <a:ea typeface="+mn-ea"/>
                <a:cs typeface="+mn-cs"/>
              </a:rPr>
              <a:t>main</a:t>
            </a:r>
            <a:r>
              <a:rPr lang="zh-TW" altLang="en-US" dirty="0"/>
              <a:t> </a:t>
            </a:r>
            <a:r>
              <a:rPr lang="en-US" altLang="zh-TW" dirty="0"/>
              <a:t>return</a:t>
            </a:r>
            <a:r>
              <a:rPr lang="zh-TW" altLang="en-US" dirty="0"/>
              <a:t>），核心開始收尾。</a:t>
            </a:r>
          </a:p>
          <a:p>
            <a:r>
              <a:rPr lang="zh-TW" altLang="en-US" b="1" dirty="0"/>
              <a:t>標記正在退出</a:t>
            </a:r>
            <a:br>
              <a:rPr lang="zh-TW" altLang="en-US" dirty="0"/>
            </a:br>
            <a:r>
              <a:rPr lang="zh-TW" altLang="en-US" dirty="0"/>
              <a:t>在 </a:t>
            </a:r>
            <a:r>
              <a:rPr lang="en-US" altLang="zh-TW" sz="1200" kern="1200" dirty="0" err="1">
                <a:solidFill>
                  <a:schemeClr val="tx1"/>
                </a:solidFill>
                <a:latin typeface="+mn-lt"/>
                <a:ea typeface="+mn-ea"/>
                <a:cs typeface="+mn-cs"/>
              </a:rPr>
              <a:t>task_struct.flags</a:t>
            </a:r>
            <a:r>
              <a:rPr lang="zh-TW" altLang="en-US" dirty="0"/>
              <a:t> 設 </a:t>
            </a:r>
            <a:r>
              <a:rPr lang="en-US" altLang="zh-TW" sz="1200" b="1" kern="1200" dirty="0">
                <a:solidFill>
                  <a:schemeClr val="tx1"/>
                </a:solidFill>
                <a:latin typeface="+mn-lt"/>
                <a:ea typeface="+mn-ea"/>
                <a:cs typeface="+mn-cs"/>
              </a:rPr>
              <a:t>PF_EXITING</a:t>
            </a:r>
            <a:r>
              <a:rPr lang="zh-TW" altLang="en-US" dirty="0"/>
              <a:t>：告訴大家「我在收攤中，別再接新活」。</a:t>
            </a:r>
          </a:p>
          <a:p>
            <a:r>
              <a:rPr lang="zh-TW" altLang="en-US" b="1" dirty="0"/>
              <a:t>釋放位址空間</a:t>
            </a:r>
            <a:br>
              <a:rPr lang="zh-TW" altLang="en-US" dirty="0"/>
            </a:br>
            <a:r>
              <a:rPr lang="zh-TW" altLang="en-US" dirty="0"/>
              <a:t>呼叫 </a:t>
            </a:r>
            <a:r>
              <a:rPr lang="en-US" altLang="zh-TW" sz="1200" b="1" kern="1200" dirty="0" err="1">
                <a:solidFill>
                  <a:schemeClr val="tx1"/>
                </a:solidFill>
                <a:latin typeface="+mn-lt"/>
                <a:ea typeface="+mn-ea"/>
                <a:cs typeface="+mn-cs"/>
              </a:rPr>
              <a:t>exit_mm</a:t>
            </a:r>
            <a:r>
              <a:rPr lang="en-US" altLang="zh-TW" sz="1200" b="1" kern="1200" dirty="0">
                <a:solidFill>
                  <a:schemeClr val="tx1"/>
                </a:solidFill>
                <a:latin typeface="+mn-lt"/>
                <a:ea typeface="+mn-ea"/>
                <a:cs typeface="+mn-cs"/>
              </a:rPr>
              <a:t>()</a:t>
            </a:r>
            <a:r>
              <a:rPr lang="zh-TW" altLang="en-US" dirty="0"/>
              <a:t> 把這個行程的 </a:t>
            </a:r>
            <a:r>
              <a:rPr lang="en-US" altLang="zh-TW" sz="1200" b="1" kern="1200" dirty="0" err="1">
                <a:solidFill>
                  <a:schemeClr val="tx1"/>
                </a:solidFill>
                <a:latin typeface="+mn-lt"/>
                <a:ea typeface="+mn-ea"/>
                <a:cs typeface="+mn-cs"/>
              </a:rPr>
              <a:t>mm_struct</a:t>
            </a:r>
            <a:r>
              <a:rPr lang="zh-TW" altLang="en-US" b="1" dirty="0"/>
              <a:t>（位址空間</a:t>
            </a:r>
            <a:r>
              <a:rPr lang="en-US" altLang="zh-TW" b="1" dirty="0"/>
              <a:t>/</a:t>
            </a:r>
            <a:r>
              <a:rPr lang="zh-TW" altLang="en-US" b="1" dirty="0"/>
              <a:t>頁表）</a:t>
            </a:r>
            <a:r>
              <a:rPr lang="zh-TW" altLang="en-US" dirty="0"/>
              <a:t> 釋放或把引用數減一（其他執行緒可能還在用）。</a:t>
            </a:r>
          </a:p>
          <a:p>
            <a:r>
              <a:rPr lang="zh-TW" altLang="en-US" b="1" dirty="0"/>
              <a:t>離開同步</a:t>
            </a:r>
            <a:r>
              <a:rPr lang="en-US" altLang="zh-TW" b="1" dirty="0"/>
              <a:t>/IPC </a:t>
            </a:r>
            <a:r>
              <a:rPr lang="zh-TW" altLang="en-US" b="1" dirty="0"/>
              <a:t>等待</a:t>
            </a:r>
            <a:br>
              <a:rPr lang="zh-TW" altLang="en-US" dirty="0"/>
            </a:br>
            <a:r>
              <a:rPr lang="zh-TW" altLang="en-US" dirty="0"/>
              <a:t>呼叫 </a:t>
            </a:r>
            <a:r>
              <a:rPr lang="en-US" altLang="zh-TW" sz="1200" b="1" kern="1200" dirty="0" err="1">
                <a:solidFill>
                  <a:schemeClr val="tx1"/>
                </a:solidFill>
                <a:latin typeface="+mn-lt"/>
                <a:ea typeface="+mn-ea"/>
                <a:cs typeface="+mn-cs"/>
              </a:rPr>
              <a:t>exit_sem</a:t>
            </a:r>
            <a:r>
              <a:rPr lang="en-US" altLang="zh-TW" sz="1200" b="1" kern="1200" dirty="0">
                <a:solidFill>
                  <a:schemeClr val="tx1"/>
                </a:solidFill>
                <a:latin typeface="+mn-lt"/>
                <a:ea typeface="+mn-ea"/>
                <a:cs typeface="+mn-cs"/>
              </a:rPr>
              <a:t>()</a:t>
            </a:r>
            <a:r>
              <a:rPr lang="zh-TW" altLang="en-US" dirty="0"/>
              <a:t> 等，把它從 </a:t>
            </a:r>
            <a:r>
              <a:rPr lang="en-US" altLang="zh-TW" dirty="0"/>
              <a:t>IPC/semaphore </a:t>
            </a:r>
            <a:r>
              <a:rPr lang="zh-TW" altLang="en-US" dirty="0"/>
              <a:t>的等待佇列移除。</a:t>
            </a:r>
          </a:p>
          <a:p>
            <a:r>
              <a:rPr lang="zh-TW" altLang="en-US" b="1" dirty="0"/>
              <a:t>關檔案與檔案系統資源</a:t>
            </a:r>
            <a:br>
              <a:rPr lang="zh-TW" altLang="en-US" dirty="0"/>
            </a:br>
            <a:r>
              <a:rPr lang="en-US" altLang="zh-TW" sz="1200" b="1" kern="1200" dirty="0" err="1">
                <a:solidFill>
                  <a:schemeClr val="tx1"/>
                </a:solidFill>
                <a:latin typeface="+mn-lt"/>
                <a:ea typeface="+mn-ea"/>
                <a:cs typeface="+mn-cs"/>
              </a:rPr>
              <a:t>exit_files</a:t>
            </a:r>
            <a:r>
              <a:rPr lang="en-US" altLang="zh-TW" sz="1200" b="1" kern="1200" dirty="0">
                <a:solidFill>
                  <a:schemeClr val="tx1"/>
                </a:solidFill>
                <a:latin typeface="+mn-lt"/>
                <a:ea typeface="+mn-ea"/>
                <a:cs typeface="+mn-cs"/>
              </a:rPr>
              <a:t>()</a:t>
            </a:r>
            <a:r>
              <a:rPr lang="zh-TW" altLang="en-US" b="1" dirty="0"/>
              <a:t>、</a:t>
            </a:r>
            <a:r>
              <a:rPr lang="en-US" altLang="zh-TW" sz="1200" b="1" kern="1200" dirty="0" err="1">
                <a:solidFill>
                  <a:schemeClr val="tx1"/>
                </a:solidFill>
                <a:latin typeface="+mn-lt"/>
                <a:ea typeface="+mn-ea"/>
                <a:cs typeface="+mn-cs"/>
              </a:rPr>
              <a:t>exit_fs</a:t>
            </a:r>
            <a:r>
              <a:rPr lang="en-US" altLang="zh-TW" sz="1200" b="1" kern="1200" dirty="0">
                <a:solidFill>
                  <a:schemeClr val="tx1"/>
                </a:solidFill>
                <a:latin typeface="+mn-lt"/>
                <a:ea typeface="+mn-ea"/>
                <a:cs typeface="+mn-cs"/>
              </a:rPr>
              <a:t>()</a:t>
            </a:r>
            <a:r>
              <a:rPr lang="zh-TW" altLang="en-US" dirty="0"/>
              <a:t>：把</a:t>
            </a:r>
            <a:r>
              <a:rPr lang="zh-TW" altLang="en-US" b="1" dirty="0"/>
              <a:t>開啟的檔案表</a:t>
            </a:r>
            <a:r>
              <a:rPr lang="zh-TW" altLang="en-US" dirty="0"/>
              <a:t>、</a:t>
            </a:r>
            <a:r>
              <a:rPr lang="zh-TW" altLang="en-US" b="1" dirty="0"/>
              <a:t>檔案系統相關資訊</a:t>
            </a:r>
            <a:r>
              <a:rPr lang="zh-TW" altLang="en-US" dirty="0"/>
              <a:t>（像 </a:t>
            </a:r>
            <a:r>
              <a:rPr lang="en-US" altLang="zh-TW" dirty="0" err="1"/>
              <a:t>cwd</a:t>
            </a:r>
            <a:r>
              <a:rPr lang="zh-TW" altLang="en-US" dirty="0"/>
              <a:t>、</a:t>
            </a:r>
            <a:r>
              <a:rPr lang="en-US" altLang="zh-TW" dirty="0" err="1"/>
              <a:t>umask</a:t>
            </a:r>
            <a:r>
              <a:rPr lang="zh-TW" altLang="en-US" dirty="0"/>
              <a:t>）引用計數 </a:t>
            </a:r>
            <a:r>
              <a:rPr lang="en-US" altLang="zh-TW" b="1" dirty="0"/>
              <a:t>decrement</a:t>
            </a:r>
            <a:r>
              <a:rPr lang="zh-TW" altLang="en-US" dirty="0"/>
              <a:t>，需要就釋放。</a:t>
            </a:r>
          </a:p>
          <a:p>
            <a:r>
              <a:rPr lang="zh-TW" altLang="en-US" b="1" dirty="0"/>
              <a:t>通知家長＆重新認領小孩</a:t>
            </a:r>
            <a:br>
              <a:rPr lang="zh-TW" altLang="en-US" dirty="0"/>
            </a:br>
            <a:r>
              <a:rPr lang="en-US" altLang="zh-TW" sz="1200" b="1" kern="1200" dirty="0" err="1">
                <a:solidFill>
                  <a:schemeClr val="tx1"/>
                </a:solidFill>
                <a:latin typeface="+mn-lt"/>
                <a:ea typeface="+mn-ea"/>
                <a:cs typeface="+mn-cs"/>
              </a:rPr>
              <a:t>exit_notify</a:t>
            </a:r>
            <a:r>
              <a:rPr lang="en-US" altLang="zh-TW" sz="1200" b="1" kern="1200" dirty="0">
                <a:solidFill>
                  <a:schemeClr val="tx1"/>
                </a:solidFill>
                <a:latin typeface="+mn-lt"/>
                <a:ea typeface="+mn-ea"/>
                <a:cs typeface="+mn-cs"/>
              </a:rPr>
              <a:t>()</a:t>
            </a:r>
            <a:r>
              <a:rPr lang="zh-TW" altLang="en-US" dirty="0"/>
              <a:t>：</a:t>
            </a:r>
          </a:p>
          <a:p>
            <a:pPr lvl="1"/>
            <a:r>
              <a:rPr lang="zh-TW" altLang="en-US" dirty="0"/>
              <a:t>傳訊號給</a:t>
            </a:r>
            <a:r>
              <a:rPr lang="zh-TW" altLang="en-US" b="1" dirty="0"/>
              <a:t>父行程</a:t>
            </a:r>
            <a:r>
              <a:rPr lang="zh-TW" altLang="en-US" dirty="0"/>
              <a:t>（通常 </a:t>
            </a:r>
            <a:r>
              <a:rPr lang="en-US" altLang="zh-TW" sz="1200" kern="1200" dirty="0">
                <a:solidFill>
                  <a:schemeClr val="tx1"/>
                </a:solidFill>
                <a:latin typeface="+mn-lt"/>
                <a:ea typeface="+mn-ea"/>
                <a:cs typeface="+mn-cs"/>
              </a:rPr>
              <a:t>SIGCHLD</a:t>
            </a:r>
            <a:r>
              <a:rPr lang="zh-TW" altLang="en-US" dirty="0"/>
              <a:t>）。</a:t>
            </a:r>
          </a:p>
          <a:p>
            <a:pPr lvl="1"/>
            <a:r>
              <a:rPr lang="zh-TW" altLang="en-US" dirty="0"/>
              <a:t>把這個 </a:t>
            </a:r>
            <a:r>
              <a:rPr lang="en-US" altLang="zh-TW" dirty="0"/>
              <a:t>task </a:t>
            </a:r>
            <a:r>
              <a:rPr lang="zh-TW" altLang="en-US" dirty="0"/>
              <a:t>的</a:t>
            </a:r>
            <a:r>
              <a:rPr lang="zh-TW" altLang="en-US" b="1" dirty="0"/>
              <a:t>子行程</a:t>
            </a:r>
            <a:r>
              <a:rPr lang="zh-TW" altLang="en-US" dirty="0"/>
              <a:t>改由</a:t>
            </a:r>
            <a:r>
              <a:rPr lang="zh-TW" altLang="en-US" b="1" dirty="0"/>
              <a:t>同一執行緒群組的其他執行緒</a:t>
            </a:r>
            <a:r>
              <a:rPr lang="zh-TW" altLang="en-US" dirty="0"/>
              <a:t>或 </a:t>
            </a:r>
            <a:r>
              <a:rPr lang="en-US" altLang="zh-TW" b="1" dirty="0"/>
              <a:t>PID 1</a:t>
            </a:r>
            <a:r>
              <a:rPr lang="zh-TW" altLang="en-US" b="1" dirty="0"/>
              <a:t>（</a:t>
            </a:r>
            <a:r>
              <a:rPr lang="en-US" altLang="zh-TW" b="1" dirty="0" err="1"/>
              <a:t>init</a:t>
            </a:r>
            <a:r>
              <a:rPr lang="en-US" altLang="zh-TW" b="1" dirty="0"/>
              <a:t>/</a:t>
            </a:r>
            <a:r>
              <a:rPr lang="en-US" altLang="zh-TW" b="1" dirty="0" err="1"/>
              <a:t>systemd</a:t>
            </a:r>
            <a:r>
              <a:rPr lang="zh-TW" altLang="en-US" b="1" dirty="0"/>
              <a:t>）</a:t>
            </a:r>
            <a:r>
              <a:rPr lang="zh-TW" altLang="en-US" dirty="0"/>
              <a:t> 接手（</a:t>
            </a:r>
            <a:r>
              <a:rPr lang="en-US" altLang="zh-TW" dirty="0"/>
              <a:t>reparent</a:t>
            </a:r>
            <a:r>
              <a:rPr lang="zh-TW" altLang="en-US" dirty="0"/>
              <a:t>），避免沒人管。</a:t>
            </a:r>
          </a:p>
          <a:p>
            <a:r>
              <a:rPr lang="zh-TW" altLang="en-US" b="1" dirty="0"/>
              <a:t>讓出 </a:t>
            </a:r>
            <a:r>
              <a:rPr lang="en-US" altLang="zh-TW" b="1" dirty="0"/>
              <a:t>CPU</a:t>
            </a:r>
            <a:br>
              <a:rPr lang="zh-TW" altLang="en-US" dirty="0"/>
            </a:br>
            <a:r>
              <a:rPr lang="zh-TW" altLang="en-US" dirty="0"/>
              <a:t>呼叫 </a:t>
            </a:r>
            <a:r>
              <a:rPr lang="en-US" altLang="zh-TW" sz="1200" b="1" kern="1200" dirty="0">
                <a:solidFill>
                  <a:schemeClr val="tx1"/>
                </a:solidFill>
                <a:latin typeface="+mn-lt"/>
                <a:ea typeface="+mn-ea"/>
                <a:cs typeface="+mn-cs"/>
              </a:rPr>
              <a:t>schedule()</a:t>
            </a:r>
            <a:r>
              <a:rPr lang="zh-TW" altLang="en-US" dirty="0"/>
              <a:t> 切去執行別的行程。此時這個行程進入</a:t>
            </a:r>
            <a:r>
              <a:rPr lang="zh-TW" altLang="en-US" b="1" dirty="0"/>
              <a:t>殭屍狀態（</a:t>
            </a:r>
            <a:r>
              <a:rPr lang="en-US" altLang="zh-TW" b="1" dirty="0"/>
              <a:t>Zombie</a:t>
            </a:r>
            <a:r>
              <a:rPr lang="zh-TW" altLang="en-US" b="1" dirty="0"/>
              <a:t>）</a:t>
            </a:r>
            <a:r>
              <a:rPr lang="zh-TW" altLang="en-US" dirty="0"/>
              <a:t>：不再執行，但還留一張小卡（退出碼</a:t>
            </a:r>
            <a:r>
              <a:rPr lang="en-US" altLang="zh-TW" dirty="0"/>
              <a:t>/</a:t>
            </a:r>
            <a:r>
              <a:rPr lang="zh-TW" altLang="en-US" dirty="0"/>
              <a:t>資源統計）等父行程來領。</a:t>
            </a:r>
          </a:p>
          <a:p>
            <a:r>
              <a:rPr lang="zh-TW" altLang="en-US" b="1" dirty="0"/>
              <a:t>父行程收屍</a:t>
            </a:r>
            <a:br>
              <a:rPr lang="zh-TW" altLang="en-US" dirty="0"/>
            </a:br>
            <a:r>
              <a:rPr lang="zh-TW" altLang="en-US" dirty="0"/>
              <a:t>父行程呼叫 </a:t>
            </a:r>
            <a:r>
              <a:rPr lang="en-US" altLang="zh-TW" sz="1200" kern="1200" dirty="0">
                <a:solidFill>
                  <a:schemeClr val="tx1"/>
                </a:solidFill>
                <a:latin typeface="+mn-lt"/>
                <a:ea typeface="+mn-ea"/>
                <a:cs typeface="+mn-cs"/>
              </a:rPr>
              <a:t>wait()/</a:t>
            </a:r>
            <a:r>
              <a:rPr lang="en-US" altLang="zh-TW" sz="1200" kern="1200" dirty="0" err="1">
                <a:solidFill>
                  <a:schemeClr val="tx1"/>
                </a:solidFill>
                <a:latin typeface="+mn-lt"/>
                <a:ea typeface="+mn-ea"/>
                <a:cs typeface="+mn-cs"/>
              </a:rPr>
              <a:t>waitpid</a:t>
            </a:r>
            <a:r>
              <a:rPr lang="en-US" altLang="zh-TW" sz="1200" kern="1200" dirty="0">
                <a:solidFill>
                  <a:schemeClr val="tx1"/>
                </a:solidFill>
                <a:latin typeface="+mn-lt"/>
                <a:ea typeface="+mn-ea"/>
                <a:cs typeface="+mn-cs"/>
              </a:rPr>
              <a:t>()</a:t>
            </a:r>
            <a:r>
              <a:rPr lang="zh-TW" altLang="en-US" dirty="0"/>
              <a:t> </a:t>
            </a:r>
            <a:r>
              <a:rPr lang="zh-TW" altLang="en-US" b="1" dirty="0"/>
              <a:t>取回退出資訊</a:t>
            </a:r>
            <a:r>
              <a:rPr lang="zh-TW" altLang="en-US" dirty="0"/>
              <a:t>。之後核心才把這個行程的</a:t>
            </a:r>
            <a:r>
              <a:rPr lang="zh-TW" altLang="en-US" b="1" dirty="0"/>
              <a:t>核心堆疊</a:t>
            </a:r>
            <a:r>
              <a:rPr lang="zh-TW" altLang="en-US" dirty="0"/>
              <a:t>、</a:t>
            </a:r>
            <a:r>
              <a:rPr lang="en-US" altLang="zh-TW" sz="1200" kern="1200" dirty="0" err="1">
                <a:solidFill>
                  <a:schemeClr val="tx1"/>
                </a:solidFill>
                <a:latin typeface="+mn-lt"/>
                <a:ea typeface="+mn-ea"/>
                <a:cs typeface="+mn-cs"/>
              </a:rPr>
              <a:t>task_struct</a:t>
            </a:r>
            <a:r>
              <a:rPr lang="zh-TW" altLang="en-US" dirty="0"/>
              <a:t>、</a:t>
            </a:r>
            <a:r>
              <a:rPr lang="en-US" altLang="zh-TW" sz="1200" kern="1200" dirty="0" err="1">
                <a:solidFill>
                  <a:schemeClr val="tx1"/>
                </a:solidFill>
                <a:latin typeface="+mn-lt"/>
                <a:ea typeface="+mn-ea"/>
                <a:cs typeface="+mn-cs"/>
              </a:rPr>
              <a:t>thread_info</a:t>
            </a:r>
            <a:r>
              <a:rPr lang="zh-TW" altLang="en-US" dirty="0"/>
              <a:t> 等</a:t>
            </a:r>
            <a:r>
              <a:rPr lang="zh-TW" altLang="en-US" b="1" dirty="0"/>
              <a:t>真正釋放</a:t>
            </a:r>
            <a:r>
              <a:rPr lang="zh-TW" altLang="en-US" dirty="0"/>
              <a:t>，生命週期結束。</a:t>
            </a:r>
          </a:p>
          <a:p>
            <a:r>
              <a:rPr lang="zh-TW" altLang="en-US" b="1" dirty="0"/>
              <a:t>小抄</a:t>
            </a:r>
          </a:p>
          <a:p>
            <a:r>
              <a:rPr lang="en-US" altLang="zh-TW" b="1" dirty="0"/>
              <a:t>Zombie</a:t>
            </a:r>
            <a:r>
              <a:rPr lang="zh-TW" altLang="en-US" b="1" dirty="0"/>
              <a:t>（</a:t>
            </a:r>
            <a:r>
              <a:rPr lang="en-US" altLang="zh-TW" b="1" dirty="0"/>
              <a:t>Z</a:t>
            </a:r>
            <a:r>
              <a:rPr lang="zh-TW" altLang="en-US" b="1" dirty="0"/>
              <a:t>）</a:t>
            </a:r>
            <a:r>
              <a:rPr lang="zh-TW" altLang="en-US" dirty="0"/>
              <a:t>：</a:t>
            </a:r>
            <a:r>
              <a:rPr lang="en-US" altLang="zh-TW" sz="1200" kern="1200" dirty="0">
                <a:solidFill>
                  <a:schemeClr val="tx1"/>
                </a:solidFill>
                <a:latin typeface="+mn-lt"/>
                <a:ea typeface="+mn-ea"/>
                <a:cs typeface="+mn-cs"/>
              </a:rPr>
              <a:t>exit()</a:t>
            </a:r>
            <a:r>
              <a:rPr lang="zh-TW" altLang="en-US" dirty="0"/>
              <a:t> 後、父行程尚未 </a:t>
            </a:r>
            <a:r>
              <a:rPr lang="en-US" altLang="zh-TW" sz="1200" kern="1200" dirty="0">
                <a:solidFill>
                  <a:schemeClr val="tx1"/>
                </a:solidFill>
                <a:latin typeface="+mn-lt"/>
                <a:ea typeface="+mn-ea"/>
                <a:cs typeface="+mn-cs"/>
              </a:rPr>
              <a:t>wait()</a:t>
            </a:r>
            <a:r>
              <a:rPr lang="zh-TW" altLang="en-US" dirty="0"/>
              <a:t> 前的過渡狀態，只保留最小資訊。</a:t>
            </a:r>
          </a:p>
          <a:p>
            <a:r>
              <a:rPr lang="zh-TW" altLang="en-US" b="1" dirty="0"/>
              <a:t>多執行緒行程</a:t>
            </a:r>
            <a:r>
              <a:rPr lang="zh-TW" altLang="en-US" dirty="0"/>
              <a:t>：任何一個執行緒 </a:t>
            </a:r>
            <a:r>
              <a:rPr lang="en-US" altLang="zh-TW" sz="1200" kern="1200" dirty="0">
                <a:solidFill>
                  <a:schemeClr val="tx1"/>
                </a:solidFill>
                <a:latin typeface="+mn-lt"/>
                <a:ea typeface="+mn-ea"/>
                <a:cs typeface="+mn-cs"/>
              </a:rPr>
              <a:t>exit()</a:t>
            </a:r>
            <a:r>
              <a:rPr lang="zh-TW" altLang="en-US" dirty="0"/>
              <a:t> 只會結束自己；</a:t>
            </a:r>
            <a:r>
              <a:rPr lang="en-US" altLang="zh-TW" sz="1200" kern="1200" dirty="0" err="1">
                <a:solidFill>
                  <a:schemeClr val="tx1"/>
                </a:solidFill>
                <a:latin typeface="+mn-lt"/>
                <a:ea typeface="+mn-ea"/>
                <a:cs typeface="+mn-cs"/>
              </a:rPr>
              <a:t>exit_group</a:t>
            </a:r>
            <a:r>
              <a:rPr lang="en-US" altLang="zh-TW" sz="1200" kern="1200" dirty="0">
                <a:solidFill>
                  <a:schemeClr val="tx1"/>
                </a:solidFill>
                <a:latin typeface="+mn-lt"/>
                <a:ea typeface="+mn-ea"/>
                <a:cs typeface="+mn-cs"/>
              </a:rPr>
              <a:t>()</a:t>
            </a:r>
            <a:r>
              <a:rPr lang="zh-TW" altLang="en-US" dirty="0"/>
              <a:t> 會結束整個執行緒群組。</a:t>
            </a:r>
          </a:p>
          <a:p>
            <a:r>
              <a:rPr lang="zh-TW" altLang="en-US" b="1" dirty="0"/>
              <a:t>為何先 </a:t>
            </a:r>
            <a:r>
              <a:rPr lang="en-US" altLang="zh-TW" sz="1200" b="1" kern="1200" dirty="0">
                <a:solidFill>
                  <a:schemeClr val="tx1"/>
                </a:solidFill>
                <a:latin typeface="+mn-lt"/>
                <a:ea typeface="+mn-ea"/>
                <a:cs typeface="+mn-cs"/>
              </a:rPr>
              <a:t>PF_EXITING</a:t>
            </a:r>
            <a:r>
              <a:rPr lang="zh-TW" altLang="en-US" b="1" dirty="0"/>
              <a:t>？</a:t>
            </a:r>
            <a:r>
              <a:rPr lang="zh-TW" altLang="en-US" dirty="0"/>
              <a:t> 避免在清理過程中被排程</a:t>
            </a:r>
            <a:r>
              <a:rPr lang="en-US" altLang="zh-TW" dirty="0"/>
              <a:t>/</a:t>
            </a:r>
            <a:r>
              <a:rPr lang="zh-TW" altLang="en-US" dirty="0"/>
              <a:t>訊號</a:t>
            </a:r>
            <a:r>
              <a:rPr lang="en-US" altLang="zh-TW" dirty="0"/>
              <a:t>/</a:t>
            </a:r>
            <a:r>
              <a:rPr lang="zh-TW" altLang="en-US" dirty="0"/>
              <a:t>其他系統呼叫干擾，確保收尾一致。</a:t>
            </a:r>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12</a:t>
            </a:fld>
            <a:endParaRPr lang="zh-TW" altLang="en-US"/>
          </a:p>
        </p:txBody>
      </p:sp>
    </p:spTree>
    <p:extLst>
      <p:ext uri="{BB962C8B-B14F-4D97-AF65-F5344CB8AC3E}">
        <p14:creationId xmlns:p14="http://schemas.microsoft.com/office/powerpoint/2010/main" val="41680704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Good Morning, My name is Chun-Feng Wu.</a:t>
            </a:r>
            <a:br>
              <a:rPr lang="en-US" altLang="zh-CN"/>
            </a:br>
            <a:r>
              <a:rPr lang="en-US" altLang="zh-CN"/>
              <a:t>In this presentation, I will briefly introduce myself and </a:t>
            </a:r>
            <a:r>
              <a:rPr lang="en-US" altLang="zh-TW"/>
              <a:t>share</a:t>
            </a:r>
            <a:r>
              <a:rPr lang="en-US" altLang="zh-CN"/>
              <a:t> some key idea of my researches.</a:t>
            </a:r>
          </a:p>
          <a:p>
            <a:endParaRPr lang="en-US" altLang="zh-CN"/>
          </a:p>
          <a:p>
            <a:r>
              <a:rPr lang="en-US" altLang="zh-CN"/>
              <a:t>Intensive data movement is one of the critical issue when Von-Neumann machines enter the big data era.</a:t>
            </a:r>
          </a:p>
          <a:p>
            <a:r>
              <a:rPr lang="en-US" altLang="zh-CN"/>
              <a:t>To deal with this issue, my research is to enable a fast, large and device-friendly next-generation computing system.</a:t>
            </a:r>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13</a:t>
            </a:fld>
            <a:endParaRPr lang="zh-TW" altLang="en-US"/>
          </a:p>
        </p:txBody>
      </p:sp>
    </p:spTree>
    <p:extLst>
      <p:ext uri="{BB962C8B-B14F-4D97-AF65-F5344CB8AC3E}">
        <p14:creationId xmlns:p14="http://schemas.microsoft.com/office/powerpoint/2010/main" val="23880872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 </a:t>
            </a:r>
            <a:r>
              <a:rPr lang="en-US" altLang="zh-TW" b="1" dirty="0"/>
              <a:t>process scheduler</a:t>
            </a:r>
            <a:r>
              <a:rPr lang="en-US" altLang="zh-TW" dirty="0"/>
              <a:t> is the OS component that decides </a:t>
            </a:r>
            <a:r>
              <a:rPr lang="en-US" altLang="zh-TW" b="1" dirty="0"/>
              <a:t>which runnable process/thread gets the CPU next, for how long, and on which core</a:t>
            </a:r>
            <a:r>
              <a:rPr lang="en-US" altLang="zh-TW" dirty="0"/>
              <a:t>, then performs/initiates the </a:t>
            </a:r>
            <a:r>
              <a:rPr lang="en-US" altLang="zh-TW" b="1" dirty="0"/>
              <a:t>context switch</a:t>
            </a:r>
            <a:r>
              <a:rPr lang="en-US" altLang="zh-TW" dirty="0"/>
              <a:t>.</a:t>
            </a:r>
            <a:br>
              <a:rPr lang="en-US" altLang="zh-TW" dirty="0"/>
            </a:br>
            <a:r>
              <a:rPr lang="zh-TW" altLang="en-US" dirty="0"/>
              <a:t>來，這張在講「多工系統（</a:t>
            </a:r>
            <a:r>
              <a:rPr lang="en-US" altLang="zh-TW" dirty="0"/>
              <a:t>Multitasking</a:t>
            </a:r>
            <a:r>
              <a:rPr lang="zh-TW" altLang="en-US" dirty="0"/>
              <a:t>）」的基本觀念。我用超白話分點說：</a:t>
            </a:r>
          </a:p>
          <a:p>
            <a:r>
              <a:rPr lang="zh-TW" altLang="en-US" b="1" dirty="0"/>
              <a:t>一台</a:t>
            </a:r>
            <a:r>
              <a:rPr lang="en-US" altLang="zh-TW" b="1" dirty="0"/>
              <a:t>/</a:t>
            </a:r>
            <a:r>
              <a:rPr lang="zh-TW" altLang="en-US" b="1" dirty="0"/>
              <a:t>多台 </a:t>
            </a:r>
            <a:r>
              <a:rPr lang="en-US" altLang="zh-TW" b="1" dirty="0"/>
              <a:t>CPU </a:t>
            </a:r>
            <a:r>
              <a:rPr lang="zh-TW" altLang="en-US" b="1" dirty="0"/>
              <a:t>在多工時做了什麼</a:t>
            </a:r>
          </a:p>
          <a:p>
            <a:r>
              <a:rPr lang="en-US" altLang="zh-TW" b="1" dirty="0"/>
              <a:t>Single Processor</a:t>
            </a:r>
            <a:r>
              <a:rPr lang="zh-TW" altLang="en-US" dirty="0"/>
              <a:t>（單核心）：其實一次只跑一個行程，但</a:t>
            </a:r>
            <a:r>
              <a:rPr lang="zh-TW" altLang="en-US" b="1" dirty="0"/>
              <a:t>快速輪流切換</a:t>
            </a:r>
            <a:r>
              <a:rPr lang="zh-TW" altLang="en-US" dirty="0"/>
              <a:t>，看起來像同時在跑 → 叫 </a:t>
            </a:r>
            <a:r>
              <a:rPr lang="zh-TW" altLang="en-US" b="1" dirty="0"/>
              <a:t>虛擬平行</a:t>
            </a:r>
            <a:r>
              <a:rPr lang="zh-TW" altLang="en-US" dirty="0"/>
              <a:t>（</a:t>
            </a:r>
            <a:r>
              <a:rPr lang="en-US" altLang="zh-TW" dirty="0"/>
              <a:t>virtual parallelism / multiprogramming</a:t>
            </a:r>
            <a:r>
              <a:rPr lang="zh-TW" altLang="en-US" dirty="0"/>
              <a:t>）。</a:t>
            </a:r>
          </a:p>
          <a:p>
            <a:r>
              <a:rPr lang="en-US" altLang="zh-TW" b="1" dirty="0"/>
              <a:t>Multiple Processors</a:t>
            </a:r>
            <a:r>
              <a:rPr lang="zh-TW" altLang="en-US" dirty="0"/>
              <a:t>（多核心</a:t>
            </a:r>
            <a:r>
              <a:rPr lang="en-US" altLang="zh-TW" dirty="0"/>
              <a:t>/</a:t>
            </a:r>
            <a:r>
              <a:rPr lang="zh-TW" altLang="en-US" dirty="0"/>
              <a:t>多顆 </a:t>
            </a:r>
            <a:r>
              <a:rPr lang="en-US" altLang="zh-TW" dirty="0"/>
              <a:t>CPU</a:t>
            </a:r>
            <a:r>
              <a:rPr lang="zh-TW" altLang="en-US" dirty="0"/>
              <a:t>）：真的可以</a:t>
            </a:r>
            <a:r>
              <a:rPr lang="zh-TW" altLang="en-US" b="1" dirty="0"/>
              <a:t>同時</a:t>
            </a:r>
            <a:r>
              <a:rPr lang="zh-TW" altLang="en-US" dirty="0"/>
              <a:t>在不同核心上跑多個行程。</a:t>
            </a:r>
          </a:p>
          <a:p>
            <a:r>
              <a:rPr lang="zh-TW" altLang="en-US" b="1" dirty="0"/>
              <a:t>排程器（</a:t>
            </a:r>
            <a:r>
              <a:rPr lang="en-US" altLang="zh-TW" b="1" dirty="0"/>
              <a:t>Scheduler</a:t>
            </a:r>
            <a:r>
              <a:rPr lang="zh-TW" altLang="en-US" b="1" dirty="0"/>
              <a:t>）追求什麼</a:t>
            </a:r>
          </a:p>
          <a:p>
            <a:r>
              <a:rPr lang="en-US" altLang="zh-TW" b="1" dirty="0"/>
              <a:t>Fairness </a:t>
            </a:r>
            <a:r>
              <a:rPr lang="zh-TW" altLang="en-US" b="1" dirty="0"/>
              <a:t>公平</a:t>
            </a:r>
            <a:r>
              <a:rPr lang="zh-TW" altLang="en-US" dirty="0"/>
              <a:t>：不要讓某些行程一直搶到、別人永遠沒機會。</a:t>
            </a:r>
          </a:p>
          <a:p>
            <a:r>
              <a:rPr lang="en-US" altLang="zh-TW" b="1" dirty="0"/>
              <a:t>Response Time </a:t>
            </a:r>
            <a:r>
              <a:rPr lang="zh-TW" altLang="en-US" b="1" dirty="0"/>
              <a:t>反應時間</a:t>
            </a:r>
            <a:r>
              <a:rPr lang="zh-TW" altLang="en-US" dirty="0"/>
              <a:t>（互動型重視）：按鍵、點擊後要快回應。</a:t>
            </a:r>
          </a:p>
          <a:p>
            <a:r>
              <a:rPr lang="en-US" altLang="zh-TW" b="1" dirty="0"/>
              <a:t>Throughput </a:t>
            </a:r>
            <a:r>
              <a:rPr lang="zh-TW" altLang="en-US" b="1" dirty="0"/>
              <a:t>吞吐量</a:t>
            </a:r>
            <a:r>
              <a:rPr lang="zh-TW" altLang="en-US" dirty="0"/>
              <a:t>：單位時間完成的工作數要高（批次</a:t>
            </a:r>
            <a:r>
              <a:rPr lang="en-US" altLang="zh-TW" dirty="0"/>
              <a:t>/</a:t>
            </a:r>
            <a:r>
              <a:rPr lang="zh-TW" altLang="en-US" dirty="0"/>
              <a:t>伺服器重視）。</a:t>
            </a:r>
          </a:p>
          <a:p>
            <a:r>
              <a:rPr lang="zh-TW" altLang="en-US" b="1" dirty="0"/>
              <a:t>兩種多工風格</a:t>
            </a:r>
          </a:p>
          <a:p>
            <a:r>
              <a:rPr lang="en-US" altLang="zh-TW" b="1" dirty="0"/>
              <a:t>Cooperative </a:t>
            </a:r>
            <a:r>
              <a:rPr lang="zh-TW" altLang="en-US" b="1" dirty="0"/>
              <a:t>協同式</a:t>
            </a:r>
            <a:r>
              <a:rPr lang="zh-TW" altLang="en-US" dirty="0"/>
              <a:t>：行程</a:t>
            </a:r>
            <a:r>
              <a:rPr lang="zh-TW" altLang="en-US" b="1" dirty="0"/>
              <a:t>自願</a:t>
            </a:r>
            <a:r>
              <a:rPr lang="zh-TW" altLang="en-US" dirty="0"/>
              <a:t>把 </a:t>
            </a:r>
            <a:r>
              <a:rPr lang="en-US" altLang="zh-TW" dirty="0"/>
              <a:t>CPU </a:t>
            </a:r>
            <a:r>
              <a:rPr lang="zh-TW" altLang="en-US" dirty="0"/>
              <a:t>讓出（</a:t>
            </a:r>
            <a:r>
              <a:rPr lang="en-US" altLang="zh-TW" dirty="0"/>
              <a:t>yield</a:t>
            </a:r>
            <a:r>
              <a:rPr lang="zh-TW" altLang="en-US" dirty="0"/>
              <a:t>）。如果有程式不讓，就會卡住（早期系統常見）。</a:t>
            </a:r>
          </a:p>
          <a:p>
            <a:r>
              <a:rPr lang="en-US" altLang="zh-TW" b="1" dirty="0"/>
              <a:t>Preemptive </a:t>
            </a:r>
            <a:r>
              <a:rPr lang="zh-TW" altLang="en-US" b="1" dirty="0"/>
              <a:t>搶佔式</a:t>
            </a:r>
            <a:r>
              <a:rPr lang="zh-TW" altLang="en-US" dirty="0"/>
              <a:t>（</a:t>
            </a:r>
            <a:r>
              <a:rPr lang="en-US" altLang="zh-TW" dirty="0"/>
              <a:t>Linux </a:t>
            </a:r>
            <a:r>
              <a:rPr lang="zh-TW" altLang="en-US" dirty="0"/>
              <a:t>用這種）：系統會在需要時</a:t>
            </a:r>
            <a:r>
              <a:rPr lang="zh-TW" altLang="en-US" b="1" dirty="0"/>
              <a:t>強制中斷</a:t>
            </a:r>
            <a:r>
              <a:rPr lang="zh-TW" altLang="en-US" dirty="0"/>
              <a:t>正在跑的行程（</a:t>
            </a:r>
            <a:r>
              <a:rPr lang="en-US" altLang="zh-TW" dirty="0"/>
              <a:t>context switch</a:t>
            </a:r>
            <a:r>
              <a:rPr lang="zh-TW" altLang="en-US" dirty="0"/>
              <a:t>），把 </a:t>
            </a:r>
            <a:r>
              <a:rPr lang="en-US" altLang="zh-TW" dirty="0"/>
              <a:t>CPU </a:t>
            </a:r>
            <a:r>
              <a:rPr lang="zh-TW" altLang="en-US" dirty="0"/>
              <a:t>給別人；不用靠程式自律。</a:t>
            </a:r>
          </a:p>
          <a:p>
            <a:r>
              <a:rPr lang="en-US" altLang="zh-TW" b="1" dirty="0" err="1"/>
              <a:t>Timeslice</a:t>
            </a:r>
            <a:r>
              <a:rPr lang="zh-TW" altLang="en-US" b="1" dirty="0"/>
              <a:t>（時間片）</a:t>
            </a:r>
          </a:p>
          <a:p>
            <a:r>
              <a:rPr lang="zh-TW" altLang="en-US" dirty="0"/>
              <a:t>定義：</a:t>
            </a:r>
            <a:r>
              <a:rPr lang="zh-TW" altLang="en-US" b="1" dirty="0"/>
              <a:t>一個行程在被搶佔前可連續執行的時間</a:t>
            </a:r>
            <a:r>
              <a:rPr lang="zh-TW" altLang="en-US" dirty="0"/>
              <a:t>。</a:t>
            </a:r>
          </a:p>
          <a:p>
            <a:r>
              <a:rPr lang="zh-TW" altLang="en-US" dirty="0"/>
              <a:t>目的：避免某個行程長時間獨占 </a:t>
            </a:r>
            <a:r>
              <a:rPr lang="en-US" altLang="zh-TW" dirty="0"/>
              <a:t>CPU</a:t>
            </a:r>
            <a:r>
              <a:rPr lang="zh-TW" altLang="en-US" dirty="0"/>
              <a:t>。</a:t>
            </a:r>
          </a:p>
          <a:p>
            <a:r>
              <a:rPr lang="zh-TW" altLang="en-US" dirty="0"/>
              <a:t>太長 → 互動慢；太短 → 切換太頻繁、開銷大。</a:t>
            </a:r>
          </a:p>
          <a:p>
            <a:r>
              <a:rPr lang="zh-TW" altLang="en-US" dirty="0"/>
              <a:t>排程器要決定：</a:t>
            </a:r>
            <a:r>
              <a:rPr lang="zh-TW" altLang="en-US" b="1" dirty="0"/>
              <a:t>時間片多長？下一個要跑誰？</a:t>
            </a:r>
            <a:endParaRPr lang="zh-TW" altLang="en-US" dirty="0"/>
          </a:p>
          <a:p>
            <a:r>
              <a:rPr lang="zh-TW" altLang="en-US" b="1" dirty="0"/>
              <a:t>圖的意思（下方紅線）</a:t>
            </a:r>
          </a:p>
          <a:p>
            <a:r>
              <a:rPr lang="zh-TW" altLang="en-US" dirty="0"/>
              <a:t>左邊「</a:t>
            </a:r>
            <a:r>
              <a:rPr lang="en-US" altLang="zh-TW" dirty="0"/>
              <a:t>Schedule &amp; Run</a:t>
            </a:r>
            <a:r>
              <a:rPr lang="zh-TW" altLang="en-US" dirty="0"/>
              <a:t>」：排程器把某行程派上場開始跑。</a:t>
            </a:r>
          </a:p>
          <a:p>
            <a:r>
              <a:rPr lang="zh-TW" altLang="en-US" dirty="0"/>
              <a:t>過了它的 </a:t>
            </a:r>
            <a:r>
              <a:rPr lang="en-US" altLang="zh-TW" b="1" dirty="0" err="1"/>
              <a:t>timeslice</a:t>
            </a:r>
            <a:r>
              <a:rPr lang="zh-TW" altLang="en-US" dirty="0"/>
              <a:t> → 「</a:t>
            </a:r>
            <a:r>
              <a:rPr lang="en-US" altLang="zh-TW" dirty="0"/>
              <a:t>Preempt &amp; Run Others</a:t>
            </a:r>
            <a:r>
              <a:rPr lang="zh-TW" altLang="en-US" dirty="0"/>
              <a:t>」：到點被切下來，換別的行程。</a:t>
            </a:r>
          </a:p>
          <a:p>
            <a:r>
              <a:rPr lang="zh-TW" altLang="en-US" dirty="0"/>
              <a:t>整條黑線是這個行程</a:t>
            </a:r>
            <a:r>
              <a:rPr lang="zh-TW" altLang="en-US" b="1" dirty="0"/>
              <a:t>整體完成所需時間</a:t>
            </a:r>
            <a:r>
              <a:rPr lang="zh-TW" altLang="en-US" dirty="0"/>
              <a:t>（中間夾雜很多次被切換）。</a:t>
            </a:r>
          </a:p>
          <a:p>
            <a:r>
              <a:rPr lang="zh-TW" altLang="en-US" b="1" dirty="0"/>
              <a:t>一句話總結</a:t>
            </a:r>
          </a:p>
          <a:p>
            <a:r>
              <a:rPr lang="zh-TW" altLang="en-US" dirty="0"/>
              <a:t>多工＝很多工作輪流用 </a:t>
            </a:r>
            <a:r>
              <a:rPr lang="en-US" altLang="zh-TW" dirty="0"/>
              <a:t>CPU</a:t>
            </a:r>
            <a:r>
              <a:rPr lang="zh-TW" altLang="en-US" dirty="0"/>
              <a:t>。單核靠</a:t>
            </a:r>
            <a:r>
              <a:rPr lang="zh-TW" altLang="en-US" b="1" dirty="0"/>
              <a:t>快速輪替</a:t>
            </a:r>
            <a:r>
              <a:rPr lang="zh-TW" altLang="en-US" dirty="0"/>
              <a:t>裝同時，多核則是真的同時。</a:t>
            </a:r>
            <a:r>
              <a:rPr lang="en-US" altLang="zh-TW" dirty="0"/>
              <a:t>Linux </a:t>
            </a:r>
            <a:r>
              <a:rPr lang="zh-TW" altLang="en-US" dirty="0"/>
              <a:t>用</a:t>
            </a:r>
            <a:r>
              <a:rPr lang="zh-TW" altLang="en-US" b="1" dirty="0"/>
              <a:t>搶佔式排程</a:t>
            </a:r>
            <a:r>
              <a:rPr lang="zh-TW" altLang="en-US" dirty="0"/>
              <a:t>＋</a:t>
            </a:r>
            <a:r>
              <a:rPr lang="zh-TW" altLang="en-US" b="1" dirty="0"/>
              <a:t>時間片</a:t>
            </a:r>
            <a:r>
              <a:rPr lang="zh-TW" altLang="en-US" dirty="0"/>
              <a:t>，在「公平、反應快、吞吐高」之間找平衡。</a:t>
            </a: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14</a:t>
            </a:fld>
            <a:endParaRPr lang="zh-TW" altLang="en-US"/>
          </a:p>
        </p:txBody>
      </p:sp>
    </p:spTree>
    <p:extLst>
      <p:ext uri="{BB962C8B-B14F-4D97-AF65-F5344CB8AC3E}">
        <p14:creationId xmlns:p14="http://schemas.microsoft.com/office/powerpoint/2010/main" val="5091362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來，這張是在講「排程政策要考慮什麼」。重點＋白話如下：</a:t>
            </a:r>
          </a:p>
          <a:p>
            <a:r>
              <a:rPr lang="zh-TW" altLang="en-US" b="1" dirty="0"/>
              <a:t>關鍵名詞</a:t>
            </a:r>
          </a:p>
          <a:p>
            <a:r>
              <a:rPr lang="en-US" altLang="zh-TW" b="1" dirty="0"/>
              <a:t>priority</a:t>
            </a:r>
            <a:r>
              <a:rPr lang="zh-TW" altLang="en-US" b="1" dirty="0"/>
              <a:t>（優先權）</a:t>
            </a:r>
            <a:r>
              <a:rPr lang="zh-TW" altLang="en-US" dirty="0"/>
              <a:t>：誰比較容易拿到 </a:t>
            </a:r>
            <a:r>
              <a:rPr lang="en-US" altLang="zh-TW" dirty="0"/>
              <a:t>CPU</a:t>
            </a:r>
            <a:r>
              <a:rPr lang="zh-TW" altLang="en-US" dirty="0"/>
              <a:t>。</a:t>
            </a:r>
          </a:p>
          <a:p>
            <a:r>
              <a:rPr lang="en-US" altLang="zh-TW" b="1" dirty="0"/>
              <a:t>nice </a:t>
            </a:r>
            <a:r>
              <a:rPr lang="zh-TW" altLang="en-US" b="1" dirty="0"/>
              <a:t>值</a:t>
            </a:r>
            <a:r>
              <a:rPr lang="zh-TW" altLang="en-US" dirty="0"/>
              <a:t>（一般行程用）：</a:t>
            </a:r>
            <a:r>
              <a:rPr lang="zh-TW" altLang="en-US" b="1" dirty="0"/>
              <a:t>數字越大 </a:t>
            </a:r>
            <a:r>
              <a:rPr lang="en-US" altLang="zh-TW" b="1" dirty="0"/>
              <a:t>= </a:t>
            </a:r>
            <a:r>
              <a:rPr lang="zh-TW" altLang="en-US" b="1" dirty="0"/>
              <a:t>對別人越 “</a:t>
            </a:r>
            <a:r>
              <a:rPr lang="en-US" altLang="zh-TW" b="1" dirty="0"/>
              <a:t>nice” = </a:t>
            </a:r>
            <a:r>
              <a:rPr lang="zh-TW" altLang="en-US" b="1" dirty="0"/>
              <a:t>自己優先權越低。</a:t>
            </a:r>
            <a:r>
              <a:rPr lang="zh-TW" altLang="en-US" dirty="0"/>
              <a:t>（範圍 </a:t>
            </a:r>
            <a:r>
              <a:rPr lang="en-US" altLang="zh-TW" dirty="0"/>
              <a:t>-20~19</a:t>
            </a:r>
            <a:r>
              <a:rPr lang="zh-TW" altLang="en-US" dirty="0"/>
              <a:t>）</a:t>
            </a:r>
          </a:p>
          <a:p>
            <a:r>
              <a:rPr lang="en-US" altLang="zh-TW" b="1" dirty="0"/>
              <a:t>real-time</a:t>
            </a:r>
            <a:r>
              <a:rPr lang="zh-TW" altLang="en-US" b="1" dirty="0"/>
              <a:t>（即時）優先權</a:t>
            </a:r>
            <a:r>
              <a:rPr lang="zh-TW" altLang="en-US" dirty="0"/>
              <a:t>：即時行程的優先權</a:t>
            </a:r>
            <a:r>
              <a:rPr lang="zh-TW" altLang="en-US" b="1" dirty="0"/>
              <a:t>一律高於</a:t>
            </a:r>
            <a:r>
              <a:rPr lang="zh-TW" altLang="en-US" dirty="0"/>
              <a:t>一般行程（</a:t>
            </a:r>
            <a:r>
              <a:rPr lang="en-US" altLang="zh-TW" dirty="0"/>
              <a:t>SCHED_FIFO / SCHED_RR</a:t>
            </a:r>
            <a:r>
              <a:rPr lang="zh-TW" altLang="en-US" dirty="0"/>
              <a:t>）。</a:t>
            </a:r>
          </a:p>
          <a:p>
            <a:r>
              <a:rPr lang="en-US" altLang="zh-TW" b="1" dirty="0" err="1"/>
              <a:t>timeslice</a:t>
            </a:r>
            <a:r>
              <a:rPr lang="zh-TW" altLang="en-US" b="1" dirty="0"/>
              <a:t>（時間片）</a:t>
            </a:r>
            <a:r>
              <a:rPr lang="zh-TW" altLang="en-US" dirty="0"/>
              <a:t>：一個行程在被搶下來之前，連續可跑的時間。</a:t>
            </a:r>
          </a:p>
          <a:p>
            <a:r>
              <a:rPr lang="zh-TW" altLang="en-US" b="1" dirty="0"/>
              <a:t>投影片在說什麼</a:t>
            </a:r>
          </a:p>
          <a:p>
            <a:r>
              <a:rPr lang="en-US" altLang="zh-TW" b="1" dirty="0"/>
              <a:t>Process Priority</a:t>
            </a:r>
            <a:endParaRPr lang="zh-TW" altLang="en-US" dirty="0"/>
          </a:p>
          <a:p>
            <a:pPr lvl="1"/>
            <a:r>
              <a:rPr lang="en-US" altLang="zh-TW" i="1" dirty="0"/>
              <a:t>nice value:</a:t>
            </a:r>
            <a:r>
              <a:rPr lang="zh-TW" altLang="en-US" dirty="0"/>
              <a:t> 數值大代表「讓一點資源給別人」，所以</a:t>
            </a:r>
            <a:r>
              <a:rPr lang="zh-TW" altLang="en-US" b="1" dirty="0"/>
              <a:t>排到的機會變少</a:t>
            </a:r>
            <a:r>
              <a:rPr lang="zh-TW" altLang="en-US" dirty="0"/>
              <a:t>、時間片也可能較短。</a:t>
            </a:r>
          </a:p>
          <a:p>
            <a:pPr lvl="1"/>
            <a:r>
              <a:rPr lang="en-US" altLang="zh-TW" i="1" dirty="0"/>
              <a:t>real-time value:</a:t>
            </a:r>
            <a:r>
              <a:rPr lang="zh-TW" altLang="en-US" dirty="0"/>
              <a:t> 即時行程會</a:t>
            </a:r>
            <a:r>
              <a:rPr lang="zh-TW" altLang="en-US" b="1" dirty="0"/>
              <a:t>壓過</a:t>
            </a:r>
            <a:r>
              <a:rPr lang="zh-TW" altLang="en-US" dirty="0"/>
              <a:t>一般行程拿到 </a:t>
            </a:r>
            <a:r>
              <a:rPr lang="en-US" altLang="zh-TW" dirty="0"/>
              <a:t>CPU</a:t>
            </a:r>
            <a:r>
              <a:rPr lang="zh-TW" altLang="en-US" dirty="0"/>
              <a:t>。</a:t>
            </a:r>
          </a:p>
          <a:p>
            <a:r>
              <a:rPr lang="en-US" altLang="zh-TW" b="1" dirty="0" err="1"/>
              <a:t>Timeslice</a:t>
            </a:r>
            <a:r>
              <a:rPr lang="zh-TW" altLang="en-US" b="1" dirty="0"/>
              <a:t>（舊式的靜態對映）</a:t>
            </a:r>
            <a:endParaRPr lang="zh-TW" altLang="en-US" dirty="0"/>
          </a:p>
          <a:p>
            <a:pPr lvl="1"/>
            <a:r>
              <a:rPr lang="zh-TW" altLang="en-US" dirty="0"/>
              <a:t>想法：依 </a:t>
            </a:r>
            <a:r>
              <a:rPr lang="en-US" altLang="zh-TW" b="1" dirty="0"/>
              <a:t>nice </a:t>
            </a:r>
            <a:r>
              <a:rPr lang="zh-TW" altLang="en-US" b="1" dirty="0"/>
              <a:t>值 → 固定對映</a:t>
            </a:r>
            <a:r>
              <a:rPr lang="zh-TW" altLang="en-US" dirty="0"/>
              <a:t>一個時間片長度（右側表格就是例子）。</a:t>
            </a:r>
          </a:p>
          <a:p>
            <a:pPr lvl="1"/>
            <a:r>
              <a:rPr lang="zh-TW" altLang="en-US" b="1" dirty="0"/>
              <a:t>時間片長一點</a:t>
            </a:r>
            <a:r>
              <a:rPr lang="zh-TW" altLang="en-US" dirty="0"/>
              <a:t>：切換次數少、</a:t>
            </a:r>
            <a:r>
              <a:rPr lang="zh-TW" altLang="en-US" b="1" dirty="0"/>
              <a:t>資源利用好</a:t>
            </a:r>
            <a:r>
              <a:rPr lang="zh-TW" altLang="en-US" dirty="0"/>
              <a:t>；但互動性可能差。</a:t>
            </a:r>
          </a:p>
          <a:p>
            <a:pPr lvl="1"/>
            <a:r>
              <a:rPr lang="zh-TW" altLang="en-US" b="1" dirty="0"/>
              <a:t>挑戰 </a:t>
            </a:r>
            <a:r>
              <a:rPr lang="en-US" altLang="zh-TW" b="1" dirty="0"/>
              <a:t>1</a:t>
            </a:r>
            <a:r>
              <a:rPr lang="zh-TW" altLang="en-US" b="1" dirty="0"/>
              <a:t>：</a:t>
            </a:r>
            <a:r>
              <a:rPr lang="zh-TW" altLang="en-US" dirty="0"/>
              <a:t> 如果很多行程 </a:t>
            </a:r>
            <a:r>
              <a:rPr lang="en-US" altLang="zh-TW" dirty="0"/>
              <a:t>nice </a:t>
            </a:r>
            <a:r>
              <a:rPr lang="zh-TW" altLang="en-US" dirty="0"/>
              <a:t>都很低優先（值大），時間片很短 → </a:t>
            </a:r>
            <a:r>
              <a:rPr lang="zh-TW" altLang="en-US" b="1" dirty="0"/>
              <a:t>頻繁 </a:t>
            </a:r>
            <a:r>
              <a:rPr lang="en-US" altLang="zh-TW" b="1" dirty="0"/>
              <a:t>context switch</a:t>
            </a:r>
            <a:r>
              <a:rPr lang="zh-TW" altLang="en-US" dirty="0"/>
              <a:t>（例如每 </a:t>
            </a:r>
            <a:r>
              <a:rPr lang="en-US" altLang="zh-TW" dirty="0"/>
              <a:t>5ms </a:t>
            </a:r>
            <a:r>
              <a:rPr lang="zh-TW" altLang="en-US" dirty="0"/>
              <a:t>就切）。</a:t>
            </a:r>
          </a:p>
          <a:p>
            <a:pPr lvl="1"/>
            <a:r>
              <a:rPr lang="zh-TW" altLang="en-US" b="1" dirty="0"/>
              <a:t>挑戰 </a:t>
            </a:r>
            <a:r>
              <a:rPr lang="en-US" altLang="zh-TW" b="1" dirty="0"/>
              <a:t>2</a:t>
            </a:r>
            <a:r>
              <a:rPr lang="zh-TW" altLang="en-US" b="1" dirty="0"/>
              <a:t>：</a:t>
            </a:r>
            <a:r>
              <a:rPr lang="zh-TW" altLang="en-US" dirty="0"/>
              <a:t> 不同 </a:t>
            </a:r>
            <a:r>
              <a:rPr lang="en-US" altLang="zh-TW" dirty="0"/>
              <a:t>nice </a:t>
            </a:r>
            <a:r>
              <a:rPr lang="zh-TW" altLang="en-US" dirty="0"/>
              <a:t>值間</a:t>
            </a:r>
            <a:r>
              <a:rPr lang="zh-TW" altLang="en-US" b="1" dirty="0"/>
              <a:t>時間片差很大</a:t>
            </a:r>
            <a:r>
              <a:rPr lang="zh-TW" altLang="en-US" dirty="0"/>
              <a:t> → </a:t>
            </a:r>
            <a:r>
              <a:rPr lang="zh-TW" altLang="en-US" b="1" dirty="0"/>
              <a:t>資源失衡</a:t>
            </a:r>
            <a:r>
              <a:rPr lang="zh-TW" altLang="en-US" dirty="0"/>
              <a:t>（高 </a:t>
            </a:r>
            <a:r>
              <a:rPr lang="en-US" altLang="zh-TW" dirty="0"/>
              <a:t>nice = </a:t>
            </a:r>
            <a:r>
              <a:rPr lang="zh-TW" altLang="en-US" dirty="0"/>
              <a:t>低優先幾乎沒時間跑）。</a:t>
            </a:r>
          </a:p>
          <a:p>
            <a:r>
              <a:rPr lang="zh-TW" altLang="en-US" b="1" dirty="0"/>
              <a:t>結論：</a:t>
            </a:r>
            <a:r>
              <a:rPr lang="en-US" altLang="zh-TW" b="1" dirty="0"/>
              <a:t>CFS </a:t>
            </a:r>
            <a:r>
              <a:rPr lang="zh-TW" altLang="en-US" b="1" dirty="0"/>
              <a:t>可以解這些問題，</a:t>
            </a:r>
            <a:r>
              <a:rPr lang="en-US" altLang="zh-TW" b="1" dirty="0"/>
              <a:t>O(1) </a:t>
            </a:r>
            <a:r>
              <a:rPr lang="zh-TW" altLang="en-US" b="1" dirty="0"/>
              <a:t>不行</a:t>
            </a:r>
            <a:endParaRPr lang="zh-TW" altLang="en-US" dirty="0"/>
          </a:p>
          <a:p>
            <a:pPr lvl="1"/>
            <a:r>
              <a:rPr lang="en-US" altLang="zh-TW" b="1" dirty="0"/>
              <a:t>O(1) </a:t>
            </a:r>
            <a:r>
              <a:rPr lang="zh-TW" altLang="en-US" b="1" dirty="0"/>
              <a:t>排程器</a:t>
            </a:r>
            <a:r>
              <a:rPr lang="zh-TW" altLang="en-US" dirty="0"/>
              <a:t>（舊）：靠</a:t>
            </a:r>
            <a:r>
              <a:rPr lang="zh-TW" altLang="en-US" b="1" dirty="0"/>
              <a:t>固定時間片</a:t>
            </a:r>
            <a:r>
              <a:rPr lang="zh-TW" altLang="en-US" dirty="0"/>
              <a:t>＋多個 </a:t>
            </a:r>
            <a:r>
              <a:rPr lang="en-US" altLang="zh-TW" dirty="0" err="1"/>
              <a:t>runqueue</a:t>
            </a:r>
            <a:r>
              <a:rPr lang="zh-TW" altLang="en-US" dirty="0"/>
              <a:t>，容易遇到上面兩個問題。</a:t>
            </a:r>
          </a:p>
          <a:p>
            <a:pPr lvl="1"/>
            <a:r>
              <a:rPr lang="en-US" altLang="zh-TW" b="1" dirty="0"/>
              <a:t>CFS</a:t>
            </a:r>
            <a:r>
              <a:rPr lang="zh-TW" altLang="en-US" b="1" dirty="0"/>
              <a:t>（</a:t>
            </a:r>
            <a:r>
              <a:rPr lang="en-US" altLang="zh-TW" b="1" dirty="0"/>
              <a:t>Completely Fair Scheduler</a:t>
            </a:r>
            <a:r>
              <a:rPr lang="zh-TW" altLang="en-US" b="1" dirty="0"/>
              <a:t>，現行 </a:t>
            </a:r>
            <a:r>
              <a:rPr lang="en-US" altLang="zh-TW" b="1" dirty="0"/>
              <a:t>Linux</a:t>
            </a:r>
            <a:r>
              <a:rPr lang="zh-TW" altLang="en-US" b="1" dirty="0"/>
              <a:t>）</a:t>
            </a:r>
            <a:r>
              <a:rPr lang="zh-TW" altLang="en-US" dirty="0"/>
              <a:t>：</a:t>
            </a:r>
          </a:p>
          <a:p>
            <a:pPr lvl="2"/>
            <a:r>
              <a:rPr lang="zh-TW" altLang="en-US" dirty="0"/>
              <a:t>不用固定時間片表，而是用</a:t>
            </a:r>
            <a:r>
              <a:rPr lang="zh-TW" altLang="en-US" b="1" dirty="0"/>
              <a:t>虛擬執行時間 </a:t>
            </a:r>
            <a:r>
              <a:rPr lang="en-US" altLang="zh-TW" sz="1200" b="1" kern="1200" dirty="0" err="1">
                <a:solidFill>
                  <a:schemeClr val="tx1"/>
                </a:solidFill>
                <a:latin typeface="+mn-lt"/>
                <a:ea typeface="+mn-ea"/>
                <a:cs typeface="+mn-cs"/>
              </a:rPr>
              <a:t>vruntime</a:t>
            </a:r>
            <a:r>
              <a:rPr lang="zh-TW" altLang="en-US" dirty="0"/>
              <a:t> 來做「</a:t>
            </a:r>
            <a:r>
              <a:rPr lang="zh-TW" altLang="en-US" b="1" dirty="0"/>
              <a:t>比例公平</a:t>
            </a:r>
            <a:r>
              <a:rPr lang="zh-TW" altLang="en-US" dirty="0"/>
              <a:t>」。</a:t>
            </a:r>
          </a:p>
          <a:p>
            <a:pPr lvl="2"/>
            <a:r>
              <a:rPr lang="zh-TW" altLang="en-US" dirty="0"/>
              <a:t>每個行程依權重（由 </a:t>
            </a:r>
            <a:r>
              <a:rPr lang="en-US" altLang="zh-TW" dirty="0"/>
              <a:t>nice </a:t>
            </a:r>
            <a:r>
              <a:rPr lang="zh-TW" altLang="en-US" dirty="0"/>
              <a:t>值換算）</a:t>
            </a:r>
            <a:r>
              <a:rPr lang="zh-TW" altLang="en-US" b="1" dirty="0"/>
              <a:t>按比例分到 </a:t>
            </a:r>
            <a:r>
              <a:rPr lang="en-US" altLang="zh-TW" b="1" dirty="0"/>
              <a:t>CPU </a:t>
            </a:r>
            <a:r>
              <a:rPr lang="zh-TW" altLang="en-US" b="1" dirty="0"/>
              <a:t>時間</a:t>
            </a:r>
            <a:r>
              <a:rPr lang="zh-TW" altLang="en-US" dirty="0"/>
              <a:t>；誰「拿得多」了，</a:t>
            </a:r>
            <a:r>
              <a:rPr lang="en-US" altLang="zh-TW" sz="1200" kern="1200" dirty="0" err="1">
                <a:solidFill>
                  <a:schemeClr val="tx1"/>
                </a:solidFill>
                <a:latin typeface="+mn-lt"/>
                <a:ea typeface="+mn-ea"/>
                <a:cs typeface="+mn-cs"/>
              </a:rPr>
              <a:t>vruntime</a:t>
            </a:r>
            <a:r>
              <a:rPr lang="zh-TW" altLang="en-US" dirty="0"/>
              <a:t> 就增加更快、</a:t>
            </a:r>
            <a:r>
              <a:rPr lang="zh-TW" altLang="en-US" b="1" dirty="0"/>
              <a:t>下次就較晚被選</a:t>
            </a:r>
            <a:r>
              <a:rPr lang="zh-TW" altLang="en-US" dirty="0"/>
              <a:t>。</a:t>
            </a:r>
          </a:p>
          <a:p>
            <a:pPr lvl="2"/>
            <a:r>
              <a:rPr lang="zh-TW" altLang="en-US" dirty="0"/>
              <a:t>好處：</a:t>
            </a:r>
            <a:r>
              <a:rPr lang="zh-TW" altLang="en-US" b="1" dirty="0"/>
              <a:t>少調參、較平滑公平</a:t>
            </a:r>
            <a:r>
              <a:rPr lang="zh-TW" altLang="en-US" dirty="0"/>
              <a:t>，互動性也較好。</a:t>
            </a:r>
          </a:p>
          <a:p>
            <a:r>
              <a:rPr lang="zh-TW" altLang="en-US" b="1" dirty="0"/>
              <a:t>一句話總結</a:t>
            </a:r>
          </a:p>
          <a:p>
            <a:r>
              <a:rPr lang="zh-TW" altLang="en-US" dirty="0"/>
              <a:t>舊作法把 </a:t>
            </a:r>
            <a:r>
              <a:rPr lang="en-US" altLang="zh-TW" b="1" dirty="0"/>
              <a:t>nice → </a:t>
            </a:r>
            <a:r>
              <a:rPr lang="zh-TW" altLang="en-US" b="1" dirty="0"/>
              <a:t>固定時間片</a:t>
            </a:r>
            <a:r>
              <a:rPr lang="zh-TW" altLang="en-US" dirty="0"/>
              <a:t>，會造成切換太頻繁或資源失衡；</a:t>
            </a:r>
            <a:r>
              <a:rPr lang="en-US" altLang="zh-TW" b="1" dirty="0"/>
              <a:t>CFS</a:t>
            </a:r>
            <a:r>
              <a:rPr lang="zh-TW" altLang="en-US" dirty="0"/>
              <a:t> 用「按權重分配、欠誰補誰」的方式，讓不同優先權的行程按比例公平地拿 </a:t>
            </a:r>
            <a:r>
              <a:rPr lang="en-US" altLang="zh-TW" dirty="0"/>
              <a:t>CPU</a:t>
            </a:r>
            <a:r>
              <a:rPr lang="zh-TW" altLang="en-US" dirty="0"/>
              <a:t>。</a:t>
            </a: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15</a:t>
            </a:fld>
            <a:endParaRPr lang="zh-TW" altLang="en-US"/>
          </a:p>
        </p:txBody>
      </p:sp>
    </p:spTree>
    <p:extLst>
      <p:ext uri="{BB962C8B-B14F-4D97-AF65-F5344CB8AC3E}">
        <p14:creationId xmlns:p14="http://schemas.microsoft.com/office/powerpoint/2010/main" val="6260012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來</a:t>
            </a:r>
            <a:r>
              <a:rPr lang="en-US" altLang="zh-TW" dirty="0"/>
              <a:t>—</a:t>
            </a:r>
            <a:r>
              <a:rPr lang="zh-TW" altLang="en-US" dirty="0"/>
              <a:t>把這頁用最白話講完（順便把英文關鍵詞翻一下）：</a:t>
            </a:r>
          </a:p>
          <a:p>
            <a:r>
              <a:rPr lang="zh-TW" altLang="en-US" b="1" dirty="0"/>
              <a:t>重點總結</a:t>
            </a:r>
          </a:p>
          <a:p>
            <a:r>
              <a:rPr lang="en-US" altLang="zh-TW" b="1" dirty="0"/>
              <a:t>Process Characteristics</a:t>
            </a:r>
            <a:r>
              <a:rPr lang="zh-TW" altLang="en-US" b="1" dirty="0"/>
              <a:t>（行程特性）</a:t>
            </a:r>
            <a:endParaRPr lang="zh-TW" altLang="en-US" dirty="0"/>
          </a:p>
          <a:p>
            <a:pPr lvl="1"/>
            <a:r>
              <a:rPr lang="en-US" altLang="zh-TW" b="1" dirty="0"/>
              <a:t>I/O-Bound</a:t>
            </a:r>
            <a:r>
              <a:rPr lang="zh-TW" altLang="en-US" b="1" dirty="0"/>
              <a:t>（</a:t>
            </a:r>
            <a:r>
              <a:rPr lang="en-US" altLang="zh-TW" b="1" dirty="0"/>
              <a:t>I/O </a:t>
            </a:r>
            <a:r>
              <a:rPr lang="zh-TW" altLang="en-US" b="1" dirty="0"/>
              <a:t>受限）</a:t>
            </a:r>
            <a:r>
              <a:rPr lang="zh-TW" altLang="en-US" dirty="0"/>
              <a:t>：大多時間在</a:t>
            </a:r>
            <a:r>
              <a:rPr lang="zh-TW" altLang="en-US" b="1" dirty="0"/>
              <a:t>送出 </a:t>
            </a:r>
            <a:r>
              <a:rPr lang="en-US" altLang="zh-TW" b="1" dirty="0"/>
              <a:t>I/O </a:t>
            </a:r>
            <a:r>
              <a:rPr lang="zh-TW" altLang="en-US" b="1" dirty="0"/>
              <a:t>請求</a:t>
            </a:r>
            <a:r>
              <a:rPr lang="zh-TW" altLang="en-US" dirty="0"/>
              <a:t>、</a:t>
            </a:r>
            <a:r>
              <a:rPr lang="zh-TW" altLang="en-US" b="1" dirty="0"/>
              <a:t>等待 </a:t>
            </a:r>
            <a:r>
              <a:rPr lang="en-US" altLang="zh-TW" b="1" dirty="0"/>
              <a:t>I/O </a:t>
            </a:r>
            <a:r>
              <a:rPr lang="zh-TW" altLang="en-US" b="1" dirty="0"/>
              <a:t>完成</a:t>
            </a:r>
            <a:r>
              <a:rPr lang="zh-TW" altLang="en-US" dirty="0"/>
              <a:t>（鍵盤、網路、磁碟</a:t>
            </a:r>
            <a:r>
              <a:rPr lang="en-US" altLang="zh-TW" dirty="0"/>
              <a:t>…</a:t>
            </a:r>
            <a:r>
              <a:rPr lang="zh-TW" altLang="en-US" dirty="0"/>
              <a:t>）。</a:t>
            </a:r>
            <a:br>
              <a:rPr lang="zh-TW" altLang="en-US" dirty="0"/>
            </a:br>
            <a:r>
              <a:rPr lang="zh-TW" altLang="en-US" dirty="0"/>
              <a:t>例：</a:t>
            </a:r>
            <a:r>
              <a:rPr lang="en-US" altLang="zh-TW" b="1" dirty="0"/>
              <a:t>GUI</a:t>
            </a:r>
            <a:r>
              <a:rPr lang="zh-TW" altLang="en-US" dirty="0"/>
              <a:t>、互動式工具。</a:t>
            </a:r>
            <a:br>
              <a:rPr lang="zh-TW" altLang="en-US" dirty="0"/>
            </a:br>
            <a:r>
              <a:rPr lang="zh-TW" altLang="en-US" b="1" dirty="0"/>
              <a:t>策略</a:t>
            </a:r>
            <a:r>
              <a:rPr lang="zh-TW" altLang="en-US" dirty="0"/>
              <a:t>：</a:t>
            </a:r>
            <a:r>
              <a:rPr lang="zh-TW" altLang="en-US" b="1" dirty="0"/>
              <a:t>常常讓它上 </a:t>
            </a:r>
            <a:r>
              <a:rPr lang="en-US" altLang="zh-TW" b="1" dirty="0"/>
              <a:t>CPU</a:t>
            </a:r>
            <a:r>
              <a:rPr lang="zh-TW" altLang="en-US" b="1" dirty="0"/>
              <a:t>，但每次短一點</a:t>
            </a:r>
            <a:r>
              <a:rPr lang="zh-TW" altLang="en-US" dirty="0"/>
              <a:t>（短 </a:t>
            </a:r>
            <a:r>
              <a:rPr lang="en-US" altLang="zh-TW" dirty="0" err="1"/>
              <a:t>timeslice</a:t>
            </a:r>
            <a:r>
              <a:rPr lang="zh-TW" altLang="en-US" dirty="0"/>
              <a:t>）。這樣它能快點把 </a:t>
            </a:r>
            <a:r>
              <a:rPr lang="en-US" altLang="zh-TW" dirty="0"/>
              <a:t>I/O </a:t>
            </a:r>
            <a:r>
              <a:rPr lang="zh-TW" altLang="en-US" dirty="0"/>
              <a:t>丟出去、再去等，下次事件來了也能立即回應 → 互動好。</a:t>
            </a:r>
          </a:p>
          <a:p>
            <a:pPr lvl="1"/>
            <a:r>
              <a:rPr lang="en-US" altLang="zh-TW" b="1" dirty="0"/>
              <a:t>Processor-Bound / CPU-Bound</a:t>
            </a:r>
            <a:r>
              <a:rPr lang="zh-TW" altLang="en-US" b="1" dirty="0"/>
              <a:t>（</a:t>
            </a:r>
            <a:r>
              <a:rPr lang="en-US" altLang="zh-TW" b="1" dirty="0"/>
              <a:t>CPU </a:t>
            </a:r>
            <a:r>
              <a:rPr lang="zh-TW" altLang="en-US" b="1" dirty="0"/>
              <a:t>受限）</a:t>
            </a:r>
            <a:r>
              <a:rPr lang="zh-TW" altLang="en-US" dirty="0"/>
              <a:t>：大多時間在</a:t>
            </a:r>
            <a:r>
              <a:rPr lang="zh-TW" altLang="en-US" b="1" dirty="0"/>
              <a:t>執行計算</a:t>
            </a:r>
            <a:r>
              <a:rPr lang="zh-TW" altLang="en-US" dirty="0"/>
              <a:t>。</a:t>
            </a:r>
            <a:br>
              <a:rPr lang="zh-TW" altLang="en-US" dirty="0"/>
            </a:br>
            <a:r>
              <a:rPr lang="zh-TW" altLang="en-US" dirty="0"/>
              <a:t>例：</a:t>
            </a:r>
            <a:r>
              <a:rPr lang="en-US" altLang="zh-TW" sz="1200" kern="1200" dirty="0">
                <a:solidFill>
                  <a:schemeClr val="tx1"/>
                </a:solidFill>
                <a:latin typeface="+mn-lt"/>
                <a:ea typeface="+mn-ea"/>
                <a:cs typeface="+mn-cs"/>
              </a:rPr>
              <a:t>ssh-keygen</a:t>
            </a:r>
            <a:r>
              <a:rPr lang="zh-TW" altLang="en-US" dirty="0"/>
              <a:t>、</a:t>
            </a:r>
            <a:r>
              <a:rPr lang="en-US" altLang="zh-TW" dirty="0"/>
              <a:t>MATLAB </a:t>
            </a:r>
            <a:r>
              <a:rPr lang="zh-TW" altLang="en-US" dirty="0"/>
              <a:t>重運算。</a:t>
            </a:r>
            <a:br>
              <a:rPr lang="zh-TW" altLang="en-US" dirty="0"/>
            </a:br>
            <a:r>
              <a:rPr lang="zh-TW" altLang="en-US" b="1" dirty="0"/>
              <a:t>策略</a:t>
            </a:r>
            <a:r>
              <a:rPr lang="zh-TW" altLang="en-US" dirty="0"/>
              <a:t>：</a:t>
            </a:r>
            <a:r>
              <a:rPr lang="zh-TW" altLang="en-US" b="1" dirty="0"/>
              <a:t>跑得不必太頻繁，但一次久一點</a:t>
            </a:r>
            <a:r>
              <a:rPr lang="zh-TW" altLang="en-US" dirty="0"/>
              <a:t>（長 </a:t>
            </a:r>
            <a:r>
              <a:rPr lang="en-US" altLang="zh-TW" dirty="0" err="1"/>
              <a:t>timeslice</a:t>
            </a:r>
            <a:r>
              <a:rPr lang="zh-TW" altLang="en-US" dirty="0"/>
              <a:t>）。減少切換、提升吞吐。</a:t>
            </a:r>
          </a:p>
          <a:p>
            <a:r>
              <a:rPr lang="en-US" altLang="zh-TW" b="1" dirty="0"/>
              <a:t>Maintenance Overhead</a:t>
            </a:r>
            <a:r>
              <a:rPr lang="zh-TW" altLang="en-US" b="1" dirty="0"/>
              <a:t>（維護成本）</a:t>
            </a:r>
            <a:r>
              <a:rPr lang="zh-TW" altLang="en-US" dirty="0"/>
              <a:t>：排程器本身也要花時間</a:t>
            </a:r>
            <a:r>
              <a:rPr lang="en-US" altLang="zh-TW" dirty="0"/>
              <a:t>/</a:t>
            </a:r>
            <a:r>
              <a:rPr lang="zh-TW" altLang="en-US" dirty="0"/>
              <a:t>鎖</a:t>
            </a:r>
          </a:p>
          <a:p>
            <a:pPr lvl="1"/>
            <a:r>
              <a:rPr lang="en-US" altLang="zh-TW" b="1" dirty="0"/>
              <a:t>How to find next process</a:t>
            </a:r>
            <a:r>
              <a:rPr lang="zh-TW" altLang="en-US" b="1" dirty="0"/>
              <a:t>（怎麼挑下一個）</a:t>
            </a:r>
            <a:endParaRPr lang="zh-TW" altLang="en-US" dirty="0"/>
          </a:p>
          <a:p>
            <a:pPr lvl="2"/>
            <a:r>
              <a:rPr lang="en-US" altLang="zh-TW" b="1" dirty="0"/>
              <a:t>Queue</a:t>
            </a:r>
            <a:r>
              <a:rPr lang="zh-TW" altLang="en-US" b="1" dirty="0"/>
              <a:t>（佇列）</a:t>
            </a:r>
            <a:r>
              <a:rPr lang="zh-TW" altLang="en-US" dirty="0"/>
              <a:t>：簡單，但公平</a:t>
            </a:r>
            <a:r>
              <a:rPr lang="en-US" altLang="zh-TW" dirty="0"/>
              <a:t>/</a:t>
            </a:r>
            <a:r>
              <a:rPr lang="zh-TW" altLang="en-US" dirty="0"/>
              <a:t>權重要另外設計。</a:t>
            </a:r>
          </a:p>
          <a:p>
            <a:pPr lvl="2"/>
            <a:r>
              <a:rPr lang="en-US" altLang="zh-TW" b="1" dirty="0"/>
              <a:t>Tree</a:t>
            </a:r>
            <a:r>
              <a:rPr lang="zh-TW" altLang="en-US" b="1" dirty="0"/>
              <a:t>（平衡樹）</a:t>
            </a:r>
            <a:r>
              <a:rPr lang="zh-TW" altLang="en-US" dirty="0"/>
              <a:t>：可以按 </a:t>
            </a:r>
            <a:r>
              <a:rPr lang="en-US" altLang="zh-TW" dirty="0"/>
              <a:t>key</a:t>
            </a:r>
            <a:r>
              <a:rPr lang="zh-TW" altLang="en-US" dirty="0"/>
              <a:t>（如虛擬執行時間 </a:t>
            </a:r>
            <a:r>
              <a:rPr lang="en-US" altLang="zh-TW" sz="1200" kern="1200" dirty="0" err="1">
                <a:solidFill>
                  <a:schemeClr val="tx1"/>
                </a:solidFill>
                <a:latin typeface="+mn-lt"/>
                <a:ea typeface="+mn-ea"/>
                <a:cs typeface="+mn-cs"/>
              </a:rPr>
              <a:t>vruntime</a:t>
            </a:r>
            <a:r>
              <a:rPr lang="zh-TW" altLang="en-US" dirty="0"/>
              <a:t>）找最小值，</a:t>
            </a:r>
            <a:r>
              <a:rPr lang="en-US" altLang="zh-TW" b="1" dirty="0"/>
              <a:t>CFS</a:t>
            </a:r>
            <a:r>
              <a:rPr lang="en-US" altLang="zh-TW" dirty="0"/>
              <a:t> </a:t>
            </a:r>
            <a:r>
              <a:rPr lang="zh-TW" altLang="en-US" dirty="0"/>
              <a:t>就用紅黑樹。</a:t>
            </a:r>
          </a:p>
          <a:p>
            <a:pPr lvl="2"/>
            <a:r>
              <a:rPr lang="en-US" altLang="zh-TW" b="1" dirty="0"/>
              <a:t>Bit-map</a:t>
            </a:r>
            <a:r>
              <a:rPr lang="zh-TW" altLang="en-US" b="1" dirty="0"/>
              <a:t>（位圖）</a:t>
            </a:r>
            <a:r>
              <a:rPr lang="zh-TW" altLang="en-US" dirty="0"/>
              <a:t>：按優先權 </a:t>
            </a:r>
            <a:r>
              <a:rPr lang="en-US" altLang="zh-TW" dirty="0"/>
              <a:t>O(1) </a:t>
            </a:r>
            <a:r>
              <a:rPr lang="zh-TW" altLang="en-US" dirty="0"/>
              <a:t>找可跑者（老 </a:t>
            </a:r>
            <a:r>
              <a:rPr lang="en-US" altLang="zh-TW" dirty="0"/>
              <a:t>O(1) </a:t>
            </a:r>
            <a:r>
              <a:rPr lang="zh-TW" altLang="en-US" dirty="0"/>
              <a:t>排程器的作法）。</a:t>
            </a:r>
          </a:p>
          <a:p>
            <a:pPr lvl="1"/>
            <a:r>
              <a:rPr lang="en-US" altLang="zh-TW" b="1" dirty="0" err="1"/>
              <a:t>Runqueue</a:t>
            </a:r>
            <a:r>
              <a:rPr lang="en-US" altLang="zh-TW" b="1" dirty="0"/>
              <a:t> </a:t>
            </a:r>
            <a:r>
              <a:rPr lang="zh-TW" altLang="en-US" b="1" dirty="0"/>
              <a:t>佈局</a:t>
            </a:r>
            <a:endParaRPr lang="zh-TW" altLang="en-US" dirty="0"/>
          </a:p>
          <a:p>
            <a:pPr lvl="2"/>
            <a:r>
              <a:rPr lang="en-US" altLang="zh-TW" b="1" dirty="0"/>
              <a:t>Global </a:t>
            </a:r>
            <a:r>
              <a:rPr lang="en-US" altLang="zh-TW" b="1" dirty="0" err="1"/>
              <a:t>runqueue</a:t>
            </a:r>
            <a:r>
              <a:rPr lang="zh-TW" altLang="en-US" b="1" dirty="0"/>
              <a:t>（全域一個隊列）</a:t>
            </a:r>
            <a:r>
              <a:rPr lang="zh-TW" altLang="en-US" dirty="0"/>
              <a:t>：實作簡單，但要</a:t>
            </a:r>
            <a:r>
              <a:rPr lang="zh-TW" altLang="en-US" b="1" dirty="0"/>
              <a:t>大鎖</a:t>
            </a:r>
            <a:r>
              <a:rPr lang="zh-TW" altLang="en-US" dirty="0"/>
              <a:t>，多核下容易</a:t>
            </a:r>
            <a:r>
              <a:rPr lang="zh-TW" altLang="en-US" b="1" dirty="0"/>
              <a:t>卡鎖</a:t>
            </a:r>
            <a:r>
              <a:rPr lang="zh-TW" altLang="en-US" dirty="0"/>
              <a:t>、延遲高。</a:t>
            </a:r>
          </a:p>
          <a:p>
            <a:pPr lvl="2"/>
            <a:r>
              <a:rPr lang="en-US" altLang="zh-TW" b="1" dirty="0"/>
              <a:t>Per-processor </a:t>
            </a:r>
            <a:r>
              <a:rPr lang="en-US" altLang="zh-TW" b="1" dirty="0" err="1"/>
              <a:t>runqueue</a:t>
            </a:r>
            <a:r>
              <a:rPr lang="zh-TW" altLang="en-US" b="1" dirty="0"/>
              <a:t>（每顆 </a:t>
            </a:r>
            <a:r>
              <a:rPr lang="en-US" altLang="zh-TW" b="1" dirty="0"/>
              <a:t>CPU </a:t>
            </a:r>
            <a:r>
              <a:rPr lang="zh-TW" altLang="en-US" b="1" dirty="0"/>
              <a:t>一個隊列）</a:t>
            </a:r>
            <a:r>
              <a:rPr lang="zh-TW" altLang="en-US" dirty="0"/>
              <a:t>：</a:t>
            </a:r>
            <a:r>
              <a:rPr lang="zh-TW" altLang="en-US" b="1" dirty="0"/>
              <a:t>可擴充</a:t>
            </a:r>
            <a:r>
              <a:rPr lang="zh-TW" altLang="en-US" dirty="0"/>
              <a:t>、鎖衝突小；但要做</a:t>
            </a:r>
            <a:r>
              <a:rPr lang="zh-TW" altLang="en-US" b="1" dirty="0"/>
              <a:t>負載平衡</a:t>
            </a:r>
            <a:r>
              <a:rPr lang="zh-TW" altLang="en-US" dirty="0"/>
              <a:t>（把忙的核心上的工作搬到閒的核心）。</a:t>
            </a:r>
          </a:p>
          <a:p>
            <a:r>
              <a:rPr lang="zh-TW" altLang="en-US" b="1" dirty="0"/>
              <a:t>一句話版</a:t>
            </a:r>
          </a:p>
          <a:p>
            <a:r>
              <a:rPr lang="en-US" altLang="zh-TW" dirty="0"/>
              <a:t>I/O </a:t>
            </a:r>
            <a:r>
              <a:rPr lang="zh-TW" altLang="en-US" dirty="0"/>
              <a:t>程式：</a:t>
            </a:r>
            <a:r>
              <a:rPr lang="zh-TW" altLang="en-US" b="1" dirty="0"/>
              <a:t>常上台、每次短</a:t>
            </a:r>
            <a:r>
              <a:rPr lang="zh-TW" altLang="en-US" dirty="0"/>
              <a:t>；</a:t>
            </a:r>
            <a:r>
              <a:rPr lang="en-US" altLang="zh-TW" dirty="0"/>
              <a:t>CPU </a:t>
            </a:r>
            <a:r>
              <a:rPr lang="zh-TW" altLang="en-US" dirty="0"/>
              <a:t>程式：</a:t>
            </a:r>
            <a:r>
              <a:rPr lang="zh-TW" altLang="en-US" b="1" dirty="0"/>
              <a:t>少上台、每次長</a:t>
            </a:r>
            <a:r>
              <a:rPr lang="zh-TW" altLang="en-US" dirty="0"/>
              <a:t>。</a:t>
            </a:r>
            <a:br>
              <a:rPr lang="zh-TW" altLang="en-US" dirty="0"/>
            </a:br>
            <a:r>
              <a:rPr lang="zh-TW" altLang="en-US" dirty="0"/>
              <a:t>排程器找「下一位」要兼顧效率與擴充：</a:t>
            </a:r>
            <a:r>
              <a:rPr lang="zh-TW" altLang="en-US" b="1" dirty="0"/>
              <a:t>資料結構</a:t>
            </a:r>
            <a:r>
              <a:rPr lang="zh-TW" altLang="en-US" dirty="0"/>
              <a:t>（佇列</a:t>
            </a:r>
            <a:r>
              <a:rPr lang="en-US" altLang="zh-TW" dirty="0"/>
              <a:t>/</a:t>
            </a:r>
            <a:r>
              <a:rPr lang="zh-TW" altLang="en-US" dirty="0"/>
              <a:t>樹</a:t>
            </a:r>
            <a:r>
              <a:rPr lang="en-US" altLang="zh-TW" dirty="0"/>
              <a:t>/</a:t>
            </a:r>
            <a:r>
              <a:rPr lang="zh-TW" altLang="en-US" dirty="0"/>
              <a:t>位圖）＋</a:t>
            </a:r>
            <a:r>
              <a:rPr lang="zh-TW" altLang="en-US" b="1" dirty="0"/>
              <a:t>隊列佈局</a:t>
            </a:r>
            <a:r>
              <a:rPr lang="zh-TW" altLang="en-US" dirty="0"/>
              <a:t>（全域 </a:t>
            </a:r>
            <a:r>
              <a:rPr lang="en-US" altLang="zh-TW" dirty="0"/>
              <a:t>vs </a:t>
            </a:r>
            <a:r>
              <a:rPr lang="zh-TW" altLang="en-US" dirty="0"/>
              <a:t>每核心）都會影響效能與公平。</a:t>
            </a:r>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16</a:t>
            </a:fld>
            <a:endParaRPr lang="zh-TW" altLang="en-US"/>
          </a:p>
        </p:txBody>
      </p:sp>
    </p:spTree>
    <p:extLst>
      <p:ext uri="{BB962C8B-B14F-4D97-AF65-F5344CB8AC3E}">
        <p14:creationId xmlns:p14="http://schemas.microsoft.com/office/powerpoint/2010/main" val="2731331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來，把這頁「</a:t>
            </a:r>
            <a:r>
              <a:rPr lang="en-US" altLang="zh-TW" dirty="0"/>
              <a:t>Linux Process Scheduler</a:t>
            </a:r>
            <a:r>
              <a:rPr lang="zh-TW" altLang="en-US" dirty="0"/>
              <a:t>」講到好懂：</a:t>
            </a:r>
          </a:p>
          <a:p>
            <a:r>
              <a:rPr lang="zh-TW" altLang="en-US" b="1" dirty="0"/>
              <a:t>兩代排程器在幹嘛</a:t>
            </a:r>
          </a:p>
          <a:p>
            <a:r>
              <a:rPr lang="en-US" altLang="zh-TW" b="1" dirty="0"/>
              <a:t>1) </a:t>
            </a:r>
            <a:r>
              <a:rPr lang="zh-TW" altLang="en-US" b="1" dirty="0"/>
              <a:t>早期 </a:t>
            </a:r>
            <a:r>
              <a:rPr lang="en-US" altLang="zh-TW" b="1" dirty="0"/>
              <a:t>O(N)</a:t>
            </a:r>
            <a:r>
              <a:rPr lang="zh-TW" altLang="en-US" b="1" dirty="0"/>
              <a:t>（</a:t>
            </a:r>
            <a:r>
              <a:rPr lang="en-US" altLang="zh-TW" b="1" dirty="0"/>
              <a:t>Kernel 2.4 </a:t>
            </a:r>
            <a:r>
              <a:rPr lang="zh-TW" altLang="en-US" b="1" dirty="0"/>
              <a:t>以前，簡單版）</a:t>
            </a:r>
          </a:p>
          <a:p>
            <a:r>
              <a:rPr lang="zh-TW" altLang="en-US" b="1" dirty="0"/>
              <a:t>全系統只有一個 </a:t>
            </a:r>
            <a:r>
              <a:rPr lang="en-US" altLang="zh-TW" b="1" dirty="0" err="1"/>
              <a:t>runqueue</a:t>
            </a:r>
            <a:r>
              <a:rPr lang="zh-TW" altLang="en-US" dirty="0"/>
              <a:t>（所有 </a:t>
            </a:r>
            <a:r>
              <a:rPr lang="en-US" altLang="zh-TW" dirty="0"/>
              <a:t>CPU </a:t>
            </a:r>
            <a:r>
              <a:rPr lang="zh-TW" altLang="en-US" dirty="0"/>
              <a:t>共用，照優先權排序）。</a:t>
            </a:r>
          </a:p>
          <a:p>
            <a:r>
              <a:rPr lang="zh-TW" altLang="en-US" dirty="0"/>
              <a:t>一個行程用完 </a:t>
            </a:r>
            <a:r>
              <a:rPr lang="en-US" altLang="zh-TW" b="1" dirty="0" err="1"/>
              <a:t>timeslice</a:t>
            </a:r>
            <a:r>
              <a:rPr lang="zh-TW" altLang="en-US" dirty="0"/>
              <a:t> 就要</a:t>
            </a:r>
            <a:r>
              <a:rPr lang="zh-TW" altLang="en-US" b="1" dirty="0"/>
              <a:t>拿大鎖</a:t>
            </a:r>
            <a:r>
              <a:rPr lang="zh-TW" altLang="en-US" dirty="0"/>
              <a:t>把它插回隊列中的</a:t>
            </a:r>
            <a:r>
              <a:rPr lang="zh-TW" altLang="en-US" b="1" dirty="0"/>
              <a:t>正確位置</a:t>
            </a:r>
            <a:r>
              <a:rPr lang="zh-TW" altLang="en-US" dirty="0"/>
              <a:t>（保持排序）。</a:t>
            </a:r>
          </a:p>
          <a:p>
            <a:r>
              <a:rPr lang="zh-TW" altLang="en-US" b="1" dirty="0"/>
              <a:t>壞處</a:t>
            </a:r>
            <a:r>
              <a:rPr lang="zh-TW" altLang="en-US" dirty="0"/>
              <a:t>：</a:t>
            </a:r>
          </a:p>
          <a:p>
            <a:pPr lvl="1"/>
            <a:r>
              <a:rPr lang="zh-TW" altLang="en-US" dirty="0"/>
              <a:t>多核下</a:t>
            </a:r>
            <a:r>
              <a:rPr lang="zh-TW" altLang="en-US" b="1" dirty="0"/>
              <a:t>鎖競爭嚴重</a:t>
            </a:r>
            <a:r>
              <a:rPr lang="zh-TW" altLang="en-US" dirty="0"/>
              <a:t>（大家搶同一把鎖）。</a:t>
            </a:r>
          </a:p>
          <a:p>
            <a:pPr lvl="1"/>
            <a:r>
              <a:rPr lang="zh-TW" altLang="en-US" dirty="0"/>
              <a:t>插入</a:t>
            </a:r>
            <a:r>
              <a:rPr lang="en-US" altLang="zh-TW" dirty="0"/>
              <a:t>/</a:t>
            </a:r>
            <a:r>
              <a:rPr lang="zh-TW" altLang="en-US" dirty="0"/>
              <a:t>尋找位置成本高（隊列很長時，</a:t>
            </a:r>
            <a:r>
              <a:rPr lang="zh-TW" altLang="en-US" b="1" dirty="0"/>
              <a:t>時間複雜度 </a:t>
            </a:r>
            <a:r>
              <a:rPr lang="en-US" altLang="zh-TW" b="1" dirty="0"/>
              <a:t>O(N)</a:t>
            </a:r>
            <a:r>
              <a:rPr lang="zh-TW" altLang="en-US" dirty="0"/>
              <a:t>），可擴充性差。</a:t>
            </a:r>
          </a:p>
          <a:p>
            <a:r>
              <a:rPr lang="en-US" altLang="zh-TW" b="1" dirty="0"/>
              <a:t>2) O(1) </a:t>
            </a:r>
            <a:r>
              <a:rPr lang="zh-TW" altLang="en-US" b="1" dirty="0"/>
              <a:t>排程器（</a:t>
            </a:r>
            <a:r>
              <a:rPr lang="en-US" altLang="zh-TW" b="1" dirty="0"/>
              <a:t>Kernel 2.5</a:t>
            </a:r>
            <a:r>
              <a:rPr lang="zh-TW" altLang="en-US" b="1" dirty="0"/>
              <a:t>～</a:t>
            </a:r>
            <a:r>
              <a:rPr lang="en-US" altLang="zh-TW" b="1" dirty="0"/>
              <a:t>2.6</a:t>
            </a:r>
            <a:r>
              <a:rPr lang="zh-TW" altLang="en-US" b="1" dirty="0"/>
              <a:t>，強調快）</a:t>
            </a:r>
          </a:p>
          <a:p>
            <a:r>
              <a:rPr lang="zh-TW" altLang="en-US" dirty="0"/>
              <a:t>核心點子：用 </a:t>
            </a:r>
            <a:r>
              <a:rPr lang="en-US" altLang="zh-TW" b="1" dirty="0"/>
              <a:t>140 </a:t>
            </a:r>
            <a:r>
              <a:rPr lang="zh-TW" altLang="en-US" b="1" dirty="0"/>
              <a:t>條“按優先權分類的 </a:t>
            </a:r>
            <a:r>
              <a:rPr lang="en-US" altLang="zh-TW" b="1" dirty="0"/>
              <a:t>FIFO </a:t>
            </a:r>
            <a:r>
              <a:rPr lang="zh-TW" altLang="en-US" b="1" dirty="0"/>
              <a:t>佇列”</a:t>
            </a:r>
            <a:r>
              <a:rPr lang="zh-TW" altLang="en-US" dirty="0"/>
              <a:t> </a:t>
            </a:r>
            <a:r>
              <a:rPr lang="en-US" altLang="zh-TW" dirty="0"/>
              <a:t>+ </a:t>
            </a:r>
            <a:r>
              <a:rPr lang="zh-TW" altLang="en-US" b="1" dirty="0"/>
              <a:t>兩個陣列（</a:t>
            </a:r>
            <a:r>
              <a:rPr lang="en-US" altLang="zh-TW" b="1" dirty="0"/>
              <a:t>active / expired</a:t>
            </a:r>
            <a:r>
              <a:rPr lang="zh-TW" altLang="en-US" b="1" dirty="0"/>
              <a:t>）</a:t>
            </a:r>
            <a:r>
              <a:rPr lang="zh-TW" altLang="en-US" dirty="0"/>
              <a:t>，再配一個 </a:t>
            </a:r>
            <a:r>
              <a:rPr lang="en-US" altLang="zh-TW" b="1" dirty="0"/>
              <a:t>bitmap</a:t>
            </a:r>
            <a:r>
              <a:rPr lang="zh-TW" altLang="en-US" dirty="0"/>
              <a:t> 來 </a:t>
            </a:r>
            <a:r>
              <a:rPr lang="en-US" altLang="zh-TW" dirty="0"/>
              <a:t>O(1) </a:t>
            </a:r>
            <a:r>
              <a:rPr lang="zh-TW" altLang="en-US" dirty="0"/>
              <a:t>找到最左邊有人的優先權。</a:t>
            </a:r>
          </a:p>
          <a:p>
            <a:r>
              <a:rPr lang="zh-TW" altLang="en-US" dirty="0"/>
              <a:t>結構：</a:t>
            </a:r>
          </a:p>
          <a:p>
            <a:pPr lvl="1"/>
            <a:r>
              <a:rPr lang="en-US" altLang="zh-TW" b="1" dirty="0"/>
              <a:t>Active array</a:t>
            </a:r>
            <a:r>
              <a:rPr lang="zh-TW" altLang="en-US" dirty="0"/>
              <a:t>：目前可跑的隊列們（每個優先權一條 </a:t>
            </a:r>
            <a:r>
              <a:rPr lang="en-US" altLang="zh-TW" dirty="0"/>
              <a:t>FIFO</a:t>
            </a:r>
            <a:r>
              <a:rPr lang="zh-TW" altLang="en-US" dirty="0"/>
              <a:t>）。</a:t>
            </a:r>
          </a:p>
          <a:p>
            <a:pPr lvl="1"/>
            <a:r>
              <a:rPr lang="en-US" altLang="zh-TW" b="1" dirty="0"/>
              <a:t>Expired array</a:t>
            </a:r>
            <a:r>
              <a:rPr lang="zh-TW" altLang="en-US" dirty="0"/>
              <a:t>：用完時間片、等待“換班”的隊列們。</a:t>
            </a:r>
          </a:p>
          <a:p>
            <a:pPr lvl="1"/>
            <a:r>
              <a:rPr lang="en-US" altLang="zh-TW" b="1" dirty="0"/>
              <a:t>Bitmap</a:t>
            </a:r>
            <a:r>
              <a:rPr lang="zh-TW" altLang="en-US" dirty="0"/>
              <a:t>：哪個優先權目前有任務（</a:t>
            </a:r>
            <a:r>
              <a:rPr lang="en-US" altLang="zh-TW" dirty="0"/>
              <a:t>bit=1</a:t>
            </a:r>
            <a:r>
              <a:rPr lang="zh-TW" altLang="en-US" dirty="0"/>
              <a:t>）。</a:t>
            </a:r>
          </a:p>
          <a:p>
            <a:r>
              <a:rPr lang="zh-TW" altLang="en-US" dirty="0"/>
              <a:t>流程（單次選人）：</a:t>
            </a:r>
          </a:p>
          <a:p>
            <a:pPr lvl="1"/>
            <a:r>
              <a:rPr lang="zh-TW" altLang="en-US" b="1" dirty="0"/>
              <a:t>查 </a:t>
            </a:r>
            <a:r>
              <a:rPr lang="en-US" altLang="zh-TW" b="1" dirty="0"/>
              <a:t>bitmap</a:t>
            </a:r>
            <a:r>
              <a:rPr lang="zh-TW" altLang="en-US" dirty="0"/>
              <a:t> 找到</a:t>
            </a:r>
            <a:r>
              <a:rPr lang="zh-TW" altLang="en-US" b="1" dirty="0"/>
              <a:t>最左邊為 </a:t>
            </a:r>
            <a:r>
              <a:rPr lang="en-US" altLang="zh-TW" b="1" dirty="0"/>
              <a:t>1</a:t>
            </a:r>
            <a:r>
              <a:rPr lang="zh-TW" altLang="en-US" dirty="0"/>
              <a:t> 的 </a:t>
            </a:r>
            <a:r>
              <a:rPr lang="en-US" altLang="zh-TW" dirty="0"/>
              <a:t>bit → </a:t>
            </a:r>
            <a:r>
              <a:rPr lang="zh-TW" altLang="en-US" dirty="0"/>
              <a:t>直接知道“最高可用優先權”（</a:t>
            </a:r>
            <a:r>
              <a:rPr lang="en-US" altLang="zh-TW" b="1" dirty="0"/>
              <a:t>O(1)</a:t>
            </a:r>
            <a:r>
              <a:rPr lang="zh-TW" altLang="en-US" dirty="0"/>
              <a:t>）。</a:t>
            </a:r>
          </a:p>
          <a:p>
            <a:pPr lvl="1"/>
            <a:r>
              <a:rPr lang="zh-TW" altLang="en-US" dirty="0"/>
              <a:t>從該優先權的 </a:t>
            </a:r>
            <a:r>
              <a:rPr lang="en-US" altLang="zh-TW" dirty="0"/>
              <a:t>FIFO </a:t>
            </a:r>
            <a:r>
              <a:rPr lang="zh-TW" altLang="en-US" dirty="0"/>
              <a:t>佇列**取出下一個 </a:t>
            </a:r>
            <a:r>
              <a:rPr lang="en-US" altLang="zh-TW" dirty="0"/>
              <a:t>task</a:t>
            </a:r>
            <a:r>
              <a:rPr lang="zh-TW" altLang="en-US" dirty="0"/>
              <a:t>（</a:t>
            </a:r>
            <a:r>
              <a:rPr lang="en-US" altLang="zh-TW" dirty="0"/>
              <a:t>dequeue</a:t>
            </a:r>
            <a:r>
              <a:rPr lang="zh-TW" altLang="en-US" dirty="0"/>
              <a:t>）**去跑。</a:t>
            </a:r>
          </a:p>
          <a:p>
            <a:pPr lvl="1"/>
            <a:r>
              <a:rPr lang="zh-TW" altLang="en-US" dirty="0"/>
              <a:t>跑完一個時間片後，</a:t>
            </a:r>
            <a:r>
              <a:rPr lang="zh-TW" altLang="en-US" b="1" dirty="0"/>
              <a:t>重算優先權</a:t>
            </a:r>
            <a:r>
              <a:rPr lang="zh-TW" altLang="en-US" dirty="0"/>
              <a:t>，把它丟到 </a:t>
            </a:r>
            <a:r>
              <a:rPr lang="en-US" altLang="zh-TW" b="1" dirty="0"/>
              <a:t>expired array</a:t>
            </a:r>
            <a:r>
              <a:rPr lang="zh-TW" altLang="en-US" dirty="0"/>
              <a:t> 相對應的 </a:t>
            </a:r>
            <a:r>
              <a:rPr lang="en-US" altLang="zh-TW" dirty="0"/>
              <a:t>FIFO</a:t>
            </a:r>
            <a:r>
              <a:rPr lang="zh-TW" altLang="en-US" dirty="0"/>
              <a:t>。</a:t>
            </a:r>
          </a:p>
          <a:p>
            <a:pPr lvl="1"/>
            <a:r>
              <a:rPr lang="zh-TW" altLang="en-US" b="1" dirty="0"/>
              <a:t>當 </a:t>
            </a:r>
            <a:r>
              <a:rPr lang="en-US" altLang="zh-TW" b="1" dirty="0"/>
              <a:t>active </a:t>
            </a:r>
            <a:r>
              <a:rPr lang="zh-TW" altLang="en-US" b="1" dirty="0"/>
              <a:t>的 </a:t>
            </a:r>
            <a:r>
              <a:rPr lang="en-US" altLang="zh-TW" b="1" dirty="0"/>
              <a:t>bitmap </a:t>
            </a:r>
            <a:r>
              <a:rPr lang="zh-TW" altLang="en-US" b="1" dirty="0"/>
              <a:t>全清零</a:t>
            </a:r>
            <a:r>
              <a:rPr lang="zh-TW" altLang="en-US" dirty="0"/>
              <a:t>（表示 </a:t>
            </a:r>
            <a:r>
              <a:rPr lang="en-US" altLang="zh-TW" dirty="0"/>
              <a:t>active </a:t>
            </a:r>
            <a:r>
              <a:rPr lang="zh-TW" altLang="en-US" dirty="0"/>
              <a:t>都被跑過了）→ </a:t>
            </a:r>
            <a:r>
              <a:rPr lang="en-US" altLang="zh-TW" b="1" dirty="0"/>
              <a:t>active </a:t>
            </a:r>
            <a:r>
              <a:rPr lang="zh-TW" altLang="en-US" b="1" dirty="0"/>
              <a:t>與 </a:t>
            </a:r>
            <a:r>
              <a:rPr lang="en-US" altLang="zh-TW" b="1" dirty="0"/>
              <a:t>expired </a:t>
            </a:r>
            <a:r>
              <a:rPr lang="zh-TW" altLang="en-US" b="1" dirty="0"/>
              <a:t>直接交換</a:t>
            </a:r>
            <a:r>
              <a:rPr lang="zh-TW" altLang="en-US" dirty="0"/>
              <a:t>（整批換班，</a:t>
            </a:r>
            <a:r>
              <a:rPr lang="en-US" altLang="zh-TW" dirty="0"/>
              <a:t>O(1)</a:t>
            </a:r>
            <a:r>
              <a:rPr lang="zh-TW" altLang="en-US" dirty="0"/>
              <a:t>）。</a:t>
            </a:r>
          </a:p>
          <a:p>
            <a:r>
              <a:rPr lang="zh-TW" altLang="en-US" b="1" dirty="0"/>
              <a:t>壞處（互動差）</a:t>
            </a:r>
            <a:r>
              <a:rPr lang="zh-TW" altLang="en-US" dirty="0"/>
              <a:t>：</a:t>
            </a:r>
            <a:br>
              <a:rPr lang="zh-TW" altLang="en-US" dirty="0"/>
            </a:br>
            <a:r>
              <a:rPr lang="zh-TW" altLang="en-US" dirty="0"/>
              <a:t>低優先權的行程可能要</a:t>
            </a:r>
            <a:r>
              <a:rPr lang="zh-TW" altLang="en-US" b="1" dirty="0"/>
              <a:t>等整個 </a:t>
            </a:r>
            <a:r>
              <a:rPr lang="en-US" altLang="zh-TW" b="1" dirty="0"/>
              <a:t>active </a:t>
            </a:r>
            <a:r>
              <a:rPr lang="zh-TW" altLang="en-US" b="1" dirty="0"/>
              <a:t>清空</a:t>
            </a:r>
            <a:r>
              <a:rPr lang="zh-TW" altLang="en-US" dirty="0"/>
              <a:t>才會被輪到（尤其當高優先權很多時），對</a:t>
            </a:r>
            <a:r>
              <a:rPr lang="zh-TW" altLang="en-US" b="1" dirty="0"/>
              <a:t>低優先權互動程式</a:t>
            </a:r>
            <a:r>
              <a:rPr lang="zh-TW" altLang="en-US" dirty="0"/>
              <a:t>很不友善。</a:t>
            </a:r>
          </a:p>
          <a:p>
            <a:r>
              <a:rPr lang="zh-TW" altLang="en-US" b="1" dirty="0"/>
              <a:t>圖怎麼看</a:t>
            </a:r>
          </a:p>
          <a:p>
            <a:r>
              <a:rPr lang="zh-TW" altLang="en-US" dirty="0"/>
              <a:t>左下方一排小格就是 </a:t>
            </a:r>
            <a:r>
              <a:rPr lang="en-US" altLang="zh-TW" b="1" dirty="0"/>
              <a:t>bitmap</a:t>
            </a:r>
            <a:r>
              <a:rPr lang="zh-TW" altLang="en-US" dirty="0"/>
              <a:t>：哪個優先權有 </a:t>
            </a:r>
            <a:r>
              <a:rPr lang="en-US" altLang="zh-TW" dirty="0"/>
              <a:t>task </a:t>
            </a:r>
            <a:r>
              <a:rPr lang="zh-TW" altLang="en-US" dirty="0"/>
              <a:t>就點亮。找</a:t>
            </a:r>
            <a:r>
              <a:rPr lang="zh-TW" altLang="en-US" b="1" dirty="0"/>
              <a:t>最左邊的 </a:t>
            </a:r>
            <a:r>
              <a:rPr lang="en-US" altLang="zh-TW" b="1" dirty="0"/>
              <a:t>1</a:t>
            </a:r>
            <a:r>
              <a:rPr lang="zh-TW" altLang="en-US" dirty="0"/>
              <a:t>＝最快找到要跑的那級別。</a:t>
            </a:r>
          </a:p>
          <a:p>
            <a:r>
              <a:rPr lang="zh-TW" altLang="en-US" dirty="0"/>
              <a:t>右邊的多條 </a:t>
            </a:r>
            <a:r>
              <a:rPr lang="en-US" altLang="zh-TW" b="1" dirty="0"/>
              <a:t>Queue 0, Queue 1, …</a:t>
            </a:r>
            <a:r>
              <a:rPr lang="zh-TW" altLang="en-US" dirty="0"/>
              <a:t> 是各優先權的 </a:t>
            </a:r>
            <a:r>
              <a:rPr lang="en-US" altLang="zh-TW" dirty="0"/>
              <a:t>FIFO </a:t>
            </a:r>
            <a:r>
              <a:rPr lang="zh-TW" altLang="en-US" dirty="0"/>
              <a:t>佇列；</a:t>
            </a:r>
            <a:r>
              <a:rPr lang="en-US" altLang="zh-TW" dirty="0"/>
              <a:t>active/expired </a:t>
            </a:r>
            <a:r>
              <a:rPr lang="zh-TW" altLang="en-US" dirty="0"/>
              <a:t>分成兩組，輪流交換。</a:t>
            </a:r>
          </a:p>
          <a:p>
            <a:r>
              <a:rPr lang="zh-TW" altLang="en-US" b="1" dirty="0"/>
              <a:t>為什麼後來換成 </a:t>
            </a:r>
            <a:r>
              <a:rPr lang="en-US" altLang="zh-TW" b="1" dirty="0"/>
              <a:t>CFS</a:t>
            </a:r>
          </a:p>
          <a:p>
            <a:r>
              <a:rPr lang="en-US" altLang="zh-TW" dirty="0"/>
              <a:t>O(1) </a:t>
            </a:r>
            <a:r>
              <a:rPr lang="zh-TW" altLang="en-US" dirty="0"/>
              <a:t>固然</a:t>
            </a:r>
            <a:r>
              <a:rPr lang="zh-TW" altLang="en-US" b="1" dirty="0"/>
              <a:t>選人很快</a:t>
            </a:r>
            <a:r>
              <a:rPr lang="zh-TW" altLang="en-US" dirty="0"/>
              <a:t>，但</a:t>
            </a:r>
            <a:r>
              <a:rPr lang="zh-TW" altLang="en-US" b="1" dirty="0"/>
              <a:t>公平性</a:t>
            </a:r>
            <a:r>
              <a:rPr lang="en-US" altLang="zh-TW" b="1" dirty="0"/>
              <a:t>/</a:t>
            </a:r>
            <a:r>
              <a:rPr lang="zh-TW" altLang="en-US" b="1" dirty="0"/>
              <a:t>互動性</a:t>
            </a:r>
            <a:r>
              <a:rPr lang="zh-TW" altLang="en-US" dirty="0"/>
              <a:t>容易失衡（低優先權被“餓”很久）。</a:t>
            </a:r>
          </a:p>
          <a:p>
            <a:r>
              <a:rPr lang="en-US" altLang="zh-TW" b="1" dirty="0"/>
              <a:t>CFS</a:t>
            </a:r>
            <a:r>
              <a:rPr lang="zh-TW" altLang="en-US" b="1" dirty="0"/>
              <a:t>（</a:t>
            </a:r>
            <a:r>
              <a:rPr lang="en-US" altLang="zh-TW" b="1" dirty="0"/>
              <a:t>Completely Fair Scheduler</a:t>
            </a:r>
            <a:r>
              <a:rPr lang="zh-TW" altLang="en-US" b="1" dirty="0"/>
              <a:t>）改用紅黑樹 </a:t>
            </a:r>
            <a:r>
              <a:rPr lang="en-US" altLang="zh-TW" b="1" dirty="0"/>
              <a:t>+ </a:t>
            </a:r>
            <a:r>
              <a:rPr lang="zh-TW" altLang="en-US" b="1" dirty="0"/>
              <a:t>虛擬執行時間 </a:t>
            </a:r>
            <a:r>
              <a:rPr lang="en-US" altLang="zh-TW" sz="1200" b="1" kern="1200" dirty="0" err="1">
                <a:solidFill>
                  <a:schemeClr val="tx1"/>
                </a:solidFill>
                <a:latin typeface="+mn-lt"/>
                <a:ea typeface="+mn-ea"/>
                <a:cs typeface="+mn-cs"/>
              </a:rPr>
              <a:t>vruntime</a:t>
            </a:r>
            <a:r>
              <a:rPr lang="zh-TW" altLang="en-US" dirty="0"/>
              <a:t>：按</a:t>
            </a:r>
            <a:r>
              <a:rPr lang="zh-TW" altLang="en-US" b="1" dirty="0"/>
              <a:t>權重比例</a:t>
            </a:r>
            <a:r>
              <a:rPr lang="zh-TW" altLang="en-US" dirty="0"/>
              <a:t>讓大家平均拿到 </a:t>
            </a:r>
            <a:r>
              <a:rPr lang="en-US" altLang="zh-TW" dirty="0"/>
              <a:t>CPU</a:t>
            </a:r>
            <a:r>
              <a:rPr lang="zh-TW" altLang="en-US" dirty="0"/>
              <a:t>，誰拿多了就先休息，互動與公平更穩定。</a:t>
            </a:r>
          </a:p>
          <a:p>
            <a:r>
              <a:rPr lang="zh-TW" altLang="en-US" b="1" dirty="0"/>
              <a:t>一句話總結</a:t>
            </a:r>
          </a:p>
          <a:p>
            <a:r>
              <a:rPr lang="en-US" altLang="zh-TW" b="1" dirty="0"/>
              <a:t>O(1) </a:t>
            </a:r>
            <a:r>
              <a:rPr lang="zh-TW" altLang="en-US" b="1" dirty="0"/>
              <a:t>排程器</a:t>
            </a:r>
            <a:r>
              <a:rPr lang="zh-TW" altLang="en-US" dirty="0"/>
              <a:t>用 </a:t>
            </a:r>
            <a:r>
              <a:rPr lang="en-US" altLang="zh-TW" dirty="0"/>
              <a:t>bitmap + </a:t>
            </a:r>
            <a:r>
              <a:rPr lang="zh-TW" altLang="en-US" dirty="0"/>
              <a:t>兩個陣列（</a:t>
            </a:r>
            <a:r>
              <a:rPr lang="en-US" altLang="zh-TW" dirty="0"/>
              <a:t>active/expired</a:t>
            </a:r>
            <a:r>
              <a:rPr lang="zh-TW" altLang="en-US" dirty="0"/>
              <a:t>）做到</a:t>
            </a:r>
            <a:r>
              <a:rPr lang="zh-TW" altLang="en-US" b="1" dirty="0"/>
              <a:t>選人 </a:t>
            </a:r>
            <a:r>
              <a:rPr lang="en-US" altLang="zh-TW" b="1" dirty="0"/>
              <a:t>O(1)</a:t>
            </a:r>
            <a:r>
              <a:rPr lang="zh-TW" altLang="en-US" dirty="0"/>
              <a:t>、插入 </a:t>
            </a:r>
            <a:r>
              <a:rPr lang="en-US" altLang="zh-TW" dirty="0"/>
              <a:t>O(1)</a:t>
            </a:r>
            <a:r>
              <a:rPr lang="zh-TW" altLang="en-US" dirty="0"/>
              <a:t>，超快；但對低優先權互動程式不友善。</a:t>
            </a:r>
            <a:br>
              <a:rPr lang="zh-TW" altLang="en-US" dirty="0"/>
            </a:br>
            <a:r>
              <a:rPr lang="zh-TW" altLang="en-US" dirty="0"/>
              <a:t>後來 </a:t>
            </a:r>
            <a:r>
              <a:rPr lang="en-US" altLang="zh-TW" b="1" dirty="0"/>
              <a:t>CFS</a:t>
            </a:r>
            <a:r>
              <a:rPr lang="zh-TW" altLang="en-US" dirty="0"/>
              <a:t> 以“按比例公平”的方式取代，改善互動與公平性。</a:t>
            </a:r>
            <a:br>
              <a:rPr lang="en-US" altLang="zh-TW" dirty="0"/>
            </a:br>
            <a:br>
              <a:rPr lang="en-US" altLang="zh-TW" dirty="0"/>
            </a:br>
            <a:r>
              <a:rPr lang="en-US" altLang="zh-TW" b="1" dirty="0"/>
              <a:t>O(1)</a:t>
            </a:r>
            <a:r>
              <a:rPr lang="zh-TW" altLang="en-US" dirty="0"/>
              <a:t> 是演算法的</a:t>
            </a:r>
            <a:r>
              <a:rPr lang="zh-TW" altLang="en-US" b="1" dirty="0"/>
              <a:t>時間複雜度</a:t>
            </a:r>
            <a:r>
              <a:rPr lang="zh-TW" altLang="en-US" dirty="0"/>
              <a:t>記號，意思是：</a:t>
            </a:r>
          </a:p>
          <a:p>
            <a:r>
              <a:rPr lang="zh-TW" altLang="en-US" b="1" dirty="0"/>
              <a:t>花費時間是常數級</a:t>
            </a:r>
            <a:r>
              <a:rPr lang="zh-TW" altLang="en-US" dirty="0"/>
              <a:t>，不隨資料量（</a:t>
            </a:r>
            <a:r>
              <a:rPr lang="en-US" altLang="zh-TW" dirty="0"/>
              <a:t>n</a:t>
            </a:r>
            <a:r>
              <a:rPr lang="zh-TW" altLang="en-US" dirty="0"/>
              <a:t>）變大而變慢。</a:t>
            </a:r>
          </a:p>
          <a:p>
            <a:r>
              <a:rPr lang="zh-TW" altLang="en-US" dirty="0"/>
              <a:t>對排程器來說：</a:t>
            </a:r>
          </a:p>
          <a:p>
            <a:r>
              <a:rPr lang="en-US" altLang="zh-TW" b="1" dirty="0"/>
              <a:t>O(1) </a:t>
            </a:r>
            <a:r>
              <a:rPr lang="zh-TW" altLang="en-US" b="1" dirty="0"/>
              <a:t>排程器</a:t>
            </a:r>
            <a:r>
              <a:rPr lang="zh-TW" altLang="en-US" dirty="0"/>
              <a:t>＝每次「選下一個要跑的 </a:t>
            </a:r>
            <a:r>
              <a:rPr lang="en-US" altLang="zh-TW" dirty="0"/>
              <a:t>task</a:t>
            </a:r>
            <a:r>
              <a:rPr lang="zh-TW" altLang="en-US" dirty="0"/>
              <a:t>」、或「把用完時間片的 </a:t>
            </a:r>
            <a:r>
              <a:rPr lang="en-US" altLang="zh-TW" dirty="0"/>
              <a:t>task </a:t>
            </a:r>
            <a:r>
              <a:rPr lang="zh-TW" altLang="en-US" dirty="0"/>
              <a:t>放回隊列」的操作，都在</a:t>
            </a:r>
            <a:r>
              <a:rPr lang="zh-TW" altLang="en-US" b="1" dirty="0"/>
              <a:t>固定步數</a:t>
            </a:r>
            <a:r>
              <a:rPr lang="zh-TW" altLang="en-US" dirty="0"/>
              <a:t>內完成，跟系統裡有 </a:t>
            </a:r>
            <a:r>
              <a:rPr lang="en-US" altLang="zh-TW" dirty="0"/>
              <a:t>5 </a:t>
            </a:r>
            <a:r>
              <a:rPr lang="zh-TW" altLang="en-US" dirty="0"/>
              <a:t>個還是 </a:t>
            </a:r>
            <a:r>
              <a:rPr lang="en-US" altLang="zh-TW" dirty="0"/>
              <a:t>5,000 </a:t>
            </a:r>
            <a:r>
              <a:rPr lang="zh-TW" altLang="en-US" dirty="0"/>
              <a:t>個可跑行程</a:t>
            </a:r>
            <a:r>
              <a:rPr lang="zh-TW" altLang="en-US" b="1" dirty="0"/>
              <a:t>無關</a:t>
            </a:r>
            <a:r>
              <a:rPr lang="zh-TW" altLang="en-US" dirty="0"/>
              <a:t>。</a:t>
            </a:r>
          </a:p>
          <a:p>
            <a:r>
              <a:rPr lang="en-US" altLang="zh-TW" dirty="0"/>
              <a:t>Linux </a:t>
            </a:r>
            <a:r>
              <a:rPr lang="zh-TW" altLang="en-US" dirty="0"/>
              <a:t>的 </a:t>
            </a:r>
            <a:r>
              <a:rPr lang="en-US" altLang="zh-TW" dirty="0"/>
              <a:t>O(1)</a:t>
            </a:r>
            <a:r>
              <a:rPr lang="zh-TW" altLang="en-US" dirty="0"/>
              <a:t>（</a:t>
            </a:r>
            <a:r>
              <a:rPr lang="en-US" altLang="zh-TW" dirty="0"/>
              <a:t>2.6 </a:t>
            </a:r>
            <a:r>
              <a:rPr lang="zh-TW" altLang="en-US" dirty="0"/>
              <a:t>早期）做法：</a:t>
            </a:r>
          </a:p>
          <a:p>
            <a:pPr lvl="1"/>
            <a:r>
              <a:rPr lang="zh-TW" altLang="en-US" dirty="0"/>
              <a:t>用 </a:t>
            </a:r>
            <a:r>
              <a:rPr lang="en-US" altLang="zh-TW" b="1" dirty="0"/>
              <a:t>bitmap</a:t>
            </a:r>
            <a:r>
              <a:rPr lang="zh-TW" altLang="en-US" dirty="0"/>
              <a:t> 找「最左邊為 </a:t>
            </a:r>
            <a:r>
              <a:rPr lang="en-US" altLang="zh-TW" dirty="0"/>
              <a:t>1 </a:t>
            </a:r>
            <a:r>
              <a:rPr lang="zh-TW" altLang="en-US" dirty="0"/>
              <a:t>的 </a:t>
            </a:r>
            <a:r>
              <a:rPr lang="en-US" altLang="zh-TW" dirty="0"/>
              <a:t>bit</a:t>
            </a:r>
            <a:r>
              <a:rPr lang="zh-TW" altLang="en-US" dirty="0"/>
              <a:t>」（最快可用的優先權）→ 常見 </a:t>
            </a:r>
            <a:r>
              <a:rPr lang="en-US" altLang="zh-TW" dirty="0"/>
              <a:t>CPU </a:t>
            </a:r>
            <a:r>
              <a:rPr lang="zh-TW" altLang="en-US" dirty="0"/>
              <a:t>指令 </a:t>
            </a:r>
            <a:r>
              <a:rPr lang="en-US" altLang="zh-TW" sz="1200" kern="1200" dirty="0">
                <a:solidFill>
                  <a:schemeClr val="tx1"/>
                </a:solidFill>
                <a:latin typeface="+mn-lt"/>
                <a:ea typeface="+mn-ea"/>
                <a:cs typeface="+mn-cs"/>
              </a:rPr>
              <a:t>ffs/</a:t>
            </a:r>
            <a:r>
              <a:rPr lang="en-US" altLang="zh-TW" sz="1200" kern="1200" dirty="0" err="1">
                <a:solidFill>
                  <a:schemeClr val="tx1"/>
                </a:solidFill>
                <a:latin typeface="+mn-lt"/>
                <a:ea typeface="+mn-ea"/>
                <a:cs typeface="+mn-cs"/>
              </a:rPr>
              <a:t>ffz</a:t>
            </a:r>
            <a:r>
              <a:rPr lang="zh-TW" altLang="en-US" dirty="0"/>
              <a:t> 支援，</a:t>
            </a:r>
            <a:r>
              <a:rPr lang="zh-TW" altLang="en-US" b="1" dirty="0"/>
              <a:t>常數時間</a:t>
            </a:r>
            <a:r>
              <a:rPr lang="zh-TW" altLang="en-US" dirty="0"/>
              <a:t>。</a:t>
            </a:r>
          </a:p>
          <a:p>
            <a:pPr lvl="1"/>
            <a:r>
              <a:rPr lang="zh-TW" altLang="en-US" dirty="0"/>
              <a:t>每個優先權一條 </a:t>
            </a:r>
            <a:r>
              <a:rPr lang="en-US" altLang="zh-TW" b="1" dirty="0"/>
              <a:t>FIFO </a:t>
            </a:r>
            <a:r>
              <a:rPr lang="zh-TW" altLang="en-US" b="1" dirty="0"/>
              <a:t>佇列</a:t>
            </a:r>
            <a:r>
              <a:rPr lang="zh-TW" altLang="en-US" dirty="0"/>
              <a:t>；還有 </a:t>
            </a:r>
            <a:r>
              <a:rPr lang="en-US" altLang="zh-TW" b="1" dirty="0"/>
              <a:t>active/expired</a:t>
            </a:r>
            <a:r>
              <a:rPr lang="zh-TW" altLang="en-US" dirty="0"/>
              <a:t> 兩組佇列，空了就</a:t>
            </a:r>
            <a:r>
              <a:rPr lang="zh-TW" altLang="en-US" b="1" dirty="0"/>
              <a:t>整組切換</a:t>
            </a:r>
            <a:r>
              <a:rPr lang="zh-TW" altLang="en-US" dirty="0"/>
              <a:t>，也是常數時間。</a:t>
            </a:r>
          </a:p>
          <a:p>
            <a:r>
              <a:rPr lang="zh-TW" altLang="en-US" dirty="0"/>
              <a:t>對比：</a:t>
            </a:r>
          </a:p>
          <a:p>
            <a:r>
              <a:rPr lang="en-US" altLang="zh-TW" b="1" dirty="0"/>
              <a:t>O(N)</a:t>
            </a:r>
            <a:r>
              <a:rPr lang="zh-TW" altLang="en-US" dirty="0"/>
              <a:t>：挑人或插入時要線性掃過 </a:t>
            </a:r>
            <a:r>
              <a:rPr lang="en-US" altLang="zh-TW" dirty="0"/>
              <a:t>N </a:t>
            </a:r>
            <a:r>
              <a:rPr lang="zh-TW" altLang="en-US" dirty="0"/>
              <a:t>個元素（行程多就慢）。</a:t>
            </a:r>
          </a:p>
          <a:p>
            <a:r>
              <a:rPr lang="en-US" altLang="zh-TW" b="1" dirty="0"/>
              <a:t>O(log N)</a:t>
            </a:r>
            <a:r>
              <a:rPr lang="zh-TW" altLang="en-US" dirty="0"/>
              <a:t>：像用平衡樹（</a:t>
            </a:r>
            <a:r>
              <a:rPr lang="en-US" altLang="zh-TW" dirty="0"/>
              <a:t>CFS </a:t>
            </a:r>
            <a:r>
              <a:rPr lang="zh-TW" altLang="en-US" dirty="0"/>
              <a:t>的紅黑樹選人），花費與 </a:t>
            </a:r>
            <a:r>
              <a:rPr lang="en-US" altLang="zh-TW" sz="1200" kern="1200" dirty="0">
                <a:solidFill>
                  <a:schemeClr val="tx1"/>
                </a:solidFill>
                <a:latin typeface="+mn-lt"/>
                <a:ea typeface="+mn-ea"/>
                <a:cs typeface="+mn-cs"/>
              </a:rPr>
              <a:t>log N</a:t>
            </a:r>
            <a:r>
              <a:rPr lang="zh-TW" altLang="en-US" dirty="0"/>
              <a:t> 成正比。</a:t>
            </a:r>
          </a:p>
          <a:p>
            <a:r>
              <a:rPr lang="zh-TW" altLang="en-US" dirty="0"/>
              <a:t>優缺點（在排程上）：</a:t>
            </a:r>
          </a:p>
          <a:p>
            <a:r>
              <a:rPr lang="zh-TW" altLang="en-US" b="1" dirty="0"/>
              <a:t>優點</a:t>
            </a:r>
            <a:r>
              <a:rPr lang="zh-TW" altLang="en-US" dirty="0"/>
              <a:t>：可預期、延遲低、擴展到很多 </a:t>
            </a:r>
            <a:r>
              <a:rPr lang="en-US" altLang="zh-TW" dirty="0"/>
              <a:t>task </a:t>
            </a:r>
            <a:r>
              <a:rPr lang="zh-TW" altLang="en-US" dirty="0"/>
              <a:t>仍快速。</a:t>
            </a:r>
          </a:p>
          <a:p>
            <a:r>
              <a:rPr lang="zh-TW" altLang="en-US" b="1" dirty="0"/>
              <a:t>缺點</a:t>
            </a:r>
            <a:r>
              <a:rPr lang="zh-TW" altLang="en-US" dirty="0"/>
              <a:t>：早期 </a:t>
            </a:r>
            <a:r>
              <a:rPr lang="en-US" altLang="zh-TW" dirty="0"/>
              <a:t>O(1) </a:t>
            </a:r>
            <a:r>
              <a:rPr lang="zh-TW" altLang="en-US" dirty="0"/>
              <a:t>在</a:t>
            </a:r>
            <a:r>
              <a:rPr lang="zh-TW" altLang="en-US" b="1" dirty="0"/>
              <a:t>公平</a:t>
            </a:r>
            <a:r>
              <a:rPr lang="en-US" altLang="zh-TW" b="1" dirty="0"/>
              <a:t>/</a:t>
            </a:r>
            <a:r>
              <a:rPr lang="zh-TW" altLang="en-US" b="1" dirty="0"/>
              <a:t>互動性</a:t>
            </a:r>
            <a:r>
              <a:rPr lang="zh-TW" altLang="en-US" dirty="0"/>
              <a:t>上有缺陷（低優先權容易餓），後來被 </a:t>
            </a:r>
            <a:r>
              <a:rPr lang="en-US" altLang="zh-TW" b="1" dirty="0"/>
              <a:t>CFS</a:t>
            </a:r>
            <a:r>
              <a:rPr lang="zh-TW" altLang="en-US" dirty="0"/>
              <a:t> 取代（改成 </a:t>
            </a:r>
            <a:r>
              <a:rPr lang="en-US" altLang="zh-TW" dirty="0"/>
              <a:t>O(log N)</a:t>
            </a:r>
            <a:r>
              <a:rPr lang="zh-TW" altLang="en-US" dirty="0"/>
              <a:t>，但更公平、體感更好）。</a:t>
            </a:r>
          </a:p>
          <a:p>
            <a:r>
              <a:rPr lang="zh-TW" altLang="en-US" dirty="0"/>
              <a:t>一句話：</a:t>
            </a:r>
          </a:p>
          <a:p>
            <a:r>
              <a:rPr lang="en-US" altLang="zh-TW" dirty="0"/>
              <a:t>O(1) = </a:t>
            </a:r>
            <a:r>
              <a:rPr lang="zh-TW" altLang="en-US" dirty="0"/>
              <a:t>「不管幾個人排隊，我找下一位都要同樣固定的幾步」。</a:t>
            </a:r>
          </a:p>
          <a:p>
            <a:endParaRPr lang="zh-TW" altLang="en-US" dirty="0"/>
          </a:p>
          <a:p>
            <a:r>
              <a:rPr lang="en-US" altLang="zh-TW" b="1" dirty="0"/>
              <a:t>FIFO</a:t>
            </a:r>
            <a:r>
              <a:rPr lang="zh-TW" altLang="en-US" dirty="0"/>
              <a:t>＝</a:t>
            </a:r>
            <a:r>
              <a:rPr lang="en-US" altLang="zh-TW" b="1" dirty="0"/>
              <a:t>First-In, First-Out</a:t>
            </a:r>
            <a:r>
              <a:rPr lang="zh-TW" altLang="en-US" b="1" dirty="0"/>
              <a:t>，先進先出</a:t>
            </a:r>
            <a:r>
              <a:rPr lang="zh-TW" altLang="en-US" dirty="0"/>
              <a:t>。</a:t>
            </a:r>
          </a:p>
          <a:p>
            <a:r>
              <a:rPr lang="zh-TW" altLang="en-US" b="1" dirty="0"/>
              <a:t>意思</a:t>
            </a:r>
            <a:r>
              <a:rPr lang="zh-TW" altLang="en-US" dirty="0"/>
              <a:t>：誰先進隊列，誰先被處理；像排隊買票，一個接一個按順序出隊。</a:t>
            </a:r>
          </a:p>
          <a:p>
            <a:r>
              <a:rPr lang="zh-TW" altLang="en-US" b="1" dirty="0"/>
              <a:t>在排程器裡</a:t>
            </a:r>
            <a:r>
              <a:rPr lang="zh-TW" altLang="en-US" dirty="0"/>
              <a:t>：每個優先級都有一條</a:t>
            </a:r>
            <a:r>
              <a:rPr lang="en-US" altLang="zh-TW" b="1" dirty="0"/>
              <a:t>FIFO </a:t>
            </a:r>
            <a:r>
              <a:rPr lang="zh-TW" altLang="en-US" b="1" dirty="0"/>
              <a:t>佇列</a:t>
            </a:r>
            <a:r>
              <a:rPr lang="zh-TW" altLang="en-US" dirty="0"/>
              <a:t>；當該優先級被選中時，就從佇列</a:t>
            </a:r>
            <a:r>
              <a:rPr lang="zh-TW" altLang="en-US" b="1" dirty="0"/>
              <a:t>頭</a:t>
            </a:r>
            <a:r>
              <a:rPr lang="zh-TW" altLang="en-US" dirty="0"/>
              <a:t>取下</a:t>
            </a:r>
            <a:r>
              <a:rPr lang="zh-TW" altLang="en-US" b="1" dirty="0"/>
              <a:t>最早進來</a:t>
            </a:r>
            <a:r>
              <a:rPr lang="zh-TW" altLang="en-US" dirty="0"/>
              <a:t>的 </a:t>
            </a:r>
            <a:r>
              <a:rPr lang="en-US" altLang="zh-TW" dirty="0"/>
              <a:t>task </a:t>
            </a:r>
            <a:r>
              <a:rPr lang="zh-TW" altLang="en-US" dirty="0"/>
              <a:t>來跑（跑完時間片再被丟到另一組隊列或隊尾）。</a:t>
            </a:r>
          </a:p>
          <a:p>
            <a:r>
              <a:rPr lang="zh-TW" altLang="en-US" b="1" dirty="0"/>
              <a:t>優點</a:t>
            </a:r>
            <a:r>
              <a:rPr lang="zh-TW" altLang="en-US" dirty="0"/>
              <a:t>：簡單、公平（就到先服務），可預期。</a:t>
            </a:r>
          </a:p>
          <a:p>
            <a:r>
              <a:rPr lang="zh-TW" altLang="en-US" b="1" dirty="0"/>
              <a:t>缺點</a:t>
            </a:r>
            <a:r>
              <a:rPr lang="zh-TW" altLang="en-US" dirty="0"/>
              <a:t>：不考慮任務長短與互動需求，長工作可能讓短工作等很久（</a:t>
            </a:r>
            <a:r>
              <a:rPr lang="en-US" altLang="zh-TW" dirty="0"/>
              <a:t>convoy effect</a:t>
            </a:r>
            <a:r>
              <a:rPr lang="zh-TW" altLang="en-US" dirty="0"/>
              <a:t>）。</a:t>
            </a:r>
          </a:p>
          <a:p>
            <a:r>
              <a:rPr lang="zh-TW" altLang="en-US" b="1" dirty="0"/>
              <a:t>對比</a:t>
            </a:r>
            <a:r>
              <a:rPr lang="zh-TW" altLang="en-US" dirty="0"/>
              <a:t>：</a:t>
            </a:r>
          </a:p>
          <a:p>
            <a:pPr lvl="1"/>
            <a:r>
              <a:rPr lang="en-US" altLang="zh-TW" b="1" dirty="0"/>
              <a:t>LIFO</a:t>
            </a:r>
            <a:r>
              <a:rPr lang="zh-TW" altLang="en-US" dirty="0"/>
              <a:t>（後進先出）：像堆疊，最後進來的先處理。</a:t>
            </a:r>
          </a:p>
          <a:p>
            <a:pPr lvl="1"/>
            <a:r>
              <a:rPr lang="en-US" altLang="zh-TW" b="1" dirty="0"/>
              <a:t>Priority queue</a:t>
            </a:r>
            <a:r>
              <a:rPr lang="zh-TW" altLang="en-US" dirty="0"/>
              <a:t>：照</a:t>
            </a:r>
            <a:r>
              <a:rPr lang="zh-TW" altLang="en-US" b="1" dirty="0"/>
              <a:t>優先權</a:t>
            </a:r>
            <a:r>
              <a:rPr lang="zh-TW" altLang="en-US" dirty="0"/>
              <a:t>選人，不保證到達順序。</a:t>
            </a:r>
          </a:p>
          <a:p>
            <a:pPr lvl="1"/>
            <a:r>
              <a:rPr lang="en-US" altLang="zh-TW" b="1" dirty="0"/>
              <a:t>Round-robin</a:t>
            </a:r>
            <a:r>
              <a:rPr lang="zh-TW" altLang="en-US" dirty="0"/>
              <a:t>：通常「</a:t>
            </a:r>
            <a:r>
              <a:rPr lang="zh-TW" altLang="en-US" b="1" dirty="0"/>
              <a:t>各優先級之內用 </a:t>
            </a:r>
            <a:r>
              <a:rPr lang="en-US" altLang="zh-TW" b="1" dirty="0"/>
              <a:t>FIFO</a:t>
            </a:r>
            <a:r>
              <a:rPr lang="zh-TW" altLang="en-US" dirty="0"/>
              <a:t>」，再配</a:t>
            </a:r>
            <a:r>
              <a:rPr lang="zh-TW" altLang="en-US" b="1" dirty="0"/>
              <a:t>時間片</a:t>
            </a:r>
            <a:r>
              <a:rPr lang="zh-TW" altLang="en-US" dirty="0"/>
              <a:t>輪流。</a:t>
            </a:r>
          </a:p>
          <a:p>
            <a:r>
              <a:rPr lang="zh-TW" altLang="en-US" dirty="0"/>
              <a:t>另外在 </a:t>
            </a:r>
            <a:r>
              <a:rPr lang="en-US" altLang="zh-TW" dirty="0"/>
              <a:t>Unix </a:t>
            </a:r>
            <a:r>
              <a:rPr lang="zh-TW" altLang="en-US" dirty="0"/>
              <a:t>中，「</a:t>
            </a:r>
            <a:r>
              <a:rPr lang="en-US" altLang="zh-TW" b="1" dirty="0"/>
              <a:t>FIFO</a:t>
            </a:r>
            <a:r>
              <a:rPr lang="zh-TW" altLang="en-US" dirty="0"/>
              <a:t>」也指**命名管線（</a:t>
            </a:r>
            <a:r>
              <a:rPr lang="en-US" altLang="zh-TW" dirty="0"/>
              <a:t>named pipe</a:t>
            </a:r>
            <a:r>
              <a:rPr lang="zh-TW" altLang="en-US" dirty="0"/>
              <a:t>）**這種 </a:t>
            </a:r>
            <a:r>
              <a:rPr lang="en-US" altLang="zh-TW" dirty="0"/>
              <a:t>IPC </a:t>
            </a:r>
            <a:r>
              <a:rPr lang="zh-TW" altLang="en-US" dirty="0"/>
              <a:t>物件：</a:t>
            </a:r>
            <a:r>
              <a:rPr lang="en-US" altLang="zh-TW" sz="1200" kern="1200" dirty="0" err="1">
                <a:solidFill>
                  <a:schemeClr val="tx1"/>
                </a:solidFill>
                <a:latin typeface="+mn-lt"/>
                <a:ea typeface="+mn-ea"/>
                <a:cs typeface="+mn-cs"/>
              </a:rPr>
              <a:t>mkfifo</a:t>
            </a:r>
            <a:r>
              <a:rPr lang="en-US" altLang="zh-TW" sz="1200" kern="1200" dirty="0">
                <a:solidFill>
                  <a:schemeClr val="tx1"/>
                </a:solidFill>
                <a:latin typeface="+mn-lt"/>
                <a:ea typeface="+mn-ea"/>
                <a:cs typeface="+mn-cs"/>
              </a:rPr>
              <a:t> </a:t>
            </a:r>
            <a:r>
              <a:rPr lang="en-US" altLang="zh-TW" sz="1200" kern="1200" dirty="0" err="1">
                <a:solidFill>
                  <a:schemeClr val="tx1"/>
                </a:solidFill>
                <a:latin typeface="+mn-lt"/>
                <a:ea typeface="+mn-ea"/>
                <a:cs typeface="+mn-cs"/>
              </a:rPr>
              <a:t>mypipe</a:t>
            </a:r>
            <a:r>
              <a:rPr lang="zh-TW" altLang="en-US" dirty="0"/>
              <a:t>，資料也是先寫先讀。</a:t>
            </a:r>
          </a:p>
          <a:p>
            <a:r>
              <a:rPr lang="en-US" altLang="zh-TW" b="1" dirty="0"/>
              <a:t>dequeue</a:t>
            </a:r>
            <a:r>
              <a:rPr lang="zh-TW" altLang="en-US" dirty="0"/>
              <a:t>（動詞）</a:t>
            </a:r>
            <a:r>
              <a:rPr lang="en-US" altLang="zh-TW" dirty="0"/>
              <a:t>= </a:t>
            </a:r>
            <a:r>
              <a:rPr lang="zh-TW" altLang="en-US" b="1" dirty="0"/>
              <a:t>從佇列中取出一個元素</a:t>
            </a:r>
            <a:r>
              <a:rPr lang="zh-TW" altLang="en-US" dirty="0"/>
              <a:t>（通常是「隊首」）。</a:t>
            </a:r>
          </a:p>
          <a:p>
            <a:r>
              <a:rPr lang="zh-TW" altLang="en-US" dirty="0"/>
              <a:t>相對詞：</a:t>
            </a:r>
            <a:r>
              <a:rPr lang="en-US" altLang="zh-TW" b="1" dirty="0"/>
              <a:t>enqueue</a:t>
            </a:r>
            <a:r>
              <a:rPr lang="zh-TW" altLang="en-US" dirty="0"/>
              <a:t> </a:t>
            </a:r>
            <a:r>
              <a:rPr lang="en-US" altLang="zh-TW" dirty="0"/>
              <a:t>= </a:t>
            </a:r>
            <a:r>
              <a:rPr lang="zh-TW" altLang="en-US" dirty="0"/>
              <a:t>把元素</a:t>
            </a:r>
            <a:r>
              <a:rPr lang="zh-TW" altLang="en-US" b="1" dirty="0"/>
              <a:t>放進</a:t>
            </a:r>
            <a:r>
              <a:rPr lang="zh-TW" altLang="en-US" dirty="0"/>
              <a:t>佇列（通常放到隊尾）。</a:t>
            </a:r>
          </a:p>
          <a:p>
            <a:r>
              <a:rPr lang="zh-TW" altLang="en-US" dirty="0"/>
              <a:t>發音：</a:t>
            </a:r>
            <a:r>
              <a:rPr lang="en-US" altLang="zh-TW" dirty="0"/>
              <a:t>/diː-ˈ</a:t>
            </a:r>
            <a:r>
              <a:rPr lang="en-US" altLang="zh-TW" dirty="0" err="1"/>
              <a:t>kju</a:t>
            </a:r>
            <a:r>
              <a:rPr lang="en-US" altLang="zh-TW" dirty="0"/>
              <a:t>ː/</a:t>
            </a:r>
            <a:r>
              <a:rPr lang="zh-TW" altLang="en-US" dirty="0"/>
              <a:t>（像「迪</a:t>
            </a:r>
            <a:r>
              <a:rPr lang="en-US" altLang="zh-TW" dirty="0"/>
              <a:t>-Q</a:t>
            </a:r>
            <a:r>
              <a:rPr lang="zh-TW" altLang="en-US" dirty="0"/>
              <a:t>」）。</a:t>
            </a:r>
          </a:p>
          <a:p>
            <a:r>
              <a:rPr lang="zh-TW" altLang="en-US" dirty="0"/>
              <a:t>在排程器裡：</a:t>
            </a:r>
          </a:p>
          <a:p>
            <a:r>
              <a:rPr lang="zh-TW" altLang="en-US" dirty="0"/>
              <a:t>「</a:t>
            </a:r>
            <a:r>
              <a:rPr lang="en-US" altLang="zh-TW" dirty="0"/>
              <a:t>dequeue </a:t>
            </a:r>
            <a:r>
              <a:rPr lang="zh-TW" altLang="en-US" dirty="0"/>
              <a:t>下一個 </a:t>
            </a:r>
            <a:r>
              <a:rPr lang="en-US" altLang="zh-TW" dirty="0"/>
              <a:t>task</a:t>
            </a:r>
            <a:r>
              <a:rPr lang="zh-TW" altLang="en-US" dirty="0"/>
              <a:t>」</a:t>
            </a:r>
            <a:r>
              <a:rPr lang="en-US" altLang="zh-TW" dirty="0"/>
              <a:t>= </a:t>
            </a:r>
            <a:r>
              <a:rPr lang="zh-TW" altLang="en-US" dirty="0"/>
              <a:t>從該優先級的 </a:t>
            </a:r>
            <a:r>
              <a:rPr lang="en-US" altLang="zh-TW" dirty="0"/>
              <a:t>FIFO </a:t>
            </a:r>
            <a:r>
              <a:rPr lang="zh-TW" altLang="en-US" dirty="0"/>
              <a:t>佇列</a:t>
            </a:r>
            <a:r>
              <a:rPr lang="zh-TW" altLang="en-US" b="1" dirty="0"/>
              <a:t>拿出最前面的行程</a:t>
            </a:r>
            <a:r>
              <a:rPr lang="zh-TW" altLang="en-US" dirty="0"/>
              <a:t>來執行。</a:t>
            </a:r>
          </a:p>
          <a:p>
            <a:r>
              <a:rPr lang="zh-TW" altLang="en-US" dirty="0"/>
              <a:t>別混淆：</a:t>
            </a:r>
          </a:p>
          <a:p>
            <a:r>
              <a:rPr lang="en-US" altLang="zh-TW" b="1" dirty="0"/>
              <a:t>dequeue</a:t>
            </a:r>
            <a:r>
              <a:rPr lang="zh-TW" altLang="en-US" b="1" dirty="0"/>
              <a:t>（動詞）</a:t>
            </a:r>
            <a:r>
              <a:rPr lang="zh-TW" altLang="en-US" dirty="0"/>
              <a:t> </a:t>
            </a:r>
            <a:r>
              <a:rPr lang="en-US" altLang="zh-TW" dirty="0"/>
              <a:t>vs </a:t>
            </a:r>
            <a:r>
              <a:rPr lang="en-US" altLang="zh-TW" b="1" dirty="0"/>
              <a:t>deque</a:t>
            </a:r>
            <a:r>
              <a:rPr lang="zh-TW" altLang="en-US" b="1" dirty="0"/>
              <a:t>（名詞，</a:t>
            </a:r>
            <a:r>
              <a:rPr lang="en-US" altLang="zh-TW" b="1" dirty="0"/>
              <a:t>double-ended queue</a:t>
            </a:r>
            <a:r>
              <a:rPr lang="zh-TW" altLang="en-US" b="1" dirty="0"/>
              <a:t>）</a:t>
            </a:r>
            <a:r>
              <a:rPr lang="zh-TW" altLang="en-US" dirty="0"/>
              <a:t>：後者是「雙端佇列」，兩端都可進出。</a:t>
            </a: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17</a:t>
            </a:fld>
            <a:endParaRPr lang="zh-TW" altLang="en-US"/>
          </a:p>
        </p:txBody>
      </p:sp>
    </p:spTree>
    <p:extLst>
      <p:ext uri="{BB962C8B-B14F-4D97-AF65-F5344CB8AC3E}">
        <p14:creationId xmlns:p14="http://schemas.microsoft.com/office/powerpoint/2010/main" val="23862034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9655B-AE32-B2AB-E244-0F1ED402AF9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D529756-070B-BC3A-3C4D-89C1FA30353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7492236-AB2C-9EA6-779C-39A7FC7F373D}"/>
              </a:ext>
            </a:extLst>
          </p:cNvPr>
          <p:cNvSpPr>
            <a:spLocks noGrp="1"/>
          </p:cNvSpPr>
          <p:nvPr>
            <p:ph type="body" idx="1"/>
          </p:nvPr>
        </p:nvSpPr>
        <p:spPr/>
        <p:txBody>
          <a:bodyPr/>
          <a:lstStyle/>
          <a:p>
            <a:r>
              <a:rPr lang="zh-TW" altLang="en-US" dirty="0"/>
              <a:t>來，把 </a:t>
            </a:r>
            <a:r>
              <a:rPr lang="en-US" altLang="zh-TW" dirty="0"/>
              <a:t>CFS</a:t>
            </a:r>
            <a:r>
              <a:rPr lang="zh-TW" altLang="en-US" dirty="0"/>
              <a:t>（</a:t>
            </a:r>
            <a:r>
              <a:rPr lang="en-US" altLang="zh-TW" dirty="0"/>
              <a:t>Completely Fair Scheduler</a:t>
            </a:r>
            <a:r>
              <a:rPr lang="zh-TW" altLang="en-US" dirty="0"/>
              <a:t>）講到超好懂：</a:t>
            </a:r>
          </a:p>
          <a:p>
            <a:r>
              <a:rPr lang="en-US" altLang="zh-TW" b="1" dirty="0"/>
              <a:t>CFS </a:t>
            </a:r>
            <a:r>
              <a:rPr lang="zh-TW" altLang="en-US" b="1" dirty="0"/>
              <a:t>是什麼？</a:t>
            </a:r>
          </a:p>
          <a:p>
            <a:r>
              <a:rPr lang="en-US" altLang="zh-TW" dirty="0"/>
              <a:t>Linux 2.6 </a:t>
            </a:r>
            <a:r>
              <a:rPr lang="zh-TW" altLang="en-US" dirty="0"/>
              <a:t>起改用 </a:t>
            </a:r>
            <a:r>
              <a:rPr lang="en-US" altLang="zh-TW" b="1" dirty="0"/>
              <a:t>CFS</a:t>
            </a:r>
            <a:r>
              <a:rPr lang="zh-TW" altLang="en-US" dirty="0"/>
              <a:t>，時間複雜度約 </a:t>
            </a:r>
            <a:r>
              <a:rPr lang="en-US" altLang="zh-TW" b="1" dirty="0"/>
              <a:t>O(log N)</a:t>
            </a:r>
            <a:r>
              <a:rPr lang="zh-TW" altLang="en-US" dirty="0"/>
              <a:t>（用紅黑樹）。</a:t>
            </a:r>
          </a:p>
          <a:p>
            <a:r>
              <a:rPr lang="zh-TW" altLang="en-US" dirty="0"/>
              <a:t>目標：</a:t>
            </a:r>
            <a:r>
              <a:rPr lang="zh-TW" altLang="en-US" b="1" dirty="0"/>
              <a:t>互動更好 </a:t>
            </a:r>
            <a:r>
              <a:rPr lang="en-US" altLang="zh-TW" b="1" dirty="0"/>
              <a:t>+ </a:t>
            </a:r>
            <a:r>
              <a:rPr lang="zh-TW" altLang="en-US" b="1" dirty="0"/>
              <a:t>更公平</a:t>
            </a:r>
            <a:r>
              <a:rPr lang="zh-TW" altLang="en-US" dirty="0"/>
              <a:t>，不要像舊 </a:t>
            </a:r>
            <a:r>
              <a:rPr lang="en-US" altLang="zh-TW" dirty="0"/>
              <a:t>O(1) </a:t>
            </a:r>
            <a:r>
              <a:rPr lang="zh-TW" altLang="en-US" dirty="0"/>
              <a:t>那樣讓低優先權被餓到。</a:t>
            </a:r>
          </a:p>
          <a:p>
            <a:r>
              <a:rPr lang="zh-TW" altLang="en-US" b="1" dirty="0"/>
              <a:t>核心概念（背下來）</a:t>
            </a:r>
          </a:p>
          <a:p>
            <a:r>
              <a:rPr lang="zh-TW" altLang="en-US" b="1" dirty="0"/>
              <a:t>公平份額（</a:t>
            </a:r>
            <a:r>
              <a:rPr lang="en-US" altLang="zh-TW" b="1" dirty="0"/>
              <a:t>fair share</a:t>
            </a:r>
            <a:r>
              <a:rPr lang="zh-TW" altLang="en-US" b="1" dirty="0"/>
              <a:t>）</a:t>
            </a:r>
            <a:r>
              <a:rPr lang="zh-TW" altLang="en-US" dirty="0"/>
              <a:t>：同時有 </a:t>
            </a:r>
            <a:r>
              <a:rPr lang="en-US" altLang="zh-TW" sz="1200" kern="1200" dirty="0">
                <a:solidFill>
                  <a:schemeClr val="tx1"/>
                </a:solidFill>
                <a:latin typeface="+mn-lt"/>
                <a:ea typeface="+mn-ea"/>
                <a:cs typeface="+mn-cs"/>
              </a:rPr>
              <a:t>n</a:t>
            </a:r>
            <a:r>
              <a:rPr lang="en-US" altLang="zh-TW" dirty="0"/>
              <a:t> </a:t>
            </a:r>
            <a:r>
              <a:rPr lang="zh-TW" altLang="en-US" dirty="0"/>
              <a:t>個可跑的 </a:t>
            </a:r>
            <a:r>
              <a:rPr lang="en-US" altLang="zh-TW" dirty="0"/>
              <a:t>task</a:t>
            </a:r>
            <a:r>
              <a:rPr lang="zh-TW" altLang="en-US" dirty="0"/>
              <a:t>，每個人理論上拿 </a:t>
            </a:r>
            <a:r>
              <a:rPr lang="en-US" altLang="zh-TW" b="1" dirty="0"/>
              <a:t>CPU </a:t>
            </a:r>
            <a:r>
              <a:rPr lang="zh-TW" altLang="en-US" b="1" dirty="0"/>
              <a:t>的 </a:t>
            </a:r>
            <a:r>
              <a:rPr lang="en-US" altLang="zh-TW" b="1" dirty="0"/>
              <a:t>1/n</a:t>
            </a:r>
            <a:r>
              <a:rPr lang="zh-TW" altLang="en-US" dirty="0"/>
              <a:t>；有人”拿太多”就先休息，讓別人補回來。</a:t>
            </a:r>
          </a:p>
          <a:p>
            <a:r>
              <a:rPr lang="zh-TW" altLang="en-US" b="1" dirty="0"/>
              <a:t>虛擬執行時間 </a:t>
            </a:r>
            <a:r>
              <a:rPr lang="en-US" altLang="zh-TW" sz="1200" b="1" kern="1200" dirty="0" err="1">
                <a:solidFill>
                  <a:schemeClr val="tx1"/>
                </a:solidFill>
                <a:latin typeface="+mn-lt"/>
                <a:ea typeface="+mn-ea"/>
                <a:cs typeface="+mn-cs"/>
              </a:rPr>
              <a:t>vruntime</a:t>
            </a:r>
            <a:r>
              <a:rPr lang="zh-TW" altLang="en-US" dirty="0"/>
              <a:t>：量測「你已經拿了多少 </a:t>
            </a:r>
            <a:r>
              <a:rPr lang="en-US" altLang="zh-TW" dirty="0"/>
              <a:t>CPU</a:t>
            </a:r>
            <a:r>
              <a:rPr lang="zh-TW" altLang="en-US" dirty="0"/>
              <a:t>（依權重折算）」。</a:t>
            </a:r>
          </a:p>
          <a:p>
            <a:pPr lvl="1"/>
            <a:r>
              <a:rPr lang="zh-TW" altLang="en-US" dirty="0"/>
              <a:t>權重來自 </a:t>
            </a:r>
            <a:r>
              <a:rPr lang="en-US" altLang="zh-TW" b="1" dirty="0"/>
              <a:t>nice </a:t>
            </a:r>
            <a:r>
              <a:rPr lang="zh-TW" altLang="en-US" b="1" dirty="0"/>
              <a:t>值</a:t>
            </a:r>
            <a:r>
              <a:rPr lang="zh-TW" altLang="en-US" dirty="0"/>
              <a:t>（</a:t>
            </a:r>
            <a:r>
              <a:rPr lang="en-US" altLang="zh-TW" dirty="0"/>
              <a:t>nice </a:t>
            </a:r>
            <a:r>
              <a:rPr lang="zh-TW" altLang="en-US" dirty="0"/>
              <a:t>小 → 權重大 → 該拿比較多 </a:t>
            </a:r>
            <a:r>
              <a:rPr lang="en-US" altLang="zh-TW" dirty="0"/>
              <a:t>CPU</a:t>
            </a:r>
            <a:r>
              <a:rPr lang="zh-TW" altLang="en-US" dirty="0"/>
              <a:t>）。</a:t>
            </a:r>
          </a:p>
          <a:p>
            <a:pPr lvl="1"/>
            <a:r>
              <a:rPr lang="zh-TW" altLang="en-US" dirty="0"/>
              <a:t>更新公式常見寫法：</a:t>
            </a:r>
            <a:br>
              <a:rPr lang="zh-TW" altLang="en-US" dirty="0"/>
            </a:br>
            <a:r>
              <a:rPr lang="en-US" altLang="zh-TW" sz="1200" b="1" kern="1200" dirty="0" err="1">
                <a:solidFill>
                  <a:schemeClr val="tx1"/>
                </a:solidFill>
                <a:latin typeface="+mn-lt"/>
                <a:ea typeface="+mn-ea"/>
                <a:cs typeface="+mn-cs"/>
              </a:rPr>
              <a:t>vruntime</a:t>
            </a:r>
            <a:r>
              <a:rPr lang="en-US" altLang="zh-TW" sz="1200" b="1" kern="1200" dirty="0">
                <a:solidFill>
                  <a:schemeClr val="tx1"/>
                </a:solidFill>
                <a:latin typeface="+mn-lt"/>
                <a:ea typeface="+mn-ea"/>
                <a:cs typeface="+mn-cs"/>
              </a:rPr>
              <a:t> += </a:t>
            </a:r>
            <a:r>
              <a:rPr lang="en-US" altLang="zh-TW" sz="1200" b="1" kern="1200" dirty="0" err="1">
                <a:solidFill>
                  <a:schemeClr val="tx1"/>
                </a:solidFill>
                <a:latin typeface="+mn-lt"/>
                <a:ea typeface="+mn-ea"/>
                <a:cs typeface="+mn-cs"/>
              </a:rPr>
              <a:t>delta_exec</a:t>
            </a:r>
            <a:r>
              <a:rPr lang="en-US" altLang="zh-TW" sz="1200" b="1" kern="1200" dirty="0">
                <a:solidFill>
                  <a:schemeClr val="tx1"/>
                </a:solidFill>
                <a:latin typeface="+mn-lt"/>
                <a:ea typeface="+mn-ea"/>
                <a:cs typeface="+mn-cs"/>
              </a:rPr>
              <a:t> * (NICE_0_WEIGHT / weight)</a:t>
            </a:r>
            <a:br>
              <a:rPr lang="en-US" altLang="zh-TW" dirty="0"/>
            </a:br>
            <a:r>
              <a:rPr lang="zh-TW" altLang="en-US" dirty="0"/>
              <a:t>（跑了 </a:t>
            </a:r>
            <a:r>
              <a:rPr lang="en-US" altLang="zh-TW" sz="1200" kern="1200" dirty="0" err="1">
                <a:solidFill>
                  <a:schemeClr val="tx1"/>
                </a:solidFill>
                <a:latin typeface="+mn-lt"/>
                <a:ea typeface="+mn-ea"/>
                <a:cs typeface="+mn-cs"/>
              </a:rPr>
              <a:t>delta_exec</a:t>
            </a:r>
            <a:r>
              <a:rPr lang="en-US" altLang="zh-TW" dirty="0"/>
              <a:t> </a:t>
            </a:r>
            <a:r>
              <a:rPr lang="zh-TW" altLang="en-US" dirty="0"/>
              <a:t>真實時間；權重越大，</a:t>
            </a:r>
            <a:r>
              <a:rPr lang="en-US" altLang="zh-TW" sz="1200" kern="1200" dirty="0" err="1">
                <a:solidFill>
                  <a:schemeClr val="tx1"/>
                </a:solidFill>
                <a:latin typeface="+mn-lt"/>
                <a:ea typeface="+mn-ea"/>
                <a:cs typeface="+mn-cs"/>
              </a:rPr>
              <a:t>vruntime</a:t>
            </a:r>
            <a:r>
              <a:rPr lang="en-US" altLang="zh-TW" dirty="0"/>
              <a:t> </a:t>
            </a:r>
            <a:r>
              <a:rPr lang="zh-TW" altLang="en-US" dirty="0"/>
              <a:t>增加越少 → 看起來“還欠”，下次更容易被選）</a:t>
            </a:r>
          </a:p>
          <a:p>
            <a:r>
              <a:rPr lang="zh-TW" altLang="en-US" b="1" dirty="0"/>
              <a:t>資料結構</a:t>
            </a:r>
            <a:r>
              <a:rPr lang="zh-TW" altLang="en-US" dirty="0"/>
              <a:t>：把所有可跑 </a:t>
            </a:r>
            <a:r>
              <a:rPr lang="en-US" altLang="zh-TW" dirty="0"/>
              <a:t>task </a:t>
            </a:r>
            <a:r>
              <a:rPr lang="zh-TW" altLang="en-US" dirty="0"/>
              <a:t>以 </a:t>
            </a:r>
            <a:r>
              <a:rPr lang="en-US" altLang="zh-TW" sz="1200" b="1" kern="1200" dirty="0" err="1">
                <a:solidFill>
                  <a:schemeClr val="tx1"/>
                </a:solidFill>
                <a:latin typeface="+mn-lt"/>
                <a:ea typeface="+mn-ea"/>
                <a:cs typeface="+mn-cs"/>
              </a:rPr>
              <a:t>vruntime</a:t>
            </a:r>
            <a:r>
              <a:rPr lang="en-US" altLang="zh-TW" b="1" dirty="0"/>
              <a:t> </a:t>
            </a:r>
            <a:r>
              <a:rPr lang="zh-TW" altLang="en-US" b="1" dirty="0"/>
              <a:t>當 </a:t>
            </a:r>
            <a:r>
              <a:rPr lang="en-US" altLang="zh-TW" b="1" dirty="0"/>
              <a:t>key </a:t>
            </a:r>
            <a:r>
              <a:rPr lang="zh-TW" altLang="en-US" b="1" dirty="0"/>
              <a:t>放在紅黑樹</a:t>
            </a:r>
            <a:r>
              <a:rPr lang="zh-TW" altLang="en-US" dirty="0"/>
              <a:t>；</a:t>
            </a:r>
          </a:p>
          <a:p>
            <a:pPr lvl="1"/>
            <a:r>
              <a:rPr lang="zh-TW" altLang="en-US" b="1" dirty="0"/>
              <a:t>選人 </a:t>
            </a:r>
            <a:r>
              <a:rPr lang="en-US" altLang="zh-TW" b="1" dirty="0"/>
              <a:t>= </a:t>
            </a:r>
            <a:r>
              <a:rPr lang="zh-TW" altLang="en-US" b="1" dirty="0"/>
              <a:t>取最左端（最小 </a:t>
            </a:r>
            <a:r>
              <a:rPr lang="en-US" altLang="zh-TW" b="1" dirty="0" err="1"/>
              <a:t>vruntime</a:t>
            </a:r>
            <a:r>
              <a:rPr lang="zh-TW" altLang="en-US" b="1" dirty="0"/>
              <a:t>）</a:t>
            </a:r>
            <a:r>
              <a:rPr lang="en-US" altLang="zh-TW" dirty="0"/>
              <a:t> → </a:t>
            </a:r>
            <a:r>
              <a:rPr lang="zh-TW" altLang="en-US" dirty="0"/>
              <a:t>欠得最多的人先跑（</a:t>
            </a:r>
            <a:r>
              <a:rPr lang="en-US" altLang="zh-TW" dirty="0"/>
              <a:t>O(log N) </a:t>
            </a:r>
            <a:r>
              <a:rPr lang="zh-TW" altLang="en-US" dirty="0"/>
              <a:t>插入</a:t>
            </a:r>
            <a:r>
              <a:rPr lang="en-US" altLang="zh-TW" dirty="0"/>
              <a:t>/</a:t>
            </a:r>
            <a:r>
              <a:rPr lang="zh-TW" altLang="en-US" dirty="0"/>
              <a:t>刪除，</a:t>
            </a:r>
            <a:r>
              <a:rPr lang="en-US" altLang="zh-TW" dirty="0"/>
              <a:t>O(1) </a:t>
            </a:r>
            <a:r>
              <a:rPr lang="zh-TW" altLang="en-US" dirty="0"/>
              <a:t>取最小節點）。</a:t>
            </a:r>
          </a:p>
          <a:p>
            <a:r>
              <a:rPr lang="en-US" altLang="zh-TW" sz="1200" b="1" kern="1200" dirty="0">
                <a:solidFill>
                  <a:schemeClr val="tx1"/>
                </a:solidFill>
                <a:latin typeface="+mn-lt"/>
                <a:ea typeface="+mn-ea"/>
                <a:cs typeface="+mn-cs"/>
              </a:rPr>
              <a:t>__</a:t>
            </a:r>
            <a:r>
              <a:rPr lang="en-US" altLang="zh-TW" sz="1200" b="1" kern="1200" dirty="0" err="1">
                <a:solidFill>
                  <a:schemeClr val="tx1"/>
                </a:solidFill>
                <a:latin typeface="+mn-lt"/>
                <a:ea typeface="+mn-ea"/>
                <a:cs typeface="+mn-cs"/>
              </a:rPr>
              <a:t>sched_period</a:t>
            </a:r>
            <a:r>
              <a:rPr lang="zh-TW" altLang="en-US" dirty="0"/>
              <a:t>：排程器期望「在這段期間內，所有 </a:t>
            </a:r>
            <a:r>
              <a:rPr lang="en-US" altLang="zh-TW" dirty="0"/>
              <a:t>runnable task </a:t>
            </a:r>
            <a:r>
              <a:rPr lang="zh-TW" altLang="en-US" dirty="0"/>
              <a:t>都輪到一次」的時間窗（約數 </a:t>
            </a:r>
            <a:r>
              <a:rPr lang="en-US" altLang="zh-TW" dirty="0" err="1"/>
              <a:t>ms</a:t>
            </a:r>
            <a:r>
              <a:rPr lang="en-US" altLang="zh-TW" dirty="0"/>
              <a:t> </a:t>
            </a:r>
            <a:r>
              <a:rPr lang="zh-TW" altLang="en-US" dirty="0"/>
              <a:t>級）。每人理論可得時間 ≈ </a:t>
            </a:r>
            <a:r>
              <a:rPr lang="en-US" altLang="zh-TW" sz="1200" kern="1200" dirty="0">
                <a:solidFill>
                  <a:schemeClr val="tx1"/>
                </a:solidFill>
                <a:latin typeface="+mn-lt"/>
                <a:ea typeface="+mn-ea"/>
                <a:cs typeface="+mn-cs"/>
              </a:rPr>
              <a:t>__</a:t>
            </a:r>
            <a:r>
              <a:rPr lang="en-US" altLang="zh-TW" sz="1200" kern="1200" dirty="0" err="1">
                <a:solidFill>
                  <a:schemeClr val="tx1"/>
                </a:solidFill>
                <a:latin typeface="+mn-lt"/>
                <a:ea typeface="+mn-ea"/>
                <a:cs typeface="+mn-cs"/>
              </a:rPr>
              <a:t>sched_period</a:t>
            </a:r>
            <a:r>
              <a:rPr lang="en-US" altLang="zh-TW" sz="1200" kern="1200" dirty="0">
                <a:solidFill>
                  <a:schemeClr val="tx1"/>
                </a:solidFill>
                <a:latin typeface="+mn-lt"/>
                <a:ea typeface="+mn-ea"/>
                <a:cs typeface="+mn-cs"/>
              </a:rPr>
              <a:t> * weight / sum(weights)</a:t>
            </a:r>
            <a:r>
              <a:rPr lang="zh-TW" altLang="en-US" dirty="0"/>
              <a:t>。</a:t>
            </a:r>
          </a:p>
          <a:p>
            <a:r>
              <a:rPr lang="zh-TW" altLang="en-US" b="1" dirty="0"/>
              <a:t>跟舊 </a:t>
            </a:r>
            <a:r>
              <a:rPr lang="en-US" altLang="zh-TW" b="1" dirty="0"/>
              <a:t>O(1) </a:t>
            </a:r>
            <a:r>
              <a:rPr lang="zh-TW" altLang="en-US" b="1" dirty="0"/>
              <a:t>的差別</a:t>
            </a:r>
          </a:p>
          <a:p>
            <a:r>
              <a:rPr lang="en-US" altLang="zh-TW" b="1" dirty="0"/>
              <a:t>O(1)</a:t>
            </a:r>
            <a:r>
              <a:rPr lang="zh-TW" altLang="en-US" dirty="0"/>
              <a:t>：固定時間片 </a:t>
            </a:r>
            <a:r>
              <a:rPr lang="en-US" altLang="zh-TW" dirty="0"/>
              <a:t>+ </a:t>
            </a:r>
            <a:r>
              <a:rPr lang="zh-TW" altLang="en-US" dirty="0"/>
              <a:t>多級佇列 → 快，但低優先可能長期輪不到。</a:t>
            </a:r>
          </a:p>
          <a:p>
            <a:r>
              <a:rPr lang="en-US" altLang="zh-TW" b="1" dirty="0"/>
              <a:t>CFS</a:t>
            </a:r>
            <a:r>
              <a:rPr lang="zh-TW" altLang="en-US" dirty="0"/>
              <a:t>：</a:t>
            </a:r>
            <a:r>
              <a:rPr lang="zh-TW" altLang="en-US" b="1" dirty="0"/>
              <a:t>沒有固定時間片表</a:t>
            </a:r>
            <a:r>
              <a:rPr lang="zh-TW" altLang="en-US" dirty="0"/>
              <a:t>，照</a:t>
            </a:r>
            <a:r>
              <a:rPr lang="zh-TW" altLang="en-US" b="1" dirty="0"/>
              <a:t>權重比例</a:t>
            </a:r>
            <a:r>
              <a:rPr lang="zh-TW" altLang="en-US" dirty="0"/>
              <a:t>分配；誰跑得多，</a:t>
            </a:r>
            <a:r>
              <a:rPr lang="en-US" altLang="zh-TW" sz="1200" kern="1200" dirty="0" err="1">
                <a:solidFill>
                  <a:schemeClr val="tx1"/>
                </a:solidFill>
                <a:latin typeface="+mn-lt"/>
                <a:ea typeface="+mn-ea"/>
                <a:cs typeface="+mn-cs"/>
              </a:rPr>
              <a:t>vruntime</a:t>
            </a:r>
            <a:r>
              <a:rPr lang="en-US" altLang="zh-TW" dirty="0"/>
              <a:t> </a:t>
            </a:r>
            <a:r>
              <a:rPr lang="zh-TW" altLang="en-US" dirty="0"/>
              <a:t>漲更快，</a:t>
            </a:r>
            <a:r>
              <a:rPr lang="zh-TW" altLang="en-US" b="1" dirty="0"/>
              <a:t>下次晚點選</a:t>
            </a:r>
            <a:r>
              <a:rPr lang="zh-TW" altLang="en-US" dirty="0"/>
              <a:t> → 互動更平滑、公平。</a:t>
            </a:r>
          </a:p>
          <a:p>
            <a:r>
              <a:rPr lang="zh-TW" altLang="en-US" b="1" dirty="0"/>
              <a:t>投影片上幾個詞</a:t>
            </a:r>
          </a:p>
          <a:p>
            <a:r>
              <a:rPr lang="zh-TW" altLang="en-US" b="1" dirty="0"/>
              <a:t>“</a:t>
            </a:r>
            <a:r>
              <a:rPr lang="en-US" altLang="zh-TW" b="1" dirty="0"/>
              <a:t>1/n of the processor’s time”</a:t>
            </a:r>
            <a:r>
              <a:rPr lang="zh-TW" altLang="en-US" dirty="0"/>
              <a:t>：同時有 </a:t>
            </a:r>
            <a:r>
              <a:rPr lang="en-US" altLang="zh-TW" sz="1200" kern="1200" dirty="0">
                <a:solidFill>
                  <a:schemeClr val="tx1"/>
                </a:solidFill>
                <a:latin typeface="+mn-lt"/>
                <a:ea typeface="+mn-ea"/>
                <a:cs typeface="+mn-cs"/>
              </a:rPr>
              <a:t>n</a:t>
            </a:r>
            <a:r>
              <a:rPr lang="en-US" altLang="zh-TW" dirty="0"/>
              <a:t> </a:t>
            </a:r>
            <a:r>
              <a:rPr lang="zh-TW" altLang="en-US" dirty="0"/>
              <a:t>個可跑 </a:t>
            </a:r>
            <a:r>
              <a:rPr lang="en-US" altLang="zh-TW" dirty="0"/>
              <a:t>task </a:t>
            </a:r>
            <a:r>
              <a:rPr lang="zh-TW" altLang="en-US" dirty="0"/>
              <a:t>就各拿 </a:t>
            </a:r>
            <a:r>
              <a:rPr lang="en-US" altLang="zh-TW" dirty="0"/>
              <a:t>1/n</a:t>
            </a:r>
            <a:r>
              <a:rPr lang="zh-TW" altLang="en-US" dirty="0"/>
              <a:t>（再按 </a:t>
            </a:r>
            <a:r>
              <a:rPr lang="en-US" altLang="zh-TW" dirty="0"/>
              <a:t>nice </a:t>
            </a:r>
            <a:r>
              <a:rPr lang="zh-TW" altLang="en-US" dirty="0"/>
              <a:t>權重微調）。</a:t>
            </a:r>
          </a:p>
          <a:p>
            <a:r>
              <a:rPr lang="zh-TW" altLang="en-US" b="1" dirty="0"/>
              <a:t>“</a:t>
            </a:r>
            <a:r>
              <a:rPr lang="en-US" altLang="zh-TW" b="1" dirty="0"/>
              <a:t>infinitely small durations”</a:t>
            </a:r>
            <a:r>
              <a:rPr lang="zh-TW" altLang="en-US" dirty="0"/>
              <a:t>：理論模型是無限細切換；實作上以 </a:t>
            </a:r>
            <a:r>
              <a:rPr lang="en-US" altLang="zh-TW" dirty="0"/>
              <a:t>tick/</a:t>
            </a:r>
            <a:r>
              <a:rPr lang="zh-TW" altLang="en-US" dirty="0"/>
              <a:t>時鐘中斷近似。</a:t>
            </a:r>
          </a:p>
          <a:p>
            <a:r>
              <a:rPr lang="en-US" altLang="zh-TW" sz="1200" b="1" kern="1200" dirty="0" err="1">
                <a:solidFill>
                  <a:schemeClr val="tx1"/>
                </a:solidFill>
                <a:latin typeface="+mn-lt"/>
                <a:ea typeface="+mn-ea"/>
                <a:cs typeface="+mn-cs"/>
              </a:rPr>
              <a:t>NICE_Weight</a:t>
            </a:r>
            <a:r>
              <a:rPr lang="en-US" altLang="zh-TW" b="1" dirty="0"/>
              <a:t> / </a:t>
            </a:r>
            <a:r>
              <a:rPr lang="en-US" altLang="zh-TW" sz="1200" b="1" kern="1200" dirty="0" err="1">
                <a:solidFill>
                  <a:schemeClr val="tx1"/>
                </a:solidFill>
                <a:latin typeface="+mn-lt"/>
                <a:ea typeface="+mn-ea"/>
                <a:cs typeface="+mn-cs"/>
              </a:rPr>
              <a:t>NICE_k_Weight</a:t>
            </a:r>
            <a:r>
              <a:rPr lang="zh-TW" altLang="en-US" dirty="0"/>
              <a:t>：單一 </a:t>
            </a:r>
            <a:r>
              <a:rPr lang="en-US" altLang="zh-TW" dirty="0"/>
              <a:t>nice </a:t>
            </a:r>
            <a:r>
              <a:rPr lang="zh-TW" altLang="en-US" dirty="0"/>
              <a:t>的權重 </a:t>
            </a:r>
            <a:r>
              <a:rPr lang="en-US" altLang="zh-TW" dirty="0"/>
              <a:t>/ </a:t>
            </a:r>
            <a:r>
              <a:rPr lang="zh-TW" altLang="en-US" dirty="0"/>
              <a:t>所有可跑任務權重總和。</a:t>
            </a:r>
          </a:p>
          <a:p>
            <a:r>
              <a:rPr lang="en-US" altLang="zh-TW" b="1" dirty="0"/>
              <a:t>Keep the virtual runtime … the same</a:t>
            </a:r>
            <a:r>
              <a:rPr lang="zh-TW" altLang="en-US" dirty="0"/>
              <a:t>：讓所有可跑 </a:t>
            </a:r>
            <a:r>
              <a:rPr lang="en-US" altLang="zh-TW" dirty="0"/>
              <a:t>task </a:t>
            </a:r>
            <a:r>
              <a:rPr lang="zh-TW" altLang="en-US" dirty="0"/>
              <a:t>的 </a:t>
            </a:r>
            <a:r>
              <a:rPr lang="en-US" altLang="zh-TW" sz="1200" kern="1200" dirty="0" err="1">
                <a:solidFill>
                  <a:schemeClr val="tx1"/>
                </a:solidFill>
                <a:latin typeface="+mn-lt"/>
                <a:ea typeface="+mn-ea"/>
                <a:cs typeface="+mn-cs"/>
              </a:rPr>
              <a:t>vruntime</a:t>
            </a:r>
            <a:r>
              <a:rPr lang="en-US" altLang="zh-TW" dirty="0"/>
              <a:t> </a:t>
            </a:r>
            <a:r>
              <a:rPr lang="zh-TW" altLang="en-US" dirty="0"/>
              <a:t>彼此不會差太遠，維持「誰欠就補誰」。</a:t>
            </a:r>
          </a:p>
          <a:p>
            <a:r>
              <a:rPr lang="zh-TW" altLang="en-US" b="1" dirty="0"/>
              <a:t>超短例子</a:t>
            </a:r>
          </a:p>
          <a:p>
            <a:r>
              <a:rPr lang="zh-TW" altLang="en-US" dirty="0"/>
              <a:t>三個 </a:t>
            </a:r>
            <a:r>
              <a:rPr lang="en-US" altLang="zh-TW" dirty="0"/>
              <a:t>runnable</a:t>
            </a:r>
            <a:r>
              <a:rPr lang="zh-TW" altLang="en-US" dirty="0"/>
              <a:t>：</a:t>
            </a:r>
            <a:r>
              <a:rPr lang="en-US" altLang="zh-TW" dirty="0"/>
              <a:t>A(nice 0)</a:t>
            </a:r>
            <a:r>
              <a:rPr lang="zh-TW" altLang="en-US" dirty="0"/>
              <a:t>、</a:t>
            </a:r>
            <a:r>
              <a:rPr lang="en-US" altLang="zh-TW" dirty="0"/>
              <a:t>B(nice 0)</a:t>
            </a:r>
            <a:r>
              <a:rPr lang="zh-TW" altLang="en-US" dirty="0"/>
              <a:t>、</a:t>
            </a:r>
            <a:r>
              <a:rPr lang="en-US" altLang="zh-TW" dirty="0"/>
              <a:t>C(nice 5)</a:t>
            </a:r>
            <a:r>
              <a:rPr lang="zh-TW" altLang="en-US" dirty="0"/>
              <a:t>。</a:t>
            </a:r>
          </a:p>
          <a:p>
            <a:pPr lvl="1"/>
            <a:r>
              <a:rPr lang="zh-TW" altLang="en-US" dirty="0"/>
              <a:t>權重：</a:t>
            </a:r>
            <a:r>
              <a:rPr lang="en-US" altLang="zh-TW" dirty="0"/>
              <a:t>A≈B&gt; C</a:t>
            </a:r>
            <a:r>
              <a:rPr lang="zh-TW" altLang="en-US" dirty="0"/>
              <a:t>。</a:t>
            </a:r>
            <a:r>
              <a:rPr lang="en-US" altLang="zh-TW" dirty="0"/>
              <a:t>C </a:t>
            </a:r>
            <a:r>
              <a:rPr lang="zh-TW" altLang="en-US" dirty="0"/>
              <a:t>權重小，所以每跑同樣真實時間，</a:t>
            </a:r>
            <a:r>
              <a:rPr lang="en-US" altLang="zh-TW" b="1" dirty="0"/>
              <a:t>C </a:t>
            </a:r>
            <a:r>
              <a:rPr lang="zh-TW" altLang="en-US" b="1" dirty="0"/>
              <a:t>的 </a:t>
            </a:r>
            <a:r>
              <a:rPr lang="en-US" altLang="zh-TW" sz="1200" b="1" kern="1200" dirty="0" err="1">
                <a:solidFill>
                  <a:schemeClr val="tx1"/>
                </a:solidFill>
                <a:latin typeface="+mn-lt"/>
                <a:ea typeface="+mn-ea"/>
                <a:cs typeface="+mn-cs"/>
              </a:rPr>
              <a:t>vruntime</a:t>
            </a:r>
            <a:r>
              <a:rPr lang="en-US" altLang="zh-TW" b="1" dirty="0"/>
              <a:t> </a:t>
            </a:r>
            <a:r>
              <a:rPr lang="zh-TW" altLang="en-US" b="1" dirty="0"/>
              <a:t>增加比較多</a:t>
            </a:r>
            <a:r>
              <a:rPr lang="zh-TW" altLang="en-US" dirty="0"/>
              <a:t>，因此</a:t>
            </a:r>
            <a:r>
              <a:rPr lang="zh-TW" altLang="en-US" b="1" dirty="0"/>
              <a:t>更難被連續選</a:t>
            </a:r>
            <a:r>
              <a:rPr lang="zh-TW" altLang="en-US" dirty="0"/>
              <a:t>；</a:t>
            </a:r>
            <a:r>
              <a:rPr lang="en-US" altLang="zh-TW" dirty="0"/>
              <a:t>A</a:t>
            </a:r>
            <a:r>
              <a:rPr lang="zh-TW" altLang="en-US" dirty="0"/>
              <a:t>、</a:t>
            </a:r>
            <a:r>
              <a:rPr lang="en-US" altLang="zh-TW" dirty="0"/>
              <a:t>B </a:t>
            </a:r>
            <a:r>
              <a:rPr lang="zh-TW" altLang="en-US" dirty="0"/>
              <a:t>會更常被挑中。整體結果是 </a:t>
            </a:r>
            <a:r>
              <a:rPr lang="en-US" altLang="zh-TW" dirty="0"/>
              <a:t>A</a:t>
            </a:r>
            <a:r>
              <a:rPr lang="zh-TW" altLang="en-US" dirty="0"/>
              <a:t>、</a:t>
            </a:r>
            <a:r>
              <a:rPr lang="en-US" altLang="zh-TW" dirty="0"/>
              <a:t>B </a:t>
            </a:r>
            <a:r>
              <a:rPr lang="zh-TW" altLang="en-US" dirty="0"/>
              <a:t>分到比較多 </a:t>
            </a:r>
            <a:r>
              <a:rPr lang="en-US" altLang="zh-TW" dirty="0"/>
              <a:t>CPU</a:t>
            </a:r>
            <a:r>
              <a:rPr lang="zh-TW" altLang="en-US" dirty="0"/>
              <a:t>，</a:t>
            </a:r>
            <a:r>
              <a:rPr lang="en-US" altLang="zh-TW" dirty="0"/>
              <a:t>C </a:t>
            </a:r>
            <a:r>
              <a:rPr lang="zh-TW" altLang="en-US" dirty="0"/>
              <a:t>少一點，但</a:t>
            </a:r>
            <a:r>
              <a:rPr lang="zh-TW" altLang="en-US" b="1" dirty="0"/>
              <a:t>都能輪到</a:t>
            </a:r>
            <a:r>
              <a:rPr lang="zh-TW" altLang="en-US" dirty="0"/>
              <a:t>。</a:t>
            </a:r>
          </a:p>
          <a:p>
            <a:r>
              <a:rPr lang="zh-TW" altLang="en-US" dirty="0"/>
              <a:t>一句話總結：</a:t>
            </a:r>
          </a:p>
          <a:p>
            <a:r>
              <a:rPr lang="en-US" altLang="zh-TW" b="1" dirty="0"/>
              <a:t>CFS </a:t>
            </a:r>
            <a:r>
              <a:rPr lang="zh-TW" altLang="en-US" b="1" dirty="0"/>
              <a:t>把「排時間片」改成「記帳」：用 </a:t>
            </a:r>
            <a:r>
              <a:rPr lang="en-US" altLang="zh-TW" sz="1200" b="1" kern="1200" dirty="0" err="1">
                <a:solidFill>
                  <a:schemeClr val="tx1"/>
                </a:solidFill>
                <a:latin typeface="+mn-lt"/>
                <a:ea typeface="+mn-ea"/>
                <a:cs typeface="+mn-cs"/>
              </a:rPr>
              <a:t>vruntime</a:t>
            </a:r>
            <a:r>
              <a:rPr lang="en-US" altLang="zh-TW" b="1" dirty="0"/>
              <a:t> </a:t>
            </a:r>
            <a:r>
              <a:rPr lang="zh-TW" altLang="en-US" b="1" dirty="0"/>
              <a:t>記每個 </a:t>
            </a:r>
            <a:r>
              <a:rPr lang="en-US" altLang="zh-TW" b="1" dirty="0"/>
              <a:t>task </a:t>
            </a:r>
            <a:r>
              <a:rPr lang="zh-TW" altLang="en-US" b="1" dirty="0"/>
              <a:t>拿了多少 </a:t>
            </a:r>
            <a:r>
              <a:rPr lang="en-US" altLang="zh-TW" b="1" dirty="0"/>
              <a:t>CPU</a:t>
            </a:r>
            <a:r>
              <a:rPr lang="zh-TW" altLang="en-US" b="1" dirty="0"/>
              <a:t>，誰欠就先讓誰跑；資料結構用紅黑樹挑出最欠的那個，公平又流暢。</a:t>
            </a:r>
            <a:br>
              <a:rPr lang="en-US" altLang="zh-TW" b="1" dirty="0"/>
            </a:br>
            <a:br>
              <a:rPr lang="en-US" altLang="zh-TW" b="1" dirty="0"/>
            </a:br>
            <a:r>
              <a:rPr lang="zh-TW" altLang="en-US" dirty="0"/>
              <a:t>收到！這張在講 </a:t>
            </a:r>
            <a:r>
              <a:rPr lang="en-US" altLang="zh-TW" b="1" dirty="0"/>
              <a:t>CFS</a:t>
            </a:r>
            <a:r>
              <a:rPr lang="zh-TW" altLang="en-US" b="1" dirty="0"/>
              <a:t>（</a:t>
            </a:r>
            <a:r>
              <a:rPr lang="en-US" altLang="zh-TW" b="1" dirty="0"/>
              <a:t>Completely Fair Scheduler</a:t>
            </a:r>
            <a:r>
              <a:rPr lang="zh-TW" altLang="en-US" b="1" dirty="0"/>
              <a:t>）怎麼選誰先跑</a:t>
            </a:r>
            <a:r>
              <a:rPr lang="zh-TW" altLang="en-US" dirty="0"/>
              <a:t>，右上角有兩個行程的算例。給你三段：</a:t>
            </a:r>
            <a:r>
              <a:rPr lang="zh-TW" altLang="en-US" b="1" dirty="0"/>
              <a:t>單字→重點→算例</a:t>
            </a:r>
            <a:r>
              <a:rPr lang="zh-TW" altLang="en-US" dirty="0"/>
              <a:t>。</a:t>
            </a:r>
          </a:p>
          <a:p>
            <a:r>
              <a:rPr lang="zh-TW" altLang="en-US" b="1" dirty="0"/>
              <a:t>關鍵單字</a:t>
            </a:r>
          </a:p>
          <a:p>
            <a:r>
              <a:rPr lang="en-US" altLang="zh-TW" b="1" dirty="0"/>
              <a:t>nice value</a:t>
            </a:r>
            <a:r>
              <a:rPr lang="zh-TW" altLang="en-US" dirty="0"/>
              <a:t>：越大＝越客氣＝</a:t>
            </a:r>
            <a:r>
              <a:rPr lang="zh-TW" altLang="en-US" b="1" dirty="0"/>
              <a:t>優先權越低</a:t>
            </a:r>
            <a:r>
              <a:rPr lang="zh-TW" altLang="en-US" dirty="0"/>
              <a:t>。</a:t>
            </a:r>
          </a:p>
          <a:p>
            <a:r>
              <a:rPr lang="en-US" altLang="zh-TW" b="1" dirty="0"/>
              <a:t>weight</a:t>
            </a:r>
            <a:r>
              <a:rPr lang="zh-TW" altLang="en-US" dirty="0"/>
              <a:t>：由 </a:t>
            </a:r>
            <a:r>
              <a:rPr lang="en-US" altLang="zh-TW" dirty="0"/>
              <a:t>nice </a:t>
            </a:r>
            <a:r>
              <a:rPr lang="zh-TW" altLang="en-US" dirty="0"/>
              <a:t>轉成的</a:t>
            </a:r>
            <a:r>
              <a:rPr lang="zh-TW" altLang="en-US" b="1" dirty="0"/>
              <a:t>權重</a:t>
            </a:r>
            <a:r>
              <a:rPr lang="zh-TW" altLang="en-US" dirty="0"/>
              <a:t>（常見：</a:t>
            </a:r>
            <a:r>
              <a:rPr lang="en-US" altLang="zh-TW" dirty="0"/>
              <a:t>nice 0→1024</a:t>
            </a:r>
            <a:r>
              <a:rPr lang="zh-TW" altLang="en-US" dirty="0"/>
              <a:t>、</a:t>
            </a:r>
            <a:r>
              <a:rPr lang="en-US" altLang="zh-TW" dirty="0"/>
              <a:t>nice 19→15</a:t>
            </a:r>
            <a:r>
              <a:rPr lang="zh-TW" altLang="en-US" dirty="0"/>
              <a:t>）。</a:t>
            </a:r>
          </a:p>
          <a:p>
            <a:r>
              <a:rPr lang="en-US" altLang="zh-TW" b="1" dirty="0" err="1"/>
              <a:t>vruntime</a:t>
            </a:r>
            <a:r>
              <a:rPr lang="zh-TW" altLang="en-US" b="1" dirty="0"/>
              <a:t>（</a:t>
            </a:r>
            <a:r>
              <a:rPr lang="en-US" altLang="zh-TW" b="1" dirty="0"/>
              <a:t>virtual runtime</a:t>
            </a:r>
            <a:r>
              <a:rPr lang="zh-TW" altLang="en-US" b="1" dirty="0"/>
              <a:t>）</a:t>
            </a:r>
            <a:r>
              <a:rPr lang="zh-TW" altLang="en-US" dirty="0"/>
              <a:t>：</a:t>
            </a:r>
            <a:r>
              <a:rPr lang="zh-TW" altLang="en-US" b="1" dirty="0"/>
              <a:t>虛擬執行時間</a:t>
            </a:r>
            <a:r>
              <a:rPr lang="zh-TW" altLang="en-US" dirty="0"/>
              <a:t>，</a:t>
            </a:r>
            <a:r>
              <a:rPr lang="en-US" altLang="zh-TW" dirty="0"/>
              <a:t>CFS </a:t>
            </a:r>
            <a:r>
              <a:rPr lang="zh-TW" altLang="en-US" dirty="0"/>
              <a:t>用來「記帳」：你拿了多少 </a:t>
            </a:r>
            <a:r>
              <a:rPr lang="en-US" altLang="zh-TW" dirty="0"/>
              <a:t>CPU</a:t>
            </a:r>
            <a:r>
              <a:rPr lang="zh-TW" altLang="en-US" dirty="0"/>
              <a:t>（依權重折算）。</a:t>
            </a:r>
          </a:p>
          <a:p>
            <a:r>
              <a:rPr lang="en-US" altLang="zh-TW" b="1" dirty="0"/>
              <a:t>preempt</a:t>
            </a:r>
            <a:r>
              <a:rPr lang="zh-TW" altLang="en-US" dirty="0"/>
              <a:t>：</a:t>
            </a:r>
            <a:r>
              <a:rPr lang="zh-TW" altLang="en-US" b="1" dirty="0"/>
              <a:t>搶佔</a:t>
            </a:r>
            <a:r>
              <a:rPr lang="zh-TW" altLang="en-US" dirty="0"/>
              <a:t>，把正在跑的 </a:t>
            </a:r>
            <a:r>
              <a:rPr lang="en-US" altLang="zh-TW" dirty="0"/>
              <a:t>task </a:t>
            </a:r>
            <a:r>
              <a:rPr lang="zh-TW" altLang="en-US" dirty="0"/>
              <a:t>切下來換人。</a:t>
            </a:r>
          </a:p>
          <a:p>
            <a:r>
              <a:rPr lang="en-US" altLang="zh-TW" sz="1200" b="1" kern="1200" dirty="0">
                <a:solidFill>
                  <a:schemeClr val="tx1"/>
                </a:solidFill>
                <a:latin typeface="+mn-lt"/>
                <a:ea typeface="+mn-ea"/>
                <a:cs typeface="+mn-cs"/>
              </a:rPr>
              <a:t>__</a:t>
            </a:r>
            <a:r>
              <a:rPr lang="en-US" altLang="zh-TW" sz="1200" b="1" kern="1200" dirty="0" err="1">
                <a:solidFill>
                  <a:schemeClr val="tx1"/>
                </a:solidFill>
                <a:latin typeface="+mn-lt"/>
                <a:ea typeface="+mn-ea"/>
                <a:cs typeface="+mn-cs"/>
              </a:rPr>
              <a:t>sched_period</a:t>
            </a:r>
            <a:r>
              <a:rPr lang="zh-TW" altLang="en-US" dirty="0"/>
              <a:t>：排程“週期”，期望所有可跑任務在這段時間都輪到一次。</a:t>
            </a:r>
          </a:p>
          <a:p>
            <a:r>
              <a:rPr lang="en-US" altLang="zh-TW" b="1" dirty="0"/>
              <a:t>RB-tree</a:t>
            </a:r>
            <a:r>
              <a:rPr lang="zh-TW" altLang="en-US" b="1" dirty="0"/>
              <a:t>（紅黑樹）</a:t>
            </a:r>
            <a:r>
              <a:rPr lang="zh-TW" altLang="en-US" dirty="0"/>
              <a:t>：</a:t>
            </a:r>
            <a:r>
              <a:rPr lang="en-US" altLang="zh-TW" dirty="0"/>
              <a:t>CFS </a:t>
            </a:r>
            <a:r>
              <a:rPr lang="zh-TW" altLang="en-US" dirty="0"/>
              <a:t>把 </a:t>
            </a:r>
            <a:r>
              <a:rPr lang="en-US" altLang="zh-TW" dirty="0"/>
              <a:t>runnable tasks </a:t>
            </a:r>
            <a:r>
              <a:rPr lang="zh-TW" altLang="en-US" dirty="0"/>
              <a:t>依 </a:t>
            </a:r>
            <a:r>
              <a:rPr lang="en-US" altLang="zh-TW" b="1" dirty="0" err="1"/>
              <a:t>vruntime</a:t>
            </a:r>
            <a:r>
              <a:rPr lang="en-US" altLang="zh-TW" dirty="0"/>
              <a:t> </a:t>
            </a:r>
            <a:r>
              <a:rPr lang="zh-TW" altLang="en-US" dirty="0"/>
              <a:t>放在紅黑樹，**挑最左邊（最小 </a:t>
            </a:r>
            <a:r>
              <a:rPr lang="en-US" altLang="zh-TW" dirty="0" err="1"/>
              <a:t>vruntime</a:t>
            </a:r>
            <a:r>
              <a:rPr lang="zh-TW" altLang="en-US" dirty="0"/>
              <a:t>）**來跑。</a:t>
            </a:r>
          </a:p>
          <a:p>
            <a:r>
              <a:rPr lang="zh-TW" altLang="en-US" b="1" dirty="0"/>
              <a:t>投影片重點</a:t>
            </a:r>
          </a:p>
          <a:p>
            <a:r>
              <a:rPr lang="zh-TW" altLang="en-US" dirty="0"/>
              <a:t>目標：比 </a:t>
            </a:r>
            <a:r>
              <a:rPr lang="en-US" altLang="zh-TW" dirty="0"/>
              <a:t>O(1) </a:t>
            </a:r>
            <a:r>
              <a:rPr lang="zh-TW" altLang="en-US" dirty="0"/>
              <a:t>更</a:t>
            </a:r>
            <a:r>
              <a:rPr lang="zh-TW" altLang="en-US" b="1" dirty="0"/>
              <a:t>互動</a:t>
            </a:r>
            <a:r>
              <a:rPr lang="zh-TW" altLang="en-US" dirty="0"/>
              <a:t>、更</a:t>
            </a:r>
            <a:r>
              <a:rPr lang="zh-TW" altLang="en-US" b="1" dirty="0"/>
              <a:t>公平</a:t>
            </a:r>
            <a:r>
              <a:rPr lang="zh-TW" altLang="en-US" dirty="0"/>
              <a:t>。</a:t>
            </a:r>
          </a:p>
          <a:p>
            <a:r>
              <a:rPr lang="zh-TW" altLang="en-US" dirty="0"/>
              <a:t>概念：同時有 </a:t>
            </a:r>
            <a:r>
              <a:rPr lang="en-US" altLang="zh-TW" dirty="0"/>
              <a:t>n </a:t>
            </a:r>
            <a:r>
              <a:rPr lang="zh-TW" altLang="en-US" dirty="0"/>
              <a:t>個可跑，理論上每人拿 </a:t>
            </a:r>
            <a:r>
              <a:rPr lang="en-US" altLang="zh-TW" b="1" dirty="0"/>
              <a:t>1/n</a:t>
            </a:r>
            <a:r>
              <a:rPr lang="zh-TW" altLang="en-US" dirty="0"/>
              <a:t>（再按權重微調）。</a:t>
            </a:r>
          </a:p>
          <a:p>
            <a:r>
              <a:rPr lang="zh-TW" altLang="en-US" b="1" dirty="0"/>
              <a:t>更新規則（直覺式）</a:t>
            </a:r>
            <a:r>
              <a:rPr lang="zh-TW" altLang="en-US" dirty="0"/>
              <a:t>：</a:t>
            </a:r>
            <a:br>
              <a:rPr lang="zh-TW" altLang="en-US" dirty="0"/>
            </a:br>
            <a:r>
              <a:rPr lang="en-US" altLang="zh-TW" sz="1200" kern="1200" dirty="0" err="1">
                <a:solidFill>
                  <a:schemeClr val="tx1"/>
                </a:solidFill>
                <a:latin typeface="+mn-lt"/>
                <a:ea typeface="+mn-ea"/>
                <a:cs typeface="+mn-cs"/>
              </a:rPr>
              <a:t>vruntime</a:t>
            </a:r>
            <a:r>
              <a:rPr lang="en-US" altLang="zh-TW" sz="1200" kern="1200" dirty="0">
                <a:solidFill>
                  <a:schemeClr val="tx1"/>
                </a:solidFill>
                <a:latin typeface="+mn-lt"/>
                <a:ea typeface="+mn-ea"/>
                <a:cs typeface="+mn-cs"/>
              </a:rPr>
              <a:t> += </a:t>
            </a:r>
            <a:r>
              <a:rPr lang="en-US" altLang="zh-TW" sz="1200" kern="1200" dirty="0" err="1">
                <a:solidFill>
                  <a:schemeClr val="tx1"/>
                </a:solidFill>
                <a:latin typeface="+mn-lt"/>
                <a:ea typeface="+mn-ea"/>
                <a:cs typeface="+mn-cs"/>
              </a:rPr>
              <a:t>delta_exec</a:t>
            </a:r>
            <a:r>
              <a:rPr lang="en-US" altLang="zh-TW" sz="1200" kern="1200" dirty="0">
                <a:solidFill>
                  <a:schemeClr val="tx1"/>
                </a:solidFill>
                <a:latin typeface="+mn-lt"/>
                <a:ea typeface="+mn-ea"/>
                <a:cs typeface="+mn-cs"/>
              </a:rPr>
              <a:t> * (NICE_0_WEIGHT / weight)</a:t>
            </a:r>
            <a:br>
              <a:rPr lang="en-US" altLang="zh-TW" dirty="0"/>
            </a:br>
            <a:r>
              <a:rPr lang="en-US" altLang="zh-TW" dirty="0"/>
              <a:t>→ </a:t>
            </a:r>
            <a:r>
              <a:rPr lang="zh-TW" altLang="en-US" b="1" dirty="0"/>
              <a:t>權重小（</a:t>
            </a:r>
            <a:r>
              <a:rPr lang="en-US" altLang="zh-TW" b="1" dirty="0"/>
              <a:t>nice </a:t>
            </a:r>
            <a:r>
              <a:rPr lang="zh-TW" altLang="en-US" b="1" dirty="0"/>
              <a:t>大）的人，</a:t>
            </a:r>
            <a:r>
              <a:rPr lang="en-US" altLang="zh-TW" b="1" dirty="0" err="1"/>
              <a:t>vruntime</a:t>
            </a:r>
            <a:r>
              <a:rPr lang="en-US" altLang="zh-TW" b="1" dirty="0"/>
              <a:t> </a:t>
            </a:r>
            <a:r>
              <a:rPr lang="zh-TW" altLang="en-US" b="1" dirty="0"/>
              <a:t>漲得比較快</a:t>
            </a:r>
            <a:r>
              <a:rPr lang="zh-TW" altLang="en-US" dirty="0"/>
              <a:t>，因此</a:t>
            </a:r>
            <a:r>
              <a:rPr lang="zh-TW" altLang="en-US" b="1" dirty="0"/>
              <a:t>較不容易連續被選</a:t>
            </a:r>
            <a:r>
              <a:rPr lang="zh-TW" altLang="en-US" dirty="0"/>
              <a:t>；</a:t>
            </a:r>
            <a:br>
              <a:rPr lang="zh-TW" altLang="en-US" dirty="0"/>
            </a:br>
            <a:r>
              <a:rPr lang="zh-TW" altLang="en-US" b="1" dirty="0"/>
              <a:t>權重大（</a:t>
            </a:r>
            <a:r>
              <a:rPr lang="en-US" altLang="zh-TW" b="1" dirty="0"/>
              <a:t>nice </a:t>
            </a:r>
            <a:r>
              <a:rPr lang="zh-TW" altLang="en-US" b="1" dirty="0"/>
              <a:t>小）的人，</a:t>
            </a:r>
            <a:r>
              <a:rPr lang="en-US" altLang="zh-TW" b="1" dirty="0" err="1"/>
              <a:t>vruntime</a:t>
            </a:r>
            <a:r>
              <a:rPr lang="en-US" altLang="zh-TW" b="1" dirty="0"/>
              <a:t> </a:t>
            </a:r>
            <a:r>
              <a:rPr lang="zh-TW" altLang="en-US" b="1" dirty="0"/>
              <a:t>漲得比較慢</a:t>
            </a:r>
            <a:r>
              <a:rPr lang="zh-TW" altLang="en-US" dirty="0"/>
              <a:t>，</a:t>
            </a:r>
            <a:r>
              <a:rPr lang="zh-TW" altLang="en-US" b="1" dirty="0"/>
              <a:t>更常被選</a:t>
            </a:r>
            <a:r>
              <a:rPr lang="zh-TW" altLang="en-US" dirty="0"/>
              <a:t>。</a:t>
            </a:r>
          </a:p>
          <a:p>
            <a:r>
              <a:rPr lang="zh-TW" altLang="en-US" b="1" dirty="0"/>
              <a:t>挑人</a:t>
            </a:r>
            <a:r>
              <a:rPr lang="zh-TW" altLang="en-US" dirty="0"/>
              <a:t>：取</a:t>
            </a:r>
            <a:r>
              <a:rPr lang="zh-TW" altLang="en-US" b="1" dirty="0"/>
              <a:t>紅黑樹最左</a:t>
            </a:r>
            <a:r>
              <a:rPr lang="zh-TW" altLang="en-US" dirty="0"/>
              <a:t>節點（</a:t>
            </a:r>
            <a:r>
              <a:rPr lang="en-US" altLang="zh-TW" dirty="0" err="1"/>
              <a:t>vruntime</a:t>
            </a:r>
            <a:r>
              <a:rPr lang="en-US" altLang="zh-TW" dirty="0"/>
              <a:t> </a:t>
            </a:r>
            <a:r>
              <a:rPr lang="zh-TW" altLang="en-US" dirty="0"/>
              <a:t>最小＝最欠 </a:t>
            </a:r>
            <a:r>
              <a:rPr lang="en-US" altLang="zh-TW" dirty="0"/>
              <a:t>CPU</a:t>
            </a:r>
            <a:r>
              <a:rPr lang="zh-TW" altLang="en-US" dirty="0"/>
              <a:t>）。</a:t>
            </a:r>
          </a:p>
          <a:p>
            <a:r>
              <a:rPr lang="zh-TW" altLang="en-US" b="1" dirty="0"/>
              <a:t>右上角算例（兩個行程）</a:t>
            </a:r>
          </a:p>
          <a:p>
            <a:r>
              <a:rPr lang="en-US" altLang="zh-TW" b="1" dirty="0"/>
              <a:t>P1</a:t>
            </a:r>
            <a:r>
              <a:rPr lang="zh-TW" altLang="en-US" dirty="0"/>
              <a:t>：</a:t>
            </a:r>
            <a:r>
              <a:rPr lang="en-US" altLang="zh-TW" dirty="0"/>
              <a:t>nice 0 → weight = </a:t>
            </a:r>
            <a:r>
              <a:rPr lang="en-US" altLang="zh-TW" b="1" dirty="0"/>
              <a:t>1024</a:t>
            </a:r>
            <a:br>
              <a:rPr lang="en-US" altLang="zh-TW" dirty="0"/>
            </a:br>
            <a:r>
              <a:rPr lang="en-US" altLang="zh-TW" b="1" dirty="0"/>
              <a:t>P2</a:t>
            </a:r>
            <a:r>
              <a:rPr lang="zh-TW" altLang="en-US" dirty="0"/>
              <a:t>：</a:t>
            </a:r>
            <a:r>
              <a:rPr lang="en-US" altLang="zh-TW" dirty="0"/>
              <a:t>nice 19 → weight = </a:t>
            </a:r>
            <a:r>
              <a:rPr lang="en-US" altLang="zh-TW" b="1" dirty="0"/>
              <a:t>15</a:t>
            </a:r>
            <a:endParaRPr lang="en-US" altLang="zh-TW" dirty="0"/>
          </a:p>
          <a:p>
            <a:r>
              <a:rPr lang="zh-TW" altLang="en-US" dirty="0"/>
              <a:t>假設一個排程期約 </a:t>
            </a:r>
            <a:r>
              <a:rPr lang="en-US" altLang="zh-TW" b="1" dirty="0"/>
              <a:t>6 </a:t>
            </a:r>
            <a:r>
              <a:rPr lang="en-US" altLang="zh-TW" b="1" dirty="0" err="1"/>
              <a:t>ms</a:t>
            </a:r>
            <a:r>
              <a:rPr lang="zh-TW" altLang="en-US" dirty="0"/>
              <a:t>，理論分配：</a:t>
            </a:r>
            <a:br>
              <a:rPr lang="zh-TW" altLang="en-US" dirty="0"/>
            </a:br>
            <a:r>
              <a:rPr lang="en-US" altLang="zh-TW" dirty="0"/>
              <a:t>P1 ≈ </a:t>
            </a:r>
            <a:r>
              <a:rPr lang="en-US" altLang="zh-TW" sz="1200" kern="1200" dirty="0">
                <a:solidFill>
                  <a:schemeClr val="tx1"/>
                </a:solidFill>
                <a:latin typeface="+mn-lt"/>
                <a:ea typeface="+mn-ea"/>
                <a:cs typeface="+mn-cs"/>
              </a:rPr>
              <a:t>6ms * 1024/(1024+15) ≈ 5.9 </a:t>
            </a:r>
            <a:r>
              <a:rPr lang="en-US" altLang="zh-TW" sz="1200" kern="1200" dirty="0" err="1">
                <a:solidFill>
                  <a:schemeClr val="tx1"/>
                </a:solidFill>
                <a:latin typeface="+mn-lt"/>
                <a:ea typeface="+mn-ea"/>
                <a:cs typeface="+mn-cs"/>
              </a:rPr>
              <a:t>ms</a:t>
            </a:r>
            <a:br>
              <a:rPr lang="en-US" altLang="zh-TW" dirty="0"/>
            </a:br>
            <a:r>
              <a:rPr lang="en-US" altLang="zh-TW" dirty="0"/>
              <a:t>P2 ≈ </a:t>
            </a:r>
            <a:r>
              <a:rPr lang="en-US" altLang="zh-TW" sz="1200" kern="1200" dirty="0">
                <a:solidFill>
                  <a:schemeClr val="tx1"/>
                </a:solidFill>
                <a:latin typeface="+mn-lt"/>
                <a:ea typeface="+mn-ea"/>
                <a:cs typeface="+mn-cs"/>
              </a:rPr>
              <a:t>6ms * 15/(1024+15) ≈ 0.1 </a:t>
            </a:r>
            <a:r>
              <a:rPr lang="en-US" altLang="zh-TW" sz="1200" kern="1200" dirty="0" err="1">
                <a:solidFill>
                  <a:schemeClr val="tx1"/>
                </a:solidFill>
                <a:latin typeface="+mn-lt"/>
                <a:ea typeface="+mn-ea"/>
                <a:cs typeface="+mn-cs"/>
              </a:rPr>
              <a:t>ms</a:t>
            </a:r>
            <a:endParaRPr lang="en-US" altLang="zh-TW" dirty="0"/>
          </a:p>
          <a:p>
            <a:r>
              <a:rPr lang="zh-TW" altLang="en-US" dirty="0"/>
              <a:t>流程：</a:t>
            </a:r>
          </a:p>
          <a:p>
            <a:pPr lvl="1"/>
            <a:r>
              <a:rPr lang="zh-TW" altLang="en-US" dirty="0"/>
              <a:t>初始 </a:t>
            </a:r>
            <a:r>
              <a:rPr lang="en-US" altLang="zh-TW" sz="1200" kern="1200" dirty="0" err="1">
                <a:solidFill>
                  <a:schemeClr val="tx1"/>
                </a:solidFill>
                <a:latin typeface="+mn-lt"/>
                <a:ea typeface="+mn-ea"/>
                <a:cs typeface="+mn-cs"/>
              </a:rPr>
              <a:t>vr</a:t>
            </a:r>
            <a:r>
              <a:rPr lang="en-US" altLang="zh-TW" sz="1200" kern="1200" dirty="0">
                <a:solidFill>
                  <a:schemeClr val="tx1"/>
                </a:solidFill>
                <a:latin typeface="+mn-lt"/>
                <a:ea typeface="+mn-ea"/>
                <a:cs typeface="+mn-cs"/>
              </a:rPr>
              <a:t>(P1)=</a:t>
            </a:r>
            <a:r>
              <a:rPr lang="en-US" altLang="zh-TW" sz="1200" kern="1200" dirty="0" err="1">
                <a:solidFill>
                  <a:schemeClr val="tx1"/>
                </a:solidFill>
                <a:latin typeface="+mn-lt"/>
                <a:ea typeface="+mn-ea"/>
                <a:cs typeface="+mn-cs"/>
              </a:rPr>
              <a:t>vr</a:t>
            </a:r>
            <a:r>
              <a:rPr lang="en-US" altLang="zh-TW" sz="1200" kern="1200" dirty="0">
                <a:solidFill>
                  <a:schemeClr val="tx1"/>
                </a:solidFill>
                <a:latin typeface="+mn-lt"/>
                <a:ea typeface="+mn-ea"/>
                <a:cs typeface="+mn-cs"/>
              </a:rPr>
              <a:t>(P2)=0</a:t>
            </a:r>
            <a:r>
              <a:rPr lang="zh-TW" altLang="en-US" dirty="0"/>
              <a:t>，先讓 </a:t>
            </a:r>
            <a:r>
              <a:rPr lang="en-US" altLang="zh-TW" b="1" dirty="0"/>
              <a:t>P1</a:t>
            </a:r>
            <a:r>
              <a:rPr lang="en-US" altLang="zh-TW" dirty="0"/>
              <a:t> </a:t>
            </a:r>
            <a:r>
              <a:rPr lang="zh-TW" altLang="en-US" dirty="0"/>
              <a:t>跑。</a:t>
            </a:r>
            <a:r>
              <a:rPr lang="en-US" altLang="zh-TW" dirty="0"/>
              <a:t>P1 </a:t>
            </a:r>
            <a:r>
              <a:rPr lang="zh-TW" altLang="en-US" dirty="0"/>
              <a:t>跑 </a:t>
            </a:r>
            <a:r>
              <a:rPr lang="en-US" altLang="zh-TW" b="1" dirty="0"/>
              <a:t>1 </a:t>
            </a:r>
            <a:r>
              <a:rPr lang="en-US" altLang="zh-TW" b="1" dirty="0" err="1"/>
              <a:t>ms</a:t>
            </a:r>
            <a:r>
              <a:rPr lang="en-US" altLang="zh-TW" dirty="0"/>
              <a:t> </a:t>
            </a:r>
            <a:r>
              <a:rPr lang="zh-TW" altLang="en-US" dirty="0"/>
              <a:t>後去等 </a:t>
            </a:r>
            <a:r>
              <a:rPr lang="en-US" altLang="zh-TW" dirty="0"/>
              <a:t>I/O</a:t>
            </a:r>
            <a:r>
              <a:rPr lang="zh-TW" altLang="en-US" dirty="0"/>
              <a:t>：</a:t>
            </a:r>
            <a:br>
              <a:rPr lang="zh-TW" altLang="en-US" dirty="0"/>
            </a:br>
            <a:r>
              <a:rPr lang="en-US" altLang="zh-TW" sz="1200" kern="1200" dirty="0" err="1">
                <a:solidFill>
                  <a:schemeClr val="tx1"/>
                </a:solidFill>
                <a:latin typeface="+mn-lt"/>
                <a:ea typeface="+mn-ea"/>
                <a:cs typeface="+mn-cs"/>
              </a:rPr>
              <a:t>vr</a:t>
            </a:r>
            <a:r>
              <a:rPr lang="en-US" altLang="zh-TW" sz="1200" kern="1200" dirty="0">
                <a:solidFill>
                  <a:schemeClr val="tx1"/>
                </a:solidFill>
                <a:latin typeface="+mn-lt"/>
                <a:ea typeface="+mn-ea"/>
                <a:cs typeface="+mn-cs"/>
              </a:rPr>
              <a:t>(P1) += 1 * 1024/1024 = 1</a:t>
            </a:r>
            <a:endParaRPr lang="en-US" altLang="zh-TW" dirty="0"/>
          </a:p>
          <a:p>
            <a:pPr lvl="1"/>
            <a:r>
              <a:rPr lang="zh-TW" altLang="en-US" dirty="0"/>
              <a:t>換 </a:t>
            </a:r>
            <a:r>
              <a:rPr lang="en-US" altLang="zh-TW" b="1" dirty="0"/>
              <a:t>P2</a:t>
            </a:r>
            <a:r>
              <a:rPr lang="en-US" altLang="zh-TW" dirty="0"/>
              <a:t> </a:t>
            </a:r>
            <a:r>
              <a:rPr lang="zh-TW" altLang="en-US" dirty="0"/>
              <a:t>跑 </a:t>
            </a:r>
            <a:r>
              <a:rPr lang="en-US" altLang="zh-TW" b="1" dirty="0"/>
              <a:t>0.05 </a:t>
            </a:r>
            <a:r>
              <a:rPr lang="en-US" altLang="zh-TW" b="1" dirty="0" err="1"/>
              <a:t>ms</a:t>
            </a:r>
            <a:r>
              <a:rPr lang="zh-TW" altLang="en-US" dirty="0"/>
              <a:t>：</a:t>
            </a:r>
            <a:br>
              <a:rPr lang="zh-TW" altLang="en-US" dirty="0"/>
            </a:br>
            <a:r>
              <a:rPr lang="en-US" altLang="zh-TW" sz="1200" kern="1200" dirty="0" err="1">
                <a:solidFill>
                  <a:schemeClr val="tx1"/>
                </a:solidFill>
                <a:latin typeface="+mn-lt"/>
                <a:ea typeface="+mn-ea"/>
                <a:cs typeface="+mn-cs"/>
              </a:rPr>
              <a:t>vr</a:t>
            </a:r>
            <a:r>
              <a:rPr lang="en-US" altLang="zh-TW" sz="1200" kern="1200" dirty="0">
                <a:solidFill>
                  <a:schemeClr val="tx1"/>
                </a:solidFill>
                <a:latin typeface="+mn-lt"/>
                <a:ea typeface="+mn-ea"/>
                <a:cs typeface="+mn-cs"/>
              </a:rPr>
              <a:t>(P2) += 0.05 * 1024/15 ≈ 3</a:t>
            </a:r>
            <a:endParaRPr lang="en-US" altLang="zh-TW" dirty="0"/>
          </a:p>
          <a:p>
            <a:pPr lvl="1"/>
            <a:r>
              <a:rPr lang="zh-TW" altLang="en-US" dirty="0"/>
              <a:t>現在 </a:t>
            </a:r>
            <a:r>
              <a:rPr lang="en-US" altLang="zh-TW" sz="1200" kern="1200" dirty="0" err="1">
                <a:solidFill>
                  <a:schemeClr val="tx1"/>
                </a:solidFill>
                <a:latin typeface="+mn-lt"/>
                <a:ea typeface="+mn-ea"/>
                <a:cs typeface="+mn-cs"/>
              </a:rPr>
              <a:t>vr</a:t>
            </a:r>
            <a:r>
              <a:rPr lang="en-US" altLang="zh-TW" sz="1200" kern="1200" dirty="0">
                <a:solidFill>
                  <a:schemeClr val="tx1"/>
                </a:solidFill>
                <a:latin typeface="+mn-lt"/>
                <a:ea typeface="+mn-ea"/>
                <a:cs typeface="+mn-cs"/>
              </a:rPr>
              <a:t>(P1)=1</a:t>
            </a:r>
            <a:r>
              <a:rPr lang="en-US" altLang="zh-TW" dirty="0"/>
              <a:t>, </a:t>
            </a:r>
            <a:r>
              <a:rPr lang="en-US" altLang="zh-TW" sz="1200" kern="1200" dirty="0" err="1">
                <a:solidFill>
                  <a:schemeClr val="tx1"/>
                </a:solidFill>
                <a:latin typeface="+mn-lt"/>
                <a:ea typeface="+mn-ea"/>
                <a:cs typeface="+mn-cs"/>
              </a:rPr>
              <a:t>vr</a:t>
            </a:r>
            <a:r>
              <a:rPr lang="en-US" altLang="zh-TW" sz="1200" kern="1200" dirty="0">
                <a:solidFill>
                  <a:schemeClr val="tx1"/>
                </a:solidFill>
                <a:latin typeface="+mn-lt"/>
                <a:ea typeface="+mn-ea"/>
                <a:cs typeface="+mn-cs"/>
              </a:rPr>
              <a:t>(P2)=~3</a:t>
            </a:r>
            <a:r>
              <a:rPr lang="en-US" altLang="zh-TW" dirty="0"/>
              <a:t> → </a:t>
            </a:r>
            <a:r>
              <a:rPr lang="en-US" altLang="zh-TW" b="1" dirty="0"/>
              <a:t>P1 </a:t>
            </a:r>
            <a:r>
              <a:rPr lang="zh-TW" altLang="en-US" b="1" dirty="0"/>
              <a:t>更小、比較欠 </a:t>
            </a:r>
            <a:r>
              <a:rPr lang="en-US" altLang="zh-TW" b="1" dirty="0"/>
              <a:t>CPU</a:t>
            </a:r>
            <a:r>
              <a:rPr lang="zh-TW" altLang="en-US" dirty="0"/>
              <a:t>。</a:t>
            </a:r>
            <a:br>
              <a:rPr lang="zh-TW" altLang="en-US" dirty="0"/>
            </a:br>
            <a:r>
              <a:rPr lang="en-US" altLang="zh-TW" b="1" dirty="0"/>
              <a:t>P1 </a:t>
            </a:r>
            <a:r>
              <a:rPr lang="zh-TW" altLang="en-US" b="1" dirty="0"/>
              <a:t>一醒來就會 </a:t>
            </a:r>
            <a:r>
              <a:rPr lang="en-US" altLang="zh-TW" b="1" dirty="0"/>
              <a:t>preempt P2</a:t>
            </a:r>
            <a:r>
              <a:rPr lang="zh-TW" altLang="en-US" dirty="0"/>
              <a:t>，搶回 </a:t>
            </a:r>
            <a:r>
              <a:rPr lang="en-US" altLang="zh-TW" dirty="0"/>
              <a:t>CPU</a:t>
            </a:r>
            <a:r>
              <a:rPr lang="zh-TW" altLang="en-US" dirty="0"/>
              <a:t>。</a:t>
            </a:r>
          </a:p>
          <a:p>
            <a:r>
              <a:rPr lang="zh-TW" altLang="en-US" dirty="0"/>
              <a:t>下方樹圖：數字是 </a:t>
            </a:r>
            <a:r>
              <a:rPr lang="en-US" altLang="zh-TW" b="1" dirty="0" err="1"/>
              <a:t>vruntime</a:t>
            </a:r>
            <a:r>
              <a:rPr lang="zh-TW" altLang="en-US" dirty="0"/>
              <a:t>。</a:t>
            </a:r>
            <a:r>
              <a:rPr lang="zh-TW" altLang="en-US" b="1" dirty="0"/>
              <a:t>越左＝越需要 </a:t>
            </a:r>
            <a:r>
              <a:rPr lang="en-US" altLang="zh-TW" b="1" dirty="0"/>
              <a:t>CPU</a:t>
            </a:r>
            <a:r>
              <a:rPr lang="zh-TW" altLang="en-US" dirty="0"/>
              <a:t>；挑最左那顆。</a:t>
            </a:r>
          </a:p>
          <a:p>
            <a:r>
              <a:rPr lang="zh-TW" altLang="en-US" b="1" dirty="0"/>
              <a:t>一句話白話</a:t>
            </a:r>
          </a:p>
          <a:p>
            <a:r>
              <a:rPr lang="en-US" altLang="zh-TW" b="1" dirty="0"/>
              <a:t>CFS </a:t>
            </a:r>
            <a:r>
              <a:rPr lang="zh-TW" altLang="en-US" b="1" dirty="0"/>
              <a:t>不用死板時間片表，而是用「記帳」：誰拿 </a:t>
            </a:r>
            <a:r>
              <a:rPr lang="en-US" altLang="zh-TW" b="1" dirty="0"/>
              <a:t>CPU </a:t>
            </a:r>
            <a:r>
              <a:rPr lang="zh-TW" altLang="en-US" b="1" dirty="0"/>
              <a:t>多就加速記帳、讓他先休息；誰拿得少就優先補。</a:t>
            </a:r>
            <a:r>
              <a:rPr lang="zh-TW" altLang="en-US" dirty="0"/>
              <a:t> 挑人就挑</a:t>
            </a:r>
            <a:r>
              <a:rPr lang="zh-TW" altLang="en-US" b="1" dirty="0"/>
              <a:t>最欠的那個</a:t>
            </a:r>
            <a:r>
              <a:rPr lang="zh-TW" altLang="en-US" dirty="0"/>
              <a:t>來跑。</a:t>
            </a:r>
          </a:p>
          <a:p>
            <a:endParaRPr lang="zh-TW" altLang="en-US" dirty="0"/>
          </a:p>
        </p:txBody>
      </p:sp>
      <p:sp>
        <p:nvSpPr>
          <p:cNvPr id="4" name="投影片編號版面配置區 3">
            <a:extLst>
              <a:ext uri="{FF2B5EF4-FFF2-40B4-BE49-F238E27FC236}">
                <a16:creationId xmlns:a16="http://schemas.microsoft.com/office/drawing/2014/main" id="{8FB63824-EE4D-CED8-5E6A-493ABF23F1E3}"/>
              </a:ext>
            </a:extLst>
          </p:cNvPr>
          <p:cNvSpPr>
            <a:spLocks noGrp="1"/>
          </p:cNvSpPr>
          <p:nvPr>
            <p:ph type="sldNum" sz="quarter" idx="5"/>
          </p:nvPr>
        </p:nvSpPr>
        <p:spPr/>
        <p:txBody>
          <a:bodyPr/>
          <a:lstStyle/>
          <a:p>
            <a:fld id="{7EE20D91-FCA7-443A-BB7B-86FCD89A57B0}" type="slidenum">
              <a:rPr lang="zh-TW" altLang="en-US" smtClean="0"/>
              <a:t>18</a:t>
            </a:fld>
            <a:endParaRPr lang="zh-TW" altLang="en-US"/>
          </a:p>
        </p:txBody>
      </p:sp>
    </p:spTree>
    <p:extLst>
      <p:ext uri="{BB962C8B-B14F-4D97-AF65-F5344CB8AC3E}">
        <p14:creationId xmlns:p14="http://schemas.microsoft.com/office/powerpoint/2010/main" val="26169748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來，把這頁重點一次講清楚（含超直覺例子）：</a:t>
            </a:r>
          </a:p>
          <a:p>
            <a:r>
              <a:rPr lang="en-US" altLang="zh-TW" b="1" dirty="0"/>
              <a:t>CFS </a:t>
            </a:r>
            <a:r>
              <a:rPr lang="zh-TW" altLang="en-US" b="1" dirty="0"/>
              <a:t>的權重怎麼決定？</a:t>
            </a:r>
          </a:p>
          <a:p>
            <a:r>
              <a:rPr lang="en-US" altLang="zh-TW" dirty="0"/>
              <a:t>CFS</a:t>
            </a:r>
            <a:r>
              <a:rPr lang="zh-TW" altLang="en-US" dirty="0"/>
              <a:t>不發固定時間片；它按**權重（</a:t>
            </a:r>
            <a:r>
              <a:rPr lang="en-US" altLang="zh-TW" dirty="0"/>
              <a:t>weight</a:t>
            </a:r>
            <a:r>
              <a:rPr lang="zh-TW" altLang="en-US" dirty="0"/>
              <a:t>）**把 </a:t>
            </a:r>
            <a:r>
              <a:rPr lang="en-US" altLang="zh-TW" dirty="0"/>
              <a:t>CPU </a:t>
            </a:r>
            <a:r>
              <a:rPr lang="zh-TW" altLang="en-US" dirty="0"/>
              <a:t>依比例分給 </a:t>
            </a:r>
            <a:r>
              <a:rPr lang="en-US" altLang="zh-TW" dirty="0"/>
              <a:t>runnable tasks</a:t>
            </a:r>
            <a:r>
              <a:rPr lang="zh-TW" altLang="en-US" dirty="0"/>
              <a:t>。</a:t>
            </a:r>
          </a:p>
          <a:p>
            <a:r>
              <a:rPr lang="zh-TW" altLang="en-US" dirty="0"/>
              <a:t>權重來自 </a:t>
            </a:r>
            <a:r>
              <a:rPr lang="en-US" altLang="zh-TW" b="1" dirty="0"/>
              <a:t>nice </a:t>
            </a:r>
            <a:r>
              <a:rPr lang="zh-TW" altLang="en-US" b="1" dirty="0"/>
              <a:t>值</a:t>
            </a:r>
            <a:r>
              <a:rPr lang="zh-TW" altLang="en-US" dirty="0"/>
              <a:t>（</a:t>
            </a:r>
            <a:r>
              <a:rPr lang="en-US" altLang="zh-TW" dirty="0"/>
              <a:t>-20…19</a:t>
            </a:r>
            <a:r>
              <a:rPr lang="zh-TW" altLang="en-US" dirty="0"/>
              <a:t>）。核心用一張表 </a:t>
            </a:r>
            <a:r>
              <a:rPr lang="en-US" altLang="zh-TW" sz="1200" kern="1200" dirty="0" err="1">
                <a:solidFill>
                  <a:schemeClr val="tx1"/>
                </a:solidFill>
                <a:latin typeface="+mn-lt"/>
                <a:ea typeface="+mn-ea"/>
                <a:cs typeface="+mn-cs"/>
              </a:rPr>
              <a:t>prio_to_weight</a:t>
            </a:r>
            <a:r>
              <a:rPr lang="en-US" altLang="zh-TW" sz="1200" kern="1200" dirty="0">
                <a:solidFill>
                  <a:schemeClr val="tx1"/>
                </a:solidFill>
                <a:latin typeface="+mn-lt"/>
                <a:ea typeface="+mn-ea"/>
                <a:cs typeface="+mn-cs"/>
              </a:rPr>
              <a:t>[]</a:t>
            </a:r>
            <a:r>
              <a:rPr lang="en-US" altLang="zh-TW" dirty="0"/>
              <a:t> </a:t>
            </a:r>
            <a:r>
              <a:rPr lang="zh-TW" altLang="en-US" dirty="0"/>
              <a:t>對應好每個 </a:t>
            </a:r>
            <a:r>
              <a:rPr lang="en-US" altLang="zh-TW" dirty="0"/>
              <a:t>nice </a:t>
            </a:r>
            <a:r>
              <a:rPr lang="zh-TW" altLang="en-US" dirty="0"/>
              <a:t>的權重。</a:t>
            </a:r>
          </a:p>
          <a:p>
            <a:r>
              <a:rPr lang="en-US" altLang="zh-TW" b="1" dirty="0"/>
              <a:t>10% effect</a:t>
            </a:r>
            <a:r>
              <a:rPr lang="zh-TW" altLang="en-US" b="1" dirty="0"/>
              <a:t>（十趴效應）</a:t>
            </a:r>
          </a:p>
          <a:p>
            <a:r>
              <a:rPr lang="en-US" altLang="zh-TW" b="1" dirty="0"/>
              <a:t>nice </a:t>
            </a:r>
            <a:r>
              <a:rPr lang="zh-TW" altLang="en-US" b="1" dirty="0"/>
              <a:t>每增加 </a:t>
            </a:r>
            <a:r>
              <a:rPr lang="en-US" altLang="zh-TW" b="1" dirty="0"/>
              <a:t>1</a:t>
            </a:r>
            <a:r>
              <a:rPr lang="zh-TW" altLang="en-US" b="1" dirty="0"/>
              <a:t>（更客氣）→ 你拿到的 </a:t>
            </a:r>
            <a:r>
              <a:rPr lang="en-US" altLang="zh-TW" b="1" dirty="0"/>
              <a:t>CPU </a:t>
            </a:r>
            <a:r>
              <a:rPr lang="zh-TW" altLang="en-US" b="1" dirty="0"/>
              <a:t>份額約少 </a:t>
            </a:r>
            <a:r>
              <a:rPr lang="en-US" altLang="zh-TW" b="1" dirty="0"/>
              <a:t>10%</a:t>
            </a:r>
            <a:r>
              <a:rPr lang="zh-TW" altLang="en-US" dirty="0"/>
              <a:t>。</a:t>
            </a:r>
          </a:p>
          <a:p>
            <a:r>
              <a:rPr lang="zh-TW" altLang="en-US" dirty="0"/>
              <a:t>為了做到這點，權重採</a:t>
            </a:r>
            <a:r>
              <a:rPr lang="zh-TW" altLang="en-US" b="1" dirty="0"/>
              <a:t>等比</a:t>
            </a:r>
            <a:r>
              <a:rPr lang="zh-TW" altLang="en-US" dirty="0"/>
              <a:t>設計：每降 </a:t>
            </a:r>
            <a:r>
              <a:rPr lang="en-US" altLang="zh-TW" dirty="0"/>
              <a:t>1 </a:t>
            </a:r>
            <a:r>
              <a:rPr lang="zh-TW" altLang="en-US" dirty="0"/>
              <a:t>級 </a:t>
            </a:r>
            <a:r>
              <a:rPr lang="en-US" altLang="zh-TW" dirty="0"/>
              <a:t>nice</a:t>
            </a:r>
            <a:r>
              <a:rPr lang="zh-TW" altLang="en-US" dirty="0"/>
              <a:t>（變不客氣）就把權重乘上 </a:t>
            </a:r>
            <a:r>
              <a:rPr lang="en-US" altLang="zh-TW" b="1" dirty="0"/>
              <a:t>1.25</a:t>
            </a:r>
            <a:r>
              <a:rPr lang="zh-TW" altLang="en-US" dirty="0"/>
              <a:t>；每升 </a:t>
            </a:r>
            <a:r>
              <a:rPr lang="en-US" altLang="zh-TW" dirty="0"/>
              <a:t>1 </a:t>
            </a:r>
            <a:r>
              <a:rPr lang="zh-TW" altLang="en-US" dirty="0"/>
              <a:t>級就除以 </a:t>
            </a:r>
            <a:r>
              <a:rPr lang="en-US" altLang="zh-TW" dirty="0"/>
              <a:t>1.25</a:t>
            </a:r>
            <a:r>
              <a:rPr lang="zh-TW" altLang="en-US" dirty="0"/>
              <a:t>。</a:t>
            </a:r>
          </a:p>
          <a:p>
            <a:pPr lvl="1"/>
            <a:r>
              <a:rPr lang="zh-TW" altLang="en-US" dirty="0"/>
              <a:t>例：</a:t>
            </a:r>
            <a:r>
              <a:rPr lang="en-US" altLang="zh-TW" sz="1200" kern="1200" dirty="0">
                <a:solidFill>
                  <a:schemeClr val="tx1"/>
                </a:solidFill>
                <a:latin typeface="+mn-lt"/>
                <a:ea typeface="+mn-ea"/>
                <a:cs typeface="+mn-cs"/>
              </a:rPr>
              <a:t>nice 0 → weight 1024</a:t>
            </a:r>
            <a:br>
              <a:rPr lang="en-US" altLang="zh-TW" dirty="0"/>
            </a:br>
            <a:r>
              <a:rPr lang="en-US" altLang="zh-TW" sz="1200" kern="1200" dirty="0">
                <a:solidFill>
                  <a:schemeClr val="tx1"/>
                </a:solidFill>
                <a:latin typeface="+mn-lt"/>
                <a:ea typeface="+mn-ea"/>
                <a:cs typeface="+mn-cs"/>
              </a:rPr>
              <a:t>nice 1 → ≈ 1024 / 1.25 ≈ 820</a:t>
            </a:r>
            <a:r>
              <a:rPr lang="zh-TW" altLang="en-US" dirty="0"/>
              <a:t>（份額少約 </a:t>
            </a:r>
            <a:r>
              <a:rPr lang="en-US" altLang="zh-TW" dirty="0"/>
              <a:t>20%? </a:t>
            </a:r>
            <a:r>
              <a:rPr lang="zh-TW" altLang="en-US" dirty="0"/>
              <a:t>對上同級比較是相對 </a:t>
            </a:r>
            <a:r>
              <a:rPr lang="en-US" altLang="zh-TW" dirty="0"/>
              <a:t>10% </a:t>
            </a:r>
            <a:r>
              <a:rPr lang="zh-TW" altLang="en-US" dirty="0"/>
              <a:t>差，兩邊一上一下合起來約 </a:t>
            </a:r>
            <a:r>
              <a:rPr lang="en-US" altLang="zh-TW" dirty="0"/>
              <a:t>25% </a:t>
            </a:r>
            <a:r>
              <a:rPr lang="zh-TW" altLang="en-US" dirty="0"/>
              <a:t>距離）</a:t>
            </a:r>
          </a:p>
          <a:p>
            <a:r>
              <a:rPr lang="zh-TW" altLang="en-US" dirty="0"/>
              <a:t>右下角程式碼就是 </a:t>
            </a:r>
            <a:r>
              <a:rPr lang="en-US" altLang="zh-TW" dirty="0"/>
              <a:t>Linux </a:t>
            </a:r>
            <a:r>
              <a:rPr lang="zh-TW" altLang="en-US" dirty="0"/>
              <a:t>內建的 </a:t>
            </a:r>
            <a:r>
              <a:rPr lang="en-US" altLang="zh-TW" sz="1200" kern="1200" dirty="0" err="1">
                <a:solidFill>
                  <a:schemeClr val="tx1"/>
                </a:solidFill>
                <a:latin typeface="+mn-lt"/>
                <a:ea typeface="+mn-ea"/>
                <a:cs typeface="+mn-cs"/>
              </a:rPr>
              <a:t>prio_to_weight</a:t>
            </a:r>
            <a:r>
              <a:rPr lang="en-US" altLang="zh-TW" dirty="0"/>
              <a:t> </a:t>
            </a:r>
            <a:r>
              <a:rPr lang="zh-TW" altLang="en-US" dirty="0"/>
              <a:t>表；像 </a:t>
            </a:r>
            <a:r>
              <a:rPr lang="en-US" altLang="zh-TW" sz="1200" kern="1200" dirty="0">
                <a:solidFill>
                  <a:schemeClr val="tx1"/>
                </a:solidFill>
                <a:latin typeface="+mn-lt"/>
                <a:ea typeface="+mn-ea"/>
                <a:cs typeface="+mn-cs"/>
              </a:rPr>
              <a:t>nice 18</a:t>
            </a:r>
            <a:r>
              <a:rPr lang="en-US" altLang="zh-TW" dirty="0"/>
              <a:t> </a:t>
            </a:r>
            <a:r>
              <a:rPr lang="zh-TW" altLang="en-US" dirty="0"/>
              <a:t>權重 </a:t>
            </a:r>
            <a:r>
              <a:rPr lang="en-US" altLang="zh-TW" dirty="0"/>
              <a:t>18</a:t>
            </a:r>
            <a:r>
              <a:rPr lang="zh-TW" altLang="en-US" dirty="0"/>
              <a:t>、</a:t>
            </a:r>
            <a:r>
              <a:rPr lang="en-US" altLang="zh-TW" sz="1200" kern="1200" dirty="0">
                <a:solidFill>
                  <a:schemeClr val="tx1"/>
                </a:solidFill>
                <a:latin typeface="+mn-lt"/>
                <a:ea typeface="+mn-ea"/>
                <a:cs typeface="+mn-cs"/>
              </a:rPr>
              <a:t>nice 15</a:t>
            </a:r>
            <a:r>
              <a:rPr lang="en-US" altLang="zh-TW" dirty="0"/>
              <a:t> </a:t>
            </a:r>
            <a:r>
              <a:rPr lang="zh-TW" altLang="en-US" dirty="0"/>
              <a:t>權重 </a:t>
            </a:r>
            <a:r>
              <a:rPr lang="en-US" altLang="zh-TW" dirty="0"/>
              <a:t>45</a:t>
            </a:r>
            <a:r>
              <a:rPr lang="zh-TW" altLang="en-US" dirty="0"/>
              <a:t>，</a:t>
            </a:r>
            <a:r>
              <a:rPr lang="en-US" altLang="zh-TW" dirty="0"/>
              <a:t>(18–15)/(18+15) ≈ 10% </a:t>
            </a:r>
            <a:r>
              <a:rPr lang="zh-TW" altLang="en-US" dirty="0"/>
              <a:t>的相對差。</a:t>
            </a:r>
          </a:p>
          <a:p>
            <a:r>
              <a:rPr lang="en-US" altLang="zh-TW" b="1" dirty="0" err="1"/>
              <a:t>vruntime</a:t>
            </a:r>
            <a:r>
              <a:rPr lang="en-US" altLang="zh-TW" b="1" dirty="0"/>
              <a:t> </a:t>
            </a:r>
            <a:r>
              <a:rPr lang="zh-TW" altLang="en-US" b="1" dirty="0"/>
              <a:t>怎麼更新？</a:t>
            </a:r>
          </a:p>
          <a:p>
            <a:r>
              <a:rPr lang="zh-TW" altLang="en-US" dirty="0"/>
              <a:t>直覺式：</a:t>
            </a:r>
            <a:r>
              <a:rPr lang="en-US" altLang="zh-TW" sz="1200" kern="1200" dirty="0" err="1">
                <a:solidFill>
                  <a:schemeClr val="tx1"/>
                </a:solidFill>
                <a:latin typeface="+mn-lt"/>
                <a:ea typeface="+mn-ea"/>
                <a:cs typeface="+mn-cs"/>
              </a:rPr>
              <a:t>vruntime</a:t>
            </a:r>
            <a:r>
              <a:rPr lang="en-US" altLang="zh-TW" sz="1200" kern="1200" dirty="0">
                <a:solidFill>
                  <a:schemeClr val="tx1"/>
                </a:solidFill>
                <a:latin typeface="+mn-lt"/>
                <a:ea typeface="+mn-ea"/>
                <a:cs typeface="+mn-cs"/>
              </a:rPr>
              <a:t> += </a:t>
            </a:r>
            <a:r>
              <a:rPr lang="en-US" altLang="zh-TW" sz="1200" kern="1200" dirty="0" err="1">
                <a:solidFill>
                  <a:schemeClr val="tx1"/>
                </a:solidFill>
                <a:latin typeface="+mn-lt"/>
                <a:ea typeface="+mn-ea"/>
                <a:cs typeface="+mn-cs"/>
              </a:rPr>
              <a:t>delta_exec</a:t>
            </a:r>
            <a:r>
              <a:rPr lang="en-US" altLang="zh-TW" sz="1200" kern="1200" dirty="0">
                <a:solidFill>
                  <a:schemeClr val="tx1"/>
                </a:solidFill>
                <a:latin typeface="+mn-lt"/>
                <a:ea typeface="+mn-ea"/>
                <a:cs typeface="+mn-cs"/>
              </a:rPr>
              <a:t> * (NICE_0_WEIGHT / weight)</a:t>
            </a:r>
            <a:endParaRPr lang="en-US" altLang="zh-TW" dirty="0"/>
          </a:p>
          <a:p>
            <a:pPr lvl="1"/>
            <a:r>
              <a:rPr lang="en-US" altLang="zh-TW" sz="1200" kern="1200" dirty="0" err="1">
                <a:solidFill>
                  <a:schemeClr val="tx1"/>
                </a:solidFill>
                <a:latin typeface="+mn-lt"/>
                <a:ea typeface="+mn-ea"/>
                <a:cs typeface="+mn-cs"/>
              </a:rPr>
              <a:t>delta_exec</a:t>
            </a:r>
            <a:r>
              <a:rPr lang="zh-TW" altLang="en-US" dirty="0"/>
              <a:t>：本次真的跑了多久</a:t>
            </a:r>
          </a:p>
          <a:p>
            <a:pPr lvl="1"/>
            <a:r>
              <a:rPr lang="en-US" altLang="zh-TW" sz="1200" kern="1200" dirty="0">
                <a:solidFill>
                  <a:schemeClr val="tx1"/>
                </a:solidFill>
                <a:latin typeface="+mn-lt"/>
                <a:ea typeface="+mn-ea"/>
                <a:cs typeface="+mn-cs"/>
              </a:rPr>
              <a:t>weight</a:t>
            </a:r>
            <a:r>
              <a:rPr lang="zh-TW" altLang="en-US" dirty="0"/>
              <a:t>：自己的權重；越小 → </a:t>
            </a:r>
            <a:r>
              <a:rPr lang="en-US" altLang="zh-TW" dirty="0" err="1"/>
              <a:t>vruntime</a:t>
            </a:r>
            <a:r>
              <a:rPr lang="en-US" altLang="zh-TW" dirty="0"/>
              <a:t> </a:t>
            </a:r>
            <a:r>
              <a:rPr lang="zh-TW" altLang="en-US" dirty="0"/>
              <a:t>長得越快 → 更不容易再次被選</a:t>
            </a:r>
          </a:p>
          <a:p>
            <a:pPr lvl="1"/>
            <a:r>
              <a:rPr lang="en-US" altLang="zh-TW" sz="1200" kern="1200" dirty="0">
                <a:solidFill>
                  <a:schemeClr val="tx1"/>
                </a:solidFill>
                <a:latin typeface="+mn-lt"/>
                <a:ea typeface="+mn-ea"/>
                <a:cs typeface="+mn-cs"/>
              </a:rPr>
              <a:t>NICE_0_WEIGHT = 1024</a:t>
            </a:r>
            <a:endParaRPr lang="en-US" altLang="zh-TW" dirty="0"/>
          </a:p>
          <a:p>
            <a:r>
              <a:rPr lang="en-US" altLang="zh-TW" b="1" dirty="0"/>
              <a:t>CPU </a:t>
            </a:r>
            <a:r>
              <a:rPr lang="zh-TW" altLang="en-US" b="1" dirty="0"/>
              <a:t>份額怎麼算？</a:t>
            </a:r>
          </a:p>
          <a:p>
            <a:r>
              <a:rPr lang="zh-TW" altLang="en-US" dirty="0"/>
              <a:t>同時有 </a:t>
            </a:r>
            <a:r>
              <a:rPr lang="en-US" altLang="zh-TW" dirty="0"/>
              <a:t>k </a:t>
            </a:r>
            <a:r>
              <a:rPr lang="zh-TW" altLang="en-US" dirty="0"/>
              <a:t>個 </a:t>
            </a:r>
            <a:r>
              <a:rPr lang="en-US" altLang="zh-TW" dirty="0"/>
              <a:t>runnable</a:t>
            </a:r>
            <a:r>
              <a:rPr lang="zh-TW" altLang="en-US" dirty="0"/>
              <a:t>，</a:t>
            </a:r>
            <a:r>
              <a:rPr lang="zh-TW" altLang="en-US" b="1" dirty="0"/>
              <a:t>你拿到的 </a:t>
            </a:r>
            <a:r>
              <a:rPr lang="en-US" altLang="zh-TW" b="1" dirty="0"/>
              <a:t>CPU ≈</a:t>
            </a:r>
            <a:br>
              <a:rPr lang="en-US" altLang="zh-TW" dirty="0"/>
            </a:br>
            <a:r>
              <a:rPr lang="en-US" altLang="zh-TW" sz="1200" kern="1200" dirty="0">
                <a:solidFill>
                  <a:schemeClr val="tx1"/>
                </a:solidFill>
                <a:latin typeface="+mn-lt"/>
                <a:ea typeface="+mn-ea"/>
                <a:cs typeface="+mn-cs"/>
              </a:rPr>
              <a:t>__</a:t>
            </a:r>
            <a:r>
              <a:rPr lang="en-US" altLang="zh-TW" sz="1200" kern="1200" dirty="0" err="1">
                <a:solidFill>
                  <a:schemeClr val="tx1"/>
                </a:solidFill>
                <a:latin typeface="+mn-lt"/>
                <a:ea typeface="+mn-ea"/>
                <a:cs typeface="+mn-cs"/>
              </a:rPr>
              <a:t>sched_period</a:t>
            </a:r>
            <a:r>
              <a:rPr lang="en-US" altLang="zh-TW" sz="1200" kern="1200" dirty="0">
                <a:solidFill>
                  <a:schemeClr val="tx1"/>
                </a:solidFill>
                <a:latin typeface="+mn-lt"/>
                <a:ea typeface="+mn-ea"/>
                <a:cs typeface="+mn-cs"/>
              </a:rPr>
              <a:t> * (</a:t>
            </a:r>
            <a:r>
              <a:rPr lang="zh-TW" altLang="en-US" sz="1200" kern="1200" dirty="0">
                <a:solidFill>
                  <a:schemeClr val="tx1"/>
                </a:solidFill>
                <a:latin typeface="+mn-lt"/>
                <a:ea typeface="+mn-ea"/>
                <a:cs typeface="+mn-cs"/>
              </a:rPr>
              <a:t>你的 </a:t>
            </a:r>
            <a:r>
              <a:rPr lang="en-US" altLang="zh-TW" sz="1200" kern="1200" dirty="0">
                <a:solidFill>
                  <a:schemeClr val="tx1"/>
                </a:solidFill>
                <a:latin typeface="+mn-lt"/>
                <a:ea typeface="+mn-ea"/>
                <a:cs typeface="+mn-cs"/>
              </a:rPr>
              <a:t>weight / </a:t>
            </a:r>
            <a:r>
              <a:rPr lang="zh-TW" altLang="en-US" sz="1200" kern="1200" dirty="0">
                <a:solidFill>
                  <a:schemeClr val="tx1"/>
                </a:solidFill>
                <a:latin typeface="+mn-lt"/>
                <a:ea typeface="+mn-ea"/>
                <a:cs typeface="+mn-cs"/>
              </a:rPr>
              <a:t>所有 </a:t>
            </a:r>
            <a:r>
              <a:rPr lang="en-US" altLang="zh-TW" sz="1200" kern="1200" dirty="0">
                <a:solidFill>
                  <a:schemeClr val="tx1"/>
                </a:solidFill>
                <a:latin typeface="+mn-lt"/>
                <a:ea typeface="+mn-ea"/>
                <a:cs typeface="+mn-cs"/>
              </a:rPr>
              <a:t>runnable </a:t>
            </a:r>
            <a:r>
              <a:rPr lang="zh-TW" altLang="en-US" sz="1200" kern="1200" dirty="0">
                <a:solidFill>
                  <a:schemeClr val="tx1"/>
                </a:solidFill>
                <a:latin typeface="+mn-lt"/>
                <a:ea typeface="+mn-ea"/>
                <a:cs typeface="+mn-cs"/>
              </a:rPr>
              <a:t>的 </a:t>
            </a:r>
            <a:r>
              <a:rPr lang="en-US" altLang="zh-TW" sz="1200" kern="1200" dirty="0">
                <a:solidFill>
                  <a:schemeClr val="tx1"/>
                </a:solidFill>
                <a:latin typeface="+mn-lt"/>
                <a:ea typeface="+mn-ea"/>
                <a:cs typeface="+mn-cs"/>
              </a:rPr>
              <a:t>weight </a:t>
            </a:r>
            <a:r>
              <a:rPr lang="zh-TW" altLang="en-US" sz="1200" kern="1200" dirty="0">
                <a:solidFill>
                  <a:schemeClr val="tx1"/>
                </a:solidFill>
                <a:latin typeface="+mn-lt"/>
                <a:ea typeface="+mn-ea"/>
                <a:cs typeface="+mn-cs"/>
              </a:rPr>
              <a:t>總和</a:t>
            </a:r>
            <a:r>
              <a:rPr lang="en-US" altLang="zh-TW" sz="1200" kern="1200" dirty="0">
                <a:solidFill>
                  <a:schemeClr val="tx1"/>
                </a:solidFill>
                <a:latin typeface="+mn-lt"/>
                <a:ea typeface="+mn-ea"/>
                <a:cs typeface="+mn-cs"/>
              </a:rPr>
              <a:t>)</a:t>
            </a:r>
            <a:br>
              <a:rPr lang="zh-TW" altLang="en-US" dirty="0"/>
            </a:br>
            <a:r>
              <a:rPr lang="zh-TW" altLang="en-US" dirty="0"/>
              <a:t>（</a:t>
            </a:r>
            <a:r>
              <a:rPr lang="en-US" altLang="zh-TW" sz="1200" kern="1200" dirty="0">
                <a:solidFill>
                  <a:schemeClr val="tx1"/>
                </a:solidFill>
                <a:latin typeface="+mn-lt"/>
                <a:ea typeface="+mn-ea"/>
                <a:cs typeface="+mn-cs"/>
              </a:rPr>
              <a:t>__</a:t>
            </a:r>
            <a:r>
              <a:rPr lang="en-US" altLang="zh-TW" sz="1200" kern="1200" dirty="0" err="1">
                <a:solidFill>
                  <a:schemeClr val="tx1"/>
                </a:solidFill>
                <a:latin typeface="+mn-lt"/>
                <a:ea typeface="+mn-ea"/>
                <a:cs typeface="+mn-cs"/>
              </a:rPr>
              <a:t>sched_period</a:t>
            </a:r>
            <a:r>
              <a:rPr lang="en-US" altLang="zh-TW" dirty="0"/>
              <a:t> </a:t>
            </a:r>
            <a:r>
              <a:rPr lang="zh-TW" altLang="en-US" dirty="0"/>
              <a:t>是排程器希望在這段時間內大家都輪到一次，約幾 </a:t>
            </a:r>
            <a:r>
              <a:rPr lang="en-US" altLang="zh-TW" dirty="0" err="1"/>
              <a:t>ms</a:t>
            </a:r>
            <a:r>
              <a:rPr lang="zh-TW" altLang="en-US" dirty="0"/>
              <a:t>）</a:t>
            </a:r>
          </a:p>
          <a:p>
            <a:r>
              <a:rPr lang="zh-TW" altLang="en-US" b="1" dirty="0"/>
              <a:t>超直覺例子</a:t>
            </a:r>
          </a:p>
          <a:p>
            <a:r>
              <a:rPr lang="zh-TW" altLang="en-US" b="1" dirty="0"/>
              <a:t>兩個 </a:t>
            </a:r>
            <a:r>
              <a:rPr lang="en-US" altLang="zh-TW" b="1" dirty="0"/>
              <a:t>task</a:t>
            </a:r>
            <a:r>
              <a:rPr lang="zh-TW" altLang="en-US" b="1" dirty="0"/>
              <a:t>：</a:t>
            </a:r>
            <a:r>
              <a:rPr lang="en-US" altLang="zh-TW" b="1" dirty="0"/>
              <a:t>A(nice 0=1024)</a:t>
            </a:r>
            <a:r>
              <a:rPr lang="zh-TW" altLang="en-US" b="1" dirty="0"/>
              <a:t>、</a:t>
            </a:r>
            <a:r>
              <a:rPr lang="en-US" altLang="zh-TW" b="1" dirty="0"/>
              <a:t>B(nice 5=335)</a:t>
            </a:r>
            <a:endParaRPr lang="en-US" altLang="zh-TW" dirty="0"/>
          </a:p>
          <a:p>
            <a:pPr lvl="1"/>
            <a:r>
              <a:rPr lang="zh-TW" altLang="en-US" dirty="0"/>
              <a:t>總權重 </a:t>
            </a:r>
            <a:r>
              <a:rPr lang="en-US" altLang="zh-TW" dirty="0"/>
              <a:t>1024+335=1359</a:t>
            </a:r>
          </a:p>
          <a:p>
            <a:pPr lvl="1"/>
            <a:r>
              <a:rPr lang="en-US" altLang="zh-TW" dirty="0"/>
              <a:t>A </a:t>
            </a:r>
            <a:r>
              <a:rPr lang="zh-TW" altLang="en-US" dirty="0"/>
              <a:t>份額 ≈ </a:t>
            </a:r>
            <a:r>
              <a:rPr lang="en-US" altLang="zh-TW" dirty="0"/>
              <a:t>1024/1359 ≈ </a:t>
            </a:r>
            <a:r>
              <a:rPr lang="en-US" altLang="zh-TW" b="1" dirty="0"/>
              <a:t>75%</a:t>
            </a:r>
            <a:r>
              <a:rPr lang="zh-TW" altLang="en-US" dirty="0"/>
              <a:t>，</a:t>
            </a:r>
            <a:r>
              <a:rPr lang="en-US" altLang="zh-TW" dirty="0"/>
              <a:t>B ≈ </a:t>
            </a:r>
            <a:r>
              <a:rPr lang="en-US" altLang="zh-TW" b="1" dirty="0"/>
              <a:t>25%</a:t>
            </a:r>
            <a:endParaRPr lang="en-US" altLang="zh-TW" dirty="0"/>
          </a:p>
          <a:p>
            <a:r>
              <a:rPr lang="zh-TW" altLang="en-US" b="1" dirty="0"/>
              <a:t>三個 </a:t>
            </a:r>
            <a:r>
              <a:rPr lang="en-US" altLang="zh-TW" b="1" dirty="0"/>
              <a:t>task</a:t>
            </a:r>
            <a:r>
              <a:rPr lang="zh-TW" altLang="en-US" b="1" dirty="0"/>
              <a:t>：</a:t>
            </a:r>
            <a:r>
              <a:rPr lang="en-US" altLang="zh-TW" b="1" dirty="0"/>
              <a:t>0/5/10</a:t>
            </a:r>
            <a:r>
              <a:rPr lang="zh-TW" altLang="en-US" b="1" dirty="0"/>
              <a:t>（</a:t>
            </a:r>
            <a:r>
              <a:rPr lang="en-US" altLang="zh-TW" b="1" dirty="0"/>
              <a:t>1024/335/110</a:t>
            </a:r>
            <a:r>
              <a:rPr lang="zh-TW" altLang="en-US" b="1" dirty="0"/>
              <a:t>）</a:t>
            </a:r>
            <a:endParaRPr lang="en-US" altLang="zh-TW" dirty="0"/>
          </a:p>
          <a:p>
            <a:pPr lvl="1"/>
            <a:r>
              <a:rPr lang="zh-TW" altLang="en-US" dirty="0"/>
              <a:t>總權重 </a:t>
            </a:r>
            <a:r>
              <a:rPr lang="en-US" altLang="zh-TW" dirty="0"/>
              <a:t>1469</a:t>
            </a:r>
          </a:p>
          <a:p>
            <a:pPr lvl="1"/>
            <a:r>
              <a:rPr lang="zh-TW" altLang="en-US" dirty="0"/>
              <a:t>份額約：</a:t>
            </a:r>
            <a:r>
              <a:rPr lang="en-US" altLang="zh-TW" b="1" dirty="0"/>
              <a:t>70% / 23% / 7%</a:t>
            </a:r>
            <a:endParaRPr lang="zh-TW" altLang="en-US" dirty="0"/>
          </a:p>
          <a:p>
            <a:r>
              <a:rPr lang="en-US" altLang="zh-TW" b="1" dirty="0"/>
              <a:t>Priority </a:t>
            </a:r>
            <a:r>
              <a:rPr lang="zh-TW" altLang="en-US" b="1" dirty="0"/>
              <a:t>欄位是什麼？</a:t>
            </a:r>
          </a:p>
          <a:p>
            <a:r>
              <a:rPr lang="zh-TW" altLang="en-US" dirty="0"/>
              <a:t>投影片的 </a:t>
            </a:r>
            <a:r>
              <a:rPr lang="en-US" altLang="zh-TW" dirty="0"/>
              <a:t>priority </a:t>
            </a:r>
            <a:r>
              <a:rPr lang="zh-TW" altLang="en-US" dirty="0"/>
              <a:t>數字（</a:t>
            </a:r>
            <a:r>
              <a:rPr lang="en-US" altLang="zh-TW" dirty="0"/>
              <a:t>100–139</a:t>
            </a:r>
            <a:r>
              <a:rPr lang="zh-TW" altLang="en-US" dirty="0"/>
              <a:t>）是 </a:t>
            </a:r>
            <a:r>
              <a:rPr lang="en-US" altLang="zh-TW" dirty="0"/>
              <a:t>Linux </a:t>
            </a:r>
            <a:r>
              <a:rPr lang="zh-TW" altLang="en-US" dirty="0"/>
              <a:t>內部的靜態優先級區間；</a:t>
            </a:r>
            <a:r>
              <a:rPr lang="zh-TW" altLang="en-US" b="1" dirty="0"/>
              <a:t>實際分配看 </a:t>
            </a:r>
            <a:r>
              <a:rPr lang="en-US" altLang="zh-TW" b="1" dirty="0"/>
              <a:t>weight</a:t>
            </a:r>
            <a:r>
              <a:rPr lang="zh-TW" altLang="en-US" dirty="0"/>
              <a:t>，不是看那個數字本身。</a:t>
            </a:r>
          </a:p>
          <a:p>
            <a:r>
              <a:rPr lang="zh-TW" altLang="en-US" b="1" dirty="0"/>
              <a:t>一句話</a:t>
            </a:r>
          </a:p>
          <a:p>
            <a:r>
              <a:rPr lang="en-US" altLang="zh-TW" dirty="0"/>
              <a:t>CFS </a:t>
            </a:r>
            <a:r>
              <a:rPr lang="zh-TW" altLang="en-US" dirty="0"/>
              <a:t>用「</a:t>
            </a:r>
            <a:r>
              <a:rPr lang="zh-TW" altLang="en-US" b="1" dirty="0"/>
              <a:t>十趴效應</a:t>
            </a:r>
            <a:r>
              <a:rPr lang="zh-TW" altLang="en-US" dirty="0"/>
              <a:t>」把 </a:t>
            </a:r>
            <a:r>
              <a:rPr lang="en-US" altLang="zh-TW" dirty="0"/>
              <a:t>nice </a:t>
            </a:r>
            <a:r>
              <a:rPr lang="zh-TW" altLang="en-US" dirty="0"/>
              <a:t>轉成</a:t>
            </a:r>
            <a:r>
              <a:rPr lang="zh-TW" altLang="en-US" b="1" dirty="0"/>
              <a:t>權重表</a:t>
            </a:r>
            <a:r>
              <a:rPr lang="zh-TW" altLang="en-US" dirty="0"/>
              <a:t>，再用 </a:t>
            </a:r>
            <a:r>
              <a:rPr lang="en-US" altLang="zh-TW" sz="1200" kern="1200" dirty="0" err="1">
                <a:solidFill>
                  <a:schemeClr val="tx1"/>
                </a:solidFill>
                <a:latin typeface="+mn-lt"/>
                <a:ea typeface="+mn-ea"/>
                <a:cs typeface="+mn-cs"/>
              </a:rPr>
              <a:t>vruntime</a:t>
            </a:r>
            <a:r>
              <a:rPr lang="en-US" altLang="zh-TW" dirty="0"/>
              <a:t> </a:t>
            </a:r>
            <a:r>
              <a:rPr lang="zh-TW" altLang="en-US" dirty="0"/>
              <a:t>記帳：</a:t>
            </a:r>
            <a:r>
              <a:rPr lang="zh-TW" altLang="en-US" b="1" dirty="0"/>
              <a:t>誰拿得多，分數長得快，下一次就排後面</a:t>
            </a:r>
            <a:r>
              <a:rPr lang="zh-TW" altLang="en-US" dirty="0"/>
              <a:t>；最後讓大家按權重比例拿到 </a:t>
            </a:r>
            <a:r>
              <a:rPr lang="en-US" altLang="zh-TW" dirty="0"/>
              <a:t>CPU</a:t>
            </a:r>
            <a:r>
              <a:rPr lang="zh-TW" altLang="en-US" dirty="0"/>
              <a:t>。</a:t>
            </a: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19</a:t>
            </a:fld>
            <a:endParaRPr lang="zh-TW" altLang="en-US"/>
          </a:p>
        </p:txBody>
      </p:sp>
    </p:spTree>
    <p:extLst>
      <p:ext uri="{BB962C8B-B14F-4D97-AF65-F5344CB8AC3E}">
        <p14:creationId xmlns:p14="http://schemas.microsoft.com/office/powerpoint/2010/main" val="40531327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20</a:t>
            </a:fld>
            <a:endParaRPr lang="zh-TW" altLang="en-US"/>
          </a:p>
        </p:txBody>
      </p:sp>
    </p:spTree>
    <p:extLst>
      <p:ext uri="{BB962C8B-B14F-4D97-AF65-F5344CB8AC3E}">
        <p14:creationId xmlns:p14="http://schemas.microsoft.com/office/powerpoint/2010/main" val="34103040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這頁在講「</a:t>
            </a:r>
            <a:r>
              <a:rPr lang="zh-TW" altLang="en-US" b="1" dirty="0"/>
              <a:t>行程脈絡（</a:t>
            </a:r>
            <a:r>
              <a:rPr lang="en-US" altLang="zh-TW" b="1" dirty="0"/>
              <a:t>context</a:t>
            </a:r>
            <a:r>
              <a:rPr lang="zh-TW" altLang="en-US" b="1" dirty="0"/>
              <a:t>）</a:t>
            </a:r>
            <a:r>
              <a:rPr lang="zh-TW" altLang="en-US" dirty="0"/>
              <a:t>」跟「</a:t>
            </a:r>
            <a:r>
              <a:rPr lang="zh-TW" altLang="en-US" b="1" dirty="0"/>
              <a:t>脈絡切換（</a:t>
            </a:r>
            <a:r>
              <a:rPr lang="en-US" altLang="zh-TW" b="1" dirty="0"/>
              <a:t>context switch</a:t>
            </a:r>
            <a:r>
              <a:rPr lang="zh-TW" altLang="en-US" b="1" dirty="0"/>
              <a:t>）</a:t>
            </a:r>
            <a:r>
              <a:rPr lang="zh-TW" altLang="en-US" dirty="0"/>
              <a:t>」，白話版如下：</a:t>
            </a:r>
          </a:p>
          <a:p>
            <a:r>
              <a:rPr lang="zh-TW" altLang="en-US" b="1" dirty="0"/>
              <a:t>什麼是 </a:t>
            </a:r>
            <a:r>
              <a:rPr lang="en-US" altLang="zh-TW" b="1" dirty="0"/>
              <a:t>Process Context</a:t>
            </a:r>
            <a:r>
              <a:rPr lang="zh-TW" altLang="en-US" b="1" dirty="0"/>
              <a:t>？</a:t>
            </a:r>
          </a:p>
          <a:p>
            <a:r>
              <a:rPr lang="zh-TW" altLang="en-US" dirty="0"/>
              <a:t>就是讓一個程式能「接著跑」所需要的全部現場：</a:t>
            </a:r>
          </a:p>
          <a:p>
            <a:r>
              <a:rPr lang="zh-TW" altLang="en-US" b="1" dirty="0"/>
              <a:t>使用者位址空間</a:t>
            </a:r>
            <a:r>
              <a:rPr lang="zh-TW" altLang="en-US" dirty="0"/>
              <a:t>：頁表、程式的程式碼</a:t>
            </a:r>
            <a:r>
              <a:rPr lang="en-US" altLang="zh-TW" dirty="0"/>
              <a:t>/</a:t>
            </a:r>
            <a:r>
              <a:rPr lang="zh-TW" altLang="en-US" dirty="0"/>
              <a:t>資料、堆疊等。</a:t>
            </a:r>
          </a:p>
          <a:p>
            <a:r>
              <a:rPr lang="zh-TW" altLang="en-US" b="1" dirty="0"/>
              <a:t>硬體暫存器</a:t>
            </a:r>
            <a:r>
              <a:rPr lang="zh-TW" altLang="en-US" dirty="0"/>
              <a:t>：</a:t>
            </a:r>
            <a:r>
              <a:rPr lang="en-US" altLang="zh-TW" dirty="0"/>
              <a:t>PC/</a:t>
            </a:r>
            <a:r>
              <a:rPr lang="zh-TW" altLang="en-US" dirty="0"/>
              <a:t>通用暫存器、旗標</a:t>
            </a:r>
            <a:r>
              <a:rPr lang="en-US" altLang="zh-TW" dirty="0"/>
              <a:t>…</a:t>
            </a:r>
            <a:r>
              <a:rPr lang="zh-TW" altLang="en-US" dirty="0"/>
              <a:t>（</a:t>
            </a:r>
            <a:r>
              <a:rPr lang="en-US" altLang="zh-TW" dirty="0"/>
              <a:t>CPU </a:t>
            </a:r>
            <a:r>
              <a:rPr lang="zh-TW" altLang="en-US" dirty="0"/>
              <a:t>的當前狀態）。</a:t>
            </a:r>
          </a:p>
          <a:p>
            <a:r>
              <a:rPr lang="zh-TW" altLang="en-US" b="1" dirty="0"/>
              <a:t>內核資料</a:t>
            </a:r>
            <a:r>
              <a:rPr lang="zh-TW" altLang="en-US" dirty="0"/>
              <a:t>：例如 </a:t>
            </a:r>
            <a:r>
              <a:rPr lang="en-US" altLang="zh-TW" sz="1200" kern="1200" dirty="0" err="1">
                <a:solidFill>
                  <a:schemeClr val="tx1"/>
                </a:solidFill>
                <a:latin typeface="+mn-lt"/>
                <a:ea typeface="+mn-ea"/>
                <a:cs typeface="+mn-cs"/>
              </a:rPr>
              <a:t>task_struct</a:t>
            </a:r>
            <a:r>
              <a:rPr lang="zh-TW" altLang="en-US" dirty="0"/>
              <a:t>、開啟的檔案、訊號狀態等。</a:t>
            </a:r>
          </a:p>
          <a:p>
            <a:r>
              <a:rPr lang="zh-TW" altLang="en-US" b="1" dirty="0"/>
              <a:t>什麼是 </a:t>
            </a:r>
            <a:r>
              <a:rPr lang="en-US" altLang="zh-TW" b="1" dirty="0"/>
              <a:t>Context Switch</a:t>
            </a:r>
            <a:r>
              <a:rPr lang="zh-TW" altLang="en-US" b="1" dirty="0"/>
              <a:t>？</a:t>
            </a:r>
          </a:p>
          <a:p>
            <a:r>
              <a:rPr lang="zh-TW" altLang="en-US" dirty="0"/>
              <a:t>從</a:t>
            </a:r>
            <a:r>
              <a:rPr lang="zh-TW" altLang="en-US" b="1" dirty="0"/>
              <a:t>一個可執行行程</a:t>
            </a:r>
            <a:r>
              <a:rPr lang="zh-TW" altLang="en-US" dirty="0"/>
              <a:t>切到</a:t>
            </a:r>
            <a:r>
              <a:rPr lang="zh-TW" altLang="en-US" b="1" dirty="0"/>
              <a:t>另一個</a:t>
            </a:r>
            <a:r>
              <a:rPr lang="zh-TW" altLang="en-US" dirty="0"/>
              <a:t>。排程器決定要換人時，內核要做兩件事：</a:t>
            </a:r>
          </a:p>
          <a:p>
            <a:r>
              <a:rPr lang="en-US" altLang="zh-TW" b="1" dirty="0" err="1"/>
              <a:t>switch_mm</a:t>
            </a:r>
            <a:r>
              <a:rPr lang="en-US" altLang="zh-TW" b="1" dirty="0"/>
              <a:t>()</a:t>
            </a:r>
            <a:r>
              <a:rPr lang="zh-TW" altLang="en-US" dirty="0"/>
              <a:t>：把</a:t>
            </a:r>
            <a:r>
              <a:rPr lang="zh-TW" altLang="en-US" b="1" dirty="0"/>
              <a:t>記憶體對映</a:t>
            </a:r>
            <a:r>
              <a:rPr lang="zh-TW" altLang="en-US" dirty="0"/>
              <a:t>換成新行程的（頁表、</a:t>
            </a:r>
            <a:r>
              <a:rPr lang="en-US" altLang="zh-TW" dirty="0"/>
              <a:t>TLB </a:t>
            </a:r>
            <a:r>
              <a:rPr lang="zh-TW" altLang="en-US" dirty="0"/>
              <a:t>等）。</a:t>
            </a:r>
          </a:p>
          <a:p>
            <a:r>
              <a:rPr lang="en-US" altLang="zh-TW" b="1" dirty="0" err="1"/>
              <a:t>switch_to</a:t>
            </a:r>
            <a:r>
              <a:rPr lang="en-US" altLang="zh-TW" b="1" dirty="0"/>
              <a:t>()</a:t>
            </a:r>
            <a:r>
              <a:rPr lang="zh-TW" altLang="en-US" dirty="0"/>
              <a:t>：把</a:t>
            </a:r>
            <a:r>
              <a:rPr lang="en-US" altLang="zh-TW" b="1" dirty="0"/>
              <a:t>CPU </a:t>
            </a:r>
            <a:r>
              <a:rPr lang="zh-TW" altLang="en-US" b="1" dirty="0"/>
              <a:t>狀態</a:t>
            </a:r>
            <a:r>
              <a:rPr lang="zh-TW" altLang="en-US" dirty="0"/>
              <a:t>換成新行程的（保存舊暫存器、載入新暫存器、切換 </a:t>
            </a:r>
            <a:r>
              <a:rPr lang="en-US" altLang="zh-TW" dirty="0"/>
              <a:t>kernel stack </a:t>
            </a:r>
            <a:r>
              <a:rPr lang="zh-TW" altLang="en-US" dirty="0"/>
              <a:t>等）。</a:t>
            </a:r>
          </a:p>
          <a:p>
            <a:r>
              <a:rPr lang="zh-TW" altLang="en-US" b="1" dirty="0"/>
              <a:t>圖中「</a:t>
            </a:r>
            <a:r>
              <a:rPr lang="en-US" altLang="zh-TW" b="1" dirty="0" err="1"/>
              <a:t>switch_mm</a:t>
            </a:r>
            <a:r>
              <a:rPr lang="en-US" altLang="zh-TW" b="1" dirty="0"/>
              <a:t>() on Linux 4.4</a:t>
            </a:r>
            <a:r>
              <a:rPr lang="zh-TW" altLang="en-US" b="1" dirty="0"/>
              <a:t>」在做什麼（</a:t>
            </a:r>
            <a:r>
              <a:rPr lang="en-US" altLang="zh-TW" b="1" dirty="0"/>
              <a:t>x86 </a:t>
            </a:r>
            <a:r>
              <a:rPr lang="zh-TW" altLang="en-US" b="1" dirty="0"/>
              <a:t>口味）</a:t>
            </a:r>
          </a:p>
          <a:p>
            <a:r>
              <a:rPr lang="zh-TW" altLang="en-US" dirty="0"/>
              <a:t>依序大概是：</a:t>
            </a:r>
          </a:p>
          <a:p>
            <a:r>
              <a:rPr lang="en-US" altLang="zh-TW" b="1" dirty="0"/>
              <a:t>Flush Branch Predictor Buffer</a:t>
            </a:r>
            <a:br>
              <a:rPr lang="zh-TW" altLang="en-US" dirty="0"/>
            </a:br>
            <a:r>
              <a:rPr lang="zh-TW" altLang="en-US" dirty="0"/>
              <a:t>清分支預測器的痕跡，避免上一個行程的分支歷史干擾新的（也減少資訊洩漏風險）。</a:t>
            </a:r>
          </a:p>
          <a:p>
            <a:r>
              <a:rPr lang="en-US" altLang="zh-TW" b="1" dirty="0"/>
              <a:t>Load New Page Table</a:t>
            </a:r>
            <a:r>
              <a:rPr lang="zh-TW" altLang="en-US" b="1" dirty="0"/>
              <a:t>（</a:t>
            </a:r>
            <a:r>
              <a:rPr lang="en-US" altLang="zh-TW" b="1" dirty="0"/>
              <a:t>CR3</a:t>
            </a:r>
            <a:r>
              <a:rPr lang="zh-TW" altLang="en-US" b="1" dirty="0"/>
              <a:t>）</a:t>
            </a:r>
            <a:br>
              <a:rPr lang="zh-TW" altLang="en-US" dirty="0"/>
            </a:br>
            <a:r>
              <a:rPr lang="zh-TW" altLang="en-US" dirty="0"/>
              <a:t>把 </a:t>
            </a:r>
            <a:r>
              <a:rPr lang="en-US" altLang="zh-TW" dirty="0"/>
              <a:t>CR3 </a:t>
            </a:r>
            <a:r>
              <a:rPr lang="zh-TW" altLang="en-US" dirty="0"/>
              <a:t>換成新行程的</a:t>
            </a:r>
            <a:r>
              <a:rPr lang="zh-TW" altLang="en-US" b="1" dirty="0"/>
              <a:t>頁表根</a:t>
            </a:r>
            <a:r>
              <a:rPr lang="zh-TW" altLang="en-US" dirty="0"/>
              <a:t>，等於切換到它的</a:t>
            </a:r>
            <a:r>
              <a:rPr lang="zh-TW" altLang="en-US" b="1" dirty="0"/>
              <a:t>位址空間</a:t>
            </a:r>
            <a:r>
              <a:rPr lang="zh-TW" altLang="en-US" dirty="0"/>
              <a:t>。</a:t>
            </a:r>
          </a:p>
          <a:p>
            <a:r>
              <a:rPr lang="en-US" altLang="zh-TW" b="1" dirty="0"/>
              <a:t>Flush TLB</a:t>
            </a:r>
            <a:br>
              <a:rPr lang="zh-TW" altLang="en-US" dirty="0"/>
            </a:br>
            <a:r>
              <a:rPr lang="zh-TW" altLang="en-US" dirty="0"/>
              <a:t>先前緩存的位址對映已經不準了，要清掉。</a:t>
            </a:r>
          </a:p>
          <a:p>
            <a:r>
              <a:rPr lang="en-US" altLang="zh-TW" b="1" dirty="0"/>
              <a:t>Load New CR4</a:t>
            </a:r>
            <a:r>
              <a:rPr lang="zh-TW" altLang="en-US" b="1" dirty="0"/>
              <a:t>（</a:t>
            </a:r>
            <a:r>
              <a:rPr lang="en-US" altLang="zh-TW" b="1" dirty="0"/>
              <a:t>Page Size Extension</a:t>
            </a:r>
            <a:r>
              <a:rPr lang="zh-TW" altLang="en-US" b="1" dirty="0"/>
              <a:t>）</a:t>
            </a:r>
            <a:br>
              <a:rPr lang="zh-TW" altLang="en-US" dirty="0"/>
            </a:br>
            <a:r>
              <a:rPr lang="zh-TW" altLang="en-US" dirty="0"/>
              <a:t>視架構</a:t>
            </a:r>
            <a:r>
              <a:rPr lang="en-US" altLang="zh-TW" dirty="0"/>
              <a:t>/</a:t>
            </a:r>
            <a:r>
              <a:rPr lang="zh-TW" altLang="en-US" dirty="0"/>
              <a:t>功能位設定（例如頁面大小擴展等）載入新設定。</a:t>
            </a:r>
          </a:p>
          <a:p>
            <a:r>
              <a:rPr lang="en-US" altLang="zh-TW" b="1" dirty="0"/>
              <a:t>Load LDT</a:t>
            </a:r>
            <a:r>
              <a:rPr lang="zh-TW" altLang="en-US" dirty="0"/>
              <a:t>（多半不用於一般使用者行程）</a:t>
            </a:r>
            <a:br>
              <a:rPr lang="zh-TW" altLang="en-US" dirty="0"/>
            </a:br>
            <a:r>
              <a:rPr lang="zh-TW" altLang="en-US" dirty="0"/>
              <a:t>舊式分段機制的本地描述表，現代 </a:t>
            </a:r>
            <a:r>
              <a:rPr lang="en-US" altLang="zh-TW" dirty="0"/>
              <a:t>Linux </a:t>
            </a:r>
            <a:r>
              <a:rPr lang="zh-TW" altLang="en-US" dirty="0"/>
              <a:t>幾乎不靠它。</a:t>
            </a:r>
          </a:p>
          <a:p>
            <a:r>
              <a:rPr lang="zh-TW" altLang="en-US" dirty="0"/>
              <a:t>小提醒：上述是</a:t>
            </a:r>
            <a:r>
              <a:rPr lang="zh-TW" altLang="en-US" b="1" dirty="0"/>
              <a:t>記憶體面</a:t>
            </a:r>
            <a:r>
              <a:rPr lang="zh-TW" altLang="en-US" dirty="0"/>
              <a:t>（</a:t>
            </a:r>
            <a:r>
              <a:rPr lang="en-US" altLang="zh-TW" dirty="0" err="1"/>
              <a:t>switch_mm</a:t>
            </a:r>
            <a:r>
              <a:rPr lang="zh-TW" altLang="en-US" dirty="0"/>
              <a:t>）；</a:t>
            </a:r>
            <a:r>
              <a:rPr lang="zh-TW" altLang="en-US" b="1" dirty="0"/>
              <a:t>暫存器面</a:t>
            </a:r>
            <a:r>
              <a:rPr lang="zh-TW" altLang="en-US" dirty="0"/>
              <a:t>（</a:t>
            </a:r>
            <a:r>
              <a:rPr lang="en-US" altLang="zh-TW" dirty="0" err="1"/>
              <a:t>switch_to</a:t>
            </a:r>
            <a:r>
              <a:rPr lang="zh-TW" altLang="en-US" dirty="0"/>
              <a:t>）則會保存</a:t>
            </a:r>
            <a:r>
              <a:rPr lang="en-US" altLang="zh-TW" dirty="0"/>
              <a:t>/</a:t>
            </a:r>
            <a:r>
              <a:rPr lang="zh-TW" altLang="en-US" dirty="0"/>
              <a:t>恢復通用暫存器、指令指標、堆疊指標，並切到新行程的 </a:t>
            </a:r>
            <a:r>
              <a:rPr lang="en-US" altLang="zh-TW" b="1" dirty="0"/>
              <a:t>kernel stack</a:t>
            </a:r>
            <a:r>
              <a:rPr lang="zh-TW" altLang="en-US" dirty="0"/>
              <a:t>。</a:t>
            </a:r>
          </a:p>
          <a:p>
            <a:r>
              <a:rPr lang="zh-TW" altLang="en-US" b="1" dirty="0"/>
              <a:t>什麼時候會發生切換？</a:t>
            </a:r>
          </a:p>
          <a:p>
            <a:r>
              <a:rPr lang="zh-TW" altLang="en-US" b="1" dirty="0"/>
              <a:t>時間片到</a:t>
            </a:r>
            <a:r>
              <a:rPr lang="zh-TW" altLang="en-US" dirty="0"/>
              <a:t>（被搶佔）。</a:t>
            </a:r>
          </a:p>
          <a:p>
            <a:r>
              <a:rPr lang="zh-TW" altLang="en-US" dirty="0"/>
              <a:t>行程 </a:t>
            </a:r>
            <a:r>
              <a:rPr lang="zh-TW" altLang="en-US" b="1" dirty="0"/>
              <a:t>阻塞</a:t>
            </a:r>
            <a:r>
              <a:rPr lang="zh-TW" altLang="en-US" dirty="0"/>
              <a:t>（等待 </a:t>
            </a:r>
            <a:r>
              <a:rPr lang="en-US" altLang="zh-TW" dirty="0"/>
              <a:t>I/O / sleep</a:t>
            </a:r>
            <a:r>
              <a:rPr lang="zh-TW" altLang="en-US" dirty="0"/>
              <a:t>）。</a:t>
            </a:r>
          </a:p>
          <a:p>
            <a:r>
              <a:rPr lang="zh-TW" altLang="en-US" dirty="0"/>
              <a:t>行程 </a:t>
            </a:r>
            <a:r>
              <a:rPr lang="zh-TW" altLang="en-US" b="1" dirty="0"/>
              <a:t>主動讓出</a:t>
            </a:r>
            <a:r>
              <a:rPr lang="zh-TW" altLang="en-US" dirty="0"/>
              <a:t>（</a:t>
            </a:r>
            <a:r>
              <a:rPr lang="en-US" altLang="zh-TW" dirty="0"/>
              <a:t>yield</a:t>
            </a:r>
            <a:r>
              <a:rPr lang="zh-TW" altLang="en-US" dirty="0"/>
              <a:t>）。</a:t>
            </a:r>
          </a:p>
          <a:p>
            <a:r>
              <a:rPr lang="zh-TW" altLang="en-US" dirty="0"/>
              <a:t>更高優先權的行程醒來。</a:t>
            </a:r>
          </a:p>
          <a:p>
            <a:r>
              <a:rPr lang="zh-TW" altLang="en-US" b="1" dirty="0"/>
              <a:t>為什麼 </a:t>
            </a:r>
            <a:r>
              <a:rPr lang="en-US" altLang="zh-TW" b="1" dirty="0"/>
              <a:t>context switch </a:t>
            </a:r>
            <a:r>
              <a:rPr lang="zh-TW" altLang="en-US" b="1" dirty="0"/>
              <a:t>貴？</a:t>
            </a:r>
          </a:p>
          <a:p>
            <a:r>
              <a:rPr lang="zh-TW" altLang="en-US" dirty="0"/>
              <a:t>要做的事多（存</a:t>
            </a:r>
            <a:r>
              <a:rPr lang="en-US" altLang="zh-TW" dirty="0"/>
              <a:t>/</a:t>
            </a:r>
            <a:r>
              <a:rPr lang="zh-TW" altLang="en-US" dirty="0"/>
              <a:t>載暫存器、換頁表、清 </a:t>
            </a:r>
            <a:r>
              <a:rPr lang="en-US" altLang="zh-TW" dirty="0"/>
              <a:t>TLB…</a:t>
            </a:r>
            <a:r>
              <a:rPr lang="zh-TW" altLang="en-US" dirty="0"/>
              <a:t>），還可能造成快取</a:t>
            </a:r>
            <a:r>
              <a:rPr lang="en-US" altLang="zh-TW" dirty="0"/>
              <a:t>/</a:t>
            </a:r>
            <a:r>
              <a:rPr lang="zh-TW" altLang="en-US" dirty="0"/>
              <a:t>分支預測失效 → </a:t>
            </a:r>
            <a:r>
              <a:rPr lang="zh-TW" altLang="en-US" b="1" dirty="0"/>
              <a:t>短時間內效率下降</a:t>
            </a:r>
            <a:r>
              <a:rPr lang="zh-TW" altLang="en-US" dirty="0"/>
              <a:t>。因此排程要在</a:t>
            </a:r>
            <a:r>
              <a:rPr lang="zh-TW" altLang="en-US" b="1" dirty="0"/>
              <a:t>互動性</a:t>
            </a:r>
            <a:r>
              <a:rPr lang="zh-TW" altLang="en-US" dirty="0"/>
              <a:t>與</a:t>
            </a:r>
            <a:r>
              <a:rPr lang="zh-TW" altLang="en-US" b="1" dirty="0"/>
              <a:t>切換開銷</a:t>
            </a:r>
            <a:r>
              <a:rPr lang="zh-TW" altLang="en-US" dirty="0"/>
              <a:t>間拿捏平衡。</a:t>
            </a:r>
          </a:p>
          <a:p>
            <a:r>
              <a:rPr lang="zh-TW" altLang="en-US" dirty="0"/>
              <a:t>一句話：</a:t>
            </a:r>
          </a:p>
          <a:p>
            <a:r>
              <a:rPr lang="zh-TW" altLang="en-US" b="1" dirty="0"/>
              <a:t>脈絡</a:t>
            </a:r>
            <a:r>
              <a:rPr lang="zh-TW" altLang="en-US" dirty="0"/>
              <a:t>是「程式的現場」，</a:t>
            </a:r>
            <a:r>
              <a:rPr lang="zh-TW" altLang="en-US" b="1" dirty="0"/>
              <a:t>脈絡切換</a:t>
            </a:r>
            <a:r>
              <a:rPr lang="zh-TW" altLang="en-US" dirty="0"/>
              <a:t>就是把「記憶體對映 </a:t>
            </a:r>
            <a:r>
              <a:rPr lang="en-US" altLang="zh-TW" dirty="0"/>
              <a:t>+ CPU </a:t>
            </a:r>
            <a:r>
              <a:rPr lang="zh-TW" altLang="en-US" dirty="0"/>
              <a:t>狀態」整套從 </a:t>
            </a:r>
            <a:r>
              <a:rPr lang="en-US" altLang="zh-TW" dirty="0"/>
              <a:t>A </a:t>
            </a:r>
            <a:r>
              <a:rPr lang="zh-TW" altLang="en-US" dirty="0"/>
              <a:t>換到 </a:t>
            </a:r>
            <a:r>
              <a:rPr lang="en-US" altLang="zh-TW" dirty="0"/>
              <a:t>B</a:t>
            </a:r>
            <a:r>
              <a:rPr lang="zh-TW" altLang="en-US" dirty="0"/>
              <a:t>，好讓 </a:t>
            </a:r>
            <a:r>
              <a:rPr lang="en-US" altLang="zh-TW" dirty="0"/>
              <a:t>B </a:t>
            </a:r>
            <a:r>
              <a:rPr lang="zh-TW" altLang="en-US" dirty="0"/>
              <a:t>接著跑；圖示就是這個過程在 </a:t>
            </a:r>
            <a:r>
              <a:rPr lang="en-US" altLang="zh-TW" dirty="0"/>
              <a:t>x86/Linux 4.4 </a:t>
            </a:r>
            <a:r>
              <a:rPr lang="zh-TW" altLang="en-US" dirty="0"/>
              <a:t>下的記憶體切換步驟。</a:t>
            </a:r>
          </a:p>
          <a:p>
            <a:br>
              <a:rPr lang="en-US" altLang="zh-TW" b="0" i="0" dirty="0">
                <a:solidFill>
                  <a:srgbClr val="000000"/>
                </a:solidFill>
                <a:effectLst/>
                <a:latin typeface="Söhne"/>
              </a:rPr>
            </a:br>
            <a:r>
              <a:rPr lang="en-US" altLang="zh-TW" b="1" dirty="0"/>
              <a:t>Process Context Switch</a:t>
            </a:r>
          </a:p>
          <a:p>
            <a:r>
              <a:rPr lang="zh-TW" altLang="en-US" b="1" dirty="0"/>
              <a:t>逐字翻譯</a:t>
            </a:r>
          </a:p>
          <a:p>
            <a:r>
              <a:rPr lang="en-US" altLang="zh-TW" b="1" dirty="0"/>
              <a:t>Process Context:</a:t>
            </a:r>
            <a:r>
              <a:rPr lang="en-US" altLang="zh-TW" dirty="0"/>
              <a:t> Contents of </a:t>
            </a:r>
            <a:r>
              <a:rPr lang="en-US" altLang="zh-TW" b="1" dirty="0"/>
              <a:t>user address space</a:t>
            </a:r>
            <a:r>
              <a:rPr lang="zh-TW" altLang="en-US" dirty="0"/>
              <a:t>（例如頁表）、</a:t>
            </a:r>
            <a:r>
              <a:rPr lang="en-US" altLang="zh-TW" b="1" dirty="0"/>
              <a:t>hardware registers</a:t>
            </a:r>
            <a:r>
              <a:rPr lang="zh-TW" altLang="en-US" dirty="0"/>
              <a:t>（例如 </a:t>
            </a:r>
            <a:r>
              <a:rPr lang="en-US" altLang="zh-TW" dirty="0"/>
              <a:t>PC </a:t>
            </a:r>
            <a:r>
              <a:rPr lang="zh-TW" altLang="en-US" dirty="0"/>
              <a:t>程式計數器）以及</a:t>
            </a:r>
            <a:r>
              <a:rPr lang="zh-TW" altLang="en-US" b="1" dirty="0"/>
              <a:t>與該行程相關的核心資料結構</a:t>
            </a:r>
            <a:r>
              <a:rPr lang="zh-TW" altLang="en-US" dirty="0"/>
              <a:t>。</a:t>
            </a:r>
          </a:p>
          <a:p>
            <a:pPr lvl="1"/>
            <a:r>
              <a:rPr lang="zh-TW" altLang="en-US" dirty="0"/>
              <a:t>也可這樣想：</a:t>
            </a:r>
            <a:r>
              <a:rPr lang="en-US" altLang="zh-TW" b="1" dirty="0"/>
              <a:t>context</a:t>
            </a:r>
            <a:r>
              <a:rPr lang="en-US" altLang="zh-TW" dirty="0"/>
              <a:t> </a:t>
            </a:r>
            <a:r>
              <a:rPr lang="zh-TW" altLang="en-US" dirty="0"/>
              <a:t>很像用來執行某東西的「</a:t>
            </a:r>
            <a:r>
              <a:rPr lang="zh-TW" altLang="en-US" b="1" dirty="0"/>
              <a:t>環境</a:t>
            </a:r>
            <a:r>
              <a:rPr lang="zh-TW" altLang="en-US" dirty="0"/>
              <a:t>」。</a:t>
            </a:r>
          </a:p>
          <a:p>
            <a:r>
              <a:rPr lang="en-US" altLang="zh-TW" b="1" dirty="0"/>
              <a:t>Process Context Switch:</a:t>
            </a:r>
            <a:r>
              <a:rPr lang="en-US" altLang="zh-TW" dirty="0"/>
              <a:t> </a:t>
            </a:r>
            <a:r>
              <a:rPr lang="zh-TW" altLang="en-US" dirty="0"/>
              <a:t>從</a:t>
            </a:r>
            <a:r>
              <a:rPr lang="zh-TW" altLang="en-US" b="1" dirty="0"/>
              <a:t>一個可執行行程</a:t>
            </a:r>
            <a:r>
              <a:rPr lang="zh-TW" altLang="en-US" dirty="0"/>
              <a:t>切換到</a:t>
            </a:r>
            <a:r>
              <a:rPr lang="zh-TW" altLang="en-US" b="1" dirty="0"/>
              <a:t>另一個</a:t>
            </a:r>
            <a:r>
              <a:rPr lang="zh-TW" altLang="en-US" dirty="0"/>
              <a:t>。</a:t>
            </a:r>
          </a:p>
          <a:p>
            <a:pPr lvl="1"/>
            <a:r>
              <a:rPr lang="en-US" altLang="zh-TW" sz="1200" b="1" kern="1200" dirty="0" err="1">
                <a:solidFill>
                  <a:schemeClr val="tx1"/>
                </a:solidFill>
                <a:latin typeface="+mn-lt"/>
                <a:ea typeface="+mn-ea"/>
                <a:cs typeface="+mn-cs"/>
              </a:rPr>
              <a:t>switch_mm</a:t>
            </a:r>
            <a:r>
              <a:rPr lang="en-US" altLang="zh-TW" sz="1200" b="1" kern="1200" dirty="0">
                <a:solidFill>
                  <a:schemeClr val="tx1"/>
                </a:solidFill>
                <a:latin typeface="+mn-lt"/>
                <a:ea typeface="+mn-ea"/>
                <a:cs typeface="+mn-cs"/>
              </a:rPr>
              <a:t>()</a:t>
            </a:r>
            <a:r>
              <a:rPr lang="zh-TW" altLang="en-US" dirty="0"/>
              <a:t>：切換</a:t>
            </a:r>
            <a:r>
              <a:rPr lang="zh-TW" altLang="en-US" b="1" dirty="0"/>
              <a:t>虛擬記憶體映射</a:t>
            </a:r>
            <a:r>
              <a:rPr lang="zh-TW" altLang="en-US" dirty="0"/>
              <a:t>（如頁表、</a:t>
            </a:r>
            <a:r>
              <a:rPr lang="en-US" altLang="zh-TW" dirty="0"/>
              <a:t>TLB</a:t>
            </a:r>
            <a:r>
              <a:rPr lang="zh-TW" altLang="en-US" dirty="0"/>
              <a:t>）。</a:t>
            </a:r>
          </a:p>
          <a:p>
            <a:pPr lvl="1"/>
            <a:r>
              <a:rPr lang="en-US" altLang="zh-TW" sz="1200" b="1" kern="1200" dirty="0" err="1">
                <a:solidFill>
                  <a:schemeClr val="tx1"/>
                </a:solidFill>
                <a:latin typeface="+mn-lt"/>
                <a:ea typeface="+mn-ea"/>
                <a:cs typeface="+mn-cs"/>
              </a:rPr>
              <a:t>switch_to</a:t>
            </a:r>
            <a:r>
              <a:rPr lang="en-US" altLang="zh-TW" sz="1200" b="1" kern="1200" dirty="0">
                <a:solidFill>
                  <a:schemeClr val="tx1"/>
                </a:solidFill>
                <a:latin typeface="+mn-lt"/>
                <a:ea typeface="+mn-ea"/>
                <a:cs typeface="+mn-cs"/>
              </a:rPr>
              <a:t>()</a:t>
            </a:r>
            <a:r>
              <a:rPr lang="zh-TW" altLang="en-US" dirty="0"/>
              <a:t>：切換</a:t>
            </a:r>
            <a:r>
              <a:rPr lang="zh-TW" altLang="en-US" b="1" dirty="0"/>
              <a:t>行程狀態</a:t>
            </a:r>
            <a:r>
              <a:rPr lang="zh-TW" altLang="en-US" dirty="0"/>
              <a:t>（處理器暫存器、與架構相關的狀態）。</a:t>
            </a:r>
          </a:p>
          <a:p>
            <a:r>
              <a:rPr lang="zh-TW" altLang="en-US" dirty="0"/>
              <a:t>下方流程（</a:t>
            </a:r>
            <a:r>
              <a:rPr lang="en-US" altLang="zh-TW" dirty="0"/>
              <a:t>Linux 4.4 </a:t>
            </a:r>
            <a:r>
              <a:rPr lang="zh-TW" altLang="en-US" dirty="0"/>
              <a:t>的 </a:t>
            </a:r>
            <a:r>
              <a:rPr lang="en-US" altLang="zh-TW" sz="1200" kern="1200" dirty="0" err="1">
                <a:solidFill>
                  <a:schemeClr val="tx1"/>
                </a:solidFill>
                <a:latin typeface="+mn-lt"/>
                <a:ea typeface="+mn-ea"/>
                <a:cs typeface="+mn-cs"/>
              </a:rPr>
              <a:t>switch_mm</a:t>
            </a:r>
            <a:r>
              <a:rPr lang="en-US" altLang="zh-TW" sz="1200" kern="1200" dirty="0">
                <a:solidFill>
                  <a:schemeClr val="tx1"/>
                </a:solidFill>
                <a:latin typeface="+mn-lt"/>
                <a:ea typeface="+mn-ea"/>
                <a:cs typeface="+mn-cs"/>
              </a:rPr>
              <a:t>()</a:t>
            </a:r>
            <a:r>
              <a:rPr lang="en-US" altLang="zh-TW" dirty="0"/>
              <a:t> </a:t>
            </a:r>
            <a:r>
              <a:rPr lang="zh-TW" altLang="en-US" dirty="0"/>
              <a:t>抽象）：</a:t>
            </a:r>
          </a:p>
          <a:p>
            <a:pPr lvl="1"/>
            <a:r>
              <a:rPr lang="en-US" altLang="zh-TW" b="1" dirty="0"/>
              <a:t>Flush Branch Predictor Buffer</a:t>
            </a:r>
            <a:r>
              <a:rPr lang="zh-TW" altLang="en-US" dirty="0"/>
              <a:t>（清分支預測器緩衝）</a:t>
            </a:r>
          </a:p>
          <a:p>
            <a:pPr lvl="1"/>
            <a:r>
              <a:rPr lang="en-US" altLang="zh-TW" b="1" dirty="0"/>
              <a:t>Load New Page Table (CR3)</a:t>
            </a:r>
            <a:r>
              <a:rPr lang="zh-TW" altLang="en-US" dirty="0"/>
              <a:t>（載入新頁表基底）</a:t>
            </a:r>
          </a:p>
          <a:p>
            <a:pPr lvl="1"/>
            <a:r>
              <a:rPr lang="en-US" altLang="zh-TW" b="1" dirty="0"/>
              <a:t>Flush TLB</a:t>
            </a:r>
            <a:r>
              <a:rPr lang="zh-TW" altLang="en-US" dirty="0"/>
              <a:t>（清除 </a:t>
            </a:r>
            <a:r>
              <a:rPr lang="en-US" altLang="zh-TW" dirty="0"/>
              <a:t>TLB</a:t>
            </a:r>
            <a:r>
              <a:rPr lang="zh-TW" altLang="en-US" dirty="0"/>
              <a:t>）</a:t>
            </a:r>
          </a:p>
          <a:p>
            <a:pPr lvl="1"/>
            <a:r>
              <a:rPr lang="en-US" altLang="zh-TW" b="1" dirty="0"/>
              <a:t>Load New CR4 (Page Size Extension)</a:t>
            </a:r>
            <a:r>
              <a:rPr lang="zh-TW" altLang="en-US" dirty="0"/>
              <a:t>（載入 </a:t>
            </a:r>
            <a:r>
              <a:rPr lang="en-US" altLang="zh-TW" dirty="0"/>
              <a:t>CR4 </a:t>
            </a:r>
            <a:r>
              <a:rPr lang="zh-TW" altLang="en-US" dirty="0"/>
              <a:t>設定，如頁面大小延伸）</a:t>
            </a:r>
          </a:p>
          <a:p>
            <a:pPr lvl="1"/>
            <a:r>
              <a:rPr lang="en-US" altLang="zh-TW" b="1" dirty="0"/>
              <a:t>Load LDT (not used for user processes)</a:t>
            </a:r>
            <a:r>
              <a:rPr lang="zh-TW" altLang="en-US" dirty="0"/>
              <a:t>（載入 </a:t>
            </a:r>
            <a:r>
              <a:rPr lang="en-US" altLang="zh-TW" dirty="0"/>
              <a:t>LDT</a:t>
            </a:r>
            <a:r>
              <a:rPr lang="zh-TW" altLang="en-US" dirty="0"/>
              <a:t>；一般使用者行程多不使用）</a:t>
            </a:r>
          </a:p>
          <a:p>
            <a:br>
              <a:rPr lang="zh-TW" altLang="en-US" dirty="0"/>
            </a:br>
            <a:endParaRPr lang="zh-TW" altLang="en-US" dirty="0"/>
          </a:p>
          <a:p>
            <a:r>
              <a:rPr lang="zh-TW" altLang="en-US" b="1" dirty="0"/>
              <a:t>解說（重點）</a:t>
            </a:r>
          </a:p>
          <a:p>
            <a:r>
              <a:rPr lang="zh-TW" altLang="en-US" dirty="0"/>
              <a:t>一個</a:t>
            </a:r>
            <a:r>
              <a:rPr lang="zh-TW" altLang="en-US" b="1" dirty="0"/>
              <a:t>行程內容（</a:t>
            </a:r>
            <a:r>
              <a:rPr lang="en-US" altLang="zh-TW" b="1" dirty="0"/>
              <a:t>context</a:t>
            </a:r>
            <a:r>
              <a:rPr lang="zh-TW" altLang="en-US" b="1" dirty="0"/>
              <a:t>）</a:t>
            </a:r>
            <a:r>
              <a:rPr lang="zh-TW" altLang="en-US" dirty="0"/>
              <a:t>＝</a:t>
            </a:r>
          </a:p>
          <a:p>
            <a:pPr lvl="1"/>
            <a:r>
              <a:rPr lang="zh-TW" altLang="en-US" b="1" dirty="0"/>
              <a:t>使用者位址空間</a:t>
            </a:r>
            <a:r>
              <a:rPr lang="zh-TW" altLang="en-US" dirty="0"/>
              <a:t>：程式碼</a:t>
            </a:r>
            <a:r>
              <a:rPr lang="en-US" altLang="zh-TW" dirty="0"/>
              <a:t>/</a:t>
            </a:r>
            <a:r>
              <a:rPr lang="zh-TW" altLang="en-US" dirty="0"/>
              <a:t>資料</a:t>
            </a:r>
            <a:r>
              <a:rPr lang="en-US" altLang="zh-TW" dirty="0"/>
              <a:t>/</a:t>
            </a:r>
            <a:r>
              <a:rPr lang="zh-TW" altLang="en-US" dirty="0"/>
              <a:t>堆疊的虛擬→實體映射（頁表）；</a:t>
            </a:r>
          </a:p>
          <a:p>
            <a:pPr lvl="1"/>
            <a:r>
              <a:rPr lang="en-US" altLang="zh-TW" b="1" dirty="0"/>
              <a:t>CPU </a:t>
            </a:r>
            <a:r>
              <a:rPr lang="zh-TW" altLang="en-US" b="1" dirty="0"/>
              <a:t>現場</a:t>
            </a:r>
            <a:r>
              <a:rPr lang="zh-TW" altLang="en-US" dirty="0"/>
              <a:t>：通用暫存器、</a:t>
            </a:r>
            <a:r>
              <a:rPr lang="en-US" altLang="zh-TW" dirty="0"/>
              <a:t>PC/</a:t>
            </a:r>
            <a:r>
              <a:rPr lang="zh-TW" altLang="en-US" dirty="0"/>
              <a:t>（</a:t>
            </a:r>
            <a:r>
              <a:rPr lang="en-US" altLang="zh-TW" dirty="0"/>
              <a:t>E/R</a:t>
            </a:r>
            <a:r>
              <a:rPr lang="zh-TW" altLang="en-US" dirty="0"/>
              <a:t>）</a:t>
            </a:r>
            <a:r>
              <a:rPr lang="en-US" altLang="zh-TW" dirty="0"/>
              <a:t>IP</a:t>
            </a:r>
            <a:r>
              <a:rPr lang="zh-TW" altLang="en-US" dirty="0"/>
              <a:t>、旗標、控制暫存器（</a:t>
            </a:r>
            <a:r>
              <a:rPr lang="en-US" altLang="zh-TW" dirty="0"/>
              <a:t>CR3…</a:t>
            </a:r>
            <a:r>
              <a:rPr lang="zh-TW" altLang="en-US" dirty="0"/>
              <a:t>）；</a:t>
            </a:r>
          </a:p>
          <a:p>
            <a:pPr lvl="1"/>
            <a:r>
              <a:rPr lang="zh-TW" altLang="en-US" b="1" dirty="0"/>
              <a:t>核心端的行程資料</a:t>
            </a:r>
            <a:r>
              <a:rPr lang="zh-TW" altLang="en-US" dirty="0"/>
              <a:t>：如 </a:t>
            </a:r>
            <a:r>
              <a:rPr lang="en-US" altLang="zh-TW" sz="1200" kern="1200" dirty="0" err="1">
                <a:solidFill>
                  <a:schemeClr val="tx1"/>
                </a:solidFill>
                <a:latin typeface="+mn-lt"/>
                <a:ea typeface="+mn-ea"/>
                <a:cs typeface="+mn-cs"/>
              </a:rPr>
              <a:t>task_struct</a:t>
            </a:r>
            <a:r>
              <a:rPr lang="zh-TW" altLang="en-US" dirty="0"/>
              <a:t>、</a:t>
            </a:r>
            <a:r>
              <a:rPr lang="en-US" altLang="zh-TW" sz="1200" kern="1200" dirty="0" err="1">
                <a:solidFill>
                  <a:schemeClr val="tx1"/>
                </a:solidFill>
                <a:latin typeface="+mn-lt"/>
                <a:ea typeface="+mn-ea"/>
                <a:cs typeface="+mn-cs"/>
              </a:rPr>
              <a:t>mm_struct</a:t>
            </a:r>
            <a:r>
              <a:rPr lang="zh-TW" altLang="en-US" dirty="0"/>
              <a:t>、</a:t>
            </a:r>
            <a:r>
              <a:rPr lang="en-US" altLang="zh-TW" sz="1200" kern="1200" dirty="0" err="1">
                <a:solidFill>
                  <a:schemeClr val="tx1"/>
                </a:solidFill>
                <a:latin typeface="+mn-lt"/>
                <a:ea typeface="+mn-ea"/>
                <a:cs typeface="+mn-cs"/>
              </a:rPr>
              <a:t>files_struct</a:t>
            </a:r>
            <a:r>
              <a:rPr lang="zh-TW" altLang="en-US" dirty="0"/>
              <a:t>、</a:t>
            </a:r>
            <a:r>
              <a:rPr lang="en-US" altLang="zh-TW" sz="1200" kern="1200" dirty="0" err="1">
                <a:solidFill>
                  <a:schemeClr val="tx1"/>
                </a:solidFill>
                <a:latin typeface="+mn-lt"/>
                <a:ea typeface="+mn-ea"/>
                <a:cs typeface="+mn-cs"/>
              </a:rPr>
              <a:t>signal_struct</a:t>
            </a:r>
            <a:r>
              <a:rPr lang="zh-TW" altLang="en-US" dirty="0"/>
              <a:t>、排程實體、</a:t>
            </a:r>
            <a:r>
              <a:rPr lang="en-US" altLang="zh-TW" b="1" dirty="0"/>
              <a:t>kernel stack</a:t>
            </a:r>
            <a:r>
              <a:rPr lang="en-US" altLang="zh-TW" dirty="0"/>
              <a:t> </a:t>
            </a:r>
            <a:r>
              <a:rPr lang="zh-TW" altLang="en-US" dirty="0"/>
              <a:t>等。</a:t>
            </a:r>
          </a:p>
          <a:p>
            <a:r>
              <a:rPr lang="zh-TW" altLang="en-US" b="1" dirty="0"/>
              <a:t>切換</a:t>
            </a:r>
            <a:r>
              <a:rPr lang="zh-TW" altLang="en-US" dirty="0"/>
              <a:t>做的事：換頁表（必要時清快取</a:t>
            </a:r>
            <a:r>
              <a:rPr lang="en-US" altLang="zh-TW" dirty="0"/>
              <a:t>/</a:t>
            </a:r>
            <a:r>
              <a:rPr lang="zh-TW" altLang="en-US" dirty="0"/>
              <a:t>預測</a:t>
            </a:r>
            <a:r>
              <a:rPr lang="en-US" altLang="zh-TW" dirty="0"/>
              <a:t>/TLB</a:t>
            </a:r>
            <a:r>
              <a:rPr lang="zh-TW" altLang="en-US" dirty="0"/>
              <a:t>）＋換 </a:t>
            </a:r>
            <a:r>
              <a:rPr lang="en-US" altLang="zh-TW" dirty="0"/>
              <a:t>CPU </a:t>
            </a:r>
            <a:r>
              <a:rPr lang="zh-TW" altLang="en-US" dirty="0"/>
              <a:t>暫存器與內核指標，讓 </a:t>
            </a:r>
            <a:r>
              <a:rPr lang="en-US" altLang="zh-TW" dirty="0"/>
              <a:t>CPU </a:t>
            </a:r>
            <a:r>
              <a:rPr lang="zh-TW" altLang="en-US" dirty="0"/>
              <a:t>完全進入另一個行程的「環境」。</a:t>
            </a:r>
          </a:p>
          <a:p>
            <a:br>
              <a:rPr lang="zh-TW" altLang="en-US" dirty="0"/>
            </a:br>
            <a:endParaRPr lang="zh-TW" altLang="en-US" dirty="0"/>
          </a:p>
          <a:p>
            <a:r>
              <a:rPr lang="zh-TW" altLang="en-US" b="1" dirty="0"/>
              <a:t>一句話解釋</a:t>
            </a:r>
          </a:p>
          <a:p>
            <a:r>
              <a:rPr lang="en-US" altLang="zh-TW" b="1" dirty="0"/>
              <a:t>Context switch </a:t>
            </a:r>
            <a:r>
              <a:rPr lang="zh-TW" altLang="en-US" b="1" dirty="0"/>
              <a:t>就是把 </a:t>
            </a:r>
            <a:r>
              <a:rPr lang="en-US" altLang="zh-TW" b="1" dirty="0"/>
              <a:t>CPU </a:t>
            </a:r>
            <a:r>
              <a:rPr lang="zh-TW" altLang="en-US" b="1" dirty="0"/>
              <a:t>的「世界地圖（頁表）＋現場（暫存器）＋核心端掛號資料」整套換成下一個行程的。</a:t>
            </a:r>
            <a:endParaRPr lang="zh-TW" altLang="en-US" dirty="0"/>
          </a:p>
          <a:p>
            <a:br>
              <a:rPr lang="zh-TW" altLang="en-US" dirty="0"/>
            </a:br>
            <a:endParaRPr lang="zh-TW" altLang="en-US" dirty="0"/>
          </a:p>
          <a:p>
            <a:r>
              <a:rPr lang="zh-TW" altLang="en-US" b="1" dirty="0"/>
              <a:t>白話解說</a:t>
            </a:r>
          </a:p>
          <a:p>
            <a:r>
              <a:rPr lang="zh-TW" altLang="en-US" dirty="0"/>
              <a:t>把電腦想成電玩機台：</a:t>
            </a:r>
          </a:p>
          <a:p>
            <a:r>
              <a:rPr lang="zh-TW" altLang="en-US" b="1" dirty="0"/>
              <a:t>行程的 </a:t>
            </a:r>
            <a:r>
              <a:rPr lang="en-US" altLang="zh-TW" b="1" dirty="0"/>
              <a:t>context</a:t>
            </a:r>
            <a:r>
              <a:rPr lang="zh-TW" altLang="en-US" dirty="0"/>
              <a:t>＝存檔設定（地圖</a:t>
            </a:r>
            <a:r>
              <a:rPr lang="en-US" altLang="zh-TW" dirty="0"/>
              <a:t>/</a:t>
            </a:r>
            <a:r>
              <a:rPr lang="zh-TW" altLang="en-US" dirty="0"/>
              <a:t>頁表）、手把當前按鍵狀態（暫存器）、後台玩家資料卡（</a:t>
            </a:r>
            <a:r>
              <a:rPr lang="en-US" altLang="zh-TW" sz="1200" kern="1200" dirty="0" err="1">
                <a:solidFill>
                  <a:schemeClr val="tx1"/>
                </a:solidFill>
                <a:latin typeface="+mn-lt"/>
                <a:ea typeface="+mn-ea"/>
                <a:cs typeface="+mn-cs"/>
              </a:rPr>
              <a:t>task_struct</a:t>
            </a:r>
            <a:r>
              <a:rPr lang="en-US" altLang="zh-TW" dirty="0"/>
              <a:t> </a:t>
            </a:r>
            <a:r>
              <a:rPr lang="zh-TW" altLang="en-US" dirty="0"/>
              <a:t>等）。</a:t>
            </a:r>
          </a:p>
          <a:p>
            <a:r>
              <a:rPr lang="zh-TW" altLang="en-US" b="1" dirty="0"/>
              <a:t>切換</a:t>
            </a:r>
            <a:r>
              <a:rPr lang="zh-TW" altLang="en-US" dirty="0"/>
              <a:t>＝把機台整組換成</a:t>
            </a:r>
            <a:r>
              <a:rPr lang="zh-TW" altLang="en-US" b="1" dirty="0"/>
              <a:t>另一位玩家的存檔</a:t>
            </a:r>
            <a:r>
              <a:rPr lang="zh-TW" altLang="en-US" dirty="0"/>
              <a:t>，手把狀態也換成他的，後台也改成他的資料卡，才能無縫接著玩。</a:t>
            </a:r>
          </a:p>
          <a:p>
            <a:br>
              <a:rPr lang="zh-TW" altLang="en-US" dirty="0"/>
            </a:br>
            <a:endParaRPr lang="zh-TW" altLang="en-US" dirty="0"/>
          </a:p>
          <a:p>
            <a:r>
              <a:rPr lang="zh-TW" altLang="en-US" b="1" dirty="0"/>
              <a:t>題外問答：</a:t>
            </a:r>
            <a:r>
              <a:rPr lang="en-US" altLang="zh-TW" b="1" dirty="0"/>
              <a:t>kernel data structures </a:t>
            </a:r>
            <a:r>
              <a:rPr lang="zh-TW" altLang="en-US" b="1" dirty="0"/>
              <a:t>是不是等於 </a:t>
            </a:r>
            <a:r>
              <a:rPr lang="en-US" altLang="zh-TW" b="1" dirty="0"/>
              <a:t>kernel address space</a:t>
            </a:r>
            <a:r>
              <a:rPr lang="zh-TW" altLang="en-US" b="1" dirty="0"/>
              <a:t>？</a:t>
            </a:r>
          </a:p>
          <a:p>
            <a:r>
              <a:rPr lang="zh-TW" altLang="en-US" dirty="0"/>
              <a:t>不是。</a:t>
            </a:r>
          </a:p>
          <a:p>
            <a:r>
              <a:rPr lang="en-US" altLang="zh-TW" b="1" dirty="0"/>
              <a:t>Kernel data structures</a:t>
            </a:r>
            <a:r>
              <a:rPr lang="en-US" altLang="zh-TW" dirty="0"/>
              <a:t> </a:t>
            </a:r>
            <a:r>
              <a:rPr lang="zh-TW" altLang="en-US" dirty="0"/>
              <a:t>指的是</a:t>
            </a:r>
            <a:r>
              <a:rPr lang="zh-TW" altLang="en-US" b="1" dirty="0"/>
              <a:t>核心為「某個行程」維護的各種資料結構</a:t>
            </a:r>
            <a:r>
              <a:rPr lang="zh-TW" altLang="en-US" dirty="0"/>
              <a:t>（如 </a:t>
            </a:r>
            <a:r>
              <a:rPr lang="en-US" altLang="zh-TW" sz="1200" kern="1200" dirty="0" err="1">
                <a:solidFill>
                  <a:schemeClr val="tx1"/>
                </a:solidFill>
                <a:latin typeface="+mn-lt"/>
                <a:ea typeface="+mn-ea"/>
                <a:cs typeface="+mn-cs"/>
              </a:rPr>
              <a:t>task_struct</a:t>
            </a:r>
            <a:r>
              <a:rPr lang="en-US" altLang="zh-TW" sz="1200" kern="1200" dirty="0">
                <a:solidFill>
                  <a:schemeClr val="tx1"/>
                </a:solidFill>
                <a:latin typeface="+mn-lt"/>
                <a:ea typeface="+mn-ea"/>
                <a:cs typeface="+mn-cs"/>
              </a:rPr>
              <a:t>/</a:t>
            </a:r>
            <a:r>
              <a:rPr lang="en-US" altLang="zh-TW" sz="1200" kern="1200" dirty="0" err="1">
                <a:solidFill>
                  <a:schemeClr val="tx1"/>
                </a:solidFill>
                <a:latin typeface="+mn-lt"/>
                <a:ea typeface="+mn-ea"/>
                <a:cs typeface="+mn-cs"/>
              </a:rPr>
              <a:t>mm_struct</a:t>
            </a:r>
            <a:r>
              <a:rPr lang="en-US" altLang="zh-TW" sz="1200" kern="1200" dirty="0">
                <a:solidFill>
                  <a:schemeClr val="tx1"/>
                </a:solidFill>
                <a:latin typeface="+mn-lt"/>
                <a:ea typeface="+mn-ea"/>
                <a:cs typeface="+mn-cs"/>
              </a:rPr>
              <a:t>/</a:t>
            </a:r>
            <a:r>
              <a:rPr lang="en-US" altLang="zh-TW" sz="1200" kern="1200" dirty="0" err="1">
                <a:solidFill>
                  <a:schemeClr val="tx1"/>
                </a:solidFill>
                <a:latin typeface="+mn-lt"/>
                <a:ea typeface="+mn-ea"/>
                <a:cs typeface="+mn-cs"/>
              </a:rPr>
              <a:t>files_struct</a:t>
            </a:r>
            <a:r>
              <a:rPr lang="en-US" altLang="zh-TW" sz="1200" kern="1200" dirty="0">
                <a:solidFill>
                  <a:schemeClr val="tx1"/>
                </a:solidFill>
                <a:latin typeface="+mn-lt"/>
                <a:ea typeface="+mn-ea"/>
                <a:cs typeface="+mn-cs"/>
              </a:rPr>
              <a:t>/</a:t>
            </a:r>
            <a:r>
              <a:rPr lang="en-US" altLang="zh-TW" sz="1200" kern="1200" dirty="0" err="1">
                <a:solidFill>
                  <a:schemeClr val="tx1"/>
                </a:solidFill>
                <a:latin typeface="+mn-lt"/>
                <a:ea typeface="+mn-ea"/>
                <a:cs typeface="+mn-cs"/>
              </a:rPr>
              <a:t>signal_struct</a:t>
            </a:r>
            <a:r>
              <a:rPr lang="zh-TW" altLang="en-US" dirty="0"/>
              <a:t>、</a:t>
            </a:r>
            <a:r>
              <a:rPr lang="en-US" altLang="zh-TW" dirty="0"/>
              <a:t>kernel stack</a:t>
            </a:r>
            <a:r>
              <a:rPr lang="zh-TW" altLang="en-US" dirty="0"/>
              <a:t>、排程資訊</a:t>
            </a:r>
            <a:r>
              <a:rPr lang="en-US" altLang="zh-TW" dirty="0"/>
              <a:t>…</a:t>
            </a:r>
            <a:r>
              <a:rPr lang="zh-TW" altLang="en-US" dirty="0"/>
              <a:t>）。</a:t>
            </a:r>
          </a:p>
          <a:p>
            <a:r>
              <a:rPr lang="zh-TW" altLang="en-US" dirty="0"/>
              <a:t>它們</a:t>
            </a:r>
            <a:r>
              <a:rPr lang="zh-TW" altLang="en-US" b="1" dirty="0"/>
              <a:t>位於核心位址空間裡</a:t>
            </a:r>
            <a:r>
              <a:rPr lang="zh-TW" altLang="en-US" dirty="0"/>
              <a:t>（因為是內核記憶體），但這個詞指的是「</a:t>
            </a:r>
            <a:r>
              <a:rPr lang="zh-TW" altLang="en-US" b="1" dirty="0"/>
              <a:t>那些結構本身</a:t>
            </a:r>
            <a:r>
              <a:rPr lang="zh-TW" altLang="en-US" dirty="0"/>
              <a:t>」，</a:t>
            </a:r>
            <a:r>
              <a:rPr lang="zh-TW" altLang="en-US" b="1" dirty="0"/>
              <a:t>不是</a:t>
            </a:r>
            <a:r>
              <a:rPr lang="zh-TW" altLang="en-US" dirty="0"/>
              <a:t>整個</a:t>
            </a:r>
            <a:r>
              <a:rPr lang="en-US" altLang="zh-TW" b="1" dirty="0"/>
              <a:t>kernel address space</a:t>
            </a:r>
            <a:r>
              <a:rPr lang="zh-TW" altLang="en-US" dirty="0"/>
              <a:t>。</a:t>
            </a:r>
          </a:p>
          <a:p>
            <a:r>
              <a:rPr lang="zh-TW" altLang="en-US" dirty="0"/>
              <a:t>簡單說：</a:t>
            </a:r>
            <a:r>
              <a:rPr lang="zh-TW" altLang="en-US" b="1" dirty="0"/>
              <a:t>地址空間是容器</a:t>
            </a:r>
            <a:r>
              <a:rPr lang="zh-TW" altLang="en-US" dirty="0"/>
              <a:t>，</a:t>
            </a:r>
            <a:r>
              <a:rPr lang="en-US" altLang="zh-TW" b="1" dirty="0"/>
              <a:t>data structures </a:t>
            </a:r>
            <a:r>
              <a:rPr lang="zh-TW" altLang="en-US" b="1" dirty="0"/>
              <a:t>是裡面的物品</a:t>
            </a:r>
            <a:r>
              <a:rPr lang="zh-TW" altLang="en-US" dirty="0"/>
              <a:t>。</a:t>
            </a:r>
          </a:p>
          <a:p>
            <a:pPr algn="l"/>
            <a:endParaRPr lang="en-US" altLang="zh-TW" b="0" i="0" dirty="0">
              <a:solidFill>
                <a:srgbClr val="000000"/>
              </a:solidFill>
              <a:effectLst/>
              <a:latin typeface="Söhne"/>
            </a:endParaRP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21</a:t>
            </a:fld>
            <a:endParaRPr lang="zh-TW" altLang="en-US"/>
          </a:p>
        </p:txBody>
      </p:sp>
    </p:spTree>
    <p:extLst>
      <p:ext uri="{BB962C8B-B14F-4D97-AF65-F5344CB8AC3E}">
        <p14:creationId xmlns:p14="http://schemas.microsoft.com/office/powerpoint/2010/main" val="16682815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https://</a:t>
            </a:r>
            <a:r>
              <a:rPr kumimoji="1" lang="en-US" altLang="zh-TW" dirty="0" err="1"/>
              <a:t>stackoverflow.com</a:t>
            </a:r>
            <a:r>
              <a:rPr kumimoji="1" lang="en-US" altLang="zh-TW" dirty="0"/>
              <a:t>/questions/2754295/what-segments-does-c-compiled-program-use</a:t>
            </a:r>
          </a:p>
          <a:p>
            <a:r>
              <a:rPr kumimoji="1" lang="en-US" altLang="zh-TW" dirty="0"/>
              <a:t>https://</a:t>
            </a:r>
            <a:r>
              <a:rPr kumimoji="1" lang="en-US" altLang="zh-TW" dirty="0" err="1"/>
              <a:t>stackoverflow.com</a:t>
            </a:r>
            <a:r>
              <a:rPr kumimoji="1" lang="en-US" altLang="zh-TW" dirty="0"/>
              <a:t>/questions/14500495/thread-local-and-context-switch</a:t>
            </a:r>
          </a:p>
          <a:p>
            <a:pPr fontAlgn="base"/>
            <a:r>
              <a:rPr lang="en-US" altLang="zh-TW" sz="1200" b="0" i="0" kern="1200" dirty="0">
                <a:solidFill>
                  <a:schemeClr val="tx1"/>
                </a:solidFill>
                <a:effectLst/>
                <a:latin typeface="+mn-lt"/>
                <a:ea typeface="+mn-ea"/>
                <a:cs typeface="+mn-cs"/>
              </a:rPr>
              <a:t>Thread Local Storage is just that - storage per thread. Each thread has it's own private data structure. That thread, whichever processor it runs on, is the same thread. The OS doesn't schedule work WITHIN threads, it schedules which of the threads runs.</a:t>
            </a:r>
          </a:p>
          <a:p>
            <a:pPr fontAlgn="base"/>
            <a:r>
              <a:rPr lang="en-US" altLang="zh-TW" sz="1200" b="0" i="0" kern="1200" dirty="0">
                <a:solidFill>
                  <a:schemeClr val="tx1"/>
                </a:solidFill>
                <a:effectLst/>
                <a:latin typeface="+mn-lt"/>
                <a:ea typeface="+mn-ea"/>
                <a:cs typeface="+mn-cs"/>
              </a:rPr>
              <a:t>The thread local storage is </a:t>
            </a:r>
            <a:r>
              <a:rPr lang="en-US" altLang="zh-TW" sz="1200" b="0" i="0" kern="1200" dirty="0" err="1">
                <a:solidFill>
                  <a:schemeClr val="tx1"/>
                </a:solidFill>
                <a:effectLst/>
                <a:latin typeface="+mn-lt"/>
                <a:ea typeface="+mn-ea"/>
                <a:cs typeface="+mn-cs"/>
              </a:rPr>
              <a:t>acomplished</a:t>
            </a:r>
            <a:r>
              <a:rPr lang="en-US" altLang="zh-TW" sz="1200" b="0" i="0" kern="1200" dirty="0">
                <a:solidFill>
                  <a:schemeClr val="tx1"/>
                </a:solidFill>
                <a:effectLst/>
                <a:latin typeface="+mn-lt"/>
                <a:ea typeface="+mn-ea"/>
                <a:cs typeface="+mn-cs"/>
              </a:rPr>
              <a:t> by having some sort of indirection, which is changed along with the thread itself. There are several ways to do this, for example, the OS may have a particular page at a particular offset from the start of virtual memory in the process, and when a thread is scheduled, the page-table is updated to match the thread.</a:t>
            </a:r>
          </a:p>
          <a:p>
            <a:pPr fontAlgn="base"/>
            <a:r>
              <a:rPr lang="en-US" altLang="zh-TW" sz="1200" b="0" i="0" kern="1200" dirty="0">
                <a:solidFill>
                  <a:schemeClr val="tx1"/>
                </a:solidFill>
                <a:effectLst/>
                <a:latin typeface="+mn-lt"/>
                <a:ea typeface="+mn-ea"/>
                <a:cs typeface="+mn-cs"/>
              </a:rPr>
              <a:t>In x86 processors, FS or GS is typically used for "per-thread" data, so the OS will switch the FS register [or the content of the base-address of the register in case of 64-bit processors]. When reading the TLS, the compiler will use the FS or GS segment register to prefix the memory read/write operations, and thus you always get "your private data", not some other threads.</a:t>
            </a:r>
          </a:p>
          <a:p>
            <a:endParaRPr kumimoji="1" lang="en-US" altLang="zh-TW" dirty="0"/>
          </a:p>
          <a:p>
            <a:endParaRPr kumimoji="1" lang="en-US" altLang="zh-TW" dirty="0"/>
          </a:p>
          <a:p>
            <a:r>
              <a:rPr kumimoji="1" lang="en-US" altLang="zh-TW" dirty="0"/>
              <a:t>https://</a:t>
            </a:r>
            <a:r>
              <a:rPr kumimoji="1" lang="en-US" altLang="zh-TW" dirty="0" err="1"/>
              <a:t>stackoverflow.com</a:t>
            </a:r>
            <a:r>
              <a:rPr kumimoji="1" lang="en-US" altLang="zh-TW" dirty="0"/>
              <a:t>/questions/35692188/what-is-thread-local-storage-why-we-need-it</a:t>
            </a:r>
          </a:p>
          <a:p>
            <a:pPr fontAlgn="base"/>
            <a:r>
              <a:rPr lang="en-US" altLang="zh-TW" sz="1200" kern="1200" dirty="0">
                <a:solidFill>
                  <a:schemeClr val="tx1"/>
                </a:solidFill>
                <a:effectLst/>
                <a:latin typeface="+mn-lt"/>
                <a:ea typeface="+mn-ea"/>
                <a:cs typeface="+mn-cs"/>
              </a:rPr>
              <a:t>Static and global data are shared across all the threads. If you modified a global/static variable it is visible to all the threads. Unlike global/shared variable if you create a variable in TLS, every thread has its own copy of the variable, i.e. changes to the variable is local to the thread. Unlike global variable where an access is made through </a:t>
            </a:r>
            <a:r>
              <a:rPr lang="en-US" altLang="zh-TW" sz="1200" i="1" kern="1200" dirty="0">
                <a:solidFill>
                  <a:schemeClr val="tx1"/>
                </a:solidFill>
                <a:effectLst/>
                <a:latin typeface="+mn-lt"/>
                <a:ea typeface="+mn-ea"/>
                <a:cs typeface="+mn-cs"/>
              </a:rPr>
              <a:t>ds</a:t>
            </a:r>
            <a:r>
              <a:rPr lang="en-US" altLang="zh-TW" sz="1200" kern="1200" dirty="0">
                <a:solidFill>
                  <a:schemeClr val="tx1"/>
                </a:solidFill>
                <a:effectLst/>
                <a:latin typeface="+mn-lt"/>
                <a:ea typeface="+mn-ea"/>
                <a:cs typeface="+mn-cs"/>
              </a:rPr>
              <a:t> segment, the TLS variable are accessed using (</a:t>
            </a:r>
            <a:r>
              <a:rPr lang="en-US" altLang="zh-TW" sz="1200" i="1" kern="1200" dirty="0" err="1">
                <a:solidFill>
                  <a:schemeClr val="tx1"/>
                </a:solidFill>
                <a:effectLst/>
                <a:latin typeface="+mn-lt"/>
                <a:ea typeface="+mn-ea"/>
                <a:cs typeface="+mn-cs"/>
              </a:rPr>
              <a:t>gs</a:t>
            </a:r>
            <a:r>
              <a:rPr lang="en-US" altLang="zh-TW" sz="1200" i="1" kern="1200" dirty="0">
                <a:solidFill>
                  <a:schemeClr val="tx1"/>
                </a:solidFill>
                <a:effectLst/>
                <a:latin typeface="+mn-lt"/>
                <a:ea typeface="+mn-ea"/>
                <a:cs typeface="+mn-cs"/>
              </a:rPr>
              <a:t>/fs</a:t>
            </a:r>
            <a:r>
              <a:rPr lang="en-US" altLang="zh-TW" sz="1200" kern="1200" dirty="0">
                <a:solidFill>
                  <a:schemeClr val="tx1"/>
                </a:solidFill>
                <a:effectLst/>
                <a:latin typeface="+mn-lt"/>
                <a:ea typeface="+mn-ea"/>
                <a:cs typeface="+mn-cs"/>
              </a:rPr>
              <a:t>) segment. A good way to learn about it is to look at the disassembly generated by the compiler.</a:t>
            </a:r>
            <a:br>
              <a:rPr lang="en-US" altLang="zh-TW" sz="1200" kern="1200" dirty="0">
                <a:solidFill>
                  <a:schemeClr val="tx1"/>
                </a:solidFill>
                <a:effectLst/>
                <a:latin typeface="+mn-lt"/>
                <a:ea typeface="+mn-ea"/>
                <a:cs typeface="+mn-cs"/>
              </a:rPr>
            </a:br>
            <a:br>
              <a:rPr lang="en-US" altLang="zh-TW" sz="1200" kern="1200" dirty="0">
                <a:solidFill>
                  <a:schemeClr val="tx1"/>
                </a:solidFill>
                <a:effectLst/>
                <a:latin typeface="+mn-lt"/>
                <a:ea typeface="+mn-ea"/>
                <a:cs typeface="+mn-cs"/>
              </a:rPr>
            </a:br>
            <a:r>
              <a:rPr lang="en-US" altLang="zh-TW" sz="1200" kern="1200" dirty="0">
                <a:solidFill>
                  <a:schemeClr val="tx1"/>
                </a:solidFill>
                <a:effectLst/>
                <a:latin typeface="+mn-lt"/>
                <a:ea typeface="+mn-ea"/>
                <a:cs typeface="+mn-cs"/>
              </a:rPr>
              <a:t>PDA: https://</a:t>
            </a:r>
            <a:r>
              <a:rPr lang="en-US" altLang="zh-TW" sz="1200" kern="1200" dirty="0" err="1">
                <a:solidFill>
                  <a:schemeClr val="tx1"/>
                </a:solidFill>
                <a:effectLst/>
                <a:latin typeface="+mn-lt"/>
                <a:ea typeface="+mn-ea"/>
                <a:cs typeface="+mn-cs"/>
              </a:rPr>
              <a:t>blog.csdn.net</a:t>
            </a:r>
            <a:r>
              <a:rPr lang="en-US" altLang="zh-TW" sz="1200" kern="1200" dirty="0">
                <a:solidFill>
                  <a:schemeClr val="tx1"/>
                </a:solidFill>
                <a:effectLst/>
                <a:latin typeface="+mn-lt"/>
                <a:ea typeface="+mn-ea"/>
                <a:cs typeface="+mn-cs"/>
              </a:rPr>
              <a:t>/</a:t>
            </a:r>
            <a:r>
              <a:rPr lang="en-US" altLang="zh-TW" sz="1200" kern="1200" dirty="0" err="1">
                <a:solidFill>
                  <a:schemeClr val="tx1"/>
                </a:solidFill>
                <a:effectLst/>
                <a:latin typeface="+mn-lt"/>
                <a:ea typeface="+mn-ea"/>
                <a:cs typeface="+mn-cs"/>
              </a:rPr>
              <a:t>bingqingsuimeng</a:t>
            </a:r>
            <a:r>
              <a:rPr lang="en-US" altLang="zh-TW" sz="1200" kern="1200" dirty="0">
                <a:solidFill>
                  <a:schemeClr val="tx1"/>
                </a:solidFill>
                <a:effectLst/>
                <a:latin typeface="+mn-lt"/>
                <a:ea typeface="+mn-ea"/>
                <a:cs typeface="+mn-cs"/>
              </a:rPr>
              <a:t>/article/details/7856702</a:t>
            </a:r>
          </a:p>
          <a:p>
            <a:br>
              <a:rPr lang="en-US" altLang="zh-TW" sz="1200" b="0" i="0" kern="1200" dirty="0">
                <a:solidFill>
                  <a:schemeClr val="tx1"/>
                </a:solidFill>
                <a:effectLst/>
                <a:latin typeface="+mn-lt"/>
                <a:ea typeface="+mn-ea"/>
                <a:cs typeface="+mn-cs"/>
              </a:rPr>
            </a:br>
            <a:r>
              <a:rPr lang="zh-TW" altLang="en-US" dirty="0"/>
              <a:t>來，用超白話把這張「</a:t>
            </a:r>
            <a:r>
              <a:rPr lang="en-US" altLang="zh-TW" dirty="0"/>
              <a:t>Process Context Switch</a:t>
            </a:r>
            <a:r>
              <a:rPr lang="zh-TW" altLang="en-US" dirty="0"/>
              <a:t>（續）」講懂：這張是在說 </a:t>
            </a:r>
            <a:r>
              <a:rPr lang="en-US" altLang="zh-TW" sz="1200" b="1" kern="1200" dirty="0" err="1">
                <a:solidFill>
                  <a:schemeClr val="tx1"/>
                </a:solidFill>
                <a:latin typeface="+mn-lt"/>
                <a:ea typeface="+mn-ea"/>
                <a:cs typeface="+mn-cs"/>
              </a:rPr>
              <a:t>switch_to</a:t>
            </a:r>
            <a:r>
              <a:rPr lang="en-US" altLang="zh-TW" sz="1200" b="1" kern="1200" dirty="0">
                <a:solidFill>
                  <a:schemeClr val="tx1"/>
                </a:solidFill>
                <a:latin typeface="+mn-lt"/>
                <a:ea typeface="+mn-ea"/>
                <a:cs typeface="+mn-cs"/>
              </a:rPr>
              <a:t>()</a:t>
            </a:r>
            <a:r>
              <a:rPr lang="zh-TW" altLang="en-US" dirty="0"/>
              <a:t>（</a:t>
            </a:r>
            <a:r>
              <a:rPr lang="zh-TW" altLang="en-US" b="1" dirty="0"/>
              <a:t>把 </a:t>
            </a:r>
            <a:r>
              <a:rPr lang="en-US" altLang="zh-TW" b="1" dirty="0"/>
              <a:t>CPU </a:t>
            </a:r>
            <a:r>
              <a:rPr lang="zh-TW" altLang="en-US" b="1" dirty="0"/>
              <a:t>狀態從舊行程換到新行程</a:t>
            </a:r>
            <a:r>
              <a:rPr lang="zh-TW" altLang="en-US" dirty="0"/>
              <a:t>）的大致步驟。</a:t>
            </a:r>
            <a:r>
              <a:rPr lang="en-US" altLang="zh-TW" sz="1200" kern="1200" dirty="0" err="1">
                <a:solidFill>
                  <a:schemeClr val="tx1"/>
                </a:solidFill>
                <a:latin typeface="+mn-lt"/>
                <a:ea typeface="+mn-ea"/>
                <a:cs typeface="+mn-cs"/>
              </a:rPr>
              <a:t>switch_mm</a:t>
            </a:r>
            <a:r>
              <a:rPr lang="en-US" altLang="zh-TW" sz="1200" kern="1200" dirty="0">
                <a:solidFill>
                  <a:schemeClr val="tx1"/>
                </a:solidFill>
                <a:latin typeface="+mn-lt"/>
                <a:ea typeface="+mn-ea"/>
                <a:cs typeface="+mn-cs"/>
              </a:rPr>
              <a:t>()</a:t>
            </a:r>
            <a:r>
              <a:rPr lang="zh-TW" altLang="en-US" dirty="0"/>
              <a:t>剛剛換完「記憶體對映」（頁表、</a:t>
            </a:r>
            <a:r>
              <a:rPr lang="en-US" altLang="zh-TW" dirty="0"/>
              <a:t>TLB</a:t>
            </a:r>
            <a:r>
              <a:rPr lang="zh-TW" altLang="en-US" dirty="0"/>
              <a:t>），現在換「</a:t>
            </a:r>
            <a:r>
              <a:rPr lang="en-US" altLang="zh-TW" dirty="0"/>
              <a:t>CPU/</a:t>
            </a:r>
            <a:r>
              <a:rPr lang="zh-TW" altLang="en-US" dirty="0"/>
              <a:t>架構相關狀態」。</a:t>
            </a:r>
          </a:p>
          <a:p>
            <a:r>
              <a:rPr lang="en-US" altLang="zh-TW" sz="1200" b="1" kern="1200" dirty="0" err="1">
                <a:solidFill>
                  <a:schemeClr val="tx1"/>
                </a:solidFill>
                <a:latin typeface="+mn-lt"/>
                <a:ea typeface="+mn-ea"/>
                <a:cs typeface="+mn-cs"/>
              </a:rPr>
              <a:t>switch_to</a:t>
            </a:r>
            <a:r>
              <a:rPr lang="en-US" altLang="zh-TW" sz="1200" b="1" kern="1200" dirty="0">
                <a:solidFill>
                  <a:schemeClr val="tx1"/>
                </a:solidFill>
                <a:latin typeface="+mn-lt"/>
                <a:ea typeface="+mn-ea"/>
                <a:cs typeface="+mn-cs"/>
              </a:rPr>
              <a:t>()</a:t>
            </a:r>
            <a:r>
              <a:rPr lang="en-US" altLang="zh-TW" b="1" dirty="0"/>
              <a:t> </a:t>
            </a:r>
            <a:r>
              <a:rPr lang="zh-TW" altLang="en-US" b="1" dirty="0"/>
              <a:t>在做什麼（概念 → 作用）</a:t>
            </a:r>
          </a:p>
          <a:p>
            <a:r>
              <a:rPr lang="en-US" altLang="zh-TW" b="1" dirty="0"/>
              <a:t>Push registers to save</a:t>
            </a:r>
            <a:br>
              <a:rPr lang="en-US" altLang="zh-TW" dirty="0"/>
            </a:br>
            <a:r>
              <a:rPr lang="zh-TW" altLang="en-US" dirty="0"/>
              <a:t>把</a:t>
            </a:r>
            <a:r>
              <a:rPr lang="zh-TW" altLang="en-US" b="1" dirty="0"/>
              <a:t>通用暫存器</a:t>
            </a:r>
            <a:r>
              <a:rPr lang="zh-TW" altLang="en-US" dirty="0"/>
              <a:t>（如 </a:t>
            </a:r>
            <a:r>
              <a:rPr lang="en-US" altLang="zh-TW" dirty="0"/>
              <a:t>RAX/RBX…</a:t>
            </a:r>
            <a:r>
              <a:rPr lang="zh-TW" altLang="en-US" dirty="0"/>
              <a:t>、</a:t>
            </a:r>
            <a:r>
              <a:rPr lang="en-US" altLang="zh-TW" dirty="0"/>
              <a:t>RIP/RSP </a:t>
            </a:r>
            <a:r>
              <a:rPr lang="zh-TW" altLang="en-US" dirty="0"/>
              <a:t>等）先存起來，避免丟失舊行程現場。</a:t>
            </a:r>
          </a:p>
          <a:p>
            <a:r>
              <a:rPr lang="en-US" altLang="zh-TW" b="1" dirty="0"/>
              <a:t>Swap Stacks</a:t>
            </a:r>
            <a:r>
              <a:rPr lang="zh-TW" altLang="en-US" b="1" dirty="0"/>
              <a:t>（交換 </a:t>
            </a:r>
            <a:r>
              <a:rPr lang="en-US" altLang="zh-TW" b="1" dirty="0"/>
              <a:t>kernel stack</a:t>
            </a:r>
            <a:r>
              <a:rPr lang="zh-TW" altLang="en-US" b="1" dirty="0"/>
              <a:t>）</a:t>
            </a:r>
            <a:br>
              <a:rPr lang="en-US" altLang="zh-TW" dirty="0"/>
            </a:br>
            <a:r>
              <a:rPr lang="zh-TW" altLang="en-US" dirty="0"/>
              <a:t>切到</a:t>
            </a:r>
            <a:r>
              <a:rPr lang="zh-TW" altLang="en-US" b="1" dirty="0"/>
              <a:t>新行程的核心堆疊</a:t>
            </a:r>
            <a:r>
              <a:rPr lang="zh-TW" altLang="en-US" dirty="0"/>
              <a:t>（每個 </a:t>
            </a:r>
            <a:r>
              <a:rPr lang="en-US" altLang="zh-TW" dirty="0"/>
              <a:t>thread </a:t>
            </a:r>
            <a:r>
              <a:rPr lang="zh-TW" altLang="en-US" dirty="0"/>
              <a:t>都有一個 </a:t>
            </a:r>
            <a:r>
              <a:rPr lang="en-US" altLang="zh-TW" dirty="0"/>
              <a:t>kernel stack</a:t>
            </a:r>
            <a:r>
              <a:rPr lang="zh-TW" altLang="en-US" dirty="0"/>
              <a:t>）。</a:t>
            </a:r>
          </a:p>
          <a:p>
            <a:r>
              <a:rPr lang="en-US" altLang="zh-TW" b="1" dirty="0"/>
              <a:t>Save FPU, Update TS</a:t>
            </a:r>
            <a:br>
              <a:rPr lang="en-US" altLang="zh-TW" dirty="0"/>
            </a:br>
            <a:r>
              <a:rPr lang="zh-TW" altLang="en-US" dirty="0"/>
              <a:t>保存 </a:t>
            </a:r>
            <a:r>
              <a:rPr lang="en-US" altLang="zh-TW" b="1" dirty="0"/>
              <a:t>FPU/SSE/AVX</a:t>
            </a:r>
            <a:r>
              <a:rPr lang="en-US" altLang="zh-TW" dirty="0"/>
              <a:t> </a:t>
            </a:r>
            <a:r>
              <a:rPr lang="zh-TW" altLang="en-US" dirty="0"/>
              <a:t>狀態；設或清 </a:t>
            </a:r>
            <a:r>
              <a:rPr lang="en-US" altLang="zh-TW" b="1" dirty="0"/>
              <a:t>TS </a:t>
            </a:r>
            <a:r>
              <a:rPr lang="zh-TW" altLang="en-US" b="1" dirty="0"/>
              <a:t>標誌</a:t>
            </a:r>
            <a:r>
              <a:rPr lang="zh-TW" altLang="en-US" dirty="0"/>
              <a:t>（</a:t>
            </a:r>
            <a:r>
              <a:rPr lang="en-US" altLang="zh-TW" dirty="0"/>
              <a:t>Task Switched</a:t>
            </a:r>
            <a:r>
              <a:rPr lang="zh-TW" altLang="en-US" dirty="0"/>
              <a:t>，</a:t>
            </a:r>
            <a:r>
              <a:rPr lang="en-US" altLang="zh-TW" dirty="0"/>
              <a:t>x86 </a:t>
            </a:r>
            <a:r>
              <a:rPr lang="zh-TW" altLang="en-US" dirty="0"/>
              <a:t>老機制，用於延遲儲存</a:t>
            </a:r>
            <a:r>
              <a:rPr lang="en-US" altLang="zh-TW" dirty="0"/>
              <a:t>/</a:t>
            </a:r>
            <a:r>
              <a:rPr lang="zh-TW" altLang="en-US" dirty="0"/>
              <a:t>載入 </a:t>
            </a:r>
            <a:r>
              <a:rPr lang="en-US" altLang="zh-TW" dirty="0"/>
              <a:t>FPU </a:t>
            </a:r>
            <a:r>
              <a:rPr lang="zh-TW" altLang="en-US" dirty="0"/>
              <a:t>狀態</a:t>
            </a:r>
            <a:r>
              <a:rPr lang="en-US" altLang="zh-TW" dirty="0"/>
              <a:t>—</a:t>
            </a:r>
            <a:r>
              <a:rPr lang="en-US" altLang="zh-TW" i="1" dirty="0"/>
              <a:t>lazy FPU</a:t>
            </a:r>
            <a:r>
              <a:rPr lang="zh-TW" altLang="en-US" dirty="0"/>
              <a:t>）。</a:t>
            </a:r>
          </a:p>
          <a:p>
            <a:r>
              <a:rPr lang="en-US" altLang="zh-TW" b="1" dirty="0"/>
              <a:t>Update Ring 0 Stack</a:t>
            </a:r>
            <a:br>
              <a:rPr lang="en-US" altLang="zh-TW" dirty="0"/>
            </a:br>
            <a:r>
              <a:rPr lang="zh-TW" altLang="en-US" dirty="0"/>
              <a:t>確認目前在</a:t>
            </a:r>
            <a:r>
              <a:rPr lang="zh-TW" altLang="en-US" b="1" dirty="0"/>
              <a:t>特權級 </a:t>
            </a:r>
            <a:r>
              <a:rPr lang="en-US" altLang="zh-TW" b="1" dirty="0"/>
              <a:t>0</a:t>
            </a:r>
            <a:r>
              <a:rPr lang="zh-TW" altLang="en-US" dirty="0"/>
              <a:t> 用的是</a:t>
            </a:r>
            <a:r>
              <a:rPr lang="zh-TW" altLang="en-US" b="1" dirty="0"/>
              <a:t>新行程的內核堆疊</a:t>
            </a:r>
            <a:r>
              <a:rPr lang="zh-TW" altLang="en-US" dirty="0"/>
              <a:t>（中斷</a:t>
            </a:r>
            <a:r>
              <a:rPr lang="en-US" altLang="zh-TW" dirty="0"/>
              <a:t>/</a:t>
            </a:r>
            <a:r>
              <a:rPr lang="zh-TW" altLang="en-US" dirty="0"/>
              <a:t>系統呼叫會用到）。</a:t>
            </a:r>
          </a:p>
          <a:p>
            <a:r>
              <a:rPr lang="en-US" altLang="zh-TW" b="1" dirty="0"/>
              <a:t>Save/Load ES &amp; DS</a:t>
            </a:r>
            <a:br>
              <a:rPr lang="en-US" altLang="zh-TW" dirty="0"/>
            </a:br>
            <a:r>
              <a:rPr lang="zh-TW" altLang="en-US" dirty="0"/>
              <a:t>儲存</a:t>
            </a:r>
            <a:r>
              <a:rPr lang="en-US" altLang="zh-TW" dirty="0"/>
              <a:t>/</a:t>
            </a:r>
            <a:r>
              <a:rPr lang="zh-TW" altLang="en-US" dirty="0"/>
              <a:t>載入</a:t>
            </a:r>
            <a:r>
              <a:rPr lang="zh-TW" altLang="en-US" b="1" dirty="0"/>
              <a:t>段暫存器</a:t>
            </a:r>
            <a:r>
              <a:rPr lang="zh-TW" altLang="en-US" dirty="0"/>
              <a:t>（舊式分段資訊；現代 </a:t>
            </a:r>
            <a:r>
              <a:rPr lang="en-US" altLang="zh-TW" dirty="0"/>
              <a:t>x86-64 </a:t>
            </a:r>
            <a:r>
              <a:rPr lang="zh-TW" altLang="en-US" dirty="0"/>
              <a:t>多半用不到，但仍保持一致性）。</a:t>
            </a:r>
          </a:p>
          <a:p>
            <a:r>
              <a:rPr lang="en-US" altLang="zh-TW" b="1" dirty="0"/>
              <a:t>Update Thread-Local Storage</a:t>
            </a:r>
            <a:r>
              <a:rPr lang="zh-TW" altLang="en-US" b="1" dirty="0"/>
              <a:t>（</a:t>
            </a:r>
            <a:r>
              <a:rPr lang="en-US" altLang="zh-TW" b="1" dirty="0"/>
              <a:t>TLS</a:t>
            </a:r>
            <a:r>
              <a:rPr lang="zh-TW" altLang="en-US" b="1" dirty="0"/>
              <a:t>）</a:t>
            </a:r>
            <a:br>
              <a:rPr lang="en-US" altLang="zh-TW" dirty="0"/>
            </a:br>
            <a:r>
              <a:rPr lang="zh-TW" altLang="en-US" dirty="0"/>
              <a:t>更新 </a:t>
            </a:r>
            <a:r>
              <a:rPr lang="en-US" altLang="zh-TW" b="1" dirty="0"/>
              <a:t>FS/GS</a:t>
            </a:r>
            <a:r>
              <a:rPr lang="en-US" altLang="zh-TW" dirty="0"/>
              <a:t> or </a:t>
            </a:r>
            <a:r>
              <a:rPr lang="en-US" altLang="zh-TW" b="1" dirty="0"/>
              <a:t>TLS base</a:t>
            </a:r>
            <a:r>
              <a:rPr lang="zh-TW" altLang="en-US" dirty="0"/>
              <a:t>（執行緒私有資料的基址，</a:t>
            </a:r>
            <a:r>
              <a:rPr lang="en-US" altLang="zh-TW" dirty="0"/>
              <a:t>C/C++ </a:t>
            </a:r>
            <a:r>
              <a:rPr lang="zh-TW" altLang="en-US" dirty="0"/>
              <a:t>的 </a:t>
            </a:r>
            <a:r>
              <a:rPr lang="en-US" altLang="zh-TW" sz="1200" kern="1200" dirty="0">
                <a:solidFill>
                  <a:schemeClr val="tx1"/>
                </a:solidFill>
                <a:latin typeface="+mn-lt"/>
                <a:ea typeface="+mn-ea"/>
                <a:cs typeface="+mn-cs"/>
              </a:rPr>
              <a:t>__thread</a:t>
            </a:r>
            <a:r>
              <a:rPr lang="en-US" altLang="zh-TW" dirty="0"/>
              <a:t> / </a:t>
            </a:r>
            <a:r>
              <a:rPr lang="en-US" altLang="zh-TW" sz="1200" kern="1200" dirty="0" err="1">
                <a:solidFill>
                  <a:schemeClr val="tx1"/>
                </a:solidFill>
                <a:latin typeface="+mn-lt"/>
                <a:ea typeface="+mn-ea"/>
                <a:cs typeface="+mn-cs"/>
              </a:rPr>
              <a:t>thread_local</a:t>
            </a:r>
            <a:r>
              <a:rPr lang="en-US" altLang="zh-TW" dirty="0"/>
              <a:t> </a:t>
            </a:r>
            <a:r>
              <a:rPr lang="zh-TW" altLang="en-US" dirty="0"/>
              <a:t>會用）。</a:t>
            </a:r>
          </a:p>
          <a:p>
            <a:r>
              <a:rPr lang="en-US" altLang="zh-TW" dirty="0"/>
              <a:t>—</a:t>
            </a:r>
            <a:r>
              <a:rPr lang="zh-TW" altLang="en-US" dirty="0"/>
              <a:t>（下方支線同樣重要）</a:t>
            </a:r>
            <a:r>
              <a:rPr lang="en-US" altLang="zh-TW" dirty="0"/>
              <a:t>—</a:t>
            </a:r>
          </a:p>
          <a:p>
            <a:r>
              <a:rPr lang="en-US" altLang="zh-TW" b="1" dirty="0"/>
              <a:t>Save/Load FS &amp; GS</a:t>
            </a:r>
            <a:br>
              <a:rPr lang="en-US" altLang="zh-TW" dirty="0"/>
            </a:br>
            <a:r>
              <a:rPr lang="zh-TW" altLang="en-US" dirty="0"/>
              <a:t>這是 </a:t>
            </a:r>
            <a:r>
              <a:rPr lang="en-US" altLang="zh-TW" b="1" dirty="0"/>
              <a:t>TLS </a:t>
            </a:r>
            <a:r>
              <a:rPr lang="zh-TW" altLang="en-US" b="1" dirty="0"/>
              <a:t>的段暫存器</a:t>
            </a:r>
            <a:r>
              <a:rPr lang="zh-TW" altLang="en-US" dirty="0"/>
              <a:t>，確保新執行緒看到自己的 </a:t>
            </a:r>
            <a:r>
              <a:rPr lang="en-US" altLang="zh-TW" dirty="0"/>
              <a:t>thread-local </a:t>
            </a:r>
            <a:r>
              <a:rPr lang="zh-TW" altLang="en-US" dirty="0"/>
              <a:t>變數。</a:t>
            </a:r>
          </a:p>
          <a:p>
            <a:r>
              <a:rPr lang="en-US" altLang="zh-TW" b="1" dirty="0"/>
              <a:t>Store User Stack</a:t>
            </a:r>
            <a:br>
              <a:rPr lang="en-US" altLang="zh-TW" dirty="0"/>
            </a:br>
            <a:r>
              <a:rPr lang="zh-TW" altLang="en-US" dirty="0"/>
              <a:t>記下使用者態的 </a:t>
            </a:r>
            <a:r>
              <a:rPr lang="en-US" altLang="zh-TW" b="1" dirty="0"/>
              <a:t>RSP/stack</a:t>
            </a:r>
            <a:r>
              <a:rPr lang="en-US" altLang="zh-TW" dirty="0"/>
              <a:t> </a:t>
            </a:r>
            <a:r>
              <a:rPr lang="zh-TW" altLang="en-US" dirty="0"/>
              <a:t>等，回到使用者態時要用。</a:t>
            </a:r>
          </a:p>
          <a:p>
            <a:r>
              <a:rPr lang="en-US" altLang="zh-TW" b="1" dirty="0"/>
              <a:t>Switch PDA Contexts</a:t>
            </a:r>
            <a:r>
              <a:rPr lang="zh-TW" altLang="en-US" b="1" dirty="0"/>
              <a:t>（</a:t>
            </a:r>
            <a:r>
              <a:rPr lang="en-US" altLang="zh-TW" b="1" dirty="0"/>
              <a:t>per-Processor Data Area</a:t>
            </a:r>
            <a:r>
              <a:rPr lang="zh-TW" altLang="en-US" b="1" dirty="0"/>
              <a:t>）</a:t>
            </a:r>
            <a:br>
              <a:rPr lang="en-US" altLang="zh-TW" dirty="0"/>
            </a:br>
            <a:r>
              <a:rPr lang="zh-TW" altLang="en-US" dirty="0"/>
              <a:t>切換</a:t>
            </a:r>
            <a:r>
              <a:rPr lang="zh-TW" altLang="en-US" b="1" dirty="0"/>
              <a:t>每顆 </a:t>
            </a:r>
            <a:r>
              <a:rPr lang="en-US" altLang="zh-TW" b="1" dirty="0"/>
              <a:t>CPU </a:t>
            </a:r>
            <a:r>
              <a:rPr lang="zh-TW" altLang="en-US" b="1" dirty="0"/>
              <a:t>的本地資料</a:t>
            </a:r>
            <a:r>
              <a:rPr lang="zh-TW" altLang="en-US" dirty="0"/>
              <a:t>（</a:t>
            </a:r>
            <a:r>
              <a:rPr lang="en-US" altLang="zh-TW" dirty="0"/>
              <a:t>per-CPU/IRQ/</a:t>
            </a:r>
            <a:r>
              <a:rPr lang="en-US" altLang="zh-TW" dirty="0" err="1"/>
              <a:t>mmu</a:t>
            </a:r>
            <a:r>
              <a:rPr lang="en-US" altLang="zh-TW" dirty="0"/>
              <a:t> </a:t>
            </a:r>
            <a:r>
              <a:rPr lang="zh-TW" altLang="en-US" dirty="0"/>
              <a:t>狀態等需要同步）。</a:t>
            </a:r>
          </a:p>
          <a:p>
            <a:r>
              <a:rPr lang="en-US" altLang="zh-TW" b="1" dirty="0"/>
              <a:t>Update Debug Registers</a:t>
            </a:r>
            <a:br>
              <a:rPr lang="en-US" altLang="zh-TW" dirty="0"/>
            </a:br>
            <a:r>
              <a:rPr lang="zh-TW" altLang="en-US" dirty="0"/>
              <a:t>若開了硬體除錯功能，要更新 </a:t>
            </a:r>
            <a:r>
              <a:rPr lang="en-US" altLang="zh-TW" b="1" dirty="0"/>
              <a:t>DR0–DR7</a:t>
            </a:r>
            <a:r>
              <a:rPr lang="en-US" altLang="zh-TW" dirty="0"/>
              <a:t> </a:t>
            </a:r>
            <a:r>
              <a:rPr lang="zh-TW" altLang="en-US" dirty="0"/>
              <a:t>等 </a:t>
            </a:r>
            <a:r>
              <a:rPr lang="en-US" altLang="zh-TW" dirty="0"/>
              <a:t>debug </a:t>
            </a:r>
            <a:r>
              <a:rPr lang="zh-TW" altLang="en-US" dirty="0"/>
              <a:t>暫存器。</a:t>
            </a:r>
          </a:p>
          <a:p>
            <a:r>
              <a:rPr lang="en-US" altLang="zh-TW" b="1" dirty="0"/>
              <a:t>Update I/O Permissions</a:t>
            </a:r>
            <a:br>
              <a:rPr lang="en-US" altLang="zh-TW" dirty="0"/>
            </a:br>
            <a:r>
              <a:rPr lang="zh-TW" altLang="en-US" dirty="0"/>
              <a:t>依新行程的 </a:t>
            </a:r>
            <a:r>
              <a:rPr lang="en-US" altLang="zh-TW" b="1" dirty="0"/>
              <a:t>IO </a:t>
            </a:r>
            <a:r>
              <a:rPr lang="zh-TW" altLang="en-US" b="1" dirty="0"/>
              <a:t>權限位圖</a:t>
            </a:r>
            <a:r>
              <a:rPr lang="zh-TW" altLang="en-US" dirty="0"/>
              <a:t>（</a:t>
            </a:r>
            <a:r>
              <a:rPr lang="en-US" altLang="zh-TW" dirty="0" err="1"/>
              <a:t>ioperm</a:t>
            </a:r>
            <a:r>
              <a:rPr lang="en-US" altLang="zh-TW" dirty="0"/>
              <a:t>/</a:t>
            </a:r>
            <a:r>
              <a:rPr lang="en-US" altLang="zh-TW" dirty="0" err="1"/>
              <a:t>iopl</a:t>
            </a:r>
            <a:r>
              <a:rPr lang="zh-TW" altLang="en-US" dirty="0"/>
              <a:t>）更新 </a:t>
            </a:r>
            <a:r>
              <a:rPr lang="en-US" altLang="zh-TW" dirty="0"/>
              <a:t>I/O </a:t>
            </a:r>
            <a:r>
              <a:rPr lang="zh-TW" altLang="en-US" dirty="0"/>
              <a:t>訪問權限。</a:t>
            </a:r>
          </a:p>
          <a:p>
            <a:r>
              <a:rPr lang="en-US" altLang="zh-TW" b="1" dirty="0"/>
              <a:t>Restore saved registers</a:t>
            </a:r>
            <a:br>
              <a:rPr lang="en-US" altLang="zh-TW" dirty="0"/>
            </a:br>
            <a:r>
              <a:rPr lang="zh-TW" altLang="en-US" dirty="0"/>
              <a:t>把剛才存的</a:t>
            </a:r>
            <a:r>
              <a:rPr lang="zh-TW" altLang="en-US" b="1" dirty="0"/>
              <a:t>通用暫存器</a:t>
            </a:r>
            <a:r>
              <a:rPr lang="zh-TW" altLang="en-US" dirty="0"/>
              <a:t>載回 → </a:t>
            </a:r>
            <a:r>
              <a:rPr lang="zh-TW" altLang="en-US" b="1" dirty="0"/>
              <a:t>新行程接手執行</a:t>
            </a:r>
            <a:r>
              <a:rPr lang="zh-TW" altLang="en-US" dirty="0"/>
              <a:t>。</a:t>
            </a:r>
          </a:p>
          <a:p>
            <a:r>
              <a:rPr lang="zh-TW" altLang="en-US" b="1" dirty="0"/>
              <a:t>為什麼這些步驟重要？</a:t>
            </a:r>
          </a:p>
          <a:p>
            <a:r>
              <a:rPr lang="zh-TW" altLang="en-US" b="1" dirty="0"/>
              <a:t>正確性</a:t>
            </a:r>
            <a:r>
              <a:rPr lang="zh-TW" altLang="en-US" dirty="0"/>
              <a:t>：不存</a:t>
            </a:r>
            <a:r>
              <a:rPr lang="en-US" altLang="zh-TW" dirty="0"/>
              <a:t>/</a:t>
            </a:r>
            <a:r>
              <a:rPr lang="zh-TW" altLang="en-US" dirty="0"/>
              <a:t>不還原，行程會在錯的現場上跑崩。</a:t>
            </a:r>
          </a:p>
          <a:p>
            <a:r>
              <a:rPr lang="zh-TW" altLang="en-US" b="1" dirty="0"/>
              <a:t>隔離</a:t>
            </a:r>
            <a:r>
              <a:rPr lang="en-US" altLang="zh-TW" b="1" dirty="0"/>
              <a:t>/</a:t>
            </a:r>
            <a:r>
              <a:rPr lang="zh-TW" altLang="en-US" b="1" dirty="0"/>
              <a:t>安全</a:t>
            </a:r>
            <a:r>
              <a:rPr lang="zh-TW" altLang="en-US" dirty="0"/>
              <a:t>：</a:t>
            </a:r>
            <a:r>
              <a:rPr lang="en-US" altLang="zh-TW" dirty="0"/>
              <a:t>TLS</a:t>
            </a:r>
            <a:r>
              <a:rPr lang="zh-TW" altLang="en-US" dirty="0"/>
              <a:t>、</a:t>
            </a:r>
            <a:r>
              <a:rPr lang="en-US" altLang="zh-TW" dirty="0"/>
              <a:t>IO </a:t>
            </a:r>
            <a:r>
              <a:rPr lang="zh-TW" altLang="en-US" dirty="0"/>
              <a:t>權限、</a:t>
            </a:r>
            <a:r>
              <a:rPr lang="en-US" altLang="zh-TW" dirty="0"/>
              <a:t>debug </a:t>
            </a:r>
            <a:r>
              <a:rPr lang="zh-TW" altLang="en-US" dirty="0"/>
              <a:t>狀態都屬於「每執行緒</a:t>
            </a:r>
            <a:r>
              <a:rPr lang="en-US" altLang="zh-TW" dirty="0"/>
              <a:t>/</a:t>
            </a:r>
            <a:r>
              <a:rPr lang="zh-TW" altLang="en-US" dirty="0"/>
              <a:t>每行程」的私有</a:t>
            </a:r>
            <a:r>
              <a:rPr lang="en-US" altLang="zh-TW" dirty="0"/>
              <a:t>/</a:t>
            </a:r>
            <a:r>
              <a:rPr lang="zh-TW" altLang="en-US" dirty="0"/>
              <a:t>敏感狀態。</a:t>
            </a:r>
          </a:p>
          <a:p>
            <a:r>
              <a:rPr lang="zh-TW" altLang="en-US" b="1" dirty="0"/>
              <a:t>效能</a:t>
            </a:r>
            <a:r>
              <a:rPr lang="zh-TW" altLang="en-US" dirty="0"/>
              <a:t>：</a:t>
            </a:r>
            <a:r>
              <a:rPr lang="en-US" altLang="zh-TW" dirty="0"/>
              <a:t>FPU/AVX/</a:t>
            </a:r>
            <a:r>
              <a:rPr lang="zh-TW" altLang="en-US" dirty="0"/>
              <a:t>快取</a:t>
            </a:r>
            <a:r>
              <a:rPr lang="en-US" altLang="zh-TW" dirty="0"/>
              <a:t>/TLB </a:t>
            </a:r>
            <a:r>
              <a:rPr lang="zh-TW" altLang="en-US" dirty="0"/>
              <a:t>相關切換都很花；所以排程不要頻繁切來切去。</a:t>
            </a:r>
          </a:p>
          <a:p>
            <a:r>
              <a:rPr lang="zh-TW" altLang="en-US" b="1" dirty="0"/>
              <a:t>一句話記住</a:t>
            </a:r>
          </a:p>
          <a:p>
            <a:r>
              <a:rPr lang="en-US" altLang="zh-TW" sz="1200" b="1" kern="1200" dirty="0" err="1">
                <a:solidFill>
                  <a:schemeClr val="tx1"/>
                </a:solidFill>
                <a:latin typeface="+mn-lt"/>
                <a:ea typeface="+mn-ea"/>
                <a:cs typeface="+mn-cs"/>
              </a:rPr>
              <a:t>switch_mm</a:t>
            </a:r>
            <a:r>
              <a:rPr lang="en-US" altLang="zh-TW" sz="1200" b="1" kern="1200" dirty="0">
                <a:solidFill>
                  <a:schemeClr val="tx1"/>
                </a:solidFill>
                <a:latin typeface="+mn-lt"/>
                <a:ea typeface="+mn-ea"/>
                <a:cs typeface="+mn-cs"/>
              </a:rPr>
              <a:t>()</a:t>
            </a:r>
            <a:r>
              <a:rPr lang="zh-TW" altLang="en-US" b="1" dirty="0"/>
              <a:t>換「記憶體空間」；</a:t>
            </a:r>
            <a:r>
              <a:rPr lang="en-US" altLang="zh-TW" sz="1200" b="1" kern="1200" dirty="0" err="1">
                <a:solidFill>
                  <a:schemeClr val="tx1"/>
                </a:solidFill>
                <a:latin typeface="+mn-lt"/>
                <a:ea typeface="+mn-ea"/>
                <a:cs typeface="+mn-cs"/>
              </a:rPr>
              <a:t>switch_to</a:t>
            </a:r>
            <a:r>
              <a:rPr lang="en-US" altLang="zh-TW" sz="1200" b="1" kern="1200" dirty="0">
                <a:solidFill>
                  <a:schemeClr val="tx1"/>
                </a:solidFill>
                <a:latin typeface="+mn-lt"/>
                <a:ea typeface="+mn-ea"/>
                <a:cs typeface="+mn-cs"/>
              </a:rPr>
              <a:t>()</a:t>
            </a:r>
            <a:r>
              <a:rPr lang="zh-TW" altLang="en-US" b="1" dirty="0"/>
              <a:t>換「</a:t>
            </a:r>
            <a:r>
              <a:rPr lang="en-US" altLang="zh-TW" b="1" dirty="0"/>
              <a:t>CPU </a:t>
            </a:r>
            <a:r>
              <a:rPr lang="zh-TW" altLang="en-US" b="1" dirty="0"/>
              <a:t>現場」。</a:t>
            </a:r>
            <a:br>
              <a:rPr lang="zh-TW" altLang="en-US" dirty="0"/>
            </a:br>
            <a:r>
              <a:rPr lang="zh-TW" altLang="en-US" dirty="0"/>
              <a:t>流程：</a:t>
            </a:r>
            <a:r>
              <a:rPr lang="zh-TW" altLang="en-US" b="1" dirty="0"/>
              <a:t>存暫存器 → 換核心堆疊 → 存</a:t>
            </a:r>
            <a:r>
              <a:rPr lang="en-US" altLang="zh-TW" b="1" dirty="0"/>
              <a:t>/</a:t>
            </a:r>
            <a:r>
              <a:rPr lang="zh-TW" altLang="en-US" b="1" dirty="0"/>
              <a:t>載 </a:t>
            </a:r>
            <a:r>
              <a:rPr lang="en-US" altLang="zh-TW" b="1" dirty="0"/>
              <a:t>FPU → </a:t>
            </a:r>
            <a:r>
              <a:rPr lang="zh-TW" altLang="en-US" b="1" dirty="0"/>
              <a:t>更新 </a:t>
            </a:r>
            <a:r>
              <a:rPr lang="en-US" altLang="zh-TW" b="1" dirty="0"/>
              <a:t>TLS/</a:t>
            </a:r>
            <a:r>
              <a:rPr lang="zh-TW" altLang="en-US" b="1" dirty="0"/>
              <a:t>段暫存器</a:t>
            </a:r>
            <a:r>
              <a:rPr lang="en-US" altLang="zh-TW" b="1" dirty="0"/>
              <a:t>/</a:t>
            </a:r>
            <a:r>
              <a:rPr lang="zh-TW" altLang="en-US" b="1" dirty="0"/>
              <a:t>除錯</a:t>
            </a:r>
            <a:r>
              <a:rPr lang="en-US" altLang="zh-TW" b="1" dirty="0"/>
              <a:t>/I/O </a:t>
            </a:r>
            <a:r>
              <a:rPr lang="zh-TW" altLang="en-US" b="1" dirty="0"/>
              <a:t>權限 → 還原暫存器</a:t>
            </a:r>
            <a:r>
              <a:rPr lang="zh-TW" altLang="en-US" dirty="0"/>
              <a:t>，新行程無縫接手。</a:t>
            </a:r>
          </a:p>
          <a:p>
            <a:pPr fontAlgn="base"/>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22</a:t>
            </a:fld>
            <a:endParaRPr lang="zh-TW" altLang="en-US"/>
          </a:p>
        </p:txBody>
      </p:sp>
    </p:spTree>
    <p:extLst>
      <p:ext uri="{BB962C8B-B14F-4D97-AF65-F5344CB8AC3E}">
        <p14:creationId xmlns:p14="http://schemas.microsoft.com/office/powerpoint/2010/main" val="4081712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這張在分清兩件事：</a:t>
            </a:r>
            <a:r>
              <a:rPr lang="en-US" altLang="zh-TW" b="1" dirty="0"/>
              <a:t>CPU </a:t>
            </a:r>
            <a:r>
              <a:rPr lang="zh-TW" altLang="en-US" b="1" dirty="0"/>
              <a:t>模式切換</a:t>
            </a:r>
            <a:r>
              <a:rPr lang="zh-TW" altLang="en-US" dirty="0"/>
              <a:t> </a:t>
            </a:r>
            <a:r>
              <a:rPr lang="en-US" altLang="zh-TW" dirty="0"/>
              <a:t>vs </a:t>
            </a:r>
            <a:r>
              <a:rPr lang="zh-TW" altLang="en-US" b="1" dirty="0"/>
              <a:t>行程脈絡切換（</a:t>
            </a:r>
            <a:r>
              <a:rPr lang="en-US" altLang="zh-TW" b="1" dirty="0"/>
              <a:t>process context switch</a:t>
            </a:r>
            <a:r>
              <a:rPr lang="zh-TW" altLang="en-US" b="1" dirty="0"/>
              <a:t>）</a:t>
            </a:r>
            <a:r>
              <a:rPr lang="zh-TW" altLang="en-US" dirty="0"/>
              <a:t>。</a:t>
            </a:r>
          </a:p>
          <a:p>
            <a:r>
              <a:rPr lang="zh-TW" altLang="en-US" b="1" dirty="0"/>
              <a:t>重點白話版</a:t>
            </a:r>
          </a:p>
          <a:p>
            <a:r>
              <a:rPr lang="en-US" altLang="zh-TW" b="1" dirty="0"/>
              <a:t>CPU Mode Switch</a:t>
            </a:r>
            <a:r>
              <a:rPr lang="zh-TW" altLang="en-US" b="1" dirty="0"/>
              <a:t>（模式切換）</a:t>
            </a:r>
            <a:br>
              <a:rPr lang="zh-TW" altLang="en-US" dirty="0"/>
            </a:br>
            <a:r>
              <a:rPr lang="zh-TW" altLang="en-US" dirty="0"/>
              <a:t>遇到</a:t>
            </a:r>
            <a:r>
              <a:rPr lang="zh-TW" altLang="en-US" b="1" dirty="0"/>
              <a:t>系統呼叫、例外、或中斷</a:t>
            </a:r>
            <a:r>
              <a:rPr lang="zh-TW" altLang="en-US" dirty="0"/>
              <a:t>時，</a:t>
            </a:r>
            <a:r>
              <a:rPr lang="en-US" altLang="zh-TW" dirty="0"/>
              <a:t>CPU </a:t>
            </a:r>
            <a:r>
              <a:rPr lang="zh-TW" altLang="en-US" dirty="0"/>
              <a:t>會從 </a:t>
            </a:r>
            <a:r>
              <a:rPr lang="en-US" altLang="zh-TW" b="1" dirty="0"/>
              <a:t>User mode</a:t>
            </a:r>
            <a:r>
              <a:rPr lang="en-US" altLang="zh-TW" dirty="0"/>
              <a:t> </a:t>
            </a:r>
            <a:r>
              <a:rPr lang="zh-TW" altLang="en-US" dirty="0"/>
              <a:t>進到 </a:t>
            </a:r>
            <a:r>
              <a:rPr lang="en-US" altLang="zh-TW" b="1" dirty="0"/>
              <a:t>Kernel mode</a:t>
            </a:r>
            <a:r>
              <a:rPr lang="en-US" altLang="zh-TW" dirty="0"/>
              <a:t> </a:t>
            </a:r>
            <a:r>
              <a:rPr lang="zh-TW" altLang="en-US" dirty="0"/>
              <a:t>去跑內核程式碼。</a:t>
            </a:r>
          </a:p>
          <a:p>
            <a:pPr lvl="1"/>
            <a:r>
              <a:rPr lang="zh-TW" altLang="en-US" dirty="0"/>
              <a:t>會 </a:t>
            </a:r>
            <a:r>
              <a:rPr lang="zh-TW" altLang="en-US" b="1" dirty="0"/>
              <a:t>保存目前的使用者態現場</a:t>
            </a:r>
            <a:r>
              <a:rPr lang="zh-TW" altLang="en-US" dirty="0"/>
              <a:t>（像 </a:t>
            </a:r>
            <a:r>
              <a:rPr lang="en-US" altLang="zh-TW" dirty="0"/>
              <a:t>RIP/PC</a:t>
            </a:r>
            <a:r>
              <a:rPr lang="zh-TW" altLang="en-US" dirty="0"/>
              <a:t>、</a:t>
            </a:r>
            <a:r>
              <a:rPr lang="en-US" altLang="zh-TW" dirty="0"/>
              <a:t>RSP/ESP</a:t>
            </a:r>
            <a:r>
              <a:rPr lang="zh-TW" altLang="en-US" dirty="0"/>
              <a:t>、旗標、部分暫存器、</a:t>
            </a:r>
            <a:r>
              <a:rPr lang="en-US" altLang="zh-TW" dirty="0"/>
              <a:t>FPU…</a:t>
            </a:r>
            <a:r>
              <a:rPr lang="zh-TW" altLang="en-US" dirty="0"/>
              <a:t>），通常先壓到</a:t>
            </a:r>
            <a:r>
              <a:rPr lang="zh-TW" altLang="en-US" b="1" dirty="0"/>
              <a:t>使用者態或核心態的堆疊</a:t>
            </a:r>
            <a:r>
              <a:rPr lang="zh-TW" altLang="en-US" dirty="0"/>
              <a:t>上。</a:t>
            </a:r>
          </a:p>
          <a:p>
            <a:pPr lvl="1"/>
            <a:r>
              <a:rPr lang="zh-TW" altLang="en-US" dirty="0"/>
              <a:t>這只是</a:t>
            </a:r>
            <a:r>
              <a:rPr lang="zh-TW" altLang="en-US" b="1" dirty="0"/>
              <a:t>同一個行程</a:t>
            </a:r>
            <a:r>
              <a:rPr lang="zh-TW" altLang="en-US" dirty="0"/>
              <a:t>從 </a:t>
            </a:r>
            <a:r>
              <a:rPr lang="en-US" altLang="zh-TW" dirty="0"/>
              <a:t>U→K </a:t>
            </a:r>
            <a:r>
              <a:rPr lang="zh-TW" altLang="en-US" dirty="0"/>
              <a:t>的身分切換，</a:t>
            </a:r>
            <a:r>
              <a:rPr lang="zh-TW" altLang="en-US" b="1" dirty="0"/>
              <a:t>不一定換人</a:t>
            </a:r>
            <a:r>
              <a:rPr lang="zh-TW" altLang="en-US" dirty="0"/>
              <a:t>。</a:t>
            </a:r>
          </a:p>
          <a:p>
            <a:r>
              <a:rPr lang="en-US" altLang="zh-TW" b="1" dirty="0"/>
              <a:t>Process Context Switch</a:t>
            </a:r>
            <a:r>
              <a:rPr lang="zh-TW" altLang="en-US" b="1" dirty="0"/>
              <a:t>（行程脈絡切換）</a:t>
            </a:r>
            <a:br>
              <a:rPr lang="zh-TW" altLang="en-US" dirty="0"/>
            </a:br>
            <a:r>
              <a:rPr lang="zh-TW" altLang="en-US" dirty="0"/>
              <a:t>排程器決定要</a:t>
            </a:r>
            <a:r>
              <a:rPr lang="zh-TW" altLang="en-US" b="1" dirty="0"/>
              <a:t>把 </a:t>
            </a:r>
            <a:r>
              <a:rPr lang="en-US" altLang="zh-TW" b="1" dirty="0"/>
              <a:t>CPU </a:t>
            </a:r>
            <a:r>
              <a:rPr lang="zh-TW" altLang="en-US" b="1" dirty="0"/>
              <a:t>從行程</a:t>
            </a:r>
            <a:r>
              <a:rPr lang="en-US" altLang="zh-TW" b="1" dirty="0"/>
              <a:t>A </a:t>
            </a:r>
            <a:r>
              <a:rPr lang="zh-TW" altLang="en-US" b="1" dirty="0"/>
              <a:t>換到行程</a:t>
            </a:r>
            <a:r>
              <a:rPr lang="en-US" altLang="zh-TW" b="1" dirty="0"/>
              <a:t>B</a:t>
            </a:r>
            <a:r>
              <a:rPr lang="zh-TW" altLang="en-US" dirty="0"/>
              <a:t>。</a:t>
            </a:r>
          </a:p>
          <a:p>
            <a:pPr lvl="1"/>
            <a:r>
              <a:rPr lang="zh-TW" altLang="en-US" dirty="0"/>
              <a:t>需要換的東西更多：</a:t>
            </a:r>
            <a:r>
              <a:rPr lang="zh-TW" altLang="en-US" b="1" dirty="0"/>
              <a:t>頁表</a:t>
            </a:r>
            <a:r>
              <a:rPr lang="en-US" altLang="zh-TW" b="1" dirty="0"/>
              <a:t>/</a:t>
            </a:r>
            <a:r>
              <a:rPr lang="zh-TW" altLang="en-US" b="1" dirty="0"/>
              <a:t>位址空間（</a:t>
            </a:r>
            <a:r>
              <a:rPr lang="en-US" altLang="zh-TW" b="1" dirty="0" err="1"/>
              <a:t>switch_mm</a:t>
            </a:r>
            <a:r>
              <a:rPr lang="zh-TW" altLang="en-US" b="1" dirty="0"/>
              <a:t>）</a:t>
            </a:r>
            <a:r>
              <a:rPr lang="en-US" altLang="zh-TW" b="1" dirty="0"/>
              <a:t>+ </a:t>
            </a:r>
            <a:r>
              <a:rPr lang="zh-TW" altLang="en-US" b="1" dirty="0"/>
              <a:t>全部暫存器</a:t>
            </a:r>
            <a:r>
              <a:rPr lang="en-US" altLang="zh-TW" b="1" dirty="0"/>
              <a:t>/</a:t>
            </a:r>
            <a:r>
              <a:rPr lang="zh-TW" altLang="en-US" b="1" dirty="0"/>
              <a:t>內核狀態（</a:t>
            </a:r>
            <a:r>
              <a:rPr lang="en-US" altLang="zh-TW" b="1" dirty="0" err="1"/>
              <a:t>switch_to</a:t>
            </a:r>
            <a:r>
              <a:rPr lang="zh-TW" altLang="en-US" b="1" dirty="0"/>
              <a:t>）</a:t>
            </a:r>
            <a:r>
              <a:rPr lang="zh-TW" altLang="en-US" dirty="0"/>
              <a:t>。</a:t>
            </a:r>
          </a:p>
          <a:p>
            <a:pPr lvl="1"/>
            <a:r>
              <a:rPr lang="zh-TW" altLang="en-US" dirty="0"/>
              <a:t>伴隨 </a:t>
            </a:r>
            <a:r>
              <a:rPr lang="en-US" altLang="zh-TW" b="1" dirty="0"/>
              <a:t>TLB flush</a:t>
            </a:r>
            <a:r>
              <a:rPr lang="zh-TW" altLang="en-US" b="1" dirty="0"/>
              <a:t>、切 </a:t>
            </a:r>
            <a:r>
              <a:rPr lang="en-US" altLang="zh-TW" b="1" dirty="0"/>
              <a:t>kernel stack</a:t>
            </a:r>
            <a:r>
              <a:rPr lang="zh-TW" altLang="en-US" b="1" dirty="0"/>
              <a:t>、</a:t>
            </a:r>
            <a:r>
              <a:rPr lang="en-US" altLang="zh-TW" b="1" dirty="0"/>
              <a:t>TLS</a:t>
            </a:r>
            <a:r>
              <a:rPr lang="zh-TW" altLang="en-US" b="1" dirty="0"/>
              <a:t>、</a:t>
            </a:r>
            <a:r>
              <a:rPr lang="en-US" altLang="zh-TW" b="1" dirty="0"/>
              <a:t>FPU/AVX</a:t>
            </a:r>
            <a:r>
              <a:rPr lang="zh-TW" altLang="en-US" b="1" dirty="0"/>
              <a:t>、除錯</a:t>
            </a:r>
            <a:r>
              <a:rPr lang="en-US" altLang="zh-TW" b="1" dirty="0"/>
              <a:t>/I/O </a:t>
            </a:r>
            <a:r>
              <a:rPr lang="zh-TW" altLang="en-US" b="1" dirty="0"/>
              <a:t>權限</a:t>
            </a:r>
            <a:r>
              <a:rPr lang="zh-TW" altLang="en-US" dirty="0"/>
              <a:t> 等更新。</a:t>
            </a:r>
          </a:p>
          <a:p>
            <a:pPr lvl="1"/>
            <a:r>
              <a:rPr lang="zh-TW" altLang="en-US" dirty="0"/>
              <a:t>這才是「</a:t>
            </a:r>
            <a:r>
              <a:rPr lang="zh-TW" altLang="en-US" b="1" dirty="0"/>
              <a:t>換人</a:t>
            </a:r>
            <a:r>
              <a:rPr lang="zh-TW" altLang="en-US" dirty="0"/>
              <a:t>」。</a:t>
            </a:r>
          </a:p>
          <a:p>
            <a:r>
              <a:rPr lang="zh-TW" altLang="en-US" b="1" dirty="0"/>
              <a:t>投影片的兩句話意思</a:t>
            </a:r>
          </a:p>
          <a:p>
            <a:r>
              <a:rPr lang="zh-TW" altLang="en-US" dirty="0"/>
              <a:t>“</a:t>
            </a:r>
            <a:r>
              <a:rPr lang="en-US" altLang="zh-TW" dirty="0"/>
              <a:t>CPU shall also do context switching but </a:t>
            </a:r>
            <a:r>
              <a:rPr lang="en-US" altLang="zh-TW" b="1" dirty="0"/>
              <a:t>not process-level context switching</a:t>
            </a:r>
            <a:r>
              <a:rPr lang="en-US" altLang="zh-TW" dirty="0"/>
              <a:t>”</a:t>
            </a:r>
            <a:br>
              <a:rPr lang="en-US" altLang="zh-TW" dirty="0"/>
            </a:br>
            <a:r>
              <a:rPr lang="en-US" altLang="zh-TW" dirty="0"/>
              <a:t>→ U→K </a:t>
            </a:r>
            <a:r>
              <a:rPr lang="zh-TW" altLang="en-US" dirty="0"/>
              <a:t>時也會存</a:t>
            </a:r>
            <a:r>
              <a:rPr lang="en-US" altLang="zh-TW" dirty="0"/>
              <a:t>/</a:t>
            </a:r>
            <a:r>
              <a:rPr lang="zh-TW" altLang="en-US" dirty="0"/>
              <a:t>還暫存器（是</a:t>
            </a:r>
            <a:r>
              <a:rPr lang="zh-TW" altLang="en-US" b="1" dirty="0"/>
              <a:t>一種脈絡切換</a:t>
            </a:r>
            <a:r>
              <a:rPr lang="zh-TW" altLang="en-US" dirty="0"/>
              <a:t>），但</a:t>
            </a:r>
            <a:r>
              <a:rPr lang="zh-TW" altLang="en-US" b="1" dirty="0"/>
              <a:t>不是換行程</a:t>
            </a:r>
            <a:r>
              <a:rPr lang="zh-TW" altLang="en-US" dirty="0"/>
              <a:t>的那種。</a:t>
            </a:r>
          </a:p>
          <a:p>
            <a:r>
              <a:rPr lang="zh-TW" altLang="en-US" dirty="0"/>
              <a:t>“</a:t>
            </a:r>
            <a:r>
              <a:rPr lang="en-US" altLang="zh-TW" dirty="0"/>
              <a:t>save user mode context … write back all those registers to the corresponding </a:t>
            </a:r>
            <a:r>
              <a:rPr lang="en-US" altLang="zh-TW" b="1" dirty="0"/>
              <a:t>process descriptor (</a:t>
            </a:r>
            <a:r>
              <a:rPr lang="en-US" altLang="zh-TW" b="1" dirty="0" err="1"/>
              <a:t>task_struct</a:t>
            </a:r>
            <a:r>
              <a:rPr lang="en-US" altLang="zh-TW" b="1" dirty="0"/>
              <a:t>)</a:t>
            </a:r>
            <a:r>
              <a:rPr lang="en-US" altLang="zh-TW" dirty="0"/>
              <a:t> in main memory”</a:t>
            </a:r>
            <a:br>
              <a:rPr lang="en-US" altLang="zh-TW" dirty="0"/>
            </a:br>
            <a:r>
              <a:rPr lang="en-US" altLang="zh-TW" dirty="0"/>
              <a:t>→ </a:t>
            </a:r>
            <a:r>
              <a:rPr lang="zh-TW" altLang="en-US" dirty="0"/>
              <a:t>進 </a:t>
            </a:r>
            <a:r>
              <a:rPr lang="en-US" altLang="zh-TW" dirty="0"/>
              <a:t>Kernel </a:t>
            </a:r>
            <a:r>
              <a:rPr lang="zh-TW" altLang="en-US" dirty="0"/>
              <a:t>前，會把</a:t>
            </a:r>
            <a:r>
              <a:rPr lang="zh-TW" altLang="en-US" b="1" dirty="0"/>
              <a:t>使用者態的</a:t>
            </a:r>
            <a:r>
              <a:rPr lang="en-US" altLang="zh-TW" b="1" dirty="0"/>
              <a:t>PC/</a:t>
            </a:r>
            <a:r>
              <a:rPr lang="zh-TW" altLang="en-US" b="1" dirty="0"/>
              <a:t>堆疊指標</a:t>
            </a:r>
            <a:r>
              <a:rPr lang="en-US" altLang="zh-TW" b="1" dirty="0"/>
              <a:t>/</a:t>
            </a:r>
            <a:r>
              <a:rPr lang="zh-TW" altLang="en-US" b="1" dirty="0"/>
              <a:t>暫存器</a:t>
            </a:r>
            <a:r>
              <a:rPr lang="zh-TW" altLang="en-US" dirty="0"/>
              <a:t>等</a:t>
            </a:r>
            <a:r>
              <a:rPr lang="zh-TW" altLang="en-US" b="1" dirty="0"/>
              <a:t>保存</a:t>
            </a:r>
            <a:r>
              <a:rPr lang="zh-TW" altLang="en-US" dirty="0"/>
              <a:t>到記憶體（透過該行程的資料結構與其核心堆疊）。</a:t>
            </a:r>
          </a:p>
          <a:p>
            <a:r>
              <a:rPr lang="zh-TW" altLang="en-US" b="1" dirty="0"/>
              <a:t>一眼分辨</a:t>
            </a:r>
          </a:p>
          <a:p>
            <a:r>
              <a:rPr lang="zh-TW" altLang="en-US" dirty="0"/>
              <a:t>只是在處理系統呼叫</a:t>
            </a:r>
            <a:r>
              <a:rPr lang="en-US" altLang="zh-TW" dirty="0"/>
              <a:t>/</a:t>
            </a:r>
            <a:r>
              <a:rPr lang="zh-TW" altLang="en-US" dirty="0"/>
              <a:t>中斷，回來還是</a:t>
            </a:r>
            <a:r>
              <a:rPr lang="zh-TW" altLang="en-US" b="1" dirty="0"/>
              <a:t>同一個程式</a:t>
            </a:r>
            <a:r>
              <a:rPr lang="zh-TW" altLang="en-US" dirty="0"/>
              <a:t>繼續跑 → </a:t>
            </a:r>
            <a:r>
              <a:rPr lang="en-US" altLang="zh-TW" b="1" dirty="0"/>
              <a:t>Mode switch</a:t>
            </a:r>
            <a:r>
              <a:rPr lang="zh-TW" altLang="en-US" dirty="0"/>
              <a:t>。</a:t>
            </a:r>
          </a:p>
          <a:p>
            <a:r>
              <a:rPr lang="zh-TW" altLang="en-US" dirty="0"/>
              <a:t>換別的程式繼續跑 → </a:t>
            </a:r>
            <a:r>
              <a:rPr lang="en-US" altLang="zh-TW" b="1" dirty="0"/>
              <a:t>Process context switch</a:t>
            </a:r>
            <a:r>
              <a:rPr lang="zh-TW" altLang="en-US" dirty="0"/>
              <a:t>。</a:t>
            </a:r>
          </a:p>
          <a:p>
            <a:r>
              <a:rPr lang="zh-TW" altLang="en-US" b="1" dirty="0"/>
              <a:t>小例子</a:t>
            </a:r>
          </a:p>
          <a:p>
            <a:r>
              <a:rPr lang="en-US" altLang="zh-TW" sz="1200" kern="1200" dirty="0">
                <a:solidFill>
                  <a:schemeClr val="tx1"/>
                </a:solidFill>
                <a:latin typeface="+mn-lt"/>
                <a:ea typeface="+mn-ea"/>
                <a:cs typeface="+mn-cs"/>
              </a:rPr>
              <a:t>read()</a:t>
            </a:r>
            <a:r>
              <a:rPr lang="en-US" altLang="zh-TW" dirty="0"/>
              <a:t> </a:t>
            </a:r>
            <a:r>
              <a:rPr lang="zh-TW" altLang="en-US" dirty="0"/>
              <a:t>系統呼叫：</a:t>
            </a:r>
            <a:r>
              <a:rPr lang="en-US" altLang="zh-TW" dirty="0"/>
              <a:t>App </a:t>
            </a:r>
            <a:r>
              <a:rPr lang="zh-TW" altLang="en-US" dirty="0"/>
              <a:t>觸發陷入 → 進 </a:t>
            </a:r>
            <a:r>
              <a:rPr lang="en-US" altLang="zh-TW" dirty="0"/>
              <a:t>Kernel</a:t>
            </a:r>
            <a:r>
              <a:rPr lang="zh-TW" altLang="en-US" dirty="0"/>
              <a:t>（</a:t>
            </a:r>
            <a:r>
              <a:rPr lang="en-US" altLang="zh-TW" b="1" dirty="0"/>
              <a:t>mode switch</a:t>
            </a:r>
            <a:r>
              <a:rPr lang="zh-TW" altLang="en-US" dirty="0"/>
              <a:t>），若馬上讀到資料就</a:t>
            </a:r>
            <a:r>
              <a:rPr lang="zh-TW" altLang="en-US" b="1" dirty="0"/>
              <a:t>回到同一個 </a:t>
            </a:r>
            <a:r>
              <a:rPr lang="en-US" altLang="zh-TW" b="1" dirty="0"/>
              <a:t>App</a:t>
            </a:r>
            <a:r>
              <a:rPr lang="zh-TW" altLang="en-US" dirty="0"/>
              <a:t>。</a:t>
            </a:r>
          </a:p>
          <a:p>
            <a:r>
              <a:rPr lang="en-US" altLang="zh-TW" sz="1200" kern="1200" dirty="0">
                <a:solidFill>
                  <a:schemeClr val="tx1"/>
                </a:solidFill>
                <a:latin typeface="+mn-lt"/>
                <a:ea typeface="+mn-ea"/>
                <a:cs typeface="+mn-cs"/>
              </a:rPr>
              <a:t>read()</a:t>
            </a:r>
            <a:r>
              <a:rPr lang="en-US" altLang="zh-TW" dirty="0"/>
              <a:t> </a:t>
            </a:r>
            <a:r>
              <a:rPr lang="zh-TW" altLang="en-US" dirty="0"/>
              <a:t>等 </a:t>
            </a:r>
            <a:r>
              <a:rPr lang="en-US" altLang="zh-TW" dirty="0"/>
              <a:t>I/O</a:t>
            </a:r>
            <a:r>
              <a:rPr lang="zh-TW" altLang="en-US" dirty="0"/>
              <a:t>：進 </a:t>
            </a:r>
            <a:r>
              <a:rPr lang="en-US" altLang="zh-TW" dirty="0"/>
              <a:t>Kernel </a:t>
            </a:r>
            <a:r>
              <a:rPr lang="zh-TW" altLang="en-US" dirty="0"/>
              <a:t>後被阻塞，排程器換去跑別的程式（</a:t>
            </a:r>
            <a:r>
              <a:rPr lang="en-US" altLang="zh-TW" b="1" dirty="0"/>
              <a:t>process context switch</a:t>
            </a:r>
            <a:r>
              <a:rPr lang="zh-TW" altLang="en-US" dirty="0"/>
              <a:t>）。等資料到了再把原 </a:t>
            </a:r>
            <a:r>
              <a:rPr lang="en-US" altLang="zh-TW" dirty="0"/>
              <a:t>App </a:t>
            </a:r>
            <a:r>
              <a:rPr lang="zh-TW" altLang="en-US" dirty="0"/>
              <a:t>喚醒、切回來。</a:t>
            </a: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23</a:t>
            </a:fld>
            <a:endParaRPr lang="zh-TW" altLang="en-US"/>
          </a:p>
        </p:txBody>
      </p:sp>
    </p:spTree>
    <p:extLst>
      <p:ext uri="{BB962C8B-B14F-4D97-AF65-F5344CB8AC3E}">
        <p14:creationId xmlns:p14="http://schemas.microsoft.com/office/powerpoint/2010/main" val="17483370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24</a:t>
            </a:fld>
            <a:endParaRPr lang="zh-TW" altLang="en-US"/>
          </a:p>
        </p:txBody>
      </p:sp>
    </p:spTree>
    <p:extLst>
      <p:ext uri="{BB962C8B-B14F-4D97-AF65-F5344CB8AC3E}">
        <p14:creationId xmlns:p14="http://schemas.microsoft.com/office/powerpoint/2010/main" val="25070949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kern="1200" dirty="0">
                <a:solidFill>
                  <a:schemeClr val="tx1"/>
                </a:solidFill>
                <a:effectLst/>
                <a:latin typeface="+mn-lt"/>
                <a:ea typeface="+mn-ea"/>
                <a:cs typeface="+mn-cs"/>
              </a:rPr>
              <a:t>It is not possible for user-space applications to execute kernel code directly</a:t>
            </a:r>
            <a:br>
              <a:rPr lang="en-US" altLang="zh-TW" sz="1200" kern="1200" dirty="0">
                <a:solidFill>
                  <a:schemeClr val="tx1"/>
                </a:solidFill>
                <a:effectLst/>
                <a:latin typeface="+mn-lt"/>
                <a:ea typeface="+mn-ea"/>
                <a:cs typeface="+mn-cs"/>
              </a:rPr>
            </a:br>
            <a:br>
              <a:rPr lang="en-US" altLang="zh-TW" sz="1200" kern="1200" dirty="0">
                <a:solidFill>
                  <a:schemeClr val="tx1"/>
                </a:solidFill>
                <a:effectLst/>
                <a:latin typeface="+mn-lt"/>
                <a:ea typeface="+mn-ea"/>
                <a:cs typeface="+mn-cs"/>
              </a:rPr>
            </a:br>
            <a:r>
              <a:rPr lang="zh-TW" altLang="en-US" dirty="0"/>
              <a:t>這頁在講「</a:t>
            </a:r>
            <a:r>
              <a:rPr lang="zh-TW" altLang="en-US" b="1" dirty="0"/>
              <a:t>什麼是系統呼叫（</a:t>
            </a:r>
            <a:r>
              <a:rPr lang="en-US" altLang="zh-TW" b="1" dirty="0"/>
              <a:t>System Call</a:t>
            </a:r>
            <a:r>
              <a:rPr lang="zh-TW" altLang="en-US" b="1" dirty="0"/>
              <a:t>）</a:t>
            </a:r>
            <a:r>
              <a:rPr lang="zh-TW" altLang="en-US" dirty="0"/>
              <a:t>」，白話版整理：</a:t>
            </a:r>
          </a:p>
          <a:p>
            <a:r>
              <a:rPr lang="zh-TW" altLang="en-US" b="1" dirty="0"/>
              <a:t>什麼是 </a:t>
            </a:r>
            <a:r>
              <a:rPr lang="en-US" altLang="zh-TW" b="1" dirty="0"/>
              <a:t>system call</a:t>
            </a:r>
            <a:r>
              <a:rPr lang="zh-TW" altLang="en-US" b="1" dirty="0"/>
              <a:t>？</a:t>
            </a:r>
          </a:p>
          <a:p>
            <a:r>
              <a:rPr lang="zh-TW" altLang="en-US" dirty="0"/>
              <a:t>使用者程式要跟作業系統互動（讀檔、寫檔、建立程序、網路傳輸、配置記憶體</a:t>
            </a:r>
            <a:r>
              <a:rPr lang="en-US" altLang="zh-TW" dirty="0"/>
              <a:t>…</a:t>
            </a:r>
            <a:r>
              <a:rPr lang="zh-TW" altLang="en-US" dirty="0"/>
              <a:t>）時，</a:t>
            </a:r>
            <a:r>
              <a:rPr lang="zh-TW" altLang="en-US" b="1" dirty="0"/>
              <a:t>不能直接碰硬體或核心</a:t>
            </a:r>
            <a:r>
              <a:rPr lang="zh-TW" altLang="en-US" dirty="0"/>
              <a:t>，必須透過</a:t>
            </a:r>
            <a:r>
              <a:rPr lang="zh-TW" altLang="en-US" b="1" dirty="0"/>
              <a:t>系統呼叫</a:t>
            </a:r>
            <a:r>
              <a:rPr lang="zh-TW" altLang="en-US" dirty="0"/>
              <a:t>這組介面讓核心代勞。</a:t>
            </a:r>
          </a:p>
          <a:p>
            <a:r>
              <a:rPr lang="zh-TW" altLang="en-US" dirty="0"/>
              <a:t>想成：</a:t>
            </a:r>
            <a:r>
              <a:rPr lang="en-US" altLang="zh-TW" b="1" dirty="0"/>
              <a:t>App → </a:t>
            </a:r>
            <a:r>
              <a:rPr lang="zh-TW" altLang="en-US" b="1" dirty="0"/>
              <a:t>按服務鈴 → </a:t>
            </a:r>
            <a:r>
              <a:rPr lang="en-US" altLang="zh-TW" b="1" dirty="0"/>
              <a:t>OS </a:t>
            </a:r>
            <a:r>
              <a:rPr lang="zh-TW" altLang="en-US" b="1" dirty="0"/>
              <a:t>服務生來做事</a:t>
            </a:r>
            <a:r>
              <a:rPr lang="zh-TW" altLang="en-US" dirty="0"/>
              <a:t>。</a:t>
            </a:r>
          </a:p>
          <a:p>
            <a:r>
              <a:rPr lang="zh-TW" altLang="en-US" b="1" dirty="0"/>
              <a:t>一般呼叫路徑長這樣</a:t>
            </a:r>
          </a:p>
          <a:p>
            <a:r>
              <a:rPr lang="zh-TW" altLang="en-US" dirty="0"/>
              <a:t>你的程式呼叫 </a:t>
            </a:r>
            <a:r>
              <a:rPr lang="en-US" altLang="zh-TW" sz="1200" kern="1200" dirty="0" err="1">
                <a:solidFill>
                  <a:schemeClr val="tx1"/>
                </a:solidFill>
                <a:latin typeface="+mn-lt"/>
                <a:ea typeface="+mn-ea"/>
                <a:cs typeface="+mn-cs"/>
              </a:rPr>
              <a:t>printf</a:t>
            </a:r>
            <a:r>
              <a:rPr lang="en-US" altLang="zh-TW" sz="1200" kern="1200" dirty="0">
                <a:solidFill>
                  <a:schemeClr val="tx1"/>
                </a:solidFill>
                <a:latin typeface="+mn-lt"/>
                <a:ea typeface="+mn-ea"/>
                <a:cs typeface="+mn-cs"/>
              </a:rPr>
              <a:t>()</a:t>
            </a:r>
            <a:r>
              <a:rPr lang="zh-TW" altLang="en-US" dirty="0"/>
              <a:t>（屬於 </a:t>
            </a:r>
            <a:r>
              <a:rPr lang="en-US" altLang="zh-TW" b="1" dirty="0"/>
              <a:t>C </a:t>
            </a:r>
            <a:r>
              <a:rPr lang="zh-TW" altLang="en-US" b="1" dirty="0"/>
              <a:t>標準函式庫 </a:t>
            </a:r>
            <a:r>
              <a:rPr lang="en-US" altLang="zh-TW" b="1" dirty="0" err="1"/>
              <a:t>libc</a:t>
            </a:r>
            <a:r>
              <a:rPr lang="zh-TW" altLang="en-US" dirty="0"/>
              <a:t> 的函式）。</a:t>
            </a:r>
          </a:p>
          <a:p>
            <a:r>
              <a:rPr lang="en-US" altLang="zh-TW" sz="1200" kern="1200" dirty="0" err="1">
                <a:solidFill>
                  <a:schemeClr val="tx1"/>
                </a:solidFill>
                <a:latin typeface="+mn-lt"/>
                <a:ea typeface="+mn-ea"/>
                <a:cs typeface="+mn-cs"/>
              </a:rPr>
              <a:t>printf</a:t>
            </a:r>
            <a:r>
              <a:rPr lang="en-US" altLang="zh-TW" sz="1200" kern="1200" dirty="0">
                <a:solidFill>
                  <a:schemeClr val="tx1"/>
                </a:solidFill>
                <a:latin typeface="+mn-lt"/>
                <a:ea typeface="+mn-ea"/>
                <a:cs typeface="+mn-cs"/>
              </a:rPr>
              <a:t>()</a:t>
            </a:r>
            <a:r>
              <a:rPr lang="zh-TW" altLang="en-US" dirty="0"/>
              <a:t> 內部會把字串整理好後，呼叫更底層的 </a:t>
            </a:r>
            <a:r>
              <a:rPr lang="en-US" altLang="zh-TW" sz="1200" kern="1200" dirty="0">
                <a:solidFill>
                  <a:schemeClr val="tx1"/>
                </a:solidFill>
                <a:latin typeface="+mn-lt"/>
                <a:ea typeface="+mn-ea"/>
                <a:cs typeface="+mn-cs"/>
              </a:rPr>
              <a:t>write()</a:t>
            </a:r>
            <a:r>
              <a:rPr lang="zh-TW" altLang="en-US" dirty="0"/>
              <a:t>（仍在 </a:t>
            </a:r>
            <a:r>
              <a:rPr lang="en-US" altLang="zh-TW" dirty="0" err="1"/>
              <a:t>libc</a:t>
            </a:r>
            <a:r>
              <a:rPr lang="zh-TW" altLang="en-US" dirty="0"/>
              <a:t>）。</a:t>
            </a:r>
          </a:p>
          <a:p>
            <a:r>
              <a:rPr lang="en-US" altLang="zh-TW" dirty="0" err="1"/>
              <a:t>libc</a:t>
            </a:r>
            <a:r>
              <a:rPr lang="en-US" altLang="zh-TW" dirty="0"/>
              <a:t> </a:t>
            </a:r>
            <a:r>
              <a:rPr lang="zh-TW" altLang="en-US" dirty="0"/>
              <a:t>的 </a:t>
            </a:r>
            <a:r>
              <a:rPr lang="en-US" altLang="zh-TW" sz="1200" kern="1200" dirty="0">
                <a:solidFill>
                  <a:schemeClr val="tx1"/>
                </a:solidFill>
                <a:latin typeface="+mn-lt"/>
                <a:ea typeface="+mn-ea"/>
                <a:cs typeface="+mn-cs"/>
              </a:rPr>
              <a:t>write()</a:t>
            </a:r>
            <a:r>
              <a:rPr lang="zh-TW" altLang="en-US" dirty="0"/>
              <a:t> 會觸發</a:t>
            </a:r>
            <a:r>
              <a:rPr lang="zh-TW" altLang="en-US" b="1" dirty="0"/>
              <a:t>系統呼叫</a:t>
            </a:r>
            <a:r>
              <a:rPr lang="zh-TW" altLang="en-US" dirty="0"/>
              <a:t>「</a:t>
            </a:r>
            <a:r>
              <a:rPr lang="en-US" altLang="zh-TW" sz="1200" kern="1200" dirty="0">
                <a:solidFill>
                  <a:schemeClr val="tx1"/>
                </a:solidFill>
                <a:latin typeface="+mn-lt"/>
                <a:ea typeface="+mn-ea"/>
                <a:cs typeface="+mn-cs"/>
              </a:rPr>
              <a:t>write</a:t>
            </a:r>
            <a:r>
              <a:rPr lang="zh-TW" altLang="en-US" dirty="0"/>
              <a:t>」，</a:t>
            </a:r>
            <a:r>
              <a:rPr lang="zh-TW" altLang="en-US" b="1" dirty="0"/>
              <a:t>切到核心態</a:t>
            </a:r>
            <a:r>
              <a:rPr lang="zh-TW" altLang="en-US" dirty="0"/>
              <a:t>請 </a:t>
            </a:r>
            <a:r>
              <a:rPr lang="en-US" altLang="zh-TW" dirty="0"/>
              <a:t>OS </a:t>
            </a:r>
            <a:r>
              <a:rPr lang="zh-TW" altLang="en-US" dirty="0"/>
              <a:t>把資料寫到終端機</a:t>
            </a:r>
            <a:r>
              <a:rPr lang="en-US" altLang="zh-TW" dirty="0"/>
              <a:t>/</a:t>
            </a:r>
            <a:r>
              <a:rPr lang="zh-TW" altLang="en-US" dirty="0"/>
              <a:t>檔案。</a:t>
            </a:r>
          </a:p>
          <a:p>
            <a:r>
              <a:rPr lang="zh-TW" altLang="en-US" dirty="0"/>
              <a:t>核心完成後回到使用者程式。</a:t>
            </a:r>
          </a:p>
          <a:p>
            <a:r>
              <a:rPr lang="zh-TW" altLang="en-US" dirty="0"/>
              <a:t>重點：</a:t>
            </a:r>
            <a:r>
              <a:rPr lang="zh-TW" altLang="en-US" b="1" dirty="0"/>
              <a:t>你通常是呼叫 </a:t>
            </a:r>
            <a:r>
              <a:rPr lang="en-US" altLang="zh-TW" b="1" dirty="0" err="1"/>
              <a:t>libc</a:t>
            </a:r>
            <a:r>
              <a:rPr lang="en-US" altLang="zh-TW" b="1" dirty="0"/>
              <a:t> </a:t>
            </a:r>
            <a:r>
              <a:rPr lang="zh-TW" altLang="en-US" b="1" dirty="0"/>
              <a:t>的函式</a:t>
            </a:r>
            <a:r>
              <a:rPr lang="zh-TW" altLang="en-US" dirty="0"/>
              <a:t>，它幫你轉成真正的 </a:t>
            </a:r>
            <a:r>
              <a:rPr lang="en-US" altLang="zh-TW" b="1" dirty="0" err="1"/>
              <a:t>syscall</a:t>
            </a:r>
            <a:r>
              <a:rPr lang="zh-TW" altLang="en-US" dirty="0"/>
              <a:t>。</a:t>
            </a:r>
          </a:p>
          <a:p>
            <a:r>
              <a:rPr lang="zh-TW" altLang="en-US" b="1" dirty="0"/>
              <a:t>系統呼叫號碼 </a:t>
            </a:r>
            <a:r>
              <a:rPr lang="en-US" altLang="zh-TW" b="1" dirty="0"/>
              <a:t>&amp; </a:t>
            </a:r>
            <a:r>
              <a:rPr lang="en-US" altLang="zh-TW" b="1" dirty="0" err="1"/>
              <a:t>sys_call_table</a:t>
            </a:r>
            <a:endParaRPr lang="en-US" altLang="zh-TW" b="1" dirty="0"/>
          </a:p>
          <a:p>
            <a:r>
              <a:rPr lang="zh-TW" altLang="en-US" b="1" dirty="0"/>
              <a:t>每個 </a:t>
            </a:r>
            <a:r>
              <a:rPr lang="en-US" altLang="zh-TW" b="1" dirty="0" err="1"/>
              <a:t>syscall</a:t>
            </a:r>
            <a:r>
              <a:rPr lang="en-US" altLang="zh-TW" b="1" dirty="0"/>
              <a:t> </a:t>
            </a:r>
            <a:r>
              <a:rPr lang="zh-TW" altLang="en-US" b="1" dirty="0"/>
              <a:t>都有一個唯一的「號碼」</a:t>
            </a:r>
            <a:r>
              <a:rPr lang="zh-TW" altLang="en-US" dirty="0"/>
              <a:t>（</a:t>
            </a:r>
            <a:r>
              <a:rPr lang="en-US" altLang="zh-TW" dirty="0"/>
              <a:t>system call number</a:t>
            </a:r>
            <a:r>
              <a:rPr lang="zh-TW" altLang="en-US" dirty="0"/>
              <a:t>）。</a:t>
            </a:r>
          </a:p>
          <a:p>
            <a:r>
              <a:rPr lang="zh-TW" altLang="en-US" dirty="0"/>
              <a:t>核心裡有一張表 </a:t>
            </a:r>
            <a:r>
              <a:rPr lang="en-US" altLang="zh-TW" sz="1200" b="1" kern="1200" dirty="0" err="1">
                <a:solidFill>
                  <a:schemeClr val="tx1"/>
                </a:solidFill>
                <a:latin typeface="+mn-lt"/>
                <a:ea typeface="+mn-ea"/>
                <a:cs typeface="+mn-cs"/>
              </a:rPr>
              <a:t>sys_call_table</a:t>
            </a:r>
            <a:r>
              <a:rPr lang="zh-TW" altLang="en-US" dirty="0"/>
              <a:t>：把「號碼 → 對應的核心處理函式」對起來。</a:t>
            </a:r>
          </a:p>
          <a:p>
            <a:r>
              <a:rPr lang="zh-TW" altLang="en-US" dirty="0"/>
              <a:t>範例（</a:t>
            </a:r>
            <a:r>
              <a:rPr lang="en-US" altLang="zh-TW" dirty="0"/>
              <a:t>x86_64</a:t>
            </a:r>
            <a:r>
              <a:rPr lang="zh-TW" altLang="en-US" dirty="0"/>
              <a:t>）：</a:t>
            </a:r>
            <a:r>
              <a:rPr lang="en-US" altLang="zh-TW" sz="1200" kern="1200" dirty="0">
                <a:solidFill>
                  <a:schemeClr val="tx1"/>
                </a:solidFill>
                <a:latin typeface="+mn-lt"/>
                <a:ea typeface="+mn-ea"/>
                <a:cs typeface="+mn-cs"/>
              </a:rPr>
              <a:t>0=read</a:t>
            </a:r>
            <a:r>
              <a:rPr lang="zh-TW" altLang="en-US" dirty="0"/>
              <a:t>、</a:t>
            </a:r>
            <a:r>
              <a:rPr lang="en-US" altLang="zh-TW" sz="1200" kern="1200" dirty="0">
                <a:solidFill>
                  <a:schemeClr val="tx1"/>
                </a:solidFill>
                <a:latin typeface="+mn-lt"/>
                <a:ea typeface="+mn-ea"/>
                <a:cs typeface="+mn-cs"/>
              </a:rPr>
              <a:t>1=write</a:t>
            </a:r>
            <a:r>
              <a:rPr lang="en-US" altLang="zh-TW" dirty="0"/>
              <a:t>…</a:t>
            </a:r>
            <a:r>
              <a:rPr lang="zh-TW" altLang="en-US" dirty="0"/>
              <a:t>（不同架構</a:t>
            </a:r>
            <a:r>
              <a:rPr lang="en-US" altLang="zh-TW" dirty="0"/>
              <a:t>/</a:t>
            </a:r>
            <a:r>
              <a:rPr lang="zh-TW" altLang="en-US" dirty="0"/>
              <a:t>版本表可能不同，但</a:t>
            </a:r>
            <a:r>
              <a:rPr lang="zh-TW" altLang="en-US" b="1" dirty="0"/>
              <a:t>執行時不能隨便改</a:t>
            </a:r>
            <a:r>
              <a:rPr lang="zh-TW" altLang="en-US" dirty="0"/>
              <a:t>）。</a:t>
            </a:r>
          </a:p>
          <a:p>
            <a:r>
              <a:rPr lang="zh-TW" altLang="en-US" b="1" dirty="0"/>
              <a:t>為什麼要這樣設計？</a:t>
            </a:r>
          </a:p>
          <a:p>
            <a:r>
              <a:rPr lang="zh-TW" altLang="en-US" b="1" dirty="0"/>
              <a:t>安全</a:t>
            </a:r>
            <a:r>
              <a:rPr lang="zh-TW" altLang="en-US" dirty="0"/>
              <a:t>：一般程式不能直接動硬體或核心資料結構。</a:t>
            </a:r>
          </a:p>
          <a:p>
            <a:r>
              <a:rPr lang="zh-TW" altLang="en-US" b="1" dirty="0"/>
              <a:t>抽象</a:t>
            </a:r>
            <a:r>
              <a:rPr lang="zh-TW" altLang="en-US" dirty="0"/>
              <a:t>：提供穩定 </a:t>
            </a:r>
            <a:r>
              <a:rPr lang="en-US" altLang="zh-TW" dirty="0"/>
              <a:t>API</a:t>
            </a:r>
            <a:r>
              <a:rPr lang="zh-TW" altLang="en-US" dirty="0"/>
              <a:t>，底下怎麼實作可以換。</a:t>
            </a:r>
          </a:p>
          <a:p>
            <a:r>
              <a:rPr lang="zh-TW" altLang="en-US" b="1" dirty="0"/>
              <a:t>相容</a:t>
            </a:r>
            <a:r>
              <a:rPr lang="zh-TW" altLang="en-US" dirty="0"/>
              <a:t>：應用程式只要會用這套介面，在不同硬體</a:t>
            </a:r>
            <a:r>
              <a:rPr lang="en-US" altLang="zh-TW" dirty="0"/>
              <a:t>/</a:t>
            </a:r>
            <a:r>
              <a:rPr lang="zh-TW" altLang="en-US" dirty="0"/>
              <a:t>驅動下一樣能跑。</a:t>
            </a:r>
          </a:p>
          <a:p>
            <a:r>
              <a:rPr lang="zh-TW" altLang="en-US" b="1" dirty="0"/>
              <a:t>小總結</a:t>
            </a:r>
          </a:p>
          <a:p>
            <a:r>
              <a:rPr lang="en-US" altLang="zh-TW" b="1" dirty="0"/>
              <a:t>System call = </a:t>
            </a:r>
            <a:r>
              <a:rPr lang="zh-TW" altLang="en-US" b="1" dirty="0"/>
              <a:t>使用者程式與作業系統之間的「官方通道」</a:t>
            </a:r>
            <a:r>
              <a:rPr lang="zh-TW" altLang="en-US" dirty="0"/>
              <a:t>。你呼叫 </a:t>
            </a:r>
            <a:r>
              <a:rPr lang="en-US" altLang="zh-TW" sz="1200" kern="1200" dirty="0" err="1">
                <a:solidFill>
                  <a:schemeClr val="tx1"/>
                </a:solidFill>
                <a:latin typeface="+mn-lt"/>
                <a:ea typeface="+mn-ea"/>
                <a:cs typeface="+mn-cs"/>
              </a:rPr>
              <a:t>printf</a:t>
            </a:r>
            <a:r>
              <a:rPr lang="en-US" altLang="zh-TW" dirty="0"/>
              <a:t>/</a:t>
            </a:r>
            <a:r>
              <a:rPr lang="en-US" altLang="zh-TW" sz="1200" kern="1200" dirty="0">
                <a:solidFill>
                  <a:schemeClr val="tx1"/>
                </a:solidFill>
                <a:latin typeface="+mn-lt"/>
                <a:ea typeface="+mn-ea"/>
                <a:cs typeface="+mn-cs"/>
              </a:rPr>
              <a:t>open</a:t>
            </a:r>
            <a:r>
              <a:rPr lang="zh-TW" altLang="en-US" dirty="0"/>
              <a:t> 之類的 </a:t>
            </a:r>
            <a:r>
              <a:rPr lang="en-US" altLang="zh-TW" dirty="0" err="1"/>
              <a:t>libc</a:t>
            </a:r>
            <a:r>
              <a:rPr lang="en-US" altLang="zh-TW" dirty="0"/>
              <a:t> </a:t>
            </a:r>
            <a:r>
              <a:rPr lang="zh-TW" altLang="en-US" dirty="0"/>
              <a:t>函式，</a:t>
            </a:r>
            <a:r>
              <a:rPr lang="en-US" altLang="zh-TW" dirty="0" err="1"/>
              <a:t>libc</a:t>
            </a:r>
            <a:r>
              <a:rPr lang="en-US" altLang="zh-TW" dirty="0"/>
              <a:t> </a:t>
            </a:r>
            <a:r>
              <a:rPr lang="zh-TW" altLang="en-US" dirty="0"/>
              <a:t>會代你發出對應的 </a:t>
            </a:r>
            <a:r>
              <a:rPr lang="en-US" altLang="zh-TW" b="1" dirty="0" err="1"/>
              <a:t>syscall</a:t>
            </a:r>
            <a:r>
              <a:rPr lang="zh-TW" altLang="en-US" b="1" dirty="0"/>
              <a:t>（由號碼索引 </a:t>
            </a:r>
            <a:r>
              <a:rPr lang="en-US" altLang="zh-TW" sz="1200" b="1" kern="1200" dirty="0" err="1">
                <a:solidFill>
                  <a:schemeClr val="tx1"/>
                </a:solidFill>
                <a:latin typeface="+mn-lt"/>
                <a:ea typeface="+mn-ea"/>
                <a:cs typeface="+mn-cs"/>
              </a:rPr>
              <a:t>sys_call_table</a:t>
            </a:r>
            <a:r>
              <a:rPr lang="zh-TW" altLang="en-US" b="1" dirty="0"/>
              <a:t> 的核心函式）</a:t>
            </a:r>
            <a:r>
              <a:rPr lang="zh-TW" altLang="en-US" dirty="0"/>
              <a:t>，核心完成工作後再回來。</a:t>
            </a:r>
          </a:p>
          <a:p>
            <a:r>
              <a:rPr lang="en-US" altLang="zh-TW" sz="1200" kern="1200" dirty="0">
                <a:solidFill>
                  <a:schemeClr val="tx1"/>
                </a:solidFill>
                <a:effectLst/>
                <a:latin typeface="+mn-lt"/>
                <a:ea typeface="+mn-ea"/>
                <a:cs typeface="+mn-cs"/>
              </a:rPr>
              <a:t> </a:t>
            </a:r>
            <a:endParaRPr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25</a:t>
            </a:fld>
            <a:endParaRPr lang="zh-TW" altLang="en-US"/>
          </a:p>
        </p:txBody>
      </p:sp>
    </p:spTree>
    <p:extLst>
      <p:ext uri="{BB962C8B-B14F-4D97-AF65-F5344CB8AC3E}">
        <p14:creationId xmlns:p14="http://schemas.microsoft.com/office/powerpoint/2010/main" val="20509420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kern="1200" dirty="0">
                <a:solidFill>
                  <a:schemeClr val="tx1"/>
                </a:solidFill>
                <a:effectLst/>
                <a:latin typeface="+mn-lt"/>
                <a:ea typeface="+mn-ea"/>
                <a:cs typeface="+mn-cs"/>
              </a:rPr>
              <a:t>It is not possible for user-space applications to execute kernel code directly </a:t>
            </a:r>
          </a:p>
          <a:p>
            <a:endParaRPr lang="en-US" altLang="zh-TW"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a:solidFill>
                  <a:schemeClr val="tx1"/>
                </a:solidFill>
                <a:effectLst/>
                <a:latin typeface="+mn-lt"/>
                <a:ea typeface="+mn-ea"/>
                <a:cs typeface="+mn-cs"/>
              </a:rPr>
              <a:t>Before causing the trap into the kernel, user-space sticks in </a:t>
            </a:r>
            <a:r>
              <a:rPr lang="en-US" altLang="zh-TW" sz="1200" kern="1200" dirty="0" err="1">
                <a:solidFill>
                  <a:schemeClr val="tx1"/>
                </a:solidFill>
                <a:effectLst/>
                <a:latin typeface="+mn-lt"/>
                <a:ea typeface="+mn-ea"/>
                <a:cs typeface="+mn-cs"/>
              </a:rPr>
              <a:t>eax</a:t>
            </a:r>
            <a:r>
              <a:rPr lang="en-US" altLang="zh-TW" sz="1200" kern="1200" dirty="0">
                <a:solidFill>
                  <a:schemeClr val="tx1"/>
                </a:solidFill>
                <a:effectLst/>
                <a:latin typeface="+mn-lt"/>
                <a:ea typeface="+mn-ea"/>
                <a:cs typeface="+mn-cs"/>
              </a:rPr>
              <a:t> the number corresponding to the desired system call.</a:t>
            </a:r>
          </a:p>
          <a:p>
            <a:r>
              <a:rPr lang="en-US" altLang="zh-TW" sz="1200" kern="1200" dirty="0">
                <a:solidFill>
                  <a:schemeClr val="tx1"/>
                </a:solidFill>
                <a:effectLst/>
                <a:latin typeface="+mn-lt"/>
                <a:ea typeface="+mn-ea"/>
                <a:cs typeface="+mn-cs"/>
              </a:rPr>
              <a:t>The system call handler then reads the value from </a:t>
            </a:r>
            <a:r>
              <a:rPr lang="en-US" altLang="zh-TW" sz="1200" kern="1200" dirty="0" err="1">
                <a:solidFill>
                  <a:schemeClr val="tx1"/>
                </a:solidFill>
                <a:effectLst/>
                <a:latin typeface="+mn-lt"/>
                <a:ea typeface="+mn-ea"/>
                <a:cs typeface="+mn-cs"/>
              </a:rPr>
              <a:t>eax</a:t>
            </a:r>
            <a:r>
              <a:rPr lang="en-US" altLang="zh-TW" sz="1200" kern="1200" dirty="0">
                <a:solidFill>
                  <a:schemeClr val="tx1"/>
                </a:solidFill>
                <a:effectLst/>
                <a:latin typeface="+mn-lt"/>
                <a:ea typeface="+mn-ea"/>
                <a:cs typeface="+mn-cs"/>
              </a:rPr>
              <a:t>. Other architectures do something similar. </a:t>
            </a:r>
            <a:br>
              <a:rPr lang="en-US" altLang="zh-TW" sz="1200" kern="1200" dirty="0">
                <a:solidFill>
                  <a:schemeClr val="tx1"/>
                </a:solidFill>
                <a:effectLst/>
                <a:latin typeface="+mn-lt"/>
                <a:ea typeface="+mn-ea"/>
                <a:cs typeface="+mn-cs"/>
              </a:rPr>
            </a:br>
            <a:br>
              <a:rPr lang="en-US" altLang="zh-TW" sz="1200" kern="1200" dirty="0">
                <a:solidFill>
                  <a:schemeClr val="tx1"/>
                </a:solidFill>
                <a:effectLst/>
                <a:latin typeface="+mn-lt"/>
                <a:ea typeface="+mn-ea"/>
                <a:cs typeface="+mn-cs"/>
              </a:rPr>
            </a:br>
            <a:r>
              <a:rPr lang="en-US" altLang="zh-TW" b="1" dirty="0"/>
              <a:t>System Call Handler</a:t>
            </a:r>
          </a:p>
          <a:p>
            <a:r>
              <a:rPr lang="zh-TW" altLang="en-US" b="1" dirty="0"/>
              <a:t>逐字翻譯（含關鍵字標註）</a:t>
            </a:r>
          </a:p>
          <a:p>
            <a:r>
              <a:rPr lang="en-US" altLang="zh-TW" b="1" dirty="0"/>
              <a:t>How to run system call:</a:t>
            </a:r>
            <a:br>
              <a:rPr lang="en-US" altLang="zh-TW" dirty="0"/>
            </a:br>
            <a:r>
              <a:rPr lang="zh-TW" altLang="en-US" b="1" dirty="0"/>
              <a:t>如何執行系統呼叫：</a:t>
            </a:r>
            <a:endParaRPr lang="zh-TW" altLang="en-US" dirty="0"/>
          </a:p>
          <a:p>
            <a:pPr lvl="1"/>
            <a:r>
              <a:rPr lang="en-US" altLang="zh-TW" b="1" dirty="0"/>
              <a:t>User-space applications must somehow signal to the kernel → system call handler</a:t>
            </a:r>
            <a:br>
              <a:rPr lang="en-US" altLang="zh-TW" dirty="0"/>
            </a:br>
            <a:r>
              <a:rPr lang="zh-TW" altLang="en-US" dirty="0"/>
              <a:t>使用者空間的程式必須以某種方式</a:t>
            </a:r>
            <a:r>
              <a:rPr lang="zh-TW" altLang="en-US" b="1" dirty="0"/>
              <a:t>發出訊號（</a:t>
            </a:r>
            <a:r>
              <a:rPr lang="en-US" altLang="zh-TW" b="1" dirty="0"/>
              <a:t>signal/</a:t>
            </a:r>
            <a:r>
              <a:rPr lang="zh-TW" altLang="en-US" b="1" dirty="0"/>
              <a:t>觸發）給核心 → 交由系統呼叫處理器</a:t>
            </a:r>
            <a:r>
              <a:rPr lang="zh-TW" altLang="en-US" dirty="0"/>
              <a:t>。</a:t>
            </a:r>
          </a:p>
          <a:p>
            <a:pPr lvl="1"/>
            <a:r>
              <a:rPr lang="en-US" altLang="zh-TW" b="1" dirty="0"/>
              <a:t>The CPU switches from user mode to kernel mode (Not Context Switch!!)</a:t>
            </a:r>
            <a:br>
              <a:rPr lang="en-US" altLang="zh-TW" dirty="0"/>
            </a:br>
            <a:r>
              <a:rPr lang="en-US" altLang="zh-TW" dirty="0"/>
              <a:t>CPU </a:t>
            </a:r>
            <a:r>
              <a:rPr lang="zh-TW" altLang="en-US" dirty="0"/>
              <a:t>會從</a:t>
            </a:r>
            <a:r>
              <a:rPr lang="zh-TW" altLang="en-US" b="1" dirty="0"/>
              <a:t>使用者模式</a:t>
            </a:r>
            <a:r>
              <a:rPr lang="zh-TW" altLang="en-US" dirty="0"/>
              <a:t>切到</a:t>
            </a:r>
            <a:r>
              <a:rPr lang="zh-TW" altLang="en-US" b="1" dirty="0"/>
              <a:t>核心模式</a:t>
            </a:r>
            <a:r>
              <a:rPr lang="zh-TW" altLang="en-US" dirty="0"/>
              <a:t>（</a:t>
            </a:r>
            <a:r>
              <a:rPr lang="zh-TW" altLang="en-US" b="1" dirty="0"/>
              <a:t>這不是</a:t>
            </a:r>
            <a:r>
              <a:rPr lang="zh-TW" altLang="en-US" dirty="0"/>
              <a:t>行程</a:t>
            </a:r>
            <a:r>
              <a:rPr lang="en-US" altLang="zh-TW" dirty="0"/>
              <a:t>/</a:t>
            </a:r>
            <a:r>
              <a:rPr lang="zh-TW" altLang="en-US" dirty="0"/>
              <a:t>執行緒的</a:t>
            </a:r>
            <a:r>
              <a:rPr lang="zh-TW" altLang="en-US" b="1" dirty="0"/>
              <a:t>情境切換 </a:t>
            </a:r>
            <a:r>
              <a:rPr lang="en-US" altLang="zh-TW" b="1" dirty="0"/>
              <a:t>Context Switch</a:t>
            </a:r>
            <a:r>
              <a:rPr lang="zh-TW" altLang="en-US" dirty="0"/>
              <a:t>！！）。</a:t>
            </a:r>
          </a:p>
          <a:p>
            <a:pPr lvl="1"/>
            <a:r>
              <a:rPr lang="en-US" altLang="zh-TW" b="1" dirty="0"/>
              <a:t>Execute code corresponding to the system call</a:t>
            </a:r>
            <a:br>
              <a:rPr lang="en-US" altLang="zh-TW" dirty="0"/>
            </a:br>
            <a:r>
              <a:rPr lang="zh-TW" altLang="en-US" dirty="0"/>
              <a:t>執行</a:t>
            </a:r>
            <a:r>
              <a:rPr lang="zh-TW" altLang="en-US" b="1" dirty="0"/>
              <a:t>對應該系統呼叫</a:t>
            </a:r>
            <a:r>
              <a:rPr lang="zh-TW" altLang="en-US" dirty="0"/>
              <a:t>的核心程式碼。</a:t>
            </a:r>
          </a:p>
          <a:p>
            <a:r>
              <a:rPr lang="en-US" altLang="zh-TW" b="1" dirty="0"/>
              <a:t>Details for System call handler</a:t>
            </a:r>
            <a:br>
              <a:rPr lang="en-US" altLang="zh-TW" dirty="0"/>
            </a:br>
            <a:r>
              <a:rPr lang="zh-TW" altLang="en-US" b="1" dirty="0"/>
              <a:t>系統呼叫處理器的細節</a:t>
            </a:r>
            <a:endParaRPr lang="zh-TW" altLang="en-US" dirty="0"/>
          </a:p>
          <a:p>
            <a:pPr lvl="1"/>
            <a:r>
              <a:rPr lang="en-US" altLang="zh-TW" b="1" dirty="0"/>
              <a:t>How to signal → Software interrupt (i.e., an exception)</a:t>
            </a:r>
            <a:br>
              <a:rPr lang="en-US" altLang="zh-TW" dirty="0"/>
            </a:br>
            <a:r>
              <a:rPr lang="zh-TW" altLang="en-US" dirty="0"/>
              <a:t>如何「發訊號」→ </a:t>
            </a:r>
            <a:r>
              <a:rPr lang="zh-TW" altLang="en-US" b="1" dirty="0"/>
              <a:t>軟體中斷</a:t>
            </a:r>
            <a:r>
              <a:rPr lang="zh-TW" altLang="en-US" dirty="0"/>
              <a:t>（也就是一種</a:t>
            </a:r>
            <a:r>
              <a:rPr lang="zh-TW" altLang="en-US" b="1" dirty="0"/>
              <a:t>例外</a:t>
            </a:r>
            <a:r>
              <a:rPr lang="zh-TW" altLang="en-US" dirty="0"/>
              <a:t>）。</a:t>
            </a:r>
          </a:p>
          <a:p>
            <a:pPr lvl="1"/>
            <a:r>
              <a:rPr lang="en-US" altLang="zh-TW" b="1" dirty="0"/>
              <a:t>Run INT $0x80 → Interrupt Instruction, number 128 (runs the system call handler)</a:t>
            </a:r>
            <a:br>
              <a:rPr lang="en-US" altLang="zh-TW" dirty="0"/>
            </a:br>
            <a:r>
              <a:rPr lang="zh-TW" altLang="en-US" dirty="0"/>
              <a:t>執行 </a:t>
            </a:r>
            <a:r>
              <a:rPr lang="en-US" altLang="zh-TW" sz="1200" kern="1200" dirty="0">
                <a:solidFill>
                  <a:schemeClr val="tx1"/>
                </a:solidFill>
                <a:latin typeface="+mn-lt"/>
                <a:ea typeface="+mn-ea"/>
                <a:cs typeface="+mn-cs"/>
              </a:rPr>
              <a:t>INT $0x80</a:t>
            </a:r>
            <a:r>
              <a:rPr lang="en-US" altLang="zh-TW" dirty="0"/>
              <a:t> → </a:t>
            </a:r>
            <a:r>
              <a:rPr lang="zh-TW" altLang="en-US" b="1" dirty="0"/>
              <a:t>中斷指令</a:t>
            </a:r>
            <a:r>
              <a:rPr lang="zh-TW" altLang="en-US" dirty="0"/>
              <a:t>，向量號 </a:t>
            </a:r>
            <a:r>
              <a:rPr lang="en-US" altLang="zh-TW" b="1" dirty="0"/>
              <a:t>128</a:t>
            </a:r>
            <a:r>
              <a:rPr lang="zh-TW" altLang="en-US" dirty="0"/>
              <a:t>（會進入系統呼叫處理器）。</a:t>
            </a:r>
          </a:p>
          <a:p>
            <a:r>
              <a:rPr lang="zh-TW" altLang="en-US" dirty="0"/>
              <a:t>圖（自左到右）的流程字樣：</a:t>
            </a:r>
          </a:p>
          <a:p>
            <a:pPr lvl="1"/>
            <a:r>
              <a:rPr lang="en-US" altLang="zh-TW" sz="1200" kern="1200" dirty="0" err="1">
                <a:solidFill>
                  <a:schemeClr val="tx1"/>
                </a:solidFill>
                <a:latin typeface="+mn-lt"/>
                <a:ea typeface="+mn-ea"/>
                <a:cs typeface="+mn-cs"/>
              </a:rPr>
              <a:t>eax</a:t>
            </a:r>
            <a:r>
              <a:rPr lang="en-US" altLang="zh-TW" sz="1200" kern="1200" dirty="0">
                <a:solidFill>
                  <a:schemeClr val="tx1"/>
                </a:solidFill>
                <a:latin typeface="+mn-lt"/>
                <a:ea typeface="+mn-ea"/>
                <a:cs typeface="+mn-cs"/>
              </a:rPr>
              <a:t> ← </a:t>
            </a:r>
            <a:r>
              <a:rPr lang="en-US" altLang="zh-TW" sz="1200" kern="1200" dirty="0" err="1">
                <a:solidFill>
                  <a:schemeClr val="tx1"/>
                </a:solidFill>
                <a:latin typeface="+mn-lt"/>
                <a:ea typeface="+mn-ea"/>
                <a:cs typeface="+mn-cs"/>
              </a:rPr>
              <a:t>Sys_Call_Num</a:t>
            </a:r>
            <a:r>
              <a:rPr lang="zh-TW" altLang="en-US" dirty="0"/>
              <a:t>：把</a:t>
            </a:r>
            <a:r>
              <a:rPr lang="zh-TW" altLang="en-US" b="1" dirty="0"/>
              <a:t>系統呼叫號碼</a:t>
            </a:r>
            <a:r>
              <a:rPr lang="zh-TW" altLang="en-US" dirty="0"/>
              <a:t>放在 </a:t>
            </a:r>
            <a:r>
              <a:rPr lang="en-US" altLang="zh-TW" b="1" dirty="0"/>
              <a:t>EAX</a:t>
            </a:r>
            <a:r>
              <a:rPr lang="en-US" altLang="zh-TW" dirty="0"/>
              <a:t> </a:t>
            </a:r>
            <a:r>
              <a:rPr lang="zh-TW" altLang="en-US" dirty="0"/>
              <a:t>暫存器</a:t>
            </a:r>
          </a:p>
          <a:p>
            <a:pPr lvl="1"/>
            <a:r>
              <a:rPr lang="en-US" altLang="zh-TW" b="1" dirty="0" err="1"/>
              <a:t>Sys_Call_Table</a:t>
            </a:r>
            <a:r>
              <a:rPr lang="en-US" altLang="zh-TW" b="1" dirty="0"/>
              <a:t>[ </a:t>
            </a:r>
            <a:r>
              <a:rPr lang="en-US" altLang="zh-TW" b="1" dirty="0" err="1"/>
              <a:t>Sys_Call_Num</a:t>
            </a:r>
            <a:r>
              <a:rPr lang="en-US" altLang="zh-TW" b="1" dirty="0"/>
              <a:t> ]</a:t>
            </a:r>
            <a:r>
              <a:rPr lang="zh-TW" altLang="en-US" dirty="0"/>
              <a:t>：用</a:t>
            </a:r>
            <a:r>
              <a:rPr lang="zh-TW" altLang="en-US" b="1" dirty="0"/>
              <a:t>系統呼叫表</a:t>
            </a:r>
            <a:r>
              <a:rPr lang="zh-TW" altLang="en-US" dirty="0"/>
              <a:t>依號碼找到對應函式</a:t>
            </a:r>
          </a:p>
          <a:p>
            <a:pPr lvl="1"/>
            <a:r>
              <a:rPr lang="en-US" altLang="zh-TW" b="1" dirty="0"/>
              <a:t>Run System Call</a:t>
            </a:r>
            <a:r>
              <a:rPr lang="zh-TW" altLang="en-US" dirty="0"/>
              <a:t>：</a:t>
            </a:r>
            <a:r>
              <a:rPr lang="zh-TW" altLang="en-US" b="1" dirty="0"/>
              <a:t>執行</a:t>
            </a:r>
            <a:r>
              <a:rPr lang="zh-TW" altLang="en-US" dirty="0"/>
              <a:t>該系統呼叫</a:t>
            </a:r>
          </a:p>
          <a:p>
            <a:br>
              <a:rPr lang="zh-TW" altLang="en-US" dirty="0"/>
            </a:br>
            <a:endParaRPr lang="zh-TW" altLang="en-US" dirty="0"/>
          </a:p>
          <a:p>
            <a:r>
              <a:rPr lang="zh-TW" altLang="en-US" b="1" dirty="0"/>
              <a:t>解說（發生了什麼事）</a:t>
            </a:r>
          </a:p>
          <a:p>
            <a:r>
              <a:rPr lang="zh-TW" altLang="en-US" b="1" dirty="0"/>
              <a:t>使用者程式準備號碼與參數</a:t>
            </a:r>
            <a:r>
              <a:rPr lang="zh-TW" altLang="en-US" dirty="0"/>
              <a:t>：在 </a:t>
            </a:r>
            <a:r>
              <a:rPr lang="en-US" altLang="zh-TW" dirty="0"/>
              <a:t>x86 </a:t>
            </a:r>
            <a:r>
              <a:rPr lang="zh-TW" altLang="en-US" dirty="0"/>
              <a:t>的舊式介面中，會把</a:t>
            </a:r>
            <a:r>
              <a:rPr lang="zh-TW" altLang="en-US" b="1" dirty="0"/>
              <a:t>系統呼叫號碼</a:t>
            </a:r>
            <a:r>
              <a:rPr lang="zh-TW" altLang="en-US" dirty="0"/>
              <a:t>放到 </a:t>
            </a:r>
            <a:r>
              <a:rPr lang="en-US" altLang="zh-TW" sz="1200" kern="1200" dirty="0">
                <a:solidFill>
                  <a:schemeClr val="tx1"/>
                </a:solidFill>
                <a:latin typeface="+mn-lt"/>
                <a:ea typeface="+mn-ea"/>
                <a:cs typeface="+mn-cs"/>
              </a:rPr>
              <a:t>EAX</a:t>
            </a:r>
            <a:r>
              <a:rPr lang="zh-TW" altLang="en-US" dirty="0"/>
              <a:t>，參數放到其他暫存器</a:t>
            </a:r>
            <a:r>
              <a:rPr lang="en-US" altLang="zh-TW" dirty="0"/>
              <a:t>/</a:t>
            </a:r>
            <a:r>
              <a:rPr lang="zh-TW" altLang="en-US" dirty="0"/>
              <a:t>堆疊。</a:t>
            </a:r>
          </a:p>
          <a:p>
            <a:r>
              <a:rPr lang="zh-TW" altLang="en-US" b="1" dirty="0"/>
              <a:t>發出陷入（</a:t>
            </a:r>
            <a:r>
              <a:rPr lang="en-US" altLang="zh-TW" b="1" dirty="0"/>
              <a:t>trap</a:t>
            </a:r>
            <a:r>
              <a:rPr lang="zh-TW" altLang="en-US" b="1" dirty="0"/>
              <a:t>）</a:t>
            </a:r>
            <a:r>
              <a:rPr lang="zh-TW" altLang="en-US" dirty="0"/>
              <a:t>：執行 </a:t>
            </a:r>
            <a:r>
              <a:rPr lang="en-US" altLang="zh-TW" sz="1200" kern="1200" dirty="0">
                <a:solidFill>
                  <a:schemeClr val="tx1"/>
                </a:solidFill>
                <a:latin typeface="+mn-lt"/>
                <a:ea typeface="+mn-ea"/>
                <a:cs typeface="+mn-cs"/>
              </a:rPr>
              <a:t>INT 0x80</a:t>
            </a:r>
            <a:r>
              <a:rPr lang="zh-TW" altLang="en-US" dirty="0"/>
              <a:t>（軟體中斷 </a:t>
            </a:r>
            <a:r>
              <a:rPr lang="en-US" altLang="zh-TW" dirty="0"/>
              <a:t>128</a:t>
            </a:r>
            <a:r>
              <a:rPr lang="zh-TW" altLang="en-US" dirty="0"/>
              <a:t>）。</a:t>
            </a:r>
          </a:p>
          <a:p>
            <a:r>
              <a:rPr lang="en-US" altLang="zh-TW" b="1" dirty="0"/>
              <a:t>CPU </a:t>
            </a:r>
            <a:r>
              <a:rPr lang="zh-TW" altLang="en-US" b="1" dirty="0"/>
              <a:t>自動轉態</a:t>
            </a:r>
            <a:r>
              <a:rPr lang="zh-TW" altLang="en-US" dirty="0"/>
              <a:t>：</a:t>
            </a:r>
            <a:r>
              <a:rPr lang="en-US" altLang="zh-TW" dirty="0"/>
              <a:t>CPU </a:t>
            </a:r>
            <a:r>
              <a:rPr lang="zh-TW" altLang="en-US" dirty="0"/>
              <a:t>依 </a:t>
            </a:r>
            <a:r>
              <a:rPr lang="en-US" altLang="zh-TW" dirty="0"/>
              <a:t>IDT </a:t>
            </a:r>
            <a:r>
              <a:rPr lang="zh-TW" altLang="en-US" dirty="0"/>
              <a:t>進入中斷門，</a:t>
            </a:r>
            <a:r>
              <a:rPr lang="zh-TW" altLang="en-US" b="1" dirty="0"/>
              <a:t>切到核心模式</a:t>
            </a:r>
            <a:r>
              <a:rPr lang="zh-TW" altLang="en-US" dirty="0"/>
              <a:t>、儲存現場。</a:t>
            </a:r>
            <a:r>
              <a:rPr lang="zh-TW" altLang="en-US" b="1" dirty="0"/>
              <a:t>這不是切到別的行程</a:t>
            </a:r>
            <a:r>
              <a:rPr lang="zh-TW" altLang="en-US" dirty="0"/>
              <a:t>，只是同一個執行緒進核心。</a:t>
            </a:r>
          </a:p>
          <a:p>
            <a:r>
              <a:rPr lang="zh-TW" altLang="en-US" b="1" dirty="0"/>
              <a:t>通用入口與分派</a:t>
            </a:r>
            <a:r>
              <a:rPr lang="zh-TW" altLang="en-US" dirty="0"/>
              <a:t>：進到</a:t>
            </a:r>
            <a:r>
              <a:rPr lang="zh-TW" altLang="en-US" b="1" dirty="0"/>
              <a:t>系統呼叫共用入口</a:t>
            </a:r>
            <a:r>
              <a:rPr lang="zh-TW" altLang="en-US" dirty="0"/>
              <a:t>，從 </a:t>
            </a:r>
            <a:r>
              <a:rPr lang="en-US" altLang="zh-TW" sz="1200" kern="1200" dirty="0">
                <a:solidFill>
                  <a:schemeClr val="tx1"/>
                </a:solidFill>
                <a:latin typeface="+mn-lt"/>
                <a:ea typeface="+mn-ea"/>
                <a:cs typeface="+mn-cs"/>
              </a:rPr>
              <a:t>EAX</a:t>
            </a:r>
            <a:r>
              <a:rPr lang="en-US" altLang="zh-TW" dirty="0"/>
              <a:t> </a:t>
            </a:r>
            <a:r>
              <a:rPr lang="zh-TW" altLang="en-US" dirty="0"/>
              <a:t>取號碼，到 </a:t>
            </a:r>
            <a:r>
              <a:rPr lang="en-US" altLang="zh-TW" b="1" dirty="0" err="1"/>
              <a:t>sys_call_table</a:t>
            </a:r>
            <a:r>
              <a:rPr lang="en-US" altLang="zh-TW" dirty="0"/>
              <a:t> </a:t>
            </a:r>
            <a:r>
              <a:rPr lang="zh-TW" altLang="en-US" dirty="0"/>
              <a:t>找到對應的核心函式。</a:t>
            </a:r>
          </a:p>
          <a:p>
            <a:r>
              <a:rPr lang="zh-TW" altLang="en-US" b="1" dirty="0"/>
              <a:t>執行與回傳</a:t>
            </a:r>
            <a:r>
              <a:rPr lang="zh-TW" altLang="en-US" dirty="0"/>
              <a:t>：核心函式做事（檔案、行程、記憶體</a:t>
            </a:r>
            <a:r>
              <a:rPr lang="en-US" altLang="zh-TW" dirty="0"/>
              <a:t>…</a:t>
            </a:r>
            <a:r>
              <a:rPr lang="zh-TW" altLang="en-US" dirty="0"/>
              <a:t>），回傳值放回 </a:t>
            </a:r>
            <a:r>
              <a:rPr lang="en-US" altLang="zh-TW" sz="1200" kern="1200" dirty="0">
                <a:solidFill>
                  <a:schemeClr val="tx1"/>
                </a:solidFill>
                <a:latin typeface="+mn-lt"/>
                <a:ea typeface="+mn-ea"/>
                <a:cs typeface="+mn-cs"/>
              </a:rPr>
              <a:t>EAX</a:t>
            </a:r>
            <a:r>
              <a:rPr lang="zh-TW" altLang="en-US" dirty="0"/>
              <a:t>，再以 </a:t>
            </a:r>
            <a:r>
              <a:rPr lang="en-US" altLang="zh-TW" sz="1200" kern="1200" dirty="0" err="1">
                <a:solidFill>
                  <a:schemeClr val="tx1"/>
                </a:solidFill>
                <a:latin typeface="+mn-lt"/>
                <a:ea typeface="+mn-ea"/>
                <a:cs typeface="+mn-cs"/>
              </a:rPr>
              <a:t>iret</a:t>
            </a:r>
            <a:r>
              <a:rPr lang="zh-TW" altLang="en-US" dirty="0"/>
              <a:t>（或等效機制）</a:t>
            </a:r>
            <a:r>
              <a:rPr lang="zh-TW" altLang="en-US" b="1" dirty="0"/>
              <a:t>返回使用者模式</a:t>
            </a:r>
            <a:r>
              <a:rPr lang="zh-TW" altLang="en-US" dirty="0"/>
              <a:t>。</a:t>
            </a:r>
          </a:p>
          <a:p>
            <a:r>
              <a:rPr lang="zh-TW" altLang="en-US" b="1" dirty="0"/>
              <a:t>架構差異補充</a:t>
            </a:r>
            <a:r>
              <a:rPr lang="zh-TW" altLang="en-US" dirty="0"/>
              <a:t>：</a:t>
            </a:r>
            <a:r>
              <a:rPr lang="en-US" altLang="zh-TW" sz="1200" kern="1200" dirty="0">
                <a:solidFill>
                  <a:schemeClr val="tx1"/>
                </a:solidFill>
                <a:latin typeface="+mn-lt"/>
                <a:ea typeface="+mn-ea"/>
                <a:cs typeface="+mn-cs"/>
              </a:rPr>
              <a:t>INT 0x80</a:t>
            </a:r>
            <a:r>
              <a:rPr lang="en-US" altLang="zh-TW" dirty="0"/>
              <a:t> </a:t>
            </a:r>
            <a:r>
              <a:rPr lang="zh-TW" altLang="en-US" dirty="0"/>
              <a:t>是 </a:t>
            </a:r>
            <a:r>
              <a:rPr lang="en-US" altLang="zh-TW" b="1" dirty="0"/>
              <a:t>x86 </a:t>
            </a:r>
            <a:r>
              <a:rPr lang="zh-TW" altLang="en-US" b="1" dirty="0"/>
              <a:t>早期</a:t>
            </a:r>
            <a:r>
              <a:rPr lang="zh-TW" altLang="en-US" dirty="0"/>
              <a:t>作法；新式 </a:t>
            </a:r>
            <a:r>
              <a:rPr lang="en-US" altLang="zh-TW" dirty="0"/>
              <a:t>x86 </a:t>
            </a:r>
            <a:r>
              <a:rPr lang="zh-TW" altLang="en-US" dirty="0"/>
              <a:t>用 </a:t>
            </a:r>
            <a:r>
              <a:rPr lang="en-US" altLang="zh-TW" sz="1200" kern="1200" dirty="0" err="1">
                <a:solidFill>
                  <a:schemeClr val="tx1"/>
                </a:solidFill>
                <a:latin typeface="+mn-lt"/>
                <a:ea typeface="+mn-ea"/>
                <a:cs typeface="+mn-cs"/>
              </a:rPr>
              <a:t>sysenter</a:t>
            </a:r>
            <a:r>
              <a:rPr lang="en-US" altLang="zh-TW" sz="1200" kern="1200" dirty="0">
                <a:solidFill>
                  <a:schemeClr val="tx1"/>
                </a:solidFill>
                <a:latin typeface="+mn-lt"/>
                <a:ea typeface="+mn-ea"/>
                <a:cs typeface="+mn-cs"/>
              </a:rPr>
              <a:t>/</a:t>
            </a:r>
            <a:r>
              <a:rPr lang="en-US" altLang="zh-TW" sz="1200" kern="1200" dirty="0" err="1">
                <a:solidFill>
                  <a:schemeClr val="tx1"/>
                </a:solidFill>
                <a:latin typeface="+mn-lt"/>
                <a:ea typeface="+mn-ea"/>
                <a:cs typeface="+mn-cs"/>
              </a:rPr>
              <a:t>syscall</a:t>
            </a:r>
            <a:r>
              <a:rPr lang="zh-TW" altLang="en-US" dirty="0"/>
              <a:t>，</a:t>
            </a:r>
            <a:r>
              <a:rPr lang="en-US" altLang="zh-TW" b="1" dirty="0"/>
              <a:t>RISC-V</a:t>
            </a:r>
            <a:r>
              <a:rPr lang="en-US" altLang="zh-TW" dirty="0"/>
              <a:t> </a:t>
            </a:r>
            <a:r>
              <a:rPr lang="zh-TW" altLang="en-US" dirty="0"/>
              <a:t>用 </a:t>
            </a:r>
            <a:r>
              <a:rPr lang="en-US" altLang="zh-TW" sz="1200" kern="1200" dirty="0" err="1">
                <a:solidFill>
                  <a:schemeClr val="tx1"/>
                </a:solidFill>
                <a:latin typeface="+mn-lt"/>
                <a:ea typeface="+mn-ea"/>
                <a:cs typeface="+mn-cs"/>
              </a:rPr>
              <a:t>ecall</a:t>
            </a:r>
            <a:r>
              <a:rPr lang="zh-TW" altLang="en-US" dirty="0"/>
              <a:t>，但</a:t>
            </a:r>
            <a:r>
              <a:rPr lang="zh-TW" altLang="en-US" b="1" dirty="0"/>
              <a:t>概念一致</a:t>
            </a:r>
            <a:r>
              <a:rPr lang="zh-TW" altLang="en-US" dirty="0"/>
              <a:t>：使用者→陷入核心→分派→返回。</a:t>
            </a:r>
          </a:p>
          <a:p>
            <a:br>
              <a:rPr lang="zh-TW" altLang="en-US" dirty="0"/>
            </a:br>
            <a:endParaRPr lang="zh-TW" altLang="en-US" dirty="0"/>
          </a:p>
          <a:p>
            <a:r>
              <a:rPr lang="zh-TW" altLang="en-US" b="1" dirty="0"/>
              <a:t>一句話解釋</a:t>
            </a:r>
          </a:p>
          <a:p>
            <a:r>
              <a:rPr lang="zh-TW" altLang="en-US" b="1" dirty="0"/>
              <a:t>系統呼叫就是用「軟體中斷</a:t>
            </a:r>
            <a:r>
              <a:rPr lang="en-US" altLang="zh-TW" b="1" dirty="0"/>
              <a:t>/</a:t>
            </a:r>
            <a:r>
              <a:rPr lang="zh-TW" altLang="en-US" b="1" dirty="0"/>
              <a:t>陷入」把 </a:t>
            </a:r>
            <a:r>
              <a:rPr lang="en-US" altLang="zh-TW" b="1" dirty="0"/>
              <a:t>CPU </a:t>
            </a:r>
            <a:r>
              <a:rPr lang="zh-TW" altLang="en-US" b="1" dirty="0"/>
              <a:t>從使用者模式帶進核心，依號碼在表中找到對應的核心功能執行後再回來。</a:t>
            </a:r>
            <a:endParaRPr lang="zh-TW" altLang="en-US" dirty="0"/>
          </a:p>
          <a:p>
            <a:br>
              <a:rPr lang="zh-TW" altLang="en-US" dirty="0"/>
            </a:br>
            <a:endParaRPr lang="zh-TW" altLang="en-US" dirty="0"/>
          </a:p>
          <a:p>
            <a:r>
              <a:rPr lang="zh-TW" altLang="en-US" b="1" dirty="0"/>
              <a:t>白話解說（超直白）</a:t>
            </a:r>
          </a:p>
          <a:p>
            <a:r>
              <a:rPr lang="zh-TW" altLang="en-US" dirty="0"/>
              <a:t>把核心想像成餐廳後台：</a:t>
            </a:r>
            <a:br>
              <a:rPr lang="zh-TW" altLang="en-US" dirty="0"/>
            </a:br>
            <a:r>
              <a:rPr lang="zh-TW" altLang="en-US" dirty="0"/>
              <a:t>你（使用者程式）在點餐單上寫好</a:t>
            </a:r>
            <a:r>
              <a:rPr lang="zh-TW" altLang="en-US" b="1" dirty="0"/>
              <a:t>菜單編號（</a:t>
            </a:r>
            <a:r>
              <a:rPr lang="en-US" altLang="zh-TW" b="1" dirty="0" err="1"/>
              <a:t>syscall</a:t>
            </a:r>
            <a:r>
              <a:rPr lang="en-US" altLang="zh-TW" b="1" dirty="0"/>
              <a:t> </a:t>
            </a:r>
            <a:r>
              <a:rPr lang="zh-TW" altLang="en-US" b="1" dirty="0"/>
              <a:t>號碼）和需求（參數）</a:t>
            </a:r>
            <a:r>
              <a:rPr lang="zh-TW" altLang="en-US" dirty="0"/>
              <a:t>，按下服務鈴（</a:t>
            </a:r>
            <a:r>
              <a:rPr lang="en-US" altLang="zh-TW" sz="1200" kern="1200" dirty="0">
                <a:solidFill>
                  <a:schemeClr val="tx1"/>
                </a:solidFill>
                <a:latin typeface="+mn-lt"/>
                <a:ea typeface="+mn-ea"/>
                <a:cs typeface="+mn-cs"/>
              </a:rPr>
              <a:t>INT 0x80</a:t>
            </a:r>
            <a:r>
              <a:rPr lang="zh-TW" altLang="en-US" dirty="0"/>
              <a:t>）。鈴一響，店員（</a:t>
            </a:r>
            <a:r>
              <a:rPr lang="en-US" altLang="zh-TW" dirty="0"/>
              <a:t>CPU</a:t>
            </a:r>
            <a:r>
              <a:rPr lang="zh-TW" altLang="en-US" dirty="0"/>
              <a:t>）從大廳（使用者模式）走進後台（核心模式），看著</a:t>
            </a:r>
            <a:r>
              <a:rPr lang="zh-TW" altLang="en-US" b="1" dirty="0"/>
              <a:t>菜單總表（</a:t>
            </a:r>
            <a:r>
              <a:rPr lang="en-US" altLang="zh-TW" b="1" dirty="0" err="1"/>
              <a:t>sys_call_table</a:t>
            </a:r>
            <a:r>
              <a:rPr lang="zh-TW" altLang="en-US" b="1" dirty="0"/>
              <a:t>）找到這道菜要由哪個廚師（核心函式）做，做完把成品交回給你，店員再回到大廳繼續服務。整個過程沒有換客人</a:t>
            </a:r>
            <a:r>
              <a:rPr lang="zh-TW" altLang="en-US" dirty="0"/>
              <a:t>（不是 </a:t>
            </a:r>
            <a:r>
              <a:rPr lang="en-US" altLang="zh-TW" dirty="0"/>
              <a:t>context switch</a:t>
            </a:r>
            <a:r>
              <a:rPr lang="zh-TW" altLang="en-US" dirty="0"/>
              <a:t>），只是同一位客人暫時請店員進後台。</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dirty="0">
                <a:solidFill>
                  <a:schemeClr val="tx1"/>
                </a:solidFill>
                <a:latin typeface="+mn-lt"/>
                <a:cs typeface="Arial" panose="020B0604020202020204" pitchFamily="34" charset="0"/>
                <a:sym typeface="Wingdings" pitchFamily="2" charset="2"/>
              </a:rPr>
              <a:t>A</a:t>
            </a:r>
            <a:r>
              <a:rPr kumimoji="1"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faster</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way:</a:t>
            </a:r>
            <a:r>
              <a:rPr lang="zh-TW" altLang="en-US" dirty="0">
                <a:solidFill>
                  <a:schemeClr val="tx1"/>
                </a:solidFill>
                <a:latin typeface="+mn-lt"/>
                <a:cs typeface="Arial" panose="020B0604020202020204" pitchFamily="34" charset="0"/>
                <a:sym typeface="Wingdings" pitchFamily="2" charset="2"/>
              </a:rPr>
              <a:t> </a:t>
            </a:r>
            <a:r>
              <a:rPr lang="en-US" altLang="zh-TW" dirty="0" err="1">
                <a:solidFill>
                  <a:schemeClr val="tx1"/>
                </a:solidFill>
                <a:latin typeface="+mn-lt"/>
                <a:cs typeface="Arial" panose="020B0604020202020204" pitchFamily="34" charset="0"/>
                <a:sym typeface="Wingdings" pitchFamily="2" charset="2"/>
              </a:rPr>
              <a:t>Sysenter</a:t>
            </a:r>
            <a:endParaRPr kumimoji="1" lang="zh-TW" altLang="en-US" dirty="0">
              <a:solidFill>
                <a:schemeClr val="tx1"/>
              </a:solidFill>
              <a:latin typeface="+mn-lt"/>
              <a:cs typeface="Arial" panose="020B0604020202020204" pitchFamily="34" charset="0"/>
            </a:endParaRPr>
          </a:p>
          <a:p>
            <a:endParaRPr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26</a:t>
            </a:fld>
            <a:endParaRPr lang="zh-TW" altLang="en-US"/>
          </a:p>
        </p:txBody>
      </p:sp>
    </p:spTree>
    <p:extLst>
      <p:ext uri="{BB962C8B-B14F-4D97-AF65-F5344CB8AC3E}">
        <p14:creationId xmlns:p14="http://schemas.microsoft.com/office/powerpoint/2010/main" val="40934916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kern="1200" dirty="0">
                <a:solidFill>
                  <a:schemeClr val="tx1"/>
                </a:solidFill>
                <a:effectLst/>
                <a:latin typeface="+mn-lt"/>
                <a:ea typeface="+mn-ea"/>
                <a:cs typeface="+mn-cs"/>
              </a:rPr>
              <a:t>It is not possible for user-space applications to execute kernel code directly </a:t>
            </a:r>
            <a:br>
              <a:rPr lang="en-US" altLang="zh-TW" sz="1200" kern="1200" dirty="0">
                <a:solidFill>
                  <a:schemeClr val="tx1"/>
                </a:solidFill>
                <a:effectLst/>
                <a:latin typeface="+mn-lt"/>
                <a:ea typeface="+mn-ea"/>
                <a:cs typeface="+mn-cs"/>
              </a:rPr>
            </a:br>
            <a:br>
              <a:rPr lang="en-US" altLang="zh-TW" sz="1200" kern="1200" dirty="0">
                <a:solidFill>
                  <a:schemeClr val="tx1"/>
                </a:solidFill>
                <a:effectLst/>
                <a:latin typeface="+mn-lt"/>
                <a:ea typeface="+mn-ea"/>
                <a:cs typeface="+mn-cs"/>
              </a:rPr>
            </a:br>
            <a:r>
              <a:rPr lang="en-US" altLang="zh-TW" sz="1200" kern="1200" dirty="0">
                <a:solidFill>
                  <a:schemeClr val="tx1"/>
                </a:solidFill>
                <a:effectLst/>
                <a:latin typeface="+mn-lt"/>
                <a:ea typeface="+mn-ea"/>
                <a:cs typeface="+mn-cs"/>
              </a:rPr>
              <a:t>How system call runs (Detail) https://0xax.gitbooks.io/linux-insides/content/SysCall/linux-syscall-2.html</a:t>
            </a:r>
            <a:br>
              <a:rPr lang="en-US" altLang="zh-TW" sz="1200" kern="1200" dirty="0">
                <a:solidFill>
                  <a:schemeClr val="tx1"/>
                </a:solidFill>
                <a:effectLst/>
                <a:latin typeface="+mn-lt"/>
                <a:ea typeface="+mn-ea"/>
                <a:cs typeface="+mn-cs"/>
              </a:rPr>
            </a:br>
            <a:br>
              <a:rPr lang="en-US" altLang="zh-TW" sz="1200" kern="1200" dirty="0">
                <a:solidFill>
                  <a:schemeClr val="tx1"/>
                </a:solidFill>
                <a:effectLst/>
                <a:latin typeface="+mn-lt"/>
                <a:ea typeface="+mn-ea"/>
                <a:cs typeface="+mn-cs"/>
              </a:rPr>
            </a:br>
            <a:r>
              <a:rPr lang="en-US" altLang="zh-TW" b="1" dirty="0"/>
              <a:t>How to Implement a System Call</a:t>
            </a:r>
          </a:p>
          <a:p>
            <a:r>
              <a:rPr lang="zh-TW" altLang="en-US" b="1" dirty="0"/>
              <a:t>逐字翻譯</a:t>
            </a:r>
          </a:p>
          <a:p>
            <a:r>
              <a:rPr lang="en-US" altLang="zh-TW" b="1" dirty="0"/>
              <a:t>Adding (Registering) a new system call to Linux is easy and do not need to be concerned with the behavior of the system call handler</a:t>
            </a:r>
            <a:br>
              <a:rPr lang="en-US" altLang="zh-TW" dirty="0"/>
            </a:br>
            <a:r>
              <a:rPr lang="zh-TW" altLang="en-US" dirty="0"/>
              <a:t>在 </a:t>
            </a:r>
            <a:r>
              <a:rPr lang="en-US" altLang="zh-TW" dirty="0"/>
              <a:t>Linux </a:t>
            </a:r>
            <a:r>
              <a:rPr lang="zh-TW" altLang="en-US" b="1" dirty="0"/>
              <a:t>新增（註冊）一個系統呼叫很容易</a:t>
            </a:r>
            <a:r>
              <a:rPr lang="zh-TW" altLang="en-US" dirty="0"/>
              <a:t>，而且</a:t>
            </a:r>
            <a:r>
              <a:rPr lang="zh-TW" altLang="en-US" b="1" dirty="0"/>
              <a:t>不需要</a:t>
            </a:r>
            <a:r>
              <a:rPr lang="zh-TW" altLang="en-US" dirty="0"/>
              <a:t>去擔心「系統呼叫處理器」本身的行為細節。</a:t>
            </a:r>
          </a:p>
          <a:p>
            <a:r>
              <a:rPr lang="zh-TW" altLang="en-US" dirty="0"/>
              <a:t>圖（左→右）</a:t>
            </a:r>
            <a:br>
              <a:rPr lang="zh-TW" altLang="en-US" dirty="0"/>
            </a:br>
            <a:r>
              <a:rPr lang="en-US" altLang="zh-TW" b="1" dirty="0"/>
              <a:t>User Space</a:t>
            </a:r>
            <a:r>
              <a:rPr lang="zh-TW" altLang="en-US" b="1" dirty="0"/>
              <a:t>（使用者空間）</a:t>
            </a:r>
            <a:endParaRPr lang="zh-TW" altLang="en-US" dirty="0"/>
          </a:p>
          <a:p>
            <a:pPr lvl="1"/>
            <a:r>
              <a:rPr lang="en-US" altLang="zh-TW" b="1" dirty="0"/>
              <a:t>Application</a:t>
            </a:r>
            <a:r>
              <a:rPr lang="zh-TW" altLang="en-US" dirty="0"/>
              <a:t>：應用程式</a:t>
            </a:r>
          </a:p>
          <a:p>
            <a:pPr lvl="1"/>
            <a:r>
              <a:rPr lang="en-US" altLang="zh-TW" b="1" dirty="0"/>
              <a:t>call </a:t>
            </a:r>
            <a:r>
              <a:rPr lang="en-US" altLang="zh-TW" sz="1200" b="1" kern="1200" dirty="0">
                <a:solidFill>
                  <a:schemeClr val="tx1"/>
                </a:solidFill>
                <a:latin typeface="+mn-lt"/>
                <a:ea typeface="+mn-ea"/>
                <a:cs typeface="+mn-cs"/>
              </a:rPr>
              <a:t>read()</a:t>
            </a:r>
            <a:r>
              <a:rPr lang="en-US" altLang="zh-TW" dirty="0"/>
              <a:t> → </a:t>
            </a:r>
            <a:r>
              <a:rPr lang="zh-TW" altLang="en-US" dirty="0"/>
              <a:t>呼叫 </a:t>
            </a:r>
            <a:r>
              <a:rPr lang="en-US" altLang="zh-TW" sz="1200" kern="1200" dirty="0">
                <a:solidFill>
                  <a:schemeClr val="tx1"/>
                </a:solidFill>
                <a:latin typeface="+mn-lt"/>
                <a:ea typeface="+mn-ea"/>
                <a:cs typeface="+mn-cs"/>
              </a:rPr>
              <a:t>read()</a:t>
            </a:r>
            <a:endParaRPr lang="en-US" altLang="zh-TW" dirty="0"/>
          </a:p>
          <a:p>
            <a:pPr lvl="1"/>
            <a:r>
              <a:rPr lang="en-US" altLang="zh-TW" b="1" dirty="0"/>
              <a:t>C Library</a:t>
            </a:r>
            <a:r>
              <a:rPr lang="zh-TW" altLang="en-US" dirty="0"/>
              <a:t>：</a:t>
            </a:r>
            <a:r>
              <a:rPr lang="en-US" altLang="zh-TW" dirty="0"/>
              <a:t>C </a:t>
            </a:r>
            <a:r>
              <a:rPr lang="zh-TW" altLang="en-US" dirty="0"/>
              <a:t>函式庫</a:t>
            </a:r>
          </a:p>
          <a:p>
            <a:pPr lvl="1"/>
            <a:r>
              <a:rPr lang="en-US" altLang="zh-TW" sz="1200" b="1" kern="1200" dirty="0">
                <a:solidFill>
                  <a:schemeClr val="tx1"/>
                </a:solidFill>
                <a:latin typeface="+mn-lt"/>
                <a:ea typeface="+mn-ea"/>
                <a:cs typeface="+mn-cs"/>
              </a:rPr>
              <a:t>read()</a:t>
            </a:r>
            <a:r>
              <a:rPr lang="en-US" altLang="zh-TW" b="1" dirty="0"/>
              <a:t> wrapper</a:t>
            </a:r>
            <a:r>
              <a:rPr lang="zh-TW" altLang="en-US" dirty="0"/>
              <a:t>：</a:t>
            </a:r>
            <a:r>
              <a:rPr lang="en-US" altLang="zh-TW" sz="1200" kern="1200" dirty="0">
                <a:solidFill>
                  <a:schemeClr val="tx1"/>
                </a:solidFill>
                <a:latin typeface="+mn-lt"/>
                <a:ea typeface="+mn-ea"/>
                <a:cs typeface="+mn-cs"/>
              </a:rPr>
              <a:t>read()</a:t>
            </a:r>
            <a:r>
              <a:rPr lang="en-US" altLang="zh-TW" dirty="0"/>
              <a:t> </a:t>
            </a:r>
            <a:r>
              <a:rPr lang="zh-TW" altLang="en-US" dirty="0"/>
              <a:t>的包裝函式（</a:t>
            </a:r>
            <a:r>
              <a:rPr lang="en-US" altLang="zh-TW" dirty="0" err="1"/>
              <a:t>glibc</a:t>
            </a:r>
            <a:r>
              <a:rPr lang="en-US" altLang="zh-TW" dirty="0"/>
              <a:t> </a:t>
            </a:r>
            <a:r>
              <a:rPr lang="zh-TW" altLang="en-US" dirty="0"/>
              <a:t>將參數整理後觸發系統呼叫）</a:t>
            </a:r>
          </a:p>
          <a:p>
            <a:r>
              <a:rPr lang="en-US" altLang="zh-TW" b="1" dirty="0"/>
              <a:t>Kernel Space</a:t>
            </a:r>
            <a:r>
              <a:rPr lang="zh-TW" altLang="en-US" b="1" dirty="0"/>
              <a:t>（核心空間）</a:t>
            </a:r>
            <a:endParaRPr lang="zh-TW" altLang="en-US" dirty="0"/>
          </a:p>
          <a:p>
            <a:pPr lvl="1"/>
            <a:r>
              <a:rPr lang="en-US" altLang="zh-TW" b="1" dirty="0"/>
              <a:t>System Call Handler</a:t>
            </a:r>
            <a:r>
              <a:rPr lang="zh-TW" altLang="en-US" dirty="0"/>
              <a:t>：系統呼叫處理器</a:t>
            </a:r>
          </a:p>
          <a:p>
            <a:pPr lvl="1"/>
            <a:r>
              <a:rPr lang="en-US" altLang="zh-TW" sz="1200" b="1" kern="1200" dirty="0" err="1">
                <a:solidFill>
                  <a:schemeClr val="tx1"/>
                </a:solidFill>
                <a:latin typeface="+mn-lt"/>
                <a:ea typeface="+mn-ea"/>
                <a:cs typeface="+mn-cs"/>
              </a:rPr>
              <a:t>system_call</a:t>
            </a:r>
            <a:r>
              <a:rPr lang="en-US" altLang="zh-TW" sz="1200" b="1" kern="1200" dirty="0">
                <a:solidFill>
                  <a:schemeClr val="tx1"/>
                </a:solidFill>
                <a:latin typeface="+mn-lt"/>
                <a:ea typeface="+mn-ea"/>
                <a:cs typeface="+mn-cs"/>
              </a:rPr>
              <a:t>()</a:t>
            </a:r>
            <a:r>
              <a:rPr lang="zh-TW" altLang="en-US" dirty="0"/>
              <a:t>：系統呼叫共用入口</a:t>
            </a:r>
          </a:p>
          <a:p>
            <a:pPr lvl="1"/>
            <a:r>
              <a:rPr lang="en-US" altLang="zh-TW" b="1" dirty="0"/>
              <a:t>System call</a:t>
            </a:r>
            <a:r>
              <a:rPr lang="zh-TW" altLang="en-US" dirty="0"/>
              <a:t>：系統呼叫實作</a:t>
            </a:r>
          </a:p>
          <a:p>
            <a:pPr lvl="1"/>
            <a:r>
              <a:rPr lang="en-US" altLang="zh-TW" sz="1200" b="1" kern="1200" dirty="0" err="1">
                <a:solidFill>
                  <a:schemeClr val="tx1"/>
                </a:solidFill>
                <a:latin typeface="+mn-lt"/>
                <a:ea typeface="+mn-ea"/>
                <a:cs typeface="+mn-cs"/>
              </a:rPr>
              <a:t>sys_read</a:t>
            </a:r>
            <a:r>
              <a:rPr lang="en-US" altLang="zh-TW" sz="1200" b="1" kern="1200" dirty="0">
                <a:solidFill>
                  <a:schemeClr val="tx1"/>
                </a:solidFill>
                <a:latin typeface="+mn-lt"/>
                <a:ea typeface="+mn-ea"/>
                <a:cs typeface="+mn-cs"/>
              </a:rPr>
              <a:t>()</a:t>
            </a:r>
            <a:r>
              <a:rPr lang="zh-TW" altLang="en-US" dirty="0"/>
              <a:t>：</a:t>
            </a:r>
            <a:r>
              <a:rPr lang="en-US" altLang="zh-TW" sz="1200" kern="1200" dirty="0">
                <a:solidFill>
                  <a:schemeClr val="tx1"/>
                </a:solidFill>
                <a:latin typeface="+mn-lt"/>
                <a:ea typeface="+mn-ea"/>
                <a:cs typeface="+mn-cs"/>
              </a:rPr>
              <a:t>read</a:t>
            </a:r>
            <a:r>
              <a:rPr lang="en-US" altLang="zh-TW" dirty="0"/>
              <a:t> </a:t>
            </a:r>
            <a:r>
              <a:rPr lang="zh-TW" altLang="en-US" dirty="0"/>
              <a:t>的核心端實作</a:t>
            </a:r>
          </a:p>
          <a:p>
            <a:r>
              <a:rPr lang="en-US" altLang="zh-TW" b="1" dirty="0"/>
              <a:t>Brief Procedures (Details: See References):</a:t>
            </a:r>
            <a:br>
              <a:rPr lang="en-US" altLang="zh-TW" dirty="0"/>
            </a:br>
            <a:r>
              <a:rPr lang="zh-TW" altLang="en-US" b="1" dirty="0"/>
              <a:t>簡要步驟（細節：見參考資料）：</a:t>
            </a:r>
            <a:endParaRPr lang="zh-TW" altLang="en-US" dirty="0"/>
          </a:p>
          <a:p>
            <a:pPr lvl="1"/>
            <a:r>
              <a:rPr lang="en-US" altLang="zh-TW" b="1" dirty="0"/>
              <a:t>Write a new system call (e.g., </a:t>
            </a:r>
            <a:r>
              <a:rPr lang="en-US" altLang="zh-TW" sz="1200" b="1" kern="1200" dirty="0" err="1">
                <a:solidFill>
                  <a:schemeClr val="tx1"/>
                </a:solidFill>
                <a:latin typeface="+mn-lt"/>
                <a:ea typeface="+mn-ea"/>
                <a:cs typeface="+mn-cs"/>
              </a:rPr>
              <a:t>sys_hello.c</a:t>
            </a:r>
            <a:r>
              <a:rPr lang="en-US" altLang="zh-TW" b="1" dirty="0"/>
              <a:t>)</a:t>
            </a:r>
            <a:br>
              <a:rPr lang="en-US" altLang="zh-TW" dirty="0"/>
            </a:br>
            <a:r>
              <a:rPr lang="zh-TW" altLang="en-US" dirty="0"/>
              <a:t>撰寫新的系統呼叫（例如 </a:t>
            </a:r>
            <a:r>
              <a:rPr lang="en-US" altLang="zh-TW" sz="1200" kern="1200" dirty="0" err="1">
                <a:solidFill>
                  <a:schemeClr val="tx1"/>
                </a:solidFill>
                <a:latin typeface="+mn-lt"/>
                <a:ea typeface="+mn-ea"/>
                <a:cs typeface="+mn-cs"/>
              </a:rPr>
              <a:t>sys_hello.c</a:t>
            </a:r>
            <a:r>
              <a:rPr lang="zh-TW" altLang="en-US" dirty="0"/>
              <a:t>）。</a:t>
            </a:r>
          </a:p>
          <a:p>
            <a:pPr lvl="1"/>
            <a:r>
              <a:rPr lang="en-US" altLang="zh-TW" b="1" dirty="0"/>
              <a:t>Create a </a:t>
            </a:r>
            <a:r>
              <a:rPr lang="en-US" altLang="zh-TW" b="1" dirty="0" err="1"/>
              <a:t>Makefile</a:t>
            </a:r>
            <a:br>
              <a:rPr lang="en-US" altLang="zh-TW" dirty="0"/>
            </a:br>
            <a:r>
              <a:rPr lang="zh-TW" altLang="en-US" dirty="0"/>
              <a:t>建立一份 </a:t>
            </a:r>
            <a:r>
              <a:rPr lang="en-US" altLang="zh-TW" b="1" dirty="0" err="1"/>
              <a:t>Makefile</a:t>
            </a:r>
            <a:r>
              <a:rPr lang="zh-TW" altLang="en-US" dirty="0"/>
              <a:t>（告訴建置系統怎麼編）。</a:t>
            </a:r>
          </a:p>
          <a:p>
            <a:pPr lvl="1"/>
            <a:r>
              <a:rPr lang="en-US" altLang="zh-TW" b="1" dirty="0"/>
              <a:t>Add the new system call into the system call table</a:t>
            </a:r>
            <a:br>
              <a:rPr lang="en-US" altLang="zh-TW" dirty="0"/>
            </a:br>
            <a:r>
              <a:rPr lang="zh-TW" altLang="en-US" dirty="0"/>
              <a:t>將新的系統呼叫加入</a:t>
            </a:r>
            <a:r>
              <a:rPr lang="zh-TW" altLang="en-US" b="1" dirty="0"/>
              <a:t>系統呼叫表</a:t>
            </a:r>
            <a:r>
              <a:rPr lang="zh-TW" altLang="en-US" dirty="0"/>
              <a:t>。</a:t>
            </a:r>
          </a:p>
          <a:p>
            <a:pPr lvl="2"/>
            <a:r>
              <a:rPr lang="en-US" altLang="zh-TW" b="1" dirty="0"/>
              <a:t>Parameters:</a:t>
            </a:r>
            <a:r>
              <a:rPr lang="en-US" altLang="zh-TW" dirty="0"/>
              <a:t> </a:t>
            </a:r>
            <a:r>
              <a:rPr lang="en-US" altLang="zh-TW" sz="1200" kern="1200" dirty="0" err="1">
                <a:solidFill>
                  <a:schemeClr val="tx1"/>
                </a:solidFill>
                <a:latin typeface="+mn-lt"/>
                <a:ea typeface="+mn-ea"/>
                <a:cs typeface="+mn-cs"/>
              </a:rPr>
              <a:t>system_call_number</a:t>
            </a:r>
            <a:r>
              <a:rPr lang="en-US" altLang="zh-TW" dirty="0"/>
              <a:t>, </a:t>
            </a:r>
            <a:r>
              <a:rPr lang="en-US" altLang="zh-TW" sz="1200" kern="1200" dirty="0">
                <a:solidFill>
                  <a:schemeClr val="tx1"/>
                </a:solidFill>
                <a:latin typeface="+mn-lt"/>
                <a:ea typeface="+mn-ea"/>
                <a:cs typeface="+mn-cs"/>
              </a:rPr>
              <a:t>arch (e.g., 64)</a:t>
            </a:r>
            <a:r>
              <a:rPr lang="en-US" altLang="zh-TW" dirty="0"/>
              <a:t>, </a:t>
            </a:r>
            <a:r>
              <a:rPr lang="en-US" altLang="zh-TW" sz="1200" kern="1200" dirty="0" err="1">
                <a:solidFill>
                  <a:schemeClr val="tx1"/>
                </a:solidFill>
                <a:latin typeface="+mn-lt"/>
                <a:ea typeface="+mn-ea"/>
                <a:cs typeface="+mn-cs"/>
              </a:rPr>
              <a:t>system_call_name</a:t>
            </a:r>
            <a:r>
              <a:rPr lang="en-US" altLang="zh-TW" dirty="0"/>
              <a:t>, </a:t>
            </a:r>
            <a:r>
              <a:rPr lang="en-US" altLang="zh-TW" sz="1200" kern="1200" dirty="0" err="1">
                <a:solidFill>
                  <a:schemeClr val="tx1"/>
                </a:solidFill>
                <a:latin typeface="+mn-lt"/>
                <a:ea typeface="+mn-ea"/>
                <a:cs typeface="+mn-cs"/>
              </a:rPr>
              <a:t>program_of_system_call</a:t>
            </a:r>
            <a:br>
              <a:rPr lang="en-US" altLang="zh-TW" dirty="0"/>
            </a:br>
            <a:r>
              <a:rPr lang="zh-TW" altLang="en-US" dirty="0"/>
              <a:t>參數包含：</a:t>
            </a:r>
            <a:r>
              <a:rPr lang="zh-TW" altLang="en-US" b="1" dirty="0"/>
              <a:t>系統呼叫號碼</a:t>
            </a:r>
            <a:r>
              <a:rPr lang="zh-TW" altLang="en-US" dirty="0"/>
              <a:t>、</a:t>
            </a:r>
            <a:r>
              <a:rPr lang="zh-TW" altLang="en-US" b="1" dirty="0"/>
              <a:t>架構</a:t>
            </a:r>
            <a:r>
              <a:rPr lang="zh-TW" altLang="en-US" dirty="0"/>
              <a:t>（例如 </a:t>
            </a:r>
            <a:r>
              <a:rPr lang="en-US" altLang="zh-TW" dirty="0"/>
              <a:t>64-bit</a:t>
            </a:r>
            <a:r>
              <a:rPr lang="zh-TW" altLang="en-US" dirty="0"/>
              <a:t>）、</a:t>
            </a:r>
            <a:r>
              <a:rPr lang="zh-TW" altLang="en-US" b="1" dirty="0"/>
              <a:t>系統呼叫名稱</a:t>
            </a:r>
            <a:r>
              <a:rPr lang="zh-TW" altLang="en-US" dirty="0"/>
              <a:t>、</a:t>
            </a:r>
            <a:r>
              <a:rPr lang="zh-TW" altLang="en-US" b="1" dirty="0"/>
              <a:t>對應的函式</a:t>
            </a:r>
            <a:r>
              <a:rPr lang="en-US" altLang="zh-TW" b="1" dirty="0"/>
              <a:t>/</a:t>
            </a:r>
            <a:r>
              <a:rPr lang="zh-TW" altLang="en-US" b="1" dirty="0"/>
              <a:t>程式</a:t>
            </a:r>
            <a:r>
              <a:rPr lang="zh-TW" altLang="en-US" dirty="0"/>
              <a:t>。</a:t>
            </a:r>
          </a:p>
          <a:p>
            <a:pPr lvl="1"/>
            <a:r>
              <a:rPr lang="en-US" altLang="zh-TW" b="1" dirty="0"/>
              <a:t>Add the new system call to the header file (</a:t>
            </a:r>
            <a:r>
              <a:rPr lang="en-US" altLang="zh-TW" sz="1200" b="1" kern="1200" dirty="0">
                <a:solidFill>
                  <a:schemeClr val="tx1"/>
                </a:solidFill>
                <a:latin typeface="+mn-lt"/>
                <a:ea typeface="+mn-ea"/>
                <a:cs typeface="+mn-cs"/>
              </a:rPr>
              <a:t>include/</a:t>
            </a:r>
            <a:r>
              <a:rPr lang="en-US" altLang="zh-TW" sz="1200" b="1" kern="1200" dirty="0" err="1">
                <a:solidFill>
                  <a:schemeClr val="tx1"/>
                </a:solidFill>
                <a:latin typeface="+mn-lt"/>
                <a:ea typeface="+mn-ea"/>
                <a:cs typeface="+mn-cs"/>
              </a:rPr>
              <a:t>linux</a:t>
            </a:r>
            <a:r>
              <a:rPr lang="en-US" altLang="zh-TW" sz="1200" b="1" kern="1200" dirty="0">
                <a:solidFill>
                  <a:schemeClr val="tx1"/>
                </a:solidFill>
                <a:latin typeface="+mn-lt"/>
                <a:ea typeface="+mn-ea"/>
                <a:cs typeface="+mn-cs"/>
              </a:rPr>
              <a:t>/</a:t>
            </a:r>
            <a:r>
              <a:rPr lang="en-US" altLang="zh-TW" sz="1200" b="1" kern="1200" dirty="0" err="1">
                <a:solidFill>
                  <a:schemeClr val="tx1"/>
                </a:solidFill>
                <a:latin typeface="+mn-lt"/>
                <a:ea typeface="+mn-ea"/>
                <a:cs typeface="+mn-cs"/>
              </a:rPr>
              <a:t>syscalls.h</a:t>
            </a:r>
            <a:r>
              <a:rPr lang="en-US" altLang="zh-TW" b="1" dirty="0"/>
              <a:t>)</a:t>
            </a:r>
            <a:br>
              <a:rPr lang="en-US" altLang="zh-TW" dirty="0"/>
            </a:br>
            <a:r>
              <a:rPr lang="zh-TW" altLang="en-US" dirty="0"/>
              <a:t>把新系統呼叫的</a:t>
            </a:r>
            <a:r>
              <a:rPr lang="zh-TW" altLang="en-US" b="1" dirty="0"/>
              <a:t>宣告</a:t>
            </a:r>
            <a:r>
              <a:rPr lang="zh-TW" altLang="en-US" dirty="0"/>
              <a:t>加到標頭檔 </a:t>
            </a:r>
            <a:r>
              <a:rPr lang="en-US" altLang="zh-TW" sz="1200" kern="1200" dirty="0">
                <a:solidFill>
                  <a:schemeClr val="tx1"/>
                </a:solidFill>
                <a:latin typeface="+mn-lt"/>
                <a:ea typeface="+mn-ea"/>
                <a:cs typeface="+mn-cs"/>
              </a:rPr>
              <a:t>include/</a:t>
            </a:r>
            <a:r>
              <a:rPr lang="en-US" altLang="zh-TW" sz="1200" kern="1200" dirty="0" err="1">
                <a:solidFill>
                  <a:schemeClr val="tx1"/>
                </a:solidFill>
                <a:latin typeface="+mn-lt"/>
                <a:ea typeface="+mn-ea"/>
                <a:cs typeface="+mn-cs"/>
              </a:rPr>
              <a:t>linux</a:t>
            </a:r>
            <a:r>
              <a:rPr lang="en-US" altLang="zh-TW" sz="1200" kern="1200" dirty="0">
                <a:solidFill>
                  <a:schemeClr val="tx1"/>
                </a:solidFill>
                <a:latin typeface="+mn-lt"/>
                <a:ea typeface="+mn-ea"/>
                <a:cs typeface="+mn-cs"/>
              </a:rPr>
              <a:t>/</a:t>
            </a:r>
            <a:r>
              <a:rPr lang="en-US" altLang="zh-TW" sz="1200" kern="1200" dirty="0" err="1">
                <a:solidFill>
                  <a:schemeClr val="tx1"/>
                </a:solidFill>
                <a:latin typeface="+mn-lt"/>
                <a:ea typeface="+mn-ea"/>
                <a:cs typeface="+mn-cs"/>
              </a:rPr>
              <a:t>syscalls.h</a:t>
            </a:r>
            <a:r>
              <a:rPr lang="zh-TW" altLang="en-US" dirty="0"/>
              <a:t>。</a:t>
            </a:r>
          </a:p>
          <a:p>
            <a:pPr lvl="1"/>
            <a:r>
              <a:rPr lang="en-US" altLang="zh-TW" b="1" dirty="0"/>
              <a:t>Compile/Install/Update Kernel</a:t>
            </a:r>
            <a:br>
              <a:rPr lang="en-US" altLang="zh-TW" dirty="0"/>
            </a:br>
            <a:r>
              <a:rPr lang="zh-TW" altLang="en-US" b="1" dirty="0"/>
              <a:t>編譯／安裝／更新</a:t>
            </a:r>
            <a:r>
              <a:rPr lang="zh-TW" altLang="en-US" dirty="0"/>
              <a:t>核心。</a:t>
            </a:r>
          </a:p>
          <a:p>
            <a:br>
              <a:rPr lang="zh-TW" altLang="en-US" dirty="0"/>
            </a:br>
            <a:endParaRPr lang="zh-TW" altLang="en-US" dirty="0"/>
          </a:p>
          <a:p>
            <a:r>
              <a:rPr lang="zh-TW" altLang="en-US" b="1" dirty="0"/>
              <a:t>解說（為什麼這樣做、背後機制）</a:t>
            </a:r>
          </a:p>
          <a:p>
            <a:r>
              <a:rPr lang="zh-TW" altLang="en-US" b="1" dirty="0"/>
              <a:t>使用者程式不會直接進核心</a:t>
            </a:r>
            <a:r>
              <a:rPr lang="zh-TW" altLang="en-US" dirty="0"/>
              <a:t>：它呼叫 </a:t>
            </a:r>
            <a:r>
              <a:rPr lang="en-US" altLang="zh-TW" dirty="0" err="1"/>
              <a:t>glibc</a:t>
            </a:r>
            <a:r>
              <a:rPr lang="en-US" altLang="zh-TW" dirty="0"/>
              <a:t> </a:t>
            </a:r>
            <a:r>
              <a:rPr lang="zh-TW" altLang="en-US" dirty="0"/>
              <a:t>的 </a:t>
            </a:r>
            <a:r>
              <a:rPr lang="en-US" altLang="zh-TW" b="1" dirty="0"/>
              <a:t>wrapper</a:t>
            </a:r>
            <a:r>
              <a:rPr lang="zh-TW" altLang="en-US" dirty="0"/>
              <a:t>（例如 </a:t>
            </a:r>
            <a:r>
              <a:rPr lang="en-US" altLang="zh-TW" sz="1200" kern="1200" dirty="0">
                <a:solidFill>
                  <a:schemeClr val="tx1"/>
                </a:solidFill>
                <a:latin typeface="+mn-lt"/>
                <a:ea typeface="+mn-ea"/>
                <a:cs typeface="+mn-cs"/>
              </a:rPr>
              <a:t>read()</a:t>
            </a:r>
            <a:r>
              <a:rPr lang="zh-TW" altLang="en-US" dirty="0"/>
              <a:t>），</a:t>
            </a:r>
            <a:r>
              <a:rPr lang="en-US" altLang="zh-TW" dirty="0"/>
              <a:t>wrapper </a:t>
            </a:r>
            <a:r>
              <a:rPr lang="zh-TW" altLang="en-US" dirty="0"/>
              <a:t>會把</a:t>
            </a:r>
            <a:r>
              <a:rPr lang="zh-TW" altLang="en-US" b="1" dirty="0"/>
              <a:t>號碼與參數</a:t>
            </a:r>
            <a:r>
              <a:rPr lang="zh-TW" altLang="en-US" dirty="0"/>
              <a:t>準備好並觸發陷入（</a:t>
            </a:r>
            <a:r>
              <a:rPr lang="en-US" altLang="zh-TW" dirty="0"/>
              <a:t>x86: </a:t>
            </a:r>
            <a:r>
              <a:rPr lang="en-US" altLang="zh-TW" sz="1200" kern="1200" dirty="0" err="1">
                <a:solidFill>
                  <a:schemeClr val="tx1"/>
                </a:solidFill>
                <a:latin typeface="+mn-lt"/>
                <a:ea typeface="+mn-ea"/>
                <a:cs typeface="+mn-cs"/>
              </a:rPr>
              <a:t>syscall</a:t>
            </a:r>
            <a:r>
              <a:rPr lang="en-US" altLang="zh-TW" dirty="0"/>
              <a:t>/</a:t>
            </a:r>
            <a:r>
              <a:rPr lang="en-US" altLang="zh-TW" sz="1200" kern="1200" dirty="0">
                <a:solidFill>
                  <a:schemeClr val="tx1"/>
                </a:solidFill>
                <a:latin typeface="+mn-lt"/>
                <a:ea typeface="+mn-ea"/>
                <a:cs typeface="+mn-cs"/>
              </a:rPr>
              <a:t>int 0x80</a:t>
            </a:r>
            <a:r>
              <a:rPr lang="zh-TW" altLang="en-US" dirty="0"/>
              <a:t>；</a:t>
            </a:r>
            <a:r>
              <a:rPr lang="en-US" altLang="zh-TW" dirty="0"/>
              <a:t>RISC-V: </a:t>
            </a:r>
            <a:r>
              <a:rPr lang="en-US" altLang="zh-TW" sz="1200" kern="1200" dirty="0" err="1">
                <a:solidFill>
                  <a:schemeClr val="tx1"/>
                </a:solidFill>
                <a:latin typeface="+mn-lt"/>
                <a:ea typeface="+mn-ea"/>
                <a:cs typeface="+mn-cs"/>
              </a:rPr>
              <a:t>ecall</a:t>
            </a:r>
            <a:r>
              <a:rPr lang="zh-TW" altLang="en-US" dirty="0"/>
              <a:t>）。</a:t>
            </a:r>
          </a:p>
          <a:p>
            <a:r>
              <a:rPr lang="zh-TW" altLang="en-US" b="1" dirty="0"/>
              <a:t>共用入口 </a:t>
            </a:r>
            <a:r>
              <a:rPr lang="en-US" altLang="zh-TW" sz="1200" b="1" kern="1200" dirty="0" err="1">
                <a:solidFill>
                  <a:schemeClr val="tx1"/>
                </a:solidFill>
                <a:latin typeface="+mn-lt"/>
                <a:ea typeface="+mn-ea"/>
                <a:cs typeface="+mn-cs"/>
              </a:rPr>
              <a:t>system_call</a:t>
            </a:r>
            <a:r>
              <a:rPr lang="en-US" altLang="zh-TW" sz="1200" b="1" kern="1200" dirty="0">
                <a:solidFill>
                  <a:schemeClr val="tx1"/>
                </a:solidFill>
                <a:latin typeface="+mn-lt"/>
                <a:ea typeface="+mn-ea"/>
                <a:cs typeface="+mn-cs"/>
              </a:rPr>
              <a:t>()</a:t>
            </a:r>
            <a:r>
              <a:rPr lang="zh-TW" altLang="en-US" dirty="0"/>
              <a:t>：核心端接到陷入後，先進到共用入口，</a:t>
            </a:r>
            <a:r>
              <a:rPr lang="zh-TW" altLang="en-US" b="1" dirty="0"/>
              <a:t>依「系統呼叫號碼」查 </a:t>
            </a:r>
            <a:r>
              <a:rPr lang="en-US" altLang="zh-TW" sz="1200" b="1" kern="1200" dirty="0" err="1">
                <a:solidFill>
                  <a:schemeClr val="tx1"/>
                </a:solidFill>
                <a:latin typeface="+mn-lt"/>
                <a:ea typeface="+mn-ea"/>
                <a:cs typeface="+mn-cs"/>
              </a:rPr>
              <a:t>sys_call_table</a:t>
            </a:r>
            <a:r>
              <a:rPr lang="zh-TW" altLang="en-US" dirty="0"/>
              <a:t>，找到對應的實作（例如 </a:t>
            </a:r>
            <a:r>
              <a:rPr lang="en-US" altLang="zh-TW" sz="1200" kern="1200" dirty="0" err="1">
                <a:solidFill>
                  <a:schemeClr val="tx1"/>
                </a:solidFill>
                <a:latin typeface="+mn-lt"/>
                <a:ea typeface="+mn-ea"/>
                <a:cs typeface="+mn-cs"/>
              </a:rPr>
              <a:t>sys_read</a:t>
            </a:r>
            <a:r>
              <a:rPr lang="zh-TW" altLang="en-US" dirty="0"/>
              <a:t>）。</a:t>
            </a:r>
          </a:p>
          <a:p>
            <a:r>
              <a:rPr lang="zh-TW" altLang="en-US" b="1" dirty="0"/>
              <a:t>你要做的</a:t>
            </a:r>
            <a:r>
              <a:rPr lang="zh-TW" altLang="en-US" dirty="0"/>
              <a:t>：新增一個</a:t>
            </a:r>
            <a:r>
              <a:rPr lang="zh-TW" altLang="en-US" b="1" dirty="0"/>
              <a:t>核心函式</a:t>
            </a:r>
            <a:r>
              <a:rPr lang="zh-TW" altLang="en-US" dirty="0"/>
              <a:t>（如 </a:t>
            </a:r>
            <a:r>
              <a:rPr lang="en-US" altLang="zh-TW" sz="1200" kern="1200" dirty="0" err="1">
                <a:solidFill>
                  <a:schemeClr val="tx1"/>
                </a:solidFill>
                <a:latin typeface="+mn-lt"/>
                <a:ea typeface="+mn-ea"/>
                <a:cs typeface="+mn-cs"/>
              </a:rPr>
              <a:t>sys_hello</a:t>
            </a:r>
            <a:r>
              <a:rPr lang="zh-TW" altLang="en-US" dirty="0"/>
              <a:t>）、把它</a:t>
            </a:r>
            <a:r>
              <a:rPr lang="zh-TW" altLang="en-US" b="1" dirty="0"/>
              <a:t>註冊到表</a:t>
            </a:r>
            <a:r>
              <a:rPr lang="zh-TW" altLang="en-US" dirty="0"/>
              <a:t>、在 </a:t>
            </a:r>
            <a:r>
              <a:rPr lang="en-US" altLang="zh-TW" b="1" dirty="0"/>
              <a:t>header</a:t>
            </a:r>
            <a:r>
              <a:rPr lang="en-US" altLang="zh-TW" dirty="0"/>
              <a:t> </a:t>
            </a:r>
            <a:r>
              <a:rPr lang="zh-TW" altLang="en-US" dirty="0"/>
              <a:t>宣告、確保 </a:t>
            </a:r>
            <a:r>
              <a:rPr lang="en-US" altLang="zh-TW" b="1" dirty="0" err="1"/>
              <a:t>Kbuild</a:t>
            </a:r>
            <a:r>
              <a:rPr lang="en-US" altLang="zh-TW" b="1" dirty="0"/>
              <a:t>/</a:t>
            </a:r>
            <a:r>
              <a:rPr lang="en-US" altLang="zh-TW" b="1" dirty="0" err="1"/>
              <a:t>Makefile</a:t>
            </a:r>
            <a:r>
              <a:rPr lang="en-US" altLang="zh-TW" dirty="0"/>
              <a:t> </a:t>
            </a:r>
            <a:r>
              <a:rPr lang="zh-TW" altLang="en-US" dirty="0"/>
              <a:t>會把檔案編進核心。其他流程（進出核心、保存現場、返回值）由框架處理。</a:t>
            </a:r>
          </a:p>
          <a:p>
            <a:r>
              <a:rPr lang="zh-TW" altLang="en-US" b="1" dirty="0"/>
              <a:t>不同架構差異</a:t>
            </a:r>
            <a:r>
              <a:rPr lang="zh-TW" altLang="en-US" dirty="0"/>
              <a:t>：觸發方式與表的位置會依架構不同（</a:t>
            </a:r>
            <a:r>
              <a:rPr lang="en-US" altLang="zh-TW" dirty="0"/>
              <a:t>x86</a:t>
            </a:r>
            <a:r>
              <a:rPr lang="zh-TW" altLang="en-US" dirty="0"/>
              <a:t>、</a:t>
            </a:r>
            <a:r>
              <a:rPr lang="en-US" altLang="zh-TW" dirty="0"/>
              <a:t>arm64</a:t>
            </a:r>
            <a:r>
              <a:rPr lang="zh-TW" altLang="en-US" dirty="0"/>
              <a:t>、</a:t>
            </a:r>
            <a:r>
              <a:rPr lang="en-US" altLang="zh-TW" dirty="0" err="1"/>
              <a:t>riscv</a:t>
            </a:r>
            <a:r>
              <a:rPr lang="zh-TW" altLang="en-US" dirty="0"/>
              <a:t>），但</a:t>
            </a:r>
            <a:r>
              <a:rPr lang="zh-TW" altLang="en-US" b="1" dirty="0"/>
              <a:t>概念完全一樣</a:t>
            </a:r>
            <a:r>
              <a:rPr lang="zh-TW" altLang="en-US" dirty="0"/>
              <a:t>：</a:t>
            </a:r>
            <a:r>
              <a:rPr lang="zh-TW" altLang="en-US" b="1" dirty="0"/>
              <a:t>號碼→查表→呼叫→回傳</a:t>
            </a:r>
            <a:r>
              <a:rPr lang="zh-TW" altLang="en-US" dirty="0"/>
              <a:t>。</a:t>
            </a:r>
          </a:p>
          <a:p>
            <a:br>
              <a:rPr lang="zh-TW" altLang="en-US" dirty="0"/>
            </a:br>
            <a:endParaRPr lang="zh-TW" altLang="en-US" dirty="0"/>
          </a:p>
          <a:p>
            <a:r>
              <a:rPr lang="zh-TW" altLang="en-US" b="1" dirty="0"/>
              <a:t>一句話解釋</a:t>
            </a:r>
          </a:p>
          <a:p>
            <a:r>
              <a:rPr lang="zh-TW" altLang="en-US" b="1" dirty="0"/>
              <a:t>新增系統呼叫就是寫一個核心函式、在表與標頭註冊、編進核心，其餘切換</a:t>
            </a:r>
            <a:r>
              <a:rPr lang="en-US" altLang="zh-TW" b="1" dirty="0"/>
              <a:t>/</a:t>
            </a:r>
            <a:r>
              <a:rPr lang="zh-TW" altLang="en-US" b="1" dirty="0"/>
              <a:t>分派機制由內核自動處理。</a:t>
            </a:r>
            <a:endParaRPr lang="zh-TW" altLang="en-US" dirty="0"/>
          </a:p>
          <a:p>
            <a:br>
              <a:rPr lang="zh-TW" altLang="en-US" dirty="0"/>
            </a:br>
            <a:endParaRPr lang="zh-TW" altLang="en-US" dirty="0"/>
          </a:p>
          <a:p>
            <a:r>
              <a:rPr lang="zh-TW" altLang="en-US" b="1" dirty="0"/>
              <a:t>白話解說（超直白）</a:t>
            </a:r>
          </a:p>
          <a:p>
            <a:r>
              <a:rPr lang="zh-TW" altLang="en-US" dirty="0"/>
              <a:t>把內核想成公司總機：</a:t>
            </a:r>
            <a:br>
              <a:rPr lang="zh-TW" altLang="en-US" dirty="0"/>
            </a:br>
            <a:r>
              <a:rPr lang="zh-TW" altLang="en-US" dirty="0"/>
              <a:t>你先</a:t>
            </a:r>
            <a:r>
              <a:rPr lang="zh-TW" altLang="en-US" b="1" dirty="0"/>
              <a:t>寫好一個新分機（</a:t>
            </a:r>
            <a:r>
              <a:rPr lang="en-US" altLang="zh-TW" sz="1200" b="1" kern="1200" dirty="0" err="1">
                <a:solidFill>
                  <a:schemeClr val="tx1"/>
                </a:solidFill>
                <a:latin typeface="+mn-lt"/>
                <a:ea typeface="+mn-ea"/>
                <a:cs typeface="+mn-cs"/>
              </a:rPr>
              <a:t>sys_hello</a:t>
            </a:r>
            <a:r>
              <a:rPr lang="zh-TW" altLang="en-US" b="1" dirty="0"/>
              <a:t>）</a:t>
            </a:r>
            <a:r>
              <a:rPr lang="zh-TW" altLang="en-US" dirty="0"/>
              <a:t>，再把它</a:t>
            </a:r>
            <a:r>
              <a:rPr lang="zh-TW" altLang="en-US" b="1" dirty="0"/>
              <a:t>登記到分機表（</a:t>
            </a:r>
            <a:r>
              <a:rPr lang="en-US" altLang="zh-TW" sz="1200" b="1" kern="1200" dirty="0" err="1">
                <a:solidFill>
                  <a:schemeClr val="tx1"/>
                </a:solidFill>
                <a:latin typeface="+mn-lt"/>
                <a:ea typeface="+mn-ea"/>
                <a:cs typeface="+mn-cs"/>
              </a:rPr>
              <a:t>sys_call_table</a:t>
            </a:r>
            <a:r>
              <a:rPr lang="zh-TW" altLang="en-US" b="1" dirty="0"/>
              <a:t>）</a:t>
            </a:r>
            <a:r>
              <a:rPr lang="zh-TW" altLang="en-US" dirty="0"/>
              <a:t>，並在</a:t>
            </a:r>
            <a:r>
              <a:rPr lang="zh-TW" altLang="en-US" b="1" dirty="0"/>
              <a:t>通訊錄（</a:t>
            </a:r>
            <a:r>
              <a:rPr lang="en-US" altLang="zh-TW" sz="1200" b="1" kern="1200" dirty="0" err="1">
                <a:solidFill>
                  <a:schemeClr val="tx1"/>
                </a:solidFill>
                <a:latin typeface="+mn-lt"/>
                <a:ea typeface="+mn-ea"/>
                <a:cs typeface="+mn-cs"/>
              </a:rPr>
              <a:t>syscalls.h</a:t>
            </a:r>
            <a:r>
              <a:rPr lang="zh-TW" altLang="en-US" b="1" dirty="0"/>
              <a:t>）加上它的名字，最後重編公司電話系統（編譯安裝核心）</a:t>
            </a:r>
            <a:r>
              <a:rPr lang="zh-TW" altLang="en-US" dirty="0"/>
              <a:t>。這樣員工（使用者程式）一打「分機號碼（</a:t>
            </a:r>
            <a:r>
              <a:rPr lang="en-US" altLang="zh-TW" dirty="0" err="1"/>
              <a:t>syscall</a:t>
            </a:r>
            <a:r>
              <a:rPr lang="en-US" altLang="zh-TW" dirty="0"/>
              <a:t> number</a:t>
            </a:r>
            <a:r>
              <a:rPr lang="zh-TW" altLang="en-US" dirty="0"/>
              <a:t>）」總機就會把電話轉到你寫的分機上，自動接通、說完話就掛回去；你不用管總機怎麼轉線。</a:t>
            </a:r>
          </a:p>
          <a:p>
            <a:endParaRPr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27</a:t>
            </a:fld>
            <a:endParaRPr lang="zh-TW" altLang="en-US"/>
          </a:p>
        </p:txBody>
      </p:sp>
    </p:spTree>
    <p:extLst>
      <p:ext uri="{BB962C8B-B14F-4D97-AF65-F5344CB8AC3E}">
        <p14:creationId xmlns:p14="http://schemas.microsoft.com/office/powerpoint/2010/main" val="5372207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29</a:t>
            </a:fld>
            <a:endParaRPr lang="zh-TW" altLang="en-US"/>
          </a:p>
        </p:txBody>
      </p:sp>
    </p:spTree>
    <p:extLst>
      <p:ext uri="{BB962C8B-B14F-4D97-AF65-F5344CB8AC3E}">
        <p14:creationId xmlns:p14="http://schemas.microsoft.com/office/powerpoint/2010/main" val="38040190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1" dirty="0"/>
              <a:t>Handling Hardware Events</a:t>
            </a:r>
          </a:p>
          <a:p>
            <a:r>
              <a:rPr lang="zh-TW" altLang="en-US" b="1" dirty="0"/>
              <a:t>逐字翻譯</a:t>
            </a:r>
          </a:p>
          <a:p>
            <a:r>
              <a:rPr lang="en-US" altLang="zh-TW" b="1" dirty="0"/>
              <a:t>How CPUs work with slower hardware devices</a:t>
            </a:r>
            <a:br>
              <a:rPr lang="en-US" altLang="zh-TW" dirty="0"/>
            </a:br>
            <a:r>
              <a:rPr lang="en-US" altLang="zh-TW" b="1" dirty="0"/>
              <a:t>CPU </a:t>
            </a:r>
            <a:r>
              <a:rPr lang="zh-TW" altLang="en-US" b="1" dirty="0"/>
              <a:t>如何與較慢的硬體裝置協作</a:t>
            </a:r>
            <a:endParaRPr lang="zh-TW" altLang="en-US" dirty="0"/>
          </a:p>
          <a:p>
            <a:pPr lvl="1"/>
            <a:r>
              <a:rPr lang="en-US" altLang="zh-TW" b="1" dirty="0"/>
              <a:t>Polling: Periodically, the kernel checks hardware status and responds accordingly.</a:t>
            </a:r>
            <a:br>
              <a:rPr lang="en-US" altLang="zh-TW" dirty="0"/>
            </a:br>
            <a:r>
              <a:rPr lang="zh-TW" altLang="en-US" b="1" dirty="0"/>
              <a:t>輪詢（</a:t>
            </a:r>
            <a:r>
              <a:rPr lang="en-US" altLang="zh-TW" b="1" dirty="0"/>
              <a:t>Polling</a:t>
            </a:r>
            <a:r>
              <a:rPr lang="zh-TW" altLang="en-US" b="1" dirty="0"/>
              <a:t>）</a:t>
            </a:r>
            <a:r>
              <a:rPr lang="zh-TW" altLang="en-US" dirty="0"/>
              <a:t>：核心</a:t>
            </a:r>
            <a:r>
              <a:rPr lang="zh-TW" altLang="en-US" b="1" dirty="0"/>
              <a:t>週期性</a:t>
            </a:r>
            <a:r>
              <a:rPr lang="zh-TW" altLang="en-US" dirty="0"/>
              <a:t>地去</a:t>
            </a:r>
            <a:r>
              <a:rPr lang="zh-TW" altLang="en-US" b="1" dirty="0"/>
              <a:t>檢查硬體狀態</a:t>
            </a:r>
            <a:r>
              <a:rPr lang="zh-TW" altLang="en-US" dirty="0"/>
              <a:t>，並</a:t>
            </a:r>
            <a:r>
              <a:rPr lang="zh-TW" altLang="en-US" b="1" dirty="0"/>
              <a:t>依情況回應</a:t>
            </a:r>
            <a:r>
              <a:rPr lang="zh-TW" altLang="en-US" dirty="0"/>
              <a:t>。</a:t>
            </a:r>
          </a:p>
          <a:p>
            <a:pPr lvl="1"/>
            <a:r>
              <a:rPr lang="en-US" altLang="zh-TW" b="1" dirty="0"/>
              <a:t>Interrupt: Let the hardware to signal to the kernel.</a:t>
            </a:r>
            <a:br>
              <a:rPr lang="en-US" altLang="zh-TW" dirty="0"/>
            </a:br>
            <a:r>
              <a:rPr lang="zh-TW" altLang="en-US" b="1" dirty="0"/>
              <a:t>中斷（</a:t>
            </a:r>
            <a:r>
              <a:rPr lang="en-US" altLang="zh-TW" b="1" dirty="0"/>
              <a:t>Interrupt</a:t>
            </a:r>
            <a:r>
              <a:rPr lang="zh-TW" altLang="en-US" b="1" dirty="0"/>
              <a:t>）</a:t>
            </a:r>
            <a:r>
              <a:rPr lang="zh-TW" altLang="en-US" dirty="0"/>
              <a:t>：讓</a:t>
            </a:r>
            <a:r>
              <a:rPr lang="zh-TW" altLang="en-US" b="1" dirty="0"/>
              <a:t>硬體主動發訊號</a:t>
            </a:r>
            <a:r>
              <a:rPr lang="zh-TW" altLang="en-US" dirty="0"/>
              <a:t>給核心。</a:t>
            </a:r>
          </a:p>
          <a:p>
            <a:r>
              <a:rPr lang="en-US" altLang="zh-TW" b="1" dirty="0"/>
              <a:t>What causes interrupts:</a:t>
            </a:r>
            <a:br>
              <a:rPr lang="en-US" altLang="zh-TW" dirty="0"/>
            </a:br>
            <a:r>
              <a:rPr lang="zh-TW" altLang="en-US" b="1" dirty="0"/>
              <a:t>什麼會引發中斷：</a:t>
            </a:r>
            <a:endParaRPr lang="zh-TW" altLang="en-US" dirty="0"/>
          </a:p>
          <a:p>
            <a:pPr lvl="1"/>
            <a:r>
              <a:rPr lang="en-US" altLang="zh-TW" b="1" dirty="0"/>
              <a:t>Interrupt (Asynchronous, Hardware Interrupts): Hardware devices physically produce electronic signals, which are directed into input pins on an interrupt controller.</a:t>
            </a:r>
            <a:br>
              <a:rPr lang="en-US" altLang="zh-TW" dirty="0"/>
            </a:br>
            <a:r>
              <a:rPr lang="zh-TW" altLang="en-US" b="1" dirty="0"/>
              <a:t>中斷（非同步、硬體中斷）</a:t>
            </a:r>
            <a:r>
              <a:rPr lang="zh-TW" altLang="en-US" dirty="0"/>
              <a:t>：</a:t>
            </a:r>
            <a:r>
              <a:rPr lang="zh-TW" altLang="en-US" b="1" dirty="0"/>
              <a:t>硬體裝置實體地產生電子訊號</a:t>
            </a:r>
            <a:r>
              <a:rPr lang="zh-TW" altLang="en-US" dirty="0"/>
              <a:t>，並送進</a:t>
            </a:r>
            <a:r>
              <a:rPr lang="zh-TW" altLang="en-US" b="1" dirty="0"/>
              <a:t>中斷控制器</a:t>
            </a:r>
            <a:r>
              <a:rPr lang="zh-TW" altLang="en-US" dirty="0"/>
              <a:t>的</a:t>
            </a:r>
            <a:r>
              <a:rPr lang="zh-TW" altLang="en-US" b="1" dirty="0"/>
              <a:t>輸入腳位</a:t>
            </a:r>
            <a:r>
              <a:rPr lang="zh-TW" altLang="en-US" dirty="0"/>
              <a:t>。</a:t>
            </a:r>
          </a:p>
          <a:p>
            <a:r>
              <a:rPr lang="zh-TW" altLang="en-US" dirty="0"/>
              <a:t>右圖標註（主機板結構示意）：</a:t>
            </a:r>
            <a:br>
              <a:rPr lang="zh-TW" altLang="en-US" dirty="0"/>
            </a:br>
            <a:r>
              <a:rPr lang="en-US" altLang="zh-TW" b="1" dirty="0"/>
              <a:t>Local APIC</a:t>
            </a:r>
            <a:r>
              <a:rPr lang="zh-TW" altLang="en-US" dirty="0"/>
              <a:t>（每顆 </a:t>
            </a:r>
            <a:r>
              <a:rPr lang="en-US" altLang="zh-TW" dirty="0"/>
              <a:t>CPU </a:t>
            </a:r>
            <a:r>
              <a:rPr lang="zh-TW" altLang="en-US" dirty="0"/>
              <a:t>的本地中斷控制器）→ </a:t>
            </a:r>
            <a:r>
              <a:rPr lang="en-US" altLang="zh-TW" b="1" dirty="0"/>
              <a:t>CPU</a:t>
            </a:r>
            <a:br>
              <a:rPr lang="en-US" altLang="zh-TW" dirty="0"/>
            </a:br>
            <a:r>
              <a:rPr lang="en-US" altLang="zh-TW" b="1" dirty="0"/>
              <a:t>Northbridge</a:t>
            </a:r>
            <a:r>
              <a:rPr lang="zh-TW" altLang="en-US" dirty="0"/>
              <a:t>（記憶體控制中心；</a:t>
            </a:r>
            <a:r>
              <a:rPr lang="en-US" altLang="zh-TW" dirty="0"/>
              <a:t>2019 </a:t>
            </a:r>
            <a:r>
              <a:rPr lang="zh-TW" altLang="en-US" dirty="0"/>
              <a:t>後併入 </a:t>
            </a:r>
            <a:r>
              <a:rPr lang="en-US" altLang="zh-TW" dirty="0"/>
              <a:t>CPU</a:t>
            </a:r>
            <a:r>
              <a:rPr lang="zh-TW" altLang="en-US" dirty="0"/>
              <a:t>）</a:t>
            </a:r>
            <a:br>
              <a:rPr lang="zh-TW" altLang="en-US" dirty="0"/>
            </a:br>
            <a:r>
              <a:rPr lang="en-US" altLang="zh-TW" b="1" dirty="0"/>
              <a:t>Southbridge / I/O Controller Hub</a:t>
            </a:r>
            <a:r>
              <a:rPr lang="zh-TW" altLang="en-US" dirty="0"/>
              <a:t>（</a:t>
            </a:r>
            <a:r>
              <a:rPr lang="en-US" altLang="zh-TW" dirty="0"/>
              <a:t>I/O </a:t>
            </a:r>
            <a:r>
              <a:rPr lang="zh-TW" altLang="en-US" dirty="0"/>
              <a:t>控制中心）</a:t>
            </a:r>
            <a:br>
              <a:rPr lang="zh-TW" altLang="en-US" dirty="0"/>
            </a:br>
            <a:r>
              <a:rPr lang="en-US" altLang="zh-TW" b="1" dirty="0"/>
              <a:t>Interrupt Controller (I/O APIC)</a:t>
            </a:r>
            <a:r>
              <a:rPr lang="zh-TW" altLang="en-US" dirty="0"/>
              <a:t>（</a:t>
            </a:r>
            <a:r>
              <a:rPr lang="en-US" altLang="zh-TW" dirty="0"/>
              <a:t>I/O </a:t>
            </a:r>
            <a:r>
              <a:rPr lang="zh-TW" altLang="en-US" dirty="0"/>
              <a:t>中斷控制器）</a:t>
            </a:r>
            <a:br>
              <a:rPr lang="zh-TW" altLang="en-US" dirty="0"/>
            </a:br>
            <a:r>
              <a:rPr lang="zh-TW" altLang="en-US" dirty="0"/>
              <a:t>連接裝置：</a:t>
            </a:r>
            <a:r>
              <a:rPr lang="en-US" altLang="zh-TW" b="1" dirty="0"/>
              <a:t>DRAM</a:t>
            </a:r>
            <a:r>
              <a:rPr lang="zh-TW" altLang="en-US" b="1" dirty="0"/>
              <a:t>、</a:t>
            </a:r>
            <a:r>
              <a:rPr lang="en-US" altLang="zh-TW" b="1" dirty="0"/>
              <a:t>GPU</a:t>
            </a:r>
            <a:r>
              <a:rPr lang="zh-TW" altLang="en-US" b="1" dirty="0"/>
              <a:t>、</a:t>
            </a:r>
            <a:r>
              <a:rPr lang="en-US" altLang="zh-TW" b="1" dirty="0"/>
              <a:t>Keyboard</a:t>
            </a:r>
            <a:r>
              <a:rPr lang="zh-TW" altLang="en-US" b="1" dirty="0"/>
              <a:t>、</a:t>
            </a:r>
            <a:r>
              <a:rPr lang="en-US" altLang="zh-TW" b="1" dirty="0"/>
              <a:t>HDD</a:t>
            </a:r>
            <a:r>
              <a:rPr lang="zh-TW" altLang="en-US" b="1" dirty="0"/>
              <a:t>、</a:t>
            </a:r>
            <a:r>
              <a:rPr lang="en-US" altLang="zh-TW" b="1" dirty="0"/>
              <a:t>PCIE SSD</a:t>
            </a:r>
            <a:br>
              <a:rPr lang="en-US" altLang="zh-TW" dirty="0"/>
            </a:br>
            <a:r>
              <a:rPr lang="en-US" altLang="zh-TW" b="1" dirty="0"/>
              <a:t>Chipset</a:t>
            </a:r>
            <a:r>
              <a:rPr lang="zh-TW" altLang="en-US" dirty="0"/>
              <a:t>（晶片組）／</a:t>
            </a:r>
            <a:r>
              <a:rPr lang="en-US" altLang="zh-TW" b="1" dirty="0"/>
              <a:t>Motherboard</a:t>
            </a:r>
            <a:r>
              <a:rPr lang="zh-TW" altLang="en-US" dirty="0"/>
              <a:t>（主機板）</a:t>
            </a:r>
            <a:br>
              <a:rPr lang="zh-TW" altLang="en-US" dirty="0"/>
            </a:br>
            <a:r>
              <a:rPr lang="en-US" altLang="zh-TW" b="1" dirty="0"/>
              <a:t>Note:</a:t>
            </a:r>
            <a:r>
              <a:rPr lang="en-US" altLang="zh-TW" dirty="0"/>
              <a:t> </a:t>
            </a:r>
            <a:r>
              <a:rPr lang="en-US" altLang="zh-TW" i="1" dirty="0"/>
              <a:t>After 2019, all northbridge functions had been integrated into CPU!!</a:t>
            </a:r>
            <a:br>
              <a:rPr lang="en-US" altLang="zh-TW" dirty="0"/>
            </a:br>
            <a:r>
              <a:rPr lang="zh-TW" altLang="en-US" b="1" dirty="0"/>
              <a:t>註：</a:t>
            </a:r>
            <a:r>
              <a:rPr lang="en-US" altLang="zh-TW" b="1" dirty="0"/>
              <a:t>2019 </a:t>
            </a:r>
            <a:r>
              <a:rPr lang="zh-TW" altLang="en-US" b="1" dirty="0"/>
              <a:t>年後，北橋的功能已經全部整合進 </a:t>
            </a:r>
            <a:r>
              <a:rPr lang="en-US" altLang="zh-TW" b="1" dirty="0"/>
              <a:t>CPU</a:t>
            </a:r>
            <a:r>
              <a:rPr lang="zh-TW" altLang="en-US" b="1" dirty="0"/>
              <a:t>！</a:t>
            </a:r>
            <a:endParaRPr lang="en-US" altLang="zh-TW" dirty="0"/>
          </a:p>
          <a:p>
            <a:br>
              <a:rPr lang="en-US" altLang="zh-TW" dirty="0"/>
            </a:br>
            <a:endParaRPr lang="en-US" altLang="zh-TW" dirty="0"/>
          </a:p>
          <a:p>
            <a:r>
              <a:rPr lang="zh-TW" altLang="en-US" b="1" dirty="0"/>
              <a:t>解說（重點脈絡）</a:t>
            </a:r>
          </a:p>
          <a:p>
            <a:r>
              <a:rPr lang="zh-TW" altLang="en-US" b="1" dirty="0"/>
              <a:t>裝置常常比 </a:t>
            </a:r>
            <a:r>
              <a:rPr lang="en-US" altLang="zh-TW" b="1" dirty="0"/>
              <a:t>CPU </a:t>
            </a:r>
            <a:r>
              <a:rPr lang="zh-TW" altLang="en-US" b="1" dirty="0"/>
              <a:t>慢</a:t>
            </a:r>
            <a:r>
              <a:rPr lang="zh-TW" altLang="en-US" dirty="0"/>
              <a:t>。有兩種協作模式：</a:t>
            </a:r>
          </a:p>
          <a:p>
            <a:pPr lvl="1"/>
            <a:r>
              <a:rPr lang="zh-TW" altLang="en-US" b="1" dirty="0"/>
              <a:t>輪詢</a:t>
            </a:r>
            <a:r>
              <a:rPr lang="zh-TW" altLang="en-US" dirty="0"/>
              <a:t>：核心固定間隔去問「你好了嗎？」→ 實作簡單，但</a:t>
            </a:r>
            <a:r>
              <a:rPr lang="zh-TW" altLang="en-US" b="1" dirty="0"/>
              <a:t>浪費 </a:t>
            </a:r>
            <a:r>
              <a:rPr lang="en-US" altLang="zh-TW" b="1" dirty="0"/>
              <a:t>CPU</a:t>
            </a:r>
            <a:r>
              <a:rPr lang="zh-TW" altLang="en-US" dirty="0"/>
              <a:t>（忙等）。</a:t>
            </a:r>
          </a:p>
          <a:p>
            <a:pPr lvl="1"/>
            <a:r>
              <a:rPr lang="zh-TW" altLang="en-US" b="1" dirty="0"/>
              <a:t>中斷</a:t>
            </a:r>
            <a:r>
              <a:rPr lang="zh-TW" altLang="en-US" dirty="0"/>
              <a:t>：裝置一有事件就</a:t>
            </a:r>
            <a:r>
              <a:rPr lang="zh-TW" altLang="en-US" b="1" dirty="0"/>
              <a:t>主動按鈴</a:t>
            </a:r>
            <a:r>
              <a:rPr lang="zh-TW" altLang="en-US" dirty="0"/>
              <a:t>通知核心 → </a:t>
            </a:r>
            <a:r>
              <a:rPr lang="zh-TW" altLang="en-US" b="1" dirty="0"/>
              <a:t>省能、省時間、延遲低</a:t>
            </a:r>
            <a:r>
              <a:rPr lang="zh-TW" altLang="en-US" dirty="0"/>
              <a:t>。</a:t>
            </a:r>
          </a:p>
          <a:p>
            <a:r>
              <a:rPr lang="zh-TW" altLang="en-US" b="1" dirty="0"/>
              <a:t>硬體中斷如何到 </a:t>
            </a:r>
            <a:r>
              <a:rPr lang="en-US" altLang="zh-TW" b="1" dirty="0"/>
              <a:t>CPU</a:t>
            </a:r>
            <a:r>
              <a:rPr lang="zh-TW" altLang="en-US" b="1" dirty="0"/>
              <a:t>？</a:t>
            </a:r>
            <a:br>
              <a:rPr lang="en-US" altLang="zh-TW" dirty="0"/>
            </a:br>
            <a:r>
              <a:rPr lang="zh-TW" altLang="en-US" dirty="0"/>
              <a:t>裝置腳位產生</a:t>
            </a:r>
            <a:r>
              <a:rPr lang="zh-TW" altLang="en-US" b="1" dirty="0"/>
              <a:t>電位變化</a:t>
            </a:r>
            <a:r>
              <a:rPr lang="en-US" altLang="zh-TW" b="1" dirty="0"/>
              <a:t>/</a:t>
            </a:r>
            <a:r>
              <a:rPr lang="zh-TW" altLang="en-US" b="1" dirty="0"/>
              <a:t>脈衝</a:t>
            </a:r>
            <a:r>
              <a:rPr lang="zh-TW" altLang="en-US" dirty="0"/>
              <a:t> → 送到</a:t>
            </a:r>
            <a:r>
              <a:rPr lang="zh-TW" altLang="en-US" b="1" dirty="0"/>
              <a:t>中斷控制器</a:t>
            </a:r>
            <a:r>
              <a:rPr lang="zh-TW" altLang="en-US" dirty="0"/>
              <a:t>（傳統 </a:t>
            </a:r>
            <a:r>
              <a:rPr lang="en-US" altLang="zh-TW" dirty="0"/>
              <a:t>PIC</a:t>
            </a:r>
            <a:r>
              <a:rPr lang="zh-TW" altLang="en-US" dirty="0"/>
              <a:t>、</a:t>
            </a:r>
            <a:r>
              <a:rPr lang="en-US" altLang="zh-TW" dirty="0"/>
              <a:t>APIC</a:t>
            </a:r>
            <a:r>
              <a:rPr lang="zh-TW" altLang="en-US" dirty="0"/>
              <a:t>、</a:t>
            </a:r>
            <a:r>
              <a:rPr lang="en-US" altLang="zh-TW" dirty="0"/>
              <a:t>I/O APIC</a:t>
            </a:r>
            <a:r>
              <a:rPr lang="zh-TW" altLang="en-US" dirty="0"/>
              <a:t>、</a:t>
            </a:r>
            <a:r>
              <a:rPr lang="en-US" altLang="zh-TW" dirty="0"/>
              <a:t>GIC </a:t>
            </a:r>
            <a:r>
              <a:rPr lang="zh-TW" altLang="en-US" dirty="0"/>
              <a:t>等）→ 控制器</a:t>
            </a:r>
            <a:r>
              <a:rPr lang="zh-TW" altLang="en-US" b="1" dirty="0"/>
              <a:t>編號</a:t>
            </a:r>
            <a:r>
              <a:rPr lang="en-US" altLang="zh-TW" b="1" dirty="0"/>
              <a:t>/</a:t>
            </a:r>
            <a:r>
              <a:rPr lang="zh-TW" altLang="en-US" b="1" dirty="0"/>
              <a:t>排隊</a:t>
            </a:r>
            <a:r>
              <a:rPr lang="en-US" altLang="zh-TW" b="1" dirty="0"/>
              <a:t>/</a:t>
            </a:r>
            <a:r>
              <a:rPr lang="zh-TW" altLang="en-US" b="1" dirty="0"/>
              <a:t>分派</a:t>
            </a:r>
            <a:r>
              <a:rPr lang="zh-TW" altLang="en-US" dirty="0"/>
              <a:t> → 送到對應 </a:t>
            </a:r>
            <a:r>
              <a:rPr lang="en-US" altLang="zh-TW" b="1" dirty="0"/>
              <a:t>CPU/</a:t>
            </a:r>
            <a:r>
              <a:rPr lang="zh-TW" altLang="en-US" b="1" dirty="0"/>
              <a:t>核心</a:t>
            </a:r>
            <a:r>
              <a:rPr lang="zh-TW" altLang="en-US" dirty="0"/>
              <a:t> 的 </a:t>
            </a:r>
            <a:r>
              <a:rPr lang="en-US" altLang="zh-TW" b="1" dirty="0"/>
              <a:t>Local APIC</a:t>
            </a:r>
            <a:r>
              <a:rPr lang="en-US" altLang="zh-TW" dirty="0"/>
              <a:t> → </a:t>
            </a:r>
            <a:r>
              <a:rPr lang="zh-TW" altLang="en-US" dirty="0"/>
              <a:t>觸發 </a:t>
            </a:r>
            <a:r>
              <a:rPr lang="zh-TW" altLang="en-US" b="1" dirty="0"/>
              <a:t>中斷向量</a:t>
            </a:r>
            <a:r>
              <a:rPr lang="zh-TW" altLang="en-US" dirty="0"/>
              <a:t> → 進入 </a:t>
            </a:r>
            <a:r>
              <a:rPr lang="en-US" altLang="zh-TW" dirty="0"/>
              <a:t>OS </a:t>
            </a:r>
            <a:r>
              <a:rPr lang="zh-TW" altLang="en-US" dirty="0"/>
              <a:t>的 </a:t>
            </a:r>
            <a:r>
              <a:rPr lang="en-US" altLang="zh-TW" b="1" dirty="0"/>
              <a:t>ISR</a:t>
            </a:r>
            <a:r>
              <a:rPr lang="zh-TW" altLang="en-US" b="1" dirty="0"/>
              <a:t>（中斷服務常式）</a:t>
            </a:r>
            <a:r>
              <a:rPr lang="zh-TW" altLang="en-US" dirty="0"/>
              <a:t>。</a:t>
            </a:r>
          </a:p>
          <a:p>
            <a:r>
              <a:rPr lang="zh-TW" altLang="en-US" b="1" dirty="0"/>
              <a:t>非同步的意義</a:t>
            </a:r>
            <a:r>
              <a:rPr lang="zh-TW" altLang="en-US" dirty="0"/>
              <a:t>：中斷</a:t>
            </a:r>
            <a:r>
              <a:rPr lang="zh-TW" altLang="en-US" b="1" dirty="0"/>
              <a:t>不按時鐘點名</a:t>
            </a:r>
            <a:r>
              <a:rPr lang="zh-TW" altLang="en-US" dirty="0"/>
              <a:t>，何時來都可能打斷目前指令流程；</a:t>
            </a:r>
            <a:r>
              <a:rPr lang="en-US" altLang="zh-TW" dirty="0"/>
              <a:t>OS </a:t>
            </a:r>
            <a:r>
              <a:rPr lang="zh-TW" altLang="en-US" dirty="0"/>
              <a:t>保存現場、處理事件、再恢復原本工作。</a:t>
            </a:r>
          </a:p>
          <a:p>
            <a:br>
              <a:rPr lang="zh-TW" altLang="en-US" dirty="0"/>
            </a:br>
            <a:endParaRPr lang="zh-TW" altLang="en-US" dirty="0"/>
          </a:p>
          <a:p>
            <a:r>
              <a:rPr lang="zh-TW" altLang="en-US" b="1" dirty="0"/>
              <a:t>一句話解釋</a:t>
            </a:r>
          </a:p>
          <a:p>
            <a:r>
              <a:rPr lang="zh-TW" altLang="en-US" b="1" dirty="0"/>
              <a:t>中斷就是讓硬體主動按鈴找核心處理事件，比起核心一直去問更有效率。</a:t>
            </a:r>
            <a:endParaRPr lang="zh-TW" altLang="en-US" dirty="0"/>
          </a:p>
          <a:p>
            <a:br>
              <a:rPr lang="zh-TW" altLang="en-US" dirty="0"/>
            </a:br>
            <a:endParaRPr lang="zh-TW" altLang="en-US" dirty="0"/>
          </a:p>
          <a:p>
            <a:r>
              <a:rPr lang="zh-TW" altLang="en-US" b="1" dirty="0"/>
              <a:t>白話解說（超直白）</a:t>
            </a:r>
          </a:p>
          <a:p>
            <a:r>
              <a:rPr lang="zh-TW" altLang="en-US" dirty="0"/>
              <a:t>把 </a:t>
            </a:r>
            <a:r>
              <a:rPr lang="en-US" altLang="zh-TW" dirty="0"/>
              <a:t>CPU </a:t>
            </a:r>
            <a:r>
              <a:rPr lang="zh-TW" altLang="en-US" dirty="0"/>
              <a:t>想成櫃台人員、硬體是客人：</a:t>
            </a:r>
          </a:p>
          <a:p>
            <a:r>
              <a:rPr lang="zh-TW" altLang="en-US" b="1" dirty="0"/>
              <a:t>輪詢</a:t>
            </a:r>
            <a:r>
              <a:rPr lang="zh-TW" altLang="en-US" dirty="0"/>
              <a:t>＝櫃台每隔 </a:t>
            </a:r>
            <a:r>
              <a:rPr lang="en-US" altLang="zh-TW" dirty="0"/>
              <a:t>1 </a:t>
            </a:r>
            <a:r>
              <a:rPr lang="zh-TW" altLang="en-US" dirty="0"/>
              <a:t>分鐘問所有客人「有需要嗎？」浪費時間。</a:t>
            </a:r>
          </a:p>
          <a:p>
            <a:r>
              <a:rPr lang="zh-TW" altLang="en-US" b="1" dirty="0"/>
              <a:t>中斷</a:t>
            </a:r>
            <a:r>
              <a:rPr lang="zh-TW" altLang="en-US" dirty="0"/>
              <a:t>＝客人</a:t>
            </a:r>
            <a:r>
              <a:rPr lang="zh-TW" altLang="en-US" b="1" dirty="0"/>
              <a:t>有事就按服務鈴</a:t>
            </a:r>
            <a:r>
              <a:rPr lang="zh-TW" altLang="en-US" dirty="0"/>
              <a:t>，總機（</a:t>
            </a:r>
            <a:r>
              <a:rPr lang="zh-TW" altLang="en-US" b="1" dirty="0"/>
              <a:t>中斷控制器</a:t>
            </a:r>
            <a:r>
              <a:rPr lang="zh-TW" altLang="en-US" dirty="0"/>
              <a:t>）決定先服務哪一位，再把電話</a:t>
            </a:r>
            <a:r>
              <a:rPr lang="zh-TW" altLang="en-US" b="1" dirty="0"/>
              <a:t>轉給對的櫃台（</a:t>
            </a:r>
            <a:r>
              <a:rPr lang="en-US" altLang="zh-TW" b="1" dirty="0"/>
              <a:t>CPU/Local APIC</a:t>
            </a:r>
            <a:r>
              <a:rPr lang="zh-TW" altLang="en-US" b="1" dirty="0"/>
              <a:t>）</a:t>
            </a:r>
            <a:r>
              <a:rPr lang="zh-TW" altLang="en-US" dirty="0"/>
              <a:t>。</a:t>
            </a:r>
            <a:br>
              <a:rPr lang="zh-TW" altLang="en-US" dirty="0"/>
            </a:br>
            <a:r>
              <a:rPr lang="zh-TW" altLang="en-US" dirty="0"/>
              <a:t>結果：</a:t>
            </a:r>
            <a:r>
              <a:rPr lang="zh-TW" altLang="en-US" b="1" dirty="0"/>
              <a:t>不耽誤、效率高</a:t>
            </a:r>
            <a:r>
              <a:rPr lang="zh-TW" altLang="en-US" dirty="0"/>
              <a:t>，</a:t>
            </a:r>
            <a:r>
              <a:rPr lang="en-US" altLang="zh-TW" dirty="0"/>
              <a:t>CPU </a:t>
            </a:r>
            <a:r>
              <a:rPr lang="zh-TW" altLang="en-US" dirty="0"/>
              <a:t>大多數時間做正事，只有鈴響時才處理事件。</a:t>
            </a:r>
          </a:p>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30</a:t>
            </a:fld>
            <a:endParaRPr lang="zh-TW" altLang="en-US"/>
          </a:p>
        </p:txBody>
      </p:sp>
    </p:spTree>
    <p:extLst>
      <p:ext uri="{BB962C8B-B14F-4D97-AF65-F5344CB8AC3E}">
        <p14:creationId xmlns:p14="http://schemas.microsoft.com/office/powerpoint/2010/main" val="31684058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1" dirty="0"/>
              <a:t>Exceptions (Synchronous, Software Interrupts): Exceptions are produced by the processor while executing instructions either in response to a programming error (e.g., divide by zero) or abnormal condition (e.g., call a system call or a page fault).</a:t>
            </a:r>
            <a:br>
              <a:rPr lang="en-US" altLang="zh-TW" dirty="0"/>
            </a:br>
            <a:r>
              <a:rPr lang="zh-TW" altLang="en-US" b="1" dirty="0"/>
              <a:t>例外（同步，軟體中斷）</a:t>
            </a:r>
            <a:r>
              <a:rPr lang="zh-TW" altLang="en-US" dirty="0"/>
              <a:t>：由</a:t>
            </a:r>
            <a:r>
              <a:rPr lang="zh-TW" altLang="en-US" b="1" dirty="0"/>
              <a:t>處理器在執行指令時產生</a:t>
            </a:r>
            <a:r>
              <a:rPr lang="zh-TW" altLang="en-US" dirty="0"/>
              <a:t>，可能因</a:t>
            </a:r>
            <a:r>
              <a:rPr lang="zh-TW" altLang="en-US" b="1" dirty="0"/>
              <a:t>程式錯誤</a:t>
            </a:r>
            <a:r>
              <a:rPr lang="zh-TW" altLang="en-US" dirty="0"/>
              <a:t>（如除以 </a:t>
            </a:r>
            <a:r>
              <a:rPr lang="en-US" altLang="zh-TW" dirty="0"/>
              <a:t>0</a:t>
            </a:r>
            <a:r>
              <a:rPr lang="zh-TW" altLang="en-US" dirty="0"/>
              <a:t>）或</a:t>
            </a:r>
            <a:r>
              <a:rPr lang="zh-TW" altLang="en-US" b="1" dirty="0"/>
              <a:t>異常情況</a:t>
            </a:r>
            <a:r>
              <a:rPr lang="zh-TW" altLang="en-US" dirty="0"/>
              <a:t>（如</a:t>
            </a:r>
            <a:r>
              <a:rPr lang="zh-TW" altLang="en-US" b="1" dirty="0"/>
              <a:t>系統呼叫</a:t>
            </a:r>
            <a:r>
              <a:rPr lang="zh-TW" altLang="en-US" dirty="0"/>
              <a:t>、</a:t>
            </a:r>
            <a:r>
              <a:rPr lang="zh-TW" altLang="en-US" b="1" dirty="0"/>
              <a:t>缺頁</a:t>
            </a:r>
            <a:r>
              <a:rPr lang="zh-TW" altLang="en-US" dirty="0"/>
              <a:t>）。</a:t>
            </a:r>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31</a:t>
            </a:fld>
            <a:endParaRPr lang="zh-TW" altLang="en-US"/>
          </a:p>
        </p:txBody>
      </p:sp>
    </p:spTree>
    <p:extLst>
      <p:ext uri="{BB962C8B-B14F-4D97-AF65-F5344CB8AC3E}">
        <p14:creationId xmlns:p14="http://schemas.microsoft.com/office/powerpoint/2010/main" val="35648336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1" dirty="0"/>
              <a:t>Interrupt Request (IRQ)</a:t>
            </a:r>
          </a:p>
          <a:p>
            <a:r>
              <a:rPr lang="zh-TW" altLang="en-US" b="1" dirty="0"/>
              <a:t>逐字翻譯</a:t>
            </a:r>
          </a:p>
          <a:p>
            <a:r>
              <a:rPr lang="en-US" altLang="zh-TW" b="1" dirty="0"/>
              <a:t>Different devices can be associated with different interrupts by means of a unique interrupt value (max: 256) associated with each interrupt (Just like system call!)</a:t>
            </a:r>
            <a:br>
              <a:rPr lang="en-US" altLang="zh-TW" dirty="0"/>
            </a:br>
            <a:r>
              <a:rPr lang="zh-TW" altLang="en-US" dirty="0"/>
              <a:t>不同的裝置可以透過</a:t>
            </a:r>
            <a:r>
              <a:rPr lang="zh-TW" altLang="en-US" b="1" dirty="0"/>
              <a:t>獨一的中斷值（最多 </a:t>
            </a:r>
            <a:r>
              <a:rPr lang="en-US" altLang="zh-TW" b="1" dirty="0"/>
              <a:t>256 </a:t>
            </a:r>
            <a:r>
              <a:rPr lang="zh-TW" altLang="en-US" b="1" dirty="0"/>
              <a:t>個）來對應到不同的中斷</a:t>
            </a:r>
            <a:r>
              <a:rPr lang="zh-TW" altLang="en-US" dirty="0"/>
              <a:t>（就像</a:t>
            </a:r>
            <a:r>
              <a:rPr lang="zh-TW" altLang="en-US" b="1" dirty="0"/>
              <a:t>系統呼叫號碼</a:t>
            </a:r>
            <a:r>
              <a:rPr lang="zh-TW" altLang="en-US" dirty="0"/>
              <a:t>一樣）。</a:t>
            </a:r>
          </a:p>
          <a:p>
            <a:r>
              <a:rPr lang="en-US" altLang="zh-TW" b="1" dirty="0"/>
              <a:t>Interrupt Request (IRQ):</a:t>
            </a:r>
            <a:br>
              <a:rPr lang="en-US" altLang="zh-TW" dirty="0"/>
            </a:br>
            <a:r>
              <a:rPr lang="zh-TW" altLang="en-US" b="1" dirty="0"/>
              <a:t>中斷請求（</a:t>
            </a:r>
            <a:r>
              <a:rPr lang="en-US" altLang="zh-TW" b="1" dirty="0"/>
              <a:t>IRQ</a:t>
            </a:r>
            <a:r>
              <a:rPr lang="zh-TW" altLang="en-US" b="1" dirty="0"/>
              <a:t>）</a:t>
            </a:r>
            <a:r>
              <a:rPr lang="zh-TW" altLang="en-US" dirty="0"/>
              <a:t>：</a:t>
            </a:r>
          </a:p>
          <a:p>
            <a:pPr lvl="1"/>
            <a:r>
              <a:rPr lang="en-US" altLang="zh-TW" b="1" dirty="0"/>
              <a:t>Specific interrupt is associated with a specific device, and the kernel knows this. (Assigned during boot)</a:t>
            </a:r>
            <a:br>
              <a:rPr lang="en-US" altLang="zh-TW" dirty="0"/>
            </a:br>
            <a:r>
              <a:rPr lang="zh-TW" altLang="en-US" b="1" dirty="0"/>
              <a:t>特定的中斷</a:t>
            </a:r>
            <a:r>
              <a:rPr lang="zh-TW" altLang="en-US" dirty="0"/>
              <a:t>會對應到</a:t>
            </a:r>
            <a:r>
              <a:rPr lang="zh-TW" altLang="en-US" b="1" dirty="0"/>
              <a:t>特定裝置</a:t>
            </a:r>
            <a:r>
              <a:rPr lang="zh-TW" altLang="en-US" dirty="0"/>
              <a:t>，而</a:t>
            </a:r>
            <a:r>
              <a:rPr lang="zh-TW" altLang="en-US" b="1" dirty="0"/>
              <a:t>核心知道這個對應</a:t>
            </a:r>
            <a:r>
              <a:rPr lang="zh-TW" altLang="en-US" dirty="0"/>
              <a:t>（在</a:t>
            </a:r>
            <a:r>
              <a:rPr lang="zh-TW" altLang="en-US" b="1" dirty="0"/>
              <a:t>開機</a:t>
            </a:r>
            <a:r>
              <a:rPr lang="zh-TW" altLang="en-US" dirty="0"/>
              <a:t>時被設定）。</a:t>
            </a:r>
          </a:p>
          <a:p>
            <a:pPr lvl="1"/>
            <a:r>
              <a:rPr lang="en-US" altLang="zh-TW" b="1" dirty="0"/>
              <a:t>IRQ 0 → timer interrupt</a:t>
            </a:r>
            <a:br>
              <a:rPr lang="en-US" altLang="zh-TW" dirty="0"/>
            </a:br>
            <a:r>
              <a:rPr lang="en-US" altLang="zh-TW" dirty="0"/>
              <a:t>IRQ 0 → </a:t>
            </a:r>
            <a:r>
              <a:rPr lang="zh-TW" altLang="en-US" b="1" dirty="0"/>
              <a:t>定時器</a:t>
            </a:r>
            <a:r>
              <a:rPr lang="zh-TW" altLang="en-US" dirty="0"/>
              <a:t>中斷</a:t>
            </a:r>
          </a:p>
          <a:p>
            <a:pPr lvl="1"/>
            <a:r>
              <a:rPr lang="en-US" altLang="zh-TW" b="1" dirty="0"/>
              <a:t>IRQ 1 → keyboard interrupt</a:t>
            </a:r>
            <a:br>
              <a:rPr lang="en-US" altLang="zh-TW" dirty="0"/>
            </a:br>
            <a:r>
              <a:rPr lang="en-US" altLang="zh-TW" dirty="0"/>
              <a:t>IRQ 1 → </a:t>
            </a:r>
            <a:r>
              <a:rPr lang="zh-TW" altLang="en-US" b="1" dirty="0"/>
              <a:t>鍵盤</a:t>
            </a:r>
            <a:r>
              <a:rPr lang="zh-TW" altLang="en-US" dirty="0"/>
              <a:t>中斷</a:t>
            </a:r>
          </a:p>
          <a:p>
            <a:pPr lvl="1"/>
            <a:r>
              <a:rPr lang="en-US" altLang="zh-TW" b="1" dirty="0"/>
              <a:t>Dynamically Allocate IRQ # → PCI devices</a:t>
            </a:r>
            <a:br>
              <a:rPr lang="en-US" altLang="zh-TW" dirty="0"/>
            </a:br>
            <a:r>
              <a:rPr lang="en-US" altLang="zh-TW" b="1" dirty="0"/>
              <a:t>IRQ </a:t>
            </a:r>
            <a:r>
              <a:rPr lang="zh-TW" altLang="en-US" b="1" dirty="0"/>
              <a:t>號碼可動態分配</a:t>
            </a:r>
            <a:r>
              <a:rPr lang="zh-TW" altLang="en-US" dirty="0"/>
              <a:t>給 </a:t>
            </a:r>
            <a:r>
              <a:rPr lang="en-US" altLang="zh-TW" b="1" dirty="0"/>
              <a:t>PCI </a:t>
            </a:r>
            <a:r>
              <a:rPr lang="zh-TW" altLang="en-US" b="1" dirty="0"/>
              <a:t>裝置</a:t>
            </a:r>
            <a:r>
              <a:rPr lang="zh-TW" altLang="en-US" dirty="0"/>
              <a:t>。</a:t>
            </a:r>
          </a:p>
          <a:p>
            <a:r>
              <a:rPr lang="zh-TW" altLang="en-US" dirty="0"/>
              <a:t>（右圖：</a:t>
            </a:r>
            <a:r>
              <a:rPr lang="en-US" altLang="zh-TW" b="1" dirty="0"/>
              <a:t>X86 Interrupt Vector Table</a:t>
            </a:r>
            <a:r>
              <a:rPr lang="zh-TW" altLang="en-US" dirty="0"/>
              <a:t>；</a:t>
            </a:r>
            <a:r>
              <a:rPr lang="en-US" altLang="zh-TW" dirty="0"/>
              <a:t>BIOS/OS </a:t>
            </a:r>
            <a:r>
              <a:rPr lang="zh-TW" altLang="en-US" dirty="0"/>
              <a:t>可把傳統 </a:t>
            </a:r>
            <a:r>
              <a:rPr lang="en-US" altLang="zh-TW" dirty="0"/>
              <a:t>IRQ </a:t>
            </a:r>
            <a:r>
              <a:rPr lang="zh-TW" altLang="en-US" dirty="0"/>
              <a:t>重新對映到</a:t>
            </a:r>
            <a:r>
              <a:rPr lang="zh-TW" altLang="en-US" b="1" dirty="0"/>
              <a:t>中斷向量號</a:t>
            </a:r>
            <a:r>
              <a:rPr lang="zh-TW" altLang="en-US" dirty="0"/>
              <a:t>。）</a:t>
            </a:r>
          </a:p>
          <a:p>
            <a:br>
              <a:rPr lang="zh-TW" altLang="en-US" dirty="0"/>
            </a:br>
            <a:endParaRPr lang="zh-TW" altLang="en-US" dirty="0"/>
          </a:p>
          <a:p>
            <a:r>
              <a:rPr lang="zh-TW" altLang="en-US" b="1" dirty="0"/>
              <a:t>解說（發生什麼、名詞怎麼對）</a:t>
            </a:r>
          </a:p>
          <a:p>
            <a:r>
              <a:rPr lang="zh-TW" altLang="en-US" b="1" dirty="0"/>
              <a:t>向量號（</a:t>
            </a:r>
            <a:r>
              <a:rPr lang="en-US" altLang="zh-TW" b="1" dirty="0"/>
              <a:t>Interrupt Vector Number, 0–255</a:t>
            </a:r>
            <a:r>
              <a:rPr lang="zh-TW" altLang="en-US" b="1" dirty="0"/>
              <a:t>）</a:t>
            </a:r>
            <a:r>
              <a:rPr lang="zh-TW" altLang="en-US" dirty="0"/>
              <a:t>：</a:t>
            </a:r>
            <a:r>
              <a:rPr lang="en-US" altLang="zh-TW" dirty="0"/>
              <a:t>CPU </a:t>
            </a:r>
            <a:r>
              <a:rPr lang="zh-TW" altLang="en-US" dirty="0"/>
              <a:t>看到哪個號碼，就跳到</a:t>
            </a:r>
            <a:r>
              <a:rPr lang="zh-TW" altLang="en-US" b="1" dirty="0"/>
              <a:t>對應的中斷</a:t>
            </a:r>
            <a:r>
              <a:rPr lang="en-US" altLang="zh-TW" b="1" dirty="0"/>
              <a:t>/</a:t>
            </a:r>
            <a:r>
              <a:rPr lang="zh-TW" altLang="en-US" b="1" dirty="0"/>
              <a:t>例外服務程式入口</a:t>
            </a:r>
            <a:r>
              <a:rPr lang="zh-TW" altLang="en-US" dirty="0"/>
              <a:t>。</a:t>
            </a:r>
            <a:r>
              <a:rPr lang="en-US" altLang="zh-TW" dirty="0"/>
              <a:t>x86 </a:t>
            </a:r>
            <a:r>
              <a:rPr lang="zh-TW" altLang="en-US" dirty="0"/>
              <a:t>有 </a:t>
            </a:r>
            <a:r>
              <a:rPr lang="en-US" altLang="zh-TW" dirty="0"/>
              <a:t>256 </a:t>
            </a:r>
            <a:r>
              <a:rPr lang="zh-TW" altLang="en-US" dirty="0"/>
              <a:t>個向量：</a:t>
            </a:r>
          </a:p>
          <a:p>
            <a:pPr lvl="1"/>
            <a:r>
              <a:rPr lang="en-US" altLang="zh-TW" dirty="0"/>
              <a:t>0–31 </a:t>
            </a:r>
            <a:r>
              <a:rPr lang="zh-TW" altLang="en-US" dirty="0"/>
              <a:t>多為</a:t>
            </a:r>
            <a:r>
              <a:rPr lang="en-US" altLang="zh-TW" b="1" dirty="0"/>
              <a:t>CPU </a:t>
            </a:r>
            <a:r>
              <a:rPr lang="zh-TW" altLang="en-US" b="1" dirty="0"/>
              <a:t>例外</a:t>
            </a:r>
            <a:r>
              <a:rPr lang="zh-TW" altLang="en-US" dirty="0"/>
              <a:t>（除 </a:t>
            </a:r>
            <a:r>
              <a:rPr lang="en-US" altLang="zh-TW" dirty="0"/>
              <a:t>0</a:t>
            </a:r>
            <a:r>
              <a:rPr lang="zh-TW" altLang="en-US" dirty="0"/>
              <a:t>、</a:t>
            </a:r>
            <a:r>
              <a:rPr lang="en-US" altLang="zh-TW" dirty="0"/>
              <a:t>GPF</a:t>
            </a:r>
            <a:r>
              <a:rPr lang="zh-TW" altLang="en-US" dirty="0"/>
              <a:t>、</a:t>
            </a:r>
            <a:r>
              <a:rPr lang="en-US" altLang="zh-TW" dirty="0"/>
              <a:t>PF…</a:t>
            </a:r>
            <a:r>
              <a:rPr lang="zh-TW" altLang="en-US" dirty="0"/>
              <a:t>）</a:t>
            </a:r>
          </a:p>
          <a:p>
            <a:pPr lvl="1"/>
            <a:r>
              <a:rPr lang="en-US" altLang="zh-TW" dirty="0"/>
              <a:t>32 </a:t>
            </a:r>
            <a:r>
              <a:rPr lang="zh-TW" altLang="en-US" dirty="0"/>
              <a:t>之後常留給</a:t>
            </a:r>
            <a:r>
              <a:rPr lang="zh-TW" altLang="en-US" b="1" dirty="0"/>
              <a:t>外部裝置中斷</a:t>
            </a:r>
            <a:r>
              <a:rPr lang="zh-TW" altLang="en-US" dirty="0"/>
              <a:t>（</a:t>
            </a:r>
            <a:r>
              <a:rPr lang="en-US" altLang="zh-TW" dirty="0"/>
              <a:t>IRQ</a:t>
            </a:r>
            <a:r>
              <a:rPr lang="zh-TW" altLang="en-US" dirty="0"/>
              <a:t>）</a:t>
            </a:r>
          </a:p>
          <a:p>
            <a:r>
              <a:rPr lang="en-US" altLang="zh-TW" b="1" dirty="0"/>
              <a:t>IRQ</a:t>
            </a:r>
            <a:r>
              <a:rPr lang="zh-TW" altLang="en-US" b="1" dirty="0"/>
              <a:t>（中斷請求線</a:t>
            </a:r>
            <a:r>
              <a:rPr lang="en-US" altLang="zh-TW" b="1" dirty="0"/>
              <a:t>/</a:t>
            </a:r>
            <a:r>
              <a:rPr lang="zh-TW" altLang="en-US" b="1" dirty="0"/>
              <a:t>號）</a:t>
            </a:r>
            <a:r>
              <a:rPr lang="zh-TW" altLang="en-US" dirty="0"/>
              <a:t>：來自裝置或控制器（</a:t>
            </a:r>
            <a:r>
              <a:rPr lang="en-US" altLang="zh-TW" dirty="0"/>
              <a:t>PIC/IOAPIC/APIC/GIC</a:t>
            </a:r>
            <a:r>
              <a:rPr lang="zh-TW" altLang="en-US" dirty="0"/>
              <a:t>）的「</a:t>
            </a:r>
            <a:r>
              <a:rPr lang="zh-TW" altLang="en-US" b="1" dirty="0"/>
              <a:t>哪個裝置在按鈴</a:t>
            </a:r>
            <a:r>
              <a:rPr lang="zh-TW" altLang="en-US" dirty="0"/>
              <a:t>」。</a:t>
            </a:r>
          </a:p>
          <a:p>
            <a:pPr lvl="1"/>
            <a:r>
              <a:rPr lang="zh-TW" altLang="en-US" dirty="0"/>
              <a:t>在 </a:t>
            </a:r>
            <a:r>
              <a:rPr lang="en-US" altLang="zh-TW" dirty="0"/>
              <a:t>x86</a:t>
            </a:r>
            <a:r>
              <a:rPr lang="zh-TW" altLang="en-US" dirty="0"/>
              <a:t>，傳統 </a:t>
            </a:r>
            <a:r>
              <a:rPr lang="en-US" altLang="zh-TW" b="1" dirty="0"/>
              <a:t>PIC </a:t>
            </a:r>
            <a:r>
              <a:rPr lang="zh-TW" altLang="en-US" b="1" dirty="0"/>
              <a:t>的 </a:t>
            </a:r>
            <a:r>
              <a:rPr lang="en-US" altLang="zh-TW" b="1" dirty="0"/>
              <a:t>IRQ0..IRQ15</a:t>
            </a:r>
            <a:r>
              <a:rPr lang="en-US" altLang="zh-TW" dirty="0"/>
              <a:t> </a:t>
            </a:r>
            <a:r>
              <a:rPr lang="zh-TW" altLang="en-US" dirty="0"/>
              <a:t>會被</a:t>
            </a:r>
            <a:r>
              <a:rPr lang="zh-TW" altLang="en-US" b="1" dirty="0"/>
              <a:t>重新對映（</a:t>
            </a:r>
            <a:r>
              <a:rPr lang="en-US" altLang="zh-TW" b="1" dirty="0"/>
              <a:t>remap</a:t>
            </a:r>
            <a:r>
              <a:rPr lang="zh-TW" altLang="en-US" b="1" dirty="0"/>
              <a:t>）到向量號</a:t>
            </a:r>
            <a:r>
              <a:rPr lang="zh-TW" altLang="en-US" dirty="0"/>
              <a:t>（如 </a:t>
            </a:r>
            <a:r>
              <a:rPr lang="en-US" altLang="zh-TW" dirty="0"/>
              <a:t>32..47</a:t>
            </a:r>
            <a:r>
              <a:rPr lang="zh-TW" altLang="en-US" dirty="0"/>
              <a:t>），讓它們不與 </a:t>
            </a:r>
            <a:r>
              <a:rPr lang="en-US" altLang="zh-TW" dirty="0"/>
              <a:t>CPU </a:t>
            </a:r>
            <a:r>
              <a:rPr lang="zh-TW" altLang="en-US" dirty="0"/>
              <a:t>例外衝突。</a:t>
            </a:r>
          </a:p>
          <a:p>
            <a:pPr lvl="1"/>
            <a:r>
              <a:rPr lang="zh-TW" altLang="en-US" b="1" dirty="0"/>
              <a:t>核心在開機</a:t>
            </a:r>
            <a:r>
              <a:rPr lang="zh-TW" altLang="en-US" dirty="0"/>
              <a:t>階段讀取</a:t>
            </a:r>
            <a:r>
              <a:rPr lang="en-US" altLang="zh-TW" dirty="0"/>
              <a:t>/</a:t>
            </a:r>
            <a:r>
              <a:rPr lang="zh-TW" altLang="en-US" dirty="0"/>
              <a:t>設定</a:t>
            </a:r>
            <a:r>
              <a:rPr lang="zh-TW" altLang="en-US" b="1" dirty="0"/>
              <a:t>路由表</a:t>
            </a:r>
            <a:r>
              <a:rPr lang="zh-TW" altLang="en-US" dirty="0"/>
              <a:t>，知道「</a:t>
            </a:r>
            <a:r>
              <a:rPr lang="zh-TW" altLang="en-US" b="1" dirty="0"/>
              <a:t>某裝置 → 某 </a:t>
            </a:r>
            <a:r>
              <a:rPr lang="en-US" altLang="zh-TW" b="1" dirty="0"/>
              <a:t>IRQ → </a:t>
            </a:r>
            <a:r>
              <a:rPr lang="zh-TW" altLang="en-US" b="1" dirty="0"/>
              <a:t>某向量號 → 交給哪顆 </a:t>
            </a:r>
            <a:r>
              <a:rPr lang="en-US" altLang="zh-TW" b="1" dirty="0"/>
              <a:t>CPU</a:t>
            </a:r>
            <a:r>
              <a:rPr lang="zh-TW" altLang="en-US" dirty="0"/>
              <a:t>」。</a:t>
            </a:r>
          </a:p>
          <a:p>
            <a:pPr lvl="1"/>
            <a:r>
              <a:rPr lang="en-US" altLang="zh-TW" b="1" dirty="0"/>
              <a:t>PCI/PCIe</a:t>
            </a:r>
            <a:r>
              <a:rPr lang="en-US" altLang="zh-TW" dirty="0"/>
              <a:t> </a:t>
            </a:r>
            <a:r>
              <a:rPr lang="zh-TW" altLang="en-US" dirty="0"/>
              <a:t>裝置的 </a:t>
            </a:r>
            <a:r>
              <a:rPr lang="en-US" altLang="zh-TW" dirty="0"/>
              <a:t>IRQ </a:t>
            </a:r>
            <a:r>
              <a:rPr lang="zh-TW" altLang="en-US" dirty="0"/>
              <a:t>會</a:t>
            </a:r>
            <a:r>
              <a:rPr lang="zh-TW" altLang="en-US" b="1" dirty="0"/>
              <a:t>動態分配</a:t>
            </a:r>
            <a:r>
              <a:rPr lang="zh-TW" altLang="en-US" dirty="0"/>
              <a:t>；現代系統多用 </a:t>
            </a:r>
            <a:r>
              <a:rPr lang="en-US" altLang="zh-TW" b="1" dirty="0"/>
              <a:t>MSI/MSI-X</a:t>
            </a:r>
            <a:r>
              <a:rPr lang="zh-TW" altLang="en-US" dirty="0"/>
              <a:t>（裝置直接發一個指定向量的訊息，不必共享線）。</a:t>
            </a:r>
          </a:p>
          <a:p>
            <a:r>
              <a:rPr lang="zh-TW" altLang="en-US" b="1" dirty="0"/>
              <a:t>為什麼像 </a:t>
            </a:r>
            <a:r>
              <a:rPr lang="en-US" altLang="zh-TW" b="1" dirty="0" err="1"/>
              <a:t>syscall</a:t>
            </a:r>
            <a:r>
              <a:rPr lang="zh-TW" altLang="en-US" b="1" dirty="0"/>
              <a:t>？</a:t>
            </a:r>
            <a:br>
              <a:rPr lang="en-US" altLang="zh-TW" dirty="0"/>
            </a:br>
            <a:r>
              <a:rPr lang="zh-TW" altLang="en-US" dirty="0"/>
              <a:t>都是用「</a:t>
            </a:r>
            <a:r>
              <a:rPr lang="zh-TW" altLang="en-US" b="1" dirty="0"/>
              <a:t>號碼</a:t>
            </a:r>
            <a:r>
              <a:rPr lang="zh-TW" altLang="en-US" dirty="0"/>
              <a:t>」來</a:t>
            </a:r>
            <a:r>
              <a:rPr lang="zh-TW" altLang="en-US" b="1" dirty="0"/>
              <a:t>分派</a:t>
            </a:r>
            <a:r>
              <a:rPr lang="zh-TW" altLang="en-US" dirty="0"/>
              <a:t>到對應的處理函式：</a:t>
            </a:r>
          </a:p>
          <a:p>
            <a:pPr lvl="1"/>
            <a:r>
              <a:rPr lang="zh-TW" altLang="en-US" dirty="0"/>
              <a:t>系統呼叫：</a:t>
            </a:r>
            <a:r>
              <a:rPr lang="en-US" altLang="zh-TW" sz="1200" kern="1200" dirty="0" err="1">
                <a:solidFill>
                  <a:schemeClr val="tx1"/>
                </a:solidFill>
                <a:latin typeface="+mn-lt"/>
                <a:ea typeface="+mn-ea"/>
                <a:cs typeface="+mn-cs"/>
              </a:rPr>
              <a:t>sys_call_number</a:t>
            </a:r>
            <a:r>
              <a:rPr lang="en-US" altLang="zh-TW" sz="1200" kern="1200" dirty="0">
                <a:solidFill>
                  <a:schemeClr val="tx1"/>
                </a:solidFill>
                <a:latin typeface="+mn-lt"/>
                <a:ea typeface="+mn-ea"/>
                <a:cs typeface="+mn-cs"/>
              </a:rPr>
              <a:t> → </a:t>
            </a:r>
            <a:r>
              <a:rPr lang="en-US" altLang="zh-TW" sz="1200" kern="1200" dirty="0" err="1">
                <a:solidFill>
                  <a:schemeClr val="tx1"/>
                </a:solidFill>
                <a:latin typeface="+mn-lt"/>
                <a:ea typeface="+mn-ea"/>
                <a:cs typeface="+mn-cs"/>
              </a:rPr>
              <a:t>sys_call_table</a:t>
            </a:r>
            <a:r>
              <a:rPr lang="en-US" altLang="zh-TW" sz="1200" kern="1200" dirty="0">
                <a:solidFill>
                  <a:schemeClr val="tx1"/>
                </a:solidFill>
                <a:latin typeface="+mn-lt"/>
                <a:ea typeface="+mn-ea"/>
                <a:cs typeface="+mn-cs"/>
              </a:rPr>
              <a:t>[</a:t>
            </a:r>
            <a:r>
              <a:rPr lang="en-US" altLang="zh-TW" sz="1200" kern="1200" dirty="0" err="1">
                <a:solidFill>
                  <a:schemeClr val="tx1"/>
                </a:solidFill>
                <a:latin typeface="+mn-lt"/>
                <a:ea typeface="+mn-ea"/>
                <a:cs typeface="+mn-cs"/>
              </a:rPr>
              <a:t>idx</a:t>
            </a:r>
            <a:r>
              <a:rPr lang="en-US" altLang="zh-TW" sz="1200" kern="1200" dirty="0">
                <a:solidFill>
                  <a:schemeClr val="tx1"/>
                </a:solidFill>
                <a:latin typeface="+mn-lt"/>
                <a:ea typeface="+mn-ea"/>
                <a:cs typeface="+mn-cs"/>
              </a:rPr>
              <a:t>]</a:t>
            </a:r>
            <a:endParaRPr lang="en-US" altLang="zh-TW" dirty="0"/>
          </a:p>
          <a:p>
            <a:pPr lvl="1"/>
            <a:r>
              <a:rPr lang="zh-TW" altLang="en-US" dirty="0"/>
              <a:t>中斷：</a:t>
            </a:r>
            <a:r>
              <a:rPr lang="en-US" altLang="zh-TW" sz="1200" kern="1200" dirty="0" err="1">
                <a:solidFill>
                  <a:schemeClr val="tx1"/>
                </a:solidFill>
                <a:latin typeface="+mn-lt"/>
                <a:ea typeface="+mn-ea"/>
                <a:cs typeface="+mn-cs"/>
              </a:rPr>
              <a:t>vector_number</a:t>
            </a:r>
            <a:r>
              <a:rPr lang="en-US" altLang="zh-TW" sz="1200" kern="1200" dirty="0">
                <a:solidFill>
                  <a:schemeClr val="tx1"/>
                </a:solidFill>
                <a:latin typeface="+mn-lt"/>
                <a:ea typeface="+mn-ea"/>
                <a:cs typeface="+mn-cs"/>
              </a:rPr>
              <a:t> → </a:t>
            </a:r>
            <a:r>
              <a:rPr lang="en-US" altLang="zh-TW" sz="1200" kern="1200" dirty="0" err="1">
                <a:solidFill>
                  <a:schemeClr val="tx1"/>
                </a:solidFill>
                <a:latin typeface="+mn-lt"/>
                <a:ea typeface="+mn-ea"/>
                <a:cs typeface="+mn-cs"/>
              </a:rPr>
              <a:t>idt</a:t>
            </a:r>
            <a:r>
              <a:rPr lang="en-US" altLang="zh-TW" sz="1200" kern="1200" dirty="0">
                <a:solidFill>
                  <a:schemeClr val="tx1"/>
                </a:solidFill>
                <a:latin typeface="+mn-lt"/>
                <a:ea typeface="+mn-ea"/>
                <a:cs typeface="+mn-cs"/>
              </a:rPr>
              <a:t>[</a:t>
            </a:r>
            <a:r>
              <a:rPr lang="en-US" altLang="zh-TW" sz="1200" kern="1200" dirty="0" err="1">
                <a:solidFill>
                  <a:schemeClr val="tx1"/>
                </a:solidFill>
                <a:latin typeface="+mn-lt"/>
                <a:ea typeface="+mn-ea"/>
                <a:cs typeface="+mn-cs"/>
              </a:rPr>
              <a:t>vec</a:t>
            </a:r>
            <a:r>
              <a:rPr lang="en-US" altLang="zh-TW" sz="1200" kern="1200" dirty="0">
                <a:solidFill>
                  <a:schemeClr val="tx1"/>
                </a:solidFill>
                <a:latin typeface="+mn-lt"/>
                <a:ea typeface="+mn-ea"/>
                <a:cs typeface="+mn-cs"/>
              </a:rPr>
              <a:t>] → </a:t>
            </a:r>
            <a:r>
              <a:rPr lang="en-US" altLang="zh-TW" sz="1200" kern="1200" dirty="0" err="1">
                <a:solidFill>
                  <a:schemeClr val="tx1"/>
                </a:solidFill>
                <a:latin typeface="+mn-lt"/>
                <a:ea typeface="+mn-ea"/>
                <a:cs typeface="+mn-cs"/>
              </a:rPr>
              <a:t>isr</a:t>
            </a:r>
            <a:endParaRPr lang="en-US" altLang="zh-TW" dirty="0"/>
          </a:p>
          <a:p>
            <a:br>
              <a:rPr lang="en-US" altLang="zh-TW" dirty="0"/>
            </a:br>
            <a:endParaRPr lang="en-US" altLang="zh-TW" dirty="0"/>
          </a:p>
          <a:p>
            <a:r>
              <a:rPr lang="zh-TW" altLang="en-US" b="1" dirty="0"/>
              <a:t>一句話解釋</a:t>
            </a:r>
          </a:p>
          <a:p>
            <a:r>
              <a:rPr lang="en-US" altLang="zh-TW" b="1" dirty="0"/>
              <a:t>IRQ </a:t>
            </a:r>
            <a:r>
              <a:rPr lang="zh-TW" altLang="en-US" b="1" dirty="0"/>
              <a:t>是裝置發出的「哪一個中斷」請求，最後被映射成 </a:t>
            </a:r>
            <a:r>
              <a:rPr lang="en-US" altLang="zh-TW" b="1" dirty="0"/>
              <a:t>CPU </a:t>
            </a:r>
            <a:r>
              <a:rPr lang="zh-TW" altLang="en-US" b="1" dirty="0"/>
              <a:t>的中斷向量號（</a:t>
            </a:r>
            <a:r>
              <a:rPr lang="en-US" altLang="zh-TW" b="1" dirty="0"/>
              <a:t>0–255</a:t>
            </a:r>
            <a:r>
              <a:rPr lang="zh-TW" altLang="en-US" b="1" dirty="0"/>
              <a:t>）以跳到正確的服務程式。</a:t>
            </a:r>
            <a:endParaRPr lang="zh-TW" altLang="en-US" dirty="0"/>
          </a:p>
          <a:p>
            <a:br>
              <a:rPr lang="zh-TW" altLang="en-US" dirty="0"/>
            </a:br>
            <a:endParaRPr lang="zh-TW" altLang="en-US" dirty="0"/>
          </a:p>
          <a:p>
            <a:r>
              <a:rPr lang="zh-TW" altLang="en-US" b="1" dirty="0"/>
              <a:t>白話解說（超直白）</a:t>
            </a:r>
          </a:p>
          <a:p>
            <a:r>
              <a:rPr lang="zh-TW" altLang="en-US" dirty="0"/>
              <a:t>把系統想成公司總機：</a:t>
            </a:r>
          </a:p>
          <a:p>
            <a:r>
              <a:rPr lang="en-US" altLang="zh-TW" b="1" dirty="0"/>
              <a:t>IRQ</a:t>
            </a:r>
            <a:r>
              <a:rPr lang="en-US" altLang="zh-TW" dirty="0"/>
              <a:t> = </a:t>
            </a:r>
            <a:r>
              <a:rPr lang="zh-TW" altLang="en-US" dirty="0"/>
              <a:t>來電的「</a:t>
            </a:r>
            <a:r>
              <a:rPr lang="zh-TW" altLang="en-US" b="1" dirty="0"/>
              <a:t>分機來源</a:t>
            </a:r>
            <a:r>
              <a:rPr lang="zh-TW" altLang="en-US" dirty="0"/>
              <a:t>」（哪一台裝置在打來）。</a:t>
            </a:r>
          </a:p>
          <a:p>
            <a:r>
              <a:rPr lang="zh-TW" altLang="en-US" b="1" dirty="0"/>
              <a:t>向量號</a:t>
            </a:r>
            <a:r>
              <a:rPr lang="zh-TW" altLang="en-US" dirty="0"/>
              <a:t> </a:t>
            </a:r>
            <a:r>
              <a:rPr lang="en-US" altLang="zh-TW" dirty="0"/>
              <a:t>= </a:t>
            </a:r>
            <a:r>
              <a:rPr lang="zh-TW" altLang="en-US" dirty="0"/>
              <a:t>「</a:t>
            </a:r>
            <a:r>
              <a:rPr lang="zh-TW" altLang="en-US" b="1" dirty="0"/>
              <a:t>分機號碼</a:t>
            </a:r>
            <a:r>
              <a:rPr lang="zh-TW" altLang="en-US" dirty="0"/>
              <a:t>」讓總機查表轉接到</a:t>
            </a:r>
            <a:r>
              <a:rPr lang="zh-TW" altLang="en-US" b="1" dirty="0"/>
              <a:t>對的處理人員（</a:t>
            </a:r>
            <a:r>
              <a:rPr lang="en-US" altLang="zh-TW" b="1" dirty="0"/>
              <a:t>ISR</a:t>
            </a:r>
            <a:r>
              <a:rPr lang="zh-TW" altLang="en-US" b="1" dirty="0"/>
              <a:t>）</a:t>
            </a:r>
            <a:r>
              <a:rPr lang="zh-TW" altLang="en-US" dirty="0"/>
              <a:t>。</a:t>
            </a:r>
          </a:p>
          <a:p>
            <a:r>
              <a:rPr lang="zh-TW" altLang="en-US" b="1" dirty="0"/>
              <a:t>開機</a:t>
            </a:r>
            <a:r>
              <a:rPr lang="zh-TW" altLang="en-US" dirty="0"/>
              <a:t>時把通訊錄建好；</a:t>
            </a:r>
            <a:r>
              <a:rPr lang="en-US" altLang="zh-TW" b="1" dirty="0"/>
              <a:t>PCI </a:t>
            </a:r>
            <a:r>
              <a:rPr lang="zh-TW" altLang="en-US" b="1" dirty="0"/>
              <a:t>裝置</a:t>
            </a:r>
            <a:r>
              <a:rPr lang="zh-TW" altLang="en-US" dirty="0"/>
              <a:t>新加入就</a:t>
            </a:r>
            <a:r>
              <a:rPr lang="zh-TW" altLang="en-US" b="1" dirty="0"/>
              <a:t>動態拿分機</a:t>
            </a:r>
            <a:r>
              <a:rPr lang="zh-TW" altLang="en-US" dirty="0"/>
              <a:t>；最後電話一來就</a:t>
            </a:r>
            <a:r>
              <a:rPr lang="zh-TW" altLang="en-US" b="1" dirty="0"/>
              <a:t>依號碼轉接</a:t>
            </a:r>
            <a:r>
              <a:rPr lang="zh-TW" altLang="en-US" dirty="0"/>
              <a:t>，不會接錯人。</a:t>
            </a:r>
          </a:p>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32</a:t>
            </a:fld>
            <a:endParaRPr lang="zh-TW" altLang="en-US"/>
          </a:p>
        </p:txBody>
      </p:sp>
    </p:spTree>
    <p:extLst>
      <p:ext uri="{BB962C8B-B14F-4D97-AF65-F5344CB8AC3E}">
        <p14:creationId xmlns:p14="http://schemas.microsoft.com/office/powerpoint/2010/main" val="25253773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Actually, there is no specific name for the table inside interrupt controller</a:t>
            </a:r>
            <a:br>
              <a:rPr lang="en-US" altLang="zh-TW" dirty="0"/>
            </a:br>
            <a:br>
              <a:rPr lang="en-US" altLang="zh-TW" dirty="0"/>
            </a:br>
            <a:r>
              <a:rPr lang="en-US" altLang="zh-TW" b="1" dirty="0"/>
              <a:t>How an Interrupt Works</a:t>
            </a:r>
          </a:p>
          <a:p>
            <a:r>
              <a:rPr lang="zh-TW" altLang="en-US" b="1" dirty="0"/>
              <a:t>逐字翻譯</a:t>
            </a:r>
          </a:p>
          <a:p>
            <a:r>
              <a:rPr lang="en-US" altLang="zh-TW" b="1" dirty="0"/>
              <a:t>How an interrupt works:</a:t>
            </a:r>
            <a:br>
              <a:rPr lang="en-US" altLang="zh-TW" dirty="0"/>
            </a:br>
            <a:r>
              <a:rPr lang="zh-TW" altLang="en-US" b="1" dirty="0"/>
              <a:t>中斷是怎麼運作的：</a:t>
            </a:r>
            <a:endParaRPr lang="zh-TW" altLang="en-US" dirty="0"/>
          </a:p>
          <a:p>
            <a:pPr lvl="1"/>
            <a:r>
              <a:rPr lang="en-US" altLang="zh-TW" b="1" dirty="0"/>
              <a:t>Hardware devices send out an interrupt signal.</a:t>
            </a:r>
            <a:br>
              <a:rPr lang="en-US" altLang="zh-TW" dirty="0"/>
            </a:br>
            <a:r>
              <a:rPr lang="zh-TW" altLang="en-US" b="1" dirty="0"/>
              <a:t>硬體裝置</a:t>
            </a:r>
            <a:r>
              <a:rPr lang="zh-TW" altLang="en-US" dirty="0"/>
              <a:t>送出</a:t>
            </a:r>
            <a:r>
              <a:rPr lang="zh-TW" altLang="en-US" b="1" dirty="0"/>
              <a:t>中斷訊號</a:t>
            </a:r>
            <a:r>
              <a:rPr lang="zh-TW" altLang="en-US" dirty="0"/>
              <a:t>。</a:t>
            </a:r>
          </a:p>
          <a:p>
            <a:pPr lvl="1"/>
            <a:r>
              <a:rPr lang="en-US" altLang="zh-TW" b="1" dirty="0"/>
              <a:t>The CPU stops current execution.</a:t>
            </a:r>
            <a:br>
              <a:rPr lang="en-US" altLang="zh-TW" dirty="0"/>
            </a:br>
            <a:r>
              <a:rPr lang="en-US" altLang="zh-TW" b="1" dirty="0"/>
              <a:t>CPU </a:t>
            </a:r>
            <a:r>
              <a:rPr lang="zh-TW" altLang="en-US" b="1" dirty="0"/>
              <a:t>暫停</a:t>
            </a:r>
            <a:r>
              <a:rPr lang="zh-TW" altLang="en-US" dirty="0"/>
              <a:t>目前正在執行的程式。</a:t>
            </a:r>
          </a:p>
          <a:p>
            <a:pPr lvl="1"/>
            <a:r>
              <a:rPr lang="en-US" altLang="zh-TW" b="1" dirty="0"/>
              <a:t>The interrupt controller sends INT # to the CPU.</a:t>
            </a:r>
            <a:br>
              <a:rPr lang="en-US" altLang="zh-TW" dirty="0"/>
            </a:br>
            <a:r>
              <a:rPr lang="zh-TW" altLang="en-US" b="1" dirty="0"/>
              <a:t>中斷控制器</a:t>
            </a:r>
            <a:r>
              <a:rPr lang="zh-TW" altLang="en-US" dirty="0"/>
              <a:t>把**中斷向量號（</a:t>
            </a:r>
            <a:r>
              <a:rPr lang="en-US" altLang="zh-TW" dirty="0"/>
              <a:t>INT #</a:t>
            </a:r>
            <a:r>
              <a:rPr lang="zh-TW" altLang="en-US" dirty="0"/>
              <a:t>）**送給 </a:t>
            </a:r>
            <a:r>
              <a:rPr lang="en-US" altLang="zh-TW" dirty="0"/>
              <a:t>CPU</a:t>
            </a:r>
            <a:r>
              <a:rPr lang="zh-TW" altLang="en-US" dirty="0"/>
              <a:t>。</a:t>
            </a:r>
          </a:p>
          <a:p>
            <a:pPr lvl="1"/>
            <a:r>
              <a:rPr lang="en-US" altLang="zh-TW" b="1" dirty="0"/>
              <a:t>CPU accesses the Interrupt Vector Table by INT # * 4.</a:t>
            </a:r>
            <a:br>
              <a:rPr lang="en-US" altLang="zh-TW" dirty="0"/>
            </a:br>
            <a:r>
              <a:rPr lang="en-US" altLang="zh-TW" dirty="0"/>
              <a:t>CPU </a:t>
            </a:r>
            <a:r>
              <a:rPr lang="zh-TW" altLang="en-US" dirty="0"/>
              <a:t>用 </a:t>
            </a:r>
            <a:r>
              <a:rPr lang="zh-TW" altLang="en-US" b="1" dirty="0"/>
              <a:t>向量號 </a:t>
            </a:r>
            <a:r>
              <a:rPr lang="en-US" altLang="zh-TW" b="1" dirty="0"/>
              <a:t>× 4</a:t>
            </a:r>
            <a:r>
              <a:rPr lang="zh-TW" altLang="en-US" dirty="0"/>
              <a:t> 去存取</a:t>
            </a:r>
            <a:r>
              <a:rPr lang="zh-TW" altLang="en-US" b="1" dirty="0"/>
              <a:t>中斷向量表</a:t>
            </a:r>
            <a:r>
              <a:rPr lang="zh-TW" altLang="en-US" dirty="0"/>
              <a:t>（找對應入口）。</a:t>
            </a:r>
          </a:p>
          <a:p>
            <a:pPr lvl="1"/>
            <a:r>
              <a:rPr lang="en-US" altLang="zh-TW" b="1" dirty="0"/>
              <a:t>The CPU runs the interrupt service routine to handle the interrupt.</a:t>
            </a:r>
            <a:br>
              <a:rPr lang="en-US" altLang="zh-TW" dirty="0"/>
            </a:br>
            <a:r>
              <a:rPr lang="en-US" altLang="zh-TW" dirty="0"/>
              <a:t>CPU </a:t>
            </a:r>
            <a:r>
              <a:rPr lang="zh-TW" altLang="en-US" dirty="0"/>
              <a:t>執行**中斷服務常式（</a:t>
            </a:r>
            <a:r>
              <a:rPr lang="en-US" altLang="zh-TW" dirty="0"/>
              <a:t>ISR</a:t>
            </a:r>
            <a:r>
              <a:rPr lang="zh-TW" altLang="en-US" dirty="0"/>
              <a:t>）**來處理該中斷。</a:t>
            </a:r>
          </a:p>
          <a:p>
            <a:r>
              <a:rPr lang="zh-TW" altLang="en-US" dirty="0"/>
              <a:t>（圖右：</a:t>
            </a:r>
            <a:r>
              <a:rPr lang="en-US" altLang="zh-TW" dirty="0"/>
              <a:t>Keyboard </a:t>
            </a:r>
            <a:r>
              <a:rPr lang="zh-TW" altLang="en-US" dirty="0"/>
              <a:t>產生 </a:t>
            </a:r>
            <a:r>
              <a:rPr lang="en-US" altLang="zh-TW" b="1" dirty="0"/>
              <a:t>IRQ1</a:t>
            </a:r>
            <a:r>
              <a:rPr lang="en-US" altLang="zh-TW" dirty="0"/>
              <a:t> → </a:t>
            </a:r>
            <a:r>
              <a:rPr lang="zh-TW" altLang="en-US" dirty="0"/>
              <a:t>中斷控制器把它</a:t>
            </a:r>
            <a:r>
              <a:rPr lang="zh-TW" altLang="en-US" b="1" dirty="0"/>
              <a:t>轉成 </a:t>
            </a:r>
            <a:r>
              <a:rPr lang="en-US" altLang="zh-TW" b="1" dirty="0"/>
              <a:t>INT 0x81</a:t>
            </a:r>
            <a:r>
              <a:rPr lang="en-US" altLang="zh-TW" dirty="0"/>
              <a:t> → CPU/Local APIC </a:t>
            </a:r>
            <a:r>
              <a:rPr lang="zh-TW" altLang="en-US" dirty="0"/>
              <a:t>收到 → 依 </a:t>
            </a:r>
            <a:r>
              <a:rPr lang="en-US" altLang="zh-TW" b="1" dirty="0"/>
              <a:t>0x81×4 = 0x204</a:t>
            </a:r>
            <a:r>
              <a:rPr lang="en-US" altLang="zh-TW" dirty="0"/>
              <a:t> </a:t>
            </a:r>
            <a:r>
              <a:rPr lang="zh-TW" altLang="en-US" dirty="0"/>
              <a:t>在向量表找到 </a:t>
            </a:r>
            <a:r>
              <a:rPr lang="en-US" altLang="zh-TW" b="1" dirty="0"/>
              <a:t>ISR 81</a:t>
            </a:r>
            <a:r>
              <a:rPr lang="en-US" altLang="zh-TW" dirty="0"/>
              <a:t> </a:t>
            </a:r>
            <a:r>
              <a:rPr lang="zh-TW" altLang="en-US" dirty="0"/>
              <a:t>的入口 → 跳去執行 </a:t>
            </a:r>
            <a:r>
              <a:rPr lang="en-US" altLang="zh-TW" b="1" dirty="0"/>
              <a:t>ISR</a:t>
            </a:r>
            <a:r>
              <a:rPr lang="en-US" altLang="zh-TW" dirty="0"/>
              <a:t> </a:t>
            </a:r>
            <a:r>
              <a:rPr lang="zh-TW" altLang="en-US" dirty="0"/>
              <a:t>；計時器為 </a:t>
            </a:r>
            <a:r>
              <a:rPr lang="en-US" altLang="zh-TW" b="1" dirty="0"/>
              <a:t>IRQ0</a:t>
            </a:r>
            <a:r>
              <a:rPr lang="en-US" altLang="zh-TW" dirty="0"/>
              <a:t> </a:t>
            </a:r>
            <a:r>
              <a:rPr lang="zh-TW" altLang="en-US" dirty="0"/>
              <a:t>類似。）</a:t>
            </a:r>
          </a:p>
          <a:p>
            <a:br>
              <a:rPr lang="zh-TW" altLang="en-US" dirty="0"/>
            </a:br>
            <a:endParaRPr lang="zh-TW" altLang="en-US" dirty="0"/>
          </a:p>
          <a:p>
            <a:r>
              <a:rPr lang="zh-TW" altLang="en-US" b="1" dirty="0"/>
              <a:t>解說（發生的完整流程）</a:t>
            </a:r>
          </a:p>
          <a:p>
            <a:r>
              <a:rPr lang="zh-TW" altLang="en-US" b="1" dirty="0"/>
              <a:t>裝置發生事件</a:t>
            </a:r>
            <a:r>
              <a:rPr lang="zh-TW" altLang="en-US" dirty="0"/>
              <a:t>（鍵盤按鍵、網卡收包、計時器滴答）→ 送出 </a:t>
            </a:r>
            <a:r>
              <a:rPr lang="en-US" altLang="zh-TW" b="1" dirty="0"/>
              <a:t>IRQ</a:t>
            </a:r>
            <a:r>
              <a:rPr lang="en-US" altLang="zh-TW" dirty="0"/>
              <a:t> </a:t>
            </a:r>
            <a:r>
              <a:rPr lang="zh-TW" altLang="en-US" dirty="0"/>
              <a:t>到中斷控制器（</a:t>
            </a:r>
            <a:r>
              <a:rPr lang="en-US" altLang="zh-TW" dirty="0"/>
              <a:t>PIC/IOAPIC/GIC</a:t>
            </a:r>
            <a:r>
              <a:rPr lang="zh-TW" altLang="en-US" dirty="0"/>
              <a:t>）。</a:t>
            </a:r>
          </a:p>
          <a:p>
            <a:r>
              <a:rPr lang="zh-TW" altLang="en-US" b="1" dirty="0"/>
              <a:t>控制器分派</a:t>
            </a:r>
            <a:r>
              <a:rPr lang="en-US" altLang="zh-TW" b="1" dirty="0"/>
              <a:t>/</a:t>
            </a:r>
            <a:r>
              <a:rPr lang="zh-TW" altLang="en-US" b="1" dirty="0"/>
              <a:t>重映射</a:t>
            </a:r>
            <a:r>
              <a:rPr lang="zh-TW" altLang="en-US" dirty="0"/>
              <a:t>：決定優先順序與目標 </a:t>
            </a:r>
            <a:r>
              <a:rPr lang="en-US" altLang="zh-TW" dirty="0"/>
              <a:t>CPU</a:t>
            </a:r>
            <a:r>
              <a:rPr lang="zh-TW" altLang="en-US" dirty="0"/>
              <a:t>，並把 </a:t>
            </a:r>
            <a:r>
              <a:rPr lang="en-US" altLang="zh-TW" b="1" dirty="0"/>
              <a:t>IRQ → </a:t>
            </a:r>
            <a:r>
              <a:rPr lang="zh-TW" altLang="en-US" b="1" dirty="0"/>
              <a:t>向量號（</a:t>
            </a:r>
            <a:r>
              <a:rPr lang="en-US" altLang="zh-TW" b="1" dirty="0"/>
              <a:t>INT #</a:t>
            </a:r>
            <a:r>
              <a:rPr lang="zh-TW" altLang="en-US" b="1" dirty="0"/>
              <a:t>）</a:t>
            </a:r>
            <a:r>
              <a:rPr lang="zh-TW" altLang="en-US" dirty="0"/>
              <a:t>。</a:t>
            </a:r>
          </a:p>
          <a:p>
            <a:r>
              <a:rPr lang="en-US" altLang="zh-TW" b="1" dirty="0"/>
              <a:t>CPU </a:t>
            </a:r>
            <a:r>
              <a:rPr lang="zh-TW" altLang="en-US" b="1" dirty="0"/>
              <a:t>進入中斷</a:t>
            </a:r>
            <a:r>
              <a:rPr lang="zh-TW" altLang="en-US" dirty="0"/>
              <a:t>：</a:t>
            </a:r>
          </a:p>
          <a:p>
            <a:pPr lvl="1"/>
            <a:r>
              <a:rPr lang="zh-TW" altLang="en-US" dirty="0"/>
              <a:t>自動</a:t>
            </a:r>
            <a:r>
              <a:rPr lang="zh-TW" altLang="en-US" b="1" dirty="0"/>
              <a:t>保存關鍵暫存器</a:t>
            </a:r>
            <a:r>
              <a:rPr lang="zh-TW" altLang="en-US" dirty="0"/>
              <a:t>（實</a:t>
            </a:r>
            <a:r>
              <a:rPr lang="en-US" altLang="zh-TW" dirty="0"/>
              <a:t>/</a:t>
            </a:r>
            <a:r>
              <a:rPr lang="zh-TW" altLang="en-US" dirty="0"/>
              <a:t>保護</a:t>
            </a:r>
            <a:r>
              <a:rPr lang="en-US" altLang="zh-TW" dirty="0"/>
              <a:t>/</a:t>
            </a:r>
            <a:r>
              <a:rPr lang="zh-TW" altLang="en-US" dirty="0"/>
              <a:t>長模式細節不同）並切到</a:t>
            </a:r>
            <a:r>
              <a:rPr lang="zh-TW" altLang="en-US" b="1" dirty="0"/>
              <a:t>核心模式</a:t>
            </a:r>
            <a:r>
              <a:rPr lang="zh-TW" altLang="en-US" dirty="0"/>
              <a:t>；</a:t>
            </a:r>
          </a:p>
          <a:p>
            <a:pPr lvl="1"/>
            <a:r>
              <a:rPr lang="zh-TW" altLang="en-US" b="1" dirty="0"/>
              <a:t>查向量表</a:t>
            </a:r>
            <a:r>
              <a:rPr lang="zh-TW" altLang="en-US" dirty="0"/>
              <a:t>：以 </a:t>
            </a:r>
            <a:r>
              <a:rPr lang="en-US" altLang="zh-TW" b="1" dirty="0"/>
              <a:t>INT# × </a:t>
            </a:r>
            <a:r>
              <a:rPr lang="zh-TW" altLang="en-US" b="1" dirty="0"/>
              <a:t>項目大小</a:t>
            </a:r>
            <a:r>
              <a:rPr lang="zh-TW" altLang="en-US" dirty="0"/>
              <a:t> 取出 </a:t>
            </a:r>
            <a:r>
              <a:rPr lang="en-US" altLang="zh-TW" b="1" dirty="0"/>
              <a:t>ISR </a:t>
            </a:r>
            <a:r>
              <a:rPr lang="zh-TW" altLang="en-US" b="1" dirty="0"/>
              <a:t>入口</a:t>
            </a:r>
            <a:r>
              <a:rPr lang="zh-TW" altLang="en-US" dirty="0"/>
              <a:t>（實模式每項 </a:t>
            </a:r>
            <a:r>
              <a:rPr lang="en-US" altLang="zh-TW" dirty="0"/>
              <a:t>4B=CS:IP</a:t>
            </a:r>
            <a:r>
              <a:rPr lang="zh-TW" altLang="en-US" dirty="0"/>
              <a:t>；保護</a:t>
            </a:r>
            <a:r>
              <a:rPr lang="en-US" altLang="zh-TW" dirty="0"/>
              <a:t>/</a:t>
            </a:r>
            <a:r>
              <a:rPr lang="zh-TW" altLang="en-US" dirty="0"/>
              <a:t>長模式是 </a:t>
            </a:r>
            <a:r>
              <a:rPr lang="en-US" altLang="zh-TW" dirty="0"/>
              <a:t>8B/16B </a:t>
            </a:r>
            <a:r>
              <a:rPr lang="zh-TW" altLang="en-US" dirty="0"/>
              <a:t>的門描述子）。</a:t>
            </a:r>
          </a:p>
          <a:p>
            <a:r>
              <a:rPr lang="zh-TW" altLang="en-US" b="1" dirty="0"/>
              <a:t>執行 </a:t>
            </a:r>
            <a:r>
              <a:rPr lang="en-US" altLang="zh-TW" b="1" dirty="0"/>
              <a:t>ISR</a:t>
            </a:r>
            <a:r>
              <a:rPr lang="zh-TW" altLang="en-US" dirty="0"/>
              <a:t>：讀</a:t>
            </a:r>
            <a:r>
              <a:rPr lang="en-US" altLang="zh-TW" dirty="0"/>
              <a:t>/</a:t>
            </a:r>
            <a:r>
              <a:rPr lang="zh-TW" altLang="en-US" dirty="0"/>
              <a:t>清裝置狀態、把資料丟到快取佇列、</a:t>
            </a:r>
            <a:r>
              <a:rPr lang="zh-TW" altLang="en-US" b="1" dirty="0"/>
              <a:t>送 </a:t>
            </a:r>
            <a:r>
              <a:rPr lang="en-US" altLang="zh-TW" b="1" dirty="0"/>
              <a:t>EOI</a:t>
            </a:r>
            <a:r>
              <a:rPr lang="en-US" altLang="zh-TW" dirty="0"/>
              <a:t> </a:t>
            </a:r>
            <a:r>
              <a:rPr lang="zh-TW" altLang="en-US" dirty="0"/>
              <a:t>給中斷控制器、排程底半部（</a:t>
            </a:r>
            <a:r>
              <a:rPr lang="en-US" altLang="zh-TW" dirty="0" err="1"/>
              <a:t>softirq</a:t>
            </a:r>
            <a:r>
              <a:rPr lang="en-US" altLang="zh-TW" dirty="0"/>
              <a:t>/</a:t>
            </a:r>
            <a:r>
              <a:rPr lang="en-US" altLang="zh-TW" dirty="0" err="1"/>
              <a:t>tasklet</a:t>
            </a:r>
            <a:r>
              <a:rPr lang="en-US" altLang="zh-TW" dirty="0"/>
              <a:t>/</a:t>
            </a:r>
            <a:r>
              <a:rPr lang="en-US" altLang="zh-TW" dirty="0" err="1"/>
              <a:t>workqueue</a:t>
            </a:r>
            <a:r>
              <a:rPr lang="zh-TW" altLang="en-US" dirty="0"/>
              <a:t>）。</a:t>
            </a:r>
          </a:p>
          <a:p>
            <a:r>
              <a:rPr lang="zh-TW" altLang="en-US" b="1" dirty="0"/>
              <a:t>返回</a:t>
            </a:r>
            <a:r>
              <a:rPr lang="zh-TW" altLang="en-US" dirty="0"/>
              <a:t>：用 </a:t>
            </a:r>
            <a:r>
              <a:rPr lang="en-US" altLang="zh-TW" sz="1200" kern="1200" dirty="0" err="1">
                <a:solidFill>
                  <a:schemeClr val="tx1"/>
                </a:solidFill>
                <a:latin typeface="+mn-lt"/>
                <a:ea typeface="+mn-ea"/>
                <a:cs typeface="+mn-cs"/>
              </a:rPr>
              <a:t>iret</a:t>
            </a:r>
            <a:r>
              <a:rPr lang="en-US" altLang="zh-TW" sz="1200" kern="1200" dirty="0">
                <a:solidFill>
                  <a:schemeClr val="tx1"/>
                </a:solidFill>
                <a:latin typeface="+mn-lt"/>
                <a:ea typeface="+mn-ea"/>
                <a:cs typeface="+mn-cs"/>
              </a:rPr>
              <a:t>/</a:t>
            </a:r>
            <a:r>
              <a:rPr lang="en-US" altLang="zh-TW" sz="1200" kern="1200" dirty="0" err="1">
                <a:solidFill>
                  <a:schemeClr val="tx1"/>
                </a:solidFill>
                <a:latin typeface="+mn-lt"/>
                <a:ea typeface="+mn-ea"/>
                <a:cs typeface="+mn-cs"/>
              </a:rPr>
              <a:t>iretq</a:t>
            </a:r>
            <a:r>
              <a:rPr lang="en-US" altLang="zh-TW" dirty="0"/>
              <a:t> </a:t>
            </a:r>
            <a:r>
              <a:rPr lang="zh-TW" altLang="en-US" dirty="0"/>
              <a:t>等</a:t>
            </a:r>
            <a:r>
              <a:rPr lang="zh-TW" altLang="en-US" b="1" dirty="0"/>
              <a:t>恢復現場</a:t>
            </a:r>
            <a:r>
              <a:rPr lang="zh-TW" altLang="en-US" dirty="0"/>
              <a:t>，回到被打斷的指令或下一條指令繼續跑。</a:t>
            </a:r>
          </a:p>
          <a:p>
            <a:r>
              <a:rPr lang="zh-TW" altLang="en-US" b="1" dirty="0"/>
              <a:t>補充</a:t>
            </a:r>
            <a:r>
              <a:rPr lang="zh-TW" altLang="en-US" dirty="0"/>
              <a:t>：</a:t>
            </a:r>
            <a:r>
              <a:rPr lang="zh-TW" altLang="en-US" b="1" dirty="0"/>
              <a:t>系統呼叫、缺頁</a:t>
            </a:r>
            <a:r>
              <a:rPr lang="zh-TW" altLang="en-US" dirty="0"/>
              <a:t>屬「同步的例外</a:t>
            </a:r>
            <a:r>
              <a:rPr lang="en-US" altLang="zh-TW" dirty="0"/>
              <a:t>/</a:t>
            </a:r>
            <a:r>
              <a:rPr lang="zh-TW" altLang="en-US" dirty="0"/>
              <a:t>陷入」；</a:t>
            </a:r>
            <a:r>
              <a:rPr lang="zh-TW" altLang="en-US" b="1" dirty="0"/>
              <a:t>鍵盤、網卡</a:t>
            </a:r>
            <a:r>
              <a:rPr lang="zh-TW" altLang="en-US" dirty="0"/>
              <a:t>屬「非同步硬體中斷」，但到 </a:t>
            </a:r>
            <a:r>
              <a:rPr lang="en-US" altLang="zh-TW" dirty="0"/>
              <a:t>CPU </a:t>
            </a:r>
            <a:r>
              <a:rPr lang="zh-TW" altLang="en-US" dirty="0"/>
              <a:t>端同樣藉由</a:t>
            </a:r>
            <a:r>
              <a:rPr lang="zh-TW" altLang="en-US" b="1" dirty="0"/>
              <a:t>向量號→向量表→</a:t>
            </a:r>
            <a:r>
              <a:rPr lang="en-US" altLang="zh-TW" b="1" dirty="0"/>
              <a:t>ISR</a:t>
            </a:r>
            <a:r>
              <a:rPr lang="zh-TW" altLang="en-US" dirty="0"/>
              <a:t>。</a:t>
            </a:r>
          </a:p>
          <a:p>
            <a:br>
              <a:rPr lang="zh-TW" altLang="en-US" dirty="0"/>
            </a:br>
            <a:endParaRPr lang="zh-TW" altLang="en-US" dirty="0"/>
          </a:p>
          <a:p>
            <a:r>
              <a:rPr lang="zh-TW" altLang="en-US" b="1" dirty="0"/>
              <a:t>一句話解釋</a:t>
            </a:r>
          </a:p>
          <a:p>
            <a:r>
              <a:rPr lang="zh-TW" altLang="en-US" b="1" dirty="0"/>
              <a:t>中斷＝裝置按鈴→控制器給 </a:t>
            </a:r>
            <a:r>
              <a:rPr lang="en-US" altLang="zh-TW" b="1" dirty="0"/>
              <a:t>CPU </a:t>
            </a:r>
            <a:r>
              <a:rPr lang="zh-TW" altLang="en-US" b="1" dirty="0"/>
              <a:t>一個向量號→</a:t>
            </a:r>
            <a:r>
              <a:rPr lang="en-US" altLang="zh-TW" b="1" dirty="0"/>
              <a:t>CPU </a:t>
            </a:r>
            <a:r>
              <a:rPr lang="zh-TW" altLang="en-US" b="1" dirty="0"/>
              <a:t>依向量表跳到對應 </a:t>
            </a:r>
            <a:r>
              <a:rPr lang="en-US" altLang="zh-TW" b="1" dirty="0"/>
              <a:t>ISR </a:t>
            </a:r>
            <a:r>
              <a:rPr lang="zh-TW" altLang="en-US" b="1" dirty="0"/>
              <a:t>處理→恢復原程式。</a:t>
            </a:r>
            <a:endParaRPr lang="zh-TW" altLang="en-US" dirty="0"/>
          </a:p>
          <a:p>
            <a:br>
              <a:rPr lang="zh-TW" altLang="en-US" dirty="0"/>
            </a:br>
            <a:endParaRPr lang="zh-TW" altLang="en-US" dirty="0"/>
          </a:p>
          <a:p>
            <a:r>
              <a:rPr lang="zh-TW" altLang="en-US" b="1" dirty="0"/>
              <a:t>白話解說（超直白）</a:t>
            </a:r>
          </a:p>
          <a:p>
            <a:r>
              <a:rPr lang="zh-TW" altLang="en-US" dirty="0"/>
              <a:t>把 </a:t>
            </a:r>
            <a:r>
              <a:rPr lang="en-US" altLang="zh-TW" dirty="0"/>
              <a:t>OS </a:t>
            </a:r>
            <a:r>
              <a:rPr lang="zh-TW" altLang="en-US" dirty="0"/>
              <a:t>想成旅館櫃台：</a:t>
            </a:r>
            <a:br>
              <a:rPr lang="zh-TW" altLang="en-US" dirty="0"/>
            </a:br>
            <a:r>
              <a:rPr lang="zh-TW" altLang="en-US" dirty="0"/>
              <a:t>客人（</a:t>
            </a:r>
            <a:r>
              <a:rPr lang="zh-TW" altLang="en-US" b="1" dirty="0"/>
              <a:t>裝置</a:t>
            </a:r>
            <a:r>
              <a:rPr lang="zh-TW" altLang="en-US" dirty="0"/>
              <a:t>）按服務鈴（</a:t>
            </a:r>
            <a:r>
              <a:rPr lang="en-US" altLang="zh-TW" b="1" dirty="0"/>
              <a:t>IRQ</a:t>
            </a:r>
            <a:r>
              <a:rPr lang="zh-TW" altLang="en-US" dirty="0"/>
              <a:t>）；總機（</a:t>
            </a:r>
            <a:r>
              <a:rPr lang="zh-TW" altLang="en-US" b="1" dirty="0"/>
              <a:t>中斷控制器</a:t>
            </a:r>
            <a:r>
              <a:rPr lang="zh-TW" altLang="en-US" dirty="0"/>
              <a:t>）看分機表，告訴櫃台「接 </a:t>
            </a:r>
            <a:r>
              <a:rPr lang="en-US" altLang="zh-TW" b="1" dirty="0"/>
              <a:t>81 </a:t>
            </a:r>
            <a:r>
              <a:rPr lang="zh-TW" altLang="en-US" b="1" dirty="0"/>
              <a:t>號</a:t>
            </a:r>
            <a:r>
              <a:rPr lang="zh-TW" altLang="en-US" dirty="0"/>
              <a:t>電話」（</a:t>
            </a:r>
            <a:r>
              <a:rPr lang="en-US" altLang="zh-TW" b="1" dirty="0"/>
              <a:t>INT 0x81</a:t>
            </a:r>
            <a:r>
              <a:rPr lang="zh-TW" altLang="en-US" dirty="0"/>
              <a:t>）；櫃台（</a:t>
            </a:r>
            <a:r>
              <a:rPr lang="en-US" altLang="zh-TW" b="1" dirty="0"/>
              <a:t>CPU</a:t>
            </a:r>
            <a:r>
              <a:rPr lang="zh-TW" altLang="en-US" dirty="0"/>
              <a:t>）打開電話簿（</a:t>
            </a:r>
            <a:r>
              <a:rPr lang="zh-TW" altLang="en-US" b="1" dirty="0"/>
              <a:t>向量表</a:t>
            </a:r>
            <a:r>
              <a:rPr lang="zh-TW" altLang="en-US" dirty="0"/>
              <a:t>）找到 </a:t>
            </a:r>
            <a:r>
              <a:rPr lang="en-US" altLang="zh-TW" b="1" dirty="0"/>
              <a:t>81</a:t>
            </a:r>
            <a:r>
              <a:rPr lang="zh-TW" altLang="en-US" dirty="0"/>
              <a:t> 的處理人（</a:t>
            </a:r>
            <a:r>
              <a:rPr lang="en-US" altLang="zh-TW" b="1" dirty="0"/>
              <a:t>ISR</a:t>
            </a:r>
            <a:r>
              <a:rPr lang="zh-TW" altLang="en-US" dirty="0"/>
              <a:t>）接起來處理；處理完跟總機說「結束」（</a:t>
            </a:r>
            <a:r>
              <a:rPr lang="en-US" altLang="zh-TW" b="1" dirty="0"/>
              <a:t>EOI</a:t>
            </a:r>
            <a:r>
              <a:rPr lang="zh-TW" altLang="en-US" dirty="0"/>
              <a:t>），然後回到剛剛被打斷的工作。</a:t>
            </a:r>
          </a:p>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33</a:t>
            </a:fld>
            <a:endParaRPr lang="zh-TW" altLang="en-US"/>
          </a:p>
        </p:txBody>
      </p:sp>
    </p:spTree>
    <p:extLst>
      <p:ext uri="{BB962C8B-B14F-4D97-AF65-F5344CB8AC3E}">
        <p14:creationId xmlns:p14="http://schemas.microsoft.com/office/powerpoint/2010/main" val="8045255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1" dirty="0"/>
              <a:t>Interrupt Handler</a:t>
            </a:r>
          </a:p>
          <a:p>
            <a:r>
              <a:rPr lang="zh-TW" altLang="en-US" b="1" dirty="0"/>
              <a:t>逐字翻譯</a:t>
            </a:r>
          </a:p>
          <a:p>
            <a:r>
              <a:rPr lang="en-US" altLang="zh-TW" b="1" dirty="0"/>
              <a:t>Interrupt Service Routine (ISR) or Interrupt Handler: The function the kernel runs in response to a specific interrupt.</a:t>
            </a:r>
            <a:br>
              <a:rPr lang="en-US" altLang="zh-TW" dirty="0"/>
            </a:br>
            <a:r>
              <a:rPr lang="zh-TW" altLang="en-US" b="1" dirty="0"/>
              <a:t>中斷服務常式（</a:t>
            </a:r>
            <a:r>
              <a:rPr lang="en-US" altLang="zh-TW" b="1" dirty="0"/>
              <a:t>ISR</a:t>
            </a:r>
            <a:r>
              <a:rPr lang="zh-TW" altLang="en-US" b="1" dirty="0"/>
              <a:t>）</a:t>
            </a:r>
            <a:r>
              <a:rPr lang="en-US" altLang="zh-TW" b="1" dirty="0"/>
              <a:t>/</a:t>
            </a:r>
            <a:r>
              <a:rPr lang="zh-TW" altLang="en-US" b="1" dirty="0"/>
              <a:t>中斷處理器</a:t>
            </a:r>
            <a:r>
              <a:rPr lang="zh-TW" altLang="en-US" dirty="0"/>
              <a:t>：核心為了回應</a:t>
            </a:r>
            <a:r>
              <a:rPr lang="zh-TW" altLang="en-US" b="1" dirty="0"/>
              <a:t>某個特定中斷</a:t>
            </a:r>
            <a:r>
              <a:rPr lang="zh-TW" altLang="en-US" dirty="0"/>
              <a:t>而執行的</a:t>
            </a:r>
            <a:r>
              <a:rPr lang="zh-TW" altLang="en-US" b="1" dirty="0"/>
              <a:t>函式</a:t>
            </a:r>
            <a:r>
              <a:rPr lang="zh-TW" altLang="en-US" dirty="0"/>
              <a:t>。</a:t>
            </a:r>
          </a:p>
          <a:p>
            <a:pPr lvl="1"/>
            <a:r>
              <a:rPr lang="en-US" altLang="zh-TW" b="1" dirty="0"/>
              <a:t>It is part of a device driver (the kernel code manages the device).</a:t>
            </a:r>
            <a:br>
              <a:rPr lang="en-US" altLang="zh-TW" dirty="0"/>
            </a:br>
            <a:r>
              <a:rPr lang="zh-TW" altLang="en-US" dirty="0"/>
              <a:t>它是</a:t>
            </a:r>
            <a:r>
              <a:rPr lang="zh-TW" altLang="en-US" b="1" dirty="0"/>
              <a:t>裝置驅動程式</a:t>
            </a:r>
            <a:r>
              <a:rPr lang="zh-TW" altLang="en-US" dirty="0"/>
              <a:t>的一部分（由</a:t>
            </a:r>
            <a:r>
              <a:rPr lang="zh-TW" altLang="en-US" b="1" dirty="0"/>
              <a:t>核心程式碼</a:t>
            </a:r>
            <a:r>
              <a:rPr lang="zh-TW" altLang="en-US" dirty="0"/>
              <a:t>管理裝置）。</a:t>
            </a:r>
          </a:p>
          <a:p>
            <a:r>
              <a:rPr lang="en-US" altLang="zh-TW" b="1" dirty="0"/>
              <a:t>Challenge: ISR is non-</a:t>
            </a:r>
            <a:r>
              <a:rPr lang="en-US" altLang="zh-TW" b="1" dirty="0" err="1"/>
              <a:t>blockable</a:t>
            </a:r>
            <a:r>
              <a:rPr lang="en-US" altLang="zh-TW" b="1" dirty="0"/>
              <a:t> (Cannot Sleep). The handler shall run quickly, to resume execution of the interrupted code as soon as possible.</a:t>
            </a:r>
            <a:br>
              <a:rPr lang="en-US" altLang="zh-TW" dirty="0"/>
            </a:br>
            <a:r>
              <a:rPr lang="zh-TW" altLang="en-US" b="1" dirty="0"/>
              <a:t>難點</a:t>
            </a:r>
            <a:r>
              <a:rPr lang="zh-TW" altLang="en-US" dirty="0"/>
              <a:t>：</a:t>
            </a:r>
            <a:r>
              <a:rPr lang="en-US" altLang="zh-TW" dirty="0"/>
              <a:t>ISR </a:t>
            </a:r>
            <a:r>
              <a:rPr lang="zh-TW" altLang="en-US" b="1" dirty="0"/>
              <a:t>不能阻塞</a:t>
            </a:r>
            <a:r>
              <a:rPr lang="en-US" altLang="zh-TW" b="1" dirty="0"/>
              <a:t>/</a:t>
            </a:r>
            <a:r>
              <a:rPr lang="zh-TW" altLang="en-US" b="1" dirty="0"/>
              <a:t>不能睡眠</a:t>
            </a:r>
            <a:r>
              <a:rPr lang="zh-TW" altLang="en-US" dirty="0"/>
              <a:t>。處理器必須</a:t>
            </a:r>
            <a:r>
              <a:rPr lang="zh-TW" altLang="en-US" b="1" dirty="0"/>
              <a:t>儘快</a:t>
            </a:r>
            <a:r>
              <a:rPr lang="zh-TW" altLang="en-US" dirty="0"/>
              <a:t>完成，讓被打斷的程式</a:t>
            </a:r>
            <a:r>
              <a:rPr lang="zh-TW" altLang="en-US" b="1" dirty="0"/>
              <a:t>早點恢復</a:t>
            </a:r>
            <a:r>
              <a:rPr lang="zh-TW" altLang="en-US" dirty="0"/>
              <a:t>。</a:t>
            </a:r>
          </a:p>
          <a:p>
            <a:r>
              <a:rPr lang="en-US" altLang="zh-TW" b="1" dirty="0"/>
              <a:t>Split the ISR into two parts (Top Halves + Bottom Halves):</a:t>
            </a:r>
            <a:br>
              <a:rPr lang="en-US" altLang="zh-TW" dirty="0"/>
            </a:br>
            <a:r>
              <a:rPr lang="zh-TW" altLang="en-US" dirty="0"/>
              <a:t>將 </a:t>
            </a:r>
            <a:r>
              <a:rPr lang="en-US" altLang="zh-TW" dirty="0"/>
              <a:t>ISR </a:t>
            </a:r>
            <a:r>
              <a:rPr lang="zh-TW" altLang="en-US" b="1" dirty="0"/>
              <a:t>拆成兩半</a:t>
            </a:r>
            <a:r>
              <a:rPr lang="zh-TW" altLang="en-US" dirty="0"/>
              <a:t>（</a:t>
            </a:r>
            <a:r>
              <a:rPr lang="zh-TW" altLang="en-US" b="1" dirty="0"/>
              <a:t>上半部</a:t>
            </a:r>
            <a:r>
              <a:rPr lang="zh-TW" altLang="en-US" dirty="0"/>
              <a:t>＋</a:t>
            </a:r>
            <a:r>
              <a:rPr lang="zh-TW" altLang="en-US" b="1" dirty="0"/>
              <a:t>下半部</a:t>
            </a:r>
            <a:r>
              <a:rPr lang="zh-TW" altLang="en-US" dirty="0"/>
              <a:t>）：</a:t>
            </a:r>
          </a:p>
          <a:p>
            <a:pPr lvl="1"/>
            <a:r>
              <a:rPr lang="en-US" altLang="zh-TW" b="1" dirty="0"/>
              <a:t>Top Halves: Run immediately upon receipt of the interrupt and performs only the work that is time-critical.</a:t>
            </a:r>
            <a:br>
              <a:rPr lang="en-US" altLang="zh-TW" dirty="0"/>
            </a:br>
            <a:r>
              <a:rPr lang="zh-TW" altLang="en-US" b="1" dirty="0"/>
              <a:t>上半部</a:t>
            </a:r>
            <a:r>
              <a:rPr lang="zh-TW" altLang="en-US" dirty="0"/>
              <a:t>：</a:t>
            </a:r>
            <a:r>
              <a:rPr lang="zh-TW" altLang="en-US" b="1" dirty="0"/>
              <a:t>一收到中斷就立刻執行</a:t>
            </a:r>
            <a:r>
              <a:rPr lang="zh-TW" altLang="en-US" dirty="0"/>
              <a:t>，只做</a:t>
            </a:r>
            <a:r>
              <a:rPr lang="zh-TW" altLang="en-US" b="1" dirty="0"/>
              <a:t>時間關鍵</a:t>
            </a:r>
            <a:r>
              <a:rPr lang="zh-TW" altLang="en-US" dirty="0"/>
              <a:t>的工作。</a:t>
            </a:r>
          </a:p>
          <a:p>
            <a:pPr lvl="1"/>
            <a:r>
              <a:rPr lang="en-US" altLang="zh-TW" b="1" dirty="0"/>
              <a:t>Bottom Halves: Work that can be performed later is deferred until the bottom half.</a:t>
            </a:r>
            <a:br>
              <a:rPr lang="en-US" altLang="zh-TW" dirty="0"/>
            </a:br>
            <a:r>
              <a:rPr lang="zh-TW" altLang="en-US" b="1" dirty="0"/>
              <a:t>下半部</a:t>
            </a:r>
            <a:r>
              <a:rPr lang="zh-TW" altLang="en-US" dirty="0"/>
              <a:t>：把</a:t>
            </a:r>
            <a:r>
              <a:rPr lang="zh-TW" altLang="en-US" b="1" dirty="0"/>
              <a:t>可延後</a:t>
            </a:r>
            <a:r>
              <a:rPr lang="zh-TW" altLang="en-US" dirty="0"/>
              <a:t>的工作</a:t>
            </a:r>
            <a:r>
              <a:rPr lang="zh-TW" altLang="en-US" b="1" dirty="0"/>
              <a:t>延遲</a:t>
            </a:r>
            <a:r>
              <a:rPr lang="zh-TW" altLang="en-US" dirty="0"/>
              <a:t>到這裡再做。</a:t>
            </a:r>
          </a:p>
          <a:p>
            <a:pPr lvl="1"/>
            <a:r>
              <a:rPr lang="en-US" altLang="zh-TW" b="1" dirty="0"/>
              <a:t>Example:</a:t>
            </a:r>
            <a:br>
              <a:rPr lang="en-US" altLang="zh-TW" dirty="0"/>
            </a:br>
            <a:r>
              <a:rPr lang="zh-TW" altLang="en-US" b="1" dirty="0"/>
              <a:t>例子：</a:t>
            </a:r>
            <a:endParaRPr lang="zh-TW" altLang="en-US" dirty="0"/>
          </a:p>
          <a:p>
            <a:pPr lvl="2"/>
            <a:r>
              <a:rPr lang="en-US" altLang="zh-TW" b="1" dirty="0"/>
              <a:t>A network card received a Packet.</a:t>
            </a:r>
            <a:r>
              <a:rPr lang="en-US" altLang="zh-TW" dirty="0"/>
              <a:t> </a:t>
            </a:r>
            <a:r>
              <a:rPr lang="zh-TW" altLang="en-US" dirty="0"/>
              <a:t>網卡收到一個封包。</a:t>
            </a:r>
          </a:p>
          <a:p>
            <a:pPr lvl="2"/>
            <a:r>
              <a:rPr lang="en-US" altLang="zh-TW" b="1" dirty="0"/>
              <a:t>Top Halves move the packet from the buffer in the network card to host memory.</a:t>
            </a:r>
            <a:r>
              <a:rPr lang="en-US" altLang="zh-TW" dirty="0"/>
              <a:t> </a:t>
            </a:r>
            <a:r>
              <a:rPr lang="zh-TW" altLang="en-US" dirty="0"/>
              <a:t>上半部把封包從網卡的緩衝</a:t>
            </a:r>
            <a:r>
              <a:rPr lang="zh-TW" altLang="en-US" b="1" dirty="0"/>
              <a:t>搬到主記憶體</a:t>
            </a:r>
            <a:r>
              <a:rPr lang="zh-TW" altLang="en-US" dirty="0"/>
              <a:t>。</a:t>
            </a:r>
          </a:p>
          <a:p>
            <a:pPr lvl="2"/>
            <a:r>
              <a:rPr lang="en-US" altLang="zh-TW" b="1" dirty="0"/>
              <a:t>Bottom Halves will process the packet later.</a:t>
            </a:r>
            <a:r>
              <a:rPr lang="en-US" altLang="zh-TW" dirty="0"/>
              <a:t> </a:t>
            </a:r>
            <a:r>
              <a:rPr lang="zh-TW" altLang="en-US" dirty="0"/>
              <a:t>下半部</a:t>
            </a:r>
            <a:r>
              <a:rPr lang="zh-TW" altLang="en-US" b="1" dirty="0"/>
              <a:t>稍後</a:t>
            </a:r>
            <a:r>
              <a:rPr lang="zh-TW" altLang="en-US" dirty="0"/>
              <a:t>再</a:t>
            </a:r>
            <a:r>
              <a:rPr lang="zh-TW" altLang="en-US" b="1" dirty="0"/>
              <a:t>處理</a:t>
            </a:r>
            <a:r>
              <a:rPr lang="zh-TW" altLang="en-US" dirty="0"/>
              <a:t>這個封包。</a:t>
            </a:r>
          </a:p>
          <a:p>
            <a:br>
              <a:rPr lang="zh-TW" altLang="en-US" dirty="0"/>
            </a:br>
            <a:endParaRPr lang="zh-TW" altLang="en-US" dirty="0"/>
          </a:p>
          <a:p>
            <a:r>
              <a:rPr lang="zh-TW" altLang="en-US" b="1" dirty="0"/>
              <a:t>解說（重點觀念）</a:t>
            </a:r>
          </a:p>
          <a:p>
            <a:r>
              <a:rPr lang="zh-TW" altLang="en-US" b="1" dirty="0"/>
              <a:t>為何不能睡？</a:t>
            </a:r>
            <a:r>
              <a:rPr lang="zh-TW" altLang="en-US" dirty="0"/>
              <a:t> 進 </a:t>
            </a:r>
            <a:r>
              <a:rPr lang="en-US" altLang="zh-TW" dirty="0"/>
              <a:t>ISR </a:t>
            </a:r>
            <a:r>
              <a:rPr lang="zh-TW" altLang="en-US" dirty="0"/>
              <a:t>時多半</a:t>
            </a:r>
            <a:r>
              <a:rPr lang="zh-TW" altLang="en-US" b="1" dirty="0"/>
              <a:t>關中斷</a:t>
            </a:r>
            <a:r>
              <a:rPr lang="en-US" altLang="zh-TW" b="1" dirty="0"/>
              <a:t>/</a:t>
            </a:r>
            <a:r>
              <a:rPr lang="zh-TW" altLang="en-US" b="1" dirty="0"/>
              <a:t>關搶占</a:t>
            </a:r>
            <a:r>
              <a:rPr lang="zh-TW" altLang="en-US" dirty="0"/>
              <a:t>或至少提高中斷上下文優先序；若睡眠或阻塞，系統延遲會飆升甚至死鎖。</a:t>
            </a:r>
          </a:p>
          <a:p>
            <a:r>
              <a:rPr lang="zh-TW" altLang="en-US" b="1" dirty="0"/>
              <a:t>上半部</a:t>
            </a:r>
            <a:r>
              <a:rPr lang="zh-TW" altLang="en-US" dirty="0"/>
              <a:t>常見任務：讀硬體暫存器、清中斷來源、把資料搬到安全佇列、送 </a:t>
            </a:r>
            <a:r>
              <a:rPr lang="en-US" altLang="zh-TW" b="1" dirty="0"/>
              <a:t>EOI</a:t>
            </a:r>
            <a:r>
              <a:rPr lang="zh-TW" altLang="en-US" dirty="0"/>
              <a:t>。</a:t>
            </a:r>
          </a:p>
          <a:p>
            <a:r>
              <a:rPr lang="zh-TW" altLang="en-US" b="1" dirty="0"/>
              <a:t>下半部</a:t>
            </a:r>
            <a:r>
              <a:rPr lang="zh-TW" altLang="en-US" dirty="0"/>
              <a:t>實作在 </a:t>
            </a:r>
            <a:r>
              <a:rPr lang="en-US" altLang="zh-TW" dirty="0"/>
              <a:t>Linux</a:t>
            </a:r>
            <a:r>
              <a:rPr lang="zh-TW" altLang="en-US" dirty="0"/>
              <a:t>：</a:t>
            </a:r>
            <a:r>
              <a:rPr lang="en-US" altLang="zh-TW" b="1" dirty="0" err="1"/>
              <a:t>softirq</a:t>
            </a:r>
            <a:r>
              <a:rPr lang="zh-TW" altLang="en-US" b="1" dirty="0"/>
              <a:t>、</a:t>
            </a:r>
            <a:r>
              <a:rPr lang="en-US" altLang="zh-TW" b="1" dirty="0" err="1"/>
              <a:t>tasklet</a:t>
            </a:r>
            <a:r>
              <a:rPr lang="zh-TW" altLang="en-US" b="1" dirty="0"/>
              <a:t>、</a:t>
            </a:r>
            <a:r>
              <a:rPr lang="en-US" altLang="zh-TW" b="1" dirty="0" err="1"/>
              <a:t>workqueue</a:t>
            </a:r>
            <a:r>
              <a:rPr lang="zh-TW" altLang="en-US" dirty="0"/>
              <a:t>（由排程器在可睡的情境慢慢做，如協定棧處理、解析封包、喚醒進程）。</a:t>
            </a:r>
          </a:p>
          <a:p>
            <a:r>
              <a:rPr lang="zh-TW" altLang="en-US" b="1" dirty="0"/>
              <a:t>好處</a:t>
            </a:r>
            <a:r>
              <a:rPr lang="zh-TW" altLang="en-US" dirty="0"/>
              <a:t>：把「</a:t>
            </a:r>
            <a:r>
              <a:rPr lang="zh-TW" altLang="en-US" b="1" dirty="0"/>
              <a:t>必須立刻做</a:t>
            </a:r>
            <a:r>
              <a:rPr lang="zh-TW" altLang="en-US" dirty="0"/>
              <a:t>」與「</a:t>
            </a:r>
            <a:r>
              <a:rPr lang="zh-TW" altLang="en-US" b="1" dirty="0"/>
              <a:t>可以晚點做</a:t>
            </a:r>
            <a:r>
              <a:rPr lang="zh-TW" altLang="en-US" dirty="0"/>
              <a:t>」分開，</a:t>
            </a:r>
            <a:r>
              <a:rPr lang="zh-TW" altLang="en-US" b="1" dirty="0"/>
              <a:t>縮短中斷延遲</a:t>
            </a:r>
            <a:r>
              <a:rPr lang="zh-TW" altLang="en-US" dirty="0"/>
              <a:t>、提升</a:t>
            </a:r>
            <a:r>
              <a:rPr lang="zh-TW" altLang="en-US" b="1" dirty="0"/>
              <a:t>整體吞吐</a:t>
            </a:r>
            <a:r>
              <a:rPr lang="zh-TW" altLang="en-US" dirty="0"/>
              <a:t>與</a:t>
            </a:r>
            <a:r>
              <a:rPr lang="zh-TW" altLang="en-US" b="1" dirty="0"/>
              <a:t>即時性</a:t>
            </a:r>
            <a:r>
              <a:rPr lang="zh-TW" altLang="en-US" dirty="0"/>
              <a:t>。</a:t>
            </a:r>
          </a:p>
          <a:p>
            <a:br>
              <a:rPr lang="zh-TW" altLang="en-US" dirty="0"/>
            </a:br>
            <a:endParaRPr lang="zh-TW" altLang="en-US" dirty="0"/>
          </a:p>
          <a:p>
            <a:r>
              <a:rPr lang="zh-TW" altLang="en-US" b="1" dirty="0"/>
              <a:t>一句話解釋</a:t>
            </a:r>
          </a:p>
          <a:p>
            <a:r>
              <a:rPr lang="en-US" altLang="zh-TW" b="1" dirty="0"/>
              <a:t>ISR </a:t>
            </a:r>
            <a:r>
              <a:rPr lang="zh-TW" altLang="en-US" b="1" dirty="0"/>
              <a:t>必須短平快；先用上半部搞定硬體與急件，把剩下能晚點做的工作丟到下半部。</a:t>
            </a:r>
            <a:endParaRPr lang="zh-TW" altLang="en-US" dirty="0"/>
          </a:p>
          <a:p>
            <a:br>
              <a:rPr lang="zh-TW" altLang="en-US" dirty="0"/>
            </a:br>
            <a:endParaRPr lang="zh-TW" altLang="en-US" dirty="0"/>
          </a:p>
          <a:p>
            <a:r>
              <a:rPr lang="zh-TW" altLang="en-US" b="1" dirty="0"/>
              <a:t>白話解說</a:t>
            </a:r>
          </a:p>
          <a:p>
            <a:r>
              <a:rPr lang="zh-TW" altLang="en-US" dirty="0"/>
              <a:t>把中斷想成外送員按門鈴：</a:t>
            </a:r>
          </a:p>
          <a:p>
            <a:r>
              <a:rPr lang="zh-TW" altLang="en-US" b="1" dirty="0"/>
              <a:t>上半部</a:t>
            </a:r>
            <a:r>
              <a:rPr lang="zh-TW" altLang="en-US" dirty="0"/>
              <a:t>＝立刻開門、簽收、把餐先放進冰箱（清中斷、搬資料）。</a:t>
            </a:r>
          </a:p>
          <a:p>
            <a:r>
              <a:rPr lang="zh-TW" altLang="en-US" b="1" dirty="0"/>
              <a:t>下半部</a:t>
            </a:r>
            <a:r>
              <a:rPr lang="zh-TW" altLang="en-US" dirty="0"/>
              <a:t>＝有空再加熱擺盤慢慢吃（協定處理、喚醒應用）。</a:t>
            </a:r>
            <a:br>
              <a:rPr lang="zh-TW" altLang="en-US" dirty="0"/>
            </a:br>
            <a:r>
              <a:rPr lang="zh-TW" altLang="en-US" dirty="0"/>
              <a:t>這樣不會讓你一直卡在門口（</a:t>
            </a:r>
            <a:r>
              <a:rPr lang="en-US" altLang="zh-TW" dirty="0"/>
              <a:t>ISR </a:t>
            </a:r>
            <a:r>
              <a:rPr lang="zh-TW" altLang="en-US" dirty="0"/>
              <a:t>不阻塞），家裡其他事也能繼續進行。</a:t>
            </a:r>
          </a:p>
          <a:p>
            <a:br>
              <a:rPr lang="en-US" altLang="zh-TW" dirty="0"/>
            </a:br>
            <a:r>
              <a:rPr lang="zh-TW" altLang="en-US" b="1" dirty="0"/>
              <a:t>白話版</a:t>
            </a:r>
          </a:p>
          <a:p>
            <a:r>
              <a:rPr lang="en-US" altLang="zh-TW" b="1" dirty="0"/>
              <a:t>Interrupt</a:t>
            </a:r>
            <a:r>
              <a:rPr lang="zh-TW" altLang="en-US" dirty="0"/>
              <a:t>：門鈴。</a:t>
            </a:r>
          </a:p>
          <a:p>
            <a:r>
              <a:rPr lang="en-US" altLang="zh-TW" b="1" dirty="0"/>
              <a:t>ISR</a:t>
            </a:r>
            <a:r>
              <a:rPr lang="zh-TW" altLang="en-US" dirty="0"/>
              <a:t>：開門的人，先簽收</a:t>
            </a:r>
            <a:r>
              <a:rPr lang="en-US" altLang="zh-TW" dirty="0"/>
              <a:t>/</a:t>
            </a:r>
            <a:r>
              <a:rPr lang="zh-TW" altLang="en-US" dirty="0"/>
              <a:t>清場（急事），剩下請同事晚點處理，然後回去把被打斷的事做完。</a:t>
            </a:r>
          </a:p>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34</a:t>
            </a:fld>
            <a:endParaRPr lang="zh-TW" altLang="en-US"/>
          </a:p>
        </p:txBody>
      </p:sp>
    </p:spTree>
    <p:extLst>
      <p:ext uri="{BB962C8B-B14F-4D97-AF65-F5344CB8AC3E}">
        <p14:creationId xmlns:p14="http://schemas.microsoft.com/office/powerpoint/2010/main" val="29382358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圖片 3" descr="一張含有 符號, 標誌, 圖形, 圓形 的圖片&#10;&#10;自動產生的描述">
            <a:extLst>
              <a:ext uri="{FF2B5EF4-FFF2-40B4-BE49-F238E27FC236}">
                <a16:creationId xmlns:a16="http://schemas.microsoft.com/office/drawing/2014/main" id="{B56F5430-B8B8-5B49-D020-4366AEE7381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3050" y="-256485"/>
            <a:ext cx="1906380" cy="1906380"/>
          </a:xfrm>
          <a:prstGeom prst="rect">
            <a:avLst/>
          </a:prstGeom>
        </p:spPr>
      </p:pic>
    </p:spTree>
    <p:extLst>
      <p:ext uri="{BB962C8B-B14F-4D97-AF65-F5344CB8AC3E}">
        <p14:creationId xmlns:p14="http://schemas.microsoft.com/office/powerpoint/2010/main" val="96630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7800" y="174625"/>
            <a:ext cx="11836400" cy="1063625"/>
          </a:xfrm>
        </p:spPr>
        <p:txBody>
          <a:bodyPr>
            <a:normAutofit/>
          </a:bodyPr>
          <a:lstStyle>
            <a:lvl1pPr algn="ctr" rtl="0" fontAlgn="base">
              <a:spcBef>
                <a:spcPct val="0"/>
              </a:spcBef>
              <a:spcAft>
                <a:spcPct val="0"/>
              </a:spcAft>
              <a:defRPr kumimoji="1" lang="zh-TW" altLang="en-US" sz="4400" b="1" kern="1200" dirty="0">
                <a:solidFill>
                  <a:schemeClr val="tx1"/>
                </a:solidFill>
                <a:latin typeface="Calibri" panose="020F0502020204030204" pitchFamily="34" charset="0"/>
                <a:ea typeface="+mj-ea"/>
                <a:cs typeface="Calibri" panose="020F0502020204030204" pitchFamily="34" charset="0"/>
              </a:defRPr>
            </a:lvl1pPr>
          </a:lstStyle>
          <a:p>
            <a:r>
              <a:rPr lang="en-US" altLang="zh-TW" dirty="0"/>
              <a:t>Click to edit Master title style</a:t>
            </a:r>
            <a:endParaRPr lang="zh-TW" altLang="en-US" dirty="0"/>
          </a:p>
        </p:txBody>
      </p:sp>
      <p:sp>
        <p:nvSpPr>
          <p:cNvPr id="3" name="Content Placeholder 2"/>
          <p:cNvSpPr>
            <a:spLocks noGrp="1"/>
          </p:cNvSpPr>
          <p:nvPr>
            <p:ph idx="1"/>
          </p:nvPr>
        </p:nvSpPr>
        <p:spPr>
          <a:xfrm>
            <a:off x="177800" y="1238250"/>
            <a:ext cx="11836400" cy="5441950"/>
          </a:xfrm>
        </p:spPr>
        <p:txBody>
          <a:bodyPr/>
          <a:lstStyle>
            <a:lvl1pPr algn="just">
              <a:spcBef>
                <a:spcPts val="0"/>
              </a:spcBef>
              <a:defRPr sz="2800">
                <a:latin typeface="Calibri" panose="020F0502020204030204" pitchFamily="34" charset="0"/>
                <a:cs typeface="Calibri" panose="020F0502020204030204" pitchFamily="34" charset="0"/>
              </a:defRPr>
            </a:lvl1pPr>
            <a:lvl2pPr marL="742950" indent="-285750" algn="just">
              <a:spcBef>
                <a:spcPts val="0"/>
              </a:spcBef>
              <a:buFont typeface="Arial" panose="020B0604020202020204" pitchFamily="34" charset="0"/>
              <a:buChar char="•"/>
              <a:defRPr sz="2400">
                <a:latin typeface="Calibri" panose="020F0502020204030204" pitchFamily="34" charset="0"/>
                <a:cs typeface="Calibri" panose="020F0502020204030204" pitchFamily="34" charset="0"/>
              </a:defRPr>
            </a:lvl2pPr>
            <a:lvl3pPr algn="just">
              <a:spcBef>
                <a:spcPts val="0"/>
              </a:spcBef>
              <a:defRPr sz="2000">
                <a:latin typeface="Calibri" panose="020F0502020204030204" pitchFamily="34" charset="0"/>
                <a:cs typeface="Calibri" panose="020F0502020204030204" pitchFamily="34" charset="0"/>
              </a:defRPr>
            </a:lvl3pPr>
            <a:lvl4pPr algn="just">
              <a:spcBef>
                <a:spcPts val="0"/>
              </a:spcBef>
              <a:defRPr sz="2400">
                <a:latin typeface="Calibri" panose="020F0502020204030204" pitchFamily="34" charset="0"/>
                <a:cs typeface="Calibri" panose="020F0502020204030204" pitchFamily="34" charset="0"/>
              </a:defRPr>
            </a:lvl4pPr>
            <a:lvl5pPr algn="just">
              <a:spcBef>
                <a:spcPts val="0"/>
              </a:spcBef>
              <a:defRPr sz="2400">
                <a:latin typeface="Calibri" panose="020F0502020204030204" pitchFamily="34" charset="0"/>
                <a:cs typeface="Calibri" panose="020F0502020204030204" pitchFamily="34" charset="0"/>
              </a:defRPr>
            </a:lvl5pPr>
          </a:lstStyle>
          <a:p>
            <a:pPr lvl="0"/>
            <a:r>
              <a:rPr lang="en-US" altLang="zh-TW" dirty="0"/>
              <a:t>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12" name="Slide Number Placeholder 8"/>
          <p:cNvSpPr>
            <a:spLocks noGrp="1"/>
          </p:cNvSpPr>
          <p:nvPr>
            <p:ph type="sldNum" sz="quarter" idx="4"/>
          </p:nvPr>
        </p:nvSpPr>
        <p:spPr>
          <a:xfrm>
            <a:off x="11668124" y="11113"/>
            <a:ext cx="523875" cy="484187"/>
          </a:xfrm>
          <a:prstGeom prst="rect">
            <a:avLst/>
          </a:prstGeom>
        </p:spPr>
        <p:txBody>
          <a:bodyPr vert="horz" lIns="91440" tIns="45720" rIns="91440" bIns="45720" rtlCol="0" anchor="ctr"/>
          <a:lstStyle>
            <a:lvl1pPr algn="ctr">
              <a:defRPr sz="1600" b="0">
                <a:solidFill>
                  <a:schemeClr val="tx1"/>
                </a:solidFill>
                <a:latin typeface="+mn-lt"/>
                <a:cs typeface="Arial" panose="020B0604020202020204" pitchFamily="34" charset="0"/>
              </a:defRPr>
            </a:lvl1pPr>
          </a:lstStyle>
          <a:p>
            <a:fld id="{E24E6636-6BA5-4AAC-8485-BE8D914D288B}" type="slidenum">
              <a:rPr lang="zh-TW" altLang="en-US" smtClean="0"/>
              <a:pPr/>
              <a:t>‹#›</a:t>
            </a:fld>
            <a:endParaRPr lang="zh-TW" altLang="en-US" dirty="0"/>
          </a:p>
        </p:txBody>
      </p:sp>
      <p:sp>
        <p:nvSpPr>
          <p:cNvPr id="4" name="文字方塊 3">
            <a:extLst>
              <a:ext uri="{FF2B5EF4-FFF2-40B4-BE49-F238E27FC236}">
                <a16:creationId xmlns:a16="http://schemas.microsoft.com/office/drawing/2014/main" id="{F2B048F7-DAB4-F1CA-94CE-9FBF17A495C6}"/>
              </a:ext>
            </a:extLst>
          </p:cNvPr>
          <p:cNvSpPr txBox="1"/>
          <p:nvPr userDrawn="1"/>
        </p:nvSpPr>
        <p:spPr>
          <a:xfrm>
            <a:off x="0" y="-37131"/>
            <a:ext cx="4750018" cy="276999"/>
          </a:xfrm>
          <a:prstGeom prst="rect">
            <a:avLst/>
          </a:prstGeom>
          <a:noFill/>
        </p:spPr>
        <p:txBody>
          <a:bodyPr wrap="none" rtlCol="0">
            <a:spAutoFit/>
          </a:bodyPr>
          <a:lstStyle/>
          <a:p>
            <a:r>
              <a:rPr kumimoji="1" lang="en-US" altLang="zh-TW" sz="1200" b="1" i="0" dirty="0">
                <a:solidFill>
                  <a:schemeClr val="bg1">
                    <a:lumMod val="85000"/>
                  </a:schemeClr>
                </a:solidFill>
                <a:latin typeface="Bradley Hand" pitchFamily="2" charset="0"/>
                <a:ea typeface="Brush Script MT" panose="03060802040406070304" pitchFamily="66" charset="-122"/>
                <a:cs typeface="Brush Script MT" panose="03060802040406070304" pitchFamily="66" charset="-122"/>
              </a:rPr>
              <a:t>National Yang Ming Chiao Tung University, Prof. Chun-Feng Wu</a:t>
            </a:r>
            <a:endParaRPr kumimoji="1" lang="zh-TW" altLang="en-US" sz="1200" b="1" i="0" dirty="0">
              <a:solidFill>
                <a:schemeClr val="bg1">
                  <a:lumMod val="85000"/>
                </a:schemeClr>
              </a:solidFill>
              <a:latin typeface="Bradley Hand" pitchFamily="2" charset="0"/>
              <a:ea typeface="STXingkai" panose="02010800040101010101" pitchFamily="2" charset="-122"/>
              <a:cs typeface="Brush Script MT" panose="03060802040406070304" pitchFamily="66" charset="-122"/>
            </a:endParaRPr>
          </a:p>
        </p:txBody>
      </p:sp>
    </p:spTree>
    <p:extLst>
      <p:ext uri="{BB962C8B-B14F-4D97-AF65-F5344CB8AC3E}">
        <p14:creationId xmlns:p14="http://schemas.microsoft.com/office/powerpoint/2010/main" val="108185610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Edit Master text styles</a:t>
            </a:r>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B2307BF4-857F-4354-B3C4-3040B9A2E51B}" type="datetime1">
              <a:rPr lang="zh-TW" altLang="en-US" smtClean="0"/>
              <a:t>2025/10/29</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144603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10EEA130-8DE6-4C11-A9CB-C786C33DE380}" type="datetime1">
              <a:rPr lang="zh-TW" altLang="en-US" smtClean="0"/>
              <a:t>2025/10/29</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933340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p:cNvSpPr>
            <a:spLocks noGrp="1"/>
          </p:cNvSpPr>
          <p:nvPr>
            <p:ph type="dt" sz="half" idx="10"/>
          </p:nvPr>
        </p:nvSpPr>
        <p:spPr>
          <a:xfrm>
            <a:off x="348342" y="6356350"/>
            <a:ext cx="1800000" cy="365125"/>
          </a:xfrm>
          <a:prstGeom prst="rect">
            <a:avLst/>
          </a:prstGeom>
        </p:spPr>
        <p:txBody>
          <a:bodyPr/>
          <a:lstStyle/>
          <a:p>
            <a:fld id="{9D1323E2-54AF-4A4F-968B-FCF5A3DE404F}" type="datetime1">
              <a:rPr lang="zh-TW" altLang="en-US" smtClean="0"/>
              <a:t>2025/10/29</a:t>
            </a:fld>
            <a:endParaRPr lang="zh-TW" altLang="en-US"/>
          </a:p>
        </p:txBody>
      </p:sp>
      <p:sp>
        <p:nvSpPr>
          <p:cNvPr id="8" name="Footer Placeholder 7"/>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9" name="Slide Number Placeholder 8"/>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4074015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Date Placeholder 2"/>
          <p:cNvSpPr>
            <a:spLocks noGrp="1"/>
          </p:cNvSpPr>
          <p:nvPr>
            <p:ph type="dt" sz="half" idx="10"/>
          </p:nvPr>
        </p:nvSpPr>
        <p:spPr>
          <a:xfrm>
            <a:off x="348342" y="6356350"/>
            <a:ext cx="1800000" cy="365125"/>
          </a:xfrm>
          <a:prstGeom prst="rect">
            <a:avLst/>
          </a:prstGeom>
        </p:spPr>
        <p:txBody>
          <a:bodyPr/>
          <a:lstStyle/>
          <a:p>
            <a:fld id="{51747F57-0BE0-4E55-AF02-7E0C58AC5A0B}" type="datetime1">
              <a:rPr lang="zh-TW" altLang="en-US" smtClean="0"/>
              <a:t>2025/10/29</a:t>
            </a:fld>
            <a:endParaRPr lang="zh-TW" altLang="en-US"/>
          </a:p>
        </p:txBody>
      </p:sp>
      <p:sp>
        <p:nvSpPr>
          <p:cNvPr id="4" name="Footer Placeholder 3"/>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5" name="Slide Number Placeholder 4"/>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296001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48342" y="6356350"/>
            <a:ext cx="1800000" cy="365125"/>
          </a:xfrm>
          <a:prstGeom prst="rect">
            <a:avLst/>
          </a:prstGeom>
        </p:spPr>
        <p:txBody>
          <a:bodyPr/>
          <a:lstStyle/>
          <a:p>
            <a:fld id="{3BBAC840-47DB-4C07-9D45-73E1CD955F46}" type="datetime1">
              <a:rPr lang="zh-TW" altLang="en-US" smtClean="0"/>
              <a:t>2025/10/29</a:t>
            </a:fld>
            <a:endParaRPr lang="zh-TW" altLang="en-US"/>
          </a:p>
        </p:txBody>
      </p:sp>
      <p:sp>
        <p:nvSpPr>
          <p:cNvPr id="3" name="Footer Placeholder 2"/>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4" name="Slide Number Placeholder 3"/>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750865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Edit Master text styles</a:t>
            </a:r>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B8C0969B-135B-4FC6-B762-AA1CE3881354}" type="datetime1">
              <a:rPr lang="zh-TW" altLang="en-US" smtClean="0"/>
              <a:t>2025/10/29</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94921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Edit Master text styles</a:t>
            </a:r>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24AF6340-6F1C-4989-B134-2CA68BC9EAFF}" type="datetime1">
              <a:rPr lang="zh-TW" altLang="en-US" smtClean="0"/>
              <a:t>2025/10/29</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165085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Vertical Text Placeholder 2"/>
          <p:cNvSpPr>
            <a:spLocks noGrp="1"/>
          </p:cNvSpPr>
          <p:nvPr>
            <p:ph type="body" orient="vert" idx="1"/>
          </p:nvPr>
        </p:nvSpPr>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60D8C7A9-0C67-4424-9979-8CFF97287F2E}" type="datetime1">
              <a:rPr lang="zh-TW" altLang="en-US" smtClean="0"/>
              <a:t>2025/10/29</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206704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AD10B1A8-9302-408C-B76D-C3FA78E2A799}" type="datetime1">
              <a:rPr lang="zh-TW" altLang="en-US" smtClean="0"/>
              <a:t>2025/10/29</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634339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8343" y="365125"/>
            <a:ext cx="11495314" cy="1325563"/>
          </a:xfrm>
          <a:prstGeom prst="rect">
            <a:avLst/>
          </a:prstGeom>
        </p:spPr>
        <p:txBody>
          <a:bodyPr vert="horz" lIns="91440" tIns="45720" rIns="91440" bIns="45720" rtlCol="0" anchor="ctr">
            <a:normAutofit/>
          </a:bodyPr>
          <a:lstStyle/>
          <a:p>
            <a:pPr lvl="0" algn="ctr" rtl="0" fontAlgn="base">
              <a:spcBef>
                <a:spcPct val="0"/>
              </a:spcBef>
              <a:spcAft>
                <a:spcPct val="0"/>
              </a:spcAft>
            </a:pPr>
            <a:r>
              <a:rPr kumimoji="1" lang="en-US" altLang="zh-TW" sz="4400" b="0" i="0" u="none" strike="noStrike" kern="1200" cap="none" spc="0" normalizeH="0" baseline="0" noProof="0" dirty="0">
                <a:ln>
                  <a:noFill/>
                </a:ln>
                <a:solidFill>
                  <a:srgbClr val="750F6D"/>
                </a:solidFill>
                <a:effectLst/>
                <a:uLnTx/>
                <a:uFillTx/>
                <a:latin typeface="Arial"/>
                <a:ea typeface="新細明體"/>
                <a:cs typeface="+mj-cs"/>
              </a:rPr>
              <a:t>Click to edit Master title style</a:t>
            </a:r>
            <a:endParaRPr lang="zh-TW" altLang="en-US" dirty="0"/>
          </a:p>
        </p:txBody>
      </p:sp>
      <p:sp>
        <p:nvSpPr>
          <p:cNvPr id="3" name="Text Placeholder 2"/>
          <p:cNvSpPr>
            <a:spLocks noGrp="1"/>
          </p:cNvSpPr>
          <p:nvPr>
            <p:ph type="body" idx="1"/>
          </p:nvPr>
        </p:nvSpPr>
        <p:spPr>
          <a:xfrm>
            <a:off x="348343" y="1825625"/>
            <a:ext cx="11495314" cy="4351338"/>
          </a:xfrm>
          <a:prstGeom prst="rect">
            <a:avLst/>
          </a:prstGeom>
        </p:spPr>
        <p:txBody>
          <a:bodyPr vert="horz" lIns="91440" tIns="45720" rIns="91440" bIns="45720" rtlCol="0">
            <a:normAutofit/>
          </a:body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1" lang="en-US" altLang="zh-TW" sz="3200" b="0" i="0" u="none" strike="noStrike" kern="1200" cap="none" spc="0" normalizeH="0" baseline="0" noProof="0" dirty="0">
                <a:ln>
                  <a:noFill/>
                </a:ln>
                <a:solidFill>
                  <a:srgbClr val="333333"/>
                </a:solidFill>
                <a:effectLst/>
                <a:uLnTx/>
                <a:uFillTx/>
                <a:latin typeface="Palatino Linotype"/>
                <a:ea typeface="新細明體"/>
                <a:cs typeface="+mn-cs"/>
              </a:rPr>
              <a:t>Click to edit Master text styles</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1" lang="en-US" altLang="zh-TW" sz="2800" b="0" i="0" u="none" strike="noStrike" kern="1200" cap="none" spc="0" normalizeH="0" baseline="0" noProof="0" dirty="0">
                <a:ln>
                  <a:noFill/>
                </a:ln>
                <a:solidFill>
                  <a:srgbClr val="333333"/>
                </a:solidFill>
                <a:effectLst/>
                <a:uLnTx/>
                <a:uFillTx/>
                <a:latin typeface="Palatino Linotype"/>
                <a:ea typeface="新細明體"/>
                <a:cs typeface="+mn-cs"/>
              </a:rPr>
              <a:t>Second level</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400" b="0" i="0" u="none" strike="noStrike" kern="1200" cap="none" spc="0" normalizeH="0" baseline="0" noProof="0" dirty="0">
                <a:ln>
                  <a:noFill/>
                </a:ln>
                <a:solidFill>
                  <a:srgbClr val="333333"/>
                </a:solidFill>
                <a:effectLst/>
                <a:uLnTx/>
                <a:uFillTx/>
                <a:latin typeface="Palatino Linotype"/>
                <a:ea typeface="新細明體"/>
                <a:cs typeface="+mn-cs"/>
              </a:rPr>
              <a:t>Third level</a:t>
            </a:r>
          </a:p>
          <a:p>
            <a:pPr marL="1600200" marR="0" lvl="3"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000" b="0" i="0" u="none" strike="noStrike" kern="1200" cap="none" spc="0" normalizeH="0" baseline="0" noProof="0" dirty="0">
                <a:ln>
                  <a:noFill/>
                </a:ln>
                <a:solidFill>
                  <a:srgbClr val="333333"/>
                </a:solidFill>
                <a:effectLst/>
                <a:uLnTx/>
                <a:uFillTx/>
                <a:latin typeface="Palatino Linotype"/>
                <a:ea typeface="新細明體"/>
                <a:cs typeface="+mn-cs"/>
              </a:rPr>
              <a:t>Fourth level</a:t>
            </a:r>
          </a:p>
          <a:p>
            <a:pPr marL="2057400" marR="0" lvl="4"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000" b="0" i="0" u="none" strike="noStrike" kern="1200" cap="none" spc="0" normalizeH="0" baseline="0" noProof="0" dirty="0">
                <a:ln>
                  <a:noFill/>
                </a:ln>
                <a:solidFill>
                  <a:srgbClr val="333333"/>
                </a:solidFill>
                <a:effectLst/>
                <a:uLnTx/>
                <a:uFillTx/>
                <a:latin typeface="Palatino Linotype"/>
                <a:ea typeface="新細明體"/>
                <a:cs typeface="+mn-cs"/>
              </a:rPr>
              <a:t>Fifth level</a:t>
            </a:r>
          </a:p>
        </p:txBody>
      </p:sp>
      <p:sp>
        <p:nvSpPr>
          <p:cNvPr id="7" name="Date Placeholder 6"/>
          <p:cNvSpPr>
            <a:spLocks noGrp="1"/>
          </p:cNvSpPr>
          <p:nvPr>
            <p:ph type="dt" sz="half" idx="2"/>
          </p:nvPr>
        </p:nvSpPr>
        <p:spPr>
          <a:xfrm>
            <a:off x="0" y="6477000"/>
            <a:ext cx="18000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A3A5E517-2EE9-4B06-A2F1-C885ADB8BF5D}" type="datetime1">
              <a:rPr lang="zh-TW" altLang="en-US" smtClean="0"/>
              <a:t>2025/10/29</a:t>
            </a:fld>
            <a:endParaRPr lang="zh-TW" altLang="en-US" dirty="0"/>
          </a:p>
        </p:txBody>
      </p:sp>
      <p:sp>
        <p:nvSpPr>
          <p:cNvPr id="9" name="Slide Number Placeholder 8"/>
          <p:cNvSpPr>
            <a:spLocks noGrp="1"/>
          </p:cNvSpPr>
          <p:nvPr>
            <p:ph type="sldNum" sz="quarter" idx="4"/>
          </p:nvPr>
        </p:nvSpPr>
        <p:spPr>
          <a:xfrm>
            <a:off x="10392000" y="6476999"/>
            <a:ext cx="1800000" cy="365125"/>
          </a:xfrm>
          <a:prstGeom prst="rect">
            <a:avLst/>
          </a:prstGeom>
        </p:spPr>
        <p:txBody>
          <a:bodyPr vert="horz" lIns="91440" tIns="45720" rIns="91440" bIns="45720" rtlCol="0" anchor="ctr"/>
          <a:lstStyle>
            <a:lvl1pPr algn="r">
              <a:defRPr sz="1200" b="1">
                <a:solidFill>
                  <a:schemeClr val="tx1">
                    <a:tint val="75000"/>
                  </a:schemeClr>
                </a:solidFill>
                <a:latin typeface="Arial" panose="020B0604020202020204" pitchFamily="34" charset="0"/>
                <a:cs typeface="Arial" panose="020B0604020202020204" pitchFamily="34" charset="0"/>
              </a:defRPr>
            </a:lvl1pPr>
          </a:lstStyle>
          <a:p>
            <a:fld id="{E24E6636-6BA5-4AAC-8485-BE8D914D288B}" type="slidenum">
              <a:rPr lang="zh-TW" altLang="en-US" smtClean="0"/>
              <a:pPr/>
              <a:t>‹#›</a:t>
            </a:fld>
            <a:endParaRPr lang="zh-TW" altLang="en-US"/>
          </a:p>
        </p:txBody>
      </p:sp>
    </p:spTree>
    <p:extLst>
      <p:ext uri="{BB962C8B-B14F-4D97-AF65-F5344CB8AC3E}">
        <p14:creationId xmlns:p14="http://schemas.microsoft.com/office/powerpoint/2010/main" val="3847488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fontAlgn="base" latinLnBrk="0" hangingPunct="1">
        <a:lnSpc>
          <a:spcPct val="90000"/>
        </a:lnSpc>
        <a:spcBef>
          <a:spcPct val="0"/>
        </a:spcBef>
        <a:spcAft>
          <a:spcPct val="0"/>
        </a:spcAft>
        <a:buNone/>
        <a:defRPr kumimoji="1" lang="zh-TW" altLang="en-US" sz="4400" kern="1200" dirty="0" smtClean="0">
          <a:solidFill>
            <a:schemeClr val="tx1"/>
          </a:solidFill>
          <a:latin typeface="+mj-lt"/>
          <a:ea typeface="+mj-ea"/>
          <a:cs typeface="+mj-cs"/>
        </a:defRPr>
      </a:lvl1pPr>
    </p:titleStyle>
    <p:bodyStyle>
      <a:lvl1pPr marL="342900" marR="0" indent="-3429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1pPr>
      <a:lvl2pPr marL="742950" marR="0" indent="-28575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2pPr>
      <a:lvl3pPr marL="1143000" marR="0" indent="-2286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3pPr>
      <a:lvl4pPr marL="1600200" marR="0" indent="-2286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4pPr>
      <a:lvl5pPr marL="2057400" marR="0" indent="-228600" algn="l" defTabSz="914400" rtl="0" eaLnBrk="1" fontAlgn="base" latinLnBrk="0" hangingPunct="1">
        <a:lnSpc>
          <a:spcPct val="100000"/>
        </a:lnSpc>
        <a:spcBef>
          <a:spcPct val="20000"/>
        </a:spcBef>
        <a:spcAft>
          <a:spcPct val="0"/>
        </a:spcAft>
        <a:buClrTx/>
        <a:buSzTx/>
        <a:buFontTx/>
        <a:buChar char="»"/>
        <a:tabLst/>
        <a:defRPr kumimoji="1" lang="zh-TW" altLang="en-US" sz="3200" kern="1200" dirty="0" smtClean="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cfwu@g.harvard.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cfwu417.github.io/"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developer.ibm.com/tutorials/l-completely-fair-scheduler/"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codingnote.cc/zh-tw/p/78397/"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codingnote.cc/zh-tw/p/78397/"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s://mechpen.github.io/posts/2020-04-27-cfs-group/index.html"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tssurya.wordpress.com/2014/08/19/adding-a-hello-world-system-call-to-linux-kernel-3-16-0/"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https://zhuanlan.zhihu.com/p/313725721"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1653411"/>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L2: Process</a:t>
            </a:r>
            <a:r>
              <a:rPr lang="zh-TW" altLang="en-US" b="1" dirty="0">
                <a:latin typeface="Calibri" panose="020F0502020204030204" pitchFamily="34" charset="0"/>
                <a:ea typeface="Tahoma" panose="020B0604030504040204" pitchFamily="34" charset="0"/>
                <a:cs typeface="Calibri" panose="020F0502020204030204" pitchFamily="34" charset="0"/>
              </a:rPr>
              <a:t> </a:t>
            </a:r>
            <a:r>
              <a:rPr lang="en-US" altLang="zh-TW" b="1" dirty="0">
                <a:latin typeface="Calibri" panose="020F0502020204030204" pitchFamily="34" charset="0"/>
                <a:ea typeface="Tahoma" panose="020B0604030504040204" pitchFamily="34" charset="0"/>
                <a:cs typeface="Calibri" panose="020F0502020204030204" pitchFamily="34" charset="0"/>
              </a:rPr>
              <a:t>&amp;</a:t>
            </a:r>
            <a:r>
              <a:rPr lang="zh-TW" altLang="en-US" b="1" dirty="0">
                <a:latin typeface="Calibri" panose="020F0502020204030204" pitchFamily="34" charset="0"/>
                <a:ea typeface="Tahoma" panose="020B0604030504040204" pitchFamily="34" charset="0"/>
                <a:cs typeface="Calibri" panose="020F0502020204030204" pitchFamily="34" charset="0"/>
              </a:rPr>
              <a:t> </a:t>
            </a:r>
            <a:r>
              <a:rPr lang="en-US" altLang="zh-TW" b="1" dirty="0">
                <a:latin typeface="Calibri" panose="020F0502020204030204" pitchFamily="34" charset="0"/>
                <a:ea typeface="Tahoma" panose="020B0604030504040204" pitchFamily="34" charset="0"/>
                <a:cs typeface="Calibri" panose="020F0502020204030204" pitchFamily="34" charset="0"/>
              </a:rPr>
              <a:t>Interrupts</a:t>
            </a:r>
          </a:p>
        </p:txBody>
      </p:sp>
      <p:sp>
        <p:nvSpPr>
          <p:cNvPr id="9" name="Rectangle 3">
            <a:extLst>
              <a:ext uri="{FF2B5EF4-FFF2-40B4-BE49-F238E27FC236}">
                <a16:creationId xmlns:a16="http://schemas.microsoft.com/office/drawing/2014/main" id="{5AFF0398-C56C-EF34-D937-57DAB24DA303}"/>
              </a:ext>
            </a:extLst>
          </p:cNvPr>
          <p:cNvSpPr txBox="1">
            <a:spLocks noChangeArrowheads="1"/>
          </p:cNvSpPr>
          <p:nvPr/>
        </p:nvSpPr>
        <p:spPr bwMode="auto">
          <a:xfrm>
            <a:off x="1132114" y="3762490"/>
            <a:ext cx="9927772" cy="1318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rtl="0" fontAlgn="base">
              <a:spcBef>
                <a:spcPct val="20000"/>
              </a:spcBef>
              <a:spcAft>
                <a:spcPct val="0"/>
              </a:spcAft>
              <a:buFontTx/>
              <a:buNone/>
              <a:defRPr kumimoji="1" sz="3200" kern="1200">
                <a:solidFill>
                  <a:srgbClr val="333333"/>
                </a:solidFill>
                <a:latin typeface="+mn-lt"/>
                <a:ea typeface="+mn-ea"/>
                <a:cs typeface="+mn-cs"/>
              </a:defRPr>
            </a:lvl1pPr>
            <a:lvl2pPr marL="742950" indent="-285750" algn="l" rtl="0" fontAlgn="base">
              <a:spcBef>
                <a:spcPct val="20000"/>
              </a:spcBef>
              <a:spcAft>
                <a:spcPct val="0"/>
              </a:spcAft>
              <a:buChar char="–"/>
              <a:defRPr kumimoji="1" sz="2800" kern="1200">
                <a:solidFill>
                  <a:srgbClr val="333333"/>
                </a:solidFill>
                <a:latin typeface="+mn-lt"/>
                <a:ea typeface="+mn-ea"/>
                <a:cs typeface="+mn-cs"/>
              </a:defRPr>
            </a:lvl2pPr>
            <a:lvl3pPr marL="1143000" indent="-228600" algn="l" rtl="0" fontAlgn="base">
              <a:spcBef>
                <a:spcPct val="20000"/>
              </a:spcBef>
              <a:spcAft>
                <a:spcPct val="0"/>
              </a:spcAft>
              <a:buChar char="•"/>
              <a:defRPr kumimoji="1" sz="2400" kern="1200">
                <a:solidFill>
                  <a:srgbClr val="333333"/>
                </a:solidFill>
                <a:latin typeface="+mn-lt"/>
                <a:ea typeface="+mn-ea"/>
                <a:cs typeface="+mn-cs"/>
              </a:defRPr>
            </a:lvl3pPr>
            <a:lvl4pPr marL="1600200" indent="-228600" algn="l" rtl="0" fontAlgn="base">
              <a:spcBef>
                <a:spcPct val="20000"/>
              </a:spcBef>
              <a:spcAft>
                <a:spcPct val="0"/>
              </a:spcAft>
              <a:buChar char="–"/>
              <a:defRPr kumimoji="1" sz="2000" kern="1200">
                <a:solidFill>
                  <a:srgbClr val="333333"/>
                </a:solidFill>
                <a:latin typeface="+mn-lt"/>
                <a:ea typeface="+mn-ea"/>
                <a:cs typeface="+mn-cs"/>
              </a:defRPr>
            </a:lvl4pPr>
            <a:lvl5pPr marL="2057400" indent="-228600" algn="l" rtl="0" fontAlgn="base">
              <a:spcBef>
                <a:spcPct val="20000"/>
              </a:spcBef>
              <a:spcAft>
                <a:spcPct val="0"/>
              </a:spcAft>
              <a:buChar char="»"/>
              <a:defRPr kumimoji="1" sz="20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TW" sz="2800" b="1" dirty="0">
                <a:solidFill>
                  <a:schemeClr val="tx1"/>
                </a:solidFill>
                <a:latin typeface="Palatino Linotype" panose="02040502050505030304" pitchFamily="18" charset="0"/>
                <a:ea typeface="新細明體"/>
              </a:rPr>
              <a:t>Chun-Feng Wu (</a:t>
            </a:r>
            <a:r>
              <a:rPr lang="zh-TW" altLang="en-US" sz="2800" b="1" dirty="0">
                <a:solidFill>
                  <a:schemeClr val="tx1"/>
                </a:solidFill>
                <a:latin typeface="Kaiti TC" panose="02010600040101010101" pitchFamily="2" charset="-120"/>
                <a:ea typeface="Kaiti TC" panose="02010600040101010101" pitchFamily="2" charset="-120"/>
              </a:rPr>
              <a:t>吳俊峯</a:t>
            </a:r>
            <a:r>
              <a:rPr lang="en-US" altLang="zh-TW" sz="2800" b="1" dirty="0">
                <a:solidFill>
                  <a:schemeClr val="tx1"/>
                </a:solidFill>
                <a:latin typeface="Palatino Linotype" panose="02040502050505030304" pitchFamily="18" charset="0"/>
                <a:ea typeface="新細明體"/>
              </a:rPr>
              <a:t>)</a:t>
            </a:r>
          </a:p>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TW" sz="2000" b="1" dirty="0">
                <a:solidFill>
                  <a:schemeClr val="tx1"/>
                </a:solidFill>
                <a:latin typeface="Palatino Linotype" panose="02040502050505030304" pitchFamily="18" charset="0"/>
                <a:ea typeface="新細明體"/>
              </a:rPr>
              <a:t>Assistant</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Professor, National</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Yang</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Ming</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Chiao</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Tung</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University</a:t>
            </a:r>
          </a:p>
        </p:txBody>
      </p:sp>
      <p:grpSp>
        <p:nvGrpSpPr>
          <p:cNvPr id="10" name="Group 17">
            <a:extLst>
              <a:ext uri="{FF2B5EF4-FFF2-40B4-BE49-F238E27FC236}">
                <a16:creationId xmlns:a16="http://schemas.microsoft.com/office/drawing/2014/main" id="{89C9EB9B-D847-8763-647D-4A1AC557E2CA}"/>
              </a:ext>
            </a:extLst>
          </p:cNvPr>
          <p:cNvGrpSpPr/>
          <p:nvPr/>
        </p:nvGrpSpPr>
        <p:grpSpPr>
          <a:xfrm>
            <a:off x="4539533" y="4639104"/>
            <a:ext cx="3482385" cy="1144694"/>
            <a:chOff x="4604975" y="4666826"/>
            <a:chExt cx="3482385" cy="1144694"/>
          </a:xfrm>
        </p:grpSpPr>
        <p:sp>
          <p:nvSpPr>
            <p:cNvPr id="11" name="Rectangle 1">
              <a:extLst>
                <a:ext uri="{FF2B5EF4-FFF2-40B4-BE49-F238E27FC236}">
                  <a16:creationId xmlns:a16="http://schemas.microsoft.com/office/drawing/2014/main" id="{38E8E4F6-0E2B-B4A8-C878-7642B7F99112}"/>
                </a:ext>
              </a:extLst>
            </p:cNvPr>
            <p:cNvSpPr/>
            <p:nvPr/>
          </p:nvSpPr>
          <p:spPr>
            <a:xfrm>
              <a:off x="6003635" y="4666826"/>
              <a:ext cx="184730" cy="461665"/>
            </a:xfrm>
            <a:prstGeom prst="rect">
              <a:avLst/>
            </a:prstGeom>
          </p:spPr>
          <p:txBody>
            <a:bodyPr wrap="none">
              <a:spAutoFit/>
            </a:bodyPr>
            <a:lstStyle/>
            <a:p>
              <a:pPr lvl="0" algn="ctr">
                <a:defRPr/>
              </a:pPr>
              <a:endParaRPr kumimoji="1" lang="en-US" altLang="zh-TW" sz="2400" dirty="0">
                <a:solidFill>
                  <a:schemeClr val="bg1"/>
                </a:solidFill>
                <a:latin typeface="Palatino Linotype"/>
                <a:ea typeface="新細明體"/>
              </a:endParaRPr>
            </a:p>
          </p:txBody>
        </p:sp>
        <p:sp>
          <p:nvSpPr>
            <p:cNvPr id="12" name="Rectangle 3">
              <a:extLst>
                <a:ext uri="{FF2B5EF4-FFF2-40B4-BE49-F238E27FC236}">
                  <a16:creationId xmlns:a16="http://schemas.microsoft.com/office/drawing/2014/main" id="{65F24944-F567-4E32-2237-25794D664663}"/>
                </a:ext>
              </a:extLst>
            </p:cNvPr>
            <p:cNvSpPr txBox="1">
              <a:spLocks noChangeArrowheads="1"/>
            </p:cNvSpPr>
            <p:nvPr/>
          </p:nvSpPr>
          <p:spPr bwMode="auto">
            <a:xfrm>
              <a:off x="4911634" y="4786024"/>
              <a:ext cx="3175726" cy="1025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rtl="0" fontAlgn="base">
                <a:spcBef>
                  <a:spcPct val="20000"/>
                </a:spcBef>
                <a:spcAft>
                  <a:spcPct val="0"/>
                </a:spcAft>
                <a:buFontTx/>
                <a:buNone/>
                <a:defRPr kumimoji="1" sz="3200" kern="1200">
                  <a:solidFill>
                    <a:srgbClr val="333333"/>
                  </a:solidFill>
                  <a:latin typeface="+mn-lt"/>
                  <a:ea typeface="+mn-ea"/>
                  <a:cs typeface="+mn-cs"/>
                </a:defRPr>
              </a:lvl1pPr>
              <a:lvl2pPr marL="742950" indent="-285750" algn="l" rtl="0" fontAlgn="base">
                <a:spcBef>
                  <a:spcPct val="20000"/>
                </a:spcBef>
                <a:spcAft>
                  <a:spcPct val="0"/>
                </a:spcAft>
                <a:buChar char="–"/>
                <a:defRPr kumimoji="1" sz="2800" kern="1200">
                  <a:solidFill>
                    <a:srgbClr val="333333"/>
                  </a:solidFill>
                  <a:latin typeface="+mn-lt"/>
                  <a:ea typeface="+mn-ea"/>
                  <a:cs typeface="+mn-cs"/>
                </a:defRPr>
              </a:lvl2pPr>
              <a:lvl3pPr marL="1143000" indent="-228600" algn="l" rtl="0" fontAlgn="base">
                <a:spcBef>
                  <a:spcPct val="20000"/>
                </a:spcBef>
                <a:spcAft>
                  <a:spcPct val="0"/>
                </a:spcAft>
                <a:buChar char="•"/>
                <a:defRPr kumimoji="1" sz="2400" kern="1200">
                  <a:solidFill>
                    <a:srgbClr val="333333"/>
                  </a:solidFill>
                  <a:latin typeface="+mn-lt"/>
                  <a:ea typeface="+mn-ea"/>
                  <a:cs typeface="+mn-cs"/>
                </a:defRPr>
              </a:lvl3pPr>
              <a:lvl4pPr marL="1600200" indent="-228600" algn="l" rtl="0" fontAlgn="base">
                <a:spcBef>
                  <a:spcPct val="20000"/>
                </a:spcBef>
                <a:spcAft>
                  <a:spcPct val="0"/>
                </a:spcAft>
                <a:buChar char="–"/>
                <a:defRPr kumimoji="1" sz="2000" kern="1200">
                  <a:solidFill>
                    <a:srgbClr val="333333"/>
                  </a:solidFill>
                  <a:latin typeface="+mn-lt"/>
                  <a:ea typeface="+mn-ea"/>
                  <a:cs typeface="+mn-cs"/>
                </a:defRPr>
              </a:lvl4pPr>
              <a:lvl5pPr marL="2057400" indent="-228600" algn="l" rtl="0" fontAlgn="base">
                <a:spcBef>
                  <a:spcPct val="20000"/>
                </a:spcBef>
                <a:spcAft>
                  <a:spcPct val="0"/>
                </a:spcAft>
                <a:buChar char="»"/>
                <a:defRPr kumimoji="1" sz="20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US" altLang="zh-TW" sz="1800" u="sng" dirty="0">
                  <a:solidFill>
                    <a:schemeClr val="tx1">
                      <a:lumMod val="75000"/>
                      <a:lumOff val="25000"/>
                    </a:schemeClr>
                  </a:solidFill>
                  <a:latin typeface="Palatino Linotype" panose="02040502050505030304" pitchFamily="18" charset="0"/>
                  <a:ea typeface="新細明體"/>
                  <a:hlinkClick r:id="rId3">
                    <a:extLst>
                      <a:ext uri="{A12FA001-AC4F-418D-AE19-62706E023703}">
                        <ahyp:hlinkClr xmlns:ahyp="http://schemas.microsoft.com/office/drawing/2018/hyperlinkcolor" val="tx"/>
                      </a:ext>
                    </a:extLst>
                  </a:hlinkClick>
                </a:rPr>
                <a:t>cfwu417@</a:t>
              </a:r>
              <a:r>
                <a:rPr lang="en-US" altLang="zh-TW" sz="1800" u="sng" dirty="0">
                  <a:solidFill>
                    <a:schemeClr val="tx1">
                      <a:lumMod val="75000"/>
                      <a:lumOff val="25000"/>
                    </a:schemeClr>
                  </a:solidFill>
                  <a:latin typeface="Palatino Linotype" panose="02040502050505030304" pitchFamily="18" charset="0"/>
                  <a:ea typeface="新細明體"/>
                </a:rPr>
                <a:t>cs.nycu.edu.tw</a:t>
              </a:r>
            </a:p>
            <a:p>
              <a:pPr marL="0" marR="0" lvl="0" indent="0" algn="l" defTabSz="914400" rtl="0" eaLnBrk="1" fontAlgn="base" latinLnBrk="0" hangingPunct="1">
                <a:lnSpc>
                  <a:spcPct val="100000"/>
                </a:lnSpc>
                <a:spcBef>
                  <a:spcPct val="20000"/>
                </a:spcBef>
                <a:spcAft>
                  <a:spcPct val="0"/>
                </a:spcAft>
                <a:buClrTx/>
                <a:buSzTx/>
                <a:buFontTx/>
                <a:buNone/>
                <a:tabLst/>
                <a:defRPr/>
              </a:pPr>
              <a:r>
                <a:rPr lang="en-US" altLang="zh-TW" sz="1800" dirty="0">
                  <a:solidFill>
                    <a:schemeClr val="tx1">
                      <a:lumMod val="75000"/>
                      <a:lumOff val="25000"/>
                    </a:schemeClr>
                  </a:solidFill>
                  <a:latin typeface="Palatino Linotype" panose="02040502050505030304" pitchFamily="18" charset="0"/>
                  <a:ea typeface="新細明體"/>
                  <a:hlinkClick r:id="rId4">
                    <a:extLst>
                      <a:ext uri="{A12FA001-AC4F-418D-AE19-62706E023703}">
                        <ahyp:hlinkClr xmlns:ahyp="http://schemas.microsoft.com/office/drawing/2018/hyperlinkcolor" val="tx"/>
                      </a:ext>
                    </a:extLst>
                  </a:hlinkClick>
                </a:rPr>
                <a:t>https://cfwu417.github.io</a:t>
              </a:r>
              <a:endParaRPr lang="en-US" altLang="zh-TW" sz="1800" dirty="0">
                <a:solidFill>
                  <a:schemeClr val="tx1">
                    <a:lumMod val="75000"/>
                    <a:lumOff val="25000"/>
                  </a:schemeClr>
                </a:solidFill>
                <a:latin typeface="Palatino Linotype" panose="02040502050505030304" pitchFamily="18" charset="0"/>
                <a:ea typeface="新細明體"/>
              </a:endParaRPr>
            </a:p>
          </p:txBody>
        </p:sp>
        <p:pic>
          <p:nvPicPr>
            <p:cNvPr id="13" name="Picture 14" descr="Shape&#10;&#10;Description automatically generated with low confidence">
              <a:extLst>
                <a:ext uri="{FF2B5EF4-FFF2-40B4-BE49-F238E27FC236}">
                  <a16:creationId xmlns:a16="http://schemas.microsoft.com/office/drawing/2014/main" id="{505174C7-FCE3-7C3B-8944-531A7458B502}"/>
                </a:ext>
              </a:extLst>
            </p:cNvPr>
            <p:cNvPicPr>
              <a:picLocks noChangeAspect="1"/>
            </p:cNvPicPr>
            <p:nvPr/>
          </p:nvPicPr>
          <p:blipFill>
            <a:blip r:embed="rId5"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604975" y="4972996"/>
              <a:ext cx="360000" cy="360000"/>
            </a:xfrm>
            <a:prstGeom prst="rect">
              <a:avLst/>
            </a:prstGeom>
          </p:spPr>
        </p:pic>
        <p:pic>
          <p:nvPicPr>
            <p:cNvPr id="14" name="Picture 16" descr="Shape&#10;&#10;Description automatically generated with low confidence">
              <a:extLst>
                <a:ext uri="{FF2B5EF4-FFF2-40B4-BE49-F238E27FC236}">
                  <a16:creationId xmlns:a16="http://schemas.microsoft.com/office/drawing/2014/main" id="{97C273A0-DE4B-A1A6-8CD5-00C49E144049}"/>
                </a:ext>
              </a:extLst>
            </p:cNvPr>
            <p:cNvPicPr>
              <a:picLocks noChangeAspect="1"/>
            </p:cNvPicPr>
            <p:nvPr/>
          </p:nvPicPr>
          <p:blipFill>
            <a:blip r:embed="rId6"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604975" y="5301873"/>
              <a:ext cx="360000" cy="360000"/>
            </a:xfrm>
            <a:prstGeom prst="rect">
              <a:avLst/>
            </a:prstGeom>
          </p:spPr>
        </p:pic>
      </p:grpSp>
    </p:spTree>
    <p:extLst>
      <p:ext uri="{BB962C8B-B14F-4D97-AF65-F5344CB8AC3E}">
        <p14:creationId xmlns:p14="http://schemas.microsoft.com/office/powerpoint/2010/main" val="3432692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2470860"/>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What is a Process</a:t>
            </a:r>
          </a:p>
        </p:txBody>
      </p:sp>
    </p:spTree>
    <p:extLst>
      <p:ext uri="{BB962C8B-B14F-4D97-AF65-F5344CB8AC3E}">
        <p14:creationId xmlns:p14="http://schemas.microsoft.com/office/powerpoint/2010/main" val="4155306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62E3B897-BC09-4B58-AF70-4FBD523212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973" y="3179818"/>
            <a:ext cx="4379743" cy="3589282"/>
          </a:xfrm>
          <a:prstGeom prst="rect">
            <a:avLst/>
          </a:prstGeom>
        </p:spPr>
      </p:pic>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kumimoji="1" lang="en-US" altLang="zh-TW" sz="4000" dirty="0">
                <a:latin typeface="+mn-lt"/>
              </a:rPr>
              <a:t>Task Lists &amp; Process Descriptor</a:t>
            </a:r>
            <a:endParaRPr kumimoji="1" lang="zh-TW" altLang="en-US" sz="4000" dirty="0">
              <a:latin typeface="+mn-lt"/>
            </a:endParaRP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lang="en-US" altLang="zh-TW" sz="2800" dirty="0">
                <a:solidFill>
                  <a:schemeClr val="tx1"/>
                </a:solidFill>
                <a:latin typeface="+mn-lt"/>
                <a:cs typeface="Arial" panose="020B0604020202020204" pitchFamily="34" charset="0"/>
              </a:rPr>
              <a:t>Process:</a:t>
            </a:r>
            <a:r>
              <a:rPr lang="zh-TW" altLang="en-US" sz="2800" dirty="0">
                <a:solidFill>
                  <a:schemeClr val="tx1"/>
                </a:solidFill>
                <a:latin typeface="+mn-lt"/>
                <a:cs typeface="Arial" panose="020B0604020202020204" pitchFamily="34" charset="0"/>
              </a:rPr>
              <a:t> </a:t>
            </a:r>
            <a:r>
              <a:rPr lang="en-US" altLang="zh-TW" sz="2800" dirty="0">
                <a:solidFill>
                  <a:schemeClr val="tx1"/>
                </a:solidFill>
                <a:latin typeface="+mn-lt"/>
                <a:cs typeface="Arial" panose="020B0604020202020204" pitchFamily="34" charset="0"/>
              </a:rPr>
              <a:t>an </a:t>
            </a:r>
            <a:r>
              <a:rPr lang="en-US" altLang="zh-TW" sz="2800" dirty="0">
                <a:solidFill>
                  <a:srgbClr val="C00000"/>
                </a:solidFill>
                <a:latin typeface="+mn-lt"/>
                <a:cs typeface="Arial" panose="020B0604020202020204" pitchFamily="34" charset="0"/>
              </a:rPr>
              <a:t>active program </a:t>
            </a:r>
            <a:r>
              <a:rPr lang="en-US" altLang="zh-TW" sz="2800" dirty="0">
                <a:solidFill>
                  <a:schemeClr val="tx1"/>
                </a:solidFill>
                <a:latin typeface="+mn-lt"/>
                <a:cs typeface="Arial" panose="020B0604020202020204" pitchFamily="34" charset="0"/>
              </a:rPr>
              <a:t>and related </a:t>
            </a:r>
            <a:r>
              <a:rPr lang="en-US" altLang="zh-TW" sz="2800" dirty="0">
                <a:solidFill>
                  <a:srgbClr val="C00000"/>
                </a:solidFill>
                <a:latin typeface="+mn-lt"/>
                <a:cs typeface="Arial" panose="020B0604020202020204" pitchFamily="34" charset="0"/>
              </a:rPr>
              <a:t>resources</a:t>
            </a:r>
            <a:r>
              <a:rPr lang="en-US" altLang="zh-TW" sz="2800" dirty="0">
                <a:solidFill>
                  <a:schemeClr val="tx1"/>
                </a:solidFill>
                <a:latin typeface="+mn-lt"/>
                <a:cs typeface="Arial" panose="020B0604020202020204" pitchFamily="34" charset="0"/>
              </a:rPr>
              <a:t>, such as processor state, memory address space.</a:t>
            </a:r>
          </a:p>
          <a:p>
            <a:pPr algn="l"/>
            <a:r>
              <a:rPr lang="en-US" altLang="zh-TW" sz="2800" dirty="0">
                <a:solidFill>
                  <a:schemeClr val="tx1"/>
                </a:solidFill>
                <a:latin typeface="+mn-lt"/>
                <a:cs typeface="Arial" panose="020B0604020202020204" pitchFamily="34" charset="0"/>
              </a:rPr>
              <a:t>Task Lists: A list of </a:t>
            </a:r>
            <a:r>
              <a:rPr lang="en-US" altLang="zh-TW" sz="2800" dirty="0">
                <a:solidFill>
                  <a:srgbClr val="C00000"/>
                </a:solidFill>
                <a:latin typeface="+mn-lt"/>
                <a:cs typeface="Arial" panose="020B0604020202020204" pitchFamily="34" charset="0"/>
              </a:rPr>
              <a:t>process</a:t>
            </a:r>
            <a:r>
              <a:rPr lang="zh-TW" altLang="en-US" sz="2800" dirty="0">
                <a:solidFill>
                  <a:srgbClr val="C00000"/>
                </a:solidFill>
                <a:latin typeface="+mn-lt"/>
                <a:cs typeface="Arial" panose="020B0604020202020204" pitchFamily="34" charset="0"/>
              </a:rPr>
              <a:t> </a:t>
            </a:r>
            <a:r>
              <a:rPr lang="en-US" altLang="zh-TW" sz="2800" dirty="0">
                <a:solidFill>
                  <a:srgbClr val="C00000"/>
                </a:solidFill>
                <a:latin typeface="+mn-lt"/>
                <a:cs typeface="Arial" panose="020B0604020202020204" pitchFamily="34" charset="0"/>
              </a:rPr>
              <a:t>descriptors</a:t>
            </a:r>
            <a:r>
              <a:rPr lang="en-US" altLang="zh-TW" sz="2800" dirty="0">
                <a:solidFill>
                  <a:schemeClr val="tx1"/>
                </a:solidFill>
                <a:latin typeface="+mn-lt"/>
                <a:cs typeface="Arial" panose="020B0604020202020204" pitchFamily="34" charset="0"/>
              </a:rPr>
              <a:t> in a </a:t>
            </a:r>
            <a:r>
              <a:rPr lang="en-US" altLang="zh-TW" sz="2800" dirty="0">
                <a:solidFill>
                  <a:srgbClr val="C00000"/>
                </a:solidFill>
                <a:latin typeface="+mn-lt"/>
                <a:cs typeface="Arial" panose="020B0604020202020204" pitchFamily="34" charset="0"/>
              </a:rPr>
              <a:t>circular doubly linked lists.</a:t>
            </a:r>
          </a:p>
          <a:p>
            <a:pPr algn="l"/>
            <a:r>
              <a:rPr kumimoji="1" lang="en-US" altLang="zh-TW" dirty="0">
                <a:solidFill>
                  <a:schemeClr val="tx1"/>
                </a:solidFill>
                <a:latin typeface="+mn-lt"/>
                <a:cs typeface="Arial" panose="020B0604020202020204" pitchFamily="34" charset="0"/>
              </a:rPr>
              <a:t>Process Descriptor (</a:t>
            </a:r>
            <a:r>
              <a:rPr kumimoji="1" lang="en-US" altLang="zh-TW" dirty="0" err="1">
                <a:solidFill>
                  <a:schemeClr val="tx1"/>
                </a:solidFill>
                <a:latin typeface="+mj-lt"/>
                <a:ea typeface="SimSun" panose="02010600030101010101" pitchFamily="2" charset="-122"/>
                <a:cs typeface="Arial" panose="020B0604020202020204" pitchFamily="34" charset="0"/>
              </a:rPr>
              <a:t>task_struct</a:t>
            </a:r>
            <a:r>
              <a:rPr kumimoji="1" lang="en-US" altLang="zh-TW" dirty="0">
                <a:solidFill>
                  <a:schemeClr val="tx1"/>
                </a:solidFill>
                <a:latin typeface="+mn-lt"/>
                <a:cs typeface="Arial" panose="020B0604020202020204" pitchFamily="34" charset="0"/>
              </a:rPr>
              <a:t>): Contains all information about a process.</a:t>
            </a:r>
          </a:p>
          <a:p>
            <a:pPr lvl="1" algn="l"/>
            <a:r>
              <a:rPr lang="en-US" altLang="zh-TW" dirty="0">
                <a:solidFill>
                  <a:schemeClr val="tx1"/>
                </a:solidFill>
                <a:latin typeface="+mn-lt"/>
                <a:cs typeface="Arial" panose="020B0604020202020204" pitchFamily="34" charset="0"/>
              </a:rPr>
              <a:t>Process ID (</a:t>
            </a:r>
            <a:r>
              <a:rPr lang="en-US" altLang="zh-TW" dirty="0" err="1">
                <a:solidFill>
                  <a:schemeClr val="tx1"/>
                </a:solidFill>
                <a:latin typeface="+mj-lt"/>
                <a:cs typeface="Arial" panose="020B0604020202020204" pitchFamily="34" charset="0"/>
              </a:rPr>
              <a:t>pid</a:t>
            </a:r>
            <a:r>
              <a:rPr lang="en-US" altLang="zh-TW" dirty="0">
                <a:solidFill>
                  <a:schemeClr val="tx1"/>
                </a:solidFill>
                <a:latin typeface="+mn-lt"/>
                <a:cs typeface="Arial" panose="020B0604020202020204" pitchFamily="34" charset="0"/>
              </a:rPr>
              <a:t>): A </a:t>
            </a:r>
            <a:r>
              <a:rPr lang="en-US" altLang="zh-TW" dirty="0">
                <a:solidFill>
                  <a:srgbClr val="C00000"/>
                </a:solidFill>
                <a:latin typeface="+mn-lt"/>
                <a:cs typeface="Arial" panose="020B0604020202020204" pitchFamily="34" charset="0"/>
              </a:rPr>
              <a:t>unique process identification </a:t>
            </a:r>
            <a:r>
              <a:rPr lang="en-US" altLang="zh-TW" dirty="0">
                <a:solidFill>
                  <a:schemeClr val="tx1"/>
                </a:solidFill>
                <a:latin typeface="+mn-lt"/>
                <a:cs typeface="Arial" panose="020B0604020202020204" pitchFamily="34" charset="0"/>
              </a:rPr>
              <a:t>value</a:t>
            </a:r>
          </a:p>
          <a:p>
            <a:pPr lvl="1" algn="l"/>
            <a:r>
              <a:rPr kumimoji="1" lang="en-US" altLang="zh-TW" dirty="0">
                <a:solidFill>
                  <a:schemeClr val="tx1"/>
                </a:solidFill>
                <a:latin typeface="+mn-lt"/>
                <a:cs typeface="Arial" panose="020B0604020202020204" pitchFamily="34" charset="0"/>
              </a:rPr>
              <a:t>In Linux, XXX Descriptor </a:t>
            </a:r>
            <a:r>
              <a:rPr kumimoji="1" lang="en-US" altLang="zh-TW" dirty="0">
                <a:solidFill>
                  <a:srgbClr val="C00000"/>
                </a:solidFill>
                <a:latin typeface="+mn-lt"/>
                <a:cs typeface="Arial" panose="020B0604020202020204" pitchFamily="34" charset="0"/>
              </a:rPr>
              <a:t>means the data structure</a:t>
            </a:r>
            <a:r>
              <a:rPr kumimoji="1" lang="en-US" altLang="zh-TW" dirty="0">
                <a:solidFill>
                  <a:schemeClr val="tx1"/>
                </a:solidFill>
                <a:latin typeface="+mn-lt"/>
                <a:cs typeface="Arial" panose="020B0604020202020204" pitchFamily="34" charset="0"/>
              </a:rPr>
              <a:t> for</a:t>
            </a:r>
            <a:br>
              <a:rPr kumimoji="1" lang="en-US" altLang="zh-TW" dirty="0">
                <a:solidFill>
                  <a:schemeClr val="tx1"/>
                </a:solidFill>
                <a:latin typeface="+mn-lt"/>
                <a:cs typeface="Arial" panose="020B0604020202020204" pitchFamily="34" charset="0"/>
              </a:rPr>
            </a:br>
            <a:r>
              <a:rPr kumimoji="1" lang="en-US" altLang="zh-TW" dirty="0">
                <a:solidFill>
                  <a:schemeClr val="tx1"/>
                </a:solidFill>
                <a:latin typeface="+mn-lt"/>
                <a:cs typeface="Arial" panose="020B0604020202020204" pitchFamily="34" charset="0"/>
              </a:rPr>
              <a:t>maintaining information for XXX.</a:t>
            </a:r>
          </a:p>
          <a:p>
            <a:pPr lvl="1" algn="l"/>
            <a:r>
              <a:rPr lang="en-US" altLang="zh-TW" dirty="0">
                <a:solidFill>
                  <a:srgbClr val="222222"/>
                </a:solidFill>
              </a:rPr>
              <a:t>Process Control Block (A </a:t>
            </a:r>
            <a:r>
              <a:rPr lang="en-US" altLang="zh-TW" dirty="0">
                <a:solidFill>
                  <a:srgbClr val="C00000"/>
                </a:solidFill>
              </a:rPr>
              <a:t>general</a:t>
            </a:r>
            <a:r>
              <a:rPr lang="en-US" altLang="zh-TW" dirty="0">
                <a:solidFill>
                  <a:srgbClr val="222222"/>
                </a:solidFill>
              </a:rPr>
              <a:t> name) </a:t>
            </a:r>
            <a:br>
              <a:rPr lang="en-US" altLang="zh-TW" dirty="0">
                <a:solidFill>
                  <a:schemeClr val="tx1"/>
                </a:solidFill>
              </a:rPr>
            </a:br>
            <a:r>
              <a:rPr lang="en-US" altLang="zh-TW" dirty="0">
                <a:solidFill>
                  <a:srgbClr val="222222"/>
                </a:solidFill>
              </a:rPr>
              <a:t>Process Descriptor (In </a:t>
            </a:r>
            <a:r>
              <a:rPr lang="en-US" altLang="zh-TW" dirty="0">
                <a:solidFill>
                  <a:srgbClr val="C00000"/>
                </a:solidFill>
              </a:rPr>
              <a:t>Linux</a:t>
            </a:r>
            <a:r>
              <a:rPr lang="en-US" altLang="zh-TW" dirty="0">
                <a:solidFill>
                  <a:srgbClr val="222222"/>
                </a:solidFill>
              </a:rPr>
              <a:t>, called </a:t>
            </a:r>
            <a:r>
              <a:rPr lang="en-US" altLang="zh-TW" dirty="0" err="1">
                <a:solidFill>
                  <a:srgbClr val="222222"/>
                </a:solidFill>
              </a:rPr>
              <a:t>task_struct</a:t>
            </a:r>
            <a:r>
              <a:rPr lang="en-US" altLang="zh-TW" dirty="0">
                <a:solidFill>
                  <a:srgbClr val="222222"/>
                </a:solidFill>
              </a:rPr>
              <a:t>)</a:t>
            </a:r>
            <a:endParaRPr kumimoji="1" lang="zh-TW" altLang="en-US" dirty="0">
              <a:solidFill>
                <a:schemeClr val="tx1"/>
              </a:solidFill>
              <a:latin typeface="+mn-lt"/>
              <a:cs typeface="Arial" panose="020B0604020202020204" pitchFamily="34" charset="0"/>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3</a:t>
            </a:fld>
            <a:endParaRPr lang="zh-TW" altLang="en-US" dirty="0"/>
          </a:p>
        </p:txBody>
      </p:sp>
      <p:grpSp>
        <p:nvGrpSpPr>
          <p:cNvPr id="5" name="群組 4">
            <a:extLst>
              <a:ext uri="{FF2B5EF4-FFF2-40B4-BE49-F238E27FC236}">
                <a16:creationId xmlns:a16="http://schemas.microsoft.com/office/drawing/2014/main" id="{B5C3C169-3088-609E-6C64-FF1D09391CD3}"/>
              </a:ext>
            </a:extLst>
          </p:cNvPr>
          <p:cNvGrpSpPr/>
          <p:nvPr/>
        </p:nvGrpSpPr>
        <p:grpSpPr>
          <a:xfrm>
            <a:off x="6921500" y="5829300"/>
            <a:ext cx="1612900" cy="25400"/>
            <a:chOff x="6921500" y="5829300"/>
            <a:chExt cx="1612900" cy="25400"/>
          </a:xfrm>
        </p:grpSpPr>
        <p:cxnSp>
          <p:nvCxnSpPr>
            <p:cNvPr id="9" name="直線接點 8">
              <a:extLst>
                <a:ext uri="{FF2B5EF4-FFF2-40B4-BE49-F238E27FC236}">
                  <a16:creationId xmlns:a16="http://schemas.microsoft.com/office/drawing/2014/main" id="{C67A808E-7B29-6F01-DAAB-7F799B2C3DEF}"/>
                </a:ext>
              </a:extLst>
            </p:cNvPr>
            <p:cNvCxnSpPr>
              <a:cxnSpLocks/>
            </p:cNvCxnSpPr>
            <p:nvPr/>
          </p:nvCxnSpPr>
          <p:spPr>
            <a:xfrm>
              <a:off x="6921500" y="5829300"/>
              <a:ext cx="9779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線接點 11">
              <a:extLst>
                <a:ext uri="{FF2B5EF4-FFF2-40B4-BE49-F238E27FC236}">
                  <a16:creationId xmlns:a16="http://schemas.microsoft.com/office/drawing/2014/main" id="{B1591D70-E5CF-16A1-630B-64AAA0026594}"/>
                </a:ext>
              </a:extLst>
            </p:cNvPr>
            <p:cNvCxnSpPr>
              <a:cxnSpLocks/>
            </p:cNvCxnSpPr>
            <p:nvPr/>
          </p:nvCxnSpPr>
          <p:spPr>
            <a:xfrm>
              <a:off x="8077200" y="5854700"/>
              <a:ext cx="4572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7" name="文字方塊 6">
            <a:extLst>
              <a:ext uri="{FF2B5EF4-FFF2-40B4-BE49-F238E27FC236}">
                <a16:creationId xmlns:a16="http://schemas.microsoft.com/office/drawing/2014/main" id="{DCA650D5-E883-5CE9-DF4C-6494051E871E}"/>
              </a:ext>
            </a:extLst>
          </p:cNvPr>
          <p:cNvSpPr txBox="1"/>
          <p:nvPr/>
        </p:nvSpPr>
        <p:spPr>
          <a:xfrm>
            <a:off x="-21831" y="6586151"/>
            <a:ext cx="3638945"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Linux Kernel Development, 3</a:t>
            </a:r>
            <a:r>
              <a:rPr kumimoji="1" lang="en-US" altLang="zh-TW" sz="1200" baseline="30000" dirty="0">
                <a:solidFill>
                  <a:schemeClr val="bg1">
                    <a:lumMod val="75000"/>
                  </a:schemeClr>
                </a:solidFill>
              </a:rPr>
              <a:t>rd</a:t>
            </a:r>
            <a:r>
              <a:rPr kumimoji="1" lang="en-US" altLang="zh-TW" sz="1200" dirty="0">
                <a:solidFill>
                  <a:schemeClr val="bg1">
                    <a:lumMod val="75000"/>
                  </a:schemeClr>
                </a:solidFill>
              </a:rPr>
              <a:t> Edition, Robert Love</a:t>
            </a:r>
          </a:p>
        </p:txBody>
      </p:sp>
    </p:spTree>
    <p:extLst>
      <p:ext uri="{BB962C8B-B14F-4D97-AF65-F5344CB8AC3E}">
        <p14:creationId xmlns:p14="http://schemas.microsoft.com/office/powerpoint/2010/main" val="887279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wipe(up)">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wipe(up)">
                                      <p:cBhvr>
                                        <p:cTn id="3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556AD618-20DD-F296-A022-88685A0DC1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75964" y="3371240"/>
            <a:ext cx="4505468" cy="3475647"/>
          </a:xfrm>
          <a:prstGeom prst="rect">
            <a:avLst/>
          </a:prstGeom>
        </p:spPr>
      </p:pic>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cs typeface="Arial" panose="020B0604020202020204" pitchFamily="34" charset="0"/>
              </a:rPr>
              <a:t>How Kernel accesses a Process Descriptor</a:t>
            </a: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kumimoji="1" lang="en-US" altLang="zh-TW" dirty="0">
                <a:solidFill>
                  <a:schemeClr val="tx1"/>
                </a:solidFill>
                <a:latin typeface="+mn-lt"/>
                <a:cs typeface="Arial" panose="020B0604020202020204" pitchFamily="34" charset="0"/>
              </a:rPr>
              <a:t>Kernel Stack: </a:t>
            </a:r>
            <a:r>
              <a:rPr kumimoji="1" lang="en-US" altLang="zh-TW" dirty="0">
                <a:solidFill>
                  <a:srgbClr val="C00000"/>
                </a:solidFill>
                <a:latin typeface="+mn-lt"/>
                <a:cs typeface="Arial" panose="020B0604020202020204" pitchFamily="34" charset="0"/>
              </a:rPr>
              <a:t>Linux kernel </a:t>
            </a:r>
            <a:r>
              <a:rPr kumimoji="1" lang="en-US" altLang="zh-TW" dirty="0">
                <a:solidFill>
                  <a:schemeClr val="tx1"/>
                </a:solidFill>
                <a:latin typeface="+mn-lt"/>
                <a:cs typeface="Arial" panose="020B0604020202020204" pitchFamily="34" charset="0"/>
              </a:rPr>
              <a:t>uses this </a:t>
            </a:r>
            <a:r>
              <a:rPr kumimoji="1" lang="en-US" altLang="zh-TW" dirty="0">
                <a:solidFill>
                  <a:srgbClr val="C00000"/>
                </a:solidFill>
                <a:latin typeface="+mn-lt"/>
                <a:cs typeface="Arial" panose="020B0604020202020204" pitchFamily="34" charset="0"/>
              </a:rPr>
              <a:t>per-thread memory area </a:t>
            </a:r>
            <a:r>
              <a:rPr kumimoji="1" lang="en-US" altLang="zh-TW" dirty="0">
                <a:solidFill>
                  <a:schemeClr val="tx1"/>
                </a:solidFill>
                <a:latin typeface="+mn-lt"/>
                <a:cs typeface="Arial" panose="020B0604020202020204" pitchFamily="34" charset="0"/>
              </a:rPr>
              <a:t>to store </a:t>
            </a:r>
            <a:r>
              <a:rPr kumimoji="1" lang="en-US" altLang="zh-TW" u="sng" dirty="0">
                <a:solidFill>
                  <a:schemeClr val="tx1"/>
                </a:solidFill>
                <a:latin typeface="+mn-lt"/>
                <a:cs typeface="Arial" panose="020B0604020202020204" pitchFamily="34" charset="0"/>
              </a:rPr>
              <a:t>intermediate information </a:t>
            </a:r>
            <a:r>
              <a:rPr kumimoji="1" lang="en-US" altLang="zh-TW" dirty="0">
                <a:solidFill>
                  <a:schemeClr val="tx1"/>
                </a:solidFill>
                <a:latin typeface="+mn-lt"/>
                <a:cs typeface="Arial" panose="020B0604020202020204" pitchFamily="34" charset="0"/>
              </a:rPr>
              <a:t>(e.g., return </a:t>
            </a:r>
            <a:r>
              <a:rPr lang="en-US" altLang="zh-TW" dirty="0">
                <a:solidFill>
                  <a:schemeClr val="tx1"/>
                </a:solidFill>
                <a:latin typeface="+mn-lt"/>
                <a:cs typeface="Arial" panose="020B0604020202020204" pitchFamily="34" charset="0"/>
              </a:rPr>
              <a:t>addresses, kernel function calls) and </a:t>
            </a:r>
            <a:r>
              <a:rPr lang="en-US" altLang="zh-TW" u="sng" dirty="0">
                <a:solidFill>
                  <a:schemeClr val="tx1"/>
                </a:solidFill>
                <a:latin typeface="+mn-lt"/>
                <a:cs typeface="Arial" panose="020B0604020202020204" pitchFamily="34" charset="0"/>
              </a:rPr>
              <a:t>metadata block (</a:t>
            </a:r>
            <a:r>
              <a:rPr lang="en-US" altLang="zh-TW" u="sng" dirty="0" err="1">
                <a:solidFill>
                  <a:schemeClr val="tx1"/>
                </a:solidFill>
                <a:latin typeface="+mn-lt"/>
                <a:cs typeface="Arial" panose="020B0604020202020204" pitchFamily="34" charset="0"/>
              </a:rPr>
              <a:t>thread_info</a:t>
            </a:r>
            <a:r>
              <a:rPr lang="en-US" altLang="zh-TW" u="sng" dirty="0">
                <a:solidFill>
                  <a:schemeClr val="tx1"/>
                </a:solidFill>
                <a:latin typeface="+mn-lt"/>
                <a:cs typeface="Arial" panose="020B0604020202020204" pitchFamily="34" charset="0"/>
              </a:rPr>
              <a:t>) </a:t>
            </a:r>
            <a:r>
              <a:rPr lang="en-US" altLang="zh-TW" dirty="0">
                <a:solidFill>
                  <a:schemeClr val="tx1">
                    <a:lumMod val="50000"/>
                    <a:lumOff val="50000"/>
                  </a:schemeClr>
                </a:solidFill>
                <a:latin typeface="+mn-lt"/>
                <a:cs typeface="Arial" panose="020B0604020202020204" pitchFamily="34" charset="0"/>
              </a:rPr>
              <a:t>that the kernel uses to manage the thread</a:t>
            </a:r>
            <a:r>
              <a:rPr lang="en-US" altLang="zh-TW" dirty="0">
                <a:solidFill>
                  <a:schemeClr val="tx1"/>
                </a:solidFill>
                <a:latin typeface="+mn-lt"/>
                <a:cs typeface="Arial" panose="020B0604020202020204" pitchFamily="34" charset="0"/>
              </a:rPr>
              <a:t>.</a:t>
            </a:r>
            <a:endParaRPr kumimoji="1" lang="en-US" altLang="zh-TW" dirty="0">
              <a:solidFill>
                <a:schemeClr val="tx1"/>
              </a:solidFill>
              <a:latin typeface="+mn-lt"/>
              <a:cs typeface="Arial" panose="020B0604020202020204" pitchFamily="34" charset="0"/>
            </a:endParaRPr>
          </a:p>
          <a:p>
            <a:pPr algn="l"/>
            <a:r>
              <a:rPr kumimoji="1" lang="en-US" altLang="zh-TW" dirty="0">
                <a:solidFill>
                  <a:schemeClr val="tx1"/>
                </a:solidFill>
                <a:latin typeface="+mn-lt"/>
                <a:cs typeface="Arial" panose="020B0604020202020204" pitchFamily="34" charset="0"/>
              </a:rPr>
              <a:t>A </a:t>
            </a:r>
            <a:r>
              <a:rPr kumimoji="1" lang="en-US" altLang="zh-TW" dirty="0" err="1">
                <a:solidFill>
                  <a:schemeClr val="tx1"/>
                </a:solidFill>
                <a:latin typeface="+mj-lt"/>
                <a:cs typeface="Arial" panose="020B0604020202020204" pitchFamily="34" charset="0"/>
              </a:rPr>
              <a:t>thread_info</a:t>
            </a:r>
            <a:r>
              <a:rPr kumimoji="1" lang="en-US" altLang="zh-TW" dirty="0">
                <a:solidFill>
                  <a:schemeClr val="tx1"/>
                </a:solidFill>
                <a:latin typeface="+mn-lt"/>
                <a:cs typeface="Arial" panose="020B0604020202020204" pitchFamily="34" charset="0"/>
              </a:rPr>
              <a:t> is stored at the </a:t>
            </a:r>
            <a:r>
              <a:rPr kumimoji="1" lang="en-US" altLang="zh-TW" dirty="0">
                <a:solidFill>
                  <a:srgbClr val="C00000"/>
                </a:solidFill>
                <a:latin typeface="+mn-lt"/>
                <a:cs typeface="Arial" panose="020B0604020202020204" pitchFamily="34" charset="0"/>
              </a:rPr>
              <a:t>bottom of the kernel stack. </a:t>
            </a:r>
            <a:r>
              <a:rPr kumimoji="1" lang="en-US" altLang="zh-TW" dirty="0">
                <a:solidFill>
                  <a:schemeClr val="tx1"/>
                </a:solidFill>
                <a:latin typeface="+mn-lt"/>
                <a:cs typeface="Arial" panose="020B0604020202020204" pitchFamily="34" charset="0"/>
              </a:rPr>
              <a:t>(Easier to Access)</a:t>
            </a:r>
          </a:p>
          <a:p>
            <a:pPr lvl="1" algn="l"/>
            <a:r>
              <a:rPr lang="en-US" altLang="zh-TW" dirty="0">
                <a:solidFill>
                  <a:schemeClr val="tx1"/>
                </a:solidFill>
                <a:latin typeface="+mn-lt"/>
                <a:cs typeface="Arial" panose="020B0604020202020204" pitchFamily="34" charset="0"/>
              </a:rPr>
              <a:t>Size of kernel stack: static 2 ~ 3 pages (4KB)</a:t>
            </a:r>
            <a:endParaRPr kumimoji="1" lang="en-US" altLang="zh-TW" dirty="0">
              <a:solidFill>
                <a:schemeClr val="tx1"/>
              </a:solidFill>
              <a:latin typeface="+mn-lt"/>
              <a:cs typeface="Arial" panose="020B0604020202020204" pitchFamily="34" charset="0"/>
            </a:endParaRPr>
          </a:p>
          <a:p>
            <a:pPr lvl="1" algn="l"/>
            <a:r>
              <a:rPr lang="en-US" altLang="zh-TW" dirty="0">
                <a:solidFill>
                  <a:srgbClr val="C00000"/>
                </a:solidFill>
                <a:latin typeface="+mn-lt"/>
                <a:cs typeface="Arial" panose="020B0604020202020204" pitchFamily="34" charset="0"/>
                <a:sym typeface="Wingdings" pitchFamily="2" charset="2"/>
              </a:rPr>
              <a:t>D</a:t>
            </a:r>
            <a:r>
              <a:rPr kumimoji="1" lang="en-US" altLang="zh-TW" dirty="0">
                <a:solidFill>
                  <a:srgbClr val="C00000"/>
                </a:solidFill>
                <a:latin typeface="+mn-lt"/>
                <a:cs typeface="Arial" panose="020B0604020202020204" pitchFamily="34" charset="0"/>
                <a:sym typeface="Wingdings" pitchFamily="2" charset="2"/>
              </a:rPr>
              <a:t>ereferences</a:t>
            </a:r>
            <a:r>
              <a:rPr kumimoji="1" lang="en-US" altLang="zh-TW" dirty="0">
                <a:solidFill>
                  <a:schemeClr val="tx1"/>
                </a:solidFill>
                <a:latin typeface="+mn-lt"/>
                <a:cs typeface="Arial" panose="020B0604020202020204" pitchFamily="34" charset="0"/>
                <a:sym typeface="Wingdings" pitchFamily="2" charset="2"/>
              </a:rPr>
              <a:t> the task member of </a:t>
            </a:r>
            <a:br>
              <a:rPr kumimoji="1" lang="en-US" altLang="zh-TW" dirty="0">
                <a:solidFill>
                  <a:schemeClr val="tx1"/>
                </a:solidFill>
                <a:latin typeface="+mn-lt"/>
                <a:cs typeface="Arial" panose="020B0604020202020204" pitchFamily="34" charset="0"/>
                <a:sym typeface="Wingdings" pitchFamily="2" charset="2"/>
              </a:rPr>
            </a:br>
            <a:r>
              <a:rPr kumimoji="1" lang="en-US" altLang="zh-TW" dirty="0" err="1">
                <a:solidFill>
                  <a:srgbClr val="C00000"/>
                </a:solidFill>
                <a:latin typeface="+mj-lt"/>
                <a:cs typeface="Arial" panose="020B0604020202020204" pitchFamily="34" charset="0"/>
                <a:sym typeface="Wingdings" pitchFamily="2" charset="2"/>
              </a:rPr>
              <a:t>thread_info</a:t>
            </a:r>
            <a:r>
              <a:rPr kumimoji="1" lang="en-US" altLang="zh-TW" dirty="0">
                <a:solidFill>
                  <a:srgbClr val="C00000"/>
                </a:solidFill>
                <a:latin typeface="+mn-lt"/>
                <a:cs typeface="Arial" panose="020B0604020202020204" pitchFamily="34" charset="0"/>
                <a:sym typeface="Wingdings" pitchFamily="2" charset="2"/>
              </a:rPr>
              <a:t> </a:t>
            </a:r>
            <a:r>
              <a:rPr kumimoji="1" lang="en-US" altLang="zh-TW" dirty="0">
                <a:solidFill>
                  <a:schemeClr val="tx1"/>
                </a:solidFill>
                <a:latin typeface="+mn-lt"/>
                <a:cs typeface="Arial" panose="020B0604020202020204" pitchFamily="34" charset="0"/>
                <a:sym typeface="Wingdings" pitchFamily="2" charset="2"/>
              </a:rPr>
              <a:t>to </a:t>
            </a:r>
            <a:r>
              <a:rPr kumimoji="1" lang="en-US" altLang="zh-TW" dirty="0">
                <a:solidFill>
                  <a:srgbClr val="C00000"/>
                </a:solidFill>
                <a:latin typeface="+mn-lt"/>
                <a:cs typeface="Arial" panose="020B0604020202020204" pitchFamily="34" charset="0"/>
                <a:sym typeface="Wingdings" pitchFamily="2" charset="2"/>
              </a:rPr>
              <a:t>get th</a:t>
            </a:r>
            <a:r>
              <a:rPr lang="en-US" altLang="zh-TW" dirty="0">
                <a:solidFill>
                  <a:srgbClr val="C00000"/>
                </a:solidFill>
                <a:latin typeface="+mn-lt"/>
                <a:cs typeface="Arial" panose="020B0604020202020204" pitchFamily="34" charset="0"/>
                <a:sym typeface="Wingdings" pitchFamily="2" charset="2"/>
              </a:rPr>
              <a:t>e pointer</a:t>
            </a:r>
            <a:br>
              <a:rPr lang="en-US" altLang="zh-TW" dirty="0">
                <a:solidFill>
                  <a:srgbClr val="C00000"/>
                </a:solidFill>
                <a:latin typeface="+mn-lt"/>
                <a:cs typeface="Arial" panose="020B0604020202020204" pitchFamily="34" charset="0"/>
                <a:sym typeface="Wingdings" pitchFamily="2" charset="2"/>
              </a:rPr>
            </a:br>
            <a:r>
              <a:rPr lang="en-US" altLang="zh-TW" dirty="0">
                <a:solidFill>
                  <a:srgbClr val="C00000"/>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of the </a:t>
            </a:r>
            <a:r>
              <a:rPr lang="en-US" altLang="zh-TW" dirty="0" err="1">
                <a:solidFill>
                  <a:schemeClr val="tx1"/>
                </a:solidFill>
                <a:latin typeface="+mj-lt"/>
                <a:cs typeface="Arial" panose="020B0604020202020204" pitchFamily="34" charset="0"/>
                <a:sym typeface="Wingdings" pitchFamily="2" charset="2"/>
              </a:rPr>
              <a:t>task_struct</a:t>
            </a:r>
            <a:r>
              <a:rPr lang="en-US" altLang="zh-TW" dirty="0">
                <a:solidFill>
                  <a:schemeClr val="tx1"/>
                </a:solidFill>
                <a:latin typeface="+mn-lt"/>
                <a:cs typeface="Arial" panose="020B0604020202020204" pitchFamily="34" charset="0"/>
                <a:sym typeface="Wingdings" pitchFamily="2" charset="2"/>
              </a:rPr>
              <a:t>.</a:t>
            </a:r>
            <a:endParaRPr kumimoji="1" lang="zh-TW" altLang="en-US" dirty="0">
              <a:solidFill>
                <a:schemeClr val="tx1"/>
              </a:solidFill>
              <a:latin typeface="+mn-lt"/>
              <a:cs typeface="Arial" panose="020B0604020202020204" pitchFamily="34" charset="0"/>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4</a:t>
            </a:fld>
            <a:endParaRPr lang="zh-TW" altLang="en-US" dirty="0"/>
          </a:p>
        </p:txBody>
      </p:sp>
      <p:sp>
        <p:nvSpPr>
          <p:cNvPr id="5" name="矩形 4">
            <a:extLst>
              <a:ext uri="{FF2B5EF4-FFF2-40B4-BE49-F238E27FC236}">
                <a16:creationId xmlns:a16="http://schemas.microsoft.com/office/drawing/2014/main" id="{6A86B53C-5591-DF4C-958C-4FC39D8C4616}"/>
              </a:ext>
            </a:extLst>
          </p:cNvPr>
          <p:cNvSpPr/>
          <p:nvPr/>
        </p:nvSpPr>
        <p:spPr>
          <a:xfrm>
            <a:off x="5790691" y="6072267"/>
            <a:ext cx="3706773"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 name="文字方塊 5">
            <a:extLst>
              <a:ext uri="{FF2B5EF4-FFF2-40B4-BE49-F238E27FC236}">
                <a16:creationId xmlns:a16="http://schemas.microsoft.com/office/drawing/2014/main" id="{AF372143-A49C-C225-25C3-1A1A032ADF92}"/>
              </a:ext>
            </a:extLst>
          </p:cNvPr>
          <p:cNvSpPr txBox="1"/>
          <p:nvPr/>
        </p:nvSpPr>
        <p:spPr>
          <a:xfrm>
            <a:off x="12228163" y="8849532"/>
            <a:ext cx="184731" cy="369332"/>
          </a:xfrm>
          <a:prstGeom prst="rect">
            <a:avLst/>
          </a:prstGeom>
          <a:noFill/>
        </p:spPr>
        <p:txBody>
          <a:bodyPr wrap="none" rtlCol="0">
            <a:spAutoFit/>
          </a:bodyPr>
          <a:lstStyle/>
          <a:p>
            <a:endParaRPr kumimoji="1" lang="zh-TW" altLang="en-US" dirty="0"/>
          </a:p>
        </p:txBody>
      </p:sp>
      <p:sp>
        <p:nvSpPr>
          <p:cNvPr id="8" name="文字方塊 7">
            <a:extLst>
              <a:ext uri="{FF2B5EF4-FFF2-40B4-BE49-F238E27FC236}">
                <a16:creationId xmlns:a16="http://schemas.microsoft.com/office/drawing/2014/main" id="{5B96CD98-4061-4775-BE51-F086EC8F13D9}"/>
              </a:ext>
            </a:extLst>
          </p:cNvPr>
          <p:cNvSpPr txBox="1"/>
          <p:nvPr/>
        </p:nvSpPr>
        <p:spPr>
          <a:xfrm>
            <a:off x="-21831" y="6586151"/>
            <a:ext cx="3638945"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Linux Kernel Development, 3</a:t>
            </a:r>
            <a:r>
              <a:rPr kumimoji="1" lang="en-US" altLang="zh-TW" sz="1200" baseline="30000" dirty="0">
                <a:solidFill>
                  <a:schemeClr val="bg1">
                    <a:lumMod val="75000"/>
                  </a:schemeClr>
                </a:solidFill>
              </a:rPr>
              <a:t>rd</a:t>
            </a:r>
            <a:r>
              <a:rPr kumimoji="1" lang="en-US" altLang="zh-TW" sz="1200" dirty="0">
                <a:solidFill>
                  <a:schemeClr val="bg1">
                    <a:lumMod val="75000"/>
                  </a:schemeClr>
                </a:solidFill>
              </a:rPr>
              <a:t> Edition, Robert Love</a:t>
            </a:r>
          </a:p>
        </p:txBody>
      </p:sp>
      <p:grpSp>
        <p:nvGrpSpPr>
          <p:cNvPr id="36" name="群組 35">
            <a:extLst>
              <a:ext uri="{FF2B5EF4-FFF2-40B4-BE49-F238E27FC236}">
                <a16:creationId xmlns:a16="http://schemas.microsoft.com/office/drawing/2014/main" id="{2A8334F7-7B71-99A4-8748-491397E7BDA1}"/>
              </a:ext>
            </a:extLst>
          </p:cNvPr>
          <p:cNvGrpSpPr/>
          <p:nvPr/>
        </p:nvGrpSpPr>
        <p:grpSpPr>
          <a:xfrm>
            <a:off x="8981900" y="3672306"/>
            <a:ext cx="3246263" cy="3174581"/>
            <a:chOff x="8611150" y="3451060"/>
            <a:chExt cx="3246263" cy="3174581"/>
          </a:xfrm>
        </p:grpSpPr>
        <p:pic>
          <p:nvPicPr>
            <p:cNvPr id="9" name="圖片 8">
              <a:extLst>
                <a:ext uri="{FF2B5EF4-FFF2-40B4-BE49-F238E27FC236}">
                  <a16:creationId xmlns:a16="http://schemas.microsoft.com/office/drawing/2014/main" id="{2F00B44F-7D6A-1D12-BAF9-7F1591858E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78141" y="3451060"/>
              <a:ext cx="3179272" cy="2605473"/>
            </a:xfrm>
            <a:prstGeom prst="rect">
              <a:avLst/>
            </a:prstGeom>
          </p:spPr>
        </p:pic>
        <p:cxnSp>
          <p:nvCxnSpPr>
            <p:cNvPr id="11" name="曲線接點 10">
              <a:extLst>
                <a:ext uri="{FF2B5EF4-FFF2-40B4-BE49-F238E27FC236}">
                  <a16:creationId xmlns:a16="http://schemas.microsoft.com/office/drawing/2014/main" id="{95819740-AE0C-D9BB-CD59-A055F07DA40D}"/>
                </a:ext>
              </a:extLst>
            </p:cNvPr>
            <p:cNvCxnSpPr>
              <a:cxnSpLocks/>
            </p:cNvCxnSpPr>
            <p:nvPr/>
          </p:nvCxnSpPr>
          <p:spPr>
            <a:xfrm flipV="1">
              <a:off x="8611150" y="5566288"/>
              <a:ext cx="1491638" cy="1059353"/>
            </a:xfrm>
            <a:prstGeom prst="curvedConnector3">
              <a:avLst>
                <a:gd name="adj1" fmla="val 99399"/>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9" name="曲線接點 28">
            <a:extLst>
              <a:ext uri="{FF2B5EF4-FFF2-40B4-BE49-F238E27FC236}">
                <a16:creationId xmlns:a16="http://schemas.microsoft.com/office/drawing/2014/main" id="{6712F81C-1EB6-1125-41DB-4A20A98A8921}"/>
              </a:ext>
            </a:extLst>
          </p:cNvPr>
          <p:cNvCxnSpPr>
            <a:cxnSpLocks/>
          </p:cNvCxnSpPr>
          <p:nvPr/>
        </p:nvCxnSpPr>
        <p:spPr>
          <a:xfrm flipV="1">
            <a:off x="7367216" y="5388050"/>
            <a:ext cx="2582540" cy="610169"/>
          </a:xfrm>
          <a:prstGeom prst="curvedConnector3">
            <a:avLst>
              <a:gd name="adj1" fmla="val 3782"/>
            </a:avLst>
          </a:prstGeom>
          <a:ln w="19050">
            <a:solidFill>
              <a:schemeClr val="tx1"/>
            </a:solidFill>
            <a:head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992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up)">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22" presetClass="exit" presetSubtype="1" fill="hold" grpId="0" nodeType="withEffect">
                                  <p:stCondLst>
                                    <p:cond delay="0"/>
                                  </p:stCondLst>
                                  <p:childTnLst>
                                    <p:animEffect transition="out" filter="wipe(up)">
                                      <p:cBhvr>
                                        <p:cTn id="17" dur="1000"/>
                                        <p:tgtEl>
                                          <p:spTgt spid="5"/>
                                        </p:tgtEl>
                                      </p:cBhvr>
                                    </p:animEffect>
                                    <p:set>
                                      <p:cBhvr>
                                        <p:cTn id="18" dur="1" fill="hold">
                                          <p:stCondLst>
                                            <p:cond delay="999"/>
                                          </p:stCondLst>
                                        </p:cTn>
                                        <p:tgtEl>
                                          <p:spTgt spid="5"/>
                                        </p:tgtEl>
                                        <p:attrNameLst>
                                          <p:attrName>style.visibility</p:attrName>
                                        </p:attrNameLst>
                                      </p:cBhvr>
                                      <p:to>
                                        <p:strVal val="hidden"/>
                                      </p:to>
                                    </p:set>
                                  </p:childTnLst>
                                </p:cTn>
                              </p:par>
                            </p:childTnLst>
                          </p:cTn>
                        </p:par>
                        <p:par>
                          <p:cTn id="19" fill="hold">
                            <p:stCondLst>
                              <p:cond delay="1000"/>
                            </p:stCondLst>
                            <p:childTnLst>
                              <p:par>
                                <p:cTn id="20" presetID="22" presetClass="entr" presetSubtype="4" fill="hold" nodeType="after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down)">
                                      <p:cBhvr>
                                        <p:cTn id="22" dur="10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right)">
                                      <p:cBhvr>
                                        <p:cTn id="27"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62E3B897-BC09-4B58-AF70-4FBD523212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6854" y="2948151"/>
            <a:ext cx="4379743" cy="3589282"/>
          </a:xfrm>
          <a:prstGeom prst="rect">
            <a:avLst/>
          </a:prstGeom>
        </p:spPr>
      </p:pic>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kumimoji="1" lang="en-US" altLang="zh-TW" sz="4000" dirty="0">
                <a:latin typeface="+mn-lt"/>
              </a:rPr>
              <a:t>Process State</a:t>
            </a:r>
            <a:endParaRPr kumimoji="1" lang="zh-TW" altLang="en-US" sz="4000" dirty="0">
              <a:latin typeface="+mn-lt"/>
            </a:endParaRP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kumimoji="1" lang="en-US" altLang="zh-TW" dirty="0">
                <a:solidFill>
                  <a:schemeClr val="tx1"/>
                </a:solidFill>
                <a:latin typeface="+mn-lt"/>
                <a:cs typeface="Arial" panose="020B0604020202020204" pitchFamily="34" charset="0"/>
              </a:rPr>
              <a:t>The </a:t>
            </a:r>
            <a:r>
              <a:rPr kumimoji="1" lang="en-US" altLang="zh-TW" dirty="0">
                <a:solidFill>
                  <a:srgbClr val="C00000"/>
                </a:solidFill>
                <a:latin typeface="+mj-lt"/>
                <a:ea typeface="SimSun" panose="02010600030101010101" pitchFamily="2" charset="-122"/>
              </a:rPr>
              <a:t>state</a:t>
            </a:r>
            <a:r>
              <a:rPr kumimoji="1" lang="en-US" altLang="zh-TW" dirty="0">
                <a:solidFill>
                  <a:srgbClr val="C00000"/>
                </a:solidFill>
                <a:latin typeface="+mn-lt"/>
                <a:cs typeface="Arial" panose="020B0604020202020204" pitchFamily="34" charset="0"/>
              </a:rPr>
              <a:t> field </a:t>
            </a:r>
            <a:r>
              <a:rPr kumimoji="1" lang="en-US" altLang="zh-TW" dirty="0">
                <a:solidFill>
                  <a:schemeClr val="tx1"/>
                </a:solidFill>
                <a:latin typeface="+mn-lt"/>
                <a:cs typeface="Arial" panose="020B0604020202020204" pitchFamily="34" charset="0"/>
              </a:rPr>
              <a:t>of the process descriptor describes the </a:t>
            </a:r>
            <a:r>
              <a:rPr kumimoji="1" lang="en-US" altLang="zh-TW" dirty="0">
                <a:solidFill>
                  <a:srgbClr val="C00000"/>
                </a:solidFill>
                <a:latin typeface="+mn-lt"/>
                <a:cs typeface="Arial" panose="020B0604020202020204" pitchFamily="34" charset="0"/>
              </a:rPr>
              <a:t>current condition of the process</a:t>
            </a:r>
            <a:r>
              <a:rPr kumimoji="1" lang="en-US" altLang="zh-TW" dirty="0">
                <a:solidFill>
                  <a:schemeClr val="tx1"/>
                </a:solidFill>
                <a:latin typeface="+mn-lt"/>
                <a:cs typeface="Arial" panose="020B0604020202020204" pitchFamily="34" charset="0"/>
              </a:rPr>
              <a:t> (In</a:t>
            </a:r>
            <a:r>
              <a:rPr kumimoji="1"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o</a:t>
            </a:r>
            <a:r>
              <a:rPr kumimoji="1" lang="en-US" altLang="zh-TW" dirty="0">
                <a:solidFill>
                  <a:schemeClr val="tx1"/>
                </a:solidFill>
                <a:latin typeface="+mn-lt"/>
                <a:cs typeface="Arial" panose="020B0604020202020204" pitchFamily="34" charset="0"/>
              </a:rPr>
              <a:t>ne of</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the </a:t>
            </a:r>
            <a:r>
              <a:rPr lang="en-US" altLang="zh-TW" dirty="0">
                <a:solidFill>
                  <a:srgbClr val="C00000"/>
                </a:solidFill>
                <a:latin typeface="+mn-lt"/>
                <a:cs typeface="Arial" panose="020B0604020202020204" pitchFamily="34" charset="0"/>
              </a:rPr>
              <a:t>f</a:t>
            </a:r>
            <a:r>
              <a:rPr kumimoji="1" lang="en-US" altLang="zh-TW" dirty="0">
                <a:solidFill>
                  <a:srgbClr val="C00000"/>
                </a:solidFill>
                <a:latin typeface="+mn-lt"/>
                <a:cs typeface="Arial" panose="020B0604020202020204" pitchFamily="34" charset="0"/>
              </a:rPr>
              <a:t>ive</a:t>
            </a:r>
            <a:r>
              <a:rPr kumimoji="1" lang="en-US" altLang="zh-TW" dirty="0">
                <a:solidFill>
                  <a:schemeClr val="tx1"/>
                </a:solidFill>
                <a:latin typeface="+mn-lt"/>
                <a:cs typeface="Arial" panose="020B0604020202020204" pitchFamily="34" charset="0"/>
              </a:rPr>
              <a:t> states)</a:t>
            </a:r>
          </a:p>
          <a:p>
            <a:pPr lvl="1" algn="l"/>
            <a:r>
              <a:rPr lang="en-US" altLang="zh-TW" dirty="0" err="1">
                <a:solidFill>
                  <a:schemeClr val="tx1"/>
                </a:solidFill>
                <a:latin typeface="+mj-lt"/>
                <a:cs typeface="Arial" panose="020B0604020202020204" pitchFamily="34" charset="0"/>
              </a:rPr>
              <a:t>Task_Running</a:t>
            </a:r>
            <a:r>
              <a:rPr lang="en-US" altLang="zh-TW" dirty="0">
                <a:solidFill>
                  <a:schemeClr val="tx1"/>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Runnable</a:t>
            </a:r>
            <a:r>
              <a:rPr lang="en-US" altLang="zh-TW" dirty="0">
                <a:solidFill>
                  <a:schemeClr val="tx1"/>
                </a:solidFill>
                <a:latin typeface="+mn-lt"/>
                <a:cs typeface="Arial" panose="020B0604020202020204" pitchFamily="34" charset="0"/>
              </a:rPr>
              <a:t>, either running or on a run-queue. (The only state for a process executing in user-space)</a:t>
            </a:r>
          </a:p>
          <a:p>
            <a:pPr lvl="1" algn="l"/>
            <a:r>
              <a:rPr lang="en-US" altLang="zh-TW" dirty="0" err="1">
                <a:solidFill>
                  <a:schemeClr val="tx1"/>
                </a:solidFill>
                <a:latin typeface="+mj-lt"/>
                <a:cs typeface="Arial" panose="020B0604020202020204" pitchFamily="34" charset="0"/>
              </a:rPr>
              <a:t>Task_Interruptible</a:t>
            </a:r>
            <a:r>
              <a:rPr lang="en-US" altLang="zh-TW" dirty="0">
                <a:solidFill>
                  <a:schemeClr val="tx1"/>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Sleeping</a:t>
            </a:r>
            <a:r>
              <a:rPr lang="en-US" altLang="zh-TW" dirty="0">
                <a:solidFill>
                  <a:schemeClr val="tx1"/>
                </a:solidFill>
                <a:latin typeface="+mn-lt"/>
                <a:cs typeface="Arial" panose="020B0604020202020204" pitchFamily="34" charset="0"/>
              </a:rPr>
              <a:t> (i.e., blocked), waiting for some condition.</a:t>
            </a:r>
          </a:p>
          <a:p>
            <a:pPr lvl="1" algn="l"/>
            <a:r>
              <a:rPr lang="en-US" altLang="zh-TW" dirty="0" err="1">
                <a:solidFill>
                  <a:schemeClr val="tx1"/>
                </a:solidFill>
                <a:latin typeface="+mj-lt"/>
                <a:cs typeface="Arial" panose="020B0604020202020204" pitchFamily="34" charset="0"/>
              </a:rPr>
              <a:t>Task_Uniterruptible</a:t>
            </a:r>
            <a:r>
              <a:rPr lang="en-US" altLang="zh-TW" dirty="0">
                <a:solidFill>
                  <a:schemeClr val="tx1"/>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Sleeping, does not wake up </a:t>
            </a:r>
            <a:r>
              <a:rPr lang="en-US" altLang="zh-TW" dirty="0">
                <a:solidFill>
                  <a:schemeClr val="tx1"/>
                </a:solidFill>
                <a:latin typeface="+mn-lt"/>
                <a:cs typeface="Arial" panose="020B0604020202020204" pitchFamily="34" charset="0"/>
              </a:rPr>
              <a:t>even receives</a:t>
            </a:r>
            <a:br>
              <a:rPr lang="en-US" altLang="zh-TW" dirty="0">
                <a:solidFill>
                  <a:schemeClr val="tx1"/>
                </a:solidFill>
                <a:latin typeface="+mn-lt"/>
                <a:cs typeface="Arial" panose="020B0604020202020204" pitchFamily="34" charset="0"/>
              </a:rPr>
            </a:br>
            <a:r>
              <a:rPr lang="en-US" altLang="zh-TW" dirty="0">
                <a:solidFill>
                  <a:schemeClr val="tx1"/>
                </a:solidFill>
                <a:latin typeface="+mn-lt"/>
                <a:cs typeface="Arial" panose="020B0604020202020204" pitchFamily="34" charset="0"/>
              </a:rPr>
              <a:t>a signal.</a:t>
            </a:r>
            <a:r>
              <a:rPr lang="zh-TW" altLang="en-US" dirty="0">
                <a:solidFill>
                  <a:schemeClr val="tx1"/>
                </a:solidFill>
                <a:latin typeface="+mn-lt"/>
                <a:cs typeface="Arial" panose="020B0604020202020204" pitchFamily="34" charset="0"/>
              </a:rPr>
              <a:t> </a:t>
            </a:r>
            <a:endParaRPr lang="en-US" altLang="zh-TW" dirty="0">
              <a:solidFill>
                <a:schemeClr val="tx1"/>
              </a:solidFill>
              <a:latin typeface="+mn-lt"/>
              <a:cs typeface="Arial" panose="020B0604020202020204" pitchFamily="34" charset="0"/>
            </a:endParaRPr>
          </a:p>
          <a:p>
            <a:pPr lvl="1" algn="l"/>
            <a:r>
              <a:rPr lang="en-US" altLang="zh-TW" dirty="0">
                <a:solidFill>
                  <a:schemeClr val="tx1"/>
                </a:solidFill>
                <a:latin typeface="+mj-lt"/>
                <a:cs typeface="Arial" panose="020B0604020202020204" pitchFamily="34" charset="0"/>
              </a:rPr>
              <a:t>__</a:t>
            </a:r>
            <a:r>
              <a:rPr lang="en-US" altLang="zh-TW" dirty="0" err="1">
                <a:solidFill>
                  <a:schemeClr val="tx1"/>
                </a:solidFill>
                <a:latin typeface="+mj-lt"/>
                <a:cs typeface="Arial" panose="020B0604020202020204" pitchFamily="34" charset="0"/>
              </a:rPr>
              <a:t>Task_Stopped</a:t>
            </a:r>
            <a:r>
              <a:rPr lang="en-US" altLang="zh-TW" dirty="0">
                <a:solidFill>
                  <a:schemeClr val="tx1"/>
                </a:solidFill>
                <a:latin typeface="+mn-lt"/>
                <a:cs typeface="Arial" panose="020B0604020202020204" pitchFamily="34" charset="0"/>
              </a:rPr>
              <a:t>: Execution has stopped.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(SIGCONT</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resume)</a:t>
            </a:r>
          </a:p>
          <a:p>
            <a:pPr lvl="1" algn="l"/>
            <a:r>
              <a:rPr lang="en-US" altLang="zh-TW" dirty="0">
                <a:solidFill>
                  <a:schemeClr val="tx1"/>
                </a:solidFill>
                <a:latin typeface="+mj-lt"/>
                <a:cs typeface="Arial" panose="020B0604020202020204" pitchFamily="34" charset="0"/>
              </a:rPr>
              <a:t>__</a:t>
            </a:r>
            <a:r>
              <a:rPr lang="en-US" altLang="zh-TW" dirty="0" err="1">
                <a:solidFill>
                  <a:schemeClr val="tx1"/>
                </a:solidFill>
                <a:latin typeface="+mj-lt"/>
                <a:cs typeface="Arial" panose="020B0604020202020204" pitchFamily="34" charset="0"/>
              </a:rPr>
              <a:t>Task_Traced</a:t>
            </a:r>
            <a:r>
              <a:rPr lang="en-US" altLang="zh-TW" dirty="0">
                <a:solidFill>
                  <a:schemeClr val="tx1"/>
                </a:solidFill>
                <a:cs typeface="Arial" panose="020B0604020202020204" pitchFamily="34" charset="0"/>
              </a:rPr>
              <a:t>: Processes traced by a Debugger.</a:t>
            </a: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5</a:t>
            </a:fld>
            <a:endParaRPr lang="zh-TW" altLang="en-US" dirty="0"/>
          </a:p>
        </p:txBody>
      </p:sp>
      <p:sp>
        <p:nvSpPr>
          <p:cNvPr id="5" name="文字方塊 4">
            <a:extLst>
              <a:ext uri="{FF2B5EF4-FFF2-40B4-BE49-F238E27FC236}">
                <a16:creationId xmlns:a16="http://schemas.microsoft.com/office/drawing/2014/main" id="{D70ACFF7-19CF-329F-C561-BE1029343D07}"/>
              </a:ext>
            </a:extLst>
          </p:cNvPr>
          <p:cNvSpPr txBox="1"/>
          <p:nvPr/>
        </p:nvSpPr>
        <p:spPr>
          <a:xfrm>
            <a:off x="-21831" y="6586151"/>
            <a:ext cx="3638945"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Linux Kernel Development, 3</a:t>
            </a:r>
            <a:r>
              <a:rPr kumimoji="1" lang="en-US" altLang="zh-TW" sz="1200" baseline="30000" dirty="0">
                <a:solidFill>
                  <a:schemeClr val="bg1">
                    <a:lumMod val="75000"/>
                  </a:schemeClr>
                </a:solidFill>
              </a:rPr>
              <a:t>rd</a:t>
            </a:r>
            <a:r>
              <a:rPr kumimoji="1" lang="en-US" altLang="zh-TW" sz="1200" dirty="0">
                <a:solidFill>
                  <a:schemeClr val="bg1">
                    <a:lumMod val="75000"/>
                  </a:schemeClr>
                </a:solidFill>
              </a:rPr>
              <a:t> Edition, Robert Love</a:t>
            </a:r>
          </a:p>
        </p:txBody>
      </p:sp>
      <p:cxnSp>
        <p:nvCxnSpPr>
          <p:cNvPr id="7" name="直線接點 6">
            <a:extLst>
              <a:ext uri="{FF2B5EF4-FFF2-40B4-BE49-F238E27FC236}">
                <a16:creationId xmlns:a16="http://schemas.microsoft.com/office/drawing/2014/main" id="{F841B2F7-DA20-1A89-616B-97E94DE6A4AC}"/>
              </a:ext>
            </a:extLst>
          </p:cNvPr>
          <p:cNvCxnSpPr>
            <a:cxnSpLocks/>
          </p:cNvCxnSpPr>
          <p:nvPr/>
        </p:nvCxnSpPr>
        <p:spPr>
          <a:xfrm>
            <a:off x="9690418" y="4701309"/>
            <a:ext cx="4572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62A08A8B-2F8C-CF84-7454-27D6CD02FC37}"/>
              </a:ext>
            </a:extLst>
          </p:cNvPr>
          <p:cNvSpPr txBox="1"/>
          <p:nvPr/>
        </p:nvSpPr>
        <p:spPr>
          <a:xfrm>
            <a:off x="1944630" y="3549515"/>
            <a:ext cx="7150291" cy="461665"/>
          </a:xfrm>
          <a:prstGeom prst="rect">
            <a:avLst/>
          </a:prstGeom>
          <a:noFill/>
        </p:spPr>
        <p:txBody>
          <a:bodyPr wrap="none" rtlCol="0">
            <a:spAutoFit/>
          </a:bodyPr>
          <a:lstStyle/>
          <a:p>
            <a:r>
              <a:rPr lang="en-US" altLang="zh-TW" sz="2400" i="1" dirty="0">
                <a:cs typeface="Arial" panose="020B0604020202020204" pitchFamily="34" charset="0"/>
              </a:rPr>
              <a:t>(Kernel</a:t>
            </a:r>
            <a:r>
              <a:rPr lang="zh-TW" altLang="en-US" sz="2400" i="1" dirty="0">
                <a:cs typeface="Arial" panose="020B0604020202020204" pitchFamily="34" charset="0"/>
              </a:rPr>
              <a:t> </a:t>
            </a:r>
            <a:r>
              <a:rPr lang="en-US" altLang="zh-TW" sz="2400" i="1" dirty="0">
                <a:cs typeface="Arial" panose="020B0604020202020204" pitchFamily="34" charset="0"/>
              </a:rPr>
              <a:t>thread</a:t>
            </a:r>
            <a:r>
              <a:rPr lang="zh-TW" altLang="en-US" sz="2400" i="1" dirty="0">
                <a:cs typeface="Arial" panose="020B0604020202020204" pitchFamily="34" charset="0"/>
              </a:rPr>
              <a:t> </a:t>
            </a:r>
            <a:r>
              <a:rPr lang="en-US" altLang="zh-TW" sz="2400" i="1" dirty="0">
                <a:cs typeface="Arial" panose="020B0604020202020204" pitchFamily="34" charset="0"/>
              </a:rPr>
              <a:t>will</a:t>
            </a:r>
            <a:r>
              <a:rPr lang="zh-TW" altLang="en-US" sz="2400" i="1" dirty="0">
                <a:cs typeface="Arial" panose="020B0604020202020204" pitchFamily="34" charset="0"/>
              </a:rPr>
              <a:t> </a:t>
            </a:r>
            <a:r>
              <a:rPr lang="en-US" altLang="zh-TW" sz="2400" i="1" dirty="0">
                <a:cs typeface="Arial" panose="020B0604020202020204" pitchFamily="34" charset="0"/>
              </a:rPr>
              <a:t>manage</a:t>
            </a:r>
            <a:r>
              <a:rPr lang="zh-TW" altLang="en-US" sz="2400" i="1" dirty="0">
                <a:cs typeface="Arial" panose="020B0604020202020204" pitchFamily="34" charset="0"/>
              </a:rPr>
              <a:t> </a:t>
            </a:r>
            <a:r>
              <a:rPr lang="en-US" altLang="zh-TW" sz="2400" i="1" dirty="0">
                <a:cs typeface="Arial" panose="020B0604020202020204" pitchFamily="34" charset="0"/>
              </a:rPr>
              <a:t>it</a:t>
            </a:r>
            <a:r>
              <a:rPr lang="zh-TW" altLang="en-US" sz="2400" i="1" dirty="0">
                <a:cs typeface="Arial" panose="020B0604020202020204" pitchFamily="34" charset="0"/>
              </a:rPr>
              <a:t> </a:t>
            </a:r>
            <a:r>
              <a:rPr lang="en-US" altLang="zh-TW" sz="2400" i="1" dirty="0">
                <a:cs typeface="Arial" panose="020B0604020202020204" pitchFamily="34" charset="0"/>
              </a:rPr>
              <a:t>periodically. Fork Process.)</a:t>
            </a:r>
          </a:p>
        </p:txBody>
      </p:sp>
    </p:spTree>
    <p:extLst>
      <p:ext uri="{BB962C8B-B14F-4D97-AF65-F5344CB8AC3E}">
        <p14:creationId xmlns:p14="http://schemas.microsoft.com/office/powerpoint/2010/main" val="1262903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kumimoji="1" lang="en-US" altLang="zh-TW" sz="4000" dirty="0">
                <a:latin typeface="+mn-lt"/>
              </a:rPr>
              <a:t>Process State Diagram</a:t>
            </a:r>
            <a:endParaRPr kumimoji="1" lang="zh-TW" altLang="en-US" sz="4000" dirty="0">
              <a:latin typeface="+mn-lt"/>
            </a:endParaRP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a:xfrm>
            <a:off x="177800" y="1238250"/>
            <a:ext cx="4794250" cy="5441950"/>
          </a:xfrm>
        </p:spPr>
        <p:txBody>
          <a:bodyPr>
            <a:normAutofit/>
          </a:bodyPr>
          <a:lstStyle/>
          <a:p>
            <a:pPr algn="l"/>
            <a:r>
              <a:rPr kumimoji="1" lang="en-US" altLang="zh-TW" dirty="0">
                <a:solidFill>
                  <a:schemeClr val="tx1"/>
                </a:solidFill>
                <a:latin typeface="+mn-lt"/>
                <a:cs typeface="Arial" panose="020B0604020202020204" pitchFamily="34" charset="0"/>
              </a:rPr>
              <a:t>The life</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cycle</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of</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a</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process.</a:t>
            </a:r>
            <a:endParaRPr kumimoji="1" lang="zh-TW" altLang="en-US" dirty="0">
              <a:solidFill>
                <a:schemeClr val="tx1"/>
              </a:solidFill>
              <a:latin typeface="+mn-lt"/>
              <a:cs typeface="Arial" panose="020B0604020202020204" pitchFamily="34" charset="0"/>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6</a:t>
            </a:fld>
            <a:endParaRPr lang="zh-TW" altLang="en-US" dirty="0"/>
          </a:p>
        </p:txBody>
      </p:sp>
      <p:pic>
        <p:nvPicPr>
          <p:cNvPr id="9" name="圖片 8">
            <a:extLst>
              <a:ext uri="{FF2B5EF4-FFF2-40B4-BE49-F238E27FC236}">
                <a16:creationId xmlns:a16="http://schemas.microsoft.com/office/drawing/2014/main" id="{F95BE9EC-6894-CC25-5D8A-1C582C08035B}"/>
              </a:ext>
            </a:extLst>
          </p:cNvPr>
          <p:cNvPicPr>
            <a:picLocks noChangeAspect="1"/>
          </p:cNvPicPr>
          <p:nvPr/>
        </p:nvPicPr>
        <p:blipFill>
          <a:blip r:embed="rId3"/>
          <a:stretch>
            <a:fillRect/>
          </a:stretch>
        </p:blipFill>
        <p:spPr>
          <a:xfrm>
            <a:off x="355216" y="2779858"/>
            <a:ext cx="4526624" cy="2511724"/>
          </a:xfrm>
          <a:prstGeom prst="rect">
            <a:avLst/>
          </a:prstGeom>
        </p:spPr>
      </p:pic>
      <p:pic>
        <p:nvPicPr>
          <p:cNvPr id="6" name="圖片 5">
            <a:extLst>
              <a:ext uri="{FF2B5EF4-FFF2-40B4-BE49-F238E27FC236}">
                <a16:creationId xmlns:a16="http://schemas.microsoft.com/office/drawing/2014/main" id="{D476A729-00C8-B56B-D3DA-8BFD6FDC55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72050" y="1080076"/>
            <a:ext cx="7154004" cy="5600124"/>
          </a:xfrm>
          <a:prstGeom prst="rect">
            <a:avLst/>
          </a:prstGeom>
        </p:spPr>
      </p:pic>
      <p:sp>
        <p:nvSpPr>
          <p:cNvPr id="7" name="文字方塊 6">
            <a:extLst>
              <a:ext uri="{FF2B5EF4-FFF2-40B4-BE49-F238E27FC236}">
                <a16:creationId xmlns:a16="http://schemas.microsoft.com/office/drawing/2014/main" id="{2A06FFB8-EAD2-51CA-707C-A0FB4961BC63}"/>
              </a:ext>
            </a:extLst>
          </p:cNvPr>
          <p:cNvSpPr txBox="1"/>
          <p:nvPr/>
        </p:nvSpPr>
        <p:spPr>
          <a:xfrm>
            <a:off x="-21831" y="6586151"/>
            <a:ext cx="3638945"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Linux Kernel Development, 3</a:t>
            </a:r>
            <a:r>
              <a:rPr kumimoji="1" lang="en-US" altLang="zh-TW" sz="1200" baseline="30000" dirty="0">
                <a:solidFill>
                  <a:schemeClr val="bg1">
                    <a:lumMod val="75000"/>
                  </a:schemeClr>
                </a:solidFill>
              </a:rPr>
              <a:t>rd</a:t>
            </a:r>
            <a:r>
              <a:rPr kumimoji="1" lang="en-US" altLang="zh-TW" sz="1200" dirty="0">
                <a:solidFill>
                  <a:schemeClr val="bg1">
                    <a:lumMod val="75000"/>
                  </a:schemeClr>
                </a:solidFill>
              </a:rPr>
              <a:t> Edition, Robert Love</a:t>
            </a:r>
          </a:p>
        </p:txBody>
      </p:sp>
      <p:sp>
        <p:nvSpPr>
          <p:cNvPr id="8" name="橢圓 7">
            <a:extLst>
              <a:ext uri="{FF2B5EF4-FFF2-40B4-BE49-F238E27FC236}">
                <a16:creationId xmlns:a16="http://schemas.microsoft.com/office/drawing/2014/main" id="{24E0B9C5-967C-3135-361E-836006261C7C}"/>
              </a:ext>
            </a:extLst>
          </p:cNvPr>
          <p:cNvSpPr/>
          <p:nvPr/>
        </p:nvSpPr>
        <p:spPr>
          <a:xfrm>
            <a:off x="355216" y="2779858"/>
            <a:ext cx="870910" cy="56601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13" name="直線箭頭接點 12">
            <a:extLst>
              <a:ext uri="{FF2B5EF4-FFF2-40B4-BE49-F238E27FC236}">
                <a16:creationId xmlns:a16="http://schemas.microsoft.com/office/drawing/2014/main" id="{FFC86C9B-4AC4-B003-25B4-19AC21B4FC70}"/>
              </a:ext>
            </a:extLst>
          </p:cNvPr>
          <p:cNvCxnSpPr>
            <a:cxnSpLocks/>
          </p:cNvCxnSpPr>
          <p:nvPr/>
        </p:nvCxnSpPr>
        <p:spPr>
          <a:xfrm>
            <a:off x="5746173" y="1080076"/>
            <a:ext cx="0" cy="47798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字方塊 21">
            <a:extLst>
              <a:ext uri="{FF2B5EF4-FFF2-40B4-BE49-F238E27FC236}">
                <a16:creationId xmlns:a16="http://schemas.microsoft.com/office/drawing/2014/main" id="{47F5CC5A-B477-E0C9-11CF-5A76A0185D85}"/>
              </a:ext>
            </a:extLst>
          </p:cNvPr>
          <p:cNvSpPr txBox="1"/>
          <p:nvPr/>
        </p:nvSpPr>
        <p:spPr>
          <a:xfrm>
            <a:off x="2136389" y="5291582"/>
            <a:ext cx="962699" cy="369332"/>
          </a:xfrm>
          <a:prstGeom prst="rect">
            <a:avLst/>
          </a:prstGeom>
          <a:noFill/>
        </p:spPr>
        <p:txBody>
          <a:bodyPr wrap="none" rtlCol="0">
            <a:spAutoFit/>
          </a:bodyPr>
          <a:lstStyle/>
          <a:p>
            <a:r>
              <a:rPr kumimoji="1" lang="en-US" altLang="zh-TW" dirty="0"/>
              <a:t>Concept</a:t>
            </a:r>
            <a:endParaRPr kumimoji="1" lang="zh-TW" altLang="en-US" dirty="0"/>
          </a:p>
        </p:txBody>
      </p:sp>
      <p:sp>
        <p:nvSpPr>
          <p:cNvPr id="23" name="文字方塊 22">
            <a:extLst>
              <a:ext uri="{FF2B5EF4-FFF2-40B4-BE49-F238E27FC236}">
                <a16:creationId xmlns:a16="http://schemas.microsoft.com/office/drawing/2014/main" id="{B57868A8-B923-20D5-5F7C-DC822615BCA3}"/>
              </a:ext>
            </a:extLst>
          </p:cNvPr>
          <p:cNvSpPr txBox="1"/>
          <p:nvPr/>
        </p:nvSpPr>
        <p:spPr>
          <a:xfrm>
            <a:off x="7882523" y="6495534"/>
            <a:ext cx="1333057" cy="369332"/>
          </a:xfrm>
          <a:prstGeom prst="rect">
            <a:avLst/>
          </a:prstGeom>
          <a:noFill/>
        </p:spPr>
        <p:txBody>
          <a:bodyPr wrap="none" rtlCol="0">
            <a:spAutoFit/>
          </a:bodyPr>
          <a:lstStyle/>
          <a:p>
            <a:r>
              <a:rPr kumimoji="1" lang="en-US" altLang="zh-TW" dirty="0"/>
              <a:t>Linux</a:t>
            </a:r>
            <a:r>
              <a:rPr kumimoji="1" lang="zh-TW" altLang="en-US" dirty="0"/>
              <a:t> </a:t>
            </a:r>
            <a:r>
              <a:rPr kumimoji="1" lang="en-US" altLang="zh-TW" dirty="0"/>
              <a:t>Kernel</a:t>
            </a:r>
            <a:endParaRPr kumimoji="1" lang="zh-TW" altLang="en-US" dirty="0"/>
          </a:p>
        </p:txBody>
      </p:sp>
    </p:spTree>
    <p:extLst>
      <p:ext uri="{BB962C8B-B14F-4D97-AF65-F5344CB8AC3E}">
        <p14:creationId xmlns:p14="http://schemas.microsoft.com/office/powerpoint/2010/main" val="2613059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4.16667E-6 -0.01157 L 0.11159 0.16991 " pathEditMode="relative" rAng="0" ptsTypes="AA">
                                      <p:cBhvr>
                                        <p:cTn id="6" dur="2000" fill="hold"/>
                                        <p:tgtEl>
                                          <p:spTgt spid="13"/>
                                        </p:tgtEl>
                                        <p:attrNameLst>
                                          <p:attrName>ppt_x</p:attrName>
                                          <p:attrName>ppt_y</p:attrName>
                                        </p:attrNameLst>
                                      </p:cBhvr>
                                      <p:rCtr x="5547" y="8935"/>
                                    </p:animMotion>
                                  </p:childTnLst>
                                </p:cTn>
                              </p:par>
                              <p:par>
                                <p:cTn id="7" presetID="0" presetClass="path" presetSubtype="0" accel="50000" decel="50000" fill="hold" grpId="0" nodeType="withEffect">
                                  <p:stCondLst>
                                    <p:cond delay="0"/>
                                  </p:stCondLst>
                                  <p:childTnLst>
                                    <p:animMotion origin="layout" path="M -3.75E-6 2.22222E-6 L 0.06133 0.09745 " pathEditMode="relative" rAng="0" ptsTypes="AA">
                                      <p:cBhvr>
                                        <p:cTn id="8" dur="2000" fill="hold"/>
                                        <p:tgtEl>
                                          <p:spTgt spid="8"/>
                                        </p:tgtEl>
                                        <p:attrNameLst>
                                          <p:attrName>ppt_x</p:attrName>
                                          <p:attrName>ppt_y</p:attrName>
                                        </p:attrNameLst>
                                      </p:cBhvr>
                                      <p:rCtr x="3060" y="4861"/>
                                    </p:animMotion>
                                  </p:childTnLst>
                                </p:cTn>
                              </p:par>
                            </p:childTnLst>
                          </p:cTn>
                        </p:par>
                      </p:childTnLst>
                    </p:cTn>
                  </p:par>
                  <p:par>
                    <p:cTn id="9" fill="hold">
                      <p:stCondLst>
                        <p:cond delay="indefinite"/>
                      </p:stCondLst>
                      <p:childTnLst>
                        <p:par>
                          <p:cTn id="10" fill="hold">
                            <p:stCondLst>
                              <p:cond delay="0"/>
                            </p:stCondLst>
                            <p:childTnLst>
                              <p:par>
                                <p:cTn id="11" presetID="0" presetClass="path" presetSubtype="0" accel="50000" decel="50000" fill="hold" nodeType="clickEffect">
                                  <p:stCondLst>
                                    <p:cond delay="0"/>
                                  </p:stCondLst>
                                  <p:childTnLst>
                                    <p:animMotion origin="layout" path="M 0.11159 0.16991 L 0.34258 0.17153 " pathEditMode="relative" rAng="0" ptsTypes="AA">
                                      <p:cBhvr>
                                        <p:cTn id="12" dur="2000" fill="hold"/>
                                        <p:tgtEl>
                                          <p:spTgt spid="13"/>
                                        </p:tgtEl>
                                        <p:attrNameLst>
                                          <p:attrName>ppt_x</p:attrName>
                                          <p:attrName>ppt_y</p:attrName>
                                        </p:attrNameLst>
                                      </p:cBhvr>
                                      <p:rCtr x="11549" y="69"/>
                                    </p:animMotion>
                                  </p:childTnLst>
                                </p:cTn>
                              </p:par>
                              <p:par>
                                <p:cTn id="13" presetID="0" presetClass="path" presetSubtype="0" accel="50000" decel="50000" fill="hold" grpId="2" nodeType="withEffect">
                                  <p:stCondLst>
                                    <p:cond delay="0"/>
                                  </p:stCondLst>
                                  <p:childTnLst>
                                    <p:animMotion origin="layout" path="M 0.06133 0.09745 L 0.23177 0.07916 " pathEditMode="relative" rAng="0" ptsTypes="AA">
                                      <p:cBhvr>
                                        <p:cTn id="14" dur="2000" fill="hold"/>
                                        <p:tgtEl>
                                          <p:spTgt spid="8"/>
                                        </p:tgtEl>
                                        <p:attrNameLst>
                                          <p:attrName>ppt_x</p:attrName>
                                          <p:attrName>ppt_y</p:attrName>
                                        </p:attrNameLst>
                                      </p:cBhvr>
                                      <p:rCtr x="8516" y="-833"/>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nodeType="clickEffect">
                                  <p:stCondLst>
                                    <p:cond delay="0"/>
                                  </p:stCondLst>
                                  <p:childTnLst>
                                    <p:animMotion origin="layout" path="M 0.34258 0.17153 L 0.2267 0.56389 " pathEditMode="relative" rAng="0" ptsTypes="AA">
                                      <p:cBhvr>
                                        <p:cTn id="18" dur="2000" fill="hold"/>
                                        <p:tgtEl>
                                          <p:spTgt spid="13"/>
                                        </p:tgtEl>
                                        <p:attrNameLst>
                                          <p:attrName>ppt_x</p:attrName>
                                          <p:attrName>ppt_y</p:attrName>
                                        </p:attrNameLst>
                                      </p:cBhvr>
                                      <p:rCtr x="-5794" y="19606"/>
                                    </p:animMotion>
                                  </p:childTnLst>
                                </p:cTn>
                              </p:par>
                              <p:par>
                                <p:cTn id="19" presetID="0" presetClass="path" presetSubtype="0" accel="50000" decel="50000" fill="hold" grpId="1" nodeType="withEffect">
                                  <p:stCondLst>
                                    <p:cond delay="0"/>
                                  </p:stCondLst>
                                  <p:childTnLst>
                                    <p:animMotion origin="layout" path="M 0.23177 0.07916 L 0.15248 0.28217 " pathEditMode="relative" rAng="0" ptsTypes="AA">
                                      <p:cBhvr>
                                        <p:cTn id="20" dur="2000" fill="hold"/>
                                        <p:tgtEl>
                                          <p:spTgt spid="8"/>
                                        </p:tgtEl>
                                        <p:attrNameLst>
                                          <p:attrName>ppt_x</p:attrName>
                                          <p:attrName>ppt_y</p:attrName>
                                        </p:attrNameLst>
                                      </p:cBhvr>
                                      <p:rCtr x="-3971" y="1013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8" grpId="2"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6B68D7-0B2F-8A8B-BF9E-3A3D0E1B3252}"/>
              </a:ext>
            </a:extLst>
          </p:cNvPr>
          <p:cNvSpPr>
            <a:spLocks noGrp="1"/>
          </p:cNvSpPr>
          <p:nvPr>
            <p:ph type="title"/>
          </p:nvPr>
        </p:nvSpPr>
        <p:spPr/>
        <p:txBody>
          <a:bodyPr/>
          <a:lstStyle/>
          <a:p>
            <a:r>
              <a:rPr kumimoji="1" lang="en-US" altLang="zh-TW" dirty="0"/>
              <a:t>The Process Family Tree</a:t>
            </a:r>
            <a:endParaRPr kumimoji="1" lang="zh-TW" altLang="en-US" dirty="0"/>
          </a:p>
        </p:txBody>
      </p:sp>
      <p:sp>
        <p:nvSpPr>
          <p:cNvPr id="3" name="內容版面配置區 2">
            <a:extLst>
              <a:ext uri="{FF2B5EF4-FFF2-40B4-BE49-F238E27FC236}">
                <a16:creationId xmlns:a16="http://schemas.microsoft.com/office/drawing/2014/main" id="{20D3A4A4-1991-43B2-F660-9F322B125B98}"/>
              </a:ext>
            </a:extLst>
          </p:cNvPr>
          <p:cNvSpPr>
            <a:spLocks noGrp="1"/>
          </p:cNvSpPr>
          <p:nvPr>
            <p:ph idx="1"/>
          </p:nvPr>
        </p:nvSpPr>
        <p:spPr/>
        <p:txBody>
          <a:bodyPr/>
          <a:lstStyle/>
          <a:p>
            <a:r>
              <a:rPr kumimoji="1" lang="en-US" altLang="zh-TW" dirty="0"/>
              <a:t>The first process: All processes are </a:t>
            </a:r>
            <a:r>
              <a:rPr kumimoji="1" lang="en-US" altLang="zh-TW" dirty="0">
                <a:solidFill>
                  <a:srgbClr val="C00000"/>
                </a:solidFill>
              </a:rPr>
              <a:t>descendants of </a:t>
            </a:r>
            <a:r>
              <a:rPr lang="en-US" altLang="zh-TW" dirty="0">
                <a:solidFill>
                  <a:srgbClr val="C00000"/>
                </a:solidFill>
              </a:rPr>
              <a:t>the </a:t>
            </a:r>
            <a:r>
              <a:rPr lang="en-US" altLang="zh-TW" dirty="0" err="1">
                <a:solidFill>
                  <a:srgbClr val="C00000"/>
                </a:solidFill>
                <a:latin typeface="SimSun" panose="02010600030101010101" pitchFamily="2" charset="-122"/>
                <a:ea typeface="SimSun" panose="02010600030101010101" pitchFamily="2" charset="-122"/>
              </a:rPr>
              <a:t>init</a:t>
            </a:r>
            <a:r>
              <a:rPr lang="en-US" altLang="zh-TW" dirty="0">
                <a:solidFill>
                  <a:srgbClr val="C00000"/>
                </a:solidFill>
              </a:rPr>
              <a:t> process </a:t>
            </a:r>
            <a:r>
              <a:rPr lang="en-US" altLang="zh-TW" dirty="0"/>
              <a:t>(PID 1)</a:t>
            </a:r>
          </a:p>
          <a:p>
            <a:r>
              <a:rPr kumimoji="1" lang="en-US" altLang="zh-TW" dirty="0"/>
              <a:t>How to accesses one’s parent or children: Use the </a:t>
            </a:r>
            <a:r>
              <a:rPr kumimoji="1" lang="en-US" altLang="zh-TW" dirty="0">
                <a:latin typeface="+mj-lt"/>
              </a:rPr>
              <a:t>parent </a:t>
            </a:r>
            <a:r>
              <a:rPr kumimoji="1" lang="en-US" altLang="zh-TW" dirty="0">
                <a:latin typeface="+mn-lt"/>
              </a:rPr>
              <a:t>or the</a:t>
            </a:r>
            <a:r>
              <a:rPr kumimoji="1" lang="en-US" altLang="zh-TW" dirty="0">
                <a:latin typeface="+mj-lt"/>
              </a:rPr>
              <a:t> children</a:t>
            </a:r>
            <a:r>
              <a:rPr kumimoji="1" lang="en-US" altLang="zh-TW" dirty="0"/>
              <a:t> pointer provided by the process descriptor (i.e., </a:t>
            </a:r>
            <a:r>
              <a:rPr kumimoji="1" lang="en-US" altLang="zh-TW" dirty="0" err="1">
                <a:latin typeface="+mj-lt"/>
              </a:rPr>
              <a:t>task_struct</a:t>
            </a:r>
            <a:r>
              <a:rPr kumimoji="1" lang="en-US" altLang="zh-TW" dirty="0"/>
              <a:t>), respectively.</a:t>
            </a:r>
          </a:p>
          <a:p>
            <a:r>
              <a:rPr kumimoji="1" lang="en-US" altLang="zh-TW" dirty="0"/>
              <a:t>How to access other processes</a:t>
            </a:r>
            <a:r>
              <a:rPr lang="en-US" altLang="zh-TW" dirty="0"/>
              <a:t>: By traversing through the </a:t>
            </a:r>
            <a:r>
              <a:rPr lang="en-US" altLang="zh-TW" dirty="0" err="1"/>
              <a:t>task_list</a:t>
            </a:r>
            <a:r>
              <a:rPr lang="en-US" altLang="zh-TW" dirty="0"/>
              <a:t>.</a:t>
            </a:r>
          </a:p>
        </p:txBody>
      </p:sp>
      <p:sp>
        <p:nvSpPr>
          <p:cNvPr id="4" name="投影片編號版面配置區 3">
            <a:extLst>
              <a:ext uri="{FF2B5EF4-FFF2-40B4-BE49-F238E27FC236}">
                <a16:creationId xmlns:a16="http://schemas.microsoft.com/office/drawing/2014/main" id="{ED979B4C-175C-4417-CCE5-9325B8176B53}"/>
              </a:ext>
            </a:extLst>
          </p:cNvPr>
          <p:cNvSpPr>
            <a:spLocks noGrp="1"/>
          </p:cNvSpPr>
          <p:nvPr>
            <p:ph type="sldNum" sz="quarter" idx="4"/>
          </p:nvPr>
        </p:nvSpPr>
        <p:spPr/>
        <p:txBody>
          <a:bodyPr/>
          <a:lstStyle/>
          <a:p>
            <a:fld id="{E24E6636-6BA5-4AAC-8485-BE8D914D288B}" type="slidenum">
              <a:rPr lang="zh-TW" altLang="en-US" smtClean="0"/>
              <a:pPr/>
              <a:t>7</a:t>
            </a:fld>
            <a:endParaRPr lang="zh-TW" altLang="en-US" dirty="0"/>
          </a:p>
        </p:txBody>
      </p:sp>
      <p:pic>
        <p:nvPicPr>
          <p:cNvPr id="5" name="圖片 4">
            <a:extLst>
              <a:ext uri="{FF2B5EF4-FFF2-40B4-BE49-F238E27FC236}">
                <a16:creationId xmlns:a16="http://schemas.microsoft.com/office/drawing/2014/main" id="{1D3F0092-EBC9-3FF0-28DD-BED93CDF58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6668" y="3268718"/>
            <a:ext cx="4379743" cy="3589282"/>
          </a:xfrm>
          <a:prstGeom prst="rect">
            <a:avLst/>
          </a:prstGeom>
        </p:spPr>
      </p:pic>
      <p:cxnSp>
        <p:nvCxnSpPr>
          <p:cNvPr id="6" name="直線接點 5">
            <a:extLst>
              <a:ext uri="{FF2B5EF4-FFF2-40B4-BE49-F238E27FC236}">
                <a16:creationId xmlns:a16="http://schemas.microsoft.com/office/drawing/2014/main" id="{4A80A171-43C8-CC6D-14F2-A2CD9DC8B4B9}"/>
              </a:ext>
            </a:extLst>
          </p:cNvPr>
          <p:cNvCxnSpPr>
            <a:cxnSpLocks/>
          </p:cNvCxnSpPr>
          <p:nvPr/>
        </p:nvCxnSpPr>
        <p:spPr>
          <a:xfrm>
            <a:off x="5248564" y="5559136"/>
            <a:ext cx="9779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圓角矩形 7">
            <a:extLst>
              <a:ext uri="{FF2B5EF4-FFF2-40B4-BE49-F238E27FC236}">
                <a16:creationId xmlns:a16="http://schemas.microsoft.com/office/drawing/2014/main" id="{D2230224-6147-65F9-E9EB-5A5A8E1478F8}"/>
              </a:ext>
            </a:extLst>
          </p:cNvPr>
          <p:cNvSpPr/>
          <p:nvPr/>
        </p:nvSpPr>
        <p:spPr>
          <a:xfrm rot="19253077">
            <a:off x="6207814" y="5225525"/>
            <a:ext cx="1417291" cy="617781"/>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209660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B4B5F-77D0-12AC-93F5-73ADAC79B67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5876894-4880-DC6F-2743-4F88D9246338}"/>
              </a:ext>
            </a:extLst>
          </p:cNvPr>
          <p:cNvSpPr>
            <a:spLocks noGrp="1"/>
          </p:cNvSpPr>
          <p:nvPr>
            <p:ph type="title"/>
          </p:nvPr>
        </p:nvSpPr>
        <p:spPr/>
        <p:txBody>
          <a:bodyPr/>
          <a:lstStyle/>
          <a:p>
            <a:r>
              <a:rPr kumimoji="1" lang="en-US" altLang="zh-TW" dirty="0"/>
              <a:t>Process Creation</a:t>
            </a:r>
            <a:endParaRPr kumimoji="1" lang="zh-TW" altLang="en-US" dirty="0"/>
          </a:p>
        </p:txBody>
      </p:sp>
      <p:sp>
        <p:nvSpPr>
          <p:cNvPr id="3" name="內容版面配置區 2">
            <a:extLst>
              <a:ext uri="{FF2B5EF4-FFF2-40B4-BE49-F238E27FC236}">
                <a16:creationId xmlns:a16="http://schemas.microsoft.com/office/drawing/2014/main" id="{82A51B2B-1048-8B4D-C6B8-3794049BFD3B}"/>
              </a:ext>
            </a:extLst>
          </p:cNvPr>
          <p:cNvSpPr>
            <a:spLocks noGrp="1"/>
          </p:cNvSpPr>
          <p:nvPr>
            <p:ph idx="1"/>
          </p:nvPr>
        </p:nvSpPr>
        <p:spPr/>
        <p:txBody>
          <a:bodyPr>
            <a:normAutofit/>
          </a:bodyPr>
          <a:lstStyle/>
          <a:p>
            <a:pPr algn="l"/>
            <a:r>
              <a:rPr kumimoji="1" lang="en-US" altLang="zh-TW" dirty="0"/>
              <a:t>Process</a:t>
            </a:r>
            <a:r>
              <a:rPr kumimoji="1" lang="zh-TW" altLang="en-US" dirty="0"/>
              <a:t> </a:t>
            </a:r>
            <a:r>
              <a:rPr kumimoji="1" lang="en-US" altLang="zh-TW" dirty="0"/>
              <a:t>Creation = fork() + exec()</a:t>
            </a:r>
          </a:p>
          <a:p>
            <a:pPr lvl="1" algn="l"/>
            <a:r>
              <a:rPr lang="en-US" altLang="zh-TW" dirty="0"/>
              <a:t>fork():</a:t>
            </a:r>
            <a:r>
              <a:rPr lang="zh-TW" altLang="en-US" dirty="0"/>
              <a:t> </a:t>
            </a:r>
            <a:r>
              <a:rPr lang="en-US" altLang="zh-TW" dirty="0"/>
              <a:t>Create</a:t>
            </a:r>
            <a:r>
              <a:rPr lang="zh-TW" altLang="en-US" dirty="0"/>
              <a:t> </a:t>
            </a:r>
            <a:r>
              <a:rPr lang="en-US" altLang="zh-TW" dirty="0"/>
              <a:t>a</a:t>
            </a:r>
            <a:r>
              <a:rPr lang="zh-TW" altLang="en-US" dirty="0"/>
              <a:t> </a:t>
            </a:r>
            <a:r>
              <a:rPr lang="en-US" altLang="zh-TW" dirty="0"/>
              <a:t>child</a:t>
            </a:r>
            <a:r>
              <a:rPr lang="zh-TW" altLang="en-US" dirty="0"/>
              <a:t> </a:t>
            </a:r>
            <a:r>
              <a:rPr lang="en-US" altLang="zh-TW" dirty="0"/>
              <a:t>by</a:t>
            </a:r>
            <a:r>
              <a:rPr lang="zh-TW" altLang="en-US" dirty="0"/>
              <a:t> </a:t>
            </a:r>
            <a:r>
              <a:rPr lang="en-US" altLang="zh-TW" dirty="0">
                <a:solidFill>
                  <a:srgbClr val="C00000"/>
                </a:solidFill>
              </a:rPr>
              <a:t>copying</a:t>
            </a:r>
            <a:r>
              <a:rPr lang="zh-TW" altLang="en-US" dirty="0"/>
              <a:t> </a:t>
            </a:r>
            <a:r>
              <a:rPr lang="en-US" altLang="zh-TW" dirty="0"/>
              <a:t>its</a:t>
            </a:r>
            <a:r>
              <a:rPr lang="zh-TW" altLang="en-US" dirty="0"/>
              <a:t> </a:t>
            </a:r>
            <a:r>
              <a:rPr lang="en-US" altLang="zh-TW" dirty="0"/>
              <a:t>parent. (Reason: efficient and simple!)</a:t>
            </a:r>
            <a:r>
              <a:rPr lang="zh-TW" altLang="en-US" dirty="0"/>
              <a:t> </a:t>
            </a:r>
            <a:br>
              <a:rPr lang="en-US" altLang="zh-TW" dirty="0"/>
            </a:br>
            <a:r>
              <a:rPr lang="en-US" altLang="zh-TW" i="1" dirty="0">
                <a:solidFill>
                  <a:schemeClr val="tx1">
                    <a:lumMod val="50000"/>
                    <a:lumOff val="50000"/>
                  </a:schemeClr>
                </a:solidFill>
              </a:rPr>
              <a:t>(Notice:</a:t>
            </a:r>
            <a:r>
              <a:rPr lang="zh-TW" altLang="en-US" i="1" dirty="0">
                <a:solidFill>
                  <a:schemeClr val="tx1">
                    <a:lumMod val="50000"/>
                    <a:lumOff val="50000"/>
                  </a:schemeClr>
                </a:solidFill>
              </a:rPr>
              <a:t> </a:t>
            </a:r>
            <a:r>
              <a:rPr lang="en-US" altLang="zh-TW" i="1" dirty="0">
                <a:solidFill>
                  <a:schemeClr val="tx1">
                    <a:lumMod val="50000"/>
                    <a:lumOff val="50000"/>
                  </a:schemeClr>
                </a:solidFill>
              </a:rPr>
              <a:t>PID,</a:t>
            </a:r>
            <a:r>
              <a:rPr lang="zh-TW" altLang="en-US" i="1" dirty="0">
                <a:solidFill>
                  <a:schemeClr val="tx1">
                    <a:lumMod val="50000"/>
                    <a:lumOff val="50000"/>
                  </a:schemeClr>
                </a:solidFill>
              </a:rPr>
              <a:t> </a:t>
            </a:r>
            <a:r>
              <a:rPr lang="en-US" altLang="zh-TW" i="1" dirty="0">
                <a:solidFill>
                  <a:schemeClr val="tx1">
                    <a:lumMod val="50000"/>
                    <a:lumOff val="50000"/>
                  </a:schemeClr>
                </a:solidFill>
              </a:rPr>
              <a:t>Page</a:t>
            </a:r>
            <a:r>
              <a:rPr lang="zh-TW" altLang="en-US" i="1" dirty="0">
                <a:solidFill>
                  <a:schemeClr val="tx1">
                    <a:lumMod val="50000"/>
                    <a:lumOff val="50000"/>
                  </a:schemeClr>
                </a:solidFill>
              </a:rPr>
              <a:t> </a:t>
            </a:r>
            <a:r>
              <a:rPr lang="en-US" altLang="zh-TW" i="1" dirty="0">
                <a:solidFill>
                  <a:schemeClr val="tx1">
                    <a:lumMod val="50000"/>
                    <a:lumOff val="50000"/>
                  </a:schemeClr>
                </a:solidFill>
              </a:rPr>
              <a:t>Table, Page Frames</a:t>
            </a:r>
            <a:r>
              <a:rPr lang="zh-TW" altLang="en-US" i="1" dirty="0">
                <a:solidFill>
                  <a:schemeClr val="tx1">
                    <a:lumMod val="50000"/>
                    <a:lumOff val="50000"/>
                  </a:schemeClr>
                </a:solidFill>
              </a:rPr>
              <a:t> </a:t>
            </a:r>
            <a:r>
              <a:rPr lang="en-US" altLang="zh-TW" i="1" dirty="0">
                <a:solidFill>
                  <a:schemeClr val="tx1">
                    <a:lumMod val="50000"/>
                    <a:lumOff val="50000"/>
                  </a:schemeClr>
                </a:solidFill>
              </a:rPr>
              <a:t>and</a:t>
            </a:r>
            <a:r>
              <a:rPr lang="zh-TW" altLang="en-US" i="1" dirty="0">
                <a:solidFill>
                  <a:schemeClr val="tx1">
                    <a:lumMod val="50000"/>
                    <a:lumOff val="50000"/>
                  </a:schemeClr>
                </a:solidFill>
              </a:rPr>
              <a:t> </a:t>
            </a:r>
            <a:r>
              <a:rPr lang="en-US" altLang="zh-TW" i="1" dirty="0">
                <a:solidFill>
                  <a:schemeClr val="tx1">
                    <a:lumMod val="50000"/>
                    <a:lumOff val="50000"/>
                  </a:schemeClr>
                </a:solidFill>
              </a:rPr>
              <a:t>some</a:t>
            </a:r>
            <a:r>
              <a:rPr lang="zh-TW" altLang="en-US" i="1" dirty="0">
                <a:solidFill>
                  <a:schemeClr val="tx1">
                    <a:lumMod val="50000"/>
                    <a:lumOff val="50000"/>
                  </a:schemeClr>
                </a:solidFill>
              </a:rPr>
              <a:t> </a:t>
            </a:r>
            <a:r>
              <a:rPr lang="en-US" altLang="zh-TW" i="1" dirty="0">
                <a:solidFill>
                  <a:schemeClr val="tx1">
                    <a:lumMod val="50000"/>
                    <a:lumOff val="50000"/>
                  </a:schemeClr>
                </a:solidFill>
              </a:rPr>
              <a:t>signals</a:t>
            </a:r>
            <a:r>
              <a:rPr lang="zh-TW" altLang="en-US" i="1" dirty="0">
                <a:solidFill>
                  <a:schemeClr val="tx1">
                    <a:lumMod val="50000"/>
                    <a:lumOff val="50000"/>
                  </a:schemeClr>
                </a:solidFill>
              </a:rPr>
              <a:t> </a:t>
            </a:r>
            <a:r>
              <a:rPr lang="en-US" altLang="zh-TW" i="1" dirty="0">
                <a:solidFill>
                  <a:schemeClr val="tx1">
                    <a:lumMod val="50000"/>
                    <a:lumOff val="50000"/>
                  </a:schemeClr>
                </a:solidFill>
              </a:rPr>
              <a:t>are</a:t>
            </a:r>
            <a:r>
              <a:rPr lang="zh-TW" altLang="en-US" i="1" dirty="0">
                <a:solidFill>
                  <a:schemeClr val="tx1">
                    <a:lumMod val="50000"/>
                    <a:lumOff val="50000"/>
                  </a:schemeClr>
                </a:solidFill>
              </a:rPr>
              <a:t> </a:t>
            </a:r>
            <a:r>
              <a:rPr lang="en-US" altLang="zh-TW" i="1" dirty="0">
                <a:solidFill>
                  <a:schemeClr val="tx1">
                    <a:lumMod val="50000"/>
                    <a:lumOff val="50000"/>
                  </a:schemeClr>
                </a:solidFill>
              </a:rPr>
              <a:t>different)</a:t>
            </a:r>
          </a:p>
          <a:p>
            <a:pPr lvl="1" algn="l"/>
            <a:r>
              <a:rPr lang="en-US" altLang="zh-TW" dirty="0"/>
              <a:t>e</a:t>
            </a:r>
            <a:r>
              <a:rPr kumimoji="1" lang="en-US" altLang="zh-TW" dirty="0"/>
              <a:t>xec():</a:t>
            </a:r>
            <a:r>
              <a:rPr kumimoji="1" lang="zh-TW" altLang="en-US" dirty="0"/>
              <a:t> </a:t>
            </a:r>
            <a:r>
              <a:rPr kumimoji="1" lang="en-US" altLang="zh-TW" dirty="0"/>
              <a:t>Loads</a:t>
            </a:r>
            <a:r>
              <a:rPr kumimoji="1" lang="zh-TW" altLang="en-US" dirty="0"/>
              <a:t> </a:t>
            </a:r>
            <a:r>
              <a:rPr kumimoji="1" lang="en-US" altLang="zh-TW" dirty="0"/>
              <a:t>a</a:t>
            </a:r>
            <a:r>
              <a:rPr kumimoji="1" lang="zh-TW" altLang="en-US" dirty="0"/>
              <a:t> </a:t>
            </a:r>
            <a:r>
              <a:rPr kumimoji="1" lang="en-US" altLang="zh-TW" dirty="0"/>
              <a:t>new</a:t>
            </a:r>
            <a:r>
              <a:rPr kumimoji="1" lang="zh-TW" altLang="en-US" dirty="0"/>
              <a:t> </a:t>
            </a:r>
            <a:r>
              <a:rPr kumimoji="1" lang="en-US" altLang="zh-TW" dirty="0"/>
              <a:t>executable</a:t>
            </a:r>
            <a:r>
              <a:rPr kumimoji="1" lang="zh-TW" altLang="en-US" dirty="0"/>
              <a:t> </a:t>
            </a:r>
            <a:r>
              <a:rPr lang="en-US" altLang="zh-TW" dirty="0"/>
              <a:t>into</a:t>
            </a:r>
            <a:r>
              <a:rPr lang="zh-TW" altLang="en-US" dirty="0"/>
              <a:t> </a:t>
            </a:r>
            <a:r>
              <a:rPr lang="en-US" altLang="zh-TW" dirty="0"/>
              <a:t>the</a:t>
            </a:r>
            <a:r>
              <a:rPr lang="zh-TW" altLang="en-US" dirty="0"/>
              <a:t> </a:t>
            </a:r>
            <a:r>
              <a:rPr lang="en-US" altLang="zh-TW" dirty="0"/>
              <a:t>address</a:t>
            </a:r>
            <a:r>
              <a:rPr lang="zh-TW" altLang="en-US" dirty="0"/>
              <a:t> </a:t>
            </a:r>
            <a:r>
              <a:rPr lang="en-US" altLang="zh-TW" dirty="0"/>
              <a:t>space (i.e., memory)</a:t>
            </a:r>
            <a:r>
              <a:rPr lang="zh-TW" altLang="en-US" dirty="0"/>
              <a:t> </a:t>
            </a:r>
            <a:r>
              <a:rPr lang="en-US" altLang="zh-TW" dirty="0"/>
              <a:t>and</a:t>
            </a:r>
            <a:r>
              <a:rPr lang="zh-TW" altLang="en-US" dirty="0"/>
              <a:t> </a:t>
            </a:r>
            <a:r>
              <a:rPr lang="en-US" altLang="zh-TW" dirty="0"/>
              <a:t>runs</a:t>
            </a:r>
            <a:r>
              <a:rPr lang="zh-TW" altLang="en-US" dirty="0"/>
              <a:t> </a:t>
            </a:r>
            <a:r>
              <a:rPr lang="en-US" altLang="zh-TW" dirty="0"/>
              <a:t>it.</a:t>
            </a:r>
            <a:endParaRPr kumimoji="1" lang="en-US" altLang="zh-TW" dirty="0"/>
          </a:p>
          <a:p>
            <a:pPr algn="l"/>
            <a:r>
              <a:rPr lang="en-US" altLang="zh-TW" dirty="0"/>
              <a:t>Copy-on-Write</a:t>
            </a:r>
            <a:r>
              <a:rPr lang="zh-TW" altLang="en-US" dirty="0"/>
              <a:t> </a:t>
            </a:r>
            <a:r>
              <a:rPr lang="en-US" altLang="zh-TW" dirty="0"/>
              <a:t>(</a:t>
            </a:r>
            <a:r>
              <a:rPr lang="en-US" altLang="zh-TW" dirty="0" err="1"/>
              <a:t>CoW</a:t>
            </a:r>
            <a:r>
              <a:rPr lang="en-US" altLang="zh-TW" dirty="0"/>
              <a:t>)</a:t>
            </a:r>
          </a:p>
          <a:p>
            <a:pPr lvl="1" algn="l"/>
            <a:r>
              <a:rPr lang="en-US" altLang="zh-TW" dirty="0"/>
              <a:t>Challenge:</a:t>
            </a:r>
            <a:r>
              <a:rPr lang="zh-TW" altLang="en-US" dirty="0"/>
              <a:t> </a:t>
            </a:r>
            <a:r>
              <a:rPr lang="en-US" altLang="zh-TW" dirty="0"/>
              <a:t>Naively</a:t>
            </a:r>
            <a:r>
              <a:rPr lang="zh-TW" altLang="en-US" dirty="0"/>
              <a:t> </a:t>
            </a:r>
            <a:r>
              <a:rPr lang="en-US" altLang="zh-TW" dirty="0">
                <a:solidFill>
                  <a:srgbClr val="C00000"/>
                </a:solidFill>
              </a:rPr>
              <a:t>copying</a:t>
            </a:r>
            <a:r>
              <a:rPr lang="zh-TW" altLang="en-US" dirty="0"/>
              <a:t> </a:t>
            </a:r>
            <a:r>
              <a:rPr lang="en-US" altLang="zh-TW" dirty="0"/>
              <a:t>all</a:t>
            </a:r>
            <a:r>
              <a:rPr lang="zh-TW" altLang="en-US" dirty="0"/>
              <a:t> </a:t>
            </a:r>
            <a:r>
              <a:rPr lang="en-US" altLang="zh-TW" dirty="0"/>
              <a:t>resources</a:t>
            </a:r>
            <a:r>
              <a:rPr lang="zh-TW" altLang="en-US" dirty="0"/>
              <a:t> </a:t>
            </a:r>
            <a:r>
              <a:rPr lang="en-US" altLang="zh-TW" dirty="0"/>
              <a:t>from</a:t>
            </a:r>
            <a:r>
              <a:rPr lang="zh-TW" altLang="en-US" dirty="0"/>
              <a:t> </a:t>
            </a:r>
            <a:r>
              <a:rPr lang="en-US" altLang="zh-TW" dirty="0"/>
              <a:t>a</a:t>
            </a:r>
            <a:r>
              <a:rPr lang="zh-TW" altLang="en-US" dirty="0"/>
              <a:t> </a:t>
            </a:r>
            <a:r>
              <a:rPr lang="en-US" altLang="zh-TW" dirty="0"/>
              <a:t>parent</a:t>
            </a:r>
            <a:r>
              <a:rPr lang="zh-TW" altLang="en-US" dirty="0"/>
              <a:t> </a:t>
            </a:r>
            <a:r>
              <a:rPr lang="en-US" altLang="zh-TW" dirty="0"/>
              <a:t>process</a:t>
            </a:r>
            <a:r>
              <a:rPr lang="zh-TW" altLang="en-US" dirty="0"/>
              <a:t> </a:t>
            </a:r>
            <a:r>
              <a:rPr lang="en-US" altLang="zh-TW" dirty="0"/>
              <a:t>is</a:t>
            </a:r>
            <a:r>
              <a:rPr lang="zh-TW" altLang="en-US" dirty="0"/>
              <a:t> </a:t>
            </a:r>
            <a:r>
              <a:rPr lang="en-US" altLang="zh-TW" dirty="0">
                <a:solidFill>
                  <a:srgbClr val="C00000"/>
                </a:solidFill>
              </a:rPr>
              <a:t>time</a:t>
            </a:r>
            <a:r>
              <a:rPr lang="zh-TW" altLang="en-US" dirty="0">
                <a:solidFill>
                  <a:srgbClr val="C00000"/>
                </a:solidFill>
              </a:rPr>
              <a:t> </a:t>
            </a:r>
            <a:r>
              <a:rPr lang="en-US" altLang="zh-TW" dirty="0">
                <a:solidFill>
                  <a:srgbClr val="C00000"/>
                </a:solidFill>
              </a:rPr>
              <a:t>consuming</a:t>
            </a:r>
            <a:r>
              <a:rPr lang="en-US" altLang="zh-TW" dirty="0"/>
              <a:t>.</a:t>
            </a:r>
          </a:p>
          <a:p>
            <a:pPr lvl="1" algn="l"/>
            <a:r>
              <a:rPr lang="en-US" altLang="zh-TW" dirty="0"/>
              <a:t>How</a:t>
            </a:r>
            <a:r>
              <a:rPr lang="zh-TW" altLang="en-US" dirty="0"/>
              <a:t> </a:t>
            </a:r>
            <a:r>
              <a:rPr lang="en-US" altLang="zh-TW" dirty="0" err="1"/>
              <a:t>CoW</a:t>
            </a:r>
            <a:r>
              <a:rPr lang="zh-TW" altLang="en-US" dirty="0"/>
              <a:t> </a:t>
            </a:r>
            <a:r>
              <a:rPr lang="en-US" altLang="zh-TW" dirty="0"/>
              <a:t>works:</a:t>
            </a:r>
            <a:r>
              <a:rPr lang="zh-TW" altLang="en-US" dirty="0"/>
              <a:t> </a:t>
            </a:r>
            <a:r>
              <a:rPr lang="en-US" altLang="zh-TW" dirty="0">
                <a:solidFill>
                  <a:srgbClr val="C00000"/>
                </a:solidFill>
              </a:rPr>
              <a:t>Delay</a:t>
            </a:r>
            <a:r>
              <a:rPr lang="zh-TW" altLang="en-US" dirty="0"/>
              <a:t> </a:t>
            </a:r>
            <a:r>
              <a:rPr lang="en-US" altLang="zh-TW" dirty="0"/>
              <a:t>and</a:t>
            </a:r>
            <a:r>
              <a:rPr lang="zh-TW" altLang="en-US" dirty="0"/>
              <a:t> </a:t>
            </a:r>
            <a:r>
              <a:rPr lang="en-US" altLang="zh-TW" dirty="0"/>
              <a:t>prevent</a:t>
            </a:r>
            <a:r>
              <a:rPr lang="zh-TW" altLang="en-US" dirty="0"/>
              <a:t> </a:t>
            </a:r>
            <a:r>
              <a:rPr lang="en-US" altLang="zh-TW" dirty="0"/>
              <a:t>copying</a:t>
            </a:r>
            <a:r>
              <a:rPr lang="zh-TW" altLang="en-US" dirty="0"/>
              <a:t> </a:t>
            </a:r>
            <a:r>
              <a:rPr lang="en-US" altLang="zh-TW" dirty="0"/>
              <a:t>data</a:t>
            </a:r>
            <a:r>
              <a:rPr lang="zh-TW" altLang="en-US" dirty="0"/>
              <a:t> </a:t>
            </a:r>
            <a:r>
              <a:rPr lang="en-US" altLang="zh-TW" dirty="0">
                <a:solidFill>
                  <a:srgbClr val="C00000"/>
                </a:solidFill>
              </a:rPr>
              <a:t>until</a:t>
            </a:r>
            <a:r>
              <a:rPr lang="zh-TW" altLang="en-US" dirty="0">
                <a:solidFill>
                  <a:srgbClr val="C00000"/>
                </a:solidFill>
              </a:rPr>
              <a:t> </a:t>
            </a:r>
            <a:r>
              <a:rPr lang="en-US" altLang="zh-TW" dirty="0">
                <a:solidFill>
                  <a:srgbClr val="C00000"/>
                </a:solidFill>
              </a:rPr>
              <a:t>the</a:t>
            </a:r>
            <a:r>
              <a:rPr lang="zh-TW" altLang="en-US" dirty="0">
                <a:solidFill>
                  <a:srgbClr val="C00000"/>
                </a:solidFill>
              </a:rPr>
              <a:t> </a:t>
            </a:r>
            <a:r>
              <a:rPr lang="en-US" altLang="zh-TW" dirty="0">
                <a:solidFill>
                  <a:srgbClr val="C00000"/>
                </a:solidFill>
              </a:rPr>
              <a:t>data</a:t>
            </a:r>
            <a:r>
              <a:rPr lang="zh-TW" altLang="en-US" dirty="0">
                <a:solidFill>
                  <a:srgbClr val="C00000"/>
                </a:solidFill>
              </a:rPr>
              <a:t> </a:t>
            </a:r>
            <a:r>
              <a:rPr lang="en-US" altLang="zh-TW" dirty="0">
                <a:solidFill>
                  <a:srgbClr val="C00000"/>
                </a:solidFill>
              </a:rPr>
              <a:t>is</a:t>
            </a:r>
            <a:r>
              <a:rPr lang="zh-TW" altLang="en-US" dirty="0">
                <a:solidFill>
                  <a:srgbClr val="C00000"/>
                </a:solidFill>
              </a:rPr>
              <a:t> </a:t>
            </a:r>
            <a:r>
              <a:rPr lang="en-US" altLang="zh-TW" dirty="0">
                <a:solidFill>
                  <a:srgbClr val="C00000"/>
                </a:solidFill>
              </a:rPr>
              <a:t>written</a:t>
            </a:r>
            <a:r>
              <a:rPr lang="en-US" altLang="zh-TW" dirty="0"/>
              <a:t>.</a:t>
            </a:r>
            <a:r>
              <a:rPr lang="zh-TW" altLang="en-US" dirty="0"/>
              <a:t> </a:t>
            </a:r>
            <a:r>
              <a:rPr lang="en-US" altLang="zh-TW" dirty="0"/>
              <a:t>(i.e.,</a:t>
            </a:r>
            <a:r>
              <a:rPr lang="zh-TW" altLang="en-US" dirty="0"/>
              <a:t> </a:t>
            </a:r>
            <a:r>
              <a:rPr lang="en-US" altLang="zh-TW" dirty="0"/>
              <a:t>resources</a:t>
            </a:r>
            <a:r>
              <a:rPr lang="zh-TW" altLang="en-US" dirty="0"/>
              <a:t> </a:t>
            </a:r>
            <a:r>
              <a:rPr lang="en-US" altLang="zh-TW" dirty="0"/>
              <a:t>are</a:t>
            </a:r>
            <a:r>
              <a:rPr lang="zh-TW" altLang="en-US" dirty="0"/>
              <a:t> </a:t>
            </a:r>
            <a:r>
              <a:rPr lang="en-US" altLang="zh-TW" dirty="0"/>
              <a:t>shared</a:t>
            </a:r>
            <a:r>
              <a:rPr lang="zh-TW" altLang="en-US" dirty="0"/>
              <a:t> </a:t>
            </a:r>
            <a:r>
              <a:rPr lang="en-US" altLang="zh-TW" dirty="0"/>
              <a:t>read-only)</a:t>
            </a:r>
          </a:p>
        </p:txBody>
      </p:sp>
      <p:sp>
        <p:nvSpPr>
          <p:cNvPr id="4" name="投影片編號版面配置區 3">
            <a:extLst>
              <a:ext uri="{FF2B5EF4-FFF2-40B4-BE49-F238E27FC236}">
                <a16:creationId xmlns:a16="http://schemas.microsoft.com/office/drawing/2014/main" id="{ADB25D7E-FAD2-8A74-8726-D0CEC1DC8CB3}"/>
              </a:ext>
            </a:extLst>
          </p:cNvPr>
          <p:cNvSpPr>
            <a:spLocks noGrp="1"/>
          </p:cNvSpPr>
          <p:nvPr>
            <p:ph type="sldNum" sz="quarter" idx="4"/>
          </p:nvPr>
        </p:nvSpPr>
        <p:spPr/>
        <p:txBody>
          <a:bodyPr/>
          <a:lstStyle/>
          <a:p>
            <a:fld id="{E24E6636-6BA5-4AAC-8485-BE8D914D288B}" type="slidenum">
              <a:rPr lang="zh-TW" altLang="en-US" smtClean="0"/>
              <a:pPr/>
              <a:t>8</a:t>
            </a:fld>
            <a:endParaRPr lang="zh-TW" altLang="en-US" dirty="0"/>
          </a:p>
        </p:txBody>
      </p:sp>
      <p:grpSp>
        <p:nvGrpSpPr>
          <p:cNvPr id="59" name="群組 58">
            <a:extLst>
              <a:ext uri="{FF2B5EF4-FFF2-40B4-BE49-F238E27FC236}">
                <a16:creationId xmlns:a16="http://schemas.microsoft.com/office/drawing/2014/main" id="{46C9D57A-9DD0-B2D0-2B27-D156E168B26F}"/>
              </a:ext>
            </a:extLst>
          </p:cNvPr>
          <p:cNvGrpSpPr/>
          <p:nvPr/>
        </p:nvGrpSpPr>
        <p:grpSpPr>
          <a:xfrm>
            <a:off x="1353700" y="5095364"/>
            <a:ext cx="9484599" cy="1762636"/>
            <a:chOff x="584893" y="5119533"/>
            <a:chExt cx="9484599" cy="1762636"/>
          </a:xfrm>
        </p:grpSpPr>
        <p:sp>
          <p:nvSpPr>
            <p:cNvPr id="5" name="矩形 4">
              <a:extLst>
                <a:ext uri="{FF2B5EF4-FFF2-40B4-BE49-F238E27FC236}">
                  <a16:creationId xmlns:a16="http://schemas.microsoft.com/office/drawing/2014/main" id="{29409691-A1FF-5A35-1854-C940D03F985E}"/>
                </a:ext>
              </a:extLst>
            </p:cNvPr>
            <p:cNvSpPr/>
            <p:nvPr/>
          </p:nvSpPr>
          <p:spPr>
            <a:xfrm>
              <a:off x="691662" y="5122123"/>
              <a:ext cx="9377830" cy="1037553"/>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矩形 7">
              <a:extLst>
                <a:ext uri="{FF2B5EF4-FFF2-40B4-BE49-F238E27FC236}">
                  <a16:creationId xmlns:a16="http://schemas.microsoft.com/office/drawing/2014/main" id="{C65FE1EB-B206-591D-9376-7C4C74E7B129}"/>
                </a:ext>
              </a:extLst>
            </p:cNvPr>
            <p:cNvSpPr/>
            <p:nvPr/>
          </p:nvSpPr>
          <p:spPr>
            <a:xfrm>
              <a:off x="1312985" y="5119533"/>
              <a:ext cx="835629" cy="1040144"/>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400" dirty="0">
                <a:solidFill>
                  <a:schemeClr val="tx1"/>
                </a:solidFill>
              </a:endParaRPr>
            </a:p>
          </p:txBody>
        </p:sp>
        <p:sp>
          <p:nvSpPr>
            <p:cNvPr id="13" name="文字方塊 12">
              <a:extLst>
                <a:ext uri="{FF2B5EF4-FFF2-40B4-BE49-F238E27FC236}">
                  <a16:creationId xmlns:a16="http://schemas.microsoft.com/office/drawing/2014/main" id="{C3498458-99DA-A043-872A-BC12DF20D138}"/>
                </a:ext>
              </a:extLst>
            </p:cNvPr>
            <p:cNvSpPr txBox="1"/>
            <p:nvPr/>
          </p:nvSpPr>
          <p:spPr>
            <a:xfrm>
              <a:off x="4370902" y="6543615"/>
              <a:ext cx="2658164" cy="338554"/>
            </a:xfrm>
            <a:prstGeom prst="rect">
              <a:avLst/>
            </a:prstGeom>
            <a:noFill/>
          </p:spPr>
          <p:txBody>
            <a:bodyPr wrap="none" rtlCol="0">
              <a:spAutoFit/>
            </a:bodyPr>
            <a:lstStyle/>
            <a:p>
              <a:r>
                <a:rPr kumimoji="1" lang="en-US" altLang="zh-TW" sz="1600" dirty="0"/>
                <a:t>Physical</a:t>
              </a:r>
              <a:r>
                <a:rPr kumimoji="1" lang="zh-TW" altLang="en-US" sz="1600" dirty="0"/>
                <a:t> </a:t>
              </a:r>
              <a:r>
                <a:rPr kumimoji="1" lang="en-US" altLang="zh-TW" sz="1600" dirty="0"/>
                <a:t>Address</a:t>
              </a:r>
              <a:r>
                <a:rPr kumimoji="1" lang="zh-TW" altLang="en-US" sz="1600" dirty="0"/>
                <a:t> </a:t>
              </a:r>
              <a:r>
                <a:rPr kumimoji="1" lang="en-US" altLang="zh-TW" sz="1600" dirty="0"/>
                <a:t>(e.g.,</a:t>
              </a:r>
              <a:r>
                <a:rPr kumimoji="1" lang="zh-TW" altLang="en-US" sz="1600" dirty="0"/>
                <a:t> </a:t>
              </a:r>
              <a:r>
                <a:rPr kumimoji="1" lang="en-US" altLang="zh-TW" sz="1600" dirty="0"/>
                <a:t>DRAM)</a:t>
              </a:r>
              <a:endParaRPr kumimoji="1" lang="zh-TW" altLang="en-US" sz="1600" dirty="0"/>
            </a:p>
          </p:txBody>
        </p:sp>
        <p:sp>
          <p:nvSpPr>
            <p:cNvPr id="16" name="矩形 15">
              <a:extLst>
                <a:ext uri="{FF2B5EF4-FFF2-40B4-BE49-F238E27FC236}">
                  <a16:creationId xmlns:a16="http://schemas.microsoft.com/office/drawing/2014/main" id="{1AD34BA9-69BE-A5AE-6DB2-DCE2E6B1CDF5}"/>
                </a:ext>
              </a:extLst>
            </p:cNvPr>
            <p:cNvSpPr/>
            <p:nvPr/>
          </p:nvSpPr>
          <p:spPr>
            <a:xfrm>
              <a:off x="7335721" y="5127917"/>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br>
                <a:rPr kumimoji="1" lang="en-US" altLang="zh-TW" sz="1400" dirty="0">
                  <a:solidFill>
                    <a:schemeClr val="tx1"/>
                  </a:solidFill>
                </a:rPr>
              </a:br>
              <a:r>
                <a:rPr kumimoji="1" lang="en-US" altLang="zh-TW" sz="1400" dirty="0">
                  <a:solidFill>
                    <a:schemeClr val="tx1"/>
                  </a:solidFill>
                </a:rPr>
                <a:t>(</a:t>
              </a:r>
              <a:r>
                <a:rPr kumimoji="1" lang="en-US" altLang="zh-TW" sz="1400" dirty="0" err="1">
                  <a:solidFill>
                    <a:schemeClr val="tx1"/>
                  </a:solidFill>
                </a:rPr>
                <a:t>e.g</a:t>
              </a:r>
              <a:r>
                <a:rPr kumimoji="1" lang="en-US" altLang="zh-TW" sz="1400" dirty="0">
                  <a:solidFill>
                    <a:schemeClr val="tx1"/>
                  </a:solidFill>
                </a:rPr>
                <a:t>, heap)</a:t>
              </a:r>
              <a:endParaRPr kumimoji="1" lang="zh-TW" altLang="en-US" sz="1400" dirty="0">
                <a:solidFill>
                  <a:schemeClr val="tx1"/>
                </a:solidFill>
              </a:endParaRPr>
            </a:p>
          </p:txBody>
        </p:sp>
        <p:sp>
          <p:nvSpPr>
            <p:cNvPr id="17" name="矩形 16">
              <a:extLst>
                <a:ext uri="{FF2B5EF4-FFF2-40B4-BE49-F238E27FC236}">
                  <a16:creationId xmlns:a16="http://schemas.microsoft.com/office/drawing/2014/main" id="{7AFBE5F3-A9CA-6FD1-56CF-471D3341EBA3}"/>
                </a:ext>
              </a:extLst>
            </p:cNvPr>
            <p:cNvSpPr/>
            <p:nvPr/>
          </p:nvSpPr>
          <p:spPr>
            <a:xfrm>
              <a:off x="8648624" y="5127917"/>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p>
            <a:p>
              <a:pPr algn="ctr"/>
              <a:r>
                <a:rPr kumimoji="1" lang="en-US" altLang="zh-TW" sz="1400" dirty="0">
                  <a:solidFill>
                    <a:schemeClr val="tx1"/>
                  </a:solidFill>
                </a:rPr>
                <a:t>(e.g., heap)</a:t>
              </a:r>
              <a:endParaRPr kumimoji="1" lang="zh-TW" altLang="en-US" sz="1400" dirty="0">
                <a:solidFill>
                  <a:schemeClr val="tx1"/>
                </a:solidFill>
              </a:endParaRPr>
            </a:p>
          </p:txBody>
        </p:sp>
        <p:sp>
          <p:nvSpPr>
            <p:cNvPr id="19" name="文字方塊 18">
              <a:extLst>
                <a:ext uri="{FF2B5EF4-FFF2-40B4-BE49-F238E27FC236}">
                  <a16:creationId xmlns:a16="http://schemas.microsoft.com/office/drawing/2014/main" id="{3CA130A6-E74C-BBC9-B15E-56CEC839A08F}"/>
                </a:ext>
              </a:extLst>
            </p:cNvPr>
            <p:cNvSpPr txBox="1"/>
            <p:nvPr/>
          </p:nvSpPr>
          <p:spPr>
            <a:xfrm>
              <a:off x="7438172" y="6234352"/>
              <a:ext cx="466794" cy="307777"/>
            </a:xfrm>
            <a:prstGeom prst="rect">
              <a:avLst/>
            </a:prstGeom>
            <a:noFill/>
          </p:spPr>
          <p:txBody>
            <a:bodyPr wrap="none" rtlCol="0">
              <a:spAutoFit/>
            </a:bodyPr>
            <a:lstStyle/>
            <a:p>
              <a:r>
                <a:rPr kumimoji="1" lang="en-US" altLang="zh-TW" sz="1400" dirty="0"/>
                <a:t>4KB</a:t>
              </a:r>
              <a:endParaRPr kumimoji="1" lang="zh-TW" altLang="en-US" sz="1400" dirty="0"/>
            </a:p>
          </p:txBody>
        </p:sp>
        <p:cxnSp>
          <p:nvCxnSpPr>
            <p:cNvPr id="21" name="曲線接點 20">
              <a:extLst>
                <a:ext uri="{FF2B5EF4-FFF2-40B4-BE49-F238E27FC236}">
                  <a16:creationId xmlns:a16="http://schemas.microsoft.com/office/drawing/2014/main" id="{53AC8096-4EE4-F833-857E-0087B24E85DA}"/>
                </a:ext>
              </a:extLst>
            </p:cNvPr>
            <p:cNvCxnSpPr>
              <a:cxnSpLocks/>
            </p:cNvCxnSpPr>
            <p:nvPr/>
          </p:nvCxnSpPr>
          <p:spPr>
            <a:xfrm rot="5400000" flipH="1" flipV="1">
              <a:off x="7564799" y="6124676"/>
              <a:ext cx="246170" cy="5607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A137D582-1076-E715-8336-385E0EE2C25D}"/>
                </a:ext>
              </a:extLst>
            </p:cNvPr>
            <p:cNvSpPr txBox="1"/>
            <p:nvPr/>
          </p:nvSpPr>
          <p:spPr>
            <a:xfrm>
              <a:off x="584893" y="6322101"/>
              <a:ext cx="1825115" cy="523220"/>
            </a:xfrm>
            <a:prstGeom prst="rect">
              <a:avLst/>
            </a:prstGeom>
            <a:noFill/>
          </p:spPr>
          <p:txBody>
            <a:bodyPr wrap="none" rtlCol="0">
              <a:spAutoFit/>
            </a:bodyPr>
            <a:lstStyle/>
            <a:p>
              <a:pPr algn="ctr"/>
              <a:r>
                <a:rPr kumimoji="1" lang="en-US" altLang="zh-TW" sz="1400" dirty="0"/>
                <a:t>Assume only one-level</a:t>
              </a:r>
              <a:br>
                <a:rPr kumimoji="1" lang="en-US" altLang="zh-TW" sz="1400" dirty="0"/>
              </a:br>
              <a:r>
                <a:rPr kumimoji="1" lang="en-US" altLang="zh-TW" sz="1400" dirty="0"/>
                <a:t>(4-level Actually)</a:t>
              </a:r>
              <a:endParaRPr kumimoji="1" lang="zh-TW" altLang="en-US" sz="1400" dirty="0"/>
            </a:p>
          </p:txBody>
        </p:sp>
        <p:cxnSp>
          <p:nvCxnSpPr>
            <p:cNvPr id="25" name="曲線接點 24">
              <a:extLst>
                <a:ext uri="{FF2B5EF4-FFF2-40B4-BE49-F238E27FC236}">
                  <a16:creationId xmlns:a16="http://schemas.microsoft.com/office/drawing/2014/main" id="{B4EEE6CD-D521-60CF-8967-257987C6981E}"/>
                </a:ext>
              </a:extLst>
            </p:cNvPr>
            <p:cNvCxnSpPr>
              <a:cxnSpLocks/>
            </p:cNvCxnSpPr>
            <p:nvPr/>
          </p:nvCxnSpPr>
          <p:spPr>
            <a:xfrm rot="5400000" flipH="1" flipV="1">
              <a:off x="1684634" y="6238818"/>
              <a:ext cx="246170" cy="5607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矩形 44">
            <a:extLst>
              <a:ext uri="{FF2B5EF4-FFF2-40B4-BE49-F238E27FC236}">
                <a16:creationId xmlns:a16="http://schemas.microsoft.com/office/drawing/2014/main" id="{CA9F2870-3554-6B87-E674-A89518A89263}"/>
              </a:ext>
            </a:extLst>
          </p:cNvPr>
          <p:cNvSpPr/>
          <p:nvPr/>
        </p:nvSpPr>
        <p:spPr>
          <a:xfrm>
            <a:off x="4312115" y="5091899"/>
            <a:ext cx="835851" cy="103971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400" dirty="0">
              <a:solidFill>
                <a:schemeClr val="tx1"/>
              </a:solidFill>
            </a:endParaRPr>
          </a:p>
        </p:txBody>
      </p:sp>
      <p:grpSp>
        <p:nvGrpSpPr>
          <p:cNvPr id="81" name="群組 80">
            <a:extLst>
              <a:ext uri="{FF2B5EF4-FFF2-40B4-BE49-F238E27FC236}">
                <a16:creationId xmlns:a16="http://schemas.microsoft.com/office/drawing/2014/main" id="{97FB89D0-84FE-9D11-9A04-D470431A8EC8}"/>
              </a:ext>
            </a:extLst>
          </p:cNvPr>
          <p:cNvGrpSpPr/>
          <p:nvPr/>
        </p:nvGrpSpPr>
        <p:grpSpPr>
          <a:xfrm>
            <a:off x="2985063" y="5617810"/>
            <a:ext cx="2711794" cy="969681"/>
            <a:chOff x="1896785" y="5641979"/>
            <a:chExt cx="2711794" cy="969681"/>
          </a:xfrm>
        </p:grpSpPr>
        <p:cxnSp>
          <p:nvCxnSpPr>
            <p:cNvPr id="50" name="直線箭頭接點 49">
              <a:extLst>
                <a:ext uri="{FF2B5EF4-FFF2-40B4-BE49-F238E27FC236}">
                  <a16:creationId xmlns:a16="http://schemas.microsoft.com/office/drawing/2014/main" id="{1C7086E0-2D9C-DC5A-0765-0E59FD3ADBFC}"/>
                </a:ext>
              </a:extLst>
            </p:cNvPr>
            <p:cNvCxnSpPr>
              <a:cxnSpLocks/>
            </p:cNvCxnSpPr>
            <p:nvPr/>
          </p:nvCxnSpPr>
          <p:spPr>
            <a:xfrm>
              <a:off x="1896785" y="5641979"/>
              <a:ext cx="1284837" cy="0"/>
            </a:xfrm>
            <a:prstGeom prst="straightConnector1">
              <a:avLst/>
            </a:prstGeom>
            <a:ln w="63500">
              <a:gradFill>
                <a:gsLst>
                  <a:gs pos="0">
                    <a:schemeClr val="accent1">
                      <a:lumMod val="5000"/>
                      <a:lumOff val="95000"/>
                    </a:schemeClr>
                  </a:gs>
                  <a:gs pos="53000">
                    <a:srgbClr val="FF0000"/>
                  </a:gs>
                  <a:gs pos="100000">
                    <a:srgbClr val="C00000"/>
                  </a:gs>
                </a:gsLst>
                <a:lin ang="0" scaled="0"/>
              </a:gradFill>
              <a:tailEnd type="triangle"/>
            </a:ln>
          </p:spPr>
          <p:style>
            <a:lnRef idx="1">
              <a:schemeClr val="accent1"/>
            </a:lnRef>
            <a:fillRef idx="0">
              <a:schemeClr val="accent1"/>
            </a:fillRef>
            <a:effectRef idx="0">
              <a:schemeClr val="accent1"/>
            </a:effectRef>
            <a:fontRef idx="minor">
              <a:schemeClr val="tx1"/>
            </a:fontRef>
          </p:style>
        </p:cxnSp>
        <p:sp>
          <p:nvSpPr>
            <p:cNvPr id="52" name="文字方塊 51">
              <a:extLst>
                <a:ext uri="{FF2B5EF4-FFF2-40B4-BE49-F238E27FC236}">
                  <a16:creationId xmlns:a16="http://schemas.microsoft.com/office/drawing/2014/main" id="{D7FD8D2A-6F7F-364E-EC87-B21C42D89CC1}"/>
                </a:ext>
              </a:extLst>
            </p:cNvPr>
            <p:cNvSpPr txBox="1"/>
            <p:nvPr/>
          </p:nvSpPr>
          <p:spPr>
            <a:xfrm>
              <a:off x="2558274" y="6303883"/>
              <a:ext cx="2050305" cy="307777"/>
            </a:xfrm>
            <a:prstGeom prst="rect">
              <a:avLst/>
            </a:prstGeom>
            <a:noFill/>
          </p:spPr>
          <p:txBody>
            <a:bodyPr wrap="none" rtlCol="0">
              <a:spAutoFit/>
            </a:bodyPr>
            <a:lstStyle/>
            <a:p>
              <a:pPr algn="ctr"/>
              <a:r>
                <a:rPr kumimoji="1" lang="en-US" altLang="zh-TW" sz="1400" dirty="0">
                  <a:solidFill>
                    <a:srgbClr val="C00000"/>
                  </a:solidFill>
                </a:rPr>
                <a:t>Fork() </a:t>
              </a:r>
              <a:r>
                <a:rPr kumimoji="1" lang="en-US" altLang="zh-TW" sz="1400" dirty="0">
                  <a:solidFill>
                    <a:srgbClr val="C00000"/>
                  </a:solidFill>
                  <a:sym typeface="Wingdings" pitchFamily="2" charset="2"/>
                </a:rPr>
                <a:t></a:t>
              </a:r>
              <a:r>
                <a:rPr kumimoji="1" lang="zh-TW" altLang="en-US" sz="1400" dirty="0">
                  <a:solidFill>
                    <a:srgbClr val="C00000"/>
                  </a:solidFill>
                  <a:sym typeface="Wingdings" pitchFamily="2" charset="2"/>
                </a:rPr>
                <a:t> </a:t>
              </a:r>
              <a:r>
                <a:rPr kumimoji="1" lang="en-US" altLang="zh-TW" sz="1400" dirty="0">
                  <a:solidFill>
                    <a:srgbClr val="C00000"/>
                  </a:solidFill>
                  <a:sym typeface="Wingdings" pitchFamily="2" charset="2"/>
                </a:rPr>
                <a:t>Copy</a:t>
              </a:r>
              <a:r>
                <a:rPr kumimoji="1" lang="zh-TW" altLang="en-US" sz="1400" dirty="0">
                  <a:solidFill>
                    <a:srgbClr val="C00000"/>
                  </a:solidFill>
                  <a:sym typeface="Wingdings" pitchFamily="2" charset="2"/>
                </a:rPr>
                <a:t> </a:t>
              </a:r>
              <a:r>
                <a:rPr kumimoji="1" lang="en-US" altLang="zh-TW" sz="1400" dirty="0">
                  <a:solidFill>
                    <a:srgbClr val="C00000"/>
                  </a:solidFill>
                  <a:sym typeface="Wingdings" pitchFamily="2" charset="2"/>
                </a:rPr>
                <a:t>Page</a:t>
              </a:r>
              <a:r>
                <a:rPr kumimoji="1" lang="zh-TW" altLang="en-US" sz="1400" dirty="0">
                  <a:solidFill>
                    <a:srgbClr val="C00000"/>
                  </a:solidFill>
                  <a:sym typeface="Wingdings" pitchFamily="2" charset="2"/>
                </a:rPr>
                <a:t> </a:t>
              </a:r>
              <a:r>
                <a:rPr kumimoji="1" lang="en-US" altLang="zh-TW" sz="1400" dirty="0">
                  <a:solidFill>
                    <a:srgbClr val="C00000"/>
                  </a:solidFill>
                  <a:sym typeface="Wingdings" pitchFamily="2" charset="2"/>
                </a:rPr>
                <a:t>Table</a:t>
              </a:r>
              <a:endParaRPr kumimoji="1" lang="zh-TW" altLang="en-US" sz="1400" dirty="0">
                <a:solidFill>
                  <a:srgbClr val="C00000"/>
                </a:solidFill>
              </a:endParaRPr>
            </a:p>
          </p:txBody>
        </p:sp>
        <p:cxnSp>
          <p:nvCxnSpPr>
            <p:cNvPr id="53" name="曲線接點 52">
              <a:extLst>
                <a:ext uri="{FF2B5EF4-FFF2-40B4-BE49-F238E27FC236}">
                  <a16:creationId xmlns:a16="http://schemas.microsoft.com/office/drawing/2014/main" id="{0CFD7F0D-8F7E-3C60-6E87-E89B0B69A06B}"/>
                </a:ext>
              </a:extLst>
            </p:cNvPr>
            <p:cNvCxnSpPr>
              <a:cxnSpLocks/>
            </p:cNvCxnSpPr>
            <p:nvPr/>
          </p:nvCxnSpPr>
          <p:spPr>
            <a:xfrm rot="5400000" flipH="1" flipV="1">
              <a:off x="3523421" y="6238818"/>
              <a:ext cx="246170" cy="5607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6" name="文字方塊 25">
            <a:extLst>
              <a:ext uri="{FF2B5EF4-FFF2-40B4-BE49-F238E27FC236}">
                <a16:creationId xmlns:a16="http://schemas.microsoft.com/office/drawing/2014/main" id="{0C355609-45D9-BAD3-E256-96C4554FBE15}"/>
              </a:ext>
            </a:extLst>
          </p:cNvPr>
          <p:cNvSpPr txBox="1"/>
          <p:nvPr/>
        </p:nvSpPr>
        <p:spPr>
          <a:xfrm>
            <a:off x="2013274" y="5358400"/>
            <a:ext cx="960391" cy="523220"/>
          </a:xfrm>
          <a:prstGeom prst="rect">
            <a:avLst/>
          </a:prstGeom>
          <a:noFill/>
        </p:spPr>
        <p:txBody>
          <a:bodyPr wrap="none" rtlCol="0">
            <a:spAutoFit/>
          </a:bodyPr>
          <a:lstStyle/>
          <a:p>
            <a:pPr algn="ctr"/>
            <a:r>
              <a:rPr kumimoji="1" lang="en-US" altLang="zh-TW" sz="1400" dirty="0"/>
              <a:t>P1’s </a:t>
            </a:r>
            <a:br>
              <a:rPr kumimoji="1" lang="en-US" altLang="zh-TW" sz="1400" dirty="0"/>
            </a:br>
            <a:r>
              <a:rPr kumimoji="1" lang="en-US" altLang="zh-TW" sz="1400" dirty="0"/>
              <a:t>Page Table</a:t>
            </a:r>
            <a:endParaRPr kumimoji="1" lang="zh-TW" altLang="en-US" sz="1400" dirty="0"/>
          </a:p>
        </p:txBody>
      </p:sp>
      <p:sp>
        <p:nvSpPr>
          <p:cNvPr id="46" name="文字方塊 45">
            <a:extLst>
              <a:ext uri="{FF2B5EF4-FFF2-40B4-BE49-F238E27FC236}">
                <a16:creationId xmlns:a16="http://schemas.microsoft.com/office/drawing/2014/main" id="{CF677A56-76A2-4BE9-A188-20C12121F732}"/>
              </a:ext>
            </a:extLst>
          </p:cNvPr>
          <p:cNvSpPr txBox="1"/>
          <p:nvPr/>
        </p:nvSpPr>
        <p:spPr>
          <a:xfrm>
            <a:off x="4259477" y="5343672"/>
            <a:ext cx="960391" cy="523220"/>
          </a:xfrm>
          <a:prstGeom prst="rect">
            <a:avLst/>
          </a:prstGeom>
          <a:noFill/>
        </p:spPr>
        <p:txBody>
          <a:bodyPr wrap="none" rtlCol="0">
            <a:spAutoFit/>
          </a:bodyPr>
          <a:lstStyle/>
          <a:p>
            <a:pPr algn="ctr"/>
            <a:r>
              <a:rPr kumimoji="1" lang="en-US" altLang="zh-TW" sz="1400" dirty="0"/>
              <a:t>P2’s </a:t>
            </a:r>
            <a:br>
              <a:rPr kumimoji="1" lang="en-US" altLang="zh-TW" sz="1400" dirty="0"/>
            </a:br>
            <a:r>
              <a:rPr kumimoji="1" lang="en-US" altLang="zh-TW" sz="1400" dirty="0"/>
              <a:t>Page Table</a:t>
            </a:r>
            <a:endParaRPr kumimoji="1" lang="zh-TW" altLang="en-US" sz="1400" dirty="0"/>
          </a:p>
        </p:txBody>
      </p:sp>
      <p:grpSp>
        <p:nvGrpSpPr>
          <p:cNvPr id="63" name="群組 62">
            <a:extLst>
              <a:ext uri="{FF2B5EF4-FFF2-40B4-BE49-F238E27FC236}">
                <a16:creationId xmlns:a16="http://schemas.microsoft.com/office/drawing/2014/main" id="{FCF4FDF7-3A00-AB24-A6E9-3F461B248567}"/>
              </a:ext>
            </a:extLst>
          </p:cNvPr>
          <p:cNvGrpSpPr/>
          <p:nvPr/>
        </p:nvGrpSpPr>
        <p:grpSpPr>
          <a:xfrm>
            <a:off x="2039996" y="5053642"/>
            <a:ext cx="3174971" cy="312156"/>
            <a:chOff x="1271189" y="5077811"/>
            <a:chExt cx="3174971" cy="312156"/>
          </a:xfrm>
        </p:grpSpPr>
        <p:sp>
          <p:nvSpPr>
            <p:cNvPr id="61" name="文字方塊 60">
              <a:extLst>
                <a:ext uri="{FF2B5EF4-FFF2-40B4-BE49-F238E27FC236}">
                  <a16:creationId xmlns:a16="http://schemas.microsoft.com/office/drawing/2014/main" id="{580B927B-C692-471D-FFA1-7EE2A089023C}"/>
                </a:ext>
              </a:extLst>
            </p:cNvPr>
            <p:cNvSpPr txBox="1"/>
            <p:nvPr/>
          </p:nvSpPr>
          <p:spPr>
            <a:xfrm>
              <a:off x="1271189" y="5082190"/>
              <a:ext cx="945067" cy="307777"/>
            </a:xfrm>
            <a:prstGeom prst="rect">
              <a:avLst/>
            </a:prstGeom>
            <a:noFill/>
          </p:spPr>
          <p:txBody>
            <a:bodyPr wrap="none" rtlCol="0">
              <a:spAutoFit/>
            </a:bodyPr>
            <a:lstStyle/>
            <a:p>
              <a:r>
                <a:rPr kumimoji="1" lang="en-US" altLang="zh-TW" sz="1400" b="1" dirty="0">
                  <a:solidFill>
                    <a:srgbClr val="C00000"/>
                  </a:solidFill>
                </a:rPr>
                <a:t>Read</a:t>
              </a:r>
              <a:r>
                <a:rPr kumimoji="1" lang="zh-TW" altLang="en-US" sz="1400" b="1" dirty="0">
                  <a:solidFill>
                    <a:srgbClr val="C00000"/>
                  </a:solidFill>
                </a:rPr>
                <a:t> </a:t>
              </a:r>
              <a:r>
                <a:rPr kumimoji="1" lang="en-US" altLang="zh-TW" sz="1400" b="1" dirty="0">
                  <a:solidFill>
                    <a:srgbClr val="C00000"/>
                  </a:solidFill>
                </a:rPr>
                <a:t>Only</a:t>
              </a:r>
              <a:endParaRPr kumimoji="1" lang="zh-TW" altLang="en-US" sz="1400" b="1" dirty="0">
                <a:solidFill>
                  <a:srgbClr val="C00000"/>
                </a:solidFill>
              </a:endParaRPr>
            </a:p>
          </p:txBody>
        </p:sp>
        <p:sp>
          <p:nvSpPr>
            <p:cNvPr id="62" name="文字方塊 61">
              <a:extLst>
                <a:ext uri="{FF2B5EF4-FFF2-40B4-BE49-F238E27FC236}">
                  <a16:creationId xmlns:a16="http://schemas.microsoft.com/office/drawing/2014/main" id="{38A0F0A9-DD4D-B171-8707-A405F56629D9}"/>
                </a:ext>
              </a:extLst>
            </p:cNvPr>
            <p:cNvSpPr txBox="1"/>
            <p:nvPr/>
          </p:nvSpPr>
          <p:spPr>
            <a:xfrm>
              <a:off x="3501093" y="5077811"/>
              <a:ext cx="945067" cy="307777"/>
            </a:xfrm>
            <a:prstGeom prst="rect">
              <a:avLst/>
            </a:prstGeom>
            <a:noFill/>
          </p:spPr>
          <p:txBody>
            <a:bodyPr wrap="none" rtlCol="0">
              <a:spAutoFit/>
            </a:bodyPr>
            <a:lstStyle/>
            <a:p>
              <a:r>
                <a:rPr kumimoji="1" lang="en-US" altLang="zh-TW" sz="1400" b="1" dirty="0">
                  <a:solidFill>
                    <a:srgbClr val="C00000"/>
                  </a:solidFill>
                </a:rPr>
                <a:t>Read</a:t>
              </a:r>
              <a:r>
                <a:rPr kumimoji="1" lang="zh-TW" altLang="en-US" sz="1400" b="1" dirty="0">
                  <a:solidFill>
                    <a:srgbClr val="C00000"/>
                  </a:solidFill>
                </a:rPr>
                <a:t> </a:t>
              </a:r>
              <a:r>
                <a:rPr kumimoji="1" lang="en-US" altLang="zh-TW" sz="1400" b="1" dirty="0">
                  <a:solidFill>
                    <a:srgbClr val="C00000"/>
                  </a:solidFill>
                </a:rPr>
                <a:t>Only</a:t>
              </a:r>
              <a:endParaRPr kumimoji="1" lang="zh-TW" altLang="en-US" sz="1400" b="1" dirty="0">
                <a:solidFill>
                  <a:srgbClr val="C00000"/>
                </a:solidFill>
              </a:endParaRPr>
            </a:p>
          </p:txBody>
        </p:sp>
      </p:grpSp>
      <p:grpSp>
        <p:nvGrpSpPr>
          <p:cNvPr id="78" name="群組 77">
            <a:extLst>
              <a:ext uri="{FF2B5EF4-FFF2-40B4-BE49-F238E27FC236}">
                <a16:creationId xmlns:a16="http://schemas.microsoft.com/office/drawing/2014/main" id="{4D6444C0-20EB-14BD-0A68-40D3AF240A87}"/>
              </a:ext>
            </a:extLst>
          </p:cNvPr>
          <p:cNvGrpSpPr/>
          <p:nvPr/>
        </p:nvGrpSpPr>
        <p:grpSpPr>
          <a:xfrm>
            <a:off x="1683631" y="4417405"/>
            <a:ext cx="6756752" cy="1643919"/>
            <a:chOff x="914824" y="4441574"/>
            <a:chExt cx="6756752" cy="1643919"/>
          </a:xfrm>
        </p:grpSpPr>
        <p:grpSp>
          <p:nvGrpSpPr>
            <p:cNvPr id="77" name="群組 76">
              <a:extLst>
                <a:ext uri="{FF2B5EF4-FFF2-40B4-BE49-F238E27FC236}">
                  <a16:creationId xmlns:a16="http://schemas.microsoft.com/office/drawing/2014/main" id="{524CF689-3310-353B-9FB2-27308B0C66F0}"/>
                </a:ext>
              </a:extLst>
            </p:cNvPr>
            <p:cNvGrpSpPr/>
            <p:nvPr/>
          </p:nvGrpSpPr>
          <p:grpSpPr>
            <a:xfrm>
              <a:off x="914824" y="4441574"/>
              <a:ext cx="6756752" cy="1560380"/>
              <a:chOff x="914824" y="4441574"/>
              <a:chExt cx="6756752" cy="1560380"/>
            </a:xfrm>
          </p:grpSpPr>
          <p:grpSp>
            <p:nvGrpSpPr>
              <p:cNvPr id="44" name="群組 43">
                <a:extLst>
                  <a:ext uri="{FF2B5EF4-FFF2-40B4-BE49-F238E27FC236}">
                    <a16:creationId xmlns:a16="http://schemas.microsoft.com/office/drawing/2014/main" id="{1E682874-0DCE-6E65-355F-74FAC13AA652}"/>
                  </a:ext>
                </a:extLst>
              </p:cNvPr>
              <p:cNvGrpSpPr/>
              <p:nvPr/>
            </p:nvGrpSpPr>
            <p:grpSpPr>
              <a:xfrm>
                <a:off x="914824" y="4441574"/>
                <a:ext cx="6756752" cy="1560380"/>
                <a:chOff x="914817" y="4645514"/>
                <a:chExt cx="6756752" cy="1560380"/>
              </a:xfrm>
            </p:grpSpPr>
            <p:sp>
              <p:nvSpPr>
                <p:cNvPr id="27" name="文字方塊 26">
                  <a:extLst>
                    <a:ext uri="{FF2B5EF4-FFF2-40B4-BE49-F238E27FC236}">
                      <a16:creationId xmlns:a16="http://schemas.microsoft.com/office/drawing/2014/main" id="{654F0DC1-94A0-1911-CA90-6C596870F66C}"/>
                    </a:ext>
                  </a:extLst>
                </p:cNvPr>
                <p:cNvSpPr txBox="1"/>
                <p:nvPr/>
              </p:nvSpPr>
              <p:spPr>
                <a:xfrm>
                  <a:off x="1635049" y="4675264"/>
                  <a:ext cx="3732074" cy="523220"/>
                </a:xfrm>
                <a:prstGeom prst="rect">
                  <a:avLst/>
                </a:prstGeom>
                <a:noFill/>
              </p:spPr>
              <p:txBody>
                <a:bodyPr wrap="square" rtlCol="0">
                  <a:spAutoFit/>
                </a:bodyPr>
                <a:lstStyle/>
                <a:p>
                  <a:r>
                    <a:rPr kumimoji="1" lang="en-US" altLang="zh-TW" sz="1400" dirty="0"/>
                    <a:t>CPU </a:t>
                  </a:r>
                  <a:r>
                    <a:rPr kumimoji="1" lang="en-US" altLang="zh-TW" sz="1400" dirty="0">
                      <a:solidFill>
                        <a:srgbClr val="C00000"/>
                      </a:solidFill>
                    </a:rPr>
                    <a:t>walks the</a:t>
                  </a:r>
                  <a:r>
                    <a:rPr kumimoji="1" lang="zh-TW" altLang="en-US" sz="1400" dirty="0">
                      <a:solidFill>
                        <a:srgbClr val="C00000"/>
                      </a:solidFill>
                    </a:rPr>
                    <a:t> </a:t>
                  </a:r>
                  <a:r>
                    <a:rPr kumimoji="1" lang="en-US" altLang="zh-TW" sz="1400" dirty="0">
                      <a:solidFill>
                        <a:srgbClr val="C00000"/>
                      </a:solidFill>
                    </a:rPr>
                    <a:t>page table </a:t>
                  </a:r>
                  <a:r>
                    <a:rPr kumimoji="1" lang="en-US" altLang="zh-TW" sz="1400" dirty="0"/>
                    <a:t>to </a:t>
                  </a:r>
                  <a:r>
                    <a:rPr kumimoji="1" lang="en-US" altLang="zh-TW" sz="1400" dirty="0">
                      <a:solidFill>
                        <a:srgbClr val="C00000"/>
                      </a:solidFill>
                    </a:rPr>
                    <a:t>get a location</a:t>
                  </a:r>
                  <a:r>
                    <a:rPr kumimoji="1" lang="en-US" altLang="zh-TW" sz="1400" dirty="0"/>
                    <a:t> </a:t>
                  </a:r>
                </a:p>
                <a:p>
                  <a:r>
                    <a:rPr kumimoji="1" lang="en-US" altLang="zh-TW" sz="1400" dirty="0"/>
                    <a:t>of a page frame </a:t>
                  </a:r>
                  <a:r>
                    <a:rPr kumimoji="1" lang="en-US" altLang="zh-TW" sz="1400" dirty="0">
                      <a:solidFill>
                        <a:srgbClr val="C00000"/>
                      </a:solidFill>
                    </a:rPr>
                    <a:t>before accesses</a:t>
                  </a:r>
                  <a:r>
                    <a:rPr kumimoji="1" lang="en-US" altLang="zh-TW" sz="1400" dirty="0"/>
                    <a:t> the page frame.</a:t>
                  </a:r>
                </a:p>
              </p:txBody>
            </p:sp>
            <p:sp>
              <p:nvSpPr>
                <p:cNvPr id="28" name="矩形 27">
                  <a:extLst>
                    <a:ext uri="{FF2B5EF4-FFF2-40B4-BE49-F238E27FC236}">
                      <a16:creationId xmlns:a16="http://schemas.microsoft.com/office/drawing/2014/main" id="{60E405FF-F031-10DE-0BF3-A63A5A551316}"/>
                    </a:ext>
                  </a:extLst>
                </p:cNvPr>
                <p:cNvSpPr/>
                <p:nvPr/>
              </p:nvSpPr>
              <p:spPr>
                <a:xfrm>
                  <a:off x="990924" y="4645514"/>
                  <a:ext cx="644124" cy="372168"/>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CPU</a:t>
                  </a:r>
                  <a:endParaRPr kumimoji="1" lang="zh-TW" altLang="en-US" sz="1400" dirty="0">
                    <a:solidFill>
                      <a:schemeClr val="tx1"/>
                    </a:solidFill>
                  </a:endParaRPr>
                </a:p>
              </p:txBody>
            </p:sp>
            <p:cxnSp>
              <p:nvCxnSpPr>
                <p:cNvPr id="30" name="直線箭頭接點 29">
                  <a:extLst>
                    <a:ext uri="{FF2B5EF4-FFF2-40B4-BE49-F238E27FC236}">
                      <a16:creationId xmlns:a16="http://schemas.microsoft.com/office/drawing/2014/main" id="{43EE9DF5-481D-3D40-7DB7-1CCD4403412C}"/>
                    </a:ext>
                  </a:extLst>
                </p:cNvPr>
                <p:cNvCxnSpPr>
                  <a:cxnSpLocks/>
                </p:cNvCxnSpPr>
                <p:nvPr/>
              </p:nvCxnSpPr>
              <p:spPr>
                <a:xfrm>
                  <a:off x="1159338" y="5017682"/>
                  <a:ext cx="0" cy="1188212"/>
                </a:xfrm>
                <a:prstGeom prst="straightConnector1">
                  <a:avLst/>
                </a:prstGeom>
                <a:ln w="19050">
                  <a:solidFill>
                    <a:schemeClr val="tx1"/>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41" name="群組 40">
                  <a:extLst>
                    <a:ext uri="{FF2B5EF4-FFF2-40B4-BE49-F238E27FC236}">
                      <a16:creationId xmlns:a16="http://schemas.microsoft.com/office/drawing/2014/main" id="{34D9A740-89EA-FFB6-25CD-3073992F5CDD}"/>
                    </a:ext>
                  </a:extLst>
                </p:cNvPr>
                <p:cNvGrpSpPr/>
                <p:nvPr/>
              </p:nvGrpSpPr>
              <p:grpSpPr>
                <a:xfrm>
                  <a:off x="1497451" y="5016539"/>
                  <a:ext cx="6174118" cy="312728"/>
                  <a:chOff x="1497451" y="5016539"/>
                  <a:chExt cx="6174118" cy="312728"/>
                </a:xfrm>
              </p:grpSpPr>
              <p:cxnSp>
                <p:nvCxnSpPr>
                  <p:cNvPr id="33" name="肘形接點 32">
                    <a:extLst>
                      <a:ext uri="{FF2B5EF4-FFF2-40B4-BE49-F238E27FC236}">
                        <a16:creationId xmlns:a16="http://schemas.microsoft.com/office/drawing/2014/main" id="{4B935BDC-6A37-8141-0F03-830889E19514}"/>
                      </a:ext>
                    </a:extLst>
                  </p:cNvPr>
                  <p:cNvCxnSpPr>
                    <a:cxnSpLocks/>
                  </p:cNvCxnSpPr>
                  <p:nvPr/>
                </p:nvCxnSpPr>
                <p:spPr>
                  <a:xfrm>
                    <a:off x="1497451" y="5198961"/>
                    <a:ext cx="6174118" cy="130306"/>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箭頭接點 36">
                    <a:extLst>
                      <a:ext uri="{FF2B5EF4-FFF2-40B4-BE49-F238E27FC236}">
                        <a16:creationId xmlns:a16="http://schemas.microsoft.com/office/drawing/2014/main" id="{C41290AE-BA06-AE52-EE5B-26B021BB3F6E}"/>
                      </a:ext>
                    </a:extLst>
                  </p:cNvPr>
                  <p:cNvCxnSpPr>
                    <a:cxnSpLocks/>
                  </p:cNvCxnSpPr>
                  <p:nvPr/>
                </p:nvCxnSpPr>
                <p:spPr>
                  <a:xfrm>
                    <a:off x="1497451" y="5016539"/>
                    <a:ext cx="0" cy="182422"/>
                  </a:xfrm>
                  <a:prstGeom prst="straightConnector1">
                    <a:avLst/>
                  </a:prstGeom>
                  <a:ln w="19050">
                    <a:solidFill>
                      <a:schemeClr val="tx1"/>
                    </a:solidFill>
                    <a:headEnd type="oval"/>
                    <a:tailEnd type="none"/>
                  </a:ln>
                </p:spPr>
                <p:style>
                  <a:lnRef idx="1">
                    <a:schemeClr val="accent1"/>
                  </a:lnRef>
                  <a:fillRef idx="0">
                    <a:schemeClr val="accent1"/>
                  </a:fillRef>
                  <a:effectRef idx="0">
                    <a:schemeClr val="accent1"/>
                  </a:effectRef>
                  <a:fontRef idx="minor">
                    <a:schemeClr val="tx1"/>
                  </a:fontRef>
                </p:style>
              </p:cxnSp>
            </p:grpSp>
            <p:sp>
              <p:nvSpPr>
                <p:cNvPr id="42" name="橢圓 41">
                  <a:extLst>
                    <a:ext uri="{FF2B5EF4-FFF2-40B4-BE49-F238E27FC236}">
                      <a16:creationId xmlns:a16="http://schemas.microsoft.com/office/drawing/2014/main" id="{9D437D2E-463E-8A02-E15E-5AF35E7FB301}"/>
                    </a:ext>
                  </a:extLst>
                </p:cNvPr>
                <p:cNvSpPr/>
                <p:nvPr/>
              </p:nvSpPr>
              <p:spPr>
                <a:xfrm>
                  <a:off x="914817" y="5075268"/>
                  <a:ext cx="162000" cy="16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t>1</a:t>
                  </a:r>
                  <a:endParaRPr kumimoji="1" lang="zh-TW" altLang="en-US" sz="1400" dirty="0"/>
                </a:p>
              </p:txBody>
            </p:sp>
            <p:sp>
              <p:nvSpPr>
                <p:cNvPr id="43" name="橢圓 42">
                  <a:extLst>
                    <a:ext uri="{FF2B5EF4-FFF2-40B4-BE49-F238E27FC236}">
                      <a16:creationId xmlns:a16="http://schemas.microsoft.com/office/drawing/2014/main" id="{53A438AF-AA0D-FD90-E73C-B25C0284EED7}"/>
                    </a:ext>
                  </a:extLst>
                </p:cNvPr>
                <p:cNvSpPr/>
                <p:nvPr/>
              </p:nvSpPr>
              <p:spPr>
                <a:xfrm>
                  <a:off x="5815701" y="5001638"/>
                  <a:ext cx="162000" cy="16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t>2</a:t>
                  </a:r>
                  <a:endParaRPr kumimoji="1" lang="zh-TW" altLang="en-US" sz="1400" dirty="0"/>
                </a:p>
              </p:txBody>
            </p:sp>
          </p:grpSp>
          <p:cxnSp>
            <p:nvCxnSpPr>
              <p:cNvPr id="68" name="直線箭頭接點 67">
                <a:extLst>
                  <a:ext uri="{FF2B5EF4-FFF2-40B4-BE49-F238E27FC236}">
                    <a16:creationId xmlns:a16="http://schemas.microsoft.com/office/drawing/2014/main" id="{0F8C1B91-8A91-DEA8-BBDA-7215F48EA3DB}"/>
                  </a:ext>
                </a:extLst>
              </p:cNvPr>
              <p:cNvCxnSpPr>
                <a:cxnSpLocks/>
              </p:cNvCxnSpPr>
              <p:nvPr/>
            </p:nvCxnSpPr>
            <p:spPr>
              <a:xfrm>
                <a:off x="1159338" y="6001954"/>
                <a:ext cx="15539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5" name="矩形 74">
              <a:extLst>
                <a:ext uri="{FF2B5EF4-FFF2-40B4-BE49-F238E27FC236}">
                  <a16:creationId xmlns:a16="http://schemas.microsoft.com/office/drawing/2014/main" id="{34075E71-735C-F514-187E-14F936E0B955}"/>
                </a:ext>
              </a:extLst>
            </p:cNvPr>
            <p:cNvSpPr/>
            <p:nvPr/>
          </p:nvSpPr>
          <p:spPr>
            <a:xfrm>
              <a:off x="1311620" y="5937539"/>
              <a:ext cx="651666" cy="147954"/>
            </a:xfrm>
            <a:prstGeom prst="rect">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grpSp>
      <p:grpSp>
        <p:nvGrpSpPr>
          <p:cNvPr id="98" name="群組 97">
            <a:extLst>
              <a:ext uri="{FF2B5EF4-FFF2-40B4-BE49-F238E27FC236}">
                <a16:creationId xmlns:a16="http://schemas.microsoft.com/office/drawing/2014/main" id="{5056FEB0-3631-9C4B-B704-BCCD990CB8AC}"/>
              </a:ext>
            </a:extLst>
          </p:cNvPr>
          <p:cNvGrpSpPr/>
          <p:nvPr/>
        </p:nvGrpSpPr>
        <p:grpSpPr>
          <a:xfrm>
            <a:off x="2932830" y="5827730"/>
            <a:ext cx="1375075" cy="523220"/>
            <a:chOff x="2164023" y="5851899"/>
            <a:chExt cx="1375075" cy="523220"/>
          </a:xfrm>
        </p:grpSpPr>
        <p:cxnSp>
          <p:nvCxnSpPr>
            <p:cNvPr id="82" name="直線箭頭接點 81">
              <a:extLst>
                <a:ext uri="{FF2B5EF4-FFF2-40B4-BE49-F238E27FC236}">
                  <a16:creationId xmlns:a16="http://schemas.microsoft.com/office/drawing/2014/main" id="{EAB0BB31-9E6B-3E6B-7891-ACF2259BA249}"/>
                </a:ext>
              </a:extLst>
            </p:cNvPr>
            <p:cNvCxnSpPr>
              <a:cxnSpLocks/>
            </p:cNvCxnSpPr>
            <p:nvPr/>
          </p:nvCxnSpPr>
          <p:spPr>
            <a:xfrm flipV="1">
              <a:off x="3395098" y="6018163"/>
              <a:ext cx="144000" cy="3327"/>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83" name="文字方塊 82">
              <a:extLst>
                <a:ext uri="{FF2B5EF4-FFF2-40B4-BE49-F238E27FC236}">
                  <a16:creationId xmlns:a16="http://schemas.microsoft.com/office/drawing/2014/main" id="{A06C634B-013D-74A0-AD72-D5583CF0B989}"/>
                </a:ext>
              </a:extLst>
            </p:cNvPr>
            <p:cNvSpPr txBox="1"/>
            <p:nvPr/>
          </p:nvSpPr>
          <p:spPr>
            <a:xfrm>
              <a:off x="2164023" y="5851899"/>
              <a:ext cx="1302151" cy="523220"/>
            </a:xfrm>
            <a:prstGeom prst="rect">
              <a:avLst/>
            </a:prstGeom>
            <a:noFill/>
          </p:spPr>
          <p:txBody>
            <a:bodyPr wrap="none" rtlCol="0">
              <a:spAutoFit/>
            </a:bodyPr>
            <a:lstStyle/>
            <a:p>
              <a:pPr algn="ctr"/>
              <a:r>
                <a:rPr kumimoji="1" lang="en-US" altLang="zh-TW" sz="1400" dirty="0">
                  <a:solidFill>
                    <a:srgbClr val="0070C0"/>
                  </a:solidFill>
                </a:rPr>
                <a:t>Write</a:t>
              </a:r>
              <a:r>
                <a:rPr kumimoji="1" lang="zh-TW" altLang="en-US" sz="1400" dirty="0">
                  <a:solidFill>
                    <a:srgbClr val="0070C0"/>
                  </a:solidFill>
                </a:rPr>
                <a:t> </a:t>
              </a:r>
              <a:r>
                <a:rPr kumimoji="1" lang="en-US" altLang="zh-TW" sz="1400" dirty="0">
                  <a:solidFill>
                    <a:srgbClr val="0070C0"/>
                  </a:solidFill>
                </a:rPr>
                <a:t>to</a:t>
              </a:r>
              <a:r>
                <a:rPr kumimoji="1" lang="zh-TW" altLang="en-US" sz="1400" dirty="0">
                  <a:solidFill>
                    <a:srgbClr val="0070C0"/>
                  </a:solidFill>
                </a:rPr>
                <a:t> </a:t>
              </a:r>
              <a:r>
                <a:rPr kumimoji="1" lang="en-US" altLang="zh-TW" sz="1400" dirty="0">
                  <a:solidFill>
                    <a:srgbClr val="0070C0"/>
                  </a:solidFill>
                </a:rPr>
                <a:t>a</a:t>
              </a:r>
              <a:r>
                <a:rPr kumimoji="1" lang="zh-TW" altLang="en-US" sz="1400" dirty="0">
                  <a:solidFill>
                    <a:srgbClr val="0070C0"/>
                  </a:solidFill>
                </a:rPr>
                <a:t> </a:t>
              </a:r>
              <a:r>
                <a:rPr kumimoji="1" lang="en-US" altLang="zh-TW" sz="1400" dirty="0">
                  <a:solidFill>
                    <a:srgbClr val="0070C0"/>
                  </a:solidFill>
                </a:rPr>
                <a:t>Page</a:t>
              </a:r>
              <a:br>
                <a:rPr kumimoji="1" lang="en-US" altLang="zh-TW" sz="1400" dirty="0">
                  <a:solidFill>
                    <a:srgbClr val="0070C0"/>
                  </a:solidFill>
                </a:rPr>
              </a:br>
              <a:r>
                <a:rPr kumimoji="1" lang="en-US" altLang="zh-TW" sz="1400" dirty="0">
                  <a:solidFill>
                    <a:srgbClr val="0070C0"/>
                  </a:solidFill>
                </a:rPr>
                <a:t>(Page Fault)</a:t>
              </a:r>
              <a:endParaRPr kumimoji="1" lang="zh-TW" altLang="en-US" sz="1400" dirty="0">
                <a:solidFill>
                  <a:srgbClr val="0070C0"/>
                </a:solidFill>
              </a:endParaRPr>
            </a:p>
          </p:txBody>
        </p:sp>
      </p:grpSp>
      <p:grpSp>
        <p:nvGrpSpPr>
          <p:cNvPr id="99" name="群組 98">
            <a:extLst>
              <a:ext uri="{FF2B5EF4-FFF2-40B4-BE49-F238E27FC236}">
                <a16:creationId xmlns:a16="http://schemas.microsoft.com/office/drawing/2014/main" id="{D8CAEFCA-A4C8-C58E-9429-11BBED4C3580}"/>
              </a:ext>
            </a:extLst>
          </p:cNvPr>
          <p:cNvGrpSpPr/>
          <p:nvPr/>
        </p:nvGrpSpPr>
        <p:grpSpPr>
          <a:xfrm>
            <a:off x="6273535" y="5101141"/>
            <a:ext cx="1790680" cy="1407526"/>
            <a:chOff x="5504728" y="5125310"/>
            <a:chExt cx="1790680" cy="1407526"/>
          </a:xfrm>
        </p:grpSpPr>
        <p:sp>
          <p:nvSpPr>
            <p:cNvPr id="80" name="矩形 79">
              <a:extLst>
                <a:ext uri="{FF2B5EF4-FFF2-40B4-BE49-F238E27FC236}">
                  <a16:creationId xmlns:a16="http://schemas.microsoft.com/office/drawing/2014/main" id="{D1EDE2A7-5A14-DDD8-4ED1-9310DC1C9B4F}"/>
                </a:ext>
              </a:extLst>
            </p:cNvPr>
            <p:cNvSpPr/>
            <p:nvPr/>
          </p:nvSpPr>
          <p:spPr>
            <a:xfrm>
              <a:off x="5504728" y="5125310"/>
              <a:ext cx="671696" cy="1034353"/>
            </a:xfrm>
            <a:prstGeom prst="rect">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New</a:t>
              </a:r>
            </a:p>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cxnSp>
          <p:nvCxnSpPr>
            <p:cNvPr id="89" name="直線箭頭接點 88">
              <a:extLst>
                <a:ext uri="{FF2B5EF4-FFF2-40B4-BE49-F238E27FC236}">
                  <a16:creationId xmlns:a16="http://schemas.microsoft.com/office/drawing/2014/main" id="{5DCD3E2E-B88A-68BB-99B8-78C2A95F70B6}"/>
                </a:ext>
              </a:extLst>
            </p:cNvPr>
            <p:cNvCxnSpPr>
              <a:cxnSpLocks/>
            </p:cNvCxnSpPr>
            <p:nvPr/>
          </p:nvCxnSpPr>
          <p:spPr>
            <a:xfrm flipH="1">
              <a:off x="6210946" y="5639605"/>
              <a:ext cx="1084462" cy="2896"/>
            </a:xfrm>
            <a:prstGeom prst="straightConnector1">
              <a:avLst/>
            </a:prstGeom>
            <a:ln w="63500">
              <a:gradFill>
                <a:gsLst>
                  <a:gs pos="0">
                    <a:schemeClr val="accent1">
                      <a:lumMod val="5000"/>
                      <a:lumOff val="95000"/>
                    </a:schemeClr>
                  </a:gs>
                  <a:gs pos="53000">
                    <a:srgbClr val="FF0000"/>
                  </a:gs>
                  <a:gs pos="100000">
                    <a:srgbClr val="C00000"/>
                  </a:gs>
                </a:gsLst>
                <a:lin ang="0" scaled="0"/>
              </a:gradFill>
              <a:tailEnd type="triangle"/>
            </a:ln>
          </p:spPr>
          <p:style>
            <a:lnRef idx="1">
              <a:schemeClr val="accent1"/>
            </a:lnRef>
            <a:fillRef idx="0">
              <a:schemeClr val="accent1"/>
            </a:fillRef>
            <a:effectRef idx="0">
              <a:schemeClr val="accent1"/>
            </a:effectRef>
            <a:fontRef idx="minor">
              <a:schemeClr val="tx1"/>
            </a:fontRef>
          </p:style>
        </p:cxnSp>
        <p:sp>
          <p:nvSpPr>
            <p:cNvPr id="92" name="文字方塊 91">
              <a:extLst>
                <a:ext uri="{FF2B5EF4-FFF2-40B4-BE49-F238E27FC236}">
                  <a16:creationId xmlns:a16="http://schemas.microsoft.com/office/drawing/2014/main" id="{494A011B-19DE-B110-AEF2-67B6A57290E3}"/>
                </a:ext>
              </a:extLst>
            </p:cNvPr>
            <p:cNvSpPr txBox="1"/>
            <p:nvPr/>
          </p:nvSpPr>
          <p:spPr>
            <a:xfrm>
              <a:off x="5954910" y="6225059"/>
              <a:ext cx="1253035" cy="307777"/>
            </a:xfrm>
            <a:prstGeom prst="rect">
              <a:avLst/>
            </a:prstGeom>
            <a:noFill/>
          </p:spPr>
          <p:txBody>
            <a:bodyPr wrap="none" rtlCol="0">
              <a:spAutoFit/>
            </a:bodyPr>
            <a:lstStyle/>
            <a:p>
              <a:pPr algn="ctr"/>
              <a:r>
                <a:rPr kumimoji="1" lang="en-US" altLang="zh-TW" sz="1400" dirty="0">
                  <a:solidFill>
                    <a:srgbClr val="C00000"/>
                  </a:solidFill>
                </a:rPr>
                <a:t>Copy-on-Write</a:t>
              </a:r>
              <a:endParaRPr kumimoji="1" lang="zh-TW" altLang="en-US" sz="1400" dirty="0">
                <a:solidFill>
                  <a:srgbClr val="C00000"/>
                </a:solidFill>
              </a:endParaRPr>
            </a:p>
          </p:txBody>
        </p:sp>
        <p:cxnSp>
          <p:nvCxnSpPr>
            <p:cNvPr id="93" name="曲線接點 92">
              <a:extLst>
                <a:ext uri="{FF2B5EF4-FFF2-40B4-BE49-F238E27FC236}">
                  <a16:creationId xmlns:a16="http://schemas.microsoft.com/office/drawing/2014/main" id="{540F7871-D75D-500B-45FD-B1A322485F24}"/>
                </a:ext>
              </a:extLst>
            </p:cNvPr>
            <p:cNvCxnSpPr>
              <a:cxnSpLocks/>
            </p:cNvCxnSpPr>
            <p:nvPr/>
          </p:nvCxnSpPr>
          <p:spPr>
            <a:xfrm rot="5400000" flipH="1" flipV="1">
              <a:off x="6246127" y="5950907"/>
              <a:ext cx="580618" cy="13634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0" name="群組 99">
            <a:extLst>
              <a:ext uri="{FF2B5EF4-FFF2-40B4-BE49-F238E27FC236}">
                <a16:creationId xmlns:a16="http://schemas.microsoft.com/office/drawing/2014/main" id="{37F29A8C-41CC-9C62-0796-0EFF60BFE7ED}"/>
              </a:ext>
            </a:extLst>
          </p:cNvPr>
          <p:cNvGrpSpPr/>
          <p:nvPr/>
        </p:nvGrpSpPr>
        <p:grpSpPr>
          <a:xfrm>
            <a:off x="5203688" y="5191823"/>
            <a:ext cx="1056446" cy="307777"/>
            <a:chOff x="4492756" y="5215992"/>
            <a:chExt cx="1056446" cy="307777"/>
          </a:xfrm>
        </p:grpSpPr>
        <p:sp>
          <p:nvSpPr>
            <p:cNvPr id="96" name="文字方塊 95">
              <a:extLst>
                <a:ext uri="{FF2B5EF4-FFF2-40B4-BE49-F238E27FC236}">
                  <a16:creationId xmlns:a16="http://schemas.microsoft.com/office/drawing/2014/main" id="{4E4EFA82-2970-8838-9185-7ADFA5C99341}"/>
                </a:ext>
              </a:extLst>
            </p:cNvPr>
            <p:cNvSpPr txBox="1"/>
            <p:nvPr/>
          </p:nvSpPr>
          <p:spPr>
            <a:xfrm>
              <a:off x="4492756" y="5215992"/>
              <a:ext cx="973536" cy="307777"/>
            </a:xfrm>
            <a:prstGeom prst="rect">
              <a:avLst/>
            </a:prstGeom>
            <a:noFill/>
          </p:spPr>
          <p:txBody>
            <a:bodyPr wrap="none" rtlCol="0">
              <a:spAutoFit/>
            </a:bodyPr>
            <a:lstStyle/>
            <a:p>
              <a:pPr algn="ctr"/>
              <a:r>
                <a:rPr kumimoji="1" lang="en-US" altLang="zh-TW" sz="1400" dirty="0">
                  <a:solidFill>
                    <a:srgbClr val="0070C0"/>
                  </a:solidFill>
                </a:rPr>
                <a:t>Write</a:t>
              </a:r>
              <a:r>
                <a:rPr kumimoji="1" lang="zh-TW" altLang="en-US" sz="1400" dirty="0">
                  <a:solidFill>
                    <a:srgbClr val="0070C0"/>
                  </a:solidFill>
                </a:rPr>
                <a:t> </a:t>
              </a:r>
              <a:r>
                <a:rPr kumimoji="1" lang="en-US" altLang="zh-TW" sz="1400" dirty="0">
                  <a:solidFill>
                    <a:srgbClr val="0070C0"/>
                  </a:solidFill>
                </a:rPr>
                <a:t>Data</a:t>
              </a:r>
              <a:endParaRPr kumimoji="1" lang="zh-TW" altLang="en-US" sz="1400" dirty="0">
                <a:solidFill>
                  <a:srgbClr val="0070C0"/>
                </a:solidFill>
              </a:endParaRPr>
            </a:p>
          </p:txBody>
        </p:sp>
        <p:cxnSp>
          <p:nvCxnSpPr>
            <p:cNvPr id="97" name="直線箭頭接點 96">
              <a:extLst>
                <a:ext uri="{FF2B5EF4-FFF2-40B4-BE49-F238E27FC236}">
                  <a16:creationId xmlns:a16="http://schemas.microsoft.com/office/drawing/2014/main" id="{4F492763-1696-531E-CCAD-121211552F7D}"/>
                </a:ext>
              </a:extLst>
            </p:cNvPr>
            <p:cNvCxnSpPr>
              <a:cxnSpLocks/>
            </p:cNvCxnSpPr>
            <p:nvPr/>
          </p:nvCxnSpPr>
          <p:spPr>
            <a:xfrm flipV="1">
              <a:off x="5405202" y="5373242"/>
              <a:ext cx="144000" cy="3327"/>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文字方塊 6">
            <a:extLst>
              <a:ext uri="{FF2B5EF4-FFF2-40B4-BE49-F238E27FC236}">
                <a16:creationId xmlns:a16="http://schemas.microsoft.com/office/drawing/2014/main" id="{BF3656EB-CAB3-7C8A-1AA6-3A92E6764EE9}"/>
              </a:ext>
            </a:extLst>
          </p:cNvPr>
          <p:cNvSpPr txBox="1"/>
          <p:nvPr/>
        </p:nvSpPr>
        <p:spPr>
          <a:xfrm>
            <a:off x="7913547" y="6624534"/>
            <a:ext cx="7540387" cy="276999"/>
          </a:xfrm>
          <a:prstGeom prst="rect">
            <a:avLst/>
          </a:prstGeom>
          <a:noFill/>
        </p:spPr>
        <p:txBody>
          <a:bodyPr wrap="square">
            <a:spAutoFit/>
          </a:bodyPr>
          <a:lstStyle/>
          <a:p>
            <a:r>
              <a:rPr lang="en-US" altLang="zh-TW" sz="1200" dirty="0">
                <a:solidFill>
                  <a:schemeClr val="bg1">
                    <a:lumMod val="85000"/>
                  </a:schemeClr>
                </a:solidFill>
              </a:rPr>
              <a:t>Ref: </a:t>
            </a:r>
            <a:r>
              <a:rPr lang="zh-TW" altLang="en-US" sz="1200" dirty="0">
                <a:solidFill>
                  <a:schemeClr val="bg1">
                    <a:lumMod val="85000"/>
                  </a:schemeClr>
                </a:solidFill>
              </a:rPr>
              <a:t>https://blog.csdn.net/qq_34556414/article/details/108399543</a:t>
            </a:r>
          </a:p>
        </p:txBody>
      </p:sp>
      <p:sp>
        <p:nvSpPr>
          <p:cNvPr id="6" name="文字方塊 5">
            <a:extLst>
              <a:ext uri="{FF2B5EF4-FFF2-40B4-BE49-F238E27FC236}">
                <a16:creationId xmlns:a16="http://schemas.microsoft.com/office/drawing/2014/main" id="{B9F5C6C9-A71E-76A9-B944-292C42F853E5}"/>
              </a:ext>
            </a:extLst>
          </p:cNvPr>
          <p:cNvSpPr txBox="1"/>
          <p:nvPr/>
        </p:nvSpPr>
        <p:spPr>
          <a:xfrm>
            <a:off x="7195093" y="3982655"/>
            <a:ext cx="4013599" cy="923330"/>
          </a:xfrm>
          <a:prstGeom prst="rect">
            <a:avLst/>
          </a:prstGeom>
          <a:noFill/>
          <a:ln w="19050">
            <a:solidFill>
              <a:srgbClr val="C00000"/>
            </a:solidFill>
          </a:ln>
        </p:spPr>
        <p:txBody>
          <a:bodyPr wrap="none" rtlCol="0">
            <a:spAutoFit/>
          </a:bodyPr>
          <a:lstStyle/>
          <a:p>
            <a:r>
              <a:rPr kumimoji="1" lang="en-US" altLang="zh-TW" dirty="0"/>
              <a:t>Paging: Evenly partition the land</a:t>
            </a:r>
          </a:p>
          <a:p>
            <a:r>
              <a:rPr kumimoji="1" lang="en-US" altLang="zh-TW" dirty="0"/>
              <a:t>Virtual Address: Mail Address</a:t>
            </a:r>
            <a:br>
              <a:rPr kumimoji="1" lang="en-US" altLang="zh-TW" dirty="0"/>
            </a:br>
            <a:r>
              <a:rPr kumimoji="1" lang="en-US" altLang="zh-TW" dirty="0"/>
              <a:t>Physical Address: Latitude and Longitude</a:t>
            </a:r>
            <a:endParaRPr kumimoji="1" lang="zh-TW" altLang="en-US" dirty="0"/>
          </a:p>
        </p:txBody>
      </p:sp>
      <p:sp>
        <p:nvSpPr>
          <p:cNvPr id="11" name="矩形 10">
            <a:extLst>
              <a:ext uri="{FF2B5EF4-FFF2-40B4-BE49-F238E27FC236}">
                <a16:creationId xmlns:a16="http://schemas.microsoft.com/office/drawing/2014/main" id="{23D5BF8C-5C8A-C79E-0C06-8D0C0FAE16AA}"/>
              </a:ext>
            </a:extLst>
          </p:cNvPr>
          <p:cNvSpPr/>
          <p:nvPr/>
        </p:nvSpPr>
        <p:spPr>
          <a:xfrm>
            <a:off x="2726778" y="5913370"/>
            <a:ext cx="187299" cy="147954"/>
          </a:xfrm>
          <a:prstGeom prst="rect">
            <a:avLst/>
          </a:prstGeom>
          <a:solidFill>
            <a:srgbClr val="FFD96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W</a:t>
            </a:r>
            <a:endParaRPr kumimoji="1" lang="zh-TW" altLang="en-US" sz="1400" dirty="0">
              <a:solidFill>
                <a:schemeClr val="tx1"/>
              </a:solidFill>
            </a:endParaRPr>
          </a:p>
        </p:txBody>
      </p:sp>
      <p:grpSp>
        <p:nvGrpSpPr>
          <p:cNvPr id="20" name="群組 19">
            <a:extLst>
              <a:ext uri="{FF2B5EF4-FFF2-40B4-BE49-F238E27FC236}">
                <a16:creationId xmlns:a16="http://schemas.microsoft.com/office/drawing/2014/main" id="{8055BEAD-59DF-4E14-CBBF-98A4034DDC59}"/>
              </a:ext>
            </a:extLst>
          </p:cNvPr>
          <p:cNvGrpSpPr/>
          <p:nvPr/>
        </p:nvGrpSpPr>
        <p:grpSpPr>
          <a:xfrm>
            <a:off x="4312917" y="5913507"/>
            <a:ext cx="833552" cy="149390"/>
            <a:chOff x="4312114" y="5919270"/>
            <a:chExt cx="833552" cy="149390"/>
          </a:xfrm>
        </p:grpSpPr>
        <p:sp>
          <p:nvSpPr>
            <p:cNvPr id="79" name="矩形 78">
              <a:extLst>
                <a:ext uri="{FF2B5EF4-FFF2-40B4-BE49-F238E27FC236}">
                  <a16:creationId xmlns:a16="http://schemas.microsoft.com/office/drawing/2014/main" id="{975B63E3-7626-BC34-C63A-6FB8BD409D73}"/>
                </a:ext>
              </a:extLst>
            </p:cNvPr>
            <p:cNvSpPr/>
            <p:nvPr/>
          </p:nvSpPr>
          <p:spPr>
            <a:xfrm>
              <a:off x="4312114" y="5919270"/>
              <a:ext cx="648553" cy="147954"/>
            </a:xfrm>
            <a:prstGeom prst="rect">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sp>
          <p:nvSpPr>
            <p:cNvPr id="14" name="矩形 13">
              <a:extLst>
                <a:ext uri="{FF2B5EF4-FFF2-40B4-BE49-F238E27FC236}">
                  <a16:creationId xmlns:a16="http://schemas.microsoft.com/office/drawing/2014/main" id="{8F78CE89-9C39-629C-B71D-0B8B9EC956AB}"/>
                </a:ext>
              </a:extLst>
            </p:cNvPr>
            <p:cNvSpPr/>
            <p:nvPr/>
          </p:nvSpPr>
          <p:spPr>
            <a:xfrm>
              <a:off x="4958367" y="5920706"/>
              <a:ext cx="187299" cy="147954"/>
            </a:xfrm>
            <a:prstGeom prst="rect">
              <a:avLst/>
            </a:prstGeom>
            <a:solidFill>
              <a:srgbClr val="FFD96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R</a:t>
              </a:r>
              <a:endParaRPr kumimoji="1" lang="zh-TW" altLang="en-US" sz="1400" dirty="0">
                <a:solidFill>
                  <a:schemeClr val="tx1"/>
                </a:solidFill>
              </a:endParaRPr>
            </a:p>
          </p:txBody>
        </p:sp>
      </p:grpSp>
      <p:sp>
        <p:nvSpPr>
          <p:cNvPr id="15" name="矩形 14">
            <a:extLst>
              <a:ext uri="{FF2B5EF4-FFF2-40B4-BE49-F238E27FC236}">
                <a16:creationId xmlns:a16="http://schemas.microsoft.com/office/drawing/2014/main" id="{B2F148A0-CAF3-2281-A8F0-DF55E4126744}"/>
              </a:ext>
            </a:extLst>
          </p:cNvPr>
          <p:cNvSpPr/>
          <p:nvPr/>
        </p:nvSpPr>
        <p:spPr>
          <a:xfrm>
            <a:off x="2079131" y="5911545"/>
            <a:ext cx="651666" cy="147954"/>
          </a:xfrm>
          <a:prstGeom prst="rect">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sp>
        <p:nvSpPr>
          <p:cNvPr id="18" name="矩形 17">
            <a:extLst>
              <a:ext uri="{FF2B5EF4-FFF2-40B4-BE49-F238E27FC236}">
                <a16:creationId xmlns:a16="http://schemas.microsoft.com/office/drawing/2014/main" id="{19CE2AA7-BB14-4429-9A0B-B5347B1E5656}"/>
              </a:ext>
            </a:extLst>
          </p:cNvPr>
          <p:cNvSpPr/>
          <p:nvPr/>
        </p:nvSpPr>
        <p:spPr>
          <a:xfrm>
            <a:off x="2731528" y="5908951"/>
            <a:ext cx="187299" cy="147954"/>
          </a:xfrm>
          <a:prstGeom prst="rect">
            <a:avLst/>
          </a:prstGeom>
          <a:solidFill>
            <a:srgbClr val="FFD96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R</a:t>
            </a:r>
            <a:endParaRPr kumimoji="1" lang="zh-TW" altLang="en-US" sz="1400" dirty="0">
              <a:solidFill>
                <a:schemeClr val="tx1"/>
              </a:solidFill>
            </a:endParaRPr>
          </a:p>
        </p:txBody>
      </p:sp>
      <p:grpSp>
        <p:nvGrpSpPr>
          <p:cNvPr id="22" name="群組 21">
            <a:extLst>
              <a:ext uri="{FF2B5EF4-FFF2-40B4-BE49-F238E27FC236}">
                <a16:creationId xmlns:a16="http://schemas.microsoft.com/office/drawing/2014/main" id="{038FB1BE-2956-F42D-68A8-59B1DEC84FDD}"/>
              </a:ext>
            </a:extLst>
          </p:cNvPr>
          <p:cNvGrpSpPr/>
          <p:nvPr/>
        </p:nvGrpSpPr>
        <p:grpSpPr>
          <a:xfrm>
            <a:off x="4323243" y="5907641"/>
            <a:ext cx="829257" cy="147954"/>
            <a:chOff x="4322813" y="5763415"/>
            <a:chExt cx="829257" cy="147954"/>
          </a:xfrm>
        </p:grpSpPr>
        <p:sp>
          <p:nvSpPr>
            <p:cNvPr id="95" name="矩形 94">
              <a:extLst>
                <a:ext uri="{FF2B5EF4-FFF2-40B4-BE49-F238E27FC236}">
                  <a16:creationId xmlns:a16="http://schemas.microsoft.com/office/drawing/2014/main" id="{82FA439E-17B0-0DFF-BCC4-EEA8BBDED6E2}"/>
                </a:ext>
              </a:extLst>
            </p:cNvPr>
            <p:cNvSpPr/>
            <p:nvPr/>
          </p:nvSpPr>
          <p:spPr>
            <a:xfrm>
              <a:off x="4322813" y="5763415"/>
              <a:ext cx="632893" cy="147954"/>
            </a:xfrm>
            <a:prstGeom prst="rect">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sp>
          <p:nvSpPr>
            <p:cNvPr id="10" name="矩形 9">
              <a:extLst>
                <a:ext uri="{FF2B5EF4-FFF2-40B4-BE49-F238E27FC236}">
                  <a16:creationId xmlns:a16="http://schemas.microsoft.com/office/drawing/2014/main" id="{B6DACA71-2233-039B-701F-6DE98DD46604}"/>
                </a:ext>
              </a:extLst>
            </p:cNvPr>
            <p:cNvSpPr/>
            <p:nvPr/>
          </p:nvSpPr>
          <p:spPr>
            <a:xfrm>
              <a:off x="4964771" y="5763415"/>
              <a:ext cx="187299" cy="147954"/>
            </a:xfrm>
            <a:prstGeom prst="rect">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W</a:t>
              </a:r>
              <a:endParaRPr kumimoji="1" lang="zh-TW" altLang="en-US" sz="1400" dirty="0">
                <a:solidFill>
                  <a:schemeClr val="tx1"/>
                </a:solidFill>
              </a:endParaRPr>
            </a:p>
          </p:txBody>
        </p:sp>
      </p:grpSp>
    </p:spTree>
    <p:extLst>
      <p:ext uri="{BB962C8B-B14F-4D97-AF65-F5344CB8AC3E}">
        <p14:creationId xmlns:p14="http://schemas.microsoft.com/office/powerpoint/2010/main" val="3370771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9"/>
                                        </p:tgtEl>
                                        <p:attrNameLst>
                                          <p:attrName>style.visibility</p:attrName>
                                        </p:attrNameLst>
                                      </p:cBhvr>
                                      <p:to>
                                        <p:strVal val="visible"/>
                                      </p:to>
                                    </p:set>
                                    <p:animEffect transition="in" filter="fade">
                                      <p:cBhvr>
                                        <p:cTn id="30" dur="500"/>
                                        <p:tgtEl>
                                          <p:spTgt spid="5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500"/>
                                        <p:tgtEl>
                                          <p:spTgt spid="2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down)">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mph" presetSubtype="0" grpId="1" nodeType="clickEffect">
                                  <p:stCondLst>
                                    <p:cond delay="0"/>
                                  </p:stCondLst>
                                  <p:childTnLst>
                                    <p:set>
                                      <p:cBhvr>
                                        <p:cTn id="42" dur="indefinite"/>
                                        <p:tgtEl>
                                          <p:spTgt spid="6"/>
                                        </p:tgtEl>
                                        <p:attrNameLst>
                                          <p:attrName>style.opacity</p:attrName>
                                        </p:attrNameLst>
                                      </p:cBhvr>
                                      <p:to>
                                        <p:strVal val="0.25"/>
                                      </p:to>
                                    </p:set>
                                    <p:animEffect filter="image" prLst="opacity: 0.25">
                                      <p:cBhvr rctx="IE">
                                        <p:cTn id="43" dur="indefinite"/>
                                        <p:tgtEl>
                                          <p:spTgt spid="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78"/>
                                        </p:tgtEl>
                                        <p:attrNameLst>
                                          <p:attrName>style.visibility</p:attrName>
                                        </p:attrNameLst>
                                      </p:cBhvr>
                                      <p:to>
                                        <p:strVal val="visible"/>
                                      </p:to>
                                    </p:set>
                                    <p:animEffect transition="in" filter="fade">
                                      <p:cBhvr>
                                        <p:cTn id="48" dur="500"/>
                                        <p:tgtEl>
                                          <p:spTgt spid="78"/>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wipe(left)">
                                      <p:cBhvr>
                                        <p:cTn id="51" dur="500"/>
                                        <p:tgtEl>
                                          <p:spTgt spid="1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500"/>
                                        <p:tgtEl>
                                          <p:spTgt spid="46"/>
                                        </p:tgtEl>
                                      </p:cBhvr>
                                    </p:animEffect>
                                  </p:childTnLst>
                                </p:cTn>
                              </p:par>
                              <p:par>
                                <p:cTn id="57" presetID="10" presetClass="exit" presetSubtype="0" fill="hold" nodeType="withEffect">
                                  <p:stCondLst>
                                    <p:cond delay="0"/>
                                  </p:stCondLst>
                                  <p:childTnLst>
                                    <p:animEffect transition="out" filter="fade">
                                      <p:cBhvr>
                                        <p:cTn id="58" dur="500"/>
                                        <p:tgtEl>
                                          <p:spTgt spid="78"/>
                                        </p:tgtEl>
                                      </p:cBhvr>
                                    </p:animEffect>
                                    <p:set>
                                      <p:cBhvr>
                                        <p:cTn id="59" dur="1" fill="hold">
                                          <p:stCondLst>
                                            <p:cond delay="499"/>
                                          </p:stCondLst>
                                        </p:cTn>
                                        <p:tgtEl>
                                          <p:spTgt spid="78"/>
                                        </p:tgtEl>
                                        <p:attrNameLst>
                                          <p:attrName>style.visibility</p:attrName>
                                        </p:attrNameLst>
                                      </p:cBhvr>
                                      <p:to>
                                        <p:strVal val="hidden"/>
                                      </p:to>
                                    </p:set>
                                  </p:childTnLst>
                                </p:cTn>
                              </p:par>
                              <p:par>
                                <p:cTn id="60" presetID="22" presetClass="entr" presetSubtype="8" fill="hold" grpId="0" nodeType="withEffect">
                                  <p:stCondLst>
                                    <p:cond delay="0"/>
                                  </p:stCondLst>
                                  <p:childTnLst>
                                    <p:set>
                                      <p:cBhvr>
                                        <p:cTn id="61" dur="1" fill="hold">
                                          <p:stCondLst>
                                            <p:cond delay="0"/>
                                          </p:stCondLst>
                                        </p:cTn>
                                        <p:tgtEl>
                                          <p:spTgt spid="45"/>
                                        </p:tgtEl>
                                        <p:attrNameLst>
                                          <p:attrName>style.visibility</p:attrName>
                                        </p:attrNameLst>
                                      </p:cBhvr>
                                      <p:to>
                                        <p:strVal val="visible"/>
                                      </p:to>
                                    </p:set>
                                    <p:animEffect transition="in" filter="wipe(left)">
                                      <p:cBhvr>
                                        <p:cTn id="62" dur="500"/>
                                        <p:tgtEl>
                                          <p:spTgt spid="45"/>
                                        </p:tgtEl>
                                      </p:cBhvr>
                                    </p:animEffect>
                                  </p:childTnLst>
                                </p:cTn>
                              </p:par>
                              <p:par>
                                <p:cTn id="63" presetID="22" presetClass="entr" presetSubtype="8" fill="hold" nodeType="withEffect">
                                  <p:stCondLst>
                                    <p:cond delay="0"/>
                                  </p:stCondLst>
                                  <p:childTnLst>
                                    <p:set>
                                      <p:cBhvr>
                                        <p:cTn id="64" dur="1" fill="hold">
                                          <p:stCondLst>
                                            <p:cond delay="0"/>
                                          </p:stCondLst>
                                        </p:cTn>
                                        <p:tgtEl>
                                          <p:spTgt spid="81"/>
                                        </p:tgtEl>
                                        <p:attrNameLst>
                                          <p:attrName>style.visibility</p:attrName>
                                        </p:attrNameLst>
                                      </p:cBhvr>
                                      <p:to>
                                        <p:strVal val="visible"/>
                                      </p:to>
                                    </p:set>
                                    <p:animEffect transition="in" filter="wipe(left)">
                                      <p:cBhvr>
                                        <p:cTn id="65" dur="500"/>
                                        <p:tgtEl>
                                          <p:spTgt spid="81"/>
                                        </p:tgtEl>
                                      </p:cBhvr>
                                    </p:animEffect>
                                  </p:childTnLst>
                                </p:cTn>
                              </p:par>
                              <p:par>
                                <p:cTn id="66" presetID="1" presetClass="entr" presetSubtype="0" fill="hold" grpId="0" nodeType="withEffect">
                                  <p:stCondLst>
                                    <p:cond delay="0"/>
                                  </p:stCondLst>
                                  <p:childTnLst>
                                    <p:set>
                                      <p:cBhvr>
                                        <p:cTn id="67" dur="1" fill="hold">
                                          <p:stCondLst>
                                            <p:cond delay="0"/>
                                          </p:stCondLst>
                                        </p:cTn>
                                        <p:tgtEl>
                                          <p:spTgt spid="15"/>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63"/>
                                        </p:tgtEl>
                                        <p:attrNameLst>
                                          <p:attrName>style.visibility</p:attrName>
                                        </p:attrNameLst>
                                      </p:cBhvr>
                                      <p:to>
                                        <p:strVal val="visible"/>
                                      </p:to>
                                    </p:set>
                                    <p:animEffect transition="in" filter="fade">
                                      <p:cBhvr>
                                        <p:cTn id="72" dur="500"/>
                                        <p:tgtEl>
                                          <p:spTgt spid="63"/>
                                        </p:tgtEl>
                                      </p:cBhvr>
                                    </p:animEffect>
                                  </p:childTnLst>
                                </p:cTn>
                              </p:par>
                              <p:par>
                                <p:cTn id="73" presetID="10" presetClass="exit" presetSubtype="0" fill="hold" nodeType="withEffect">
                                  <p:stCondLst>
                                    <p:cond delay="0"/>
                                  </p:stCondLst>
                                  <p:childTnLst>
                                    <p:animEffect transition="out" filter="fade">
                                      <p:cBhvr>
                                        <p:cTn id="74" dur="500"/>
                                        <p:tgtEl>
                                          <p:spTgt spid="81"/>
                                        </p:tgtEl>
                                      </p:cBhvr>
                                    </p:animEffect>
                                    <p:set>
                                      <p:cBhvr>
                                        <p:cTn id="75" dur="1" fill="hold">
                                          <p:stCondLst>
                                            <p:cond delay="499"/>
                                          </p:stCondLst>
                                        </p:cTn>
                                        <p:tgtEl>
                                          <p:spTgt spid="81"/>
                                        </p:tgtEl>
                                        <p:attrNameLst>
                                          <p:attrName>style.visibility</p:attrName>
                                        </p:attrNameLst>
                                      </p:cBhvr>
                                      <p:to>
                                        <p:strVal val="hidden"/>
                                      </p:to>
                                    </p:set>
                                  </p:childTnLst>
                                </p:cTn>
                              </p:par>
                              <p:par>
                                <p:cTn id="76" presetID="22" presetClass="entr" presetSubtype="8" fill="hold" nodeType="with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wipe(left)">
                                      <p:cBhvr>
                                        <p:cTn id="78" dur="500"/>
                                        <p:tgtEl>
                                          <p:spTgt spid="20"/>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wipe(left)">
                                      <p:cBhvr>
                                        <p:cTn id="81" dur="500"/>
                                        <p:tgtEl>
                                          <p:spTgt spid="1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98"/>
                                        </p:tgtEl>
                                        <p:attrNameLst>
                                          <p:attrName>style.visibility</p:attrName>
                                        </p:attrNameLst>
                                      </p:cBhvr>
                                      <p:to>
                                        <p:strVal val="visible"/>
                                      </p:to>
                                    </p:set>
                                    <p:animEffect transition="in" filter="fade">
                                      <p:cBhvr>
                                        <p:cTn id="86" dur="500"/>
                                        <p:tgtEl>
                                          <p:spTgt spid="98"/>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2" fill="hold" nodeType="clickEffect">
                                  <p:stCondLst>
                                    <p:cond delay="0"/>
                                  </p:stCondLst>
                                  <p:childTnLst>
                                    <p:set>
                                      <p:cBhvr>
                                        <p:cTn id="90" dur="1" fill="hold">
                                          <p:stCondLst>
                                            <p:cond delay="0"/>
                                          </p:stCondLst>
                                        </p:cTn>
                                        <p:tgtEl>
                                          <p:spTgt spid="99"/>
                                        </p:tgtEl>
                                        <p:attrNameLst>
                                          <p:attrName>style.visibility</p:attrName>
                                        </p:attrNameLst>
                                      </p:cBhvr>
                                      <p:to>
                                        <p:strVal val="visible"/>
                                      </p:to>
                                    </p:set>
                                    <p:animEffect transition="in" filter="wipe(right)">
                                      <p:cBhvr>
                                        <p:cTn id="91" dur="500"/>
                                        <p:tgtEl>
                                          <p:spTgt spid="99"/>
                                        </p:tgtEl>
                                      </p:cBhvr>
                                    </p:animEffect>
                                  </p:childTnLst>
                                </p:cTn>
                              </p:par>
                            </p:childTnLst>
                          </p:cTn>
                        </p:par>
                        <p:par>
                          <p:cTn id="92" fill="hold">
                            <p:stCondLst>
                              <p:cond delay="500"/>
                            </p:stCondLst>
                            <p:childTnLst>
                              <p:par>
                                <p:cTn id="93" presetID="10" presetClass="entr" presetSubtype="0" fill="hold" nodeType="afterEffect">
                                  <p:stCondLst>
                                    <p:cond delay="0"/>
                                  </p:stCondLst>
                                  <p:childTnLst>
                                    <p:set>
                                      <p:cBhvr>
                                        <p:cTn id="94" dur="1" fill="hold">
                                          <p:stCondLst>
                                            <p:cond delay="0"/>
                                          </p:stCondLst>
                                        </p:cTn>
                                        <p:tgtEl>
                                          <p:spTgt spid="100"/>
                                        </p:tgtEl>
                                        <p:attrNameLst>
                                          <p:attrName>style.visibility</p:attrName>
                                        </p:attrNameLst>
                                      </p:cBhvr>
                                      <p:to>
                                        <p:strVal val="visible"/>
                                      </p:to>
                                    </p:set>
                                    <p:animEffect transition="in" filter="fade">
                                      <p:cBhvr>
                                        <p:cTn id="95" dur="500"/>
                                        <p:tgtEl>
                                          <p:spTgt spid="100"/>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nodeType="click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wipe(down)">
                                      <p:cBhvr>
                                        <p:cTn id="10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26" grpId="0"/>
      <p:bldP spid="46" grpId="0"/>
      <p:bldP spid="6" grpId="0" animBg="1"/>
      <p:bldP spid="6" grpId="1" animBg="1"/>
      <p:bldP spid="11" grpId="0" animBg="1"/>
      <p:bldP spid="15"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solidFill>
                  <a:srgbClr val="C00000"/>
                </a:solidFill>
              </a:rPr>
              <a:t>Recap: </a:t>
            </a:r>
            <a:r>
              <a:rPr kumimoji="1" lang="en-US" altLang="zh-TW" dirty="0"/>
              <a:t>Process Creation</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normAutofit/>
          </a:bodyPr>
          <a:lstStyle/>
          <a:p>
            <a:pPr algn="l"/>
            <a:r>
              <a:rPr kumimoji="1" lang="en-US" altLang="zh-TW" dirty="0"/>
              <a:t>Process</a:t>
            </a:r>
            <a:r>
              <a:rPr kumimoji="1" lang="zh-TW" altLang="en-US" dirty="0"/>
              <a:t> </a:t>
            </a:r>
            <a:r>
              <a:rPr kumimoji="1" lang="en-US" altLang="zh-TW" dirty="0"/>
              <a:t>Creation = fork() + exec()</a:t>
            </a:r>
          </a:p>
          <a:p>
            <a:pPr lvl="1" algn="l"/>
            <a:r>
              <a:rPr lang="en-US" altLang="zh-TW" dirty="0"/>
              <a:t>fork():</a:t>
            </a:r>
            <a:r>
              <a:rPr lang="zh-TW" altLang="en-US" dirty="0"/>
              <a:t> </a:t>
            </a:r>
            <a:r>
              <a:rPr lang="en-US" altLang="zh-TW" dirty="0"/>
              <a:t>Create</a:t>
            </a:r>
            <a:r>
              <a:rPr lang="zh-TW" altLang="en-US" dirty="0"/>
              <a:t> </a:t>
            </a:r>
            <a:r>
              <a:rPr lang="en-US" altLang="zh-TW" dirty="0"/>
              <a:t>a</a:t>
            </a:r>
            <a:r>
              <a:rPr lang="zh-TW" altLang="en-US" dirty="0"/>
              <a:t> </a:t>
            </a:r>
            <a:r>
              <a:rPr lang="en-US" altLang="zh-TW" dirty="0"/>
              <a:t>child</a:t>
            </a:r>
            <a:r>
              <a:rPr lang="zh-TW" altLang="en-US" dirty="0"/>
              <a:t> </a:t>
            </a:r>
            <a:r>
              <a:rPr lang="en-US" altLang="zh-TW" dirty="0"/>
              <a:t>by</a:t>
            </a:r>
            <a:r>
              <a:rPr lang="zh-TW" altLang="en-US" dirty="0"/>
              <a:t> </a:t>
            </a:r>
            <a:r>
              <a:rPr lang="en-US" altLang="zh-TW" dirty="0">
                <a:solidFill>
                  <a:srgbClr val="C00000"/>
                </a:solidFill>
              </a:rPr>
              <a:t>copying</a:t>
            </a:r>
            <a:r>
              <a:rPr lang="zh-TW" altLang="en-US" dirty="0"/>
              <a:t> </a:t>
            </a:r>
            <a:r>
              <a:rPr lang="en-US" altLang="zh-TW" dirty="0"/>
              <a:t>its</a:t>
            </a:r>
            <a:r>
              <a:rPr lang="zh-TW" altLang="en-US" dirty="0"/>
              <a:t> </a:t>
            </a:r>
            <a:r>
              <a:rPr lang="en-US" altLang="zh-TW" dirty="0"/>
              <a:t>parent. (Reason: efficient and simple!)</a:t>
            </a:r>
            <a:r>
              <a:rPr lang="zh-TW" altLang="en-US" dirty="0"/>
              <a:t> </a:t>
            </a:r>
            <a:br>
              <a:rPr lang="en-US" altLang="zh-TW" dirty="0"/>
            </a:br>
            <a:r>
              <a:rPr lang="en-US" altLang="zh-TW" i="1" dirty="0">
                <a:solidFill>
                  <a:schemeClr val="tx1">
                    <a:lumMod val="50000"/>
                    <a:lumOff val="50000"/>
                  </a:schemeClr>
                </a:solidFill>
              </a:rPr>
              <a:t>(Notice:</a:t>
            </a:r>
            <a:r>
              <a:rPr lang="zh-TW" altLang="en-US" i="1" dirty="0">
                <a:solidFill>
                  <a:schemeClr val="tx1">
                    <a:lumMod val="50000"/>
                    <a:lumOff val="50000"/>
                  </a:schemeClr>
                </a:solidFill>
              </a:rPr>
              <a:t> </a:t>
            </a:r>
            <a:r>
              <a:rPr lang="en-US" altLang="zh-TW" i="1" dirty="0">
                <a:solidFill>
                  <a:schemeClr val="tx1">
                    <a:lumMod val="50000"/>
                    <a:lumOff val="50000"/>
                  </a:schemeClr>
                </a:solidFill>
              </a:rPr>
              <a:t>PID,</a:t>
            </a:r>
            <a:r>
              <a:rPr lang="zh-TW" altLang="en-US" i="1" dirty="0">
                <a:solidFill>
                  <a:schemeClr val="tx1">
                    <a:lumMod val="50000"/>
                    <a:lumOff val="50000"/>
                  </a:schemeClr>
                </a:solidFill>
              </a:rPr>
              <a:t> </a:t>
            </a:r>
            <a:r>
              <a:rPr lang="en-US" altLang="zh-TW" i="1" dirty="0">
                <a:solidFill>
                  <a:schemeClr val="tx1">
                    <a:lumMod val="50000"/>
                    <a:lumOff val="50000"/>
                  </a:schemeClr>
                </a:solidFill>
              </a:rPr>
              <a:t>Page</a:t>
            </a:r>
            <a:r>
              <a:rPr lang="zh-TW" altLang="en-US" i="1" dirty="0">
                <a:solidFill>
                  <a:schemeClr val="tx1">
                    <a:lumMod val="50000"/>
                    <a:lumOff val="50000"/>
                  </a:schemeClr>
                </a:solidFill>
              </a:rPr>
              <a:t> </a:t>
            </a:r>
            <a:r>
              <a:rPr lang="en-US" altLang="zh-TW" i="1" dirty="0">
                <a:solidFill>
                  <a:schemeClr val="tx1">
                    <a:lumMod val="50000"/>
                    <a:lumOff val="50000"/>
                  </a:schemeClr>
                </a:solidFill>
              </a:rPr>
              <a:t>Table,</a:t>
            </a:r>
            <a:r>
              <a:rPr lang="zh-TW" altLang="en-US" i="1" dirty="0">
                <a:solidFill>
                  <a:schemeClr val="tx1">
                    <a:lumMod val="50000"/>
                    <a:lumOff val="50000"/>
                  </a:schemeClr>
                </a:solidFill>
              </a:rPr>
              <a:t> </a:t>
            </a:r>
            <a:r>
              <a:rPr lang="en-US" altLang="zh-TW" i="1" dirty="0">
                <a:solidFill>
                  <a:schemeClr val="tx1">
                    <a:lumMod val="50000"/>
                    <a:lumOff val="50000"/>
                  </a:schemeClr>
                </a:solidFill>
              </a:rPr>
              <a:t>Page Frames and</a:t>
            </a:r>
            <a:r>
              <a:rPr lang="zh-TW" altLang="en-US" i="1" dirty="0">
                <a:solidFill>
                  <a:schemeClr val="tx1">
                    <a:lumMod val="50000"/>
                    <a:lumOff val="50000"/>
                  </a:schemeClr>
                </a:solidFill>
              </a:rPr>
              <a:t> </a:t>
            </a:r>
            <a:r>
              <a:rPr lang="en-US" altLang="zh-TW" i="1" dirty="0">
                <a:solidFill>
                  <a:schemeClr val="tx1">
                    <a:lumMod val="50000"/>
                    <a:lumOff val="50000"/>
                  </a:schemeClr>
                </a:solidFill>
              </a:rPr>
              <a:t>some</a:t>
            </a:r>
            <a:r>
              <a:rPr lang="zh-TW" altLang="en-US" i="1" dirty="0">
                <a:solidFill>
                  <a:schemeClr val="tx1">
                    <a:lumMod val="50000"/>
                    <a:lumOff val="50000"/>
                  </a:schemeClr>
                </a:solidFill>
              </a:rPr>
              <a:t> </a:t>
            </a:r>
            <a:r>
              <a:rPr lang="en-US" altLang="zh-TW" i="1" dirty="0">
                <a:solidFill>
                  <a:schemeClr val="tx1">
                    <a:lumMod val="50000"/>
                    <a:lumOff val="50000"/>
                  </a:schemeClr>
                </a:solidFill>
              </a:rPr>
              <a:t>signals</a:t>
            </a:r>
            <a:r>
              <a:rPr lang="zh-TW" altLang="en-US" i="1" dirty="0">
                <a:solidFill>
                  <a:schemeClr val="tx1">
                    <a:lumMod val="50000"/>
                    <a:lumOff val="50000"/>
                  </a:schemeClr>
                </a:solidFill>
              </a:rPr>
              <a:t> </a:t>
            </a:r>
            <a:r>
              <a:rPr lang="en-US" altLang="zh-TW" i="1" dirty="0">
                <a:solidFill>
                  <a:schemeClr val="tx1">
                    <a:lumMod val="50000"/>
                    <a:lumOff val="50000"/>
                  </a:schemeClr>
                </a:solidFill>
              </a:rPr>
              <a:t>are</a:t>
            </a:r>
            <a:r>
              <a:rPr lang="zh-TW" altLang="en-US" i="1" dirty="0">
                <a:solidFill>
                  <a:schemeClr val="tx1">
                    <a:lumMod val="50000"/>
                    <a:lumOff val="50000"/>
                  </a:schemeClr>
                </a:solidFill>
              </a:rPr>
              <a:t> </a:t>
            </a:r>
            <a:r>
              <a:rPr lang="en-US" altLang="zh-TW" i="1" dirty="0">
                <a:solidFill>
                  <a:schemeClr val="tx1">
                    <a:lumMod val="50000"/>
                    <a:lumOff val="50000"/>
                  </a:schemeClr>
                </a:solidFill>
              </a:rPr>
              <a:t>different)</a:t>
            </a:r>
          </a:p>
          <a:p>
            <a:pPr lvl="1" algn="l"/>
            <a:r>
              <a:rPr lang="en-US" altLang="zh-TW" dirty="0"/>
              <a:t>e</a:t>
            </a:r>
            <a:r>
              <a:rPr kumimoji="1" lang="en-US" altLang="zh-TW" dirty="0"/>
              <a:t>xec():</a:t>
            </a:r>
            <a:r>
              <a:rPr kumimoji="1" lang="zh-TW" altLang="en-US" dirty="0"/>
              <a:t> </a:t>
            </a:r>
            <a:r>
              <a:rPr kumimoji="1" lang="en-US" altLang="zh-TW" dirty="0"/>
              <a:t>Loads</a:t>
            </a:r>
            <a:r>
              <a:rPr kumimoji="1" lang="zh-TW" altLang="en-US" dirty="0"/>
              <a:t> </a:t>
            </a:r>
            <a:r>
              <a:rPr kumimoji="1" lang="en-US" altLang="zh-TW" dirty="0"/>
              <a:t>a</a:t>
            </a:r>
            <a:r>
              <a:rPr kumimoji="1" lang="zh-TW" altLang="en-US" dirty="0"/>
              <a:t> </a:t>
            </a:r>
            <a:r>
              <a:rPr kumimoji="1" lang="en-US" altLang="zh-TW" dirty="0"/>
              <a:t>new</a:t>
            </a:r>
            <a:r>
              <a:rPr kumimoji="1" lang="zh-TW" altLang="en-US" dirty="0"/>
              <a:t> </a:t>
            </a:r>
            <a:r>
              <a:rPr kumimoji="1" lang="en-US" altLang="zh-TW" dirty="0"/>
              <a:t>executable</a:t>
            </a:r>
            <a:r>
              <a:rPr kumimoji="1" lang="zh-TW" altLang="en-US" dirty="0"/>
              <a:t> </a:t>
            </a:r>
            <a:r>
              <a:rPr lang="en-US" altLang="zh-TW" dirty="0"/>
              <a:t>into</a:t>
            </a:r>
            <a:r>
              <a:rPr lang="zh-TW" altLang="en-US" dirty="0"/>
              <a:t> </a:t>
            </a:r>
            <a:r>
              <a:rPr lang="en-US" altLang="zh-TW" dirty="0"/>
              <a:t>the</a:t>
            </a:r>
            <a:r>
              <a:rPr lang="zh-TW" altLang="en-US" dirty="0"/>
              <a:t> </a:t>
            </a:r>
            <a:r>
              <a:rPr lang="en-US" altLang="zh-TW" dirty="0"/>
              <a:t>address</a:t>
            </a:r>
            <a:r>
              <a:rPr lang="zh-TW" altLang="en-US" dirty="0"/>
              <a:t> </a:t>
            </a:r>
            <a:r>
              <a:rPr lang="en-US" altLang="zh-TW" dirty="0"/>
              <a:t>space (i.e., memory)</a:t>
            </a:r>
            <a:r>
              <a:rPr lang="zh-TW" altLang="en-US" dirty="0"/>
              <a:t> </a:t>
            </a:r>
            <a:r>
              <a:rPr lang="en-US" altLang="zh-TW" dirty="0"/>
              <a:t>and</a:t>
            </a:r>
            <a:r>
              <a:rPr lang="zh-TW" altLang="en-US" dirty="0"/>
              <a:t> </a:t>
            </a:r>
            <a:r>
              <a:rPr lang="en-US" altLang="zh-TW" dirty="0"/>
              <a:t>runs</a:t>
            </a:r>
            <a:r>
              <a:rPr lang="zh-TW" altLang="en-US" dirty="0"/>
              <a:t> </a:t>
            </a:r>
            <a:r>
              <a:rPr lang="en-US" altLang="zh-TW" dirty="0"/>
              <a:t>it.</a:t>
            </a:r>
            <a:endParaRPr kumimoji="1" lang="en-US" altLang="zh-TW" dirty="0"/>
          </a:p>
          <a:p>
            <a:pPr algn="l"/>
            <a:r>
              <a:rPr lang="en-US" altLang="zh-TW" dirty="0"/>
              <a:t>Copy-on-Write</a:t>
            </a:r>
            <a:r>
              <a:rPr lang="zh-TW" altLang="en-US" dirty="0"/>
              <a:t> </a:t>
            </a:r>
            <a:r>
              <a:rPr lang="en-US" altLang="zh-TW" dirty="0"/>
              <a:t>(</a:t>
            </a:r>
            <a:r>
              <a:rPr lang="en-US" altLang="zh-TW" dirty="0" err="1"/>
              <a:t>CoW</a:t>
            </a:r>
            <a:r>
              <a:rPr lang="en-US" altLang="zh-TW" dirty="0"/>
              <a:t>)</a:t>
            </a:r>
          </a:p>
          <a:p>
            <a:pPr lvl="1" algn="l"/>
            <a:r>
              <a:rPr lang="en-US" altLang="zh-TW" dirty="0"/>
              <a:t>Challenge:</a:t>
            </a:r>
            <a:r>
              <a:rPr lang="zh-TW" altLang="en-US" dirty="0"/>
              <a:t> </a:t>
            </a:r>
            <a:r>
              <a:rPr lang="en-US" altLang="zh-TW" dirty="0"/>
              <a:t>Naively</a:t>
            </a:r>
            <a:r>
              <a:rPr lang="zh-TW" altLang="en-US" dirty="0"/>
              <a:t> </a:t>
            </a:r>
            <a:r>
              <a:rPr lang="en-US" altLang="zh-TW" dirty="0">
                <a:solidFill>
                  <a:srgbClr val="C00000"/>
                </a:solidFill>
              </a:rPr>
              <a:t>copying</a:t>
            </a:r>
            <a:r>
              <a:rPr lang="zh-TW" altLang="en-US" dirty="0"/>
              <a:t> </a:t>
            </a:r>
            <a:r>
              <a:rPr lang="en-US" altLang="zh-TW" dirty="0"/>
              <a:t>all</a:t>
            </a:r>
            <a:r>
              <a:rPr lang="zh-TW" altLang="en-US" dirty="0"/>
              <a:t> </a:t>
            </a:r>
            <a:r>
              <a:rPr lang="en-US" altLang="zh-TW" dirty="0"/>
              <a:t>resources</a:t>
            </a:r>
            <a:r>
              <a:rPr lang="zh-TW" altLang="en-US" dirty="0"/>
              <a:t> </a:t>
            </a:r>
            <a:r>
              <a:rPr lang="en-US" altLang="zh-TW" dirty="0"/>
              <a:t>from</a:t>
            </a:r>
            <a:r>
              <a:rPr lang="zh-TW" altLang="en-US" dirty="0"/>
              <a:t> </a:t>
            </a:r>
            <a:r>
              <a:rPr lang="en-US" altLang="zh-TW" dirty="0"/>
              <a:t>a</a:t>
            </a:r>
            <a:r>
              <a:rPr lang="zh-TW" altLang="en-US" dirty="0"/>
              <a:t> </a:t>
            </a:r>
            <a:r>
              <a:rPr lang="en-US" altLang="zh-TW" dirty="0"/>
              <a:t>parent</a:t>
            </a:r>
            <a:r>
              <a:rPr lang="zh-TW" altLang="en-US" dirty="0"/>
              <a:t> </a:t>
            </a:r>
            <a:r>
              <a:rPr lang="en-US" altLang="zh-TW" dirty="0"/>
              <a:t>process</a:t>
            </a:r>
            <a:r>
              <a:rPr lang="zh-TW" altLang="en-US" dirty="0"/>
              <a:t> </a:t>
            </a:r>
            <a:r>
              <a:rPr lang="en-US" altLang="zh-TW" dirty="0"/>
              <a:t>is</a:t>
            </a:r>
            <a:r>
              <a:rPr lang="zh-TW" altLang="en-US" dirty="0"/>
              <a:t> </a:t>
            </a:r>
            <a:r>
              <a:rPr lang="en-US" altLang="zh-TW" dirty="0">
                <a:solidFill>
                  <a:srgbClr val="C00000"/>
                </a:solidFill>
              </a:rPr>
              <a:t>time</a:t>
            </a:r>
            <a:r>
              <a:rPr lang="zh-TW" altLang="en-US" dirty="0">
                <a:solidFill>
                  <a:srgbClr val="C00000"/>
                </a:solidFill>
              </a:rPr>
              <a:t> </a:t>
            </a:r>
            <a:r>
              <a:rPr lang="en-US" altLang="zh-TW" dirty="0">
                <a:solidFill>
                  <a:srgbClr val="C00000"/>
                </a:solidFill>
              </a:rPr>
              <a:t>consuming</a:t>
            </a:r>
            <a:r>
              <a:rPr lang="en-US" altLang="zh-TW" dirty="0"/>
              <a:t>.</a:t>
            </a:r>
          </a:p>
          <a:p>
            <a:pPr lvl="1" algn="l"/>
            <a:r>
              <a:rPr lang="en-US" altLang="zh-TW" dirty="0"/>
              <a:t>How</a:t>
            </a:r>
            <a:r>
              <a:rPr lang="zh-TW" altLang="en-US" dirty="0"/>
              <a:t> </a:t>
            </a:r>
            <a:r>
              <a:rPr lang="en-US" altLang="zh-TW" dirty="0" err="1"/>
              <a:t>CoW</a:t>
            </a:r>
            <a:r>
              <a:rPr lang="zh-TW" altLang="en-US" dirty="0"/>
              <a:t> </a:t>
            </a:r>
            <a:r>
              <a:rPr lang="en-US" altLang="zh-TW" dirty="0"/>
              <a:t>works:</a:t>
            </a:r>
            <a:r>
              <a:rPr lang="zh-TW" altLang="en-US" dirty="0"/>
              <a:t> </a:t>
            </a:r>
            <a:r>
              <a:rPr lang="en-US" altLang="zh-TW" dirty="0">
                <a:solidFill>
                  <a:srgbClr val="C00000"/>
                </a:solidFill>
              </a:rPr>
              <a:t>Delay</a:t>
            </a:r>
            <a:r>
              <a:rPr lang="zh-TW" altLang="en-US" dirty="0"/>
              <a:t> </a:t>
            </a:r>
            <a:r>
              <a:rPr lang="en-US" altLang="zh-TW" dirty="0"/>
              <a:t>and</a:t>
            </a:r>
            <a:r>
              <a:rPr lang="zh-TW" altLang="en-US" dirty="0"/>
              <a:t> </a:t>
            </a:r>
            <a:r>
              <a:rPr lang="en-US" altLang="zh-TW" dirty="0"/>
              <a:t>prevent</a:t>
            </a:r>
            <a:r>
              <a:rPr lang="zh-TW" altLang="en-US" dirty="0"/>
              <a:t> </a:t>
            </a:r>
            <a:r>
              <a:rPr lang="en-US" altLang="zh-TW" dirty="0"/>
              <a:t>copying</a:t>
            </a:r>
            <a:r>
              <a:rPr lang="zh-TW" altLang="en-US" dirty="0"/>
              <a:t> </a:t>
            </a:r>
            <a:r>
              <a:rPr lang="en-US" altLang="zh-TW" dirty="0"/>
              <a:t>data</a:t>
            </a:r>
            <a:r>
              <a:rPr lang="zh-TW" altLang="en-US" dirty="0"/>
              <a:t> </a:t>
            </a:r>
            <a:r>
              <a:rPr lang="en-US" altLang="zh-TW" dirty="0">
                <a:solidFill>
                  <a:srgbClr val="C00000"/>
                </a:solidFill>
              </a:rPr>
              <a:t>until</a:t>
            </a:r>
            <a:r>
              <a:rPr lang="zh-TW" altLang="en-US" dirty="0">
                <a:solidFill>
                  <a:srgbClr val="C00000"/>
                </a:solidFill>
              </a:rPr>
              <a:t> </a:t>
            </a:r>
            <a:r>
              <a:rPr lang="en-US" altLang="zh-TW" dirty="0">
                <a:solidFill>
                  <a:srgbClr val="C00000"/>
                </a:solidFill>
              </a:rPr>
              <a:t>the</a:t>
            </a:r>
            <a:r>
              <a:rPr lang="zh-TW" altLang="en-US" dirty="0">
                <a:solidFill>
                  <a:srgbClr val="C00000"/>
                </a:solidFill>
              </a:rPr>
              <a:t> </a:t>
            </a:r>
            <a:r>
              <a:rPr lang="en-US" altLang="zh-TW" dirty="0">
                <a:solidFill>
                  <a:srgbClr val="C00000"/>
                </a:solidFill>
              </a:rPr>
              <a:t>data</a:t>
            </a:r>
            <a:r>
              <a:rPr lang="zh-TW" altLang="en-US" dirty="0">
                <a:solidFill>
                  <a:srgbClr val="C00000"/>
                </a:solidFill>
              </a:rPr>
              <a:t> </a:t>
            </a:r>
            <a:r>
              <a:rPr lang="en-US" altLang="zh-TW" dirty="0">
                <a:solidFill>
                  <a:srgbClr val="C00000"/>
                </a:solidFill>
              </a:rPr>
              <a:t>is</a:t>
            </a:r>
            <a:r>
              <a:rPr lang="zh-TW" altLang="en-US" dirty="0">
                <a:solidFill>
                  <a:srgbClr val="C00000"/>
                </a:solidFill>
              </a:rPr>
              <a:t> </a:t>
            </a:r>
            <a:r>
              <a:rPr lang="en-US" altLang="zh-TW" dirty="0">
                <a:solidFill>
                  <a:srgbClr val="C00000"/>
                </a:solidFill>
              </a:rPr>
              <a:t>written</a:t>
            </a:r>
            <a:r>
              <a:rPr lang="en-US" altLang="zh-TW" dirty="0"/>
              <a:t>.</a:t>
            </a:r>
            <a:r>
              <a:rPr lang="zh-TW" altLang="en-US" dirty="0"/>
              <a:t> </a:t>
            </a:r>
            <a:r>
              <a:rPr lang="en-US" altLang="zh-TW" dirty="0"/>
              <a:t>(i.e.,</a:t>
            </a:r>
            <a:r>
              <a:rPr lang="zh-TW" altLang="en-US" dirty="0"/>
              <a:t> </a:t>
            </a:r>
            <a:r>
              <a:rPr lang="en-US" altLang="zh-TW" dirty="0"/>
              <a:t>resources</a:t>
            </a:r>
            <a:r>
              <a:rPr lang="zh-TW" altLang="en-US" dirty="0"/>
              <a:t> </a:t>
            </a:r>
            <a:r>
              <a:rPr lang="en-US" altLang="zh-TW" dirty="0"/>
              <a:t>are</a:t>
            </a:r>
            <a:r>
              <a:rPr lang="zh-TW" altLang="en-US" dirty="0"/>
              <a:t> </a:t>
            </a:r>
            <a:r>
              <a:rPr lang="en-US" altLang="zh-TW" dirty="0"/>
              <a:t>shared</a:t>
            </a:r>
            <a:r>
              <a:rPr lang="zh-TW" altLang="en-US" dirty="0"/>
              <a:t> </a:t>
            </a:r>
            <a:r>
              <a:rPr lang="en-US" altLang="zh-TW" dirty="0"/>
              <a:t>read-only)</a:t>
            </a:r>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9</a:t>
            </a:fld>
            <a:endParaRPr lang="zh-TW" altLang="en-US" dirty="0"/>
          </a:p>
        </p:txBody>
      </p:sp>
      <p:grpSp>
        <p:nvGrpSpPr>
          <p:cNvPr id="59" name="群組 58">
            <a:extLst>
              <a:ext uri="{FF2B5EF4-FFF2-40B4-BE49-F238E27FC236}">
                <a16:creationId xmlns:a16="http://schemas.microsoft.com/office/drawing/2014/main" id="{BF8D617F-5F49-5518-86A1-735BFF30367D}"/>
              </a:ext>
            </a:extLst>
          </p:cNvPr>
          <p:cNvGrpSpPr/>
          <p:nvPr/>
        </p:nvGrpSpPr>
        <p:grpSpPr>
          <a:xfrm>
            <a:off x="1353700" y="5095364"/>
            <a:ext cx="9484599" cy="1762636"/>
            <a:chOff x="584893" y="5119533"/>
            <a:chExt cx="9484599" cy="1762636"/>
          </a:xfrm>
        </p:grpSpPr>
        <p:sp>
          <p:nvSpPr>
            <p:cNvPr id="5" name="矩形 4">
              <a:extLst>
                <a:ext uri="{FF2B5EF4-FFF2-40B4-BE49-F238E27FC236}">
                  <a16:creationId xmlns:a16="http://schemas.microsoft.com/office/drawing/2014/main" id="{DC3F7EC3-27A8-4BE3-15A1-2834ECD51C22}"/>
                </a:ext>
              </a:extLst>
            </p:cNvPr>
            <p:cNvSpPr/>
            <p:nvPr/>
          </p:nvSpPr>
          <p:spPr>
            <a:xfrm>
              <a:off x="691662" y="5122123"/>
              <a:ext cx="9377830" cy="1037553"/>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矩形 7">
              <a:extLst>
                <a:ext uri="{FF2B5EF4-FFF2-40B4-BE49-F238E27FC236}">
                  <a16:creationId xmlns:a16="http://schemas.microsoft.com/office/drawing/2014/main" id="{D5438F23-1FCE-09F3-A652-3A4EE0D4C504}"/>
                </a:ext>
              </a:extLst>
            </p:cNvPr>
            <p:cNvSpPr/>
            <p:nvPr/>
          </p:nvSpPr>
          <p:spPr>
            <a:xfrm>
              <a:off x="1312985" y="5119533"/>
              <a:ext cx="835851" cy="1040144"/>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400" dirty="0">
                <a:solidFill>
                  <a:schemeClr val="tx1"/>
                </a:solidFill>
              </a:endParaRPr>
            </a:p>
          </p:txBody>
        </p:sp>
        <p:sp>
          <p:nvSpPr>
            <p:cNvPr id="13" name="文字方塊 12">
              <a:extLst>
                <a:ext uri="{FF2B5EF4-FFF2-40B4-BE49-F238E27FC236}">
                  <a16:creationId xmlns:a16="http://schemas.microsoft.com/office/drawing/2014/main" id="{DC128407-BB53-E540-13D2-A587D6C666FA}"/>
                </a:ext>
              </a:extLst>
            </p:cNvPr>
            <p:cNvSpPr txBox="1"/>
            <p:nvPr/>
          </p:nvSpPr>
          <p:spPr>
            <a:xfrm>
              <a:off x="4370902" y="6543615"/>
              <a:ext cx="2658164" cy="338554"/>
            </a:xfrm>
            <a:prstGeom prst="rect">
              <a:avLst/>
            </a:prstGeom>
            <a:noFill/>
          </p:spPr>
          <p:txBody>
            <a:bodyPr wrap="none" rtlCol="0">
              <a:spAutoFit/>
            </a:bodyPr>
            <a:lstStyle/>
            <a:p>
              <a:r>
                <a:rPr kumimoji="1" lang="en-US" altLang="zh-TW" sz="1600" dirty="0"/>
                <a:t>Physical</a:t>
              </a:r>
              <a:r>
                <a:rPr kumimoji="1" lang="zh-TW" altLang="en-US" sz="1600" dirty="0"/>
                <a:t> </a:t>
              </a:r>
              <a:r>
                <a:rPr kumimoji="1" lang="en-US" altLang="zh-TW" sz="1600" dirty="0"/>
                <a:t>Address</a:t>
              </a:r>
              <a:r>
                <a:rPr kumimoji="1" lang="zh-TW" altLang="en-US" sz="1600" dirty="0"/>
                <a:t> </a:t>
              </a:r>
              <a:r>
                <a:rPr kumimoji="1" lang="en-US" altLang="zh-TW" sz="1600" dirty="0"/>
                <a:t>(e.g.,</a:t>
              </a:r>
              <a:r>
                <a:rPr kumimoji="1" lang="zh-TW" altLang="en-US" sz="1600" dirty="0"/>
                <a:t> </a:t>
              </a:r>
              <a:r>
                <a:rPr kumimoji="1" lang="en-US" altLang="zh-TW" sz="1600" dirty="0"/>
                <a:t>DRAM)</a:t>
              </a:r>
              <a:endParaRPr kumimoji="1" lang="zh-TW" altLang="en-US" sz="1600" dirty="0"/>
            </a:p>
          </p:txBody>
        </p:sp>
        <p:sp>
          <p:nvSpPr>
            <p:cNvPr id="16" name="矩形 15">
              <a:extLst>
                <a:ext uri="{FF2B5EF4-FFF2-40B4-BE49-F238E27FC236}">
                  <a16:creationId xmlns:a16="http://schemas.microsoft.com/office/drawing/2014/main" id="{EAEF674D-6D89-75D6-2884-4386F38C7EDE}"/>
                </a:ext>
              </a:extLst>
            </p:cNvPr>
            <p:cNvSpPr/>
            <p:nvPr/>
          </p:nvSpPr>
          <p:spPr>
            <a:xfrm>
              <a:off x="7335721" y="5127917"/>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br>
                <a:rPr kumimoji="1" lang="en-US" altLang="zh-TW" sz="1400" dirty="0">
                  <a:solidFill>
                    <a:schemeClr val="tx1"/>
                  </a:solidFill>
                </a:rPr>
              </a:br>
              <a:r>
                <a:rPr kumimoji="1" lang="en-US" altLang="zh-TW" sz="1400" dirty="0">
                  <a:solidFill>
                    <a:schemeClr val="tx1"/>
                  </a:solidFill>
                </a:rPr>
                <a:t>(</a:t>
              </a:r>
              <a:r>
                <a:rPr kumimoji="1" lang="en-US" altLang="zh-TW" sz="1400" dirty="0" err="1">
                  <a:solidFill>
                    <a:schemeClr val="tx1"/>
                  </a:solidFill>
                </a:rPr>
                <a:t>e.g</a:t>
              </a:r>
              <a:r>
                <a:rPr kumimoji="1" lang="en-US" altLang="zh-TW" sz="1400" dirty="0">
                  <a:solidFill>
                    <a:schemeClr val="tx1"/>
                  </a:solidFill>
                </a:rPr>
                <a:t>, heap)</a:t>
              </a:r>
              <a:endParaRPr kumimoji="1" lang="zh-TW" altLang="en-US" sz="1400" dirty="0">
                <a:solidFill>
                  <a:schemeClr val="tx1"/>
                </a:solidFill>
              </a:endParaRPr>
            </a:p>
          </p:txBody>
        </p:sp>
        <p:sp>
          <p:nvSpPr>
            <p:cNvPr id="17" name="矩形 16">
              <a:extLst>
                <a:ext uri="{FF2B5EF4-FFF2-40B4-BE49-F238E27FC236}">
                  <a16:creationId xmlns:a16="http://schemas.microsoft.com/office/drawing/2014/main" id="{E783BAE2-FE0B-7E1E-4E1A-FFE38A47EF01}"/>
                </a:ext>
              </a:extLst>
            </p:cNvPr>
            <p:cNvSpPr/>
            <p:nvPr/>
          </p:nvSpPr>
          <p:spPr>
            <a:xfrm>
              <a:off x="8648624" y="5127917"/>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p>
            <a:p>
              <a:pPr algn="ctr"/>
              <a:r>
                <a:rPr kumimoji="1" lang="en-US" altLang="zh-TW" sz="1400" dirty="0">
                  <a:solidFill>
                    <a:schemeClr val="tx1"/>
                  </a:solidFill>
                </a:rPr>
                <a:t>(e.g., heap)</a:t>
              </a:r>
              <a:endParaRPr kumimoji="1" lang="zh-TW" altLang="en-US" sz="1400" dirty="0">
                <a:solidFill>
                  <a:schemeClr val="tx1"/>
                </a:solidFill>
              </a:endParaRPr>
            </a:p>
          </p:txBody>
        </p:sp>
        <p:sp>
          <p:nvSpPr>
            <p:cNvPr id="19" name="文字方塊 18">
              <a:extLst>
                <a:ext uri="{FF2B5EF4-FFF2-40B4-BE49-F238E27FC236}">
                  <a16:creationId xmlns:a16="http://schemas.microsoft.com/office/drawing/2014/main" id="{D2D8872A-8F6A-98D5-B52C-3ECA04D1B7F2}"/>
                </a:ext>
              </a:extLst>
            </p:cNvPr>
            <p:cNvSpPr txBox="1"/>
            <p:nvPr/>
          </p:nvSpPr>
          <p:spPr>
            <a:xfrm>
              <a:off x="7438172" y="6234352"/>
              <a:ext cx="466794" cy="307777"/>
            </a:xfrm>
            <a:prstGeom prst="rect">
              <a:avLst/>
            </a:prstGeom>
            <a:noFill/>
          </p:spPr>
          <p:txBody>
            <a:bodyPr wrap="none" rtlCol="0">
              <a:spAutoFit/>
            </a:bodyPr>
            <a:lstStyle/>
            <a:p>
              <a:r>
                <a:rPr kumimoji="1" lang="en-US" altLang="zh-TW" sz="1400" dirty="0"/>
                <a:t>4KB</a:t>
              </a:r>
              <a:endParaRPr kumimoji="1" lang="zh-TW" altLang="en-US" sz="1400" dirty="0"/>
            </a:p>
          </p:txBody>
        </p:sp>
        <p:cxnSp>
          <p:nvCxnSpPr>
            <p:cNvPr id="21" name="曲線接點 20">
              <a:extLst>
                <a:ext uri="{FF2B5EF4-FFF2-40B4-BE49-F238E27FC236}">
                  <a16:creationId xmlns:a16="http://schemas.microsoft.com/office/drawing/2014/main" id="{DAF30D1D-E4B5-DDF5-0B65-2E0F7E2A7F6C}"/>
                </a:ext>
              </a:extLst>
            </p:cNvPr>
            <p:cNvCxnSpPr>
              <a:cxnSpLocks/>
            </p:cNvCxnSpPr>
            <p:nvPr/>
          </p:nvCxnSpPr>
          <p:spPr>
            <a:xfrm rot="5400000" flipH="1" flipV="1">
              <a:off x="7564799" y="6124676"/>
              <a:ext cx="246170" cy="5607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3B33A93E-9A7F-2B41-C784-0D3E02685352}"/>
                </a:ext>
              </a:extLst>
            </p:cNvPr>
            <p:cNvSpPr txBox="1"/>
            <p:nvPr/>
          </p:nvSpPr>
          <p:spPr>
            <a:xfrm>
              <a:off x="584893" y="6322101"/>
              <a:ext cx="1825115" cy="523220"/>
            </a:xfrm>
            <a:prstGeom prst="rect">
              <a:avLst/>
            </a:prstGeom>
            <a:noFill/>
          </p:spPr>
          <p:txBody>
            <a:bodyPr wrap="none" rtlCol="0">
              <a:spAutoFit/>
            </a:bodyPr>
            <a:lstStyle/>
            <a:p>
              <a:pPr algn="ctr"/>
              <a:r>
                <a:rPr kumimoji="1" lang="en-US" altLang="zh-TW" sz="1400" dirty="0"/>
                <a:t>Assume only one-level</a:t>
              </a:r>
              <a:br>
                <a:rPr kumimoji="1" lang="en-US" altLang="zh-TW" sz="1400" dirty="0"/>
              </a:br>
              <a:r>
                <a:rPr kumimoji="1" lang="en-US" altLang="zh-TW" sz="1400" dirty="0"/>
                <a:t>(4-level Actually)</a:t>
              </a:r>
              <a:endParaRPr kumimoji="1" lang="zh-TW" altLang="en-US" sz="1400" dirty="0"/>
            </a:p>
          </p:txBody>
        </p:sp>
        <p:cxnSp>
          <p:nvCxnSpPr>
            <p:cNvPr id="25" name="曲線接點 24">
              <a:extLst>
                <a:ext uri="{FF2B5EF4-FFF2-40B4-BE49-F238E27FC236}">
                  <a16:creationId xmlns:a16="http://schemas.microsoft.com/office/drawing/2014/main" id="{513B3AAC-734D-8EA9-E38C-D4B8E481FFE7}"/>
                </a:ext>
              </a:extLst>
            </p:cNvPr>
            <p:cNvCxnSpPr>
              <a:cxnSpLocks/>
            </p:cNvCxnSpPr>
            <p:nvPr/>
          </p:nvCxnSpPr>
          <p:spPr>
            <a:xfrm rot="5400000" flipH="1" flipV="1">
              <a:off x="1684634" y="6238818"/>
              <a:ext cx="246170" cy="5607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矩形 44">
            <a:extLst>
              <a:ext uri="{FF2B5EF4-FFF2-40B4-BE49-F238E27FC236}">
                <a16:creationId xmlns:a16="http://schemas.microsoft.com/office/drawing/2014/main" id="{581BE477-27FB-F24D-BDAD-0357614D3DE8}"/>
              </a:ext>
            </a:extLst>
          </p:cNvPr>
          <p:cNvSpPr/>
          <p:nvPr/>
        </p:nvSpPr>
        <p:spPr>
          <a:xfrm>
            <a:off x="4312115" y="5091899"/>
            <a:ext cx="835851" cy="103971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400" dirty="0">
              <a:solidFill>
                <a:schemeClr val="tx1"/>
              </a:solidFill>
            </a:endParaRPr>
          </a:p>
        </p:txBody>
      </p:sp>
      <p:grpSp>
        <p:nvGrpSpPr>
          <p:cNvPr id="81" name="群組 80">
            <a:extLst>
              <a:ext uri="{FF2B5EF4-FFF2-40B4-BE49-F238E27FC236}">
                <a16:creationId xmlns:a16="http://schemas.microsoft.com/office/drawing/2014/main" id="{AA5B1E55-9586-8624-8A90-48357D282C7A}"/>
              </a:ext>
            </a:extLst>
          </p:cNvPr>
          <p:cNvGrpSpPr/>
          <p:nvPr/>
        </p:nvGrpSpPr>
        <p:grpSpPr>
          <a:xfrm>
            <a:off x="2980232" y="5617810"/>
            <a:ext cx="3099103" cy="969681"/>
            <a:chOff x="1891954" y="5641979"/>
            <a:chExt cx="3099103" cy="969681"/>
          </a:xfrm>
        </p:grpSpPr>
        <p:cxnSp>
          <p:nvCxnSpPr>
            <p:cNvPr id="50" name="直線箭頭接點 49">
              <a:extLst>
                <a:ext uri="{FF2B5EF4-FFF2-40B4-BE49-F238E27FC236}">
                  <a16:creationId xmlns:a16="http://schemas.microsoft.com/office/drawing/2014/main" id="{3468C696-E368-F2BF-8BB6-7FEA782062B2}"/>
                </a:ext>
              </a:extLst>
            </p:cNvPr>
            <p:cNvCxnSpPr>
              <a:cxnSpLocks/>
            </p:cNvCxnSpPr>
            <p:nvPr/>
          </p:nvCxnSpPr>
          <p:spPr>
            <a:xfrm>
              <a:off x="1891954" y="5641979"/>
              <a:ext cx="1289668" cy="0"/>
            </a:xfrm>
            <a:prstGeom prst="straightConnector1">
              <a:avLst/>
            </a:prstGeom>
            <a:ln w="63500">
              <a:gradFill>
                <a:gsLst>
                  <a:gs pos="0">
                    <a:schemeClr val="accent1">
                      <a:lumMod val="5000"/>
                      <a:lumOff val="95000"/>
                    </a:schemeClr>
                  </a:gs>
                  <a:gs pos="53000">
                    <a:srgbClr val="FF0000"/>
                  </a:gs>
                  <a:gs pos="100000">
                    <a:srgbClr val="C00000"/>
                  </a:gs>
                </a:gsLst>
                <a:lin ang="0" scaled="0"/>
              </a:gradFill>
              <a:tailEnd type="triangle"/>
            </a:ln>
          </p:spPr>
          <p:style>
            <a:lnRef idx="1">
              <a:schemeClr val="accent1"/>
            </a:lnRef>
            <a:fillRef idx="0">
              <a:schemeClr val="accent1"/>
            </a:fillRef>
            <a:effectRef idx="0">
              <a:schemeClr val="accent1"/>
            </a:effectRef>
            <a:fontRef idx="minor">
              <a:schemeClr val="tx1"/>
            </a:fontRef>
          </p:style>
        </p:cxnSp>
        <p:sp>
          <p:nvSpPr>
            <p:cNvPr id="52" name="文字方塊 51">
              <a:extLst>
                <a:ext uri="{FF2B5EF4-FFF2-40B4-BE49-F238E27FC236}">
                  <a16:creationId xmlns:a16="http://schemas.microsoft.com/office/drawing/2014/main" id="{245594FD-9270-7889-F1BE-3E144C842F7C}"/>
                </a:ext>
              </a:extLst>
            </p:cNvPr>
            <p:cNvSpPr txBox="1"/>
            <p:nvPr/>
          </p:nvSpPr>
          <p:spPr>
            <a:xfrm>
              <a:off x="2362837" y="6303883"/>
              <a:ext cx="2628220" cy="307777"/>
            </a:xfrm>
            <a:prstGeom prst="rect">
              <a:avLst/>
            </a:prstGeom>
            <a:noFill/>
          </p:spPr>
          <p:txBody>
            <a:bodyPr wrap="none" rtlCol="0">
              <a:spAutoFit/>
            </a:bodyPr>
            <a:lstStyle/>
            <a:p>
              <a:pPr algn="ctr"/>
              <a:r>
                <a:rPr kumimoji="1" lang="en-US" altLang="zh-TW" sz="1400" dirty="0">
                  <a:solidFill>
                    <a:srgbClr val="C00000"/>
                  </a:solidFill>
                </a:rPr>
                <a:t>Fork() + Write</a:t>
              </a:r>
              <a:r>
                <a:rPr kumimoji="1" lang="zh-TW" altLang="en-US" sz="1400" dirty="0">
                  <a:solidFill>
                    <a:srgbClr val="C00000"/>
                  </a:solidFill>
                </a:rPr>
                <a:t> </a:t>
              </a:r>
              <a:r>
                <a:rPr kumimoji="1" lang="en-US" altLang="zh-TW" sz="1400" dirty="0">
                  <a:solidFill>
                    <a:srgbClr val="C00000"/>
                  </a:solidFill>
                  <a:sym typeface="Wingdings" pitchFamily="2" charset="2"/>
                </a:rPr>
                <a:t></a:t>
              </a:r>
              <a:r>
                <a:rPr kumimoji="1" lang="zh-TW" altLang="en-US" sz="1400" dirty="0">
                  <a:solidFill>
                    <a:srgbClr val="C00000"/>
                  </a:solidFill>
                  <a:sym typeface="Wingdings" pitchFamily="2" charset="2"/>
                </a:rPr>
                <a:t> </a:t>
              </a:r>
              <a:r>
                <a:rPr kumimoji="1" lang="en-US" altLang="zh-TW" sz="1400" dirty="0">
                  <a:solidFill>
                    <a:srgbClr val="C00000"/>
                  </a:solidFill>
                  <a:sym typeface="Wingdings" pitchFamily="2" charset="2"/>
                </a:rPr>
                <a:t>Copy</a:t>
              </a:r>
              <a:r>
                <a:rPr kumimoji="1" lang="zh-TW" altLang="en-US" sz="1400" dirty="0">
                  <a:solidFill>
                    <a:srgbClr val="C00000"/>
                  </a:solidFill>
                  <a:sym typeface="Wingdings" pitchFamily="2" charset="2"/>
                </a:rPr>
                <a:t> </a:t>
              </a:r>
              <a:r>
                <a:rPr kumimoji="1" lang="en-US" altLang="zh-TW" sz="1400" dirty="0">
                  <a:solidFill>
                    <a:srgbClr val="C00000"/>
                  </a:solidFill>
                  <a:sym typeface="Wingdings" pitchFamily="2" charset="2"/>
                </a:rPr>
                <a:t>Page</a:t>
              </a:r>
              <a:r>
                <a:rPr kumimoji="1" lang="zh-TW" altLang="en-US" sz="1400" dirty="0">
                  <a:solidFill>
                    <a:srgbClr val="C00000"/>
                  </a:solidFill>
                  <a:sym typeface="Wingdings" pitchFamily="2" charset="2"/>
                </a:rPr>
                <a:t> </a:t>
              </a:r>
              <a:r>
                <a:rPr kumimoji="1" lang="en-US" altLang="zh-TW" sz="1400" dirty="0">
                  <a:solidFill>
                    <a:srgbClr val="C00000"/>
                  </a:solidFill>
                  <a:sym typeface="Wingdings" pitchFamily="2" charset="2"/>
                </a:rPr>
                <a:t>Table</a:t>
              </a:r>
              <a:endParaRPr kumimoji="1" lang="zh-TW" altLang="en-US" sz="1400" dirty="0">
                <a:solidFill>
                  <a:srgbClr val="C00000"/>
                </a:solidFill>
              </a:endParaRPr>
            </a:p>
          </p:txBody>
        </p:sp>
        <p:cxnSp>
          <p:nvCxnSpPr>
            <p:cNvPr id="53" name="曲線接點 52">
              <a:extLst>
                <a:ext uri="{FF2B5EF4-FFF2-40B4-BE49-F238E27FC236}">
                  <a16:creationId xmlns:a16="http://schemas.microsoft.com/office/drawing/2014/main" id="{B0B09A5A-EFAD-ABB1-99AD-41D144C4955D}"/>
                </a:ext>
              </a:extLst>
            </p:cNvPr>
            <p:cNvCxnSpPr>
              <a:cxnSpLocks/>
            </p:cNvCxnSpPr>
            <p:nvPr/>
          </p:nvCxnSpPr>
          <p:spPr>
            <a:xfrm rot="5400000" flipH="1" flipV="1">
              <a:off x="3523421" y="6238818"/>
              <a:ext cx="246170" cy="5607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6" name="文字方塊 25">
            <a:extLst>
              <a:ext uri="{FF2B5EF4-FFF2-40B4-BE49-F238E27FC236}">
                <a16:creationId xmlns:a16="http://schemas.microsoft.com/office/drawing/2014/main" id="{EAD3629E-36B8-95A4-6F15-5276E9D7C8AE}"/>
              </a:ext>
            </a:extLst>
          </p:cNvPr>
          <p:cNvSpPr txBox="1"/>
          <p:nvPr/>
        </p:nvSpPr>
        <p:spPr>
          <a:xfrm>
            <a:off x="2013274" y="5358400"/>
            <a:ext cx="960391" cy="523220"/>
          </a:xfrm>
          <a:prstGeom prst="rect">
            <a:avLst/>
          </a:prstGeom>
          <a:noFill/>
        </p:spPr>
        <p:txBody>
          <a:bodyPr wrap="none" rtlCol="0">
            <a:spAutoFit/>
          </a:bodyPr>
          <a:lstStyle/>
          <a:p>
            <a:pPr algn="ctr"/>
            <a:r>
              <a:rPr kumimoji="1" lang="en-US" altLang="zh-TW" sz="1400" dirty="0"/>
              <a:t>P1’s </a:t>
            </a:r>
            <a:br>
              <a:rPr kumimoji="1" lang="en-US" altLang="zh-TW" sz="1400" dirty="0"/>
            </a:br>
            <a:r>
              <a:rPr kumimoji="1" lang="en-US" altLang="zh-TW" sz="1400" dirty="0"/>
              <a:t>Page Table</a:t>
            </a:r>
            <a:endParaRPr kumimoji="1" lang="zh-TW" altLang="en-US" sz="1400" dirty="0"/>
          </a:p>
        </p:txBody>
      </p:sp>
      <p:sp>
        <p:nvSpPr>
          <p:cNvPr id="46" name="文字方塊 45">
            <a:extLst>
              <a:ext uri="{FF2B5EF4-FFF2-40B4-BE49-F238E27FC236}">
                <a16:creationId xmlns:a16="http://schemas.microsoft.com/office/drawing/2014/main" id="{0B21EBC4-09FB-CE9D-1F14-D9FB6D19F5FE}"/>
              </a:ext>
            </a:extLst>
          </p:cNvPr>
          <p:cNvSpPr txBox="1"/>
          <p:nvPr/>
        </p:nvSpPr>
        <p:spPr>
          <a:xfrm>
            <a:off x="4259477" y="5343672"/>
            <a:ext cx="960391" cy="523220"/>
          </a:xfrm>
          <a:prstGeom prst="rect">
            <a:avLst/>
          </a:prstGeom>
          <a:noFill/>
        </p:spPr>
        <p:txBody>
          <a:bodyPr wrap="none" rtlCol="0">
            <a:spAutoFit/>
          </a:bodyPr>
          <a:lstStyle/>
          <a:p>
            <a:pPr algn="ctr"/>
            <a:r>
              <a:rPr kumimoji="1" lang="en-US" altLang="zh-TW" sz="1400" dirty="0"/>
              <a:t>P2’s </a:t>
            </a:r>
            <a:br>
              <a:rPr kumimoji="1" lang="en-US" altLang="zh-TW" sz="1400" dirty="0"/>
            </a:br>
            <a:r>
              <a:rPr kumimoji="1" lang="en-US" altLang="zh-TW" sz="1400" dirty="0"/>
              <a:t>Page Table</a:t>
            </a:r>
            <a:endParaRPr kumimoji="1" lang="zh-TW" altLang="en-US" sz="1400" dirty="0"/>
          </a:p>
        </p:txBody>
      </p:sp>
      <p:grpSp>
        <p:nvGrpSpPr>
          <p:cNvPr id="63" name="群組 62">
            <a:extLst>
              <a:ext uri="{FF2B5EF4-FFF2-40B4-BE49-F238E27FC236}">
                <a16:creationId xmlns:a16="http://schemas.microsoft.com/office/drawing/2014/main" id="{2E03E96C-5E60-B35A-8D44-A0744C738812}"/>
              </a:ext>
            </a:extLst>
          </p:cNvPr>
          <p:cNvGrpSpPr/>
          <p:nvPr/>
        </p:nvGrpSpPr>
        <p:grpSpPr>
          <a:xfrm>
            <a:off x="2039996" y="5053642"/>
            <a:ext cx="3174971" cy="312156"/>
            <a:chOff x="1271189" y="5077811"/>
            <a:chExt cx="3174971" cy="312156"/>
          </a:xfrm>
        </p:grpSpPr>
        <p:sp>
          <p:nvSpPr>
            <p:cNvPr id="61" name="文字方塊 60">
              <a:extLst>
                <a:ext uri="{FF2B5EF4-FFF2-40B4-BE49-F238E27FC236}">
                  <a16:creationId xmlns:a16="http://schemas.microsoft.com/office/drawing/2014/main" id="{32D04FEF-3A2C-5BA1-F314-6E6D6FFA80DD}"/>
                </a:ext>
              </a:extLst>
            </p:cNvPr>
            <p:cNvSpPr txBox="1"/>
            <p:nvPr/>
          </p:nvSpPr>
          <p:spPr>
            <a:xfrm>
              <a:off x="1271189" y="5082190"/>
              <a:ext cx="945067" cy="307777"/>
            </a:xfrm>
            <a:prstGeom prst="rect">
              <a:avLst/>
            </a:prstGeom>
            <a:noFill/>
          </p:spPr>
          <p:txBody>
            <a:bodyPr wrap="none" rtlCol="0">
              <a:spAutoFit/>
            </a:bodyPr>
            <a:lstStyle/>
            <a:p>
              <a:r>
                <a:rPr kumimoji="1" lang="en-US" altLang="zh-TW" sz="1400" b="1" dirty="0">
                  <a:solidFill>
                    <a:srgbClr val="C00000"/>
                  </a:solidFill>
                </a:rPr>
                <a:t>Read</a:t>
              </a:r>
              <a:r>
                <a:rPr kumimoji="1" lang="zh-TW" altLang="en-US" sz="1400" b="1" dirty="0">
                  <a:solidFill>
                    <a:srgbClr val="C00000"/>
                  </a:solidFill>
                </a:rPr>
                <a:t> </a:t>
              </a:r>
              <a:r>
                <a:rPr kumimoji="1" lang="en-US" altLang="zh-TW" sz="1400" b="1" dirty="0">
                  <a:solidFill>
                    <a:srgbClr val="C00000"/>
                  </a:solidFill>
                </a:rPr>
                <a:t>Only</a:t>
              </a:r>
              <a:endParaRPr kumimoji="1" lang="zh-TW" altLang="en-US" sz="1400" b="1" dirty="0">
                <a:solidFill>
                  <a:srgbClr val="C00000"/>
                </a:solidFill>
              </a:endParaRPr>
            </a:p>
          </p:txBody>
        </p:sp>
        <p:sp>
          <p:nvSpPr>
            <p:cNvPr id="62" name="文字方塊 61">
              <a:extLst>
                <a:ext uri="{FF2B5EF4-FFF2-40B4-BE49-F238E27FC236}">
                  <a16:creationId xmlns:a16="http://schemas.microsoft.com/office/drawing/2014/main" id="{C7B64309-9539-295A-F312-3AB650F1D557}"/>
                </a:ext>
              </a:extLst>
            </p:cNvPr>
            <p:cNvSpPr txBox="1"/>
            <p:nvPr/>
          </p:nvSpPr>
          <p:spPr>
            <a:xfrm>
              <a:off x="3501093" y="5077811"/>
              <a:ext cx="945067" cy="307777"/>
            </a:xfrm>
            <a:prstGeom prst="rect">
              <a:avLst/>
            </a:prstGeom>
            <a:noFill/>
          </p:spPr>
          <p:txBody>
            <a:bodyPr wrap="none" rtlCol="0">
              <a:spAutoFit/>
            </a:bodyPr>
            <a:lstStyle/>
            <a:p>
              <a:r>
                <a:rPr kumimoji="1" lang="en-US" altLang="zh-TW" sz="1400" b="1" dirty="0">
                  <a:solidFill>
                    <a:srgbClr val="C00000"/>
                  </a:solidFill>
                </a:rPr>
                <a:t>Read</a:t>
              </a:r>
              <a:r>
                <a:rPr kumimoji="1" lang="zh-TW" altLang="en-US" sz="1400" b="1" dirty="0">
                  <a:solidFill>
                    <a:srgbClr val="C00000"/>
                  </a:solidFill>
                </a:rPr>
                <a:t> </a:t>
              </a:r>
              <a:r>
                <a:rPr kumimoji="1" lang="en-US" altLang="zh-TW" sz="1400" b="1" dirty="0">
                  <a:solidFill>
                    <a:srgbClr val="C00000"/>
                  </a:solidFill>
                </a:rPr>
                <a:t>Only</a:t>
              </a:r>
              <a:endParaRPr kumimoji="1" lang="zh-TW" altLang="en-US" sz="1400" b="1" dirty="0">
                <a:solidFill>
                  <a:srgbClr val="C00000"/>
                </a:solidFill>
              </a:endParaRPr>
            </a:p>
          </p:txBody>
        </p:sp>
      </p:grpSp>
      <p:grpSp>
        <p:nvGrpSpPr>
          <p:cNvPr id="78" name="群組 77">
            <a:extLst>
              <a:ext uri="{FF2B5EF4-FFF2-40B4-BE49-F238E27FC236}">
                <a16:creationId xmlns:a16="http://schemas.microsoft.com/office/drawing/2014/main" id="{BDBE2859-6202-D0F8-5AF3-F19906656880}"/>
              </a:ext>
            </a:extLst>
          </p:cNvPr>
          <p:cNvGrpSpPr/>
          <p:nvPr/>
        </p:nvGrpSpPr>
        <p:grpSpPr>
          <a:xfrm>
            <a:off x="1683631" y="4417405"/>
            <a:ext cx="6756752" cy="1643919"/>
            <a:chOff x="914824" y="4441574"/>
            <a:chExt cx="6756752" cy="1643919"/>
          </a:xfrm>
        </p:grpSpPr>
        <p:grpSp>
          <p:nvGrpSpPr>
            <p:cNvPr id="77" name="群組 76">
              <a:extLst>
                <a:ext uri="{FF2B5EF4-FFF2-40B4-BE49-F238E27FC236}">
                  <a16:creationId xmlns:a16="http://schemas.microsoft.com/office/drawing/2014/main" id="{EE75BCED-884C-94DC-5C9E-6CA2579C5325}"/>
                </a:ext>
              </a:extLst>
            </p:cNvPr>
            <p:cNvGrpSpPr/>
            <p:nvPr/>
          </p:nvGrpSpPr>
          <p:grpSpPr>
            <a:xfrm>
              <a:off x="914824" y="4441574"/>
              <a:ext cx="6756752" cy="1560380"/>
              <a:chOff x="914824" y="4441574"/>
              <a:chExt cx="6756752" cy="1560380"/>
            </a:xfrm>
          </p:grpSpPr>
          <p:grpSp>
            <p:nvGrpSpPr>
              <p:cNvPr id="44" name="群組 43">
                <a:extLst>
                  <a:ext uri="{FF2B5EF4-FFF2-40B4-BE49-F238E27FC236}">
                    <a16:creationId xmlns:a16="http://schemas.microsoft.com/office/drawing/2014/main" id="{19BDDA1E-D964-1F3C-6498-5D8F1EB2CE1D}"/>
                  </a:ext>
                </a:extLst>
              </p:cNvPr>
              <p:cNvGrpSpPr/>
              <p:nvPr/>
            </p:nvGrpSpPr>
            <p:grpSpPr>
              <a:xfrm>
                <a:off x="914824" y="4441574"/>
                <a:ext cx="6756752" cy="1560380"/>
                <a:chOff x="914817" y="4645514"/>
                <a:chExt cx="6756752" cy="1560380"/>
              </a:xfrm>
            </p:grpSpPr>
            <p:sp>
              <p:nvSpPr>
                <p:cNvPr id="27" name="文字方塊 26">
                  <a:extLst>
                    <a:ext uri="{FF2B5EF4-FFF2-40B4-BE49-F238E27FC236}">
                      <a16:creationId xmlns:a16="http://schemas.microsoft.com/office/drawing/2014/main" id="{657926F4-4BE4-958F-FAF2-AA5E8101C852}"/>
                    </a:ext>
                  </a:extLst>
                </p:cNvPr>
                <p:cNvSpPr txBox="1"/>
                <p:nvPr/>
              </p:nvSpPr>
              <p:spPr>
                <a:xfrm>
                  <a:off x="1635049" y="4675264"/>
                  <a:ext cx="3732074" cy="523220"/>
                </a:xfrm>
                <a:prstGeom prst="rect">
                  <a:avLst/>
                </a:prstGeom>
                <a:noFill/>
              </p:spPr>
              <p:txBody>
                <a:bodyPr wrap="square" rtlCol="0">
                  <a:spAutoFit/>
                </a:bodyPr>
                <a:lstStyle/>
                <a:p>
                  <a:r>
                    <a:rPr kumimoji="1" lang="en-US" altLang="zh-TW" sz="1400" dirty="0"/>
                    <a:t>CPU </a:t>
                  </a:r>
                  <a:r>
                    <a:rPr kumimoji="1" lang="en-US" altLang="zh-TW" sz="1400" dirty="0">
                      <a:solidFill>
                        <a:srgbClr val="C00000"/>
                      </a:solidFill>
                    </a:rPr>
                    <a:t>walks the</a:t>
                  </a:r>
                  <a:r>
                    <a:rPr kumimoji="1" lang="zh-TW" altLang="en-US" sz="1400" dirty="0">
                      <a:solidFill>
                        <a:srgbClr val="C00000"/>
                      </a:solidFill>
                    </a:rPr>
                    <a:t> </a:t>
                  </a:r>
                  <a:r>
                    <a:rPr kumimoji="1" lang="en-US" altLang="zh-TW" sz="1400" dirty="0">
                      <a:solidFill>
                        <a:srgbClr val="C00000"/>
                      </a:solidFill>
                    </a:rPr>
                    <a:t>page table </a:t>
                  </a:r>
                  <a:r>
                    <a:rPr kumimoji="1" lang="en-US" altLang="zh-TW" sz="1400" dirty="0"/>
                    <a:t>to </a:t>
                  </a:r>
                  <a:r>
                    <a:rPr kumimoji="1" lang="en-US" altLang="zh-TW" sz="1400" dirty="0">
                      <a:solidFill>
                        <a:srgbClr val="C00000"/>
                      </a:solidFill>
                    </a:rPr>
                    <a:t>get a location</a:t>
                  </a:r>
                  <a:r>
                    <a:rPr kumimoji="1" lang="en-US" altLang="zh-TW" sz="1400" dirty="0"/>
                    <a:t> </a:t>
                  </a:r>
                </a:p>
                <a:p>
                  <a:r>
                    <a:rPr kumimoji="1" lang="en-US" altLang="zh-TW" sz="1400" dirty="0"/>
                    <a:t>of a page frame </a:t>
                  </a:r>
                  <a:r>
                    <a:rPr kumimoji="1" lang="en-US" altLang="zh-TW" sz="1400" dirty="0">
                      <a:solidFill>
                        <a:srgbClr val="C00000"/>
                      </a:solidFill>
                    </a:rPr>
                    <a:t>before accesses</a:t>
                  </a:r>
                  <a:r>
                    <a:rPr kumimoji="1" lang="en-US" altLang="zh-TW" sz="1400" dirty="0"/>
                    <a:t> the page frame.</a:t>
                  </a:r>
                </a:p>
              </p:txBody>
            </p:sp>
            <p:sp>
              <p:nvSpPr>
                <p:cNvPr id="28" name="矩形 27">
                  <a:extLst>
                    <a:ext uri="{FF2B5EF4-FFF2-40B4-BE49-F238E27FC236}">
                      <a16:creationId xmlns:a16="http://schemas.microsoft.com/office/drawing/2014/main" id="{28A985B2-47D2-D4A4-219B-DCF09AC7A197}"/>
                    </a:ext>
                  </a:extLst>
                </p:cNvPr>
                <p:cNvSpPr/>
                <p:nvPr/>
              </p:nvSpPr>
              <p:spPr>
                <a:xfrm>
                  <a:off x="990924" y="4645514"/>
                  <a:ext cx="644124" cy="372168"/>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CPU</a:t>
                  </a:r>
                  <a:endParaRPr kumimoji="1" lang="zh-TW" altLang="en-US" sz="1400" dirty="0">
                    <a:solidFill>
                      <a:schemeClr val="tx1"/>
                    </a:solidFill>
                  </a:endParaRPr>
                </a:p>
              </p:txBody>
            </p:sp>
            <p:cxnSp>
              <p:nvCxnSpPr>
                <p:cNvPr id="30" name="直線箭頭接點 29">
                  <a:extLst>
                    <a:ext uri="{FF2B5EF4-FFF2-40B4-BE49-F238E27FC236}">
                      <a16:creationId xmlns:a16="http://schemas.microsoft.com/office/drawing/2014/main" id="{E9DE358B-7C5D-5905-0973-67F96CF55A1E}"/>
                    </a:ext>
                  </a:extLst>
                </p:cNvPr>
                <p:cNvCxnSpPr>
                  <a:cxnSpLocks/>
                </p:cNvCxnSpPr>
                <p:nvPr/>
              </p:nvCxnSpPr>
              <p:spPr>
                <a:xfrm>
                  <a:off x="1159338" y="5017682"/>
                  <a:ext cx="0" cy="1188212"/>
                </a:xfrm>
                <a:prstGeom prst="straightConnector1">
                  <a:avLst/>
                </a:prstGeom>
                <a:ln w="19050">
                  <a:solidFill>
                    <a:schemeClr val="tx1"/>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41" name="群組 40">
                  <a:extLst>
                    <a:ext uri="{FF2B5EF4-FFF2-40B4-BE49-F238E27FC236}">
                      <a16:creationId xmlns:a16="http://schemas.microsoft.com/office/drawing/2014/main" id="{239E797A-3E36-DC10-BFAE-4906FE45803C}"/>
                    </a:ext>
                  </a:extLst>
                </p:cNvPr>
                <p:cNvGrpSpPr/>
                <p:nvPr/>
              </p:nvGrpSpPr>
              <p:grpSpPr>
                <a:xfrm>
                  <a:off x="1497451" y="5016539"/>
                  <a:ext cx="6174118" cy="312728"/>
                  <a:chOff x="1497451" y="5016539"/>
                  <a:chExt cx="6174118" cy="312728"/>
                </a:xfrm>
              </p:grpSpPr>
              <p:cxnSp>
                <p:nvCxnSpPr>
                  <p:cNvPr id="33" name="肘形接點 32">
                    <a:extLst>
                      <a:ext uri="{FF2B5EF4-FFF2-40B4-BE49-F238E27FC236}">
                        <a16:creationId xmlns:a16="http://schemas.microsoft.com/office/drawing/2014/main" id="{AE7FF62F-FCDE-36F4-7FFE-D48776525EC5}"/>
                      </a:ext>
                    </a:extLst>
                  </p:cNvPr>
                  <p:cNvCxnSpPr>
                    <a:cxnSpLocks/>
                  </p:cNvCxnSpPr>
                  <p:nvPr/>
                </p:nvCxnSpPr>
                <p:spPr>
                  <a:xfrm>
                    <a:off x="1497451" y="5198961"/>
                    <a:ext cx="6174118" cy="130306"/>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箭頭接點 36">
                    <a:extLst>
                      <a:ext uri="{FF2B5EF4-FFF2-40B4-BE49-F238E27FC236}">
                        <a16:creationId xmlns:a16="http://schemas.microsoft.com/office/drawing/2014/main" id="{75288254-FE7E-AE15-ECB7-AF375CE36BB7}"/>
                      </a:ext>
                    </a:extLst>
                  </p:cNvPr>
                  <p:cNvCxnSpPr>
                    <a:cxnSpLocks/>
                  </p:cNvCxnSpPr>
                  <p:nvPr/>
                </p:nvCxnSpPr>
                <p:spPr>
                  <a:xfrm>
                    <a:off x="1497451" y="5016539"/>
                    <a:ext cx="0" cy="182422"/>
                  </a:xfrm>
                  <a:prstGeom prst="straightConnector1">
                    <a:avLst/>
                  </a:prstGeom>
                  <a:ln w="19050">
                    <a:solidFill>
                      <a:schemeClr val="tx1"/>
                    </a:solidFill>
                    <a:headEnd type="oval"/>
                    <a:tailEnd type="none"/>
                  </a:ln>
                </p:spPr>
                <p:style>
                  <a:lnRef idx="1">
                    <a:schemeClr val="accent1"/>
                  </a:lnRef>
                  <a:fillRef idx="0">
                    <a:schemeClr val="accent1"/>
                  </a:fillRef>
                  <a:effectRef idx="0">
                    <a:schemeClr val="accent1"/>
                  </a:effectRef>
                  <a:fontRef idx="minor">
                    <a:schemeClr val="tx1"/>
                  </a:fontRef>
                </p:style>
              </p:cxnSp>
            </p:grpSp>
            <p:sp>
              <p:nvSpPr>
                <p:cNvPr id="42" name="橢圓 41">
                  <a:extLst>
                    <a:ext uri="{FF2B5EF4-FFF2-40B4-BE49-F238E27FC236}">
                      <a16:creationId xmlns:a16="http://schemas.microsoft.com/office/drawing/2014/main" id="{1BA5A5CA-8F7A-71AC-9C42-2F1743DC825F}"/>
                    </a:ext>
                  </a:extLst>
                </p:cNvPr>
                <p:cNvSpPr/>
                <p:nvPr/>
              </p:nvSpPr>
              <p:spPr>
                <a:xfrm>
                  <a:off x="914817" y="5075268"/>
                  <a:ext cx="162000" cy="16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t>1</a:t>
                  </a:r>
                  <a:endParaRPr kumimoji="1" lang="zh-TW" altLang="en-US" sz="1400" dirty="0"/>
                </a:p>
              </p:txBody>
            </p:sp>
            <p:sp>
              <p:nvSpPr>
                <p:cNvPr id="43" name="橢圓 42">
                  <a:extLst>
                    <a:ext uri="{FF2B5EF4-FFF2-40B4-BE49-F238E27FC236}">
                      <a16:creationId xmlns:a16="http://schemas.microsoft.com/office/drawing/2014/main" id="{9D88F349-DC81-2252-1722-7F356AE5E140}"/>
                    </a:ext>
                  </a:extLst>
                </p:cNvPr>
                <p:cNvSpPr/>
                <p:nvPr/>
              </p:nvSpPr>
              <p:spPr>
                <a:xfrm>
                  <a:off x="5815701" y="5001638"/>
                  <a:ext cx="162000" cy="16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t>2</a:t>
                  </a:r>
                  <a:endParaRPr kumimoji="1" lang="zh-TW" altLang="en-US" sz="1400" dirty="0"/>
                </a:p>
              </p:txBody>
            </p:sp>
          </p:grpSp>
          <p:cxnSp>
            <p:nvCxnSpPr>
              <p:cNvPr id="68" name="直線箭頭接點 67">
                <a:extLst>
                  <a:ext uri="{FF2B5EF4-FFF2-40B4-BE49-F238E27FC236}">
                    <a16:creationId xmlns:a16="http://schemas.microsoft.com/office/drawing/2014/main" id="{6A4F17E8-6342-B393-EEF3-E4AC2A65EB09}"/>
                  </a:ext>
                </a:extLst>
              </p:cNvPr>
              <p:cNvCxnSpPr>
                <a:cxnSpLocks/>
              </p:cNvCxnSpPr>
              <p:nvPr/>
            </p:nvCxnSpPr>
            <p:spPr>
              <a:xfrm>
                <a:off x="1159338" y="6001954"/>
                <a:ext cx="15539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5" name="矩形 74">
              <a:extLst>
                <a:ext uri="{FF2B5EF4-FFF2-40B4-BE49-F238E27FC236}">
                  <a16:creationId xmlns:a16="http://schemas.microsoft.com/office/drawing/2014/main" id="{992CD523-85AB-33AA-FAB7-914153431D3C}"/>
                </a:ext>
              </a:extLst>
            </p:cNvPr>
            <p:cNvSpPr/>
            <p:nvPr/>
          </p:nvSpPr>
          <p:spPr>
            <a:xfrm>
              <a:off x="1311619" y="5937539"/>
              <a:ext cx="835851" cy="147954"/>
            </a:xfrm>
            <a:prstGeom prst="rect">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grpSp>
      <p:sp>
        <p:nvSpPr>
          <p:cNvPr id="79" name="矩形 78">
            <a:extLst>
              <a:ext uri="{FF2B5EF4-FFF2-40B4-BE49-F238E27FC236}">
                <a16:creationId xmlns:a16="http://schemas.microsoft.com/office/drawing/2014/main" id="{90B36407-A230-46A6-9406-41F3037529F5}"/>
              </a:ext>
            </a:extLst>
          </p:cNvPr>
          <p:cNvSpPr/>
          <p:nvPr/>
        </p:nvSpPr>
        <p:spPr>
          <a:xfrm>
            <a:off x="4312113" y="5919270"/>
            <a:ext cx="835851" cy="147954"/>
          </a:xfrm>
          <a:prstGeom prst="rect">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grpSp>
        <p:nvGrpSpPr>
          <p:cNvPr id="98" name="群組 97">
            <a:extLst>
              <a:ext uri="{FF2B5EF4-FFF2-40B4-BE49-F238E27FC236}">
                <a16:creationId xmlns:a16="http://schemas.microsoft.com/office/drawing/2014/main" id="{588B7445-839E-936D-D14F-1D51901F5EF0}"/>
              </a:ext>
            </a:extLst>
          </p:cNvPr>
          <p:cNvGrpSpPr/>
          <p:nvPr/>
        </p:nvGrpSpPr>
        <p:grpSpPr>
          <a:xfrm>
            <a:off x="2932830" y="5827730"/>
            <a:ext cx="1375075" cy="307777"/>
            <a:chOff x="2164023" y="5851899"/>
            <a:chExt cx="1375075" cy="307777"/>
          </a:xfrm>
        </p:grpSpPr>
        <p:cxnSp>
          <p:nvCxnSpPr>
            <p:cNvPr id="82" name="直線箭頭接點 81">
              <a:extLst>
                <a:ext uri="{FF2B5EF4-FFF2-40B4-BE49-F238E27FC236}">
                  <a16:creationId xmlns:a16="http://schemas.microsoft.com/office/drawing/2014/main" id="{FEC7D013-B7F1-2A3A-F772-2D7AE36CD9EE}"/>
                </a:ext>
              </a:extLst>
            </p:cNvPr>
            <p:cNvCxnSpPr>
              <a:cxnSpLocks/>
            </p:cNvCxnSpPr>
            <p:nvPr/>
          </p:nvCxnSpPr>
          <p:spPr>
            <a:xfrm flipV="1">
              <a:off x="3395098" y="6018163"/>
              <a:ext cx="144000" cy="3327"/>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83" name="文字方塊 82">
              <a:extLst>
                <a:ext uri="{FF2B5EF4-FFF2-40B4-BE49-F238E27FC236}">
                  <a16:creationId xmlns:a16="http://schemas.microsoft.com/office/drawing/2014/main" id="{1E93488F-797B-9027-CCC3-019ADD5B29D9}"/>
                </a:ext>
              </a:extLst>
            </p:cNvPr>
            <p:cNvSpPr txBox="1"/>
            <p:nvPr/>
          </p:nvSpPr>
          <p:spPr>
            <a:xfrm>
              <a:off x="2164023" y="5851899"/>
              <a:ext cx="1302152" cy="307777"/>
            </a:xfrm>
            <a:prstGeom prst="rect">
              <a:avLst/>
            </a:prstGeom>
            <a:noFill/>
          </p:spPr>
          <p:txBody>
            <a:bodyPr wrap="none" rtlCol="0">
              <a:spAutoFit/>
            </a:bodyPr>
            <a:lstStyle/>
            <a:p>
              <a:pPr algn="ctr"/>
              <a:r>
                <a:rPr kumimoji="1" lang="en-US" altLang="zh-TW" sz="1400" dirty="0">
                  <a:solidFill>
                    <a:srgbClr val="0070C0"/>
                  </a:solidFill>
                </a:rPr>
                <a:t>Write</a:t>
              </a:r>
              <a:r>
                <a:rPr kumimoji="1" lang="zh-TW" altLang="en-US" sz="1400" dirty="0">
                  <a:solidFill>
                    <a:srgbClr val="0070C0"/>
                  </a:solidFill>
                </a:rPr>
                <a:t> </a:t>
              </a:r>
              <a:r>
                <a:rPr kumimoji="1" lang="en-US" altLang="zh-TW" sz="1400" dirty="0">
                  <a:solidFill>
                    <a:srgbClr val="0070C0"/>
                  </a:solidFill>
                </a:rPr>
                <a:t>to</a:t>
              </a:r>
              <a:r>
                <a:rPr kumimoji="1" lang="zh-TW" altLang="en-US" sz="1400" dirty="0">
                  <a:solidFill>
                    <a:srgbClr val="0070C0"/>
                  </a:solidFill>
                </a:rPr>
                <a:t> </a:t>
              </a:r>
              <a:r>
                <a:rPr kumimoji="1" lang="en-US" altLang="zh-TW" sz="1400" dirty="0">
                  <a:solidFill>
                    <a:srgbClr val="0070C0"/>
                  </a:solidFill>
                </a:rPr>
                <a:t>a</a:t>
              </a:r>
              <a:r>
                <a:rPr kumimoji="1" lang="zh-TW" altLang="en-US" sz="1400" dirty="0">
                  <a:solidFill>
                    <a:srgbClr val="0070C0"/>
                  </a:solidFill>
                </a:rPr>
                <a:t> </a:t>
              </a:r>
              <a:r>
                <a:rPr kumimoji="1" lang="en-US" altLang="zh-TW" sz="1400" dirty="0">
                  <a:solidFill>
                    <a:srgbClr val="0070C0"/>
                  </a:solidFill>
                </a:rPr>
                <a:t>Page</a:t>
              </a:r>
              <a:endParaRPr kumimoji="1" lang="zh-TW" altLang="en-US" sz="1400" dirty="0">
                <a:solidFill>
                  <a:srgbClr val="0070C0"/>
                </a:solidFill>
              </a:endParaRPr>
            </a:p>
          </p:txBody>
        </p:sp>
      </p:grpSp>
      <p:grpSp>
        <p:nvGrpSpPr>
          <p:cNvPr id="99" name="群組 98">
            <a:extLst>
              <a:ext uri="{FF2B5EF4-FFF2-40B4-BE49-F238E27FC236}">
                <a16:creationId xmlns:a16="http://schemas.microsoft.com/office/drawing/2014/main" id="{7C44A24D-6E83-4C6E-70C6-45A79F1818F6}"/>
              </a:ext>
            </a:extLst>
          </p:cNvPr>
          <p:cNvGrpSpPr/>
          <p:nvPr/>
        </p:nvGrpSpPr>
        <p:grpSpPr>
          <a:xfrm>
            <a:off x="6273535" y="5101141"/>
            <a:ext cx="1790680" cy="1407526"/>
            <a:chOff x="5504728" y="5125310"/>
            <a:chExt cx="1790680" cy="1407526"/>
          </a:xfrm>
        </p:grpSpPr>
        <p:sp>
          <p:nvSpPr>
            <p:cNvPr id="80" name="矩形 79">
              <a:extLst>
                <a:ext uri="{FF2B5EF4-FFF2-40B4-BE49-F238E27FC236}">
                  <a16:creationId xmlns:a16="http://schemas.microsoft.com/office/drawing/2014/main" id="{471A22E9-D436-DBE3-B9C6-7B0D6B440478}"/>
                </a:ext>
              </a:extLst>
            </p:cNvPr>
            <p:cNvSpPr/>
            <p:nvPr/>
          </p:nvSpPr>
          <p:spPr>
            <a:xfrm>
              <a:off x="5504728" y="5125310"/>
              <a:ext cx="671696" cy="1034353"/>
            </a:xfrm>
            <a:prstGeom prst="rect">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New</a:t>
              </a:r>
            </a:p>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cxnSp>
          <p:nvCxnSpPr>
            <p:cNvPr id="89" name="直線箭頭接點 88">
              <a:extLst>
                <a:ext uri="{FF2B5EF4-FFF2-40B4-BE49-F238E27FC236}">
                  <a16:creationId xmlns:a16="http://schemas.microsoft.com/office/drawing/2014/main" id="{5E3F2C2E-D935-928F-B150-1B07687F30FA}"/>
                </a:ext>
              </a:extLst>
            </p:cNvPr>
            <p:cNvCxnSpPr>
              <a:cxnSpLocks/>
            </p:cNvCxnSpPr>
            <p:nvPr/>
          </p:nvCxnSpPr>
          <p:spPr>
            <a:xfrm flipH="1">
              <a:off x="6210946" y="5639605"/>
              <a:ext cx="1084462" cy="2896"/>
            </a:xfrm>
            <a:prstGeom prst="straightConnector1">
              <a:avLst/>
            </a:prstGeom>
            <a:ln w="63500">
              <a:gradFill>
                <a:gsLst>
                  <a:gs pos="0">
                    <a:schemeClr val="accent1">
                      <a:lumMod val="5000"/>
                      <a:lumOff val="95000"/>
                    </a:schemeClr>
                  </a:gs>
                  <a:gs pos="53000">
                    <a:srgbClr val="FF0000"/>
                  </a:gs>
                  <a:gs pos="100000">
                    <a:srgbClr val="C00000"/>
                  </a:gs>
                </a:gsLst>
                <a:lin ang="0" scaled="0"/>
              </a:gradFill>
              <a:tailEnd type="triangle"/>
            </a:ln>
          </p:spPr>
          <p:style>
            <a:lnRef idx="1">
              <a:schemeClr val="accent1"/>
            </a:lnRef>
            <a:fillRef idx="0">
              <a:schemeClr val="accent1"/>
            </a:fillRef>
            <a:effectRef idx="0">
              <a:schemeClr val="accent1"/>
            </a:effectRef>
            <a:fontRef idx="minor">
              <a:schemeClr val="tx1"/>
            </a:fontRef>
          </p:style>
        </p:cxnSp>
        <p:sp>
          <p:nvSpPr>
            <p:cNvPr id="92" name="文字方塊 91">
              <a:extLst>
                <a:ext uri="{FF2B5EF4-FFF2-40B4-BE49-F238E27FC236}">
                  <a16:creationId xmlns:a16="http://schemas.microsoft.com/office/drawing/2014/main" id="{EE1FA575-1F96-19F1-344D-1D86011104A1}"/>
                </a:ext>
              </a:extLst>
            </p:cNvPr>
            <p:cNvSpPr txBox="1"/>
            <p:nvPr/>
          </p:nvSpPr>
          <p:spPr>
            <a:xfrm>
              <a:off x="5954910" y="6225059"/>
              <a:ext cx="1253035" cy="307777"/>
            </a:xfrm>
            <a:prstGeom prst="rect">
              <a:avLst/>
            </a:prstGeom>
            <a:noFill/>
          </p:spPr>
          <p:txBody>
            <a:bodyPr wrap="none" rtlCol="0">
              <a:spAutoFit/>
            </a:bodyPr>
            <a:lstStyle/>
            <a:p>
              <a:pPr algn="ctr"/>
              <a:r>
                <a:rPr kumimoji="1" lang="en-US" altLang="zh-TW" sz="1400" dirty="0">
                  <a:solidFill>
                    <a:srgbClr val="C00000"/>
                  </a:solidFill>
                </a:rPr>
                <a:t>Copy-on-Write</a:t>
              </a:r>
              <a:endParaRPr kumimoji="1" lang="zh-TW" altLang="en-US" sz="1400" dirty="0">
                <a:solidFill>
                  <a:srgbClr val="C00000"/>
                </a:solidFill>
              </a:endParaRPr>
            </a:p>
          </p:txBody>
        </p:sp>
        <p:cxnSp>
          <p:nvCxnSpPr>
            <p:cNvPr id="93" name="曲線接點 92">
              <a:extLst>
                <a:ext uri="{FF2B5EF4-FFF2-40B4-BE49-F238E27FC236}">
                  <a16:creationId xmlns:a16="http://schemas.microsoft.com/office/drawing/2014/main" id="{1C7CBD20-2A2B-9503-478B-9915B22C64A2}"/>
                </a:ext>
              </a:extLst>
            </p:cNvPr>
            <p:cNvCxnSpPr>
              <a:cxnSpLocks/>
            </p:cNvCxnSpPr>
            <p:nvPr/>
          </p:nvCxnSpPr>
          <p:spPr>
            <a:xfrm rot="5400000" flipH="1" flipV="1">
              <a:off x="6246127" y="5950907"/>
              <a:ext cx="580618" cy="13634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5" name="矩形 94">
            <a:extLst>
              <a:ext uri="{FF2B5EF4-FFF2-40B4-BE49-F238E27FC236}">
                <a16:creationId xmlns:a16="http://schemas.microsoft.com/office/drawing/2014/main" id="{6A4F489F-4760-F695-1FDB-38AFE8F3CED2}"/>
              </a:ext>
            </a:extLst>
          </p:cNvPr>
          <p:cNvSpPr/>
          <p:nvPr/>
        </p:nvSpPr>
        <p:spPr>
          <a:xfrm>
            <a:off x="4316218" y="5919441"/>
            <a:ext cx="835851" cy="147954"/>
          </a:xfrm>
          <a:prstGeom prst="rect">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grpSp>
        <p:nvGrpSpPr>
          <p:cNvPr id="100" name="群組 99">
            <a:extLst>
              <a:ext uri="{FF2B5EF4-FFF2-40B4-BE49-F238E27FC236}">
                <a16:creationId xmlns:a16="http://schemas.microsoft.com/office/drawing/2014/main" id="{EA804647-70F6-EA7F-6FB9-3ADD94ABBBAA}"/>
              </a:ext>
            </a:extLst>
          </p:cNvPr>
          <p:cNvGrpSpPr/>
          <p:nvPr/>
        </p:nvGrpSpPr>
        <p:grpSpPr>
          <a:xfrm>
            <a:off x="5203688" y="5191823"/>
            <a:ext cx="1056446" cy="307777"/>
            <a:chOff x="4492756" y="5215992"/>
            <a:chExt cx="1056446" cy="307777"/>
          </a:xfrm>
        </p:grpSpPr>
        <p:sp>
          <p:nvSpPr>
            <p:cNvPr id="96" name="文字方塊 95">
              <a:extLst>
                <a:ext uri="{FF2B5EF4-FFF2-40B4-BE49-F238E27FC236}">
                  <a16:creationId xmlns:a16="http://schemas.microsoft.com/office/drawing/2014/main" id="{EECD50EF-C2EC-E0A1-25EE-7E5499F90393}"/>
                </a:ext>
              </a:extLst>
            </p:cNvPr>
            <p:cNvSpPr txBox="1"/>
            <p:nvPr/>
          </p:nvSpPr>
          <p:spPr>
            <a:xfrm>
              <a:off x="4492756" y="5215992"/>
              <a:ext cx="973536" cy="307777"/>
            </a:xfrm>
            <a:prstGeom prst="rect">
              <a:avLst/>
            </a:prstGeom>
            <a:noFill/>
          </p:spPr>
          <p:txBody>
            <a:bodyPr wrap="none" rtlCol="0">
              <a:spAutoFit/>
            </a:bodyPr>
            <a:lstStyle/>
            <a:p>
              <a:pPr algn="ctr"/>
              <a:r>
                <a:rPr kumimoji="1" lang="en-US" altLang="zh-TW" sz="1400" dirty="0">
                  <a:solidFill>
                    <a:srgbClr val="0070C0"/>
                  </a:solidFill>
                </a:rPr>
                <a:t>Write</a:t>
              </a:r>
              <a:r>
                <a:rPr kumimoji="1" lang="zh-TW" altLang="en-US" sz="1400" dirty="0">
                  <a:solidFill>
                    <a:srgbClr val="0070C0"/>
                  </a:solidFill>
                </a:rPr>
                <a:t> </a:t>
              </a:r>
              <a:r>
                <a:rPr kumimoji="1" lang="en-US" altLang="zh-TW" sz="1400" dirty="0">
                  <a:solidFill>
                    <a:srgbClr val="0070C0"/>
                  </a:solidFill>
                </a:rPr>
                <a:t>Data</a:t>
              </a:r>
              <a:endParaRPr kumimoji="1" lang="zh-TW" altLang="en-US" sz="1400" dirty="0">
                <a:solidFill>
                  <a:srgbClr val="0070C0"/>
                </a:solidFill>
              </a:endParaRPr>
            </a:p>
          </p:txBody>
        </p:sp>
        <p:cxnSp>
          <p:nvCxnSpPr>
            <p:cNvPr id="97" name="直線箭頭接點 96">
              <a:extLst>
                <a:ext uri="{FF2B5EF4-FFF2-40B4-BE49-F238E27FC236}">
                  <a16:creationId xmlns:a16="http://schemas.microsoft.com/office/drawing/2014/main" id="{BB94BE81-5C05-38D5-BD38-868AEFFDA95E}"/>
                </a:ext>
              </a:extLst>
            </p:cNvPr>
            <p:cNvCxnSpPr>
              <a:cxnSpLocks/>
            </p:cNvCxnSpPr>
            <p:nvPr/>
          </p:nvCxnSpPr>
          <p:spPr>
            <a:xfrm flipV="1">
              <a:off x="5405202" y="5373242"/>
              <a:ext cx="144000" cy="3327"/>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文字方塊 6">
            <a:extLst>
              <a:ext uri="{FF2B5EF4-FFF2-40B4-BE49-F238E27FC236}">
                <a16:creationId xmlns:a16="http://schemas.microsoft.com/office/drawing/2014/main" id="{9EC85527-1508-3BB9-D238-97B75A4DD1C1}"/>
              </a:ext>
            </a:extLst>
          </p:cNvPr>
          <p:cNvSpPr txBox="1"/>
          <p:nvPr/>
        </p:nvSpPr>
        <p:spPr>
          <a:xfrm>
            <a:off x="7913547" y="6624534"/>
            <a:ext cx="7540387" cy="276999"/>
          </a:xfrm>
          <a:prstGeom prst="rect">
            <a:avLst/>
          </a:prstGeom>
          <a:noFill/>
        </p:spPr>
        <p:txBody>
          <a:bodyPr wrap="square">
            <a:spAutoFit/>
          </a:bodyPr>
          <a:lstStyle/>
          <a:p>
            <a:r>
              <a:rPr lang="en-US" altLang="zh-TW" sz="1200" dirty="0">
                <a:solidFill>
                  <a:schemeClr val="bg1">
                    <a:lumMod val="85000"/>
                  </a:schemeClr>
                </a:solidFill>
              </a:rPr>
              <a:t>Ref: </a:t>
            </a:r>
            <a:r>
              <a:rPr lang="zh-TW" altLang="en-US" sz="1200" dirty="0">
                <a:solidFill>
                  <a:schemeClr val="bg1">
                    <a:lumMod val="85000"/>
                  </a:schemeClr>
                </a:solidFill>
              </a:rPr>
              <a:t>https://blog.csdn.net/qq_34556414/article/details/108399543</a:t>
            </a:r>
          </a:p>
        </p:txBody>
      </p:sp>
      <p:sp>
        <p:nvSpPr>
          <p:cNvPr id="6" name="文字方塊 5">
            <a:extLst>
              <a:ext uri="{FF2B5EF4-FFF2-40B4-BE49-F238E27FC236}">
                <a16:creationId xmlns:a16="http://schemas.microsoft.com/office/drawing/2014/main" id="{FA24CAC6-610C-BA71-73F9-33C4492FD3CC}"/>
              </a:ext>
            </a:extLst>
          </p:cNvPr>
          <p:cNvSpPr txBox="1"/>
          <p:nvPr/>
        </p:nvSpPr>
        <p:spPr>
          <a:xfrm>
            <a:off x="7195093" y="3982655"/>
            <a:ext cx="4013599" cy="923330"/>
          </a:xfrm>
          <a:prstGeom prst="rect">
            <a:avLst/>
          </a:prstGeom>
          <a:noFill/>
          <a:ln w="19050">
            <a:solidFill>
              <a:srgbClr val="C00000"/>
            </a:solidFill>
          </a:ln>
        </p:spPr>
        <p:txBody>
          <a:bodyPr wrap="none" rtlCol="0">
            <a:spAutoFit/>
          </a:bodyPr>
          <a:lstStyle/>
          <a:p>
            <a:r>
              <a:rPr kumimoji="1" lang="en-US" altLang="zh-TW" dirty="0"/>
              <a:t>Paging: Evenly partition the land</a:t>
            </a:r>
          </a:p>
          <a:p>
            <a:r>
              <a:rPr kumimoji="1" lang="en-US" altLang="zh-TW" dirty="0"/>
              <a:t>Virtual Address: Mail Address</a:t>
            </a:r>
            <a:br>
              <a:rPr kumimoji="1" lang="en-US" altLang="zh-TW" dirty="0"/>
            </a:br>
            <a:r>
              <a:rPr kumimoji="1" lang="en-US" altLang="zh-TW" dirty="0"/>
              <a:t>Physical Address: Latitude and Longitude</a:t>
            </a:r>
            <a:endParaRPr kumimoji="1" lang="zh-TW" altLang="en-US" dirty="0"/>
          </a:p>
        </p:txBody>
      </p:sp>
    </p:spTree>
    <p:extLst>
      <p:ext uri="{BB962C8B-B14F-4D97-AF65-F5344CB8AC3E}">
        <p14:creationId xmlns:p14="http://schemas.microsoft.com/office/powerpoint/2010/main" val="948772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p:cTn id="6" dur="indefinite"/>
                                        <p:tgtEl>
                                          <p:spTgt spid="3">
                                            <p:txEl>
                                              <p:pRg st="2" end="2"/>
                                            </p:txEl>
                                          </p:spTgt>
                                        </p:tgtEl>
                                        <p:attrNameLst>
                                          <p:attrName>style.opacity</p:attrName>
                                        </p:attrNameLst>
                                      </p:cBhvr>
                                      <p:to>
                                        <p:strVal val="0.25"/>
                                      </p:to>
                                    </p:set>
                                    <p:animEffect filter="image" prLst="opacity: 0.25">
                                      <p:cBhvr rctx="IE">
                                        <p:cTn id="7" dur="indefinite"/>
                                        <p:tgtEl>
                                          <p:spTgt spid="3">
                                            <p:txEl>
                                              <p:pRg st="2" end="2"/>
                                            </p:txEl>
                                          </p:spTgt>
                                        </p:tgtEl>
                                      </p:cBhvr>
                                    </p:animEffect>
                                  </p:childTnLst>
                                </p:cTn>
                              </p:par>
                            </p:childTnLst>
                          </p:cTn>
                        </p:par>
                        <p:par>
                          <p:cTn id="8" fill="hold">
                            <p:stCondLst>
                              <p:cond delay="0"/>
                            </p:stCondLst>
                            <p:childTnLst>
                              <p:par>
                                <p:cTn id="9" presetID="10" presetClass="entr" presetSubtype="0" fill="hold" nodeType="after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Effect transition="in" filter="fade">
                                      <p:cBhvr>
                                        <p:cTn id="11" dur="500"/>
                                        <p:tgtEl>
                                          <p:spTgt spid="3">
                                            <p:txEl>
                                              <p:pRg st="3" end="3"/>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500"/>
                                        <p:tgtEl>
                                          <p:spTgt spid="3">
                                            <p:txEl>
                                              <p:pRg st="4" end="4"/>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59"/>
                                        </p:tgtEl>
                                        <p:attrNameLst>
                                          <p:attrName>style.visibility</p:attrName>
                                        </p:attrNameLst>
                                      </p:cBhvr>
                                      <p:to>
                                        <p:strVal val="visible"/>
                                      </p:to>
                                    </p:set>
                                    <p:animEffect transition="in" filter="fade">
                                      <p:cBhvr>
                                        <p:cTn id="24" dur="500"/>
                                        <p:tgtEl>
                                          <p:spTgt spid="5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down)">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mph" presetSubtype="0" grpId="1" nodeType="clickEffect">
                                  <p:stCondLst>
                                    <p:cond delay="0"/>
                                  </p:stCondLst>
                                  <p:childTnLst>
                                    <p:set>
                                      <p:cBhvr>
                                        <p:cTn id="36" dur="indefinite"/>
                                        <p:tgtEl>
                                          <p:spTgt spid="6"/>
                                        </p:tgtEl>
                                        <p:attrNameLst>
                                          <p:attrName>style.opacity</p:attrName>
                                        </p:attrNameLst>
                                      </p:cBhvr>
                                      <p:to>
                                        <p:strVal val="0.25"/>
                                      </p:to>
                                    </p:set>
                                    <p:animEffect filter="image" prLst="opacity: 0.25">
                                      <p:cBhvr rctx="IE">
                                        <p:cTn id="37" dur="indefinite"/>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8"/>
                                        </p:tgtEl>
                                        <p:attrNameLst>
                                          <p:attrName>style.visibility</p:attrName>
                                        </p:attrNameLst>
                                      </p:cBhvr>
                                      <p:to>
                                        <p:strVal val="visible"/>
                                      </p:to>
                                    </p:set>
                                    <p:animEffect transition="in" filter="fade">
                                      <p:cBhvr>
                                        <p:cTn id="42" dur="500"/>
                                        <p:tgtEl>
                                          <p:spTgt spid="7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fade">
                                      <p:cBhvr>
                                        <p:cTn id="47" dur="500"/>
                                        <p:tgtEl>
                                          <p:spTgt spid="46"/>
                                        </p:tgtEl>
                                      </p:cBhvr>
                                    </p:animEffect>
                                  </p:childTnLst>
                                </p:cTn>
                              </p:par>
                              <p:par>
                                <p:cTn id="48" presetID="10" presetClass="exit" presetSubtype="0" fill="hold" nodeType="withEffect">
                                  <p:stCondLst>
                                    <p:cond delay="0"/>
                                  </p:stCondLst>
                                  <p:childTnLst>
                                    <p:animEffect transition="out" filter="fade">
                                      <p:cBhvr>
                                        <p:cTn id="49" dur="500"/>
                                        <p:tgtEl>
                                          <p:spTgt spid="78"/>
                                        </p:tgtEl>
                                      </p:cBhvr>
                                    </p:animEffect>
                                    <p:set>
                                      <p:cBhvr>
                                        <p:cTn id="50" dur="1" fill="hold">
                                          <p:stCondLst>
                                            <p:cond delay="499"/>
                                          </p:stCondLst>
                                        </p:cTn>
                                        <p:tgtEl>
                                          <p:spTgt spid="78"/>
                                        </p:tgtEl>
                                        <p:attrNameLst>
                                          <p:attrName>style.visibility</p:attrName>
                                        </p:attrNameLst>
                                      </p:cBhvr>
                                      <p:to>
                                        <p:strVal val="hidden"/>
                                      </p:to>
                                    </p:set>
                                  </p:childTnLst>
                                </p:cTn>
                              </p:par>
                              <p:par>
                                <p:cTn id="51" presetID="22" presetClass="entr" presetSubtype="8" fill="hold" grpId="0"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wipe(left)">
                                      <p:cBhvr>
                                        <p:cTn id="53" dur="500"/>
                                        <p:tgtEl>
                                          <p:spTgt spid="45"/>
                                        </p:tgtEl>
                                      </p:cBhvr>
                                    </p:animEffect>
                                  </p:childTnLst>
                                </p:cTn>
                              </p:par>
                              <p:par>
                                <p:cTn id="54" presetID="22" presetClass="entr" presetSubtype="8" fill="hold" nodeType="withEffect">
                                  <p:stCondLst>
                                    <p:cond delay="0"/>
                                  </p:stCondLst>
                                  <p:childTnLst>
                                    <p:set>
                                      <p:cBhvr>
                                        <p:cTn id="55" dur="1" fill="hold">
                                          <p:stCondLst>
                                            <p:cond delay="0"/>
                                          </p:stCondLst>
                                        </p:cTn>
                                        <p:tgtEl>
                                          <p:spTgt spid="81"/>
                                        </p:tgtEl>
                                        <p:attrNameLst>
                                          <p:attrName>style.visibility</p:attrName>
                                        </p:attrNameLst>
                                      </p:cBhvr>
                                      <p:to>
                                        <p:strVal val="visible"/>
                                      </p:to>
                                    </p:set>
                                    <p:animEffect transition="in" filter="wipe(left)">
                                      <p:cBhvr>
                                        <p:cTn id="56" dur="500"/>
                                        <p:tgtEl>
                                          <p:spTgt spid="81"/>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63"/>
                                        </p:tgtEl>
                                        <p:attrNameLst>
                                          <p:attrName>style.visibility</p:attrName>
                                        </p:attrNameLst>
                                      </p:cBhvr>
                                      <p:to>
                                        <p:strVal val="visible"/>
                                      </p:to>
                                    </p:set>
                                    <p:animEffect transition="in" filter="fade">
                                      <p:cBhvr>
                                        <p:cTn id="61" dur="500"/>
                                        <p:tgtEl>
                                          <p:spTgt spid="63"/>
                                        </p:tgtEl>
                                      </p:cBhvr>
                                    </p:animEffect>
                                  </p:childTnLst>
                                </p:cTn>
                              </p:par>
                              <p:par>
                                <p:cTn id="62" presetID="10" presetClass="exit" presetSubtype="0" fill="hold" nodeType="withEffect">
                                  <p:stCondLst>
                                    <p:cond delay="0"/>
                                  </p:stCondLst>
                                  <p:childTnLst>
                                    <p:animEffect transition="out" filter="fade">
                                      <p:cBhvr>
                                        <p:cTn id="63" dur="500"/>
                                        <p:tgtEl>
                                          <p:spTgt spid="81"/>
                                        </p:tgtEl>
                                      </p:cBhvr>
                                    </p:animEffect>
                                    <p:set>
                                      <p:cBhvr>
                                        <p:cTn id="64" dur="1" fill="hold">
                                          <p:stCondLst>
                                            <p:cond delay="499"/>
                                          </p:stCondLst>
                                        </p:cTn>
                                        <p:tgtEl>
                                          <p:spTgt spid="81"/>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98"/>
                                        </p:tgtEl>
                                        <p:attrNameLst>
                                          <p:attrName>style.visibility</p:attrName>
                                        </p:attrNameLst>
                                      </p:cBhvr>
                                      <p:to>
                                        <p:strVal val="visible"/>
                                      </p:to>
                                    </p:set>
                                    <p:animEffect transition="in" filter="fade">
                                      <p:cBhvr>
                                        <p:cTn id="69" dur="500"/>
                                        <p:tgtEl>
                                          <p:spTgt spid="9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79"/>
                                        </p:tgtEl>
                                        <p:attrNameLst>
                                          <p:attrName>style.visibility</p:attrName>
                                        </p:attrNameLst>
                                      </p:cBhvr>
                                      <p:to>
                                        <p:strVal val="visible"/>
                                      </p:to>
                                    </p:set>
                                    <p:animEffect transition="in" filter="fade">
                                      <p:cBhvr>
                                        <p:cTn id="72" dur="500"/>
                                        <p:tgtEl>
                                          <p:spTgt spid="7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2" fill="hold" nodeType="clickEffect">
                                  <p:stCondLst>
                                    <p:cond delay="0"/>
                                  </p:stCondLst>
                                  <p:childTnLst>
                                    <p:set>
                                      <p:cBhvr>
                                        <p:cTn id="76" dur="1" fill="hold">
                                          <p:stCondLst>
                                            <p:cond delay="0"/>
                                          </p:stCondLst>
                                        </p:cTn>
                                        <p:tgtEl>
                                          <p:spTgt spid="99"/>
                                        </p:tgtEl>
                                        <p:attrNameLst>
                                          <p:attrName>style.visibility</p:attrName>
                                        </p:attrNameLst>
                                      </p:cBhvr>
                                      <p:to>
                                        <p:strVal val="visible"/>
                                      </p:to>
                                    </p:set>
                                    <p:animEffect transition="in" filter="wipe(right)">
                                      <p:cBhvr>
                                        <p:cTn id="77" dur="500"/>
                                        <p:tgtEl>
                                          <p:spTgt spid="9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95"/>
                                        </p:tgtEl>
                                        <p:attrNameLst>
                                          <p:attrName>style.visibility</p:attrName>
                                        </p:attrNameLst>
                                      </p:cBhvr>
                                      <p:to>
                                        <p:strVal val="visible"/>
                                      </p:to>
                                    </p:set>
                                    <p:animEffect transition="in" filter="wipe(left)">
                                      <p:cBhvr>
                                        <p:cTn id="82" dur="500"/>
                                        <p:tgtEl>
                                          <p:spTgt spid="95"/>
                                        </p:tgtEl>
                                      </p:cBhvr>
                                    </p:animEffect>
                                  </p:childTnLst>
                                </p:cTn>
                              </p:par>
                            </p:childTnLst>
                          </p:cTn>
                        </p:par>
                        <p:par>
                          <p:cTn id="83" fill="hold">
                            <p:stCondLst>
                              <p:cond delay="500"/>
                            </p:stCondLst>
                            <p:childTnLst>
                              <p:par>
                                <p:cTn id="84" presetID="10" presetClass="entr" presetSubtype="0" fill="hold" nodeType="afterEffect">
                                  <p:stCondLst>
                                    <p:cond delay="0"/>
                                  </p:stCondLst>
                                  <p:childTnLst>
                                    <p:set>
                                      <p:cBhvr>
                                        <p:cTn id="85" dur="1" fill="hold">
                                          <p:stCondLst>
                                            <p:cond delay="0"/>
                                          </p:stCondLst>
                                        </p:cTn>
                                        <p:tgtEl>
                                          <p:spTgt spid="100"/>
                                        </p:tgtEl>
                                        <p:attrNameLst>
                                          <p:attrName>style.visibility</p:attrName>
                                        </p:attrNameLst>
                                      </p:cBhvr>
                                      <p:to>
                                        <p:strVal val="visible"/>
                                      </p:to>
                                    </p:set>
                                    <p:animEffect transition="in" filter="fade">
                                      <p:cBhvr>
                                        <p:cTn id="86"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26" grpId="0"/>
      <p:bldP spid="46" grpId="0"/>
      <p:bldP spid="79" grpId="0" animBg="1"/>
      <p:bldP spid="95" grpId="0" animBg="1"/>
      <p:bldP spid="6" grpId="0" animBg="1"/>
      <p:bldP spid="6"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Process Creation (Count.)</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1088961"/>
            <a:ext cx="11836400" cy="5871677"/>
          </a:xfrm>
        </p:spPr>
        <p:txBody>
          <a:bodyPr>
            <a:normAutofit/>
          </a:bodyPr>
          <a:lstStyle/>
          <a:p>
            <a:pPr algn="l"/>
            <a:r>
              <a:rPr kumimoji="1" lang="en-US" altLang="zh-TW" dirty="0">
                <a:solidFill>
                  <a:schemeClr val="tx1"/>
                </a:solidFill>
              </a:rPr>
              <a:t>Process</a:t>
            </a:r>
            <a:r>
              <a:rPr kumimoji="1" lang="zh-TW" altLang="en-US" dirty="0">
                <a:solidFill>
                  <a:schemeClr val="tx1"/>
                </a:solidFill>
              </a:rPr>
              <a:t> </a:t>
            </a:r>
            <a:r>
              <a:rPr kumimoji="1" lang="en-US" altLang="zh-TW" dirty="0">
                <a:solidFill>
                  <a:schemeClr val="tx1"/>
                </a:solidFill>
              </a:rPr>
              <a:t>Creation = </a:t>
            </a:r>
            <a:r>
              <a:rPr kumimoji="1" lang="en-US" altLang="zh-TW" dirty="0">
                <a:solidFill>
                  <a:srgbClr val="C00000"/>
                </a:solidFill>
              </a:rPr>
              <a:t>fork() </a:t>
            </a:r>
            <a:r>
              <a:rPr kumimoji="1" lang="en-US" altLang="zh-TW" dirty="0">
                <a:solidFill>
                  <a:schemeClr val="tx1"/>
                </a:solidFill>
              </a:rPr>
              <a:t>+ exec()</a:t>
            </a:r>
          </a:p>
          <a:p>
            <a:pPr lvl="1" algn="l"/>
            <a:r>
              <a:rPr lang="en-US" altLang="zh-TW" dirty="0">
                <a:solidFill>
                  <a:schemeClr val="tx1">
                    <a:lumMod val="50000"/>
                    <a:lumOff val="50000"/>
                  </a:schemeClr>
                </a:solidFill>
              </a:rPr>
              <a:t>fork():</a:t>
            </a:r>
            <a:r>
              <a:rPr lang="zh-TW" altLang="en-US" dirty="0">
                <a:solidFill>
                  <a:schemeClr val="tx1">
                    <a:lumMod val="50000"/>
                    <a:lumOff val="50000"/>
                  </a:schemeClr>
                </a:solidFill>
              </a:rPr>
              <a:t> </a:t>
            </a:r>
            <a:r>
              <a:rPr lang="en-US" altLang="zh-TW" dirty="0">
                <a:solidFill>
                  <a:schemeClr val="tx1">
                    <a:lumMod val="50000"/>
                    <a:lumOff val="50000"/>
                  </a:schemeClr>
                </a:solidFill>
              </a:rPr>
              <a:t>Create</a:t>
            </a:r>
            <a:r>
              <a:rPr lang="zh-TW" altLang="en-US" dirty="0">
                <a:solidFill>
                  <a:schemeClr val="tx1">
                    <a:lumMod val="50000"/>
                    <a:lumOff val="50000"/>
                  </a:schemeClr>
                </a:solidFill>
              </a:rPr>
              <a:t> </a:t>
            </a:r>
            <a:r>
              <a:rPr lang="en-US" altLang="zh-TW" dirty="0">
                <a:solidFill>
                  <a:schemeClr val="tx1">
                    <a:lumMod val="50000"/>
                    <a:lumOff val="50000"/>
                  </a:schemeClr>
                </a:solidFill>
              </a:rPr>
              <a:t>a</a:t>
            </a:r>
            <a:r>
              <a:rPr lang="zh-TW" altLang="en-US" dirty="0">
                <a:solidFill>
                  <a:schemeClr val="tx1">
                    <a:lumMod val="50000"/>
                    <a:lumOff val="50000"/>
                  </a:schemeClr>
                </a:solidFill>
              </a:rPr>
              <a:t> </a:t>
            </a:r>
            <a:r>
              <a:rPr lang="en-US" altLang="zh-TW" dirty="0">
                <a:solidFill>
                  <a:schemeClr val="tx1">
                    <a:lumMod val="50000"/>
                    <a:lumOff val="50000"/>
                  </a:schemeClr>
                </a:solidFill>
              </a:rPr>
              <a:t>child</a:t>
            </a:r>
            <a:r>
              <a:rPr lang="zh-TW" altLang="en-US" dirty="0">
                <a:solidFill>
                  <a:schemeClr val="tx1">
                    <a:lumMod val="50000"/>
                    <a:lumOff val="50000"/>
                  </a:schemeClr>
                </a:solidFill>
              </a:rPr>
              <a:t> </a:t>
            </a:r>
            <a:r>
              <a:rPr lang="en-US" altLang="zh-TW" dirty="0">
                <a:solidFill>
                  <a:schemeClr val="tx1">
                    <a:lumMod val="50000"/>
                    <a:lumOff val="50000"/>
                  </a:schemeClr>
                </a:solidFill>
              </a:rPr>
              <a:t>by</a:t>
            </a:r>
            <a:r>
              <a:rPr lang="zh-TW" altLang="en-US" dirty="0">
                <a:solidFill>
                  <a:schemeClr val="tx1">
                    <a:lumMod val="50000"/>
                    <a:lumOff val="50000"/>
                  </a:schemeClr>
                </a:solidFill>
              </a:rPr>
              <a:t> </a:t>
            </a:r>
            <a:r>
              <a:rPr lang="en-US" altLang="zh-TW" dirty="0">
                <a:solidFill>
                  <a:schemeClr val="tx1">
                    <a:lumMod val="50000"/>
                    <a:lumOff val="50000"/>
                  </a:schemeClr>
                </a:solidFill>
              </a:rPr>
              <a:t>copying</a:t>
            </a:r>
            <a:r>
              <a:rPr lang="zh-TW" altLang="en-US" dirty="0">
                <a:solidFill>
                  <a:schemeClr val="tx1">
                    <a:lumMod val="50000"/>
                    <a:lumOff val="50000"/>
                  </a:schemeClr>
                </a:solidFill>
              </a:rPr>
              <a:t> </a:t>
            </a:r>
            <a:r>
              <a:rPr lang="en-US" altLang="zh-TW" dirty="0">
                <a:solidFill>
                  <a:schemeClr val="tx1">
                    <a:lumMod val="50000"/>
                    <a:lumOff val="50000"/>
                  </a:schemeClr>
                </a:solidFill>
              </a:rPr>
              <a:t>its</a:t>
            </a:r>
            <a:r>
              <a:rPr lang="zh-TW" altLang="en-US" dirty="0">
                <a:solidFill>
                  <a:schemeClr val="tx1">
                    <a:lumMod val="50000"/>
                    <a:lumOff val="50000"/>
                  </a:schemeClr>
                </a:solidFill>
              </a:rPr>
              <a:t> </a:t>
            </a:r>
            <a:r>
              <a:rPr lang="en-US" altLang="zh-TW" dirty="0">
                <a:solidFill>
                  <a:schemeClr val="tx1">
                    <a:lumMod val="50000"/>
                    <a:lumOff val="50000"/>
                  </a:schemeClr>
                </a:solidFill>
              </a:rPr>
              <a:t>parent.</a:t>
            </a:r>
            <a:r>
              <a:rPr lang="zh-TW" altLang="en-US" dirty="0">
                <a:solidFill>
                  <a:schemeClr val="tx1">
                    <a:lumMod val="50000"/>
                    <a:lumOff val="50000"/>
                  </a:schemeClr>
                </a:solidFill>
              </a:rPr>
              <a:t> </a:t>
            </a:r>
            <a:br>
              <a:rPr lang="en-US" altLang="zh-TW" dirty="0">
                <a:solidFill>
                  <a:schemeClr val="tx1">
                    <a:lumMod val="50000"/>
                    <a:lumOff val="50000"/>
                  </a:schemeClr>
                </a:solidFill>
              </a:rPr>
            </a:br>
            <a:r>
              <a:rPr lang="en-US" altLang="zh-TW" i="1" dirty="0">
                <a:solidFill>
                  <a:schemeClr val="tx1">
                    <a:lumMod val="50000"/>
                    <a:lumOff val="50000"/>
                  </a:schemeClr>
                </a:solidFill>
              </a:rPr>
              <a:t>(Notice:</a:t>
            </a:r>
            <a:r>
              <a:rPr lang="zh-TW" altLang="en-US" i="1" dirty="0">
                <a:solidFill>
                  <a:schemeClr val="tx1">
                    <a:lumMod val="50000"/>
                    <a:lumOff val="50000"/>
                  </a:schemeClr>
                </a:solidFill>
              </a:rPr>
              <a:t> </a:t>
            </a:r>
            <a:r>
              <a:rPr lang="en-US" altLang="zh-TW" i="1" dirty="0">
                <a:solidFill>
                  <a:schemeClr val="tx1">
                    <a:lumMod val="50000"/>
                    <a:lumOff val="50000"/>
                  </a:schemeClr>
                </a:solidFill>
              </a:rPr>
              <a:t>PID,</a:t>
            </a:r>
            <a:r>
              <a:rPr lang="zh-TW" altLang="en-US" i="1" dirty="0">
                <a:solidFill>
                  <a:schemeClr val="tx1">
                    <a:lumMod val="50000"/>
                    <a:lumOff val="50000"/>
                  </a:schemeClr>
                </a:solidFill>
              </a:rPr>
              <a:t> </a:t>
            </a:r>
            <a:r>
              <a:rPr lang="en-US" altLang="zh-TW" i="1" dirty="0">
                <a:solidFill>
                  <a:schemeClr val="tx1">
                    <a:lumMod val="50000"/>
                    <a:lumOff val="50000"/>
                  </a:schemeClr>
                </a:solidFill>
              </a:rPr>
              <a:t>Page</a:t>
            </a:r>
            <a:r>
              <a:rPr lang="zh-TW" altLang="en-US" i="1" dirty="0">
                <a:solidFill>
                  <a:schemeClr val="tx1">
                    <a:lumMod val="50000"/>
                    <a:lumOff val="50000"/>
                  </a:schemeClr>
                </a:solidFill>
              </a:rPr>
              <a:t> </a:t>
            </a:r>
            <a:r>
              <a:rPr lang="en-US" altLang="zh-TW" i="1" dirty="0">
                <a:solidFill>
                  <a:schemeClr val="tx1">
                    <a:lumMod val="50000"/>
                    <a:lumOff val="50000"/>
                  </a:schemeClr>
                </a:solidFill>
              </a:rPr>
              <a:t>Table,</a:t>
            </a:r>
            <a:r>
              <a:rPr lang="zh-TW" altLang="en-US" i="1" dirty="0">
                <a:solidFill>
                  <a:schemeClr val="tx1">
                    <a:lumMod val="50000"/>
                    <a:lumOff val="50000"/>
                  </a:schemeClr>
                </a:solidFill>
              </a:rPr>
              <a:t> </a:t>
            </a:r>
            <a:r>
              <a:rPr lang="en-US" altLang="zh-TW" i="1" dirty="0">
                <a:solidFill>
                  <a:schemeClr val="tx1">
                    <a:lumMod val="50000"/>
                    <a:lumOff val="50000"/>
                  </a:schemeClr>
                </a:solidFill>
              </a:rPr>
              <a:t>and</a:t>
            </a:r>
            <a:r>
              <a:rPr lang="zh-TW" altLang="en-US" i="1" dirty="0">
                <a:solidFill>
                  <a:schemeClr val="tx1">
                    <a:lumMod val="50000"/>
                    <a:lumOff val="50000"/>
                  </a:schemeClr>
                </a:solidFill>
              </a:rPr>
              <a:t> </a:t>
            </a:r>
            <a:r>
              <a:rPr lang="en-US" altLang="zh-TW" i="1" dirty="0">
                <a:solidFill>
                  <a:schemeClr val="tx1">
                    <a:lumMod val="50000"/>
                    <a:lumOff val="50000"/>
                  </a:schemeClr>
                </a:solidFill>
              </a:rPr>
              <a:t>some</a:t>
            </a:r>
            <a:r>
              <a:rPr lang="zh-TW" altLang="en-US" i="1" dirty="0">
                <a:solidFill>
                  <a:schemeClr val="tx1">
                    <a:lumMod val="50000"/>
                    <a:lumOff val="50000"/>
                  </a:schemeClr>
                </a:solidFill>
              </a:rPr>
              <a:t> </a:t>
            </a:r>
            <a:r>
              <a:rPr lang="en-US" altLang="zh-TW" i="1" dirty="0">
                <a:solidFill>
                  <a:schemeClr val="tx1">
                    <a:lumMod val="50000"/>
                    <a:lumOff val="50000"/>
                  </a:schemeClr>
                </a:solidFill>
              </a:rPr>
              <a:t>signals</a:t>
            </a:r>
            <a:r>
              <a:rPr lang="zh-TW" altLang="en-US" i="1" dirty="0">
                <a:solidFill>
                  <a:schemeClr val="tx1">
                    <a:lumMod val="50000"/>
                    <a:lumOff val="50000"/>
                  </a:schemeClr>
                </a:solidFill>
              </a:rPr>
              <a:t> </a:t>
            </a:r>
            <a:r>
              <a:rPr lang="en-US" altLang="zh-TW" i="1" dirty="0">
                <a:solidFill>
                  <a:schemeClr val="tx1">
                    <a:lumMod val="50000"/>
                    <a:lumOff val="50000"/>
                  </a:schemeClr>
                </a:solidFill>
              </a:rPr>
              <a:t>are</a:t>
            </a:r>
            <a:r>
              <a:rPr lang="zh-TW" altLang="en-US" i="1" dirty="0">
                <a:solidFill>
                  <a:schemeClr val="tx1">
                    <a:lumMod val="50000"/>
                    <a:lumOff val="50000"/>
                  </a:schemeClr>
                </a:solidFill>
              </a:rPr>
              <a:t> </a:t>
            </a:r>
            <a:r>
              <a:rPr lang="en-US" altLang="zh-TW" i="1" dirty="0">
                <a:solidFill>
                  <a:schemeClr val="tx1">
                    <a:lumMod val="50000"/>
                    <a:lumOff val="50000"/>
                  </a:schemeClr>
                </a:solidFill>
              </a:rPr>
              <a:t>different)</a:t>
            </a:r>
          </a:p>
          <a:p>
            <a:pPr lvl="1" algn="l"/>
            <a:r>
              <a:rPr lang="en-US" altLang="zh-TW" dirty="0">
                <a:solidFill>
                  <a:schemeClr val="tx1">
                    <a:lumMod val="50000"/>
                    <a:lumOff val="50000"/>
                  </a:schemeClr>
                </a:solidFill>
              </a:rPr>
              <a:t>e</a:t>
            </a:r>
            <a:r>
              <a:rPr kumimoji="1" lang="en-US" altLang="zh-TW" dirty="0">
                <a:solidFill>
                  <a:schemeClr val="tx1">
                    <a:lumMod val="50000"/>
                    <a:lumOff val="50000"/>
                  </a:schemeClr>
                </a:solidFill>
              </a:rPr>
              <a:t>xec():</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Loads</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a</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new</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executable</a:t>
            </a:r>
            <a:r>
              <a:rPr kumimoji="1" lang="zh-TW" altLang="en-US" dirty="0">
                <a:solidFill>
                  <a:schemeClr val="tx1">
                    <a:lumMod val="50000"/>
                    <a:lumOff val="50000"/>
                  </a:schemeClr>
                </a:solidFill>
              </a:rPr>
              <a:t> </a:t>
            </a:r>
            <a:r>
              <a:rPr lang="en-US" altLang="zh-TW" dirty="0">
                <a:solidFill>
                  <a:schemeClr val="tx1">
                    <a:lumMod val="50000"/>
                    <a:lumOff val="50000"/>
                  </a:schemeClr>
                </a:solidFill>
              </a:rPr>
              <a:t>into</a:t>
            </a:r>
            <a:r>
              <a:rPr lang="zh-TW" altLang="en-US" dirty="0">
                <a:solidFill>
                  <a:schemeClr val="tx1">
                    <a:lumMod val="50000"/>
                    <a:lumOff val="50000"/>
                  </a:schemeClr>
                </a:solidFill>
              </a:rPr>
              <a:t> </a:t>
            </a:r>
            <a:r>
              <a:rPr lang="en-US" altLang="zh-TW" dirty="0">
                <a:solidFill>
                  <a:schemeClr val="tx1">
                    <a:lumMod val="50000"/>
                    <a:lumOff val="50000"/>
                  </a:schemeClr>
                </a:solidFill>
              </a:rPr>
              <a:t>the</a:t>
            </a:r>
            <a:r>
              <a:rPr lang="zh-TW" altLang="en-US" dirty="0">
                <a:solidFill>
                  <a:schemeClr val="tx1">
                    <a:lumMod val="50000"/>
                    <a:lumOff val="50000"/>
                  </a:schemeClr>
                </a:solidFill>
              </a:rPr>
              <a:t> </a:t>
            </a:r>
            <a:r>
              <a:rPr lang="en-US" altLang="zh-TW" dirty="0">
                <a:solidFill>
                  <a:schemeClr val="tx1">
                    <a:lumMod val="50000"/>
                    <a:lumOff val="50000"/>
                  </a:schemeClr>
                </a:solidFill>
              </a:rPr>
              <a:t>address</a:t>
            </a:r>
            <a:r>
              <a:rPr lang="zh-TW" altLang="en-US" dirty="0">
                <a:solidFill>
                  <a:schemeClr val="tx1">
                    <a:lumMod val="50000"/>
                    <a:lumOff val="50000"/>
                  </a:schemeClr>
                </a:solidFill>
              </a:rPr>
              <a:t> </a:t>
            </a:r>
            <a:r>
              <a:rPr lang="en-US" altLang="zh-TW" dirty="0">
                <a:solidFill>
                  <a:schemeClr val="tx1">
                    <a:lumMod val="50000"/>
                    <a:lumOff val="50000"/>
                  </a:schemeClr>
                </a:solidFill>
              </a:rPr>
              <a:t>space (i.e., memory)</a:t>
            </a:r>
            <a:r>
              <a:rPr lang="zh-TW" altLang="en-US" dirty="0">
                <a:solidFill>
                  <a:schemeClr val="tx1">
                    <a:lumMod val="50000"/>
                    <a:lumOff val="50000"/>
                  </a:schemeClr>
                </a:solidFill>
              </a:rPr>
              <a:t> </a:t>
            </a:r>
            <a:r>
              <a:rPr lang="en-US" altLang="zh-TW" dirty="0">
                <a:solidFill>
                  <a:schemeClr val="tx1">
                    <a:lumMod val="50000"/>
                    <a:lumOff val="50000"/>
                  </a:schemeClr>
                </a:solidFill>
              </a:rPr>
              <a:t>and</a:t>
            </a:r>
            <a:r>
              <a:rPr lang="zh-TW" altLang="en-US" dirty="0">
                <a:solidFill>
                  <a:schemeClr val="tx1">
                    <a:lumMod val="50000"/>
                    <a:lumOff val="50000"/>
                  </a:schemeClr>
                </a:solidFill>
              </a:rPr>
              <a:t> </a:t>
            </a:r>
            <a:r>
              <a:rPr lang="en-US" altLang="zh-TW" dirty="0">
                <a:solidFill>
                  <a:schemeClr val="tx1">
                    <a:lumMod val="50000"/>
                    <a:lumOff val="50000"/>
                  </a:schemeClr>
                </a:solidFill>
              </a:rPr>
              <a:t>runs</a:t>
            </a:r>
            <a:r>
              <a:rPr lang="zh-TW" altLang="en-US" dirty="0">
                <a:solidFill>
                  <a:schemeClr val="tx1">
                    <a:lumMod val="50000"/>
                    <a:lumOff val="50000"/>
                  </a:schemeClr>
                </a:solidFill>
              </a:rPr>
              <a:t> </a:t>
            </a:r>
            <a:r>
              <a:rPr lang="en-US" altLang="zh-TW" dirty="0">
                <a:solidFill>
                  <a:schemeClr val="tx1">
                    <a:lumMod val="50000"/>
                    <a:lumOff val="50000"/>
                  </a:schemeClr>
                </a:solidFill>
              </a:rPr>
              <a:t>it.</a:t>
            </a:r>
            <a:endParaRPr kumimoji="1" lang="en-US" altLang="zh-TW" dirty="0">
              <a:solidFill>
                <a:schemeClr val="tx1">
                  <a:lumMod val="50000"/>
                  <a:lumOff val="50000"/>
                </a:schemeClr>
              </a:solidFill>
            </a:endParaRPr>
          </a:p>
          <a:p>
            <a:pPr algn="l"/>
            <a:r>
              <a:rPr lang="en-US" altLang="zh-TW" dirty="0">
                <a:solidFill>
                  <a:schemeClr val="tx1">
                    <a:lumMod val="50000"/>
                    <a:lumOff val="50000"/>
                  </a:schemeClr>
                </a:solidFill>
              </a:rPr>
              <a:t>Copy-on-Write</a:t>
            </a:r>
            <a:r>
              <a:rPr lang="zh-TW" altLang="en-US" dirty="0">
                <a:solidFill>
                  <a:schemeClr val="tx1">
                    <a:lumMod val="50000"/>
                    <a:lumOff val="50000"/>
                  </a:schemeClr>
                </a:solidFill>
              </a:rPr>
              <a:t> </a:t>
            </a:r>
            <a:r>
              <a:rPr lang="en-US" altLang="zh-TW" dirty="0">
                <a:solidFill>
                  <a:schemeClr val="tx1">
                    <a:lumMod val="50000"/>
                    <a:lumOff val="50000"/>
                  </a:schemeClr>
                </a:solidFill>
              </a:rPr>
              <a:t>(</a:t>
            </a:r>
            <a:r>
              <a:rPr lang="en-US" altLang="zh-TW" dirty="0" err="1">
                <a:solidFill>
                  <a:schemeClr val="tx1">
                    <a:lumMod val="50000"/>
                    <a:lumOff val="50000"/>
                  </a:schemeClr>
                </a:solidFill>
              </a:rPr>
              <a:t>CoW</a:t>
            </a:r>
            <a:r>
              <a:rPr lang="en-US" altLang="zh-TW" dirty="0">
                <a:solidFill>
                  <a:schemeClr val="tx1">
                    <a:lumMod val="50000"/>
                    <a:lumOff val="50000"/>
                  </a:schemeClr>
                </a:solidFill>
              </a:rPr>
              <a:t>)</a:t>
            </a:r>
          </a:p>
          <a:p>
            <a:pPr lvl="1" algn="l"/>
            <a:r>
              <a:rPr lang="en-US" altLang="zh-TW" dirty="0">
                <a:solidFill>
                  <a:schemeClr val="tx1">
                    <a:lumMod val="50000"/>
                    <a:lumOff val="50000"/>
                  </a:schemeClr>
                </a:solidFill>
              </a:rPr>
              <a:t>Challenge:</a:t>
            </a:r>
            <a:r>
              <a:rPr lang="zh-TW" altLang="en-US" dirty="0">
                <a:solidFill>
                  <a:schemeClr val="tx1">
                    <a:lumMod val="50000"/>
                    <a:lumOff val="50000"/>
                  </a:schemeClr>
                </a:solidFill>
              </a:rPr>
              <a:t> </a:t>
            </a:r>
            <a:r>
              <a:rPr lang="en-US" altLang="zh-TW" dirty="0">
                <a:solidFill>
                  <a:schemeClr val="tx1">
                    <a:lumMod val="50000"/>
                    <a:lumOff val="50000"/>
                  </a:schemeClr>
                </a:solidFill>
              </a:rPr>
              <a:t>Naively</a:t>
            </a:r>
            <a:r>
              <a:rPr lang="zh-TW" altLang="en-US" dirty="0">
                <a:solidFill>
                  <a:schemeClr val="tx1">
                    <a:lumMod val="50000"/>
                    <a:lumOff val="50000"/>
                  </a:schemeClr>
                </a:solidFill>
              </a:rPr>
              <a:t> </a:t>
            </a:r>
            <a:r>
              <a:rPr lang="en-US" altLang="zh-TW" dirty="0">
                <a:solidFill>
                  <a:schemeClr val="tx1">
                    <a:lumMod val="50000"/>
                    <a:lumOff val="50000"/>
                  </a:schemeClr>
                </a:solidFill>
              </a:rPr>
              <a:t>copying</a:t>
            </a:r>
            <a:r>
              <a:rPr lang="zh-TW" altLang="en-US" dirty="0">
                <a:solidFill>
                  <a:schemeClr val="tx1">
                    <a:lumMod val="50000"/>
                    <a:lumOff val="50000"/>
                  </a:schemeClr>
                </a:solidFill>
              </a:rPr>
              <a:t> </a:t>
            </a:r>
            <a:r>
              <a:rPr lang="en-US" altLang="zh-TW" dirty="0">
                <a:solidFill>
                  <a:schemeClr val="tx1">
                    <a:lumMod val="50000"/>
                    <a:lumOff val="50000"/>
                  </a:schemeClr>
                </a:solidFill>
              </a:rPr>
              <a:t>all</a:t>
            </a:r>
            <a:r>
              <a:rPr lang="zh-TW" altLang="en-US" dirty="0">
                <a:solidFill>
                  <a:schemeClr val="tx1">
                    <a:lumMod val="50000"/>
                    <a:lumOff val="50000"/>
                  </a:schemeClr>
                </a:solidFill>
              </a:rPr>
              <a:t> </a:t>
            </a:r>
            <a:r>
              <a:rPr lang="en-US" altLang="zh-TW" dirty="0">
                <a:solidFill>
                  <a:schemeClr val="tx1">
                    <a:lumMod val="50000"/>
                    <a:lumOff val="50000"/>
                  </a:schemeClr>
                </a:solidFill>
              </a:rPr>
              <a:t>resources</a:t>
            </a:r>
            <a:r>
              <a:rPr lang="zh-TW" altLang="en-US" dirty="0">
                <a:solidFill>
                  <a:schemeClr val="tx1">
                    <a:lumMod val="50000"/>
                    <a:lumOff val="50000"/>
                  </a:schemeClr>
                </a:solidFill>
              </a:rPr>
              <a:t> </a:t>
            </a:r>
            <a:r>
              <a:rPr lang="en-US" altLang="zh-TW" dirty="0">
                <a:solidFill>
                  <a:schemeClr val="tx1">
                    <a:lumMod val="50000"/>
                    <a:lumOff val="50000"/>
                  </a:schemeClr>
                </a:solidFill>
              </a:rPr>
              <a:t>from</a:t>
            </a:r>
            <a:r>
              <a:rPr lang="zh-TW" altLang="en-US" dirty="0">
                <a:solidFill>
                  <a:schemeClr val="tx1">
                    <a:lumMod val="50000"/>
                    <a:lumOff val="50000"/>
                  </a:schemeClr>
                </a:solidFill>
              </a:rPr>
              <a:t> </a:t>
            </a:r>
            <a:r>
              <a:rPr lang="en-US" altLang="zh-TW" dirty="0">
                <a:solidFill>
                  <a:schemeClr val="tx1">
                    <a:lumMod val="50000"/>
                    <a:lumOff val="50000"/>
                  </a:schemeClr>
                </a:solidFill>
              </a:rPr>
              <a:t>a</a:t>
            </a:r>
            <a:r>
              <a:rPr lang="zh-TW" altLang="en-US" dirty="0">
                <a:solidFill>
                  <a:schemeClr val="tx1">
                    <a:lumMod val="50000"/>
                    <a:lumOff val="50000"/>
                  </a:schemeClr>
                </a:solidFill>
              </a:rPr>
              <a:t> </a:t>
            </a:r>
            <a:r>
              <a:rPr lang="en-US" altLang="zh-TW" dirty="0">
                <a:solidFill>
                  <a:schemeClr val="tx1">
                    <a:lumMod val="50000"/>
                    <a:lumOff val="50000"/>
                  </a:schemeClr>
                </a:solidFill>
              </a:rPr>
              <a:t>parent</a:t>
            </a:r>
            <a:r>
              <a:rPr lang="zh-TW" altLang="en-US" dirty="0">
                <a:solidFill>
                  <a:schemeClr val="tx1">
                    <a:lumMod val="50000"/>
                    <a:lumOff val="50000"/>
                  </a:schemeClr>
                </a:solidFill>
              </a:rPr>
              <a:t> </a:t>
            </a:r>
            <a:r>
              <a:rPr lang="en-US" altLang="zh-TW" dirty="0">
                <a:solidFill>
                  <a:schemeClr val="tx1">
                    <a:lumMod val="50000"/>
                    <a:lumOff val="50000"/>
                  </a:schemeClr>
                </a:solidFill>
              </a:rPr>
              <a:t>process</a:t>
            </a:r>
            <a:r>
              <a:rPr lang="zh-TW" altLang="en-US" dirty="0">
                <a:solidFill>
                  <a:schemeClr val="tx1">
                    <a:lumMod val="50000"/>
                    <a:lumOff val="50000"/>
                  </a:schemeClr>
                </a:solidFill>
              </a:rPr>
              <a:t> </a:t>
            </a:r>
            <a:r>
              <a:rPr lang="en-US" altLang="zh-TW" dirty="0">
                <a:solidFill>
                  <a:schemeClr val="tx1">
                    <a:lumMod val="50000"/>
                    <a:lumOff val="50000"/>
                  </a:schemeClr>
                </a:solidFill>
              </a:rPr>
              <a:t>is</a:t>
            </a:r>
            <a:r>
              <a:rPr lang="zh-TW" altLang="en-US" dirty="0">
                <a:solidFill>
                  <a:schemeClr val="tx1">
                    <a:lumMod val="50000"/>
                    <a:lumOff val="50000"/>
                  </a:schemeClr>
                </a:solidFill>
              </a:rPr>
              <a:t> </a:t>
            </a:r>
            <a:r>
              <a:rPr lang="en-US" altLang="zh-TW" dirty="0">
                <a:solidFill>
                  <a:schemeClr val="tx1">
                    <a:lumMod val="50000"/>
                    <a:lumOff val="50000"/>
                  </a:schemeClr>
                </a:solidFill>
              </a:rPr>
              <a:t>time</a:t>
            </a:r>
            <a:r>
              <a:rPr lang="zh-TW" altLang="en-US" dirty="0">
                <a:solidFill>
                  <a:schemeClr val="tx1">
                    <a:lumMod val="50000"/>
                    <a:lumOff val="50000"/>
                  </a:schemeClr>
                </a:solidFill>
              </a:rPr>
              <a:t> </a:t>
            </a:r>
            <a:r>
              <a:rPr lang="en-US" altLang="zh-TW" dirty="0">
                <a:solidFill>
                  <a:schemeClr val="tx1">
                    <a:lumMod val="50000"/>
                    <a:lumOff val="50000"/>
                  </a:schemeClr>
                </a:solidFill>
              </a:rPr>
              <a:t>consuming.</a:t>
            </a:r>
          </a:p>
          <a:p>
            <a:pPr lvl="1" algn="l"/>
            <a:r>
              <a:rPr lang="en-US" altLang="zh-TW" dirty="0">
                <a:solidFill>
                  <a:schemeClr val="tx1">
                    <a:lumMod val="50000"/>
                    <a:lumOff val="50000"/>
                  </a:schemeClr>
                </a:solidFill>
              </a:rPr>
              <a:t>How</a:t>
            </a:r>
            <a:r>
              <a:rPr lang="zh-TW" altLang="en-US" dirty="0">
                <a:solidFill>
                  <a:schemeClr val="tx1">
                    <a:lumMod val="50000"/>
                    <a:lumOff val="50000"/>
                  </a:schemeClr>
                </a:solidFill>
              </a:rPr>
              <a:t> </a:t>
            </a:r>
            <a:r>
              <a:rPr lang="en-US" altLang="zh-TW" dirty="0" err="1">
                <a:solidFill>
                  <a:schemeClr val="tx1">
                    <a:lumMod val="50000"/>
                    <a:lumOff val="50000"/>
                  </a:schemeClr>
                </a:solidFill>
              </a:rPr>
              <a:t>CoW</a:t>
            </a:r>
            <a:r>
              <a:rPr lang="zh-TW" altLang="en-US" dirty="0">
                <a:solidFill>
                  <a:schemeClr val="tx1">
                    <a:lumMod val="50000"/>
                    <a:lumOff val="50000"/>
                  </a:schemeClr>
                </a:solidFill>
              </a:rPr>
              <a:t> </a:t>
            </a:r>
            <a:r>
              <a:rPr lang="en-US" altLang="zh-TW" dirty="0">
                <a:solidFill>
                  <a:schemeClr val="tx1">
                    <a:lumMod val="50000"/>
                    <a:lumOff val="50000"/>
                  </a:schemeClr>
                </a:solidFill>
              </a:rPr>
              <a:t>works:</a:t>
            </a:r>
            <a:r>
              <a:rPr lang="zh-TW" altLang="en-US" dirty="0">
                <a:solidFill>
                  <a:schemeClr val="tx1">
                    <a:lumMod val="50000"/>
                    <a:lumOff val="50000"/>
                  </a:schemeClr>
                </a:solidFill>
              </a:rPr>
              <a:t> </a:t>
            </a:r>
            <a:r>
              <a:rPr lang="en-US" altLang="zh-TW" dirty="0">
                <a:solidFill>
                  <a:schemeClr val="tx1">
                    <a:lumMod val="50000"/>
                    <a:lumOff val="50000"/>
                  </a:schemeClr>
                </a:solidFill>
              </a:rPr>
              <a:t>Delay</a:t>
            </a:r>
            <a:r>
              <a:rPr lang="zh-TW" altLang="en-US" dirty="0">
                <a:solidFill>
                  <a:schemeClr val="tx1">
                    <a:lumMod val="50000"/>
                    <a:lumOff val="50000"/>
                  </a:schemeClr>
                </a:solidFill>
              </a:rPr>
              <a:t> </a:t>
            </a:r>
            <a:r>
              <a:rPr lang="en-US" altLang="zh-TW" dirty="0">
                <a:solidFill>
                  <a:schemeClr val="tx1">
                    <a:lumMod val="50000"/>
                    <a:lumOff val="50000"/>
                  </a:schemeClr>
                </a:solidFill>
              </a:rPr>
              <a:t>and</a:t>
            </a:r>
            <a:r>
              <a:rPr lang="zh-TW" altLang="en-US" dirty="0">
                <a:solidFill>
                  <a:schemeClr val="tx1">
                    <a:lumMod val="50000"/>
                    <a:lumOff val="50000"/>
                  </a:schemeClr>
                </a:solidFill>
              </a:rPr>
              <a:t> </a:t>
            </a:r>
            <a:r>
              <a:rPr lang="en-US" altLang="zh-TW" dirty="0">
                <a:solidFill>
                  <a:schemeClr val="tx1">
                    <a:lumMod val="50000"/>
                    <a:lumOff val="50000"/>
                  </a:schemeClr>
                </a:solidFill>
              </a:rPr>
              <a:t>prevent</a:t>
            </a:r>
            <a:r>
              <a:rPr lang="zh-TW" altLang="en-US" dirty="0">
                <a:solidFill>
                  <a:schemeClr val="tx1">
                    <a:lumMod val="50000"/>
                    <a:lumOff val="50000"/>
                  </a:schemeClr>
                </a:solidFill>
              </a:rPr>
              <a:t> </a:t>
            </a:r>
            <a:r>
              <a:rPr lang="en-US" altLang="zh-TW" dirty="0">
                <a:solidFill>
                  <a:schemeClr val="tx1">
                    <a:lumMod val="50000"/>
                    <a:lumOff val="50000"/>
                  </a:schemeClr>
                </a:solidFill>
              </a:rPr>
              <a:t>copying</a:t>
            </a:r>
            <a:r>
              <a:rPr lang="zh-TW" altLang="en-US" dirty="0">
                <a:solidFill>
                  <a:schemeClr val="tx1">
                    <a:lumMod val="50000"/>
                    <a:lumOff val="50000"/>
                  </a:schemeClr>
                </a:solidFill>
              </a:rPr>
              <a:t> </a:t>
            </a:r>
            <a:r>
              <a:rPr lang="en-US" altLang="zh-TW" dirty="0">
                <a:solidFill>
                  <a:schemeClr val="tx1">
                    <a:lumMod val="50000"/>
                    <a:lumOff val="50000"/>
                  </a:schemeClr>
                </a:solidFill>
              </a:rPr>
              <a:t>data</a:t>
            </a:r>
            <a:r>
              <a:rPr lang="zh-TW" altLang="en-US" dirty="0">
                <a:solidFill>
                  <a:schemeClr val="tx1">
                    <a:lumMod val="50000"/>
                    <a:lumOff val="50000"/>
                  </a:schemeClr>
                </a:solidFill>
              </a:rPr>
              <a:t> </a:t>
            </a:r>
            <a:r>
              <a:rPr lang="en-US" altLang="zh-TW" dirty="0">
                <a:solidFill>
                  <a:schemeClr val="tx1">
                    <a:lumMod val="50000"/>
                    <a:lumOff val="50000"/>
                  </a:schemeClr>
                </a:solidFill>
              </a:rPr>
              <a:t>until</a:t>
            </a:r>
            <a:r>
              <a:rPr lang="zh-TW" altLang="en-US" dirty="0">
                <a:solidFill>
                  <a:schemeClr val="tx1">
                    <a:lumMod val="50000"/>
                    <a:lumOff val="50000"/>
                  </a:schemeClr>
                </a:solidFill>
              </a:rPr>
              <a:t> </a:t>
            </a:r>
            <a:r>
              <a:rPr lang="en-US" altLang="zh-TW" dirty="0">
                <a:solidFill>
                  <a:schemeClr val="tx1">
                    <a:lumMod val="50000"/>
                    <a:lumOff val="50000"/>
                  </a:schemeClr>
                </a:solidFill>
              </a:rPr>
              <a:t>the</a:t>
            </a:r>
            <a:r>
              <a:rPr lang="zh-TW" altLang="en-US" dirty="0">
                <a:solidFill>
                  <a:schemeClr val="tx1">
                    <a:lumMod val="50000"/>
                    <a:lumOff val="50000"/>
                  </a:schemeClr>
                </a:solidFill>
              </a:rPr>
              <a:t> </a:t>
            </a:r>
            <a:r>
              <a:rPr lang="en-US" altLang="zh-TW" dirty="0">
                <a:solidFill>
                  <a:schemeClr val="tx1">
                    <a:lumMod val="50000"/>
                    <a:lumOff val="50000"/>
                  </a:schemeClr>
                </a:solidFill>
              </a:rPr>
              <a:t>data</a:t>
            </a:r>
            <a:r>
              <a:rPr lang="zh-TW" altLang="en-US" dirty="0">
                <a:solidFill>
                  <a:schemeClr val="tx1">
                    <a:lumMod val="50000"/>
                    <a:lumOff val="50000"/>
                  </a:schemeClr>
                </a:solidFill>
              </a:rPr>
              <a:t> </a:t>
            </a:r>
            <a:r>
              <a:rPr lang="en-US" altLang="zh-TW" dirty="0">
                <a:solidFill>
                  <a:schemeClr val="tx1">
                    <a:lumMod val="50000"/>
                    <a:lumOff val="50000"/>
                  </a:schemeClr>
                </a:solidFill>
              </a:rPr>
              <a:t>is</a:t>
            </a:r>
            <a:r>
              <a:rPr lang="zh-TW" altLang="en-US" dirty="0">
                <a:solidFill>
                  <a:schemeClr val="tx1">
                    <a:lumMod val="50000"/>
                    <a:lumOff val="50000"/>
                  </a:schemeClr>
                </a:solidFill>
              </a:rPr>
              <a:t> </a:t>
            </a:r>
            <a:r>
              <a:rPr lang="en-US" altLang="zh-TW" dirty="0">
                <a:solidFill>
                  <a:schemeClr val="tx1">
                    <a:lumMod val="50000"/>
                    <a:lumOff val="50000"/>
                  </a:schemeClr>
                </a:solidFill>
              </a:rPr>
              <a:t>written.</a:t>
            </a:r>
            <a:r>
              <a:rPr lang="zh-TW" altLang="en-US" dirty="0">
                <a:solidFill>
                  <a:schemeClr val="tx1">
                    <a:lumMod val="50000"/>
                    <a:lumOff val="50000"/>
                  </a:schemeClr>
                </a:solidFill>
              </a:rPr>
              <a:t> </a:t>
            </a:r>
            <a:r>
              <a:rPr lang="en-US" altLang="zh-TW" dirty="0">
                <a:solidFill>
                  <a:schemeClr val="tx1">
                    <a:lumMod val="50000"/>
                    <a:lumOff val="50000"/>
                  </a:schemeClr>
                </a:solidFill>
              </a:rPr>
              <a:t>(i.e.,</a:t>
            </a:r>
            <a:r>
              <a:rPr lang="zh-TW" altLang="en-US" dirty="0">
                <a:solidFill>
                  <a:schemeClr val="tx1">
                    <a:lumMod val="50000"/>
                    <a:lumOff val="50000"/>
                  </a:schemeClr>
                </a:solidFill>
              </a:rPr>
              <a:t> </a:t>
            </a:r>
            <a:r>
              <a:rPr lang="en-US" altLang="zh-TW" dirty="0">
                <a:solidFill>
                  <a:schemeClr val="tx1">
                    <a:lumMod val="50000"/>
                    <a:lumOff val="50000"/>
                  </a:schemeClr>
                </a:solidFill>
              </a:rPr>
              <a:t>resources</a:t>
            </a:r>
            <a:r>
              <a:rPr lang="zh-TW" altLang="en-US" dirty="0">
                <a:solidFill>
                  <a:schemeClr val="tx1">
                    <a:lumMod val="50000"/>
                    <a:lumOff val="50000"/>
                  </a:schemeClr>
                </a:solidFill>
              </a:rPr>
              <a:t> </a:t>
            </a:r>
            <a:r>
              <a:rPr lang="en-US" altLang="zh-TW" dirty="0">
                <a:solidFill>
                  <a:schemeClr val="tx1">
                    <a:lumMod val="50000"/>
                    <a:lumOff val="50000"/>
                  </a:schemeClr>
                </a:solidFill>
              </a:rPr>
              <a:t>are</a:t>
            </a:r>
            <a:r>
              <a:rPr lang="zh-TW" altLang="en-US" dirty="0">
                <a:solidFill>
                  <a:schemeClr val="tx1">
                    <a:lumMod val="50000"/>
                    <a:lumOff val="50000"/>
                  </a:schemeClr>
                </a:solidFill>
              </a:rPr>
              <a:t> </a:t>
            </a:r>
            <a:r>
              <a:rPr lang="en-US" altLang="zh-TW" dirty="0">
                <a:solidFill>
                  <a:schemeClr val="tx1">
                    <a:lumMod val="50000"/>
                    <a:lumOff val="50000"/>
                  </a:schemeClr>
                </a:solidFill>
              </a:rPr>
              <a:t>shared</a:t>
            </a:r>
            <a:r>
              <a:rPr lang="zh-TW" altLang="en-US" dirty="0">
                <a:solidFill>
                  <a:schemeClr val="tx1">
                    <a:lumMod val="50000"/>
                    <a:lumOff val="50000"/>
                  </a:schemeClr>
                </a:solidFill>
              </a:rPr>
              <a:t> </a:t>
            </a:r>
            <a:r>
              <a:rPr lang="en-US" altLang="zh-TW" dirty="0">
                <a:solidFill>
                  <a:schemeClr val="tx1">
                    <a:lumMod val="50000"/>
                    <a:lumOff val="50000"/>
                  </a:schemeClr>
                </a:solidFill>
              </a:rPr>
              <a:t>read-only)</a:t>
            </a:r>
          </a:p>
          <a:p>
            <a:pPr algn="l"/>
            <a:r>
              <a:rPr lang="en-US" altLang="zh-TW" dirty="0">
                <a:solidFill>
                  <a:schemeClr val="tx1"/>
                </a:solidFill>
              </a:rPr>
              <a:t>Linux Implementation: </a:t>
            </a:r>
            <a:r>
              <a:rPr lang="en-US" altLang="zh-TW" dirty="0" err="1">
                <a:solidFill>
                  <a:schemeClr val="tx1"/>
                </a:solidFill>
              </a:rPr>
              <a:t>copy_process</a:t>
            </a:r>
            <a:r>
              <a:rPr lang="en-US" altLang="zh-TW" dirty="0">
                <a:solidFill>
                  <a:schemeClr val="tx1"/>
                </a:solidFill>
              </a:rPr>
              <a:t>()</a:t>
            </a:r>
          </a:p>
          <a:p>
            <a:pPr lvl="1" algn="l"/>
            <a:r>
              <a:rPr lang="en-US" altLang="zh-TW" dirty="0">
                <a:solidFill>
                  <a:schemeClr val="tx1"/>
                </a:solidFill>
              </a:rPr>
              <a:t>Allocate</a:t>
            </a:r>
            <a:r>
              <a:rPr lang="zh-TW" altLang="en-US" dirty="0">
                <a:solidFill>
                  <a:schemeClr val="tx1"/>
                </a:solidFill>
              </a:rPr>
              <a:t> </a:t>
            </a:r>
            <a:r>
              <a:rPr lang="en-US" altLang="zh-TW" dirty="0">
                <a:solidFill>
                  <a:schemeClr val="tx1"/>
                </a:solidFill>
              </a:rPr>
              <a:t>a new</a:t>
            </a:r>
            <a:r>
              <a:rPr lang="zh-TW" altLang="en-US" dirty="0">
                <a:solidFill>
                  <a:schemeClr val="tx1"/>
                </a:solidFill>
              </a:rPr>
              <a:t> </a:t>
            </a:r>
            <a:r>
              <a:rPr lang="en-US" altLang="zh-TW" dirty="0">
                <a:solidFill>
                  <a:schemeClr val="tx1"/>
                </a:solidFill>
              </a:rPr>
              <a:t>kernel</a:t>
            </a:r>
            <a:r>
              <a:rPr lang="zh-TW" altLang="en-US" dirty="0">
                <a:solidFill>
                  <a:schemeClr val="tx1"/>
                </a:solidFill>
              </a:rPr>
              <a:t> </a:t>
            </a:r>
            <a:r>
              <a:rPr lang="en-US" altLang="zh-TW" dirty="0">
                <a:solidFill>
                  <a:schemeClr val="tx1"/>
                </a:solidFill>
              </a:rPr>
              <a:t>stack</a:t>
            </a:r>
            <a:r>
              <a:rPr lang="zh-TW" altLang="en-US" dirty="0">
                <a:solidFill>
                  <a:schemeClr val="tx1"/>
                </a:solidFill>
              </a:rPr>
              <a:t> </a:t>
            </a:r>
            <a:r>
              <a:rPr lang="en-US" altLang="zh-TW" dirty="0">
                <a:solidFill>
                  <a:schemeClr val="tx1"/>
                </a:solidFill>
              </a:rPr>
              <a:t>(e.g.,</a:t>
            </a:r>
            <a:r>
              <a:rPr lang="zh-TW" altLang="en-US" dirty="0">
                <a:solidFill>
                  <a:schemeClr val="tx1"/>
                </a:solidFill>
              </a:rPr>
              <a:t> </a:t>
            </a:r>
            <a:r>
              <a:rPr lang="en-US" altLang="zh-TW" dirty="0" err="1">
                <a:solidFill>
                  <a:schemeClr val="tx1"/>
                </a:solidFill>
              </a:rPr>
              <a:t>thread_info</a:t>
            </a:r>
            <a:r>
              <a:rPr lang="en-US" altLang="zh-TW" dirty="0">
                <a:solidFill>
                  <a:schemeClr val="tx1"/>
                </a:solidFill>
              </a:rPr>
              <a:t>) and process descriptor (i.e., </a:t>
            </a:r>
            <a:r>
              <a:rPr lang="en-US" altLang="zh-TW" dirty="0" err="1">
                <a:solidFill>
                  <a:schemeClr val="tx1"/>
                </a:solidFill>
              </a:rPr>
              <a:t>task_struct</a:t>
            </a:r>
            <a:r>
              <a:rPr lang="en-US" altLang="zh-TW" dirty="0">
                <a:solidFill>
                  <a:schemeClr val="tx1"/>
                </a:solidFill>
              </a:rPr>
              <a:t>)</a:t>
            </a:r>
          </a:p>
          <a:p>
            <a:pPr lvl="1" algn="l"/>
            <a:r>
              <a:rPr lang="en-US" altLang="zh-TW" dirty="0">
                <a:solidFill>
                  <a:schemeClr val="tx1"/>
                </a:solidFill>
              </a:rPr>
              <a:t>Copy (e.g., program counter, states) or set (e.g.,</a:t>
            </a:r>
            <a:r>
              <a:rPr lang="zh-TW" altLang="en-US" dirty="0">
                <a:solidFill>
                  <a:schemeClr val="tx1"/>
                </a:solidFill>
              </a:rPr>
              <a:t> </a:t>
            </a:r>
            <a:r>
              <a:rPr lang="en-US" altLang="zh-TW" dirty="0">
                <a:solidFill>
                  <a:schemeClr val="tx1"/>
                </a:solidFill>
              </a:rPr>
              <a:t>PID) fields</a:t>
            </a:r>
            <a:r>
              <a:rPr lang="zh-TW" altLang="en-US" dirty="0">
                <a:solidFill>
                  <a:schemeClr val="tx1"/>
                </a:solidFill>
              </a:rPr>
              <a:t> </a:t>
            </a:r>
            <a:r>
              <a:rPr lang="en-US" altLang="zh-TW" dirty="0">
                <a:solidFill>
                  <a:schemeClr val="tx1"/>
                </a:solidFill>
              </a:rPr>
              <a:t>in</a:t>
            </a:r>
            <a:r>
              <a:rPr lang="zh-TW" altLang="en-US" dirty="0">
                <a:solidFill>
                  <a:schemeClr val="tx1"/>
                </a:solidFill>
              </a:rPr>
              <a:t> </a:t>
            </a:r>
            <a:r>
              <a:rPr lang="en-US" altLang="zh-TW" dirty="0">
                <a:solidFill>
                  <a:schemeClr val="tx1"/>
                </a:solidFill>
              </a:rPr>
              <a:t>the</a:t>
            </a:r>
            <a:r>
              <a:rPr lang="zh-TW" altLang="en-US" dirty="0">
                <a:solidFill>
                  <a:schemeClr val="tx1"/>
                </a:solidFill>
              </a:rPr>
              <a:t> </a:t>
            </a:r>
            <a:r>
              <a:rPr lang="en-US" altLang="zh-TW" dirty="0">
                <a:solidFill>
                  <a:schemeClr val="tx1"/>
                </a:solidFill>
              </a:rPr>
              <a:t>process</a:t>
            </a:r>
            <a:r>
              <a:rPr lang="zh-TW" altLang="en-US" dirty="0">
                <a:solidFill>
                  <a:schemeClr val="tx1"/>
                </a:solidFill>
              </a:rPr>
              <a:t> </a:t>
            </a:r>
            <a:r>
              <a:rPr lang="en-US" altLang="zh-TW" dirty="0">
                <a:solidFill>
                  <a:schemeClr val="tx1"/>
                </a:solidFill>
              </a:rPr>
              <a:t>descriptor</a:t>
            </a:r>
            <a:r>
              <a:rPr lang="zh-TW" altLang="en-US" dirty="0">
                <a:solidFill>
                  <a:schemeClr val="tx1"/>
                </a:solidFill>
              </a:rPr>
              <a:t> </a:t>
            </a:r>
            <a:endParaRPr lang="en-US" altLang="zh-TW" dirty="0">
              <a:solidFill>
                <a:schemeClr val="tx1"/>
              </a:solidFill>
            </a:endParaRPr>
          </a:p>
          <a:p>
            <a:pPr lvl="1" algn="l"/>
            <a:r>
              <a:rPr lang="en-US" altLang="zh-TW" dirty="0">
                <a:solidFill>
                  <a:schemeClr val="tx1"/>
                </a:solidFill>
              </a:rPr>
              <a:t>Set</a:t>
            </a:r>
            <a:r>
              <a:rPr lang="zh-TW" altLang="en-US" dirty="0">
                <a:solidFill>
                  <a:schemeClr val="tx1"/>
                </a:solidFill>
              </a:rPr>
              <a:t> </a:t>
            </a:r>
            <a:r>
              <a:rPr lang="en-US" altLang="zh-TW" dirty="0">
                <a:solidFill>
                  <a:schemeClr val="tx1"/>
                </a:solidFill>
              </a:rPr>
              <a:t>the</a:t>
            </a:r>
            <a:r>
              <a:rPr lang="zh-TW" altLang="en-US" dirty="0">
                <a:solidFill>
                  <a:schemeClr val="tx1"/>
                </a:solidFill>
              </a:rPr>
              <a:t> </a:t>
            </a:r>
            <a:r>
              <a:rPr lang="en-US" altLang="zh-TW" dirty="0">
                <a:solidFill>
                  <a:schemeClr val="tx1"/>
                </a:solidFill>
              </a:rPr>
              <a:t>state</a:t>
            </a:r>
            <a:r>
              <a:rPr lang="zh-TW" altLang="en-US" dirty="0">
                <a:solidFill>
                  <a:schemeClr val="tx1"/>
                </a:solidFill>
              </a:rPr>
              <a:t> </a:t>
            </a:r>
            <a:r>
              <a:rPr lang="en-US" altLang="zh-TW" dirty="0">
                <a:solidFill>
                  <a:schemeClr val="tx1"/>
                </a:solidFill>
              </a:rPr>
              <a:t>field</a:t>
            </a:r>
            <a:r>
              <a:rPr lang="zh-TW" altLang="en-US" dirty="0">
                <a:solidFill>
                  <a:schemeClr val="tx1"/>
                </a:solidFill>
              </a:rPr>
              <a:t> </a:t>
            </a:r>
            <a:r>
              <a:rPr lang="en-US" altLang="zh-TW" dirty="0">
                <a:solidFill>
                  <a:schemeClr val="tx1"/>
                </a:solidFill>
              </a:rPr>
              <a:t>to</a:t>
            </a:r>
            <a:r>
              <a:rPr lang="zh-TW" altLang="en-US" dirty="0">
                <a:solidFill>
                  <a:schemeClr val="tx1"/>
                </a:solidFill>
              </a:rPr>
              <a:t> </a:t>
            </a:r>
            <a:r>
              <a:rPr lang="en-US" altLang="zh-TW" dirty="0">
                <a:solidFill>
                  <a:schemeClr val="tx1"/>
                </a:solidFill>
              </a:rPr>
              <a:t>TASK_UNINTERRUPTABLE (Reason: initialization is non-interruptible)</a:t>
            </a:r>
          </a:p>
          <a:p>
            <a:pPr lvl="1" algn="l"/>
            <a:r>
              <a:rPr lang="en-US" altLang="zh-TW" dirty="0">
                <a:solidFill>
                  <a:schemeClr val="tx1"/>
                </a:solidFill>
              </a:rPr>
              <a:t>Duplicate parent’s page table</a:t>
            </a:r>
          </a:p>
          <a:p>
            <a:pPr lvl="1" algn="l"/>
            <a:r>
              <a:rPr lang="en-US" altLang="zh-TW" dirty="0">
                <a:solidFill>
                  <a:schemeClr val="tx1"/>
                </a:solidFill>
              </a:rPr>
              <a:t>Duplicate</a:t>
            </a:r>
            <a:r>
              <a:rPr lang="zh-TW" altLang="en-US" dirty="0">
                <a:solidFill>
                  <a:schemeClr val="tx1"/>
                </a:solidFill>
              </a:rPr>
              <a:t> </a:t>
            </a:r>
            <a:r>
              <a:rPr lang="en-US" altLang="zh-TW" dirty="0">
                <a:solidFill>
                  <a:schemeClr val="tx1"/>
                </a:solidFill>
              </a:rPr>
              <a:t>(Process)</a:t>
            </a:r>
            <a:r>
              <a:rPr lang="zh-TW" altLang="en-US" dirty="0">
                <a:solidFill>
                  <a:schemeClr val="tx1"/>
                </a:solidFill>
              </a:rPr>
              <a:t> </a:t>
            </a:r>
            <a:r>
              <a:rPr lang="en-US" altLang="zh-TW" dirty="0">
                <a:solidFill>
                  <a:schemeClr val="tx1"/>
                </a:solidFill>
              </a:rPr>
              <a:t>or</a:t>
            </a:r>
            <a:r>
              <a:rPr lang="zh-TW" altLang="en-US" dirty="0">
                <a:solidFill>
                  <a:schemeClr val="tx1"/>
                </a:solidFill>
              </a:rPr>
              <a:t> </a:t>
            </a:r>
            <a:r>
              <a:rPr lang="en-US" altLang="zh-TW" dirty="0">
                <a:solidFill>
                  <a:schemeClr val="tx1"/>
                </a:solidFill>
              </a:rPr>
              <a:t>Share</a:t>
            </a:r>
            <a:r>
              <a:rPr lang="zh-TW" altLang="en-US" dirty="0">
                <a:solidFill>
                  <a:schemeClr val="tx1"/>
                </a:solidFill>
              </a:rPr>
              <a:t> </a:t>
            </a:r>
            <a:r>
              <a:rPr lang="en-US" altLang="zh-TW" dirty="0">
                <a:solidFill>
                  <a:schemeClr val="tx1"/>
                </a:solidFill>
              </a:rPr>
              <a:t>(Thread):</a:t>
            </a:r>
            <a:r>
              <a:rPr lang="zh-TW" altLang="en-US" dirty="0">
                <a:solidFill>
                  <a:schemeClr val="tx1"/>
                </a:solidFill>
              </a:rPr>
              <a:t> </a:t>
            </a:r>
            <a:r>
              <a:rPr lang="en-US" altLang="zh-TW" dirty="0">
                <a:solidFill>
                  <a:schemeClr val="tx1"/>
                </a:solidFill>
              </a:rPr>
              <a:t>Open files, filesystem information, signal handlers, process address space</a:t>
            </a:r>
            <a:r>
              <a:rPr lang="zh-TW" altLang="en-US" dirty="0">
                <a:solidFill>
                  <a:schemeClr val="tx1"/>
                </a:solidFill>
              </a:rPr>
              <a:t> </a:t>
            </a:r>
            <a:r>
              <a:rPr lang="en-US" altLang="zh-TW" i="1" dirty="0">
                <a:solidFill>
                  <a:schemeClr val="tx1">
                    <a:lumMod val="50000"/>
                    <a:lumOff val="50000"/>
                  </a:schemeClr>
                </a:solidFill>
              </a:rPr>
              <a:t>(Notice:</a:t>
            </a:r>
            <a:r>
              <a:rPr lang="zh-TW" altLang="en-US" i="1" dirty="0">
                <a:solidFill>
                  <a:schemeClr val="tx1">
                    <a:lumMod val="50000"/>
                    <a:lumOff val="50000"/>
                  </a:schemeClr>
                </a:solidFill>
              </a:rPr>
              <a:t> </a:t>
            </a:r>
            <a:r>
              <a:rPr lang="en-US" altLang="zh-TW" i="1" dirty="0">
                <a:solidFill>
                  <a:schemeClr val="tx1">
                    <a:lumMod val="50000"/>
                    <a:lumOff val="50000"/>
                  </a:schemeClr>
                </a:solidFill>
              </a:rPr>
              <a:t>Does</a:t>
            </a:r>
            <a:r>
              <a:rPr lang="zh-TW" altLang="en-US" i="1" dirty="0">
                <a:solidFill>
                  <a:schemeClr val="tx1">
                    <a:lumMod val="50000"/>
                    <a:lumOff val="50000"/>
                  </a:schemeClr>
                </a:solidFill>
              </a:rPr>
              <a:t> </a:t>
            </a:r>
            <a:r>
              <a:rPr lang="en-US" altLang="zh-TW" i="1" dirty="0">
                <a:solidFill>
                  <a:schemeClr val="tx1">
                    <a:lumMod val="50000"/>
                    <a:lumOff val="50000"/>
                  </a:schemeClr>
                </a:solidFill>
              </a:rPr>
              <a:t>not</a:t>
            </a:r>
            <a:r>
              <a:rPr lang="zh-TW" altLang="en-US" i="1" dirty="0">
                <a:solidFill>
                  <a:schemeClr val="tx1">
                    <a:lumMod val="50000"/>
                    <a:lumOff val="50000"/>
                  </a:schemeClr>
                </a:solidFill>
              </a:rPr>
              <a:t> </a:t>
            </a:r>
            <a:r>
              <a:rPr lang="en-US" altLang="zh-TW" i="1" dirty="0">
                <a:solidFill>
                  <a:schemeClr val="tx1">
                    <a:lumMod val="50000"/>
                    <a:lumOff val="50000"/>
                  </a:schemeClr>
                </a:solidFill>
              </a:rPr>
              <a:t>share</a:t>
            </a:r>
            <a:r>
              <a:rPr lang="zh-TW" altLang="en-US" i="1" dirty="0">
                <a:solidFill>
                  <a:schemeClr val="tx1">
                    <a:lumMod val="50000"/>
                    <a:lumOff val="50000"/>
                  </a:schemeClr>
                </a:solidFill>
              </a:rPr>
              <a:t> </a:t>
            </a:r>
            <a:r>
              <a:rPr lang="en-US" altLang="zh-TW" i="1" dirty="0">
                <a:solidFill>
                  <a:schemeClr val="tx1">
                    <a:lumMod val="50000"/>
                    <a:lumOff val="50000"/>
                  </a:schemeClr>
                </a:solidFill>
              </a:rPr>
              <a:t>Stack)</a:t>
            </a:r>
            <a:r>
              <a:rPr lang="en-US" altLang="zh-TW" dirty="0">
                <a:solidFill>
                  <a:schemeClr val="tx1"/>
                </a:solidFill>
              </a:rPr>
              <a:t>,</a:t>
            </a:r>
            <a:r>
              <a:rPr lang="zh-TW" altLang="en-US" dirty="0">
                <a:solidFill>
                  <a:schemeClr val="tx1"/>
                </a:solidFill>
              </a:rPr>
              <a:t> </a:t>
            </a:r>
            <a:r>
              <a:rPr lang="en-US" altLang="zh-TW" dirty="0">
                <a:solidFill>
                  <a:schemeClr val="tx1"/>
                </a:solidFill>
              </a:rPr>
              <a:t>and</a:t>
            </a:r>
            <a:r>
              <a:rPr lang="zh-TW" altLang="en-US" dirty="0">
                <a:solidFill>
                  <a:schemeClr val="tx1"/>
                </a:solidFill>
              </a:rPr>
              <a:t> </a:t>
            </a:r>
            <a:r>
              <a:rPr lang="en-US" altLang="zh-TW" dirty="0">
                <a:solidFill>
                  <a:schemeClr val="tx1"/>
                </a:solidFill>
              </a:rPr>
              <a:t>namespace.</a:t>
            </a:r>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10</a:t>
            </a:fld>
            <a:endParaRPr lang="zh-TW" altLang="en-US" dirty="0"/>
          </a:p>
        </p:txBody>
      </p:sp>
    </p:spTree>
    <p:extLst>
      <p:ext uri="{BB962C8B-B14F-4D97-AF65-F5344CB8AC3E}">
        <p14:creationId xmlns:p14="http://schemas.microsoft.com/office/powerpoint/2010/main" val="1669405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fade">
                                      <p:cBhvr>
                                        <p:cTn id="12" dur="500"/>
                                        <p:tgtEl>
                                          <p:spTgt spid="3">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animEffect transition="in" filter="fade">
                                      <p:cBhvr>
                                        <p:cTn id="17" dur="500"/>
                                        <p:tgtEl>
                                          <p:spTgt spid="3">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9" end="9"/>
                                            </p:txEl>
                                          </p:spTgt>
                                        </p:tgtEl>
                                        <p:attrNameLst>
                                          <p:attrName>style.visibility</p:attrName>
                                        </p:attrNameLst>
                                      </p:cBhvr>
                                      <p:to>
                                        <p:strVal val="visible"/>
                                      </p:to>
                                    </p:set>
                                    <p:animEffect transition="in" filter="fade">
                                      <p:cBhvr>
                                        <p:cTn id="22" dur="500"/>
                                        <p:tgtEl>
                                          <p:spTgt spid="3">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Effect transition="in" filter="fade">
                                      <p:cBhvr>
                                        <p:cTn id="27" dur="500"/>
                                        <p:tgtEl>
                                          <p:spTgt spid="3">
                                            <p:txEl>
                                              <p:pRg st="10" end="1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11" end="11"/>
                                            </p:txEl>
                                          </p:spTgt>
                                        </p:tgtEl>
                                        <p:attrNameLst>
                                          <p:attrName>style.visibility</p:attrName>
                                        </p:attrNameLst>
                                      </p:cBhvr>
                                      <p:to>
                                        <p:strVal val="visible"/>
                                      </p:to>
                                    </p:set>
                                    <p:animEffect transition="in" filter="fade">
                                      <p:cBhvr>
                                        <p:cTn id="3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Process vs Thread</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normAutofit/>
          </a:bodyPr>
          <a:lstStyle/>
          <a:p>
            <a:r>
              <a:rPr kumimoji="1" lang="en-US" altLang="zh-TW" dirty="0"/>
              <a:t>Thread </a:t>
            </a:r>
            <a:r>
              <a:rPr kumimoji="1" lang="en-US" altLang="zh-TW" i="1" dirty="0">
                <a:solidFill>
                  <a:srgbClr val="C00000"/>
                </a:solidFill>
              </a:rPr>
              <a:t>(Lightweight Process)</a:t>
            </a:r>
            <a:r>
              <a:rPr kumimoji="1" lang="en-US" altLang="zh-TW" dirty="0"/>
              <a:t>:</a:t>
            </a:r>
            <a:r>
              <a:rPr kumimoji="1" lang="zh-TW" altLang="en-US" dirty="0"/>
              <a:t> </a:t>
            </a:r>
            <a:r>
              <a:rPr kumimoji="1" lang="en-US" altLang="zh-TW" dirty="0"/>
              <a:t>Executes</a:t>
            </a:r>
            <a:r>
              <a:rPr kumimoji="1" lang="zh-TW" altLang="en-US" dirty="0">
                <a:solidFill>
                  <a:srgbClr val="C00000"/>
                </a:solidFill>
              </a:rPr>
              <a:t> </a:t>
            </a:r>
            <a:r>
              <a:rPr kumimoji="1" lang="en-US" altLang="zh-TW" dirty="0">
                <a:solidFill>
                  <a:srgbClr val="C00000"/>
                </a:solidFill>
              </a:rPr>
              <a:t>within</a:t>
            </a:r>
            <a:r>
              <a:rPr kumimoji="1" lang="zh-TW" altLang="en-US" dirty="0">
                <a:solidFill>
                  <a:srgbClr val="C00000"/>
                </a:solidFill>
              </a:rPr>
              <a:t> </a:t>
            </a:r>
            <a:r>
              <a:rPr kumimoji="1" lang="en-US" altLang="zh-TW" dirty="0">
                <a:solidFill>
                  <a:srgbClr val="C00000"/>
                </a:solidFill>
              </a:rPr>
              <a:t>the</a:t>
            </a:r>
            <a:r>
              <a:rPr kumimoji="1" lang="zh-TW" altLang="en-US" dirty="0">
                <a:solidFill>
                  <a:srgbClr val="C00000"/>
                </a:solidFill>
              </a:rPr>
              <a:t> </a:t>
            </a:r>
            <a:r>
              <a:rPr kumimoji="1" lang="en-US" altLang="zh-TW" dirty="0">
                <a:solidFill>
                  <a:srgbClr val="C00000"/>
                </a:solidFill>
              </a:rPr>
              <a:t>same</a:t>
            </a:r>
            <a:r>
              <a:rPr kumimoji="1" lang="zh-TW" altLang="en-US" dirty="0">
                <a:solidFill>
                  <a:srgbClr val="C00000"/>
                </a:solidFill>
              </a:rPr>
              <a:t> </a:t>
            </a:r>
            <a:r>
              <a:rPr kumimoji="1" lang="en-US" altLang="zh-TW" dirty="0">
                <a:solidFill>
                  <a:srgbClr val="C00000"/>
                </a:solidFill>
              </a:rPr>
              <a:t>program</a:t>
            </a:r>
            <a:r>
              <a:rPr kumimoji="1" lang="zh-TW" altLang="en-US" dirty="0"/>
              <a:t> </a:t>
            </a:r>
            <a:r>
              <a:rPr kumimoji="1" lang="en-US" altLang="zh-TW" dirty="0"/>
              <a:t>in</a:t>
            </a:r>
            <a:r>
              <a:rPr kumimoji="1" lang="zh-TW" altLang="en-US" dirty="0"/>
              <a:t> </a:t>
            </a:r>
            <a:r>
              <a:rPr kumimoji="1" lang="en-US" altLang="zh-TW" dirty="0"/>
              <a:t>a </a:t>
            </a:r>
            <a:r>
              <a:rPr lang="en-US" altLang="zh-TW" dirty="0">
                <a:solidFill>
                  <a:srgbClr val="C00000"/>
                </a:solidFill>
              </a:rPr>
              <a:t>s</a:t>
            </a:r>
            <a:r>
              <a:rPr kumimoji="1" lang="en-US" altLang="zh-TW" dirty="0">
                <a:solidFill>
                  <a:srgbClr val="C00000"/>
                </a:solidFill>
              </a:rPr>
              <a:t>hared</a:t>
            </a:r>
            <a:r>
              <a:rPr kumimoji="1" lang="zh-TW" altLang="en-US" dirty="0">
                <a:solidFill>
                  <a:srgbClr val="C00000"/>
                </a:solidFill>
              </a:rPr>
              <a:t> </a:t>
            </a:r>
            <a:r>
              <a:rPr kumimoji="1" lang="en-US" altLang="zh-TW" dirty="0">
                <a:solidFill>
                  <a:srgbClr val="C00000"/>
                </a:solidFill>
              </a:rPr>
              <a:t>memory</a:t>
            </a:r>
            <a:r>
              <a:rPr kumimoji="1" lang="zh-TW" altLang="en-US" dirty="0">
                <a:solidFill>
                  <a:srgbClr val="C00000"/>
                </a:solidFill>
              </a:rPr>
              <a:t> </a:t>
            </a:r>
            <a:r>
              <a:rPr kumimoji="1" lang="en-US" altLang="zh-TW" dirty="0">
                <a:solidFill>
                  <a:srgbClr val="C00000"/>
                </a:solidFill>
              </a:rPr>
              <a:t>address</a:t>
            </a:r>
            <a:r>
              <a:rPr kumimoji="1" lang="zh-TW" altLang="en-US" dirty="0">
                <a:solidFill>
                  <a:srgbClr val="C00000"/>
                </a:solidFill>
              </a:rPr>
              <a:t> </a:t>
            </a:r>
            <a:r>
              <a:rPr kumimoji="1" lang="en-US" altLang="zh-TW" dirty="0">
                <a:solidFill>
                  <a:srgbClr val="C00000"/>
                </a:solidFill>
              </a:rPr>
              <a:t>space </a:t>
            </a:r>
            <a:r>
              <a:rPr kumimoji="1" lang="en-US" altLang="zh-TW" dirty="0"/>
              <a:t>(also</a:t>
            </a:r>
            <a:r>
              <a:rPr kumimoji="1" lang="zh-TW" altLang="en-US" dirty="0"/>
              <a:t> </a:t>
            </a:r>
            <a:r>
              <a:rPr kumimoji="1" lang="en-US" altLang="zh-TW" dirty="0"/>
              <a:t>share</a:t>
            </a:r>
            <a:r>
              <a:rPr kumimoji="1" lang="zh-TW" altLang="en-US" dirty="0"/>
              <a:t> </a:t>
            </a:r>
            <a:r>
              <a:rPr kumimoji="1" lang="en-US" altLang="zh-TW" dirty="0"/>
              <a:t>open</a:t>
            </a:r>
            <a:r>
              <a:rPr kumimoji="1" lang="zh-TW" altLang="en-US" dirty="0"/>
              <a:t> </a:t>
            </a:r>
            <a:r>
              <a:rPr kumimoji="1" lang="en-US" altLang="zh-TW" dirty="0"/>
              <a:t>files</a:t>
            </a:r>
            <a:r>
              <a:rPr kumimoji="1" lang="zh-TW" altLang="en-US" dirty="0"/>
              <a:t> </a:t>
            </a:r>
            <a:r>
              <a:rPr kumimoji="1" lang="en-US" altLang="zh-TW" dirty="0"/>
              <a:t>and</a:t>
            </a:r>
            <a:r>
              <a:rPr kumimoji="1" lang="zh-TW" altLang="en-US" dirty="0"/>
              <a:t> </a:t>
            </a:r>
            <a:r>
              <a:rPr kumimoji="1" lang="en-US" altLang="zh-TW" dirty="0"/>
              <a:t>page</a:t>
            </a:r>
            <a:r>
              <a:rPr kumimoji="1" lang="zh-TW" altLang="en-US" dirty="0"/>
              <a:t> </a:t>
            </a:r>
            <a:r>
              <a:rPr kumimoji="1" lang="en-US" altLang="zh-TW" dirty="0"/>
              <a:t>tables).</a:t>
            </a:r>
          </a:p>
          <a:p>
            <a:pPr lvl="1"/>
            <a:r>
              <a:rPr kumimoji="1" lang="en-US" altLang="zh-TW" dirty="0"/>
              <a:t>Linux</a:t>
            </a:r>
            <a:r>
              <a:rPr kumimoji="1" lang="zh-TW" altLang="en-US" dirty="0"/>
              <a:t> </a:t>
            </a:r>
            <a:r>
              <a:rPr kumimoji="1" lang="en-US" altLang="zh-TW" dirty="0"/>
              <a:t>implements</a:t>
            </a:r>
            <a:r>
              <a:rPr kumimoji="1" lang="zh-TW" altLang="en-US" dirty="0"/>
              <a:t> </a:t>
            </a:r>
            <a:r>
              <a:rPr kumimoji="1" lang="en-US" altLang="zh-TW" dirty="0"/>
              <a:t>all</a:t>
            </a:r>
            <a:r>
              <a:rPr kumimoji="1" lang="zh-TW" altLang="en-US" dirty="0"/>
              <a:t> </a:t>
            </a:r>
            <a:r>
              <a:rPr kumimoji="1" lang="en-US" altLang="zh-TW" dirty="0"/>
              <a:t>threads</a:t>
            </a:r>
            <a:r>
              <a:rPr kumimoji="1" lang="zh-TW" altLang="en-US" dirty="0"/>
              <a:t> </a:t>
            </a:r>
            <a:r>
              <a:rPr kumimoji="1" lang="en-US" altLang="zh-TW" dirty="0"/>
              <a:t>as</a:t>
            </a:r>
            <a:r>
              <a:rPr kumimoji="1" lang="zh-TW" altLang="en-US" dirty="0"/>
              <a:t> </a:t>
            </a:r>
            <a:r>
              <a:rPr lang="en-US" altLang="zh-TW" dirty="0">
                <a:solidFill>
                  <a:srgbClr val="C00000"/>
                </a:solidFill>
              </a:rPr>
              <a:t>standard</a:t>
            </a:r>
            <a:r>
              <a:rPr lang="zh-TW" altLang="en-US" dirty="0">
                <a:solidFill>
                  <a:srgbClr val="C00000"/>
                </a:solidFill>
              </a:rPr>
              <a:t> </a:t>
            </a:r>
            <a:r>
              <a:rPr lang="en-US" altLang="zh-TW" dirty="0">
                <a:solidFill>
                  <a:srgbClr val="C00000"/>
                </a:solidFill>
              </a:rPr>
              <a:t>processes</a:t>
            </a:r>
            <a:r>
              <a:rPr lang="zh-TW" altLang="en-US" dirty="0">
                <a:solidFill>
                  <a:srgbClr val="C00000"/>
                </a:solidFill>
              </a:rPr>
              <a:t> </a:t>
            </a:r>
            <a:r>
              <a:rPr lang="en-US" altLang="zh-TW" dirty="0"/>
              <a:t>(Have their own</a:t>
            </a:r>
            <a:r>
              <a:rPr lang="zh-TW" altLang="en-US" dirty="0"/>
              <a:t> </a:t>
            </a:r>
            <a:r>
              <a:rPr lang="en-US" altLang="zh-TW" dirty="0" err="1">
                <a:latin typeface="+mj-lt"/>
              </a:rPr>
              <a:t>task_struct</a:t>
            </a:r>
            <a:r>
              <a:rPr lang="en-US" altLang="zh-TW" dirty="0"/>
              <a:t>).</a:t>
            </a:r>
            <a:r>
              <a:rPr lang="zh-TW" altLang="en-US" dirty="0"/>
              <a:t> </a:t>
            </a:r>
            <a:endParaRPr lang="en-US" altLang="zh-TW" dirty="0"/>
          </a:p>
          <a:p>
            <a:pPr lvl="1"/>
            <a:r>
              <a:rPr lang="en-US" altLang="zh-TW" dirty="0"/>
              <a:t>Threads</a:t>
            </a:r>
            <a:r>
              <a:rPr lang="zh-TW" altLang="en-US" dirty="0"/>
              <a:t> </a:t>
            </a:r>
            <a:r>
              <a:rPr lang="en-US" altLang="zh-TW" dirty="0">
                <a:solidFill>
                  <a:srgbClr val="C00000"/>
                </a:solidFill>
              </a:rPr>
              <a:t>have</a:t>
            </a:r>
            <a:r>
              <a:rPr lang="zh-TW" altLang="en-US" dirty="0"/>
              <a:t> </a:t>
            </a:r>
            <a:r>
              <a:rPr lang="en-US" altLang="zh-TW" dirty="0"/>
              <a:t>their</a:t>
            </a:r>
            <a:r>
              <a:rPr lang="zh-TW" altLang="en-US" dirty="0"/>
              <a:t> </a:t>
            </a:r>
            <a:r>
              <a:rPr lang="en-US" altLang="zh-TW" dirty="0"/>
              <a:t>own:</a:t>
            </a:r>
            <a:r>
              <a:rPr lang="zh-TW" altLang="en-US" dirty="0"/>
              <a:t> </a:t>
            </a:r>
            <a:r>
              <a:rPr lang="en-US" altLang="zh-TW" dirty="0"/>
              <a:t>(1)</a:t>
            </a:r>
            <a:r>
              <a:rPr lang="zh-TW" altLang="en-US" dirty="0"/>
              <a:t> </a:t>
            </a:r>
            <a:r>
              <a:rPr lang="en-US" altLang="zh-TW" dirty="0"/>
              <a:t>Program</a:t>
            </a:r>
            <a:r>
              <a:rPr lang="zh-TW" altLang="en-US" dirty="0"/>
              <a:t> </a:t>
            </a:r>
            <a:r>
              <a:rPr lang="en-US" altLang="zh-TW" dirty="0"/>
              <a:t>Counter,</a:t>
            </a:r>
            <a:r>
              <a:rPr lang="zh-TW" altLang="en-US" dirty="0"/>
              <a:t> </a:t>
            </a:r>
            <a:r>
              <a:rPr lang="en-US" altLang="zh-TW" dirty="0"/>
              <a:t>(2)</a:t>
            </a:r>
            <a:r>
              <a:rPr lang="zh-TW" altLang="en-US" dirty="0"/>
              <a:t> </a:t>
            </a:r>
            <a:r>
              <a:rPr lang="en-US" altLang="zh-TW" dirty="0"/>
              <a:t>Registers,</a:t>
            </a:r>
            <a:r>
              <a:rPr lang="zh-TW" altLang="en-US" dirty="0"/>
              <a:t> </a:t>
            </a:r>
            <a:r>
              <a:rPr lang="en-US" altLang="zh-TW" dirty="0"/>
              <a:t>(3)</a:t>
            </a:r>
            <a:r>
              <a:rPr lang="zh-TW" altLang="en-US" dirty="0"/>
              <a:t> </a:t>
            </a:r>
            <a:r>
              <a:rPr lang="en-US" altLang="zh-TW" dirty="0"/>
              <a:t>Stack,</a:t>
            </a:r>
            <a:r>
              <a:rPr lang="zh-TW" altLang="en-US" dirty="0"/>
              <a:t> </a:t>
            </a:r>
            <a:r>
              <a:rPr lang="en-US" altLang="zh-TW" dirty="0"/>
              <a:t>(4)</a:t>
            </a:r>
            <a:r>
              <a:rPr lang="zh-TW" altLang="en-US" dirty="0"/>
              <a:t> </a:t>
            </a:r>
            <a:r>
              <a:rPr lang="en-US" altLang="zh-TW" dirty="0"/>
              <a:t>State</a:t>
            </a:r>
          </a:p>
          <a:p>
            <a:pPr lvl="1"/>
            <a:r>
              <a:rPr kumimoji="1" lang="en-US" altLang="zh-TW" dirty="0"/>
              <a:t>Linux</a:t>
            </a:r>
            <a:r>
              <a:rPr kumimoji="1" lang="zh-TW" altLang="en-US" dirty="0"/>
              <a:t> </a:t>
            </a:r>
            <a:r>
              <a:rPr kumimoji="1" lang="en-US" altLang="zh-TW" i="1" dirty="0">
                <a:solidFill>
                  <a:srgbClr val="C00000"/>
                </a:solidFill>
              </a:rPr>
              <a:t>does</a:t>
            </a:r>
            <a:r>
              <a:rPr kumimoji="1" lang="zh-TW" altLang="en-US" i="1" dirty="0">
                <a:solidFill>
                  <a:srgbClr val="C00000"/>
                </a:solidFill>
              </a:rPr>
              <a:t> </a:t>
            </a:r>
            <a:r>
              <a:rPr kumimoji="1" lang="en-US" altLang="zh-TW" i="1" dirty="0">
                <a:solidFill>
                  <a:srgbClr val="C00000"/>
                </a:solidFill>
              </a:rPr>
              <a:t>not</a:t>
            </a:r>
            <a:r>
              <a:rPr kumimoji="1" lang="zh-TW" altLang="en-US" dirty="0"/>
              <a:t> </a:t>
            </a:r>
            <a:r>
              <a:rPr kumimoji="1" lang="en-US" altLang="zh-TW" dirty="0"/>
              <a:t>provide</a:t>
            </a:r>
            <a:r>
              <a:rPr kumimoji="1" lang="zh-TW" altLang="en-US" dirty="0"/>
              <a:t> </a:t>
            </a:r>
            <a:r>
              <a:rPr kumimoji="1" lang="en-US" altLang="zh-TW" dirty="0"/>
              <a:t>any</a:t>
            </a:r>
            <a:r>
              <a:rPr kumimoji="1" lang="zh-TW" altLang="en-US" dirty="0"/>
              <a:t> </a:t>
            </a:r>
            <a:r>
              <a:rPr kumimoji="1" lang="en-US" altLang="zh-TW" dirty="0"/>
              <a:t>special</a:t>
            </a:r>
            <a:r>
              <a:rPr kumimoji="1" lang="zh-TW" altLang="en-US" dirty="0"/>
              <a:t> </a:t>
            </a:r>
            <a:r>
              <a:rPr kumimoji="1" lang="en-US" altLang="zh-TW" dirty="0"/>
              <a:t>scheduling</a:t>
            </a:r>
            <a:r>
              <a:rPr kumimoji="1" lang="zh-TW" altLang="en-US" dirty="0"/>
              <a:t> </a:t>
            </a:r>
            <a:r>
              <a:rPr kumimoji="1" lang="en-US" altLang="zh-TW" dirty="0"/>
              <a:t>or</a:t>
            </a:r>
            <a:r>
              <a:rPr kumimoji="1" lang="zh-TW" altLang="en-US" dirty="0"/>
              <a:t> </a:t>
            </a:r>
            <a:r>
              <a:rPr kumimoji="1" lang="en-US" altLang="zh-TW" dirty="0"/>
              <a:t>data</a:t>
            </a:r>
            <a:r>
              <a:rPr kumimoji="1" lang="zh-TW" altLang="en-US" dirty="0"/>
              <a:t> </a:t>
            </a:r>
            <a:r>
              <a:rPr kumimoji="1" lang="en-US" altLang="zh-TW" dirty="0"/>
              <a:t>structures</a:t>
            </a:r>
            <a:r>
              <a:rPr kumimoji="1" lang="zh-TW" altLang="en-US" dirty="0"/>
              <a:t> </a:t>
            </a:r>
            <a:r>
              <a:rPr kumimoji="1" lang="en-US" altLang="zh-TW" dirty="0"/>
              <a:t>to</a:t>
            </a:r>
            <a:r>
              <a:rPr kumimoji="1" lang="zh-TW" altLang="en-US" dirty="0"/>
              <a:t> </a:t>
            </a:r>
            <a:r>
              <a:rPr kumimoji="1" lang="en-US" altLang="zh-TW" dirty="0"/>
              <a:t>represent</a:t>
            </a:r>
            <a:r>
              <a:rPr kumimoji="1" lang="zh-TW" altLang="en-US" dirty="0"/>
              <a:t> </a:t>
            </a:r>
            <a:r>
              <a:rPr kumimoji="1" lang="en-US" altLang="zh-TW" dirty="0"/>
              <a:t>threads.</a:t>
            </a:r>
          </a:p>
          <a:p>
            <a:r>
              <a:rPr lang="en-US" altLang="zh-TW" dirty="0"/>
              <a:t>Creating Threads:</a:t>
            </a:r>
            <a:r>
              <a:rPr lang="zh-TW" altLang="en-US" dirty="0"/>
              <a:t> </a:t>
            </a:r>
            <a:r>
              <a:rPr lang="en-US" altLang="zh-TW" dirty="0">
                <a:solidFill>
                  <a:srgbClr val="C00000"/>
                </a:solidFill>
                <a:latin typeface="+mj-lt"/>
              </a:rPr>
              <a:t>clone()</a:t>
            </a:r>
            <a:r>
              <a:rPr lang="zh-TW" altLang="en-US" dirty="0">
                <a:solidFill>
                  <a:srgbClr val="C00000"/>
                </a:solidFill>
              </a:rPr>
              <a:t> </a:t>
            </a:r>
            <a:r>
              <a:rPr lang="en-US" altLang="zh-TW" dirty="0">
                <a:solidFill>
                  <a:srgbClr val="C00000"/>
                </a:solidFill>
              </a:rPr>
              <a:t>is</a:t>
            </a:r>
            <a:r>
              <a:rPr lang="zh-TW" altLang="en-US" dirty="0">
                <a:solidFill>
                  <a:srgbClr val="C00000"/>
                </a:solidFill>
              </a:rPr>
              <a:t> </a:t>
            </a:r>
            <a:r>
              <a:rPr lang="en-US" altLang="zh-TW" dirty="0">
                <a:solidFill>
                  <a:srgbClr val="C00000"/>
                </a:solidFill>
              </a:rPr>
              <a:t>identical</a:t>
            </a:r>
            <a:r>
              <a:rPr lang="zh-TW" altLang="en-US" dirty="0">
                <a:solidFill>
                  <a:srgbClr val="C00000"/>
                </a:solidFill>
              </a:rPr>
              <a:t> </a:t>
            </a:r>
            <a:r>
              <a:rPr lang="en-US" altLang="zh-TW" dirty="0">
                <a:solidFill>
                  <a:srgbClr val="C00000"/>
                </a:solidFill>
              </a:rPr>
              <a:t>to</a:t>
            </a:r>
            <a:r>
              <a:rPr lang="zh-TW" altLang="en-US" dirty="0">
                <a:solidFill>
                  <a:srgbClr val="C00000"/>
                </a:solidFill>
              </a:rPr>
              <a:t> </a:t>
            </a:r>
            <a:r>
              <a:rPr lang="en-US" altLang="zh-TW" dirty="0">
                <a:solidFill>
                  <a:srgbClr val="C00000"/>
                </a:solidFill>
                <a:latin typeface="+mj-lt"/>
              </a:rPr>
              <a:t>fork()</a:t>
            </a:r>
            <a:r>
              <a:rPr lang="en-US" altLang="zh-TW" dirty="0"/>
              <a:t>,</a:t>
            </a:r>
            <a:r>
              <a:rPr lang="zh-TW" altLang="en-US" dirty="0"/>
              <a:t> </a:t>
            </a:r>
            <a:r>
              <a:rPr lang="en-US" altLang="zh-TW" dirty="0"/>
              <a:t>except</a:t>
            </a:r>
            <a:r>
              <a:rPr lang="zh-TW" altLang="en-US" dirty="0"/>
              <a:t> </a:t>
            </a:r>
            <a:r>
              <a:rPr lang="en-US" altLang="zh-TW" dirty="0"/>
              <a:t>that</a:t>
            </a:r>
            <a:r>
              <a:rPr lang="zh-TW" altLang="en-US" dirty="0"/>
              <a:t> </a:t>
            </a:r>
            <a:r>
              <a:rPr lang="en-US" altLang="zh-TW" dirty="0"/>
              <a:t>the</a:t>
            </a:r>
            <a:r>
              <a:rPr lang="zh-TW" altLang="en-US" dirty="0"/>
              <a:t> </a:t>
            </a:r>
            <a:r>
              <a:rPr lang="en-US" altLang="zh-TW" dirty="0"/>
              <a:t>address</a:t>
            </a:r>
            <a:r>
              <a:rPr lang="zh-TW" altLang="en-US" dirty="0"/>
              <a:t> </a:t>
            </a:r>
            <a:r>
              <a:rPr lang="en-US" altLang="zh-TW" dirty="0"/>
              <a:t>space,</a:t>
            </a:r>
            <a:r>
              <a:rPr lang="zh-TW" altLang="en-US" dirty="0"/>
              <a:t> </a:t>
            </a:r>
            <a:r>
              <a:rPr lang="en-US" altLang="zh-TW" dirty="0"/>
              <a:t>file</a:t>
            </a:r>
            <a:r>
              <a:rPr lang="zh-TW" altLang="en-US" dirty="0"/>
              <a:t> </a:t>
            </a:r>
            <a:r>
              <a:rPr lang="en-US" altLang="zh-TW" dirty="0"/>
              <a:t>system</a:t>
            </a:r>
            <a:r>
              <a:rPr lang="zh-TW" altLang="en-US" dirty="0"/>
              <a:t> </a:t>
            </a:r>
            <a:r>
              <a:rPr lang="en-US" altLang="zh-TW" dirty="0"/>
              <a:t>resources,</a:t>
            </a:r>
            <a:r>
              <a:rPr lang="zh-TW" altLang="en-US" dirty="0"/>
              <a:t> </a:t>
            </a:r>
            <a:r>
              <a:rPr lang="en-US" altLang="zh-TW" dirty="0"/>
              <a:t>file</a:t>
            </a:r>
            <a:r>
              <a:rPr lang="zh-TW" altLang="en-US" dirty="0"/>
              <a:t> </a:t>
            </a:r>
            <a:r>
              <a:rPr lang="en-US" altLang="zh-TW" dirty="0"/>
              <a:t>descriptors,</a:t>
            </a:r>
            <a:r>
              <a:rPr lang="zh-TW" altLang="en-US" dirty="0"/>
              <a:t> </a:t>
            </a:r>
            <a:r>
              <a:rPr lang="en-US" altLang="zh-TW" dirty="0"/>
              <a:t>and</a:t>
            </a:r>
            <a:r>
              <a:rPr lang="zh-TW" altLang="en-US" dirty="0"/>
              <a:t> </a:t>
            </a:r>
            <a:r>
              <a:rPr lang="en-US" altLang="zh-TW" dirty="0"/>
              <a:t>signal</a:t>
            </a:r>
            <a:r>
              <a:rPr lang="zh-TW" altLang="en-US" dirty="0"/>
              <a:t> </a:t>
            </a:r>
            <a:r>
              <a:rPr lang="en-US" altLang="zh-TW" dirty="0"/>
              <a:t>handlers</a:t>
            </a:r>
            <a:r>
              <a:rPr lang="zh-TW" altLang="en-US" dirty="0"/>
              <a:t> </a:t>
            </a:r>
            <a:r>
              <a:rPr lang="en-US" altLang="zh-TW" dirty="0">
                <a:solidFill>
                  <a:srgbClr val="C00000"/>
                </a:solidFill>
              </a:rPr>
              <a:t>are</a:t>
            </a:r>
            <a:r>
              <a:rPr lang="zh-TW" altLang="en-US" dirty="0">
                <a:solidFill>
                  <a:srgbClr val="C00000"/>
                </a:solidFill>
              </a:rPr>
              <a:t> </a:t>
            </a:r>
            <a:r>
              <a:rPr lang="en-US" altLang="zh-TW" dirty="0">
                <a:solidFill>
                  <a:srgbClr val="C00000"/>
                </a:solidFill>
              </a:rPr>
              <a:t>shared</a:t>
            </a:r>
            <a:r>
              <a:rPr lang="en-US" altLang="zh-TW" dirty="0"/>
              <a:t>.</a:t>
            </a:r>
          </a:p>
          <a:p>
            <a:pPr lvl="1"/>
            <a:r>
              <a:rPr lang="en-US" altLang="zh-TW" dirty="0">
                <a:latin typeface="+mj-lt"/>
              </a:rPr>
              <a:t>clone (CLONE_VM</a:t>
            </a:r>
            <a:r>
              <a:rPr lang="zh-TW" altLang="en-US" dirty="0">
                <a:latin typeface="+mj-lt"/>
              </a:rPr>
              <a:t> </a:t>
            </a:r>
            <a:r>
              <a:rPr lang="en-US" altLang="zh-TW" dirty="0">
                <a:latin typeface="+mj-lt"/>
              </a:rPr>
              <a:t>|</a:t>
            </a:r>
            <a:r>
              <a:rPr lang="zh-TW" altLang="en-US" dirty="0">
                <a:latin typeface="+mj-lt"/>
              </a:rPr>
              <a:t> </a:t>
            </a:r>
            <a:r>
              <a:rPr lang="en-US" altLang="zh-TW" dirty="0">
                <a:latin typeface="+mj-lt"/>
              </a:rPr>
              <a:t>CLONE_FS | CLONE_FILES | CLONE_SIGHAND, 0)</a:t>
            </a:r>
          </a:p>
          <a:p>
            <a:r>
              <a:rPr kumimoji="1" lang="en-US" altLang="zh-TW" dirty="0"/>
              <a:t>Kernel Threads: Run kernel tasks in the background. </a:t>
            </a:r>
          </a:p>
          <a:p>
            <a:pPr lvl="1"/>
            <a:r>
              <a:rPr kumimoji="1" lang="en-US" altLang="zh-TW" dirty="0"/>
              <a:t>Like normal processes</a:t>
            </a:r>
            <a:r>
              <a:rPr kumimoji="1" lang="en-US" altLang="zh-TW" dirty="0">
                <a:solidFill>
                  <a:schemeClr val="tx1"/>
                </a:solidFill>
              </a:rPr>
              <a:t>,</a:t>
            </a:r>
            <a:r>
              <a:rPr kumimoji="1" lang="en-US" altLang="zh-TW" dirty="0">
                <a:solidFill>
                  <a:srgbClr val="C00000"/>
                </a:solidFill>
              </a:rPr>
              <a:t> schedulable and preemptable</a:t>
            </a:r>
          </a:p>
          <a:p>
            <a:pPr lvl="1"/>
            <a:r>
              <a:rPr lang="en-US" altLang="zh-TW" dirty="0"/>
              <a:t>But, in contrast to normal processes, kernel threads </a:t>
            </a:r>
            <a:r>
              <a:rPr lang="en-US" altLang="zh-TW" dirty="0">
                <a:solidFill>
                  <a:srgbClr val="C00000"/>
                </a:solidFill>
              </a:rPr>
              <a:t>do not have an address space</a:t>
            </a:r>
            <a:r>
              <a:rPr lang="en-US" altLang="zh-TW" dirty="0"/>
              <a:t>. </a:t>
            </a:r>
          </a:p>
          <a:p>
            <a:pPr lvl="1"/>
            <a:r>
              <a:rPr lang="en-US" altLang="zh-TW" dirty="0">
                <a:solidFill>
                  <a:srgbClr val="C00000"/>
                </a:solidFill>
              </a:rPr>
              <a:t>Operate only in kernel-space </a:t>
            </a:r>
            <a:r>
              <a:rPr lang="en-US" altLang="zh-TW" dirty="0"/>
              <a:t>and do not context switch to user-space.</a:t>
            </a:r>
            <a:endParaRPr kumimoji="1" lang="zh-TW" altLang="en-US"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11</a:t>
            </a:fld>
            <a:endParaRPr lang="zh-TW" altLang="en-US" dirty="0"/>
          </a:p>
        </p:txBody>
      </p:sp>
    </p:spTree>
    <p:extLst>
      <p:ext uri="{BB962C8B-B14F-4D97-AF65-F5344CB8AC3E}">
        <p14:creationId xmlns:p14="http://schemas.microsoft.com/office/powerpoint/2010/main" val="1036394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2E372C-ABBC-9A0A-B142-A4BA923BE7C4}"/>
              </a:ext>
            </a:extLst>
          </p:cNvPr>
          <p:cNvSpPr>
            <a:spLocks noGrp="1"/>
          </p:cNvSpPr>
          <p:nvPr>
            <p:ph type="title"/>
          </p:nvPr>
        </p:nvSpPr>
        <p:spPr/>
        <p:txBody>
          <a:bodyPr/>
          <a:lstStyle/>
          <a:p>
            <a:r>
              <a:rPr kumimoji="1" lang="en-US" altLang="zh-TW" dirty="0"/>
              <a:t>Process Termination</a:t>
            </a:r>
            <a:endParaRPr kumimoji="1" lang="zh-TW" altLang="en-US" dirty="0"/>
          </a:p>
        </p:txBody>
      </p:sp>
      <p:sp>
        <p:nvSpPr>
          <p:cNvPr id="3" name="內容版面配置區 2">
            <a:extLst>
              <a:ext uri="{FF2B5EF4-FFF2-40B4-BE49-F238E27FC236}">
                <a16:creationId xmlns:a16="http://schemas.microsoft.com/office/drawing/2014/main" id="{BA019C1E-D5A3-88D2-E537-F57C13987949}"/>
              </a:ext>
            </a:extLst>
          </p:cNvPr>
          <p:cNvSpPr>
            <a:spLocks noGrp="1"/>
          </p:cNvSpPr>
          <p:nvPr>
            <p:ph idx="1"/>
          </p:nvPr>
        </p:nvSpPr>
        <p:spPr/>
        <p:txBody>
          <a:bodyPr/>
          <a:lstStyle/>
          <a:p>
            <a:r>
              <a:rPr kumimoji="1" lang="en-US" altLang="zh-TW" dirty="0"/>
              <a:t>Termination occurs when the process or C compiler calls </a:t>
            </a:r>
            <a:r>
              <a:rPr kumimoji="1" lang="en-US" altLang="zh-TW" dirty="0">
                <a:solidFill>
                  <a:srgbClr val="C00000"/>
                </a:solidFill>
              </a:rPr>
              <a:t>exit()</a:t>
            </a:r>
            <a:r>
              <a:rPr kumimoji="1" lang="en-US" altLang="zh-TW" dirty="0"/>
              <a:t>.</a:t>
            </a:r>
          </a:p>
          <a:p>
            <a:r>
              <a:rPr lang="en-US" altLang="zh-TW" dirty="0"/>
              <a:t>Sets the </a:t>
            </a:r>
            <a:r>
              <a:rPr lang="en-US" altLang="zh-TW" dirty="0">
                <a:solidFill>
                  <a:srgbClr val="C00000"/>
                </a:solidFill>
                <a:latin typeface="+mj-lt"/>
              </a:rPr>
              <a:t>PF_EXITING </a:t>
            </a:r>
            <a:r>
              <a:rPr lang="en-US" altLang="zh-TW" dirty="0">
                <a:solidFill>
                  <a:srgbClr val="C00000"/>
                </a:solidFill>
              </a:rPr>
              <a:t>flag </a:t>
            </a:r>
            <a:r>
              <a:rPr lang="en-US" altLang="zh-TW" dirty="0"/>
              <a:t>in the flags member of the </a:t>
            </a:r>
            <a:r>
              <a:rPr lang="en-US" altLang="zh-TW" dirty="0" err="1">
                <a:solidFill>
                  <a:srgbClr val="C00000"/>
                </a:solidFill>
              </a:rPr>
              <a:t>task_struct</a:t>
            </a:r>
            <a:r>
              <a:rPr lang="en-US" altLang="zh-TW" dirty="0"/>
              <a:t>.</a:t>
            </a:r>
          </a:p>
          <a:p>
            <a:r>
              <a:rPr lang="en-US" altLang="zh-TW" dirty="0"/>
              <a:t>Call </a:t>
            </a:r>
            <a:r>
              <a:rPr lang="en-US" altLang="zh-TW" dirty="0" err="1">
                <a:latin typeface="+mj-lt"/>
              </a:rPr>
              <a:t>exit_mm</a:t>
            </a:r>
            <a:r>
              <a:rPr lang="en-US" altLang="zh-TW" dirty="0">
                <a:latin typeface="+mj-lt"/>
              </a:rPr>
              <a:t>()</a:t>
            </a:r>
            <a:r>
              <a:rPr lang="en-US" altLang="zh-TW" dirty="0"/>
              <a:t> to </a:t>
            </a:r>
            <a:r>
              <a:rPr lang="en-US" altLang="zh-TW" dirty="0">
                <a:solidFill>
                  <a:srgbClr val="C00000"/>
                </a:solidFill>
              </a:rPr>
              <a:t>release the </a:t>
            </a:r>
            <a:r>
              <a:rPr lang="en-US" altLang="zh-TW" dirty="0" err="1">
                <a:solidFill>
                  <a:srgbClr val="C00000"/>
                </a:solidFill>
              </a:rPr>
              <a:t>mm_struct</a:t>
            </a:r>
            <a:r>
              <a:rPr lang="en-US" altLang="zh-TW" dirty="0">
                <a:solidFill>
                  <a:srgbClr val="C00000"/>
                </a:solidFill>
              </a:rPr>
              <a:t> (address space) </a:t>
            </a:r>
            <a:r>
              <a:rPr lang="en-US" altLang="zh-TW" dirty="0"/>
              <a:t>held by this process.</a:t>
            </a:r>
          </a:p>
          <a:p>
            <a:r>
              <a:rPr kumimoji="1" lang="en-US" altLang="zh-TW" dirty="0"/>
              <a:t>Call </a:t>
            </a:r>
            <a:r>
              <a:rPr kumimoji="1" lang="en-US" altLang="zh-TW" dirty="0" err="1">
                <a:latin typeface="+mj-lt"/>
              </a:rPr>
              <a:t>exit_sem</a:t>
            </a:r>
            <a:r>
              <a:rPr kumimoji="1" lang="en-US" altLang="zh-TW" dirty="0">
                <a:latin typeface="+mj-lt"/>
              </a:rPr>
              <a:t>() </a:t>
            </a:r>
            <a:r>
              <a:rPr lang="en-US" altLang="zh-TW" dirty="0"/>
              <a:t>dequeued from an </a:t>
            </a:r>
            <a:r>
              <a:rPr lang="en-US" altLang="zh-TW" dirty="0">
                <a:solidFill>
                  <a:srgbClr val="C00000"/>
                </a:solidFill>
              </a:rPr>
              <a:t>IPC semaphore waiting queue</a:t>
            </a:r>
            <a:r>
              <a:rPr lang="en-US" altLang="zh-TW" dirty="0"/>
              <a:t>.</a:t>
            </a:r>
            <a:endParaRPr kumimoji="1" lang="en-US" altLang="zh-TW" dirty="0"/>
          </a:p>
          <a:p>
            <a:r>
              <a:rPr lang="en-US" altLang="zh-TW" dirty="0"/>
              <a:t>Call </a:t>
            </a:r>
            <a:r>
              <a:rPr lang="en-US" altLang="zh-TW" dirty="0" err="1">
                <a:latin typeface="+mj-lt"/>
              </a:rPr>
              <a:t>exit_files</a:t>
            </a:r>
            <a:r>
              <a:rPr lang="en-US" altLang="zh-TW" dirty="0">
                <a:latin typeface="+mj-lt"/>
              </a:rPr>
              <a:t>()</a:t>
            </a:r>
            <a:r>
              <a:rPr lang="en-US" altLang="zh-TW" dirty="0"/>
              <a:t> and </a:t>
            </a:r>
            <a:r>
              <a:rPr lang="en-US" altLang="zh-TW" dirty="0" err="1">
                <a:latin typeface="+mj-lt"/>
              </a:rPr>
              <a:t>exit_fs</a:t>
            </a:r>
            <a:r>
              <a:rPr lang="en-US" altLang="zh-TW" dirty="0">
                <a:latin typeface="+mj-lt"/>
              </a:rPr>
              <a:t>()</a:t>
            </a:r>
            <a:r>
              <a:rPr lang="en-US" altLang="zh-TW" dirty="0"/>
              <a:t> to </a:t>
            </a:r>
            <a:r>
              <a:rPr lang="en-US" altLang="zh-TW" dirty="0">
                <a:solidFill>
                  <a:srgbClr val="C00000"/>
                </a:solidFill>
              </a:rPr>
              <a:t>decrement the usage count</a:t>
            </a:r>
            <a:r>
              <a:rPr lang="en-US" altLang="zh-TW" dirty="0"/>
              <a:t> of objects related to file descriptors and filesystem data, respectively.</a:t>
            </a:r>
          </a:p>
          <a:p>
            <a:r>
              <a:rPr lang="en-US" altLang="zh-TW" dirty="0"/>
              <a:t>Call </a:t>
            </a:r>
            <a:r>
              <a:rPr lang="en-US" altLang="zh-TW" dirty="0" err="1">
                <a:latin typeface="+mj-lt"/>
              </a:rPr>
              <a:t>exit_notify</a:t>
            </a:r>
            <a:r>
              <a:rPr lang="en-US" altLang="zh-TW" dirty="0">
                <a:latin typeface="+mj-lt"/>
              </a:rPr>
              <a:t>() </a:t>
            </a:r>
            <a:r>
              <a:rPr lang="en-US" altLang="zh-TW" dirty="0"/>
              <a:t>to </a:t>
            </a:r>
            <a:r>
              <a:rPr lang="en-US" altLang="zh-TW" dirty="0">
                <a:solidFill>
                  <a:srgbClr val="C00000"/>
                </a:solidFill>
              </a:rPr>
              <a:t>send signals to the task’s parent</a:t>
            </a:r>
            <a:r>
              <a:rPr lang="en-US" altLang="zh-TW" dirty="0"/>
              <a:t>, </a:t>
            </a:r>
            <a:r>
              <a:rPr lang="en-US" altLang="zh-TW" dirty="0">
                <a:solidFill>
                  <a:srgbClr val="C00000"/>
                </a:solidFill>
              </a:rPr>
              <a:t>reparents</a:t>
            </a:r>
            <a:r>
              <a:rPr lang="en-US" altLang="zh-TW" dirty="0"/>
              <a:t> any of the task’s children to another thread in their thread group or the </a:t>
            </a:r>
            <a:r>
              <a:rPr lang="en-US" altLang="zh-TW" dirty="0" err="1">
                <a:latin typeface="+mj-lt"/>
              </a:rPr>
              <a:t>init</a:t>
            </a:r>
            <a:r>
              <a:rPr lang="en-US" altLang="zh-TW" dirty="0"/>
              <a:t> process.</a:t>
            </a:r>
          </a:p>
          <a:p>
            <a:r>
              <a:rPr lang="en-US" altLang="zh-TW" dirty="0"/>
              <a:t>Call </a:t>
            </a:r>
            <a:r>
              <a:rPr lang="en-US" altLang="zh-TW" dirty="0">
                <a:latin typeface="+mj-lt"/>
              </a:rPr>
              <a:t>schedule()</a:t>
            </a:r>
            <a:r>
              <a:rPr lang="en-US" altLang="zh-TW" dirty="0"/>
              <a:t> to switch to a new process.</a:t>
            </a:r>
          </a:p>
          <a:p>
            <a:r>
              <a:rPr lang="en-US" altLang="zh-TW" dirty="0"/>
              <a:t>After the </a:t>
            </a:r>
            <a:r>
              <a:rPr lang="en-US" altLang="zh-TW" dirty="0">
                <a:solidFill>
                  <a:srgbClr val="C00000"/>
                </a:solidFill>
              </a:rPr>
              <a:t>parent retrieves the information</a:t>
            </a:r>
            <a:r>
              <a:rPr lang="en-US" altLang="zh-TW" dirty="0"/>
              <a:t>, the process’s </a:t>
            </a:r>
            <a:r>
              <a:rPr lang="en-US" altLang="zh-TW" dirty="0">
                <a:solidFill>
                  <a:srgbClr val="C00000"/>
                </a:solidFill>
              </a:rPr>
              <a:t>kernel stack </a:t>
            </a:r>
            <a:r>
              <a:rPr lang="en-US" altLang="zh-TW" dirty="0"/>
              <a:t>(including </a:t>
            </a:r>
            <a:r>
              <a:rPr lang="en-US" altLang="zh-TW" dirty="0" err="1">
                <a:latin typeface="+mj-lt"/>
              </a:rPr>
              <a:t>task_struct</a:t>
            </a:r>
            <a:r>
              <a:rPr lang="en-US" altLang="zh-TW" dirty="0">
                <a:latin typeface="+mj-lt"/>
              </a:rPr>
              <a:t> </a:t>
            </a:r>
            <a:r>
              <a:rPr lang="en-US" altLang="zh-TW" dirty="0"/>
              <a:t>and </a:t>
            </a:r>
            <a:r>
              <a:rPr lang="en-US" altLang="zh-TW" dirty="0" err="1">
                <a:latin typeface="+mj-lt"/>
              </a:rPr>
              <a:t>thread_info</a:t>
            </a:r>
            <a:r>
              <a:rPr lang="en-US" altLang="zh-TW" dirty="0"/>
              <a:t>) will be deallocated.</a:t>
            </a:r>
          </a:p>
          <a:p>
            <a:endParaRPr lang="en-US" altLang="zh-TW" dirty="0"/>
          </a:p>
          <a:p>
            <a:endParaRPr kumimoji="1" lang="zh-TW" altLang="en-US" dirty="0"/>
          </a:p>
        </p:txBody>
      </p:sp>
      <p:sp>
        <p:nvSpPr>
          <p:cNvPr id="4" name="投影片編號版面配置區 3">
            <a:extLst>
              <a:ext uri="{FF2B5EF4-FFF2-40B4-BE49-F238E27FC236}">
                <a16:creationId xmlns:a16="http://schemas.microsoft.com/office/drawing/2014/main" id="{2BC5CD72-003E-66BA-4F9E-A8FB3295CAF1}"/>
              </a:ext>
            </a:extLst>
          </p:cNvPr>
          <p:cNvSpPr>
            <a:spLocks noGrp="1"/>
          </p:cNvSpPr>
          <p:nvPr>
            <p:ph type="sldNum" sz="quarter" idx="4"/>
          </p:nvPr>
        </p:nvSpPr>
        <p:spPr/>
        <p:txBody>
          <a:bodyPr/>
          <a:lstStyle/>
          <a:p>
            <a:fld id="{E24E6636-6BA5-4AAC-8485-BE8D914D288B}" type="slidenum">
              <a:rPr lang="zh-TW" altLang="en-US" smtClean="0"/>
              <a:pPr/>
              <a:t>12</a:t>
            </a:fld>
            <a:endParaRPr lang="zh-TW" altLang="en-US" dirty="0"/>
          </a:p>
        </p:txBody>
      </p:sp>
    </p:spTree>
    <p:extLst>
      <p:ext uri="{BB962C8B-B14F-4D97-AF65-F5344CB8AC3E}">
        <p14:creationId xmlns:p14="http://schemas.microsoft.com/office/powerpoint/2010/main" val="1451649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par>
                                <p:cTn id="27" presetID="9" presetClass="emph" presetSubtype="0" nodeType="withEffect">
                                  <p:stCondLst>
                                    <p:cond delay="0"/>
                                  </p:stCondLst>
                                  <p:childTnLst>
                                    <p:set>
                                      <p:cBhvr>
                                        <p:cTn id="28" dur="indefinite"/>
                                        <p:tgtEl>
                                          <p:spTgt spid="3">
                                            <p:txEl>
                                              <p:pRg st="0" end="0"/>
                                            </p:txEl>
                                          </p:spTgt>
                                        </p:tgtEl>
                                        <p:attrNameLst>
                                          <p:attrName>style.opacity</p:attrName>
                                        </p:attrNameLst>
                                      </p:cBhvr>
                                      <p:to>
                                        <p:strVal val="0.5"/>
                                      </p:to>
                                    </p:set>
                                    <p:animEffect filter="image" prLst="opacity: 0.5">
                                      <p:cBhvr rctx="IE">
                                        <p:cTn id="29" dur="indefinite"/>
                                        <p:tgtEl>
                                          <p:spTgt spid="3">
                                            <p:txEl>
                                              <p:pRg st="0" end="0"/>
                                            </p:txEl>
                                          </p:spTgt>
                                        </p:tgtEl>
                                      </p:cBhvr>
                                    </p:animEffect>
                                  </p:childTnLst>
                                </p:cTn>
                              </p:par>
                              <p:par>
                                <p:cTn id="30" presetID="9" presetClass="emph" presetSubtype="0" nodeType="withEffect">
                                  <p:stCondLst>
                                    <p:cond delay="0"/>
                                  </p:stCondLst>
                                  <p:childTnLst>
                                    <p:set>
                                      <p:cBhvr>
                                        <p:cTn id="31" dur="indefinite"/>
                                        <p:tgtEl>
                                          <p:spTgt spid="3">
                                            <p:txEl>
                                              <p:pRg st="1" end="1"/>
                                            </p:txEl>
                                          </p:spTgt>
                                        </p:tgtEl>
                                        <p:attrNameLst>
                                          <p:attrName>style.opacity</p:attrName>
                                        </p:attrNameLst>
                                      </p:cBhvr>
                                      <p:to>
                                        <p:strVal val="0.5"/>
                                      </p:to>
                                    </p:set>
                                    <p:animEffect filter="image" prLst="opacity: 0.5">
                                      <p:cBhvr rctx="IE">
                                        <p:cTn id="32" dur="indefinite"/>
                                        <p:tgtEl>
                                          <p:spTgt spid="3">
                                            <p:txEl>
                                              <p:pRg st="1" end="1"/>
                                            </p:txEl>
                                          </p:spTgt>
                                        </p:tgtEl>
                                      </p:cBhvr>
                                    </p:animEffect>
                                  </p:childTnLst>
                                </p:cTn>
                              </p:par>
                              <p:par>
                                <p:cTn id="33" presetID="9" presetClass="emph" presetSubtype="0" nodeType="withEffect">
                                  <p:stCondLst>
                                    <p:cond delay="0"/>
                                  </p:stCondLst>
                                  <p:childTnLst>
                                    <p:set>
                                      <p:cBhvr>
                                        <p:cTn id="34" dur="indefinite"/>
                                        <p:tgtEl>
                                          <p:spTgt spid="3">
                                            <p:txEl>
                                              <p:pRg st="2" end="2"/>
                                            </p:txEl>
                                          </p:spTgt>
                                        </p:tgtEl>
                                        <p:attrNameLst>
                                          <p:attrName>style.opacity</p:attrName>
                                        </p:attrNameLst>
                                      </p:cBhvr>
                                      <p:to>
                                        <p:strVal val="0.5"/>
                                      </p:to>
                                    </p:set>
                                    <p:animEffect filter="image" prLst="opacity: 0.5">
                                      <p:cBhvr rctx="IE">
                                        <p:cTn id="35" dur="indefinite"/>
                                        <p:tgtEl>
                                          <p:spTgt spid="3">
                                            <p:txEl>
                                              <p:pRg st="2" end="2"/>
                                            </p:txEl>
                                          </p:spTgt>
                                        </p:tgtEl>
                                      </p:cBhvr>
                                    </p:animEffect>
                                  </p:childTnLst>
                                </p:cTn>
                              </p:par>
                              <p:par>
                                <p:cTn id="36" presetID="9" presetClass="emph" presetSubtype="0" nodeType="withEffect">
                                  <p:stCondLst>
                                    <p:cond delay="0"/>
                                  </p:stCondLst>
                                  <p:childTnLst>
                                    <p:set>
                                      <p:cBhvr>
                                        <p:cTn id="37" dur="indefinite"/>
                                        <p:tgtEl>
                                          <p:spTgt spid="3">
                                            <p:txEl>
                                              <p:pRg st="3" end="3"/>
                                            </p:txEl>
                                          </p:spTgt>
                                        </p:tgtEl>
                                        <p:attrNameLst>
                                          <p:attrName>style.opacity</p:attrName>
                                        </p:attrNameLst>
                                      </p:cBhvr>
                                      <p:to>
                                        <p:strVal val="0.5"/>
                                      </p:to>
                                    </p:set>
                                    <p:animEffect filter="image" prLst="opacity: 0.5">
                                      <p:cBhvr rctx="IE">
                                        <p:cTn id="38" dur="indefinite"/>
                                        <p:tgtEl>
                                          <p:spTgt spid="3">
                                            <p:txEl>
                                              <p:pRg st="3" end="3"/>
                                            </p:txEl>
                                          </p:spTgt>
                                        </p:tgtEl>
                                      </p:cBhvr>
                                    </p:animEffect>
                                  </p:childTnLst>
                                </p:cTn>
                              </p:par>
                              <p:par>
                                <p:cTn id="39" presetID="9" presetClass="emph" presetSubtype="0" nodeType="withEffect">
                                  <p:stCondLst>
                                    <p:cond delay="0"/>
                                  </p:stCondLst>
                                  <p:childTnLst>
                                    <p:set>
                                      <p:cBhvr>
                                        <p:cTn id="40" dur="indefinite"/>
                                        <p:tgtEl>
                                          <p:spTgt spid="3">
                                            <p:txEl>
                                              <p:pRg st="4" end="4"/>
                                            </p:txEl>
                                          </p:spTgt>
                                        </p:tgtEl>
                                        <p:attrNameLst>
                                          <p:attrName>style.opacity</p:attrName>
                                        </p:attrNameLst>
                                      </p:cBhvr>
                                      <p:to>
                                        <p:strVal val="0.5"/>
                                      </p:to>
                                    </p:set>
                                    <p:animEffect filter="image" prLst="opacity: 0.5">
                                      <p:cBhvr rctx="IE">
                                        <p:cTn id="41" dur="indefinite"/>
                                        <p:tgtEl>
                                          <p:spTgt spid="3">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fade">
                                      <p:cBhvr>
                                        <p:cTn id="4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2470860"/>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Process Scheduling</a:t>
            </a:r>
          </a:p>
        </p:txBody>
      </p:sp>
    </p:spTree>
    <p:extLst>
      <p:ext uri="{BB962C8B-B14F-4D97-AF65-F5344CB8AC3E}">
        <p14:creationId xmlns:p14="http://schemas.microsoft.com/office/powerpoint/2010/main" val="1188687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群組 25">
            <a:extLst>
              <a:ext uri="{FF2B5EF4-FFF2-40B4-BE49-F238E27FC236}">
                <a16:creationId xmlns:a16="http://schemas.microsoft.com/office/drawing/2014/main" id="{65A99E17-F723-3881-D55B-D77B76D65310}"/>
              </a:ext>
            </a:extLst>
          </p:cNvPr>
          <p:cNvGrpSpPr/>
          <p:nvPr/>
        </p:nvGrpSpPr>
        <p:grpSpPr>
          <a:xfrm>
            <a:off x="3610021" y="5174843"/>
            <a:ext cx="4971957" cy="1098822"/>
            <a:chOff x="4050025" y="5011892"/>
            <a:chExt cx="4971957" cy="1098822"/>
          </a:xfrm>
        </p:grpSpPr>
        <p:cxnSp>
          <p:nvCxnSpPr>
            <p:cNvPr id="7" name="直線接點 6">
              <a:extLst>
                <a:ext uri="{FF2B5EF4-FFF2-40B4-BE49-F238E27FC236}">
                  <a16:creationId xmlns:a16="http://schemas.microsoft.com/office/drawing/2014/main" id="{9EA23C86-62ED-2470-F80F-234904496C12}"/>
                </a:ext>
              </a:extLst>
            </p:cNvPr>
            <p:cNvCxnSpPr>
              <a:cxnSpLocks/>
            </p:cNvCxnSpPr>
            <p:nvPr/>
          </p:nvCxnSpPr>
          <p:spPr>
            <a:xfrm>
              <a:off x="4058336" y="5106775"/>
              <a:ext cx="4943474"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線接點 10">
              <a:extLst>
                <a:ext uri="{FF2B5EF4-FFF2-40B4-BE49-F238E27FC236}">
                  <a16:creationId xmlns:a16="http://schemas.microsoft.com/office/drawing/2014/main" id="{D49D4EC3-E339-AFA8-3E02-0ED187CADE13}"/>
                </a:ext>
              </a:extLst>
            </p:cNvPr>
            <p:cNvCxnSpPr>
              <a:cxnSpLocks/>
            </p:cNvCxnSpPr>
            <p:nvPr/>
          </p:nvCxnSpPr>
          <p:spPr>
            <a:xfrm>
              <a:off x="4050025" y="5011982"/>
              <a:ext cx="0" cy="18000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直線接點 14">
              <a:extLst>
                <a:ext uri="{FF2B5EF4-FFF2-40B4-BE49-F238E27FC236}">
                  <a16:creationId xmlns:a16="http://schemas.microsoft.com/office/drawing/2014/main" id="{F8F6299D-1542-8C25-F45E-9D236BE9D6D3}"/>
                </a:ext>
              </a:extLst>
            </p:cNvPr>
            <p:cNvCxnSpPr>
              <a:cxnSpLocks/>
            </p:cNvCxnSpPr>
            <p:nvPr/>
          </p:nvCxnSpPr>
          <p:spPr>
            <a:xfrm>
              <a:off x="9013672" y="5011892"/>
              <a:ext cx="0" cy="18000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67B55C9D-C0CC-BE8C-8E01-21193F688E7C}"/>
                </a:ext>
              </a:extLst>
            </p:cNvPr>
            <p:cNvSpPr txBox="1"/>
            <p:nvPr/>
          </p:nvSpPr>
          <p:spPr>
            <a:xfrm>
              <a:off x="5412300" y="5741382"/>
              <a:ext cx="2548005" cy="369332"/>
            </a:xfrm>
            <a:prstGeom prst="rect">
              <a:avLst/>
            </a:prstGeom>
            <a:noFill/>
          </p:spPr>
          <p:txBody>
            <a:bodyPr wrap="none" rtlCol="0">
              <a:spAutoFit/>
            </a:bodyPr>
            <a:lstStyle/>
            <a:p>
              <a:r>
                <a:rPr kumimoji="1" lang="en-US" altLang="zh-TW" dirty="0"/>
                <a:t>Overall</a:t>
              </a:r>
              <a:r>
                <a:rPr kumimoji="1" lang="zh-TW" altLang="en-US" dirty="0"/>
                <a:t> </a:t>
              </a:r>
              <a:r>
                <a:rPr kumimoji="1" lang="en-US" altLang="zh-TW" dirty="0"/>
                <a:t>Process</a:t>
              </a:r>
              <a:r>
                <a:rPr kumimoji="1" lang="zh-TW" altLang="en-US" dirty="0"/>
                <a:t> </a:t>
              </a:r>
              <a:r>
                <a:rPr kumimoji="1" lang="en-US" altLang="zh-TW" dirty="0"/>
                <a:t>Run</a:t>
              </a:r>
              <a:r>
                <a:rPr kumimoji="1" lang="zh-TW" altLang="en-US" dirty="0"/>
                <a:t> </a:t>
              </a:r>
              <a:r>
                <a:rPr kumimoji="1" lang="en-US" altLang="zh-TW" dirty="0"/>
                <a:t>Time</a:t>
              </a:r>
              <a:endParaRPr kumimoji="1" lang="zh-TW" altLang="en-US" dirty="0"/>
            </a:p>
          </p:txBody>
        </p:sp>
        <p:sp>
          <p:nvSpPr>
            <p:cNvPr id="25" name="左大括弧 24">
              <a:extLst>
                <a:ext uri="{FF2B5EF4-FFF2-40B4-BE49-F238E27FC236}">
                  <a16:creationId xmlns:a16="http://schemas.microsoft.com/office/drawing/2014/main" id="{8E36974E-BB88-AFA5-3D13-14122533503D}"/>
                </a:ext>
              </a:extLst>
            </p:cNvPr>
            <p:cNvSpPr/>
            <p:nvPr/>
          </p:nvSpPr>
          <p:spPr>
            <a:xfrm rot="16200000">
              <a:off x="6462435" y="3162570"/>
              <a:ext cx="155448" cy="4963646"/>
            </a:xfrm>
            <a:prstGeom prst="leftBrac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dirty="0"/>
            </a:p>
          </p:txBody>
        </p:sp>
      </p:grpSp>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Multitasking Systems</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r>
              <a:rPr kumimoji="1" lang="en-US" altLang="zh-TW" dirty="0"/>
              <a:t>Single Processor: Time </a:t>
            </a:r>
            <a:r>
              <a:rPr lang="en-US" altLang="zh-TW" dirty="0"/>
              <a:t>s</a:t>
            </a:r>
            <a:r>
              <a:rPr kumimoji="1" lang="en-US" altLang="zh-TW" dirty="0"/>
              <a:t>haring</a:t>
            </a:r>
            <a:r>
              <a:rPr kumimoji="1" lang="zh-TW" altLang="en-US" dirty="0"/>
              <a:t> </a:t>
            </a:r>
            <a:r>
              <a:rPr kumimoji="1" lang="en-US" altLang="zh-TW" dirty="0"/>
              <a:t>and</a:t>
            </a:r>
            <a:r>
              <a:rPr kumimoji="1" lang="zh-TW" altLang="en-US" dirty="0"/>
              <a:t> </a:t>
            </a:r>
            <a:r>
              <a:rPr kumimoji="1" lang="en-US" altLang="zh-TW" dirty="0"/>
              <a:t>it</a:t>
            </a:r>
            <a:r>
              <a:rPr kumimoji="1" lang="zh-TW" altLang="en-US" dirty="0"/>
              <a:t> </a:t>
            </a:r>
            <a:r>
              <a:rPr kumimoji="1" lang="en-US" altLang="zh-TW" dirty="0"/>
              <a:t>is</a:t>
            </a:r>
            <a:r>
              <a:rPr kumimoji="1" lang="zh-TW" altLang="en-US" dirty="0"/>
              <a:t> </a:t>
            </a:r>
            <a:r>
              <a:rPr kumimoji="1" lang="en-US" altLang="zh-TW" dirty="0">
                <a:solidFill>
                  <a:srgbClr val="C00000"/>
                </a:solidFill>
              </a:rPr>
              <a:t>virtual </a:t>
            </a:r>
            <a:r>
              <a:rPr lang="en-US" altLang="zh-TW" dirty="0">
                <a:solidFill>
                  <a:srgbClr val="C00000"/>
                </a:solidFill>
              </a:rPr>
              <a:t>p</a:t>
            </a:r>
            <a:r>
              <a:rPr kumimoji="1" lang="en-US" altLang="zh-TW" dirty="0">
                <a:solidFill>
                  <a:srgbClr val="C00000"/>
                </a:solidFill>
              </a:rPr>
              <a:t>arallelism</a:t>
            </a:r>
            <a:r>
              <a:rPr kumimoji="1" lang="en-US" altLang="zh-TW" dirty="0"/>
              <a:t>.</a:t>
            </a:r>
            <a:r>
              <a:rPr kumimoji="1" lang="zh-TW" altLang="en-US" dirty="0"/>
              <a:t> </a:t>
            </a:r>
            <a:r>
              <a:rPr kumimoji="1" lang="en-US" altLang="zh-TW" dirty="0"/>
              <a:t>(Multiprogramming)</a:t>
            </a:r>
          </a:p>
          <a:p>
            <a:r>
              <a:rPr lang="en-US" altLang="zh-TW" dirty="0"/>
              <a:t>Multiple Processors: Run</a:t>
            </a:r>
            <a:r>
              <a:rPr lang="zh-TW" altLang="en-US" dirty="0"/>
              <a:t> </a:t>
            </a:r>
            <a:r>
              <a:rPr lang="en-US" altLang="zh-TW" dirty="0"/>
              <a:t>on</a:t>
            </a:r>
            <a:r>
              <a:rPr lang="zh-TW" altLang="en-US" dirty="0"/>
              <a:t> </a:t>
            </a:r>
            <a:r>
              <a:rPr lang="en-US" altLang="zh-TW" dirty="0"/>
              <a:t>different</a:t>
            </a:r>
            <a:r>
              <a:rPr lang="zh-TW" altLang="en-US" dirty="0"/>
              <a:t> </a:t>
            </a:r>
            <a:r>
              <a:rPr lang="en-US" altLang="zh-TW" dirty="0"/>
              <a:t>processors</a:t>
            </a:r>
            <a:r>
              <a:rPr lang="zh-TW" altLang="en-US" dirty="0"/>
              <a:t> </a:t>
            </a:r>
            <a:r>
              <a:rPr lang="en-US" altLang="zh-TW" dirty="0"/>
              <a:t>concurrently.</a:t>
            </a:r>
          </a:p>
          <a:p>
            <a:r>
              <a:rPr lang="en-US" altLang="zh-TW" dirty="0"/>
              <a:t>Criteria for Schedulers: </a:t>
            </a:r>
            <a:r>
              <a:rPr lang="en-US" altLang="zh-TW" u="sng" dirty="0"/>
              <a:t>Fairness</a:t>
            </a:r>
            <a:r>
              <a:rPr lang="en-US" altLang="zh-TW" dirty="0"/>
              <a:t>, </a:t>
            </a:r>
            <a:r>
              <a:rPr lang="en-US" altLang="zh-TW" u="sng" dirty="0"/>
              <a:t>Response Time </a:t>
            </a:r>
            <a:r>
              <a:rPr lang="en-US" altLang="zh-TW" dirty="0"/>
              <a:t>(Interactive), </a:t>
            </a:r>
            <a:r>
              <a:rPr lang="en-US" altLang="zh-TW" u="sng" dirty="0"/>
              <a:t>Throughput</a:t>
            </a:r>
          </a:p>
          <a:p>
            <a:r>
              <a:rPr kumimoji="1" lang="en-US" altLang="zh-TW" dirty="0"/>
              <a:t>Cooperative:</a:t>
            </a:r>
            <a:r>
              <a:rPr kumimoji="1" lang="zh-TW" altLang="en-US" dirty="0"/>
              <a:t> </a:t>
            </a:r>
            <a:r>
              <a:rPr kumimoji="1" lang="en-US" altLang="zh-TW" dirty="0"/>
              <a:t>Processes</a:t>
            </a:r>
            <a:r>
              <a:rPr kumimoji="1" lang="zh-TW" altLang="en-US" dirty="0"/>
              <a:t> </a:t>
            </a:r>
            <a:r>
              <a:rPr kumimoji="1" lang="en-US" altLang="zh-TW" dirty="0">
                <a:solidFill>
                  <a:srgbClr val="C00000"/>
                </a:solidFill>
              </a:rPr>
              <a:t>voluntarily</a:t>
            </a:r>
            <a:r>
              <a:rPr kumimoji="1" lang="zh-TW" altLang="en-US" dirty="0"/>
              <a:t> </a:t>
            </a:r>
            <a:r>
              <a:rPr kumimoji="1" lang="en-US" altLang="zh-TW" dirty="0"/>
              <a:t>yield</a:t>
            </a:r>
            <a:r>
              <a:rPr kumimoji="1" lang="zh-TW" altLang="en-US" dirty="0"/>
              <a:t> </a:t>
            </a:r>
            <a:r>
              <a:rPr kumimoji="1" lang="en-US" altLang="zh-TW" dirty="0"/>
              <a:t>CPU</a:t>
            </a:r>
            <a:r>
              <a:rPr lang="en-US" altLang="zh-TW" dirty="0"/>
              <a:t>.</a:t>
            </a:r>
            <a:endParaRPr kumimoji="1" lang="en-US" altLang="zh-TW" dirty="0"/>
          </a:p>
          <a:p>
            <a:r>
              <a:rPr kumimoji="1" lang="en-US" altLang="zh-TW" dirty="0"/>
              <a:t>Preemptive:</a:t>
            </a:r>
            <a:r>
              <a:rPr kumimoji="1" lang="zh-TW" altLang="en-US" dirty="0"/>
              <a:t> </a:t>
            </a:r>
            <a:r>
              <a:rPr kumimoji="1" lang="en-US" altLang="zh-TW" dirty="0">
                <a:solidFill>
                  <a:srgbClr val="C00000"/>
                </a:solidFill>
              </a:rPr>
              <a:t>Involuntarily</a:t>
            </a:r>
            <a:r>
              <a:rPr kumimoji="1" lang="zh-TW" altLang="en-US" dirty="0"/>
              <a:t> </a:t>
            </a:r>
            <a:r>
              <a:rPr kumimoji="1" lang="en-US" altLang="zh-TW" dirty="0"/>
              <a:t>suspend</a:t>
            </a:r>
            <a:r>
              <a:rPr kumimoji="1" lang="zh-TW" altLang="en-US" dirty="0"/>
              <a:t> </a:t>
            </a:r>
            <a:r>
              <a:rPr kumimoji="1" lang="en-US" altLang="zh-TW" dirty="0"/>
              <a:t>(context</a:t>
            </a:r>
            <a:r>
              <a:rPr kumimoji="1" lang="zh-TW" altLang="en-US" dirty="0"/>
              <a:t> </a:t>
            </a:r>
            <a:r>
              <a:rPr kumimoji="1" lang="en-US" altLang="zh-TW" dirty="0"/>
              <a:t>switch)</a:t>
            </a:r>
            <a:r>
              <a:rPr kumimoji="1" lang="zh-TW" altLang="en-US" dirty="0"/>
              <a:t> </a:t>
            </a:r>
            <a:r>
              <a:rPr kumimoji="1" lang="en-US" altLang="zh-TW" dirty="0"/>
              <a:t>a</a:t>
            </a:r>
            <a:r>
              <a:rPr kumimoji="1" lang="zh-TW" altLang="en-US" dirty="0"/>
              <a:t> </a:t>
            </a:r>
            <a:r>
              <a:rPr kumimoji="1" lang="en-US" altLang="zh-TW" dirty="0"/>
              <a:t>running</a:t>
            </a:r>
            <a:r>
              <a:rPr kumimoji="1" lang="zh-TW" altLang="en-US" dirty="0"/>
              <a:t> </a:t>
            </a:r>
            <a:r>
              <a:rPr kumimoji="1" lang="en-US" altLang="zh-TW" dirty="0"/>
              <a:t>process.</a:t>
            </a:r>
            <a:r>
              <a:rPr kumimoji="1" lang="zh-TW" altLang="en-US" dirty="0"/>
              <a:t> </a:t>
            </a:r>
            <a:r>
              <a:rPr kumimoji="1" lang="en-US" altLang="zh-TW" dirty="0"/>
              <a:t>(Linux)</a:t>
            </a:r>
          </a:p>
          <a:p>
            <a:r>
              <a:rPr kumimoji="1" lang="en-US" altLang="zh-TW" dirty="0" err="1"/>
              <a:t>Timeslice</a:t>
            </a:r>
            <a:r>
              <a:rPr kumimoji="1" lang="en-US" altLang="zh-TW" dirty="0"/>
              <a:t>:</a:t>
            </a:r>
            <a:r>
              <a:rPr kumimoji="1" lang="zh-TW" altLang="en-US" dirty="0"/>
              <a:t> </a:t>
            </a:r>
            <a:r>
              <a:rPr kumimoji="1" lang="en-US" altLang="zh-TW" dirty="0"/>
              <a:t>The</a:t>
            </a:r>
            <a:r>
              <a:rPr kumimoji="1" lang="zh-TW" altLang="en-US" dirty="0"/>
              <a:t> </a:t>
            </a:r>
            <a:r>
              <a:rPr kumimoji="1" lang="en-US" altLang="zh-TW" dirty="0"/>
              <a:t>time</a:t>
            </a:r>
            <a:r>
              <a:rPr kumimoji="1" lang="zh-TW" altLang="en-US" dirty="0"/>
              <a:t> </a:t>
            </a:r>
            <a:r>
              <a:rPr kumimoji="1" lang="en-US" altLang="zh-TW" dirty="0"/>
              <a:t>a</a:t>
            </a:r>
            <a:r>
              <a:rPr kumimoji="1" lang="zh-TW" altLang="en-US" dirty="0"/>
              <a:t> </a:t>
            </a:r>
            <a:r>
              <a:rPr kumimoji="1" lang="en-US" altLang="zh-TW" dirty="0"/>
              <a:t>process</a:t>
            </a:r>
            <a:r>
              <a:rPr kumimoji="1" lang="zh-TW" altLang="en-US" dirty="0"/>
              <a:t> </a:t>
            </a:r>
            <a:r>
              <a:rPr kumimoji="1" lang="en-US" altLang="zh-TW" dirty="0"/>
              <a:t>runs</a:t>
            </a:r>
            <a:r>
              <a:rPr kumimoji="1" lang="zh-TW" altLang="en-US" dirty="0"/>
              <a:t> </a:t>
            </a:r>
            <a:r>
              <a:rPr kumimoji="1" lang="en-US" altLang="zh-TW" dirty="0"/>
              <a:t>before</a:t>
            </a:r>
            <a:r>
              <a:rPr kumimoji="1" lang="zh-TW" altLang="en-US" dirty="0"/>
              <a:t> </a:t>
            </a:r>
            <a:r>
              <a:rPr kumimoji="1" lang="en-US" altLang="zh-TW" dirty="0"/>
              <a:t>it</a:t>
            </a:r>
            <a:r>
              <a:rPr kumimoji="1" lang="zh-TW" altLang="en-US" dirty="0"/>
              <a:t> </a:t>
            </a:r>
            <a:r>
              <a:rPr kumimoji="1" lang="en-US" altLang="zh-TW" dirty="0"/>
              <a:t>is</a:t>
            </a:r>
            <a:r>
              <a:rPr kumimoji="1" lang="zh-TW" altLang="en-US" dirty="0"/>
              <a:t> </a:t>
            </a:r>
            <a:r>
              <a:rPr kumimoji="1" lang="en-US" altLang="zh-TW" dirty="0"/>
              <a:t>preempted.</a:t>
            </a:r>
          </a:p>
          <a:p>
            <a:pPr lvl="1"/>
            <a:r>
              <a:rPr lang="en-US" altLang="zh-TW" dirty="0"/>
              <a:t>Prevent</a:t>
            </a:r>
            <a:r>
              <a:rPr lang="zh-TW" altLang="en-US" dirty="0"/>
              <a:t> </a:t>
            </a:r>
            <a:r>
              <a:rPr lang="en-US" altLang="zh-TW" dirty="0"/>
              <a:t>some</a:t>
            </a:r>
            <a:r>
              <a:rPr lang="zh-TW" altLang="en-US" dirty="0"/>
              <a:t> </a:t>
            </a:r>
            <a:r>
              <a:rPr lang="en-US" altLang="zh-TW" dirty="0"/>
              <a:t>processes</a:t>
            </a:r>
            <a:r>
              <a:rPr lang="zh-TW" altLang="en-US" dirty="0"/>
              <a:t> </a:t>
            </a:r>
            <a:r>
              <a:rPr lang="en-US" altLang="zh-TW" dirty="0"/>
              <a:t>monopolizing</a:t>
            </a:r>
            <a:r>
              <a:rPr lang="zh-TW" altLang="en-US" dirty="0"/>
              <a:t> </a:t>
            </a:r>
            <a:r>
              <a:rPr lang="en-US" altLang="zh-TW" dirty="0"/>
              <a:t>processors.</a:t>
            </a:r>
          </a:p>
          <a:p>
            <a:r>
              <a:rPr kumimoji="1" lang="en-US" altLang="zh-TW" dirty="0"/>
              <a:t>How</a:t>
            </a:r>
            <a:r>
              <a:rPr kumimoji="1" lang="zh-TW" altLang="en-US" dirty="0"/>
              <a:t> </a:t>
            </a:r>
            <a:r>
              <a:rPr kumimoji="1" lang="en-US" altLang="zh-TW" dirty="0"/>
              <a:t>to</a:t>
            </a:r>
            <a:r>
              <a:rPr kumimoji="1" lang="zh-TW" altLang="en-US" dirty="0"/>
              <a:t> </a:t>
            </a:r>
            <a:r>
              <a:rPr lang="en-US" altLang="zh-TW" dirty="0"/>
              <a:t>decide</a:t>
            </a:r>
            <a:r>
              <a:rPr lang="zh-TW" altLang="en-US" dirty="0"/>
              <a:t> </a:t>
            </a:r>
            <a:r>
              <a:rPr lang="en-US" altLang="zh-TW" dirty="0"/>
              <a:t>the</a:t>
            </a:r>
            <a:r>
              <a:rPr lang="zh-TW" altLang="en-US" dirty="0"/>
              <a:t> </a:t>
            </a:r>
            <a:r>
              <a:rPr lang="en-US" altLang="zh-TW" dirty="0" err="1"/>
              <a:t>timeslice</a:t>
            </a:r>
            <a:r>
              <a:rPr lang="zh-TW" altLang="en-US" dirty="0"/>
              <a:t> </a:t>
            </a:r>
            <a:r>
              <a:rPr lang="en-US" altLang="zh-TW" dirty="0"/>
              <a:t>?</a:t>
            </a:r>
            <a:r>
              <a:rPr lang="zh-TW" altLang="en-US" dirty="0"/>
              <a:t> </a:t>
            </a:r>
            <a:r>
              <a:rPr lang="en-US" altLang="zh-TW" dirty="0"/>
              <a:t>Which</a:t>
            </a:r>
            <a:r>
              <a:rPr lang="zh-TW" altLang="en-US" dirty="0"/>
              <a:t> </a:t>
            </a:r>
            <a:r>
              <a:rPr lang="en-US" altLang="zh-TW" dirty="0"/>
              <a:t>process</a:t>
            </a:r>
            <a:r>
              <a:rPr lang="zh-TW" altLang="en-US" dirty="0"/>
              <a:t> </a:t>
            </a:r>
            <a:r>
              <a:rPr lang="en-US" altLang="zh-TW" dirty="0"/>
              <a:t>shall</a:t>
            </a:r>
            <a:r>
              <a:rPr lang="zh-TW" altLang="en-US" dirty="0"/>
              <a:t> </a:t>
            </a:r>
            <a:r>
              <a:rPr lang="en-US" altLang="zh-TW" dirty="0"/>
              <a:t>be</a:t>
            </a:r>
            <a:r>
              <a:rPr lang="zh-TW" altLang="en-US" dirty="0"/>
              <a:t> </a:t>
            </a:r>
            <a:r>
              <a:rPr lang="en-US" altLang="zh-TW" dirty="0"/>
              <a:t>run</a:t>
            </a:r>
            <a:r>
              <a:rPr lang="zh-TW" altLang="en-US" dirty="0"/>
              <a:t> </a:t>
            </a:r>
            <a:r>
              <a:rPr lang="en-US" altLang="zh-TW" dirty="0"/>
              <a:t>next?</a:t>
            </a:r>
            <a:endParaRPr kumimoji="1" lang="zh-TW" altLang="en-US"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14</a:t>
            </a:fld>
            <a:endParaRPr lang="zh-TW" altLang="en-US" dirty="0"/>
          </a:p>
        </p:txBody>
      </p:sp>
      <p:grpSp>
        <p:nvGrpSpPr>
          <p:cNvPr id="27" name="群組 26">
            <a:extLst>
              <a:ext uri="{FF2B5EF4-FFF2-40B4-BE49-F238E27FC236}">
                <a16:creationId xmlns:a16="http://schemas.microsoft.com/office/drawing/2014/main" id="{9E2EE508-F9E8-047A-EDC6-DC249CC57605}"/>
              </a:ext>
            </a:extLst>
          </p:cNvPr>
          <p:cNvGrpSpPr/>
          <p:nvPr/>
        </p:nvGrpSpPr>
        <p:grpSpPr>
          <a:xfrm>
            <a:off x="3829884" y="4699692"/>
            <a:ext cx="3999667" cy="569341"/>
            <a:chOff x="4269888" y="4536741"/>
            <a:chExt cx="3999667" cy="569341"/>
          </a:xfrm>
        </p:grpSpPr>
        <p:sp>
          <p:nvSpPr>
            <p:cNvPr id="19" name="文字方塊 18">
              <a:extLst>
                <a:ext uri="{FF2B5EF4-FFF2-40B4-BE49-F238E27FC236}">
                  <a16:creationId xmlns:a16="http://schemas.microsoft.com/office/drawing/2014/main" id="{B7405B9E-7845-72A1-3553-9BE711F391A2}"/>
                </a:ext>
              </a:extLst>
            </p:cNvPr>
            <p:cNvSpPr txBox="1"/>
            <p:nvPr/>
          </p:nvSpPr>
          <p:spPr>
            <a:xfrm>
              <a:off x="4269888" y="4536741"/>
              <a:ext cx="1669047" cy="369332"/>
            </a:xfrm>
            <a:prstGeom prst="rect">
              <a:avLst/>
            </a:prstGeom>
            <a:noFill/>
          </p:spPr>
          <p:txBody>
            <a:bodyPr wrap="none" rtlCol="0">
              <a:spAutoFit/>
            </a:bodyPr>
            <a:lstStyle/>
            <a:p>
              <a:r>
                <a:rPr kumimoji="1" lang="en-US" altLang="zh-TW" dirty="0">
                  <a:solidFill>
                    <a:srgbClr val="C00000"/>
                  </a:solidFill>
                </a:rPr>
                <a:t>Schedule</a:t>
              </a:r>
              <a:r>
                <a:rPr kumimoji="1" lang="zh-TW" altLang="en-US" dirty="0">
                  <a:solidFill>
                    <a:srgbClr val="C00000"/>
                  </a:solidFill>
                </a:rPr>
                <a:t> </a:t>
              </a:r>
              <a:r>
                <a:rPr kumimoji="1" lang="en-US" altLang="zh-TW" dirty="0">
                  <a:solidFill>
                    <a:srgbClr val="C00000"/>
                  </a:solidFill>
                </a:rPr>
                <a:t>&amp;</a:t>
              </a:r>
              <a:r>
                <a:rPr kumimoji="1" lang="zh-TW" altLang="en-US" dirty="0">
                  <a:solidFill>
                    <a:srgbClr val="C00000"/>
                  </a:solidFill>
                </a:rPr>
                <a:t> </a:t>
              </a:r>
              <a:r>
                <a:rPr kumimoji="1" lang="en-US" altLang="zh-TW" dirty="0">
                  <a:solidFill>
                    <a:srgbClr val="C00000"/>
                  </a:solidFill>
                </a:rPr>
                <a:t>Run</a:t>
              </a:r>
              <a:endParaRPr kumimoji="1" lang="zh-TW" altLang="en-US" dirty="0">
                <a:solidFill>
                  <a:srgbClr val="C00000"/>
                </a:solidFill>
              </a:endParaRPr>
            </a:p>
          </p:txBody>
        </p:sp>
        <p:sp>
          <p:nvSpPr>
            <p:cNvPr id="20" name="文字方塊 19">
              <a:extLst>
                <a:ext uri="{FF2B5EF4-FFF2-40B4-BE49-F238E27FC236}">
                  <a16:creationId xmlns:a16="http://schemas.microsoft.com/office/drawing/2014/main" id="{FF2C9350-EF71-2C11-D2E4-1BF0B73D83A8}"/>
                </a:ext>
              </a:extLst>
            </p:cNvPr>
            <p:cNvSpPr txBox="1"/>
            <p:nvPr/>
          </p:nvSpPr>
          <p:spPr>
            <a:xfrm>
              <a:off x="5959307" y="4536741"/>
              <a:ext cx="2310248" cy="369332"/>
            </a:xfrm>
            <a:prstGeom prst="rect">
              <a:avLst/>
            </a:prstGeom>
            <a:noFill/>
          </p:spPr>
          <p:txBody>
            <a:bodyPr wrap="none" rtlCol="0">
              <a:spAutoFit/>
            </a:bodyPr>
            <a:lstStyle/>
            <a:p>
              <a:r>
                <a:rPr kumimoji="1" lang="en-US" altLang="zh-TW" dirty="0">
                  <a:solidFill>
                    <a:srgbClr val="C00000"/>
                  </a:solidFill>
                </a:rPr>
                <a:t>Preempt</a:t>
              </a:r>
              <a:r>
                <a:rPr kumimoji="1" lang="zh-TW" altLang="en-US" dirty="0">
                  <a:solidFill>
                    <a:srgbClr val="C00000"/>
                  </a:solidFill>
                </a:rPr>
                <a:t> </a:t>
              </a:r>
              <a:r>
                <a:rPr kumimoji="1" lang="en-US" altLang="zh-TW" dirty="0">
                  <a:solidFill>
                    <a:srgbClr val="C00000"/>
                  </a:solidFill>
                </a:rPr>
                <a:t>&amp;</a:t>
              </a:r>
              <a:r>
                <a:rPr kumimoji="1" lang="zh-TW" altLang="en-US" dirty="0">
                  <a:solidFill>
                    <a:srgbClr val="C00000"/>
                  </a:solidFill>
                </a:rPr>
                <a:t> </a:t>
              </a:r>
              <a:r>
                <a:rPr kumimoji="1" lang="en-US" altLang="zh-TW" dirty="0">
                  <a:solidFill>
                    <a:srgbClr val="C00000"/>
                  </a:solidFill>
                </a:rPr>
                <a:t>Run</a:t>
              </a:r>
              <a:r>
                <a:rPr kumimoji="1" lang="zh-TW" altLang="en-US" dirty="0">
                  <a:solidFill>
                    <a:srgbClr val="C00000"/>
                  </a:solidFill>
                </a:rPr>
                <a:t> </a:t>
              </a:r>
              <a:r>
                <a:rPr kumimoji="1" lang="en-US" altLang="zh-TW" dirty="0">
                  <a:solidFill>
                    <a:srgbClr val="C00000"/>
                  </a:solidFill>
                </a:rPr>
                <a:t>Others</a:t>
              </a:r>
              <a:endParaRPr kumimoji="1" lang="zh-TW" altLang="en-US" dirty="0">
                <a:solidFill>
                  <a:srgbClr val="C00000"/>
                </a:solidFill>
              </a:endParaRPr>
            </a:p>
          </p:txBody>
        </p:sp>
        <p:sp>
          <p:nvSpPr>
            <p:cNvPr id="22" name="三角形 21">
              <a:extLst>
                <a:ext uri="{FF2B5EF4-FFF2-40B4-BE49-F238E27FC236}">
                  <a16:creationId xmlns:a16="http://schemas.microsoft.com/office/drawing/2014/main" id="{719C2227-0234-D96C-2DAF-53140A37AAB9}"/>
                </a:ext>
              </a:extLst>
            </p:cNvPr>
            <p:cNvSpPr/>
            <p:nvPr/>
          </p:nvSpPr>
          <p:spPr>
            <a:xfrm rot="10800000">
              <a:off x="4864705" y="4881173"/>
              <a:ext cx="377987" cy="22490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rgbClr val="C00000"/>
                </a:solidFill>
              </a:endParaRPr>
            </a:p>
          </p:txBody>
        </p:sp>
        <p:sp>
          <p:nvSpPr>
            <p:cNvPr id="23" name="三角形 22">
              <a:extLst>
                <a:ext uri="{FF2B5EF4-FFF2-40B4-BE49-F238E27FC236}">
                  <a16:creationId xmlns:a16="http://schemas.microsoft.com/office/drawing/2014/main" id="{2FDAB677-B965-B450-0CA3-52E97B7B9BE3}"/>
                </a:ext>
              </a:extLst>
            </p:cNvPr>
            <p:cNvSpPr/>
            <p:nvPr/>
          </p:nvSpPr>
          <p:spPr>
            <a:xfrm rot="10800000">
              <a:off x="6758727" y="4881174"/>
              <a:ext cx="377987" cy="22490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rgbClr val="C00000"/>
                </a:solidFill>
              </a:endParaRPr>
            </a:p>
          </p:txBody>
        </p:sp>
      </p:grpSp>
      <p:grpSp>
        <p:nvGrpSpPr>
          <p:cNvPr id="28" name="群組 27">
            <a:extLst>
              <a:ext uri="{FF2B5EF4-FFF2-40B4-BE49-F238E27FC236}">
                <a16:creationId xmlns:a16="http://schemas.microsoft.com/office/drawing/2014/main" id="{23E4FAE8-9D6B-625D-3E83-9C8CD2DBA13B}"/>
              </a:ext>
            </a:extLst>
          </p:cNvPr>
          <p:cNvGrpSpPr/>
          <p:nvPr/>
        </p:nvGrpSpPr>
        <p:grpSpPr>
          <a:xfrm>
            <a:off x="4613694" y="5314287"/>
            <a:ext cx="1894018" cy="469628"/>
            <a:chOff x="5053698" y="5151336"/>
            <a:chExt cx="1894018" cy="469628"/>
          </a:xfrm>
        </p:grpSpPr>
        <p:sp>
          <p:nvSpPr>
            <p:cNvPr id="17" name="文字方塊 16">
              <a:extLst>
                <a:ext uri="{FF2B5EF4-FFF2-40B4-BE49-F238E27FC236}">
                  <a16:creationId xmlns:a16="http://schemas.microsoft.com/office/drawing/2014/main" id="{1DF9B017-2883-F410-F712-73646B109CAC}"/>
                </a:ext>
              </a:extLst>
            </p:cNvPr>
            <p:cNvSpPr txBox="1"/>
            <p:nvPr/>
          </p:nvSpPr>
          <p:spPr>
            <a:xfrm>
              <a:off x="5412300" y="5251632"/>
              <a:ext cx="1058303" cy="369332"/>
            </a:xfrm>
            <a:prstGeom prst="rect">
              <a:avLst/>
            </a:prstGeom>
            <a:noFill/>
          </p:spPr>
          <p:txBody>
            <a:bodyPr wrap="none" rtlCol="0">
              <a:spAutoFit/>
            </a:bodyPr>
            <a:lstStyle/>
            <a:p>
              <a:r>
                <a:rPr kumimoji="1" lang="en-US" altLang="zh-TW" dirty="0" err="1"/>
                <a:t>Timeslice</a:t>
              </a:r>
              <a:endParaRPr kumimoji="1" lang="zh-TW" altLang="en-US" dirty="0"/>
            </a:p>
          </p:txBody>
        </p:sp>
        <p:sp>
          <p:nvSpPr>
            <p:cNvPr id="24" name="左大括弧 23">
              <a:extLst>
                <a:ext uri="{FF2B5EF4-FFF2-40B4-BE49-F238E27FC236}">
                  <a16:creationId xmlns:a16="http://schemas.microsoft.com/office/drawing/2014/main" id="{53E51979-09C5-F46E-020A-60E78FF5281D}"/>
                </a:ext>
              </a:extLst>
            </p:cNvPr>
            <p:cNvSpPr/>
            <p:nvPr/>
          </p:nvSpPr>
          <p:spPr>
            <a:xfrm rot="16200000">
              <a:off x="5922983" y="4282051"/>
              <a:ext cx="155448" cy="1894018"/>
            </a:xfrm>
            <a:prstGeom prst="leftBrac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dirty="0"/>
            </a:p>
          </p:txBody>
        </p:sp>
      </p:grpSp>
    </p:spTree>
    <p:extLst>
      <p:ext uri="{BB962C8B-B14F-4D97-AF65-F5344CB8AC3E}">
        <p14:creationId xmlns:p14="http://schemas.microsoft.com/office/powerpoint/2010/main" val="1153976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500"/>
                                        <p:tgtEl>
                                          <p:spTgt spid="28"/>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500"/>
                                        <p:tgtEl>
                                          <p:spTgt spid="3">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fade">
                                      <p:cBhvr>
                                        <p:cTn id="4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字方塊 6">
            <a:extLst>
              <a:ext uri="{FF2B5EF4-FFF2-40B4-BE49-F238E27FC236}">
                <a16:creationId xmlns:a16="http://schemas.microsoft.com/office/drawing/2014/main" id="{9E551946-6A45-04BA-5B2C-1647BC87A03C}"/>
              </a:ext>
            </a:extLst>
          </p:cNvPr>
          <p:cNvSpPr txBox="1"/>
          <p:nvPr/>
        </p:nvSpPr>
        <p:spPr>
          <a:xfrm>
            <a:off x="0" y="6598099"/>
            <a:ext cx="11234614"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blog.xuite.net</a:t>
            </a:r>
            <a:r>
              <a:rPr kumimoji="1" lang="en-US" altLang="zh-TW" sz="1200" dirty="0">
                <a:solidFill>
                  <a:schemeClr val="bg1">
                    <a:lumMod val="75000"/>
                  </a:schemeClr>
                </a:solidFill>
              </a:rPr>
              <a:t>/</a:t>
            </a:r>
            <a:r>
              <a:rPr kumimoji="1" lang="en-US" altLang="zh-TW" sz="1200" dirty="0" err="1">
                <a:solidFill>
                  <a:schemeClr val="bg1">
                    <a:lumMod val="75000"/>
                  </a:schemeClr>
                </a:solidFill>
              </a:rPr>
              <a:t>csiewap</a:t>
            </a:r>
            <a:r>
              <a:rPr kumimoji="1" lang="en-US" altLang="zh-TW" sz="1200" dirty="0">
                <a:solidFill>
                  <a:schemeClr val="bg1">
                    <a:lumMod val="75000"/>
                  </a:schemeClr>
                </a:solidFill>
              </a:rPr>
              <a:t>/cc/15735104-Linux+2.4%2F2.6+%E6%A0%B8%E5%BF%83%E6%8E%92%E7%A8%8B%E6%A9%9F%E5%88%B6%E5%89%96%E6%9E%90, 2007</a:t>
            </a:r>
            <a:endParaRPr kumimoji="1" lang="zh-TW" altLang="en-US" sz="1200" dirty="0">
              <a:solidFill>
                <a:schemeClr val="bg1">
                  <a:lumMod val="75000"/>
                </a:schemeClr>
              </a:solidFill>
            </a:endParaRPr>
          </a:p>
        </p:txBody>
      </p:sp>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Considerations</a:t>
            </a:r>
            <a:r>
              <a:rPr kumimoji="1" lang="zh-TW" altLang="en-US" dirty="0"/>
              <a:t> </a:t>
            </a:r>
            <a:r>
              <a:rPr kumimoji="1" lang="en-US" altLang="zh-TW" dirty="0"/>
              <a:t>for</a:t>
            </a:r>
            <a:r>
              <a:rPr kumimoji="1" lang="zh-TW" altLang="en-US" dirty="0"/>
              <a:t> </a:t>
            </a:r>
            <a:r>
              <a:rPr kumimoji="1" lang="en-US" altLang="zh-TW" dirty="0"/>
              <a:t>Desi</a:t>
            </a:r>
            <a:r>
              <a:rPr lang="en-US" altLang="zh-TW" dirty="0"/>
              <a:t>gning</a:t>
            </a:r>
            <a:r>
              <a:rPr lang="zh-TW" altLang="en-US" dirty="0"/>
              <a:t> </a:t>
            </a:r>
            <a:r>
              <a:rPr lang="en-US" altLang="zh-TW" dirty="0"/>
              <a:t>Policies</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1238250"/>
            <a:ext cx="7182501" cy="5441950"/>
          </a:xfrm>
        </p:spPr>
        <p:txBody>
          <a:bodyPr/>
          <a:lstStyle/>
          <a:p>
            <a:pPr algn="l"/>
            <a:r>
              <a:rPr kumimoji="1" lang="en-US" altLang="zh-TW" dirty="0"/>
              <a:t>Process Priority:</a:t>
            </a:r>
          </a:p>
          <a:p>
            <a:pPr lvl="1" algn="l"/>
            <a:r>
              <a:rPr kumimoji="1" lang="en-US" altLang="zh-TW" dirty="0">
                <a:latin typeface="+mj-lt"/>
              </a:rPr>
              <a:t>nice</a:t>
            </a:r>
            <a:r>
              <a:rPr kumimoji="1" lang="zh-TW" altLang="en-US" dirty="0"/>
              <a:t> </a:t>
            </a:r>
            <a:r>
              <a:rPr kumimoji="1" lang="en-US" altLang="zh-TW" dirty="0"/>
              <a:t>value: </a:t>
            </a:r>
            <a:r>
              <a:rPr lang="zh-TW" altLang="en-US" dirty="0"/>
              <a:t> </a:t>
            </a:r>
            <a:r>
              <a:rPr lang="en-US" altLang="zh-TW" dirty="0">
                <a:solidFill>
                  <a:srgbClr val="C00000"/>
                </a:solidFill>
              </a:rPr>
              <a:t>larger</a:t>
            </a:r>
            <a:r>
              <a:rPr lang="zh-TW" altLang="en-US" dirty="0">
                <a:solidFill>
                  <a:srgbClr val="C00000"/>
                </a:solidFill>
              </a:rPr>
              <a:t> </a:t>
            </a:r>
            <a:r>
              <a:rPr lang="en-US" altLang="zh-TW" dirty="0">
                <a:solidFill>
                  <a:srgbClr val="C00000"/>
                </a:solidFill>
              </a:rPr>
              <a:t>value</a:t>
            </a:r>
            <a:r>
              <a:rPr lang="zh-TW" altLang="en-US" dirty="0">
                <a:solidFill>
                  <a:srgbClr val="C00000"/>
                </a:solidFill>
              </a:rPr>
              <a:t> </a:t>
            </a:r>
            <a:r>
              <a:rPr lang="en-US" altLang="zh-TW" dirty="0"/>
              <a:t>represents</a:t>
            </a:r>
            <a:r>
              <a:rPr lang="zh-TW" altLang="en-US" dirty="0"/>
              <a:t> </a:t>
            </a:r>
            <a:r>
              <a:rPr lang="en-US" altLang="zh-TW" dirty="0"/>
              <a:t>being</a:t>
            </a:r>
            <a:r>
              <a:rPr lang="zh-TW" altLang="en-US" dirty="0"/>
              <a:t> </a:t>
            </a:r>
            <a:r>
              <a:rPr lang="en-US" altLang="zh-TW" dirty="0">
                <a:solidFill>
                  <a:srgbClr val="C00000"/>
                </a:solidFill>
              </a:rPr>
              <a:t>nicer</a:t>
            </a:r>
            <a:r>
              <a:rPr lang="zh-TW" altLang="en-US" dirty="0">
                <a:solidFill>
                  <a:srgbClr val="C00000"/>
                </a:solidFill>
              </a:rPr>
              <a:t> </a:t>
            </a:r>
            <a:r>
              <a:rPr lang="en-US" altLang="zh-TW" dirty="0">
                <a:solidFill>
                  <a:srgbClr val="C00000"/>
                </a:solidFill>
              </a:rPr>
              <a:t>to</a:t>
            </a:r>
            <a:r>
              <a:rPr lang="zh-TW" altLang="en-US" dirty="0">
                <a:solidFill>
                  <a:srgbClr val="C00000"/>
                </a:solidFill>
              </a:rPr>
              <a:t> </a:t>
            </a:r>
            <a:r>
              <a:rPr lang="en-US" altLang="zh-TW" dirty="0">
                <a:solidFill>
                  <a:srgbClr val="C00000"/>
                </a:solidFill>
              </a:rPr>
              <a:t>others</a:t>
            </a:r>
            <a:r>
              <a:rPr lang="en-US" altLang="zh-TW" dirty="0"/>
              <a:t>,</a:t>
            </a:r>
            <a:r>
              <a:rPr lang="zh-TW" altLang="en-US" dirty="0"/>
              <a:t> </a:t>
            </a:r>
            <a:r>
              <a:rPr lang="en-US" altLang="zh-TW" dirty="0"/>
              <a:t>so</a:t>
            </a:r>
            <a:r>
              <a:rPr lang="zh-TW" altLang="en-US" dirty="0"/>
              <a:t> </a:t>
            </a:r>
            <a:r>
              <a:rPr lang="en-US" altLang="zh-TW" dirty="0"/>
              <a:t>lower</a:t>
            </a:r>
            <a:r>
              <a:rPr lang="zh-TW" altLang="en-US" dirty="0"/>
              <a:t> </a:t>
            </a:r>
            <a:r>
              <a:rPr lang="en-US" altLang="zh-TW" dirty="0"/>
              <a:t>priority (normal processes).</a:t>
            </a:r>
          </a:p>
          <a:p>
            <a:pPr lvl="1" algn="l"/>
            <a:r>
              <a:rPr lang="en-US" altLang="zh-TW" dirty="0">
                <a:latin typeface="+mj-lt"/>
              </a:rPr>
              <a:t>real-time</a:t>
            </a:r>
            <a:r>
              <a:rPr lang="zh-TW" altLang="en-US" dirty="0"/>
              <a:t> </a:t>
            </a:r>
            <a:r>
              <a:rPr lang="en-US" altLang="zh-TW" dirty="0"/>
              <a:t>value: all real-time processes have </a:t>
            </a:r>
            <a:r>
              <a:rPr lang="en-US" altLang="zh-TW" dirty="0">
                <a:solidFill>
                  <a:srgbClr val="C00000"/>
                </a:solidFill>
              </a:rPr>
              <a:t>higher priority than normal processes</a:t>
            </a:r>
            <a:r>
              <a:rPr lang="en-US" altLang="zh-TW" dirty="0"/>
              <a:t>. </a:t>
            </a:r>
            <a:endParaRPr kumimoji="1" lang="en-US" altLang="zh-TW" dirty="0"/>
          </a:p>
          <a:p>
            <a:pPr algn="l"/>
            <a:r>
              <a:rPr lang="en-US" altLang="zh-TW" dirty="0" err="1"/>
              <a:t>Timeslice</a:t>
            </a:r>
            <a:r>
              <a:rPr lang="zh-TW" altLang="en-US" dirty="0"/>
              <a:t> </a:t>
            </a:r>
            <a:r>
              <a:rPr lang="en-US" altLang="zh-TW" dirty="0"/>
              <a:t>(static</a:t>
            </a:r>
            <a:r>
              <a:rPr lang="zh-TW" altLang="en-US" dirty="0"/>
              <a:t> </a:t>
            </a:r>
            <a:r>
              <a:rPr lang="en-US" altLang="zh-TW" dirty="0"/>
              <a:t>mapping): </a:t>
            </a:r>
          </a:p>
          <a:p>
            <a:pPr lvl="1" algn="l"/>
            <a:r>
              <a:rPr lang="en-US" altLang="zh-TW" dirty="0"/>
              <a:t>Longer </a:t>
            </a:r>
            <a:r>
              <a:rPr lang="en-US" altLang="zh-TW" dirty="0" err="1"/>
              <a:t>timeslice</a:t>
            </a:r>
            <a:r>
              <a:rPr lang="en-US" altLang="zh-TW" dirty="0"/>
              <a:t> </a:t>
            </a:r>
            <a:r>
              <a:rPr lang="en-US" altLang="zh-TW" dirty="0">
                <a:sym typeface="Wingdings" pitchFamily="2" charset="2"/>
              </a:rPr>
              <a:t> Better</a:t>
            </a:r>
            <a:r>
              <a:rPr lang="zh-TW" altLang="en-US" dirty="0">
                <a:sym typeface="Wingdings" pitchFamily="2" charset="2"/>
              </a:rPr>
              <a:t> </a:t>
            </a:r>
            <a:r>
              <a:rPr lang="en-US" altLang="zh-TW" dirty="0">
                <a:sym typeface="Wingdings" pitchFamily="2" charset="2"/>
              </a:rPr>
              <a:t>Resource</a:t>
            </a:r>
            <a:r>
              <a:rPr lang="zh-TW" altLang="en-US" dirty="0">
                <a:sym typeface="Wingdings" pitchFamily="2" charset="2"/>
              </a:rPr>
              <a:t> </a:t>
            </a:r>
            <a:r>
              <a:rPr lang="en-US" altLang="zh-TW" dirty="0">
                <a:sym typeface="Wingdings" pitchFamily="2" charset="2"/>
              </a:rPr>
              <a:t>Utilization.</a:t>
            </a:r>
            <a:endParaRPr lang="en-US" altLang="zh-TW" dirty="0"/>
          </a:p>
          <a:p>
            <a:pPr lvl="1" algn="l"/>
            <a:r>
              <a:rPr lang="en-US" altLang="zh-TW" dirty="0"/>
              <a:t>Challenge</a:t>
            </a:r>
            <a:r>
              <a:rPr lang="zh-TW" altLang="en-US" dirty="0"/>
              <a:t> </a:t>
            </a:r>
            <a:r>
              <a:rPr lang="en-US" altLang="zh-TW" dirty="0"/>
              <a:t>1:</a:t>
            </a:r>
            <a:r>
              <a:rPr lang="zh-TW" altLang="en-US" dirty="0"/>
              <a:t> </a:t>
            </a:r>
            <a:r>
              <a:rPr lang="en-US" altLang="zh-TW" dirty="0"/>
              <a:t>Triggers</a:t>
            </a:r>
            <a:r>
              <a:rPr lang="zh-TW" altLang="en-US" dirty="0"/>
              <a:t> </a:t>
            </a:r>
            <a:r>
              <a:rPr lang="en-US" altLang="zh-TW" dirty="0"/>
              <a:t>context</a:t>
            </a:r>
            <a:r>
              <a:rPr lang="zh-TW" altLang="en-US" dirty="0"/>
              <a:t> </a:t>
            </a:r>
            <a:r>
              <a:rPr lang="en-US" altLang="zh-TW" dirty="0"/>
              <a:t>switch</a:t>
            </a:r>
            <a:r>
              <a:rPr lang="zh-TW" altLang="en-US" dirty="0"/>
              <a:t> </a:t>
            </a:r>
            <a:r>
              <a:rPr lang="en-US" altLang="zh-TW" dirty="0"/>
              <a:t>frequently</a:t>
            </a:r>
            <a:r>
              <a:rPr lang="zh-TW" altLang="en-US" dirty="0"/>
              <a:t> </a:t>
            </a:r>
            <a:r>
              <a:rPr lang="en-US" altLang="zh-TW" dirty="0"/>
              <a:t>if</a:t>
            </a:r>
            <a:r>
              <a:rPr lang="zh-TW" altLang="en-US" dirty="0"/>
              <a:t> </a:t>
            </a:r>
            <a:r>
              <a:rPr lang="en-US" altLang="zh-TW" dirty="0"/>
              <a:t>all</a:t>
            </a:r>
            <a:r>
              <a:rPr lang="zh-TW" altLang="en-US" dirty="0"/>
              <a:t> </a:t>
            </a:r>
            <a:r>
              <a:rPr lang="en-US" altLang="zh-TW" dirty="0"/>
              <a:t>processes</a:t>
            </a:r>
            <a:r>
              <a:rPr lang="zh-TW" altLang="en-US" dirty="0"/>
              <a:t> </a:t>
            </a:r>
            <a:r>
              <a:rPr lang="en-US" altLang="zh-TW" dirty="0"/>
              <a:t>are</a:t>
            </a:r>
            <a:r>
              <a:rPr lang="zh-TW" altLang="en-US" dirty="0"/>
              <a:t> </a:t>
            </a:r>
            <a:r>
              <a:rPr lang="en-US" altLang="zh-TW" dirty="0"/>
              <a:t>low priority.</a:t>
            </a:r>
          </a:p>
          <a:p>
            <a:pPr lvl="2" algn="l"/>
            <a:r>
              <a:rPr lang="en-US" altLang="zh-TW" dirty="0"/>
              <a:t>Ex:</a:t>
            </a:r>
            <a:r>
              <a:rPr lang="zh-TW" altLang="en-US" dirty="0"/>
              <a:t> </a:t>
            </a:r>
            <a:r>
              <a:rPr lang="en-US" altLang="zh-TW" dirty="0"/>
              <a:t>Switch</a:t>
            </a:r>
            <a:r>
              <a:rPr lang="zh-TW" altLang="en-US" dirty="0"/>
              <a:t> </a:t>
            </a:r>
            <a:r>
              <a:rPr lang="en-US" altLang="zh-TW" dirty="0"/>
              <a:t>every</a:t>
            </a:r>
            <a:r>
              <a:rPr lang="zh-TW" altLang="en-US" dirty="0"/>
              <a:t> </a:t>
            </a:r>
            <a:r>
              <a:rPr lang="en-US" altLang="zh-TW" dirty="0"/>
              <a:t>5ms</a:t>
            </a:r>
            <a:r>
              <a:rPr lang="zh-TW" altLang="en-US" dirty="0"/>
              <a:t> </a:t>
            </a:r>
            <a:r>
              <a:rPr lang="en-US" altLang="zh-TW" dirty="0"/>
              <a:t>if</a:t>
            </a:r>
            <a:r>
              <a:rPr lang="zh-TW" altLang="en-US" dirty="0"/>
              <a:t> </a:t>
            </a:r>
            <a:r>
              <a:rPr lang="en-US" altLang="zh-TW" dirty="0"/>
              <a:t>nice</a:t>
            </a:r>
            <a:r>
              <a:rPr lang="zh-TW" altLang="en-US" dirty="0"/>
              <a:t> </a:t>
            </a:r>
            <a:r>
              <a:rPr lang="en-US" altLang="zh-TW" dirty="0"/>
              <a:t>value</a:t>
            </a:r>
            <a:r>
              <a:rPr lang="zh-TW" altLang="en-US" dirty="0"/>
              <a:t> </a:t>
            </a:r>
            <a:r>
              <a:rPr lang="en-US" altLang="zh-TW" dirty="0"/>
              <a:t>is</a:t>
            </a:r>
            <a:r>
              <a:rPr lang="zh-TW" altLang="en-US" dirty="0"/>
              <a:t> </a:t>
            </a:r>
            <a:r>
              <a:rPr lang="en-US" altLang="zh-TW" dirty="0"/>
              <a:t>19</a:t>
            </a:r>
          </a:p>
          <a:p>
            <a:pPr lvl="1" algn="l"/>
            <a:r>
              <a:rPr lang="en-US" altLang="zh-TW" dirty="0"/>
              <a:t>Challenge</a:t>
            </a:r>
            <a:r>
              <a:rPr lang="zh-TW" altLang="en-US" dirty="0"/>
              <a:t> </a:t>
            </a:r>
            <a:r>
              <a:rPr lang="en-US" altLang="zh-TW" dirty="0"/>
              <a:t>2: </a:t>
            </a:r>
            <a:r>
              <a:rPr lang="en-US" altLang="zh-TW" dirty="0" err="1">
                <a:solidFill>
                  <a:srgbClr val="C00000"/>
                </a:solidFill>
              </a:rPr>
              <a:t>Timeslice</a:t>
            </a:r>
            <a:r>
              <a:rPr lang="en-US" altLang="zh-TW" dirty="0">
                <a:solidFill>
                  <a:srgbClr val="C00000"/>
                </a:solidFill>
              </a:rPr>
              <a:t> difference </a:t>
            </a:r>
            <a:r>
              <a:rPr lang="en-US" altLang="zh-TW" dirty="0"/>
              <a:t>is huge for processes with higher nice value (lower priority)</a:t>
            </a:r>
          </a:p>
          <a:p>
            <a:pPr lvl="2" algn="l"/>
            <a:r>
              <a:rPr lang="en-US" altLang="zh-TW" dirty="0"/>
              <a:t>Ex:</a:t>
            </a:r>
            <a:r>
              <a:rPr lang="zh-TW" altLang="en-US" dirty="0"/>
              <a:t> </a:t>
            </a:r>
            <a:r>
              <a:rPr lang="en-US" altLang="zh-TW" dirty="0"/>
              <a:t>T</a:t>
            </a:r>
            <a:r>
              <a:rPr lang="en-US" altLang="zh-TW" baseline="-25000" dirty="0"/>
              <a:t>-20</a:t>
            </a:r>
            <a:r>
              <a:rPr lang="en-US" altLang="zh-TW" dirty="0"/>
              <a:t>=T</a:t>
            </a:r>
            <a:r>
              <a:rPr lang="en-US" altLang="zh-TW" baseline="-25000" dirty="0"/>
              <a:t>-19</a:t>
            </a:r>
            <a:r>
              <a:rPr lang="en-US" altLang="zh-TW" dirty="0">
                <a:solidFill>
                  <a:srgbClr val="C00000"/>
                </a:solidFill>
              </a:rPr>
              <a:t>+20</a:t>
            </a:r>
            <a:r>
              <a:rPr lang="en-US" altLang="zh-TW" dirty="0"/>
              <a:t>,</a:t>
            </a:r>
            <a:r>
              <a:rPr lang="zh-TW" altLang="en-US" dirty="0"/>
              <a:t>  </a:t>
            </a:r>
            <a:r>
              <a:rPr lang="en-US" altLang="zh-TW" dirty="0"/>
              <a:t>T</a:t>
            </a:r>
            <a:r>
              <a:rPr lang="en-US" altLang="zh-TW" baseline="-25000" dirty="0"/>
              <a:t>19</a:t>
            </a:r>
            <a:r>
              <a:rPr lang="zh-TW" altLang="en-US" dirty="0"/>
              <a:t> </a:t>
            </a:r>
            <a:r>
              <a:rPr lang="en-US" altLang="zh-TW" dirty="0"/>
              <a:t>=</a:t>
            </a:r>
            <a:r>
              <a:rPr lang="zh-TW" altLang="en-US" dirty="0"/>
              <a:t> </a:t>
            </a:r>
            <a:r>
              <a:rPr lang="en-US" altLang="zh-TW" dirty="0"/>
              <a:t>T</a:t>
            </a:r>
            <a:r>
              <a:rPr lang="en-US" altLang="zh-TW" baseline="-25000" dirty="0"/>
              <a:t>18</a:t>
            </a:r>
            <a:r>
              <a:rPr lang="en-US" altLang="zh-TW" dirty="0"/>
              <a:t>/</a:t>
            </a:r>
            <a:r>
              <a:rPr lang="en-US" altLang="zh-TW" dirty="0">
                <a:solidFill>
                  <a:srgbClr val="C00000"/>
                </a:solidFill>
              </a:rPr>
              <a:t>2</a:t>
            </a:r>
            <a:r>
              <a:rPr lang="zh-TW" altLang="en-US" dirty="0">
                <a:solidFill>
                  <a:srgbClr val="C00000"/>
                </a:solidFill>
              </a:rPr>
              <a:t> </a:t>
            </a:r>
            <a:r>
              <a:rPr lang="en-US" altLang="zh-TW" dirty="0">
                <a:solidFill>
                  <a:srgbClr val="C00000"/>
                </a:solidFill>
              </a:rPr>
              <a:t>(Resource</a:t>
            </a:r>
            <a:r>
              <a:rPr lang="zh-TW" altLang="en-US" dirty="0">
                <a:solidFill>
                  <a:srgbClr val="C00000"/>
                </a:solidFill>
              </a:rPr>
              <a:t> </a:t>
            </a:r>
            <a:r>
              <a:rPr lang="en-US" altLang="zh-TW" dirty="0">
                <a:solidFill>
                  <a:srgbClr val="C00000"/>
                </a:solidFill>
              </a:rPr>
              <a:t>unbalance)</a:t>
            </a:r>
          </a:p>
          <a:p>
            <a:pPr lvl="1" algn="l"/>
            <a:r>
              <a:rPr lang="en-US" altLang="zh-TW" u="sng" dirty="0">
                <a:solidFill>
                  <a:schemeClr val="tx1"/>
                </a:solidFill>
              </a:rPr>
              <a:t>CFS can solve these challenges, but O(1) cannot.</a:t>
            </a:r>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15</a:t>
            </a:fld>
            <a:endParaRPr lang="zh-TW" altLang="en-US" dirty="0"/>
          </a:p>
        </p:txBody>
      </p:sp>
      <p:grpSp>
        <p:nvGrpSpPr>
          <p:cNvPr id="8" name="群組 7">
            <a:extLst>
              <a:ext uri="{FF2B5EF4-FFF2-40B4-BE49-F238E27FC236}">
                <a16:creationId xmlns:a16="http://schemas.microsoft.com/office/drawing/2014/main" id="{30F2E29B-4F89-7854-3FDF-9E8DAE45A156}"/>
              </a:ext>
            </a:extLst>
          </p:cNvPr>
          <p:cNvGrpSpPr/>
          <p:nvPr/>
        </p:nvGrpSpPr>
        <p:grpSpPr>
          <a:xfrm>
            <a:off x="7746231" y="1020600"/>
            <a:ext cx="4270148" cy="5659600"/>
            <a:chOff x="7746231" y="1020600"/>
            <a:chExt cx="4270148" cy="5659600"/>
          </a:xfrm>
        </p:grpSpPr>
        <p:pic>
          <p:nvPicPr>
            <p:cNvPr id="5" name="圖片 4">
              <a:extLst>
                <a:ext uri="{FF2B5EF4-FFF2-40B4-BE49-F238E27FC236}">
                  <a16:creationId xmlns:a16="http://schemas.microsoft.com/office/drawing/2014/main" id="{CF85FA38-04A9-3E49-72AC-792CA4B43E95}"/>
                </a:ext>
              </a:extLst>
            </p:cNvPr>
            <p:cNvPicPr>
              <a:picLocks noChangeAspect="1"/>
            </p:cNvPicPr>
            <p:nvPr/>
          </p:nvPicPr>
          <p:blipFill>
            <a:blip r:embed="rId3"/>
            <a:stretch>
              <a:fillRect/>
            </a:stretch>
          </p:blipFill>
          <p:spPr>
            <a:xfrm>
              <a:off x="7746231" y="1020600"/>
              <a:ext cx="4270148" cy="5415942"/>
            </a:xfrm>
            <a:prstGeom prst="rect">
              <a:avLst/>
            </a:prstGeom>
          </p:spPr>
        </p:pic>
        <p:sp>
          <p:nvSpPr>
            <p:cNvPr id="6" name="文字方塊 5">
              <a:extLst>
                <a:ext uri="{FF2B5EF4-FFF2-40B4-BE49-F238E27FC236}">
                  <a16:creationId xmlns:a16="http://schemas.microsoft.com/office/drawing/2014/main" id="{67624582-F61D-226A-6A3F-5F96AFE5E72F}"/>
                </a:ext>
              </a:extLst>
            </p:cNvPr>
            <p:cNvSpPr txBox="1"/>
            <p:nvPr/>
          </p:nvSpPr>
          <p:spPr>
            <a:xfrm>
              <a:off x="8690648" y="6372423"/>
              <a:ext cx="2543966"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Linux 2.6 Priority vs </a:t>
              </a:r>
              <a:r>
                <a:rPr kumimoji="1" lang="en-US" altLang="zh-TW" sz="1400" dirty="0" err="1">
                  <a:latin typeface="Arial" panose="020B0604020202020204" pitchFamily="34" charset="0"/>
                  <a:cs typeface="Arial" panose="020B0604020202020204" pitchFamily="34" charset="0"/>
                </a:rPr>
                <a:t>Timeslice</a:t>
              </a:r>
              <a:endParaRPr kumimoji="1" lang="zh-TW" altLang="en-US" sz="14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445214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nodeType="clickEffect">
                                  <p:stCondLst>
                                    <p:cond delay="0"/>
                                  </p:stCondLst>
                                  <p:childTnLst>
                                    <p:animEffect transition="out" filter="fade">
                                      <p:cBhvr>
                                        <p:cTn id="16" dur="2000" tmFilter="0, 0; .2, .5; .8, .5; 1, 0"/>
                                        <p:tgtEl>
                                          <p:spTgt spid="3">
                                            <p:txEl>
                                              <p:pRg st="3" end="3"/>
                                            </p:txEl>
                                          </p:spTgt>
                                        </p:tgtEl>
                                      </p:cBhvr>
                                    </p:animEffect>
                                    <p:animScale>
                                      <p:cBhvr>
                                        <p:cTn id="17" dur="1000" autoRev="1" fill="hold"/>
                                        <p:tgtEl>
                                          <p:spTgt spid="3">
                                            <p:txEl>
                                              <p:pRg st="3" end="3"/>
                                            </p:txEl>
                                          </p:spTgt>
                                        </p:tgtEl>
                                      </p:cBhvr>
                                      <p:by x="105000" y="105000"/>
                                    </p:animScale>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fade">
                                      <p:cBhvr>
                                        <p:cTn id="4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normAutofit/>
          </a:bodyPr>
          <a:lstStyle/>
          <a:p>
            <a:r>
              <a:rPr kumimoji="1" lang="en-US" altLang="zh-TW" dirty="0"/>
              <a:t>Considerations</a:t>
            </a:r>
            <a:r>
              <a:rPr kumimoji="1" lang="zh-TW" altLang="en-US" dirty="0"/>
              <a:t> </a:t>
            </a:r>
            <a:r>
              <a:rPr kumimoji="1" lang="en-US" altLang="zh-TW" dirty="0"/>
              <a:t>for</a:t>
            </a:r>
            <a:r>
              <a:rPr kumimoji="1" lang="zh-TW" altLang="en-US" dirty="0"/>
              <a:t> </a:t>
            </a:r>
            <a:r>
              <a:rPr kumimoji="1" lang="en-US" altLang="zh-TW" dirty="0"/>
              <a:t>Desi</a:t>
            </a:r>
            <a:r>
              <a:rPr lang="en-US" altLang="zh-TW" dirty="0"/>
              <a:t>gning</a:t>
            </a:r>
            <a:r>
              <a:rPr lang="zh-TW" altLang="en-US" dirty="0"/>
              <a:t> </a:t>
            </a:r>
            <a:r>
              <a:rPr lang="en-US" altLang="zh-TW" dirty="0"/>
              <a:t>Policies (Count.)</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r>
              <a:rPr kumimoji="1" lang="en-US" altLang="zh-TW" dirty="0">
                <a:solidFill>
                  <a:schemeClr val="tx1">
                    <a:lumMod val="50000"/>
                    <a:lumOff val="50000"/>
                  </a:schemeClr>
                </a:solidFill>
              </a:rPr>
              <a:t>Process</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Priority</a:t>
            </a:r>
          </a:p>
          <a:p>
            <a:r>
              <a:rPr lang="en-US" altLang="zh-TW" dirty="0" err="1">
                <a:solidFill>
                  <a:schemeClr val="tx1">
                    <a:lumMod val="50000"/>
                    <a:lumOff val="50000"/>
                  </a:schemeClr>
                </a:solidFill>
              </a:rPr>
              <a:t>Timeslice</a:t>
            </a:r>
            <a:endParaRPr lang="en-US" altLang="zh-TW" dirty="0">
              <a:solidFill>
                <a:schemeClr val="tx1">
                  <a:lumMod val="50000"/>
                  <a:lumOff val="50000"/>
                </a:schemeClr>
              </a:solidFill>
            </a:endParaRPr>
          </a:p>
          <a:p>
            <a:r>
              <a:rPr lang="en-US" altLang="zh-TW" dirty="0"/>
              <a:t>Process Characteristics:</a:t>
            </a:r>
          </a:p>
          <a:p>
            <a:pPr lvl="1"/>
            <a:r>
              <a:rPr lang="en-US" altLang="zh-TW" dirty="0"/>
              <a:t>I/O-Bound: Spends much of time </a:t>
            </a:r>
            <a:r>
              <a:rPr lang="en-US" altLang="zh-TW" dirty="0">
                <a:solidFill>
                  <a:srgbClr val="C00000"/>
                </a:solidFill>
              </a:rPr>
              <a:t>submitting and waiting on I/O requests</a:t>
            </a:r>
            <a:r>
              <a:rPr lang="en-US" altLang="zh-TW" dirty="0"/>
              <a:t>.</a:t>
            </a:r>
          </a:p>
          <a:p>
            <a:pPr lvl="2"/>
            <a:r>
              <a:rPr lang="en-US" altLang="zh-TW" dirty="0"/>
              <a:t>I/O:</a:t>
            </a:r>
            <a:r>
              <a:rPr lang="zh-TW" altLang="en-US" dirty="0"/>
              <a:t> </a:t>
            </a:r>
            <a:r>
              <a:rPr lang="en-US" altLang="zh-TW" dirty="0"/>
              <a:t>keyboard,</a:t>
            </a:r>
            <a:r>
              <a:rPr lang="zh-TW" altLang="en-US" dirty="0"/>
              <a:t> </a:t>
            </a:r>
            <a:r>
              <a:rPr lang="en-US" altLang="zh-TW" dirty="0"/>
              <a:t>network,</a:t>
            </a:r>
            <a:r>
              <a:rPr lang="zh-TW" altLang="en-US" dirty="0"/>
              <a:t> </a:t>
            </a:r>
            <a:r>
              <a:rPr lang="en-US" altLang="zh-TW" dirty="0"/>
              <a:t>storage</a:t>
            </a:r>
          </a:p>
          <a:p>
            <a:pPr lvl="2"/>
            <a:r>
              <a:rPr lang="en-US" altLang="zh-TW" dirty="0"/>
              <a:t>Example:</a:t>
            </a:r>
            <a:r>
              <a:rPr lang="zh-TW" altLang="en-US" dirty="0"/>
              <a:t> </a:t>
            </a:r>
            <a:r>
              <a:rPr lang="en-US" altLang="zh-TW" dirty="0"/>
              <a:t>Graphical</a:t>
            </a:r>
            <a:r>
              <a:rPr lang="zh-TW" altLang="en-US" dirty="0"/>
              <a:t> </a:t>
            </a:r>
            <a:r>
              <a:rPr lang="en-US" altLang="zh-TW" dirty="0"/>
              <a:t>User</a:t>
            </a:r>
            <a:r>
              <a:rPr lang="zh-TW" altLang="en-US" dirty="0"/>
              <a:t> </a:t>
            </a:r>
            <a:r>
              <a:rPr lang="en-US" altLang="zh-TW" dirty="0"/>
              <a:t>Interface</a:t>
            </a:r>
            <a:r>
              <a:rPr lang="zh-TW" altLang="en-US" dirty="0"/>
              <a:t> </a:t>
            </a:r>
            <a:r>
              <a:rPr lang="en-US" altLang="zh-TW" dirty="0"/>
              <a:t>(GUI)</a:t>
            </a:r>
          </a:p>
          <a:p>
            <a:pPr lvl="2"/>
            <a:r>
              <a:rPr lang="en-US" altLang="zh-TW" i="1" dirty="0"/>
              <a:t>Policy:</a:t>
            </a:r>
            <a:r>
              <a:rPr lang="zh-TW" altLang="en-US" i="1" dirty="0"/>
              <a:t> </a:t>
            </a:r>
            <a:r>
              <a:rPr lang="en-US" altLang="zh-TW" i="1" dirty="0"/>
              <a:t>Run</a:t>
            </a:r>
            <a:r>
              <a:rPr lang="zh-TW" altLang="en-US" i="1" dirty="0"/>
              <a:t> </a:t>
            </a:r>
            <a:r>
              <a:rPr lang="en-US" altLang="zh-TW" i="1" dirty="0"/>
              <a:t>more</a:t>
            </a:r>
            <a:r>
              <a:rPr lang="zh-TW" altLang="en-US" i="1" dirty="0"/>
              <a:t> </a:t>
            </a:r>
            <a:r>
              <a:rPr lang="en-US" altLang="zh-TW" i="1" dirty="0"/>
              <a:t>frequently and interactive,</a:t>
            </a:r>
            <a:r>
              <a:rPr lang="zh-TW" altLang="en-US" i="1" dirty="0"/>
              <a:t> </a:t>
            </a:r>
            <a:r>
              <a:rPr lang="en-US" altLang="zh-TW" i="1" dirty="0"/>
              <a:t>shorter</a:t>
            </a:r>
            <a:r>
              <a:rPr lang="zh-TW" altLang="en-US" i="1" dirty="0"/>
              <a:t> </a:t>
            </a:r>
            <a:r>
              <a:rPr lang="en-US" altLang="zh-TW" i="1" dirty="0" err="1"/>
              <a:t>timeslice</a:t>
            </a:r>
            <a:endParaRPr lang="en-US" altLang="zh-TW" i="1" dirty="0"/>
          </a:p>
          <a:p>
            <a:pPr lvl="1"/>
            <a:r>
              <a:rPr lang="en-US" altLang="zh-TW" dirty="0"/>
              <a:t>Processor-Bound: Spends much of time </a:t>
            </a:r>
            <a:r>
              <a:rPr lang="en-US" altLang="zh-TW" dirty="0">
                <a:solidFill>
                  <a:srgbClr val="C00000"/>
                </a:solidFill>
              </a:rPr>
              <a:t>executing code</a:t>
            </a:r>
            <a:r>
              <a:rPr lang="en-US" altLang="zh-TW" dirty="0"/>
              <a:t>.</a:t>
            </a:r>
          </a:p>
          <a:p>
            <a:pPr lvl="2"/>
            <a:r>
              <a:rPr lang="en-US" altLang="zh-TW" dirty="0"/>
              <a:t>Example:</a:t>
            </a:r>
            <a:r>
              <a:rPr lang="zh-TW" altLang="en-US" dirty="0"/>
              <a:t> </a:t>
            </a:r>
            <a:r>
              <a:rPr lang="en-US" altLang="zh-TW" dirty="0" err="1"/>
              <a:t>ssh</a:t>
            </a:r>
            <a:r>
              <a:rPr lang="en-US" altLang="zh-TW" dirty="0"/>
              <a:t>-keygen,</a:t>
            </a:r>
            <a:r>
              <a:rPr lang="zh-TW" altLang="en-US" dirty="0"/>
              <a:t> </a:t>
            </a:r>
            <a:r>
              <a:rPr lang="en-US" altLang="zh-TW" dirty="0"/>
              <a:t>MATLAB</a:t>
            </a:r>
          </a:p>
          <a:p>
            <a:pPr lvl="2"/>
            <a:r>
              <a:rPr lang="en-US" altLang="zh-TW" i="1" dirty="0"/>
              <a:t>Policy:</a:t>
            </a:r>
            <a:r>
              <a:rPr lang="zh-TW" altLang="en-US" i="1" dirty="0"/>
              <a:t> </a:t>
            </a:r>
            <a:r>
              <a:rPr lang="en-US" altLang="zh-TW" i="1" dirty="0"/>
              <a:t>Run</a:t>
            </a:r>
            <a:r>
              <a:rPr lang="zh-TW" altLang="en-US" i="1" dirty="0"/>
              <a:t> </a:t>
            </a:r>
            <a:r>
              <a:rPr lang="en-US" altLang="zh-TW" i="1" dirty="0"/>
              <a:t>less</a:t>
            </a:r>
            <a:r>
              <a:rPr lang="zh-TW" altLang="en-US" i="1" dirty="0"/>
              <a:t> </a:t>
            </a:r>
            <a:r>
              <a:rPr lang="en-US" altLang="zh-TW" i="1" dirty="0"/>
              <a:t>frequently,</a:t>
            </a:r>
            <a:r>
              <a:rPr lang="zh-TW" altLang="en-US" i="1" dirty="0"/>
              <a:t> </a:t>
            </a:r>
            <a:r>
              <a:rPr lang="en-US" altLang="zh-TW" i="1" dirty="0"/>
              <a:t>longer</a:t>
            </a:r>
            <a:r>
              <a:rPr lang="zh-TW" altLang="en-US" i="1" dirty="0"/>
              <a:t> </a:t>
            </a:r>
            <a:r>
              <a:rPr lang="en-US" altLang="zh-TW" i="1" dirty="0" err="1"/>
              <a:t>timeslice</a:t>
            </a:r>
            <a:endParaRPr lang="en-US" altLang="zh-TW" i="1" dirty="0"/>
          </a:p>
          <a:p>
            <a:r>
              <a:rPr lang="en-US" altLang="zh-TW" dirty="0"/>
              <a:t>Maintenance Overhead:</a:t>
            </a:r>
          </a:p>
          <a:p>
            <a:pPr lvl="1"/>
            <a:r>
              <a:rPr lang="en-US" altLang="zh-TW" dirty="0"/>
              <a:t>How to find the next process: (1) Queue (2) Tree (3) Bit-map</a:t>
            </a:r>
          </a:p>
          <a:p>
            <a:pPr lvl="1"/>
            <a:r>
              <a:rPr lang="en-US" altLang="zh-TW" dirty="0"/>
              <a:t>Global </a:t>
            </a:r>
            <a:r>
              <a:rPr lang="en-US" altLang="zh-TW" dirty="0" err="1"/>
              <a:t>runqueue</a:t>
            </a:r>
            <a:r>
              <a:rPr lang="en-US" altLang="zh-TW" dirty="0"/>
              <a:t> (Lock) or Per-processor </a:t>
            </a:r>
            <a:r>
              <a:rPr lang="en-US" altLang="zh-TW" dirty="0" err="1"/>
              <a:t>runqueue</a:t>
            </a:r>
            <a:r>
              <a:rPr lang="en-US" altLang="zh-TW" dirty="0"/>
              <a:t> (Processor’s utilization)</a:t>
            </a:r>
          </a:p>
          <a:p>
            <a:pPr lvl="1"/>
            <a:endParaRPr kumimoji="1" lang="zh-TW" altLang="en-US"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16</a:t>
            </a:fld>
            <a:endParaRPr lang="zh-TW" altLang="en-US" dirty="0"/>
          </a:p>
        </p:txBody>
      </p:sp>
    </p:spTree>
    <p:extLst>
      <p:ext uri="{BB962C8B-B14F-4D97-AF65-F5344CB8AC3E}">
        <p14:creationId xmlns:p14="http://schemas.microsoft.com/office/powerpoint/2010/main" val="3287251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fade">
                                      <p:cBhvr>
                                        <p:cTn id="26" dur="500"/>
                                        <p:tgtEl>
                                          <p:spTgt spid="3">
                                            <p:txEl>
                                              <p:pRg st="8" end="8"/>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500"/>
                                        <p:tgtEl>
                                          <p:spTgt spid="3">
                                            <p:txEl>
                                              <p:pRg st="9" end="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10" end="10"/>
                                            </p:txEl>
                                          </p:spTgt>
                                        </p:tgtEl>
                                        <p:attrNameLst>
                                          <p:attrName>style.visibility</p:attrName>
                                        </p:attrNameLst>
                                      </p:cBhvr>
                                      <p:to>
                                        <p:strVal val="visible"/>
                                      </p:to>
                                    </p:set>
                                    <p:animEffect transition="in" filter="fade">
                                      <p:cBhvr>
                                        <p:cTn id="36" dur="500"/>
                                        <p:tgtEl>
                                          <p:spTgt spid="3">
                                            <p:txEl>
                                              <p:pRg st="10" end="10"/>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animEffect transition="in" filter="fade">
                                      <p:cBhvr>
                                        <p:cTn id="39" dur="500"/>
                                        <p:tgtEl>
                                          <p:spTgt spid="3">
                                            <p:txEl>
                                              <p:pRg st="11" end="11"/>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12" end="12"/>
                                            </p:txEl>
                                          </p:spTgt>
                                        </p:tgtEl>
                                        <p:attrNameLst>
                                          <p:attrName>style.visibility</p:attrName>
                                        </p:attrNameLst>
                                      </p:cBhvr>
                                      <p:to>
                                        <p:strVal val="visible"/>
                                      </p:to>
                                    </p:set>
                                    <p:animEffect transition="in" filter="fade">
                                      <p:cBhvr>
                                        <p:cTn id="4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Linux Process Scheduler</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952394"/>
            <a:ext cx="11836400" cy="5657528"/>
          </a:xfrm>
        </p:spPr>
        <p:txBody>
          <a:bodyPr tIns="0" bIns="0">
            <a:normAutofit/>
          </a:bodyPr>
          <a:lstStyle/>
          <a:p>
            <a:r>
              <a:rPr kumimoji="1" lang="en-US" altLang="zh-TW" dirty="0"/>
              <a:t>O(N)</a:t>
            </a:r>
            <a:r>
              <a:rPr kumimoji="1" lang="zh-TW" altLang="en-US" dirty="0"/>
              <a:t> </a:t>
            </a:r>
            <a:r>
              <a:rPr kumimoji="1" lang="en-US" altLang="zh-TW" dirty="0"/>
              <a:t>Before</a:t>
            </a:r>
            <a:r>
              <a:rPr kumimoji="1" lang="zh-TW" altLang="en-US" dirty="0"/>
              <a:t> </a:t>
            </a:r>
            <a:r>
              <a:rPr kumimoji="1" lang="en-US" altLang="zh-TW" dirty="0"/>
              <a:t>Ke</a:t>
            </a:r>
            <a:r>
              <a:rPr lang="en-US" altLang="zh-TW" dirty="0"/>
              <a:t>rnel</a:t>
            </a:r>
            <a:r>
              <a:rPr lang="zh-TW" altLang="en-US" dirty="0"/>
              <a:t> </a:t>
            </a:r>
            <a:r>
              <a:rPr lang="en-US" altLang="zh-TW" dirty="0"/>
              <a:t>2.4 (Simple):</a:t>
            </a:r>
            <a:r>
              <a:rPr lang="zh-TW" altLang="en-US" dirty="0"/>
              <a:t> </a:t>
            </a:r>
            <a:endParaRPr lang="en-US" altLang="zh-TW" dirty="0"/>
          </a:p>
          <a:p>
            <a:pPr lvl="1"/>
            <a:r>
              <a:rPr lang="en-US" altLang="zh-TW" dirty="0"/>
              <a:t>All processors </a:t>
            </a:r>
            <a:r>
              <a:rPr lang="en-US" altLang="zh-TW" dirty="0">
                <a:solidFill>
                  <a:srgbClr val="C00000"/>
                </a:solidFill>
              </a:rPr>
              <a:t>share a global </a:t>
            </a:r>
            <a:r>
              <a:rPr lang="en-US" altLang="zh-TW" dirty="0" err="1">
                <a:solidFill>
                  <a:srgbClr val="C00000"/>
                </a:solidFill>
              </a:rPr>
              <a:t>runqueue</a:t>
            </a:r>
            <a:r>
              <a:rPr lang="en-US" altLang="zh-TW" dirty="0"/>
              <a:t>. (Sort processes by their priority)</a:t>
            </a:r>
          </a:p>
          <a:p>
            <a:pPr lvl="1"/>
            <a:r>
              <a:rPr lang="en-US" altLang="zh-TW" dirty="0"/>
              <a:t>Bad: Shall </a:t>
            </a:r>
            <a:r>
              <a:rPr lang="en-US" altLang="zh-TW" dirty="0">
                <a:solidFill>
                  <a:srgbClr val="C00000"/>
                </a:solidFill>
              </a:rPr>
              <a:t>lock the </a:t>
            </a:r>
            <a:r>
              <a:rPr lang="en-US" altLang="zh-TW" dirty="0" err="1">
                <a:solidFill>
                  <a:srgbClr val="C00000"/>
                </a:solidFill>
              </a:rPr>
              <a:t>runqueue</a:t>
            </a:r>
            <a:r>
              <a:rPr lang="en-US" altLang="zh-TW" dirty="0"/>
              <a:t> when a process runs out of its </a:t>
            </a:r>
            <a:r>
              <a:rPr lang="en-US" altLang="zh-TW" dirty="0" err="1"/>
              <a:t>timeslice</a:t>
            </a:r>
            <a:r>
              <a:rPr lang="en-US" altLang="zh-TW" dirty="0"/>
              <a:t>.</a:t>
            </a:r>
          </a:p>
          <a:p>
            <a:pPr lvl="1"/>
            <a:r>
              <a:rPr lang="en-US" altLang="zh-TW" dirty="0"/>
              <a:t>Bad: Processes shall be </a:t>
            </a:r>
            <a:r>
              <a:rPr lang="en-US" altLang="zh-TW" dirty="0">
                <a:solidFill>
                  <a:srgbClr val="C00000"/>
                </a:solidFill>
              </a:rPr>
              <a:t>inserted</a:t>
            </a:r>
            <a:r>
              <a:rPr lang="en-US" altLang="zh-TW" dirty="0"/>
              <a:t> to an expired queue </a:t>
            </a:r>
            <a:r>
              <a:rPr lang="en-US" altLang="zh-TW" dirty="0">
                <a:solidFill>
                  <a:srgbClr val="C00000"/>
                </a:solidFill>
              </a:rPr>
              <a:t>in order</a:t>
            </a:r>
            <a:r>
              <a:rPr lang="en-US" altLang="zh-TW" dirty="0"/>
              <a:t>. (Scale</a:t>
            </a:r>
            <a:r>
              <a:rPr lang="zh-TW" altLang="en-US" dirty="0"/>
              <a:t> </a:t>
            </a:r>
            <a:r>
              <a:rPr lang="en-US" altLang="zh-TW" dirty="0"/>
              <a:t>poorly</a:t>
            </a:r>
            <a:r>
              <a:rPr lang="zh-TW" altLang="en-US" dirty="0"/>
              <a:t> </a:t>
            </a:r>
            <a:r>
              <a:rPr lang="en-US" altLang="zh-TW" dirty="0"/>
              <a:t>when</a:t>
            </a:r>
            <a:r>
              <a:rPr lang="zh-TW" altLang="en-US" dirty="0"/>
              <a:t> </a:t>
            </a:r>
            <a:r>
              <a:rPr lang="en-US" altLang="zh-TW" dirty="0"/>
              <a:t>there</a:t>
            </a:r>
            <a:r>
              <a:rPr lang="zh-TW" altLang="en-US" dirty="0"/>
              <a:t> </a:t>
            </a:r>
            <a:r>
              <a:rPr lang="en-US" altLang="zh-TW" dirty="0"/>
              <a:t>are</a:t>
            </a:r>
            <a:r>
              <a:rPr lang="zh-TW" altLang="en-US" dirty="0"/>
              <a:t> </a:t>
            </a:r>
            <a:r>
              <a:rPr lang="en-US" altLang="zh-TW" dirty="0"/>
              <a:t>tons of</a:t>
            </a:r>
            <a:r>
              <a:rPr lang="zh-TW" altLang="en-US" dirty="0"/>
              <a:t> </a:t>
            </a:r>
            <a:r>
              <a:rPr lang="en-US" altLang="zh-TW" dirty="0"/>
              <a:t>processes)</a:t>
            </a:r>
          </a:p>
          <a:p>
            <a:r>
              <a:rPr kumimoji="1" lang="en-US" altLang="zh-TW" dirty="0"/>
              <a:t>O(1)</a:t>
            </a:r>
            <a:r>
              <a:rPr kumimoji="1" lang="zh-TW" altLang="en-US" dirty="0"/>
              <a:t> </a:t>
            </a:r>
            <a:r>
              <a:rPr kumimoji="1" lang="en-US" altLang="zh-TW" dirty="0"/>
              <a:t>Kernel</a:t>
            </a:r>
            <a:r>
              <a:rPr kumimoji="1" lang="zh-TW" altLang="en-US" dirty="0"/>
              <a:t> </a:t>
            </a:r>
            <a:r>
              <a:rPr kumimoji="1" lang="en-US" altLang="zh-TW" dirty="0"/>
              <a:t>2.5 (Fast):</a:t>
            </a:r>
          </a:p>
          <a:p>
            <a:pPr lvl="1"/>
            <a:r>
              <a:rPr lang="en-US" altLang="zh-TW" dirty="0"/>
              <a:t>Check</a:t>
            </a:r>
            <a:r>
              <a:rPr lang="zh-TW" altLang="en-US" dirty="0"/>
              <a:t> </a:t>
            </a:r>
            <a:r>
              <a:rPr lang="en-US" altLang="zh-TW" dirty="0">
                <a:solidFill>
                  <a:srgbClr val="C00000"/>
                </a:solidFill>
              </a:rPr>
              <a:t>active</a:t>
            </a:r>
            <a:r>
              <a:rPr lang="zh-TW" altLang="en-US" dirty="0">
                <a:solidFill>
                  <a:srgbClr val="C00000"/>
                </a:solidFill>
              </a:rPr>
              <a:t> </a:t>
            </a:r>
            <a:r>
              <a:rPr lang="en-US" altLang="zh-TW" dirty="0">
                <a:solidFill>
                  <a:srgbClr val="C00000"/>
                </a:solidFill>
              </a:rPr>
              <a:t>array</a:t>
            </a:r>
            <a:r>
              <a:rPr lang="zh-TW" altLang="en-US" dirty="0">
                <a:solidFill>
                  <a:srgbClr val="C00000"/>
                </a:solidFill>
              </a:rPr>
              <a:t> </a:t>
            </a:r>
            <a:r>
              <a:rPr lang="en-US" altLang="zh-TW" dirty="0">
                <a:solidFill>
                  <a:srgbClr val="C00000"/>
                </a:solidFill>
              </a:rPr>
              <a:t>(bitmap)</a:t>
            </a:r>
            <a:r>
              <a:rPr lang="zh-TW" altLang="en-US" dirty="0">
                <a:solidFill>
                  <a:srgbClr val="C00000"/>
                </a:solidFill>
              </a:rPr>
              <a:t> </a:t>
            </a:r>
            <a:r>
              <a:rPr lang="en-US" altLang="zh-TW" dirty="0"/>
              <a:t>to</a:t>
            </a:r>
            <a:r>
              <a:rPr lang="zh-TW" altLang="en-US" dirty="0"/>
              <a:t> </a:t>
            </a:r>
            <a:r>
              <a:rPr lang="en-US" altLang="zh-TW" dirty="0"/>
              <a:t>get the target priority</a:t>
            </a:r>
            <a:r>
              <a:rPr lang="zh-TW" altLang="en-US" dirty="0"/>
              <a:t> </a:t>
            </a:r>
            <a:r>
              <a:rPr lang="en-US" altLang="zh-TW" dirty="0"/>
              <a:t>value (leftmost).</a:t>
            </a:r>
          </a:p>
          <a:p>
            <a:pPr lvl="1"/>
            <a:r>
              <a:rPr lang="en-US" altLang="zh-TW" dirty="0"/>
              <a:t>Use</a:t>
            </a:r>
            <a:r>
              <a:rPr lang="zh-TW" altLang="en-US" dirty="0"/>
              <a:t> </a:t>
            </a:r>
            <a:r>
              <a:rPr lang="en-US" altLang="zh-TW" dirty="0"/>
              <a:t>the</a:t>
            </a:r>
            <a:r>
              <a:rPr lang="zh-TW" altLang="en-US" dirty="0"/>
              <a:t> </a:t>
            </a:r>
            <a:r>
              <a:rPr lang="en-US" altLang="zh-TW" dirty="0">
                <a:solidFill>
                  <a:srgbClr val="C00000"/>
                </a:solidFill>
              </a:rPr>
              <a:t>priority</a:t>
            </a:r>
            <a:r>
              <a:rPr lang="zh-TW" altLang="en-US" dirty="0">
                <a:solidFill>
                  <a:srgbClr val="C00000"/>
                </a:solidFill>
              </a:rPr>
              <a:t> </a:t>
            </a:r>
            <a:r>
              <a:rPr lang="en-US" altLang="zh-TW" dirty="0">
                <a:solidFill>
                  <a:srgbClr val="C00000"/>
                </a:solidFill>
              </a:rPr>
              <a:t>value</a:t>
            </a:r>
            <a:r>
              <a:rPr lang="zh-TW" altLang="en-US" dirty="0">
                <a:solidFill>
                  <a:srgbClr val="C00000"/>
                </a:solidFill>
              </a:rPr>
              <a:t> </a:t>
            </a:r>
            <a:r>
              <a:rPr lang="en-US" altLang="zh-TW" dirty="0"/>
              <a:t>to</a:t>
            </a:r>
            <a:r>
              <a:rPr lang="zh-TW" altLang="en-US" dirty="0"/>
              <a:t> </a:t>
            </a:r>
            <a:r>
              <a:rPr lang="en-US" altLang="zh-TW" dirty="0">
                <a:solidFill>
                  <a:srgbClr val="C00000"/>
                </a:solidFill>
              </a:rPr>
              <a:t>get (dequeue)</a:t>
            </a:r>
            <a:r>
              <a:rPr lang="zh-TW" altLang="en-US" dirty="0">
                <a:solidFill>
                  <a:srgbClr val="C00000"/>
                </a:solidFill>
              </a:rPr>
              <a:t> </a:t>
            </a:r>
            <a:r>
              <a:rPr lang="en-US" altLang="zh-TW" dirty="0">
                <a:solidFill>
                  <a:srgbClr val="C00000"/>
                </a:solidFill>
              </a:rPr>
              <a:t>the</a:t>
            </a:r>
            <a:r>
              <a:rPr lang="zh-TW" altLang="en-US" dirty="0">
                <a:solidFill>
                  <a:srgbClr val="C00000"/>
                </a:solidFill>
              </a:rPr>
              <a:t> </a:t>
            </a:r>
            <a:r>
              <a:rPr lang="en-US" altLang="zh-TW" dirty="0">
                <a:solidFill>
                  <a:srgbClr val="C00000"/>
                </a:solidFill>
              </a:rPr>
              <a:t>next</a:t>
            </a:r>
            <a:r>
              <a:rPr lang="zh-TW" altLang="en-US" dirty="0">
                <a:solidFill>
                  <a:srgbClr val="C00000"/>
                </a:solidFill>
              </a:rPr>
              <a:t> </a:t>
            </a:r>
            <a:r>
              <a:rPr lang="en-US" altLang="zh-TW" dirty="0">
                <a:solidFill>
                  <a:srgbClr val="C00000"/>
                </a:solidFill>
              </a:rPr>
              <a:t>process (FIFO)</a:t>
            </a:r>
            <a:r>
              <a:rPr lang="zh-TW" altLang="en-US" dirty="0">
                <a:solidFill>
                  <a:srgbClr val="C00000"/>
                </a:solidFill>
              </a:rPr>
              <a:t> </a:t>
            </a:r>
            <a:r>
              <a:rPr lang="en-US" altLang="zh-TW" dirty="0"/>
              <a:t>in</a:t>
            </a:r>
            <a:r>
              <a:rPr lang="zh-TW" altLang="en-US" dirty="0"/>
              <a:t> </a:t>
            </a:r>
            <a:r>
              <a:rPr lang="en-US" altLang="zh-TW" dirty="0"/>
              <a:t>the</a:t>
            </a:r>
            <a:r>
              <a:rPr lang="zh-TW" altLang="en-US" dirty="0"/>
              <a:t> </a:t>
            </a:r>
            <a:r>
              <a:rPr lang="en-US" altLang="zh-TW" dirty="0"/>
              <a:t>active</a:t>
            </a:r>
            <a:r>
              <a:rPr lang="zh-TW" altLang="en-US" dirty="0"/>
              <a:t> </a:t>
            </a:r>
            <a:r>
              <a:rPr lang="en-US" altLang="zh-TW" dirty="0"/>
              <a:t>array.</a:t>
            </a:r>
          </a:p>
          <a:p>
            <a:pPr lvl="1"/>
            <a:r>
              <a:rPr lang="en-US" altLang="zh-TW" dirty="0">
                <a:solidFill>
                  <a:srgbClr val="C00000"/>
                </a:solidFill>
              </a:rPr>
              <a:t>Recalculate priority</a:t>
            </a:r>
            <a:r>
              <a:rPr lang="en-US" altLang="zh-TW" dirty="0"/>
              <a:t> and enqueue to the expired </a:t>
            </a:r>
            <a:r>
              <a:rPr lang="en-US" altLang="zh-TW" dirty="0" err="1"/>
              <a:t>bitarray</a:t>
            </a:r>
            <a:r>
              <a:rPr lang="en-US" altLang="zh-TW" dirty="0"/>
              <a:t>.</a:t>
            </a:r>
          </a:p>
          <a:p>
            <a:pPr lvl="1"/>
            <a:r>
              <a:rPr lang="en-US" altLang="zh-TW" dirty="0"/>
              <a:t>When </a:t>
            </a:r>
            <a:r>
              <a:rPr lang="en-US" altLang="zh-TW" dirty="0">
                <a:solidFill>
                  <a:srgbClr val="C00000"/>
                </a:solidFill>
              </a:rPr>
              <a:t>no bit is set</a:t>
            </a:r>
            <a:r>
              <a:rPr lang="en-US" altLang="zh-TW" dirty="0"/>
              <a:t> in active </a:t>
            </a:r>
            <a:r>
              <a:rPr lang="en-US" altLang="zh-TW" dirty="0" err="1"/>
              <a:t>bitarray</a:t>
            </a:r>
            <a:r>
              <a:rPr lang="en-US" altLang="zh-TW" dirty="0"/>
              <a:t>, </a:t>
            </a:r>
            <a:r>
              <a:rPr lang="en-US" altLang="zh-TW" dirty="0">
                <a:solidFill>
                  <a:srgbClr val="C00000"/>
                </a:solidFill>
              </a:rPr>
              <a:t>switch active and expired </a:t>
            </a:r>
            <a:r>
              <a:rPr lang="en-US" altLang="zh-TW" dirty="0" err="1">
                <a:solidFill>
                  <a:srgbClr val="C00000"/>
                </a:solidFill>
              </a:rPr>
              <a:t>bitarrays</a:t>
            </a:r>
            <a:r>
              <a:rPr lang="en-US" altLang="zh-TW" dirty="0"/>
              <a:t>.</a:t>
            </a:r>
          </a:p>
          <a:p>
            <a:pPr lvl="1"/>
            <a:endParaRPr lang="en-US" altLang="zh-TW" dirty="0"/>
          </a:p>
          <a:p>
            <a:pPr marL="457200" lvl="1" indent="0">
              <a:buNone/>
            </a:pPr>
            <a:endParaRPr lang="en-US" altLang="zh-TW" dirty="0"/>
          </a:p>
          <a:p>
            <a:pPr lvl="1"/>
            <a:endParaRPr lang="en-US" altLang="zh-TW" dirty="0"/>
          </a:p>
          <a:p>
            <a:pPr lvl="1"/>
            <a:endParaRPr kumimoji="1" lang="en-US" altLang="zh-TW" dirty="0"/>
          </a:p>
          <a:p>
            <a:pPr lvl="1"/>
            <a:r>
              <a:rPr kumimoji="1" lang="en-US" altLang="zh-TW" dirty="0"/>
              <a:t>Bad:</a:t>
            </a:r>
            <a:r>
              <a:rPr kumimoji="1" lang="zh-TW" altLang="en-US" dirty="0"/>
              <a:t> </a:t>
            </a:r>
            <a:r>
              <a:rPr kumimoji="1" lang="en-US" altLang="zh-TW" dirty="0"/>
              <a:t>Low</a:t>
            </a:r>
            <a:r>
              <a:rPr kumimoji="1" lang="zh-TW" altLang="en-US" dirty="0"/>
              <a:t> </a:t>
            </a:r>
            <a:r>
              <a:rPr kumimoji="1" lang="en-US" altLang="zh-TW" dirty="0"/>
              <a:t>interactive</a:t>
            </a:r>
            <a:r>
              <a:rPr kumimoji="1" lang="zh-TW" altLang="en-US" dirty="0"/>
              <a:t> </a:t>
            </a:r>
            <a:r>
              <a:rPr kumimoji="1" lang="en-US" altLang="zh-TW" dirty="0"/>
              <a:t>performance (Low priority processes)</a:t>
            </a:r>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17</a:t>
            </a:fld>
            <a:endParaRPr lang="zh-TW" altLang="en-US" dirty="0"/>
          </a:p>
        </p:txBody>
      </p:sp>
      <p:sp>
        <p:nvSpPr>
          <p:cNvPr id="5" name="文字方塊 4">
            <a:extLst>
              <a:ext uri="{FF2B5EF4-FFF2-40B4-BE49-F238E27FC236}">
                <a16:creationId xmlns:a16="http://schemas.microsoft.com/office/drawing/2014/main" id="{8193C216-3219-BF9D-C5A1-DAA0AD4FDE33}"/>
              </a:ext>
            </a:extLst>
          </p:cNvPr>
          <p:cNvSpPr txBox="1"/>
          <p:nvPr/>
        </p:nvSpPr>
        <p:spPr>
          <a:xfrm>
            <a:off x="0" y="6598099"/>
            <a:ext cx="4777205"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err="1">
                <a:solidFill>
                  <a:schemeClr val="bg1">
                    <a:lumMod val="75000"/>
                  </a:schemeClr>
                </a:solidFill>
              </a:rPr>
              <a:t>Jserv’s</a:t>
            </a:r>
            <a:r>
              <a:rPr kumimoji="1" lang="zh-TW" altLang="en-US" sz="1200" dirty="0">
                <a:solidFill>
                  <a:schemeClr val="bg1">
                    <a:lumMod val="75000"/>
                  </a:schemeClr>
                </a:solidFill>
              </a:rPr>
              <a:t> </a:t>
            </a:r>
            <a:r>
              <a:rPr kumimoji="1" lang="en-US" altLang="zh-TW" sz="1200" dirty="0" err="1">
                <a:solidFill>
                  <a:schemeClr val="bg1">
                    <a:lumMod val="75000"/>
                  </a:schemeClr>
                </a:solidFill>
              </a:rPr>
              <a:t>Hackmd</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hackmd.io</a:t>
            </a:r>
            <a:r>
              <a:rPr kumimoji="1" lang="en-US" altLang="zh-TW" sz="1200" dirty="0">
                <a:solidFill>
                  <a:schemeClr val="bg1">
                    <a:lumMod val="75000"/>
                  </a:schemeClr>
                </a:solidFill>
              </a:rPr>
              <a:t>/@</a:t>
            </a:r>
            <a:r>
              <a:rPr kumimoji="1" lang="en-US" altLang="zh-TW" sz="1200" dirty="0" err="1">
                <a:solidFill>
                  <a:schemeClr val="bg1">
                    <a:lumMod val="75000"/>
                  </a:schemeClr>
                </a:solidFill>
              </a:rPr>
              <a:t>sysprog</a:t>
            </a:r>
            <a:r>
              <a:rPr kumimoji="1" lang="en-US" altLang="zh-TW" sz="1200" dirty="0">
                <a:solidFill>
                  <a:schemeClr val="bg1">
                    <a:lumMod val="75000"/>
                  </a:schemeClr>
                </a:solidFill>
              </a:rPr>
              <a:t>/</a:t>
            </a:r>
            <a:r>
              <a:rPr kumimoji="1" lang="en-US" altLang="zh-TW" sz="1200" dirty="0" err="1">
                <a:solidFill>
                  <a:schemeClr val="bg1">
                    <a:lumMod val="75000"/>
                  </a:schemeClr>
                </a:solidFill>
              </a:rPr>
              <a:t>linux</a:t>
            </a:r>
            <a:r>
              <a:rPr kumimoji="1" lang="en-US" altLang="zh-TW" sz="1200" dirty="0">
                <a:solidFill>
                  <a:schemeClr val="bg1">
                    <a:lumMod val="75000"/>
                  </a:schemeClr>
                </a:solidFill>
              </a:rPr>
              <a:t>-scheduler)</a:t>
            </a:r>
            <a:r>
              <a:rPr kumimoji="1" lang="zh-TW" altLang="en-US" sz="1200" dirty="0">
                <a:solidFill>
                  <a:schemeClr val="bg1">
                    <a:lumMod val="75000"/>
                  </a:schemeClr>
                </a:solidFill>
              </a:rPr>
              <a:t> </a:t>
            </a:r>
            <a:r>
              <a:rPr kumimoji="1" lang="en-US" altLang="zh-TW" sz="1200" dirty="0">
                <a:solidFill>
                  <a:schemeClr val="bg1">
                    <a:lumMod val="75000"/>
                  </a:schemeClr>
                </a:solidFill>
              </a:rPr>
              <a:t>, 2022</a:t>
            </a:r>
            <a:endParaRPr kumimoji="1" lang="zh-TW" altLang="en-US" sz="1200" dirty="0">
              <a:solidFill>
                <a:schemeClr val="bg1">
                  <a:lumMod val="75000"/>
                </a:schemeClr>
              </a:solidFill>
            </a:endParaRPr>
          </a:p>
        </p:txBody>
      </p:sp>
      <p:sp>
        <p:nvSpPr>
          <p:cNvPr id="6" name="矩形 5">
            <a:extLst>
              <a:ext uri="{FF2B5EF4-FFF2-40B4-BE49-F238E27FC236}">
                <a16:creationId xmlns:a16="http://schemas.microsoft.com/office/drawing/2014/main" id="{25426596-DDB9-2AFA-AC43-8B402D575501}"/>
              </a:ext>
            </a:extLst>
          </p:cNvPr>
          <p:cNvSpPr/>
          <p:nvPr/>
        </p:nvSpPr>
        <p:spPr>
          <a:xfrm>
            <a:off x="3598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矩形 7">
            <a:extLst>
              <a:ext uri="{FF2B5EF4-FFF2-40B4-BE49-F238E27FC236}">
                <a16:creationId xmlns:a16="http://schemas.microsoft.com/office/drawing/2014/main" id="{8E246F66-BF48-5858-85A2-FEFE5A30E673}"/>
              </a:ext>
            </a:extLst>
          </p:cNvPr>
          <p:cNvSpPr/>
          <p:nvPr/>
        </p:nvSpPr>
        <p:spPr>
          <a:xfrm>
            <a:off x="7002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矩形 8">
            <a:extLst>
              <a:ext uri="{FF2B5EF4-FFF2-40B4-BE49-F238E27FC236}">
                <a16:creationId xmlns:a16="http://schemas.microsoft.com/office/drawing/2014/main" id="{CC4DEE53-FC83-4CBC-BD20-7D07216865DA}"/>
              </a:ext>
            </a:extLst>
          </p:cNvPr>
          <p:cNvSpPr/>
          <p:nvPr/>
        </p:nvSpPr>
        <p:spPr>
          <a:xfrm>
            <a:off x="8678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矩形 9">
            <a:extLst>
              <a:ext uri="{FF2B5EF4-FFF2-40B4-BE49-F238E27FC236}">
                <a16:creationId xmlns:a16="http://schemas.microsoft.com/office/drawing/2014/main" id="{CD7B3DC8-3DF4-57E5-0F49-9D7F7F2877FF}"/>
              </a:ext>
            </a:extLst>
          </p:cNvPr>
          <p:cNvSpPr/>
          <p:nvPr/>
        </p:nvSpPr>
        <p:spPr>
          <a:xfrm>
            <a:off x="104056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矩形 10">
            <a:extLst>
              <a:ext uri="{FF2B5EF4-FFF2-40B4-BE49-F238E27FC236}">
                <a16:creationId xmlns:a16="http://schemas.microsoft.com/office/drawing/2014/main" id="{5147B6C8-FAD5-B566-7974-7263A9C74990}"/>
              </a:ext>
            </a:extLst>
          </p:cNvPr>
          <p:cNvSpPr/>
          <p:nvPr/>
        </p:nvSpPr>
        <p:spPr>
          <a:xfrm>
            <a:off x="12082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 name="矩形 12">
            <a:extLst>
              <a:ext uri="{FF2B5EF4-FFF2-40B4-BE49-F238E27FC236}">
                <a16:creationId xmlns:a16="http://schemas.microsoft.com/office/drawing/2014/main" id="{AB4E610A-B430-666A-8685-A81BEDCC527E}"/>
              </a:ext>
            </a:extLst>
          </p:cNvPr>
          <p:cNvSpPr/>
          <p:nvPr/>
        </p:nvSpPr>
        <p:spPr>
          <a:xfrm>
            <a:off x="154856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 name="矩形 13">
            <a:extLst>
              <a:ext uri="{FF2B5EF4-FFF2-40B4-BE49-F238E27FC236}">
                <a16:creationId xmlns:a16="http://schemas.microsoft.com/office/drawing/2014/main" id="{4EC24CAC-1051-3CBA-E7CD-6188C5163FE6}"/>
              </a:ext>
            </a:extLst>
          </p:cNvPr>
          <p:cNvSpPr/>
          <p:nvPr/>
        </p:nvSpPr>
        <p:spPr>
          <a:xfrm>
            <a:off x="17212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矩形 14">
            <a:extLst>
              <a:ext uri="{FF2B5EF4-FFF2-40B4-BE49-F238E27FC236}">
                <a16:creationId xmlns:a16="http://schemas.microsoft.com/office/drawing/2014/main" id="{D7D40323-B41A-E72B-BDC0-0603D207824B}"/>
              </a:ext>
            </a:extLst>
          </p:cNvPr>
          <p:cNvSpPr/>
          <p:nvPr/>
        </p:nvSpPr>
        <p:spPr>
          <a:xfrm>
            <a:off x="188892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 name="矩形 15">
            <a:extLst>
              <a:ext uri="{FF2B5EF4-FFF2-40B4-BE49-F238E27FC236}">
                <a16:creationId xmlns:a16="http://schemas.microsoft.com/office/drawing/2014/main" id="{C0F45FDA-D357-E89E-D10A-01262454EDFA}"/>
              </a:ext>
            </a:extLst>
          </p:cNvPr>
          <p:cNvSpPr/>
          <p:nvPr/>
        </p:nvSpPr>
        <p:spPr>
          <a:xfrm>
            <a:off x="20616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 name="矩形 16">
            <a:extLst>
              <a:ext uri="{FF2B5EF4-FFF2-40B4-BE49-F238E27FC236}">
                <a16:creationId xmlns:a16="http://schemas.microsoft.com/office/drawing/2014/main" id="{620240D6-9B6D-D28D-1B3E-23B2885CBB15}"/>
              </a:ext>
            </a:extLst>
          </p:cNvPr>
          <p:cNvSpPr/>
          <p:nvPr/>
        </p:nvSpPr>
        <p:spPr>
          <a:xfrm>
            <a:off x="22292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矩形 17">
            <a:extLst>
              <a:ext uri="{FF2B5EF4-FFF2-40B4-BE49-F238E27FC236}">
                <a16:creationId xmlns:a16="http://schemas.microsoft.com/office/drawing/2014/main" id="{AEA1D1BA-E546-BD10-A2C0-2905B6F08300}"/>
              </a:ext>
            </a:extLst>
          </p:cNvPr>
          <p:cNvSpPr/>
          <p:nvPr/>
        </p:nvSpPr>
        <p:spPr>
          <a:xfrm>
            <a:off x="24020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 name="矩形 18">
            <a:extLst>
              <a:ext uri="{FF2B5EF4-FFF2-40B4-BE49-F238E27FC236}">
                <a16:creationId xmlns:a16="http://schemas.microsoft.com/office/drawing/2014/main" id="{0C9E2B4A-17F2-1B6C-83E4-9AB074F6CBD1}"/>
              </a:ext>
            </a:extLst>
          </p:cNvPr>
          <p:cNvSpPr/>
          <p:nvPr/>
        </p:nvSpPr>
        <p:spPr>
          <a:xfrm>
            <a:off x="25696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 name="矩形 20">
            <a:extLst>
              <a:ext uri="{FF2B5EF4-FFF2-40B4-BE49-F238E27FC236}">
                <a16:creationId xmlns:a16="http://schemas.microsoft.com/office/drawing/2014/main" id="{A2DCF861-F6D9-05F5-2516-B84EADBF0C18}"/>
              </a:ext>
            </a:extLst>
          </p:cNvPr>
          <p:cNvSpPr/>
          <p:nvPr/>
        </p:nvSpPr>
        <p:spPr>
          <a:xfrm>
            <a:off x="29100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 name="矩形 21">
            <a:extLst>
              <a:ext uri="{FF2B5EF4-FFF2-40B4-BE49-F238E27FC236}">
                <a16:creationId xmlns:a16="http://schemas.microsoft.com/office/drawing/2014/main" id="{6F5689F1-E1C1-761C-23E6-8B806593ABEF}"/>
              </a:ext>
            </a:extLst>
          </p:cNvPr>
          <p:cNvSpPr/>
          <p:nvPr/>
        </p:nvSpPr>
        <p:spPr>
          <a:xfrm>
            <a:off x="308272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 name="矩形 22">
            <a:extLst>
              <a:ext uri="{FF2B5EF4-FFF2-40B4-BE49-F238E27FC236}">
                <a16:creationId xmlns:a16="http://schemas.microsoft.com/office/drawing/2014/main" id="{707A2E8B-8B5A-3E54-9AD5-95C2F236E48A}"/>
              </a:ext>
            </a:extLst>
          </p:cNvPr>
          <p:cNvSpPr/>
          <p:nvPr/>
        </p:nvSpPr>
        <p:spPr>
          <a:xfrm>
            <a:off x="325036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 name="矩形 23">
            <a:extLst>
              <a:ext uri="{FF2B5EF4-FFF2-40B4-BE49-F238E27FC236}">
                <a16:creationId xmlns:a16="http://schemas.microsoft.com/office/drawing/2014/main" id="{2CBB166C-FE5C-059F-1E2C-3F46A599345D}"/>
              </a:ext>
            </a:extLst>
          </p:cNvPr>
          <p:cNvSpPr/>
          <p:nvPr/>
        </p:nvSpPr>
        <p:spPr>
          <a:xfrm>
            <a:off x="34230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 name="矩形 24">
            <a:extLst>
              <a:ext uri="{FF2B5EF4-FFF2-40B4-BE49-F238E27FC236}">
                <a16:creationId xmlns:a16="http://schemas.microsoft.com/office/drawing/2014/main" id="{113D5EA9-9749-7EDF-0804-925DEE771D9A}"/>
              </a:ext>
            </a:extLst>
          </p:cNvPr>
          <p:cNvSpPr/>
          <p:nvPr/>
        </p:nvSpPr>
        <p:spPr>
          <a:xfrm>
            <a:off x="359072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 name="矩形 25">
            <a:extLst>
              <a:ext uri="{FF2B5EF4-FFF2-40B4-BE49-F238E27FC236}">
                <a16:creationId xmlns:a16="http://schemas.microsoft.com/office/drawing/2014/main" id="{877D539A-8EF6-DE48-B9BF-7B7F1C4E1D9C}"/>
              </a:ext>
            </a:extLst>
          </p:cNvPr>
          <p:cNvSpPr/>
          <p:nvPr/>
        </p:nvSpPr>
        <p:spPr>
          <a:xfrm>
            <a:off x="37634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 name="矩形 26">
            <a:extLst>
              <a:ext uri="{FF2B5EF4-FFF2-40B4-BE49-F238E27FC236}">
                <a16:creationId xmlns:a16="http://schemas.microsoft.com/office/drawing/2014/main" id="{8E19E5BE-00B8-2BC8-1284-4BB514CF7169}"/>
              </a:ext>
            </a:extLst>
          </p:cNvPr>
          <p:cNvSpPr/>
          <p:nvPr/>
        </p:nvSpPr>
        <p:spPr>
          <a:xfrm>
            <a:off x="39310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 name="矩形 27">
            <a:extLst>
              <a:ext uri="{FF2B5EF4-FFF2-40B4-BE49-F238E27FC236}">
                <a16:creationId xmlns:a16="http://schemas.microsoft.com/office/drawing/2014/main" id="{05789E98-8531-BA38-41EE-E3906AE1C100}"/>
              </a:ext>
            </a:extLst>
          </p:cNvPr>
          <p:cNvSpPr/>
          <p:nvPr/>
        </p:nvSpPr>
        <p:spPr>
          <a:xfrm>
            <a:off x="41038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 name="矩形 28">
            <a:extLst>
              <a:ext uri="{FF2B5EF4-FFF2-40B4-BE49-F238E27FC236}">
                <a16:creationId xmlns:a16="http://schemas.microsoft.com/office/drawing/2014/main" id="{109876FA-A270-60C1-D71C-894DBCD9CAEB}"/>
              </a:ext>
            </a:extLst>
          </p:cNvPr>
          <p:cNvSpPr/>
          <p:nvPr/>
        </p:nvSpPr>
        <p:spPr>
          <a:xfrm>
            <a:off x="42714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0" name="矩形 29">
            <a:extLst>
              <a:ext uri="{FF2B5EF4-FFF2-40B4-BE49-F238E27FC236}">
                <a16:creationId xmlns:a16="http://schemas.microsoft.com/office/drawing/2014/main" id="{FEDF031C-D9BD-0F92-62BF-9213C1BA0AED}"/>
              </a:ext>
            </a:extLst>
          </p:cNvPr>
          <p:cNvSpPr/>
          <p:nvPr/>
        </p:nvSpPr>
        <p:spPr>
          <a:xfrm>
            <a:off x="444416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1" name="矩形 30">
            <a:extLst>
              <a:ext uri="{FF2B5EF4-FFF2-40B4-BE49-F238E27FC236}">
                <a16:creationId xmlns:a16="http://schemas.microsoft.com/office/drawing/2014/main" id="{22830AD8-0B9E-D0A9-D3E7-FABEC03CA486}"/>
              </a:ext>
            </a:extLst>
          </p:cNvPr>
          <p:cNvSpPr/>
          <p:nvPr/>
        </p:nvSpPr>
        <p:spPr>
          <a:xfrm>
            <a:off x="46118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 name="矩形 31">
            <a:extLst>
              <a:ext uri="{FF2B5EF4-FFF2-40B4-BE49-F238E27FC236}">
                <a16:creationId xmlns:a16="http://schemas.microsoft.com/office/drawing/2014/main" id="{C6D7CC92-BB8C-8B5C-E41E-0A1097542558}"/>
              </a:ext>
            </a:extLst>
          </p:cNvPr>
          <p:cNvSpPr/>
          <p:nvPr/>
        </p:nvSpPr>
        <p:spPr>
          <a:xfrm>
            <a:off x="478452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3" name="矩形 32">
            <a:extLst>
              <a:ext uri="{FF2B5EF4-FFF2-40B4-BE49-F238E27FC236}">
                <a16:creationId xmlns:a16="http://schemas.microsoft.com/office/drawing/2014/main" id="{F4D817F6-BCEA-4E9F-A969-F69E52044FFE}"/>
              </a:ext>
            </a:extLst>
          </p:cNvPr>
          <p:cNvSpPr/>
          <p:nvPr/>
        </p:nvSpPr>
        <p:spPr>
          <a:xfrm>
            <a:off x="495216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 name="矩形 33">
            <a:extLst>
              <a:ext uri="{FF2B5EF4-FFF2-40B4-BE49-F238E27FC236}">
                <a16:creationId xmlns:a16="http://schemas.microsoft.com/office/drawing/2014/main" id="{59B37D7D-179F-F444-8CE4-CDE8BD496E2F}"/>
              </a:ext>
            </a:extLst>
          </p:cNvPr>
          <p:cNvSpPr/>
          <p:nvPr/>
        </p:nvSpPr>
        <p:spPr>
          <a:xfrm>
            <a:off x="51248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6" name="矩形 35">
            <a:extLst>
              <a:ext uri="{FF2B5EF4-FFF2-40B4-BE49-F238E27FC236}">
                <a16:creationId xmlns:a16="http://schemas.microsoft.com/office/drawing/2014/main" id="{DAC1579E-BC60-F201-77C0-8F6FA3FB5A71}"/>
              </a:ext>
            </a:extLst>
          </p:cNvPr>
          <p:cNvSpPr/>
          <p:nvPr/>
        </p:nvSpPr>
        <p:spPr>
          <a:xfrm>
            <a:off x="54652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7" name="矩形 36">
            <a:extLst>
              <a:ext uri="{FF2B5EF4-FFF2-40B4-BE49-F238E27FC236}">
                <a16:creationId xmlns:a16="http://schemas.microsoft.com/office/drawing/2014/main" id="{6CF5E80D-1386-0FF9-7C62-DACCEB24F10D}"/>
              </a:ext>
            </a:extLst>
          </p:cNvPr>
          <p:cNvSpPr/>
          <p:nvPr/>
        </p:nvSpPr>
        <p:spPr>
          <a:xfrm>
            <a:off x="56328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8" name="矩形 37">
            <a:extLst>
              <a:ext uri="{FF2B5EF4-FFF2-40B4-BE49-F238E27FC236}">
                <a16:creationId xmlns:a16="http://schemas.microsoft.com/office/drawing/2014/main" id="{B2783E38-162B-09BD-4E87-802E818E3F65}"/>
              </a:ext>
            </a:extLst>
          </p:cNvPr>
          <p:cNvSpPr/>
          <p:nvPr/>
        </p:nvSpPr>
        <p:spPr>
          <a:xfrm>
            <a:off x="3598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9" name="矩形 38">
            <a:extLst>
              <a:ext uri="{FF2B5EF4-FFF2-40B4-BE49-F238E27FC236}">
                <a16:creationId xmlns:a16="http://schemas.microsoft.com/office/drawing/2014/main" id="{582C9C52-C702-9E44-F02A-AE3AE0537FF4}"/>
              </a:ext>
            </a:extLst>
          </p:cNvPr>
          <p:cNvSpPr/>
          <p:nvPr/>
        </p:nvSpPr>
        <p:spPr>
          <a:xfrm>
            <a:off x="5274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0" name="矩形 39">
            <a:extLst>
              <a:ext uri="{FF2B5EF4-FFF2-40B4-BE49-F238E27FC236}">
                <a16:creationId xmlns:a16="http://schemas.microsoft.com/office/drawing/2014/main" id="{86DBD00F-5613-EC3E-1254-38A6673FD6D3}"/>
              </a:ext>
            </a:extLst>
          </p:cNvPr>
          <p:cNvSpPr/>
          <p:nvPr/>
        </p:nvSpPr>
        <p:spPr>
          <a:xfrm>
            <a:off x="7002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1" name="矩形 40">
            <a:extLst>
              <a:ext uri="{FF2B5EF4-FFF2-40B4-BE49-F238E27FC236}">
                <a16:creationId xmlns:a16="http://schemas.microsoft.com/office/drawing/2014/main" id="{7157573A-463E-84F0-6B2A-F0A5AC315D4E}"/>
              </a:ext>
            </a:extLst>
          </p:cNvPr>
          <p:cNvSpPr/>
          <p:nvPr/>
        </p:nvSpPr>
        <p:spPr>
          <a:xfrm>
            <a:off x="8678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2" name="矩形 41">
            <a:extLst>
              <a:ext uri="{FF2B5EF4-FFF2-40B4-BE49-F238E27FC236}">
                <a16:creationId xmlns:a16="http://schemas.microsoft.com/office/drawing/2014/main" id="{A37952FB-EF43-9A80-FBB2-8F9CA1E4D680}"/>
              </a:ext>
            </a:extLst>
          </p:cNvPr>
          <p:cNvSpPr/>
          <p:nvPr/>
        </p:nvSpPr>
        <p:spPr>
          <a:xfrm>
            <a:off x="10405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3" name="矩形 42">
            <a:extLst>
              <a:ext uri="{FF2B5EF4-FFF2-40B4-BE49-F238E27FC236}">
                <a16:creationId xmlns:a16="http://schemas.microsoft.com/office/drawing/2014/main" id="{DF89DEDF-5DB2-D0B5-6507-5EF97E415728}"/>
              </a:ext>
            </a:extLst>
          </p:cNvPr>
          <p:cNvSpPr/>
          <p:nvPr/>
        </p:nvSpPr>
        <p:spPr>
          <a:xfrm>
            <a:off x="12082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4" name="矩形 43">
            <a:extLst>
              <a:ext uri="{FF2B5EF4-FFF2-40B4-BE49-F238E27FC236}">
                <a16:creationId xmlns:a16="http://schemas.microsoft.com/office/drawing/2014/main" id="{E60307B6-8FFB-AFA0-D1EE-0952F97B4794}"/>
              </a:ext>
            </a:extLst>
          </p:cNvPr>
          <p:cNvSpPr/>
          <p:nvPr/>
        </p:nvSpPr>
        <p:spPr>
          <a:xfrm>
            <a:off x="138092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 name="矩形 44">
            <a:extLst>
              <a:ext uri="{FF2B5EF4-FFF2-40B4-BE49-F238E27FC236}">
                <a16:creationId xmlns:a16="http://schemas.microsoft.com/office/drawing/2014/main" id="{905BD76A-E633-5551-1028-320FB683BD19}"/>
              </a:ext>
            </a:extLst>
          </p:cNvPr>
          <p:cNvSpPr/>
          <p:nvPr/>
        </p:nvSpPr>
        <p:spPr>
          <a:xfrm>
            <a:off x="15485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6" name="矩形 45">
            <a:extLst>
              <a:ext uri="{FF2B5EF4-FFF2-40B4-BE49-F238E27FC236}">
                <a16:creationId xmlns:a16="http://schemas.microsoft.com/office/drawing/2014/main" id="{CBB9C4C8-FFB2-E9A5-9EA2-D5B076BB60F5}"/>
              </a:ext>
            </a:extLst>
          </p:cNvPr>
          <p:cNvSpPr/>
          <p:nvPr/>
        </p:nvSpPr>
        <p:spPr>
          <a:xfrm>
            <a:off x="17212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8" name="矩形 47">
            <a:extLst>
              <a:ext uri="{FF2B5EF4-FFF2-40B4-BE49-F238E27FC236}">
                <a16:creationId xmlns:a16="http://schemas.microsoft.com/office/drawing/2014/main" id="{E21243D5-23E8-EB3E-FA32-D3C14F3C4F64}"/>
              </a:ext>
            </a:extLst>
          </p:cNvPr>
          <p:cNvSpPr/>
          <p:nvPr/>
        </p:nvSpPr>
        <p:spPr>
          <a:xfrm>
            <a:off x="20616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9" name="矩形 48">
            <a:extLst>
              <a:ext uri="{FF2B5EF4-FFF2-40B4-BE49-F238E27FC236}">
                <a16:creationId xmlns:a16="http://schemas.microsoft.com/office/drawing/2014/main" id="{2D885B35-D453-997D-5AAC-FEA632873F28}"/>
              </a:ext>
            </a:extLst>
          </p:cNvPr>
          <p:cNvSpPr/>
          <p:nvPr/>
        </p:nvSpPr>
        <p:spPr>
          <a:xfrm>
            <a:off x="22292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0" name="矩形 49">
            <a:extLst>
              <a:ext uri="{FF2B5EF4-FFF2-40B4-BE49-F238E27FC236}">
                <a16:creationId xmlns:a16="http://schemas.microsoft.com/office/drawing/2014/main" id="{B8EB2646-BD9E-0B26-2E5A-4C154C298C49}"/>
              </a:ext>
            </a:extLst>
          </p:cNvPr>
          <p:cNvSpPr/>
          <p:nvPr/>
        </p:nvSpPr>
        <p:spPr>
          <a:xfrm>
            <a:off x="24020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1" name="矩形 50">
            <a:extLst>
              <a:ext uri="{FF2B5EF4-FFF2-40B4-BE49-F238E27FC236}">
                <a16:creationId xmlns:a16="http://schemas.microsoft.com/office/drawing/2014/main" id="{CC277763-5BBE-C833-9FF2-3470BEF8941B}"/>
              </a:ext>
            </a:extLst>
          </p:cNvPr>
          <p:cNvSpPr/>
          <p:nvPr/>
        </p:nvSpPr>
        <p:spPr>
          <a:xfrm>
            <a:off x="25696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 name="矩形 51">
            <a:extLst>
              <a:ext uri="{FF2B5EF4-FFF2-40B4-BE49-F238E27FC236}">
                <a16:creationId xmlns:a16="http://schemas.microsoft.com/office/drawing/2014/main" id="{52593992-26D8-0246-588A-90B236344F9E}"/>
              </a:ext>
            </a:extLst>
          </p:cNvPr>
          <p:cNvSpPr/>
          <p:nvPr/>
        </p:nvSpPr>
        <p:spPr>
          <a:xfrm>
            <a:off x="27423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3" name="矩形 52">
            <a:extLst>
              <a:ext uri="{FF2B5EF4-FFF2-40B4-BE49-F238E27FC236}">
                <a16:creationId xmlns:a16="http://schemas.microsoft.com/office/drawing/2014/main" id="{2B0C16E2-6C3F-D07A-C384-F161EC6A4D67}"/>
              </a:ext>
            </a:extLst>
          </p:cNvPr>
          <p:cNvSpPr/>
          <p:nvPr/>
        </p:nvSpPr>
        <p:spPr>
          <a:xfrm>
            <a:off x="29100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4" name="矩形 53">
            <a:extLst>
              <a:ext uri="{FF2B5EF4-FFF2-40B4-BE49-F238E27FC236}">
                <a16:creationId xmlns:a16="http://schemas.microsoft.com/office/drawing/2014/main" id="{EFC616A2-5330-BD1C-1546-81A164F65105}"/>
              </a:ext>
            </a:extLst>
          </p:cNvPr>
          <p:cNvSpPr/>
          <p:nvPr/>
        </p:nvSpPr>
        <p:spPr>
          <a:xfrm>
            <a:off x="308272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5" name="矩形 54">
            <a:extLst>
              <a:ext uri="{FF2B5EF4-FFF2-40B4-BE49-F238E27FC236}">
                <a16:creationId xmlns:a16="http://schemas.microsoft.com/office/drawing/2014/main" id="{E2DA0F21-059D-6A69-9B78-1E2215CB0916}"/>
              </a:ext>
            </a:extLst>
          </p:cNvPr>
          <p:cNvSpPr/>
          <p:nvPr/>
        </p:nvSpPr>
        <p:spPr>
          <a:xfrm>
            <a:off x="32503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6" name="矩形 55">
            <a:extLst>
              <a:ext uri="{FF2B5EF4-FFF2-40B4-BE49-F238E27FC236}">
                <a16:creationId xmlns:a16="http://schemas.microsoft.com/office/drawing/2014/main" id="{396D873E-6646-0F37-6E7A-5AE79B7C0D90}"/>
              </a:ext>
            </a:extLst>
          </p:cNvPr>
          <p:cNvSpPr/>
          <p:nvPr/>
        </p:nvSpPr>
        <p:spPr>
          <a:xfrm>
            <a:off x="34230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7" name="矩形 56">
            <a:extLst>
              <a:ext uri="{FF2B5EF4-FFF2-40B4-BE49-F238E27FC236}">
                <a16:creationId xmlns:a16="http://schemas.microsoft.com/office/drawing/2014/main" id="{FBDF44C5-EB5B-3170-EBE5-31500BE1BD41}"/>
              </a:ext>
            </a:extLst>
          </p:cNvPr>
          <p:cNvSpPr/>
          <p:nvPr/>
        </p:nvSpPr>
        <p:spPr>
          <a:xfrm>
            <a:off x="359072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8" name="矩形 57">
            <a:extLst>
              <a:ext uri="{FF2B5EF4-FFF2-40B4-BE49-F238E27FC236}">
                <a16:creationId xmlns:a16="http://schemas.microsoft.com/office/drawing/2014/main" id="{D9370E5B-0C0C-9E2A-2DE8-36D1588F83A2}"/>
              </a:ext>
            </a:extLst>
          </p:cNvPr>
          <p:cNvSpPr/>
          <p:nvPr/>
        </p:nvSpPr>
        <p:spPr>
          <a:xfrm>
            <a:off x="37634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0" name="矩形 59">
            <a:extLst>
              <a:ext uri="{FF2B5EF4-FFF2-40B4-BE49-F238E27FC236}">
                <a16:creationId xmlns:a16="http://schemas.microsoft.com/office/drawing/2014/main" id="{CC6CE2BF-37C5-E1E8-6995-5788C1BBA769}"/>
              </a:ext>
            </a:extLst>
          </p:cNvPr>
          <p:cNvSpPr/>
          <p:nvPr/>
        </p:nvSpPr>
        <p:spPr>
          <a:xfrm>
            <a:off x="41038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1" name="矩形 60">
            <a:extLst>
              <a:ext uri="{FF2B5EF4-FFF2-40B4-BE49-F238E27FC236}">
                <a16:creationId xmlns:a16="http://schemas.microsoft.com/office/drawing/2014/main" id="{1463A44A-B579-06F3-9998-7E7DF6CB1DD6}"/>
              </a:ext>
            </a:extLst>
          </p:cNvPr>
          <p:cNvSpPr/>
          <p:nvPr/>
        </p:nvSpPr>
        <p:spPr>
          <a:xfrm>
            <a:off x="42714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2" name="矩形 61">
            <a:extLst>
              <a:ext uri="{FF2B5EF4-FFF2-40B4-BE49-F238E27FC236}">
                <a16:creationId xmlns:a16="http://schemas.microsoft.com/office/drawing/2014/main" id="{7E7540BE-86A7-F729-7E71-5F464471BA6F}"/>
              </a:ext>
            </a:extLst>
          </p:cNvPr>
          <p:cNvSpPr/>
          <p:nvPr/>
        </p:nvSpPr>
        <p:spPr>
          <a:xfrm>
            <a:off x="44441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3" name="矩形 62">
            <a:extLst>
              <a:ext uri="{FF2B5EF4-FFF2-40B4-BE49-F238E27FC236}">
                <a16:creationId xmlns:a16="http://schemas.microsoft.com/office/drawing/2014/main" id="{7814E747-00D6-736C-A6AC-AAC7757FF4A0}"/>
              </a:ext>
            </a:extLst>
          </p:cNvPr>
          <p:cNvSpPr/>
          <p:nvPr/>
        </p:nvSpPr>
        <p:spPr>
          <a:xfrm>
            <a:off x="46118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4" name="矩形 63">
            <a:extLst>
              <a:ext uri="{FF2B5EF4-FFF2-40B4-BE49-F238E27FC236}">
                <a16:creationId xmlns:a16="http://schemas.microsoft.com/office/drawing/2014/main" id="{6E8465CD-CC8F-3B47-DB59-33FD287CEF03}"/>
              </a:ext>
            </a:extLst>
          </p:cNvPr>
          <p:cNvSpPr/>
          <p:nvPr/>
        </p:nvSpPr>
        <p:spPr>
          <a:xfrm>
            <a:off x="478452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5" name="矩形 64">
            <a:extLst>
              <a:ext uri="{FF2B5EF4-FFF2-40B4-BE49-F238E27FC236}">
                <a16:creationId xmlns:a16="http://schemas.microsoft.com/office/drawing/2014/main" id="{988C4D9C-A3F4-B2EC-166E-A086C76BCCD7}"/>
              </a:ext>
            </a:extLst>
          </p:cNvPr>
          <p:cNvSpPr/>
          <p:nvPr/>
        </p:nvSpPr>
        <p:spPr>
          <a:xfrm>
            <a:off x="49521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6" name="矩形 65">
            <a:extLst>
              <a:ext uri="{FF2B5EF4-FFF2-40B4-BE49-F238E27FC236}">
                <a16:creationId xmlns:a16="http://schemas.microsoft.com/office/drawing/2014/main" id="{4BEBCECE-48BB-0D50-3675-C9FB32DAEF58}"/>
              </a:ext>
            </a:extLst>
          </p:cNvPr>
          <p:cNvSpPr/>
          <p:nvPr/>
        </p:nvSpPr>
        <p:spPr>
          <a:xfrm>
            <a:off x="51248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7" name="矩形 66">
            <a:extLst>
              <a:ext uri="{FF2B5EF4-FFF2-40B4-BE49-F238E27FC236}">
                <a16:creationId xmlns:a16="http://schemas.microsoft.com/office/drawing/2014/main" id="{B86CD820-1FDB-48A8-013E-B0A213C4B606}"/>
              </a:ext>
            </a:extLst>
          </p:cNvPr>
          <p:cNvSpPr/>
          <p:nvPr/>
        </p:nvSpPr>
        <p:spPr>
          <a:xfrm>
            <a:off x="529252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8" name="矩形 67">
            <a:extLst>
              <a:ext uri="{FF2B5EF4-FFF2-40B4-BE49-F238E27FC236}">
                <a16:creationId xmlns:a16="http://schemas.microsoft.com/office/drawing/2014/main" id="{C71CBD1A-EB07-82AB-56BA-0CE207E20A3D}"/>
              </a:ext>
            </a:extLst>
          </p:cNvPr>
          <p:cNvSpPr/>
          <p:nvPr/>
        </p:nvSpPr>
        <p:spPr>
          <a:xfrm>
            <a:off x="54652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9" name="矩形 68">
            <a:extLst>
              <a:ext uri="{FF2B5EF4-FFF2-40B4-BE49-F238E27FC236}">
                <a16:creationId xmlns:a16="http://schemas.microsoft.com/office/drawing/2014/main" id="{0F6E3DC4-7C23-86BA-6DC3-E5AF29B5DF2E}"/>
              </a:ext>
            </a:extLst>
          </p:cNvPr>
          <p:cNvSpPr/>
          <p:nvPr/>
        </p:nvSpPr>
        <p:spPr>
          <a:xfrm>
            <a:off x="56328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0" name="矩形 69">
            <a:extLst>
              <a:ext uri="{FF2B5EF4-FFF2-40B4-BE49-F238E27FC236}">
                <a16:creationId xmlns:a16="http://schemas.microsoft.com/office/drawing/2014/main" id="{B8D099FD-2063-A0D1-DF28-DC955412A5F7}"/>
              </a:ext>
            </a:extLst>
          </p:cNvPr>
          <p:cNvSpPr/>
          <p:nvPr/>
        </p:nvSpPr>
        <p:spPr>
          <a:xfrm>
            <a:off x="3598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1" name="矩形 70">
            <a:extLst>
              <a:ext uri="{FF2B5EF4-FFF2-40B4-BE49-F238E27FC236}">
                <a16:creationId xmlns:a16="http://schemas.microsoft.com/office/drawing/2014/main" id="{A24DEB99-21A5-9019-6FD2-4A23C74D458E}"/>
              </a:ext>
            </a:extLst>
          </p:cNvPr>
          <p:cNvSpPr/>
          <p:nvPr/>
        </p:nvSpPr>
        <p:spPr>
          <a:xfrm>
            <a:off x="5274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2" name="矩形 71">
            <a:extLst>
              <a:ext uri="{FF2B5EF4-FFF2-40B4-BE49-F238E27FC236}">
                <a16:creationId xmlns:a16="http://schemas.microsoft.com/office/drawing/2014/main" id="{D175E11E-4855-FDAF-1994-0CE406AC3A1F}"/>
              </a:ext>
            </a:extLst>
          </p:cNvPr>
          <p:cNvSpPr/>
          <p:nvPr/>
        </p:nvSpPr>
        <p:spPr>
          <a:xfrm>
            <a:off x="7002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3" name="矩形 72">
            <a:extLst>
              <a:ext uri="{FF2B5EF4-FFF2-40B4-BE49-F238E27FC236}">
                <a16:creationId xmlns:a16="http://schemas.microsoft.com/office/drawing/2014/main" id="{FFE9540D-21BD-5ED6-0211-C3F5711B2E58}"/>
              </a:ext>
            </a:extLst>
          </p:cNvPr>
          <p:cNvSpPr/>
          <p:nvPr/>
        </p:nvSpPr>
        <p:spPr>
          <a:xfrm>
            <a:off x="8678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5" name="矩形 74">
            <a:extLst>
              <a:ext uri="{FF2B5EF4-FFF2-40B4-BE49-F238E27FC236}">
                <a16:creationId xmlns:a16="http://schemas.microsoft.com/office/drawing/2014/main" id="{61486B14-865B-DD12-60E3-E099C7B59D63}"/>
              </a:ext>
            </a:extLst>
          </p:cNvPr>
          <p:cNvSpPr/>
          <p:nvPr/>
        </p:nvSpPr>
        <p:spPr>
          <a:xfrm>
            <a:off x="12082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6" name="矩形 75">
            <a:extLst>
              <a:ext uri="{FF2B5EF4-FFF2-40B4-BE49-F238E27FC236}">
                <a16:creationId xmlns:a16="http://schemas.microsoft.com/office/drawing/2014/main" id="{4989D250-F656-CF55-15BC-420CCBF56D84}"/>
              </a:ext>
            </a:extLst>
          </p:cNvPr>
          <p:cNvSpPr/>
          <p:nvPr/>
        </p:nvSpPr>
        <p:spPr>
          <a:xfrm>
            <a:off x="13809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7" name="矩形 76">
            <a:extLst>
              <a:ext uri="{FF2B5EF4-FFF2-40B4-BE49-F238E27FC236}">
                <a16:creationId xmlns:a16="http://schemas.microsoft.com/office/drawing/2014/main" id="{1A882D99-0E12-0B36-CB8D-6277F9CFCE42}"/>
              </a:ext>
            </a:extLst>
          </p:cNvPr>
          <p:cNvSpPr/>
          <p:nvPr/>
        </p:nvSpPr>
        <p:spPr>
          <a:xfrm>
            <a:off x="154856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8" name="矩形 77">
            <a:extLst>
              <a:ext uri="{FF2B5EF4-FFF2-40B4-BE49-F238E27FC236}">
                <a16:creationId xmlns:a16="http://schemas.microsoft.com/office/drawing/2014/main" id="{DDA36978-5CC4-77C9-9581-01D78CFCB761}"/>
              </a:ext>
            </a:extLst>
          </p:cNvPr>
          <p:cNvSpPr/>
          <p:nvPr/>
        </p:nvSpPr>
        <p:spPr>
          <a:xfrm>
            <a:off x="17212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9" name="矩形 78">
            <a:extLst>
              <a:ext uri="{FF2B5EF4-FFF2-40B4-BE49-F238E27FC236}">
                <a16:creationId xmlns:a16="http://schemas.microsoft.com/office/drawing/2014/main" id="{52348E21-5294-DA98-387F-E13874167CE1}"/>
              </a:ext>
            </a:extLst>
          </p:cNvPr>
          <p:cNvSpPr/>
          <p:nvPr/>
        </p:nvSpPr>
        <p:spPr>
          <a:xfrm>
            <a:off x="18889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0" name="矩形 79">
            <a:extLst>
              <a:ext uri="{FF2B5EF4-FFF2-40B4-BE49-F238E27FC236}">
                <a16:creationId xmlns:a16="http://schemas.microsoft.com/office/drawing/2014/main" id="{199D1A8C-E48B-380A-61E1-B6E2CD158CA8}"/>
              </a:ext>
            </a:extLst>
          </p:cNvPr>
          <p:cNvSpPr/>
          <p:nvPr/>
        </p:nvSpPr>
        <p:spPr>
          <a:xfrm>
            <a:off x="20616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1" name="矩形 80">
            <a:extLst>
              <a:ext uri="{FF2B5EF4-FFF2-40B4-BE49-F238E27FC236}">
                <a16:creationId xmlns:a16="http://schemas.microsoft.com/office/drawing/2014/main" id="{B6B301D7-BDDF-3A81-D6BC-483522F6C4BB}"/>
              </a:ext>
            </a:extLst>
          </p:cNvPr>
          <p:cNvSpPr/>
          <p:nvPr/>
        </p:nvSpPr>
        <p:spPr>
          <a:xfrm>
            <a:off x="22292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2" name="矩形 81">
            <a:extLst>
              <a:ext uri="{FF2B5EF4-FFF2-40B4-BE49-F238E27FC236}">
                <a16:creationId xmlns:a16="http://schemas.microsoft.com/office/drawing/2014/main" id="{CA9A96A0-680E-DF25-D9CF-763CB58ED938}"/>
              </a:ext>
            </a:extLst>
          </p:cNvPr>
          <p:cNvSpPr/>
          <p:nvPr/>
        </p:nvSpPr>
        <p:spPr>
          <a:xfrm>
            <a:off x="24020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3" name="矩形 82">
            <a:extLst>
              <a:ext uri="{FF2B5EF4-FFF2-40B4-BE49-F238E27FC236}">
                <a16:creationId xmlns:a16="http://schemas.microsoft.com/office/drawing/2014/main" id="{E8F663F7-11DE-BCDA-28CB-09EBF50BE2F4}"/>
              </a:ext>
            </a:extLst>
          </p:cNvPr>
          <p:cNvSpPr/>
          <p:nvPr/>
        </p:nvSpPr>
        <p:spPr>
          <a:xfrm>
            <a:off x="25696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5" name="矩形 84">
            <a:extLst>
              <a:ext uri="{FF2B5EF4-FFF2-40B4-BE49-F238E27FC236}">
                <a16:creationId xmlns:a16="http://schemas.microsoft.com/office/drawing/2014/main" id="{CBC1AB8D-0FCC-CC4B-95D3-9E1D9E8C222B}"/>
              </a:ext>
            </a:extLst>
          </p:cNvPr>
          <p:cNvSpPr/>
          <p:nvPr/>
        </p:nvSpPr>
        <p:spPr>
          <a:xfrm>
            <a:off x="29100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6" name="矩形 85">
            <a:extLst>
              <a:ext uri="{FF2B5EF4-FFF2-40B4-BE49-F238E27FC236}">
                <a16:creationId xmlns:a16="http://schemas.microsoft.com/office/drawing/2014/main" id="{93FA96B2-CDB5-9EE3-B898-5E60FEED23BD}"/>
              </a:ext>
            </a:extLst>
          </p:cNvPr>
          <p:cNvSpPr/>
          <p:nvPr/>
        </p:nvSpPr>
        <p:spPr>
          <a:xfrm>
            <a:off x="30827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7" name="矩形 86">
            <a:extLst>
              <a:ext uri="{FF2B5EF4-FFF2-40B4-BE49-F238E27FC236}">
                <a16:creationId xmlns:a16="http://schemas.microsoft.com/office/drawing/2014/main" id="{1C5820FE-98B8-8A94-920C-876526B6793D}"/>
              </a:ext>
            </a:extLst>
          </p:cNvPr>
          <p:cNvSpPr/>
          <p:nvPr/>
        </p:nvSpPr>
        <p:spPr>
          <a:xfrm>
            <a:off x="325036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8" name="矩形 87">
            <a:extLst>
              <a:ext uri="{FF2B5EF4-FFF2-40B4-BE49-F238E27FC236}">
                <a16:creationId xmlns:a16="http://schemas.microsoft.com/office/drawing/2014/main" id="{3495065F-3900-77DB-8414-EF3D18B1295B}"/>
              </a:ext>
            </a:extLst>
          </p:cNvPr>
          <p:cNvSpPr/>
          <p:nvPr/>
        </p:nvSpPr>
        <p:spPr>
          <a:xfrm>
            <a:off x="34230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9" name="矩形 88">
            <a:extLst>
              <a:ext uri="{FF2B5EF4-FFF2-40B4-BE49-F238E27FC236}">
                <a16:creationId xmlns:a16="http://schemas.microsoft.com/office/drawing/2014/main" id="{3E005947-F706-9ECB-C224-612070BF475D}"/>
              </a:ext>
            </a:extLst>
          </p:cNvPr>
          <p:cNvSpPr/>
          <p:nvPr/>
        </p:nvSpPr>
        <p:spPr>
          <a:xfrm>
            <a:off x="35907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0" name="矩形 89">
            <a:extLst>
              <a:ext uri="{FF2B5EF4-FFF2-40B4-BE49-F238E27FC236}">
                <a16:creationId xmlns:a16="http://schemas.microsoft.com/office/drawing/2014/main" id="{8F9D37EB-8E62-EF4B-2831-9A0F77804FEF}"/>
              </a:ext>
            </a:extLst>
          </p:cNvPr>
          <p:cNvSpPr/>
          <p:nvPr/>
        </p:nvSpPr>
        <p:spPr>
          <a:xfrm>
            <a:off x="37634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1" name="矩形 90">
            <a:extLst>
              <a:ext uri="{FF2B5EF4-FFF2-40B4-BE49-F238E27FC236}">
                <a16:creationId xmlns:a16="http://schemas.microsoft.com/office/drawing/2014/main" id="{7650897C-0D5C-0A19-529A-52B6256107E6}"/>
              </a:ext>
            </a:extLst>
          </p:cNvPr>
          <p:cNvSpPr/>
          <p:nvPr/>
        </p:nvSpPr>
        <p:spPr>
          <a:xfrm>
            <a:off x="39310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2" name="矩形 91">
            <a:extLst>
              <a:ext uri="{FF2B5EF4-FFF2-40B4-BE49-F238E27FC236}">
                <a16:creationId xmlns:a16="http://schemas.microsoft.com/office/drawing/2014/main" id="{1158A31D-0855-89FF-13CC-D6AF631D3171}"/>
              </a:ext>
            </a:extLst>
          </p:cNvPr>
          <p:cNvSpPr/>
          <p:nvPr/>
        </p:nvSpPr>
        <p:spPr>
          <a:xfrm>
            <a:off x="41038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3" name="矩形 92">
            <a:extLst>
              <a:ext uri="{FF2B5EF4-FFF2-40B4-BE49-F238E27FC236}">
                <a16:creationId xmlns:a16="http://schemas.microsoft.com/office/drawing/2014/main" id="{87D47DF2-4298-96FB-E41E-B7F061BB3969}"/>
              </a:ext>
            </a:extLst>
          </p:cNvPr>
          <p:cNvSpPr/>
          <p:nvPr/>
        </p:nvSpPr>
        <p:spPr>
          <a:xfrm>
            <a:off x="42714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4" name="矩形 93">
            <a:extLst>
              <a:ext uri="{FF2B5EF4-FFF2-40B4-BE49-F238E27FC236}">
                <a16:creationId xmlns:a16="http://schemas.microsoft.com/office/drawing/2014/main" id="{A62F82BF-4318-9EB4-0E8F-4883EEAB9026}"/>
              </a:ext>
            </a:extLst>
          </p:cNvPr>
          <p:cNvSpPr/>
          <p:nvPr/>
        </p:nvSpPr>
        <p:spPr>
          <a:xfrm>
            <a:off x="444416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5" name="矩形 94">
            <a:extLst>
              <a:ext uri="{FF2B5EF4-FFF2-40B4-BE49-F238E27FC236}">
                <a16:creationId xmlns:a16="http://schemas.microsoft.com/office/drawing/2014/main" id="{BF12AFF0-1C9F-DFEC-CBB5-328972386BD3}"/>
              </a:ext>
            </a:extLst>
          </p:cNvPr>
          <p:cNvSpPr/>
          <p:nvPr/>
        </p:nvSpPr>
        <p:spPr>
          <a:xfrm>
            <a:off x="46118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6" name="矩形 95">
            <a:extLst>
              <a:ext uri="{FF2B5EF4-FFF2-40B4-BE49-F238E27FC236}">
                <a16:creationId xmlns:a16="http://schemas.microsoft.com/office/drawing/2014/main" id="{683D0442-F160-B799-FF04-61F219D615E5}"/>
              </a:ext>
            </a:extLst>
          </p:cNvPr>
          <p:cNvSpPr/>
          <p:nvPr/>
        </p:nvSpPr>
        <p:spPr>
          <a:xfrm>
            <a:off x="47845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8" name="矩形 97">
            <a:extLst>
              <a:ext uri="{FF2B5EF4-FFF2-40B4-BE49-F238E27FC236}">
                <a16:creationId xmlns:a16="http://schemas.microsoft.com/office/drawing/2014/main" id="{84E7D62D-F04D-354B-126F-B9D1DF3EA78E}"/>
              </a:ext>
            </a:extLst>
          </p:cNvPr>
          <p:cNvSpPr/>
          <p:nvPr/>
        </p:nvSpPr>
        <p:spPr>
          <a:xfrm>
            <a:off x="51248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9" name="矩形 98">
            <a:extLst>
              <a:ext uri="{FF2B5EF4-FFF2-40B4-BE49-F238E27FC236}">
                <a16:creationId xmlns:a16="http://schemas.microsoft.com/office/drawing/2014/main" id="{7EE11842-E6C3-C378-1A3B-32B9C49D060E}"/>
              </a:ext>
            </a:extLst>
          </p:cNvPr>
          <p:cNvSpPr/>
          <p:nvPr/>
        </p:nvSpPr>
        <p:spPr>
          <a:xfrm>
            <a:off x="52925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0" name="矩形 99">
            <a:extLst>
              <a:ext uri="{FF2B5EF4-FFF2-40B4-BE49-F238E27FC236}">
                <a16:creationId xmlns:a16="http://schemas.microsoft.com/office/drawing/2014/main" id="{89AED06D-2A43-BA4F-4263-E9F0328F8CA5}"/>
              </a:ext>
            </a:extLst>
          </p:cNvPr>
          <p:cNvSpPr/>
          <p:nvPr/>
        </p:nvSpPr>
        <p:spPr>
          <a:xfrm>
            <a:off x="54652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1" name="矩形 100">
            <a:extLst>
              <a:ext uri="{FF2B5EF4-FFF2-40B4-BE49-F238E27FC236}">
                <a16:creationId xmlns:a16="http://schemas.microsoft.com/office/drawing/2014/main" id="{1DD1A83F-B7F8-5DBF-364E-1D38163B3917}"/>
              </a:ext>
            </a:extLst>
          </p:cNvPr>
          <p:cNvSpPr/>
          <p:nvPr/>
        </p:nvSpPr>
        <p:spPr>
          <a:xfrm>
            <a:off x="56328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2" name="矩形 101">
            <a:extLst>
              <a:ext uri="{FF2B5EF4-FFF2-40B4-BE49-F238E27FC236}">
                <a16:creationId xmlns:a16="http://schemas.microsoft.com/office/drawing/2014/main" id="{30787E46-F028-B357-BD3B-0C778ACF622F}"/>
              </a:ext>
            </a:extLst>
          </p:cNvPr>
          <p:cNvSpPr/>
          <p:nvPr/>
        </p:nvSpPr>
        <p:spPr>
          <a:xfrm>
            <a:off x="3598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3" name="矩形 102">
            <a:extLst>
              <a:ext uri="{FF2B5EF4-FFF2-40B4-BE49-F238E27FC236}">
                <a16:creationId xmlns:a16="http://schemas.microsoft.com/office/drawing/2014/main" id="{96C72A60-5142-3528-386A-9720DB32FCAF}"/>
              </a:ext>
            </a:extLst>
          </p:cNvPr>
          <p:cNvSpPr/>
          <p:nvPr/>
        </p:nvSpPr>
        <p:spPr>
          <a:xfrm>
            <a:off x="52748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4" name="矩形 103">
            <a:extLst>
              <a:ext uri="{FF2B5EF4-FFF2-40B4-BE49-F238E27FC236}">
                <a16:creationId xmlns:a16="http://schemas.microsoft.com/office/drawing/2014/main" id="{B9FF2E6C-5F20-4CF3-D1A6-DB6F289815E1}"/>
              </a:ext>
            </a:extLst>
          </p:cNvPr>
          <p:cNvSpPr/>
          <p:nvPr/>
        </p:nvSpPr>
        <p:spPr>
          <a:xfrm>
            <a:off x="7002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5" name="矩形 104">
            <a:extLst>
              <a:ext uri="{FF2B5EF4-FFF2-40B4-BE49-F238E27FC236}">
                <a16:creationId xmlns:a16="http://schemas.microsoft.com/office/drawing/2014/main" id="{AA217046-9BE9-3C3F-B76A-A6603A773390}"/>
              </a:ext>
            </a:extLst>
          </p:cNvPr>
          <p:cNvSpPr/>
          <p:nvPr/>
        </p:nvSpPr>
        <p:spPr>
          <a:xfrm>
            <a:off x="8678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6" name="矩形 105">
            <a:extLst>
              <a:ext uri="{FF2B5EF4-FFF2-40B4-BE49-F238E27FC236}">
                <a16:creationId xmlns:a16="http://schemas.microsoft.com/office/drawing/2014/main" id="{CC3446C2-7D00-7063-FFC1-EB0662086DDF}"/>
              </a:ext>
            </a:extLst>
          </p:cNvPr>
          <p:cNvSpPr/>
          <p:nvPr/>
        </p:nvSpPr>
        <p:spPr>
          <a:xfrm>
            <a:off x="10405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7" name="矩形 106">
            <a:extLst>
              <a:ext uri="{FF2B5EF4-FFF2-40B4-BE49-F238E27FC236}">
                <a16:creationId xmlns:a16="http://schemas.microsoft.com/office/drawing/2014/main" id="{D999EC79-D1AF-556D-E085-B71908B9D3D2}"/>
              </a:ext>
            </a:extLst>
          </p:cNvPr>
          <p:cNvSpPr/>
          <p:nvPr/>
        </p:nvSpPr>
        <p:spPr>
          <a:xfrm>
            <a:off x="12082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8" name="矩形 107">
            <a:extLst>
              <a:ext uri="{FF2B5EF4-FFF2-40B4-BE49-F238E27FC236}">
                <a16:creationId xmlns:a16="http://schemas.microsoft.com/office/drawing/2014/main" id="{8F845C10-961B-027E-0BE5-6CF8F09D6E77}"/>
              </a:ext>
            </a:extLst>
          </p:cNvPr>
          <p:cNvSpPr/>
          <p:nvPr/>
        </p:nvSpPr>
        <p:spPr>
          <a:xfrm>
            <a:off x="13809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9" name="矩形 108">
            <a:extLst>
              <a:ext uri="{FF2B5EF4-FFF2-40B4-BE49-F238E27FC236}">
                <a16:creationId xmlns:a16="http://schemas.microsoft.com/office/drawing/2014/main" id="{E6EBC5D9-D107-2723-CDAD-AD38F61A37BA}"/>
              </a:ext>
            </a:extLst>
          </p:cNvPr>
          <p:cNvSpPr/>
          <p:nvPr/>
        </p:nvSpPr>
        <p:spPr>
          <a:xfrm>
            <a:off x="15485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1" name="矩形 110">
            <a:extLst>
              <a:ext uri="{FF2B5EF4-FFF2-40B4-BE49-F238E27FC236}">
                <a16:creationId xmlns:a16="http://schemas.microsoft.com/office/drawing/2014/main" id="{A7FE88CB-4CBD-45C4-5CEE-7439F6B778BB}"/>
              </a:ext>
            </a:extLst>
          </p:cNvPr>
          <p:cNvSpPr/>
          <p:nvPr/>
        </p:nvSpPr>
        <p:spPr>
          <a:xfrm>
            <a:off x="18889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2" name="矩形 111">
            <a:extLst>
              <a:ext uri="{FF2B5EF4-FFF2-40B4-BE49-F238E27FC236}">
                <a16:creationId xmlns:a16="http://schemas.microsoft.com/office/drawing/2014/main" id="{38A8D650-B34F-8559-0E1C-BA16FDE61DCB}"/>
              </a:ext>
            </a:extLst>
          </p:cNvPr>
          <p:cNvSpPr/>
          <p:nvPr/>
        </p:nvSpPr>
        <p:spPr>
          <a:xfrm>
            <a:off x="20616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3" name="矩形 112">
            <a:extLst>
              <a:ext uri="{FF2B5EF4-FFF2-40B4-BE49-F238E27FC236}">
                <a16:creationId xmlns:a16="http://schemas.microsoft.com/office/drawing/2014/main" id="{397C2BB1-EF83-5FA0-124C-ADA9A1D545B5}"/>
              </a:ext>
            </a:extLst>
          </p:cNvPr>
          <p:cNvSpPr/>
          <p:nvPr/>
        </p:nvSpPr>
        <p:spPr>
          <a:xfrm>
            <a:off x="222928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4" name="矩形 113">
            <a:extLst>
              <a:ext uri="{FF2B5EF4-FFF2-40B4-BE49-F238E27FC236}">
                <a16:creationId xmlns:a16="http://schemas.microsoft.com/office/drawing/2014/main" id="{0C0EA991-0CE2-4C96-D9E3-827C2439C3F2}"/>
              </a:ext>
            </a:extLst>
          </p:cNvPr>
          <p:cNvSpPr/>
          <p:nvPr/>
        </p:nvSpPr>
        <p:spPr>
          <a:xfrm>
            <a:off x="24020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5" name="矩形 114">
            <a:extLst>
              <a:ext uri="{FF2B5EF4-FFF2-40B4-BE49-F238E27FC236}">
                <a16:creationId xmlns:a16="http://schemas.microsoft.com/office/drawing/2014/main" id="{912C971B-465E-4506-6333-C5C90BA20531}"/>
              </a:ext>
            </a:extLst>
          </p:cNvPr>
          <p:cNvSpPr/>
          <p:nvPr/>
        </p:nvSpPr>
        <p:spPr>
          <a:xfrm>
            <a:off x="25696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6" name="矩形 115">
            <a:extLst>
              <a:ext uri="{FF2B5EF4-FFF2-40B4-BE49-F238E27FC236}">
                <a16:creationId xmlns:a16="http://schemas.microsoft.com/office/drawing/2014/main" id="{F1A980FD-56C0-A9A4-5427-CA6C49202ADA}"/>
              </a:ext>
            </a:extLst>
          </p:cNvPr>
          <p:cNvSpPr/>
          <p:nvPr/>
        </p:nvSpPr>
        <p:spPr>
          <a:xfrm>
            <a:off x="27423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7" name="矩形 116">
            <a:extLst>
              <a:ext uri="{FF2B5EF4-FFF2-40B4-BE49-F238E27FC236}">
                <a16:creationId xmlns:a16="http://schemas.microsoft.com/office/drawing/2014/main" id="{555E1299-69BB-75F7-9A30-7FC44AB88246}"/>
              </a:ext>
            </a:extLst>
          </p:cNvPr>
          <p:cNvSpPr/>
          <p:nvPr/>
        </p:nvSpPr>
        <p:spPr>
          <a:xfrm>
            <a:off x="29100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8" name="矩形 117">
            <a:extLst>
              <a:ext uri="{FF2B5EF4-FFF2-40B4-BE49-F238E27FC236}">
                <a16:creationId xmlns:a16="http://schemas.microsoft.com/office/drawing/2014/main" id="{21A1E35C-A904-AF16-84C1-E43BE44DFC08}"/>
              </a:ext>
            </a:extLst>
          </p:cNvPr>
          <p:cNvSpPr/>
          <p:nvPr/>
        </p:nvSpPr>
        <p:spPr>
          <a:xfrm>
            <a:off x="30827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9" name="矩形 118">
            <a:extLst>
              <a:ext uri="{FF2B5EF4-FFF2-40B4-BE49-F238E27FC236}">
                <a16:creationId xmlns:a16="http://schemas.microsoft.com/office/drawing/2014/main" id="{070A23E9-1254-D475-0857-62DAED7C5F69}"/>
              </a:ext>
            </a:extLst>
          </p:cNvPr>
          <p:cNvSpPr/>
          <p:nvPr/>
        </p:nvSpPr>
        <p:spPr>
          <a:xfrm>
            <a:off x="32503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1" name="矩形 120">
            <a:extLst>
              <a:ext uri="{FF2B5EF4-FFF2-40B4-BE49-F238E27FC236}">
                <a16:creationId xmlns:a16="http://schemas.microsoft.com/office/drawing/2014/main" id="{6DD54C37-A7C6-1620-243E-2E1BBE0756FE}"/>
              </a:ext>
            </a:extLst>
          </p:cNvPr>
          <p:cNvSpPr/>
          <p:nvPr/>
        </p:nvSpPr>
        <p:spPr>
          <a:xfrm>
            <a:off x="35907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2" name="矩形 121">
            <a:extLst>
              <a:ext uri="{FF2B5EF4-FFF2-40B4-BE49-F238E27FC236}">
                <a16:creationId xmlns:a16="http://schemas.microsoft.com/office/drawing/2014/main" id="{2FE81E2F-1E5E-3C8F-754A-B39CB2188C6E}"/>
              </a:ext>
            </a:extLst>
          </p:cNvPr>
          <p:cNvSpPr/>
          <p:nvPr/>
        </p:nvSpPr>
        <p:spPr>
          <a:xfrm>
            <a:off x="37634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3" name="矩形 122">
            <a:extLst>
              <a:ext uri="{FF2B5EF4-FFF2-40B4-BE49-F238E27FC236}">
                <a16:creationId xmlns:a16="http://schemas.microsoft.com/office/drawing/2014/main" id="{67D598F5-5D37-56B4-63F5-BB3EB6E55C71}"/>
              </a:ext>
            </a:extLst>
          </p:cNvPr>
          <p:cNvSpPr/>
          <p:nvPr/>
        </p:nvSpPr>
        <p:spPr>
          <a:xfrm>
            <a:off x="393108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4" name="矩形 123">
            <a:extLst>
              <a:ext uri="{FF2B5EF4-FFF2-40B4-BE49-F238E27FC236}">
                <a16:creationId xmlns:a16="http://schemas.microsoft.com/office/drawing/2014/main" id="{E2F66444-B644-4A7F-C265-BAE87EBABB28}"/>
              </a:ext>
            </a:extLst>
          </p:cNvPr>
          <p:cNvSpPr/>
          <p:nvPr/>
        </p:nvSpPr>
        <p:spPr>
          <a:xfrm>
            <a:off x="41038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5" name="矩形 124">
            <a:extLst>
              <a:ext uri="{FF2B5EF4-FFF2-40B4-BE49-F238E27FC236}">
                <a16:creationId xmlns:a16="http://schemas.microsoft.com/office/drawing/2014/main" id="{01C32A55-2F36-3592-8BF3-6C644F1B4732}"/>
              </a:ext>
            </a:extLst>
          </p:cNvPr>
          <p:cNvSpPr/>
          <p:nvPr/>
        </p:nvSpPr>
        <p:spPr>
          <a:xfrm>
            <a:off x="42714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6" name="矩形 125">
            <a:extLst>
              <a:ext uri="{FF2B5EF4-FFF2-40B4-BE49-F238E27FC236}">
                <a16:creationId xmlns:a16="http://schemas.microsoft.com/office/drawing/2014/main" id="{646864E3-626B-C1AA-D0D6-5EE6E96FAAAD}"/>
              </a:ext>
            </a:extLst>
          </p:cNvPr>
          <p:cNvSpPr/>
          <p:nvPr/>
        </p:nvSpPr>
        <p:spPr>
          <a:xfrm>
            <a:off x="44441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7" name="矩形 126">
            <a:extLst>
              <a:ext uri="{FF2B5EF4-FFF2-40B4-BE49-F238E27FC236}">
                <a16:creationId xmlns:a16="http://schemas.microsoft.com/office/drawing/2014/main" id="{00B6907D-9D97-D14E-A24D-7B0DC299DC20}"/>
              </a:ext>
            </a:extLst>
          </p:cNvPr>
          <p:cNvSpPr/>
          <p:nvPr/>
        </p:nvSpPr>
        <p:spPr>
          <a:xfrm>
            <a:off x="46118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8" name="矩形 127">
            <a:extLst>
              <a:ext uri="{FF2B5EF4-FFF2-40B4-BE49-F238E27FC236}">
                <a16:creationId xmlns:a16="http://schemas.microsoft.com/office/drawing/2014/main" id="{2214BD18-5714-172A-81FD-4B9BAA16DC2F}"/>
              </a:ext>
            </a:extLst>
          </p:cNvPr>
          <p:cNvSpPr/>
          <p:nvPr/>
        </p:nvSpPr>
        <p:spPr>
          <a:xfrm>
            <a:off x="47845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9" name="矩形 128">
            <a:extLst>
              <a:ext uri="{FF2B5EF4-FFF2-40B4-BE49-F238E27FC236}">
                <a16:creationId xmlns:a16="http://schemas.microsoft.com/office/drawing/2014/main" id="{9999BFAC-5B86-6FF3-65AE-4AB407319BB8}"/>
              </a:ext>
            </a:extLst>
          </p:cNvPr>
          <p:cNvSpPr/>
          <p:nvPr/>
        </p:nvSpPr>
        <p:spPr>
          <a:xfrm>
            <a:off x="49521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0" name="矩形 129">
            <a:extLst>
              <a:ext uri="{FF2B5EF4-FFF2-40B4-BE49-F238E27FC236}">
                <a16:creationId xmlns:a16="http://schemas.microsoft.com/office/drawing/2014/main" id="{1B9C04B6-54CD-CBCC-2861-40AF60DECCE1}"/>
              </a:ext>
            </a:extLst>
          </p:cNvPr>
          <p:cNvSpPr/>
          <p:nvPr/>
        </p:nvSpPr>
        <p:spPr>
          <a:xfrm>
            <a:off x="512488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1" name="矩形 130">
            <a:extLst>
              <a:ext uri="{FF2B5EF4-FFF2-40B4-BE49-F238E27FC236}">
                <a16:creationId xmlns:a16="http://schemas.microsoft.com/office/drawing/2014/main" id="{1727D3CA-6D3F-4C55-5C62-C1F67279C3DC}"/>
              </a:ext>
            </a:extLst>
          </p:cNvPr>
          <p:cNvSpPr/>
          <p:nvPr/>
        </p:nvSpPr>
        <p:spPr>
          <a:xfrm>
            <a:off x="52925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2" name="矩形 131">
            <a:extLst>
              <a:ext uri="{FF2B5EF4-FFF2-40B4-BE49-F238E27FC236}">
                <a16:creationId xmlns:a16="http://schemas.microsoft.com/office/drawing/2014/main" id="{78C350FA-F29A-C67A-8853-82025F81F7CA}"/>
              </a:ext>
            </a:extLst>
          </p:cNvPr>
          <p:cNvSpPr/>
          <p:nvPr/>
        </p:nvSpPr>
        <p:spPr>
          <a:xfrm>
            <a:off x="54652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3" name="矩形 132">
            <a:extLst>
              <a:ext uri="{FF2B5EF4-FFF2-40B4-BE49-F238E27FC236}">
                <a16:creationId xmlns:a16="http://schemas.microsoft.com/office/drawing/2014/main" id="{84F98D74-536A-15F7-FBE1-94EC646B7016}"/>
              </a:ext>
            </a:extLst>
          </p:cNvPr>
          <p:cNvSpPr/>
          <p:nvPr/>
        </p:nvSpPr>
        <p:spPr>
          <a:xfrm>
            <a:off x="563288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4" name="矩形 133">
            <a:extLst>
              <a:ext uri="{FF2B5EF4-FFF2-40B4-BE49-F238E27FC236}">
                <a16:creationId xmlns:a16="http://schemas.microsoft.com/office/drawing/2014/main" id="{D1183902-FBED-BB64-E9F2-36F43BF65039}"/>
              </a:ext>
            </a:extLst>
          </p:cNvPr>
          <p:cNvSpPr/>
          <p:nvPr/>
        </p:nvSpPr>
        <p:spPr>
          <a:xfrm>
            <a:off x="35984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5" name="矩形 134">
            <a:extLst>
              <a:ext uri="{FF2B5EF4-FFF2-40B4-BE49-F238E27FC236}">
                <a16:creationId xmlns:a16="http://schemas.microsoft.com/office/drawing/2014/main" id="{9100EA51-9FDB-6046-F706-89BEC5D3160E}"/>
              </a:ext>
            </a:extLst>
          </p:cNvPr>
          <p:cNvSpPr/>
          <p:nvPr/>
        </p:nvSpPr>
        <p:spPr>
          <a:xfrm>
            <a:off x="52748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6" name="矩形 135">
            <a:extLst>
              <a:ext uri="{FF2B5EF4-FFF2-40B4-BE49-F238E27FC236}">
                <a16:creationId xmlns:a16="http://schemas.microsoft.com/office/drawing/2014/main" id="{7ECB592F-8F7A-1CC2-4155-D0B27A4853B4}"/>
              </a:ext>
            </a:extLst>
          </p:cNvPr>
          <p:cNvSpPr/>
          <p:nvPr/>
        </p:nvSpPr>
        <p:spPr>
          <a:xfrm>
            <a:off x="70020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7" name="矩形 136">
            <a:extLst>
              <a:ext uri="{FF2B5EF4-FFF2-40B4-BE49-F238E27FC236}">
                <a16:creationId xmlns:a16="http://schemas.microsoft.com/office/drawing/2014/main" id="{FEAA6219-93A0-F692-627F-D4128D79A4E8}"/>
              </a:ext>
            </a:extLst>
          </p:cNvPr>
          <p:cNvSpPr/>
          <p:nvPr/>
        </p:nvSpPr>
        <p:spPr>
          <a:xfrm>
            <a:off x="86784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8" name="矩形 137">
            <a:extLst>
              <a:ext uri="{FF2B5EF4-FFF2-40B4-BE49-F238E27FC236}">
                <a16:creationId xmlns:a16="http://schemas.microsoft.com/office/drawing/2014/main" id="{82AD9B49-F08C-9DA9-F471-FB1DCD5D7058}"/>
              </a:ext>
            </a:extLst>
          </p:cNvPr>
          <p:cNvSpPr/>
          <p:nvPr/>
        </p:nvSpPr>
        <p:spPr>
          <a:xfrm>
            <a:off x="104056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9" name="矩形 138">
            <a:extLst>
              <a:ext uri="{FF2B5EF4-FFF2-40B4-BE49-F238E27FC236}">
                <a16:creationId xmlns:a16="http://schemas.microsoft.com/office/drawing/2014/main" id="{5D1D5060-8833-62F8-E130-E3B0284A87C2}"/>
              </a:ext>
            </a:extLst>
          </p:cNvPr>
          <p:cNvSpPr/>
          <p:nvPr/>
        </p:nvSpPr>
        <p:spPr>
          <a:xfrm>
            <a:off x="120820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0" name="矩形 139">
            <a:extLst>
              <a:ext uri="{FF2B5EF4-FFF2-40B4-BE49-F238E27FC236}">
                <a16:creationId xmlns:a16="http://schemas.microsoft.com/office/drawing/2014/main" id="{1ED1812C-71F7-30DB-107A-B870B51B023F}"/>
              </a:ext>
            </a:extLst>
          </p:cNvPr>
          <p:cNvSpPr/>
          <p:nvPr/>
        </p:nvSpPr>
        <p:spPr>
          <a:xfrm>
            <a:off x="138092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1" name="矩形 140">
            <a:extLst>
              <a:ext uri="{FF2B5EF4-FFF2-40B4-BE49-F238E27FC236}">
                <a16:creationId xmlns:a16="http://schemas.microsoft.com/office/drawing/2014/main" id="{C4BBF28B-A8F3-97AE-AEF2-2331A3790C08}"/>
              </a:ext>
            </a:extLst>
          </p:cNvPr>
          <p:cNvSpPr/>
          <p:nvPr/>
        </p:nvSpPr>
        <p:spPr>
          <a:xfrm>
            <a:off x="154856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2" name="矩形 141">
            <a:extLst>
              <a:ext uri="{FF2B5EF4-FFF2-40B4-BE49-F238E27FC236}">
                <a16:creationId xmlns:a16="http://schemas.microsoft.com/office/drawing/2014/main" id="{377A78A8-B943-9426-2CB1-2CE7D81B3C38}"/>
              </a:ext>
            </a:extLst>
          </p:cNvPr>
          <p:cNvSpPr/>
          <p:nvPr/>
        </p:nvSpPr>
        <p:spPr>
          <a:xfrm>
            <a:off x="172128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3" name="矩形 142">
            <a:extLst>
              <a:ext uri="{FF2B5EF4-FFF2-40B4-BE49-F238E27FC236}">
                <a16:creationId xmlns:a16="http://schemas.microsoft.com/office/drawing/2014/main" id="{C95423B3-3D12-7A51-29AF-D38CD7128ECE}"/>
              </a:ext>
            </a:extLst>
          </p:cNvPr>
          <p:cNvSpPr/>
          <p:nvPr/>
        </p:nvSpPr>
        <p:spPr>
          <a:xfrm>
            <a:off x="188892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4" name="矩形 143">
            <a:extLst>
              <a:ext uri="{FF2B5EF4-FFF2-40B4-BE49-F238E27FC236}">
                <a16:creationId xmlns:a16="http://schemas.microsoft.com/office/drawing/2014/main" id="{AB116770-CBCB-75DA-EF25-2DE1F6C5A69C}"/>
              </a:ext>
            </a:extLst>
          </p:cNvPr>
          <p:cNvSpPr/>
          <p:nvPr/>
        </p:nvSpPr>
        <p:spPr>
          <a:xfrm>
            <a:off x="206164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nvGrpSpPr>
          <p:cNvPr id="201" name="群組 200">
            <a:extLst>
              <a:ext uri="{FF2B5EF4-FFF2-40B4-BE49-F238E27FC236}">
                <a16:creationId xmlns:a16="http://schemas.microsoft.com/office/drawing/2014/main" id="{6B676AA0-0C85-BBF7-88DE-5503DCB3A566}"/>
              </a:ext>
            </a:extLst>
          </p:cNvPr>
          <p:cNvGrpSpPr/>
          <p:nvPr/>
        </p:nvGrpSpPr>
        <p:grpSpPr>
          <a:xfrm>
            <a:off x="527481" y="5018308"/>
            <a:ext cx="4937760" cy="1004446"/>
            <a:chOff x="527481" y="5018308"/>
            <a:chExt cx="4937760" cy="1004446"/>
          </a:xfrm>
        </p:grpSpPr>
        <p:sp>
          <p:nvSpPr>
            <p:cNvPr id="7" name="矩形 6">
              <a:extLst>
                <a:ext uri="{FF2B5EF4-FFF2-40B4-BE49-F238E27FC236}">
                  <a16:creationId xmlns:a16="http://schemas.microsoft.com/office/drawing/2014/main" id="{CF0542F0-1330-CE19-7907-BB634AD47922}"/>
                </a:ext>
              </a:extLst>
            </p:cNvPr>
            <p:cNvSpPr/>
            <p:nvPr/>
          </p:nvSpPr>
          <p:spPr>
            <a:xfrm>
              <a:off x="527481" y="5018308"/>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 name="矩形 11">
              <a:extLst>
                <a:ext uri="{FF2B5EF4-FFF2-40B4-BE49-F238E27FC236}">
                  <a16:creationId xmlns:a16="http://schemas.microsoft.com/office/drawing/2014/main" id="{34934486-15DE-138B-B80E-CD14CC12B5EF}"/>
                </a:ext>
              </a:extLst>
            </p:cNvPr>
            <p:cNvSpPr/>
            <p:nvPr/>
          </p:nvSpPr>
          <p:spPr>
            <a:xfrm>
              <a:off x="1380921" y="5018308"/>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矩形 19">
              <a:extLst>
                <a:ext uri="{FF2B5EF4-FFF2-40B4-BE49-F238E27FC236}">
                  <a16:creationId xmlns:a16="http://schemas.microsoft.com/office/drawing/2014/main" id="{0B5FD4AB-1B4E-F485-0805-BAAFAAD13E81}"/>
                </a:ext>
              </a:extLst>
            </p:cNvPr>
            <p:cNvSpPr/>
            <p:nvPr/>
          </p:nvSpPr>
          <p:spPr>
            <a:xfrm>
              <a:off x="2742361" y="5018308"/>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5" name="矩形 34">
              <a:extLst>
                <a:ext uri="{FF2B5EF4-FFF2-40B4-BE49-F238E27FC236}">
                  <a16:creationId xmlns:a16="http://schemas.microsoft.com/office/drawing/2014/main" id="{4FA3199A-CF01-70D7-72B4-2BBCCA874530}"/>
                </a:ext>
              </a:extLst>
            </p:cNvPr>
            <p:cNvSpPr/>
            <p:nvPr/>
          </p:nvSpPr>
          <p:spPr>
            <a:xfrm>
              <a:off x="5292521" y="5018308"/>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7" name="矩形 46">
              <a:extLst>
                <a:ext uri="{FF2B5EF4-FFF2-40B4-BE49-F238E27FC236}">
                  <a16:creationId xmlns:a16="http://schemas.microsoft.com/office/drawing/2014/main" id="{2281AA4E-A209-2DD4-D52A-05EB22B0F928}"/>
                </a:ext>
              </a:extLst>
            </p:cNvPr>
            <p:cNvSpPr/>
            <p:nvPr/>
          </p:nvSpPr>
          <p:spPr>
            <a:xfrm>
              <a:off x="1888921" y="5217357"/>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9" name="矩形 58">
              <a:extLst>
                <a:ext uri="{FF2B5EF4-FFF2-40B4-BE49-F238E27FC236}">
                  <a16:creationId xmlns:a16="http://schemas.microsoft.com/office/drawing/2014/main" id="{0957FFB9-D83D-A1C7-E206-CF78B51F88C0}"/>
                </a:ext>
              </a:extLst>
            </p:cNvPr>
            <p:cNvSpPr/>
            <p:nvPr/>
          </p:nvSpPr>
          <p:spPr>
            <a:xfrm>
              <a:off x="3931081" y="5217357"/>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4" name="矩形 73">
              <a:extLst>
                <a:ext uri="{FF2B5EF4-FFF2-40B4-BE49-F238E27FC236}">
                  <a16:creationId xmlns:a16="http://schemas.microsoft.com/office/drawing/2014/main" id="{A55453E0-8E43-D72B-B7AF-A7385C3947FD}"/>
                </a:ext>
              </a:extLst>
            </p:cNvPr>
            <p:cNvSpPr/>
            <p:nvPr/>
          </p:nvSpPr>
          <p:spPr>
            <a:xfrm>
              <a:off x="1040561" y="5416406"/>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4" name="矩形 83">
              <a:extLst>
                <a:ext uri="{FF2B5EF4-FFF2-40B4-BE49-F238E27FC236}">
                  <a16:creationId xmlns:a16="http://schemas.microsoft.com/office/drawing/2014/main" id="{F9939147-D954-0A21-8B82-A28B9F3AECCD}"/>
                </a:ext>
              </a:extLst>
            </p:cNvPr>
            <p:cNvSpPr/>
            <p:nvPr/>
          </p:nvSpPr>
          <p:spPr>
            <a:xfrm>
              <a:off x="2742361" y="5416406"/>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7" name="矩形 96">
              <a:extLst>
                <a:ext uri="{FF2B5EF4-FFF2-40B4-BE49-F238E27FC236}">
                  <a16:creationId xmlns:a16="http://schemas.microsoft.com/office/drawing/2014/main" id="{F43665E2-400B-A954-C4B1-D750C43B34F2}"/>
                </a:ext>
              </a:extLst>
            </p:cNvPr>
            <p:cNvSpPr/>
            <p:nvPr/>
          </p:nvSpPr>
          <p:spPr>
            <a:xfrm>
              <a:off x="4952161" y="5416406"/>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0" name="矩形 109">
              <a:extLst>
                <a:ext uri="{FF2B5EF4-FFF2-40B4-BE49-F238E27FC236}">
                  <a16:creationId xmlns:a16="http://schemas.microsoft.com/office/drawing/2014/main" id="{E162BDE3-08CD-41D0-1DE7-D475C22B8B4E}"/>
                </a:ext>
              </a:extLst>
            </p:cNvPr>
            <p:cNvSpPr/>
            <p:nvPr/>
          </p:nvSpPr>
          <p:spPr>
            <a:xfrm>
              <a:off x="1721281" y="5615455"/>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0" name="矩形 119">
              <a:extLst>
                <a:ext uri="{FF2B5EF4-FFF2-40B4-BE49-F238E27FC236}">
                  <a16:creationId xmlns:a16="http://schemas.microsoft.com/office/drawing/2014/main" id="{3EB3282F-7913-F7BB-80AE-9D4690C66EBD}"/>
                </a:ext>
              </a:extLst>
            </p:cNvPr>
            <p:cNvSpPr/>
            <p:nvPr/>
          </p:nvSpPr>
          <p:spPr>
            <a:xfrm>
              <a:off x="3423081" y="5615455"/>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5" name="矩形 144">
              <a:extLst>
                <a:ext uri="{FF2B5EF4-FFF2-40B4-BE49-F238E27FC236}">
                  <a16:creationId xmlns:a16="http://schemas.microsoft.com/office/drawing/2014/main" id="{3CDFB37C-A58B-0FD2-3596-BD25019BD2A4}"/>
                </a:ext>
              </a:extLst>
            </p:cNvPr>
            <p:cNvSpPr/>
            <p:nvPr/>
          </p:nvSpPr>
          <p:spPr>
            <a:xfrm>
              <a:off x="2229281" y="5819554"/>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167" name="文字方塊 166">
            <a:extLst>
              <a:ext uri="{FF2B5EF4-FFF2-40B4-BE49-F238E27FC236}">
                <a16:creationId xmlns:a16="http://schemas.microsoft.com/office/drawing/2014/main" id="{FEF424C7-035C-0A79-613D-1CC1140C1E4C}"/>
              </a:ext>
            </a:extLst>
          </p:cNvPr>
          <p:cNvSpPr txBox="1"/>
          <p:nvPr/>
        </p:nvSpPr>
        <p:spPr>
          <a:xfrm>
            <a:off x="644317" y="5980848"/>
            <a:ext cx="5384807"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140-bits</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bitmap</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of</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priority</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array</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(Active</a:t>
            </a:r>
            <a:r>
              <a:rPr kumimoji="1" lang="zh-TW" altLang="en-US" sz="1400" dirty="0">
                <a:latin typeface="Arial" panose="020B0604020202020204" pitchFamily="34" charset="0"/>
                <a:cs typeface="Arial" panose="020B0604020202020204" pitchFamily="34" charset="0"/>
              </a:rPr>
              <a:t> </a:t>
            </a:r>
            <a:r>
              <a:rPr kumimoji="1" lang="en-US" altLang="zh-TW" sz="1400" dirty="0" err="1">
                <a:latin typeface="Arial" panose="020B0604020202020204" pitchFamily="34" charset="0"/>
                <a:cs typeface="Arial" panose="020B0604020202020204" pitchFamily="34" charset="0"/>
              </a:rPr>
              <a:t>bitarray</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&amp;</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Expired</a:t>
            </a:r>
            <a:r>
              <a:rPr kumimoji="1" lang="zh-TW" altLang="en-US" sz="1400" dirty="0">
                <a:latin typeface="Arial" panose="020B0604020202020204" pitchFamily="34" charset="0"/>
                <a:cs typeface="Arial" panose="020B0604020202020204" pitchFamily="34" charset="0"/>
              </a:rPr>
              <a:t> </a:t>
            </a:r>
            <a:r>
              <a:rPr kumimoji="1" lang="en-US" altLang="zh-TW" sz="1400" dirty="0" err="1">
                <a:latin typeface="Arial" panose="020B0604020202020204" pitchFamily="34" charset="0"/>
                <a:cs typeface="Arial" panose="020B0604020202020204" pitchFamily="34" charset="0"/>
              </a:rPr>
              <a:t>bitarray</a:t>
            </a:r>
            <a:r>
              <a:rPr kumimoji="1" lang="en-US" altLang="zh-TW" sz="1400" dirty="0">
                <a:latin typeface="Arial" panose="020B0604020202020204" pitchFamily="34" charset="0"/>
                <a:cs typeface="Arial" panose="020B0604020202020204" pitchFamily="34" charset="0"/>
              </a:rPr>
              <a:t>)</a:t>
            </a:r>
            <a:endParaRPr kumimoji="1" lang="zh-TW" altLang="en-US" sz="1400" dirty="0">
              <a:latin typeface="Arial" panose="020B0604020202020204" pitchFamily="34" charset="0"/>
              <a:cs typeface="Arial" panose="020B0604020202020204" pitchFamily="34" charset="0"/>
            </a:endParaRPr>
          </a:p>
        </p:txBody>
      </p:sp>
      <p:sp>
        <p:nvSpPr>
          <p:cNvPr id="168" name="矩形 167">
            <a:extLst>
              <a:ext uri="{FF2B5EF4-FFF2-40B4-BE49-F238E27FC236}">
                <a16:creationId xmlns:a16="http://schemas.microsoft.com/office/drawing/2014/main" id="{D206E39F-370A-9D15-26CE-96855981222F}"/>
              </a:ext>
            </a:extLst>
          </p:cNvPr>
          <p:cNvSpPr/>
          <p:nvPr/>
        </p:nvSpPr>
        <p:spPr>
          <a:xfrm>
            <a:off x="6902884" y="4818341"/>
            <a:ext cx="900000" cy="2032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Queue</a:t>
            </a:r>
            <a:r>
              <a:rPr kumimoji="1" lang="zh-TW" altLang="en-US" sz="1400" dirty="0">
                <a:solidFill>
                  <a:schemeClr val="tx1"/>
                </a:solidFill>
              </a:rPr>
              <a:t> </a:t>
            </a:r>
            <a:r>
              <a:rPr kumimoji="1" lang="en-US" altLang="zh-TW" sz="1400" dirty="0">
                <a:solidFill>
                  <a:schemeClr val="tx1"/>
                </a:solidFill>
              </a:rPr>
              <a:t>0</a:t>
            </a:r>
            <a:endParaRPr kumimoji="1" lang="zh-TW" altLang="en-US" sz="1400" dirty="0">
              <a:solidFill>
                <a:schemeClr val="tx1"/>
              </a:solidFill>
            </a:endParaRPr>
          </a:p>
        </p:txBody>
      </p:sp>
      <p:sp>
        <p:nvSpPr>
          <p:cNvPr id="169" name="矩形 168">
            <a:extLst>
              <a:ext uri="{FF2B5EF4-FFF2-40B4-BE49-F238E27FC236}">
                <a16:creationId xmlns:a16="http://schemas.microsoft.com/office/drawing/2014/main" id="{A2FD7B07-8E64-711C-8A95-F87EC1C0F704}"/>
              </a:ext>
            </a:extLst>
          </p:cNvPr>
          <p:cNvSpPr/>
          <p:nvPr/>
        </p:nvSpPr>
        <p:spPr>
          <a:xfrm>
            <a:off x="6902884" y="5178616"/>
            <a:ext cx="900000" cy="203200"/>
          </a:xfrm>
          <a:prstGeom prst="rect">
            <a:avLst/>
          </a:prstGeom>
          <a:solidFill>
            <a:schemeClr val="bg1">
              <a:lumMod val="95000"/>
            </a:scheme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Queue</a:t>
            </a:r>
            <a:r>
              <a:rPr kumimoji="1" lang="zh-TW" altLang="en-US" sz="1400" dirty="0">
                <a:solidFill>
                  <a:schemeClr val="tx1"/>
                </a:solidFill>
              </a:rPr>
              <a:t> </a:t>
            </a:r>
            <a:r>
              <a:rPr kumimoji="1" lang="en-US" altLang="zh-TW" sz="1400" dirty="0">
                <a:solidFill>
                  <a:schemeClr val="tx1"/>
                </a:solidFill>
              </a:rPr>
              <a:t>1</a:t>
            </a:r>
            <a:endParaRPr kumimoji="1" lang="zh-TW" altLang="en-US" sz="1400" dirty="0">
              <a:solidFill>
                <a:schemeClr val="tx1"/>
              </a:solidFill>
            </a:endParaRPr>
          </a:p>
        </p:txBody>
      </p:sp>
      <p:sp>
        <p:nvSpPr>
          <p:cNvPr id="170" name="矩形 169">
            <a:extLst>
              <a:ext uri="{FF2B5EF4-FFF2-40B4-BE49-F238E27FC236}">
                <a16:creationId xmlns:a16="http://schemas.microsoft.com/office/drawing/2014/main" id="{77B9B027-7EA3-2853-31B1-A58574885B50}"/>
              </a:ext>
            </a:extLst>
          </p:cNvPr>
          <p:cNvSpPr/>
          <p:nvPr/>
        </p:nvSpPr>
        <p:spPr>
          <a:xfrm>
            <a:off x="6902884" y="5850299"/>
            <a:ext cx="900000" cy="2032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Queue</a:t>
            </a:r>
            <a:r>
              <a:rPr kumimoji="1" lang="zh-TW" altLang="en-US" sz="1400" dirty="0">
                <a:solidFill>
                  <a:schemeClr val="tx1"/>
                </a:solidFill>
              </a:rPr>
              <a:t> </a:t>
            </a:r>
            <a:r>
              <a:rPr kumimoji="1" lang="en-US" altLang="zh-TW" sz="1400" dirty="0">
                <a:solidFill>
                  <a:schemeClr val="tx1"/>
                </a:solidFill>
              </a:rPr>
              <a:t>139</a:t>
            </a:r>
            <a:endParaRPr kumimoji="1" lang="zh-TW" altLang="en-US" sz="1400" dirty="0">
              <a:solidFill>
                <a:schemeClr val="tx1"/>
              </a:solidFill>
            </a:endParaRPr>
          </a:p>
        </p:txBody>
      </p:sp>
      <p:sp>
        <p:nvSpPr>
          <p:cNvPr id="171" name="矩形 170">
            <a:extLst>
              <a:ext uri="{FF2B5EF4-FFF2-40B4-BE49-F238E27FC236}">
                <a16:creationId xmlns:a16="http://schemas.microsoft.com/office/drawing/2014/main" id="{EFBE2776-5AC3-4D3D-1E93-F4EF56FDF3A3}"/>
              </a:ext>
            </a:extLst>
          </p:cNvPr>
          <p:cNvSpPr/>
          <p:nvPr/>
        </p:nvSpPr>
        <p:spPr>
          <a:xfrm>
            <a:off x="8095848" y="4818341"/>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Null</a:t>
            </a:r>
            <a:endParaRPr kumimoji="1" lang="zh-TW" altLang="en-US" sz="1400" dirty="0">
              <a:solidFill>
                <a:schemeClr val="tx1"/>
              </a:solidFill>
            </a:endParaRPr>
          </a:p>
        </p:txBody>
      </p:sp>
      <p:sp>
        <p:nvSpPr>
          <p:cNvPr id="172" name="矩形 171">
            <a:extLst>
              <a:ext uri="{FF2B5EF4-FFF2-40B4-BE49-F238E27FC236}">
                <a16:creationId xmlns:a16="http://schemas.microsoft.com/office/drawing/2014/main" id="{BC2492EE-2487-4135-2048-9B5230068719}"/>
              </a:ext>
            </a:extLst>
          </p:cNvPr>
          <p:cNvSpPr/>
          <p:nvPr/>
        </p:nvSpPr>
        <p:spPr>
          <a:xfrm>
            <a:off x="9268040" y="5178616"/>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Task 3</a:t>
            </a:r>
            <a:endParaRPr kumimoji="1" lang="zh-TW" altLang="en-US" sz="1400" dirty="0">
              <a:solidFill>
                <a:schemeClr val="tx1"/>
              </a:solidFill>
            </a:endParaRPr>
          </a:p>
        </p:txBody>
      </p:sp>
      <p:sp>
        <p:nvSpPr>
          <p:cNvPr id="173" name="矩形 172">
            <a:extLst>
              <a:ext uri="{FF2B5EF4-FFF2-40B4-BE49-F238E27FC236}">
                <a16:creationId xmlns:a16="http://schemas.microsoft.com/office/drawing/2014/main" id="{3FD016DE-2FF4-FEEA-9446-387CAB125ACC}"/>
              </a:ext>
            </a:extLst>
          </p:cNvPr>
          <p:cNvSpPr/>
          <p:nvPr/>
        </p:nvSpPr>
        <p:spPr>
          <a:xfrm>
            <a:off x="8095848" y="5178616"/>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Task 1</a:t>
            </a:r>
            <a:endParaRPr kumimoji="1" lang="zh-TW" altLang="en-US" sz="1400" dirty="0">
              <a:solidFill>
                <a:schemeClr val="tx1"/>
              </a:solidFill>
            </a:endParaRPr>
          </a:p>
        </p:txBody>
      </p:sp>
      <p:sp>
        <p:nvSpPr>
          <p:cNvPr id="174" name="矩形 173">
            <a:extLst>
              <a:ext uri="{FF2B5EF4-FFF2-40B4-BE49-F238E27FC236}">
                <a16:creationId xmlns:a16="http://schemas.microsoft.com/office/drawing/2014/main" id="{BCABB14F-AB5E-CFC6-1429-A6956DAA6345}"/>
              </a:ext>
            </a:extLst>
          </p:cNvPr>
          <p:cNvSpPr/>
          <p:nvPr/>
        </p:nvSpPr>
        <p:spPr>
          <a:xfrm>
            <a:off x="8095848" y="5850299"/>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Task 10</a:t>
            </a:r>
            <a:endParaRPr kumimoji="1" lang="zh-TW" altLang="en-US" sz="1400" dirty="0">
              <a:solidFill>
                <a:schemeClr val="tx1"/>
              </a:solidFill>
            </a:endParaRPr>
          </a:p>
        </p:txBody>
      </p:sp>
      <p:sp>
        <p:nvSpPr>
          <p:cNvPr id="175" name="矩形 174">
            <a:extLst>
              <a:ext uri="{FF2B5EF4-FFF2-40B4-BE49-F238E27FC236}">
                <a16:creationId xmlns:a16="http://schemas.microsoft.com/office/drawing/2014/main" id="{6A37A37F-68F6-B1AF-7B20-1073E65E41AA}"/>
              </a:ext>
            </a:extLst>
          </p:cNvPr>
          <p:cNvSpPr/>
          <p:nvPr/>
        </p:nvSpPr>
        <p:spPr>
          <a:xfrm>
            <a:off x="9267204" y="5850299"/>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Task 4</a:t>
            </a:r>
            <a:endParaRPr kumimoji="1" lang="zh-TW" altLang="en-US" sz="1400" dirty="0">
              <a:solidFill>
                <a:schemeClr val="tx1"/>
              </a:solidFill>
            </a:endParaRPr>
          </a:p>
        </p:txBody>
      </p:sp>
      <p:sp>
        <p:nvSpPr>
          <p:cNvPr id="176" name="矩形 175">
            <a:extLst>
              <a:ext uri="{FF2B5EF4-FFF2-40B4-BE49-F238E27FC236}">
                <a16:creationId xmlns:a16="http://schemas.microsoft.com/office/drawing/2014/main" id="{2418E0EC-78C5-E564-8CDC-2428E4AC8A1D}"/>
              </a:ext>
            </a:extLst>
          </p:cNvPr>
          <p:cNvSpPr/>
          <p:nvPr/>
        </p:nvSpPr>
        <p:spPr>
          <a:xfrm>
            <a:off x="10519840" y="5850299"/>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Task 2</a:t>
            </a:r>
            <a:endParaRPr kumimoji="1" lang="zh-TW" altLang="en-US" sz="1400" dirty="0">
              <a:solidFill>
                <a:schemeClr val="tx1"/>
              </a:solidFill>
            </a:endParaRPr>
          </a:p>
        </p:txBody>
      </p:sp>
      <p:sp>
        <p:nvSpPr>
          <p:cNvPr id="177" name="文字方塊 176">
            <a:extLst>
              <a:ext uri="{FF2B5EF4-FFF2-40B4-BE49-F238E27FC236}">
                <a16:creationId xmlns:a16="http://schemas.microsoft.com/office/drawing/2014/main" id="{603BA664-6F83-3A67-DE82-DE6C5925CE55}"/>
              </a:ext>
            </a:extLst>
          </p:cNvPr>
          <p:cNvSpPr txBox="1"/>
          <p:nvPr/>
        </p:nvSpPr>
        <p:spPr>
          <a:xfrm>
            <a:off x="8575801" y="6115647"/>
            <a:ext cx="1141403"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Active</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Array</a:t>
            </a:r>
            <a:endParaRPr kumimoji="1" lang="zh-TW" altLang="en-US" sz="1400" dirty="0">
              <a:latin typeface="Arial" panose="020B0604020202020204" pitchFamily="34" charset="0"/>
              <a:cs typeface="Arial" panose="020B0604020202020204" pitchFamily="34" charset="0"/>
            </a:endParaRPr>
          </a:p>
        </p:txBody>
      </p:sp>
      <p:cxnSp>
        <p:nvCxnSpPr>
          <p:cNvPr id="179" name="直線箭頭接點 178">
            <a:extLst>
              <a:ext uri="{FF2B5EF4-FFF2-40B4-BE49-F238E27FC236}">
                <a16:creationId xmlns:a16="http://schemas.microsoft.com/office/drawing/2014/main" id="{FC8E0C5D-C3A8-6ED7-B00A-BBAD70EDA30C}"/>
              </a:ext>
            </a:extLst>
          </p:cNvPr>
          <p:cNvCxnSpPr>
            <a:cxnSpLocks/>
          </p:cNvCxnSpPr>
          <p:nvPr/>
        </p:nvCxnSpPr>
        <p:spPr>
          <a:xfrm>
            <a:off x="7810500" y="4872061"/>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1" name="直線箭頭接點 180">
            <a:extLst>
              <a:ext uri="{FF2B5EF4-FFF2-40B4-BE49-F238E27FC236}">
                <a16:creationId xmlns:a16="http://schemas.microsoft.com/office/drawing/2014/main" id="{3AC65715-2084-3F91-5918-918107420DC7}"/>
              </a:ext>
            </a:extLst>
          </p:cNvPr>
          <p:cNvCxnSpPr>
            <a:cxnSpLocks/>
          </p:cNvCxnSpPr>
          <p:nvPr/>
        </p:nvCxnSpPr>
        <p:spPr>
          <a:xfrm flipH="1">
            <a:off x="7808817" y="4963152"/>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4" name="直線箭頭接點 183">
            <a:extLst>
              <a:ext uri="{FF2B5EF4-FFF2-40B4-BE49-F238E27FC236}">
                <a16:creationId xmlns:a16="http://schemas.microsoft.com/office/drawing/2014/main" id="{53B6A132-F2FC-0009-15A9-500EF4AD65FF}"/>
              </a:ext>
            </a:extLst>
          </p:cNvPr>
          <p:cNvCxnSpPr>
            <a:cxnSpLocks/>
          </p:cNvCxnSpPr>
          <p:nvPr/>
        </p:nvCxnSpPr>
        <p:spPr>
          <a:xfrm>
            <a:off x="7812183" y="5228185"/>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5" name="直線箭頭接點 184">
            <a:extLst>
              <a:ext uri="{FF2B5EF4-FFF2-40B4-BE49-F238E27FC236}">
                <a16:creationId xmlns:a16="http://schemas.microsoft.com/office/drawing/2014/main" id="{D8F10359-FC1D-EA9E-A86D-89B46FA43AD3}"/>
              </a:ext>
            </a:extLst>
          </p:cNvPr>
          <p:cNvCxnSpPr>
            <a:cxnSpLocks/>
          </p:cNvCxnSpPr>
          <p:nvPr/>
        </p:nvCxnSpPr>
        <p:spPr>
          <a:xfrm flipH="1">
            <a:off x="7810500" y="5319276"/>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6" name="直線箭頭接點 185">
            <a:extLst>
              <a:ext uri="{FF2B5EF4-FFF2-40B4-BE49-F238E27FC236}">
                <a16:creationId xmlns:a16="http://schemas.microsoft.com/office/drawing/2014/main" id="{E2C45CB2-9E86-D203-D6D2-0CDD5929C4D8}"/>
              </a:ext>
            </a:extLst>
          </p:cNvPr>
          <p:cNvCxnSpPr>
            <a:cxnSpLocks/>
          </p:cNvCxnSpPr>
          <p:nvPr/>
        </p:nvCxnSpPr>
        <p:spPr>
          <a:xfrm>
            <a:off x="8980887" y="5228185"/>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7" name="直線箭頭接點 186">
            <a:extLst>
              <a:ext uri="{FF2B5EF4-FFF2-40B4-BE49-F238E27FC236}">
                <a16:creationId xmlns:a16="http://schemas.microsoft.com/office/drawing/2014/main" id="{6214E76E-7861-065C-5EA7-480B268600C3}"/>
              </a:ext>
            </a:extLst>
          </p:cNvPr>
          <p:cNvCxnSpPr>
            <a:cxnSpLocks/>
          </p:cNvCxnSpPr>
          <p:nvPr/>
        </p:nvCxnSpPr>
        <p:spPr>
          <a:xfrm flipH="1">
            <a:off x="8979204" y="5319276"/>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8" name="直線箭頭接點 187">
            <a:extLst>
              <a:ext uri="{FF2B5EF4-FFF2-40B4-BE49-F238E27FC236}">
                <a16:creationId xmlns:a16="http://schemas.microsoft.com/office/drawing/2014/main" id="{1500C53C-E200-B223-7E5D-6F2E301CB6F7}"/>
              </a:ext>
            </a:extLst>
          </p:cNvPr>
          <p:cNvCxnSpPr>
            <a:cxnSpLocks/>
          </p:cNvCxnSpPr>
          <p:nvPr/>
        </p:nvCxnSpPr>
        <p:spPr>
          <a:xfrm>
            <a:off x="7788759" y="5911662"/>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9" name="直線箭頭接點 188">
            <a:extLst>
              <a:ext uri="{FF2B5EF4-FFF2-40B4-BE49-F238E27FC236}">
                <a16:creationId xmlns:a16="http://schemas.microsoft.com/office/drawing/2014/main" id="{2B8D9246-9579-5BB9-5E2A-D7A5D7749044}"/>
              </a:ext>
            </a:extLst>
          </p:cNvPr>
          <p:cNvCxnSpPr>
            <a:cxnSpLocks/>
          </p:cNvCxnSpPr>
          <p:nvPr/>
        </p:nvCxnSpPr>
        <p:spPr>
          <a:xfrm flipH="1">
            <a:off x="7787076" y="6002753"/>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0" name="直線箭頭接點 189">
            <a:extLst>
              <a:ext uri="{FF2B5EF4-FFF2-40B4-BE49-F238E27FC236}">
                <a16:creationId xmlns:a16="http://schemas.microsoft.com/office/drawing/2014/main" id="{614EC2C0-0B4B-1338-BB33-1BBCA27F38A2}"/>
              </a:ext>
            </a:extLst>
          </p:cNvPr>
          <p:cNvCxnSpPr>
            <a:cxnSpLocks/>
          </p:cNvCxnSpPr>
          <p:nvPr/>
        </p:nvCxnSpPr>
        <p:spPr>
          <a:xfrm>
            <a:off x="8997531" y="5911662"/>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1" name="直線箭頭接點 190">
            <a:extLst>
              <a:ext uri="{FF2B5EF4-FFF2-40B4-BE49-F238E27FC236}">
                <a16:creationId xmlns:a16="http://schemas.microsoft.com/office/drawing/2014/main" id="{F8496E58-4EB0-F6F0-CBB4-E22AC70B9A6A}"/>
              </a:ext>
            </a:extLst>
          </p:cNvPr>
          <p:cNvCxnSpPr>
            <a:cxnSpLocks/>
          </p:cNvCxnSpPr>
          <p:nvPr/>
        </p:nvCxnSpPr>
        <p:spPr>
          <a:xfrm flipH="1">
            <a:off x="8995848" y="6002753"/>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2" name="直線箭頭接點 191">
            <a:extLst>
              <a:ext uri="{FF2B5EF4-FFF2-40B4-BE49-F238E27FC236}">
                <a16:creationId xmlns:a16="http://schemas.microsoft.com/office/drawing/2014/main" id="{6786070A-93FD-CBB8-4B9C-9547F17F52BD}"/>
              </a:ext>
            </a:extLst>
          </p:cNvPr>
          <p:cNvCxnSpPr>
            <a:cxnSpLocks/>
          </p:cNvCxnSpPr>
          <p:nvPr/>
        </p:nvCxnSpPr>
        <p:spPr>
          <a:xfrm>
            <a:off x="10189207" y="5901869"/>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3" name="直線箭頭接點 192">
            <a:extLst>
              <a:ext uri="{FF2B5EF4-FFF2-40B4-BE49-F238E27FC236}">
                <a16:creationId xmlns:a16="http://schemas.microsoft.com/office/drawing/2014/main" id="{437675D7-CEF0-0E75-4CE9-FAF5C4E84BBE}"/>
              </a:ext>
            </a:extLst>
          </p:cNvPr>
          <p:cNvCxnSpPr>
            <a:cxnSpLocks/>
          </p:cNvCxnSpPr>
          <p:nvPr/>
        </p:nvCxnSpPr>
        <p:spPr>
          <a:xfrm flipH="1">
            <a:off x="10187524" y="5992960"/>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94" name="文字方塊 193">
            <a:extLst>
              <a:ext uri="{FF2B5EF4-FFF2-40B4-BE49-F238E27FC236}">
                <a16:creationId xmlns:a16="http://schemas.microsoft.com/office/drawing/2014/main" id="{A5DBADF4-07ED-5019-9535-9CA445230094}"/>
              </a:ext>
            </a:extLst>
          </p:cNvPr>
          <p:cNvSpPr txBox="1"/>
          <p:nvPr/>
        </p:nvSpPr>
        <p:spPr>
          <a:xfrm rot="16200000">
            <a:off x="7135066" y="5415195"/>
            <a:ext cx="343364" cy="369332"/>
          </a:xfrm>
          <a:prstGeom prst="rect">
            <a:avLst/>
          </a:prstGeom>
          <a:noFill/>
        </p:spPr>
        <p:txBody>
          <a:bodyPr wrap="none" rtlCol="0">
            <a:spAutoFit/>
          </a:bodyPr>
          <a:lstStyle/>
          <a:p>
            <a:r>
              <a:rPr kumimoji="1" lang="en-US" altLang="zh-TW" dirty="0"/>
              <a:t>…</a:t>
            </a:r>
            <a:endParaRPr kumimoji="1" lang="zh-TW" altLang="en-US" dirty="0"/>
          </a:p>
        </p:txBody>
      </p:sp>
      <p:sp>
        <p:nvSpPr>
          <p:cNvPr id="195" name="文字方塊 194">
            <a:extLst>
              <a:ext uri="{FF2B5EF4-FFF2-40B4-BE49-F238E27FC236}">
                <a16:creationId xmlns:a16="http://schemas.microsoft.com/office/drawing/2014/main" id="{20BEC08F-D410-A33F-19C5-D53524C2C728}"/>
              </a:ext>
            </a:extLst>
          </p:cNvPr>
          <p:cNvSpPr txBox="1"/>
          <p:nvPr/>
        </p:nvSpPr>
        <p:spPr>
          <a:xfrm>
            <a:off x="5947909" y="4959919"/>
            <a:ext cx="732893"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32 Bits</a:t>
            </a:r>
            <a:endParaRPr kumimoji="1" lang="zh-TW" altLang="en-US" sz="1400" dirty="0">
              <a:latin typeface="Arial" panose="020B0604020202020204" pitchFamily="34" charset="0"/>
              <a:cs typeface="Arial" panose="020B0604020202020204" pitchFamily="34" charset="0"/>
            </a:endParaRPr>
          </a:p>
        </p:txBody>
      </p:sp>
      <p:cxnSp>
        <p:nvCxnSpPr>
          <p:cNvPr id="197" name="直線箭頭接點 196">
            <a:extLst>
              <a:ext uri="{FF2B5EF4-FFF2-40B4-BE49-F238E27FC236}">
                <a16:creationId xmlns:a16="http://schemas.microsoft.com/office/drawing/2014/main" id="{12F7BD5A-76EC-AAB0-D443-B1CA5720E1D3}"/>
              </a:ext>
            </a:extLst>
          </p:cNvPr>
          <p:cNvCxnSpPr>
            <a:cxnSpLocks/>
          </p:cNvCxnSpPr>
          <p:nvPr/>
        </p:nvCxnSpPr>
        <p:spPr>
          <a:xfrm flipH="1">
            <a:off x="5871648" y="5112631"/>
            <a:ext cx="144000" cy="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04" name="群組 203">
            <a:extLst>
              <a:ext uri="{FF2B5EF4-FFF2-40B4-BE49-F238E27FC236}">
                <a16:creationId xmlns:a16="http://schemas.microsoft.com/office/drawing/2014/main" id="{9DE75AA6-56B5-B196-D983-E3114AB17E32}"/>
              </a:ext>
            </a:extLst>
          </p:cNvPr>
          <p:cNvGrpSpPr/>
          <p:nvPr/>
        </p:nvGrpSpPr>
        <p:grpSpPr>
          <a:xfrm>
            <a:off x="361461" y="4664083"/>
            <a:ext cx="5444139" cy="336462"/>
            <a:chOff x="361461" y="4664083"/>
            <a:chExt cx="5444139" cy="336462"/>
          </a:xfrm>
        </p:grpSpPr>
        <p:sp>
          <p:nvSpPr>
            <p:cNvPr id="199" name="左大括弧 198">
              <a:extLst>
                <a:ext uri="{FF2B5EF4-FFF2-40B4-BE49-F238E27FC236}">
                  <a16:creationId xmlns:a16="http://schemas.microsoft.com/office/drawing/2014/main" id="{AAF070B9-3008-34FF-1835-7CE6438581C8}"/>
                </a:ext>
              </a:extLst>
            </p:cNvPr>
            <p:cNvSpPr/>
            <p:nvPr/>
          </p:nvSpPr>
          <p:spPr>
            <a:xfrm rot="5400000">
              <a:off x="3034606" y="2229551"/>
              <a:ext cx="97849" cy="5444139"/>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200" name="文字方塊 199">
              <a:extLst>
                <a:ext uri="{FF2B5EF4-FFF2-40B4-BE49-F238E27FC236}">
                  <a16:creationId xmlns:a16="http://schemas.microsoft.com/office/drawing/2014/main" id="{AC6A3488-2C92-E5B5-AE95-81B6B9403760}"/>
                </a:ext>
              </a:extLst>
            </p:cNvPr>
            <p:cNvSpPr txBox="1"/>
            <p:nvPr/>
          </p:nvSpPr>
          <p:spPr>
            <a:xfrm>
              <a:off x="1759280" y="4664083"/>
              <a:ext cx="3098925" cy="307777"/>
            </a:xfrm>
            <a:prstGeom prst="rect">
              <a:avLst/>
            </a:prstGeom>
            <a:noFill/>
          </p:spPr>
          <p:txBody>
            <a:bodyPr wrap="none" rtlCol="0">
              <a:spAutoFit/>
            </a:bodyPr>
            <a:lstStyle/>
            <a:p>
              <a:r>
                <a:rPr kumimoji="1" lang="en-US" altLang="zh-TW" sz="1400" dirty="0">
                  <a:solidFill>
                    <a:srgbClr val="C00000"/>
                  </a:solidFill>
                  <a:latin typeface="Arial" panose="020B0604020202020204" pitchFamily="34" charset="0"/>
                  <a:cs typeface="Arial" panose="020B0604020202020204" pitchFamily="34" charset="0"/>
                </a:rPr>
                <a:t>Find the leftmost bit with bit set. O(1)</a:t>
              </a:r>
              <a:endParaRPr kumimoji="1" lang="zh-TW" altLang="en-US" sz="1400" dirty="0">
                <a:solidFill>
                  <a:srgbClr val="C00000"/>
                </a:solidFill>
                <a:latin typeface="Arial" panose="020B0604020202020204" pitchFamily="34" charset="0"/>
                <a:cs typeface="Arial" panose="020B0604020202020204" pitchFamily="34" charset="0"/>
              </a:endParaRPr>
            </a:p>
          </p:txBody>
        </p:sp>
      </p:grpSp>
      <p:sp>
        <p:nvSpPr>
          <p:cNvPr id="202" name="矩形 201">
            <a:extLst>
              <a:ext uri="{FF2B5EF4-FFF2-40B4-BE49-F238E27FC236}">
                <a16:creationId xmlns:a16="http://schemas.microsoft.com/office/drawing/2014/main" id="{E59FB863-BC3B-3C38-7511-45F382283F23}"/>
              </a:ext>
            </a:extLst>
          </p:cNvPr>
          <p:cNvSpPr/>
          <p:nvPr/>
        </p:nvSpPr>
        <p:spPr>
          <a:xfrm>
            <a:off x="524941" y="5010897"/>
            <a:ext cx="172720" cy="203200"/>
          </a:xfrm>
          <a:prstGeom prst="rect">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rgbClr val="C00000"/>
              </a:solidFill>
            </a:endParaRPr>
          </a:p>
        </p:txBody>
      </p:sp>
    </p:spTree>
    <p:extLst>
      <p:ext uri="{BB962C8B-B14F-4D97-AF65-F5344CB8AC3E}">
        <p14:creationId xmlns:p14="http://schemas.microsoft.com/office/powerpoint/2010/main" val="3659655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5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5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50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500"/>
                                        <p:tgtEl>
                                          <p:spTgt spid="2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500"/>
                                        <p:tgtEl>
                                          <p:spTgt spid="2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500"/>
                                        <p:tgtEl>
                                          <p:spTgt spid="3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500"/>
                                        <p:tgtEl>
                                          <p:spTgt spid="3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500"/>
                                        <p:tgtEl>
                                          <p:spTgt spid="3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500"/>
                                        <p:tgtEl>
                                          <p:spTgt spid="3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500"/>
                                        <p:tgtEl>
                                          <p:spTgt spid="3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6"/>
                                        </p:tgtEl>
                                        <p:attrNameLst>
                                          <p:attrName>style.visibility</p:attrName>
                                        </p:attrNameLst>
                                      </p:cBhvr>
                                      <p:to>
                                        <p:strVal val="visible"/>
                                      </p:to>
                                    </p:set>
                                    <p:animEffect transition="in" filter="fade">
                                      <p:cBhvr>
                                        <p:cTn id="96" dur="500"/>
                                        <p:tgtEl>
                                          <p:spTgt spid="36"/>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500"/>
                                        <p:tgtEl>
                                          <p:spTgt spid="3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500"/>
                                        <p:tgtEl>
                                          <p:spTgt spid="38"/>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9"/>
                                        </p:tgtEl>
                                        <p:attrNameLst>
                                          <p:attrName>style.visibility</p:attrName>
                                        </p:attrNameLst>
                                      </p:cBhvr>
                                      <p:to>
                                        <p:strVal val="visible"/>
                                      </p:to>
                                    </p:set>
                                    <p:animEffect transition="in" filter="fade">
                                      <p:cBhvr>
                                        <p:cTn id="105" dur="500"/>
                                        <p:tgtEl>
                                          <p:spTgt spid="39"/>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0"/>
                                        </p:tgtEl>
                                        <p:attrNameLst>
                                          <p:attrName>style.visibility</p:attrName>
                                        </p:attrNameLst>
                                      </p:cBhvr>
                                      <p:to>
                                        <p:strVal val="visible"/>
                                      </p:to>
                                    </p:set>
                                    <p:animEffect transition="in" filter="fade">
                                      <p:cBhvr>
                                        <p:cTn id="108" dur="500"/>
                                        <p:tgtEl>
                                          <p:spTgt spid="40"/>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1"/>
                                        </p:tgtEl>
                                        <p:attrNameLst>
                                          <p:attrName>style.visibility</p:attrName>
                                        </p:attrNameLst>
                                      </p:cBhvr>
                                      <p:to>
                                        <p:strVal val="visible"/>
                                      </p:to>
                                    </p:set>
                                    <p:animEffect transition="in" filter="fade">
                                      <p:cBhvr>
                                        <p:cTn id="111" dur="500"/>
                                        <p:tgtEl>
                                          <p:spTgt spid="41"/>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500"/>
                                        <p:tgtEl>
                                          <p:spTgt spid="42"/>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3"/>
                                        </p:tgtEl>
                                        <p:attrNameLst>
                                          <p:attrName>style.visibility</p:attrName>
                                        </p:attrNameLst>
                                      </p:cBhvr>
                                      <p:to>
                                        <p:strVal val="visible"/>
                                      </p:to>
                                    </p:set>
                                    <p:animEffect transition="in" filter="fade">
                                      <p:cBhvr>
                                        <p:cTn id="117" dur="500"/>
                                        <p:tgtEl>
                                          <p:spTgt spid="4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4"/>
                                        </p:tgtEl>
                                        <p:attrNameLst>
                                          <p:attrName>style.visibility</p:attrName>
                                        </p:attrNameLst>
                                      </p:cBhvr>
                                      <p:to>
                                        <p:strVal val="visible"/>
                                      </p:to>
                                    </p:set>
                                    <p:animEffect transition="in" filter="fade">
                                      <p:cBhvr>
                                        <p:cTn id="120" dur="500"/>
                                        <p:tgtEl>
                                          <p:spTgt spid="44"/>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500"/>
                                        <p:tgtEl>
                                          <p:spTgt spid="4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6"/>
                                        </p:tgtEl>
                                        <p:attrNameLst>
                                          <p:attrName>style.visibility</p:attrName>
                                        </p:attrNameLst>
                                      </p:cBhvr>
                                      <p:to>
                                        <p:strVal val="visible"/>
                                      </p:to>
                                    </p:set>
                                    <p:animEffect transition="in" filter="fade">
                                      <p:cBhvr>
                                        <p:cTn id="126" dur="500"/>
                                        <p:tgtEl>
                                          <p:spTgt spid="46"/>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9" dur="500"/>
                                        <p:tgtEl>
                                          <p:spTgt spid="48"/>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2" dur="500"/>
                                        <p:tgtEl>
                                          <p:spTgt spid="49"/>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50"/>
                                        </p:tgtEl>
                                        <p:attrNameLst>
                                          <p:attrName>style.visibility</p:attrName>
                                        </p:attrNameLst>
                                      </p:cBhvr>
                                      <p:to>
                                        <p:strVal val="visible"/>
                                      </p:to>
                                    </p:set>
                                    <p:animEffect transition="in" filter="fade">
                                      <p:cBhvr>
                                        <p:cTn id="135" dur="500"/>
                                        <p:tgtEl>
                                          <p:spTgt spid="50"/>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51"/>
                                        </p:tgtEl>
                                        <p:attrNameLst>
                                          <p:attrName>style.visibility</p:attrName>
                                        </p:attrNameLst>
                                      </p:cBhvr>
                                      <p:to>
                                        <p:strVal val="visible"/>
                                      </p:to>
                                    </p:set>
                                    <p:animEffect transition="in" filter="fade">
                                      <p:cBhvr>
                                        <p:cTn id="138" dur="500"/>
                                        <p:tgtEl>
                                          <p:spTgt spid="51"/>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2"/>
                                        </p:tgtEl>
                                        <p:attrNameLst>
                                          <p:attrName>style.visibility</p:attrName>
                                        </p:attrNameLst>
                                      </p:cBhvr>
                                      <p:to>
                                        <p:strVal val="visible"/>
                                      </p:to>
                                    </p:set>
                                    <p:animEffect transition="in" filter="fade">
                                      <p:cBhvr>
                                        <p:cTn id="141" dur="500"/>
                                        <p:tgtEl>
                                          <p:spTgt spid="52"/>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3"/>
                                        </p:tgtEl>
                                        <p:attrNameLst>
                                          <p:attrName>style.visibility</p:attrName>
                                        </p:attrNameLst>
                                      </p:cBhvr>
                                      <p:to>
                                        <p:strVal val="visible"/>
                                      </p:to>
                                    </p:set>
                                    <p:animEffect transition="in" filter="fade">
                                      <p:cBhvr>
                                        <p:cTn id="144" dur="500"/>
                                        <p:tgtEl>
                                          <p:spTgt spid="53"/>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4"/>
                                        </p:tgtEl>
                                        <p:attrNameLst>
                                          <p:attrName>style.visibility</p:attrName>
                                        </p:attrNameLst>
                                      </p:cBhvr>
                                      <p:to>
                                        <p:strVal val="visible"/>
                                      </p:to>
                                    </p:set>
                                    <p:animEffect transition="in" filter="fade">
                                      <p:cBhvr>
                                        <p:cTn id="147" dur="500"/>
                                        <p:tgtEl>
                                          <p:spTgt spid="54"/>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5"/>
                                        </p:tgtEl>
                                        <p:attrNameLst>
                                          <p:attrName>style.visibility</p:attrName>
                                        </p:attrNameLst>
                                      </p:cBhvr>
                                      <p:to>
                                        <p:strVal val="visible"/>
                                      </p:to>
                                    </p:set>
                                    <p:animEffect transition="in" filter="fade">
                                      <p:cBhvr>
                                        <p:cTn id="150" dur="500"/>
                                        <p:tgtEl>
                                          <p:spTgt spid="55"/>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6"/>
                                        </p:tgtEl>
                                        <p:attrNameLst>
                                          <p:attrName>style.visibility</p:attrName>
                                        </p:attrNameLst>
                                      </p:cBhvr>
                                      <p:to>
                                        <p:strVal val="visible"/>
                                      </p:to>
                                    </p:set>
                                    <p:animEffect transition="in" filter="fade">
                                      <p:cBhvr>
                                        <p:cTn id="153" dur="500"/>
                                        <p:tgtEl>
                                          <p:spTgt spid="56"/>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57"/>
                                        </p:tgtEl>
                                        <p:attrNameLst>
                                          <p:attrName>style.visibility</p:attrName>
                                        </p:attrNameLst>
                                      </p:cBhvr>
                                      <p:to>
                                        <p:strVal val="visible"/>
                                      </p:to>
                                    </p:set>
                                    <p:animEffect transition="in" filter="fade">
                                      <p:cBhvr>
                                        <p:cTn id="156" dur="500"/>
                                        <p:tgtEl>
                                          <p:spTgt spid="57"/>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8"/>
                                        </p:tgtEl>
                                        <p:attrNameLst>
                                          <p:attrName>style.visibility</p:attrName>
                                        </p:attrNameLst>
                                      </p:cBhvr>
                                      <p:to>
                                        <p:strVal val="visible"/>
                                      </p:to>
                                    </p:set>
                                    <p:animEffect transition="in" filter="fade">
                                      <p:cBhvr>
                                        <p:cTn id="159" dur="500"/>
                                        <p:tgtEl>
                                          <p:spTgt spid="58"/>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2" dur="500"/>
                                        <p:tgtEl>
                                          <p:spTgt spid="60"/>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61"/>
                                        </p:tgtEl>
                                        <p:attrNameLst>
                                          <p:attrName>style.visibility</p:attrName>
                                        </p:attrNameLst>
                                      </p:cBhvr>
                                      <p:to>
                                        <p:strVal val="visible"/>
                                      </p:to>
                                    </p:set>
                                    <p:animEffect transition="in" filter="fade">
                                      <p:cBhvr>
                                        <p:cTn id="165" dur="500"/>
                                        <p:tgtEl>
                                          <p:spTgt spid="61"/>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62"/>
                                        </p:tgtEl>
                                        <p:attrNameLst>
                                          <p:attrName>style.visibility</p:attrName>
                                        </p:attrNameLst>
                                      </p:cBhvr>
                                      <p:to>
                                        <p:strVal val="visible"/>
                                      </p:to>
                                    </p:set>
                                    <p:animEffect transition="in" filter="fade">
                                      <p:cBhvr>
                                        <p:cTn id="168" dur="500"/>
                                        <p:tgtEl>
                                          <p:spTgt spid="62"/>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63"/>
                                        </p:tgtEl>
                                        <p:attrNameLst>
                                          <p:attrName>style.visibility</p:attrName>
                                        </p:attrNameLst>
                                      </p:cBhvr>
                                      <p:to>
                                        <p:strVal val="visible"/>
                                      </p:to>
                                    </p:set>
                                    <p:animEffect transition="in" filter="fade">
                                      <p:cBhvr>
                                        <p:cTn id="171" dur="500"/>
                                        <p:tgtEl>
                                          <p:spTgt spid="63"/>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64"/>
                                        </p:tgtEl>
                                        <p:attrNameLst>
                                          <p:attrName>style.visibility</p:attrName>
                                        </p:attrNameLst>
                                      </p:cBhvr>
                                      <p:to>
                                        <p:strVal val="visible"/>
                                      </p:to>
                                    </p:set>
                                    <p:animEffect transition="in" filter="fade">
                                      <p:cBhvr>
                                        <p:cTn id="174" dur="500"/>
                                        <p:tgtEl>
                                          <p:spTgt spid="64"/>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5"/>
                                        </p:tgtEl>
                                        <p:attrNameLst>
                                          <p:attrName>style.visibility</p:attrName>
                                        </p:attrNameLst>
                                      </p:cBhvr>
                                      <p:to>
                                        <p:strVal val="visible"/>
                                      </p:to>
                                    </p:set>
                                    <p:animEffect transition="in" filter="fade">
                                      <p:cBhvr>
                                        <p:cTn id="177" dur="500"/>
                                        <p:tgtEl>
                                          <p:spTgt spid="65"/>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6"/>
                                        </p:tgtEl>
                                        <p:attrNameLst>
                                          <p:attrName>style.visibility</p:attrName>
                                        </p:attrNameLst>
                                      </p:cBhvr>
                                      <p:to>
                                        <p:strVal val="visible"/>
                                      </p:to>
                                    </p:set>
                                    <p:animEffect transition="in" filter="fade">
                                      <p:cBhvr>
                                        <p:cTn id="180" dur="500"/>
                                        <p:tgtEl>
                                          <p:spTgt spid="66"/>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67"/>
                                        </p:tgtEl>
                                        <p:attrNameLst>
                                          <p:attrName>style.visibility</p:attrName>
                                        </p:attrNameLst>
                                      </p:cBhvr>
                                      <p:to>
                                        <p:strVal val="visible"/>
                                      </p:to>
                                    </p:set>
                                    <p:animEffect transition="in" filter="fade">
                                      <p:cBhvr>
                                        <p:cTn id="183" dur="500"/>
                                        <p:tgtEl>
                                          <p:spTgt spid="67"/>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8"/>
                                        </p:tgtEl>
                                        <p:attrNameLst>
                                          <p:attrName>style.visibility</p:attrName>
                                        </p:attrNameLst>
                                      </p:cBhvr>
                                      <p:to>
                                        <p:strVal val="visible"/>
                                      </p:to>
                                    </p:set>
                                    <p:animEffect transition="in" filter="fade">
                                      <p:cBhvr>
                                        <p:cTn id="186" dur="500"/>
                                        <p:tgtEl>
                                          <p:spTgt spid="68"/>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9"/>
                                        </p:tgtEl>
                                        <p:attrNameLst>
                                          <p:attrName>style.visibility</p:attrName>
                                        </p:attrNameLst>
                                      </p:cBhvr>
                                      <p:to>
                                        <p:strVal val="visible"/>
                                      </p:to>
                                    </p:set>
                                    <p:animEffect transition="in" filter="fade">
                                      <p:cBhvr>
                                        <p:cTn id="189" dur="500"/>
                                        <p:tgtEl>
                                          <p:spTgt spid="69"/>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70"/>
                                        </p:tgtEl>
                                        <p:attrNameLst>
                                          <p:attrName>style.visibility</p:attrName>
                                        </p:attrNameLst>
                                      </p:cBhvr>
                                      <p:to>
                                        <p:strVal val="visible"/>
                                      </p:to>
                                    </p:set>
                                    <p:animEffect transition="in" filter="fade">
                                      <p:cBhvr>
                                        <p:cTn id="192" dur="500"/>
                                        <p:tgtEl>
                                          <p:spTgt spid="70"/>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71"/>
                                        </p:tgtEl>
                                        <p:attrNameLst>
                                          <p:attrName>style.visibility</p:attrName>
                                        </p:attrNameLst>
                                      </p:cBhvr>
                                      <p:to>
                                        <p:strVal val="visible"/>
                                      </p:to>
                                    </p:set>
                                    <p:animEffect transition="in" filter="fade">
                                      <p:cBhvr>
                                        <p:cTn id="195" dur="500"/>
                                        <p:tgtEl>
                                          <p:spTgt spid="71"/>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72"/>
                                        </p:tgtEl>
                                        <p:attrNameLst>
                                          <p:attrName>style.visibility</p:attrName>
                                        </p:attrNameLst>
                                      </p:cBhvr>
                                      <p:to>
                                        <p:strVal val="visible"/>
                                      </p:to>
                                    </p:set>
                                    <p:animEffect transition="in" filter="fade">
                                      <p:cBhvr>
                                        <p:cTn id="198" dur="500"/>
                                        <p:tgtEl>
                                          <p:spTgt spid="72"/>
                                        </p:tgtEl>
                                      </p:cBhvr>
                                    </p:animEffect>
                                  </p:childTnLst>
                                </p:cTn>
                              </p:par>
                              <p:par>
                                <p:cTn id="199" presetID="10" presetClass="entr" presetSubtype="0" fill="hold" grpId="0" nodeType="withEffect">
                                  <p:stCondLst>
                                    <p:cond delay="0"/>
                                  </p:stCondLst>
                                  <p:childTnLst>
                                    <p:set>
                                      <p:cBhvr>
                                        <p:cTn id="200" dur="1" fill="hold">
                                          <p:stCondLst>
                                            <p:cond delay="0"/>
                                          </p:stCondLst>
                                        </p:cTn>
                                        <p:tgtEl>
                                          <p:spTgt spid="73"/>
                                        </p:tgtEl>
                                        <p:attrNameLst>
                                          <p:attrName>style.visibility</p:attrName>
                                        </p:attrNameLst>
                                      </p:cBhvr>
                                      <p:to>
                                        <p:strVal val="visible"/>
                                      </p:to>
                                    </p:set>
                                    <p:animEffect transition="in" filter="fade">
                                      <p:cBhvr>
                                        <p:cTn id="201" dur="500"/>
                                        <p:tgtEl>
                                          <p:spTgt spid="73"/>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5"/>
                                        </p:tgtEl>
                                        <p:attrNameLst>
                                          <p:attrName>style.visibility</p:attrName>
                                        </p:attrNameLst>
                                      </p:cBhvr>
                                      <p:to>
                                        <p:strVal val="visible"/>
                                      </p:to>
                                    </p:set>
                                    <p:animEffect transition="in" filter="fade">
                                      <p:cBhvr>
                                        <p:cTn id="204" dur="500"/>
                                        <p:tgtEl>
                                          <p:spTgt spid="75"/>
                                        </p:tgtEl>
                                      </p:cBhvr>
                                    </p:animEffect>
                                  </p:childTnLst>
                                </p:cTn>
                              </p:par>
                              <p:par>
                                <p:cTn id="205" presetID="10" presetClass="entr" presetSubtype="0" fill="hold" grpId="0" nodeType="withEffect">
                                  <p:stCondLst>
                                    <p:cond delay="0"/>
                                  </p:stCondLst>
                                  <p:childTnLst>
                                    <p:set>
                                      <p:cBhvr>
                                        <p:cTn id="206" dur="1" fill="hold">
                                          <p:stCondLst>
                                            <p:cond delay="0"/>
                                          </p:stCondLst>
                                        </p:cTn>
                                        <p:tgtEl>
                                          <p:spTgt spid="76"/>
                                        </p:tgtEl>
                                        <p:attrNameLst>
                                          <p:attrName>style.visibility</p:attrName>
                                        </p:attrNameLst>
                                      </p:cBhvr>
                                      <p:to>
                                        <p:strVal val="visible"/>
                                      </p:to>
                                    </p:set>
                                    <p:animEffect transition="in" filter="fade">
                                      <p:cBhvr>
                                        <p:cTn id="207" dur="500"/>
                                        <p:tgtEl>
                                          <p:spTgt spid="76"/>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7"/>
                                        </p:tgtEl>
                                        <p:attrNameLst>
                                          <p:attrName>style.visibility</p:attrName>
                                        </p:attrNameLst>
                                      </p:cBhvr>
                                      <p:to>
                                        <p:strVal val="visible"/>
                                      </p:to>
                                    </p:set>
                                    <p:animEffect transition="in" filter="fade">
                                      <p:cBhvr>
                                        <p:cTn id="210" dur="500"/>
                                        <p:tgtEl>
                                          <p:spTgt spid="77"/>
                                        </p:tgtEl>
                                      </p:cBhvr>
                                    </p:animEffect>
                                  </p:childTnLst>
                                </p:cTn>
                              </p:par>
                              <p:par>
                                <p:cTn id="211" presetID="10" presetClass="entr" presetSubtype="0" fill="hold" grpId="0" nodeType="withEffect">
                                  <p:stCondLst>
                                    <p:cond delay="0"/>
                                  </p:stCondLst>
                                  <p:childTnLst>
                                    <p:set>
                                      <p:cBhvr>
                                        <p:cTn id="212" dur="1" fill="hold">
                                          <p:stCondLst>
                                            <p:cond delay="0"/>
                                          </p:stCondLst>
                                        </p:cTn>
                                        <p:tgtEl>
                                          <p:spTgt spid="78"/>
                                        </p:tgtEl>
                                        <p:attrNameLst>
                                          <p:attrName>style.visibility</p:attrName>
                                        </p:attrNameLst>
                                      </p:cBhvr>
                                      <p:to>
                                        <p:strVal val="visible"/>
                                      </p:to>
                                    </p:set>
                                    <p:animEffect transition="in" filter="fade">
                                      <p:cBhvr>
                                        <p:cTn id="213" dur="500"/>
                                        <p:tgtEl>
                                          <p:spTgt spid="78"/>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9"/>
                                        </p:tgtEl>
                                        <p:attrNameLst>
                                          <p:attrName>style.visibility</p:attrName>
                                        </p:attrNameLst>
                                      </p:cBhvr>
                                      <p:to>
                                        <p:strVal val="visible"/>
                                      </p:to>
                                    </p:set>
                                    <p:animEffect transition="in" filter="fade">
                                      <p:cBhvr>
                                        <p:cTn id="216" dur="500"/>
                                        <p:tgtEl>
                                          <p:spTgt spid="79"/>
                                        </p:tgtEl>
                                      </p:cBhvr>
                                    </p:animEffect>
                                  </p:childTnLst>
                                </p:cTn>
                              </p:par>
                              <p:par>
                                <p:cTn id="217" presetID="10" presetClass="entr" presetSubtype="0" fill="hold" grpId="0" nodeType="withEffect">
                                  <p:stCondLst>
                                    <p:cond delay="0"/>
                                  </p:stCondLst>
                                  <p:childTnLst>
                                    <p:set>
                                      <p:cBhvr>
                                        <p:cTn id="218" dur="1" fill="hold">
                                          <p:stCondLst>
                                            <p:cond delay="0"/>
                                          </p:stCondLst>
                                        </p:cTn>
                                        <p:tgtEl>
                                          <p:spTgt spid="80"/>
                                        </p:tgtEl>
                                        <p:attrNameLst>
                                          <p:attrName>style.visibility</p:attrName>
                                        </p:attrNameLst>
                                      </p:cBhvr>
                                      <p:to>
                                        <p:strVal val="visible"/>
                                      </p:to>
                                    </p:set>
                                    <p:animEffect transition="in" filter="fade">
                                      <p:cBhvr>
                                        <p:cTn id="219" dur="500"/>
                                        <p:tgtEl>
                                          <p:spTgt spid="80"/>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81"/>
                                        </p:tgtEl>
                                        <p:attrNameLst>
                                          <p:attrName>style.visibility</p:attrName>
                                        </p:attrNameLst>
                                      </p:cBhvr>
                                      <p:to>
                                        <p:strVal val="visible"/>
                                      </p:to>
                                    </p:set>
                                    <p:animEffect transition="in" filter="fade">
                                      <p:cBhvr>
                                        <p:cTn id="222" dur="500"/>
                                        <p:tgtEl>
                                          <p:spTgt spid="81"/>
                                        </p:tgtEl>
                                      </p:cBhvr>
                                    </p:animEffect>
                                  </p:childTnLst>
                                </p:cTn>
                              </p:par>
                              <p:par>
                                <p:cTn id="223" presetID="10" presetClass="entr" presetSubtype="0" fill="hold" grpId="0" nodeType="withEffect">
                                  <p:stCondLst>
                                    <p:cond delay="0"/>
                                  </p:stCondLst>
                                  <p:childTnLst>
                                    <p:set>
                                      <p:cBhvr>
                                        <p:cTn id="224" dur="1" fill="hold">
                                          <p:stCondLst>
                                            <p:cond delay="0"/>
                                          </p:stCondLst>
                                        </p:cTn>
                                        <p:tgtEl>
                                          <p:spTgt spid="82"/>
                                        </p:tgtEl>
                                        <p:attrNameLst>
                                          <p:attrName>style.visibility</p:attrName>
                                        </p:attrNameLst>
                                      </p:cBhvr>
                                      <p:to>
                                        <p:strVal val="visible"/>
                                      </p:to>
                                    </p:set>
                                    <p:animEffect transition="in" filter="fade">
                                      <p:cBhvr>
                                        <p:cTn id="225" dur="500"/>
                                        <p:tgtEl>
                                          <p:spTgt spid="82"/>
                                        </p:tgtEl>
                                      </p:cBhvr>
                                    </p:animEffect>
                                  </p:childTnLst>
                                </p:cTn>
                              </p:par>
                              <p:par>
                                <p:cTn id="226" presetID="10" presetClass="entr" presetSubtype="0" fill="hold" grpId="0" nodeType="withEffect">
                                  <p:stCondLst>
                                    <p:cond delay="0"/>
                                  </p:stCondLst>
                                  <p:childTnLst>
                                    <p:set>
                                      <p:cBhvr>
                                        <p:cTn id="227" dur="1" fill="hold">
                                          <p:stCondLst>
                                            <p:cond delay="0"/>
                                          </p:stCondLst>
                                        </p:cTn>
                                        <p:tgtEl>
                                          <p:spTgt spid="83"/>
                                        </p:tgtEl>
                                        <p:attrNameLst>
                                          <p:attrName>style.visibility</p:attrName>
                                        </p:attrNameLst>
                                      </p:cBhvr>
                                      <p:to>
                                        <p:strVal val="visible"/>
                                      </p:to>
                                    </p:set>
                                    <p:animEffect transition="in" filter="fade">
                                      <p:cBhvr>
                                        <p:cTn id="228" dur="500"/>
                                        <p:tgtEl>
                                          <p:spTgt spid="83"/>
                                        </p:tgtEl>
                                      </p:cBhvr>
                                    </p:animEffect>
                                  </p:childTnLst>
                                </p:cTn>
                              </p:par>
                              <p:par>
                                <p:cTn id="229" presetID="10" presetClass="entr" presetSubtype="0" fill="hold" grpId="0" nodeType="withEffect">
                                  <p:stCondLst>
                                    <p:cond delay="0"/>
                                  </p:stCondLst>
                                  <p:childTnLst>
                                    <p:set>
                                      <p:cBhvr>
                                        <p:cTn id="230" dur="1" fill="hold">
                                          <p:stCondLst>
                                            <p:cond delay="0"/>
                                          </p:stCondLst>
                                        </p:cTn>
                                        <p:tgtEl>
                                          <p:spTgt spid="85"/>
                                        </p:tgtEl>
                                        <p:attrNameLst>
                                          <p:attrName>style.visibility</p:attrName>
                                        </p:attrNameLst>
                                      </p:cBhvr>
                                      <p:to>
                                        <p:strVal val="visible"/>
                                      </p:to>
                                    </p:set>
                                    <p:animEffect transition="in" filter="fade">
                                      <p:cBhvr>
                                        <p:cTn id="231" dur="500"/>
                                        <p:tgtEl>
                                          <p:spTgt spid="85"/>
                                        </p:tgtEl>
                                      </p:cBhvr>
                                    </p:animEffect>
                                  </p:childTnLst>
                                </p:cTn>
                              </p:par>
                              <p:par>
                                <p:cTn id="232" presetID="10" presetClass="entr" presetSubtype="0" fill="hold" grpId="0" nodeType="withEffect">
                                  <p:stCondLst>
                                    <p:cond delay="0"/>
                                  </p:stCondLst>
                                  <p:childTnLst>
                                    <p:set>
                                      <p:cBhvr>
                                        <p:cTn id="233" dur="1" fill="hold">
                                          <p:stCondLst>
                                            <p:cond delay="0"/>
                                          </p:stCondLst>
                                        </p:cTn>
                                        <p:tgtEl>
                                          <p:spTgt spid="86"/>
                                        </p:tgtEl>
                                        <p:attrNameLst>
                                          <p:attrName>style.visibility</p:attrName>
                                        </p:attrNameLst>
                                      </p:cBhvr>
                                      <p:to>
                                        <p:strVal val="visible"/>
                                      </p:to>
                                    </p:set>
                                    <p:animEffect transition="in" filter="fade">
                                      <p:cBhvr>
                                        <p:cTn id="234" dur="500"/>
                                        <p:tgtEl>
                                          <p:spTgt spid="86"/>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7"/>
                                        </p:tgtEl>
                                        <p:attrNameLst>
                                          <p:attrName>style.visibility</p:attrName>
                                        </p:attrNameLst>
                                      </p:cBhvr>
                                      <p:to>
                                        <p:strVal val="visible"/>
                                      </p:to>
                                    </p:set>
                                    <p:animEffect transition="in" filter="fade">
                                      <p:cBhvr>
                                        <p:cTn id="237" dur="500"/>
                                        <p:tgtEl>
                                          <p:spTgt spid="87"/>
                                        </p:tgtEl>
                                      </p:cBhvr>
                                    </p:animEffect>
                                  </p:childTnLst>
                                </p:cTn>
                              </p:par>
                              <p:par>
                                <p:cTn id="238" presetID="10" presetClass="entr" presetSubtype="0" fill="hold" grpId="0" nodeType="withEffect">
                                  <p:stCondLst>
                                    <p:cond delay="0"/>
                                  </p:stCondLst>
                                  <p:childTnLst>
                                    <p:set>
                                      <p:cBhvr>
                                        <p:cTn id="239" dur="1" fill="hold">
                                          <p:stCondLst>
                                            <p:cond delay="0"/>
                                          </p:stCondLst>
                                        </p:cTn>
                                        <p:tgtEl>
                                          <p:spTgt spid="88"/>
                                        </p:tgtEl>
                                        <p:attrNameLst>
                                          <p:attrName>style.visibility</p:attrName>
                                        </p:attrNameLst>
                                      </p:cBhvr>
                                      <p:to>
                                        <p:strVal val="visible"/>
                                      </p:to>
                                    </p:set>
                                    <p:animEffect transition="in" filter="fade">
                                      <p:cBhvr>
                                        <p:cTn id="240" dur="500"/>
                                        <p:tgtEl>
                                          <p:spTgt spid="88"/>
                                        </p:tgtEl>
                                      </p:cBhvr>
                                    </p:animEffect>
                                  </p:childTnLst>
                                </p:cTn>
                              </p:par>
                              <p:par>
                                <p:cTn id="241" presetID="10" presetClass="entr" presetSubtype="0" fill="hold" grpId="0" nodeType="withEffect">
                                  <p:stCondLst>
                                    <p:cond delay="0"/>
                                  </p:stCondLst>
                                  <p:childTnLst>
                                    <p:set>
                                      <p:cBhvr>
                                        <p:cTn id="242" dur="1" fill="hold">
                                          <p:stCondLst>
                                            <p:cond delay="0"/>
                                          </p:stCondLst>
                                        </p:cTn>
                                        <p:tgtEl>
                                          <p:spTgt spid="89"/>
                                        </p:tgtEl>
                                        <p:attrNameLst>
                                          <p:attrName>style.visibility</p:attrName>
                                        </p:attrNameLst>
                                      </p:cBhvr>
                                      <p:to>
                                        <p:strVal val="visible"/>
                                      </p:to>
                                    </p:set>
                                    <p:animEffect transition="in" filter="fade">
                                      <p:cBhvr>
                                        <p:cTn id="243" dur="500"/>
                                        <p:tgtEl>
                                          <p:spTgt spid="89"/>
                                        </p:tgtEl>
                                      </p:cBhvr>
                                    </p:animEffect>
                                  </p:childTnLst>
                                </p:cTn>
                              </p:par>
                              <p:par>
                                <p:cTn id="244" presetID="10" presetClass="entr" presetSubtype="0" fill="hold" grpId="0" nodeType="withEffect">
                                  <p:stCondLst>
                                    <p:cond delay="0"/>
                                  </p:stCondLst>
                                  <p:childTnLst>
                                    <p:set>
                                      <p:cBhvr>
                                        <p:cTn id="245" dur="1" fill="hold">
                                          <p:stCondLst>
                                            <p:cond delay="0"/>
                                          </p:stCondLst>
                                        </p:cTn>
                                        <p:tgtEl>
                                          <p:spTgt spid="90"/>
                                        </p:tgtEl>
                                        <p:attrNameLst>
                                          <p:attrName>style.visibility</p:attrName>
                                        </p:attrNameLst>
                                      </p:cBhvr>
                                      <p:to>
                                        <p:strVal val="visible"/>
                                      </p:to>
                                    </p:set>
                                    <p:animEffect transition="in" filter="fade">
                                      <p:cBhvr>
                                        <p:cTn id="246" dur="500"/>
                                        <p:tgtEl>
                                          <p:spTgt spid="90"/>
                                        </p:tgtEl>
                                      </p:cBhvr>
                                    </p:animEffect>
                                  </p:childTnLst>
                                </p:cTn>
                              </p:par>
                              <p:par>
                                <p:cTn id="247" presetID="10" presetClass="entr" presetSubtype="0" fill="hold" grpId="0" nodeType="withEffect">
                                  <p:stCondLst>
                                    <p:cond delay="0"/>
                                  </p:stCondLst>
                                  <p:childTnLst>
                                    <p:set>
                                      <p:cBhvr>
                                        <p:cTn id="248" dur="1" fill="hold">
                                          <p:stCondLst>
                                            <p:cond delay="0"/>
                                          </p:stCondLst>
                                        </p:cTn>
                                        <p:tgtEl>
                                          <p:spTgt spid="91"/>
                                        </p:tgtEl>
                                        <p:attrNameLst>
                                          <p:attrName>style.visibility</p:attrName>
                                        </p:attrNameLst>
                                      </p:cBhvr>
                                      <p:to>
                                        <p:strVal val="visible"/>
                                      </p:to>
                                    </p:set>
                                    <p:animEffect transition="in" filter="fade">
                                      <p:cBhvr>
                                        <p:cTn id="249" dur="500"/>
                                        <p:tgtEl>
                                          <p:spTgt spid="91"/>
                                        </p:tgtEl>
                                      </p:cBhvr>
                                    </p:animEffect>
                                  </p:childTnLst>
                                </p:cTn>
                              </p:par>
                              <p:par>
                                <p:cTn id="250" presetID="10" presetClass="entr" presetSubtype="0" fill="hold" grpId="0" nodeType="withEffect">
                                  <p:stCondLst>
                                    <p:cond delay="0"/>
                                  </p:stCondLst>
                                  <p:childTnLst>
                                    <p:set>
                                      <p:cBhvr>
                                        <p:cTn id="251" dur="1" fill="hold">
                                          <p:stCondLst>
                                            <p:cond delay="0"/>
                                          </p:stCondLst>
                                        </p:cTn>
                                        <p:tgtEl>
                                          <p:spTgt spid="92"/>
                                        </p:tgtEl>
                                        <p:attrNameLst>
                                          <p:attrName>style.visibility</p:attrName>
                                        </p:attrNameLst>
                                      </p:cBhvr>
                                      <p:to>
                                        <p:strVal val="visible"/>
                                      </p:to>
                                    </p:set>
                                    <p:animEffect transition="in" filter="fade">
                                      <p:cBhvr>
                                        <p:cTn id="252" dur="500"/>
                                        <p:tgtEl>
                                          <p:spTgt spid="92"/>
                                        </p:tgtEl>
                                      </p:cBhvr>
                                    </p:animEffect>
                                  </p:childTnLst>
                                </p:cTn>
                              </p:par>
                              <p:par>
                                <p:cTn id="253" presetID="10" presetClass="entr" presetSubtype="0" fill="hold" grpId="0" nodeType="withEffect">
                                  <p:stCondLst>
                                    <p:cond delay="0"/>
                                  </p:stCondLst>
                                  <p:childTnLst>
                                    <p:set>
                                      <p:cBhvr>
                                        <p:cTn id="254" dur="1" fill="hold">
                                          <p:stCondLst>
                                            <p:cond delay="0"/>
                                          </p:stCondLst>
                                        </p:cTn>
                                        <p:tgtEl>
                                          <p:spTgt spid="93"/>
                                        </p:tgtEl>
                                        <p:attrNameLst>
                                          <p:attrName>style.visibility</p:attrName>
                                        </p:attrNameLst>
                                      </p:cBhvr>
                                      <p:to>
                                        <p:strVal val="visible"/>
                                      </p:to>
                                    </p:set>
                                    <p:animEffect transition="in" filter="fade">
                                      <p:cBhvr>
                                        <p:cTn id="255" dur="500"/>
                                        <p:tgtEl>
                                          <p:spTgt spid="93"/>
                                        </p:tgtEl>
                                      </p:cBhvr>
                                    </p:animEffect>
                                  </p:childTnLst>
                                </p:cTn>
                              </p:par>
                              <p:par>
                                <p:cTn id="256" presetID="10" presetClass="entr" presetSubtype="0" fill="hold" grpId="0" nodeType="withEffect">
                                  <p:stCondLst>
                                    <p:cond delay="0"/>
                                  </p:stCondLst>
                                  <p:childTnLst>
                                    <p:set>
                                      <p:cBhvr>
                                        <p:cTn id="257" dur="1" fill="hold">
                                          <p:stCondLst>
                                            <p:cond delay="0"/>
                                          </p:stCondLst>
                                        </p:cTn>
                                        <p:tgtEl>
                                          <p:spTgt spid="94"/>
                                        </p:tgtEl>
                                        <p:attrNameLst>
                                          <p:attrName>style.visibility</p:attrName>
                                        </p:attrNameLst>
                                      </p:cBhvr>
                                      <p:to>
                                        <p:strVal val="visible"/>
                                      </p:to>
                                    </p:set>
                                    <p:animEffect transition="in" filter="fade">
                                      <p:cBhvr>
                                        <p:cTn id="258" dur="500"/>
                                        <p:tgtEl>
                                          <p:spTgt spid="94"/>
                                        </p:tgtEl>
                                      </p:cBhvr>
                                    </p:animEffect>
                                  </p:childTnLst>
                                </p:cTn>
                              </p:par>
                              <p:par>
                                <p:cTn id="259" presetID="10" presetClass="entr" presetSubtype="0" fill="hold" grpId="0" nodeType="withEffect">
                                  <p:stCondLst>
                                    <p:cond delay="0"/>
                                  </p:stCondLst>
                                  <p:childTnLst>
                                    <p:set>
                                      <p:cBhvr>
                                        <p:cTn id="260" dur="1" fill="hold">
                                          <p:stCondLst>
                                            <p:cond delay="0"/>
                                          </p:stCondLst>
                                        </p:cTn>
                                        <p:tgtEl>
                                          <p:spTgt spid="95"/>
                                        </p:tgtEl>
                                        <p:attrNameLst>
                                          <p:attrName>style.visibility</p:attrName>
                                        </p:attrNameLst>
                                      </p:cBhvr>
                                      <p:to>
                                        <p:strVal val="visible"/>
                                      </p:to>
                                    </p:set>
                                    <p:animEffect transition="in" filter="fade">
                                      <p:cBhvr>
                                        <p:cTn id="261" dur="500"/>
                                        <p:tgtEl>
                                          <p:spTgt spid="95"/>
                                        </p:tgtEl>
                                      </p:cBhvr>
                                    </p:animEffect>
                                  </p:childTnLst>
                                </p:cTn>
                              </p:par>
                              <p:par>
                                <p:cTn id="262" presetID="10" presetClass="entr" presetSubtype="0" fill="hold" grpId="0" nodeType="withEffect">
                                  <p:stCondLst>
                                    <p:cond delay="0"/>
                                  </p:stCondLst>
                                  <p:childTnLst>
                                    <p:set>
                                      <p:cBhvr>
                                        <p:cTn id="263" dur="1" fill="hold">
                                          <p:stCondLst>
                                            <p:cond delay="0"/>
                                          </p:stCondLst>
                                        </p:cTn>
                                        <p:tgtEl>
                                          <p:spTgt spid="96"/>
                                        </p:tgtEl>
                                        <p:attrNameLst>
                                          <p:attrName>style.visibility</p:attrName>
                                        </p:attrNameLst>
                                      </p:cBhvr>
                                      <p:to>
                                        <p:strVal val="visible"/>
                                      </p:to>
                                    </p:set>
                                    <p:animEffect transition="in" filter="fade">
                                      <p:cBhvr>
                                        <p:cTn id="264" dur="500"/>
                                        <p:tgtEl>
                                          <p:spTgt spid="96"/>
                                        </p:tgtEl>
                                      </p:cBhvr>
                                    </p:animEffect>
                                  </p:childTnLst>
                                </p:cTn>
                              </p:par>
                              <p:par>
                                <p:cTn id="265" presetID="10" presetClass="entr" presetSubtype="0" fill="hold" grpId="0" nodeType="withEffect">
                                  <p:stCondLst>
                                    <p:cond delay="0"/>
                                  </p:stCondLst>
                                  <p:childTnLst>
                                    <p:set>
                                      <p:cBhvr>
                                        <p:cTn id="266" dur="1" fill="hold">
                                          <p:stCondLst>
                                            <p:cond delay="0"/>
                                          </p:stCondLst>
                                        </p:cTn>
                                        <p:tgtEl>
                                          <p:spTgt spid="98"/>
                                        </p:tgtEl>
                                        <p:attrNameLst>
                                          <p:attrName>style.visibility</p:attrName>
                                        </p:attrNameLst>
                                      </p:cBhvr>
                                      <p:to>
                                        <p:strVal val="visible"/>
                                      </p:to>
                                    </p:set>
                                    <p:animEffect transition="in" filter="fade">
                                      <p:cBhvr>
                                        <p:cTn id="267" dur="500"/>
                                        <p:tgtEl>
                                          <p:spTgt spid="98"/>
                                        </p:tgtEl>
                                      </p:cBhvr>
                                    </p:animEffect>
                                  </p:childTnLst>
                                </p:cTn>
                              </p:par>
                              <p:par>
                                <p:cTn id="268" presetID="10" presetClass="entr" presetSubtype="0" fill="hold" grpId="0" nodeType="withEffect">
                                  <p:stCondLst>
                                    <p:cond delay="0"/>
                                  </p:stCondLst>
                                  <p:childTnLst>
                                    <p:set>
                                      <p:cBhvr>
                                        <p:cTn id="269" dur="1" fill="hold">
                                          <p:stCondLst>
                                            <p:cond delay="0"/>
                                          </p:stCondLst>
                                        </p:cTn>
                                        <p:tgtEl>
                                          <p:spTgt spid="99"/>
                                        </p:tgtEl>
                                        <p:attrNameLst>
                                          <p:attrName>style.visibility</p:attrName>
                                        </p:attrNameLst>
                                      </p:cBhvr>
                                      <p:to>
                                        <p:strVal val="visible"/>
                                      </p:to>
                                    </p:set>
                                    <p:animEffect transition="in" filter="fade">
                                      <p:cBhvr>
                                        <p:cTn id="270" dur="500"/>
                                        <p:tgtEl>
                                          <p:spTgt spid="99"/>
                                        </p:tgtEl>
                                      </p:cBhvr>
                                    </p:animEffect>
                                  </p:childTnLst>
                                </p:cTn>
                              </p:par>
                              <p:par>
                                <p:cTn id="271" presetID="10" presetClass="entr" presetSubtype="0" fill="hold" grpId="0" nodeType="withEffect">
                                  <p:stCondLst>
                                    <p:cond delay="0"/>
                                  </p:stCondLst>
                                  <p:childTnLst>
                                    <p:set>
                                      <p:cBhvr>
                                        <p:cTn id="272" dur="1" fill="hold">
                                          <p:stCondLst>
                                            <p:cond delay="0"/>
                                          </p:stCondLst>
                                        </p:cTn>
                                        <p:tgtEl>
                                          <p:spTgt spid="100"/>
                                        </p:tgtEl>
                                        <p:attrNameLst>
                                          <p:attrName>style.visibility</p:attrName>
                                        </p:attrNameLst>
                                      </p:cBhvr>
                                      <p:to>
                                        <p:strVal val="visible"/>
                                      </p:to>
                                    </p:set>
                                    <p:animEffect transition="in" filter="fade">
                                      <p:cBhvr>
                                        <p:cTn id="273" dur="500"/>
                                        <p:tgtEl>
                                          <p:spTgt spid="100"/>
                                        </p:tgtEl>
                                      </p:cBhvr>
                                    </p:animEffect>
                                  </p:childTnLst>
                                </p:cTn>
                              </p:par>
                              <p:par>
                                <p:cTn id="274" presetID="10" presetClass="entr" presetSubtype="0" fill="hold" grpId="0" nodeType="withEffect">
                                  <p:stCondLst>
                                    <p:cond delay="0"/>
                                  </p:stCondLst>
                                  <p:childTnLst>
                                    <p:set>
                                      <p:cBhvr>
                                        <p:cTn id="275" dur="1" fill="hold">
                                          <p:stCondLst>
                                            <p:cond delay="0"/>
                                          </p:stCondLst>
                                        </p:cTn>
                                        <p:tgtEl>
                                          <p:spTgt spid="101"/>
                                        </p:tgtEl>
                                        <p:attrNameLst>
                                          <p:attrName>style.visibility</p:attrName>
                                        </p:attrNameLst>
                                      </p:cBhvr>
                                      <p:to>
                                        <p:strVal val="visible"/>
                                      </p:to>
                                    </p:set>
                                    <p:animEffect transition="in" filter="fade">
                                      <p:cBhvr>
                                        <p:cTn id="276" dur="500"/>
                                        <p:tgtEl>
                                          <p:spTgt spid="101"/>
                                        </p:tgtEl>
                                      </p:cBhvr>
                                    </p:animEffect>
                                  </p:childTnLst>
                                </p:cTn>
                              </p:par>
                              <p:par>
                                <p:cTn id="277" presetID="10" presetClass="entr" presetSubtype="0" fill="hold" grpId="0" nodeType="withEffect">
                                  <p:stCondLst>
                                    <p:cond delay="0"/>
                                  </p:stCondLst>
                                  <p:childTnLst>
                                    <p:set>
                                      <p:cBhvr>
                                        <p:cTn id="278" dur="1" fill="hold">
                                          <p:stCondLst>
                                            <p:cond delay="0"/>
                                          </p:stCondLst>
                                        </p:cTn>
                                        <p:tgtEl>
                                          <p:spTgt spid="102"/>
                                        </p:tgtEl>
                                        <p:attrNameLst>
                                          <p:attrName>style.visibility</p:attrName>
                                        </p:attrNameLst>
                                      </p:cBhvr>
                                      <p:to>
                                        <p:strVal val="visible"/>
                                      </p:to>
                                    </p:set>
                                    <p:animEffect transition="in" filter="fade">
                                      <p:cBhvr>
                                        <p:cTn id="279" dur="500"/>
                                        <p:tgtEl>
                                          <p:spTgt spid="102"/>
                                        </p:tgtEl>
                                      </p:cBhvr>
                                    </p:animEffect>
                                  </p:childTnLst>
                                </p:cTn>
                              </p:par>
                              <p:par>
                                <p:cTn id="280" presetID="10" presetClass="entr" presetSubtype="0" fill="hold" grpId="0" nodeType="withEffect">
                                  <p:stCondLst>
                                    <p:cond delay="0"/>
                                  </p:stCondLst>
                                  <p:childTnLst>
                                    <p:set>
                                      <p:cBhvr>
                                        <p:cTn id="281" dur="1" fill="hold">
                                          <p:stCondLst>
                                            <p:cond delay="0"/>
                                          </p:stCondLst>
                                        </p:cTn>
                                        <p:tgtEl>
                                          <p:spTgt spid="103"/>
                                        </p:tgtEl>
                                        <p:attrNameLst>
                                          <p:attrName>style.visibility</p:attrName>
                                        </p:attrNameLst>
                                      </p:cBhvr>
                                      <p:to>
                                        <p:strVal val="visible"/>
                                      </p:to>
                                    </p:set>
                                    <p:animEffect transition="in" filter="fade">
                                      <p:cBhvr>
                                        <p:cTn id="282" dur="500"/>
                                        <p:tgtEl>
                                          <p:spTgt spid="103"/>
                                        </p:tgtEl>
                                      </p:cBhvr>
                                    </p:animEffect>
                                  </p:childTnLst>
                                </p:cTn>
                              </p:par>
                              <p:par>
                                <p:cTn id="283" presetID="10" presetClass="entr" presetSubtype="0" fill="hold" grpId="0" nodeType="withEffect">
                                  <p:stCondLst>
                                    <p:cond delay="0"/>
                                  </p:stCondLst>
                                  <p:childTnLst>
                                    <p:set>
                                      <p:cBhvr>
                                        <p:cTn id="284" dur="1" fill="hold">
                                          <p:stCondLst>
                                            <p:cond delay="0"/>
                                          </p:stCondLst>
                                        </p:cTn>
                                        <p:tgtEl>
                                          <p:spTgt spid="104"/>
                                        </p:tgtEl>
                                        <p:attrNameLst>
                                          <p:attrName>style.visibility</p:attrName>
                                        </p:attrNameLst>
                                      </p:cBhvr>
                                      <p:to>
                                        <p:strVal val="visible"/>
                                      </p:to>
                                    </p:set>
                                    <p:animEffect transition="in" filter="fade">
                                      <p:cBhvr>
                                        <p:cTn id="285" dur="500"/>
                                        <p:tgtEl>
                                          <p:spTgt spid="104"/>
                                        </p:tgtEl>
                                      </p:cBhvr>
                                    </p:animEffect>
                                  </p:childTnLst>
                                </p:cTn>
                              </p:par>
                              <p:par>
                                <p:cTn id="286" presetID="10" presetClass="entr" presetSubtype="0" fill="hold" grpId="0" nodeType="withEffect">
                                  <p:stCondLst>
                                    <p:cond delay="0"/>
                                  </p:stCondLst>
                                  <p:childTnLst>
                                    <p:set>
                                      <p:cBhvr>
                                        <p:cTn id="287" dur="1" fill="hold">
                                          <p:stCondLst>
                                            <p:cond delay="0"/>
                                          </p:stCondLst>
                                        </p:cTn>
                                        <p:tgtEl>
                                          <p:spTgt spid="105"/>
                                        </p:tgtEl>
                                        <p:attrNameLst>
                                          <p:attrName>style.visibility</p:attrName>
                                        </p:attrNameLst>
                                      </p:cBhvr>
                                      <p:to>
                                        <p:strVal val="visible"/>
                                      </p:to>
                                    </p:set>
                                    <p:animEffect transition="in" filter="fade">
                                      <p:cBhvr>
                                        <p:cTn id="288" dur="500"/>
                                        <p:tgtEl>
                                          <p:spTgt spid="105"/>
                                        </p:tgtEl>
                                      </p:cBhvr>
                                    </p:animEffect>
                                  </p:childTnLst>
                                </p:cTn>
                              </p:par>
                              <p:par>
                                <p:cTn id="289" presetID="10" presetClass="entr" presetSubtype="0" fill="hold" grpId="0" nodeType="withEffect">
                                  <p:stCondLst>
                                    <p:cond delay="0"/>
                                  </p:stCondLst>
                                  <p:childTnLst>
                                    <p:set>
                                      <p:cBhvr>
                                        <p:cTn id="290" dur="1" fill="hold">
                                          <p:stCondLst>
                                            <p:cond delay="0"/>
                                          </p:stCondLst>
                                        </p:cTn>
                                        <p:tgtEl>
                                          <p:spTgt spid="106"/>
                                        </p:tgtEl>
                                        <p:attrNameLst>
                                          <p:attrName>style.visibility</p:attrName>
                                        </p:attrNameLst>
                                      </p:cBhvr>
                                      <p:to>
                                        <p:strVal val="visible"/>
                                      </p:to>
                                    </p:set>
                                    <p:animEffect transition="in" filter="fade">
                                      <p:cBhvr>
                                        <p:cTn id="291" dur="500"/>
                                        <p:tgtEl>
                                          <p:spTgt spid="106"/>
                                        </p:tgtEl>
                                      </p:cBhvr>
                                    </p:animEffect>
                                  </p:childTnLst>
                                </p:cTn>
                              </p:par>
                              <p:par>
                                <p:cTn id="292" presetID="10" presetClass="entr" presetSubtype="0" fill="hold" grpId="0" nodeType="withEffect">
                                  <p:stCondLst>
                                    <p:cond delay="0"/>
                                  </p:stCondLst>
                                  <p:childTnLst>
                                    <p:set>
                                      <p:cBhvr>
                                        <p:cTn id="293" dur="1" fill="hold">
                                          <p:stCondLst>
                                            <p:cond delay="0"/>
                                          </p:stCondLst>
                                        </p:cTn>
                                        <p:tgtEl>
                                          <p:spTgt spid="107"/>
                                        </p:tgtEl>
                                        <p:attrNameLst>
                                          <p:attrName>style.visibility</p:attrName>
                                        </p:attrNameLst>
                                      </p:cBhvr>
                                      <p:to>
                                        <p:strVal val="visible"/>
                                      </p:to>
                                    </p:set>
                                    <p:animEffect transition="in" filter="fade">
                                      <p:cBhvr>
                                        <p:cTn id="294" dur="500"/>
                                        <p:tgtEl>
                                          <p:spTgt spid="107"/>
                                        </p:tgtEl>
                                      </p:cBhvr>
                                    </p:animEffect>
                                  </p:childTnLst>
                                </p:cTn>
                              </p:par>
                              <p:par>
                                <p:cTn id="295" presetID="10" presetClass="entr" presetSubtype="0" fill="hold" grpId="0" nodeType="withEffect">
                                  <p:stCondLst>
                                    <p:cond delay="0"/>
                                  </p:stCondLst>
                                  <p:childTnLst>
                                    <p:set>
                                      <p:cBhvr>
                                        <p:cTn id="296" dur="1" fill="hold">
                                          <p:stCondLst>
                                            <p:cond delay="0"/>
                                          </p:stCondLst>
                                        </p:cTn>
                                        <p:tgtEl>
                                          <p:spTgt spid="108"/>
                                        </p:tgtEl>
                                        <p:attrNameLst>
                                          <p:attrName>style.visibility</p:attrName>
                                        </p:attrNameLst>
                                      </p:cBhvr>
                                      <p:to>
                                        <p:strVal val="visible"/>
                                      </p:to>
                                    </p:set>
                                    <p:animEffect transition="in" filter="fade">
                                      <p:cBhvr>
                                        <p:cTn id="297" dur="500"/>
                                        <p:tgtEl>
                                          <p:spTgt spid="108"/>
                                        </p:tgtEl>
                                      </p:cBhvr>
                                    </p:animEffect>
                                  </p:childTnLst>
                                </p:cTn>
                              </p:par>
                              <p:par>
                                <p:cTn id="298" presetID="10" presetClass="entr" presetSubtype="0" fill="hold" grpId="0" nodeType="withEffect">
                                  <p:stCondLst>
                                    <p:cond delay="0"/>
                                  </p:stCondLst>
                                  <p:childTnLst>
                                    <p:set>
                                      <p:cBhvr>
                                        <p:cTn id="299" dur="1" fill="hold">
                                          <p:stCondLst>
                                            <p:cond delay="0"/>
                                          </p:stCondLst>
                                        </p:cTn>
                                        <p:tgtEl>
                                          <p:spTgt spid="109"/>
                                        </p:tgtEl>
                                        <p:attrNameLst>
                                          <p:attrName>style.visibility</p:attrName>
                                        </p:attrNameLst>
                                      </p:cBhvr>
                                      <p:to>
                                        <p:strVal val="visible"/>
                                      </p:to>
                                    </p:set>
                                    <p:animEffect transition="in" filter="fade">
                                      <p:cBhvr>
                                        <p:cTn id="300" dur="500"/>
                                        <p:tgtEl>
                                          <p:spTgt spid="109"/>
                                        </p:tgtEl>
                                      </p:cBhvr>
                                    </p:animEffect>
                                  </p:childTnLst>
                                </p:cTn>
                              </p:par>
                              <p:par>
                                <p:cTn id="301" presetID="10" presetClass="entr" presetSubtype="0" fill="hold" grpId="0" nodeType="withEffect">
                                  <p:stCondLst>
                                    <p:cond delay="0"/>
                                  </p:stCondLst>
                                  <p:childTnLst>
                                    <p:set>
                                      <p:cBhvr>
                                        <p:cTn id="302" dur="1" fill="hold">
                                          <p:stCondLst>
                                            <p:cond delay="0"/>
                                          </p:stCondLst>
                                        </p:cTn>
                                        <p:tgtEl>
                                          <p:spTgt spid="111"/>
                                        </p:tgtEl>
                                        <p:attrNameLst>
                                          <p:attrName>style.visibility</p:attrName>
                                        </p:attrNameLst>
                                      </p:cBhvr>
                                      <p:to>
                                        <p:strVal val="visible"/>
                                      </p:to>
                                    </p:set>
                                    <p:animEffect transition="in" filter="fade">
                                      <p:cBhvr>
                                        <p:cTn id="303" dur="500"/>
                                        <p:tgtEl>
                                          <p:spTgt spid="111"/>
                                        </p:tgtEl>
                                      </p:cBhvr>
                                    </p:animEffect>
                                  </p:childTnLst>
                                </p:cTn>
                              </p:par>
                              <p:par>
                                <p:cTn id="304" presetID="10" presetClass="entr" presetSubtype="0" fill="hold" grpId="0" nodeType="withEffect">
                                  <p:stCondLst>
                                    <p:cond delay="0"/>
                                  </p:stCondLst>
                                  <p:childTnLst>
                                    <p:set>
                                      <p:cBhvr>
                                        <p:cTn id="305" dur="1" fill="hold">
                                          <p:stCondLst>
                                            <p:cond delay="0"/>
                                          </p:stCondLst>
                                        </p:cTn>
                                        <p:tgtEl>
                                          <p:spTgt spid="112"/>
                                        </p:tgtEl>
                                        <p:attrNameLst>
                                          <p:attrName>style.visibility</p:attrName>
                                        </p:attrNameLst>
                                      </p:cBhvr>
                                      <p:to>
                                        <p:strVal val="visible"/>
                                      </p:to>
                                    </p:set>
                                    <p:animEffect transition="in" filter="fade">
                                      <p:cBhvr>
                                        <p:cTn id="306" dur="500"/>
                                        <p:tgtEl>
                                          <p:spTgt spid="112"/>
                                        </p:tgtEl>
                                      </p:cBhvr>
                                    </p:animEffect>
                                  </p:childTnLst>
                                </p:cTn>
                              </p:par>
                              <p:par>
                                <p:cTn id="307" presetID="10" presetClass="entr" presetSubtype="0" fill="hold" grpId="0" nodeType="withEffect">
                                  <p:stCondLst>
                                    <p:cond delay="0"/>
                                  </p:stCondLst>
                                  <p:childTnLst>
                                    <p:set>
                                      <p:cBhvr>
                                        <p:cTn id="308" dur="1" fill="hold">
                                          <p:stCondLst>
                                            <p:cond delay="0"/>
                                          </p:stCondLst>
                                        </p:cTn>
                                        <p:tgtEl>
                                          <p:spTgt spid="113"/>
                                        </p:tgtEl>
                                        <p:attrNameLst>
                                          <p:attrName>style.visibility</p:attrName>
                                        </p:attrNameLst>
                                      </p:cBhvr>
                                      <p:to>
                                        <p:strVal val="visible"/>
                                      </p:to>
                                    </p:set>
                                    <p:animEffect transition="in" filter="fade">
                                      <p:cBhvr>
                                        <p:cTn id="309" dur="500"/>
                                        <p:tgtEl>
                                          <p:spTgt spid="113"/>
                                        </p:tgtEl>
                                      </p:cBhvr>
                                    </p:animEffect>
                                  </p:childTnLst>
                                </p:cTn>
                              </p:par>
                              <p:par>
                                <p:cTn id="310" presetID="10" presetClass="entr" presetSubtype="0" fill="hold" grpId="0" nodeType="withEffect">
                                  <p:stCondLst>
                                    <p:cond delay="0"/>
                                  </p:stCondLst>
                                  <p:childTnLst>
                                    <p:set>
                                      <p:cBhvr>
                                        <p:cTn id="311" dur="1" fill="hold">
                                          <p:stCondLst>
                                            <p:cond delay="0"/>
                                          </p:stCondLst>
                                        </p:cTn>
                                        <p:tgtEl>
                                          <p:spTgt spid="114"/>
                                        </p:tgtEl>
                                        <p:attrNameLst>
                                          <p:attrName>style.visibility</p:attrName>
                                        </p:attrNameLst>
                                      </p:cBhvr>
                                      <p:to>
                                        <p:strVal val="visible"/>
                                      </p:to>
                                    </p:set>
                                    <p:animEffect transition="in" filter="fade">
                                      <p:cBhvr>
                                        <p:cTn id="312" dur="500"/>
                                        <p:tgtEl>
                                          <p:spTgt spid="114"/>
                                        </p:tgtEl>
                                      </p:cBhvr>
                                    </p:animEffect>
                                  </p:childTnLst>
                                </p:cTn>
                              </p:par>
                              <p:par>
                                <p:cTn id="313" presetID="10" presetClass="entr" presetSubtype="0" fill="hold" grpId="0" nodeType="withEffect">
                                  <p:stCondLst>
                                    <p:cond delay="0"/>
                                  </p:stCondLst>
                                  <p:childTnLst>
                                    <p:set>
                                      <p:cBhvr>
                                        <p:cTn id="314" dur="1" fill="hold">
                                          <p:stCondLst>
                                            <p:cond delay="0"/>
                                          </p:stCondLst>
                                        </p:cTn>
                                        <p:tgtEl>
                                          <p:spTgt spid="115"/>
                                        </p:tgtEl>
                                        <p:attrNameLst>
                                          <p:attrName>style.visibility</p:attrName>
                                        </p:attrNameLst>
                                      </p:cBhvr>
                                      <p:to>
                                        <p:strVal val="visible"/>
                                      </p:to>
                                    </p:set>
                                    <p:animEffect transition="in" filter="fade">
                                      <p:cBhvr>
                                        <p:cTn id="315" dur="500"/>
                                        <p:tgtEl>
                                          <p:spTgt spid="115"/>
                                        </p:tgtEl>
                                      </p:cBhvr>
                                    </p:animEffect>
                                  </p:childTnLst>
                                </p:cTn>
                              </p:par>
                              <p:par>
                                <p:cTn id="316" presetID="10" presetClass="entr" presetSubtype="0" fill="hold" grpId="0" nodeType="withEffect">
                                  <p:stCondLst>
                                    <p:cond delay="0"/>
                                  </p:stCondLst>
                                  <p:childTnLst>
                                    <p:set>
                                      <p:cBhvr>
                                        <p:cTn id="317" dur="1" fill="hold">
                                          <p:stCondLst>
                                            <p:cond delay="0"/>
                                          </p:stCondLst>
                                        </p:cTn>
                                        <p:tgtEl>
                                          <p:spTgt spid="116"/>
                                        </p:tgtEl>
                                        <p:attrNameLst>
                                          <p:attrName>style.visibility</p:attrName>
                                        </p:attrNameLst>
                                      </p:cBhvr>
                                      <p:to>
                                        <p:strVal val="visible"/>
                                      </p:to>
                                    </p:set>
                                    <p:animEffect transition="in" filter="fade">
                                      <p:cBhvr>
                                        <p:cTn id="318" dur="500"/>
                                        <p:tgtEl>
                                          <p:spTgt spid="116"/>
                                        </p:tgtEl>
                                      </p:cBhvr>
                                    </p:animEffect>
                                  </p:childTnLst>
                                </p:cTn>
                              </p:par>
                              <p:par>
                                <p:cTn id="319" presetID="10" presetClass="entr" presetSubtype="0" fill="hold" grpId="0" nodeType="withEffect">
                                  <p:stCondLst>
                                    <p:cond delay="0"/>
                                  </p:stCondLst>
                                  <p:childTnLst>
                                    <p:set>
                                      <p:cBhvr>
                                        <p:cTn id="320" dur="1" fill="hold">
                                          <p:stCondLst>
                                            <p:cond delay="0"/>
                                          </p:stCondLst>
                                        </p:cTn>
                                        <p:tgtEl>
                                          <p:spTgt spid="117"/>
                                        </p:tgtEl>
                                        <p:attrNameLst>
                                          <p:attrName>style.visibility</p:attrName>
                                        </p:attrNameLst>
                                      </p:cBhvr>
                                      <p:to>
                                        <p:strVal val="visible"/>
                                      </p:to>
                                    </p:set>
                                    <p:animEffect transition="in" filter="fade">
                                      <p:cBhvr>
                                        <p:cTn id="321" dur="500"/>
                                        <p:tgtEl>
                                          <p:spTgt spid="117"/>
                                        </p:tgtEl>
                                      </p:cBhvr>
                                    </p:animEffect>
                                  </p:childTnLst>
                                </p:cTn>
                              </p:par>
                              <p:par>
                                <p:cTn id="322" presetID="10" presetClass="entr" presetSubtype="0" fill="hold" grpId="0" nodeType="withEffect">
                                  <p:stCondLst>
                                    <p:cond delay="0"/>
                                  </p:stCondLst>
                                  <p:childTnLst>
                                    <p:set>
                                      <p:cBhvr>
                                        <p:cTn id="323" dur="1" fill="hold">
                                          <p:stCondLst>
                                            <p:cond delay="0"/>
                                          </p:stCondLst>
                                        </p:cTn>
                                        <p:tgtEl>
                                          <p:spTgt spid="118"/>
                                        </p:tgtEl>
                                        <p:attrNameLst>
                                          <p:attrName>style.visibility</p:attrName>
                                        </p:attrNameLst>
                                      </p:cBhvr>
                                      <p:to>
                                        <p:strVal val="visible"/>
                                      </p:to>
                                    </p:set>
                                    <p:animEffect transition="in" filter="fade">
                                      <p:cBhvr>
                                        <p:cTn id="324" dur="500"/>
                                        <p:tgtEl>
                                          <p:spTgt spid="118"/>
                                        </p:tgtEl>
                                      </p:cBhvr>
                                    </p:animEffect>
                                  </p:childTnLst>
                                </p:cTn>
                              </p:par>
                              <p:par>
                                <p:cTn id="325" presetID="10" presetClass="entr" presetSubtype="0" fill="hold" grpId="0" nodeType="withEffect">
                                  <p:stCondLst>
                                    <p:cond delay="0"/>
                                  </p:stCondLst>
                                  <p:childTnLst>
                                    <p:set>
                                      <p:cBhvr>
                                        <p:cTn id="326" dur="1" fill="hold">
                                          <p:stCondLst>
                                            <p:cond delay="0"/>
                                          </p:stCondLst>
                                        </p:cTn>
                                        <p:tgtEl>
                                          <p:spTgt spid="119"/>
                                        </p:tgtEl>
                                        <p:attrNameLst>
                                          <p:attrName>style.visibility</p:attrName>
                                        </p:attrNameLst>
                                      </p:cBhvr>
                                      <p:to>
                                        <p:strVal val="visible"/>
                                      </p:to>
                                    </p:set>
                                    <p:animEffect transition="in" filter="fade">
                                      <p:cBhvr>
                                        <p:cTn id="327" dur="500"/>
                                        <p:tgtEl>
                                          <p:spTgt spid="119"/>
                                        </p:tgtEl>
                                      </p:cBhvr>
                                    </p:animEffect>
                                  </p:childTnLst>
                                </p:cTn>
                              </p:par>
                              <p:par>
                                <p:cTn id="328" presetID="10" presetClass="entr" presetSubtype="0" fill="hold" grpId="0" nodeType="withEffect">
                                  <p:stCondLst>
                                    <p:cond delay="0"/>
                                  </p:stCondLst>
                                  <p:childTnLst>
                                    <p:set>
                                      <p:cBhvr>
                                        <p:cTn id="329" dur="1" fill="hold">
                                          <p:stCondLst>
                                            <p:cond delay="0"/>
                                          </p:stCondLst>
                                        </p:cTn>
                                        <p:tgtEl>
                                          <p:spTgt spid="121"/>
                                        </p:tgtEl>
                                        <p:attrNameLst>
                                          <p:attrName>style.visibility</p:attrName>
                                        </p:attrNameLst>
                                      </p:cBhvr>
                                      <p:to>
                                        <p:strVal val="visible"/>
                                      </p:to>
                                    </p:set>
                                    <p:animEffect transition="in" filter="fade">
                                      <p:cBhvr>
                                        <p:cTn id="330" dur="500"/>
                                        <p:tgtEl>
                                          <p:spTgt spid="121"/>
                                        </p:tgtEl>
                                      </p:cBhvr>
                                    </p:animEffect>
                                  </p:childTnLst>
                                </p:cTn>
                              </p:par>
                              <p:par>
                                <p:cTn id="331" presetID="10" presetClass="entr" presetSubtype="0" fill="hold" grpId="0" nodeType="withEffect">
                                  <p:stCondLst>
                                    <p:cond delay="0"/>
                                  </p:stCondLst>
                                  <p:childTnLst>
                                    <p:set>
                                      <p:cBhvr>
                                        <p:cTn id="332" dur="1" fill="hold">
                                          <p:stCondLst>
                                            <p:cond delay="0"/>
                                          </p:stCondLst>
                                        </p:cTn>
                                        <p:tgtEl>
                                          <p:spTgt spid="122"/>
                                        </p:tgtEl>
                                        <p:attrNameLst>
                                          <p:attrName>style.visibility</p:attrName>
                                        </p:attrNameLst>
                                      </p:cBhvr>
                                      <p:to>
                                        <p:strVal val="visible"/>
                                      </p:to>
                                    </p:set>
                                    <p:animEffect transition="in" filter="fade">
                                      <p:cBhvr>
                                        <p:cTn id="333" dur="500"/>
                                        <p:tgtEl>
                                          <p:spTgt spid="122"/>
                                        </p:tgtEl>
                                      </p:cBhvr>
                                    </p:animEffect>
                                  </p:childTnLst>
                                </p:cTn>
                              </p:par>
                              <p:par>
                                <p:cTn id="334" presetID="10" presetClass="entr" presetSubtype="0" fill="hold" grpId="0" nodeType="withEffect">
                                  <p:stCondLst>
                                    <p:cond delay="0"/>
                                  </p:stCondLst>
                                  <p:childTnLst>
                                    <p:set>
                                      <p:cBhvr>
                                        <p:cTn id="335" dur="1" fill="hold">
                                          <p:stCondLst>
                                            <p:cond delay="0"/>
                                          </p:stCondLst>
                                        </p:cTn>
                                        <p:tgtEl>
                                          <p:spTgt spid="123"/>
                                        </p:tgtEl>
                                        <p:attrNameLst>
                                          <p:attrName>style.visibility</p:attrName>
                                        </p:attrNameLst>
                                      </p:cBhvr>
                                      <p:to>
                                        <p:strVal val="visible"/>
                                      </p:to>
                                    </p:set>
                                    <p:animEffect transition="in" filter="fade">
                                      <p:cBhvr>
                                        <p:cTn id="336" dur="500"/>
                                        <p:tgtEl>
                                          <p:spTgt spid="123"/>
                                        </p:tgtEl>
                                      </p:cBhvr>
                                    </p:animEffect>
                                  </p:childTnLst>
                                </p:cTn>
                              </p:par>
                              <p:par>
                                <p:cTn id="337" presetID="10" presetClass="entr" presetSubtype="0" fill="hold" grpId="0" nodeType="withEffect">
                                  <p:stCondLst>
                                    <p:cond delay="0"/>
                                  </p:stCondLst>
                                  <p:childTnLst>
                                    <p:set>
                                      <p:cBhvr>
                                        <p:cTn id="338" dur="1" fill="hold">
                                          <p:stCondLst>
                                            <p:cond delay="0"/>
                                          </p:stCondLst>
                                        </p:cTn>
                                        <p:tgtEl>
                                          <p:spTgt spid="124"/>
                                        </p:tgtEl>
                                        <p:attrNameLst>
                                          <p:attrName>style.visibility</p:attrName>
                                        </p:attrNameLst>
                                      </p:cBhvr>
                                      <p:to>
                                        <p:strVal val="visible"/>
                                      </p:to>
                                    </p:set>
                                    <p:animEffect transition="in" filter="fade">
                                      <p:cBhvr>
                                        <p:cTn id="339" dur="500"/>
                                        <p:tgtEl>
                                          <p:spTgt spid="124"/>
                                        </p:tgtEl>
                                      </p:cBhvr>
                                    </p:animEffect>
                                  </p:childTnLst>
                                </p:cTn>
                              </p:par>
                              <p:par>
                                <p:cTn id="340" presetID="10" presetClass="entr" presetSubtype="0" fill="hold" grpId="0" nodeType="withEffect">
                                  <p:stCondLst>
                                    <p:cond delay="0"/>
                                  </p:stCondLst>
                                  <p:childTnLst>
                                    <p:set>
                                      <p:cBhvr>
                                        <p:cTn id="341" dur="1" fill="hold">
                                          <p:stCondLst>
                                            <p:cond delay="0"/>
                                          </p:stCondLst>
                                        </p:cTn>
                                        <p:tgtEl>
                                          <p:spTgt spid="125"/>
                                        </p:tgtEl>
                                        <p:attrNameLst>
                                          <p:attrName>style.visibility</p:attrName>
                                        </p:attrNameLst>
                                      </p:cBhvr>
                                      <p:to>
                                        <p:strVal val="visible"/>
                                      </p:to>
                                    </p:set>
                                    <p:animEffect transition="in" filter="fade">
                                      <p:cBhvr>
                                        <p:cTn id="342" dur="500"/>
                                        <p:tgtEl>
                                          <p:spTgt spid="125"/>
                                        </p:tgtEl>
                                      </p:cBhvr>
                                    </p:animEffect>
                                  </p:childTnLst>
                                </p:cTn>
                              </p:par>
                              <p:par>
                                <p:cTn id="343" presetID="10" presetClass="entr" presetSubtype="0" fill="hold" grpId="0" nodeType="withEffect">
                                  <p:stCondLst>
                                    <p:cond delay="0"/>
                                  </p:stCondLst>
                                  <p:childTnLst>
                                    <p:set>
                                      <p:cBhvr>
                                        <p:cTn id="344" dur="1" fill="hold">
                                          <p:stCondLst>
                                            <p:cond delay="0"/>
                                          </p:stCondLst>
                                        </p:cTn>
                                        <p:tgtEl>
                                          <p:spTgt spid="126"/>
                                        </p:tgtEl>
                                        <p:attrNameLst>
                                          <p:attrName>style.visibility</p:attrName>
                                        </p:attrNameLst>
                                      </p:cBhvr>
                                      <p:to>
                                        <p:strVal val="visible"/>
                                      </p:to>
                                    </p:set>
                                    <p:animEffect transition="in" filter="fade">
                                      <p:cBhvr>
                                        <p:cTn id="345" dur="500"/>
                                        <p:tgtEl>
                                          <p:spTgt spid="126"/>
                                        </p:tgtEl>
                                      </p:cBhvr>
                                    </p:animEffect>
                                  </p:childTnLst>
                                </p:cTn>
                              </p:par>
                              <p:par>
                                <p:cTn id="346" presetID="10" presetClass="entr" presetSubtype="0" fill="hold" grpId="0" nodeType="withEffect">
                                  <p:stCondLst>
                                    <p:cond delay="0"/>
                                  </p:stCondLst>
                                  <p:childTnLst>
                                    <p:set>
                                      <p:cBhvr>
                                        <p:cTn id="347" dur="1" fill="hold">
                                          <p:stCondLst>
                                            <p:cond delay="0"/>
                                          </p:stCondLst>
                                        </p:cTn>
                                        <p:tgtEl>
                                          <p:spTgt spid="127"/>
                                        </p:tgtEl>
                                        <p:attrNameLst>
                                          <p:attrName>style.visibility</p:attrName>
                                        </p:attrNameLst>
                                      </p:cBhvr>
                                      <p:to>
                                        <p:strVal val="visible"/>
                                      </p:to>
                                    </p:set>
                                    <p:animEffect transition="in" filter="fade">
                                      <p:cBhvr>
                                        <p:cTn id="348" dur="500"/>
                                        <p:tgtEl>
                                          <p:spTgt spid="127"/>
                                        </p:tgtEl>
                                      </p:cBhvr>
                                    </p:animEffect>
                                  </p:childTnLst>
                                </p:cTn>
                              </p:par>
                              <p:par>
                                <p:cTn id="349" presetID="10" presetClass="entr" presetSubtype="0" fill="hold" grpId="0" nodeType="withEffect">
                                  <p:stCondLst>
                                    <p:cond delay="0"/>
                                  </p:stCondLst>
                                  <p:childTnLst>
                                    <p:set>
                                      <p:cBhvr>
                                        <p:cTn id="350" dur="1" fill="hold">
                                          <p:stCondLst>
                                            <p:cond delay="0"/>
                                          </p:stCondLst>
                                        </p:cTn>
                                        <p:tgtEl>
                                          <p:spTgt spid="128"/>
                                        </p:tgtEl>
                                        <p:attrNameLst>
                                          <p:attrName>style.visibility</p:attrName>
                                        </p:attrNameLst>
                                      </p:cBhvr>
                                      <p:to>
                                        <p:strVal val="visible"/>
                                      </p:to>
                                    </p:set>
                                    <p:animEffect transition="in" filter="fade">
                                      <p:cBhvr>
                                        <p:cTn id="351" dur="500"/>
                                        <p:tgtEl>
                                          <p:spTgt spid="128"/>
                                        </p:tgtEl>
                                      </p:cBhvr>
                                    </p:animEffect>
                                  </p:childTnLst>
                                </p:cTn>
                              </p:par>
                              <p:par>
                                <p:cTn id="352" presetID="10" presetClass="entr" presetSubtype="0" fill="hold" grpId="0" nodeType="withEffect">
                                  <p:stCondLst>
                                    <p:cond delay="0"/>
                                  </p:stCondLst>
                                  <p:childTnLst>
                                    <p:set>
                                      <p:cBhvr>
                                        <p:cTn id="353" dur="1" fill="hold">
                                          <p:stCondLst>
                                            <p:cond delay="0"/>
                                          </p:stCondLst>
                                        </p:cTn>
                                        <p:tgtEl>
                                          <p:spTgt spid="129"/>
                                        </p:tgtEl>
                                        <p:attrNameLst>
                                          <p:attrName>style.visibility</p:attrName>
                                        </p:attrNameLst>
                                      </p:cBhvr>
                                      <p:to>
                                        <p:strVal val="visible"/>
                                      </p:to>
                                    </p:set>
                                    <p:animEffect transition="in" filter="fade">
                                      <p:cBhvr>
                                        <p:cTn id="354" dur="500"/>
                                        <p:tgtEl>
                                          <p:spTgt spid="129"/>
                                        </p:tgtEl>
                                      </p:cBhvr>
                                    </p:animEffect>
                                  </p:childTnLst>
                                </p:cTn>
                              </p:par>
                              <p:par>
                                <p:cTn id="355" presetID="10" presetClass="entr" presetSubtype="0" fill="hold" grpId="0" nodeType="withEffect">
                                  <p:stCondLst>
                                    <p:cond delay="0"/>
                                  </p:stCondLst>
                                  <p:childTnLst>
                                    <p:set>
                                      <p:cBhvr>
                                        <p:cTn id="356" dur="1" fill="hold">
                                          <p:stCondLst>
                                            <p:cond delay="0"/>
                                          </p:stCondLst>
                                        </p:cTn>
                                        <p:tgtEl>
                                          <p:spTgt spid="130"/>
                                        </p:tgtEl>
                                        <p:attrNameLst>
                                          <p:attrName>style.visibility</p:attrName>
                                        </p:attrNameLst>
                                      </p:cBhvr>
                                      <p:to>
                                        <p:strVal val="visible"/>
                                      </p:to>
                                    </p:set>
                                    <p:animEffect transition="in" filter="fade">
                                      <p:cBhvr>
                                        <p:cTn id="357" dur="500"/>
                                        <p:tgtEl>
                                          <p:spTgt spid="130"/>
                                        </p:tgtEl>
                                      </p:cBhvr>
                                    </p:animEffect>
                                  </p:childTnLst>
                                </p:cTn>
                              </p:par>
                              <p:par>
                                <p:cTn id="358" presetID="10" presetClass="entr" presetSubtype="0" fill="hold" grpId="0" nodeType="withEffect">
                                  <p:stCondLst>
                                    <p:cond delay="0"/>
                                  </p:stCondLst>
                                  <p:childTnLst>
                                    <p:set>
                                      <p:cBhvr>
                                        <p:cTn id="359" dur="1" fill="hold">
                                          <p:stCondLst>
                                            <p:cond delay="0"/>
                                          </p:stCondLst>
                                        </p:cTn>
                                        <p:tgtEl>
                                          <p:spTgt spid="131"/>
                                        </p:tgtEl>
                                        <p:attrNameLst>
                                          <p:attrName>style.visibility</p:attrName>
                                        </p:attrNameLst>
                                      </p:cBhvr>
                                      <p:to>
                                        <p:strVal val="visible"/>
                                      </p:to>
                                    </p:set>
                                    <p:animEffect transition="in" filter="fade">
                                      <p:cBhvr>
                                        <p:cTn id="360" dur="500"/>
                                        <p:tgtEl>
                                          <p:spTgt spid="131"/>
                                        </p:tgtEl>
                                      </p:cBhvr>
                                    </p:animEffect>
                                  </p:childTnLst>
                                </p:cTn>
                              </p:par>
                              <p:par>
                                <p:cTn id="361" presetID="10" presetClass="entr" presetSubtype="0" fill="hold" grpId="0" nodeType="withEffect">
                                  <p:stCondLst>
                                    <p:cond delay="0"/>
                                  </p:stCondLst>
                                  <p:childTnLst>
                                    <p:set>
                                      <p:cBhvr>
                                        <p:cTn id="362" dur="1" fill="hold">
                                          <p:stCondLst>
                                            <p:cond delay="0"/>
                                          </p:stCondLst>
                                        </p:cTn>
                                        <p:tgtEl>
                                          <p:spTgt spid="132"/>
                                        </p:tgtEl>
                                        <p:attrNameLst>
                                          <p:attrName>style.visibility</p:attrName>
                                        </p:attrNameLst>
                                      </p:cBhvr>
                                      <p:to>
                                        <p:strVal val="visible"/>
                                      </p:to>
                                    </p:set>
                                    <p:animEffect transition="in" filter="fade">
                                      <p:cBhvr>
                                        <p:cTn id="363" dur="500"/>
                                        <p:tgtEl>
                                          <p:spTgt spid="132"/>
                                        </p:tgtEl>
                                      </p:cBhvr>
                                    </p:animEffect>
                                  </p:childTnLst>
                                </p:cTn>
                              </p:par>
                              <p:par>
                                <p:cTn id="364" presetID="10" presetClass="entr" presetSubtype="0" fill="hold" grpId="0" nodeType="withEffect">
                                  <p:stCondLst>
                                    <p:cond delay="0"/>
                                  </p:stCondLst>
                                  <p:childTnLst>
                                    <p:set>
                                      <p:cBhvr>
                                        <p:cTn id="365" dur="1" fill="hold">
                                          <p:stCondLst>
                                            <p:cond delay="0"/>
                                          </p:stCondLst>
                                        </p:cTn>
                                        <p:tgtEl>
                                          <p:spTgt spid="133"/>
                                        </p:tgtEl>
                                        <p:attrNameLst>
                                          <p:attrName>style.visibility</p:attrName>
                                        </p:attrNameLst>
                                      </p:cBhvr>
                                      <p:to>
                                        <p:strVal val="visible"/>
                                      </p:to>
                                    </p:set>
                                    <p:animEffect transition="in" filter="fade">
                                      <p:cBhvr>
                                        <p:cTn id="366" dur="500"/>
                                        <p:tgtEl>
                                          <p:spTgt spid="133"/>
                                        </p:tgtEl>
                                      </p:cBhvr>
                                    </p:animEffect>
                                  </p:childTnLst>
                                </p:cTn>
                              </p:par>
                              <p:par>
                                <p:cTn id="367" presetID="10" presetClass="entr" presetSubtype="0" fill="hold" grpId="0" nodeType="withEffect">
                                  <p:stCondLst>
                                    <p:cond delay="0"/>
                                  </p:stCondLst>
                                  <p:childTnLst>
                                    <p:set>
                                      <p:cBhvr>
                                        <p:cTn id="368" dur="1" fill="hold">
                                          <p:stCondLst>
                                            <p:cond delay="0"/>
                                          </p:stCondLst>
                                        </p:cTn>
                                        <p:tgtEl>
                                          <p:spTgt spid="134"/>
                                        </p:tgtEl>
                                        <p:attrNameLst>
                                          <p:attrName>style.visibility</p:attrName>
                                        </p:attrNameLst>
                                      </p:cBhvr>
                                      <p:to>
                                        <p:strVal val="visible"/>
                                      </p:to>
                                    </p:set>
                                    <p:animEffect transition="in" filter="fade">
                                      <p:cBhvr>
                                        <p:cTn id="369" dur="500"/>
                                        <p:tgtEl>
                                          <p:spTgt spid="134"/>
                                        </p:tgtEl>
                                      </p:cBhvr>
                                    </p:animEffect>
                                  </p:childTnLst>
                                </p:cTn>
                              </p:par>
                              <p:par>
                                <p:cTn id="370" presetID="10" presetClass="entr" presetSubtype="0" fill="hold" grpId="0" nodeType="withEffect">
                                  <p:stCondLst>
                                    <p:cond delay="0"/>
                                  </p:stCondLst>
                                  <p:childTnLst>
                                    <p:set>
                                      <p:cBhvr>
                                        <p:cTn id="371" dur="1" fill="hold">
                                          <p:stCondLst>
                                            <p:cond delay="0"/>
                                          </p:stCondLst>
                                        </p:cTn>
                                        <p:tgtEl>
                                          <p:spTgt spid="135"/>
                                        </p:tgtEl>
                                        <p:attrNameLst>
                                          <p:attrName>style.visibility</p:attrName>
                                        </p:attrNameLst>
                                      </p:cBhvr>
                                      <p:to>
                                        <p:strVal val="visible"/>
                                      </p:to>
                                    </p:set>
                                    <p:animEffect transition="in" filter="fade">
                                      <p:cBhvr>
                                        <p:cTn id="372" dur="500"/>
                                        <p:tgtEl>
                                          <p:spTgt spid="135"/>
                                        </p:tgtEl>
                                      </p:cBhvr>
                                    </p:animEffect>
                                  </p:childTnLst>
                                </p:cTn>
                              </p:par>
                              <p:par>
                                <p:cTn id="373" presetID="10" presetClass="entr" presetSubtype="0" fill="hold" grpId="0" nodeType="withEffect">
                                  <p:stCondLst>
                                    <p:cond delay="0"/>
                                  </p:stCondLst>
                                  <p:childTnLst>
                                    <p:set>
                                      <p:cBhvr>
                                        <p:cTn id="374" dur="1" fill="hold">
                                          <p:stCondLst>
                                            <p:cond delay="0"/>
                                          </p:stCondLst>
                                        </p:cTn>
                                        <p:tgtEl>
                                          <p:spTgt spid="136"/>
                                        </p:tgtEl>
                                        <p:attrNameLst>
                                          <p:attrName>style.visibility</p:attrName>
                                        </p:attrNameLst>
                                      </p:cBhvr>
                                      <p:to>
                                        <p:strVal val="visible"/>
                                      </p:to>
                                    </p:set>
                                    <p:animEffect transition="in" filter="fade">
                                      <p:cBhvr>
                                        <p:cTn id="375" dur="500"/>
                                        <p:tgtEl>
                                          <p:spTgt spid="136"/>
                                        </p:tgtEl>
                                      </p:cBhvr>
                                    </p:animEffect>
                                  </p:childTnLst>
                                </p:cTn>
                              </p:par>
                              <p:par>
                                <p:cTn id="376" presetID="10" presetClass="entr" presetSubtype="0" fill="hold" grpId="0" nodeType="withEffect">
                                  <p:stCondLst>
                                    <p:cond delay="0"/>
                                  </p:stCondLst>
                                  <p:childTnLst>
                                    <p:set>
                                      <p:cBhvr>
                                        <p:cTn id="377" dur="1" fill="hold">
                                          <p:stCondLst>
                                            <p:cond delay="0"/>
                                          </p:stCondLst>
                                        </p:cTn>
                                        <p:tgtEl>
                                          <p:spTgt spid="137"/>
                                        </p:tgtEl>
                                        <p:attrNameLst>
                                          <p:attrName>style.visibility</p:attrName>
                                        </p:attrNameLst>
                                      </p:cBhvr>
                                      <p:to>
                                        <p:strVal val="visible"/>
                                      </p:to>
                                    </p:set>
                                    <p:animEffect transition="in" filter="fade">
                                      <p:cBhvr>
                                        <p:cTn id="378" dur="500"/>
                                        <p:tgtEl>
                                          <p:spTgt spid="137"/>
                                        </p:tgtEl>
                                      </p:cBhvr>
                                    </p:animEffect>
                                  </p:childTnLst>
                                </p:cTn>
                              </p:par>
                              <p:par>
                                <p:cTn id="379" presetID="10" presetClass="entr" presetSubtype="0" fill="hold" grpId="0" nodeType="withEffect">
                                  <p:stCondLst>
                                    <p:cond delay="0"/>
                                  </p:stCondLst>
                                  <p:childTnLst>
                                    <p:set>
                                      <p:cBhvr>
                                        <p:cTn id="380" dur="1" fill="hold">
                                          <p:stCondLst>
                                            <p:cond delay="0"/>
                                          </p:stCondLst>
                                        </p:cTn>
                                        <p:tgtEl>
                                          <p:spTgt spid="138"/>
                                        </p:tgtEl>
                                        <p:attrNameLst>
                                          <p:attrName>style.visibility</p:attrName>
                                        </p:attrNameLst>
                                      </p:cBhvr>
                                      <p:to>
                                        <p:strVal val="visible"/>
                                      </p:to>
                                    </p:set>
                                    <p:animEffect transition="in" filter="fade">
                                      <p:cBhvr>
                                        <p:cTn id="381" dur="500"/>
                                        <p:tgtEl>
                                          <p:spTgt spid="138"/>
                                        </p:tgtEl>
                                      </p:cBhvr>
                                    </p:animEffect>
                                  </p:childTnLst>
                                </p:cTn>
                              </p:par>
                              <p:par>
                                <p:cTn id="382" presetID="10" presetClass="entr" presetSubtype="0" fill="hold" grpId="0" nodeType="withEffect">
                                  <p:stCondLst>
                                    <p:cond delay="0"/>
                                  </p:stCondLst>
                                  <p:childTnLst>
                                    <p:set>
                                      <p:cBhvr>
                                        <p:cTn id="383" dur="1" fill="hold">
                                          <p:stCondLst>
                                            <p:cond delay="0"/>
                                          </p:stCondLst>
                                        </p:cTn>
                                        <p:tgtEl>
                                          <p:spTgt spid="139"/>
                                        </p:tgtEl>
                                        <p:attrNameLst>
                                          <p:attrName>style.visibility</p:attrName>
                                        </p:attrNameLst>
                                      </p:cBhvr>
                                      <p:to>
                                        <p:strVal val="visible"/>
                                      </p:to>
                                    </p:set>
                                    <p:animEffect transition="in" filter="fade">
                                      <p:cBhvr>
                                        <p:cTn id="384" dur="500"/>
                                        <p:tgtEl>
                                          <p:spTgt spid="139"/>
                                        </p:tgtEl>
                                      </p:cBhvr>
                                    </p:animEffect>
                                  </p:childTnLst>
                                </p:cTn>
                              </p:par>
                              <p:par>
                                <p:cTn id="385" presetID="10" presetClass="entr" presetSubtype="0" fill="hold" grpId="0" nodeType="withEffect">
                                  <p:stCondLst>
                                    <p:cond delay="0"/>
                                  </p:stCondLst>
                                  <p:childTnLst>
                                    <p:set>
                                      <p:cBhvr>
                                        <p:cTn id="386" dur="1" fill="hold">
                                          <p:stCondLst>
                                            <p:cond delay="0"/>
                                          </p:stCondLst>
                                        </p:cTn>
                                        <p:tgtEl>
                                          <p:spTgt spid="140"/>
                                        </p:tgtEl>
                                        <p:attrNameLst>
                                          <p:attrName>style.visibility</p:attrName>
                                        </p:attrNameLst>
                                      </p:cBhvr>
                                      <p:to>
                                        <p:strVal val="visible"/>
                                      </p:to>
                                    </p:set>
                                    <p:animEffect transition="in" filter="fade">
                                      <p:cBhvr>
                                        <p:cTn id="387" dur="500"/>
                                        <p:tgtEl>
                                          <p:spTgt spid="140"/>
                                        </p:tgtEl>
                                      </p:cBhvr>
                                    </p:animEffect>
                                  </p:childTnLst>
                                </p:cTn>
                              </p:par>
                              <p:par>
                                <p:cTn id="388" presetID="10" presetClass="entr" presetSubtype="0" fill="hold" grpId="0" nodeType="withEffect">
                                  <p:stCondLst>
                                    <p:cond delay="0"/>
                                  </p:stCondLst>
                                  <p:childTnLst>
                                    <p:set>
                                      <p:cBhvr>
                                        <p:cTn id="389" dur="1" fill="hold">
                                          <p:stCondLst>
                                            <p:cond delay="0"/>
                                          </p:stCondLst>
                                        </p:cTn>
                                        <p:tgtEl>
                                          <p:spTgt spid="141"/>
                                        </p:tgtEl>
                                        <p:attrNameLst>
                                          <p:attrName>style.visibility</p:attrName>
                                        </p:attrNameLst>
                                      </p:cBhvr>
                                      <p:to>
                                        <p:strVal val="visible"/>
                                      </p:to>
                                    </p:set>
                                    <p:animEffect transition="in" filter="fade">
                                      <p:cBhvr>
                                        <p:cTn id="390" dur="500"/>
                                        <p:tgtEl>
                                          <p:spTgt spid="141"/>
                                        </p:tgtEl>
                                      </p:cBhvr>
                                    </p:animEffect>
                                  </p:childTnLst>
                                </p:cTn>
                              </p:par>
                              <p:par>
                                <p:cTn id="391" presetID="10" presetClass="entr" presetSubtype="0" fill="hold" grpId="0" nodeType="withEffect">
                                  <p:stCondLst>
                                    <p:cond delay="0"/>
                                  </p:stCondLst>
                                  <p:childTnLst>
                                    <p:set>
                                      <p:cBhvr>
                                        <p:cTn id="392" dur="1" fill="hold">
                                          <p:stCondLst>
                                            <p:cond delay="0"/>
                                          </p:stCondLst>
                                        </p:cTn>
                                        <p:tgtEl>
                                          <p:spTgt spid="142"/>
                                        </p:tgtEl>
                                        <p:attrNameLst>
                                          <p:attrName>style.visibility</p:attrName>
                                        </p:attrNameLst>
                                      </p:cBhvr>
                                      <p:to>
                                        <p:strVal val="visible"/>
                                      </p:to>
                                    </p:set>
                                    <p:animEffect transition="in" filter="fade">
                                      <p:cBhvr>
                                        <p:cTn id="393" dur="500"/>
                                        <p:tgtEl>
                                          <p:spTgt spid="142"/>
                                        </p:tgtEl>
                                      </p:cBhvr>
                                    </p:animEffect>
                                  </p:childTnLst>
                                </p:cTn>
                              </p:par>
                              <p:par>
                                <p:cTn id="394" presetID="10" presetClass="entr" presetSubtype="0" fill="hold" grpId="0" nodeType="withEffect">
                                  <p:stCondLst>
                                    <p:cond delay="0"/>
                                  </p:stCondLst>
                                  <p:childTnLst>
                                    <p:set>
                                      <p:cBhvr>
                                        <p:cTn id="395" dur="1" fill="hold">
                                          <p:stCondLst>
                                            <p:cond delay="0"/>
                                          </p:stCondLst>
                                        </p:cTn>
                                        <p:tgtEl>
                                          <p:spTgt spid="143"/>
                                        </p:tgtEl>
                                        <p:attrNameLst>
                                          <p:attrName>style.visibility</p:attrName>
                                        </p:attrNameLst>
                                      </p:cBhvr>
                                      <p:to>
                                        <p:strVal val="visible"/>
                                      </p:to>
                                    </p:set>
                                    <p:animEffect transition="in" filter="fade">
                                      <p:cBhvr>
                                        <p:cTn id="396" dur="500"/>
                                        <p:tgtEl>
                                          <p:spTgt spid="143"/>
                                        </p:tgtEl>
                                      </p:cBhvr>
                                    </p:animEffect>
                                  </p:childTnLst>
                                </p:cTn>
                              </p:par>
                              <p:par>
                                <p:cTn id="397" presetID="10" presetClass="entr" presetSubtype="0" fill="hold" grpId="0" nodeType="withEffect">
                                  <p:stCondLst>
                                    <p:cond delay="0"/>
                                  </p:stCondLst>
                                  <p:childTnLst>
                                    <p:set>
                                      <p:cBhvr>
                                        <p:cTn id="398" dur="1" fill="hold">
                                          <p:stCondLst>
                                            <p:cond delay="0"/>
                                          </p:stCondLst>
                                        </p:cTn>
                                        <p:tgtEl>
                                          <p:spTgt spid="144"/>
                                        </p:tgtEl>
                                        <p:attrNameLst>
                                          <p:attrName>style.visibility</p:attrName>
                                        </p:attrNameLst>
                                      </p:cBhvr>
                                      <p:to>
                                        <p:strVal val="visible"/>
                                      </p:to>
                                    </p:set>
                                    <p:animEffect transition="in" filter="fade">
                                      <p:cBhvr>
                                        <p:cTn id="399" dur="500"/>
                                        <p:tgtEl>
                                          <p:spTgt spid="144"/>
                                        </p:tgtEl>
                                      </p:cBhvr>
                                    </p:animEffect>
                                  </p:childTnLst>
                                </p:cTn>
                              </p:par>
                              <p:par>
                                <p:cTn id="400" presetID="10" presetClass="entr" presetSubtype="0" fill="hold" nodeType="withEffect">
                                  <p:stCondLst>
                                    <p:cond delay="0"/>
                                  </p:stCondLst>
                                  <p:childTnLst>
                                    <p:set>
                                      <p:cBhvr>
                                        <p:cTn id="401" dur="1" fill="hold">
                                          <p:stCondLst>
                                            <p:cond delay="0"/>
                                          </p:stCondLst>
                                        </p:cTn>
                                        <p:tgtEl>
                                          <p:spTgt spid="201"/>
                                        </p:tgtEl>
                                        <p:attrNameLst>
                                          <p:attrName>style.visibility</p:attrName>
                                        </p:attrNameLst>
                                      </p:cBhvr>
                                      <p:to>
                                        <p:strVal val="visible"/>
                                      </p:to>
                                    </p:set>
                                    <p:animEffect transition="in" filter="fade">
                                      <p:cBhvr>
                                        <p:cTn id="402" dur="500"/>
                                        <p:tgtEl>
                                          <p:spTgt spid="201"/>
                                        </p:tgtEl>
                                      </p:cBhvr>
                                    </p:animEffect>
                                  </p:childTnLst>
                                </p:cTn>
                              </p:par>
                              <p:par>
                                <p:cTn id="403" presetID="10" presetClass="entr" presetSubtype="0" fill="hold" grpId="0" nodeType="withEffect">
                                  <p:stCondLst>
                                    <p:cond delay="0"/>
                                  </p:stCondLst>
                                  <p:childTnLst>
                                    <p:set>
                                      <p:cBhvr>
                                        <p:cTn id="404" dur="1" fill="hold">
                                          <p:stCondLst>
                                            <p:cond delay="0"/>
                                          </p:stCondLst>
                                        </p:cTn>
                                        <p:tgtEl>
                                          <p:spTgt spid="167"/>
                                        </p:tgtEl>
                                        <p:attrNameLst>
                                          <p:attrName>style.visibility</p:attrName>
                                        </p:attrNameLst>
                                      </p:cBhvr>
                                      <p:to>
                                        <p:strVal val="visible"/>
                                      </p:to>
                                    </p:set>
                                    <p:animEffect transition="in" filter="fade">
                                      <p:cBhvr>
                                        <p:cTn id="405" dur="500"/>
                                        <p:tgtEl>
                                          <p:spTgt spid="167"/>
                                        </p:tgtEl>
                                      </p:cBhvr>
                                    </p:animEffect>
                                  </p:childTnLst>
                                </p:cTn>
                              </p:par>
                              <p:par>
                                <p:cTn id="406" presetID="10" presetClass="entr" presetSubtype="0" fill="hold" nodeType="withEffect">
                                  <p:stCondLst>
                                    <p:cond delay="0"/>
                                  </p:stCondLst>
                                  <p:childTnLst>
                                    <p:set>
                                      <p:cBhvr>
                                        <p:cTn id="407" dur="1" fill="hold">
                                          <p:stCondLst>
                                            <p:cond delay="0"/>
                                          </p:stCondLst>
                                        </p:cTn>
                                        <p:tgtEl>
                                          <p:spTgt spid="197"/>
                                        </p:tgtEl>
                                        <p:attrNameLst>
                                          <p:attrName>style.visibility</p:attrName>
                                        </p:attrNameLst>
                                      </p:cBhvr>
                                      <p:to>
                                        <p:strVal val="visible"/>
                                      </p:to>
                                    </p:set>
                                    <p:animEffect transition="in" filter="fade">
                                      <p:cBhvr>
                                        <p:cTn id="408" dur="500"/>
                                        <p:tgtEl>
                                          <p:spTgt spid="197"/>
                                        </p:tgtEl>
                                      </p:cBhvr>
                                    </p:animEffect>
                                  </p:childTnLst>
                                </p:cTn>
                              </p:par>
                              <p:par>
                                <p:cTn id="409" presetID="10" presetClass="entr" presetSubtype="0" fill="hold" grpId="0" nodeType="withEffect">
                                  <p:stCondLst>
                                    <p:cond delay="0"/>
                                  </p:stCondLst>
                                  <p:childTnLst>
                                    <p:set>
                                      <p:cBhvr>
                                        <p:cTn id="410" dur="1" fill="hold">
                                          <p:stCondLst>
                                            <p:cond delay="0"/>
                                          </p:stCondLst>
                                        </p:cTn>
                                        <p:tgtEl>
                                          <p:spTgt spid="195"/>
                                        </p:tgtEl>
                                        <p:attrNameLst>
                                          <p:attrName>style.visibility</p:attrName>
                                        </p:attrNameLst>
                                      </p:cBhvr>
                                      <p:to>
                                        <p:strVal val="visible"/>
                                      </p:to>
                                    </p:set>
                                    <p:animEffect transition="in" filter="fade">
                                      <p:cBhvr>
                                        <p:cTn id="411" dur="500"/>
                                        <p:tgtEl>
                                          <p:spTgt spid="195"/>
                                        </p:tgtEl>
                                      </p:cBhvr>
                                    </p:animEffect>
                                  </p:childTnLst>
                                </p:cTn>
                              </p:par>
                            </p:childTnLst>
                          </p:cTn>
                        </p:par>
                      </p:childTnLst>
                    </p:cTn>
                  </p:par>
                  <p:par>
                    <p:cTn id="412" fill="hold">
                      <p:stCondLst>
                        <p:cond delay="indefinite"/>
                      </p:stCondLst>
                      <p:childTnLst>
                        <p:par>
                          <p:cTn id="413" fill="hold">
                            <p:stCondLst>
                              <p:cond delay="0"/>
                            </p:stCondLst>
                            <p:childTnLst>
                              <p:par>
                                <p:cTn id="414" presetID="26" presetClass="emph" presetSubtype="0" fill="hold" nodeType="clickEffect">
                                  <p:stCondLst>
                                    <p:cond delay="0"/>
                                  </p:stCondLst>
                                  <p:childTnLst>
                                    <p:animEffect transition="out" filter="fade">
                                      <p:cBhvr>
                                        <p:cTn id="415" dur="1000" tmFilter="0, 0; .2, .5; .8, .5; 1, 0"/>
                                        <p:tgtEl>
                                          <p:spTgt spid="201"/>
                                        </p:tgtEl>
                                      </p:cBhvr>
                                    </p:animEffect>
                                    <p:animScale>
                                      <p:cBhvr>
                                        <p:cTn id="416" dur="500" autoRev="1" fill="hold"/>
                                        <p:tgtEl>
                                          <p:spTgt spid="201"/>
                                        </p:tgtEl>
                                      </p:cBhvr>
                                      <p:by x="105000" y="105000"/>
                                    </p:animScale>
                                  </p:childTnLst>
                                </p:cTn>
                              </p:par>
                            </p:childTnLst>
                          </p:cTn>
                        </p:par>
                      </p:childTnLst>
                    </p:cTn>
                  </p:par>
                  <p:par>
                    <p:cTn id="417" fill="hold">
                      <p:stCondLst>
                        <p:cond delay="indefinite"/>
                      </p:stCondLst>
                      <p:childTnLst>
                        <p:par>
                          <p:cTn id="418" fill="hold">
                            <p:stCondLst>
                              <p:cond delay="0"/>
                            </p:stCondLst>
                            <p:childTnLst>
                              <p:par>
                                <p:cTn id="419" presetID="22" presetClass="entr" presetSubtype="1" fill="hold" grpId="0" nodeType="clickEffect">
                                  <p:stCondLst>
                                    <p:cond delay="0"/>
                                  </p:stCondLst>
                                  <p:childTnLst>
                                    <p:set>
                                      <p:cBhvr>
                                        <p:cTn id="420" dur="1" fill="hold">
                                          <p:stCondLst>
                                            <p:cond delay="0"/>
                                          </p:stCondLst>
                                        </p:cTn>
                                        <p:tgtEl>
                                          <p:spTgt spid="202"/>
                                        </p:tgtEl>
                                        <p:attrNameLst>
                                          <p:attrName>style.visibility</p:attrName>
                                        </p:attrNameLst>
                                      </p:cBhvr>
                                      <p:to>
                                        <p:strVal val="visible"/>
                                      </p:to>
                                    </p:set>
                                    <p:animEffect transition="in" filter="wipe(up)">
                                      <p:cBhvr>
                                        <p:cTn id="421" dur="500"/>
                                        <p:tgtEl>
                                          <p:spTgt spid="202"/>
                                        </p:tgtEl>
                                      </p:cBhvr>
                                    </p:animEffect>
                                  </p:childTnLst>
                                </p:cTn>
                              </p:par>
                              <p:par>
                                <p:cTn id="422" presetID="22" presetClass="entr" presetSubtype="1" fill="hold" nodeType="withEffect">
                                  <p:stCondLst>
                                    <p:cond delay="0"/>
                                  </p:stCondLst>
                                  <p:childTnLst>
                                    <p:set>
                                      <p:cBhvr>
                                        <p:cTn id="423" dur="1" fill="hold">
                                          <p:stCondLst>
                                            <p:cond delay="0"/>
                                          </p:stCondLst>
                                        </p:cTn>
                                        <p:tgtEl>
                                          <p:spTgt spid="204"/>
                                        </p:tgtEl>
                                        <p:attrNameLst>
                                          <p:attrName>style.visibility</p:attrName>
                                        </p:attrNameLst>
                                      </p:cBhvr>
                                      <p:to>
                                        <p:strVal val="visible"/>
                                      </p:to>
                                    </p:set>
                                    <p:animEffect transition="in" filter="wipe(up)">
                                      <p:cBhvr>
                                        <p:cTn id="424" dur="500"/>
                                        <p:tgtEl>
                                          <p:spTgt spid="204"/>
                                        </p:tgtEl>
                                      </p:cBhvr>
                                    </p:animEffect>
                                  </p:childTnLst>
                                </p:cTn>
                              </p:par>
                              <p:par>
                                <p:cTn id="425" presetID="10" presetClass="entr" presetSubtype="0" fill="hold" nodeType="withEffect">
                                  <p:stCondLst>
                                    <p:cond delay="0"/>
                                  </p:stCondLst>
                                  <p:childTnLst>
                                    <p:set>
                                      <p:cBhvr>
                                        <p:cTn id="426" dur="1" fill="hold">
                                          <p:stCondLst>
                                            <p:cond delay="0"/>
                                          </p:stCondLst>
                                        </p:cTn>
                                        <p:tgtEl>
                                          <p:spTgt spid="3">
                                            <p:txEl>
                                              <p:pRg st="5" end="5"/>
                                            </p:txEl>
                                          </p:spTgt>
                                        </p:tgtEl>
                                        <p:attrNameLst>
                                          <p:attrName>style.visibility</p:attrName>
                                        </p:attrNameLst>
                                      </p:cBhvr>
                                      <p:to>
                                        <p:strVal val="visible"/>
                                      </p:to>
                                    </p:set>
                                    <p:animEffect transition="in" filter="fade">
                                      <p:cBhvr>
                                        <p:cTn id="427" dur="500"/>
                                        <p:tgtEl>
                                          <p:spTgt spid="3">
                                            <p:txEl>
                                              <p:pRg st="5" end="5"/>
                                            </p:txEl>
                                          </p:spTgt>
                                        </p:tgtEl>
                                      </p:cBhvr>
                                    </p:animEffect>
                                  </p:childTnLst>
                                </p:cTn>
                              </p:par>
                            </p:childTnLst>
                          </p:cTn>
                        </p:par>
                      </p:childTnLst>
                    </p:cTn>
                  </p:par>
                  <p:par>
                    <p:cTn id="428" fill="hold">
                      <p:stCondLst>
                        <p:cond delay="indefinite"/>
                      </p:stCondLst>
                      <p:childTnLst>
                        <p:par>
                          <p:cTn id="429" fill="hold">
                            <p:stCondLst>
                              <p:cond delay="0"/>
                            </p:stCondLst>
                            <p:childTnLst>
                              <p:par>
                                <p:cTn id="430" presetID="10" presetClass="entr" presetSubtype="0" fill="hold" grpId="0" nodeType="clickEffect">
                                  <p:stCondLst>
                                    <p:cond delay="0"/>
                                  </p:stCondLst>
                                  <p:childTnLst>
                                    <p:set>
                                      <p:cBhvr>
                                        <p:cTn id="431" dur="1" fill="hold">
                                          <p:stCondLst>
                                            <p:cond delay="0"/>
                                          </p:stCondLst>
                                        </p:cTn>
                                        <p:tgtEl>
                                          <p:spTgt spid="168"/>
                                        </p:tgtEl>
                                        <p:attrNameLst>
                                          <p:attrName>style.visibility</p:attrName>
                                        </p:attrNameLst>
                                      </p:cBhvr>
                                      <p:to>
                                        <p:strVal val="visible"/>
                                      </p:to>
                                    </p:set>
                                    <p:animEffect transition="in" filter="fade">
                                      <p:cBhvr>
                                        <p:cTn id="432" dur="500"/>
                                        <p:tgtEl>
                                          <p:spTgt spid="168"/>
                                        </p:tgtEl>
                                      </p:cBhvr>
                                    </p:animEffect>
                                  </p:childTnLst>
                                </p:cTn>
                              </p:par>
                              <p:par>
                                <p:cTn id="433" presetID="10" presetClass="entr" presetSubtype="0" fill="hold" grpId="0" nodeType="withEffect">
                                  <p:stCondLst>
                                    <p:cond delay="0"/>
                                  </p:stCondLst>
                                  <p:childTnLst>
                                    <p:set>
                                      <p:cBhvr>
                                        <p:cTn id="434" dur="1" fill="hold">
                                          <p:stCondLst>
                                            <p:cond delay="0"/>
                                          </p:stCondLst>
                                        </p:cTn>
                                        <p:tgtEl>
                                          <p:spTgt spid="169"/>
                                        </p:tgtEl>
                                        <p:attrNameLst>
                                          <p:attrName>style.visibility</p:attrName>
                                        </p:attrNameLst>
                                      </p:cBhvr>
                                      <p:to>
                                        <p:strVal val="visible"/>
                                      </p:to>
                                    </p:set>
                                    <p:animEffect transition="in" filter="fade">
                                      <p:cBhvr>
                                        <p:cTn id="435" dur="500"/>
                                        <p:tgtEl>
                                          <p:spTgt spid="169"/>
                                        </p:tgtEl>
                                      </p:cBhvr>
                                    </p:animEffect>
                                  </p:childTnLst>
                                </p:cTn>
                              </p:par>
                              <p:par>
                                <p:cTn id="436" presetID="10" presetClass="entr" presetSubtype="0" fill="hold" grpId="0" nodeType="withEffect">
                                  <p:stCondLst>
                                    <p:cond delay="0"/>
                                  </p:stCondLst>
                                  <p:childTnLst>
                                    <p:set>
                                      <p:cBhvr>
                                        <p:cTn id="437" dur="1" fill="hold">
                                          <p:stCondLst>
                                            <p:cond delay="0"/>
                                          </p:stCondLst>
                                        </p:cTn>
                                        <p:tgtEl>
                                          <p:spTgt spid="170"/>
                                        </p:tgtEl>
                                        <p:attrNameLst>
                                          <p:attrName>style.visibility</p:attrName>
                                        </p:attrNameLst>
                                      </p:cBhvr>
                                      <p:to>
                                        <p:strVal val="visible"/>
                                      </p:to>
                                    </p:set>
                                    <p:animEffect transition="in" filter="fade">
                                      <p:cBhvr>
                                        <p:cTn id="438" dur="500"/>
                                        <p:tgtEl>
                                          <p:spTgt spid="170"/>
                                        </p:tgtEl>
                                      </p:cBhvr>
                                    </p:animEffect>
                                  </p:childTnLst>
                                </p:cTn>
                              </p:par>
                              <p:par>
                                <p:cTn id="439" presetID="10" presetClass="entr" presetSubtype="0" fill="hold" grpId="0" nodeType="withEffect">
                                  <p:stCondLst>
                                    <p:cond delay="0"/>
                                  </p:stCondLst>
                                  <p:childTnLst>
                                    <p:set>
                                      <p:cBhvr>
                                        <p:cTn id="440" dur="1" fill="hold">
                                          <p:stCondLst>
                                            <p:cond delay="0"/>
                                          </p:stCondLst>
                                        </p:cTn>
                                        <p:tgtEl>
                                          <p:spTgt spid="171"/>
                                        </p:tgtEl>
                                        <p:attrNameLst>
                                          <p:attrName>style.visibility</p:attrName>
                                        </p:attrNameLst>
                                      </p:cBhvr>
                                      <p:to>
                                        <p:strVal val="visible"/>
                                      </p:to>
                                    </p:set>
                                    <p:animEffect transition="in" filter="fade">
                                      <p:cBhvr>
                                        <p:cTn id="441" dur="500"/>
                                        <p:tgtEl>
                                          <p:spTgt spid="171"/>
                                        </p:tgtEl>
                                      </p:cBhvr>
                                    </p:animEffect>
                                  </p:childTnLst>
                                </p:cTn>
                              </p:par>
                              <p:par>
                                <p:cTn id="442" presetID="10" presetClass="entr" presetSubtype="0" fill="hold" grpId="0" nodeType="withEffect">
                                  <p:stCondLst>
                                    <p:cond delay="0"/>
                                  </p:stCondLst>
                                  <p:childTnLst>
                                    <p:set>
                                      <p:cBhvr>
                                        <p:cTn id="443" dur="1" fill="hold">
                                          <p:stCondLst>
                                            <p:cond delay="0"/>
                                          </p:stCondLst>
                                        </p:cTn>
                                        <p:tgtEl>
                                          <p:spTgt spid="172"/>
                                        </p:tgtEl>
                                        <p:attrNameLst>
                                          <p:attrName>style.visibility</p:attrName>
                                        </p:attrNameLst>
                                      </p:cBhvr>
                                      <p:to>
                                        <p:strVal val="visible"/>
                                      </p:to>
                                    </p:set>
                                    <p:animEffect transition="in" filter="fade">
                                      <p:cBhvr>
                                        <p:cTn id="444" dur="500"/>
                                        <p:tgtEl>
                                          <p:spTgt spid="172"/>
                                        </p:tgtEl>
                                      </p:cBhvr>
                                    </p:animEffect>
                                  </p:childTnLst>
                                </p:cTn>
                              </p:par>
                              <p:par>
                                <p:cTn id="445" presetID="10" presetClass="entr" presetSubtype="0" fill="hold" grpId="0" nodeType="withEffect">
                                  <p:stCondLst>
                                    <p:cond delay="0"/>
                                  </p:stCondLst>
                                  <p:childTnLst>
                                    <p:set>
                                      <p:cBhvr>
                                        <p:cTn id="446" dur="1" fill="hold">
                                          <p:stCondLst>
                                            <p:cond delay="0"/>
                                          </p:stCondLst>
                                        </p:cTn>
                                        <p:tgtEl>
                                          <p:spTgt spid="173"/>
                                        </p:tgtEl>
                                        <p:attrNameLst>
                                          <p:attrName>style.visibility</p:attrName>
                                        </p:attrNameLst>
                                      </p:cBhvr>
                                      <p:to>
                                        <p:strVal val="visible"/>
                                      </p:to>
                                    </p:set>
                                    <p:animEffect transition="in" filter="fade">
                                      <p:cBhvr>
                                        <p:cTn id="447" dur="500"/>
                                        <p:tgtEl>
                                          <p:spTgt spid="173"/>
                                        </p:tgtEl>
                                      </p:cBhvr>
                                    </p:animEffect>
                                  </p:childTnLst>
                                </p:cTn>
                              </p:par>
                              <p:par>
                                <p:cTn id="448" presetID="10" presetClass="entr" presetSubtype="0" fill="hold" grpId="0" nodeType="withEffect">
                                  <p:stCondLst>
                                    <p:cond delay="0"/>
                                  </p:stCondLst>
                                  <p:childTnLst>
                                    <p:set>
                                      <p:cBhvr>
                                        <p:cTn id="449" dur="1" fill="hold">
                                          <p:stCondLst>
                                            <p:cond delay="0"/>
                                          </p:stCondLst>
                                        </p:cTn>
                                        <p:tgtEl>
                                          <p:spTgt spid="174"/>
                                        </p:tgtEl>
                                        <p:attrNameLst>
                                          <p:attrName>style.visibility</p:attrName>
                                        </p:attrNameLst>
                                      </p:cBhvr>
                                      <p:to>
                                        <p:strVal val="visible"/>
                                      </p:to>
                                    </p:set>
                                    <p:animEffect transition="in" filter="fade">
                                      <p:cBhvr>
                                        <p:cTn id="450" dur="500"/>
                                        <p:tgtEl>
                                          <p:spTgt spid="174"/>
                                        </p:tgtEl>
                                      </p:cBhvr>
                                    </p:animEffect>
                                  </p:childTnLst>
                                </p:cTn>
                              </p:par>
                              <p:par>
                                <p:cTn id="451" presetID="10" presetClass="entr" presetSubtype="0" fill="hold" grpId="0" nodeType="withEffect">
                                  <p:stCondLst>
                                    <p:cond delay="0"/>
                                  </p:stCondLst>
                                  <p:childTnLst>
                                    <p:set>
                                      <p:cBhvr>
                                        <p:cTn id="452" dur="1" fill="hold">
                                          <p:stCondLst>
                                            <p:cond delay="0"/>
                                          </p:stCondLst>
                                        </p:cTn>
                                        <p:tgtEl>
                                          <p:spTgt spid="175"/>
                                        </p:tgtEl>
                                        <p:attrNameLst>
                                          <p:attrName>style.visibility</p:attrName>
                                        </p:attrNameLst>
                                      </p:cBhvr>
                                      <p:to>
                                        <p:strVal val="visible"/>
                                      </p:to>
                                    </p:set>
                                    <p:animEffect transition="in" filter="fade">
                                      <p:cBhvr>
                                        <p:cTn id="453" dur="500"/>
                                        <p:tgtEl>
                                          <p:spTgt spid="175"/>
                                        </p:tgtEl>
                                      </p:cBhvr>
                                    </p:animEffect>
                                  </p:childTnLst>
                                </p:cTn>
                              </p:par>
                              <p:par>
                                <p:cTn id="454" presetID="10" presetClass="entr" presetSubtype="0" fill="hold" grpId="0" nodeType="withEffect">
                                  <p:stCondLst>
                                    <p:cond delay="0"/>
                                  </p:stCondLst>
                                  <p:childTnLst>
                                    <p:set>
                                      <p:cBhvr>
                                        <p:cTn id="455" dur="1" fill="hold">
                                          <p:stCondLst>
                                            <p:cond delay="0"/>
                                          </p:stCondLst>
                                        </p:cTn>
                                        <p:tgtEl>
                                          <p:spTgt spid="176"/>
                                        </p:tgtEl>
                                        <p:attrNameLst>
                                          <p:attrName>style.visibility</p:attrName>
                                        </p:attrNameLst>
                                      </p:cBhvr>
                                      <p:to>
                                        <p:strVal val="visible"/>
                                      </p:to>
                                    </p:set>
                                    <p:animEffect transition="in" filter="fade">
                                      <p:cBhvr>
                                        <p:cTn id="456" dur="500"/>
                                        <p:tgtEl>
                                          <p:spTgt spid="176"/>
                                        </p:tgtEl>
                                      </p:cBhvr>
                                    </p:animEffect>
                                  </p:childTnLst>
                                </p:cTn>
                              </p:par>
                              <p:par>
                                <p:cTn id="457" presetID="10" presetClass="entr" presetSubtype="0" fill="hold" grpId="0" nodeType="withEffect">
                                  <p:stCondLst>
                                    <p:cond delay="0"/>
                                  </p:stCondLst>
                                  <p:childTnLst>
                                    <p:set>
                                      <p:cBhvr>
                                        <p:cTn id="458" dur="1" fill="hold">
                                          <p:stCondLst>
                                            <p:cond delay="0"/>
                                          </p:stCondLst>
                                        </p:cTn>
                                        <p:tgtEl>
                                          <p:spTgt spid="177"/>
                                        </p:tgtEl>
                                        <p:attrNameLst>
                                          <p:attrName>style.visibility</p:attrName>
                                        </p:attrNameLst>
                                      </p:cBhvr>
                                      <p:to>
                                        <p:strVal val="visible"/>
                                      </p:to>
                                    </p:set>
                                    <p:animEffect transition="in" filter="fade">
                                      <p:cBhvr>
                                        <p:cTn id="459" dur="500"/>
                                        <p:tgtEl>
                                          <p:spTgt spid="177"/>
                                        </p:tgtEl>
                                      </p:cBhvr>
                                    </p:animEffect>
                                  </p:childTnLst>
                                </p:cTn>
                              </p:par>
                              <p:par>
                                <p:cTn id="460" presetID="10" presetClass="entr" presetSubtype="0" fill="hold" nodeType="withEffect">
                                  <p:stCondLst>
                                    <p:cond delay="0"/>
                                  </p:stCondLst>
                                  <p:childTnLst>
                                    <p:set>
                                      <p:cBhvr>
                                        <p:cTn id="461" dur="1" fill="hold">
                                          <p:stCondLst>
                                            <p:cond delay="0"/>
                                          </p:stCondLst>
                                        </p:cTn>
                                        <p:tgtEl>
                                          <p:spTgt spid="179"/>
                                        </p:tgtEl>
                                        <p:attrNameLst>
                                          <p:attrName>style.visibility</p:attrName>
                                        </p:attrNameLst>
                                      </p:cBhvr>
                                      <p:to>
                                        <p:strVal val="visible"/>
                                      </p:to>
                                    </p:set>
                                    <p:animEffect transition="in" filter="fade">
                                      <p:cBhvr>
                                        <p:cTn id="462" dur="500"/>
                                        <p:tgtEl>
                                          <p:spTgt spid="179"/>
                                        </p:tgtEl>
                                      </p:cBhvr>
                                    </p:animEffect>
                                  </p:childTnLst>
                                </p:cTn>
                              </p:par>
                              <p:par>
                                <p:cTn id="463" presetID="10" presetClass="entr" presetSubtype="0" fill="hold" nodeType="withEffect">
                                  <p:stCondLst>
                                    <p:cond delay="0"/>
                                  </p:stCondLst>
                                  <p:childTnLst>
                                    <p:set>
                                      <p:cBhvr>
                                        <p:cTn id="464" dur="1" fill="hold">
                                          <p:stCondLst>
                                            <p:cond delay="0"/>
                                          </p:stCondLst>
                                        </p:cTn>
                                        <p:tgtEl>
                                          <p:spTgt spid="181"/>
                                        </p:tgtEl>
                                        <p:attrNameLst>
                                          <p:attrName>style.visibility</p:attrName>
                                        </p:attrNameLst>
                                      </p:cBhvr>
                                      <p:to>
                                        <p:strVal val="visible"/>
                                      </p:to>
                                    </p:set>
                                    <p:animEffect transition="in" filter="fade">
                                      <p:cBhvr>
                                        <p:cTn id="465" dur="500"/>
                                        <p:tgtEl>
                                          <p:spTgt spid="181"/>
                                        </p:tgtEl>
                                      </p:cBhvr>
                                    </p:animEffect>
                                  </p:childTnLst>
                                </p:cTn>
                              </p:par>
                              <p:par>
                                <p:cTn id="466" presetID="10" presetClass="entr" presetSubtype="0" fill="hold" nodeType="withEffect">
                                  <p:stCondLst>
                                    <p:cond delay="0"/>
                                  </p:stCondLst>
                                  <p:childTnLst>
                                    <p:set>
                                      <p:cBhvr>
                                        <p:cTn id="467" dur="1" fill="hold">
                                          <p:stCondLst>
                                            <p:cond delay="0"/>
                                          </p:stCondLst>
                                        </p:cTn>
                                        <p:tgtEl>
                                          <p:spTgt spid="184"/>
                                        </p:tgtEl>
                                        <p:attrNameLst>
                                          <p:attrName>style.visibility</p:attrName>
                                        </p:attrNameLst>
                                      </p:cBhvr>
                                      <p:to>
                                        <p:strVal val="visible"/>
                                      </p:to>
                                    </p:set>
                                    <p:animEffect transition="in" filter="fade">
                                      <p:cBhvr>
                                        <p:cTn id="468" dur="500"/>
                                        <p:tgtEl>
                                          <p:spTgt spid="184"/>
                                        </p:tgtEl>
                                      </p:cBhvr>
                                    </p:animEffect>
                                  </p:childTnLst>
                                </p:cTn>
                              </p:par>
                              <p:par>
                                <p:cTn id="469" presetID="10" presetClass="entr" presetSubtype="0" fill="hold" nodeType="withEffect">
                                  <p:stCondLst>
                                    <p:cond delay="0"/>
                                  </p:stCondLst>
                                  <p:childTnLst>
                                    <p:set>
                                      <p:cBhvr>
                                        <p:cTn id="470" dur="1" fill="hold">
                                          <p:stCondLst>
                                            <p:cond delay="0"/>
                                          </p:stCondLst>
                                        </p:cTn>
                                        <p:tgtEl>
                                          <p:spTgt spid="185"/>
                                        </p:tgtEl>
                                        <p:attrNameLst>
                                          <p:attrName>style.visibility</p:attrName>
                                        </p:attrNameLst>
                                      </p:cBhvr>
                                      <p:to>
                                        <p:strVal val="visible"/>
                                      </p:to>
                                    </p:set>
                                    <p:animEffect transition="in" filter="fade">
                                      <p:cBhvr>
                                        <p:cTn id="471" dur="500"/>
                                        <p:tgtEl>
                                          <p:spTgt spid="185"/>
                                        </p:tgtEl>
                                      </p:cBhvr>
                                    </p:animEffect>
                                  </p:childTnLst>
                                </p:cTn>
                              </p:par>
                              <p:par>
                                <p:cTn id="472" presetID="10" presetClass="entr" presetSubtype="0" fill="hold" nodeType="withEffect">
                                  <p:stCondLst>
                                    <p:cond delay="0"/>
                                  </p:stCondLst>
                                  <p:childTnLst>
                                    <p:set>
                                      <p:cBhvr>
                                        <p:cTn id="473" dur="1" fill="hold">
                                          <p:stCondLst>
                                            <p:cond delay="0"/>
                                          </p:stCondLst>
                                        </p:cTn>
                                        <p:tgtEl>
                                          <p:spTgt spid="186"/>
                                        </p:tgtEl>
                                        <p:attrNameLst>
                                          <p:attrName>style.visibility</p:attrName>
                                        </p:attrNameLst>
                                      </p:cBhvr>
                                      <p:to>
                                        <p:strVal val="visible"/>
                                      </p:to>
                                    </p:set>
                                    <p:animEffect transition="in" filter="fade">
                                      <p:cBhvr>
                                        <p:cTn id="474" dur="500"/>
                                        <p:tgtEl>
                                          <p:spTgt spid="186"/>
                                        </p:tgtEl>
                                      </p:cBhvr>
                                    </p:animEffect>
                                  </p:childTnLst>
                                </p:cTn>
                              </p:par>
                              <p:par>
                                <p:cTn id="475" presetID="10" presetClass="entr" presetSubtype="0" fill="hold" nodeType="withEffect">
                                  <p:stCondLst>
                                    <p:cond delay="0"/>
                                  </p:stCondLst>
                                  <p:childTnLst>
                                    <p:set>
                                      <p:cBhvr>
                                        <p:cTn id="476" dur="1" fill="hold">
                                          <p:stCondLst>
                                            <p:cond delay="0"/>
                                          </p:stCondLst>
                                        </p:cTn>
                                        <p:tgtEl>
                                          <p:spTgt spid="187"/>
                                        </p:tgtEl>
                                        <p:attrNameLst>
                                          <p:attrName>style.visibility</p:attrName>
                                        </p:attrNameLst>
                                      </p:cBhvr>
                                      <p:to>
                                        <p:strVal val="visible"/>
                                      </p:to>
                                    </p:set>
                                    <p:animEffect transition="in" filter="fade">
                                      <p:cBhvr>
                                        <p:cTn id="477" dur="500"/>
                                        <p:tgtEl>
                                          <p:spTgt spid="187"/>
                                        </p:tgtEl>
                                      </p:cBhvr>
                                    </p:animEffect>
                                  </p:childTnLst>
                                </p:cTn>
                              </p:par>
                              <p:par>
                                <p:cTn id="478" presetID="10" presetClass="entr" presetSubtype="0" fill="hold" nodeType="withEffect">
                                  <p:stCondLst>
                                    <p:cond delay="0"/>
                                  </p:stCondLst>
                                  <p:childTnLst>
                                    <p:set>
                                      <p:cBhvr>
                                        <p:cTn id="479" dur="1" fill="hold">
                                          <p:stCondLst>
                                            <p:cond delay="0"/>
                                          </p:stCondLst>
                                        </p:cTn>
                                        <p:tgtEl>
                                          <p:spTgt spid="188"/>
                                        </p:tgtEl>
                                        <p:attrNameLst>
                                          <p:attrName>style.visibility</p:attrName>
                                        </p:attrNameLst>
                                      </p:cBhvr>
                                      <p:to>
                                        <p:strVal val="visible"/>
                                      </p:to>
                                    </p:set>
                                    <p:animEffect transition="in" filter="fade">
                                      <p:cBhvr>
                                        <p:cTn id="480" dur="500"/>
                                        <p:tgtEl>
                                          <p:spTgt spid="188"/>
                                        </p:tgtEl>
                                      </p:cBhvr>
                                    </p:animEffect>
                                  </p:childTnLst>
                                </p:cTn>
                              </p:par>
                              <p:par>
                                <p:cTn id="481" presetID="10" presetClass="entr" presetSubtype="0" fill="hold" nodeType="withEffect">
                                  <p:stCondLst>
                                    <p:cond delay="0"/>
                                  </p:stCondLst>
                                  <p:childTnLst>
                                    <p:set>
                                      <p:cBhvr>
                                        <p:cTn id="482" dur="1" fill="hold">
                                          <p:stCondLst>
                                            <p:cond delay="0"/>
                                          </p:stCondLst>
                                        </p:cTn>
                                        <p:tgtEl>
                                          <p:spTgt spid="189"/>
                                        </p:tgtEl>
                                        <p:attrNameLst>
                                          <p:attrName>style.visibility</p:attrName>
                                        </p:attrNameLst>
                                      </p:cBhvr>
                                      <p:to>
                                        <p:strVal val="visible"/>
                                      </p:to>
                                    </p:set>
                                    <p:animEffect transition="in" filter="fade">
                                      <p:cBhvr>
                                        <p:cTn id="483" dur="500"/>
                                        <p:tgtEl>
                                          <p:spTgt spid="189"/>
                                        </p:tgtEl>
                                      </p:cBhvr>
                                    </p:animEffect>
                                  </p:childTnLst>
                                </p:cTn>
                              </p:par>
                              <p:par>
                                <p:cTn id="484" presetID="10" presetClass="entr" presetSubtype="0" fill="hold" nodeType="withEffect">
                                  <p:stCondLst>
                                    <p:cond delay="0"/>
                                  </p:stCondLst>
                                  <p:childTnLst>
                                    <p:set>
                                      <p:cBhvr>
                                        <p:cTn id="485" dur="1" fill="hold">
                                          <p:stCondLst>
                                            <p:cond delay="0"/>
                                          </p:stCondLst>
                                        </p:cTn>
                                        <p:tgtEl>
                                          <p:spTgt spid="190"/>
                                        </p:tgtEl>
                                        <p:attrNameLst>
                                          <p:attrName>style.visibility</p:attrName>
                                        </p:attrNameLst>
                                      </p:cBhvr>
                                      <p:to>
                                        <p:strVal val="visible"/>
                                      </p:to>
                                    </p:set>
                                    <p:animEffect transition="in" filter="fade">
                                      <p:cBhvr>
                                        <p:cTn id="486" dur="500"/>
                                        <p:tgtEl>
                                          <p:spTgt spid="190"/>
                                        </p:tgtEl>
                                      </p:cBhvr>
                                    </p:animEffect>
                                  </p:childTnLst>
                                </p:cTn>
                              </p:par>
                              <p:par>
                                <p:cTn id="487" presetID="10" presetClass="entr" presetSubtype="0" fill="hold" nodeType="withEffect">
                                  <p:stCondLst>
                                    <p:cond delay="0"/>
                                  </p:stCondLst>
                                  <p:childTnLst>
                                    <p:set>
                                      <p:cBhvr>
                                        <p:cTn id="488" dur="1" fill="hold">
                                          <p:stCondLst>
                                            <p:cond delay="0"/>
                                          </p:stCondLst>
                                        </p:cTn>
                                        <p:tgtEl>
                                          <p:spTgt spid="191"/>
                                        </p:tgtEl>
                                        <p:attrNameLst>
                                          <p:attrName>style.visibility</p:attrName>
                                        </p:attrNameLst>
                                      </p:cBhvr>
                                      <p:to>
                                        <p:strVal val="visible"/>
                                      </p:to>
                                    </p:set>
                                    <p:animEffect transition="in" filter="fade">
                                      <p:cBhvr>
                                        <p:cTn id="489" dur="500"/>
                                        <p:tgtEl>
                                          <p:spTgt spid="191"/>
                                        </p:tgtEl>
                                      </p:cBhvr>
                                    </p:animEffect>
                                  </p:childTnLst>
                                </p:cTn>
                              </p:par>
                              <p:par>
                                <p:cTn id="490" presetID="10" presetClass="entr" presetSubtype="0" fill="hold" nodeType="withEffect">
                                  <p:stCondLst>
                                    <p:cond delay="0"/>
                                  </p:stCondLst>
                                  <p:childTnLst>
                                    <p:set>
                                      <p:cBhvr>
                                        <p:cTn id="491" dur="1" fill="hold">
                                          <p:stCondLst>
                                            <p:cond delay="0"/>
                                          </p:stCondLst>
                                        </p:cTn>
                                        <p:tgtEl>
                                          <p:spTgt spid="192"/>
                                        </p:tgtEl>
                                        <p:attrNameLst>
                                          <p:attrName>style.visibility</p:attrName>
                                        </p:attrNameLst>
                                      </p:cBhvr>
                                      <p:to>
                                        <p:strVal val="visible"/>
                                      </p:to>
                                    </p:set>
                                    <p:animEffect transition="in" filter="fade">
                                      <p:cBhvr>
                                        <p:cTn id="492" dur="500"/>
                                        <p:tgtEl>
                                          <p:spTgt spid="192"/>
                                        </p:tgtEl>
                                      </p:cBhvr>
                                    </p:animEffect>
                                  </p:childTnLst>
                                </p:cTn>
                              </p:par>
                              <p:par>
                                <p:cTn id="493" presetID="10" presetClass="entr" presetSubtype="0" fill="hold" nodeType="withEffect">
                                  <p:stCondLst>
                                    <p:cond delay="0"/>
                                  </p:stCondLst>
                                  <p:childTnLst>
                                    <p:set>
                                      <p:cBhvr>
                                        <p:cTn id="494" dur="1" fill="hold">
                                          <p:stCondLst>
                                            <p:cond delay="0"/>
                                          </p:stCondLst>
                                        </p:cTn>
                                        <p:tgtEl>
                                          <p:spTgt spid="193"/>
                                        </p:tgtEl>
                                        <p:attrNameLst>
                                          <p:attrName>style.visibility</p:attrName>
                                        </p:attrNameLst>
                                      </p:cBhvr>
                                      <p:to>
                                        <p:strVal val="visible"/>
                                      </p:to>
                                    </p:set>
                                    <p:animEffect transition="in" filter="fade">
                                      <p:cBhvr>
                                        <p:cTn id="495" dur="500"/>
                                        <p:tgtEl>
                                          <p:spTgt spid="193"/>
                                        </p:tgtEl>
                                      </p:cBhvr>
                                    </p:animEffect>
                                  </p:childTnLst>
                                </p:cTn>
                              </p:par>
                              <p:par>
                                <p:cTn id="496" presetID="10" presetClass="entr" presetSubtype="0" fill="hold" grpId="0" nodeType="withEffect">
                                  <p:stCondLst>
                                    <p:cond delay="0"/>
                                  </p:stCondLst>
                                  <p:childTnLst>
                                    <p:set>
                                      <p:cBhvr>
                                        <p:cTn id="497" dur="1" fill="hold">
                                          <p:stCondLst>
                                            <p:cond delay="0"/>
                                          </p:stCondLst>
                                        </p:cTn>
                                        <p:tgtEl>
                                          <p:spTgt spid="194"/>
                                        </p:tgtEl>
                                        <p:attrNameLst>
                                          <p:attrName>style.visibility</p:attrName>
                                        </p:attrNameLst>
                                      </p:cBhvr>
                                      <p:to>
                                        <p:strVal val="visible"/>
                                      </p:to>
                                    </p:set>
                                    <p:animEffect transition="in" filter="fade">
                                      <p:cBhvr>
                                        <p:cTn id="498" dur="500"/>
                                        <p:tgtEl>
                                          <p:spTgt spid="194"/>
                                        </p:tgtEl>
                                      </p:cBhvr>
                                    </p:animEffect>
                                  </p:childTnLst>
                                </p:cTn>
                              </p:par>
                              <p:par>
                                <p:cTn id="499" presetID="10" presetClass="entr" presetSubtype="0" fill="hold" nodeType="withEffect">
                                  <p:stCondLst>
                                    <p:cond delay="0"/>
                                  </p:stCondLst>
                                  <p:childTnLst>
                                    <p:set>
                                      <p:cBhvr>
                                        <p:cTn id="500" dur="1" fill="hold">
                                          <p:stCondLst>
                                            <p:cond delay="0"/>
                                          </p:stCondLst>
                                        </p:cTn>
                                        <p:tgtEl>
                                          <p:spTgt spid="3">
                                            <p:txEl>
                                              <p:pRg st="6" end="6"/>
                                            </p:txEl>
                                          </p:spTgt>
                                        </p:tgtEl>
                                        <p:attrNameLst>
                                          <p:attrName>style.visibility</p:attrName>
                                        </p:attrNameLst>
                                      </p:cBhvr>
                                      <p:to>
                                        <p:strVal val="visible"/>
                                      </p:to>
                                    </p:set>
                                    <p:animEffect transition="in" filter="fade">
                                      <p:cBhvr>
                                        <p:cTn id="501" dur="500"/>
                                        <p:tgtEl>
                                          <p:spTgt spid="3">
                                            <p:txEl>
                                              <p:pRg st="6" end="6"/>
                                            </p:txEl>
                                          </p:spTgt>
                                        </p:tgtEl>
                                      </p:cBhvr>
                                    </p:animEffect>
                                  </p:childTnLst>
                                </p:cTn>
                              </p:par>
                            </p:childTnLst>
                          </p:cTn>
                        </p:par>
                        <p:par>
                          <p:cTn id="502" fill="hold">
                            <p:stCondLst>
                              <p:cond delay="500"/>
                            </p:stCondLst>
                            <p:childTnLst>
                              <p:par>
                                <p:cTn id="503" presetID="26" presetClass="emph" presetSubtype="0" fill="hold" grpId="1" nodeType="afterEffect">
                                  <p:stCondLst>
                                    <p:cond delay="0"/>
                                  </p:stCondLst>
                                  <p:childTnLst>
                                    <p:animEffect transition="out" filter="fade">
                                      <p:cBhvr>
                                        <p:cTn id="504" dur="1000" tmFilter="0, 0; .2, .5; .8, .5; 1, 0"/>
                                        <p:tgtEl>
                                          <p:spTgt spid="169"/>
                                        </p:tgtEl>
                                      </p:cBhvr>
                                    </p:animEffect>
                                    <p:animScale>
                                      <p:cBhvr>
                                        <p:cTn id="505" dur="500" autoRev="1" fill="hold"/>
                                        <p:tgtEl>
                                          <p:spTgt spid="169"/>
                                        </p:tgtEl>
                                      </p:cBhvr>
                                      <p:by x="105000" y="105000"/>
                                    </p:animScale>
                                  </p:childTnLst>
                                </p:cTn>
                              </p:par>
                            </p:childTnLst>
                          </p:cTn>
                        </p:par>
                      </p:childTnLst>
                    </p:cTn>
                  </p:par>
                  <p:par>
                    <p:cTn id="506" fill="hold">
                      <p:stCondLst>
                        <p:cond delay="indefinite"/>
                      </p:stCondLst>
                      <p:childTnLst>
                        <p:par>
                          <p:cTn id="507" fill="hold">
                            <p:stCondLst>
                              <p:cond delay="0"/>
                            </p:stCondLst>
                            <p:childTnLst>
                              <p:par>
                                <p:cTn id="508" presetID="10" presetClass="entr" presetSubtype="0" fill="hold" nodeType="clickEffect">
                                  <p:stCondLst>
                                    <p:cond delay="0"/>
                                  </p:stCondLst>
                                  <p:childTnLst>
                                    <p:set>
                                      <p:cBhvr>
                                        <p:cTn id="509" dur="1" fill="hold">
                                          <p:stCondLst>
                                            <p:cond delay="0"/>
                                          </p:stCondLst>
                                        </p:cTn>
                                        <p:tgtEl>
                                          <p:spTgt spid="3">
                                            <p:txEl>
                                              <p:pRg st="7" end="7"/>
                                            </p:txEl>
                                          </p:spTgt>
                                        </p:tgtEl>
                                        <p:attrNameLst>
                                          <p:attrName>style.visibility</p:attrName>
                                        </p:attrNameLst>
                                      </p:cBhvr>
                                      <p:to>
                                        <p:strVal val="visible"/>
                                      </p:to>
                                    </p:set>
                                    <p:animEffect transition="in" filter="fade">
                                      <p:cBhvr>
                                        <p:cTn id="510" dur="500"/>
                                        <p:tgtEl>
                                          <p:spTgt spid="3">
                                            <p:txEl>
                                              <p:pRg st="7" end="7"/>
                                            </p:txEl>
                                          </p:spTgt>
                                        </p:tgtEl>
                                      </p:cBhvr>
                                    </p:animEffect>
                                  </p:childTnLst>
                                </p:cTn>
                              </p:par>
                              <p:par>
                                <p:cTn id="511" presetID="10" presetClass="entr" presetSubtype="0" fill="hold" nodeType="withEffect">
                                  <p:stCondLst>
                                    <p:cond delay="0"/>
                                  </p:stCondLst>
                                  <p:childTnLst>
                                    <p:set>
                                      <p:cBhvr>
                                        <p:cTn id="512" dur="1" fill="hold">
                                          <p:stCondLst>
                                            <p:cond delay="0"/>
                                          </p:stCondLst>
                                        </p:cTn>
                                        <p:tgtEl>
                                          <p:spTgt spid="3">
                                            <p:txEl>
                                              <p:pRg st="8" end="8"/>
                                            </p:txEl>
                                          </p:spTgt>
                                        </p:tgtEl>
                                        <p:attrNameLst>
                                          <p:attrName>style.visibility</p:attrName>
                                        </p:attrNameLst>
                                      </p:cBhvr>
                                      <p:to>
                                        <p:strVal val="visible"/>
                                      </p:to>
                                    </p:set>
                                    <p:animEffect transition="in" filter="fade">
                                      <p:cBhvr>
                                        <p:cTn id="513" dur="500"/>
                                        <p:tgtEl>
                                          <p:spTgt spid="3">
                                            <p:txEl>
                                              <p:pRg st="8" end="8"/>
                                            </p:txEl>
                                          </p:spTgt>
                                        </p:tgtEl>
                                      </p:cBhvr>
                                    </p:animEffect>
                                  </p:childTnLst>
                                </p:cTn>
                              </p:par>
                            </p:childTnLst>
                          </p:cTn>
                        </p:par>
                      </p:childTnLst>
                    </p:cTn>
                  </p:par>
                  <p:par>
                    <p:cTn id="514" fill="hold">
                      <p:stCondLst>
                        <p:cond delay="indefinite"/>
                      </p:stCondLst>
                      <p:childTnLst>
                        <p:par>
                          <p:cTn id="515" fill="hold">
                            <p:stCondLst>
                              <p:cond delay="0"/>
                            </p:stCondLst>
                            <p:childTnLst>
                              <p:par>
                                <p:cTn id="516" presetID="10" presetClass="entr" presetSubtype="0" fill="hold" nodeType="clickEffect">
                                  <p:stCondLst>
                                    <p:cond delay="0"/>
                                  </p:stCondLst>
                                  <p:childTnLst>
                                    <p:set>
                                      <p:cBhvr>
                                        <p:cTn id="517" dur="1" fill="hold">
                                          <p:stCondLst>
                                            <p:cond delay="0"/>
                                          </p:stCondLst>
                                        </p:cTn>
                                        <p:tgtEl>
                                          <p:spTgt spid="3">
                                            <p:txEl>
                                              <p:pRg st="13" end="13"/>
                                            </p:txEl>
                                          </p:spTgt>
                                        </p:tgtEl>
                                        <p:attrNameLst>
                                          <p:attrName>style.visibility</p:attrName>
                                        </p:attrNameLst>
                                      </p:cBhvr>
                                      <p:to>
                                        <p:strVal val="visible"/>
                                      </p:to>
                                    </p:set>
                                    <p:animEffect transition="in" filter="fade">
                                      <p:cBhvr>
                                        <p:cTn id="518"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5" grpId="0" animBg="1"/>
      <p:bldP spid="76" grpId="0" animBg="1"/>
      <p:bldP spid="77" grpId="0" animBg="1"/>
      <p:bldP spid="78" grpId="0" animBg="1"/>
      <p:bldP spid="79" grpId="0" animBg="1"/>
      <p:bldP spid="80" grpId="0" animBg="1"/>
      <p:bldP spid="81" grpId="0" animBg="1"/>
      <p:bldP spid="82" grpId="0" animBg="1"/>
      <p:bldP spid="83"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67" grpId="0"/>
      <p:bldP spid="168" grpId="0" animBg="1"/>
      <p:bldP spid="169" grpId="0" animBg="1"/>
      <p:bldP spid="169" grpId="1" animBg="1"/>
      <p:bldP spid="170" grpId="0" animBg="1"/>
      <p:bldP spid="171" grpId="0" animBg="1"/>
      <p:bldP spid="172" grpId="0" animBg="1"/>
      <p:bldP spid="173" grpId="0" animBg="1"/>
      <p:bldP spid="174" grpId="0" animBg="1"/>
      <p:bldP spid="175" grpId="0" animBg="1"/>
      <p:bldP spid="176" grpId="0" animBg="1"/>
      <p:bldP spid="177" grpId="0"/>
      <p:bldP spid="194" grpId="0"/>
      <p:bldP spid="195" grpId="0"/>
      <p:bldP spid="20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9DDD0-008D-FCA7-9C9E-8AF5AED5C40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BE740B6-B89D-C2AF-BCC5-335967081996}"/>
              </a:ext>
            </a:extLst>
          </p:cNvPr>
          <p:cNvSpPr>
            <a:spLocks noGrp="1"/>
          </p:cNvSpPr>
          <p:nvPr>
            <p:ph type="title"/>
          </p:nvPr>
        </p:nvSpPr>
        <p:spPr/>
        <p:txBody>
          <a:bodyPr/>
          <a:lstStyle/>
          <a:p>
            <a:r>
              <a:rPr kumimoji="1" lang="en-US" altLang="zh-TW" dirty="0"/>
              <a:t>Linux Process Scheduler</a:t>
            </a:r>
            <a:endParaRPr kumimoji="1" lang="zh-TW" altLang="en-US" dirty="0"/>
          </a:p>
        </p:txBody>
      </p:sp>
      <p:sp>
        <p:nvSpPr>
          <p:cNvPr id="3" name="內容版面配置區 2">
            <a:extLst>
              <a:ext uri="{FF2B5EF4-FFF2-40B4-BE49-F238E27FC236}">
                <a16:creationId xmlns:a16="http://schemas.microsoft.com/office/drawing/2014/main" id="{C8F138B4-BE3C-BC41-95E2-C309BC38F458}"/>
              </a:ext>
            </a:extLst>
          </p:cNvPr>
          <p:cNvSpPr>
            <a:spLocks noGrp="1"/>
          </p:cNvSpPr>
          <p:nvPr>
            <p:ph idx="1"/>
          </p:nvPr>
        </p:nvSpPr>
        <p:spPr/>
        <p:txBody>
          <a:bodyPr/>
          <a:lstStyle/>
          <a:p>
            <a:r>
              <a:rPr kumimoji="1" lang="en-US" altLang="zh-TW" dirty="0">
                <a:solidFill>
                  <a:schemeClr val="tx1">
                    <a:lumMod val="50000"/>
                    <a:lumOff val="50000"/>
                  </a:schemeClr>
                </a:solidFill>
              </a:rPr>
              <a:t>O(N)</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Before</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Ke</a:t>
            </a:r>
            <a:r>
              <a:rPr lang="en-US" altLang="zh-TW" dirty="0">
                <a:solidFill>
                  <a:schemeClr val="tx1">
                    <a:lumMod val="50000"/>
                    <a:lumOff val="50000"/>
                  </a:schemeClr>
                </a:solidFill>
              </a:rPr>
              <a:t>rnel</a:t>
            </a:r>
            <a:r>
              <a:rPr lang="zh-TW" altLang="en-US" dirty="0">
                <a:solidFill>
                  <a:schemeClr val="tx1">
                    <a:lumMod val="50000"/>
                    <a:lumOff val="50000"/>
                  </a:schemeClr>
                </a:solidFill>
              </a:rPr>
              <a:t> </a:t>
            </a:r>
            <a:r>
              <a:rPr lang="en-US" altLang="zh-TW" dirty="0">
                <a:solidFill>
                  <a:schemeClr val="tx1">
                    <a:lumMod val="50000"/>
                    <a:lumOff val="50000"/>
                  </a:schemeClr>
                </a:solidFill>
              </a:rPr>
              <a:t>2.4</a:t>
            </a:r>
          </a:p>
          <a:p>
            <a:r>
              <a:rPr kumimoji="1" lang="en-US" altLang="zh-TW" dirty="0">
                <a:solidFill>
                  <a:schemeClr val="tx1">
                    <a:lumMod val="50000"/>
                    <a:lumOff val="50000"/>
                  </a:schemeClr>
                </a:solidFill>
              </a:rPr>
              <a:t>O(1)</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Kernel</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2.5</a:t>
            </a:r>
          </a:p>
          <a:p>
            <a:r>
              <a:rPr lang="en-US" altLang="zh-TW" dirty="0"/>
              <a:t>Completely</a:t>
            </a:r>
            <a:r>
              <a:rPr lang="zh-TW" altLang="en-US" dirty="0"/>
              <a:t> </a:t>
            </a:r>
            <a:r>
              <a:rPr lang="en-US" altLang="zh-TW" dirty="0"/>
              <a:t>Fair</a:t>
            </a:r>
            <a:r>
              <a:rPr lang="zh-TW" altLang="en-US" dirty="0"/>
              <a:t> </a:t>
            </a:r>
            <a:r>
              <a:rPr lang="en-US" altLang="zh-TW" dirty="0"/>
              <a:t>Scheduler</a:t>
            </a:r>
            <a:r>
              <a:rPr lang="zh-TW" altLang="en-US" dirty="0"/>
              <a:t> </a:t>
            </a:r>
            <a:r>
              <a:rPr lang="en-US" altLang="zh-TW" dirty="0"/>
              <a:t>(CFS)</a:t>
            </a:r>
            <a:r>
              <a:rPr lang="zh-TW" altLang="en-US" dirty="0"/>
              <a:t> </a:t>
            </a:r>
            <a:r>
              <a:rPr lang="en-US" altLang="zh-TW" dirty="0"/>
              <a:t>Kernel</a:t>
            </a:r>
            <a:r>
              <a:rPr lang="zh-TW" altLang="en-US" dirty="0"/>
              <a:t> </a:t>
            </a:r>
            <a:r>
              <a:rPr lang="en-US" altLang="zh-TW" dirty="0"/>
              <a:t>2.6 O(log(N):</a:t>
            </a:r>
          </a:p>
          <a:p>
            <a:pPr lvl="1"/>
            <a:r>
              <a:rPr kumimoji="1" lang="en-US" altLang="zh-TW" dirty="0"/>
              <a:t>Goal: more</a:t>
            </a:r>
            <a:r>
              <a:rPr kumimoji="1" lang="zh-TW" altLang="en-US" dirty="0"/>
              <a:t> </a:t>
            </a:r>
            <a:r>
              <a:rPr kumimoji="1" lang="en-US" altLang="zh-TW" dirty="0"/>
              <a:t>interactive and more</a:t>
            </a:r>
            <a:r>
              <a:rPr kumimoji="1" lang="zh-TW" altLang="en-US" dirty="0"/>
              <a:t> </a:t>
            </a:r>
            <a:r>
              <a:rPr kumimoji="1" lang="en-US" altLang="zh-TW" dirty="0"/>
              <a:t>“Fair”</a:t>
            </a:r>
            <a:r>
              <a:rPr kumimoji="1" lang="zh-TW" altLang="en-US" dirty="0"/>
              <a:t> </a:t>
            </a:r>
            <a:r>
              <a:rPr kumimoji="1" lang="en-US" altLang="zh-TW" dirty="0"/>
              <a:t>than</a:t>
            </a:r>
            <a:r>
              <a:rPr kumimoji="1" lang="zh-TW" altLang="en-US" dirty="0"/>
              <a:t> </a:t>
            </a:r>
            <a:r>
              <a:rPr kumimoji="1" lang="en-US" altLang="zh-TW" dirty="0"/>
              <a:t>O(1</a:t>
            </a:r>
            <a:r>
              <a:rPr lang="en-US" altLang="zh-TW" dirty="0"/>
              <a:t>).</a:t>
            </a:r>
          </a:p>
          <a:p>
            <a:pPr lvl="1"/>
            <a:r>
              <a:rPr kumimoji="1" lang="en-US" altLang="zh-TW" dirty="0"/>
              <a:t>Concept: (1) Instead of statically mapping </a:t>
            </a:r>
            <a:r>
              <a:rPr kumimoji="1" lang="en-US" altLang="zh-TW" dirty="0" err="1"/>
              <a:t>timeslice</a:t>
            </a:r>
            <a:r>
              <a:rPr kumimoji="1" lang="en-US" altLang="zh-TW" dirty="0"/>
              <a:t>, each process would receive</a:t>
            </a:r>
            <a:r>
              <a:rPr lang="en-US" altLang="zh-TW" dirty="0"/>
              <a:t> </a:t>
            </a:r>
            <a:r>
              <a:rPr lang="en-US" altLang="zh-TW" dirty="0">
                <a:solidFill>
                  <a:srgbClr val="C00000"/>
                </a:solidFill>
              </a:rPr>
              <a:t>1/n of the processor’s time </a:t>
            </a:r>
            <a:r>
              <a:rPr lang="en-US" altLang="zh-TW" dirty="0"/>
              <a:t>(fair share). (2) Schedule processes for </a:t>
            </a:r>
            <a:r>
              <a:rPr lang="en-US" altLang="zh-TW" dirty="0">
                <a:solidFill>
                  <a:srgbClr val="C00000"/>
                </a:solidFill>
              </a:rPr>
              <a:t>infinitely small durations</a:t>
            </a:r>
            <a:r>
              <a:rPr lang="en-US" altLang="zh-TW" dirty="0"/>
              <a:t>. </a:t>
            </a:r>
          </a:p>
        </p:txBody>
      </p:sp>
      <p:sp>
        <p:nvSpPr>
          <p:cNvPr id="4" name="投影片編號版面配置區 3">
            <a:extLst>
              <a:ext uri="{FF2B5EF4-FFF2-40B4-BE49-F238E27FC236}">
                <a16:creationId xmlns:a16="http://schemas.microsoft.com/office/drawing/2014/main" id="{816C6273-4408-6904-0510-3AC91FA0E5B7}"/>
              </a:ext>
            </a:extLst>
          </p:cNvPr>
          <p:cNvSpPr>
            <a:spLocks noGrp="1"/>
          </p:cNvSpPr>
          <p:nvPr>
            <p:ph type="sldNum" sz="quarter" idx="4"/>
          </p:nvPr>
        </p:nvSpPr>
        <p:spPr/>
        <p:txBody>
          <a:bodyPr/>
          <a:lstStyle/>
          <a:p>
            <a:fld id="{E24E6636-6BA5-4AAC-8485-BE8D914D288B}" type="slidenum">
              <a:rPr lang="zh-TW" altLang="en-US" smtClean="0"/>
              <a:pPr/>
              <a:t>18</a:t>
            </a:fld>
            <a:endParaRPr lang="zh-TW" altLang="en-US" dirty="0"/>
          </a:p>
        </p:txBody>
      </p:sp>
      <p:sp>
        <p:nvSpPr>
          <p:cNvPr id="5" name="文字方塊 4">
            <a:extLst>
              <a:ext uri="{FF2B5EF4-FFF2-40B4-BE49-F238E27FC236}">
                <a16:creationId xmlns:a16="http://schemas.microsoft.com/office/drawing/2014/main" id="{ADCCE4F7-FAEA-F3A4-D2A0-C756C2C3E30D}"/>
              </a:ext>
            </a:extLst>
          </p:cNvPr>
          <p:cNvSpPr txBox="1"/>
          <p:nvPr/>
        </p:nvSpPr>
        <p:spPr>
          <a:xfrm>
            <a:off x="59494" y="6452422"/>
            <a:ext cx="7385676" cy="461665"/>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hlinkClick r:id="rId3"/>
              </a:rPr>
              <a:t>https://developer.ibm.com/tutorials/l-completely-fair-scheduler/</a:t>
            </a:r>
            <a:r>
              <a:rPr kumimoji="1" lang="en-US" altLang="zh-TW" sz="1200" dirty="0">
                <a:solidFill>
                  <a:schemeClr val="bg1">
                    <a:lumMod val="75000"/>
                  </a:schemeClr>
                </a:solidFill>
              </a:rPr>
              <a:t>   Ref2: </a:t>
            </a:r>
            <a:r>
              <a:rPr kumimoji="1" lang="en-US" altLang="zh-TW" sz="1200" dirty="0">
                <a:solidFill>
                  <a:schemeClr val="bg1">
                    <a:lumMod val="75000"/>
                  </a:schemeClr>
                </a:solidFill>
                <a:hlinkClick r:id="rId4">
                  <a:extLst>
                    <a:ext uri="{A12FA001-AC4F-418D-AE19-62706E023703}">
                      <ahyp:hlinkClr xmlns:ahyp="http://schemas.microsoft.com/office/drawing/2018/hyperlinkcolor" val="tx"/>
                    </a:ext>
                  </a:extLst>
                </a:hlinkClick>
              </a:rPr>
              <a:t>https://codingnote.cc/zh-tw/p/78397/</a:t>
            </a:r>
            <a:endParaRPr kumimoji="1" lang="en-US" altLang="zh-TW" sz="1200" dirty="0">
              <a:solidFill>
                <a:schemeClr val="bg1">
                  <a:lumMod val="75000"/>
                </a:schemeClr>
              </a:solidFill>
            </a:endParaRPr>
          </a:p>
          <a:p>
            <a:r>
              <a:rPr kumimoji="1" lang="en-US" altLang="zh-TW" sz="1200" dirty="0">
                <a:solidFill>
                  <a:schemeClr val="bg1">
                    <a:lumMod val="75000"/>
                  </a:schemeClr>
                </a:solidFill>
              </a:rPr>
              <a:t>Ref3: https://</a:t>
            </a:r>
            <a:r>
              <a:rPr kumimoji="1" lang="en-US" altLang="zh-TW" sz="1200" dirty="0" err="1">
                <a:solidFill>
                  <a:schemeClr val="bg1">
                    <a:lumMod val="75000"/>
                  </a:schemeClr>
                </a:solidFill>
              </a:rPr>
              <a:t>mechpen.github.io</a:t>
            </a:r>
            <a:r>
              <a:rPr kumimoji="1" lang="en-US" altLang="zh-TW" sz="1200" dirty="0">
                <a:solidFill>
                  <a:schemeClr val="bg1">
                    <a:lumMod val="75000"/>
                  </a:schemeClr>
                </a:solidFill>
              </a:rPr>
              <a:t>/posts/2020-04-27-cfs-group/</a:t>
            </a:r>
            <a:r>
              <a:rPr kumimoji="1" lang="en-US" altLang="zh-TW" sz="1200" dirty="0" err="1">
                <a:solidFill>
                  <a:schemeClr val="bg1">
                    <a:lumMod val="75000"/>
                  </a:schemeClr>
                </a:solidFill>
              </a:rPr>
              <a:t>index.html</a:t>
            </a:r>
            <a:endParaRPr kumimoji="1" lang="en-US" altLang="zh-TW" sz="1200" dirty="0">
              <a:solidFill>
                <a:schemeClr val="bg1">
                  <a:lumMod val="75000"/>
                </a:schemeClr>
              </a:solidFill>
            </a:endParaRPr>
          </a:p>
        </p:txBody>
      </p:sp>
      <p:sp>
        <p:nvSpPr>
          <p:cNvPr id="30" name="文字方塊 29">
            <a:extLst>
              <a:ext uri="{FF2B5EF4-FFF2-40B4-BE49-F238E27FC236}">
                <a16:creationId xmlns:a16="http://schemas.microsoft.com/office/drawing/2014/main" id="{1990761B-6554-58FB-BE44-AFB2A4F45820}"/>
              </a:ext>
            </a:extLst>
          </p:cNvPr>
          <p:cNvSpPr txBox="1"/>
          <p:nvPr/>
        </p:nvSpPr>
        <p:spPr>
          <a:xfrm>
            <a:off x="177800" y="3799140"/>
            <a:ext cx="7343243" cy="553998"/>
          </a:xfrm>
          <a:prstGeom prst="rect">
            <a:avLst/>
          </a:prstGeom>
          <a:noFill/>
          <a:ln w="19050">
            <a:noFill/>
          </a:ln>
        </p:spPr>
        <p:txBody>
          <a:bodyPr wrap="square" lIns="72000" tIns="0" rIns="0" bIns="0" rtlCol="0">
            <a:spAutoFit/>
          </a:bodyPr>
          <a:lstStyle/>
          <a:p>
            <a:r>
              <a:rPr kumimoji="1" lang="en-US" altLang="zh-TW" dirty="0"/>
              <a:t>Virtual Runtime: Real system running time + Priority </a:t>
            </a:r>
            <a:br>
              <a:rPr kumimoji="1" lang="en-US" altLang="zh-TW" dirty="0"/>
            </a:br>
            <a:r>
              <a:rPr kumimoji="1" lang="en-US" altLang="zh-TW" dirty="0"/>
              <a:t>(</a:t>
            </a:r>
            <a:r>
              <a:rPr kumimoji="1" lang="en-US" altLang="zh-TW" dirty="0">
                <a:solidFill>
                  <a:srgbClr val="C00000"/>
                </a:solidFill>
              </a:rPr>
              <a:t>Keep</a:t>
            </a:r>
            <a:r>
              <a:rPr kumimoji="1" lang="en-US" altLang="zh-TW" dirty="0"/>
              <a:t> the </a:t>
            </a:r>
            <a:r>
              <a:rPr kumimoji="1" lang="en-US" altLang="zh-TW" dirty="0">
                <a:solidFill>
                  <a:srgbClr val="C00000"/>
                </a:solidFill>
              </a:rPr>
              <a:t>virtual runtime </a:t>
            </a:r>
            <a:r>
              <a:rPr kumimoji="1" lang="en-US" altLang="zh-TW" dirty="0"/>
              <a:t>of all running processes </a:t>
            </a:r>
            <a:r>
              <a:rPr kumimoji="1" lang="en-US" altLang="zh-TW" dirty="0">
                <a:solidFill>
                  <a:srgbClr val="C00000"/>
                </a:solidFill>
              </a:rPr>
              <a:t>the same</a:t>
            </a:r>
            <a:r>
              <a:rPr kumimoji="1" lang="en-US" altLang="zh-TW" dirty="0"/>
              <a:t>)</a:t>
            </a:r>
          </a:p>
        </p:txBody>
      </p:sp>
      <p:grpSp>
        <p:nvGrpSpPr>
          <p:cNvPr id="61" name="群組 60">
            <a:extLst>
              <a:ext uri="{FF2B5EF4-FFF2-40B4-BE49-F238E27FC236}">
                <a16:creationId xmlns:a16="http://schemas.microsoft.com/office/drawing/2014/main" id="{6AE7F410-554D-793B-A1C3-3DFF602BDE23}"/>
              </a:ext>
            </a:extLst>
          </p:cNvPr>
          <p:cNvGrpSpPr/>
          <p:nvPr/>
        </p:nvGrpSpPr>
        <p:grpSpPr>
          <a:xfrm>
            <a:off x="7498515" y="3986208"/>
            <a:ext cx="4771941" cy="2831321"/>
            <a:chOff x="7420059" y="3699332"/>
            <a:chExt cx="4771941" cy="2831321"/>
          </a:xfrm>
        </p:grpSpPr>
        <p:sp>
          <p:nvSpPr>
            <p:cNvPr id="6" name="橢圓 5">
              <a:extLst>
                <a:ext uri="{FF2B5EF4-FFF2-40B4-BE49-F238E27FC236}">
                  <a16:creationId xmlns:a16="http://schemas.microsoft.com/office/drawing/2014/main" id="{6750229C-550E-38EB-D951-ECC69F1E4F74}"/>
                </a:ext>
              </a:extLst>
            </p:cNvPr>
            <p:cNvSpPr/>
            <p:nvPr/>
          </p:nvSpPr>
          <p:spPr>
            <a:xfrm>
              <a:off x="9334754" y="3699332"/>
              <a:ext cx="405353" cy="414779"/>
            </a:xfrm>
            <a:prstGeom prst="ellipse">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50</a:t>
              </a:r>
              <a:endParaRPr kumimoji="1" lang="zh-TW" altLang="en-US" sz="1400" dirty="0"/>
            </a:p>
          </p:txBody>
        </p:sp>
        <p:sp>
          <p:nvSpPr>
            <p:cNvPr id="7" name="橢圓 6">
              <a:extLst>
                <a:ext uri="{FF2B5EF4-FFF2-40B4-BE49-F238E27FC236}">
                  <a16:creationId xmlns:a16="http://schemas.microsoft.com/office/drawing/2014/main" id="{FA3500EE-777F-8053-7DA2-7EFE61EBBEAB}"/>
                </a:ext>
              </a:extLst>
            </p:cNvPr>
            <p:cNvSpPr/>
            <p:nvPr/>
          </p:nvSpPr>
          <p:spPr>
            <a:xfrm>
              <a:off x="8540448" y="4251755"/>
              <a:ext cx="405353" cy="414779"/>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30</a:t>
              </a:r>
              <a:endParaRPr kumimoji="1" lang="zh-TW" altLang="en-US" sz="1400" dirty="0"/>
            </a:p>
          </p:txBody>
        </p:sp>
        <p:sp>
          <p:nvSpPr>
            <p:cNvPr id="8" name="橢圓 7">
              <a:extLst>
                <a:ext uri="{FF2B5EF4-FFF2-40B4-BE49-F238E27FC236}">
                  <a16:creationId xmlns:a16="http://schemas.microsoft.com/office/drawing/2014/main" id="{5733450D-34D2-7905-C050-9C4A3DD25798}"/>
                </a:ext>
              </a:extLst>
            </p:cNvPr>
            <p:cNvSpPr/>
            <p:nvPr/>
          </p:nvSpPr>
          <p:spPr>
            <a:xfrm>
              <a:off x="10287071" y="4251754"/>
              <a:ext cx="405353" cy="414779"/>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80</a:t>
              </a:r>
              <a:endParaRPr kumimoji="1" lang="zh-TW" altLang="en-US" sz="1400" dirty="0"/>
            </a:p>
          </p:txBody>
        </p:sp>
        <p:sp>
          <p:nvSpPr>
            <p:cNvPr id="9" name="橢圓 8">
              <a:extLst>
                <a:ext uri="{FF2B5EF4-FFF2-40B4-BE49-F238E27FC236}">
                  <a16:creationId xmlns:a16="http://schemas.microsoft.com/office/drawing/2014/main" id="{EB0757BE-4A93-A0DF-8824-89F6F8D8F212}"/>
                </a:ext>
              </a:extLst>
            </p:cNvPr>
            <p:cNvSpPr/>
            <p:nvPr/>
          </p:nvSpPr>
          <p:spPr>
            <a:xfrm>
              <a:off x="8135095" y="4975715"/>
              <a:ext cx="405353" cy="414779"/>
            </a:xfrm>
            <a:prstGeom prst="ellipse">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5</a:t>
              </a:r>
              <a:endParaRPr kumimoji="1" lang="zh-TW" altLang="en-US" sz="1400" dirty="0"/>
            </a:p>
          </p:txBody>
        </p:sp>
        <p:sp>
          <p:nvSpPr>
            <p:cNvPr id="11" name="橢圓 10">
              <a:extLst>
                <a:ext uri="{FF2B5EF4-FFF2-40B4-BE49-F238E27FC236}">
                  <a16:creationId xmlns:a16="http://schemas.microsoft.com/office/drawing/2014/main" id="{9D176E9C-38A9-45B9-D57E-0CDB50972B33}"/>
                </a:ext>
              </a:extLst>
            </p:cNvPr>
            <p:cNvSpPr/>
            <p:nvPr/>
          </p:nvSpPr>
          <p:spPr>
            <a:xfrm>
              <a:off x="9828299" y="4994704"/>
              <a:ext cx="405353" cy="414779"/>
            </a:xfrm>
            <a:prstGeom prst="ellipse">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70</a:t>
              </a:r>
              <a:endParaRPr kumimoji="1" lang="zh-TW" altLang="en-US" sz="1400" dirty="0"/>
            </a:p>
          </p:txBody>
        </p:sp>
        <p:sp>
          <p:nvSpPr>
            <p:cNvPr id="12" name="橢圓 11">
              <a:extLst>
                <a:ext uri="{FF2B5EF4-FFF2-40B4-BE49-F238E27FC236}">
                  <a16:creationId xmlns:a16="http://schemas.microsoft.com/office/drawing/2014/main" id="{16D27158-4CE6-5FC6-B44D-6C7847317516}"/>
                </a:ext>
              </a:extLst>
            </p:cNvPr>
            <p:cNvSpPr/>
            <p:nvPr/>
          </p:nvSpPr>
          <p:spPr>
            <a:xfrm>
              <a:off x="10772072" y="4994704"/>
              <a:ext cx="405353" cy="414779"/>
            </a:xfrm>
            <a:prstGeom prst="ellipse">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90</a:t>
              </a:r>
              <a:endParaRPr kumimoji="1" lang="zh-TW" altLang="en-US" sz="1400" dirty="0"/>
            </a:p>
          </p:txBody>
        </p:sp>
        <p:cxnSp>
          <p:nvCxnSpPr>
            <p:cNvPr id="14" name="直線箭頭接點 13">
              <a:extLst>
                <a:ext uri="{FF2B5EF4-FFF2-40B4-BE49-F238E27FC236}">
                  <a16:creationId xmlns:a16="http://schemas.microsoft.com/office/drawing/2014/main" id="{C53022E6-A80C-A968-8624-74D2705C5C28}"/>
                </a:ext>
              </a:extLst>
            </p:cNvPr>
            <p:cNvCxnSpPr>
              <a:cxnSpLocks/>
            </p:cNvCxnSpPr>
            <p:nvPr/>
          </p:nvCxnSpPr>
          <p:spPr>
            <a:xfrm flipH="1">
              <a:off x="8082880" y="6079040"/>
              <a:ext cx="3280528" cy="0"/>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43D3856A-C409-9B5E-9B8C-C469134EF130}"/>
                </a:ext>
              </a:extLst>
            </p:cNvPr>
            <p:cNvSpPr txBox="1"/>
            <p:nvPr/>
          </p:nvSpPr>
          <p:spPr>
            <a:xfrm>
              <a:off x="10405934" y="6180105"/>
              <a:ext cx="1786066" cy="307777"/>
            </a:xfrm>
            <a:prstGeom prst="rect">
              <a:avLst/>
            </a:prstGeom>
            <a:noFill/>
          </p:spPr>
          <p:txBody>
            <a:bodyPr wrap="none" rtlCol="0">
              <a:spAutoFit/>
            </a:bodyPr>
            <a:lstStyle/>
            <a:p>
              <a:r>
                <a:rPr kumimoji="1" lang="en-US" altLang="zh-TW" sz="1400" b="1" dirty="0">
                  <a:latin typeface="Arial" panose="020B0604020202020204" pitchFamily="34" charset="0"/>
                  <a:cs typeface="Arial" panose="020B0604020202020204" pitchFamily="34" charset="0"/>
                </a:rPr>
                <a:t>Least Need of CPU</a:t>
              </a:r>
              <a:endParaRPr kumimoji="1" lang="zh-TW" altLang="en-US" sz="1400" b="1" dirty="0">
                <a:latin typeface="Arial" panose="020B0604020202020204" pitchFamily="34" charset="0"/>
                <a:cs typeface="Arial" panose="020B0604020202020204" pitchFamily="34" charset="0"/>
              </a:endParaRPr>
            </a:p>
          </p:txBody>
        </p:sp>
        <p:sp>
          <p:nvSpPr>
            <p:cNvPr id="18" name="文字方塊 17">
              <a:extLst>
                <a:ext uri="{FF2B5EF4-FFF2-40B4-BE49-F238E27FC236}">
                  <a16:creationId xmlns:a16="http://schemas.microsoft.com/office/drawing/2014/main" id="{5DC8C3E3-F8E9-CE5E-1016-FE6432410545}"/>
                </a:ext>
              </a:extLst>
            </p:cNvPr>
            <p:cNvSpPr txBox="1"/>
            <p:nvPr/>
          </p:nvSpPr>
          <p:spPr>
            <a:xfrm>
              <a:off x="7420059" y="6222876"/>
              <a:ext cx="1736373" cy="307777"/>
            </a:xfrm>
            <a:prstGeom prst="rect">
              <a:avLst/>
            </a:prstGeom>
            <a:noFill/>
          </p:spPr>
          <p:txBody>
            <a:bodyPr wrap="none" rtlCol="0">
              <a:spAutoFit/>
            </a:bodyPr>
            <a:lstStyle/>
            <a:p>
              <a:r>
                <a:rPr kumimoji="1" lang="en-US" altLang="zh-TW" sz="1400" b="1" dirty="0">
                  <a:latin typeface="Arial" panose="020B0604020202020204" pitchFamily="34" charset="0"/>
                  <a:cs typeface="Arial" panose="020B0604020202020204" pitchFamily="34" charset="0"/>
                </a:rPr>
                <a:t>Most Need of CPU</a:t>
              </a:r>
              <a:endParaRPr kumimoji="1" lang="zh-TW" altLang="en-US" sz="1400" b="1" dirty="0">
                <a:latin typeface="Arial" panose="020B0604020202020204" pitchFamily="34" charset="0"/>
                <a:cs typeface="Arial" panose="020B0604020202020204" pitchFamily="34" charset="0"/>
              </a:endParaRPr>
            </a:p>
          </p:txBody>
        </p:sp>
        <p:sp>
          <p:nvSpPr>
            <p:cNvPr id="19" name="文字方塊 18">
              <a:extLst>
                <a:ext uri="{FF2B5EF4-FFF2-40B4-BE49-F238E27FC236}">
                  <a16:creationId xmlns:a16="http://schemas.microsoft.com/office/drawing/2014/main" id="{B89EF2CA-B058-93B7-07F2-E83ABC2B9094}"/>
                </a:ext>
              </a:extLst>
            </p:cNvPr>
            <p:cNvSpPr txBox="1"/>
            <p:nvPr/>
          </p:nvSpPr>
          <p:spPr>
            <a:xfrm>
              <a:off x="8822286" y="5771263"/>
              <a:ext cx="2012026"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Virtual Runtime</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(Index)</a:t>
              </a:r>
              <a:endParaRPr kumimoji="1" lang="zh-TW" altLang="en-US" sz="1400" dirty="0">
                <a:latin typeface="Arial" panose="020B0604020202020204" pitchFamily="34" charset="0"/>
                <a:cs typeface="Arial" panose="020B0604020202020204" pitchFamily="34" charset="0"/>
              </a:endParaRPr>
            </a:p>
          </p:txBody>
        </p:sp>
        <p:cxnSp>
          <p:nvCxnSpPr>
            <p:cNvPr id="22" name="直線箭頭接點 21">
              <a:extLst>
                <a:ext uri="{FF2B5EF4-FFF2-40B4-BE49-F238E27FC236}">
                  <a16:creationId xmlns:a16="http://schemas.microsoft.com/office/drawing/2014/main" id="{7B4C71ED-AA32-A428-F9A6-937072A89BEB}"/>
                </a:ext>
              </a:extLst>
            </p:cNvPr>
            <p:cNvCxnSpPr>
              <a:cxnSpLocks/>
            </p:cNvCxnSpPr>
            <p:nvPr/>
          </p:nvCxnSpPr>
          <p:spPr>
            <a:xfrm flipH="1">
              <a:off x="8132090" y="5354318"/>
              <a:ext cx="89085" cy="1960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文字方塊 25">
              <a:extLst>
                <a:ext uri="{FF2B5EF4-FFF2-40B4-BE49-F238E27FC236}">
                  <a16:creationId xmlns:a16="http://schemas.microsoft.com/office/drawing/2014/main" id="{B2280C9E-AE4F-C827-77AE-7257DFEB072E}"/>
                </a:ext>
              </a:extLst>
            </p:cNvPr>
            <p:cNvSpPr txBox="1"/>
            <p:nvPr/>
          </p:nvSpPr>
          <p:spPr>
            <a:xfrm>
              <a:off x="7900296"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sp>
          <p:nvSpPr>
            <p:cNvPr id="28" name="文字方塊 27">
              <a:extLst>
                <a:ext uri="{FF2B5EF4-FFF2-40B4-BE49-F238E27FC236}">
                  <a16:creationId xmlns:a16="http://schemas.microsoft.com/office/drawing/2014/main" id="{2283BECB-2E44-D6F0-16A7-6431CE43B7D2}"/>
                </a:ext>
              </a:extLst>
            </p:cNvPr>
            <p:cNvSpPr txBox="1"/>
            <p:nvPr/>
          </p:nvSpPr>
          <p:spPr>
            <a:xfrm>
              <a:off x="7467206" y="5901856"/>
              <a:ext cx="633507"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Small</a:t>
              </a:r>
              <a:endParaRPr kumimoji="1" lang="zh-TW" altLang="en-US" sz="1400" dirty="0">
                <a:latin typeface="Arial" panose="020B0604020202020204" pitchFamily="34" charset="0"/>
                <a:cs typeface="Arial" panose="020B0604020202020204" pitchFamily="34" charset="0"/>
              </a:endParaRPr>
            </a:p>
          </p:txBody>
        </p:sp>
        <p:sp>
          <p:nvSpPr>
            <p:cNvPr id="29" name="文字方塊 28">
              <a:extLst>
                <a:ext uri="{FF2B5EF4-FFF2-40B4-BE49-F238E27FC236}">
                  <a16:creationId xmlns:a16="http://schemas.microsoft.com/office/drawing/2014/main" id="{1A160D1F-DC33-1886-5DE9-99297A1A23F4}"/>
                </a:ext>
              </a:extLst>
            </p:cNvPr>
            <p:cNvSpPr txBox="1"/>
            <p:nvPr/>
          </p:nvSpPr>
          <p:spPr>
            <a:xfrm>
              <a:off x="11345575" y="5897125"/>
              <a:ext cx="641522"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Large</a:t>
              </a:r>
              <a:endParaRPr kumimoji="1" lang="zh-TW" altLang="en-US" sz="1400" dirty="0">
                <a:latin typeface="Arial" panose="020B0604020202020204" pitchFamily="34" charset="0"/>
                <a:cs typeface="Arial" panose="020B0604020202020204" pitchFamily="34" charset="0"/>
              </a:endParaRPr>
            </a:p>
          </p:txBody>
        </p:sp>
        <p:cxnSp>
          <p:nvCxnSpPr>
            <p:cNvPr id="33" name="直線箭頭接點 32">
              <a:extLst>
                <a:ext uri="{FF2B5EF4-FFF2-40B4-BE49-F238E27FC236}">
                  <a16:creationId xmlns:a16="http://schemas.microsoft.com/office/drawing/2014/main" id="{F3A46264-E85B-BC7B-FED7-F6B279E7D446}"/>
                </a:ext>
              </a:extLst>
            </p:cNvPr>
            <p:cNvCxnSpPr>
              <a:cxnSpLocks/>
            </p:cNvCxnSpPr>
            <p:nvPr/>
          </p:nvCxnSpPr>
          <p:spPr>
            <a:xfrm>
              <a:off x="8477191" y="5346659"/>
              <a:ext cx="91040" cy="1835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ECD99AC8-CF24-0891-3ADD-938B83514EE6}"/>
                </a:ext>
              </a:extLst>
            </p:cNvPr>
            <p:cNvSpPr txBox="1"/>
            <p:nvPr/>
          </p:nvSpPr>
          <p:spPr>
            <a:xfrm>
              <a:off x="8371676"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36" name="直線箭頭接點 35">
              <a:extLst>
                <a:ext uri="{FF2B5EF4-FFF2-40B4-BE49-F238E27FC236}">
                  <a16:creationId xmlns:a16="http://schemas.microsoft.com/office/drawing/2014/main" id="{99EB4E5C-264A-690B-2B1E-ACD97DB74CA2}"/>
                </a:ext>
              </a:extLst>
            </p:cNvPr>
            <p:cNvCxnSpPr>
              <a:cxnSpLocks/>
            </p:cNvCxnSpPr>
            <p:nvPr/>
          </p:nvCxnSpPr>
          <p:spPr>
            <a:xfrm>
              <a:off x="8934732" y="4583854"/>
              <a:ext cx="91040" cy="1835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文字方塊 36">
              <a:extLst>
                <a:ext uri="{FF2B5EF4-FFF2-40B4-BE49-F238E27FC236}">
                  <a16:creationId xmlns:a16="http://schemas.microsoft.com/office/drawing/2014/main" id="{613BAA8C-4CF5-E6F4-DF87-9C23E199B356}"/>
                </a:ext>
              </a:extLst>
            </p:cNvPr>
            <p:cNvSpPr txBox="1"/>
            <p:nvPr/>
          </p:nvSpPr>
          <p:spPr>
            <a:xfrm>
              <a:off x="8829217" y="4750619"/>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38" name="直線箭頭接點 37">
              <a:extLst>
                <a:ext uri="{FF2B5EF4-FFF2-40B4-BE49-F238E27FC236}">
                  <a16:creationId xmlns:a16="http://schemas.microsoft.com/office/drawing/2014/main" id="{3EA78BFC-1064-F66A-FDBC-20CD961823A8}"/>
                </a:ext>
              </a:extLst>
            </p:cNvPr>
            <p:cNvCxnSpPr>
              <a:cxnSpLocks/>
            </p:cNvCxnSpPr>
            <p:nvPr/>
          </p:nvCxnSpPr>
          <p:spPr>
            <a:xfrm>
              <a:off x="10193512" y="5317369"/>
              <a:ext cx="91040" cy="1835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文字方塊 38">
              <a:extLst>
                <a:ext uri="{FF2B5EF4-FFF2-40B4-BE49-F238E27FC236}">
                  <a16:creationId xmlns:a16="http://schemas.microsoft.com/office/drawing/2014/main" id="{5D45893E-CB6E-6E87-2AD8-1936F20F883F}"/>
                </a:ext>
              </a:extLst>
            </p:cNvPr>
            <p:cNvSpPr txBox="1"/>
            <p:nvPr/>
          </p:nvSpPr>
          <p:spPr>
            <a:xfrm>
              <a:off x="10087997"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40" name="直線箭頭接點 39">
              <a:extLst>
                <a:ext uri="{FF2B5EF4-FFF2-40B4-BE49-F238E27FC236}">
                  <a16:creationId xmlns:a16="http://schemas.microsoft.com/office/drawing/2014/main" id="{6DF95A93-1318-F92F-2292-38B6F02D8F8B}"/>
                </a:ext>
              </a:extLst>
            </p:cNvPr>
            <p:cNvCxnSpPr>
              <a:cxnSpLocks/>
            </p:cNvCxnSpPr>
            <p:nvPr/>
          </p:nvCxnSpPr>
          <p:spPr>
            <a:xfrm>
              <a:off x="11128185" y="5347487"/>
              <a:ext cx="91040" cy="1835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文字方塊 40">
              <a:extLst>
                <a:ext uri="{FF2B5EF4-FFF2-40B4-BE49-F238E27FC236}">
                  <a16:creationId xmlns:a16="http://schemas.microsoft.com/office/drawing/2014/main" id="{D6215B2E-6DAB-4BD7-F272-54F77087834E}"/>
                </a:ext>
              </a:extLst>
            </p:cNvPr>
            <p:cNvSpPr txBox="1"/>
            <p:nvPr/>
          </p:nvSpPr>
          <p:spPr>
            <a:xfrm>
              <a:off x="11022670"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42" name="直線箭頭接點 41">
              <a:extLst>
                <a:ext uri="{FF2B5EF4-FFF2-40B4-BE49-F238E27FC236}">
                  <a16:creationId xmlns:a16="http://schemas.microsoft.com/office/drawing/2014/main" id="{A4004EFA-B5CA-1DD1-17EF-DC05202FC452}"/>
                </a:ext>
              </a:extLst>
            </p:cNvPr>
            <p:cNvCxnSpPr>
              <a:cxnSpLocks/>
            </p:cNvCxnSpPr>
            <p:nvPr/>
          </p:nvCxnSpPr>
          <p:spPr>
            <a:xfrm flipH="1">
              <a:off x="9767303" y="5305316"/>
              <a:ext cx="89085" cy="1960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文字方塊 42">
              <a:extLst>
                <a:ext uri="{FF2B5EF4-FFF2-40B4-BE49-F238E27FC236}">
                  <a16:creationId xmlns:a16="http://schemas.microsoft.com/office/drawing/2014/main" id="{ABC41976-F10D-E225-98E7-922F3DDAA71F}"/>
                </a:ext>
              </a:extLst>
            </p:cNvPr>
            <p:cNvSpPr txBox="1"/>
            <p:nvPr/>
          </p:nvSpPr>
          <p:spPr>
            <a:xfrm>
              <a:off x="9535509"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46" name="直線箭頭接點 45">
              <a:extLst>
                <a:ext uri="{FF2B5EF4-FFF2-40B4-BE49-F238E27FC236}">
                  <a16:creationId xmlns:a16="http://schemas.microsoft.com/office/drawing/2014/main" id="{CC26CB3C-C5CC-1A78-FC85-30CF305CBE32}"/>
                </a:ext>
              </a:extLst>
            </p:cNvPr>
            <p:cNvCxnSpPr>
              <a:cxnSpLocks/>
            </p:cNvCxnSpPr>
            <p:nvPr/>
          </p:nvCxnSpPr>
          <p:spPr>
            <a:xfrm flipH="1">
              <a:off x="10752912" y="5347724"/>
              <a:ext cx="89085" cy="1960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文字方塊 46">
              <a:extLst>
                <a:ext uri="{FF2B5EF4-FFF2-40B4-BE49-F238E27FC236}">
                  <a16:creationId xmlns:a16="http://schemas.microsoft.com/office/drawing/2014/main" id="{565F2C52-65F4-9E0D-20C1-697FAB6EC6FC}"/>
                </a:ext>
              </a:extLst>
            </p:cNvPr>
            <p:cNvSpPr txBox="1"/>
            <p:nvPr/>
          </p:nvSpPr>
          <p:spPr>
            <a:xfrm>
              <a:off x="10521118"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48" name="直線箭頭接點 47">
              <a:extLst>
                <a:ext uri="{FF2B5EF4-FFF2-40B4-BE49-F238E27FC236}">
                  <a16:creationId xmlns:a16="http://schemas.microsoft.com/office/drawing/2014/main" id="{05FC332D-94C5-4272-8EC9-6D7A2291A615}"/>
                </a:ext>
              </a:extLst>
            </p:cNvPr>
            <p:cNvCxnSpPr>
              <a:cxnSpLocks/>
              <a:stCxn id="6" idx="3"/>
              <a:endCxn id="7" idx="7"/>
            </p:cNvCxnSpPr>
            <p:nvPr/>
          </p:nvCxnSpPr>
          <p:spPr>
            <a:xfrm flipH="1">
              <a:off x="8886438" y="4053368"/>
              <a:ext cx="507679" cy="25913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1" name="直線箭頭接點 50">
              <a:extLst>
                <a:ext uri="{FF2B5EF4-FFF2-40B4-BE49-F238E27FC236}">
                  <a16:creationId xmlns:a16="http://schemas.microsoft.com/office/drawing/2014/main" id="{A0912102-9B58-7288-1CC5-244FCF541C2D}"/>
                </a:ext>
              </a:extLst>
            </p:cNvPr>
            <p:cNvCxnSpPr>
              <a:cxnSpLocks/>
              <a:stCxn id="6" idx="5"/>
              <a:endCxn id="8" idx="1"/>
            </p:cNvCxnSpPr>
            <p:nvPr/>
          </p:nvCxnSpPr>
          <p:spPr>
            <a:xfrm>
              <a:off x="9680744" y="4053368"/>
              <a:ext cx="665690" cy="259129"/>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4" name="直線箭頭接點 53">
              <a:extLst>
                <a:ext uri="{FF2B5EF4-FFF2-40B4-BE49-F238E27FC236}">
                  <a16:creationId xmlns:a16="http://schemas.microsoft.com/office/drawing/2014/main" id="{B4B80601-E928-EC3C-6BE9-6E511C0B86E1}"/>
                </a:ext>
              </a:extLst>
            </p:cNvPr>
            <p:cNvCxnSpPr>
              <a:cxnSpLocks/>
              <a:endCxn id="9" idx="0"/>
            </p:cNvCxnSpPr>
            <p:nvPr/>
          </p:nvCxnSpPr>
          <p:spPr>
            <a:xfrm flipH="1">
              <a:off x="8337772" y="4603811"/>
              <a:ext cx="263036" cy="371904"/>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6" name="直線箭頭接點 55">
              <a:extLst>
                <a:ext uri="{FF2B5EF4-FFF2-40B4-BE49-F238E27FC236}">
                  <a16:creationId xmlns:a16="http://schemas.microsoft.com/office/drawing/2014/main" id="{A45D6AAD-FFD9-220F-CEF1-08A8AC0C22BB}"/>
                </a:ext>
              </a:extLst>
            </p:cNvPr>
            <p:cNvCxnSpPr>
              <a:cxnSpLocks/>
            </p:cNvCxnSpPr>
            <p:nvPr/>
          </p:nvCxnSpPr>
          <p:spPr>
            <a:xfrm flipH="1">
              <a:off x="10066653" y="4614217"/>
              <a:ext cx="263036" cy="371904"/>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7" name="直線箭頭接點 56">
              <a:extLst>
                <a:ext uri="{FF2B5EF4-FFF2-40B4-BE49-F238E27FC236}">
                  <a16:creationId xmlns:a16="http://schemas.microsoft.com/office/drawing/2014/main" id="{F1D7536A-C53B-86F9-DFE9-E194D28D4AE5}"/>
                </a:ext>
              </a:extLst>
            </p:cNvPr>
            <p:cNvCxnSpPr>
              <a:cxnSpLocks/>
              <a:stCxn id="8" idx="5"/>
              <a:endCxn id="12" idx="0"/>
            </p:cNvCxnSpPr>
            <p:nvPr/>
          </p:nvCxnSpPr>
          <p:spPr>
            <a:xfrm>
              <a:off x="10633061" y="4605790"/>
              <a:ext cx="341688" cy="388914"/>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
        <p:nvSpPr>
          <p:cNvPr id="60" name="矩形 59">
            <a:extLst>
              <a:ext uri="{FF2B5EF4-FFF2-40B4-BE49-F238E27FC236}">
                <a16:creationId xmlns:a16="http://schemas.microsoft.com/office/drawing/2014/main" id="{C75D2B9E-02DE-1F6A-12BB-95F6BCC8C579}"/>
              </a:ext>
            </a:extLst>
          </p:cNvPr>
          <p:cNvSpPr/>
          <p:nvPr/>
        </p:nvSpPr>
        <p:spPr>
          <a:xfrm>
            <a:off x="108738" y="3809176"/>
            <a:ext cx="7414294" cy="252460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3" name="文字方塊 62">
            <a:extLst>
              <a:ext uri="{FF2B5EF4-FFF2-40B4-BE49-F238E27FC236}">
                <a16:creationId xmlns:a16="http://schemas.microsoft.com/office/drawing/2014/main" id="{5DC908F3-1D6B-472A-0E72-D830442507AD}"/>
              </a:ext>
            </a:extLst>
          </p:cNvPr>
          <p:cNvSpPr txBox="1"/>
          <p:nvPr/>
        </p:nvSpPr>
        <p:spPr>
          <a:xfrm>
            <a:off x="81350" y="4302454"/>
            <a:ext cx="7441729" cy="2031325"/>
          </a:xfrm>
          <a:prstGeom prst="rect">
            <a:avLst/>
          </a:prstGeom>
          <a:noFill/>
        </p:spPr>
        <p:txBody>
          <a:bodyPr wrap="square">
            <a:spAutoFit/>
          </a:bodyPr>
          <a:lstStyle/>
          <a:p>
            <a:br>
              <a:rPr kumimoji="1" lang="en-US" altLang="zh-TW" dirty="0"/>
            </a:br>
            <a:r>
              <a:rPr kumimoji="1" lang="en-US" altLang="zh-TW" dirty="0"/>
              <a:t>(Theory) </a:t>
            </a:r>
            <a:r>
              <a:rPr kumimoji="1" lang="en-US" altLang="zh-TW" dirty="0" err="1"/>
              <a:t>Vruntime</a:t>
            </a:r>
            <a:r>
              <a:rPr kumimoji="1" lang="en-US" altLang="zh-TW" dirty="0"/>
              <a:t> += </a:t>
            </a:r>
            <a:r>
              <a:rPr kumimoji="1" lang="en-US" altLang="zh-TW" dirty="0" err="1"/>
              <a:t>delta_exec</a:t>
            </a:r>
            <a:r>
              <a:rPr kumimoji="1" lang="en-US" altLang="zh-TW" dirty="0"/>
              <a:t> * NICE_0_Weight/</a:t>
            </a:r>
            <a:r>
              <a:rPr kumimoji="1" lang="en-US" altLang="zh-TW" dirty="0" err="1"/>
              <a:t>NICE_Weight</a:t>
            </a:r>
            <a:br>
              <a:rPr kumimoji="1" lang="en-US" altLang="zh-TW" dirty="0"/>
            </a:br>
            <a:endParaRPr kumimoji="1" lang="en-US" altLang="zh-TW" dirty="0"/>
          </a:p>
          <a:p>
            <a:r>
              <a:rPr kumimoji="1" lang="en-US" altLang="zh-TW" i="1" dirty="0">
                <a:solidFill>
                  <a:schemeClr val="bg1">
                    <a:lumMod val="75000"/>
                  </a:schemeClr>
                </a:solidFill>
              </a:rPr>
              <a:t>__</a:t>
            </a:r>
            <a:r>
              <a:rPr kumimoji="1" lang="en-US" altLang="zh-TW" i="1" dirty="0" err="1">
                <a:solidFill>
                  <a:schemeClr val="bg1">
                    <a:lumMod val="75000"/>
                  </a:schemeClr>
                </a:solidFill>
              </a:rPr>
              <a:t>sched_period</a:t>
            </a:r>
            <a:r>
              <a:rPr kumimoji="1" lang="en-US" altLang="zh-TW" dirty="0">
                <a:solidFill>
                  <a:schemeClr val="bg1">
                    <a:lumMod val="75000"/>
                  </a:schemeClr>
                </a:solidFill>
              </a:rPr>
              <a:t>: Period</a:t>
            </a:r>
            <a:r>
              <a:rPr kumimoji="1" lang="zh-TW" altLang="en-US" dirty="0">
                <a:solidFill>
                  <a:schemeClr val="bg1">
                    <a:lumMod val="75000"/>
                  </a:schemeClr>
                </a:solidFill>
              </a:rPr>
              <a:t> </a:t>
            </a:r>
            <a:r>
              <a:rPr kumimoji="1" lang="en-US" altLang="zh-TW" dirty="0">
                <a:solidFill>
                  <a:schemeClr val="bg1">
                    <a:lumMod val="75000"/>
                  </a:schemeClr>
                </a:solidFill>
              </a:rPr>
              <a:t>to enter scheduler (e.g., </a:t>
            </a:r>
            <a:r>
              <a:rPr kumimoji="1" lang="zh-TW" altLang="en-US" dirty="0">
                <a:solidFill>
                  <a:schemeClr val="bg1">
                    <a:lumMod val="75000"/>
                  </a:schemeClr>
                </a:solidFill>
              </a:rPr>
              <a:t> </a:t>
            </a:r>
            <a:r>
              <a:rPr kumimoji="1" lang="en-US" altLang="zh-TW" dirty="0">
                <a:solidFill>
                  <a:schemeClr val="bg1">
                    <a:lumMod val="75000"/>
                  </a:schemeClr>
                </a:solidFill>
              </a:rPr>
              <a:t>6ms or 0.75ms, a constant)</a:t>
            </a:r>
          </a:p>
          <a:p>
            <a:r>
              <a:rPr kumimoji="1" lang="en-US" altLang="zh-TW" i="1" dirty="0" err="1">
                <a:solidFill>
                  <a:schemeClr val="bg1">
                    <a:lumMod val="75000"/>
                  </a:schemeClr>
                </a:solidFill>
              </a:rPr>
              <a:t>delta_exec</a:t>
            </a:r>
            <a:r>
              <a:rPr kumimoji="1" lang="en-US" altLang="zh-TW" dirty="0">
                <a:solidFill>
                  <a:schemeClr val="bg1">
                    <a:lumMod val="75000"/>
                  </a:schemeClr>
                </a:solidFill>
              </a:rPr>
              <a:t>: execution time for a process (or called wall time)</a:t>
            </a:r>
          </a:p>
          <a:p>
            <a:r>
              <a:rPr kumimoji="1" lang="en-US" altLang="zh-TW" i="1" dirty="0" err="1">
                <a:solidFill>
                  <a:schemeClr val="bg1">
                    <a:lumMod val="75000"/>
                  </a:schemeClr>
                </a:solidFill>
              </a:rPr>
              <a:t>NICE_Weight</a:t>
            </a:r>
            <a:r>
              <a:rPr kumimoji="1" lang="en-US" altLang="zh-TW" i="1" dirty="0">
                <a:solidFill>
                  <a:schemeClr val="bg1">
                    <a:lumMod val="75000"/>
                  </a:schemeClr>
                </a:solidFill>
              </a:rPr>
              <a:t>: Weight for the corresponding nice value (e.g., 0 </a:t>
            </a:r>
            <a:r>
              <a:rPr kumimoji="1" lang="en-US" altLang="zh-TW" i="1" dirty="0">
                <a:solidFill>
                  <a:schemeClr val="bg1">
                    <a:lumMod val="75000"/>
                  </a:schemeClr>
                </a:solidFill>
                <a:sym typeface="Wingdings" pitchFamily="2" charset="2"/>
              </a:rPr>
              <a:t> </a:t>
            </a:r>
            <a:r>
              <a:rPr kumimoji="1" lang="en-US" altLang="zh-TW" i="1" dirty="0">
                <a:solidFill>
                  <a:schemeClr val="bg1">
                    <a:lumMod val="75000"/>
                  </a:schemeClr>
                </a:solidFill>
              </a:rPr>
              <a:t>1024)</a:t>
            </a:r>
          </a:p>
          <a:p>
            <a:r>
              <a:rPr kumimoji="1" lang="en-US" altLang="zh-TW" i="1" dirty="0" err="1">
                <a:solidFill>
                  <a:schemeClr val="bg1">
                    <a:lumMod val="75000"/>
                  </a:schemeClr>
                </a:solidFill>
              </a:rPr>
              <a:t>NICE_k_Weight</a:t>
            </a:r>
            <a:r>
              <a:rPr kumimoji="1" lang="en-US" altLang="zh-TW" i="1" dirty="0">
                <a:solidFill>
                  <a:schemeClr val="bg1">
                    <a:lumMod val="75000"/>
                  </a:schemeClr>
                </a:solidFill>
              </a:rPr>
              <a:t>: Overall</a:t>
            </a:r>
            <a:r>
              <a:rPr kumimoji="1" lang="zh-TW" altLang="en-US" i="1" dirty="0">
                <a:solidFill>
                  <a:schemeClr val="bg1">
                    <a:lumMod val="75000"/>
                  </a:schemeClr>
                </a:solidFill>
              </a:rPr>
              <a:t> </a:t>
            </a:r>
            <a:r>
              <a:rPr kumimoji="1" lang="en-US" altLang="zh-TW" i="1" dirty="0">
                <a:solidFill>
                  <a:schemeClr val="bg1">
                    <a:lumMod val="75000"/>
                  </a:schemeClr>
                </a:solidFill>
              </a:rPr>
              <a:t>weights of the all k running processes</a:t>
            </a:r>
          </a:p>
        </p:txBody>
      </p:sp>
      <p:sp>
        <p:nvSpPr>
          <p:cNvPr id="64" name="文字方塊 63">
            <a:extLst>
              <a:ext uri="{FF2B5EF4-FFF2-40B4-BE49-F238E27FC236}">
                <a16:creationId xmlns:a16="http://schemas.microsoft.com/office/drawing/2014/main" id="{9DB1FE00-1C8C-9D82-D0CA-EDAF09A20FA4}"/>
              </a:ext>
            </a:extLst>
          </p:cNvPr>
          <p:cNvSpPr txBox="1"/>
          <p:nvPr/>
        </p:nvSpPr>
        <p:spPr>
          <a:xfrm>
            <a:off x="59494" y="4869719"/>
            <a:ext cx="7544654" cy="369332"/>
          </a:xfrm>
          <a:prstGeom prst="rect">
            <a:avLst/>
          </a:prstGeom>
          <a:noFill/>
        </p:spPr>
        <p:txBody>
          <a:bodyPr wrap="square">
            <a:spAutoFit/>
          </a:bodyPr>
          <a:lstStyle/>
          <a:p>
            <a:r>
              <a:rPr kumimoji="1" lang="en-US" altLang="zh-TW" dirty="0">
                <a:solidFill>
                  <a:schemeClr val="tx1">
                    <a:lumMod val="50000"/>
                    <a:lumOff val="50000"/>
                  </a:schemeClr>
                </a:solidFill>
              </a:rPr>
              <a:t>(Practical) </a:t>
            </a:r>
            <a:r>
              <a:rPr kumimoji="1" lang="en-US" altLang="zh-TW" dirty="0" err="1">
                <a:solidFill>
                  <a:schemeClr val="tx1">
                    <a:lumMod val="50000"/>
                    <a:lumOff val="50000"/>
                  </a:schemeClr>
                </a:solidFill>
              </a:rPr>
              <a:t>Vruntime</a:t>
            </a:r>
            <a:r>
              <a:rPr kumimoji="1" lang="en-US" altLang="zh-TW" dirty="0">
                <a:solidFill>
                  <a:schemeClr val="tx1">
                    <a:lumMod val="50000"/>
                    <a:lumOff val="50000"/>
                  </a:schemeClr>
                </a:solidFill>
              </a:rPr>
              <a:t> += (</a:t>
            </a:r>
            <a:r>
              <a:rPr kumimoji="1" lang="en-US" altLang="zh-TW" dirty="0" err="1">
                <a:solidFill>
                  <a:schemeClr val="tx1">
                    <a:lumMod val="50000"/>
                    <a:lumOff val="50000"/>
                  </a:schemeClr>
                </a:solidFill>
              </a:rPr>
              <a:t>delta_exec</a:t>
            </a:r>
            <a:r>
              <a:rPr kumimoji="1" lang="en-US" altLang="zh-TW" dirty="0">
                <a:solidFill>
                  <a:schemeClr val="tx1">
                    <a:lumMod val="50000"/>
                    <a:lumOff val="50000"/>
                  </a:schemeClr>
                </a:solidFill>
              </a:rPr>
              <a:t> * NICE_0_Weight * 2</a:t>
            </a:r>
            <a:r>
              <a:rPr kumimoji="1" lang="en-US" altLang="zh-TW" baseline="30000" dirty="0">
                <a:solidFill>
                  <a:schemeClr val="tx1">
                    <a:lumMod val="50000"/>
                    <a:lumOff val="50000"/>
                  </a:schemeClr>
                </a:solidFill>
              </a:rPr>
              <a:t>32</a:t>
            </a:r>
            <a:r>
              <a:rPr kumimoji="1" lang="en-US" altLang="zh-TW" dirty="0">
                <a:solidFill>
                  <a:schemeClr val="tx1">
                    <a:lumMod val="50000"/>
                    <a:lumOff val="50000"/>
                  </a:schemeClr>
                </a:solidFill>
              </a:rPr>
              <a:t>/</a:t>
            </a:r>
            <a:r>
              <a:rPr kumimoji="1" lang="en-US" altLang="zh-TW" dirty="0" err="1">
                <a:solidFill>
                  <a:schemeClr val="tx1">
                    <a:lumMod val="50000"/>
                    <a:lumOff val="50000"/>
                  </a:schemeClr>
                </a:solidFill>
              </a:rPr>
              <a:t>NICE_Weight</a:t>
            </a:r>
            <a:r>
              <a:rPr kumimoji="1" lang="en-US" altLang="zh-TW" dirty="0">
                <a:solidFill>
                  <a:schemeClr val="tx1">
                    <a:lumMod val="50000"/>
                    <a:lumOff val="50000"/>
                  </a:schemeClr>
                </a:solidFill>
              </a:rPr>
              <a:t>) &gt;&gt; 32</a:t>
            </a:r>
          </a:p>
        </p:txBody>
      </p:sp>
      <p:sp>
        <p:nvSpPr>
          <p:cNvPr id="10" name="文字方塊 9">
            <a:extLst>
              <a:ext uri="{FF2B5EF4-FFF2-40B4-BE49-F238E27FC236}">
                <a16:creationId xmlns:a16="http://schemas.microsoft.com/office/drawing/2014/main" id="{4A7675B9-08B3-41DF-F05F-546D31415EDC}"/>
              </a:ext>
            </a:extLst>
          </p:cNvPr>
          <p:cNvSpPr txBox="1"/>
          <p:nvPr/>
        </p:nvSpPr>
        <p:spPr>
          <a:xfrm>
            <a:off x="124455" y="4273013"/>
            <a:ext cx="7441729" cy="369332"/>
          </a:xfrm>
          <a:prstGeom prst="rect">
            <a:avLst/>
          </a:prstGeom>
          <a:noFill/>
        </p:spPr>
        <p:txBody>
          <a:bodyPr wrap="square">
            <a:spAutoFit/>
          </a:bodyPr>
          <a:lstStyle/>
          <a:p>
            <a:r>
              <a:rPr kumimoji="1" lang="en-US" altLang="zh-TW" dirty="0" err="1"/>
              <a:t>Allocated_CPU_Time</a:t>
            </a:r>
            <a:r>
              <a:rPr kumimoji="1" lang="en-US" altLang="zh-TW" dirty="0"/>
              <a:t> = __</a:t>
            </a:r>
            <a:r>
              <a:rPr kumimoji="1" lang="en-US" altLang="zh-TW" dirty="0" err="1"/>
              <a:t>sched_period</a:t>
            </a:r>
            <a:r>
              <a:rPr kumimoji="1" lang="en-US" altLang="zh-TW" dirty="0"/>
              <a:t>() * </a:t>
            </a:r>
            <a:r>
              <a:rPr kumimoji="1" lang="en-US" altLang="zh-TW" dirty="0" err="1"/>
              <a:t>NICE_Weight</a:t>
            </a:r>
            <a:r>
              <a:rPr kumimoji="1" lang="en-US" altLang="zh-TW" dirty="0"/>
              <a:t> /</a:t>
            </a:r>
            <a:r>
              <a:rPr kumimoji="1" lang="en-US" altLang="zh-TW" dirty="0" err="1"/>
              <a:t>NICE_k_Weight</a:t>
            </a:r>
            <a:endParaRPr kumimoji="1" lang="en-US" altLang="zh-TW" dirty="0"/>
          </a:p>
        </p:txBody>
      </p:sp>
      <p:sp>
        <p:nvSpPr>
          <p:cNvPr id="13" name="矩形 12">
            <a:extLst>
              <a:ext uri="{FF2B5EF4-FFF2-40B4-BE49-F238E27FC236}">
                <a16:creationId xmlns:a16="http://schemas.microsoft.com/office/drawing/2014/main" id="{0E16376A-E368-748E-1E62-79FEF2032B47}"/>
              </a:ext>
            </a:extLst>
          </p:cNvPr>
          <p:cNvSpPr/>
          <p:nvPr/>
        </p:nvSpPr>
        <p:spPr>
          <a:xfrm>
            <a:off x="8223529" y="1079207"/>
            <a:ext cx="3790671" cy="2845467"/>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b="1" dirty="0">
                <a:solidFill>
                  <a:schemeClr val="tx1"/>
                </a:solidFill>
              </a:rPr>
              <a:t>Example</a:t>
            </a:r>
            <a:endParaRPr kumimoji="1" lang="zh-TW" altLang="en-US" b="1" dirty="0">
              <a:solidFill>
                <a:schemeClr val="tx1"/>
              </a:solidFill>
            </a:endParaRPr>
          </a:p>
        </p:txBody>
      </p:sp>
      <p:sp>
        <p:nvSpPr>
          <p:cNvPr id="15" name="文字方塊 14">
            <a:extLst>
              <a:ext uri="{FF2B5EF4-FFF2-40B4-BE49-F238E27FC236}">
                <a16:creationId xmlns:a16="http://schemas.microsoft.com/office/drawing/2014/main" id="{71DE737A-C794-835E-5A4C-1E0E084F3C67}"/>
              </a:ext>
            </a:extLst>
          </p:cNvPr>
          <p:cNvSpPr txBox="1"/>
          <p:nvPr/>
        </p:nvSpPr>
        <p:spPr>
          <a:xfrm>
            <a:off x="8323387" y="1306654"/>
            <a:ext cx="3759875" cy="369332"/>
          </a:xfrm>
          <a:prstGeom prst="rect">
            <a:avLst/>
          </a:prstGeom>
          <a:noFill/>
        </p:spPr>
        <p:txBody>
          <a:bodyPr wrap="none" rtlCol="0">
            <a:spAutoFit/>
          </a:bodyPr>
          <a:lstStyle/>
          <a:p>
            <a:r>
              <a:rPr kumimoji="1" lang="en-US" altLang="zh-TW" dirty="0"/>
              <a:t>Two Process: P1 (Nice 0), P2 (Nice 19)</a:t>
            </a:r>
            <a:endParaRPr kumimoji="1" lang="zh-TW" altLang="en-US" dirty="0"/>
          </a:p>
        </p:txBody>
      </p:sp>
      <p:sp>
        <p:nvSpPr>
          <p:cNvPr id="16" name="文字方塊 15">
            <a:extLst>
              <a:ext uri="{FF2B5EF4-FFF2-40B4-BE49-F238E27FC236}">
                <a16:creationId xmlns:a16="http://schemas.microsoft.com/office/drawing/2014/main" id="{60786F47-E05E-C759-F3D6-0FA88A66B7EC}"/>
              </a:ext>
            </a:extLst>
          </p:cNvPr>
          <p:cNvSpPr txBox="1"/>
          <p:nvPr/>
        </p:nvSpPr>
        <p:spPr>
          <a:xfrm>
            <a:off x="8601167" y="1648411"/>
            <a:ext cx="3161122" cy="830997"/>
          </a:xfrm>
          <a:prstGeom prst="rect">
            <a:avLst/>
          </a:prstGeom>
          <a:noFill/>
          <a:ln w="19050">
            <a:solidFill>
              <a:schemeClr val="tx1"/>
            </a:solidFill>
            <a:prstDash val="sysDot"/>
          </a:ln>
        </p:spPr>
        <p:txBody>
          <a:bodyPr wrap="none" lIns="0" tIns="0" rIns="0" bIns="0" rtlCol="0">
            <a:spAutoFit/>
          </a:bodyPr>
          <a:lstStyle/>
          <a:p>
            <a:r>
              <a:rPr kumimoji="1" lang="en-US" altLang="zh-TW" dirty="0"/>
              <a:t>Overall CPU: </a:t>
            </a:r>
          </a:p>
          <a:p>
            <a:r>
              <a:rPr kumimoji="1" lang="en-US" altLang="zh-TW" dirty="0"/>
              <a:t>P1: 6ms*1024/(1024+15) = 5.9ms</a:t>
            </a:r>
          </a:p>
          <a:p>
            <a:r>
              <a:rPr kumimoji="1" lang="en-US" altLang="zh-TW" dirty="0"/>
              <a:t>P2: 6ms*15/(1024+15) = 0.1ms</a:t>
            </a:r>
          </a:p>
        </p:txBody>
      </p:sp>
      <p:sp>
        <p:nvSpPr>
          <p:cNvPr id="20" name="文字方塊 19">
            <a:extLst>
              <a:ext uri="{FF2B5EF4-FFF2-40B4-BE49-F238E27FC236}">
                <a16:creationId xmlns:a16="http://schemas.microsoft.com/office/drawing/2014/main" id="{8CB157A5-2B49-38C1-5754-FBF05CBE456D}"/>
              </a:ext>
            </a:extLst>
          </p:cNvPr>
          <p:cNvSpPr txBox="1"/>
          <p:nvPr/>
        </p:nvSpPr>
        <p:spPr>
          <a:xfrm>
            <a:off x="8212655" y="2473177"/>
            <a:ext cx="3887283" cy="923330"/>
          </a:xfrm>
          <a:prstGeom prst="rect">
            <a:avLst/>
          </a:prstGeom>
          <a:noFill/>
        </p:spPr>
        <p:txBody>
          <a:bodyPr wrap="none" rtlCol="0">
            <a:spAutoFit/>
          </a:bodyPr>
          <a:lstStyle/>
          <a:p>
            <a:r>
              <a:rPr kumimoji="1" lang="en-US" altLang="zh-TW" dirty="0"/>
              <a:t>- Initial </a:t>
            </a:r>
            <a:r>
              <a:rPr kumimoji="1" lang="en-US" altLang="zh-TW" dirty="0" err="1"/>
              <a:t>Vruntime</a:t>
            </a:r>
            <a:r>
              <a:rPr kumimoji="1" lang="en-US" altLang="zh-TW" dirty="0"/>
              <a:t> to 0</a:t>
            </a:r>
          </a:p>
          <a:p>
            <a:r>
              <a:rPr kumimoji="1" lang="en-US" altLang="zh-TW" dirty="0"/>
              <a:t>- P1 runs first, facing I/O after 1ms</a:t>
            </a:r>
          </a:p>
          <a:p>
            <a:r>
              <a:rPr kumimoji="1" lang="en-US" altLang="zh-TW" dirty="0"/>
              <a:t>- P2 takes over, after 0.05ms P1 finishes</a:t>
            </a:r>
          </a:p>
        </p:txBody>
      </p:sp>
      <p:sp>
        <p:nvSpPr>
          <p:cNvPr id="21" name="文字方塊 20">
            <a:extLst>
              <a:ext uri="{FF2B5EF4-FFF2-40B4-BE49-F238E27FC236}">
                <a16:creationId xmlns:a16="http://schemas.microsoft.com/office/drawing/2014/main" id="{1290EB74-90AF-AC6C-539A-D5574161BF50}"/>
              </a:ext>
            </a:extLst>
          </p:cNvPr>
          <p:cNvSpPr txBox="1"/>
          <p:nvPr/>
        </p:nvSpPr>
        <p:spPr>
          <a:xfrm>
            <a:off x="10296339" y="3886256"/>
            <a:ext cx="1737292" cy="276999"/>
          </a:xfrm>
          <a:prstGeom prst="rect">
            <a:avLst/>
          </a:prstGeom>
          <a:solidFill>
            <a:schemeClr val="bg1"/>
          </a:solidFill>
        </p:spPr>
        <p:txBody>
          <a:bodyPr wrap="none" lIns="90000" tIns="0" bIns="0" rtlCol="0">
            <a:spAutoFit/>
          </a:bodyPr>
          <a:lstStyle/>
          <a:p>
            <a:r>
              <a:rPr kumimoji="1" lang="en-US" altLang="zh-TW" i="1" dirty="0">
                <a:solidFill>
                  <a:srgbClr val="C00000"/>
                </a:solidFill>
              </a:rPr>
              <a:t>P1 preempts P2!</a:t>
            </a:r>
            <a:endParaRPr kumimoji="1" lang="zh-TW" altLang="en-US" i="1" dirty="0">
              <a:solidFill>
                <a:srgbClr val="C00000"/>
              </a:solidFill>
            </a:endParaRPr>
          </a:p>
        </p:txBody>
      </p:sp>
      <p:sp>
        <p:nvSpPr>
          <p:cNvPr id="24" name="文字方塊 23">
            <a:extLst>
              <a:ext uri="{FF2B5EF4-FFF2-40B4-BE49-F238E27FC236}">
                <a16:creationId xmlns:a16="http://schemas.microsoft.com/office/drawing/2014/main" id="{B0761E8D-E851-E172-1C79-A855D750667C}"/>
              </a:ext>
            </a:extLst>
          </p:cNvPr>
          <p:cNvSpPr txBox="1"/>
          <p:nvPr/>
        </p:nvSpPr>
        <p:spPr>
          <a:xfrm>
            <a:off x="8510625" y="3287667"/>
            <a:ext cx="3707404" cy="646331"/>
          </a:xfrm>
          <a:prstGeom prst="rect">
            <a:avLst/>
          </a:prstGeom>
          <a:noFill/>
        </p:spPr>
        <p:txBody>
          <a:bodyPr wrap="square">
            <a:spAutoFit/>
          </a:bodyPr>
          <a:lstStyle/>
          <a:p>
            <a:r>
              <a:rPr kumimoji="1" lang="en-US" altLang="zh-TW" dirty="0">
                <a:solidFill>
                  <a:srgbClr val="C00000"/>
                </a:solidFill>
              </a:rPr>
              <a:t>P1’s </a:t>
            </a:r>
            <a:r>
              <a:rPr kumimoji="1" lang="en-US" altLang="zh-TW" dirty="0" err="1">
                <a:solidFill>
                  <a:srgbClr val="C00000"/>
                </a:solidFill>
              </a:rPr>
              <a:t>vruntime</a:t>
            </a:r>
            <a:r>
              <a:rPr kumimoji="1" lang="en-US" altLang="zh-TW" dirty="0">
                <a:solidFill>
                  <a:srgbClr val="C00000"/>
                </a:solidFill>
              </a:rPr>
              <a:t> += 1*1024/1024 = 1</a:t>
            </a:r>
          </a:p>
          <a:p>
            <a:r>
              <a:rPr kumimoji="1" lang="en-US" altLang="zh-TW" dirty="0"/>
              <a:t>P2’s </a:t>
            </a:r>
            <a:r>
              <a:rPr kumimoji="1" lang="en-US" altLang="zh-TW" dirty="0" err="1"/>
              <a:t>vruntime</a:t>
            </a:r>
            <a:r>
              <a:rPr kumimoji="1" lang="en-US" altLang="zh-TW" dirty="0"/>
              <a:t> += 0.05*1024/15 = 3</a:t>
            </a:r>
          </a:p>
        </p:txBody>
      </p:sp>
    </p:spTree>
    <p:extLst>
      <p:ext uri="{BB962C8B-B14F-4D97-AF65-F5344CB8AC3E}">
        <p14:creationId xmlns:p14="http://schemas.microsoft.com/office/powerpoint/2010/main" val="2203810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0"/>
                                        </p:tgtEl>
                                        <p:attrNameLst>
                                          <p:attrName>style.visibility</p:attrName>
                                        </p:attrNameLst>
                                      </p:cBhvr>
                                      <p:to>
                                        <p:strVal val="visible"/>
                                      </p:to>
                                    </p:set>
                                    <p:animEffect transition="in" filter="fade">
                                      <p:cBhvr>
                                        <p:cTn id="10" dur="500"/>
                                        <p:tgtEl>
                                          <p:spTgt spid="6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3"/>
                                        </p:tgtEl>
                                        <p:attrNameLst>
                                          <p:attrName>style.visibility</p:attrName>
                                        </p:attrNameLst>
                                      </p:cBhvr>
                                      <p:to>
                                        <p:strVal val="visible"/>
                                      </p:to>
                                    </p:set>
                                    <p:animEffect transition="in" filter="fade">
                                      <p:cBhvr>
                                        <p:cTn id="20" dur="500"/>
                                        <p:tgtEl>
                                          <p:spTgt spid="6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4"/>
                                        </p:tgtEl>
                                        <p:attrNameLst>
                                          <p:attrName>style.visibility</p:attrName>
                                        </p:attrNameLst>
                                      </p:cBhvr>
                                      <p:to>
                                        <p:strVal val="visible"/>
                                      </p:to>
                                    </p:set>
                                    <p:animEffect transition="in" filter="fade">
                                      <p:cBhvr>
                                        <p:cTn id="25" dur="500"/>
                                        <p:tgtEl>
                                          <p:spTgt spid="64"/>
                                        </p:tgtEl>
                                      </p:cBhvr>
                                    </p:animEffect>
                                  </p:childTnLst>
                                </p:cTn>
                              </p:par>
                              <p:par>
                                <p:cTn id="26" presetID="9" presetClass="emph" presetSubtype="0" grpId="0" nodeType="withEffect">
                                  <p:stCondLst>
                                    <p:cond delay="0"/>
                                  </p:stCondLst>
                                  <p:childTnLst>
                                    <p:set>
                                      <p:cBhvr>
                                        <p:cTn id="27" dur="indefinite"/>
                                        <p:tgtEl>
                                          <p:spTgt spid="3">
                                            <p:txEl>
                                              <p:pRg st="0" end="0"/>
                                            </p:txEl>
                                          </p:spTgt>
                                        </p:tgtEl>
                                        <p:attrNameLst>
                                          <p:attrName>style.opacity</p:attrName>
                                        </p:attrNameLst>
                                      </p:cBhvr>
                                      <p:to>
                                        <p:strVal val="0.25"/>
                                      </p:to>
                                    </p:set>
                                    <p:animEffect filter="image" prLst="opacity: 0.25">
                                      <p:cBhvr rctx="IE">
                                        <p:cTn id="28" dur="indefinite"/>
                                        <p:tgtEl>
                                          <p:spTgt spid="3">
                                            <p:txEl>
                                              <p:pRg st="0" end="0"/>
                                            </p:txEl>
                                          </p:spTgt>
                                        </p:tgtEl>
                                      </p:cBhvr>
                                    </p:animEffect>
                                  </p:childTnLst>
                                </p:cTn>
                              </p:par>
                              <p:par>
                                <p:cTn id="29" presetID="9" presetClass="emph" presetSubtype="0" grpId="0" nodeType="withEffect">
                                  <p:stCondLst>
                                    <p:cond delay="0"/>
                                  </p:stCondLst>
                                  <p:childTnLst>
                                    <p:set>
                                      <p:cBhvr>
                                        <p:cTn id="30" dur="indefinite"/>
                                        <p:tgtEl>
                                          <p:spTgt spid="3">
                                            <p:txEl>
                                              <p:pRg st="1" end="1"/>
                                            </p:txEl>
                                          </p:spTgt>
                                        </p:tgtEl>
                                        <p:attrNameLst>
                                          <p:attrName>style.opacity</p:attrName>
                                        </p:attrNameLst>
                                      </p:cBhvr>
                                      <p:to>
                                        <p:strVal val="0.25"/>
                                      </p:to>
                                    </p:set>
                                    <p:animEffect filter="image" prLst="opacity: 0.25">
                                      <p:cBhvr rctx="IE">
                                        <p:cTn id="31" dur="indefinite"/>
                                        <p:tgtEl>
                                          <p:spTgt spid="3">
                                            <p:txEl>
                                              <p:pRg st="1" end="1"/>
                                            </p:txEl>
                                          </p:spTgt>
                                        </p:tgtEl>
                                      </p:cBhvr>
                                    </p:animEffect>
                                  </p:childTnLst>
                                </p:cTn>
                              </p:par>
                              <p:par>
                                <p:cTn id="32" presetID="9" presetClass="emph" presetSubtype="0" grpId="0" nodeType="withEffect">
                                  <p:stCondLst>
                                    <p:cond delay="0"/>
                                  </p:stCondLst>
                                  <p:childTnLst>
                                    <p:set>
                                      <p:cBhvr>
                                        <p:cTn id="33" dur="indefinite"/>
                                        <p:tgtEl>
                                          <p:spTgt spid="3">
                                            <p:txEl>
                                              <p:pRg st="2" end="2"/>
                                            </p:txEl>
                                          </p:spTgt>
                                        </p:tgtEl>
                                        <p:attrNameLst>
                                          <p:attrName>style.opacity</p:attrName>
                                        </p:attrNameLst>
                                      </p:cBhvr>
                                      <p:to>
                                        <p:strVal val="0.25"/>
                                      </p:to>
                                    </p:set>
                                    <p:animEffect filter="image" prLst="opacity: 0.25">
                                      <p:cBhvr rctx="IE">
                                        <p:cTn id="34" dur="indefinite"/>
                                        <p:tgtEl>
                                          <p:spTgt spid="3">
                                            <p:txEl>
                                              <p:pRg st="2" end="2"/>
                                            </p:txEl>
                                          </p:spTgt>
                                        </p:tgtEl>
                                      </p:cBhvr>
                                    </p:animEffect>
                                  </p:childTnLst>
                                </p:cTn>
                              </p:par>
                              <p:par>
                                <p:cTn id="35" presetID="9" presetClass="emph" presetSubtype="0" grpId="0" nodeType="withEffect">
                                  <p:stCondLst>
                                    <p:cond delay="0"/>
                                  </p:stCondLst>
                                  <p:childTnLst>
                                    <p:set>
                                      <p:cBhvr>
                                        <p:cTn id="36" dur="indefinite"/>
                                        <p:tgtEl>
                                          <p:spTgt spid="3">
                                            <p:txEl>
                                              <p:pRg st="3" end="3"/>
                                            </p:txEl>
                                          </p:spTgt>
                                        </p:tgtEl>
                                        <p:attrNameLst>
                                          <p:attrName>style.opacity</p:attrName>
                                        </p:attrNameLst>
                                      </p:cBhvr>
                                      <p:to>
                                        <p:strVal val="0.25"/>
                                      </p:to>
                                    </p:set>
                                    <p:animEffect filter="image" prLst="opacity: 0.25">
                                      <p:cBhvr rctx="IE">
                                        <p:cTn id="37" dur="indefinite"/>
                                        <p:tgtEl>
                                          <p:spTgt spid="3">
                                            <p:txEl>
                                              <p:pRg st="3" end="3"/>
                                            </p:txEl>
                                          </p:spTgt>
                                        </p:tgtEl>
                                      </p:cBhvr>
                                    </p:animEffect>
                                  </p:childTnLst>
                                </p:cTn>
                              </p:par>
                              <p:par>
                                <p:cTn id="38" presetID="9" presetClass="emph" presetSubtype="0" grpId="0" nodeType="withEffect">
                                  <p:stCondLst>
                                    <p:cond delay="0"/>
                                  </p:stCondLst>
                                  <p:childTnLst>
                                    <p:set>
                                      <p:cBhvr>
                                        <p:cTn id="39" dur="indefinite"/>
                                        <p:tgtEl>
                                          <p:spTgt spid="3">
                                            <p:txEl>
                                              <p:pRg st="4" end="4"/>
                                            </p:txEl>
                                          </p:spTgt>
                                        </p:tgtEl>
                                        <p:attrNameLst>
                                          <p:attrName>style.opacity</p:attrName>
                                        </p:attrNameLst>
                                      </p:cBhvr>
                                      <p:to>
                                        <p:strVal val="0.25"/>
                                      </p:to>
                                    </p:set>
                                    <p:animEffect filter="image" prLst="opacity: 0.25">
                                      <p:cBhvr rctx="IE">
                                        <p:cTn id="40" dur="indefinite"/>
                                        <p:tgtEl>
                                          <p:spTgt spid="3">
                                            <p:txEl>
                                              <p:pRg st="4" end="4"/>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par>
                          <p:cTn id="44" fill="hold">
                            <p:stCondLst>
                              <p:cond delay="500"/>
                            </p:stCondLst>
                            <p:childTnLst>
                              <p:par>
                                <p:cTn id="45" presetID="22" presetClass="entr" presetSubtype="1"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up)">
                                      <p:cBhvr>
                                        <p:cTn id="47" dur="500"/>
                                        <p:tgtEl>
                                          <p:spTgt spid="15"/>
                                        </p:tgtEl>
                                      </p:cBhvr>
                                    </p:animEffect>
                                  </p:childTnLst>
                                </p:cTn>
                              </p:par>
                            </p:childTnLst>
                          </p:cTn>
                        </p:par>
                        <p:par>
                          <p:cTn id="48" fill="hold">
                            <p:stCondLst>
                              <p:cond delay="1000"/>
                            </p:stCondLst>
                            <p:childTnLst>
                              <p:par>
                                <p:cTn id="49" presetID="22" presetClass="entr" presetSubtype="1" fill="hold" grpId="0" nodeType="after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up)">
                                      <p:cBhvr>
                                        <p:cTn id="51" dur="500"/>
                                        <p:tgtEl>
                                          <p:spTgt spid="1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wipe(up)">
                                      <p:cBhvr>
                                        <p:cTn id="56" dur="500"/>
                                        <p:tgtEl>
                                          <p:spTgt spid="2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wipe(up)">
                                      <p:cBhvr>
                                        <p:cTn id="61" dur="50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61"/>
                                        </p:tgtEl>
                                        <p:attrNameLst>
                                          <p:attrName>style.visibility</p:attrName>
                                        </p:attrNameLst>
                                      </p:cBhvr>
                                      <p:to>
                                        <p:strVal val="visible"/>
                                      </p:to>
                                    </p:set>
                                    <p:animEffect transition="in" filter="fade">
                                      <p:cBhvr>
                                        <p:cTn id="64" dur="500"/>
                                        <p:tgtEl>
                                          <p:spTgt spid="61"/>
                                        </p:tgtEl>
                                      </p:cBhvr>
                                    </p:animEffect>
                                  </p:childTnLst>
                                </p:cTn>
                              </p:par>
                            </p:childTnLst>
                          </p:cTn>
                        </p:par>
                        <p:par>
                          <p:cTn id="65" fill="hold">
                            <p:stCondLst>
                              <p:cond delay="500"/>
                            </p:stCondLst>
                            <p:childTnLst>
                              <p:par>
                                <p:cTn id="66" presetID="22" presetClass="entr" presetSubtype="8" fill="hold" grpId="0" nodeType="after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wipe(left)">
                                      <p:cBhvr>
                                        <p:cTn id="6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0" grpId="0"/>
      <p:bldP spid="60" grpId="0" animBg="1"/>
      <p:bldP spid="63" grpId="0"/>
      <p:bldP spid="64" grpId="0"/>
      <p:bldP spid="10" grpId="0"/>
      <p:bldP spid="13" grpId="0" animBg="1"/>
      <p:bldP spid="15" grpId="0"/>
      <p:bldP spid="16" grpId="0" animBg="1"/>
      <p:bldP spid="20" grpId="0"/>
      <p:bldP spid="21" grpId="0" animBg="1"/>
      <p:bldP spid="2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Linux Process Scheduler</a:t>
            </a:r>
            <a:r>
              <a:rPr kumimoji="1" lang="zh-TW" altLang="en-US" dirty="0"/>
              <a:t> </a:t>
            </a:r>
            <a:r>
              <a:rPr kumimoji="1" lang="en-US" altLang="zh-TW" dirty="0"/>
              <a:t>(Count.)</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r>
              <a:rPr kumimoji="1" lang="en-US" altLang="zh-TW" dirty="0">
                <a:solidFill>
                  <a:schemeClr val="tx1">
                    <a:lumMod val="50000"/>
                    <a:lumOff val="50000"/>
                  </a:schemeClr>
                </a:solidFill>
              </a:rPr>
              <a:t>O(N)</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Before</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Ke</a:t>
            </a:r>
            <a:r>
              <a:rPr lang="en-US" altLang="zh-TW" dirty="0">
                <a:solidFill>
                  <a:schemeClr val="tx1">
                    <a:lumMod val="50000"/>
                    <a:lumOff val="50000"/>
                  </a:schemeClr>
                </a:solidFill>
              </a:rPr>
              <a:t>rnel</a:t>
            </a:r>
            <a:r>
              <a:rPr lang="zh-TW" altLang="en-US" dirty="0">
                <a:solidFill>
                  <a:schemeClr val="tx1">
                    <a:lumMod val="50000"/>
                    <a:lumOff val="50000"/>
                  </a:schemeClr>
                </a:solidFill>
              </a:rPr>
              <a:t> </a:t>
            </a:r>
            <a:r>
              <a:rPr lang="en-US" altLang="zh-TW" dirty="0">
                <a:solidFill>
                  <a:schemeClr val="tx1">
                    <a:lumMod val="50000"/>
                    <a:lumOff val="50000"/>
                  </a:schemeClr>
                </a:solidFill>
              </a:rPr>
              <a:t>2.4</a:t>
            </a:r>
          </a:p>
          <a:p>
            <a:r>
              <a:rPr kumimoji="1" lang="en-US" altLang="zh-TW" dirty="0">
                <a:solidFill>
                  <a:schemeClr val="tx1">
                    <a:lumMod val="50000"/>
                    <a:lumOff val="50000"/>
                  </a:schemeClr>
                </a:solidFill>
              </a:rPr>
              <a:t>O(1)</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Kernel</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2.5</a:t>
            </a:r>
          </a:p>
          <a:p>
            <a:r>
              <a:rPr lang="en-US" altLang="zh-TW" dirty="0"/>
              <a:t>Completely</a:t>
            </a:r>
            <a:r>
              <a:rPr lang="zh-TW" altLang="en-US" dirty="0"/>
              <a:t> </a:t>
            </a:r>
            <a:r>
              <a:rPr lang="en-US" altLang="zh-TW" dirty="0"/>
              <a:t>Fair</a:t>
            </a:r>
            <a:r>
              <a:rPr lang="zh-TW" altLang="en-US" dirty="0"/>
              <a:t> </a:t>
            </a:r>
            <a:r>
              <a:rPr lang="en-US" altLang="zh-TW" dirty="0"/>
              <a:t>Scheduler</a:t>
            </a:r>
            <a:r>
              <a:rPr lang="zh-TW" altLang="en-US" dirty="0"/>
              <a:t> </a:t>
            </a:r>
            <a:r>
              <a:rPr lang="en-US" altLang="zh-TW" dirty="0"/>
              <a:t>(CFS)</a:t>
            </a:r>
            <a:r>
              <a:rPr lang="zh-TW" altLang="en-US" dirty="0"/>
              <a:t> </a:t>
            </a:r>
            <a:r>
              <a:rPr lang="en-US" altLang="zh-TW" dirty="0"/>
              <a:t>Kernel</a:t>
            </a:r>
            <a:r>
              <a:rPr lang="zh-TW" altLang="en-US" dirty="0"/>
              <a:t> </a:t>
            </a:r>
            <a:r>
              <a:rPr lang="en-US" altLang="zh-TW" dirty="0"/>
              <a:t>2.6:</a:t>
            </a:r>
          </a:p>
          <a:p>
            <a:pPr lvl="1"/>
            <a:r>
              <a:rPr kumimoji="1" lang="en-US" altLang="zh-TW" dirty="0"/>
              <a:t>Goal:  Be more</a:t>
            </a:r>
            <a:r>
              <a:rPr kumimoji="1" lang="zh-TW" altLang="en-US" dirty="0"/>
              <a:t> </a:t>
            </a:r>
            <a:r>
              <a:rPr kumimoji="1" lang="en-US" altLang="zh-TW" dirty="0"/>
              <a:t>interactive and “Fair”</a:t>
            </a:r>
            <a:r>
              <a:rPr kumimoji="1" lang="zh-TW" altLang="en-US" dirty="0"/>
              <a:t> </a:t>
            </a:r>
            <a:r>
              <a:rPr kumimoji="1" lang="en-US" altLang="zh-TW" dirty="0"/>
              <a:t>than</a:t>
            </a:r>
            <a:r>
              <a:rPr kumimoji="1" lang="zh-TW" altLang="en-US" dirty="0"/>
              <a:t> </a:t>
            </a:r>
            <a:r>
              <a:rPr kumimoji="1" lang="en-US" altLang="zh-TW" dirty="0"/>
              <a:t>O(1</a:t>
            </a:r>
            <a:r>
              <a:rPr lang="en-US" altLang="zh-TW" dirty="0"/>
              <a:t>).</a:t>
            </a:r>
          </a:p>
          <a:p>
            <a:pPr lvl="1"/>
            <a:r>
              <a:rPr kumimoji="1" lang="en-US" altLang="zh-TW" dirty="0"/>
              <a:t>How to decide the weight? </a:t>
            </a:r>
            <a:endParaRPr lang="en-US" altLang="zh-TW" dirty="0"/>
          </a:p>
          <a:p>
            <a:pPr marL="457200" lvl="1" indent="0">
              <a:buNone/>
            </a:pPr>
            <a:r>
              <a:rPr lang="en-US" altLang="zh-TW" dirty="0"/>
              <a:t>     Ans: Follow the 10% effect</a:t>
            </a:r>
            <a:endParaRPr kumimoji="1" lang="zh-TW" altLang="en-US"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19</a:t>
            </a:fld>
            <a:endParaRPr lang="zh-TW" altLang="en-US" dirty="0"/>
          </a:p>
        </p:txBody>
      </p:sp>
      <p:sp>
        <p:nvSpPr>
          <p:cNvPr id="5" name="文字方塊 4">
            <a:extLst>
              <a:ext uri="{FF2B5EF4-FFF2-40B4-BE49-F238E27FC236}">
                <a16:creationId xmlns:a16="http://schemas.microsoft.com/office/drawing/2014/main" id="{8193C216-3219-BF9D-C5A1-DAA0AD4FDE33}"/>
              </a:ext>
            </a:extLst>
          </p:cNvPr>
          <p:cNvSpPr txBox="1"/>
          <p:nvPr/>
        </p:nvSpPr>
        <p:spPr>
          <a:xfrm>
            <a:off x="-1" y="6033869"/>
            <a:ext cx="4726871" cy="830997"/>
          </a:xfrm>
          <a:prstGeom prst="rect">
            <a:avLst/>
          </a:prstGeom>
          <a:noFill/>
        </p:spPr>
        <p:txBody>
          <a:bodyPr wrap="non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rPr>
              <a:t>https://developer.ibm.com/tutorials/l-completely-fair-scheduler/</a:t>
            </a:r>
          </a:p>
          <a:p>
            <a:r>
              <a:rPr kumimoji="1" lang="en-US" altLang="zh-TW" sz="1200" dirty="0">
                <a:solidFill>
                  <a:schemeClr val="bg1">
                    <a:lumMod val="75000"/>
                  </a:schemeClr>
                </a:solidFill>
              </a:rPr>
              <a:t>Ref2: </a:t>
            </a:r>
            <a:r>
              <a:rPr kumimoji="1" lang="en-US" altLang="zh-TW" sz="1200" dirty="0">
                <a:solidFill>
                  <a:schemeClr val="bg1">
                    <a:lumMod val="75000"/>
                  </a:schemeClr>
                </a:solidFill>
                <a:hlinkClick r:id="rId3">
                  <a:extLst>
                    <a:ext uri="{A12FA001-AC4F-418D-AE19-62706E023703}">
                      <ahyp:hlinkClr xmlns:ahyp="http://schemas.microsoft.com/office/drawing/2018/hyperlinkcolor" val="tx"/>
                    </a:ext>
                  </a:extLst>
                </a:hlinkClick>
              </a:rPr>
              <a:t>https://codingnote.cc/zh-tw/p/78397/</a:t>
            </a:r>
            <a:endParaRPr kumimoji="1" lang="en-US" altLang="zh-TW" sz="1200" dirty="0">
              <a:solidFill>
                <a:schemeClr val="bg1">
                  <a:lumMod val="75000"/>
                </a:schemeClr>
              </a:solidFill>
            </a:endParaRPr>
          </a:p>
          <a:p>
            <a:r>
              <a:rPr kumimoji="1" lang="en-US" altLang="zh-TW" sz="1200" dirty="0">
                <a:solidFill>
                  <a:schemeClr val="bg1">
                    <a:lumMod val="75000"/>
                  </a:schemeClr>
                </a:solidFill>
              </a:rPr>
              <a:t>Ref3: </a:t>
            </a:r>
            <a:r>
              <a:rPr kumimoji="1" lang="en-US" altLang="zh-TW" sz="1200" dirty="0">
                <a:solidFill>
                  <a:schemeClr val="bg1">
                    <a:lumMod val="75000"/>
                  </a:schemeClr>
                </a:solidFill>
                <a:hlinkClick r:id="rId4">
                  <a:extLst>
                    <a:ext uri="{A12FA001-AC4F-418D-AE19-62706E023703}">
                      <ahyp:hlinkClr xmlns:ahyp="http://schemas.microsoft.com/office/drawing/2018/hyperlinkcolor" val="tx"/>
                    </a:ext>
                  </a:extLst>
                </a:hlinkClick>
              </a:rPr>
              <a:t>https://mechpen.github.io/posts/2020-04-27-cfs-group/index.html</a:t>
            </a:r>
            <a:br>
              <a:rPr kumimoji="1" lang="en-US" altLang="zh-TW" sz="1200" dirty="0">
                <a:solidFill>
                  <a:schemeClr val="bg1">
                    <a:lumMod val="75000"/>
                  </a:schemeClr>
                </a:solidFill>
              </a:rPr>
            </a:br>
            <a:r>
              <a:rPr kumimoji="1" lang="en-US" altLang="zh-TW" sz="1200" dirty="0">
                <a:solidFill>
                  <a:schemeClr val="bg1">
                    <a:lumMod val="75000"/>
                  </a:schemeClr>
                </a:solidFill>
              </a:rPr>
              <a:t>Ref4: https://</a:t>
            </a:r>
            <a:r>
              <a:rPr kumimoji="1" lang="en-US" altLang="zh-TW" sz="1200" dirty="0" err="1">
                <a:solidFill>
                  <a:schemeClr val="bg1">
                    <a:lumMod val="75000"/>
                  </a:schemeClr>
                </a:solidFill>
              </a:rPr>
              <a:t>hackmd.io</a:t>
            </a:r>
            <a:r>
              <a:rPr kumimoji="1" lang="en-US" altLang="zh-TW" sz="1200" dirty="0">
                <a:solidFill>
                  <a:schemeClr val="bg1">
                    <a:lumMod val="75000"/>
                  </a:schemeClr>
                </a:solidFill>
              </a:rPr>
              <a:t>/@</a:t>
            </a:r>
            <a:r>
              <a:rPr kumimoji="1" lang="en-US" altLang="zh-TW" sz="1200" dirty="0" err="1">
                <a:solidFill>
                  <a:schemeClr val="bg1">
                    <a:lumMod val="75000"/>
                  </a:schemeClr>
                </a:solidFill>
              </a:rPr>
              <a:t>RinHizakura</a:t>
            </a:r>
            <a:r>
              <a:rPr kumimoji="1" lang="en-US" altLang="zh-TW" sz="1200" dirty="0">
                <a:solidFill>
                  <a:schemeClr val="bg1">
                    <a:lumMod val="75000"/>
                  </a:schemeClr>
                </a:solidFill>
              </a:rPr>
              <a:t>/B18MhT00t</a:t>
            </a:r>
          </a:p>
        </p:txBody>
      </p:sp>
      <p:grpSp>
        <p:nvGrpSpPr>
          <p:cNvPr id="21" name="群組 20">
            <a:extLst>
              <a:ext uri="{FF2B5EF4-FFF2-40B4-BE49-F238E27FC236}">
                <a16:creationId xmlns:a16="http://schemas.microsoft.com/office/drawing/2014/main" id="{8E1E7AB7-0094-0416-BD55-BDDF2EBF1E44}"/>
              </a:ext>
            </a:extLst>
          </p:cNvPr>
          <p:cNvGrpSpPr/>
          <p:nvPr/>
        </p:nvGrpSpPr>
        <p:grpSpPr>
          <a:xfrm>
            <a:off x="353736" y="3797706"/>
            <a:ext cx="6034084" cy="2236163"/>
            <a:chOff x="353736" y="3797706"/>
            <a:chExt cx="6034084" cy="2236163"/>
          </a:xfrm>
        </p:grpSpPr>
        <p:sp>
          <p:nvSpPr>
            <p:cNvPr id="27" name="文字方塊 26">
              <a:extLst>
                <a:ext uri="{FF2B5EF4-FFF2-40B4-BE49-F238E27FC236}">
                  <a16:creationId xmlns:a16="http://schemas.microsoft.com/office/drawing/2014/main" id="{B4748AC9-4DBB-35FA-C59F-FFAFC6FCC301}"/>
                </a:ext>
              </a:extLst>
            </p:cNvPr>
            <p:cNvSpPr txBox="1"/>
            <p:nvPr/>
          </p:nvSpPr>
          <p:spPr>
            <a:xfrm>
              <a:off x="2363435" y="5726092"/>
              <a:ext cx="1406091"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Virtual Runtime</a:t>
              </a:r>
              <a:endParaRPr kumimoji="1" lang="zh-TW" altLang="en-US" sz="1400" dirty="0">
                <a:latin typeface="Arial" panose="020B0604020202020204" pitchFamily="34" charset="0"/>
                <a:cs typeface="Arial" panose="020B0604020202020204" pitchFamily="34" charset="0"/>
              </a:endParaRPr>
            </a:p>
          </p:txBody>
        </p:sp>
        <p:pic>
          <p:nvPicPr>
            <p:cNvPr id="13" name="圖片 12">
              <a:extLst>
                <a:ext uri="{FF2B5EF4-FFF2-40B4-BE49-F238E27FC236}">
                  <a16:creationId xmlns:a16="http://schemas.microsoft.com/office/drawing/2014/main" id="{0E2C8853-1407-8F25-AED2-E6B5981DF8C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3736" y="3797706"/>
              <a:ext cx="6034084" cy="1903555"/>
            </a:xfrm>
            <a:prstGeom prst="rect">
              <a:avLst/>
            </a:prstGeom>
          </p:spPr>
        </p:pic>
      </p:grpSp>
      <p:sp>
        <p:nvSpPr>
          <p:cNvPr id="20" name="文字方塊 19">
            <a:extLst>
              <a:ext uri="{FF2B5EF4-FFF2-40B4-BE49-F238E27FC236}">
                <a16:creationId xmlns:a16="http://schemas.microsoft.com/office/drawing/2014/main" id="{A65548B8-3A6B-00DD-8C27-2CE484F02B72}"/>
              </a:ext>
            </a:extLst>
          </p:cNvPr>
          <p:cNvSpPr txBox="1"/>
          <p:nvPr/>
        </p:nvSpPr>
        <p:spPr>
          <a:xfrm>
            <a:off x="6846086" y="2216509"/>
            <a:ext cx="5247300" cy="276999"/>
          </a:xfrm>
          <a:prstGeom prst="rect">
            <a:avLst/>
          </a:prstGeom>
          <a:noFill/>
          <a:ln w="19050">
            <a:solidFill>
              <a:schemeClr val="tx1"/>
            </a:solidFill>
          </a:ln>
        </p:spPr>
        <p:txBody>
          <a:bodyPr wrap="square" lIns="72000" tIns="0" rIns="0" bIns="0" rtlCol="0">
            <a:spAutoFit/>
          </a:bodyPr>
          <a:lstStyle/>
          <a:p>
            <a:r>
              <a:rPr kumimoji="1" lang="en-US" altLang="zh-TW" dirty="0" err="1"/>
              <a:t>Vruntime</a:t>
            </a:r>
            <a:r>
              <a:rPr kumimoji="1" lang="en-US" altLang="zh-TW" dirty="0"/>
              <a:t> = </a:t>
            </a:r>
            <a:r>
              <a:rPr kumimoji="1" lang="en-US" altLang="zh-TW" dirty="0" err="1"/>
              <a:t>delta_exec</a:t>
            </a:r>
            <a:r>
              <a:rPr kumimoji="1" lang="en-US" altLang="zh-TW" dirty="0"/>
              <a:t> * </a:t>
            </a:r>
            <a:r>
              <a:rPr kumimoji="1" lang="en-US" altLang="zh-TW" b="1" dirty="0" err="1">
                <a:solidFill>
                  <a:srgbClr val="C00000"/>
                </a:solidFill>
              </a:rPr>
              <a:t>NICE_Weight</a:t>
            </a:r>
            <a:r>
              <a:rPr kumimoji="1" lang="en-US" altLang="zh-TW" b="1" dirty="0">
                <a:solidFill>
                  <a:srgbClr val="C00000"/>
                </a:solidFill>
              </a:rPr>
              <a:t>/</a:t>
            </a:r>
            <a:r>
              <a:rPr kumimoji="1" lang="en-US" altLang="zh-TW" b="1" dirty="0" err="1">
                <a:solidFill>
                  <a:srgbClr val="C00000"/>
                </a:solidFill>
              </a:rPr>
              <a:t>NICE_k_Weight</a:t>
            </a:r>
            <a:endParaRPr kumimoji="1" lang="en-US" altLang="zh-TW" b="1" i="1" dirty="0">
              <a:solidFill>
                <a:srgbClr val="C00000"/>
              </a:solidFill>
            </a:endParaRPr>
          </a:p>
        </p:txBody>
      </p:sp>
      <p:grpSp>
        <p:nvGrpSpPr>
          <p:cNvPr id="32" name="群組 31">
            <a:extLst>
              <a:ext uri="{FF2B5EF4-FFF2-40B4-BE49-F238E27FC236}">
                <a16:creationId xmlns:a16="http://schemas.microsoft.com/office/drawing/2014/main" id="{33AB6685-5639-EBA6-F740-9B1F4C87E91C}"/>
              </a:ext>
            </a:extLst>
          </p:cNvPr>
          <p:cNvGrpSpPr/>
          <p:nvPr/>
        </p:nvGrpSpPr>
        <p:grpSpPr>
          <a:xfrm>
            <a:off x="6694395" y="2998340"/>
            <a:ext cx="4992388" cy="3758804"/>
            <a:chOff x="6694395" y="2998340"/>
            <a:chExt cx="4992388" cy="3758804"/>
          </a:xfrm>
        </p:grpSpPr>
        <p:pic>
          <p:nvPicPr>
            <p:cNvPr id="16" name="圖片 15">
              <a:extLst>
                <a:ext uri="{FF2B5EF4-FFF2-40B4-BE49-F238E27FC236}">
                  <a16:creationId xmlns:a16="http://schemas.microsoft.com/office/drawing/2014/main" id="{475B96F7-9E49-50B1-8BE4-3B4162FA7F2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94395" y="2998340"/>
              <a:ext cx="4992388" cy="3502285"/>
            </a:xfrm>
            <a:prstGeom prst="rect">
              <a:avLst/>
            </a:prstGeom>
          </p:spPr>
        </p:pic>
        <p:sp>
          <p:nvSpPr>
            <p:cNvPr id="23" name="文字方塊 22">
              <a:extLst>
                <a:ext uri="{FF2B5EF4-FFF2-40B4-BE49-F238E27FC236}">
                  <a16:creationId xmlns:a16="http://schemas.microsoft.com/office/drawing/2014/main" id="{CE2220D2-E920-D27A-8CF4-8CCBB25265BC}"/>
                </a:ext>
              </a:extLst>
            </p:cNvPr>
            <p:cNvSpPr txBox="1"/>
            <p:nvPr/>
          </p:nvSpPr>
          <p:spPr>
            <a:xfrm>
              <a:off x="8487543" y="6449367"/>
              <a:ext cx="1478290"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Linux Kernel 4.4</a:t>
              </a:r>
              <a:endParaRPr kumimoji="1" lang="zh-TW" altLang="en-US" sz="1400" dirty="0">
                <a:latin typeface="Arial" panose="020B0604020202020204" pitchFamily="34" charset="0"/>
                <a:cs typeface="Arial" panose="020B0604020202020204" pitchFamily="34" charset="0"/>
              </a:endParaRPr>
            </a:p>
          </p:txBody>
        </p:sp>
      </p:grpSp>
      <p:grpSp>
        <p:nvGrpSpPr>
          <p:cNvPr id="31" name="群組 30">
            <a:extLst>
              <a:ext uri="{FF2B5EF4-FFF2-40B4-BE49-F238E27FC236}">
                <a16:creationId xmlns:a16="http://schemas.microsoft.com/office/drawing/2014/main" id="{94097E09-812A-FF88-87A3-B123F627DA2C}"/>
              </a:ext>
            </a:extLst>
          </p:cNvPr>
          <p:cNvGrpSpPr/>
          <p:nvPr/>
        </p:nvGrpSpPr>
        <p:grpSpPr>
          <a:xfrm>
            <a:off x="9965833" y="6149788"/>
            <a:ext cx="2097049" cy="531895"/>
            <a:chOff x="9965833" y="6149788"/>
            <a:chExt cx="2097049" cy="531895"/>
          </a:xfrm>
        </p:grpSpPr>
        <p:sp>
          <p:nvSpPr>
            <p:cNvPr id="24" name="橢圓 23">
              <a:extLst>
                <a:ext uri="{FF2B5EF4-FFF2-40B4-BE49-F238E27FC236}">
                  <a16:creationId xmlns:a16="http://schemas.microsoft.com/office/drawing/2014/main" id="{CF5EC153-C1BF-A2E1-4360-115B08DFA257}"/>
                </a:ext>
              </a:extLst>
            </p:cNvPr>
            <p:cNvSpPr/>
            <p:nvPr/>
          </p:nvSpPr>
          <p:spPr>
            <a:xfrm>
              <a:off x="10157012" y="6149788"/>
              <a:ext cx="1201270" cy="224118"/>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 name="文字方塊 24">
              <a:extLst>
                <a:ext uri="{FF2B5EF4-FFF2-40B4-BE49-F238E27FC236}">
                  <a16:creationId xmlns:a16="http://schemas.microsoft.com/office/drawing/2014/main" id="{9741DB6C-B958-B7F0-07FB-103D3E6A46CF}"/>
                </a:ext>
              </a:extLst>
            </p:cNvPr>
            <p:cNvSpPr txBox="1"/>
            <p:nvPr/>
          </p:nvSpPr>
          <p:spPr>
            <a:xfrm>
              <a:off x="9965833" y="6373906"/>
              <a:ext cx="2097049" cy="307777"/>
            </a:xfrm>
            <a:prstGeom prst="rect">
              <a:avLst/>
            </a:prstGeom>
            <a:noFill/>
          </p:spPr>
          <p:txBody>
            <a:bodyPr wrap="none" rtlCol="0">
              <a:spAutoFit/>
            </a:bodyPr>
            <a:lstStyle/>
            <a:p>
              <a:r>
                <a:rPr kumimoji="1" lang="en-US" altLang="zh-TW" sz="1400" dirty="0">
                  <a:solidFill>
                    <a:srgbClr val="0070C0"/>
                  </a:solidFill>
                  <a:latin typeface="Arial" panose="020B0604020202020204" pitchFamily="34" charset="0"/>
                  <a:cs typeface="Arial" panose="020B0604020202020204" pitchFamily="34" charset="0"/>
                </a:rPr>
                <a:t>(18-15)/(18+15) = ~10%</a:t>
              </a:r>
              <a:endParaRPr kumimoji="1" lang="zh-TW" altLang="en-US" sz="1400" dirty="0">
                <a:solidFill>
                  <a:srgbClr val="0070C0"/>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639467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500"/>
                                        <p:tgtEl>
                                          <p:spTgt spid="3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Realtime Scheduling Policies</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pPr algn="l"/>
            <a:r>
              <a:rPr kumimoji="1" lang="en-US" altLang="zh-TW" dirty="0"/>
              <a:t>Soft</a:t>
            </a:r>
            <a:r>
              <a:rPr kumimoji="1" lang="zh-TW" altLang="en-US" dirty="0"/>
              <a:t> </a:t>
            </a:r>
            <a:r>
              <a:rPr kumimoji="1" lang="en-US" altLang="zh-TW" dirty="0"/>
              <a:t>Realtime</a:t>
            </a:r>
            <a:r>
              <a:rPr lang="en-US" altLang="zh-TW" dirty="0"/>
              <a:t>:</a:t>
            </a:r>
            <a:r>
              <a:rPr lang="zh-TW" altLang="en-US" dirty="0"/>
              <a:t> </a:t>
            </a:r>
            <a:r>
              <a:rPr lang="en-US" altLang="zh-TW" dirty="0"/>
              <a:t>kernel </a:t>
            </a:r>
            <a:r>
              <a:rPr lang="en-US" altLang="zh-TW" dirty="0">
                <a:solidFill>
                  <a:srgbClr val="C00000"/>
                </a:solidFill>
              </a:rPr>
              <a:t>tries to schedule </a:t>
            </a:r>
            <a:r>
              <a:rPr lang="en-US" altLang="zh-TW" dirty="0"/>
              <a:t>applications </a:t>
            </a:r>
            <a:r>
              <a:rPr lang="en-US" altLang="zh-TW" dirty="0">
                <a:solidFill>
                  <a:srgbClr val="C00000"/>
                </a:solidFill>
              </a:rPr>
              <a:t>within timing deadlines</a:t>
            </a:r>
            <a:r>
              <a:rPr lang="en-US" altLang="zh-TW" dirty="0"/>
              <a:t>.</a:t>
            </a:r>
            <a:r>
              <a:rPr lang="zh-TW" altLang="en-US" dirty="0"/>
              <a:t> </a:t>
            </a:r>
            <a:r>
              <a:rPr lang="en-US" altLang="zh-TW" dirty="0"/>
              <a:t>(Linux</a:t>
            </a:r>
            <a:r>
              <a:rPr lang="zh-TW" altLang="en-US" dirty="0"/>
              <a:t> </a:t>
            </a:r>
            <a:r>
              <a:rPr lang="en-US" altLang="zh-TW" dirty="0"/>
              <a:t>only</a:t>
            </a:r>
            <a:r>
              <a:rPr lang="zh-TW" altLang="en-US" dirty="0"/>
              <a:t> </a:t>
            </a:r>
            <a:r>
              <a:rPr lang="en-US" altLang="zh-TW" dirty="0"/>
              <a:t>provides</a:t>
            </a:r>
            <a:r>
              <a:rPr lang="zh-TW" altLang="en-US" dirty="0"/>
              <a:t> </a:t>
            </a:r>
            <a:r>
              <a:rPr lang="en-US" altLang="zh-TW" dirty="0"/>
              <a:t>soft</a:t>
            </a:r>
            <a:r>
              <a:rPr lang="zh-TW" altLang="en-US" dirty="0"/>
              <a:t> </a:t>
            </a:r>
            <a:r>
              <a:rPr lang="en-US" altLang="zh-TW" dirty="0" err="1"/>
              <a:t>realtime</a:t>
            </a:r>
            <a:r>
              <a:rPr lang="en-US" altLang="zh-TW" dirty="0"/>
              <a:t>)</a:t>
            </a:r>
            <a:endParaRPr kumimoji="1" lang="en-US" altLang="zh-TW" dirty="0"/>
          </a:p>
          <a:p>
            <a:pPr algn="l"/>
            <a:r>
              <a:rPr lang="en-US" altLang="zh-TW" dirty="0"/>
              <a:t>Hard</a:t>
            </a:r>
            <a:r>
              <a:rPr lang="zh-TW" altLang="en-US" dirty="0"/>
              <a:t> </a:t>
            </a:r>
            <a:r>
              <a:rPr lang="en-US" altLang="zh-TW" dirty="0"/>
              <a:t>Realtime:</a:t>
            </a:r>
            <a:r>
              <a:rPr lang="zh-TW" altLang="en-US" dirty="0"/>
              <a:t> </a:t>
            </a:r>
            <a:r>
              <a:rPr lang="en-US" altLang="zh-TW" dirty="0"/>
              <a:t>systems are </a:t>
            </a:r>
            <a:r>
              <a:rPr lang="en-US" altLang="zh-TW" dirty="0">
                <a:solidFill>
                  <a:srgbClr val="C00000"/>
                </a:solidFill>
              </a:rPr>
              <a:t>guaranteed to meet </a:t>
            </a:r>
            <a:r>
              <a:rPr lang="en-US" altLang="zh-TW" dirty="0"/>
              <a:t>any scheduling requirements within certain limits.</a:t>
            </a:r>
          </a:p>
          <a:p>
            <a:pPr algn="l"/>
            <a:r>
              <a:rPr kumimoji="1" lang="en-US" altLang="zh-TW" dirty="0"/>
              <a:t>Linux</a:t>
            </a:r>
            <a:r>
              <a:rPr kumimoji="1" lang="zh-TW" altLang="en-US" dirty="0"/>
              <a:t> </a:t>
            </a:r>
            <a:r>
              <a:rPr kumimoji="1" lang="en-US" altLang="zh-TW" dirty="0"/>
              <a:t>Realtime</a:t>
            </a:r>
            <a:r>
              <a:rPr kumimoji="1" lang="zh-TW" altLang="en-US" dirty="0"/>
              <a:t> </a:t>
            </a:r>
            <a:r>
              <a:rPr kumimoji="1" lang="en-US" altLang="zh-TW" dirty="0"/>
              <a:t>Scheduling Policies:</a:t>
            </a:r>
          </a:p>
          <a:p>
            <a:pPr lvl="1" algn="l"/>
            <a:r>
              <a:rPr lang="en-US" altLang="zh-TW" dirty="0"/>
              <a:t>Priority</a:t>
            </a:r>
            <a:r>
              <a:rPr lang="zh-TW" altLang="en-US" dirty="0"/>
              <a:t> </a:t>
            </a:r>
            <a:r>
              <a:rPr lang="en-US" altLang="zh-TW" dirty="0"/>
              <a:t>Range:</a:t>
            </a:r>
            <a:r>
              <a:rPr lang="zh-TW" altLang="en-US" dirty="0"/>
              <a:t> </a:t>
            </a:r>
            <a:r>
              <a:rPr lang="en-US" altLang="zh-TW" dirty="0"/>
              <a:t>0~99 (Realtime Processes),</a:t>
            </a:r>
            <a:r>
              <a:rPr lang="zh-TW" altLang="en-US" dirty="0"/>
              <a:t> </a:t>
            </a:r>
            <a:r>
              <a:rPr lang="en-US" altLang="zh-TW" dirty="0"/>
              <a:t>100~139 (Normal Processes)</a:t>
            </a:r>
            <a:endParaRPr kumimoji="1" lang="en-US" altLang="zh-TW" dirty="0"/>
          </a:p>
          <a:p>
            <a:pPr lvl="1" algn="l"/>
            <a:r>
              <a:rPr lang="en-US" altLang="zh-TW" dirty="0"/>
              <a:t>FIFO</a:t>
            </a:r>
            <a:r>
              <a:rPr lang="zh-TW" altLang="en-US" dirty="0"/>
              <a:t> </a:t>
            </a:r>
            <a:r>
              <a:rPr lang="en-US" altLang="zh-TW" dirty="0"/>
              <a:t>(SCHED_FIFO): tasks</a:t>
            </a:r>
            <a:r>
              <a:rPr lang="zh-TW" altLang="en-US" dirty="0"/>
              <a:t> </a:t>
            </a:r>
            <a:r>
              <a:rPr lang="en-US" altLang="zh-TW" dirty="0"/>
              <a:t>continue</a:t>
            </a:r>
            <a:r>
              <a:rPr lang="zh-TW" altLang="en-US" dirty="0"/>
              <a:t> </a:t>
            </a:r>
            <a:r>
              <a:rPr lang="en-US" altLang="zh-TW" dirty="0"/>
              <a:t>to</a:t>
            </a:r>
            <a:r>
              <a:rPr lang="zh-TW" altLang="en-US" dirty="0"/>
              <a:t> </a:t>
            </a:r>
            <a:r>
              <a:rPr lang="en-US" altLang="zh-TW" dirty="0"/>
              <a:t>run</a:t>
            </a:r>
            <a:r>
              <a:rPr lang="zh-TW" altLang="en-US" dirty="0"/>
              <a:t> </a:t>
            </a:r>
            <a:r>
              <a:rPr lang="en-US" altLang="zh-TW" dirty="0"/>
              <a:t>until</a:t>
            </a:r>
            <a:r>
              <a:rPr lang="zh-TW" altLang="en-US" dirty="0"/>
              <a:t> </a:t>
            </a:r>
            <a:r>
              <a:rPr lang="en-US" altLang="zh-TW" dirty="0"/>
              <a:t>it</a:t>
            </a:r>
            <a:r>
              <a:rPr lang="zh-TW" altLang="en-US" dirty="0"/>
              <a:t> </a:t>
            </a:r>
            <a:r>
              <a:rPr lang="en-US" altLang="zh-TW" dirty="0"/>
              <a:t>blocks</a:t>
            </a:r>
            <a:r>
              <a:rPr lang="zh-TW" altLang="en-US" dirty="0"/>
              <a:t> </a:t>
            </a:r>
            <a:r>
              <a:rPr lang="en-US" altLang="zh-TW" dirty="0"/>
              <a:t>or</a:t>
            </a:r>
            <a:r>
              <a:rPr lang="zh-TW" altLang="en-US" dirty="0"/>
              <a:t> </a:t>
            </a:r>
            <a:r>
              <a:rPr lang="en-US" altLang="zh-TW" dirty="0"/>
              <a:t>explicitly</a:t>
            </a:r>
            <a:r>
              <a:rPr lang="zh-TW" altLang="en-US" dirty="0"/>
              <a:t> </a:t>
            </a:r>
            <a:r>
              <a:rPr lang="en-US" altLang="zh-TW" dirty="0"/>
              <a:t>yields</a:t>
            </a:r>
            <a:r>
              <a:rPr lang="zh-TW" altLang="en-US" dirty="0"/>
              <a:t> </a:t>
            </a:r>
            <a:r>
              <a:rPr lang="en-US" altLang="zh-TW" dirty="0"/>
              <a:t>the</a:t>
            </a:r>
            <a:r>
              <a:rPr lang="zh-TW" altLang="en-US" dirty="0"/>
              <a:t> </a:t>
            </a:r>
            <a:r>
              <a:rPr lang="en-US" altLang="zh-TW" dirty="0"/>
              <a:t>processor.</a:t>
            </a:r>
            <a:r>
              <a:rPr lang="zh-TW" altLang="en-US" dirty="0"/>
              <a:t> </a:t>
            </a:r>
            <a:r>
              <a:rPr lang="en-US" altLang="zh-TW" dirty="0">
                <a:solidFill>
                  <a:srgbClr val="C00000"/>
                </a:solidFill>
              </a:rPr>
              <a:t>FIFO</a:t>
            </a:r>
            <a:r>
              <a:rPr lang="zh-TW" altLang="en-US" dirty="0">
                <a:solidFill>
                  <a:srgbClr val="C00000"/>
                </a:solidFill>
              </a:rPr>
              <a:t> </a:t>
            </a:r>
            <a:r>
              <a:rPr lang="en-US" altLang="zh-TW" dirty="0">
                <a:solidFill>
                  <a:srgbClr val="C00000"/>
                </a:solidFill>
              </a:rPr>
              <a:t>tasks</a:t>
            </a:r>
            <a:r>
              <a:rPr lang="zh-TW" altLang="en-US" dirty="0">
                <a:solidFill>
                  <a:srgbClr val="C00000"/>
                </a:solidFill>
              </a:rPr>
              <a:t> </a:t>
            </a:r>
            <a:r>
              <a:rPr lang="en-US" altLang="zh-TW" dirty="0">
                <a:solidFill>
                  <a:srgbClr val="C00000"/>
                </a:solidFill>
              </a:rPr>
              <a:t>have</a:t>
            </a:r>
            <a:r>
              <a:rPr lang="zh-TW" altLang="en-US" dirty="0">
                <a:solidFill>
                  <a:srgbClr val="C00000"/>
                </a:solidFill>
              </a:rPr>
              <a:t> </a:t>
            </a:r>
            <a:r>
              <a:rPr lang="en-US" altLang="zh-TW" dirty="0">
                <a:solidFill>
                  <a:srgbClr val="C00000"/>
                </a:solidFill>
              </a:rPr>
              <a:t>no</a:t>
            </a:r>
            <a:r>
              <a:rPr lang="zh-TW" altLang="en-US" dirty="0">
                <a:solidFill>
                  <a:srgbClr val="C00000"/>
                </a:solidFill>
              </a:rPr>
              <a:t> </a:t>
            </a:r>
            <a:r>
              <a:rPr lang="en-US" altLang="zh-TW" dirty="0" err="1">
                <a:solidFill>
                  <a:srgbClr val="C00000"/>
                </a:solidFill>
              </a:rPr>
              <a:t>timeslice</a:t>
            </a:r>
            <a:r>
              <a:rPr lang="zh-TW" altLang="en-US" dirty="0">
                <a:solidFill>
                  <a:srgbClr val="C00000"/>
                </a:solidFill>
              </a:rPr>
              <a:t> </a:t>
            </a:r>
            <a:r>
              <a:rPr lang="en-US" altLang="zh-TW" dirty="0"/>
              <a:t>and</a:t>
            </a:r>
            <a:r>
              <a:rPr lang="zh-TW" altLang="en-US" dirty="0"/>
              <a:t> </a:t>
            </a:r>
            <a:r>
              <a:rPr lang="en-US" altLang="zh-TW" dirty="0"/>
              <a:t>can</a:t>
            </a:r>
            <a:r>
              <a:rPr lang="zh-TW" altLang="en-US" dirty="0"/>
              <a:t> </a:t>
            </a:r>
            <a:r>
              <a:rPr lang="en-US" altLang="zh-TW" dirty="0"/>
              <a:t>run</a:t>
            </a:r>
            <a:r>
              <a:rPr lang="zh-TW" altLang="en-US" dirty="0"/>
              <a:t> </a:t>
            </a:r>
            <a:r>
              <a:rPr lang="en-US" altLang="zh-TW" dirty="0"/>
              <a:t>indefinitely.</a:t>
            </a:r>
          </a:p>
          <a:p>
            <a:pPr lvl="2" algn="l"/>
            <a:r>
              <a:rPr lang="en-US" altLang="zh-TW" dirty="0"/>
              <a:t>Only</a:t>
            </a:r>
            <a:r>
              <a:rPr lang="zh-TW" altLang="en-US" dirty="0"/>
              <a:t> </a:t>
            </a:r>
            <a:r>
              <a:rPr lang="en-US" altLang="zh-TW" dirty="0"/>
              <a:t>a</a:t>
            </a:r>
            <a:r>
              <a:rPr lang="zh-TW" altLang="en-US" dirty="0"/>
              <a:t> </a:t>
            </a:r>
            <a:r>
              <a:rPr lang="en-US" altLang="zh-TW" dirty="0"/>
              <a:t>high</a:t>
            </a:r>
            <a:r>
              <a:rPr lang="zh-TW" altLang="en-US" dirty="0"/>
              <a:t> </a:t>
            </a:r>
            <a:r>
              <a:rPr lang="en-US" altLang="zh-TW" dirty="0"/>
              <a:t>priority</a:t>
            </a:r>
            <a:r>
              <a:rPr lang="zh-TW" altLang="en-US" dirty="0"/>
              <a:t> </a:t>
            </a:r>
            <a:r>
              <a:rPr lang="en-US" altLang="zh-TW" dirty="0"/>
              <a:t>FIFO</a:t>
            </a:r>
            <a:r>
              <a:rPr lang="zh-TW" altLang="en-US" dirty="0"/>
              <a:t> </a:t>
            </a:r>
            <a:r>
              <a:rPr lang="en-US" altLang="zh-TW" dirty="0"/>
              <a:t>or</a:t>
            </a:r>
            <a:r>
              <a:rPr lang="zh-TW" altLang="en-US" dirty="0"/>
              <a:t> </a:t>
            </a:r>
            <a:r>
              <a:rPr lang="en-US" altLang="zh-TW" dirty="0"/>
              <a:t>RR</a:t>
            </a:r>
            <a:r>
              <a:rPr lang="zh-TW" altLang="en-US" dirty="0"/>
              <a:t> </a:t>
            </a:r>
            <a:r>
              <a:rPr lang="en-US" altLang="zh-TW" dirty="0"/>
              <a:t>Tasks</a:t>
            </a:r>
            <a:r>
              <a:rPr lang="zh-TW" altLang="en-US" dirty="0"/>
              <a:t> </a:t>
            </a:r>
            <a:r>
              <a:rPr lang="en-US" altLang="zh-TW" dirty="0"/>
              <a:t>can</a:t>
            </a:r>
            <a:r>
              <a:rPr lang="zh-TW" altLang="en-US" dirty="0"/>
              <a:t> </a:t>
            </a:r>
            <a:r>
              <a:rPr lang="en-US" altLang="zh-TW" dirty="0"/>
              <a:t>preempt.</a:t>
            </a:r>
          </a:p>
          <a:p>
            <a:pPr lvl="1" algn="l"/>
            <a:r>
              <a:rPr kumimoji="1" lang="en-US" altLang="zh-TW" dirty="0"/>
              <a:t>Round</a:t>
            </a:r>
            <a:r>
              <a:rPr kumimoji="1" lang="zh-TW" altLang="en-US" dirty="0"/>
              <a:t> </a:t>
            </a:r>
            <a:r>
              <a:rPr kumimoji="1" lang="en-US" altLang="zh-TW" dirty="0"/>
              <a:t>Robin</a:t>
            </a:r>
            <a:r>
              <a:rPr kumimoji="1" lang="zh-TW" altLang="en-US" dirty="0"/>
              <a:t> </a:t>
            </a:r>
            <a:r>
              <a:rPr kumimoji="1" lang="en-US" altLang="zh-TW" dirty="0"/>
              <a:t>(SCHED_RR):</a:t>
            </a:r>
            <a:r>
              <a:rPr kumimoji="1" lang="zh-TW" altLang="en-US" dirty="0"/>
              <a:t> </a:t>
            </a:r>
            <a:r>
              <a:rPr lang="en-US" altLang="zh-TW" dirty="0"/>
              <a:t>FIFO</a:t>
            </a:r>
            <a:r>
              <a:rPr lang="zh-TW" altLang="en-US" dirty="0"/>
              <a:t> </a:t>
            </a:r>
            <a:r>
              <a:rPr lang="en-US" altLang="zh-TW" dirty="0"/>
              <a:t>with </a:t>
            </a:r>
            <a:r>
              <a:rPr lang="en-US" altLang="zh-TW" dirty="0" err="1"/>
              <a:t>timeslice</a:t>
            </a:r>
            <a:r>
              <a:rPr lang="en-US" altLang="zh-TW" dirty="0"/>
              <a:t>.</a:t>
            </a:r>
          </a:p>
          <a:p>
            <a:pPr marL="914400" lvl="2" indent="0" algn="l">
              <a:buNone/>
            </a:pPr>
            <a:r>
              <a:rPr lang="en-US" altLang="zh-TW" dirty="0"/>
              <a:t>A </a:t>
            </a:r>
            <a:r>
              <a:rPr lang="en-US" altLang="zh-TW" dirty="0">
                <a:solidFill>
                  <a:srgbClr val="C00000"/>
                </a:solidFill>
              </a:rPr>
              <a:t>lower-priority process can never preempt a SCHED_RR task</a:t>
            </a:r>
            <a:r>
              <a:rPr lang="en-US" altLang="zh-TW" dirty="0"/>
              <a:t>, even if its </a:t>
            </a:r>
            <a:r>
              <a:rPr lang="en-US" altLang="zh-TW" dirty="0" err="1"/>
              <a:t>timeslice</a:t>
            </a:r>
            <a:r>
              <a:rPr lang="en-US" altLang="zh-TW" dirty="0"/>
              <a:t> is exhausted.</a:t>
            </a:r>
            <a:endParaRPr kumimoji="1" lang="zh-TW" altLang="en-US"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20</a:t>
            </a:fld>
            <a:endParaRPr lang="zh-TW" altLang="en-US" dirty="0"/>
          </a:p>
        </p:txBody>
      </p:sp>
    </p:spTree>
    <p:extLst>
      <p:ext uri="{BB962C8B-B14F-4D97-AF65-F5344CB8AC3E}">
        <p14:creationId xmlns:p14="http://schemas.microsoft.com/office/powerpoint/2010/main" val="814333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22" presetClass="entr" presetSubtype="1"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wipe(up)">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u="sng" dirty="0"/>
              <a:t>Process</a:t>
            </a:r>
            <a:r>
              <a:rPr kumimoji="1" lang="en-US" altLang="zh-TW" dirty="0"/>
              <a:t> Context Switch</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r>
              <a:rPr kumimoji="1" lang="en-US" altLang="zh-TW" dirty="0"/>
              <a:t>Process</a:t>
            </a:r>
            <a:r>
              <a:rPr kumimoji="1" lang="zh-TW" altLang="en-US" dirty="0"/>
              <a:t> </a:t>
            </a:r>
            <a:r>
              <a:rPr lang="en-US" altLang="zh-TW" dirty="0"/>
              <a:t>Context: Contents of </a:t>
            </a:r>
            <a:r>
              <a:rPr lang="en-US" altLang="zh-TW" dirty="0">
                <a:solidFill>
                  <a:srgbClr val="C00000"/>
                </a:solidFill>
              </a:rPr>
              <a:t>user address space</a:t>
            </a:r>
            <a:r>
              <a:rPr lang="zh-TW" altLang="en-US" dirty="0">
                <a:solidFill>
                  <a:srgbClr val="C00000"/>
                </a:solidFill>
              </a:rPr>
              <a:t> </a:t>
            </a:r>
            <a:r>
              <a:rPr lang="en-US" altLang="zh-TW" dirty="0">
                <a:solidFill>
                  <a:schemeClr val="tx1"/>
                </a:solidFill>
              </a:rPr>
              <a:t>(e.g.,</a:t>
            </a:r>
            <a:r>
              <a:rPr lang="zh-TW" altLang="en-US" dirty="0">
                <a:solidFill>
                  <a:schemeClr val="tx1"/>
                </a:solidFill>
              </a:rPr>
              <a:t> </a:t>
            </a:r>
            <a:r>
              <a:rPr lang="en-US" altLang="zh-TW" dirty="0">
                <a:solidFill>
                  <a:schemeClr val="tx1"/>
                </a:solidFill>
              </a:rPr>
              <a:t>page</a:t>
            </a:r>
            <a:r>
              <a:rPr lang="zh-TW" altLang="en-US" dirty="0">
                <a:solidFill>
                  <a:schemeClr val="tx1"/>
                </a:solidFill>
              </a:rPr>
              <a:t> </a:t>
            </a:r>
            <a:r>
              <a:rPr lang="en-US" altLang="zh-TW" dirty="0">
                <a:solidFill>
                  <a:schemeClr val="tx1"/>
                </a:solidFill>
              </a:rPr>
              <a:t>table)</a:t>
            </a:r>
            <a:r>
              <a:rPr lang="en-US" altLang="zh-TW" dirty="0">
                <a:solidFill>
                  <a:srgbClr val="C00000"/>
                </a:solidFill>
              </a:rPr>
              <a:t>, hardware registers </a:t>
            </a:r>
            <a:r>
              <a:rPr lang="en-US" altLang="zh-TW" dirty="0">
                <a:solidFill>
                  <a:schemeClr val="tx1"/>
                </a:solidFill>
              </a:rPr>
              <a:t>(e.g., PC) </a:t>
            </a:r>
            <a:r>
              <a:rPr lang="en-US" altLang="zh-TW" dirty="0"/>
              <a:t>and </a:t>
            </a:r>
            <a:r>
              <a:rPr lang="en-US" altLang="zh-TW" dirty="0">
                <a:solidFill>
                  <a:srgbClr val="C00000"/>
                </a:solidFill>
              </a:rPr>
              <a:t>kernel data structures </a:t>
            </a:r>
            <a:r>
              <a:rPr lang="en-US" altLang="zh-TW" dirty="0"/>
              <a:t>that relate to the process.</a:t>
            </a:r>
          </a:p>
          <a:p>
            <a:pPr lvl="1"/>
            <a:r>
              <a:rPr kumimoji="1" lang="en-US" altLang="zh-TW" dirty="0"/>
              <a:t>You can also think </a:t>
            </a:r>
            <a:r>
              <a:rPr lang="en-US" altLang="zh-TW" dirty="0"/>
              <a:t>like this, context is very similar to an ”environment” to run something.</a:t>
            </a:r>
            <a:endParaRPr kumimoji="1" lang="en-US" altLang="zh-TW" dirty="0"/>
          </a:p>
          <a:p>
            <a:r>
              <a:rPr lang="en-US" altLang="zh-TW" dirty="0"/>
              <a:t>Process </a:t>
            </a:r>
            <a:r>
              <a:rPr kumimoji="1" lang="en-US" altLang="zh-TW" dirty="0"/>
              <a:t>Context</a:t>
            </a:r>
            <a:r>
              <a:rPr kumimoji="1" lang="zh-TW" altLang="en-US" dirty="0"/>
              <a:t> </a:t>
            </a:r>
            <a:r>
              <a:rPr kumimoji="1" lang="en-US" altLang="zh-TW" dirty="0"/>
              <a:t>Switch:</a:t>
            </a:r>
            <a:r>
              <a:rPr kumimoji="1" lang="zh-TW" altLang="en-US" dirty="0"/>
              <a:t> </a:t>
            </a:r>
            <a:r>
              <a:rPr kumimoji="1" lang="en-US" altLang="zh-TW" dirty="0"/>
              <a:t>Switching</a:t>
            </a:r>
            <a:r>
              <a:rPr kumimoji="1" lang="zh-TW" altLang="en-US" dirty="0"/>
              <a:t> </a:t>
            </a:r>
            <a:r>
              <a:rPr kumimoji="1" lang="en-US" altLang="zh-TW" dirty="0"/>
              <a:t>from</a:t>
            </a:r>
            <a:r>
              <a:rPr kumimoji="1" lang="zh-TW" altLang="en-US" dirty="0"/>
              <a:t> </a:t>
            </a:r>
            <a:r>
              <a:rPr kumimoji="1" lang="en-US" altLang="zh-TW" dirty="0"/>
              <a:t>one</a:t>
            </a:r>
            <a:r>
              <a:rPr kumimoji="1" lang="zh-TW" altLang="en-US" dirty="0"/>
              <a:t> </a:t>
            </a:r>
            <a:r>
              <a:rPr kumimoji="1" lang="en-US" altLang="zh-TW" dirty="0"/>
              <a:t>runnable</a:t>
            </a:r>
            <a:r>
              <a:rPr kumimoji="1" lang="zh-TW" altLang="en-US" dirty="0"/>
              <a:t> </a:t>
            </a:r>
            <a:r>
              <a:rPr kumimoji="1" lang="en-US" altLang="zh-TW" dirty="0"/>
              <a:t>process</a:t>
            </a:r>
            <a:r>
              <a:rPr kumimoji="1" lang="zh-TW" altLang="en-US" dirty="0"/>
              <a:t> </a:t>
            </a:r>
            <a:r>
              <a:rPr kumimoji="1" lang="en-US" altLang="zh-TW" dirty="0"/>
              <a:t>to</a:t>
            </a:r>
            <a:r>
              <a:rPr kumimoji="1" lang="zh-TW" altLang="en-US" dirty="0"/>
              <a:t> </a:t>
            </a:r>
            <a:r>
              <a:rPr kumimoji="1" lang="en-US" altLang="zh-TW" dirty="0"/>
              <a:t>another.</a:t>
            </a:r>
            <a:endParaRPr lang="en-US" altLang="zh-TW" dirty="0"/>
          </a:p>
          <a:p>
            <a:pPr lvl="1"/>
            <a:r>
              <a:rPr lang="en-US" altLang="zh-TW" dirty="0" err="1"/>
              <a:t>s</a:t>
            </a:r>
            <a:r>
              <a:rPr kumimoji="1" lang="en-US" altLang="zh-TW" dirty="0" err="1"/>
              <a:t>witch_mm</a:t>
            </a:r>
            <a:r>
              <a:rPr kumimoji="1" lang="en-US" altLang="zh-TW" dirty="0"/>
              <a:t>():</a:t>
            </a:r>
            <a:r>
              <a:rPr kumimoji="1" lang="zh-TW" altLang="en-US" dirty="0"/>
              <a:t> </a:t>
            </a:r>
            <a:r>
              <a:rPr kumimoji="1" lang="en-US" altLang="zh-TW" dirty="0"/>
              <a:t>Switch</a:t>
            </a:r>
            <a:r>
              <a:rPr kumimoji="1" lang="zh-TW" altLang="en-US" dirty="0"/>
              <a:t> </a:t>
            </a:r>
            <a:r>
              <a:rPr kumimoji="1" lang="en-US" altLang="zh-TW" dirty="0"/>
              <a:t>the</a:t>
            </a:r>
            <a:r>
              <a:rPr kumimoji="1" lang="zh-TW" altLang="en-US" dirty="0"/>
              <a:t> </a:t>
            </a:r>
            <a:r>
              <a:rPr kumimoji="1" lang="en-US" altLang="zh-TW" dirty="0"/>
              <a:t>virtual</a:t>
            </a:r>
            <a:r>
              <a:rPr kumimoji="1" lang="zh-TW" altLang="en-US" dirty="0"/>
              <a:t> </a:t>
            </a:r>
            <a:r>
              <a:rPr kumimoji="1" lang="en-US" altLang="zh-TW" dirty="0"/>
              <a:t>memory</a:t>
            </a:r>
            <a:r>
              <a:rPr kumimoji="1" lang="zh-TW" altLang="en-US" dirty="0"/>
              <a:t> </a:t>
            </a:r>
            <a:r>
              <a:rPr lang="en-US" altLang="zh-TW" dirty="0"/>
              <a:t>mapping</a:t>
            </a:r>
            <a:r>
              <a:rPr lang="zh-TW" altLang="en-US" dirty="0"/>
              <a:t> </a:t>
            </a:r>
            <a:r>
              <a:rPr lang="en-US" altLang="zh-TW" dirty="0"/>
              <a:t>(e.g.,</a:t>
            </a:r>
            <a:r>
              <a:rPr lang="zh-TW" altLang="en-US" dirty="0"/>
              <a:t> </a:t>
            </a:r>
            <a:r>
              <a:rPr lang="en-US" altLang="zh-TW" dirty="0"/>
              <a:t>page</a:t>
            </a:r>
            <a:r>
              <a:rPr lang="zh-TW" altLang="en-US" dirty="0"/>
              <a:t> </a:t>
            </a:r>
            <a:r>
              <a:rPr lang="en-US" altLang="zh-TW" dirty="0"/>
              <a:t>table,</a:t>
            </a:r>
            <a:r>
              <a:rPr lang="zh-TW" altLang="en-US" dirty="0"/>
              <a:t> </a:t>
            </a:r>
            <a:r>
              <a:rPr lang="en-US" altLang="zh-TW" dirty="0"/>
              <a:t>TLB)</a:t>
            </a:r>
            <a:endParaRPr kumimoji="1" lang="en-US" altLang="zh-TW" dirty="0"/>
          </a:p>
          <a:p>
            <a:pPr lvl="1"/>
            <a:r>
              <a:rPr lang="en-US" altLang="zh-TW" dirty="0" err="1">
                <a:solidFill>
                  <a:schemeClr val="bg1">
                    <a:lumMod val="50000"/>
                  </a:schemeClr>
                </a:solidFill>
              </a:rPr>
              <a:t>switch_to</a:t>
            </a:r>
            <a:r>
              <a:rPr lang="en-US" altLang="zh-TW" dirty="0">
                <a:solidFill>
                  <a:schemeClr val="bg1">
                    <a:lumMod val="50000"/>
                  </a:schemeClr>
                </a:solidFill>
              </a:rPr>
              <a:t>():</a:t>
            </a:r>
            <a:r>
              <a:rPr lang="zh-TW" altLang="en-US" dirty="0">
                <a:solidFill>
                  <a:schemeClr val="bg1">
                    <a:lumMod val="50000"/>
                  </a:schemeClr>
                </a:solidFill>
              </a:rPr>
              <a:t> </a:t>
            </a:r>
            <a:r>
              <a:rPr lang="en-US" altLang="zh-TW" dirty="0">
                <a:solidFill>
                  <a:schemeClr val="bg1">
                    <a:lumMod val="50000"/>
                  </a:schemeClr>
                </a:solidFill>
              </a:rPr>
              <a:t>Switch</a:t>
            </a:r>
            <a:r>
              <a:rPr lang="zh-TW" altLang="en-US" dirty="0">
                <a:solidFill>
                  <a:schemeClr val="bg1">
                    <a:lumMod val="50000"/>
                  </a:schemeClr>
                </a:solidFill>
              </a:rPr>
              <a:t> </a:t>
            </a:r>
            <a:r>
              <a:rPr lang="en-US" altLang="zh-TW" dirty="0">
                <a:solidFill>
                  <a:schemeClr val="bg1">
                    <a:lumMod val="50000"/>
                  </a:schemeClr>
                </a:solidFill>
              </a:rPr>
              <a:t>the</a:t>
            </a:r>
            <a:r>
              <a:rPr lang="zh-TW" altLang="en-US" dirty="0">
                <a:solidFill>
                  <a:schemeClr val="bg1">
                    <a:lumMod val="50000"/>
                  </a:schemeClr>
                </a:solidFill>
              </a:rPr>
              <a:t> </a:t>
            </a:r>
            <a:r>
              <a:rPr lang="en-US" altLang="zh-TW" dirty="0">
                <a:solidFill>
                  <a:schemeClr val="bg1">
                    <a:lumMod val="50000"/>
                  </a:schemeClr>
                </a:solidFill>
              </a:rPr>
              <a:t>process</a:t>
            </a:r>
            <a:r>
              <a:rPr lang="zh-TW" altLang="en-US" dirty="0">
                <a:solidFill>
                  <a:schemeClr val="bg1">
                    <a:lumMod val="50000"/>
                  </a:schemeClr>
                </a:solidFill>
              </a:rPr>
              <a:t> </a:t>
            </a:r>
            <a:r>
              <a:rPr lang="en-US" altLang="zh-TW" dirty="0">
                <a:solidFill>
                  <a:schemeClr val="bg1">
                    <a:lumMod val="50000"/>
                  </a:schemeClr>
                </a:solidFill>
              </a:rPr>
              <a:t>state</a:t>
            </a:r>
            <a:r>
              <a:rPr lang="zh-TW" altLang="en-US" dirty="0">
                <a:solidFill>
                  <a:schemeClr val="bg1">
                    <a:lumMod val="50000"/>
                  </a:schemeClr>
                </a:solidFill>
              </a:rPr>
              <a:t> </a:t>
            </a:r>
            <a:r>
              <a:rPr lang="en-US" altLang="zh-TW" dirty="0">
                <a:solidFill>
                  <a:schemeClr val="bg1">
                    <a:lumMod val="50000"/>
                  </a:schemeClr>
                </a:solidFill>
              </a:rPr>
              <a:t>(e.g.,</a:t>
            </a:r>
            <a:r>
              <a:rPr lang="zh-TW" altLang="en-US" dirty="0">
                <a:solidFill>
                  <a:schemeClr val="bg1">
                    <a:lumMod val="50000"/>
                  </a:schemeClr>
                </a:solidFill>
              </a:rPr>
              <a:t> </a:t>
            </a:r>
            <a:r>
              <a:rPr lang="en-US" altLang="zh-TW" dirty="0">
                <a:solidFill>
                  <a:schemeClr val="bg1">
                    <a:lumMod val="50000"/>
                  </a:schemeClr>
                </a:solidFill>
              </a:rPr>
              <a:t>processor</a:t>
            </a:r>
            <a:r>
              <a:rPr lang="zh-TW" altLang="en-US" dirty="0">
                <a:solidFill>
                  <a:schemeClr val="bg1">
                    <a:lumMod val="50000"/>
                  </a:schemeClr>
                </a:solidFill>
              </a:rPr>
              <a:t> </a:t>
            </a:r>
            <a:r>
              <a:rPr lang="en-US" altLang="zh-TW" dirty="0">
                <a:solidFill>
                  <a:schemeClr val="bg1">
                    <a:lumMod val="50000"/>
                  </a:schemeClr>
                </a:solidFill>
              </a:rPr>
              <a:t>register,</a:t>
            </a:r>
            <a:r>
              <a:rPr lang="zh-TW" altLang="en-US" dirty="0">
                <a:solidFill>
                  <a:schemeClr val="bg1">
                    <a:lumMod val="50000"/>
                  </a:schemeClr>
                </a:solidFill>
              </a:rPr>
              <a:t> </a:t>
            </a:r>
            <a:r>
              <a:rPr lang="en-US" altLang="zh-TW" dirty="0">
                <a:solidFill>
                  <a:schemeClr val="bg1">
                    <a:lumMod val="50000"/>
                  </a:schemeClr>
                </a:solidFill>
              </a:rPr>
              <a:t>architecture-specific</a:t>
            </a:r>
            <a:r>
              <a:rPr lang="zh-TW" altLang="en-US" dirty="0">
                <a:solidFill>
                  <a:schemeClr val="bg1">
                    <a:lumMod val="50000"/>
                  </a:schemeClr>
                </a:solidFill>
              </a:rPr>
              <a:t> </a:t>
            </a:r>
            <a:r>
              <a:rPr lang="en-US" altLang="zh-TW" dirty="0">
                <a:solidFill>
                  <a:schemeClr val="bg1">
                    <a:lumMod val="50000"/>
                  </a:schemeClr>
                </a:solidFill>
              </a:rPr>
              <a:t>state)</a:t>
            </a:r>
            <a:endParaRPr kumimoji="1" lang="en-US" altLang="zh-TW" dirty="0">
              <a:solidFill>
                <a:schemeClr val="bg1">
                  <a:lumMod val="50000"/>
                </a:schemeClr>
              </a:solidFill>
            </a:endParaRPr>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21</a:t>
            </a:fld>
            <a:endParaRPr lang="zh-TW" altLang="en-US" dirty="0"/>
          </a:p>
        </p:txBody>
      </p:sp>
      <p:sp>
        <p:nvSpPr>
          <p:cNvPr id="13" name="文字方塊 12">
            <a:extLst>
              <a:ext uri="{FF2B5EF4-FFF2-40B4-BE49-F238E27FC236}">
                <a16:creationId xmlns:a16="http://schemas.microsoft.com/office/drawing/2014/main" id="{52CCA5D1-0F0F-66B0-2909-4FFE625A8550}"/>
              </a:ext>
            </a:extLst>
          </p:cNvPr>
          <p:cNvSpPr txBox="1"/>
          <p:nvPr/>
        </p:nvSpPr>
        <p:spPr>
          <a:xfrm>
            <a:off x="0" y="6396335"/>
            <a:ext cx="7117976" cy="461665"/>
          </a:xfrm>
          <a:prstGeom prst="rect">
            <a:avLst/>
          </a:prstGeom>
          <a:noFill/>
        </p:spPr>
        <p:txBody>
          <a:bodyPr wrap="square" rtlCol="0">
            <a:spAutoFit/>
          </a:bodyPr>
          <a:lstStyle/>
          <a:p>
            <a:r>
              <a:rPr kumimoji="1" lang="en-US" altLang="zh-TW" sz="1200" dirty="0">
                <a:solidFill>
                  <a:schemeClr val="bg1">
                    <a:lumMod val="75000"/>
                  </a:schemeClr>
                </a:solidFill>
              </a:rPr>
              <a:t>Ref1: https://</a:t>
            </a:r>
            <a:r>
              <a:rPr kumimoji="1" lang="en-US" altLang="zh-TW" sz="1200" dirty="0" err="1">
                <a:solidFill>
                  <a:schemeClr val="bg1">
                    <a:lumMod val="75000"/>
                  </a:schemeClr>
                </a:solidFill>
              </a:rPr>
              <a:t>www.beyonddiscovery.org</a:t>
            </a:r>
            <a:r>
              <a:rPr kumimoji="1" lang="en-US" altLang="zh-TW" sz="1200" dirty="0">
                <a:solidFill>
                  <a:schemeClr val="bg1">
                    <a:lumMod val="75000"/>
                  </a:schemeClr>
                </a:solidFill>
              </a:rPr>
              <a:t>/</a:t>
            </a:r>
            <a:r>
              <a:rPr kumimoji="1" lang="en-US" altLang="zh-TW" sz="1200" dirty="0" err="1">
                <a:solidFill>
                  <a:schemeClr val="bg1">
                    <a:lumMod val="75000"/>
                  </a:schemeClr>
                </a:solidFill>
              </a:rPr>
              <a:t>unix</a:t>
            </a:r>
            <a:r>
              <a:rPr kumimoji="1" lang="en-US" altLang="zh-TW" sz="1200" dirty="0">
                <a:solidFill>
                  <a:schemeClr val="bg1">
                    <a:lumMod val="75000"/>
                  </a:schemeClr>
                </a:solidFill>
              </a:rPr>
              <a:t>-operating-system/63-the-context-of-a-process.html</a:t>
            </a:r>
          </a:p>
          <a:p>
            <a:r>
              <a:rPr kumimoji="1" lang="en-US" altLang="zh-TW" sz="1200" dirty="0">
                <a:solidFill>
                  <a:schemeClr val="bg1">
                    <a:lumMod val="75000"/>
                  </a:schemeClr>
                </a:solidFill>
              </a:rPr>
              <a:t>Ref2:</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www.maizure.org</a:t>
            </a:r>
            <a:r>
              <a:rPr kumimoji="1" lang="en-US" altLang="zh-TW" sz="1200" dirty="0">
                <a:solidFill>
                  <a:schemeClr val="bg1">
                    <a:lumMod val="75000"/>
                  </a:schemeClr>
                </a:solidFill>
              </a:rPr>
              <a:t>/projects/evolution_x86_context_switch_linux/</a:t>
            </a:r>
          </a:p>
        </p:txBody>
      </p:sp>
      <p:sp>
        <p:nvSpPr>
          <p:cNvPr id="15" name="矩形 14">
            <a:extLst>
              <a:ext uri="{FF2B5EF4-FFF2-40B4-BE49-F238E27FC236}">
                <a16:creationId xmlns:a16="http://schemas.microsoft.com/office/drawing/2014/main" id="{1F90580B-358C-7474-9622-BED082278B0C}"/>
              </a:ext>
            </a:extLst>
          </p:cNvPr>
          <p:cNvSpPr/>
          <p:nvPr/>
        </p:nvSpPr>
        <p:spPr>
          <a:xfrm>
            <a:off x="614081"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Flush Branch Predictor Buffer</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6" name="TextBox 7">
            <a:extLst>
              <a:ext uri="{FF2B5EF4-FFF2-40B4-BE49-F238E27FC236}">
                <a16:creationId xmlns:a16="http://schemas.microsoft.com/office/drawing/2014/main" id="{414D6594-6858-41E9-7F0A-74126FF0EE0C}"/>
              </a:ext>
            </a:extLst>
          </p:cNvPr>
          <p:cNvSpPr txBox="1"/>
          <p:nvPr/>
        </p:nvSpPr>
        <p:spPr>
          <a:xfrm>
            <a:off x="4469046" y="5418179"/>
            <a:ext cx="3365024" cy="307777"/>
          </a:xfrm>
          <a:prstGeom prst="rect">
            <a:avLst/>
          </a:prstGeom>
          <a:noFill/>
          <a:ln>
            <a:solidFill>
              <a:schemeClr val="tx1"/>
            </a:solidFill>
          </a:ln>
        </p:spPr>
        <p:txBody>
          <a:bodyPr wrap="none" rtlCol="0">
            <a:spAutoFit/>
          </a:bodyPr>
          <a:lstStyle/>
          <a:p>
            <a:r>
              <a:rPr lang="en-US" altLang="zh-TW" sz="1400" b="1" dirty="0">
                <a:latin typeface="Arial" panose="020B0604020202020204" pitchFamily="34" charset="0"/>
                <a:cs typeface="Arial" panose="020B0604020202020204" pitchFamily="34" charset="0"/>
              </a:rPr>
              <a:t>Abstract</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of</a:t>
            </a:r>
            <a:r>
              <a:rPr lang="zh-TW" altLang="en-US" sz="1400" b="1" dirty="0">
                <a:latin typeface="Arial" panose="020B0604020202020204" pitchFamily="34" charset="0"/>
                <a:cs typeface="Arial" panose="020B0604020202020204" pitchFamily="34" charset="0"/>
              </a:rPr>
              <a:t> </a:t>
            </a:r>
            <a:r>
              <a:rPr lang="en-US" altLang="zh-TW" sz="1400" b="1" dirty="0" err="1">
                <a:latin typeface="Arial" panose="020B0604020202020204" pitchFamily="34" charset="0"/>
                <a:cs typeface="Arial" panose="020B0604020202020204" pitchFamily="34" charset="0"/>
              </a:rPr>
              <a:t>switch_mm</a:t>
            </a:r>
            <a:r>
              <a:rPr lang="en-US" altLang="zh-TW" sz="1400" b="1" dirty="0">
                <a:latin typeface="Arial" panose="020B0604020202020204" pitchFamily="34" charset="0"/>
                <a:cs typeface="Arial" panose="020B0604020202020204" pitchFamily="34" charset="0"/>
              </a:rPr>
              <a:t>()</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on</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Linux</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4.4</a:t>
            </a:r>
            <a:endParaRPr lang="en-US" sz="1400" b="1" dirty="0">
              <a:latin typeface="Arial" panose="020B0604020202020204" pitchFamily="34" charset="0"/>
              <a:cs typeface="Arial" panose="020B0604020202020204" pitchFamily="34" charset="0"/>
            </a:endParaRPr>
          </a:p>
        </p:txBody>
      </p:sp>
      <p:sp>
        <p:nvSpPr>
          <p:cNvPr id="17" name="矩形 16">
            <a:extLst>
              <a:ext uri="{FF2B5EF4-FFF2-40B4-BE49-F238E27FC236}">
                <a16:creationId xmlns:a16="http://schemas.microsoft.com/office/drawing/2014/main" id="{1894AFFA-BC5D-3C2E-8ABD-70C63170628D}"/>
              </a:ext>
            </a:extLst>
          </p:cNvPr>
          <p:cNvSpPr/>
          <p:nvPr/>
        </p:nvSpPr>
        <p:spPr>
          <a:xfrm>
            <a:off x="2962974"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Load New Page Table (CR3)</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8" name="矩形 17">
            <a:extLst>
              <a:ext uri="{FF2B5EF4-FFF2-40B4-BE49-F238E27FC236}">
                <a16:creationId xmlns:a16="http://schemas.microsoft.com/office/drawing/2014/main" id="{C767976F-9637-05A7-C107-8C25C087F84F}"/>
              </a:ext>
            </a:extLst>
          </p:cNvPr>
          <p:cNvSpPr/>
          <p:nvPr/>
        </p:nvSpPr>
        <p:spPr>
          <a:xfrm>
            <a:off x="5311867"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Flush TLB</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9" name="矩形 18">
            <a:extLst>
              <a:ext uri="{FF2B5EF4-FFF2-40B4-BE49-F238E27FC236}">
                <a16:creationId xmlns:a16="http://schemas.microsoft.com/office/drawing/2014/main" id="{4628B0F9-5C54-E570-C8B9-FF79130145D8}"/>
              </a:ext>
            </a:extLst>
          </p:cNvPr>
          <p:cNvSpPr/>
          <p:nvPr/>
        </p:nvSpPr>
        <p:spPr>
          <a:xfrm>
            <a:off x="7660760"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Load New CR4 (Page Size Extension)</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0" name="矩形 19">
            <a:extLst>
              <a:ext uri="{FF2B5EF4-FFF2-40B4-BE49-F238E27FC236}">
                <a16:creationId xmlns:a16="http://schemas.microsoft.com/office/drawing/2014/main" id="{CB10BCF7-EEFF-F6CE-8A16-DF93276DEC20}"/>
              </a:ext>
            </a:extLst>
          </p:cNvPr>
          <p:cNvSpPr/>
          <p:nvPr/>
        </p:nvSpPr>
        <p:spPr>
          <a:xfrm>
            <a:off x="10009652"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Load LDT</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(Not used for user processes)</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6" name="直線箭頭接點 5">
            <a:extLst>
              <a:ext uri="{FF2B5EF4-FFF2-40B4-BE49-F238E27FC236}">
                <a16:creationId xmlns:a16="http://schemas.microsoft.com/office/drawing/2014/main" id="{761661C3-D342-CC5D-BB58-67A7A74A16A6}"/>
              </a:ext>
            </a:extLst>
          </p:cNvPr>
          <p:cNvCxnSpPr>
            <a:cxnSpLocks/>
            <a:endCxn id="17" idx="1"/>
          </p:cNvCxnSpPr>
          <p:nvPr/>
        </p:nvCxnSpPr>
        <p:spPr>
          <a:xfrm>
            <a:off x="2120153" y="4585526"/>
            <a:ext cx="842821" cy="298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0" name="直線箭頭接點 9">
            <a:extLst>
              <a:ext uri="{FF2B5EF4-FFF2-40B4-BE49-F238E27FC236}">
                <a16:creationId xmlns:a16="http://schemas.microsoft.com/office/drawing/2014/main" id="{1D7AB363-1712-6DD1-31D9-16EDD0127096}"/>
              </a:ext>
            </a:extLst>
          </p:cNvPr>
          <p:cNvCxnSpPr>
            <a:cxnSpLocks/>
          </p:cNvCxnSpPr>
          <p:nvPr/>
        </p:nvCxnSpPr>
        <p:spPr>
          <a:xfrm>
            <a:off x="4469046" y="4585526"/>
            <a:ext cx="842821" cy="298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1" name="直線箭頭接點 10">
            <a:extLst>
              <a:ext uri="{FF2B5EF4-FFF2-40B4-BE49-F238E27FC236}">
                <a16:creationId xmlns:a16="http://schemas.microsoft.com/office/drawing/2014/main" id="{3B692CB8-4BB6-5260-4322-28E5D9285618}"/>
              </a:ext>
            </a:extLst>
          </p:cNvPr>
          <p:cNvCxnSpPr>
            <a:cxnSpLocks/>
          </p:cNvCxnSpPr>
          <p:nvPr/>
        </p:nvCxnSpPr>
        <p:spPr>
          <a:xfrm>
            <a:off x="6817939" y="4585526"/>
            <a:ext cx="842821" cy="298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2" name="直線箭頭接點 11">
            <a:extLst>
              <a:ext uri="{FF2B5EF4-FFF2-40B4-BE49-F238E27FC236}">
                <a16:creationId xmlns:a16="http://schemas.microsoft.com/office/drawing/2014/main" id="{8F014D17-E0A5-E2C9-3960-468792BD5FC1}"/>
              </a:ext>
            </a:extLst>
          </p:cNvPr>
          <p:cNvCxnSpPr>
            <a:cxnSpLocks/>
          </p:cNvCxnSpPr>
          <p:nvPr/>
        </p:nvCxnSpPr>
        <p:spPr>
          <a:xfrm>
            <a:off x="9166832" y="4585526"/>
            <a:ext cx="842821" cy="298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6605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up)">
                                      <p:cBhvr>
                                        <p:cTn id="12" dur="500"/>
                                        <p:tgtEl>
                                          <p:spTgt spid="3">
                                            <p:txEl>
                                              <p:pRg st="2" end="2"/>
                                            </p:txEl>
                                          </p:spTgt>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up)">
                                      <p:cBhvr>
                                        <p:cTn id="16" dur="500"/>
                                        <p:tgtEl>
                                          <p:spTgt spid="3">
                                            <p:txEl>
                                              <p:pRg st="3" end="3"/>
                                            </p:txEl>
                                          </p:spTgt>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up)">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left)">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500"/>
                                        <p:tgtEl>
                                          <p:spTgt spid="1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u="sng" dirty="0"/>
              <a:t>Process</a:t>
            </a:r>
            <a:r>
              <a:rPr kumimoji="1" lang="en-US" altLang="zh-TW" dirty="0"/>
              <a:t> Context </a:t>
            </a:r>
            <a:r>
              <a:rPr lang="en-US" altLang="zh-TW" dirty="0"/>
              <a:t>Switch (Count.)</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r>
              <a:rPr kumimoji="1" lang="en-US" altLang="zh-TW" dirty="0"/>
              <a:t>Process Context</a:t>
            </a:r>
            <a:r>
              <a:rPr kumimoji="1" lang="zh-TW" altLang="en-US" dirty="0"/>
              <a:t> </a:t>
            </a:r>
            <a:r>
              <a:rPr kumimoji="1" lang="en-US" altLang="zh-TW" dirty="0"/>
              <a:t>Switching:</a:t>
            </a:r>
            <a:r>
              <a:rPr kumimoji="1" lang="zh-TW" altLang="en-US" dirty="0"/>
              <a:t> </a:t>
            </a:r>
            <a:r>
              <a:rPr kumimoji="1" lang="en-US" altLang="zh-TW" dirty="0"/>
              <a:t>Switching</a:t>
            </a:r>
            <a:r>
              <a:rPr kumimoji="1" lang="zh-TW" altLang="en-US" dirty="0"/>
              <a:t> </a:t>
            </a:r>
            <a:r>
              <a:rPr kumimoji="1" lang="en-US" altLang="zh-TW" dirty="0"/>
              <a:t>from</a:t>
            </a:r>
            <a:r>
              <a:rPr kumimoji="1" lang="zh-TW" altLang="en-US" dirty="0"/>
              <a:t> </a:t>
            </a:r>
            <a:r>
              <a:rPr kumimoji="1" lang="en-US" altLang="zh-TW" dirty="0"/>
              <a:t>one</a:t>
            </a:r>
            <a:r>
              <a:rPr kumimoji="1" lang="zh-TW" altLang="en-US" dirty="0"/>
              <a:t> </a:t>
            </a:r>
            <a:r>
              <a:rPr kumimoji="1" lang="en-US" altLang="zh-TW" dirty="0"/>
              <a:t>runnable</a:t>
            </a:r>
            <a:r>
              <a:rPr kumimoji="1" lang="zh-TW" altLang="en-US" dirty="0"/>
              <a:t> </a:t>
            </a:r>
            <a:r>
              <a:rPr kumimoji="1" lang="en-US" altLang="zh-TW" dirty="0"/>
              <a:t>process</a:t>
            </a:r>
            <a:r>
              <a:rPr kumimoji="1" lang="zh-TW" altLang="en-US" dirty="0"/>
              <a:t> </a:t>
            </a:r>
            <a:r>
              <a:rPr kumimoji="1" lang="en-US" altLang="zh-TW" dirty="0"/>
              <a:t>to</a:t>
            </a:r>
            <a:r>
              <a:rPr kumimoji="1" lang="zh-TW" altLang="en-US" dirty="0"/>
              <a:t> </a:t>
            </a:r>
            <a:r>
              <a:rPr kumimoji="1" lang="en-US" altLang="zh-TW" dirty="0"/>
              <a:t>another.</a:t>
            </a:r>
            <a:endParaRPr lang="en-US" altLang="zh-TW" dirty="0"/>
          </a:p>
          <a:p>
            <a:pPr lvl="1"/>
            <a:r>
              <a:rPr lang="en-US" altLang="zh-TW" dirty="0" err="1">
                <a:solidFill>
                  <a:schemeClr val="bg1">
                    <a:lumMod val="50000"/>
                  </a:schemeClr>
                </a:solidFill>
              </a:rPr>
              <a:t>s</a:t>
            </a:r>
            <a:r>
              <a:rPr kumimoji="1" lang="en-US" altLang="zh-TW" dirty="0" err="1">
                <a:solidFill>
                  <a:schemeClr val="bg1">
                    <a:lumMod val="50000"/>
                  </a:schemeClr>
                </a:solidFill>
              </a:rPr>
              <a:t>witch_mm</a:t>
            </a:r>
            <a:r>
              <a:rPr kumimoji="1" lang="en-US" altLang="zh-TW" dirty="0">
                <a:solidFill>
                  <a:schemeClr val="bg1">
                    <a:lumMod val="50000"/>
                  </a:schemeClr>
                </a:solidFill>
              </a:rPr>
              <a:t>():</a:t>
            </a:r>
            <a:r>
              <a:rPr kumimoji="1" lang="zh-TW" altLang="en-US" dirty="0">
                <a:solidFill>
                  <a:schemeClr val="bg1">
                    <a:lumMod val="50000"/>
                  </a:schemeClr>
                </a:solidFill>
              </a:rPr>
              <a:t> </a:t>
            </a:r>
            <a:r>
              <a:rPr kumimoji="1" lang="en-US" altLang="zh-TW" dirty="0">
                <a:solidFill>
                  <a:schemeClr val="bg1">
                    <a:lumMod val="50000"/>
                  </a:schemeClr>
                </a:solidFill>
              </a:rPr>
              <a:t>Switch</a:t>
            </a:r>
            <a:r>
              <a:rPr kumimoji="1" lang="zh-TW" altLang="en-US" dirty="0">
                <a:solidFill>
                  <a:schemeClr val="bg1">
                    <a:lumMod val="50000"/>
                  </a:schemeClr>
                </a:solidFill>
              </a:rPr>
              <a:t> </a:t>
            </a:r>
            <a:r>
              <a:rPr kumimoji="1" lang="en-US" altLang="zh-TW" dirty="0">
                <a:solidFill>
                  <a:schemeClr val="bg1">
                    <a:lumMod val="50000"/>
                  </a:schemeClr>
                </a:solidFill>
              </a:rPr>
              <a:t>the</a:t>
            </a:r>
            <a:r>
              <a:rPr kumimoji="1" lang="zh-TW" altLang="en-US" dirty="0">
                <a:solidFill>
                  <a:schemeClr val="bg1">
                    <a:lumMod val="50000"/>
                  </a:schemeClr>
                </a:solidFill>
              </a:rPr>
              <a:t> </a:t>
            </a:r>
            <a:r>
              <a:rPr kumimoji="1" lang="en-US" altLang="zh-TW" dirty="0">
                <a:solidFill>
                  <a:schemeClr val="bg1">
                    <a:lumMod val="50000"/>
                  </a:schemeClr>
                </a:solidFill>
              </a:rPr>
              <a:t>virtual</a:t>
            </a:r>
            <a:r>
              <a:rPr kumimoji="1" lang="zh-TW" altLang="en-US" dirty="0">
                <a:solidFill>
                  <a:schemeClr val="bg1">
                    <a:lumMod val="50000"/>
                  </a:schemeClr>
                </a:solidFill>
              </a:rPr>
              <a:t> </a:t>
            </a:r>
            <a:r>
              <a:rPr kumimoji="1" lang="en-US" altLang="zh-TW" dirty="0">
                <a:solidFill>
                  <a:schemeClr val="bg1">
                    <a:lumMod val="50000"/>
                  </a:schemeClr>
                </a:solidFill>
              </a:rPr>
              <a:t>memory</a:t>
            </a:r>
            <a:r>
              <a:rPr kumimoji="1" lang="zh-TW" altLang="en-US" dirty="0">
                <a:solidFill>
                  <a:schemeClr val="bg1">
                    <a:lumMod val="50000"/>
                  </a:schemeClr>
                </a:solidFill>
              </a:rPr>
              <a:t> </a:t>
            </a:r>
            <a:r>
              <a:rPr lang="en-US" altLang="zh-TW" dirty="0">
                <a:solidFill>
                  <a:schemeClr val="bg1">
                    <a:lumMod val="50000"/>
                  </a:schemeClr>
                </a:solidFill>
              </a:rPr>
              <a:t>mapping</a:t>
            </a:r>
            <a:r>
              <a:rPr lang="zh-TW" altLang="en-US" dirty="0">
                <a:solidFill>
                  <a:schemeClr val="bg1">
                    <a:lumMod val="50000"/>
                  </a:schemeClr>
                </a:solidFill>
              </a:rPr>
              <a:t> </a:t>
            </a:r>
            <a:r>
              <a:rPr lang="en-US" altLang="zh-TW" dirty="0">
                <a:solidFill>
                  <a:schemeClr val="bg1">
                    <a:lumMod val="50000"/>
                  </a:schemeClr>
                </a:solidFill>
              </a:rPr>
              <a:t>(e.g.,</a:t>
            </a:r>
            <a:r>
              <a:rPr lang="zh-TW" altLang="en-US" dirty="0">
                <a:solidFill>
                  <a:schemeClr val="bg1">
                    <a:lumMod val="50000"/>
                  </a:schemeClr>
                </a:solidFill>
              </a:rPr>
              <a:t> </a:t>
            </a:r>
            <a:r>
              <a:rPr lang="en-US" altLang="zh-TW" dirty="0">
                <a:solidFill>
                  <a:schemeClr val="bg1">
                    <a:lumMod val="50000"/>
                  </a:schemeClr>
                </a:solidFill>
              </a:rPr>
              <a:t>page</a:t>
            </a:r>
            <a:r>
              <a:rPr lang="zh-TW" altLang="en-US" dirty="0">
                <a:solidFill>
                  <a:schemeClr val="bg1">
                    <a:lumMod val="50000"/>
                  </a:schemeClr>
                </a:solidFill>
              </a:rPr>
              <a:t> </a:t>
            </a:r>
            <a:r>
              <a:rPr lang="en-US" altLang="zh-TW" dirty="0">
                <a:solidFill>
                  <a:schemeClr val="bg1">
                    <a:lumMod val="50000"/>
                  </a:schemeClr>
                </a:solidFill>
              </a:rPr>
              <a:t>table,</a:t>
            </a:r>
            <a:r>
              <a:rPr lang="zh-TW" altLang="en-US" dirty="0">
                <a:solidFill>
                  <a:schemeClr val="bg1">
                    <a:lumMod val="50000"/>
                  </a:schemeClr>
                </a:solidFill>
              </a:rPr>
              <a:t> </a:t>
            </a:r>
            <a:r>
              <a:rPr lang="en-US" altLang="zh-TW" dirty="0">
                <a:solidFill>
                  <a:schemeClr val="bg1">
                    <a:lumMod val="50000"/>
                  </a:schemeClr>
                </a:solidFill>
              </a:rPr>
              <a:t>TLB,</a:t>
            </a:r>
            <a:r>
              <a:rPr lang="zh-TW" altLang="en-US" dirty="0">
                <a:solidFill>
                  <a:schemeClr val="bg1">
                    <a:lumMod val="50000"/>
                  </a:schemeClr>
                </a:solidFill>
              </a:rPr>
              <a:t> </a:t>
            </a:r>
            <a:r>
              <a:rPr lang="en-US" altLang="zh-TW" dirty="0">
                <a:solidFill>
                  <a:schemeClr val="bg1">
                    <a:lumMod val="50000"/>
                  </a:schemeClr>
                </a:solidFill>
              </a:rPr>
              <a:t>Cache)</a:t>
            </a:r>
            <a:endParaRPr kumimoji="1" lang="en-US" altLang="zh-TW" dirty="0">
              <a:solidFill>
                <a:schemeClr val="bg1">
                  <a:lumMod val="50000"/>
                </a:schemeClr>
              </a:solidFill>
            </a:endParaRPr>
          </a:p>
          <a:p>
            <a:pPr lvl="1"/>
            <a:r>
              <a:rPr lang="en-US" altLang="zh-TW" dirty="0" err="1"/>
              <a:t>switch_to</a:t>
            </a:r>
            <a:r>
              <a:rPr lang="en-US" altLang="zh-TW" dirty="0"/>
              <a:t>():</a:t>
            </a:r>
            <a:r>
              <a:rPr lang="zh-TW" altLang="en-US" dirty="0"/>
              <a:t> </a:t>
            </a:r>
            <a:r>
              <a:rPr lang="en-US" altLang="zh-TW" dirty="0"/>
              <a:t>Switch</a:t>
            </a:r>
            <a:r>
              <a:rPr lang="zh-TW" altLang="en-US" dirty="0"/>
              <a:t> </a:t>
            </a:r>
            <a:r>
              <a:rPr lang="en-US" altLang="zh-TW" dirty="0"/>
              <a:t>the</a:t>
            </a:r>
            <a:r>
              <a:rPr lang="zh-TW" altLang="en-US" dirty="0"/>
              <a:t> </a:t>
            </a:r>
            <a:r>
              <a:rPr lang="en-US" altLang="zh-TW" dirty="0"/>
              <a:t>process</a:t>
            </a:r>
            <a:r>
              <a:rPr lang="zh-TW" altLang="en-US" dirty="0"/>
              <a:t> </a:t>
            </a:r>
            <a:r>
              <a:rPr lang="en-US" altLang="zh-TW" dirty="0"/>
              <a:t>state</a:t>
            </a:r>
            <a:r>
              <a:rPr lang="zh-TW" altLang="en-US" dirty="0"/>
              <a:t> </a:t>
            </a:r>
            <a:r>
              <a:rPr lang="en-US" altLang="zh-TW" dirty="0"/>
              <a:t>(e.g.,</a:t>
            </a:r>
            <a:r>
              <a:rPr lang="zh-TW" altLang="en-US" dirty="0"/>
              <a:t> </a:t>
            </a:r>
            <a:r>
              <a:rPr lang="en-US" altLang="zh-TW" dirty="0"/>
              <a:t>processor</a:t>
            </a:r>
            <a:r>
              <a:rPr lang="zh-TW" altLang="en-US" dirty="0"/>
              <a:t> </a:t>
            </a:r>
            <a:r>
              <a:rPr lang="en-US" altLang="zh-TW" dirty="0"/>
              <a:t>register,</a:t>
            </a:r>
            <a:r>
              <a:rPr lang="zh-TW" altLang="en-US" dirty="0"/>
              <a:t> </a:t>
            </a:r>
            <a:r>
              <a:rPr lang="en-US" altLang="zh-TW" dirty="0"/>
              <a:t>architecture-specific</a:t>
            </a:r>
            <a:r>
              <a:rPr lang="zh-TW" altLang="en-US" dirty="0"/>
              <a:t> </a:t>
            </a:r>
            <a:r>
              <a:rPr lang="en-US" altLang="zh-TW" dirty="0"/>
              <a:t>state)</a:t>
            </a:r>
            <a:endParaRPr kumimoji="1" lang="en-US" altLang="zh-TW"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22</a:t>
            </a:fld>
            <a:endParaRPr lang="zh-TW" altLang="en-US" dirty="0"/>
          </a:p>
        </p:txBody>
      </p:sp>
      <p:pic>
        <p:nvPicPr>
          <p:cNvPr id="5" name="Picture 6">
            <a:extLst>
              <a:ext uri="{FF2B5EF4-FFF2-40B4-BE49-F238E27FC236}">
                <a16:creationId xmlns:a16="http://schemas.microsoft.com/office/drawing/2014/main" id="{B66A6105-0991-26A3-1236-5FEB26AFCC4B}"/>
              </a:ext>
            </a:extLst>
          </p:cNvPr>
          <p:cNvPicPr>
            <a:picLocks noChangeAspect="1"/>
          </p:cNvPicPr>
          <p:nvPr/>
        </p:nvPicPr>
        <p:blipFill>
          <a:blip r:embed="rId3"/>
          <a:stretch>
            <a:fillRect/>
          </a:stretch>
        </p:blipFill>
        <p:spPr>
          <a:xfrm>
            <a:off x="438972" y="3117023"/>
            <a:ext cx="11575228" cy="2297003"/>
          </a:xfrm>
          <a:prstGeom prst="rect">
            <a:avLst/>
          </a:prstGeom>
        </p:spPr>
      </p:pic>
      <p:sp>
        <p:nvSpPr>
          <p:cNvPr id="6" name="TextBox 7">
            <a:extLst>
              <a:ext uri="{FF2B5EF4-FFF2-40B4-BE49-F238E27FC236}">
                <a16:creationId xmlns:a16="http://schemas.microsoft.com/office/drawing/2014/main" id="{8CCEF2EF-8CAA-E434-AC0F-9E2F3AE7624A}"/>
              </a:ext>
            </a:extLst>
          </p:cNvPr>
          <p:cNvSpPr txBox="1"/>
          <p:nvPr/>
        </p:nvSpPr>
        <p:spPr>
          <a:xfrm>
            <a:off x="4862608" y="6219854"/>
            <a:ext cx="3264035" cy="307777"/>
          </a:xfrm>
          <a:prstGeom prst="rect">
            <a:avLst/>
          </a:prstGeom>
          <a:noFill/>
          <a:ln>
            <a:solidFill>
              <a:schemeClr val="tx1"/>
            </a:solidFill>
          </a:ln>
        </p:spPr>
        <p:txBody>
          <a:bodyPr wrap="none" rtlCol="0">
            <a:spAutoFit/>
          </a:bodyPr>
          <a:lstStyle/>
          <a:p>
            <a:r>
              <a:rPr lang="en-US" altLang="zh-TW" sz="1400" b="1" dirty="0">
                <a:latin typeface="Arial" panose="020B0604020202020204" pitchFamily="34" charset="0"/>
                <a:cs typeface="Arial" panose="020B0604020202020204" pitchFamily="34" charset="0"/>
              </a:rPr>
              <a:t>Abstract</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of</a:t>
            </a:r>
            <a:r>
              <a:rPr lang="zh-TW" altLang="en-US" sz="1400" b="1" dirty="0">
                <a:latin typeface="Arial" panose="020B0604020202020204" pitchFamily="34" charset="0"/>
                <a:cs typeface="Arial" panose="020B0604020202020204" pitchFamily="34" charset="0"/>
              </a:rPr>
              <a:t> </a:t>
            </a:r>
            <a:r>
              <a:rPr lang="en-US" altLang="zh-TW" sz="1400" b="1" dirty="0" err="1">
                <a:latin typeface="Arial" panose="020B0604020202020204" pitchFamily="34" charset="0"/>
                <a:cs typeface="Arial" panose="020B0604020202020204" pitchFamily="34" charset="0"/>
              </a:rPr>
              <a:t>Switch_to</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on</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Linux</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2.6.0</a:t>
            </a:r>
            <a:endParaRPr lang="en-US" sz="1400" b="1" dirty="0">
              <a:latin typeface="Arial" panose="020B0604020202020204" pitchFamily="34" charset="0"/>
              <a:cs typeface="Arial" panose="020B0604020202020204" pitchFamily="34" charset="0"/>
            </a:endParaRPr>
          </a:p>
        </p:txBody>
      </p:sp>
      <p:sp>
        <p:nvSpPr>
          <p:cNvPr id="7" name="Rounded Rectangular Callout 8">
            <a:extLst>
              <a:ext uri="{FF2B5EF4-FFF2-40B4-BE49-F238E27FC236}">
                <a16:creationId xmlns:a16="http://schemas.microsoft.com/office/drawing/2014/main" id="{A84D5040-E14F-0D29-9DDB-35BE74235EFE}"/>
              </a:ext>
            </a:extLst>
          </p:cNvPr>
          <p:cNvSpPr/>
          <p:nvPr/>
        </p:nvSpPr>
        <p:spPr>
          <a:xfrm>
            <a:off x="3935779" y="5519928"/>
            <a:ext cx="2290807" cy="536511"/>
          </a:xfrm>
          <a:prstGeom prst="wedgeRoundRectCallout">
            <a:avLst>
              <a:gd name="adj1" fmla="val -21705"/>
              <a:gd name="adj2" fmla="val -93643"/>
              <a:gd name="adj3" fmla="val 16667"/>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err="1">
                <a:solidFill>
                  <a:schemeClr val="tx1"/>
                </a:solidFill>
                <a:latin typeface="Arial" panose="020B0604020202020204" pitchFamily="34" charset="0"/>
                <a:cs typeface="Arial" panose="020B0604020202020204" pitchFamily="34" charset="0"/>
              </a:rPr>
              <a:t>per_Processor_Data_Area</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(PDA), IRQ, </a:t>
            </a:r>
            <a:r>
              <a:rPr lang="en-US" altLang="zh-TW" sz="1400" dirty="0" err="1">
                <a:solidFill>
                  <a:schemeClr val="tx1"/>
                </a:solidFill>
                <a:latin typeface="Arial" panose="020B0604020202020204" pitchFamily="34" charset="0"/>
                <a:cs typeface="Arial" panose="020B0604020202020204" pitchFamily="34" charset="0"/>
              </a:rPr>
              <a:t>mmu_state</a:t>
            </a:r>
            <a:r>
              <a:rPr lang="en-US" altLang="zh-TW" sz="1400" dirty="0">
                <a:solidFill>
                  <a:schemeClr val="tx1"/>
                </a:solidFill>
                <a:latin typeface="Arial" panose="020B0604020202020204" pitchFamily="34" charset="0"/>
                <a:cs typeface="Arial" panose="020B0604020202020204" pitchFamily="34" charset="0"/>
              </a:rPr>
              <a:t>…</a:t>
            </a:r>
            <a:endParaRPr lang="en-US" sz="1400" dirty="0">
              <a:solidFill>
                <a:schemeClr val="tx1"/>
              </a:solidFill>
              <a:latin typeface="Arial" panose="020B0604020202020204" pitchFamily="34" charset="0"/>
              <a:cs typeface="Arial" panose="020B0604020202020204" pitchFamily="34" charset="0"/>
            </a:endParaRPr>
          </a:p>
        </p:txBody>
      </p:sp>
      <p:sp>
        <p:nvSpPr>
          <p:cNvPr id="8" name="Rounded Rectangular Callout 9">
            <a:extLst>
              <a:ext uri="{FF2B5EF4-FFF2-40B4-BE49-F238E27FC236}">
                <a16:creationId xmlns:a16="http://schemas.microsoft.com/office/drawing/2014/main" id="{DA5852BC-D446-0047-8546-17032BA7EF00}"/>
              </a:ext>
            </a:extLst>
          </p:cNvPr>
          <p:cNvSpPr/>
          <p:nvPr/>
        </p:nvSpPr>
        <p:spPr>
          <a:xfrm>
            <a:off x="438972" y="5519268"/>
            <a:ext cx="2188611" cy="637708"/>
          </a:xfrm>
          <a:prstGeom prst="wedgeRoundRectCallout">
            <a:avLst>
              <a:gd name="adj1" fmla="val -21705"/>
              <a:gd name="adj2" fmla="val -93643"/>
              <a:gd name="adj3" fmla="val 16667"/>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a:solidFill>
                  <a:schemeClr val="tx1"/>
                </a:solidFill>
                <a:latin typeface="Arial" panose="020B0604020202020204" pitchFamily="34" charset="0"/>
                <a:cs typeface="Arial" panose="020B0604020202020204" pitchFamily="34" charset="0"/>
              </a:rPr>
              <a:t>Pointer to TLS</a:t>
            </a:r>
            <a:r>
              <a:rPr lang="zh-TW" altLang="en-US" sz="1400" dirty="0">
                <a:solidFill>
                  <a:schemeClr val="tx1"/>
                </a:solidFill>
                <a:latin typeface="Arial" panose="020B0604020202020204" pitchFamily="34" charset="0"/>
                <a:cs typeface="Arial" panose="020B0604020202020204" pitchFamily="34" charset="0"/>
              </a:rPr>
              <a:t> </a:t>
            </a:r>
            <a:br>
              <a:rPr lang="en-US" altLang="zh-TW" sz="1400" dirty="0">
                <a:solidFill>
                  <a:schemeClr val="tx1"/>
                </a:solidFill>
                <a:latin typeface="Arial" panose="020B0604020202020204" pitchFamily="34" charset="0"/>
                <a:cs typeface="Arial" panose="020B0604020202020204" pitchFamily="34" charset="0"/>
              </a:rPr>
            </a:br>
            <a:r>
              <a:rPr lang="en-US" altLang="zh-TW" sz="1400" dirty="0">
                <a:solidFill>
                  <a:schemeClr val="tx1"/>
                </a:solidFill>
                <a:latin typeface="Arial" panose="020B0604020202020204" pitchFamily="34" charset="0"/>
                <a:cs typeface="Arial" panose="020B0604020202020204" pitchFamily="34" charset="0"/>
              </a:rPr>
              <a:t>(e.g.,</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code run in thread, local</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parameter)</a:t>
            </a:r>
            <a:endParaRPr lang="en-US" sz="1400" dirty="0">
              <a:solidFill>
                <a:schemeClr val="tx1"/>
              </a:solidFill>
              <a:latin typeface="Arial" panose="020B0604020202020204" pitchFamily="34" charset="0"/>
              <a:cs typeface="Arial" panose="020B0604020202020204" pitchFamily="34" charset="0"/>
            </a:endParaRPr>
          </a:p>
        </p:txBody>
      </p:sp>
      <p:sp>
        <p:nvSpPr>
          <p:cNvPr id="9" name="Rounded Rectangular Callout 11">
            <a:extLst>
              <a:ext uri="{FF2B5EF4-FFF2-40B4-BE49-F238E27FC236}">
                <a16:creationId xmlns:a16="http://schemas.microsoft.com/office/drawing/2014/main" id="{4B481604-C57B-FA9F-1BE8-248604DEE4BF}"/>
              </a:ext>
            </a:extLst>
          </p:cNvPr>
          <p:cNvSpPr/>
          <p:nvPr/>
        </p:nvSpPr>
        <p:spPr>
          <a:xfrm>
            <a:off x="6959411" y="2573992"/>
            <a:ext cx="2513659" cy="536511"/>
          </a:xfrm>
          <a:prstGeom prst="wedgeRoundRectCallout">
            <a:avLst>
              <a:gd name="adj1" fmla="val 2352"/>
              <a:gd name="adj2" fmla="val 68825"/>
              <a:gd name="adj3" fmla="val 16667"/>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a:solidFill>
                  <a:schemeClr val="tx1"/>
                </a:solidFill>
                <a:latin typeface="Arial" panose="020B0604020202020204" pitchFamily="34" charset="0"/>
                <a:cs typeface="Arial" panose="020B0604020202020204" pitchFamily="34" charset="0"/>
              </a:rPr>
              <a:t>Data</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Segment</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and</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Programmer</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Defined</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Segment</a:t>
            </a:r>
            <a:endParaRPr lang="en-US" sz="1400" dirty="0">
              <a:solidFill>
                <a:schemeClr val="tx1"/>
              </a:solidFill>
              <a:latin typeface="Arial" panose="020B0604020202020204" pitchFamily="34" charset="0"/>
              <a:cs typeface="Arial" panose="020B0604020202020204" pitchFamily="34" charset="0"/>
            </a:endParaRPr>
          </a:p>
        </p:txBody>
      </p:sp>
      <p:sp>
        <p:nvSpPr>
          <p:cNvPr id="11" name="TextBox 13">
            <a:extLst>
              <a:ext uri="{FF2B5EF4-FFF2-40B4-BE49-F238E27FC236}">
                <a16:creationId xmlns:a16="http://schemas.microsoft.com/office/drawing/2014/main" id="{93D8B521-26A6-E414-BC88-E26868D84E70}"/>
              </a:ext>
            </a:extLst>
          </p:cNvPr>
          <p:cNvSpPr txBox="1"/>
          <p:nvPr/>
        </p:nvSpPr>
        <p:spPr>
          <a:xfrm>
            <a:off x="6959411" y="5358897"/>
            <a:ext cx="4708713" cy="738664"/>
          </a:xfrm>
          <a:prstGeom prst="rect">
            <a:avLst/>
          </a:prstGeom>
          <a:noFill/>
          <a:ln>
            <a:solidFill>
              <a:schemeClr val="accent1">
                <a:shade val="50000"/>
              </a:schemeClr>
            </a:solidFill>
          </a:ln>
        </p:spPr>
        <p:txBody>
          <a:bodyPr wrap="square" rtlCol="0">
            <a:spAutoFit/>
          </a:bodyPr>
          <a:lstStyle/>
          <a:p>
            <a:r>
              <a:rPr lang="en-US" sz="1400" dirty="0"/>
              <a:t>TS: Task Switching Flag (a flag in CR0)</a:t>
            </a:r>
          </a:p>
          <a:p>
            <a:r>
              <a:rPr lang="en-US" sz="1400" dirty="0"/>
              <a:t>ES: Programmer Defined Segment        </a:t>
            </a:r>
            <a:br>
              <a:rPr lang="en-US" sz="1400" dirty="0"/>
            </a:br>
            <a:r>
              <a:rPr lang="en-US" sz="1400" dirty="0"/>
              <a:t>DS: Data Segment    FS/GS: Access thread local storage (TLS)</a:t>
            </a:r>
          </a:p>
        </p:txBody>
      </p:sp>
      <p:sp>
        <p:nvSpPr>
          <p:cNvPr id="12" name="Rounded Rectangular Callout 14">
            <a:extLst>
              <a:ext uri="{FF2B5EF4-FFF2-40B4-BE49-F238E27FC236}">
                <a16:creationId xmlns:a16="http://schemas.microsoft.com/office/drawing/2014/main" id="{5603D832-61E8-A2EB-1C53-5E90A0390A45}"/>
              </a:ext>
            </a:extLst>
          </p:cNvPr>
          <p:cNvSpPr/>
          <p:nvPr/>
        </p:nvSpPr>
        <p:spPr>
          <a:xfrm>
            <a:off x="468998" y="2531623"/>
            <a:ext cx="2871814" cy="538368"/>
          </a:xfrm>
          <a:prstGeom prst="wedgeRoundRectCallout">
            <a:avLst>
              <a:gd name="adj1" fmla="val -30106"/>
              <a:gd name="adj2" fmla="val 74031"/>
              <a:gd name="adj3" fmla="val 16667"/>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a:solidFill>
                  <a:schemeClr val="tx1"/>
                </a:solidFill>
                <a:latin typeface="Arial" panose="020B0604020202020204" pitchFamily="34" charset="0"/>
                <a:cs typeface="Arial" panose="020B0604020202020204" pitchFamily="34" charset="0"/>
              </a:rPr>
              <a:t>Store General Purpose Register</a:t>
            </a:r>
            <a:br>
              <a:rPr lang="en-US" altLang="zh-TW" dirty="0">
                <a:solidFill>
                  <a:schemeClr val="tx1"/>
                </a:solidFill>
                <a:latin typeface="Arial" panose="020B0604020202020204" pitchFamily="34" charset="0"/>
                <a:cs typeface="Arial" panose="020B0604020202020204" pitchFamily="34" charset="0"/>
              </a:rPr>
            </a:br>
            <a:r>
              <a:rPr lang="en-US" altLang="zh-TW" sz="1200" dirty="0">
                <a:solidFill>
                  <a:schemeClr val="tx1"/>
                </a:solidFill>
                <a:latin typeface="Arial" panose="020B0604020202020204" pitchFamily="34" charset="0"/>
                <a:cs typeface="Arial" panose="020B0604020202020204" pitchFamily="34" charset="0"/>
              </a:rPr>
              <a:t>(Hardware Context)</a:t>
            </a:r>
            <a:endParaRPr lang="en-US" sz="1200" dirty="0">
              <a:solidFill>
                <a:schemeClr val="tx1"/>
              </a:solidFill>
              <a:latin typeface="Arial" panose="020B0604020202020204" pitchFamily="34" charset="0"/>
              <a:cs typeface="Arial" panose="020B0604020202020204" pitchFamily="34" charset="0"/>
            </a:endParaRPr>
          </a:p>
        </p:txBody>
      </p:sp>
      <p:sp>
        <p:nvSpPr>
          <p:cNvPr id="13" name="文字方塊 12">
            <a:extLst>
              <a:ext uri="{FF2B5EF4-FFF2-40B4-BE49-F238E27FC236}">
                <a16:creationId xmlns:a16="http://schemas.microsoft.com/office/drawing/2014/main" id="{52CCA5D1-0F0F-66B0-2909-4FFE625A8550}"/>
              </a:ext>
            </a:extLst>
          </p:cNvPr>
          <p:cNvSpPr txBox="1"/>
          <p:nvPr/>
        </p:nvSpPr>
        <p:spPr>
          <a:xfrm>
            <a:off x="0" y="6544875"/>
            <a:ext cx="5903222" cy="276999"/>
          </a:xfrm>
          <a:prstGeom prst="rect">
            <a:avLst/>
          </a:prstGeom>
          <a:noFill/>
        </p:spPr>
        <p:txBody>
          <a:bodyPr wrap="squar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www.maizure.org</a:t>
            </a:r>
            <a:r>
              <a:rPr kumimoji="1" lang="en-US" altLang="zh-TW" sz="1200" dirty="0">
                <a:solidFill>
                  <a:schemeClr val="bg1">
                    <a:lumMod val="75000"/>
                  </a:schemeClr>
                </a:solidFill>
              </a:rPr>
              <a:t>/projects/evolution_x86_context_switch_linux/</a:t>
            </a:r>
          </a:p>
        </p:txBody>
      </p:sp>
    </p:spTree>
    <p:extLst>
      <p:ext uri="{BB962C8B-B14F-4D97-AF65-F5344CB8AC3E}">
        <p14:creationId xmlns:p14="http://schemas.microsoft.com/office/powerpoint/2010/main" val="24866357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3DE261-0CBD-B0D8-C329-0EA19A37C445}"/>
              </a:ext>
            </a:extLst>
          </p:cNvPr>
          <p:cNvSpPr>
            <a:spLocks noGrp="1"/>
          </p:cNvSpPr>
          <p:nvPr>
            <p:ph type="title"/>
          </p:nvPr>
        </p:nvSpPr>
        <p:spPr/>
        <p:txBody>
          <a:bodyPr/>
          <a:lstStyle/>
          <a:p>
            <a:r>
              <a:rPr kumimoji="1" lang="en-US" altLang="zh-TW" dirty="0"/>
              <a:t>CPU Mode Switch vs Process Context Switch</a:t>
            </a:r>
            <a:endParaRPr kumimoji="1" lang="zh-TW" altLang="en-US" dirty="0"/>
          </a:p>
        </p:txBody>
      </p:sp>
      <p:sp>
        <p:nvSpPr>
          <p:cNvPr id="3" name="內容版面配置區 2">
            <a:extLst>
              <a:ext uri="{FF2B5EF4-FFF2-40B4-BE49-F238E27FC236}">
                <a16:creationId xmlns:a16="http://schemas.microsoft.com/office/drawing/2014/main" id="{00DE24A5-0075-DFF3-15E7-4E66C419DA53}"/>
              </a:ext>
            </a:extLst>
          </p:cNvPr>
          <p:cNvSpPr>
            <a:spLocks noGrp="1"/>
          </p:cNvSpPr>
          <p:nvPr>
            <p:ph idx="1"/>
          </p:nvPr>
        </p:nvSpPr>
        <p:spPr/>
        <p:txBody>
          <a:bodyPr/>
          <a:lstStyle/>
          <a:p>
            <a:r>
              <a:rPr kumimoji="1" lang="en-US" altLang="zh-TW" dirty="0"/>
              <a:t>While facing exceptions or interrupts, CPU switches from user mode to kernel mode to run kernel code. </a:t>
            </a:r>
            <a:endParaRPr lang="en-US" altLang="zh-TW" dirty="0">
              <a:sym typeface="Wingdings" pitchFamily="2" charset="2"/>
            </a:endParaRPr>
          </a:p>
          <a:p>
            <a:pPr lvl="1"/>
            <a:r>
              <a:rPr lang="en-US" altLang="zh-TW" dirty="0">
                <a:sym typeface="Wingdings" pitchFamily="2" charset="2"/>
              </a:rPr>
              <a:t>CPU shall also do context switching but </a:t>
            </a:r>
            <a:r>
              <a:rPr lang="en-US" altLang="zh-TW" dirty="0">
                <a:solidFill>
                  <a:srgbClr val="C00000"/>
                </a:solidFill>
                <a:sym typeface="Wingdings" pitchFamily="2" charset="2"/>
              </a:rPr>
              <a:t>not process-level context switching</a:t>
            </a:r>
            <a:endParaRPr kumimoji="1" lang="en-US" altLang="zh-TW" dirty="0">
              <a:solidFill>
                <a:srgbClr val="C00000"/>
              </a:solidFill>
            </a:endParaRPr>
          </a:p>
          <a:p>
            <a:r>
              <a:rPr kumimoji="1" lang="en-US" altLang="zh-TW" dirty="0"/>
              <a:t>Before switching to kernel mode, CPU shall </a:t>
            </a:r>
            <a:r>
              <a:rPr kumimoji="1" lang="en-US" altLang="zh-TW" dirty="0">
                <a:solidFill>
                  <a:srgbClr val="C00000"/>
                </a:solidFill>
              </a:rPr>
              <a:t>save user mode context</a:t>
            </a:r>
          </a:p>
          <a:p>
            <a:pPr lvl="1"/>
            <a:r>
              <a:rPr kumimoji="1" lang="en-US" altLang="zh-TW" dirty="0">
                <a:solidFill>
                  <a:schemeClr val="tx1"/>
                </a:solidFill>
              </a:rPr>
              <a:t>User mode context: program counter, user-mode-specific state (e.g., </a:t>
            </a:r>
            <a:r>
              <a:rPr lang="en-US" altLang="zh-TW" dirty="0">
                <a:solidFill>
                  <a:schemeClr val="tx1"/>
                </a:solidFill>
              </a:rPr>
              <a:t>us</a:t>
            </a:r>
            <a:r>
              <a:rPr kumimoji="1" lang="en-US" altLang="zh-TW" dirty="0">
                <a:solidFill>
                  <a:schemeClr val="tx1"/>
                </a:solidFill>
              </a:rPr>
              <a:t>er-space </a:t>
            </a:r>
            <a:r>
              <a:rPr lang="en-US" altLang="zh-TW" dirty="0">
                <a:solidFill>
                  <a:schemeClr val="tx1"/>
                </a:solidFill>
              </a:rPr>
              <a:t>s</a:t>
            </a:r>
            <a:r>
              <a:rPr kumimoji="1" lang="en-US" altLang="zh-TW" dirty="0">
                <a:solidFill>
                  <a:schemeClr val="tx1"/>
                </a:solidFill>
              </a:rPr>
              <a:t>tack </a:t>
            </a:r>
            <a:r>
              <a:rPr lang="en-US" altLang="zh-TW" dirty="0">
                <a:solidFill>
                  <a:schemeClr val="tx1"/>
                </a:solidFill>
              </a:rPr>
              <a:t>p</a:t>
            </a:r>
            <a:r>
              <a:rPr kumimoji="1" lang="en-US" altLang="zh-TW" dirty="0">
                <a:solidFill>
                  <a:schemeClr val="tx1"/>
                </a:solidFill>
              </a:rPr>
              <a:t>ointer register (ESP or RSP), floating point register, user-space instruction pointer)</a:t>
            </a:r>
          </a:p>
          <a:p>
            <a:pPr lvl="1"/>
            <a:r>
              <a:rPr lang="en-US" altLang="zh-TW" i="1" dirty="0">
                <a:solidFill>
                  <a:schemeClr val="tx1"/>
                </a:solidFill>
              </a:rPr>
              <a:t>Note: when we say save context, we generally mean to </a:t>
            </a:r>
            <a:r>
              <a:rPr lang="en-US" altLang="zh-TW" i="1" dirty="0">
                <a:solidFill>
                  <a:srgbClr val="C00000"/>
                </a:solidFill>
              </a:rPr>
              <a:t>write back all those registers to </a:t>
            </a:r>
            <a:r>
              <a:rPr lang="en-US" altLang="zh-TW" i="1" dirty="0">
                <a:solidFill>
                  <a:schemeClr val="tx1"/>
                </a:solidFill>
              </a:rPr>
              <a:t>the corresponding </a:t>
            </a:r>
            <a:r>
              <a:rPr lang="en-US" altLang="zh-TW" i="1" dirty="0">
                <a:solidFill>
                  <a:srgbClr val="C00000"/>
                </a:solidFill>
              </a:rPr>
              <a:t>process descriptor (i.e., </a:t>
            </a:r>
            <a:r>
              <a:rPr lang="en-US" altLang="zh-TW" i="1" dirty="0" err="1">
                <a:solidFill>
                  <a:srgbClr val="C00000"/>
                </a:solidFill>
              </a:rPr>
              <a:t>task_struct</a:t>
            </a:r>
            <a:r>
              <a:rPr lang="en-US" altLang="zh-TW" i="1" dirty="0">
                <a:solidFill>
                  <a:srgbClr val="C00000"/>
                </a:solidFill>
              </a:rPr>
              <a:t>) in main memory.</a:t>
            </a:r>
            <a:endParaRPr kumimoji="1" lang="zh-TW" altLang="en-US" i="1" dirty="0">
              <a:solidFill>
                <a:srgbClr val="C00000"/>
              </a:solidFill>
            </a:endParaRPr>
          </a:p>
        </p:txBody>
      </p:sp>
      <p:sp>
        <p:nvSpPr>
          <p:cNvPr id="4" name="投影片編號版面配置區 3">
            <a:extLst>
              <a:ext uri="{FF2B5EF4-FFF2-40B4-BE49-F238E27FC236}">
                <a16:creationId xmlns:a16="http://schemas.microsoft.com/office/drawing/2014/main" id="{1EB5AFCD-4D76-1FD0-28B8-3EBF872554BB}"/>
              </a:ext>
            </a:extLst>
          </p:cNvPr>
          <p:cNvSpPr>
            <a:spLocks noGrp="1"/>
          </p:cNvSpPr>
          <p:nvPr>
            <p:ph type="sldNum" sz="quarter" idx="4"/>
          </p:nvPr>
        </p:nvSpPr>
        <p:spPr/>
        <p:txBody>
          <a:bodyPr/>
          <a:lstStyle/>
          <a:p>
            <a:fld id="{E24E6636-6BA5-4AAC-8485-BE8D914D288B}" type="slidenum">
              <a:rPr lang="zh-TW" altLang="en-US" smtClean="0"/>
              <a:pPr/>
              <a:t>23</a:t>
            </a:fld>
            <a:endParaRPr lang="zh-TW" altLang="en-US" dirty="0"/>
          </a:p>
        </p:txBody>
      </p:sp>
    </p:spTree>
    <p:extLst>
      <p:ext uri="{BB962C8B-B14F-4D97-AF65-F5344CB8AC3E}">
        <p14:creationId xmlns:p14="http://schemas.microsoft.com/office/powerpoint/2010/main" val="3640100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up)">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up)">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2470860"/>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System Call</a:t>
            </a:r>
          </a:p>
        </p:txBody>
      </p:sp>
    </p:spTree>
    <p:extLst>
      <p:ext uri="{BB962C8B-B14F-4D97-AF65-F5344CB8AC3E}">
        <p14:creationId xmlns:p14="http://schemas.microsoft.com/office/powerpoint/2010/main" val="41772693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cs typeface="Arial" panose="020B0604020202020204" pitchFamily="34" charset="0"/>
              </a:rPr>
              <a:t>What is System Call</a:t>
            </a: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kumimoji="1" lang="en-US" altLang="zh-TW" dirty="0">
                <a:solidFill>
                  <a:schemeClr val="tx1"/>
                </a:solidFill>
                <a:latin typeface="+mn-lt"/>
                <a:cs typeface="Arial" panose="020B0604020202020204" pitchFamily="34" charset="0"/>
              </a:rPr>
              <a:t>Goal:</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let user-space</a:t>
            </a:r>
            <a:r>
              <a:rPr kumimoji="1"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processes </a:t>
            </a:r>
            <a:r>
              <a:rPr lang="en-US" altLang="zh-TW" dirty="0">
                <a:solidFill>
                  <a:srgbClr val="C00000"/>
                </a:solidFill>
                <a:latin typeface="+mn-lt"/>
                <a:cs typeface="Arial" panose="020B0604020202020204" pitchFamily="34" charset="0"/>
              </a:rPr>
              <a:t>interact with the operating</a:t>
            </a:r>
            <a:r>
              <a:rPr lang="zh-TW" altLang="en-US" dirty="0">
                <a:solidFill>
                  <a:srgbClr val="C00000"/>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system</a:t>
            </a:r>
            <a:r>
              <a:rPr lang="en-US" altLang="zh-TW" dirty="0">
                <a:solidFill>
                  <a:schemeClr val="tx1"/>
                </a:solidFill>
                <a:latin typeface="+mn-lt"/>
                <a:cs typeface="Arial" panose="020B0604020202020204" pitchFamily="34" charset="0"/>
              </a:rPr>
              <a:t>, the kernel provides a set of interfaces, called system calls.</a:t>
            </a:r>
          </a:p>
          <a:p>
            <a:pPr algn="l"/>
            <a:r>
              <a:rPr lang="en-US" altLang="zh-TW" dirty="0">
                <a:solidFill>
                  <a:schemeClr val="tx1"/>
                </a:solidFill>
                <a:latin typeface="+mn-lt"/>
                <a:cs typeface="Arial" panose="020B0604020202020204" pitchFamily="34" charset="0"/>
              </a:rPr>
              <a:t>How to run: 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calls</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are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accessed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via</a:t>
            </a:r>
            <a:r>
              <a:rPr lang="zh-TW" altLang="en-US" dirty="0">
                <a:solidFill>
                  <a:schemeClr val="tx1"/>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function</a:t>
            </a:r>
            <a:r>
              <a:rPr lang="zh-TW" altLang="en-US" dirty="0">
                <a:solidFill>
                  <a:srgbClr val="C00000"/>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calls</a:t>
            </a:r>
            <a:r>
              <a:rPr lang="zh-TW" altLang="en-US" dirty="0">
                <a:solidFill>
                  <a:srgbClr val="C00000"/>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defined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in</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library.</a:t>
            </a:r>
          </a:p>
          <a:p>
            <a:pPr algn="l"/>
            <a:endParaRPr kumimoji="1" lang="en-US" altLang="zh-TW" dirty="0">
              <a:solidFill>
                <a:schemeClr val="tx1"/>
              </a:solidFill>
              <a:latin typeface="+mn-lt"/>
              <a:cs typeface="Arial" panose="020B0604020202020204" pitchFamily="34" charset="0"/>
            </a:endParaRPr>
          </a:p>
          <a:p>
            <a:pPr algn="l"/>
            <a:endParaRPr lang="en-US" altLang="zh-TW" dirty="0">
              <a:solidFill>
                <a:schemeClr val="tx1"/>
              </a:solidFill>
              <a:latin typeface="+mn-lt"/>
              <a:cs typeface="Arial" panose="020B0604020202020204" pitchFamily="34" charset="0"/>
            </a:endParaRPr>
          </a:p>
          <a:p>
            <a:pPr algn="l"/>
            <a:endParaRPr kumimoji="1" lang="en-US" altLang="zh-TW" dirty="0">
              <a:solidFill>
                <a:schemeClr val="tx1"/>
              </a:solidFill>
              <a:latin typeface="+mn-lt"/>
              <a:cs typeface="Arial" panose="020B0604020202020204" pitchFamily="34" charset="0"/>
            </a:endParaRPr>
          </a:p>
          <a:p>
            <a:pPr algn="l"/>
            <a:r>
              <a:rPr kumimoji="1" lang="en-US" altLang="zh-TW" dirty="0">
                <a:solidFill>
                  <a:schemeClr val="tx1"/>
                </a:solidFill>
                <a:latin typeface="+mn-lt"/>
                <a:cs typeface="Arial" panose="020B0604020202020204" pitchFamily="34" charset="0"/>
              </a:rPr>
              <a:t>System</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Call</a:t>
            </a:r>
            <a:r>
              <a:rPr kumimoji="1"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Numbers: Each system call has a </a:t>
            </a:r>
            <a:r>
              <a:rPr lang="en-US" altLang="zh-TW" dirty="0">
                <a:solidFill>
                  <a:srgbClr val="C00000"/>
                </a:solidFill>
                <a:latin typeface="+mn-lt"/>
                <a:cs typeface="Arial" panose="020B0604020202020204" pitchFamily="34" charset="0"/>
              </a:rPr>
              <a:t>unique number</a:t>
            </a:r>
            <a:r>
              <a:rPr lang="en-US" altLang="zh-TW" dirty="0">
                <a:solidFill>
                  <a:schemeClr val="tx1"/>
                </a:solidFill>
                <a:latin typeface="+mn-lt"/>
                <a:cs typeface="Arial" panose="020B0604020202020204" pitchFamily="34" charset="0"/>
              </a:rPr>
              <a:t>. </a:t>
            </a:r>
            <a:br>
              <a:rPr lang="en-US" altLang="zh-TW" dirty="0">
                <a:solidFill>
                  <a:schemeClr val="tx1"/>
                </a:solidFill>
                <a:latin typeface="+mn-lt"/>
                <a:cs typeface="Arial" panose="020B0604020202020204" pitchFamily="34" charset="0"/>
              </a:rPr>
            </a:br>
            <a:r>
              <a:rPr lang="en-US" altLang="zh-TW" dirty="0">
                <a:solidFill>
                  <a:schemeClr val="tx1"/>
                </a:solidFill>
                <a:latin typeface="+mn-lt"/>
                <a:cs typeface="Arial" panose="020B0604020202020204" pitchFamily="34" charset="0"/>
              </a:rPr>
              <a:t>(Cannot change all corresponding numbers during runtime.)</a:t>
            </a:r>
          </a:p>
          <a:p>
            <a:pPr algn="l"/>
            <a:r>
              <a:rPr lang="en-US" altLang="zh-TW" dirty="0" err="1">
                <a:solidFill>
                  <a:schemeClr val="tx1"/>
                </a:solidFill>
                <a:latin typeface="+mj-lt"/>
                <a:cs typeface="Arial" panose="020B0604020202020204" pitchFamily="34" charset="0"/>
              </a:rPr>
              <a:t>s</a:t>
            </a:r>
            <a:r>
              <a:rPr kumimoji="1" lang="en-US" altLang="zh-TW" dirty="0" err="1">
                <a:solidFill>
                  <a:schemeClr val="tx1"/>
                </a:solidFill>
                <a:latin typeface="+mj-lt"/>
                <a:cs typeface="Arial" panose="020B0604020202020204" pitchFamily="34" charset="0"/>
              </a:rPr>
              <a:t>ys_call</a:t>
            </a:r>
            <a:r>
              <a:rPr lang="en-US" altLang="zh-TW" dirty="0" err="1">
                <a:solidFill>
                  <a:schemeClr val="tx1"/>
                </a:solidFill>
                <a:latin typeface="+mj-lt"/>
                <a:cs typeface="Arial" panose="020B0604020202020204" pitchFamily="34" charset="0"/>
              </a:rPr>
              <a:t>_table</a:t>
            </a:r>
            <a:r>
              <a:rPr lang="en-US" altLang="zh-TW" dirty="0">
                <a:solidFill>
                  <a:schemeClr val="tx1"/>
                </a:solidFill>
                <a:latin typeface="+mn-lt"/>
                <a:cs typeface="Arial" panose="020B0604020202020204" pitchFamily="34" charset="0"/>
              </a:rPr>
              <a:t>: The kernel </a:t>
            </a:r>
            <a:r>
              <a:rPr lang="en-US" altLang="zh-TW" dirty="0">
                <a:solidFill>
                  <a:srgbClr val="C00000"/>
                </a:solidFill>
                <a:latin typeface="+mn-lt"/>
                <a:cs typeface="Arial" panose="020B0604020202020204" pitchFamily="34" charset="0"/>
              </a:rPr>
              <a:t>keeps a list of all system calls </a:t>
            </a:r>
            <a:r>
              <a:rPr lang="en-US" altLang="zh-TW" dirty="0">
                <a:solidFill>
                  <a:schemeClr val="tx1"/>
                </a:solidFill>
                <a:latin typeface="+mn-lt"/>
                <a:cs typeface="Arial" panose="020B0604020202020204" pitchFamily="34" charset="0"/>
              </a:rPr>
              <a:t>in the system call table.</a:t>
            </a:r>
            <a:br>
              <a:rPr lang="en-US" altLang="zh-TW" dirty="0">
                <a:solidFill>
                  <a:schemeClr val="tx1"/>
                </a:solidFill>
                <a:latin typeface="+mn-lt"/>
                <a:cs typeface="Arial" panose="020B0604020202020204" pitchFamily="34" charset="0"/>
              </a:rPr>
            </a:br>
            <a:endParaRPr lang="en-US" altLang="zh-TW" dirty="0">
              <a:solidFill>
                <a:schemeClr val="tx1"/>
              </a:solidFill>
              <a:latin typeface="+mn-lt"/>
              <a:cs typeface="Arial" panose="020B0604020202020204" pitchFamily="34" charset="0"/>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25</a:t>
            </a:fld>
            <a:endParaRPr lang="zh-TW" altLang="en-US" dirty="0"/>
          </a:p>
        </p:txBody>
      </p:sp>
      <p:grpSp>
        <p:nvGrpSpPr>
          <p:cNvPr id="21" name="群組 20">
            <a:extLst>
              <a:ext uri="{FF2B5EF4-FFF2-40B4-BE49-F238E27FC236}">
                <a16:creationId xmlns:a16="http://schemas.microsoft.com/office/drawing/2014/main" id="{C9CB9B83-09AF-C3D9-1899-30520BBD2D0B}"/>
              </a:ext>
            </a:extLst>
          </p:cNvPr>
          <p:cNvGrpSpPr/>
          <p:nvPr/>
        </p:nvGrpSpPr>
        <p:grpSpPr>
          <a:xfrm>
            <a:off x="1303000" y="2646239"/>
            <a:ext cx="1506072" cy="1226445"/>
            <a:chOff x="1374717" y="4564687"/>
            <a:chExt cx="1506072" cy="1226445"/>
          </a:xfrm>
        </p:grpSpPr>
        <p:sp>
          <p:nvSpPr>
            <p:cNvPr id="6" name="矩形 5">
              <a:extLst>
                <a:ext uri="{FF2B5EF4-FFF2-40B4-BE49-F238E27FC236}">
                  <a16:creationId xmlns:a16="http://schemas.microsoft.com/office/drawing/2014/main" id="{12CBE47E-57B8-41E6-9F7C-3F4A6A64C777}"/>
                </a:ext>
              </a:extLst>
            </p:cNvPr>
            <p:cNvSpPr/>
            <p:nvPr/>
          </p:nvSpPr>
          <p:spPr>
            <a:xfrm>
              <a:off x="1374717" y="4564687"/>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Call to </a:t>
              </a:r>
              <a:r>
                <a:rPr kumimoji="1" lang="en-US" altLang="zh-TW" sz="1400" dirty="0" err="1">
                  <a:solidFill>
                    <a:schemeClr val="tx1"/>
                  </a:solidFill>
                  <a:latin typeface="Arial" panose="020B0604020202020204" pitchFamily="34" charset="0"/>
                  <a:cs typeface="Arial" panose="020B0604020202020204" pitchFamily="34" charset="0"/>
                </a:rPr>
                <a:t>printf</a:t>
              </a:r>
              <a:r>
                <a:rPr kumimoji="1" lang="en-US" altLang="zh-TW" sz="1400" dirty="0">
                  <a:solidFill>
                    <a:schemeClr val="tx1"/>
                  </a:solidFill>
                  <a:latin typeface="Arial" panose="020B0604020202020204" pitchFamily="34" charset="0"/>
                  <a:cs typeface="Arial" panose="020B0604020202020204" pitchFamily="34" charset="0"/>
                </a:rPr>
                <a:t>()</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5" name="文字方塊 4">
              <a:extLst>
                <a:ext uri="{FF2B5EF4-FFF2-40B4-BE49-F238E27FC236}">
                  <a16:creationId xmlns:a16="http://schemas.microsoft.com/office/drawing/2014/main" id="{63250FD1-45DD-3B5F-83A1-F5AC32B3A197}"/>
                </a:ext>
              </a:extLst>
            </p:cNvPr>
            <p:cNvSpPr txBox="1"/>
            <p:nvPr/>
          </p:nvSpPr>
          <p:spPr>
            <a:xfrm>
              <a:off x="1556999" y="5452578"/>
              <a:ext cx="1123577" cy="338554"/>
            </a:xfrm>
            <a:prstGeom prst="rect">
              <a:avLst/>
            </a:prstGeom>
            <a:noFill/>
          </p:spPr>
          <p:txBody>
            <a:bodyPr wrap="none" rtlCol="0">
              <a:spAutoFit/>
            </a:bodyPr>
            <a:lstStyle/>
            <a:p>
              <a:r>
                <a:rPr kumimoji="1" lang="en-US" altLang="zh-TW" sz="1600" dirty="0"/>
                <a:t>Application</a:t>
              </a:r>
              <a:endParaRPr kumimoji="1" lang="zh-TW" altLang="en-US" sz="1600" dirty="0"/>
            </a:p>
          </p:txBody>
        </p:sp>
      </p:grpSp>
      <p:grpSp>
        <p:nvGrpSpPr>
          <p:cNvPr id="22" name="群組 21">
            <a:extLst>
              <a:ext uri="{FF2B5EF4-FFF2-40B4-BE49-F238E27FC236}">
                <a16:creationId xmlns:a16="http://schemas.microsoft.com/office/drawing/2014/main" id="{C23C5D9D-DBBE-B51D-FAF6-1CF941979C10}"/>
              </a:ext>
            </a:extLst>
          </p:cNvPr>
          <p:cNvGrpSpPr/>
          <p:nvPr/>
        </p:nvGrpSpPr>
        <p:grpSpPr>
          <a:xfrm>
            <a:off x="2719208" y="2646239"/>
            <a:ext cx="5002632" cy="1224340"/>
            <a:chOff x="2790925" y="4564687"/>
            <a:chExt cx="5002632" cy="1224340"/>
          </a:xfrm>
        </p:grpSpPr>
        <p:sp>
          <p:nvSpPr>
            <p:cNvPr id="8" name="矩形 7">
              <a:extLst>
                <a:ext uri="{FF2B5EF4-FFF2-40B4-BE49-F238E27FC236}">
                  <a16:creationId xmlns:a16="http://schemas.microsoft.com/office/drawing/2014/main" id="{77D2BCF8-8CAA-D09A-E237-2A4CAE6565ED}"/>
                </a:ext>
              </a:extLst>
            </p:cNvPr>
            <p:cNvSpPr/>
            <p:nvPr/>
          </p:nvSpPr>
          <p:spPr>
            <a:xfrm>
              <a:off x="3633391" y="4564687"/>
              <a:ext cx="4160166"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err="1">
                  <a:solidFill>
                    <a:schemeClr val="tx1"/>
                  </a:solidFill>
                  <a:latin typeface="Arial" panose="020B0604020202020204" pitchFamily="34" charset="0"/>
                  <a:cs typeface="Arial" panose="020B0604020202020204" pitchFamily="34" charset="0"/>
                </a:rPr>
                <a:t>Printf</a:t>
              </a:r>
              <a:r>
                <a:rPr kumimoji="1" lang="en-US" altLang="zh-TW" sz="1400" dirty="0">
                  <a:solidFill>
                    <a:schemeClr val="tx1"/>
                  </a:solidFill>
                  <a:latin typeface="Arial" panose="020B0604020202020204" pitchFamily="34" charset="0"/>
                  <a:cs typeface="Arial" panose="020B0604020202020204" pitchFamily="34" charset="0"/>
                </a:rPr>
                <a:t>() in the C library          write() in the C library</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7" name="文字方塊 6">
              <a:extLst>
                <a:ext uri="{FF2B5EF4-FFF2-40B4-BE49-F238E27FC236}">
                  <a16:creationId xmlns:a16="http://schemas.microsoft.com/office/drawing/2014/main" id="{D48A97E4-3976-8AC0-AF77-E74BBFEABBF3}"/>
                </a:ext>
              </a:extLst>
            </p:cNvPr>
            <p:cNvSpPr txBox="1"/>
            <p:nvPr/>
          </p:nvSpPr>
          <p:spPr>
            <a:xfrm>
              <a:off x="5183571" y="5450473"/>
              <a:ext cx="912429" cy="338554"/>
            </a:xfrm>
            <a:prstGeom prst="rect">
              <a:avLst/>
            </a:prstGeom>
            <a:noFill/>
          </p:spPr>
          <p:txBody>
            <a:bodyPr wrap="none" rtlCol="0">
              <a:spAutoFit/>
            </a:bodyPr>
            <a:lstStyle/>
            <a:p>
              <a:r>
                <a:rPr kumimoji="1" lang="en-US" altLang="zh-TW" sz="1600" dirty="0"/>
                <a:t>C</a:t>
              </a:r>
              <a:r>
                <a:rPr kumimoji="1" lang="zh-TW" altLang="en-US" sz="1600" dirty="0"/>
                <a:t> </a:t>
              </a:r>
              <a:r>
                <a:rPr kumimoji="1" lang="en-US" altLang="zh-TW" sz="1600" dirty="0"/>
                <a:t>Library</a:t>
              </a:r>
              <a:endParaRPr kumimoji="1" lang="zh-TW" altLang="en-US" sz="1600" dirty="0"/>
            </a:p>
          </p:txBody>
        </p:sp>
        <p:cxnSp>
          <p:nvCxnSpPr>
            <p:cNvPr id="12" name="直線箭頭接點 11">
              <a:extLst>
                <a:ext uri="{FF2B5EF4-FFF2-40B4-BE49-F238E27FC236}">
                  <a16:creationId xmlns:a16="http://schemas.microsoft.com/office/drawing/2014/main" id="{CF72185F-7432-F332-E5A8-33DCD88F176E}"/>
                </a:ext>
              </a:extLst>
            </p:cNvPr>
            <p:cNvCxnSpPr>
              <a:cxnSpLocks/>
            </p:cNvCxnSpPr>
            <p:nvPr/>
          </p:nvCxnSpPr>
          <p:spPr>
            <a:xfrm>
              <a:off x="2790925" y="4968099"/>
              <a:ext cx="9595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箭頭接點 14">
              <a:extLst>
                <a:ext uri="{FF2B5EF4-FFF2-40B4-BE49-F238E27FC236}">
                  <a16:creationId xmlns:a16="http://schemas.microsoft.com/office/drawing/2014/main" id="{8DCB8E05-E7F4-0964-0D23-15FE89041CEE}"/>
                </a:ext>
              </a:extLst>
            </p:cNvPr>
            <p:cNvCxnSpPr>
              <a:cxnSpLocks/>
            </p:cNvCxnSpPr>
            <p:nvPr/>
          </p:nvCxnSpPr>
          <p:spPr>
            <a:xfrm>
              <a:off x="5552054" y="4968099"/>
              <a:ext cx="38581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3" name="群組 22">
            <a:extLst>
              <a:ext uri="{FF2B5EF4-FFF2-40B4-BE49-F238E27FC236}">
                <a16:creationId xmlns:a16="http://schemas.microsoft.com/office/drawing/2014/main" id="{0B8833AD-2DC0-6B8F-6C33-5E1DA431A085}"/>
              </a:ext>
            </a:extLst>
          </p:cNvPr>
          <p:cNvGrpSpPr/>
          <p:nvPr/>
        </p:nvGrpSpPr>
        <p:grpSpPr>
          <a:xfrm>
            <a:off x="7670987" y="2646239"/>
            <a:ext cx="2776125" cy="1224340"/>
            <a:chOff x="7742704" y="4564687"/>
            <a:chExt cx="2776125" cy="1224340"/>
          </a:xfrm>
        </p:grpSpPr>
        <p:sp>
          <p:nvSpPr>
            <p:cNvPr id="9" name="矩形 8">
              <a:extLst>
                <a:ext uri="{FF2B5EF4-FFF2-40B4-BE49-F238E27FC236}">
                  <a16:creationId xmlns:a16="http://schemas.microsoft.com/office/drawing/2014/main" id="{71677797-F4D9-849C-129D-39B19BB0BCE8}"/>
                </a:ext>
              </a:extLst>
            </p:cNvPr>
            <p:cNvSpPr/>
            <p:nvPr/>
          </p:nvSpPr>
          <p:spPr>
            <a:xfrm>
              <a:off x="8702254" y="4564687"/>
              <a:ext cx="1816575"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Write() system call</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0" name="文字方塊 9">
              <a:extLst>
                <a:ext uri="{FF2B5EF4-FFF2-40B4-BE49-F238E27FC236}">
                  <a16:creationId xmlns:a16="http://schemas.microsoft.com/office/drawing/2014/main" id="{3BA840B3-5FAC-6EC5-B4B6-1C91F65D5A05}"/>
                </a:ext>
              </a:extLst>
            </p:cNvPr>
            <p:cNvSpPr txBox="1"/>
            <p:nvPr/>
          </p:nvSpPr>
          <p:spPr>
            <a:xfrm>
              <a:off x="9250763" y="5450473"/>
              <a:ext cx="719556" cy="338554"/>
            </a:xfrm>
            <a:prstGeom prst="rect">
              <a:avLst/>
            </a:prstGeom>
            <a:noFill/>
          </p:spPr>
          <p:txBody>
            <a:bodyPr wrap="none" rtlCol="0">
              <a:spAutoFit/>
            </a:bodyPr>
            <a:lstStyle/>
            <a:p>
              <a:r>
                <a:rPr kumimoji="1" lang="en-US" altLang="zh-TW" sz="1600" dirty="0"/>
                <a:t>Kernel</a:t>
              </a:r>
              <a:endParaRPr kumimoji="1" lang="zh-TW" altLang="en-US" sz="1600" dirty="0"/>
            </a:p>
          </p:txBody>
        </p:sp>
        <p:cxnSp>
          <p:nvCxnSpPr>
            <p:cNvPr id="17" name="直線箭頭接點 16">
              <a:extLst>
                <a:ext uri="{FF2B5EF4-FFF2-40B4-BE49-F238E27FC236}">
                  <a16:creationId xmlns:a16="http://schemas.microsoft.com/office/drawing/2014/main" id="{7FC761FB-C59E-E4B0-31F6-59FA23AAD4D4}"/>
                </a:ext>
              </a:extLst>
            </p:cNvPr>
            <p:cNvCxnSpPr>
              <a:cxnSpLocks/>
            </p:cNvCxnSpPr>
            <p:nvPr/>
          </p:nvCxnSpPr>
          <p:spPr>
            <a:xfrm>
              <a:off x="7742704" y="4968099"/>
              <a:ext cx="112661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4" name="文字方塊 23">
            <a:extLst>
              <a:ext uri="{FF2B5EF4-FFF2-40B4-BE49-F238E27FC236}">
                <a16:creationId xmlns:a16="http://schemas.microsoft.com/office/drawing/2014/main" id="{819653BF-D3E3-1E3A-94F0-AF84B17EC7AF}"/>
              </a:ext>
            </a:extLst>
          </p:cNvPr>
          <p:cNvSpPr txBox="1"/>
          <p:nvPr/>
        </p:nvSpPr>
        <p:spPr>
          <a:xfrm>
            <a:off x="10489138" y="2680319"/>
            <a:ext cx="1483035" cy="738664"/>
          </a:xfrm>
          <a:prstGeom prst="rect">
            <a:avLst/>
          </a:prstGeom>
          <a:noFill/>
        </p:spPr>
        <p:txBody>
          <a:bodyPr wrap="none" rtlCol="0">
            <a:spAutoFit/>
          </a:bodyPr>
          <a:lstStyle/>
          <a:p>
            <a:r>
              <a:rPr kumimoji="1" lang="en-US" altLang="zh-TW" sz="1400" i="1" dirty="0">
                <a:solidFill>
                  <a:schemeClr val="accent5"/>
                </a:solidFill>
              </a:rPr>
              <a:t>Monitor is a </a:t>
            </a:r>
            <a:br>
              <a:rPr kumimoji="1" lang="en-US" altLang="zh-TW" sz="1400" i="1" dirty="0">
                <a:solidFill>
                  <a:schemeClr val="accent5"/>
                </a:solidFill>
              </a:rPr>
            </a:br>
            <a:r>
              <a:rPr kumimoji="1" lang="en-US" altLang="zh-TW" sz="1400" i="1" dirty="0">
                <a:solidFill>
                  <a:schemeClr val="accent5"/>
                </a:solidFill>
              </a:rPr>
              <a:t>character device! </a:t>
            </a:r>
          </a:p>
          <a:p>
            <a:r>
              <a:rPr kumimoji="1" lang="en-US" altLang="zh-TW" sz="1400" i="1" dirty="0">
                <a:solidFill>
                  <a:schemeClr val="accent5"/>
                </a:solidFill>
              </a:rPr>
              <a:t>(Backed by a file)</a:t>
            </a:r>
            <a:endParaRPr kumimoji="1" lang="zh-TW" altLang="en-US" sz="1400" i="1" dirty="0">
              <a:solidFill>
                <a:schemeClr val="accent5"/>
              </a:solidFill>
            </a:endParaRPr>
          </a:p>
        </p:txBody>
      </p:sp>
      <p:pic>
        <p:nvPicPr>
          <p:cNvPr id="28" name="圖片 27">
            <a:extLst>
              <a:ext uri="{FF2B5EF4-FFF2-40B4-BE49-F238E27FC236}">
                <a16:creationId xmlns:a16="http://schemas.microsoft.com/office/drawing/2014/main" id="{B5B52799-451F-D51A-328F-2DA9153616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8518" y="5186609"/>
            <a:ext cx="5105400" cy="1282700"/>
          </a:xfrm>
          <a:prstGeom prst="rect">
            <a:avLst/>
          </a:prstGeom>
        </p:spPr>
      </p:pic>
      <p:sp>
        <p:nvSpPr>
          <p:cNvPr id="29" name="文字方塊 28">
            <a:extLst>
              <a:ext uri="{FF2B5EF4-FFF2-40B4-BE49-F238E27FC236}">
                <a16:creationId xmlns:a16="http://schemas.microsoft.com/office/drawing/2014/main" id="{DD206F09-F06D-1592-438E-33A4F879AED7}"/>
              </a:ext>
            </a:extLst>
          </p:cNvPr>
          <p:cNvSpPr txBox="1"/>
          <p:nvPr/>
        </p:nvSpPr>
        <p:spPr>
          <a:xfrm>
            <a:off x="3782133" y="6550223"/>
            <a:ext cx="4133119" cy="307777"/>
          </a:xfrm>
          <a:prstGeom prst="rect">
            <a:avLst/>
          </a:prstGeom>
          <a:noFill/>
        </p:spPr>
        <p:txBody>
          <a:bodyPr wrap="none" rtlCol="0">
            <a:spAutoFit/>
          </a:bodyPr>
          <a:lstStyle/>
          <a:p>
            <a:r>
              <a:rPr kumimoji="1" lang="en-US" altLang="zh-TW" sz="1400" i="1" dirty="0">
                <a:solidFill>
                  <a:schemeClr val="accent5"/>
                </a:solidFill>
              </a:rPr>
              <a:t>Linux</a:t>
            </a:r>
            <a:r>
              <a:rPr kumimoji="1" lang="zh-TW" altLang="en-US" sz="1400" i="1" dirty="0">
                <a:solidFill>
                  <a:schemeClr val="accent5"/>
                </a:solidFill>
              </a:rPr>
              <a:t> </a:t>
            </a:r>
            <a:r>
              <a:rPr kumimoji="1" lang="en-US" altLang="zh-TW" sz="1400" i="1" dirty="0">
                <a:solidFill>
                  <a:schemeClr val="accent5"/>
                </a:solidFill>
              </a:rPr>
              <a:t>4.17.4</a:t>
            </a:r>
            <a:r>
              <a:rPr kumimoji="1" lang="zh-TW" altLang="en-US" sz="1400" i="1" dirty="0">
                <a:solidFill>
                  <a:schemeClr val="accent5"/>
                </a:solidFill>
              </a:rPr>
              <a:t> </a:t>
            </a:r>
            <a:r>
              <a:rPr kumimoji="1" lang="en-US" altLang="zh-TW" sz="1400" i="1" dirty="0">
                <a:solidFill>
                  <a:schemeClr val="accent5"/>
                </a:solidFill>
                <a:sym typeface="Wingdings" pitchFamily="2" charset="2"/>
              </a:rPr>
              <a:t></a:t>
            </a:r>
            <a:r>
              <a:rPr kumimoji="1" lang="zh-TW" altLang="en-US" sz="1400" i="1" dirty="0">
                <a:solidFill>
                  <a:schemeClr val="accent5"/>
                </a:solidFill>
                <a:sym typeface="Wingdings" pitchFamily="2" charset="2"/>
              </a:rPr>
              <a:t> </a:t>
            </a:r>
            <a:r>
              <a:rPr kumimoji="1" lang="en-US" altLang="zh-TW" sz="1400" i="1" dirty="0">
                <a:solidFill>
                  <a:schemeClr val="accent5"/>
                </a:solidFill>
                <a:sym typeface="Wingdings" pitchFamily="2" charset="2"/>
              </a:rPr>
              <a:t>/arch/x86/entry/</a:t>
            </a:r>
            <a:r>
              <a:rPr kumimoji="1" lang="en-US" altLang="zh-TW" sz="1400" i="1" dirty="0" err="1">
                <a:solidFill>
                  <a:schemeClr val="accent5"/>
                </a:solidFill>
                <a:sym typeface="Wingdings" pitchFamily="2" charset="2"/>
              </a:rPr>
              <a:t>syscalls</a:t>
            </a:r>
            <a:r>
              <a:rPr kumimoji="1" lang="en-US" altLang="zh-TW" sz="1400" i="1" dirty="0">
                <a:solidFill>
                  <a:schemeClr val="accent5"/>
                </a:solidFill>
                <a:sym typeface="Wingdings" pitchFamily="2" charset="2"/>
              </a:rPr>
              <a:t>/syscall_64.tbl</a:t>
            </a:r>
            <a:endParaRPr kumimoji="1" lang="zh-TW" altLang="en-US" sz="1400" i="1" dirty="0">
              <a:solidFill>
                <a:schemeClr val="accent5"/>
              </a:solidFill>
            </a:endParaRPr>
          </a:p>
        </p:txBody>
      </p:sp>
    </p:spTree>
    <p:extLst>
      <p:ext uri="{BB962C8B-B14F-4D97-AF65-F5344CB8AC3E}">
        <p14:creationId xmlns:p14="http://schemas.microsoft.com/office/powerpoint/2010/main" val="2229403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cs typeface="Arial" panose="020B0604020202020204" pitchFamily="34" charset="0"/>
              </a:rPr>
              <a:t>System</a:t>
            </a:r>
            <a:r>
              <a:rPr lang="zh-TW" altLang="en-US" sz="4000" dirty="0">
                <a:cs typeface="Arial" panose="020B0604020202020204" pitchFamily="34" charset="0"/>
              </a:rPr>
              <a:t> </a:t>
            </a:r>
            <a:r>
              <a:rPr lang="en-US" altLang="zh-TW" sz="4000" dirty="0">
                <a:cs typeface="Arial" panose="020B0604020202020204" pitchFamily="34" charset="0"/>
              </a:rPr>
              <a:t>Call</a:t>
            </a:r>
            <a:r>
              <a:rPr lang="zh-TW" altLang="en-US" sz="4000" dirty="0">
                <a:cs typeface="Arial" panose="020B0604020202020204" pitchFamily="34" charset="0"/>
              </a:rPr>
              <a:t> </a:t>
            </a:r>
            <a:r>
              <a:rPr lang="en-US" altLang="zh-TW" sz="4000" dirty="0">
                <a:cs typeface="Arial" panose="020B0604020202020204" pitchFamily="34" charset="0"/>
              </a:rPr>
              <a:t>Handler</a:t>
            </a: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lang="en-US" altLang="zh-TW" dirty="0">
                <a:solidFill>
                  <a:schemeClr val="tx1"/>
                </a:solidFill>
                <a:latin typeface="+mn-lt"/>
                <a:cs typeface="Arial" panose="020B0604020202020204" pitchFamily="34" charset="0"/>
              </a:rPr>
              <a:t>How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run</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endParaRPr lang="en-US" altLang="zh-TW" dirty="0">
              <a:solidFill>
                <a:schemeClr val="tx1"/>
              </a:solidFill>
              <a:latin typeface="+mn-lt"/>
              <a:cs typeface="Arial" panose="020B0604020202020204" pitchFamily="34" charset="0"/>
            </a:endParaRPr>
          </a:p>
          <a:p>
            <a:pPr lvl="1" algn="l"/>
            <a:r>
              <a:rPr lang="en-US" altLang="zh-TW" dirty="0">
                <a:solidFill>
                  <a:schemeClr val="tx1"/>
                </a:solidFill>
                <a:latin typeface="+mn-lt"/>
                <a:cs typeface="Arial" panose="020B0604020202020204" pitchFamily="34" charset="0"/>
              </a:rPr>
              <a:t>User-space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applications</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must</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somehow</a:t>
            </a:r>
            <a:r>
              <a:rPr lang="zh-TW" altLang="en-US" dirty="0">
                <a:solidFill>
                  <a:schemeClr val="tx1"/>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signal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kernel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sym typeface="Wingdings" pitchFamily="2" charset="2"/>
              </a:rPr>
              <a:t>system</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call</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handler</a:t>
            </a:r>
            <a:endParaRPr lang="en-US" altLang="zh-TW" dirty="0">
              <a:solidFill>
                <a:schemeClr val="tx1"/>
              </a:solidFill>
              <a:latin typeface="+mn-lt"/>
              <a:cs typeface="Arial" panose="020B0604020202020204" pitchFamily="34" charset="0"/>
            </a:endParaRPr>
          </a:p>
          <a:p>
            <a:pPr lvl="1" algn="l"/>
            <a:r>
              <a:rPr kumimoji="1" lang="en-US" altLang="zh-TW" dirty="0">
                <a:solidFill>
                  <a:schemeClr val="tx1"/>
                </a:solidFill>
                <a:latin typeface="+mn-lt"/>
                <a:cs typeface="Arial" panose="020B0604020202020204" pitchFamily="34" charset="0"/>
              </a:rPr>
              <a:t>The</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CPU</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switches</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from</a:t>
            </a:r>
            <a:r>
              <a:rPr kumimoji="1" lang="zh-TW" altLang="en-US" dirty="0">
                <a:solidFill>
                  <a:schemeClr val="tx1"/>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user</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mode</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to</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kernel</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mode </a:t>
            </a:r>
            <a:r>
              <a:rPr kumimoji="1" lang="en-US" altLang="zh-TW" dirty="0">
                <a:solidFill>
                  <a:schemeClr val="tx1"/>
                </a:solidFill>
                <a:latin typeface="+mn-lt"/>
                <a:cs typeface="Arial" panose="020B0604020202020204" pitchFamily="34" charset="0"/>
              </a:rPr>
              <a:t>(</a:t>
            </a:r>
            <a:r>
              <a:rPr kumimoji="1" lang="en-US" altLang="zh-TW" b="1" dirty="0">
                <a:solidFill>
                  <a:schemeClr val="tx1"/>
                </a:solidFill>
                <a:latin typeface="+mn-lt"/>
                <a:cs typeface="Arial" panose="020B0604020202020204" pitchFamily="34" charset="0"/>
              </a:rPr>
              <a:t>Not Context Switch!!</a:t>
            </a:r>
            <a:r>
              <a:rPr kumimoji="1" lang="en-US" altLang="zh-TW" dirty="0">
                <a:solidFill>
                  <a:schemeClr val="tx1"/>
                </a:solidFill>
                <a:latin typeface="+mn-lt"/>
                <a:cs typeface="Arial" panose="020B0604020202020204" pitchFamily="34" charset="0"/>
              </a:rPr>
              <a:t>)</a:t>
            </a:r>
          </a:p>
          <a:p>
            <a:pPr lvl="1" algn="l"/>
            <a:r>
              <a:rPr lang="en-US" altLang="zh-TW" dirty="0">
                <a:solidFill>
                  <a:schemeClr val="tx1"/>
                </a:solidFill>
                <a:latin typeface="+mn-lt"/>
                <a:cs typeface="Arial" panose="020B0604020202020204" pitchFamily="34" charset="0"/>
              </a:rPr>
              <a:t>Execute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code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corresponding</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endParaRPr kumimoji="1" lang="en-US" altLang="zh-TW" dirty="0">
              <a:solidFill>
                <a:schemeClr val="tx1"/>
              </a:solidFill>
              <a:latin typeface="+mn-lt"/>
              <a:cs typeface="Arial" panose="020B0604020202020204" pitchFamily="34" charset="0"/>
            </a:endParaRPr>
          </a:p>
          <a:p>
            <a:pPr algn="l"/>
            <a:r>
              <a:rPr kumimoji="1" lang="en-US" altLang="zh-TW" dirty="0">
                <a:solidFill>
                  <a:schemeClr val="tx1"/>
                </a:solidFill>
                <a:latin typeface="+mn-lt"/>
                <a:cs typeface="Arial" panose="020B0604020202020204" pitchFamily="34" charset="0"/>
              </a:rPr>
              <a:t>Details for System</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call</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handler</a:t>
            </a:r>
          </a:p>
          <a:p>
            <a:pPr lvl="1" algn="l"/>
            <a:r>
              <a:rPr lang="en-US" altLang="zh-TW" dirty="0">
                <a:solidFill>
                  <a:schemeClr val="tx1"/>
                </a:solidFill>
                <a:latin typeface="+mn-lt"/>
                <a:cs typeface="Arial" panose="020B0604020202020204" pitchFamily="34" charset="0"/>
              </a:rPr>
              <a:t>How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signal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sym typeface="Wingdings" pitchFamily="2" charset="2"/>
              </a:rPr>
              <a:t></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Software</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interrupt</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(i.e.,</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an</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exception)</a:t>
            </a:r>
          </a:p>
          <a:p>
            <a:pPr lvl="1" algn="l"/>
            <a:r>
              <a:rPr kumimoji="1" lang="en-US" altLang="zh-TW" dirty="0">
                <a:solidFill>
                  <a:schemeClr val="tx1"/>
                </a:solidFill>
                <a:latin typeface="+mn-lt"/>
                <a:cs typeface="Arial" panose="020B0604020202020204" pitchFamily="34" charset="0"/>
                <a:sym typeface="Wingdings" pitchFamily="2" charset="2"/>
              </a:rPr>
              <a:t>Run</a:t>
            </a:r>
            <a:r>
              <a:rPr kumimoji="1" lang="zh-TW" altLang="en-US" dirty="0">
                <a:solidFill>
                  <a:schemeClr val="tx1"/>
                </a:solidFill>
                <a:latin typeface="+mn-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INT</a:t>
            </a:r>
            <a:r>
              <a:rPr kumimoji="1" lang="zh-TW" altLang="en-US" dirty="0">
                <a:solidFill>
                  <a:schemeClr val="tx1"/>
                </a:solidFill>
                <a:latin typeface="+mj-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$0x80</a:t>
            </a:r>
            <a:r>
              <a:rPr kumimoji="1" lang="zh-TW" altLang="en-US" dirty="0">
                <a:solidFill>
                  <a:schemeClr val="tx1"/>
                </a:solidFill>
                <a:latin typeface="+mj-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a:t>
            </a:r>
            <a:r>
              <a:rPr kumimoji="1" lang="zh-TW" altLang="en-US" dirty="0">
                <a:solidFill>
                  <a:schemeClr val="tx1"/>
                </a:solidFill>
                <a:latin typeface="+mj-lt"/>
                <a:cs typeface="Arial" panose="020B0604020202020204" pitchFamily="34" charset="0"/>
                <a:sym typeface="Wingdings" pitchFamily="2" charset="2"/>
              </a:rPr>
              <a:t> </a:t>
            </a:r>
            <a:r>
              <a:rPr kumimoji="1" lang="en-US" altLang="zh-TW" u="sng" dirty="0">
                <a:solidFill>
                  <a:schemeClr val="tx1"/>
                </a:solidFill>
                <a:latin typeface="+mj-lt"/>
                <a:cs typeface="Arial" panose="020B0604020202020204" pitchFamily="34" charset="0"/>
                <a:sym typeface="Wingdings" pitchFamily="2" charset="2"/>
              </a:rPr>
              <a:t>Interrupt</a:t>
            </a:r>
            <a:r>
              <a:rPr kumimoji="1" lang="zh-TW" altLang="en-US" u="sng" dirty="0">
                <a:solidFill>
                  <a:schemeClr val="tx1"/>
                </a:solidFill>
                <a:latin typeface="+mj-lt"/>
                <a:cs typeface="Arial" panose="020B0604020202020204" pitchFamily="34" charset="0"/>
                <a:sym typeface="Wingdings" pitchFamily="2" charset="2"/>
              </a:rPr>
              <a:t> </a:t>
            </a:r>
            <a:r>
              <a:rPr kumimoji="1" lang="en-US" altLang="zh-TW" u="sng" dirty="0">
                <a:solidFill>
                  <a:schemeClr val="tx1"/>
                </a:solidFill>
                <a:latin typeface="+mj-lt"/>
                <a:cs typeface="Arial" panose="020B0604020202020204" pitchFamily="34" charset="0"/>
                <a:sym typeface="Wingdings" pitchFamily="2" charset="2"/>
              </a:rPr>
              <a:t>Instruction</a:t>
            </a:r>
            <a:r>
              <a:rPr kumimoji="1" lang="en-US" altLang="zh-TW" dirty="0">
                <a:solidFill>
                  <a:schemeClr val="tx1"/>
                </a:solidFill>
                <a:latin typeface="+mj-lt"/>
                <a:cs typeface="Arial" panose="020B0604020202020204" pitchFamily="34" charset="0"/>
                <a:sym typeface="Wingdings" pitchFamily="2" charset="2"/>
              </a:rPr>
              <a:t>,</a:t>
            </a:r>
            <a:r>
              <a:rPr kumimoji="1" lang="zh-TW" altLang="en-US" dirty="0">
                <a:solidFill>
                  <a:schemeClr val="tx1"/>
                </a:solidFill>
                <a:latin typeface="+mj-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number</a:t>
            </a:r>
            <a:r>
              <a:rPr kumimoji="1" lang="zh-TW" altLang="en-US" dirty="0">
                <a:solidFill>
                  <a:schemeClr val="tx1"/>
                </a:solidFill>
                <a:latin typeface="+mj-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128</a:t>
            </a:r>
            <a:r>
              <a:rPr kumimoji="1" lang="zh-TW" altLang="en-US" dirty="0">
                <a:solidFill>
                  <a:schemeClr val="tx1"/>
                </a:solidFill>
                <a:latin typeface="+mj-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(runs</a:t>
            </a:r>
            <a:r>
              <a:rPr kumimoji="1"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the</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system</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call</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handler)</a:t>
            </a: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26</a:t>
            </a:fld>
            <a:endParaRPr lang="zh-TW" altLang="en-US" dirty="0"/>
          </a:p>
        </p:txBody>
      </p:sp>
      <p:grpSp>
        <p:nvGrpSpPr>
          <p:cNvPr id="5" name="群組 4">
            <a:extLst>
              <a:ext uri="{FF2B5EF4-FFF2-40B4-BE49-F238E27FC236}">
                <a16:creationId xmlns:a16="http://schemas.microsoft.com/office/drawing/2014/main" id="{6B9663D2-F3FE-40A7-99CF-EA310317172B}"/>
              </a:ext>
            </a:extLst>
          </p:cNvPr>
          <p:cNvGrpSpPr/>
          <p:nvPr/>
        </p:nvGrpSpPr>
        <p:grpSpPr>
          <a:xfrm>
            <a:off x="177800" y="4785940"/>
            <a:ext cx="10971270" cy="1894260"/>
            <a:chOff x="94406" y="4919672"/>
            <a:chExt cx="11693642" cy="1894260"/>
          </a:xfrm>
        </p:grpSpPr>
        <p:grpSp>
          <p:nvGrpSpPr>
            <p:cNvPr id="7" name="群組 6">
              <a:extLst>
                <a:ext uri="{FF2B5EF4-FFF2-40B4-BE49-F238E27FC236}">
                  <a16:creationId xmlns:a16="http://schemas.microsoft.com/office/drawing/2014/main" id="{867E99F5-ED0C-D680-D8B7-DE122EDDEC3E}"/>
                </a:ext>
              </a:extLst>
            </p:cNvPr>
            <p:cNvGrpSpPr/>
            <p:nvPr/>
          </p:nvGrpSpPr>
          <p:grpSpPr>
            <a:xfrm>
              <a:off x="177800" y="5295500"/>
              <a:ext cx="11610248" cy="1518432"/>
              <a:chOff x="1011718" y="5339568"/>
              <a:chExt cx="3473773" cy="1340629"/>
            </a:xfrm>
          </p:grpSpPr>
          <p:sp>
            <p:nvSpPr>
              <p:cNvPr id="12" name="矩形 11">
                <a:extLst>
                  <a:ext uri="{FF2B5EF4-FFF2-40B4-BE49-F238E27FC236}">
                    <a16:creationId xmlns:a16="http://schemas.microsoft.com/office/drawing/2014/main" id="{0BC0BEBC-B884-8775-62D1-AACDF4CD903D}"/>
                  </a:ext>
                </a:extLst>
              </p:cNvPr>
              <p:cNvSpPr/>
              <p:nvPr/>
            </p:nvSpPr>
            <p:spPr>
              <a:xfrm>
                <a:off x="1011718" y="5339568"/>
                <a:ext cx="3473773" cy="134062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cxnSp>
            <p:nvCxnSpPr>
              <p:cNvPr id="13" name="直線接點 12">
                <a:extLst>
                  <a:ext uri="{FF2B5EF4-FFF2-40B4-BE49-F238E27FC236}">
                    <a16:creationId xmlns:a16="http://schemas.microsoft.com/office/drawing/2014/main" id="{763E2091-03C9-F071-2548-F1BF805C5C8A}"/>
                  </a:ext>
                </a:extLst>
              </p:cNvPr>
              <p:cNvCxnSpPr>
                <a:cxnSpLocks/>
              </p:cNvCxnSpPr>
              <p:nvPr/>
            </p:nvCxnSpPr>
            <p:spPr>
              <a:xfrm>
                <a:off x="1011718" y="5339568"/>
                <a:ext cx="3473773" cy="0"/>
              </a:xfrm>
              <a:prstGeom prst="line">
                <a:avLst/>
              </a:prstGeom>
              <a:ln w="317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0" name="文字方塊 9">
              <a:extLst>
                <a:ext uri="{FF2B5EF4-FFF2-40B4-BE49-F238E27FC236}">
                  <a16:creationId xmlns:a16="http://schemas.microsoft.com/office/drawing/2014/main" id="{8DA9D449-5BD2-19D5-8979-96515FCD4B1D}"/>
                </a:ext>
              </a:extLst>
            </p:cNvPr>
            <p:cNvSpPr txBox="1"/>
            <p:nvPr/>
          </p:nvSpPr>
          <p:spPr>
            <a:xfrm>
              <a:off x="94406" y="4919672"/>
              <a:ext cx="1117614" cy="338554"/>
            </a:xfrm>
            <a:prstGeom prst="rect">
              <a:avLst/>
            </a:prstGeom>
            <a:noFill/>
          </p:spPr>
          <p:txBody>
            <a:bodyPr wrap="none" rtlCol="0">
              <a:spAutoFit/>
            </a:bodyPr>
            <a:lstStyle/>
            <a:p>
              <a:r>
                <a:rPr kumimoji="1" lang="en-US" altLang="zh-TW" sz="1600" b="1" i="1" u="sng" dirty="0">
                  <a:solidFill>
                    <a:srgbClr val="C00000"/>
                  </a:solidFill>
                </a:rPr>
                <a:t>User Mode</a:t>
              </a:r>
              <a:endParaRPr kumimoji="1" lang="zh-TW" altLang="en-US" sz="1600" b="1" i="1" u="sng" dirty="0">
                <a:solidFill>
                  <a:srgbClr val="C00000"/>
                </a:solidFill>
              </a:endParaRPr>
            </a:p>
          </p:txBody>
        </p:sp>
        <p:sp>
          <p:nvSpPr>
            <p:cNvPr id="11" name="文字方塊 10">
              <a:extLst>
                <a:ext uri="{FF2B5EF4-FFF2-40B4-BE49-F238E27FC236}">
                  <a16:creationId xmlns:a16="http://schemas.microsoft.com/office/drawing/2014/main" id="{C0173A99-910A-D1D4-D835-A2BA27D8B258}"/>
                </a:ext>
              </a:extLst>
            </p:cNvPr>
            <p:cNvSpPr txBox="1"/>
            <p:nvPr/>
          </p:nvSpPr>
          <p:spPr>
            <a:xfrm>
              <a:off x="105622" y="5339567"/>
              <a:ext cx="1270476" cy="338554"/>
            </a:xfrm>
            <a:prstGeom prst="rect">
              <a:avLst/>
            </a:prstGeom>
            <a:noFill/>
          </p:spPr>
          <p:txBody>
            <a:bodyPr wrap="none" rtlCol="0">
              <a:spAutoFit/>
            </a:bodyPr>
            <a:lstStyle/>
            <a:p>
              <a:r>
                <a:rPr kumimoji="1" lang="en-US" altLang="zh-TW" sz="1600" b="1" i="1" u="sng" dirty="0">
                  <a:solidFill>
                    <a:srgbClr val="C00000"/>
                  </a:solidFill>
                </a:rPr>
                <a:t>Kernel Mode</a:t>
              </a:r>
              <a:endParaRPr kumimoji="1" lang="zh-TW" altLang="en-US" sz="1600" b="1" i="1" u="sng" dirty="0">
                <a:solidFill>
                  <a:srgbClr val="C00000"/>
                </a:solidFill>
              </a:endParaRPr>
            </a:p>
          </p:txBody>
        </p:sp>
      </p:grpSp>
      <p:grpSp>
        <p:nvGrpSpPr>
          <p:cNvPr id="14" name="群組 13">
            <a:extLst>
              <a:ext uri="{FF2B5EF4-FFF2-40B4-BE49-F238E27FC236}">
                <a16:creationId xmlns:a16="http://schemas.microsoft.com/office/drawing/2014/main" id="{C8C435FD-212C-666E-551C-539F9F21CF83}"/>
              </a:ext>
            </a:extLst>
          </p:cNvPr>
          <p:cNvGrpSpPr/>
          <p:nvPr/>
        </p:nvGrpSpPr>
        <p:grpSpPr>
          <a:xfrm>
            <a:off x="1780148" y="4257450"/>
            <a:ext cx="1395534" cy="1395534"/>
            <a:chOff x="1323298" y="4313407"/>
            <a:chExt cx="1395534" cy="1395534"/>
          </a:xfrm>
        </p:grpSpPr>
        <p:pic>
          <p:nvPicPr>
            <p:cNvPr id="15" name="圖片 14">
              <a:extLst>
                <a:ext uri="{FF2B5EF4-FFF2-40B4-BE49-F238E27FC236}">
                  <a16:creationId xmlns:a16="http://schemas.microsoft.com/office/drawing/2014/main" id="{21FEFCD4-F3A1-3E46-4500-5397C78161B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16" name="文字方塊 15">
              <a:extLst>
                <a:ext uri="{FF2B5EF4-FFF2-40B4-BE49-F238E27FC236}">
                  <a16:creationId xmlns:a16="http://schemas.microsoft.com/office/drawing/2014/main" id="{35724DAC-5065-6B30-833F-E2B6C8398157}"/>
                </a:ext>
              </a:extLst>
            </p:cNvPr>
            <p:cNvSpPr txBox="1"/>
            <p:nvPr/>
          </p:nvSpPr>
          <p:spPr>
            <a:xfrm>
              <a:off x="1572186" y="5033662"/>
              <a:ext cx="994373" cy="318924"/>
            </a:xfrm>
            <a:prstGeom prst="rect">
              <a:avLst/>
            </a:prstGeom>
            <a:solidFill>
              <a:srgbClr val="F6DF98"/>
            </a:solidFill>
          </p:spPr>
          <p:txBody>
            <a:bodyPr wrap="square" lIns="36000" tIns="36000" rIns="36000" bIns="36000" rtlCol="0" anchor="ctr">
              <a:spAutoFit/>
            </a:bodyPr>
            <a:lstStyle/>
            <a:p>
              <a:pPr algn="ctr"/>
              <a:r>
                <a:rPr kumimoji="1" lang="en-US" altLang="zh-TW" sz="1600" b="1" dirty="0">
                  <a:solidFill>
                    <a:schemeClr val="accent5"/>
                  </a:solidFill>
                </a:rPr>
                <a:t>Process A</a:t>
              </a:r>
              <a:endParaRPr kumimoji="1" lang="zh-TW" altLang="en-US" sz="1600" b="1" dirty="0">
                <a:solidFill>
                  <a:schemeClr val="accent5"/>
                </a:solidFill>
              </a:endParaRPr>
            </a:p>
          </p:txBody>
        </p:sp>
      </p:grpSp>
      <p:grpSp>
        <p:nvGrpSpPr>
          <p:cNvPr id="17" name="群組 16">
            <a:extLst>
              <a:ext uri="{FF2B5EF4-FFF2-40B4-BE49-F238E27FC236}">
                <a16:creationId xmlns:a16="http://schemas.microsoft.com/office/drawing/2014/main" id="{A4964323-846C-7F2E-DECF-B4921B97C938}"/>
              </a:ext>
            </a:extLst>
          </p:cNvPr>
          <p:cNvGrpSpPr/>
          <p:nvPr/>
        </p:nvGrpSpPr>
        <p:grpSpPr>
          <a:xfrm>
            <a:off x="3427259" y="5290573"/>
            <a:ext cx="1395534" cy="1395534"/>
            <a:chOff x="1323298" y="4313407"/>
            <a:chExt cx="1395534" cy="1395534"/>
          </a:xfrm>
        </p:grpSpPr>
        <p:pic>
          <p:nvPicPr>
            <p:cNvPr id="18" name="圖片 17">
              <a:extLst>
                <a:ext uri="{FF2B5EF4-FFF2-40B4-BE49-F238E27FC236}">
                  <a16:creationId xmlns:a16="http://schemas.microsoft.com/office/drawing/2014/main" id="{62B1361E-02A9-4ED5-DCCD-0842692BD9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19" name="文字方塊 18">
              <a:extLst>
                <a:ext uri="{FF2B5EF4-FFF2-40B4-BE49-F238E27FC236}">
                  <a16:creationId xmlns:a16="http://schemas.microsoft.com/office/drawing/2014/main" id="{426345CD-3BE6-B223-F85A-71DCFD4F63A2}"/>
                </a:ext>
              </a:extLst>
            </p:cNvPr>
            <p:cNvSpPr txBox="1"/>
            <p:nvPr/>
          </p:nvSpPr>
          <p:spPr>
            <a:xfrm>
              <a:off x="1550338" y="4961690"/>
              <a:ext cx="1035586" cy="492443"/>
            </a:xfrm>
            <a:prstGeom prst="rect">
              <a:avLst/>
            </a:prstGeom>
            <a:solidFill>
              <a:srgbClr val="F6DF98"/>
            </a:solidFill>
          </p:spPr>
          <p:txBody>
            <a:bodyPr wrap="square" lIns="0" tIns="0" rIns="0" bIns="0" rtlCol="0">
              <a:spAutoFit/>
            </a:bodyPr>
            <a:lstStyle/>
            <a:p>
              <a:pPr algn="ctr"/>
              <a:r>
                <a:rPr kumimoji="1" lang="en-US" altLang="zh-TW" sz="1600" b="1" dirty="0">
                  <a:solidFill>
                    <a:schemeClr val="accent5"/>
                  </a:solidFill>
                </a:rPr>
                <a:t>System Call</a:t>
              </a:r>
              <a:br>
                <a:rPr kumimoji="1" lang="en-US" altLang="zh-TW" sz="1600" b="1" dirty="0">
                  <a:solidFill>
                    <a:schemeClr val="accent5"/>
                  </a:solidFill>
                </a:rPr>
              </a:br>
              <a:r>
                <a:rPr kumimoji="1" lang="en-US" altLang="zh-TW" sz="1600" b="1" dirty="0">
                  <a:solidFill>
                    <a:schemeClr val="accent5"/>
                  </a:solidFill>
                </a:rPr>
                <a:t>Handler</a:t>
              </a:r>
              <a:endParaRPr kumimoji="1" lang="zh-TW" altLang="en-US" sz="1600" b="1" dirty="0">
                <a:solidFill>
                  <a:schemeClr val="accent5"/>
                </a:solidFill>
              </a:endParaRPr>
            </a:p>
          </p:txBody>
        </p:sp>
      </p:grpSp>
      <p:sp>
        <p:nvSpPr>
          <p:cNvPr id="20" name="雲朵形圖說文字 19">
            <a:extLst>
              <a:ext uri="{FF2B5EF4-FFF2-40B4-BE49-F238E27FC236}">
                <a16:creationId xmlns:a16="http://schemas.microsoft.com/office/drawing/2014/main" id="{74869462-BAB6-EA84-7E81-967AF5CE49F9}"/>
              </a:ext>
            </a:extLst>
          </p:cNvPr>
          <p:cNvSpPr/>
          <p:nvPr/>
        </p:nvSpPr>
        <p:spPr>
          <a:xfrm>
            <a:off x="3110368" y="4385864"/>
            <a:ext cx="3128503" cy="738630"/>
          </a:xfrm>
          <a:prstGeom prst="cloudCallout">
            <a:avLst>
              <a:gd name="adj1" fmla="val -38002"/>
              <a:gd name="adj2" fmla="val 20383"/>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b="1" dirty="0">
                <a:solidFill>
                  <a:schemeClr val="tx1"/>
                </a:solidFill>
              </a:rPr>
              <a:t>INT $0x80</a:t>
            </a:r>
          </a:p>
          <a:p>
            <a:pPr algn="ctr"/>
            <a:r>
              <a:rPr kumimoji="1" lang="en-US" altLang="zh-TW" b="1" dirty="0" err="1">
                <a:solidFill>
                  <a:schemeClr val="tx1"/>
                </a:solidFill>
              </a:rPr>
              <a:t>eax</a:t>
            </a:r>
            <a:r>
              <a:rPr kumimoji="1" lang="zh-TW" altLang="en-US" b="1" dirty="0">
                <a:solidFill>
                  <a:schemeClr val="tx1"/>
                </a:solidFill>
              </a:rPr>
              <a:t> </a:t>
            </a:r>
            <a:r>
              <a:rPr kumimoji="1" lang="en-US" altLang="zh-TW" b="1" dirty="0">
                <a:solidFill>
                  <a:schemeClr val="tx1"/>
                </a:solidFill>
                <a:sym typeface="Wingdings" pitchFamily="2" charset="2"/>
              </a:rPr>
              <a:t></a:t>
            </a:r>
            <a:r>
              <a:rPr kumimoji="1" lang="zh-TW" altLang="en-US" b="1" dirty="0">
                <a:solidFill>
                  <a:schemeClr val="tx1"/>
                </a:solidFill>
                <a:sym typeface="Wingdings" pitchFamily="2" charset="2"/>
              </a:rPr>
              <a:t> </a:t>
            </a:r>
            <a:r>
              <a:rPr kumimoji="1" lang="en-US" altLang="zh-TW" b="1" dirty="0" err="1">
                <a:solidFill>
                  <a:schemeClr val="tx1"/>
                </a:solidFill>
                <a:sym typeface="Wingdings" pitchFamily="2" charset="2"/>
              </a:rPr>
              <a:t>Sys_Call_Num</a:t>
            </a:r>
            <a:endParaRPr kumimoji="1" lang="zh-TW" altLang="en-US" b="1" dirty="0">
              <a:solidFill>
                <a:schemeClr val="tx1"/>
              </a:solidFill>
            </a:endParaRPr>
          </a:p>
        </p:txBody>
      </p:sp>
      <p:grpSp>
        <p:nvGrpSpPr>
          <p:cNvPr id="21" name="群組 20">
            <a:extLst>
              <a:ext uri="{FF2B5EF4-FFF2-40B4-BE49-F238E27FC236}">
                <a16:creationId xmlns:a16="http://schemas.microsoft.com/office/drawing/2014/main" id="{CC9C18F8-B957-9C8E-43D9-145A0D2EC040}"/>
              </a:ext>
            </a:extLst>
          </p:cNvPr>
          <p:cNvGrpSpPr/>
          <p:nvPr/>
        </p:nvGrpSpPr>
        <p:grpSpPr>
          <a:xfrm>
            <a:off x="9646254" y="4140309"/>
            <a:ext cx="1395534" cy="1395534"/>
            <a:chOff x="1323298" y="4313407"/>
            <a:chExt cx="1395534" cy="1395534"/>
          </a:xfrm>
        </p:grpSpPr>
        <p:pic>
          <p:nvPicPr>
            <p:cNvPr id="22" name="圖片 21">
              <a:extLst>
                <a:ext uri="{FF2B5EF4-FFF2-40B4-BE49-F238E27FC236}">
                  <a16:creationId xmlns:a16="http://schemas.microsoft.com/office/drawing/2014/main" id="{1C987554-CE63-512A-176A-122A1EFC44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23" name="文字方塊 22">
              <a:extLst>
                <a:ext uri="{FF2B5EF4-FFF2-40B4-BE49-F238E27FC236}">
                  <a16:creationId xmlns:a16="http://schemas.microsoft.com/office/drawing/2014/main" id="{E4703C27-67A4-87E6-E493-45D9DF263A8E}"/>
                </a:ext>
              </a:extLst>
            </p:cNvPr>
            <p:cNvSpPr txBox="1"/>
            <p:nvPr/>
          </p:nvSpPr>
          <p:spPr>
            <a:xfrm>
              <a:off x="1572186" y="5033662"/>
              <a:ext cx="994373" cy="318924"/>
            </a:xfrm>
            <a:prstGeom prst="rect">
              <a:avLst/>
            </a:prstGeom>
            <a:solidFill>
              <a:srgbClr val="F6DF98"/>
            </a:solidFill>
          </p:spPr>
          <p:txBody>
            <a:bodyPr wrap="square" lIns="36000" tIns="36000" rIns="36000" bIns="36000" rtlCol="0" anchor="ctr">
              <a:spAutoFit/>
            </a:bodyPr>
            <a:lstStyle/>
            <a:p>
              <a:pPr algn="ctr"/>
              <a:r>
                <a:rPr kumimoji="1" lang="en-US" altLang="zh-TW" sz="1600" b="1" dirty="0">
                  <a:solidFill>
                    <a:schemeClr val="accent5"/>
                  </a:solidFill>
                </a:rPr>
                <a:t>Process A</a:t>
              </a:r>
              <a:endParaRPr kumimoji="1" lang="zh-TW" altLang="en-US" sz="1600" b="1" dirty="0">
                <a:solidFill>
                  <a:schemeClr val="accent5"/>
                </a:solidFill>
              </a:endParaRPr>
            </a:p>
          </p:txBody>
        </p:sp>
      </p:grpSp>
      <p:grpSp>
        <p:nvGrpSpPr>
          <p:cNvPr id="25" name="群組 24">
            <a:extLst>
              <a:ext uri="{FF2B5EF4-FFF2-40B4-BE49-F238E27FC236}">
                <a16:creationId xmlns:a16="http://schemas.microsoft.com/office/drawing/2014/main" id="{22B1FDAB-34CB-13BB-A1A2-CC34B9E45AFD}"/>
              </a:ext>
            </a:extLst>
          </p:cNvPr>
          <p:cNvGrpSpPr/>
          <p:nvPr/>
        </p:nvGrpSpPr>
        <p:grpSpPr>
          <a:xfrm>
            <a:off x="5727374" y="5284667"/>
            <a:ext cx="1395534" cy="1395534"/>
            <a:chOff x="1323298" y="4313407"/>
            <a:chExt cx="1395534" cy="1395534"/>
          </a:xfrm>
        </p:grpSpPr>
        <p:pic>
          <p:nvPicPr>
            <p:cNvPr id="26" name="圖片 25">
              <a:extLst>
                <a:ext uri="{FF2B5EF4-FFF2-40B4-BE49-F238E27FC236}">
                  <a16:creationId xmlns:a16="http://schemas.microsoft.com/office/drawing/2014/main" id="{8B3BA1C6-1DFB-B46E-1499-6536887CB4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27" name="文字方塊 26">
              <a:extLst>
                <a:ext uri="{FF2B5EF4-FFF2-40B4-BE49-F238E27FC236}">
                  <a16:creationId xmlns:a16="http://schemas.microsoft.com/office/drawing/2014/main" id="{409746E5-3967-429D-F168-BFC16A2A6396}"/>
                </a:ext>
              </a:extLst>
            </p:cNvPr>
            <p:cNvSpPr txBox="1"/>
            <p:nvPr/>
          </p:nvSpPr>
          <p:spPr>
            <a:xfrm>
              <a:off x="1550338" y="4961690"/>
              <a:ext cx="1018261" cy="492443"/>
            </a:xfrm>
            <a:prstGeom prst="rect">
              <a:avLst/>
            </a:prstGeom>
            <a:solidFill>
              <a:srgbClr val="F6DF98"/>
            </a:solidFill>
          </p:spPr>
          <p:txBody>
            <a:bodyPr wrap="square" lIns="0" tIns="0" rIns="0" bIns="0" rtlCol="0">
              <a:spAutoFit/>
            </a:bodyPr>
            <a:lstStyle/>
            <a:p>
              <a:pPr algn="ctr"/>
              <a:r>
                <a:rPr kumimoji="1" lang="en-US" altLang="zh-TW" sz="1600" b="1" dirty="0">
                  <a:solidFill>
                    <a:schemeClr val="accent5"/>
                  </a:solidFill>
                </a:rPr>
                <a:t>Check Sys</a:t>
              </a:r>
              <a:br>
                <a:rPr kumimoji="1" lang="en-US" altLang="zh-TW" sz="1600" b="1" dirty="0">
                  <a:solidFill>
                    <a:schemeClr val="accent5"/>
                  </a:solidFill>
                </a:rPr>
              </a:br>
              <a:r>
                <a:rPr kumimoji="1" lang="en-US" altLang="zh-TW" sz="1600" b="1" dirty="0">
                  <a:solidFill>
                    <a:schemeClr val="accent5"/>
                  </a:solidFill>
                </a:rPr>
                <a:t>_</a:t>
              </a:r>
              <a:r>
                <a:rPr kumimoji="1" lang="en-US" altLang="zh-TW" sz="1600" b="1" dirty="0" err="1">
                  <a:solidFill>
                    <a:schemeClr val="accent5"/>
                  </a:solidFill>
                </a:rPr>
                <a:t>Call_Table</a:t>
              </a:r>
              <a:endParaRPr kumimoji="1" lang="zh-TW" altLang="en-US" sz="1600" b="1" dirty="0">
                <a:solidFill>
                  <a:schemeClr val="accent5"/>
                </a:solidFill>
              </a:endParaRPr>
            </a:p>
          </p:txBody>
        </p:sp>
      </p:grpSp>
      <p:grpSp>
        <p:nvGrpSpPr>
          <p:cNvPr id="28" name="群組 27">
            <a:extLst>
              <a:ext uri="{FF2B5EF4-FFF2-40B4-BE49-F238E27FC236}">
                <a16:creationId xmlns:a16="http://schemas.microsoft.com/office/drawing/2014/main" id="{F5C85AE1-1E0D-5289-0154-AEB905C6A467}"/>
              </a:ext>
            </a:extLst>
          </p:cNvPr>
          <p:cNvGrpSpPr/>
          <p:nvPr/>
        </p:nvGrpSpPr>
        <p:grpSpPr>
          <a:xfrm>
            <a:off x="8117812" y="5223217"/>
            <a:ext cx="1395534" cy="1395534"/>
            <a:chOff x="1323298" y="4313407"/>
            <a:chExt cx="1395534" cy="1395534"/>
          </a:xfrm>
        </p:grpSpPr>
        <p:pic>
          <p:nvPicPr>
            <p:cNvPr id="29" name="圖片 28">
              <a:extLst>
                <a:ext uri="{FF2B5EF4-FFF2-40B4-BE49-F238E27FC236}">
                  <a16:creationId xmlns:a16="http://schemas.microsoft.com/office/drawing/2014/main" id="{31A68F42-4265-BBCD-8974-44E12CD6D2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30" name="文字方塊 29">
              <a:extLst>
                <a:ext uri="{FF2B5EF4-FFF2-40B4-BE49-F238E27FC236}">
                  <a16:creationId xmlns:a16="http://schemas.microsoft.com/office/drawing/2014/main" id="{22DD9C07-64CC-91CE-470E-259B42057C23}"/>
                </a:ext>
              </a:extLst>
            </p:cNvPr>
            <p:cNvSpPr txBox="1"/>
            <p:nvPr/>
          </p:nvSpPr>
          <p:spPr>
            <a:xfrm>
              <a:off x="1550338" y="4961690"/>
              <a:ext cx="1035586" cy="492443"/>
            </a:xfrm>
            <a:prstGeom prst="rect">
              <a:avLst/>
            </a:prstGeom>
            <a:solidFill>
              <a:srgbClr val="F6DF98"/>
            </a:solidFill>
          </p:spPr>
          <p:txBody>
            <a:bodyPr wrap="square" lIns="0" tIns="0" rIns="0" bIns="0" rtlCol="0">
              <a:spAutoFit/>
            </a:bodyPr>
            <a:lstStyle/>
            <a:p>
              <a:pPr algn="ctr"/>
              <a:r>
                <a:rPr kumimoji="1" lang="en-US" altLang="zh-TW" sz="1600" b="1" dirty="0">
                  <a:solidFill>
                    <a:schemeClr val="accent5"/>
                  </a:solidFill>
                </a:rPr>
                <a:t>Run </a:t>
              </a:r>
              <a:br>
                <a:rPr kumimoji="1" lang="en-US" altLang="zh-TW" sz="1600" b="1" dirty="0">
                  <a:solidFill>
                    <a:schemeClr val="accent5"/>
                  </a:solidFill>
                </a:rPr>
              </a:br>
              <a:r>
                <a:rPr kumimoji="1" lang="en-US" altLang="zh-TW" sz="1600" b="1" dirty="0">
                  <a:solidFill>
                    <a:schemeClr val="accent5"/>
                  </a:solidFill>
                </a:rPr>
                <a:t>System Call</a:t>
              </a:r>
              <a:endParaRPr kumimoji="1" lang="zh-TW" altLang="en-US" sz="1600" b="1" dirty="0">
                <a:solidFill>
                  <a:schemeClr val="accent5"/>
                </a:solidFill>
              </a:endParaRPr>
            </a:p>
          </p:txBody>
        </p:sp>
      </p:grpSp>
      <p:sp>
        <p:nvSpPr>
          <p:cNvPr id="31" name="雲朵形圖說文字 30">
            <a:extLst>
              <a:ext uri="{FF2B5EF4-FFF2-40B4-BE49-F238E27FC236}">
                <a16:creationId xmlns:a16="http://schemas.microsoft.com/office/drawing/2014/main" id="{4E9648BE-1F64-0D7D-90FF-58EB69280B86}"/>
              </a:ext>
            </a:extLst>
          </p:cNvPr>
          <p:cNvSpPr/>
          <p:nvPr/>
        </p:nvSpPr>
        <p:spPr>
          <a:xfrm>
            <a:off x="6251935" y="4331107"/>
            <a:ext cx="3128503" cy="738630"/>
          </a:xfrm>
          <a:prstGeom prst="cloudCallout">
            <a:avLst>
              <a:gd name="adj1" fmla="val -38002"/>
              <a:gd name="adj2" fmla="val 20383"/>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b="1" dirty="0" err="1">
                <a:solidFill>
                  <a:schemeClr val="tx1"/>
                </a:solidFill>
              </a:rPr>
              <a:t>Sys_Call_Table</a:t>
            </a:r>
            <a:r>
              <a:rPr kumimoji="1" lang="en-US" altLang="zh-TW" b="1" dirty="0">
                <a:solidFill>
                  <a:schemeClr val="tx1"/>
                </a:solidFill>
              </a:rPr>
              <a:t>[</a:t>
            </a:r>
            <a:br>
              <a:rPr kumimoji="1" lang="en-US" altLang="zh-TW" b="1" dirty="0">
                <a:solidFill>
                  <a:schemeClr val="tx1"/>
                </a:solidFill>
              </a:rPr>
            </a:br>
            <a:r>
              <a:rPr kumimoji="1" lang="en-US" altLang="zh-TW" b="1" dirty="0" err="1">
                <a:solidFill>
                  <a:schemeClr val="tx1"/>
                </a:solidFill>
              </a:rPr>
              <a:t>Sys_Call_Num</a:t>
            </a:r>
            <a:r>
              <a:rPr kumimoji="1" lang="en-US" altLang="zh-TW" b="1" dirty="0">
                <a:solidFill>
                  <a:schemeClr val="tx1"/>
                </a:solidFill>
              </a:rPr>
              <a:t>]</a:t>
            </a:r>
            <a:endParaRPr kumimoji="1" lang="zh-TW" altLang="en-US" b="1" dirty="0">
              <a:solidFill>
                <a:schemeClr val="tx1"/>
              </a:solidFill>
            </a:endParaRPr>
          </a:p>
        </p:txBody>
      </p:sp>
    </p:spTree>
    <p:extLst>
      <p:ext uri="{BB962C8B-B14F-4D97-AF65-F5344CB8AC3E}">
        <p14:creationId xmlns:p14="http://schemas.microsoft.com/office/powerpoint/2010/main" val="1871834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down)">
                                      <p:cBhvr>
                                        <p:cTn id="18" dur="500"/>
                                        <p:tgtEl>
                                          <p:spTgt spid="20"/>
                                        </p:tgtEl>
                                      </p:cBhvr>
                                    </p:animEffect>
                                  </p:childTnLst>
                                </p:cTn>
                              </p:par>
                              <p:par>
                                <p:cTn id="19" presetID="42" presetClass="path" presetSubtype="0" accel="50000" decel="50000" fill="hold" nodeType="withEffect">
                                  <p:stCondLst>
                                    <p:cond delay="0"/>
                                  </p:stCondLst>
                                  <p:childTnLst>
                                    <p:animMotion origin="layout" path="M -3.125E-6 -2.22222E-6 L 0.1349 0.15162 " pathEditMode="relative" rAng="0" ptsTypes="AA">
                                      <p:cBhvr>
                                        <p:cTn id="20" dur="2000" fill="hold"/>
                                        <p:tgtEl>
                                          <p:spTgt spid="14"/>
                                        </p:tgtEl>
                                        <p:attrNameLst>
                                          <p:attrName>ppt_x</p:attrName>
                                          <p:attrName>ppt_y</p:attrName>
                                        </p:attrNameLst>
                                      </p:cBhvr>
                                      <p:rCtr x="6745" y="7569"/>
                                    </p:animMotion>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par>
                          <p:cTn id="27" fill="hold">
                            <p:stCondLst>
                              <p:cond delay="2000"/>
                            </p:stCondLst>
                            <p:childTnLst>
                              <p:par>
                                <p:cTn id="28" presetID="1" presetClass="entr" presetSubtype="0" fill="hold" nodeType="after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par>
                                <p:cTn id="34" presetID="10" presetClass="entr" presetSubtype="0" fill="hold" grpId="2"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500"/>
                                        <p:tgtEl>
                                          <p:spTgt spid="31"/>
                                        </p:tgtEl>
                                      </p:cBhvr>
                                    </p:animEffect>
                                  </p:childTnLst>
                                </p:cTn>
                              </p:par>
                              <p:par>
                                <p:cTn id="37" presetID="10" presetClass="exit" presetSubtype="0" fill="hold" grpId="1" nodeType="withEffect">
                                  <p:stCondLst>
                                    <p:cond delay="0"/>
                                  </p:stCondLst>
                                  <p:childTnLst>
                                    <p:animEffect transition="out" filter="fade">
                                      <p:cBhvr>
                                        <p:cTn id="38" dur="500"/>
                                        <p:tgtEl>
                                          <p:spTgt spid="20"/>
                                        </p:tgtEl>
                                      </p:cBhvr>
                                    </p:animEffect>
                                    <p:set>
                                      <p:cBhvr>
                                        <p:cTn id="39" dur="1" fill="hold">
                                          <p:stCondLst>
                                            <p:cond delay="499"/>
                                          </p:stCondLst>
                                        </p:cTn>
                                        <p:tgtEl>
                                          <p:spTgt spid="20"/>
                                        </p:tgtEl>
                                        <p:attrNameLst>
                                          <p:attrName>style.visibility</p:attrName>
                                        </p:attrNameLst>
                                      </p:cBhvr>
                                      <p:to>
                                        <p:strVal val="hidden"/>
                                      </p:to>
                                    </p:set>
                                  </p:childTnLst>
                                </p:cTn>
                              </p:par>
                              <p:par>
                                <p:cTn id="40" presetID="1" presetClass="exit" presetSubtype="0" fill="hold" nodeType="withEffect">
                                  <p:stCondLst>
                                    <p:cond delay="0"/>
                                  </p:stCondLst>
                                  <p:childTnLst>
                                    <p:set>
                                      <p:cBhvr>
                                        <p:cTn id="41" dur="1" fill="hold">
                                          <p:stCondLst>
                                            <p:cond delay="0"/>
                                          </p:stCondLst>
                                        </p:cTn>
                                        <p:tgtEl>
                                          <p:spTgt spid="14"/>
                                        </p:tgtEl>
                                        <p:attrNameLst>
                                          <p:attrName>style.visibility</p:attrName>
                                        </p:attrNameLst>
                                      </p:cBhvr>
                                      <p:to>
                                        <p:strVal val="hidden"/>
                                      </p:to>
                                    </p:set>
                                  </p:childTnLst>
                                </p:cTn>
                              </p:par>
                              <p:par>
                                <p:cTn id="42" presetID="1" presetClass="exit" presetSubtype="0" fill="hold" nodeType="withEffect">
                                  <p:stCondLst>
                                    <p:cond delay="0"/>
                                  </p:stCondLst>
                                  <p:childTnLst>
                                    <p:set>
                                      <p:cBhvr>
                                        <p:cTn id="43" dur="1" fill="hold">
                                          <p:stCondLst>
                                            <p:cond delay="0"/>
                                          </p:stCondLst>
                                        </p:cTn>
                                        <p:tgtEl>
                                          <p:spTgt spid="17"/>
                                        </p:tgtEl>
                                        <p:attrNameLst>
                                          <p:attrName>style.visibility</p:attrName>
                                        </p:attrNameLst>
                                      </p:cBhvr>
                                      <p:to>
                                        <p:strVal val="hidden"/>
                                      </p:to>
                                    </p:set>
                                  </p:childTnLst>
                                </p:cTn>
                              </p:par>
                            </p:childTnLst>
                          </p:cTn>
                        </p:par>
                        <p:par>
                          <p:cTn id="44" fill="hold">
                            <p:stCondLst>
                              <p:cond delay="500"/>
                            </p:stCondLst>
                            <p:childTnLst>
                              <p:par>
                                <p:cTn id="45" presetID="1" presetClass="entr" presetSubtype="0" fill="hold" nodeType="after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xit" presetSubtype="0" fill="hold" grpId="3" nodeType="withEffect">
                                  <p:stCondLst>
                                    <p:cond delay="0"/>
                                  </p:stCondLst>
                                  <p:childTnLst>
                                    <p:set>
                                      <p:cBhvr>
                                        <p:cTn id="52" dur="1" fill="hold">
                                          <p:stCondLst>
                                            <p:cond delay="0"/>
                                          </p:stCondLst>
                                        </p:cTn>
                                        <p:tgtEl>
                                          <p:spTgt spid="31"/>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25"/>
                                        </p:tgtEl>
                                        <p:attrNameLst>
                                          <p:attrName>style.visibility</p:attrName>
                                        </p:attrNameLst>
                                      </p:cBhvr>
                                      <p:to>
                                        <p:strVal val="hidden"/>
                                      </p:to>
                                    </p:set>
                                  </p:childTnLst>
                                </p:cTn>
                              </p:par>
                            </p:childTnLst>
                          </p:cTn>
                        </p:par>
                        <p:par>
                          <p:cTn id="55" fill="hold">
                            <p:stCondLst>
                              <p:cond delay="0"/>
                            </p:stCondLst>
                            <p:childTnLst>
                              <p:par>
                                <p:cTn id="56" presetID="1" presetClass="entr" presetSubtype="0" fill="hold" nodeType="afterEffect">
                                  <p:stCondLst>
                                    <p:cond delay="0"/>
                                  </p:stCondLst>
                                  <p:childTnLst>
                                    <p:set>
                                      <p:cBhvr>
                                        <p:cTn id="57" dur="1" fill="hold">
                                          <p:stCondLst>
                                            <p:cond delay="0"/>
                                          </p:stCondLst>
                                        </p:cTn>
                                        <p:tgtEl>
                                          <p:spTgt spid="28"/>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0" presetClass="path" presetSubtype="0" accel="50000" decel="50000" fill="hold" nodeType="clickEffect">
                                  <p:stCondLst>
                                    <p:cond delay="0"/>
                                  </p:stCondLst>
                                  <p:childTnLst>
                                    <p:animMotion origin="layout" path="M 0.00078 -4.44444E-6 L 0.12552 -0.15439 " pathEditMode="relative" rAng="0" ptsTypes="AA">
                                      <p:cBhvr>
                                        <p:cTn id="61" dur="2000" fill="hold"/>
                                        <p:tgtEl>
                                          <p:spTgt spid="28"/>
                                        </p:tgtEl>
                                        <p:attrNameLst>
                                          <p:attrName>ppt_x</p:attrName>
                                          <p:attrName>ppt_y</p:attrName>
                                        </p:attrNameLst>
                                      </p:cBhvr>
                                      <p:rCtr x="6237" y="-7731"/>
                                    </p:animMotion>
                                  </p:childTnLst>
                                </p:cTn>
                              </p:par>
                            </p:childTnLst>
                          </p:cTn>
                        </p:par>
                        <p:par>
                          <p:cTn id="62" fill="hold">
                            <p:stCondLst>
                              <p:cond delay="2000"/>
                            </p:stCondLst>
                            <p:childTnLst>
                              <p:par>
                                <p:cTn id="63" presetID="1" presetClass="exit" presetSubtype="0" fill="hold" nodeType="afterEffect">
                                  <p:stCondLst>
                                    <p:cond delay="0"/>
                                  </p:stCondLst>
                                  <p:childTnLst>
                                    <p:set>
                                      <p:cBhvr>
                                        <p:cTn id="64" dur="1" fill="hold">
                                          <p:stCondLst>
                                            <p:cond delay="0"/>
                                          </p:stCondLst>
                                        </p:cTn>
                                        <p:tgtEl>
                                          <p:spTgt spid="28"/>
                                        </p:tgtEl>
                                        <p:attrNameLst>
                                          <p:attrName>style.visibility</p:attrName>
                                        </p:attrNameLst>
                                      </p:cBhvr>
                                      <p:to>
                                        <p:strVal val="hidden"/>
                                      </p:to>
                                    </p:set>
                                  </p:childTnLst>
                                </p:cTn>
                              </p:par>
                            </p:childTnLst>
                          </p:cTn>
                        </p:par>
                        <p:par>
                          <p:cTn id="65" fill="hold">
                            <p:stCondLst>
                              <p:cond delay="2000"/>
                            </p:stCondLst>
                            <p:childTnLst>
                              <p:par>
                                <p:cTn id="66" presetID="10" presetClass="entr" presetSubtype="0" fill="hold" nodeType="after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31" grpId="2" animBg="1"/>
      <p:bldP spid="31" grpId="3"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cs typeface="Arial" panose="020B0604020202020204" pitchFamily="34" charset="0"/>
              </a:rPr>
              <a:t>How to Implement a</a:t>
            </a:r>
            <a:r>
              <a:rPr lang="zh-TW" altLang="en-US" sz="4000" dirty="0">
                <a:cs typeface="Arial" panose="020B0604020202020204" pitchFamily="34" charset="0"/>
              </a:rPr>
              <a:t> </a:t>
            </a:r>
            <a:r>
              <a:rPr lang="en-US" altLang="zh-TW" sz="4000" dirty="0">
                <a:cs typeface="Arial" panose="020B0604020202020204" pitchFamily="34" charset="0"/>
              </a:rPr>
              <a:t>System Call</a:t>
            </a: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kumimoji="1" lang="en-US" altLang="zh-TW" dirty="0">
                <a:solidFill>
                  <a:srgbClr val="C00000"/>
                </a:solidFill>
                <a:latin typeface="+mn-lt"/>
                <a:cs typeface="Arial" panose="020B0604020202020204" pitchFamily="34" charset="0"/>
              </a:rPr>
              <a:t>Adding</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(Registering)</a:t>
            </a:r>
            <a:r>
              <a:rPr kumimoji="1" lang="zh-TW" altLang="en-US" dirty="0">
                <a:solidFill>
                  <a:srgbClr val="C00000"/>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a</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new</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system</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call</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to</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Linux</a:t>
            </a:r>
            <a:r>
              <a:rPr kumimoji="1" lang="zh-TW" altLang="en-US" dirty="0">
                <a:solidFill>
                  <a:schemeClr val="tx1"/>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is</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easy</a:t>
            </a:r>
            <a:r>
              <a:rPr lang="zh-TW" altLang="en-US" dirty="0">
                <a:solidFill>
                  <a:srgbClr val="C00000"/>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and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do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not</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need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be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concerned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with</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behavior</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of</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handler</a:t>
            </a:r>
          </a:p>
          <a:p>
            <a:pPr algn="l"/>
            <a:endParaRPr lang="en-US" altLang="zh-TW" dirty="0">
              <a:solidFill>
                <a:schemeClr val="tx1"/>
              </a:solidFill>
              <a:latin typeface="+mn-lt"/>
              <a:cs typeface="Arial" panose="020B0604020202020204" pitchFamily="34" charset="0"/>
            </a:endParaRPr>
          </a:p>
          <a:p>
            <a:pPr algn="l"/>
            <a:endParaRPr lang="en-US" altLang="zh-TW" dirty="0">
              <a:solidFill>
                <a:schemeClr val="tx1"/>
              </a:solidFill>
              <a:latin typeface="+mn-lt"/>
              <a:cs typeface="Arial" panose="020B0604020202020204" pitchFamily="34" charset="0"/>
            </a:endParaRPr>
          </a:p>
          <a:p>
            <a:pPr algn="l"/>
            <a:endParaRPr lang="en-US" altLang="zh-TW" dirty="0">
              <a:solidFill>
                <a:schemeClr val="tx1"/>
              </a:solidFill>
              <a:latin typeface="+mn-lt"/>
              <a:cs typeface="Arial" panose="020B0604020202020204" pitchFamily="34" charset="0"/>
            </a:endParaRPr>
          </a:p>
          <a:p>
            <a:pPr algn="l"/>
            <a:endParaRPr lang="en-US" altLang="zh-TW" dirty="0">
              <a:solidFill>
                <a:schemeClr val="tx1"/>
              </a:solidFill>
              <a:latin typeface="+mn-lt"/>
              <a:cs typeface="Arial" panose="020B0604020202020204" pitchFamily="34" charset="0"/>
            </a:endParaRPr>
          </a:p>
          <a:p>
            <a:pPr algn="l"/>
            <a:r>
              <a:rPr lang="en-US" altLang="zh-TW" dirty="0">
                <a:solidFill>
                  <a:schemeClr val="tx1"/>
                </a:solidFill>
                <a:latin typeface="+mn-lt"/>
                <a:cs typeface="Arial" panose="020B0604020202020204" pitchFamily="34" charset="0"/>
              </a:rPr>
              <a:t>Brief</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Procedures</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(Details:</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See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References):</a:t>
            </a:r>
          </a:p>
          <a:p>
            <a:pPr lvl="1" algn="l"/>
            <a:r>
              <a:rPr lang="en-US" altLang="zh-TW" dirty="0">
                <a:solidFill>
                  <a:schemeClr val="tx1"/>
                </a:solidFill>
                <a:latin typeface="+mn-lt"/>
                <a:cs typeface="Arial" panose="020B0604020202020204" pitchFamily="34" charset="0"/>
              </a:rPr>
              <a:t>Write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new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(e.g.,</a:t>
            </a:r>
            <a:r>
              <a:rPr lang="zh-TW" altLang="en-US" dirty="0">
                <a:solidFill>
                  <a:schemeClr val="tx1"/>
                </a:solidFill>
                <a:latin typeface="+mn-lt"/>
                <a:cs typeface="Arial" panose="020B0604020202020204" pitchFamily="34" charset="0"/>
              </a:rPr>
              <a:t> </a:t>
            </a:r>
            <a:r>
              <a:rPr lang="en-US" altLang="zh-TW" dirty="0" err="1">
                <a:solidFill>
                  <a:schemeClr val="tx1"/>
                </a:solidFill>
                <a:latin typeface="+mn-lt"/>
                <a:cs typeface="Arial" panose="020B0604020202020204" pitchFamily="34" charset="0"/>
              </a:rPr>
              <a:t>sys_hello.c</a:t>
            </a:r>
            <a:r>
              <a:rPr lang="en-US" altLang="zh-TW" dirty="0">
                <a:solidFill>
                  <a:schemeClr val="tx1"/>
                </a:solidFill>
                <a:latin typeface="+mn-lt"/>
                <a:cs typeface="Arial" panose="020B0604020202020204" pitchFamily="34" charset="0"/>
              </a:rPr>
              <a:t>)</a:t>
            </a:r>
          </a:p>
          <a:p>
            <a:pPr lvl="1" algn="l"/>
            <a:r>
              <a:rPr lang="en-US" altLang="zh-TW" dirty="0">
                <a:solidFill>
                  <a:schemeClr val="tx1"/>
                </a:solidFill>
                <a:latin typeface="+mn-lt"/>
                <a:cs typeface="Arial" panose="020B0604020202020204" pitchFamily="34" charset="0"/>
              </a:rPr>
              <a:t>Create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a:t>
            </a:r>
            <a:r>
              <a:rPr lang="zh-TW" altLang="en-US" dirty="0">
                <a:solidFill>
                  <a:schemeClr val="tx1"/>
                </a:solidFill>
                <a:latin typeface="+mn-lt"/>
                <a:cs typeface="Arial" panose="020B0604020202020204" pitchFamily="34" charset="0"/>
              </a:rPr>
              <a:t> </a:t>
            </a:r>
            <a:r>
              <a:rPr lang="en-US" altLang="zh-TW" dirty="0" err="1">
                <a:solidFill>
                  <a:schemeClr val="tx1"/>
                </a:solidFill>
                <a:latin typeface="+mn-lt"/>
                <a:cs typeface="Arial" panose="020B0604020202020204" pitchFamily="34" charset="0"/>
              </a:rPr>
              <a:t>Makefile</a:t>
            </a:r>
            <a:endParaRPr lang="en-US" altLang="zh-TW" dirty="0">
              <a:solidFill>
                <a:schemeClr val="tx1"/>
              </a:solidFill>
              <a:latin typeface="+mn-lt"/>
              <a:cs typeface="Arial" panose="020B0604020202020204" pitchFamily="34" charset="0"/>
            </a:endParaRPr>
          </a:p>
          <a:p>
            <a:pPr lvl="1" algn="l"/>
            <a:r>
              <a:rPr lang="en-US" altLang="zh-TW" dirty="0">
                <a:solidFill>
                  <a:schemeClr val="tx1"/>
                </a:solidFill>
                <a:latin typeface="+mn-lt"/>
                <a:cs typeface="Arial" panose="020B0604020202020204" pitchFamily="34" charset="0"/>
              </a:rPr>
              <a:t>Add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new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into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table</a:t>
            </a:r>
          </a:p>
          <a:p>
            <a:pPr lvl="2" algn="l"/>
            <a:r>
              <a:rPr lang="en-US" altLang="zh-TW" dirty="0">
                <a:solidFill>
                  <a:schemeClr val="tx1"/>
                </a:solidFill>
                <a:latin typeface="+mn-lt"/>
                <a:cs typeface="Arial" panose="020B0604020202020204" pitchFamily="34" charset="0"/>
              </a:rPr>
              <a:t>Parameters:</a:t>
            </a:r>
            <a:r>
              <a:rPr lang="zh-TW" altLang="en-US" dirty="0">
                <a:solidFill>
                  <a:schemeClr val="tx1"/>
                </a:solidFill>
                <a:latin typeface="+mn-lt"/>
                <a:cs typeface="Arial" panose="020B0604020202020204" pitchFamily="34" charset="0"/>
              </a:rPr>
              <a:t> </a:t>
            </a:r>
            <a:r>
              <a:rPr lang="en-US" altLang="zh-TW" dirty="0" err="1">
                <a:solidFill>
                  <a:schemeClr val="tx1"/>
                </a:solidFill>
                <a:latin typeface="+mn-lt"/>
                <a:cs typeface="Arial" panose="020B0604020202020204" pitchFamily="34" charset="0"/>
              </a:rPr>
              <a:t>System_call_number</a:t>
            </a:r>
            <a:r>
              <a:rPr lang="en-US" altLang="zh-TW" dirty="0">
                <a:solidFill>
                  <a:schemeClr val="tx1"/>
                </a:solidFill>
                <a:latin typeface="+mn-lt"/>
                <a:cs typeface="Arial" panose="020B0604020202020204" pitchFamily="34" charset="0"/>
              </a:rPr>
              <a:t>,</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arch(e.g.,</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64),</a:t>
            </a:r>
            <a:r>
              <a:rPr lang="zh-TW" altLang="en-US" dirty="0">
                <a:solidFill>
                  <a:schemeClr val="tx1"/>
                </a:solidFill>
                <a:latin typeface="+mn-lt"/>
                <a:cs typeface="Arial" panose="020B0604020202020204" pitchFamily="34" charset="0"/>
              </a:rPr>
              <a:t> </a:t>
            </a:r>
            <a:r>
              <a:rPr lang="en-US" altLang="zh-TW" dirty="0" err="1">
                <a:solidFill>
                  <a:schemeClr val="tx1"/>
                </a:solidFill>
                <a:latin typeface="+mn-lt"/>
                <a:cs typeface="Arial" panose="020B0604020202020204" pitchFamily="34" charset="0"/>
              </a:rPr>
              <a:t>system_call_name</a:t>
            </a:r>
            <a:r>
              <a:rPr lang="en-US" altLang="zh-TW" dirty="0">
                <a:solidFill>
                  <a:schemeClr val="tx1"/>
                </a:solidFill>
                <a:latin typeface="+mn-lt"/>
                <a:cs typeface="Arial" panose="020B0604020202020204" pitchFamily="34" charset="0"/>
              </a:rPr>
              <a:t>,</a:t>
            </a:r>
            <a:r>
              <a:rPr lang="zh-TW" altLang="en-US" dirty="0">
                <a:solidFill>
                  <a:schemeClr val="tx1"/>
                </a:solidFill>
                <a:latin typeface="+mn-lt"/>
                <a:cs typeface="Arial" panose="020B0604020202020204" pitchFamily="34" charset="0"/>
              </a:rPr>
              <a:t>  </a:t>
            </a:r>
            <a:r>
              <a:rPr lang="en-US" altLang="zh-TW" dirty="0" err="1">
                <a:solidFill>
                  <a:schemeClr val="tx1"/>
                </a:solidFill>
                <a:latin typeface="+mn-lt"/>
                <a:cs typeface="Arial" panose="020B0604020202020204" pitchFamily="34" charset="0"/>
              </a:rPr>
              <a:t>program_of_system_call</a:t>
            </a:r>
            <a:endParaRPr lang="en-US" altLang="zh-TW" dirty="0">
              <a:solidFill>
                <a:schemeClr val="tx1"/>
              </a:solidFill>
              <a:latin typeface="+mn-lt"/>
              <a:cs typeface="Arial" panose="020B0604020202020204" pitchFamily="34" charset="0"/>
            </a:endParaRPr>
          </a:p>
          <a:p>
            <a:pPr lvl="1" algn="l"/>
            <a:r>
              <a:rPr lang="en-US" altLang="zh-TW" dirty="0">
                <a:solidFill>
                  <a:schemeClr val="tx1"/>
                </a:solidFill>
                <a:latin typeface="+mn-lt"/>
                <a:cs typeface="Arial" panose="020B0604020202020204" pitchFamily="34" charset="0"/>
              </a:rPr>
              <a:t>Add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new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header</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file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(include/</a:t>
            </a:r>
            <a:r>
              <a:rPr lang="en-US" altLang="zh-TW" dirty="0" err="1">
                <a:solidFill>
                  <a:schemeClr val="tx1"/>
                </a:solidFill>
                <a:latin typeface="+mn-lt"/>
                <a:cs typeface="Arial" panose="020B0604020202020204" pitchFamily="34" charset="0"/>
              </a:rPr>
              <a:t>linux</a:t>
            </a:r>
            <a:r>
              <a:rPr lang="en-US" altLang="zh-TW" dirty="0">
                <a:solidFill>
                  <a:schemeClr val="tx1"/>
                </a:solidFill>
                <a:latin typeface="+mn-lt"/>
                <a:cs typeface="Arial" panose="020B0604020202020204" pitchFamily="34" charset="0"/>
              </a:rPr>
              <a:t>/</a:t>
            </a:r>
            <a:r>
              <a:rPr lang="en-US" altLang="zh-TW" dirty="0" err="1">
                <a:solidFill>
                  <a:schemeClr val="tx1"/>
                </a:solidFill>
                <a:latin typeface="+mn-lt"/>
                <a:cs typeface="Arial" panose="020B0604020202020204" pitchFamily="34" charset="0"/>
              </a:rPr>
              <a:t>syscalls.h</a:t>
            </a:r>
            <a:r>
              <a:rPr lang="en-US" altLang="zh-TW" dirty="0">
                <a:solidFill>
                  <a:schemeClr val="tx1"/>
                </a:solidFill>
                <a:latin typeface="+mn-lt"/>
                <a:cs typeface="Arial" panose="020B0604020202020204" pitchFamily="34" charset="0"/>
              </a:rPr>
              <a:t>)</a:t>
            </a:r>
          </a:p>
          <a:p>
            <a:pPr lvl="1" algn="l"/>
            <a:r>
              <a:rPr lang="en-US" altLang="zh-TW" dirty="0">
                <a:solidFill>
                  <a:schemeClr val="tx1"/>
                </a:solidFill>
                <a:latin typeface="+mn-lt"/>
                <a:cs typeface="Arial" panose="020B0604020202020204" pitchFamily="34" charset="0"/>
              </a:rPr>
              <a:t>Compile/Install/Update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Kernel</a:t>
            </a: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27</a:t>
            </a:fld>
            <a:endParaRPr lang="zh-TW" altLang="en-US" dirty="0"/>
          </a:p>
        </p:txBody>
      </p:sp>
      <p:sp>
        <p:nvSpPr>
          <p:cNvPr id="5" name="文字方塊 4">
            <a:extLst>
              <a:ext uri="{FF2B5EF4-FFF2-40B4-BE49-F238E27FC236}">
                <a16:creationId xmlns:a16="http://schemas.microsoft.com/office/drawing/2014/main" id="{617853E9-BA6A-D809-99E1-77088EE322D7}"/>
              </a:ext>
            </a:extLst>
          </p:cNvPr>
          <p:cNvSpPr txBox="1"/>
          <p:nvPr/>
        </p:nvSpPr>
        <p:spPr>
          <a:xfrm>
            <a:off x="-20083" y="6322126"/>
            <a:ext cx="6705016" cy="553998"/>
          </a:xfrm>
          <a:prstGeom prst="rect">
            <a:avLst/>
          </a:prstGeom>
          <a:noFill/>
        </p:spPr>
        <p:txBody>
          <a:bodyPr wrap="square" rtlCol="0" anchor="b">
            <a:spAutoFit/>
          </a:bodyPr>
          <a:lstStyle/>
          <a:p>
            <a:r>
              <a:rPr lang="en-US" altLang="zh-TW" sz="1000" dirty="0">
                <a:solidFill>
                  <a:schemeClr val="tx1">
                    <a:lumMod val="50000"/>
                    <a:lumOff val="50000"/>
                  </a:schemeClr>
                </a:solidFill>
                <a:latin typeface="Arial" panose="020B0604020202020204" pitchFamily="34" charset="0"/>
                <a:cs typeface="Arial" panose="020B0604020202020204" pitchFamily="34" charset="0"/>
              </a:rPr>
              <a:t>[1] https://medium.com/anubhav-shrimal/adding-a-hello-world-system-call-to-linux-kernel-dad32875872.</a:t>
            </a:r>
          </a:p>
          <a:p>
            <a:r>
              <a:rPr lang="en-US" altLang="zh-TW" sz="1000" dirty="0">
                <a:solidFill>
                  <a:schemeClr val="tx1">
                    <a:lumMod val="50000"/>
                    <a:lumOff val="50000"/>
                  </a:schemeClr>
                </a:solidFill>
                <a:latin typeface="Arial" panose="020B0604020202020204" pitchFamily="34" charset="0"/>
                <a:cs typeface="Arial" panose="020B0604020202020204" pitchFamily="34" charset="0"/>
              </a:rPr>
              <a:t>[2]</a:t>
            </a:r>
            <a:r>
              <a:rPr lang="zh-TW" altLang="en-US" sz="1000" dirty="0">
                <a:solidFill>
                  <a:schemeClr val="tx1">
                    <a:lumMod val="50000"/>
                    <a:lumOff val="50000"/>
                  </a:schemeClr>
                </a:solidFill>
                <a:latin typeface="Arial" panose="020B0604020202020204" pitchFamily="34" charset="0"/>
                <a:cs typeface="Arial" panose="020B0604020202020204" pitchFamily="34" charset="0"/>
              </a:rPr>
              <a:t> </a:t>
            </a:r>
            <a:r>
              <a:rPr lang="en-US" altLang="zh-TW" sz="1000" dirty="0">
                <a:solidFill>
                  <a:schemeClr val="tx1">
                    <a:lumMod val="50000"/>
                    <a:lumOff val="50000"/>
                  </a:schemeClr>
                </a:solidFill>
                <a:latin typeface="Arial" panose="020B0604020202020204" pitchFamily="34" charset="0"/>
                <a:cs typeface="Arial" panose="020B0604020202020204" pitchFamily="34" charset="0"/>
                <a:hlinkClick r:id="rId3"/>
              </a:rPr>
              <a:t>https://tssurya.wordpress.com/2014/08/19/adding-a-hello-world-system-call-to-linux-kernel-3-16-0/</a:t>
            </a:r>
            <a:endParaRPr lang="en-US" altLang="zh-TW" sz="1000" dirty="0">
              <a:solidFill>
                <a:schemeClr val="tx1">
                  <a:lumMod val="50000"/>
                  <a:lumOff val="50000"/>
                </a:schemeClr>
              </a:solidFill>
              <a:latin typeface="Arial" panose="020B0604020202020204" pitchFamily="34" charset="0"/>
              <a:cs typeface="Arial" panose="020B0604020202020204" pitchFamily="34" charset="0"/>
            </a:endParaRPr>
          </a:p>
          <a:p>
            <a:r>
              <a:rPr lang="en-US" altLang="zh-TW" sz="1000" dirty="0">
                <a:solidFill>
                  <a:schemeClr val="tx1">
                    <a:lumMod val="50000"/>
                    <a:lumOff val="50000"/>
                  </a:schemeClr>
                </a:solidFill>
                <a:latin typeface="Arial" panose="020B0604020202020204" pitchFamily="34" charset="0"/>
                <a:cs typeface="Arial" panose="020B0604020202020204" pitchFamily="34" charset="0"/>
              </a:rPr>
              <a:t>[3]</a:t>
            </a:r>
            <a:r>
              <a:rPr lang="zh-TW" altLang="en-US" sz="1000" dirty="0">
                <a:solidFill>
                  <a:schemeClr val="tx1">
                    <a:lumMod val="50000"/>
                    <a:lumOff val="50000"/>
                  </a:schemeClr>
                </a:solidFill>
                <a:latin typeface="Arial" panose="020B0604020202020204" pitchFamily="34" charset="0"/>
                <a:cs typeface="Arial" panose="020B0604020202020204" pitchFamily="34" charset="0"/>
              </a:rPr>
              <a:t> </a:t>
            </a:r>
            <a:r>
              <a:rPr lang="en-US" altLang="zh-TW" sz="1000" dirty="0">
                <a:solidFill>
                  <a:schemeClr val="tx1">
                    <a:lumMod val="50000"/>
                    <a:lumOff val="50000"/>
                  </a:schemeClr>
                </a:solidFill>
                <a:latin typeface="Arial" panose="020B0604020202020204" pitchFamily="34" charset="0"/>
                <a:cs typeface="Arial" panose="020B0604020202020204" pitchFamily="34" charset="0"/>
              </a:rPr>
              <a:t>https://</a:t>
            </a:r>
            <a:r>
              <a:rPr lang="en-US" altLang="zh-TW" sz="1000" dirty="0" err="1">
                <a:solidFill>
                  <a:schemeClr val="tx1">
                    <a:lumMod val="50000"/>
                    <a:lumOff val="50000"/>
                  </a:schemeClr>
                </a:solidFill>
                <a:latin typeface="Arial" panose="020B0604020202020204" pitchFamily="34" charset="0"/>
                <a:cs typeface="Arial" panose="020B0604020202020204" pitchFamily="34" charset="0"/>
              </a:rPr>
              <a:t>dev.to</a:t>
            </a:r>
            <a:r>
              <a:rPr lang="en-US" altLang="zh-TW" sz="1000" dirty="0">
                <a:solidFill>
                  <a:schemeClr val="tx1">
                    <a:lumMod val="50000"/>
                    <a:lumOff val="50000"/>
                  </a:schemeClr>
                </a:solidFill>
                <a:latin typeface="Arial" panose="020B0604020202020204" pitchFamily="34" charset="0"/>
                <a:cs typeface="Arial" panose="020B0604020202020204" pitchFamily="34" charset="0"/>
              </a:rPr>
              <a:t>/jasper/adding-a-system-call-to-the-linux-kernel-5-8-1-in-ubuntu-20-04-lts-2ga8</a:t>
            </a:r>
          </a:p>
        </p:txBody>
      </p:sp>
      <p:grpSp>
        <p:nvGrpSpPr>
          <p:cNvPr id="29" name="群組 28">
            <a:extLst>
              <a:ext uri="{FF2B5EF4-FFF2-40B4-BE49-F238E27FC236}">
                <a16:creationId xmlns:a16="http://schemas.microsoft.com/office/drawing/2014/main" id="{F97ED421-EC77-9155-3C22-09F5122C971F}"/>
              </a:ext>
            </a:extLst>
          </p:cNvPr>
          <p:cNvGrpSpPr/>
          <p:nvPr/>
        </p:nvGrpSpPr>
        <p:grpSpPr>
          <a:xfrm>
            <a:off x="1486453" y="2301875"/>
            <a:ext cx="4160166" cy="1326777"/>
            <a:chOff x="1665747" y="2301875"/>
            <a:chExt cx="4160166" cy="1326777"/>
          </a:xfrm>
        </p:grpSpPr>
        <p:sp>
          <p:nvSpPr>
            <p:cNvPr id="7" name="矩形 6">
              <a:extLst>
                <a:ext uri="{FF2B5EF4-FFF2-40B4-BE49-F238E27FC236}">
                  <a16:creationId xmlns:a16="http://schemas.microsoft.com/office/drawing/2014/main" id="{D99AD1C9-ADFA-96F0-11AE-648B3240FAD6}"/>
                </a:ext>
              </a:extLst>
            </p:cNvPr>
            <p:cNvSpPr/>
            <p:nvPr/>
          </p:nvSpPr>
          <p:spPr>
            <a:xfrm>
              <a:off x="1849847" y="2545573"/>
              <a:ext cx="1305859" cy="536226"/>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call read()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8" name="文字方塊 7">
              <a:extLst>
                <a:ext uri="{FF2B5EF4-FFF2-40B4-BE49-F238E27FC236}">
                  <a16:creationId xmlns:a16="http://schemas.microsoft.com/office/drawing/2014/main" id="{8D0E2D9C-8587-8135-F1D7-1C418E3879F5}"/>
                </a:ext>
              </a:extLst>
            </p:cNvPr>
            <p:cNvSpPr txBox="1"/>
            <p:nvPr/>
          </p:nvSpPr>
          <p:spPr>
            <a:xfrm>
              <a:off x="1979644" y="3064549"/>
              <a:ext cx="1123577" cy="338554"/>
            </a:xfrm>
            <a:prstGeom prst="rect">
              <a:avLst/>
            </a:prstGeom>
            <a:noFill/>
          </p:spPr>
          <p:txBody>
            <a:bodyPr wrap="none" rtlCol="0">
              <a:spAutoFit/>
            </a:bodyPr>
            <a:lstStyle/>
            <a:p>
              <a:r>
                <a:rPr kumimoji="1" lang="en-US" altLang="zh-TW" sz="1600" dirty="0"/>
                <a:t>Application</a:t>
              </a:r>
              <a:endParaRPr kumimoji="1" lang="zh-TW" altLang="en-US" sz="1600" dirty="0"/>
            </a:p>
          </p:txBody>
        </p:sp>
        <p:sp>
          <p:nvSpPr>
            <p:cNvPr id="10" name="矩形 9">
              <a:extLst>
                <a:ext uri="{FF2B5EF4-FFF2-40B4-BE49-F238E27FC236}">
                  <a16:creationId xmlns:a16="http://schemas.microsoft.com/office/drawing/2014/main" id="{0B4050F8-6817-9759-7665-5B129CB0F0E8}"/>
                </a:ext>
              </a:extLst>
            </p:cNvPr>
            <p:cNvSpPr/>
            <p:nvPr/>
          </p:nvSpPr>
          <p:spPr>
            <a:xfrm>
              <a:off x="4108521" y="2545582"/>
              <a:ext cx="1550180" cy="536217"/>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read()</a:t>
              </a: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wrapper</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1" name="文字方塊 10">
              <a:extLst>
                <a:ext uri="{FF2B5EF4-FFF2-40B4-BE49-F238E27FC236}">
                  <a16:creationId xmlns:a16="http://schemas.microsoft.com/office/drawing/2014/main" id="{925070B5-AD59-2C19-42FB-5D3E7B77CD29}"/>
                </a:ext>
              </a:extLst>
            </p:cNvPr>
            <p:cNvSpPr txBox="1"/>
            <p:nvPr/>
          </p:nvSpPr>
          <p:spPr>
            <a:xfrm>
              <a:off x="4483512" y="3057749"/>
              <a:ext cx="912429" cy="338554"/>
            </a:xfrm>
            <a:prstGeom prst="rect">
              <a:avLst/>
            </a:prstGeom>
            <a:noFill/>
          </p:spPr>
          <p:txBody>
            <a:bodyPr wrap="none" rtlCol="0">
              <a:spAutoFit/>
            </a:bodyPr>
            <a:lstStyle/>
            <a:p>
              <a:r>
                <a:rPr kumimoji="1" lang="en-US" altLang="zh-TW" sz="1600" dirty="0"/>
                <a:t>C</a:t>
              </a:r>
              <a:r>
                <a:rPr kumimoji="1" lang="zh-TW" altLang="en-US" sz="1600" dirty="0"/>
                <a:t> </a:t>
              </a:r>
              <a:r>
                <a:rPr kumimoji="1" lang="en-US" altLang="zh-TW" sz="1600" dirty="0"/>
                <a:t>Library</a:t>
              </a:r>
              <a:endParaRPr kumimoji="1" lang="zh-TW" altLang="en-US" sz="1600" dirty="0"/>
            </a:p>
          </p:txBody>
        </p:sp>
        <p:sp>
          <p:nvSpPr>
            <p:cNvPr id="18" name="矩形 17">
              <a:extLst>
                <a:ext uri="{FF2B5EF4-FFF2-40B4-BE49-F238E27FC236}">
                  <a16:creationId xmlns:a16="http://schemas.microsoft.com/office/drawing/2014/main" id="{1628708C-2618-B532-42B8-80DDADDF62E8}"/>
                </a:ext>
              </a:extLst>
            </p:cNvPr>
            <p:cNvSpPr/>
            <p:nvPr/>
          </p:nvSpPr>
          <p:spPr>
            <a:xfrm>
              <a:off x="1665747" y="2301875"/>
              <a:ext cx="4160166" cy="132677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zh-TW" sz="1400" dirty="0">
                  <a:solidFill>
                    <a:schemeClr val="tx1"/>
                  </a:solidFill>
                  <a:latin typeface="Arial" panose="020B0604020202020204" pitchFamily="34" charset="0"/>
                  <a:cs typeface="Arial" panose="020B0604020202020204" pitchFamily="34" charset="0"/>
                </a:rPr>
                <a:t>User</a:t>
              </a: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Space</a:t>
              </a:r>
              <a:endParaRPr kumimoji="1" lang="zh-TW" altLang="en-US" sz="1400" dirty="0">
                <a:solidFill>
                  <a:schemeClr val="tx1"/>
                </a:solidFill>
                <a:latin typeface="Arial" panose="020B0604020202020204" pitchFamily="34" charset="0"/>
                <a:cs typeface="Arial" panose="020B0604020202020204" pitchFamily="34" charset="0"/>
              </a:endParaRPr>
            </a:p>
          </p:txBody>
        </p:sp>
      </p:grpSp>
      <p:grpSp>
        <p:nvGrpSpPr>
          <p:cNvPr id="30" name="群組 29">
            <a:extLst>
              <a:ext uri="{FF2B5EF4-FFF2-40B4-BE49-F238E27FC236}">
                <a16:creationId xmlns:a16="http://schemas.microsoft.com/office/drawing/2014/main" id="{C488F950-1025-16DC-0D9B-52DA90810CB1}"/>
              </a:ext>
            </a:extLst>
          </p:cNvPr>
          <p:cNvGrpSpPr/>
          <p:nvPr/>
        </p:nvGrpSpPr>
        <p:grpSpPr>
          <a:xfrm>
            <a:off x="5971179" y="2301875"/>
            <a:ext cx="4210597" cy="1326777"/>
            <a:chOff x="6150473" y="2301875"/>
            <a:chExt cx="4210597" cy="1326777"/>
          </a:xfrm>
        </p:grpSpPr>
        <p:sp>
          <p:nvSpPr>
            <p:cNvPr id="21" name="矩形 20">
              <a:extLst>
                <a:ext uri="{FF2B5EF4-FFF2-40B4-BE49-F238E27FC236}">
                  <a16:creationId xmlns:a16="http://schemas.microsoft.com/office/drawing/2014/main" id="{AC725A00-DCE5-B254-1BE8-A81D67468271}"/>
                </a:ext>
              </a:extLst>
            </p:cNvPr>
            <p:cNvSpPr/>
            <p:nvPr/>
          </p:nvSpPr>
          <p:spPr>
            <a:xfrm>
              <a:off x="6385004" y="2545573"/>
              <a:ext cx="1305859" cy="536226"/>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err="1">
                  <a:solidFill>
                    <a:schemeClr val="tx1"/>
                  </a:solidFill>
                  <a:latin typeface="Arial" panose="020B0604020202020204" pitchFamily="34" charset="0"/>
                  <a:cs typeface="Arial" panose="020B0604020202020204" pitchFamily="34" charset="0"/>
                </a:rPr>
                <a:t>system_call</a:t>
              </a:r>
              <a:r>
                <a:rPr kumimoji="1" lang="en-US" altLang="zh-TW" sz="1400" dirty="0">
                  <a:solidFill>
                    <a:schemeClr val="tx1"/>
                  </a:solidFill>
                  <a:latin typeface="Arial" panose="020B0604020202020204" pitchFamily="34" charset="0"/>
                  <a:cs typeface="Arial" panose="020B0604020202020204" pitchFamily="34" charset="0"/>
                </a:rPr>
                <a:t>()</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2" name="文字方塊 21">
              <a:extLst>
                <a:ext uri="{FF2B5EF4-FFF2-40B4-BE49-F238E27FC236}">
                  <a16:creationId xmlns:a16="http://schemas.microsoft.com/office/drawing/2014/main" id="{844F5463-8C27-D622-51C3-61161E9ACDF2}"/>
                </a:ext>
              </a:extLst>
            </p:cNvPr>
            <p:cNvSpPr txBox="1"/>
            <p:nvPr/>
          </p:nvSpPr>
          <p:spPr>
            <a:xfrm>
              <a:off x="6150473" y="3073735"/>
              <a:ext cx="1833259" cy="338554"/>
            </a:xfrm>
            <a:prstGeom prst="rect">
              <a:avLst/>
            </a:prstGeom>
            <a:noFill/>
          </p:spPr>
          <p:txBody>
            <a:bodyPr wrap="none" rtlCol="0">
              <a:spAutoFit/>
            </a:bodyPr>
            <a:lstStyle/>
            <a:p>
              <a:r>
                <a:rPr kumimoji="1" lang="en-US" altLang="zh-TW" sz="1600" dirty="0"/>
                <a:t>System</a:t>
              </a:r>
              <a:r>
                <a:rPr kumimoji="1" lang="zh-TW" altLang="en-US" sz="1600" dirty="0"/>
                <a:t> </a:t>
              </a:r>
              <a:r>
                <a:rPr kumimoji="1" lang="en-US" altLang="zh-TW" sz="1600" dirty="0"/>
                <a:t>Call</a:t>
              </a:r>
              <a:r>
                <a:rPr kumimoji="1" lang="zh-TW" altLang="en-US" sz="1600" dirty="0"/>
                <a:t> </a:t>
              </a:r>
              <a:r>
                <a:rPr kumimoji="1" lang="en-US" altLang="zh-TW" sz="1600" dirty="0"/>
                <a:t>Handler</a:t>
              </a:r>
              <a:endParaRPr kumimoji="1" lang="zh-TW" altLang="en-US" sz="1600" dirty="0"/>
            </a:p>
          </p:txBody>
        </p:sp>
        <p:sp>
          <p:nvSpPr>
            <p:cNvPr id="23" name="矩形 22">
              <a:extLst>
                <a:ext uri="{FF2B5EF4-FFF2-40B4-BE49-F238E27FC236}">
                  <a16:creationId xmlns:a16="http://schemas.microsoft.com/office/drawing/2014/main" id="{5AA49360-16DA-5D59-3B39-78044BC746C3}"/>
                </a:ext>
              </a:extLst>
            </p:cNvPr>
            <p:cNvSpPr/>
            <p:nvPr/>
          </p:nvSpPr>
          <p:spPr>
            <a:xfrm>
              <a:off x="8643678" y="2545582"/>
              <a:ext cx="1550180" cy="536217"/>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err="1">
                  <a:solidFill>
                    <a:schemeClr val="tx1"/>
                  </a:solidFill>
                  <a:latin typeface="Arial" panose="020B0604020202020204" pitchFamily="34" charset="0"/>
                  <a:cs typeface="Arial" panose="020B0604020202020204" pitchFamily="34" charset="0"/>
                </a:rPr>
                <a:t>sys_read</a:t>
              </a:r>
              <a:r>
                <a:rPr kumimoji="1" lang="en-US" altLang="zh-TW" sz="1400" dirty="0">
                  <a:solidFill>
                    <a:schemeClr val="tx1"/>
                  </a:solidFill>
                  <a:latin typeface="Arial" panose="020B0604020202020204" pitchFamily="34" charset="0"/>
                  <a:cs typeface="Arial" panose="020B0604020202020204" pitchFamily="34" charset="0"/>
                </a:rPr>
                <a:t>()</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4" name="文字方塊 23">
              <a:extLst>
                <a:ext uri="{FF2B5EF4-FFF2-40B4-BE49-F238E27FC236}">
                  <a16:creationId xmlns:a16="http://schemas.microsoft.com/office/drawing/2014/main" id="{390CEE0F-142C-2805-4E7B-631956F72D39}"/>
                </a:ext>
              </a:extLst>
            </p:cNvPr>
            <p:cNvSpPr txBox="1"/>
            <p:nvPr/>
          </p:nvSpPr>
          <p:spPr>
            <a:xfrm>
              <a:off x="8856668" y="3057749"/>
              <a:ext cx="1100558" cy="338554"/>
            </a:xfrm>
            <a:prstGeom prst="rect">
              <a:avLst/>
            </a:prstGeom>
            <a:noFill/>
          </p:spPr>
          <p:txBody>
            <a:bodyPr wrap="none" rtlCol="0">
              <a:spAutoFit/>
            </a:bodyPr>
            <a:lstStyle/>
            <a:p>
              <a:r>
                <a:rPr kumimoji="1" lang="en-US" altLang="zh-TW" sz="1600" dirty="0"/>
                <a:t>System</a:t>
              </a:r>
              <a:r>
                <a:rPr kumimoji="1" lang="zh-TW" altLang="en-US" sz="1600" dirty="0"/>
                <a:t> </a:t>
              </a:r>
              <a:r>
                <a:rPr kumimoji="1" lang="en-US" altLang="zh-TW" sz="1600" dirty="0"/>
                <a:t>call</a:t>
              </a:r>
              <a:endParaRPr kumimoji="1" lang="zh-TW" altLang="en-US" sz="1600" dirty="0"/>
            </a:p>
          </p:txBody>
        </p:sp>
        <p:sp>
          <p:nvSpPr>
            <p:cNvPr id="26" name="矩形 25">
              <a:extLst>
                <a:ext uri="{FF2B5EF4-FFF2-40B4-BE49-F238E27FC236}">
                  <a16:creationId xmlns:a16="http://schemas.microsoft.com/office/drawing/2014/main" id="{514F01C9-3222-55C2-8FE1-1E588B32692F}"/>
                </a:ext>
              </a:extLst>
            </p:cNvPr>
            <p:cNvSpPr/>
            <p:nvPr/>
          </p:nvSpPr>
          <p:spPr>
            <a:xfrm>
              <a:off x="6200904" y="2301875"/>
              <a:ext cx="4160166" cy="132677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zh-TW" sz="1400" dirty="0">
                  <a:solidFill>
                    <a:schemeClr val="tx1"/>
                  </a:solidFill>
                  <a:latin typeface="Arial" panose="020B0604020202020204" pitchFamily="34" charset="0"/>
                  <a:cs typeface="Arial" panose="020B0604020202020204" pitchFamily="34" charset="0"/>
                </a:rPr>
                <a:t>Kernel</a:t>
              </a: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Space</a:t>
              </a:r>
              <a:endParaRPr kumimoji="1" lang="zh-TW" altLang="en-US" sz="1400" dirty="0">
                <a:solidFill>
                  <a:schemeClr val="tx1"/>
                </a:solidFill>
                <a:latin typeface="Arial" panose="020B0604020202020204" pitchFamily="34" charset="0"/>
                <a:cs typeface="Arial" panose="020B0604020202020204" pitchFamily="34" charset="0"/>
              </a:endParaRPr>
            </a:p>
          </p:txBody>
        </p:sp>
      </p:grpSp>
      <p:grpSp>
        <p:nvGrpSpPr>
          <p:cNvPr id="31" name="群組 30">
            <a:extLst>
              <a:ext uri="{FF2B5EF4-FFF2-40B4-BE49-F238E27FC236}">
                <a16:creationId xmlns:a16="http://schemas.microsoft.com/office/drawing/2014/main" id="{41FFB343-5D25-F4FD-16F8-B99E89816F8A}"/>
              </a:ext>
            </a:extLst>
          </p:cNvPr>
          <p:cNvGrpSpPr/>
          <p:nvPr/>
        </p:nvGrpSpPr>
        <p:grpSpPr>
          <a:xfrm>
            <a:off x="2969677" y="2823482"/>
            <a:ext cx="5494707" cy="0"/>
            <a:chOff x="3148971" y="2823482"/>
            <a:chExt cx="5494707" cy="0"/>
          </a:xfrm>
        </p:grpSpPr>
        <p:cxnSp>
          <p:nvCxnSpPr>
            <p:cNvPr id="12" name="直線箭頭接點 11">
              <a:extLst>
                <a:ext uri="{FF2B5EF4-FFF2-40B4-BE49-F238E27FC236}">
                  <a16:creationId xmlns:a16="http://schemas.microsoft.com/office/drawing/2014/main" id="{84072CCA-E085-C038-905C-269FA5FB87F8}"/>
                </a:ext>
              </a:extLst>
            </p:cNvPr>
            <p:cNvCxnSpPr>
              <a:cxnSpLocks/>
            </p:cNvCxnSpPr>
            <p:nvPr/>
          </p:nvCxnSpPr>
          <p:spPr>
            <a:xfrm>
              <a:off x="3148971" y="2823482"/>
              <a:ext cx="9595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箭頭接點 24">
              <a:extLst>
                <a:ext uri="{FF2B5EF4-FFF2-40B4-BE49-F238E27FC236}">
                  <a16:creationId xmlns:a16="http://schemas.microsoft.com/office/drawing/2014/main" id="{046FAC7B-C521-325C-84B3-BDDD93C1F332}"/>
                </a:ext>
              </a:extLst>
            </p:cNvPr>
            <p:cNvCxnSpPr>
              <a:cxnSpLocks/>
            </p:cNvCxnSpPr>
            <p:nvPr/>
          </p:nvCxnSpPr>
          <p:spPr>
            <a:xfrm>
              <a:off x="7684128" y="2823482"/>
              <a:ext cx="9595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箭頭接點 26">
              <a:extLst>
                <a:ext uri="{FF2B5EF4-FFF2-40B4-BE49-F238E27FC236}">
                  <a16:creationId xmlns:a16="http://schemas.microsoft.com/office/drawing/2014/main" id="{2F15CB82-2BD5-76B7-7B6A-652BA778F775}"/>
                </a:ext>
              </a:extLst>
            </p:cNvPr>
            <p:cNvCxnSpPr>
              <a:cxnSpLocks/>
            </p:cNvCxnSpPr>
            <p:nvPr/>
          </p:nvCxnSpPr>
          <p:spPr>
            <a:xfrm>
              <a:off x="5658701" y="2823482"/>
              <a:ext cx="72630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36698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30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500"/>
                                        <p:tgtEl>
                                          <p:spTgt spid="3">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fade">
                                      <p:cBhvr>
                                        <p:cTn id="41" dur="500"/>
                                        <p:tgtEl>
                                          <p:spTgt spid="3">
                                            <p:txEl>
                                              <p:pRg st="10" end="1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fade">
                                      <p:cBhvr>
                                        <p:cTn id="46"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3B9446-15D1-06BB-E2FA-5FBDE9C1C2B9}"/>
              </a:ext>
            </a:extLst>
          </p:cNvPr>
          <p:cNvSpPr>
            <a:spLocks noGrp="1"/>
          </p:cNvSpPr>
          <p:nvPr>
            <p:ph type="title"/>
          </p:nvPr>
        </p:nvSpPr>
        <p:spPr/>
        <p:txBody>
          <a:bodyPr/>
          <a:lstStyle/>
          <a:p>
            <a:r>
              <a:rPr kumimoji="1" lang="en-US" altLang="zh-TW" dirty="0"/>
              <a:t>How to Run System Call: x86 vs RISC-V</a:t>
            </a:r>
            <a:endParaRPr kumimoji="1" lang="zh-TW" altLang="en-US" dirty="0"/>
          </a:p>
        </p:txBody>
      </p:sp>
      <p:sp>
        <p:nvSpPr>
          <p:cNvPr id="3" name="內容版面配置區 2">
            <a:extLst>
              <a:ext uri="{FF2B5EF4-FFF2-40B4-BE49-F238E27FC236}">
                <a16:creationId xmlns:a16="http://schemas.microsoft.com/office/drawing/2014/main" id="{44FD379A-45FF-8683-3DF2-B77C33C25EB0}"/>
              </a:ext>
            </a:extLst>
          </p:cNvPr>
          <p:cNvSpPr>
            <a:spLocks noGrp="1"/>
          </p:cNvSpPr>
          <p:nvPr>
            <p:ph idx="1"/>
          </p:nvPr>
        </p:nvSpPr>
        <p:spPr/>
        <p:txBody>
          <a:bodyPr/>
          <a:lstStyle/>
          <a:p>
            <a:r>
              <a:rPr kumimoji="1" lang="en-US" altLang="zh-TW" dirty="0"/>
              <a:t>From the perspective of kernel programmer: </a:t>
            </a:r>
          </a:p>
          <a:p>
            <a:r>
              <a:rPr lang="en-US" altLang="zh-TW" dirty="0"/>
              <a:t>x</a:t>
            </a:r>
            <a:r>
              <a:rPr kumimoji="1" lang="en-US" altLang="zh-TW" dirty="0"/>
              <a:t>86-64: </a:t>
            </a:r>
            <a:r>
              <a:rPr lang="en-US" altLang="zh-TW" dirty="0" err="1">
                <a:latin typeface="Calibri Light" panose="020F0302020204030204" pitchFamily="34" charset="0"/>
                <a:cs typeface="Calibri Light" panose="020F0302020204030204" pitchFamily="34" charset="0"/>
              </a:rPr>
              <a:t>syscall</a:t>
            </a:r>
            <a:r>
              <a:rPr kumimoji="1" lang="en-US" altLang="zh-TW" dirty="0"/>
              <a:t>→</a:t>
            </a:r>
            <a:r>
              <a:rPr lang="en-US" altLang="zh-TW" dirty="0">
                <a:sym typeface="Wingdings" pitchFamily="2" charset="2"/>
              </a:rPr>
              <a:t> </a:t>
            </a:r>
            <a:r>
              <a:rPr kumimoji="1" lang="en-US" altLang="zh-TW" dirty="0">
                <a:latin typeface="+mj-lt"/>
              </a:rPr>
              <a:t>do_syscall_64() </a:t>
            </a:r>
            <a:r>
              <a:rPr kumimoji="1" lang="en-US" altLang="zh-TW" dirty="0"/>
              <a:t>→ </a:t>
            </a:r>
            <a:r>
              <a:rPr kumimoji="1" lang="en-US" altLang="zh-TW" dirty="0" err="1">
                <a:latin typeface="Calibri Light" panose="020F0302020204030204" pitchFamily="34" charset="0"/>
                <a:cs typeface="Calibri Light" panose="020F0302020204030204" pitchFamily="34" charset="0"/>
              </a:rPr>
              <a:t>sys_call_table</a:t>
            </a:r>
            <a:r>
              <a:rPr kumimoji="1" lang="en-US" altLang="zh-TW" dirty="0"/>
              <a:t>[</a:t>
            </a:r>
            <a:r>
              <a:rPr kumimoji="1" lang="en-US" altLang="zh-TW" dirty="0" err="1"/>
              <a:t>rax</a:t>
            </a:r>
            <a:r>
              <a:rPr kumimoji="1" lang="en-US" altLang="zh-TW" dirty="0"/>
              <a:t>] → </a:t>
            </a:r>
            <a:r>
              <a:rPr kumimoji="1" lang="en-US" altLang="zh-TW" dirty="0">
                <a:latin typeface="Calibri Light" panose="020F0302020204030204" pitchFamily="34" charset="0"/>
                <a:cs typeface="Calibri Light" panose="020F0302020204030204" pitchFamily="34" charset="0"/>
              </a:rPr>
              <a:t>sys_*()</a:t>
            </a:r>
          </a:p>
          <a:p>
            <a:r>
              <a:rPr lang="en-US" altLang="zh-TW" dirty="0"/>
              <a:t>RISC-V: </a:t>
            </a:r>
            <a:r>
              <a:rPr lang="en-US" altLang="zh-TW" dirty="0" err="1">
                <a:latin typeface="+mj-lt"/>
              </a:rPr>
              <a:t>ecall</a:t>
            </a:r>
            <a:r>
              <a:rPr lang="en-US" altLang="zh-TW" dirty="0"/>
              <a:t> → </a:t>
            </a:r>
            <a:r>
              <a:rPr lang="en-US" altLang="zh-TW" dirty="0" err="1">
                <a:latin typeface="Calibri Light" panose="020F0302020204030204" pitchFamily="34" charset="0"/>
                <a:cs typeface="Calibri Light" panose="020F0302020204030204" pitchFamily="34" charset="0"/>
              </a:rPr>
              <a:t>do_trap_ecall_u</a:t>
            </a:r>
            <a:r>
              <a:rPr lang="en-US" altLang="zh-TW" dirty="0">
                <a:latin typeface="Calibri Light" panose="020F0302020204030204" pitchFamily="34" charset="0"/>
                <a:cs typeface="Calibri Light" panose="020F0302020204030204" pitchFamily="34" charset="0"/>
              </a:rPr>
              <a:t>() </a:t>
            </a:r>
            <a:r>
              <a:rPr lang="en-US" altLang="zh-TW" dirty="0"/>
              <a:t>→ </a:t>
            </a:r>
            <a:r>
              <a:rPr lang="en-US" altLang="zh-TW" dirty="0" err="1">
                <a:latin typeface="Calibri Light" panose="020F0302020204030204" pitchFamily="34" charset="0"/>
                <a:cs typeface="Calibri Light" panose="020F0302020204030204" pitchFamily="34" charset="0"/>
              </a:rPr>
              <a:t>sys_call_table</a:t>
            </a:r>
            <a:r>
              <a:rPr lang="en-US" altLang="zh-TW" dirty="0"/>
              <a:t>[a7] → </a:t>
            </a:r>
            <a:r>
              <a:rPr lang="en-US" altLang="zh-TW" dirty="0">
                <a:latin typeface="Calibri Light" panose="020F0302020204030204" pitchFamily="34" charset="0"/>
                <a:cs typeface="Calibri Light" panose="020F0302020204030204" pitchFamily="34" charset="0"/>
              </a:rPr>
              <a:t>sys_*()</a:t>
            </a:r>
            <a:endParaRPr kumimoji="1" lang="zh-TW" altLang="en-US" dirty="0">
              <a:latin typeface="Calibri Light" panose="020F0302020204030204" pitchFamily="34" charset="0"/>
              <a:cs typeface="Calibri Light" panose="020F0302020204030204" pitchFamily="34" charset="0"/>
            </a:endParaRPr>
          </a:p>
        </p:txBody>
      </p:sp>
      <p:sp>
        <p:nvSpPr>
          <p:cNvPr id="4" name="投影片編號版面配置區 3">
            <a:extLst>
              <a:ext uri="{FF2B5EF4-FFF2-40B4-BE49-F238E27FC236}">
                <a16:creationId xmlns:a16="http://schemas.microsoft.com/office/drawing/2014/main" id="{45824046-577C-534B-5D36-915F6B1047F9}"/>
              </a:ext>
            </a:extLst>
          </p:cNvPr>
          <p:cNvSpPr>
            <a:spLocks noGrp="1"/>
          </p:cNvSpPr>
          <p:nvPr>
            <p:ph type="sldNum" sz="quarter" idx="4"/>
          </p:nvPr>
        </p:nvSpPr>
        <p:spPr/>
        <p:txBody>
          <a:bodyPr/>
          <a:lstStyle/>
          <a:p>
            <a:fld id="{E24E6636-6BA5-4AAC-8485-BE8D914D288B}" type="slidenum">
              <a:rPr lang="zh-TW" altLang="en-US" smtClean="0"/>
              <a:pPr/>
              <a:t>28</a:t>
            </a:fld>
            <a:endParaRPr lang="zh-TW" altLang="en-US" dirty="0"/>
          </a:p>
        </p:txBody>
      </p:sp>
      <p:sp>
        <p:nvSpPr>
          <p:cNvPr id="6" name="文字方塊 5">
            <a:extLst>
              <a:ext uri="{FF2B5EF4-FFF2-40B4-BE49-F238E27FC236}">
                <a16:creationId xmlns:a16="http://schemas.microsoft.com/office/drawing/2014/main" id="{F92228B1-A29B-E662-E930-4EE43F07E333}"/>
              </a:ext>
            </a:extLst>
          </p:cNvPr>
          <p:cNvSpPr txBox="1"/>
          <p:nvPr/>
        </p:nvSpPr>
        <p:spPr>
          <a:xfrm>
            <a:off x="7377176" y="3497699"/>
            <a:ext cx="6096000" cy="369332"/>
          </a:xfrm>
          <a:prstGeom prst="rect">
            <a:avLst/>
          </a:prstGeom>
          <a:noFill/>
        </p:spPr>
        <p:txBody>
          <a:bodyPr wrap="square">
            <a:spAutoFit/>
          </a:bodyPr>
          <a:lstStyle/>
          <a:p>
            <a:r>
              <a:rPr lang="en-US" altLang="zh-TW" dirty="0"/>
              <a:t>Actual kernel functions that implement system calls</a:t>
            </a:r>
            <a:endParaRPr lang="zh-TW" altLang="en-US" dirty="0"/>
          </a:p>
        </p:txBody>
      </p:sp>
      <p:sp>
        <p:nvSpPr>
          <p:cNvPr id="7" name="文字方塊 6">
            <a:extLst>
              <a:ext uri="{FF2B5EF4-FFF2-40B4-BE49-F238E27FC236}">
                <a16:creationId xmlns:a16="http://schemas.microsoft.com/office/drawing/2014/main" id="{AF0B3332-BACD-C3A9-7D05-39081ACB4C6B}"/>
              </a:ext>
            </a:extLst>
          </p:cNvPr>
          <p:cNvSpPr txBox="1"/>
          <p:nvPr/>
        </p:nvSpPr>
        <p:spPr>
          <a:xfrm>
            <a:off x="177800" y="3337274"/>
            <a:ext cx="6096000" cy="369332"/>
          </a:xfrm>
          <a:prstGeom prst="rect">
            <a:avLst/>
          </a:prstGeom>
          <a:noFill/>
        </p:spPr>
        <p:txBody>
          <a:bodyPr wrap="square">
            <a:spAutoFit/>
          </a:bodyPr>
          <a:lstStyle/>
          <a:p>
            <a:r>
              <a:rPr lang="en-US" altLang="zh-TW" dirty="0"/>
              <a:t>User mode </a:t>
            </a:r>
            <a:r>
              <a:rPr lang="en-US" altLang="zh-TW" dirty="0" err="1"/>
              <a:t>processesuser</a:t>
            </a:r>
            <a:r>
              <a:rPr lang="en-US" altLang="zh-TW" dirty="0"/>
              <a:t> mode executes </a:t>
            </a:r>
            <a:r>
              <a:rPr lang="en-US" altLang="zh-TW" dirty="0" err="1"/>
              <a:t>ecall</a:t>
            </a:r>
            <a:endParaRPr lang="zh-TW" altLang="en-US" dirty="0"/>
          </a:p>
        </p:txBody>
      </p:sp>
      <p:sp>
        <p:nvSpPr>
          <p:cNvPr id="8" name="文字方塊 7">
            <a:extLst>
              <a:ext uri="{FF2B5EF4-FFF2-40B4-BE49-F238E27FC236}">
                <a16:creationId xmlns:a16="http://schemas.microsoft.com/office/drawing/2014/main" id="{005AE9B3-B196-582E-4337-2BB733B166AC}"/>
              </a:ext>
            </a:extLst>
          </p:cNvPr>
          <p:cNvSpPr txBox="1"/>
          <p:nvPr/>
        </p:nvSpPr>
        <p:spPr>
          <a:xfrm>
            <a:off x="2805176" y="4264890"/>
            <a:ext cx="6096000" cy="369332"/>
          </a:xfrm>
          <a:prstGeom prst="rect">
            <a:avLst/>
          </a:prstGeom>
          <a:noFill/>
        </p:spPr>
        <p:txBody>
          <a:bodyPr wrap="square">
            <a:spAutoFit/>
          </a:bodyPr>
          <a:lstStyle/>
          <a:p>
            <a:r>
              <a:rPr lang="en-US" altLang="zh-TW" dirty="0"/>
              <a:t>RISC-V Linux handler for user-mode </a:t>
            </a:r>
            <a:r>
              <a:rPr lang="en-US" altLang="zh-TW" dirty="0" err="1"/>
              <a:t>ecall</a:t>
            </a:r>
            <a:endParaRPr lang="zh-TW" altLang="en-US" dirty="0"/>
          </a:p>
        </p:txBody>
      </p:sp>
      <p:cxnSp>
        <p:nvCxnSpPr>
          <p:cNvPr id="10" name="曲線接點 9">
            <a:extLst>
              <a:ext uri="{FF2B5EF4-FFF2-40B4-BE49-F238E27FC236}">
                <a16:creationId xmlns:a16="http://schemas.microsoft.com/office/drawing/2014/main" id="{2B6358F8-2C5C-BDBE-581B-8B1189D80DF2}"/>
              </a:ext>
            </a:extLst>
          </p:cNvPr>
          <p:cNvCxnSpPr>
            <a:cxnSpLocks/>
          </p:cNvCxnSpPr>
          <p:nvPr/>
        </p:nvCxnSpPr>
        <p:spPr>
          <a:xfrm rot="16200000" flipH="1">
            <a:off x="1793240" y="2710989"/>
            <a:ext cx="780288" cy="438912"/>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曲線接點 11">
            <a:extLst>
              <a:ext uri="{FF2B5EF4-FFF2-40B4-BE49-F238E27FC236}">
                <a16:creationId xmlns:a16="http://schemas.microsoft.com/office/drawing/2014/main" id="{B5C0D4D7-522D-6B41-BECF-C574982F20EA}"/>
              </a:ext>
            </a:extLst>
          </p:cNvPr>
          <p:cNvCxnSpPr>
            <a:cxnSpLocks/>
          </p:cNvCxnSpPr>
          <p:nvPr/>
        </p:nvCxnSpPr>
        <p:spPr>
          <a:xfrm rot="16200000" flipH="1">
            <a:off x="9293352" y="2761202"/>
            <a:ext cx="780288" cy="438912"/>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曲線接點 12">
            <a:extLst>
              <a:ext uri="{FF2B5EF4-FFF2-40B4-BE49-F238E27FC236}">
                <a16:creationId xmlns:a16="http://schemas.microsoft.com/office/drawing/2014/main" id="{E4D4D07F-84EC-99DD-CB4B-1F990A0DD6B8}"/>
              </a:ext>
            </a:extLst>
          </p:cNvPr>
          <p:cNvCxnSpPr>
            <a:cxnSpLocks/>
          </p:cNvCxnSpPr>
          <p:nvPr/>
        </p:nvCxnSpPr>
        <p:spPr>
          <a:xfrm rot="16200000" flipH="1">
            <a:off x="3978622" y="3121408"/>
            <a:ext cx="1593156" cy="531368"/>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10288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2470860"/>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Interrupts</a:t>
            </a:r>
          </a:p>
        </p:txBody>
      </p:sp>
    </p:spTree>
    <p:extLst>
      <p:ext uri="{BB962C8B-B14F-4D97-AF65-F5344CB8AC3E}">
        <p14:creationId xmlns:p14="http://schemas.microsoft.com/office/powerpoint/2010/main" val="11893609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Handling Hardware Events</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1238250"/>
            <a:ext cx="7217410" cy="5441950"/>
          </a:xfrm>
        </p:spPr>
        <p:txBody>
          <a:bodyPr/>
          <a:lstStyle/>
          <a:p>
            <a:endParaRPr kumimoji="1" lang="en-US" altLang="zh-TW" dirty="0"/>
          </a:p>
          <a:p>
            <a:r>
              <a:rPr kumimoji="1" lang="en-US" altLang="zh-TW" dirty="0"/>
              <a:t>How CPUs work with slower </a:t>
            </a:r>
            <a:r>
              <a:rPr lang="en-US" altLang="zh-TW" dirty="0"/>
              <a:t>h</a:t>
            </a:r>
            <a:r>
              <a:rPr kumimoji="1" lang="en-US" altLang="zh-TW" dirty="0"/>
              <a:t>ardware </a:t>
            </a:r>
            <a:r>
              <a:rPr lang="en-US" altLang="zh-TW" dirty="0"/>
              <a:t>d</a:t>
            </a:r>
            <a:r>
              <a:rPr kumimoji="1" lang="en-US" altLang="zh-TW" dirty="0"/>
              <a:t>evices</a:t>
            </a:r>
          </a:p>
          <a:p>
            <a:pPr lvl="1"/>
            <a:r>
              <a:rPr lang="en-US" altLang="zh-TW" dirty="0"/>
              <a:t>Polling: Periodically, the </a:t>
            </a:r>
            <a:r>
              <a:rPr lang="en-US" altLang="zh-TW" dirty="0">
                <a:solidFill>
                  <a:srgbClr val="C00000"/>
                </a:solidFill>
              </a:rPr>
              <a:t>kernel checks hardware </a:t>
            </a:r>
            <a:r>
              <a:rPr lang="en-US" altLang="zh-TW" dirty="0"/>
              <a:t>status and responds accordingly.</a:t>
            </a:r>
          </a:p>
          <a:p>
            <a:pPr lvl="1"/>
            <a:r>
              <a:rPr lang="en-US" altLang="zh-TW" dirty="0"/>
              <a:t>Interrupt: Let the </a:t>
            </a:r>
            <a:r>
              <a:rPr lang="en-US" altLang="zh-TW" dirty="0">
                <a:solidFill>
                  <a:srgbClr val="C00000"/>
                </a:solidFill>
              </a:rPr>
              <a:t>hardware to signal</a:t>
            </a:r>
            <a:r>
              <a:rPr lang="en-US" altLang="zh-TW" dirty="0"/>
              <a:t> to the kernel.</a:t>
            </a:r>
            <a:endParaRPr kumimoji="1" lang="en-US" altLang="zh-TW" dirty="0"/>
          </a:p>
          <a:p>
            <a:r>
              <a:rPr kumimoji="1" lang="en-US" altLang="zh-TW" dirty="0"/>
              <a:t>What causes interrupts:</a:t>
            </a:r>
          </a:p>
          <a:p>
            <a:pPr lvl="1"/>
            <a:r>
              <a:rPr kumimoji="1" lang="en-US" altLang="zh-TW" dirty="0"/>
              <a:t>Interrupt (Asynchronous, Hardware </a:t>
            </a:r>
            <a:r>
              <a:rPr lang="en-US" altLang="zh-TW" dirty="0"/>
              <a:t>Interrupts): Hardware devices </a:t>
            </a:r>
            <a:r>
              <a:rPr lang="en-US" altLang="zh-TW" dirty="0">
                <a:solidFill>
                  <a:srgbClr val="C00000"/>
                </a:solidFill>
              </a:rPr>
              <a:t>physically produce electronic signals</a:t>
            </a:r>
            <a:r>
              <a:rPr lang="en-US" altLang="zh-TW" dirty="0"/>
              <a:t>, which are directed into </a:t>
            </a:r>
            <a:r>
              <a:rPr lang="en-US" altLang="zh-TW" dirty="0">
                <a:solidFill>
                  <a:srgbClr val="C00000"/>
                </a:solidFill>
              </a:rPr>
              <a:t>input pins on an interrupt controller</a:t>
            </a:r>
            <a:r>
              <a:rPr lang="en-US" altLang="zh-TW" dirty="0"/>
              <a:t>.</a:t>
            </a:r>
            <a:endParaRPr kumimoji="1" lang="en-US" altLang="zh-TW" dirty="0"/>
          </a:p>
          <a:p>
            <a:endParaRPr kumimoji="1" lang="en-US" altLang="zh-TW"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30</a:t>
            </a:fld>
            <a:endParaRPr lang="zh-TW" altLang="en-US" dirty="0"/>
          </a:p>
        </p:txBody>
      </p:sp>
      <p:sp>
        <p:nvSpPr>
          <p:cNvPr id="5" name="矩形 4">
            <a:extLst>
              <a:ext uri="{FF2B5EF4-FFF2-40B4-BE49-F238E27FC236}">
                <a16:creationId xmlns:a16="http://schemas.microsoft.com/office/drawing/2014/main" id="{59228A93-0EA5-BD3B-1F90-460B6F29AB65}"/>
              </a:ext>
            </a:extLst>
          </p:cNvPr>
          <p:cNvSpPr/>
          <p:nvPr/>
        </p:nvSpPr>
        <p:spPr>
          <a:xfrm>
            <a:off x="7777316" y="1738413"/>
            <a:ext cx="4152745" cy="407262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zh-TW" sz="1400" dirty="0">
                <a:solidFill>
                  <a:schemeClr val="tx1"/>
                </a:solidFill>
                <a:latin typeface="Arial" panose="020B0604020202020204" pitchFamily="34" charset="0"/>
                <a:cs typeface="Arial" panose="020B0604020202020204" pitchFamily="34" charset="0"/>
              </a:rPr>
              <a:t>Motherboard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9" name="文字方塊 8">
            <a:extLst>
              <a:ext uri="{FF2B5EF4-FFF2-40B4-BE49-F238E27FC236}">
                <a16:creationId xmlns:a16="http://schemas.microsoft.com/office/drawing/2014/main" id="{9D24A877-206D-B6AE-4FFC-1886C4603A5E}"/>
              </a:ext>
            </a:extLst>
          </p:cNvPr>
          <p:cNvSpPr txBox="1"/>
          <p:nvPr/>
        </p:nvSpPr>
        <p:spPr>
          <a:xfrm>
            <a:off x="8126071" y="5901050"/>
            <a:ext cx="3803990" cy="523220"/>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Note: After 2019, all northbridge functions </a:t>
            </a:r>
          </a:p>
          <a:p>
            <a:r>
              <a:rPr kumimoji="1" lang="en-US" altLang="zh-TW" sz="1400" b="1" dirty="0">
                <a:solidFill>
                  <a:srgbClr val="0070C0"/>
                </a:solidFill>
                <a:latin typeface="Arial" panose="020B0604020202020204" pitchFamily="34" charset="0"/>
                <a:cs typeface="Arial" panose="020B0604020202020204" pitchFamily="34" charset="0"/>
              </a:rPr>
              <a:t>had been integrated into CPU!!</a:t>
            </a:r>
            <a:endParaRPr kumimoji="1" lang="zh-TW" altLang="en-US" sz="1400" b="1" dirty="0">
              <a:solidFill>
                <a:srgbClr val="0070C0"/>
              </a:solidFill>
              <a:latin typeface="Arial" panose="020B0604020202020204" pitchFamily="34" charset="0"/>
              <a:cs typeface="Arial" panose="020B0604020202020204" pitchFamily="34" charset="0"/>
            </a:endParaRPr>
          </a:p>
        </p:txBody>
      </p:sp>
      <p:sp>
        <p:nvSpPr>
          <p:cNvPr id="12" name="文字方塊 11">
            <a:extLst>
              <a:ext uri="{FF2B5EF4-FFF2-40B4-BE49-F238E27FC236}">
                <a16:creationId xmlns:a16="http://schemas.microsoft.com/office/drawing/2014/main" id="{0767D059-5B35-ECD9-44BB-F9418AF54803}"/>
              </a:ext>
            </a:extLst>
          </p:cNvPr>
          <p:cNvSpPr txBox="1"/>
          <p:nvPr/>
        </p:nvSpPr>
        <p:spPr>
          <a:xfrm>
            <a:off x="0" y="6396335"/>
            <a:ext cx="4027641" cy="461665"/>
          </a:xfrm>
          <a:prstGeom prst="rect">
            <a:avLst/>
          </a:prstGeom>
          <a:noFill/>
        </p:spPr>
        <p:txBody>
          <a:bodyPr wrap="non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hlinkClick r:id="rId3"/>
              </a:rPr>
              <a:t>https://zhuanlan.zhihu.com/p/313725721</a:t>
            </a:r>
            <a:endParaRPr kumimoji="1" lang="en-US" altLang="zh-TW" sz="1200" dirty="0">
              <a:solidFill>
                <a:schemeClr val="bg1">
                  <a:lumMod val="75000"/>
                </a:schemeClr>
              </a:solidFill>
            </a:endParaRPr>
          </a:p>
          <a:p>
            <a:r>
              <a:rPr kumimoji="1" lang="en-US" altLang="zh-TW" sz="1200" dirty="0">
                <a:solidFill>
                  <a:schemeClr val="bg1">
                    <a:lumMod val="75000"/>
                  </a:schemeClr>
                </a:solidFill>
              </a:rPr>
              <a:t>Ref2:</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en.wikipedia.org</a:t>
            </a:r>
            <a:r>
              <a:rPr kumimoji="1" lang="en-US" altLang="zh-TW" sz="1200" dirty="0">
                <a:solidFill>
                  <a:schemeClr val="bg1">
                    <a:lumMod val="75000"/>
                  </a:schemeClr>
                </a:solidFill>
              </a:rPr>
              <a:t>/wiki/Northbridge_(computing)</a:t>
            </a:r>
          </a:p>
        </p:txBody>
      </p:sp>
      <p:grpSp>
        <p:nvGrpSpPr>
          <p:cNvPr id="64" name="群組 63">
            <a:extLst>
              <a:ext uri="{FF2B5EF4-FFF2-40B4-BE49-F238E27FC236}">
                <a16:creationId xmlns:a16="http://schemas.microsoft.com/office/drawing/2014/main" id="{404DB057-7842-AAAC-D0CE-258942E1C510}"/>
              </a:ext>
            </a:extLst>
          </p:cNvPr>
          <p:cNvGrpSpPr/>
          <p:nvPr/>
        </p:nvGrpSpPr>
        <p:grpSpPr>
          <a:xfrm>
            <a:off x="10269117" y="3111892"/>
            <a:ext cx="1515213" cy="777724"/>
            <a:chOff x="10269117" y="3111892"/>
            <a:chExt cx="1515213" cy="777724"/>
          </a:xfrm>
        </p:grpSpPr>
        <p:cxnSp>
          <p:nvCxnSpPr>
            <p:cNvPr id="18" name="直線接點 17">
              <a:extLst>
                <a:ext uri="{FF2B5EF4-FFF2-40B4-BE49-F238E27FC236}">
                  <a16:creationId xmlns:a16="http://schemas.microsoft.com/office/drawing/2014/main" id="{B3F3A90F-0EC6-2F21-CB48-C269793DE105}"/>
                </a:ext>
              </a:extLst>
            </p:cNvPr>
            <p:cNvCxnSpPr>
              <a:cxnSpLocks/>
            </p:cNvCxnSpPr>
            <p:nvPr/>
          </p:nvCxnSpPr>
          <p:spPr>
            <a:xfrm>
              <a:off x="10269117" y="3513454"/>
              <a:ext cx="40364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899913A7-632C-618B-F1DA-89FA074F0353}"/>
                </a:ext>
              </a:extLst>
            </p:cNvPr>
            <p:cNvCxnSpPr>
              <a:cxnSpLocks/>
            </p:cNvCxnSpPr>
            <p:nvPr/>
          </p:nvCxnSpPr>
          <p:spPr>
            <a:xfrm>
              <a:off x="10672761" y="3257549"/>
              <a:ext cx="0" cy="5029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64C25631-9780-14EF-CF19-0F9FBD026016}"/>
                </a:ext>
              </a:extLst>
            </p:cNvPr>
            <p:cNvCxnSpPr>
              <a:cxnSpLocks/>
            </p:cNvCxnSpPr>
            <p:nvPr/>
          </p:nvCxnSpPr>
          <p:spPr>
            <a:xfrm>
              <a:off x="10662601" y="3257549"/>
              <a:ext cx="1981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76CB5695-465B-5574-E647-38903527D76F}"/>
                </a:ext>
              </a:extLst>
            </p:cNvPr>
            <p:cNvCxnSpPr>
              <a:cxnSpLocks/>
            </p:cNvCxnSpPr>
            <p:nvPr/>
          </p:nvCxnSpPr>
          <p:spPr>
            <a:xfrm>
              <a:off x="10670221" y="3743960"/>
              <a:ext cx="190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圓角矩形 27">
              <a:extLst>
                <a:ext uri="{FF2B5EF4-FFF2-40B4-BE49-F238E27FC236}">
                  <a16:creationId xmlns:a16="http://schemas.microsoft.com/office/drawing/2014/main" id="{06DB8595-EF80-D27C-406B-A23FD123E2AF}"/>
                </a:ext>
              </a:extLst>
            </p:cNvPr>
            <p:cNvSpPr/>
            <p:nvPr/>
          </p:nvSpPr>
          <p:spPr>
            <a:xfrm>
              <a:off x="10869930" y="3111892"/>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DRAM</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9" name="圓角矩形 28">
              <a:extLst>
                <a:ext uri="{FF2B5EF4-FFF2-40B4-BE49-F238E27FC236}">
                  <a16:creationId xmlns:a16="http://schemas.microsoft.com/office/drawing/2014/main" id="{E8574694-ED8A-41A9-EF53-06B5A000937A}"/>
                </a:ext>
              </a:extLst>
            </p:cNvPr>
            <p:cNvSpPr/>
            <p:nvPr/>
          </p:nvSpPr>
          <p:spPr>
            <a:xfrm>
              <a:off x="10869930" y="3598303"/>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GPU</a:t>
              </a:r>
              <a:endParaRPr kumimoji="1" lang="zh-TW" altLang="en-US" sz="1400" dirty="0">
                <a:solidFill>
                  <a:schemeClr val="tx1"/>
                </a:solidFill>
                <a:latin typeface="Arial" panose="020B0604020202020204" pitchFamily="34" charset="0"/>
                <a:cs typeface="Arial" panose="020B0604020202020204" pitchFamily="34" charset="0"/>
              </a:endParaRPr>
            </a:p>
          </p:txBody>
        </p:sp>
      </p:grpSp>
      <p:grpSp>
        <p:nvGrpSpPr>
          <p:cNvPr id="63" name="群組 62">
            <a:extLst>
              <a:ext uri="{FF2B5EF4-FFF2-40B4-BE49-F238E27FC236}">
                <a16:creationId xmlns:a16="http://schemas.microsoft.com/office/drawing/2014/main" id="{B6F9EB6E-A4FE-CF35-B3D5-99B2695A0A16}"/>
              </a:ext>
            </a:extLst>
          </p:cNvPr>
          <p:cNvGrpSpPr/>
          <p:nvPr/>
        </p:nvGrpSpPr>
        <p:grpSpPr>
          <a:xfrm>
            <a:off x="7966819" y="1892934"/>
            <a:ext cx="2305156" cy="3292475"/>
            <a:chOff x="7966819" y="1892934"/>
            <a:chExt cx="2305156" cy="3292475"/>
          </a:xfrm>
        </p:grpSpPr>
        <p:sp>
          <p:nvSpPr>
            <p:cNvPr id="7" name="矩形 6">
              <a:extLst>
                <a:ext uri="{FF2B5EF4-FFF2-40B4-BE49-F238E27FC236}">
                  <a16:creationId xmlns:a16="http://schemas.microsoft.com/office/drawing/2014/main" id="{AC1E176E-3D2D-1FD3-C4AC-14E0029D0DB7}"/>
                </a:ext>
              </a:extLst>
            </p:cNvPr>
            <p:cNvSpPr/>
            <p:nvPr/>
          </p:nvSpPr>
          <p:spPr>
            <a:xfrm>
              <a:off x="8279345" y="4665344"/>
              <a:ext cx="1866900" cy="520065"/>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Interrupt Controller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(I/O APIC)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5" name="矩形 14">
              <a:extLst>
                <a:ext uri="{FF2B5EF4-FFF2-40B4-BE49-F238E27FC236}">
                  <a16:creationId xmlns:a16="http://schemas.microsoft.com/office/drawing/2014/main" id="{438A62E0-B075-E36E-61A5-3A1DEA15CCE0}"/>
                </a:ext>
              </a:extLst>
            </p:cNvPr>
            <p:cNvSpPr/>
            <p:nvPr/>
          </p:nvSpPr>
          <p:spPr>
            <a:xfrm>
              <a:off x="8121801" y="1892934"/>
              <a:ext cx="1002266" cy="4699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Local APIC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6" name="矩形 15">
              <a:extLst>
                <a:ext uri="{FF2B5EF4-FFF2-40B4-BE49-F238E27FC236}">
                  <a16:creationId xmlns:a16="http://schemas.microsoft.com/office/drawing/2014/main" id="{FD84199D-A48E-4277-E936-E83C2ACFEEE8}"/>
                </a:ext>
              </a:extLst>
            </p:cNvPr>
            <p:cNvSpPr/>
            <p:nvPr/>
          </p:nvSpPr>
          <p:spPr>
            <a:xfrm>
              <a:off x="9271850" y="1892934"/>
              <a:ext cx="1000125" cy="4699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Local APIC</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43" name="直線接點 42">
              <a:extLst>
                <a:ext uri="{FF2B5EF4-FFF2-40B4-BE49-F238E27FC236}">
                  <a16:creationId xmlns:a16="http://schemas.microsoft.com/office/drawing/2014/main" id="{D9578038-C6D0-D7B2-4945-C12F6B28C380}"/>
                </a:ext>
              </a:extLst>
            </p:cNvPr>
            <p:cNvCxnSpPr>
              <a:cxnSpLocks/>
            </p:cNvCxnSpPr>
            <p:nvPr/>
          </p:nvCxnSpPr>
          <p:spPr>
            <a:xfrm>
              <a:off x="7966965" y="2127885"/>
              <a:ext cx="0" cy="28708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387E2BE6-CFBE-43B4-B339-06B6ABE1B455}"/>
                </a:ext>
              </a:extLst>
            </p:cNvPr>
            <p:cNvCxnSpPr>
              <a:cxnSpLocks/>
              <a:endCxn id="15" idx="1"/>
            </p:cNvCxnSpPr>
            <p:nvPr/>
          </p:nvCxnSpPr>
          <p:spPr>
            <a:xfrm>
              <a:off x="7966819" y="2127885"/>
              <a:ext cx="15498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接點 46">
              <a:extLst>
                <a:ext uri="{FF2B5EF4-FFF2-40B4-BE49-F238E27FC236}">
                  <a16:creationId xmlns:a16="http://schemas.microsoft.com/office/drawing/2014/main" id="{99530FE4-47CC-D9BB-FCE0-8CF77793174B}"/>
                </a:ext>
              </a:extLst>
            </p:cNvPr>
            <p:cNvCxnSpPr>
              <a:cxnSpLocks/>
            </p:cNvCxnSpPr>
            <p:nvPr/>
          </p:nvCxnSpPr>
          <p:spPr>
            <a:xfrm>
              <a:off x="7966965" y="4986572"/>
              <a:ext cx="3123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2" name="群組 61">
            <a:extLst>
              <a:ext uri="{FF2B5EF4-FFF2-40B4-BE49-F238E27FC236}">
                <a16:creationId xmlns:a16="http://schemas.microsoft.com/office/drawing/2014/main" id="{AB2122B2-74D9-C2BC-CA33-1804D4702E59}"/>
              </a:ext>
            </a:extLst>
          </p:cNvPr>
          <p:cNvGrpSpPr/>
          <p:nvPr/>
        </p:nvGrpSpPr>
        <p:grpSpPr>
          <a:xfrm>
            <a:off x="8124087" y="2362835"/>
            <a:ext cx="2147888" cy="2919730"/>
            <a:chOff x="8124087" y="2362835"/>
            <a:chExt cx="2147888" cy="2919730"/>
          </a:xfrm>
        </p:grpSpPr>
        <p:sp>
          <p:nvSpPr>
            <p:cNvPr id="6" name="矩形 5">
              <a:extLst>
                <a:ext uri="{FF2B5EF4-FFF2-40B4-BE49-F238E27FC236}">
                  <a16:creationId xmlns:a16="http://schemas.microsoft.com/office/drawing/2014/main" id="{B840B442-F28B-6B3C-0D1A-E4EA1FE7DEA6}"/>
                </a:ext>
              </a:extLst>
            </p:cNvPr>
            <p:cNvSpPr/>
            <p:nvPr/>
          </p:nvSpPr>
          <p:spPr>
            <a:xfrm>
              <a:off x="8126945" y="4115435"/>
              <a:ext cx="2145030" cy="116713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Southbridge</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lumMod val="50000"/>
                      <a:lumOff val="50000"/>
                    </a:schemeClr>
                  </a:solidFill>
                  <a:latin typeface="Arial" panose="020B0604020202020204" pitchFamily="34" charset="0"/>
                  <a:cs typeface="Arial" panose="020B0604020202020204" pitchFamily="34" charset="0"/>
                </a:rPr>
                <a:t>(I/O Controller Hub)</a:t>
              </a:r>
              <a:endParaRPr kumimoji="1" lang="zh-TW" altLang="en-US" sz="1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8" name="矩形 7">
              <a:extLst>
                <a:ext uri="{FF2B5EF4-FFF2-40B4-BE49-F238E27FC236}">
                  <a16:creationId xmlns:a16="http://schemas.microsoft.com/office/drawing/2014/main" id="{9EFFFF51-984A-DC0F-5889-71A2B3A58DBD}"/>
                </a:ext>
              </a:extLst>
            </p:cNvPr>
            <p:cNvSpPr/>
            <p:nvPr/>
          </p:nvSpPr>
          <p:spPr>
            <a:xfrm>
              <a:off x="8124087" y="3257549"/>
              <a:ext cx="2145030"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Northbridge</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lumMod val="50000"/>
                      <a:lumOff val="50000"/>
                    </a:schemeClr>
                  </a:solidFill>
                  <a:latin typeface="Arial" panose="020B0604020202020204" pitchFamily="34" charset="0"/>
                  <a:cs typeface="Arial" panose="020B0604020202020204" pitchFamily="34" charset="0"/>
                </a:rPr>
                <a:t>(Memory Controller Hub)</a:t>
              </a:r>
              <a:endParaRPr kumimoji="1" lang="zh-TW" altLang="en-US" sz="1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13" name="矩形 12">
              <a:extLst>
                <a:ext uri="{FF2B5EF4-FFF2-40B4-BE49-F238E27FC236}">
                  <a16:creationId xmlns:a16="http://schemas.microsoft.com/office/drawing/2014/main" id="{E4927536-3941-A3EA-E820-2834C5673B37}"/>
                </a:ext>
              </a:extLst>
            </p:cNvPr>
            <p:cNvSpPr/>
            <p:nvPr/>
          </p:nvSpPr>
          <p:spPr>
            <a:xfrm>
              <a:off x="8126945" y="2362835"/>
              <a:ext cx="1000125"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CPU</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4" name="矩形 13">
              <a:extLst>
                <a:ext uri="{FF2B5EF4-FFF2-40B4-BE49-F238E27FC236}">
                  <a16:creationId xmlns:a16="http://schemas.microsoft.com/office/drawing/2014/main" id="{58857E46-1A8B-66DE-9489-756B982133A2}"/>
                </a:ext>
              </a:extLst>
            </p:cNvPr>
            <p:cNvSpPr/>
            <p:nvPr/>
          </p:nvSpPr>
          <p:spPr>
            <a:xfrm>
              <a:off x="9271850" y="2362835"/>
              <a:ext cx="1000125"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CPU</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30" name="直線接點 29">
              <a:extLst>
                <a:ext uri="{FF2B5EF4-FFF2-40B4-BE49-F238E27FC236}">
                  <a16:creationId xmlns:a16="http://schemas.microsoft.com/office/drawing/2014/main" id="{2A91E5A7-F432-E22B-9513-EF8A698988E7}"/>
                </a:ext>
              </a:extLst>
            </p:cNvPr>
            <p:cNvCxnSpPr>
              <a:cxnSpLocks/>
            </p:cNvCxnSpPr>
            <p:nvPr/>
          </p:nvCxnSpPr>
          <p:spPr>
            <a:xfrm>
              <a:off x="8624149" y="2865755"/>
              <a:ext cx="0" cy="16302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B126330A-3D3B-5718-CDA7-1742EA0F357A}"/>
                </a:ext>
              </a:extLst>
            </p:cNvPr>
            <p:cNvCxnSpPr>
              <a:cxnSpLocks/>
            </p:cNvCxnSpPr>
            <p:nvPr/>
          </p:nvCxnSpPr>
          <p:spPr>
            <a:xfrm>
              <a:off x="9771912" y="2863813"/>
              <a:ext cx="0" cy="16302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3D0FDAC2-785D-6280-0A3F-41DD0C72E4C6}"/>
                </a:ext>
              </a:extLst>
            </p:cNvPr>
            <p:cNvCxnSpPr>
              <a:cxnSpLocks/>
            </p:cNvCxnSpPr>
            <p:nvPr/>
          </p:nvCxnSpPr>
          <p:spPr>
            <a:xfrm>
              <a:off x="9217034" y="3026839"/>
              <a:ext cx="0" cy="2307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DAD04AC8-D599-A3BC-28E7-874BD52283BB}"/>
                </a:ext>
              </a:extLst>
            </p:cNvPr>
            <p:cNvCxnSpPr>
              <a:cxnSpLocks/>
            </p:cNvCxnSpPr>
            <p:nvPr/>
          </p:nvCxnSpPr>
          <p:spPr>
            <a:xfrm>
              <a:off x="8623769" y="3026839"/>
              <a:ext cx="114814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線接點 49">
              <a:extLst>
                <a:ext uri="{FF2B5EF4-FFF2-40B4-BE49-F238E27FC236}">
                  <a16:creationId xmlns:a16="http://schemas.microsoft.com/office/drawing/2014/main" id="{6A562E9C-1225-72C4-A568-90AA5D37C465}"/>
                </a:ext>
              </a:extLst>
            </p:cNvPr>
            <p:cNvCxnSpPr>
              <a:cxnSpLocks/>
            </p:cNvCxnSpPr>
            <p:nvPr/>
          </p:nvCxnSpPr>
          <p:spPr>
            <a:xfrm>
              <a:off x="9228970" y="3760469"/>
              <a:ext cx="0" cy="3549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5" name="群組 64">
            <a:extLst>
              <a:ext uri="{FF2B5EF4-FFF2-40B4-BE49-F238E27FC236}">
                <a16:creationId xmlns:a16="http://schemas.microsoft.com/office/drawing/2014/main" id="{03FDDAE2-429B-E574-8A34-1E526F377C1F}"/>
              </a:ext>
            </a:extLst>
          </p:cNvPr>
          <p:cNvGrpSpPr/>
          <p:nvPr/>
        </p:nvGrpSpPr>
        <p:grpSpPr>
          <a:xfrm>
            <a:off x="10146245" y="4337129"/>
            <a:ext cx="1638085" cy="1253197"/>
            <a:chOff x="10146245" y="4337129"/>
            <a:chExt cx="1638085" cy="1253197"/>
          </a:xfrm>
        </p:grpSpPr>
        <p:cxnSp>
          <p:nvCxnSpPr>
            <p:cNvPr id="37" name="直線接點 36">
              <a:extLst>
                <a:ext uri="{FF2B5EF4-FFF2-40B4-BE49-F238E27FC236}">
                  <a16:creationId xmlns:a16="http://schemas.microsoft.com/office/drawing/2014/main" id="{A99EF251-5987-282D-FBD6-99D65E4C3E46}"/>
                </a:ext>
              </a:extLst>
            </p:cNvPr>
            <p:cNvCxnSpPr>
              <a:cxnSpLocks/>
              <a:stCxn id="7" idx="3"/>
            </p:cNvCxnSpPr>
            <p:nvPr/>
          </p:nvCxnSpPr>
          <p:spPr>
            <a:xfrm flipV="1">
              <a:off x="10146245" y="4862868"/>
              <a:ext cx="51635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5A04FD74-85DB-1AEB-2771-8EC2483501E4}"/>
                </a:ext>
              </a:extLst>
            </p:cNvPr>
            <p:cNvCxnSpPr>
              <a:cxnSpLocks/>
            </p:cNvCxnSpPr>
            <p:nvPr/>
          </p:nvCxnSpPr>
          <p:spPr>
            <a:xfrm>
              <a:off x="10672761" y="4482786"/>
              <a:ext cx="0" cy="5029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接點 38">
              <a:extLst>
                <a:ext uri="{FF2B5EF4-FFF2-40B4-BE49-F238E27FC236}">
                  <a16:creationId xmlns:a16="http://schemas.microsoft.com/office/drawing/2014/main" id="{937E4405-4349-A49B-9C81-F016769FD6D4}"/>
                </a:ext>
              </a:extLst>
            </p:cNvPr>
            <p:cNvCxnSpPr>
              <a:cxnSpLocks/>
            </p:cNvCxnSpPr>
            <p:nvPr/>
          </p:nvCxnSpPr>
          <p:spPr>
            <a:xfrm>
              <a:off x="10662601" y="4482786"/>
              <a:ext cx="1981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id="{C0C1150C-DD3D-0477-D6ED-83BCA8561D78}"/>
                </a:ext>
              </a:extLst>
            </p:cNvPr>
            <p:cNvCxnSpPr>
              <a:cxnSpLocks/>
            </p:cNvCxnSpPr>
            <p:nvPr/>
          </p:nvCxnSpPr>
          <p:spPr>
            <a:xfrm>
              <a:off x="10680612" y="4969197"/>
              <a:ext cx="190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圓角矩形 40">
              <a:extLst>
                <a:ext uri="{FF2B5EF4-FFF2-40B4-BE49-F238E27FC236}">
                  <a16:creationId xmlns:a16="http://schemas.microsoft.com/office/drawing/2014/main" id="{EC87647D-B2CA-5EF2-1CE9-5F14D6A66FD7}"/>
                </a:ext>
              </a:extLst>
            </p:cNvPr>
            <p:cNvSpPr/>
            <p:nvPr/>
          </p:nvSpPr>
          <p:spPr>
            <a:xfrm>
              <a:off x="10869930" y="4337129"/>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Keyboard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42" name="圓角矩形 41">
              <a:extLst>
                <a:ext uri="{FF2B5EF4-FFF2-40B4-BE49-F238E27FC236}">
                  <a16:creationId xmlns:a16="http://schemas.microsoft.com/office/drawing/2014/main" id="{56820A37-32FC-4138-7928-96208DA9D011}"/>
                </a:ext>
              </a:extLst>
            </p:cNvPr>
            <p:cNvSpPr/>
            <p:nvPr/>
          </p:nvSpPr>
          <p:spPr>
            <a:xfrm>
              <a:off x="10869930" y="4823540"/>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HDD</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5" name="直線接點 54">
              <a:extLst>
                <a:ext uri="{FF2B5EF4-FFF2-40B4-BE49-F238E27FC236}">
                  <a16:creationId xmlns:a16="http://schemas.microsoft.com/office/drawing/2014/main" id="{41317142-6817-CDE0-F9F7-B725CB4EFD63}"/>
                </a:ext>
              </a:extLst>
            </p:cNvPr>
            <p:cNvCxnSpPr>
              <a:cxnSpLocks/>
            </p:cNvCxnSpPr>
            <p:nvPr/>
          </p:nvCxnSpPr>
          <p:spPr>
            <a:xfrm>
              <a:off x="10670221" y="5444670"/>
              <a:ext cx="190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圓角矩形 55">
              <a:extLst>
                <a:ext uri="{FF2B5EF4-FFF2-40B4-BE49-F238E27FC236}">
                  <a16:creationId xmlns:a16="http://schemas.microsoft.com/office/drawing/2014/main" id="{6C4734EC-D617-AF3D-0323-BF3CF40528F5}"/>
                </a:ext>
              </a:extLst>
            </p:cNvPr>
            <p:cNvSpPr/>
            <p:nvPr/>
          </p:nvSpPr>
          <p:spPr>
            <a:xfrm>
              <a:off x="10869930" y="5299013"/>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PCIE</a:t>
              </a: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SSD</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7" name="直線接點 56">
              <a:extLst>
                <a:ext uri="{FF2B5EF4-FFF2-40B4-BE49-F238E27FC236}">
                  <a16:creationId xmlns:a16="http://schemas.microsoft.com/office/drawing/2014/main" id="{07E09B6A-CD1E-A980-37B7-263171A120D7}"/>
                </a:ext>
              </a:extLst>
            </p:cNvPr>
            <p:cNvCxnSpPr>
              <a:cxnSpLocks/>
            </p:cNvCxnSpPr>
            <p:nvPr/>
          </p:nvCxnSpPr>
          <p:spPr>
            <a:xfrm>
              <a:off x="10673929" y="4946693"/>
              <a:ext cx="0" cy="5029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8" name="圓角矩形 57">
            <a:extLst>
              <a:ext uri="{FF2B5EF4-FFF2-40B4-BE49-F238E27FC236}">
                <a16:creationId xmlns:a16="http://schemas.microsoft.com/office/drawing/2014/main" id="{F30D72A8-38A1-0ADE-0500-842F66AA74F6}"/>
              </a:ext>
            </a:extLst>
          </p:cNvPr>
          <p:cNvSpPr/>
          <p:nvPr/>
        </p:nvSpPr>
        <p:spPr>
          <a:xfrm>
            <a:off x="8050180" y="3166557"/>
            <a:ext cx="2297326" cy="2384767"/>
          </a:xfrm>
          <a:prstGeom prst="roundRect">
            <a:avLst>
              <a:gd name="adj" fmla="val 7163"/>
            </a:avLst>
          </a:prstGeom>
          <a:noFill/>
          <a:ln w="190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bIns="0" rtlCol="0" anchor="b"/>
          <a:lstStyle/>
          <a:p>
            <a:pPr algn="ctr"/>
            <a:r>
              <a:rPr kumimoji="1" lang="en-US" altLang="zh-TW" sz="1400" dirty="0">
                <a:solidFill>
                  <a:srgbClr val="0070C0"/>
                </a:solidFill>
                <a:latin typeface="Arial" panose="020B0604020202020204" pitchFamily="34" charset="0"/>
                <a:cs typeface="Arial" panose="020B0604020202020204" pitchFamily="34" charset="0"/>
              </a:rPr>
              <a:t>Chipset</a:t>
            </a:r>
            <a:endParaRPr kumimoji="1" lang="zh-TW" altLang="en-US" sz="1400"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6044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62"/>
                                        </p:tgtEl>
                                        <p:attrNameLst>
                                          <p:attrName>style.visibility</p:attrName>
                                        </p:attrNameLst>
                                      </p:cBhvr>
                                      <p:to>
                                        <p:strVal val="visible"/>
                                      </p:to>
                                    </p:set>
                                    <p:animEffect transition="in" filter="wipe(up)">
                                      <p:cBhvr>
                                        <p:cTn id="30" dur="500"/>
                                        <p:tgtEl>
                                          <p:spTgt spid="6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fade">
                                      <p:cBhvr>
                                        <p:cTn id="35" dur="500"/>
                                        <p:tgtEl>
                                          <p:spTgt spid="5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wipe(left)">
                                      <p:cBhvr>
                                        <p:cTn id="40" dur="500"/>
                                        <p:tgtEl>
                                          <p:spTgt spid="64"/>
                                        </p:tgtEl>
                                      </p:cBhvr>
                                    </p:animEffect>
                                  </p:childTnLst>
                                </p:cTn>
                              </p:par>
                              <p:par>
                                <p:cTn id="41" presetID="1" presetClass="exit" presetSubtype="0" fill="hold" grpId="1" nodeType="withEffect">
                                  <p:stCondLst>
                                    <p:cond delay="0"/>
                                  </p:stCondLst>
                                  <p:childTnLst>
                                    <p:set>
                                      <p:cBhvr>
                                        <p:cTn id="42" dur="1" fill="hold">
                                          <p:stCondLst>
                                            <p:cond delay="0"/>
                                          </p:stCondLst>
                                        </p:cTn>
                                        <p:tgtEl>
                                          <p:spTgt spid="58"/>
                                        </p:tgtEl>
                                        <p:attrNameLst>
                                          <p:attrName>style.visibility</p:attrName>
                                        </p:attrNameLst>
                                      </p:cBhvr>
                                      <p:to>
                                        <p:strVal val="hidden"/>
                                      </p:to>
                                    </p:set>
                                  </p:childTnLst>
                                </p:cTn>
                              </p:par>
                              <p:par>
                                <p:cTn id="43" presetID="22" presetClass="entr" presetSubtype="8" fill="hold" nodeType="withEffect">
                                  <p:stCondLst>
                                    <p:cond delay="0"/>
                                  </p:stCondLst>
                                  <p:childTnLst>
                                    <p:set>
                                      <p:cBhvr>
                                        <p:cTn id="44" dur="1" fill="hold">
                                          <p:stCondLst>
                                            <p:cond delay="0"/>
                                          </p:stCondLst>
                                        </p:cTn>
                                        <p:tgtEl>
                                          <p:spTgt spid="65"/>
                                        </p:tgtEl>
                                        <p:attrNameLst>
                                          <p:attrName>style.visibility</p:attrName>
                                        </p:attrNameLst>
                                      </p:cBhvr>
                                      <p:to>
                                        <p:strVal val="visible"/>
                                      </p:to>
                                    </p:set>
                                    <p:animEffect transition="in" filter="wipe(left)">
                                      <p:cBhvr>
                                        <p:cTn id="45" dur="500"/>
                                        <p:tgtEl>
                                          <p:spTgt spid="6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63"/>
                                        </p:tgtEl>
                                        <p:attrNameLst>
                                          <p:attrName>style.visibility</p:attrName>
                                        </p:attrNameLst>
                                      </p:cBhvr>
                                      <p:to>
                                        <p:strVal val="visible"/>
                                      </p:to>
                                    </p:set>
                                    <p:animEffect transition="in" filter="fade">
                                      <p:cBhvr>
                                        <p:cTn id="50" dur="500"/>
                                        <p:tgtEl>
                                          <p:spTgt spid="6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wipe(left)">
                                      <p:cBhvr>
                                        <p:cTn id="5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P spid="58" grpId="0" animBg="1"/>
      <p:bldP spid="58"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Handling Hardware Events (Count.)</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1238250"/>
            <a:ext cx="11652250" cy="5441950"/>
          </a:xfrm>
        </p:spPr>
        <p:txBody>
          <a:bodyPr/>
          <a:lstStyle/>
          <a:p>
            <a:endParaRPr kumimoji="1" lang="en-US" altLang="zh-TW" dirty="0"/>
          </a:p>
          <a:p>
            <a:r>
              <a:rPr kumimoji="1" lang="en-US" altLang="zh-TW" dirty="0"/>
              <a:t>How CPUs work with slower </a:t>
            </a:r>
            <a:r>
              <a:rPr lang="en-US" altLang="zh-TW" dirty="0"/>
              <a:t>h</a:t>
            </a:r>
            <a:r>
              <a:rPr kumimoji="1" lang="en-US" altLang="zh-TW" dirty="0"/>
              <a:t>ardware </a:t>
            </a:r>
            <a:r>
              <a:rPr lang="en-US" altLang="zh-TW" dirty="0"/>
              <a:t>d</a:t>
            </a:r>
            <a:r>
              <a:rPr kumimoji="1" lang="en-US" altLang="zh-TW" dirty="0"/>
              <a:t>evices</a:t>
            </a:r>
          </a:p>
          <a:p>
            <a:pPr lvl="1"/>
            <a:r>
              <a:rPr lang="en-US" altLang="zh-TW" dirty="0"/>
              <a:t>Polling: Periodically, the </a:t>
            </a:r>
            <a:r>
              <a:rPr lang="en-US" altLang="zh-TW" dirty="0">
                <a:solidFill>
                  <a:srgbClr val="C00000"/>
                </a:solidFill>
              </a:rPr>
              <a:t>kernel checks hardware </a:t>
            </a:r>
            <a:r>
              <a:rPr lang="en-US" altLang="zh-TW" dirty="0"/>
              <a:t>status and responds accordingly.</a:t>
            </a:r>
          </a:p>
          <a:p>
            <a:pPr lvl="1"/>
            <a:r>
              <a:rPr lang="en-US" altLang="zh-TW" dirty="0"/>
              <a:t>Interrupt: Let the </a:t>
            </a:r>
            <a:r>
              <a:rPr lang="en-US" altLang="zh-TW" dirty="0">
                <a:solidFill>
                  <a:srgbClr val="C00000"/>
                </a:solidFill>
              </a:rPr>
              <a:t>hardware to signal</a:t>
            </a:r>
            <a:r>
              <a:rPr lang="en-US" altLang="zh-TW" dirty="0"/>
              <a:t> to the kernel.</a:t>
            </a:r>
            <a:endParaRPr kumimoji="1" lang="en-US" altLang="zh-TW" dirty="0"/>
          </a:p>
          <a:p>
            <a:r>
              <a:rPr kumimoji="1" lang="en-US" altLang="zh-TW" dirty="0"/>
              <a:t>What causes interrupts:</a:t>
            </a:r>
          </a:p>
          <a:p>
            <a:pPr lvl="1"/>
            <a:r>
              <a:rPr kumimoji="1" lang="en-US" altLang="zh-TW" dirty="0"/>
              <a:t>Interrupt (Asynchronous, Hardware </a:t>
            </a:r>
            <a:r>
              <a:rPr lang="en-US" altLang="zh-TW" dirty="0"/>
              <a:t>Interrupts): Hardware devices </a:t>
            </a:r>
            <a:r>
              <a:rPr lang="en-US" altLang="zh-TW" dirty="0">
                <a:solidFill>
                  <a:srgbClr val="C00000"/>
                </a:solidFill>
              </a:rPr>
              <a:t>physically produce electronic signals</a:t>
            </a:r>
            <a:r>
              <a:rPr lang="en-US" altLang="zh-TW" dirty="0"/>
              <a:t>, which are directed into </a:t>
            </a:r>
            <a:r>
              <a:rPr lang="en-US" altLang="zh-TW" dirty="0">
                <a:solidFill>
                  <a:srgbClr val="C00000"/>
                </a:solidFill>
              </a:rPr>
              <a:t>input pins on an interrupt controller </a:t>
            </a:r>
            <a:br>
              <a:rPr lang="en-US" altLang="zh-TW" dirty="0"/>
            </a:br>
            <a:r>
              <a:rPr lang="en-US" altLang="zh-TW" dirty="0"/>
              <a:t>(e.g.,</a:t>
            </a:r>
            <a:r>
              <a:rPr lang="zh-TW" altLang="en-US" dirty="0"/>
              <a:t> </a:t>
            </a:r>
            <a:r>
              <a:rPr lang="en-US" altLang="zh-TW" dirty="0"/>
              <a:t>keyboard,</a:t>
            </a:r>
            <a:r>
              <a:rPr lang="zh-TW" altLang="en-US" dirty="0"/>
              <a:t> </a:t>
            </a:r>
            <a:r>
              <a:rPr lang="en-US" altLang="zh-TW" dirty="0"/>
              <a:t>disk).</a:t>
            </a:r>
            <a:endParaRPr kumimoji="1" lang="en-US" altLang="zh-TW" dirty="0"/>
          </a:p>
          <a:p>
            <a:pPr lvl="1"/>
            <a:r>
              <a:rPr lang="en-US" altLang="zh-TW" dirty="0"/>
              <a:t>Exceptions (Synchronous, Software Interrupts): Exceptions are </a:t>
            </a:r>
            <a:r>
              <a:rPr lang="en-US" altLang="zh-TW" dirty="0">
                <a:solidFill>
                  <a:srgbClr val="C00000"/>
                </a:solidFill>
              </a:rPr>
              <a:t>produced by the processor</a:t>
            </a:r>
            <a:r>
              <a:rPr lang="en-US" altLang="zh-TW" dirty="0"/>
              <a:t> while executing instructions either in response to a </a:t>
            </a:r>
            <a:r>
              <a:rPr lang="en-US" altLang="zh-TW" dirty="0">
                <a:solidFill>
                  <a:srgbClr val="C00000"/>
                </a:solidFill>
              </a:rPr>
              <a:t>programming error</a:t>
            </a:r>
            <a:r>
              <a:rPr lang="zh-TW" altLang="en-US" dirty="0">
                <a:solidFill>
                  <a:srgbClr val="C00000"/>
                </a:solidFill>
              </a:rPr>
              <a:t> </a:t>
            </a:r>
            <a:r>
              <a:rPr lang="en-US" altLang="zh-TW" dirty="0">
                <a:solidFill>
                  <a:schemeClr val="tx1"/>
                </a:solidFill>
              </a:rPr>
              <a:t>(e.g.,</a:t>
            </a:r>
            <a:r>
              <a:rPr lang="zh-TW" altLang="en-US" dirty="0">
                <a:solidFill>
                  <a:schemeClr val="tx1"/>
                </a:solidFill>
              </a:rPr>
              <a:t> </a:t>
            </a:r>
            <a:r>
              <a:rPr lang="en-US" altLang="zh-TW" dirty="0">
                <a:solidFill>
                  <a:schemeClr val="tx1"/>
                </a:solidFill>
              </a:rPr>
              <a:t>divide</a:t>
            </a:r>
            <a:r>
              <a:rPr lang="zh-TW" altLang="en-US" dirty="0">
                <a:solidFill>
                  <a:schemeClr val="tx1"/>
                </a:solidFill>
              </a:rPr>
              <a:t> </a:t>
            </a:r>
            <a:r>
              <a:rPr lang="en-US" altLang="zh-TW" dirty="0">
                <a:solidFill>
                  <a:schemeClr val="tx1"/>
                </a:solidFill>
              </a:rPr>
              <a:t>by</a:t>
            </a:r>
            <a:r>
              <a:rPr lang="zh-TW" altLang="en-US" dirty="0">
                <a:solidFill>
                  <a:schemeClr val="tx1"/>
                </a:solidFill>
              </a:rPr>
              <a:t> </a:t>
            </a:r>
            <a:r>
              <a:rPr lang="en-US" altLang="zh-TW" dirty="0">
                <a:solidFill>
                  <a:schemeClr val="tx1"/>
                </a:solidFill>
              </a:rPr>
              <a:t>zero) </a:t>
            </a:r>
            <a:r>
              <a:rPr lang="en-US" altLang="zh-TW" dirty="0"/>
              <a:t>or</a:t>
            </a:r>
            <a:r>
              <a:rPr lang="zh-TW" altLang="en-US" dirty="0"/>
              <a:t> </a:t>
            </a:r>
            <a:r>
              <a:rPr lang="en-US" altLang="zh-TW" dirty="0">
                <a:solidFill>
                  <a:srgbClr val="C00000"/>
                </a:solidFill>
              </a:rPr>
              <a:t>abnormal</a:t>
            </a:r>
            <a:r>
              <a:rPr lang="zh-TW" altLang="en-US" dirty="0">
                <a:solidFill>
                  <a:srgbClr val="C00000"/>
                </a:solidFill>
              </a:rPr>
              <a:t> </a:t>
            </a:r>
            <a:r>
              <a:rPr lang="en-US" altLang="zh-TW" dirty="0">
                <a:solidFill>
                  <a:srgbClr val="C00000"/>
                </a:solidFill>
              </a:rPr>
              <a:t>condition</a:t>
            </a:r>
            <a:r>
              <a:rPr lang="zh-TW" altLang="en-US" dirty="0"/>
              <a:t> </a:t>
            </a:r>
            <a:r>
              <a:rPr lang="en-US" altLang="zh-TW" dirty="0"/>
              <a:t>(e.g.,</a:t>
            </a:r>
            <a:r>
              <a:rPr lang="zh-TW" altLang="en-US" dirty="0"/>
              <a:t> </a:t>
            </a:r>
            <a:r>
              <a:rPr lang="en-US" altLang="zh-TW" dirty="0"/>
              <a:t>call</a:t>
            </a:r>
            <a:r>
              <a:rPr lang="zh-TW" altLang="en-US" dirty="0"/>
              <a:t> </a:t>
            </a:r>
            <a:r>
              <a:rPr lang="en-US" altLang="zh-TW" dirty="0"/>
              <a:t>a</a:t>
            </a:r>
            <a:r>
              <a:rPr lang="zh-TW" altLang="en-US" dirty="0"/>
              <a:t> </a:t>
            </a:r>
            <a:r>
              <a:rPr lang="en-US" altLang="zh-TW" dirty="0"/>
              <a:t>system</a:t>
            </a:r>
            <a:r>
              <a:rPr lang="zh-TW" altLang="en-US" dirty="0"/>
              <a:t> </a:t>
            </a:r>
            <a:r>
              <a:rPr lang="en-US" altLang="zh-TW" dirty="0"/>
              <a:t>call</a:t>
            </a:r>
            <a:r>
              <a:rPr lang="zh-TW" altLang="en-US" dirty="0"/>
              <a:t> </a:t>
            </a:r>
            <a:r>
              <a:rPr lang="en-US" altLang="zh-TW" dirty="0"/>
              <a:t>or</a:t>
            </a:r>
            <a:r>
              <a:rPr lang="zh-TW" altLang="en-US" dirty="0"/>
              <a:t> </a:t>
            </a:r>
            <a:r>
              <a:rPr lang="en-US" altLang="zh-TW" dirty="0"/>
              <a:t>a</a:t>
            </a:r>
            <a:r>
              <a:rPr lang="zh-TW" altLang="en-US" dirty="0"/>
              <a:t> </a:t>
            </a:r>
            <a:r>
              <a:rPr lang="en-US" altLang="zh-TW" dirty="0"/>
              <a:t>page</a:t>
            </a:r>
            <a:r>
              <a:rPr lang="zh-TW" altLang="en-US" dirty="0"/>
              <a:t> </a:t>
            </a:r>
            <a:r>
              <a:rPr lang="en-US" altLang="zh-TW" dirty="0"/>
              <a:t>fault).</a:t>
            </a:r>
          </a:p>
          <a:p>
            <a:pPr lvl="1"/>
            <a:endParaRPr lang="en-US" altLang="zh-TW" dirty="0"/>
          </a:p>
          <a:p>
            <a:endParaRPr kumimoji="1" lang="en-US" altLang="zh-TW"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31</a:t>
            </a:fld>
            <a:endParaRPr lang="zh-TW" altLang="en-US" dirty="0"/>
          </a:p>
        </p:txBody>
      </p:sp>
    </p:spTree>
    <p:extLst>
      <p:ext uri="{BB962C8B-B14F-4D97-AF65-F5344CB8AC3E}">
        <p14:creationId xmlns:p14="http://schemas.microsoft.com/office/powerpoint/2010/main" val="3768365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p:cTn id="6" dur="indefinite"/>
                                        <p:tgtEl>
                                          <p:spTgt spid="3">
                                            <p:txEl>
                                              <p:pRg st="1" end="1"/>
                                            </p:txEl>
                                          </p:spTgt>
                                        </p:tgtEl>
                                        <p:attrNameLst>
                                          <p:attrName>style.opacity</p:attrName>
                                        </p:attrNameLst>
                                      </p:cBhvr>
                                      <p:to>
                                        <p:strVal val="0.5"/>
                                      </p:to>
                                    </p:set>
                                    <p:animEffect filter="image" prLst="opacity: 0.5">
                                      <p:cBhvr rctx="IE">
                                        <p:cTn id="7" dur="indefinite"/>
                                        <p:tgtEl>
                                          <p:spTgt spid="3">
                                            <p:txEl>
                                              <p:pRg st="1" end="1"/>
                                            </p:txEl>
                                          </p:spTgt>
                                        </p:tgtEl>
                                      </p:cBhvr>
                                    </p:animEffect>
                                  </p:childTnLst>
                                </p:cTn>
                              </p:par>
                              <p:par>
                                <p:cTn id="8" presetID="9" presetClass="emph" presetSubtype="0" nodeType="withEffect">
                                  <p:stCondLst>
                                    <p:cond delay="0"/>
                                  </p:stCondLst>
                                  <p:childTnLst>
                                    <p:set>
                                      <p:cBhvr>
                                        <p:cTn id="9" dur="indefinite"/>
                                        <p:tgtEl>
                                          <p:spTgt spid="3">
                                            <p:txEl>
                                              <p:pRg st="2" end="2"/>
                                            </p:txEl>
                                          </p:spTgt>
                                        </p:tgtEl>
                                        <p:attrNameLst>
                                          <p:attrName>style.opacity</p:attrName>
                                        </p:attrNameLst>
                                      </p:cBhvr>
                                      <p:to>
                                        <p:strVal val="0.5"/>
                                      </p:to>
                                    </p:set>
                                    <p:animEffect filter="image" prLst="opacity: 0.5">
                                      <p:cBhvr rctx="IE">
                                        <p:cTn id="10" dur="indefinite"/>
                                        <p:tgtEl>
                                          <p:spTgt spid="3">
                                            <p:txEl>
                                              <p:pRg st="2" end="2"/>
                                            </p:txEl>
                                          </p:spTgt>
                                        </p:tgtEl>
                                      </p:cBhvr>
                                    </p:animEffect>
                                  </p:childTnLst>
                                </p:cTn>
                              </p:par>
                              <p:par>
                                <p:cTn id="11" presetID="9" presetClass="emph" presetSubtype="0" nodeType="withEffect">
                                  <p:stCondLst>
                                    <p:cond delay="0"/>
                                  </p:stCondLst>
                                  <p:childTnLst>
                                    <p:set>
                                      <p:cBhvr>
                                        <p:cTn id="12" dur="indefinite"/>
                                        <p:tgtEl>
                                          <p:spTgt spid="3">
                                            <p:txEl>
                                              <p:pRg st="3" end="3"/>
                                            </p:txEl>
                                          </p:spTgt>
                                        </p:tgtEl>
                                        <p:attrNameLst>
                                          <p:attrName>style.opacity</p:attrName>
                                        </p:attrNameLst>
                                      </p:cBhvr>
                                      <p:to>
                                        <p:strVal val="0.5"/>
                                      </p:to>
                                    </p:set>
                                    <p:animEffect filter="image" prLst="opacity: 0.5">
                                      <p:cBhvr rctx="IE">
                                        <p:cTn id="13" dur="indefinite"/>
                                        <p:tgtEl>
                                          <p:spTgt spid="3">
                                            <p:txEl>
                                              <p:pRg st="3" end="3"/>
                                            </p:txEl>
                                          </p:spTgt>
                                        </p:tgtEl>
                                      </p:cBhvr>
                                    </p:animEffect>
                                  </p:childTnLst>
                                </p:cTn>
                              </p:par>
                              <p:par>
                                <p:cTn id="14" presetID="9" presetClass="emph" presetSubtype="0" nodeType="withEffect">
                                  <p:stCondLst>
                                    <p:cond delay="0"/>
                                  </p:stCondLst>
                                  <p:childTnLst>
                                    <p:set>
                                      <p:cBhvr>
                                        <p:cTn id="15" dur="indefinite"/>
                                        <p:tgtEl>
                                          <p:spTgt spid="3">
                                            <p:txEl>
                                              <p:pRg st="5" end="5"/>
                                            </p:txEl>
                                          </p:spTgt>
                                        </p:tgtEl>
                                        <p:attrNameLst>
                                          <p:attrName>style.opacity</p:attrName>
                                        </p:attrNameLst>
                                      </p:cBhvr>
                                      <p:to>
                                        <p:strVal val="0.5"/>
                                      </p:to>
                                    </p:set>
                                    <p:animEffect filter="image" prLst="opacity: 0.5">
                                      <p:cBhvr rctx="IE">
                                        <p:cTn id="16" dur="indefinite"/>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ABAA54BE-2718-3EB9-2482-AF6DAE82945A}"/>
              </a:ext>
            </a:extLst>
          </p:cNvPr>
          <p:cNvSpPr>
            <a:spLocks noGrp="1"/>
          </p:cNvSpPr>
          <p:nvPr>
            <p:ph idx="1"/>
          </p:nvPr>
        </p:nvSpPr>
        <p:spPr>
          <a:xfrm>
            <a:off x="15240" y="1268697"/>
            <a:ext cx="7457615" cy="5441950"/>
          </a:xfrm>
        </p:spPr>
        <p:txBody>
          <a:bodyPr>
            <a:normAutofit/>
          </a:bodyPr>
          <a:lstStyle/>
          <a:p>
            <a:r>
              <a:rPr kumimoji="1" lang="en-US" altLang="zh-TW" dirty="0">
                <a:solidFill>
                  <a:srgbClr val="C00000"/>
                </a:solidFill>
              </a:rPr>
              <a:t>Different devices </a:t>
            </a:r>
            <a:r>
              <a:rPr kumimoji="1" lang="en-US" altLang="zh-TW" dirty="0"/>
              <a:t>can be associated with different interrupts by means of a </a:t>
            </a:r>
            <a:r>
              <a:rPr kumimoji="1" lang="en-US" altLang="zh-TW" dirty="0">
                <a:solidFill>
                  <a:srgbClr val="C00000"/>
                </a:solidFill>
              </a:rPr>
              <a:t>unique interrupt value (max: 256) </a:t>
            </a:r>
            <a:r>
              <a:rPr kumimoji="1" lang="en-US" altLang="zh-TW" dirty="0"/>
              <a:t>associated with each interrupt (Just like system call!)</a:t>
            </a:r>
            <a:endParaRPr lang="en-US" altLang="zh-TW" dirty="0"/>
          </a:p>
          <a:p>
            <a:r>
              <a:rPr kumimoji="1" lang="en-US" altLang="zh-TW" dirty="0"/>
              <a:t>Interrupt Request (IRQ): </a:t>
            </a:r>
          </a:p>
          <a:p>
            <a:pPr lvl="1"/>
            <a:r>
              <a:rPr lang="en-US" altLang="zh-TW" dirty="0">
                <a:solidFill>
                  <a:srgbClr val="C00000"/>
                </a:solidFill>
              </a:rPr>
              <a:t>Specific interrupt </a:t>
            </a:r>
            <a:r>
              <a:rPr lang="en-US" altLang="zh-TW" dirty="0"/>
              <a:t>is associated with </a:t>
            </a:r>
            <a:r>
              <a:rPr lang="en-US" altLang="zh-TW" dirty="0">
                <a:solidFill>
                  <a:srgbClr val="C00000"/>
                </a:solidFill>
              </a:rPr>
              <a:t>a specific device</a:t>
            </a:r>
            <a:r>
              <a:rPr lang="en-US" altLang="zh-TW" dirty="0"/>
              <a:t>, </a:t>
            </a:r>
          </a:p>
          <a:p>
            <a:pPr marL="457200" lvl="1" indent="0">
              <a:buNone/>
            </a:pPr>
            <a:r>
              <a:rPr lang="en-US" altLang="zh-TW" dirty="0"/>
              <a:t>and the </a:t>
            </a:r>
            <a:r>
              <a:rPr lang="en-US" altLang="zh-TW" dirty="0">
                <a:solidFill>
                  <a:srgbClr val="C00000"/>
                </a:solidFill>
              </a:rPr>
              <a:t>kernel knows this. </a:t>
            </a:r>
            <a:r>
              <a:rPr lang="en-US" altLang="zh-TW" dirty="0">
                <a:solidFill>
                  <a:schemeClr val="tx1"/>
                </a:solidFill>
              </a:rPr>
              <a:t>(Assigned during boot)</a:t>
            </a:r>
          </a:p>
          <a:p>
            <a:pPr lvl="1"/>
            <a:r>
              <a:rPr lang="en-US" altLang="zh-TW" dirty="0"/>
              <a:t>IRQ 0 </a:t>
            </a:r>
            <a:r>
              <a:rPr lang="en-US" altLang="zh-TW" dirty="0">
                <a:sym typeface="Wingdings" pitchFamily="2" charset="2"/>
              </a:rPr>
              <a:t> timer interrupt</a:t>
            </a:r>
          </a:p>
          <a:p>
            <a:pPr lvl="1"/>
            <a:r>
              <a:rPr lang="en-US" altLang="zh-TW" dirty="0">
                <a:sym typeface="Wingdings" pitchFamily="2" charset="2"/>
              </a:rPr>
              <a:t>IRQ 1  keyboard interrupt</a:t>
            </a:r>
          </a:p>
          <a:p>
            <a:pPr lvl="1"/>
            <a:r>
              <a:rPr lang="en-US" altLang="zh-TW" dirty="0">
                <a:sym typeface="Wingdings" pitchFamily="2" charset="2"/>
              </a:rPr>
              <a:t>Dynamically Allocate IRQ #  PCI devices</a:t>
            </a:r>
            <a:endParaRPr kumimoji="1" lang="en-US" altLang="zh-TW" dirty="0"/>
          </a:p>
        </p:txBody>
      </p:sp>
      <p:sp>
        <p:nvSpPr>
          <p:cNvPr id="2" name="標題 1">
            <a:extLst>
              <a:ext uri="{FF2B5EF4-FFF2-40B4-BE49-F238E27FC236}">
                <a16:creationId xmlns:a16="http://schemas.microsoft.com/office/drawing/2014/main" id="{76615A16-456A-C4C1-A53C-A28B3FE56ECA}"/>
              </a:ext>
            </a:extLst>
          </p:cNvPr>
          <p:cNvSpPr>
            <a:spLocks noGrp="1"/>
          </p:cNvSpPr>
          <p:nvPr>
            <p:ph type="title"/>
          </p:nvPr>
        </p:nvSpPr>
        <p:spPr/>
        <p:txBody>
          <a:bodyPr/>
          <a:lstStyle/>
          <a:p>
            <a:r>
              <a:rPr kumimoji="1" lang="en-US" altLang="zh-TW" dirty="0"/>
              <a:t>Interrup</a:t>
            </a:r>
            <a:r>
              <a:rPr lang="en-US" altLang="zh-TW" dirty="0"/>
              <a:t>t Request (IRQ)</a:t>
            </a:r>
            <a:endParaRPr kumimoji="1" lang="zh-TW" altLang="en-US" dirty="0"/>
          </a:p>
        </p:txBody>
      </p:sp>
      <p:sp>
        <p:nvSpPr>
          <p:cNvPr id="4" name="投影片編號版面配置區 3">
            <a:extLst>
              <a:ext uri="{FF2B5EF4-FFF2-40B4-BE49-F238E27FC236}">
                <a16:creationId xmlns:a16="http://schemas.microsoft.com/office/drawing/2014/main" id="{C49BE4F4-D949-1DDD-A02A-D9593B004A8C}"/>
              </a:ext>
            </a:extLst>
          </p:cNvPr>
          <p:cNvSpPr>
            <a:spLocks noGrp="1"/>
          </p:cNvSpPr>
          <p:nvPr>
            <p:ph type="sldNum" sz="quarter" idx="4"/>
          </p:nvPr>
        </p:nvSpPr>
        <p:spPr/>
        <p:txBody>
          <a:bodyPr/>
          <a:lstStyle/>
          <a:p>
            <a:fld id="{E24E6636-6BA5-4AAC-8485-BE8D914D288B}" type="slidenum">
              <a:rPr lang="zh-TW" altLang="en-US" smtClean="0"/>
              <a:pPr/>
              <a:t>32</a:t>
            </a:fld>
            <a:endParaRPr lang="zh-TW" altLang="en-US" dirty="0"/>
          </a:p>
        </p:txBody>
      </p:sp>
      <p:grpSp>
        <p:nvGrpSpPr>
          <p:cNvPr id="136" name="群組 135">
            <a:extLst>
              <a:ext uri="{FF2B5EF4-FFF2-40B4-BE49-F238E27FC236}">
                <a16:creationId xmlns:a16="http://schemas.microsoft.com/office/drawing/2014/main" id="{4825A023-26C7-3A1A-B53F-414B99B74BDB}"/>
              </a:ext>
            </a:extLst>
          </p:cNvPr>
          <p:cNvGrpSpPr/>
          <p:nvPr/>
        </p:nvGrpSpPr>
        <p:grpSpPr>
          <a:xfrm>
            <a:off x="7315200" y="898897"/>
            <a:ext cx="4614861" cy="5983734"/>
            <a:chOff x="7315200" y="961251"/>
            <a:chExt cx="4614861" cy="5983734"/>
          </a:xfrm>
        </p:grpSpPr>
        <p:pic>
          <p:nvPicPr>
            <p:cNvPr id="130" name="圖片 129">
              <a:extLst>
                <a:ext uri="{FF2B5EF4-FFF2-40B4-BE49-F238E27FC236}">
                  <a16:creationId xmlns:a16="http://schemas.microsoft.com/office/drawing/2014/main" id="{21A2EFC8-AFB5-606E-D7EF-35FE506D44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9894" y="1145627"/>
              <a:ext cx="4060167" cy="5701259"/>
            </a:xfrm>
            <a:prstGeom prst="rect">
              <a:avLst/>
            </a:prstGeom>
          </p:spPr>
        </p:pic>
        <p:sp>
          <p:nvSpPr>
            <p:cNvPr id="131" name="文字方塊 130">
              <a:extLst>
                <a:ext uri="{FF2B5EF4-FFF2-40B4-BE49-F238E27FC236}">
                  <a16:creationId xmlns:a16="http://schemas.microsoft.com/office/drawing/2014/main" id="{6726A730-B7B7-1058-2240-D5E52B0F0091}"/>
                </a:ext>
              </a:extLst>
            </p:cNvPr>
            <p:cNvSpPr txBox="1"/>
            <p:nvPr/>
          </p:nvSpPr>
          <p:spPr>
            <a:xfrm>
              <a:off x="7315200" y="961251"/>
              <a:ext cx="2226443" cy="276999"/>
            </a:xfrm>
            <a:prstGeom prst="rect">
              <a:avLst/>
            </a:prstGeom>
            <a:noFill/>
          </p:spPr>
          <p:txBody>
            <a:bodyPr wrap="none" rtlCol="0">
              <a:spAutoFit/>
            </a:bodyPr>
            <a:lstStyle/>
            <a:p>
              <a:r>
                <a:rPr kumimoji="1" lang="en-US" altLang="zh-TW" sz="1200" dirty="0">
                  <a:solidFill>
                    <a:srgbClr val="C00000"/>
                  </a:solidFill>
                  <a:latin typeface="Arial" panose="020B0604020202020204" pitchFamily="34" charset="0"/>
                  <a:cs typeface="Arial" panose="020B0604020202020204" pitchFamily="34" charset="0"/>
                </a:rPr>
                <a:t>Interrupt Vector Number (IVN)</a:t>
              </a:r>
              <a:endParaRPr kumimoji="1" lang="zh-TW" altLang="en-US" sz="1200" dirty="0">
                <a:solidFill>
                  <a:srgbClr val="C00000"/>
                </a:solidFill>
                <a:latin typeface="Arial" panose="020B0604020202020204" pitchFamily="34" charset="0"/>
                <a:cs typeface="Arial" panose="020B0604020202020204" pitchFamily="34" charset="0"/>
              </a:endParaRPr>
            </a:p>
          </p:txBody>
        </p:sp>
        <p:sp>
          <p:nvSpPr>
            <p:cNvPr id="132" name="矩形 131">
              <a:extLst>
                <a:ext uri="{FF2B5EF4-FFF2-40B4-BE49-F238E27FC236}">
                  <a16:creationId xmlns:a16="http://schemas.microsoft.com/office/drawing/2014/main" id="{8FC626F8-B53E-97DD-D1A6-82E8C1540382}"/>
                </a:ext>
              </a:extLst>
            </p:cNvPr>
            <p:cNvSpPr/>
            <p:nvPr/>
          </p:nvSpPr>
          <p:spPr>
            <a:xfrm>
              <a:off x="9965094" y="2341983"/>
              <a:ext cx="1073019" cy="91440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3" name="矩形 132">
              <a:extLst>
                <a:ext uri="{FF2B5EF4-FFF2-40B4-BE49-F238E27FC236}">
                  <a16:creationId xmlns:a16="http://schemas.microsoft.com/office/drawing/2014/main" id="{79FB7783-4265-94F8-4ACA-0E2606FE705F}"/>
                </a:ext>
              </a:extLst>
            </p:cNvPr>
            <p:cNvSpPr/>
            <p:nvPr/>
          </p:nvSpPr>
          <p:spPr>
            <a:xfrm>
              <a:off x="9965094" y="5060301"/>
              <a:ext cx="1073019" cy="91440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4" name="矩形 133">
              <a:extLst>
                <a:ext uri="{FF2B5EF4-FFF2-40B4-BE49-F238E27FC236}">
                  <a16:creationId xmlns:a16="http://schemas.microsoft.com/office/drawing/2014/main" id="{BDD75351-F0AA-FCF5-35CA-E4D19BFD2B00}"/>
                </a:ext>
              </a:extLst>
            </p:cNvPr>
            <p:cNvSpPr/>
            <p:nvPr/>
          </p:nvSpPr>
          <p:spPr>
            <a:xfrm>
              <a:off x="11210198" y="6083558"/>
              <a:ext cx="504000" cy="450979"/>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5" name="文字方塊 134">
              <a:extLst>
                <a:ext uri="{FF2B5EF4-FFF2-40B4-BE49-F238E27FC236}">
                  <a16:creationId xmlns:a16="http://schemas.microsoft.com/office/drawing/2014/main" id="{0C7D2FBA-0DAB-686B-5262-E500C37EADDD}"/>
                </a:ext>
              </a:extLst>
            </p:cNvPr>
            <p:cNvSpPr txBox="1"/>
            <p:nvPr/>
          </p:nvSpPr>
          <p:spPr>
            <a:xfrm>
              <a:off x="8910529" y="6421765"/>
              <a:ext cx="2299669" cy="523220"/>
            </a:xfrm>
            <a:prstGeom prst="rect">
              <a:avLst/>
            </a:prstGeom>
            <a:noFill/>
          </p:spPr>
          <p:txBody>
            <a:bodyPr wrap="none" rtlCol="0">
              <a:spAutoFit/>
            </a:bodyPr>
            <a:lstStyle/>
            <a:p>
              <a:pPr algn="ctr"/>
              <a:r>
                <a:rPr kumimoji="1" lang="en-US" altLang="zh-TW" sz="1400" dirty="0">
                  <a:latin typeface="Arial" panose="020B0604020202020204" pitchFamily="34" charset="0"/>
                  <a:cs typeface="Arial" panose="020B0604020202020204" pitchFamily="34" charset="0"/>
                </a:rPr>
                <a:t>X86 Interrupt Vector Table </a:t>
              </a:r>
            </a:p>
            <a:p>
              <a:pPr algn="ctr"/>
              <a:r>
                <a:rPr kumimoji="1" lang="en-US" altLang="zh-TW" sz="1400" dirty="0">
                  <a:latin typeface="Arial" panose="020B0604020202020204" pitchFamily="34" charset="0"/>
                  <a:cs typeface="Arial" panose="020B0604020202020204" pitchFamily="34" charset="0"/>
                </a:rPr>
                <a:t>(Arch Dependent)</a:t>
              </a:r>
              <a:endParaRPr kumimoji="1" lang="zh-TW" altLang="en-US" sz="1400" dirty="0">
                <a:latin typeface="Arial" panose="020B0604020202020204" pitchFamily="34" charset="0"/>
                <a:cs typeface="Arial" panose="020B0604020202020204" pitchFamily="34" charset="0"/>
              </a:endParaRPr>
            </a:p>
          </p:txBody>
        </p:sp>
      </p:grpSp>
      <p:sp>
        <p:nvSpPr>
          <p:cNvPr id="137" name="文字方塊 136">
            <a:extLst>
              <a:ext uri="{FF2B5EF4-FFF2-40B4-BE49-F238E27FC236}">
                <a16:creationId xmlns:a16="http://schemas.microsoft.com/office/drawing/2014/main" id="{4ED23327-9DDA-A278-B981-65E645654128}"/>
              </a:ext>
            </a:extLst>
          </p:cNvPr>
          <p:cNvSpPr txBox="1"/>
          <p:nvPr/>
        </p:nvSpPr>
        <p:spPr>
          <a:xfrm>
            <a:off x="0" y="6572147"/>
            <a:ext cx="7084440" cy="276999"/>
          </a:xfrm>
          <a:prstGeom prst="rect">
            <a:avLst/>
          </a:prstGeom>
          <a:noFill/>
        </p:spPr>
        <p:txBody>
          <a:bodyPr wrap="non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rPr>
              <a:t>Fan, </a:t>
            </a:r>
            <a:r>
              <a:rPr kumimoji="1" lang="en-US" altLang="zh-TW" sz="1200" dirty="0" err="1">
                <a:solidFill>
                  <a:schemeClr val="bg1">
                    <a:lumMod val="75000"/>
                  </a:schemeClr>
                </a:solidFill>
              </a:rPr>
              <a:t>Xiaocong</a:t>
            </a:r>
            <a:r>
              <a:rPr kumimoji="1" lang="en-US" altLang="zh-TW" sz="1200" dirty="0">
                <a:solidFill>
                  <a:schemeClr val="bg1">
                    <a:lumMod val="75000"/>
                  </a:schemeClr>
                </a:solidFill>
              </a:rPr>
              <a:t>. Real-time embedded systems: design principles and engineering practices. </a:t>
            </a:r>
            <a:r>
              <a:rPr kumimoji="1" lang="en-US" altLang="zh-TW" sz="1200" dirty="0" err="1">
                <a:solidFill>
                  <a:schemeClr val="bg1">
                    <a:lumMod val="75000"/>
                  </a:schemeClr>
                </a:solidFill>
              </a:rPr>
              <a:t>Newnes</a:t>
            </a:r>
            <a:r>
              <a:rPr kumimoji="1" lang="en-US" altLang="zh-TW" sz="1200" dirty="0">
                <a:solidFill>
                  <a:schemeClr val="bg1">
                    <a:lumMod val="75000"/>
                  </a:schemeClr>
                </a:solidFill>
              </a:rPr>
              <a:t>, 2015.</a:t>
            </a:r>
          </a:p>
        </p:txBody>
      </p:sp>
      <p:sp>
        <p:nvSpPr>
          <p:cNvPr id="138" name="橢圓 137">
            <a:extLst>
              <a:ext uri="{FF2B5EF4-FFF2-40B4-BE49-F238E27FC236}">
                <a16:creationId xmlns:a16="http://schemas.microsoft.com/office/drawing/2014/main" id="{2BD87CEE-7EEF-0785-DA3E-A0B34CE4DDA1}"/>
              </a:ext>
            </a:extLst>
          </p:cNvPr>
          <p:cNvSpPr/>
          <p:nvPr/>
        </p:nvSpPr>
        <p:spPr>
          <a:xfrm>
            <a:off x="7896021" y="6490155"/>
            <a:ext cx="391609" cy="332706"/>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2457789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6"/>
                                        </p:tgtEl>
                                        <p:attrNameLst>
                                          <p:attrName>style.visibility</p:attrName>
                                        </p:attrNameLst>
                                      </p:cBhvr>
                                      <p:to>
                                        <p:strVal val="visible"/>
                                      </p:to>
                                    </p:set>
                                    <p:animEffect transition="in" filter="fade">
                                      <p:cBhvr>
                                        <p:cTn id="29" dur="500"/>
                                        <p:tgtEl>
                                          <p:spTgt spid="13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8"/>
                                        </p:tgtEl>
                                        <p:attrNameLst>
                                          <p:attrName>style.visibility</p:attrName>
                                        </p:attrNameLst>
                                      </p:cBhvr>
                                      <p:to>
                                        <p:strVal val="visible"/>
                                      </p:to>
                                    </p:set>
                                    <p:animEffect transition="in" filter="fade">
                                      <p:cBhvr>
                                        <p:cTn id="34"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ABAA54BE-2718-3EB9-2482-AF6DAE82945A}"/>
              </a:ext>
            </a:extLst>
          </p:cNvPr>
          <p:cNvSpPr>
            <a:spLocks noGrp="1"/>
          </p:cNvSpPr>
          <p:nvPr>
            <p:ph idx="1"/>
          </p:nvPr>
        </p:nvSpPr>
        <p:spPr>
          <a:xfrm>
            <a:off x="15240" y="1268697"/>
            <a:ext cx="7469943" cy="5441950"/>
          </a:xfrm>
        </p:spPr>
        <p:txBody>
          <a:bodyPr>
            <a:normAutofit/>
          </a:bodyPr>
          <a:lstStyle/>
          <a:p>
            <a:pPr algn="l"/>
            <a:r>
              <a:rPr lang="en-US" altLang="zh-TW" dirty="0"/>
              <a:t>How an interrupt works:</a:t>
            </a:r>
          </a:p>
          <a:p>
            <a:pPr lvl="1" algn="l"/>
            <a:r>
              <a:rPr kumimoji="1" lang="en-US" altLang="zh-TW" dirty="0"/>
              <a:t>Hardware devices send out </a:t>
            </a:r>
            <a:r>
              <a:rPr lang="en-US" altLang="zh-TW" dirty="0"/>
              <a:t>an </a:t>
            </a:r>
            <a:r>
              <a:rPr lang="en-US" altLang="zh-TW" dirty="0">
                <a:solidFill>
                  <a:srgbClr val="C00000"/>
                </a:solidFill>
              </a:rPr>
              <a:t>interrupt signal</a:t>
            </a:r>
            <a:r>
              <a:rPr lang="en-US" altLang="zh-TW" dirty="0"/>
              <a:t>.</a:t>
            </a:r>
            <a:endParaRPr kumimoji="1" lang="en-US" altLang="zh-TW" dirty="0"/>
          </a:p>
          <a:p>
            <a:pPr lvl="1" algn="l"/>
            <a:r>
              <a:rPr kumimoji="1" lang="en-US" altLang="zh-TW" dirty="0"/>
              <a:t>The CPU</a:t>
            </a:r>
            <a:r>
              <a:rPr kumimoji="1" lang="zh-TW" altLang="en-US" dirty="0"/>
              <a:t> </a:t>
            </a:r>
            <a:r>
              <a:rPr kumimoji="1" lang="en-US" altLang="zh-TW" dirty="0"/>
              <a:t>stops </a:t>
            </a:r>
            <a:r>
              <a:rPr lang="en-US" altLang="zh-TW" dirty="0"/>
              <a:t>current execution.</a:t>
            </a:r>
          </a:p>
          <a:p>
            <a:pPr lvl="1" algn="l"/>
            <a:r>
              <a:rPr lang="en-US" altLang="zh-TW" dirty="0"/>
              <a:t>The interrupt controller sends </a:t>
            </a:r>
            <a:r>
              <a:rPr lang="en-US" altLang="zh-TW" dirty="0">
                <a:solidFill>
                  <a:srgbClr val="C00000"/>
                </a:solidFill>
              </a:rPr>
              <a:t>INT</a:t>
            </a:r>
            <a:r>
              <a:rPr lang="zh-TW" altLang="en-US" dirty="0">
                <a:solidFill>
                  <a:srgbClr val="C00000"/>
                </a:solidFill>
              </a:rPr>
              <a:t> </a:t>
            </a:r>
            <a:r>
              <a:rPr lang="en-US" altLang="zh-TW" dirty="0">
                <a:solidFill>
                  <a:srgbClr val="C00000"/>
                </a:solidFill>
              </a:rPr>
              <a:t>#</a:t>
            </a:r>
            <a:r>
              <a:rPr lang="zh-TW" altLang="en-US" dirty="0"/>
              <a:t> </a:t>
            </a:r>
            <a:r>
              <a:rPr lang="en-US" altLang="zh-TW" dirty="0"/>
              <a:t>to the CPU.</a:t>
            </a:r>
          </a:p>
          <a:p>
            <a:pPr lvl="1" algn="l"/>
            <a:r>
              <a:rPr lang="en-US" altLang="zh-TW" dirty="0"/>
              <a:t>CPU</a:t>
            </a:r>
            <a:r>
              <a:rPr lang="zh-TW" altLang="en-US" dirty="0"/>
              <a:t> </a:t>
            </a:r>
            <a:r>
              <a:rPr lang="en-US" altLang="zh-TW" dirty="0">
                <a:solidFill>
                  <a:srgbClr val="C00000"/>
                </a:solidFill>
              </a:rPr>
              <a:t>accesses</a:t>
            </a:r>
            <a:r>
              <a:rPr lang="zh-TW" altLang="en-US" dirty="0">
                <a:solidFill>
                  <a:srgbClr val="C00000"/>
                </a:solidFill>
              </a:rPr>
              <a:t> </a:t>
            </a:r>
            <a:r>
              <a:rPr lang="en-US" altLang="zh-TW" dirty="0">
                <a:solidFill>
                  <a:srgbClr val="C00000"/>
                </a:solidFill>
              </a:rPr>
              <a:t>the</a:t>
            </a:r>
            <a:r>
              <a:rPr lang="zh-TW" altLang="en-US" dirty="0">
                <a:solidFill>
                  <a:srgbClr val="C00000"/>
                </a:solidFill>
              </a:rPr>
              <a:t> </a:t>
            </a:r>
            <a:r>
              <a:rPr lang="en-US" altLang="zh-TW" dirty="0">
                <a:solidFill>
                  <a:srgbClr val="C00000"/>
                </a:solidFill>
              </a:rPr>
              <a:t>Interrupt</a:t>
            </a:r>
            <a:r>
              <a:rPr lang="zh-TW" altLang="en-US" dirty="0">
                <a:solidFill>
                  <a:srgbClr val="C00000"/>
                </a:solidFill>
              </a:rPr>
              <a:t> </a:t>
            </a:r>
            <a:r>
              <a:rPr lang="en-US" altLang="zh-TW" dirty="0">
                <a:solidFill>
                  <a:srgbClr val="C00000"/>
                </a:solidFill>
              </a:rPr>
              <a:t>Vector</a:t>
            </a:r>
            <a:r>
              <a:rPr lang="zh-TW" altLang="en-US" dirty="0">
                <a:solidFill>
                  <a:srgbClr val="C00000"/>
                </a:solidFill>
              </a:rPr>
              <a:t> </a:t>
            </a:r>
            <a:r>
              <a:rPr lang="en-US" altLang="zh-TW" dirty="0">
                <a:solidFill>
                  <a:srgbClr val="C00000"/>
                </a:solidFill>
              </a:rPr>
              <a:t>Table</a:t>
            </a:r>
            <a:r>
              <a:rPr lang="zh-TW" altLang="en-US" dirty="0">
                <a:solidFill>
                  <a:srgbClr val="C00000"/>
                </a:solidFill>
              </a:rPr>
              <a:t> </a:t>
            </a:r>
            <a:r>
              <a:rPr lang="en-US" altLang="zh-TW" dirty="0"/>
              <a:t>by</a:t>
            </a:r>
            <a:r>
              <a:rPr lang="zh-TW" altLang="en-US" dirty="0"/>
              <a:t> </a:t>
            </a:r>
            <a:r>
              <a:rPr lang="en-US" altLang="zh-TW" dirty="0"/>
              <a:t>INT</a:t>
            </a:r>
            <a:r>
              <a:rPr lang="zh-TW" altLang="en-US" dirty="0"/>
              <a:t> </a:t>
            </a:r>
            <a:r>
              <a:rPr lang="en-US" altLang="zh-TW" dirty="0"/>
              <a:t>#</a:t>
            </a:r>
            <a:r>
              <a:rPr lang="zh-TW" altLang="en-US" dirty="0"/>
              <a:t> * </a:t>
            </a:r>
            <a:r>
              <a:rPr lang="en-US" altLang="zh-TW" dirty="0"/>
              <a:t>4</a:t>
            </a:r>
          </a:p>
          <a:p>
            <a:pPr lvl="1" algn="l"/>
            <a:r>
              <a:rPr kumimoji="1" lang="en-US" altLang="zh-TW" dirty="0"/>
              <a:t>The CPU runs the</a:t>
            </a:r>
            <a:r>
              <a:rPr kumimoji="1" lang="zh-TW" altLang="en-US" dirty="0"/>
              <a:t> </a:t>
            </a:r>
            <a:r>
              <a:rPr kumimoji="1" lang="en-US" altLang="zh-TW" dirty="0">
                <a:solidFill>
                  <a:srgbClr val="C00000"/>
                </a:solidFill>
              </a:rPr>
              <a:t>interrupt</a:t>
            </a:r>
            <a:r>
              <a:rPr kumimoji="1" lang="zh-TW" altLang="en-US" dirty="0">
                <a:solidFill>
                  <a:srgbClr val="C00000"/>
                </a:solidFill>
              </a:rPr>
              <a:t> </a:t>
            </a:r>
            <a:r>
              <a:rPr kumimoji="1" lang="en-US" altLang="zh-TW" dirty="0">
                <a:solidFill>
                  <a:srgbClr val="C00000"/>
                </a:solidFill>
              </a:rPr>
              <a:t>service</a:t>
            </a:r>
            <a:r>
              <a:rPr kumimoji="1" lang="zh-TW" altLang="en-US" dirty="0">
                <a:solidFill>
                  <a:srgbClr val="C00000"/>
                </a:solidFill>
              </a:rPr>
              <a:t> </a:t>
            </a:r>
            <a:r>
              <a:rPr kumimoji="1" lang="en-US" altLang="zh-TW" dirty="0">
                <a:solidFill>
                  <a:srgbClr val="C00000"/>
                </a:solidFill>
              </a:rPr>
              <a:t>routine</a:t>
            </a:r>
            <a:r>
              <a:rPr lang="en-US" altLang="zh-TW" dirty="0"/>
              <a:t> to handle the interrupt.</a:t>
            </a:r>
            <a:endParaRPr kumimoji="1" lang="en-US" altLang="zh-TW" dirty="0"/>
          </a:p>
        </p:txBody>
      </p:sp>
      <p:sp>
        <p:nvSpPr>
          <p:cNvPr id="2" name="標題 1">
            <a:extLst>
              <a:ext uri="{FF2B5EF4-FFF2-40B4-BE49-F238E27FC236}">
                <a16:creationId xmlns:a16="http://schemas.microsoft.com/office/drawing/2014/main" id="{76615A16-456A-C4C1-A53C-A28B3FE56ECA}"/>
              </a:ext>
            </a:extLst>
          </p:cNvPr>
          <p:cNvSpPr>
            <a:spLocks noGrp="1"/>
          </p:cNvSpPr>
          <p:nvPr>
            <p:ph type="title"/>
          </p:nvPr>
        </p:nvSpPr>
        <p:spPr/>
        <p:txBody>
          <a:bodyPr/>
          <a:lstStyle/>
          <a:p>
            <a:r>
              <a:rPr kumimoji="1" lang="en-US" altLang="zh-TW" dirty="0"/>
              <a:t>How an Interrupt Works</a:t>
            </a:r>
            <a:endParaRPr kumimoji="1" lang="zh-TW" altLang="en-US" dirty="0"/>
          </a:p>
        </p:txBody>
      </p:sp>
      <p:sp>
        <p:nvSpPr>
          <p:cNvPr id="4" name="投影片編號版面配置區 3">
            <a:extLst>
              <a:ext uri="{FF2B5EF4-FFF2-40B4-BE49-F238E27FC236}">
                <a16:creationId xmlns:a16="http://schemas.microsoft.com/office/drawing/2014/main" id="{C49BE4F4-D949-1DDD-A02A-D9593B004A8C}"/>
              </a:ext>
            </a:extLst>
          </p:cNvPr>
          <p:cNvSpPr>
            <a:spLocks noGrp="1"/>
          </p:cNvSpPr>
          <p:nvPr>
            <p:ph type="sldNum" sz="quarter" idx="4"/>
          </p:nvPr>
        </p:nvSpPr>
        <p:spPr/>
        <p:txBody>
          <a:bodyPr/>
          <a:lstStyle/>
          <a:p>
            <a:fld id="{E24E6636-6BA5-4AAC-8485-BE8D914D288B}" type="slidenum">
              <a:rPr lang="zh-TW" altLang="en-US" smtClean="0"/>
              <a:pPr/>
              <a:t>33</a:t>
            </a:fld>
            <a:endParaRPr lang="zh-TW" altLang="en-US" dirty="0"/>
          </a:p>
        </p:txBody>
      </p:sp>
      <p:sp>
        <p:nvSpPr>
          <p:cNvPr id="5" name="矩形 4">
            <a:extLst>
              <a:ext uri="{FF2B5EF4-FFF2-40B4-BE49-F238E27FC236}">
                <a16:creationId xmlns:a16="http://schemas.microsoft.com/office/drawing/2014/main" id="{CAEF2BCE-7D0E-7A84-2ADD-1C16554F4880}"/>
              </a:ext>
            </a:extLst>
          </p:cNvPr>
          <p:cNvSpPr/>
          <p:nvPr/>
        </p:nvSpPr>
        <p:spPr>
          <a:xfrm>
            <a:off x="7637012" y="1426586"/>
            <a:ext cx="4152745" cy="439871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zh-TW" sz="1400" dirty="0">
                <a:solidFill>
                  <a:schemeClr val="tx1"/>
                </a:solidFill>
                <a:latin typeface="Arial" panose="020B0604020202020204" pitchFamily="34" charset="0"/>
                <a:cs typeface="Arial" panose="020B0604020202020204" pitchFamily="34" charset="0"/>
              </a:rPr>
              <a:t>Motherboard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4" name="矩形 23">
            <a:extLst>
              <a:ext uri="{FF2B5EF4-FFF2-40B4-BE49-F238E27FC236}">
                <a16:creationId xmlns:a16="http://schemas.microsoft.com/office/drawing/2014/main" id="{CD01B13C-6B20-A08A-3C11-7D003DAA2E5C}"/>
              </a:ext>
            </a:extLst>
          </p:cNvPr>
          <p:cNvSpPr/>
          <p:nvPr/>
        </p:nvSpPr>
        <p:spPr>
          <a:xfrm>
            <a:off x="7986641" y="4129696"/>
            <a:ext cx="2145030" cy="134190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Southbridge</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lumMod val="50000"/>
                    <a:lumOff val="50000"/>
                  </a:schemeClr>
                </a:solidFill>
                <a:latin typeface="Arial" panose="020B0604020202020204" pitchFamily="34" charset="0"/>
                <a:cs typeface="Arial" panose="020B0604020202020204" pitchFamily="34" charset="0"/>
              </a:rPr>
              <a:t>(I/O Controller Hub)</a:t>
            </a:r>
            <a:endParaRPr kumimoji="1" lang="zh-TW" altLang="en-US" sz="1400" dirty="0">
              <a:solidFill>
                <a:schemeClr val="tx1">
                  <a:lumMod val="50000"/>
                  <a:lumOff val="50000"/>
                </a:schemeClr>
              </a:solidFill>
              <a:latin typeface="Arial" panose="020B0604020202020204" pitchFamily="34" charset="0"/>
              <a:cs typeface="Arial" panose="020B0604020202020204" pitchFamily="34" charset="0"/>
            </a:endParaRPr>
          </a:p>
        </p:txBody>
      </p:sp>
      <p:cxnSp>
        <p:nvCxnSpPr>
          <p:cNvPr id="34" name="直線接點 33">
            <a:extLst>
              <a:ext uri="{FF2B5EF4-FFF2-40B4-BE49-F238E27FC236}">
                <a16:creationId xmlns:a16="http://schemas.microsoft.com/office/drawing/2014/main" id="{0D29653C-D830-9959-9195-D7C64B09B3E1}"/>
              </a:ext>
            </a:extLst>
          </p:cNvPr>
          <p:cNvCxnSpPr>
            <a:cxnSpLocks/>
          </p:cNvCxnSpPr>
          <p:nvPr/>
        </p:nvCxnSpPr>
        <p:spPr>
          <a:xfrm>
            <a:off x="10023139" y="4762036"/>
            <a:ext cx="518003"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BE9D0D46-66D4-C6CA-6E75-C1C844C94E34}"/>
              </a:ext>
            </a:extLst>
          </p:cNvPr>
          <p:cNvCxnSpPr>
            <a:cxnSpLocks/>
          </p:cNvCxnSpPr>
          <p:nvPr/>
        </p:nvCxnSpPr>
        <p:spPr>
          <a:xfrm flipV="1">
            <a:off x="10541142" y="4168674"/>
            <a:ext cx="0" cy="593362"/>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8" name="圓角矩形 37">
            <a:extLst>
              <a:ext uri="{FF2B5EF4-FFF2-40B4-BE49-F238E27FC236}">
                <a16:creationId xmlns:a16="http://schemas.microsoft.com/office/drawing/2014/main" id="{6C93A089-53E5-CC8B-9262-DA561E8EB5DF}"/>
              </a:ext>
            </a:extLst>
          </p:cNvPr>
          <p:cNvSpPr/>
          <p:nvPr/>
        </p:nvSpPr>
        <p:spPr>
          <a:xfrm>
            <a:off x="10730460" y="4354759"/>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Keyboard</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40" name="直線接點 39">
            <a:extLst>
              <a:ext uri="{FF2B5EF4-FFF2-40B4-BE49-F238E27FC236}">
                <a16:creationId xmlns:a16="http://schemas.microsoft.com/office/drawing/2014/main" id="{B95F9E0B-522E-8A04-8C01-6EE26909793E}"/>
              </a:ext>
            </a:extLst>
          </p:cNvPr>
          <p:cNvCxnSpPr>
            <a:cxnSpLocks/>
          </p:cNvCxnSpPr>
          <p:nvPr/>
        </p:nvCxnSpPr>
        <p:spPr>
          <a:xfrm>
            <a:off x="10024729" y="5267064"/>
            <a:ext cx="1159200"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ABAAFCD0-0162-649A-B841-B5A31165261A}"/>
              </a:ext>
            </a:extLst>
          </p:cNvPr>
          <p:cNvSpPr/>
          <p:nvPr/>
        </p:nvSpPr>
        <p:spPr>
          <a:xfrm>
            <a:off x="7984499" y="1663250"/>
            <a:ext cx="1898319" cy="4699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Local APIC</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1" name="直線接點 50">
            <a:extLst>
              <a:ext uri="{FF2B5EF4-FFF2-40B4-BE49-F238E27FC236}">
                <a16:creationId xmlns:a16="http://schemas.microsoft.com/office/drawing/2014/main" id="{53985844-5F4B-F7BD-BAD2-03B60234DAA5}"/>
              </a:ext>
            </a:extLst>
          </p:cNvPr>
          <p:cNvCxnSpPr>
            <a:cxnSpLocks/>
          </p:cNvCxnSpPr>
          <p:nvPr/>
        </p:nvCxnSpPr>
        <p:spPr>
          <a:xfrm>
            <a:off x="7843859" y="1898200"/>
            <a:ext cx="0" cy="3110666"/>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直線接點 51">
            <a:extLst>
              <a:ext uri="{FF2B5EF4-FFF2-40B4-BE49-F238E27FC236}">
                <a16:creationId xmlns:a16="http://schemas.microsoft.com/office/drawing/2014/main" id="{7BC87234-F63F-DD19-4447-5602241BE648}"/>
              </a:ext>
            </a:extLst>
          </p:cNvPr>
          <p:cNvCxnSpPr>
            <a:cxnSpLocks/>
            <a:endCxn id="49" idx="1"/>
          </p:cNvCxnSpPr>
          <p:nvPr/>
        </p:nvCxnSpPr>
        <p:spPr>
          <a:xfrm>
            <a:off x="7829518" y="1898201"/>
            <a:ext cx="154981"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5" name="矩形 54">
            <a:extLst>
              <a:ext uri="{FF2B5EF4-FFF2-40B4-BE49-F238E27FC236}">
                <a16:creationId xmlns:a16="http://schemas.microsoft.com/office/drawing/2014/main" id="{6AFF3B14-0D7E-D805-3F7D-E056EA2EE8AC}"/>
              </a:ext>
            </a:extLst>
          </p:cNvPr>
          <p:cNvSpPr/>
          <p:nvPr/>
        </p:nvSpPr>
        <p:spPr>
          <a:xfrm>
            <a:off x="7986641" y="2138519"/>
            <a:ext cx="1896172"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CPU</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3" name="直線接點 52">
            <a:extLst>
              <a:ext uri="{FF2B5EF4-FFF2-40B4-BE49-F238E27FC236}">
                <a16:creationId xmlns:a16="http://schemas.microsoft.com/office/drawing/2014/main" id="{F2655EC6-BB3A-FE94-163F-7C422CBA9194}"/>
              </a:ext>
            </a:extLst>
          </p:cNvPr>
          <p:cNvCxnSpPr>
            <a:cxnSpLocks/>
          </p:cNvCxnSpPr>
          <p:nvPr/>
        </p:nvCxnSpPr>
        <p:spPr>
          <a:xfrm>
            <a:off x="7843859" y="4996745"/>
            <a:ext cx="312380"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4" name="圓角矩形 63">
            <a:extLst>
              <a:ext uri="{FF2B5EF4-FFF2-40B4-BE49-F238E27FC236}">
                <a16:creationId xmlns:a16="http://schemas.microsoft.com/office/drawing/2014/main" id="{AAE72B5C-860E-02A4-FEDB-384036DCC1BA}"/>
              </a:ext>
            </a:extLst>
          </p:cNvPr>
          <p:cNvSpPr/>
          <p:nvPr/>
        </p:nvSpPr>
        <p:spPr>
          <a:xfrm>
            <a:off x="10433020" y="3878509"/>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Timer</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66" name="直線接點 65">
            <a:extLst>
              <a:ext uri="{FF2B5EF4-FFF2-40B4-BE49-F238E27FC236}">
                <a16:creationId xmlns:a16="http://schemas.microsoft.com/office/drawing/2014/main" id="{15E8B3F3-0C19-09B4-8C90-2078668F2A41}"/>
              </a:ext>
            </a:extLst>
          </p:cNvPr>
          <p:cNvCxnSpPr>
            <a:cxnSpLocks/>
          </p:cNvCxnSpPr>
          <p:nvPr/>
        </p:nvCxnSpPr>
        <p:spPr>
          <a:xfrm>
            <a:off x="10024729" y="4905069"/>
            <a:ext cx="1157677"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直線接點 70">
            <a:extLst>
              <a:ext uri="{FF2B5EF4-FFF2-40B4-BE49-F238E27FC236}">
                <a16:creationId xmlns:a16="http://schemas.microsoft.com/office/drawing/2014/main" id="{90B94639-1B60-5A7B-789A-BA3526FB025B}"/>
              </a:ext>
            </a:extLst>
          </p:cNvPr>
          <p:cNvCxnSpPr>
            <a:cxnSpLocks/>
          </p:cNvCxnSpPr>
          <p:nvPr/>
        </p:nvCxnSpPr>
        <p:spPr>
          <a:xfrm>
            <a:off x="10024729" y="5045367"/>
            <a:ext cx="1159200"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3" name="文字方塊 72">
            <a:extLst>
              <a:ext uri="{FF2B5EF4-FFF2-40B4-BE49-F238E27FC236}">
                <a16:creationId xmlns:a16="http://schemas.microsoft.com/office/drawing/2014/main" id="{FFFD1EF9-A4D6-FA6B-6999-B8D9CCEA5318}"/>
              </a:ext>
            </a:extLst>
          </p:cNvPr>
          <p:cNvSpPr txBox="1"/>
          <p:nvPr/>
        </p:nvSpPr>
        <p:spPr>
          <a:xfrm>
            <a:off x="10079463" y="4476517"/>
            <a:ext cx="543739"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IRQ0</a:t>
            </a:r>
            <a:endParaRPr kumimoji="1" lang="zh-TW" altLang="en-US" sz="1200" dirty="0">
              <a:latin typeface="Arial" panose="020B0604020202020204" pitchFamily="34" charset="0"/>
              <a:cs typeface="Arial" panose="020B0604020202020204" pitchFamily="34" charset="0"/>
            </a:endParaRPr>
          </a:p>
        </p:txBody>
      </p:sp>
      <p:sp>
        <p:nvSpPr>
          <p:cNvPr id="76" name="文字方塊 75">
            <a:extLst>
              <a:ext uri="{FF2B5EF4-FFF2-40B4-BE49-F238E27FC236}">
                <a16:creationId xmlns:a16="http://schemas.microsoft.com/office/drawing/2014/main" id="{25641F21-B402-7ED8-0A8A-F7030AC2E5F9}"/>
              </a:ext>
            </a:extLst>
          </p:cNvPr>
          <p:cNvSpPr txBox="1"/>
          <p:nvPr/>
        </p:nvSpPr>
        <p:spPr>
          <a:xfrm>
            <a:off x="11177956" y="4894663"/>
            <a:ext cx="543739"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IRQ2</a:t>
            </a:r>
            <a:endParaRPr kumimoji="1" lang="zh-TW" altLang="en-US" sz="1200" dirty="0">
              <a:latin typeface="Arial" panose="020B0604020202020204" pitchFamily="34" charset="0"/>
              <a:cs typeface="Arial" panose="020B0604020202020204" pitchFamily="34" charset="0"/>
            </a:endParaRPr>
          </a:p>
        </p:txBody>
      </p:sp>
      <p:sp>
        <p:nvSpPr>
          <p:cNvPr id="77" name="文字方塊 76">
            <a:extLst>
              <a:ext uri="{FF2B5EF4-FFF2-40B4-BE49-F238E27FC236}">
                <a16:creationId xmlns:a16="http://schemas.microsoft.com/office/drawing/2014/main" id="{74AF5070-CB33-6D6C-573A-877712359F44}"/>
              </a:ext>
            </a:extLst>
          </p:cNvPr>
          <p:cNvSpPr txBox="1"/>
          <p:nvPr/>
        </p:nvSpPr>
        <p:spPr>
          <a:xfrm rot="5400000">
            <a:off x="10458191" y="5021290"/>
            <a:ext cx="338554"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a:t>
            </a:r>
            <a:endParaRPr kumimoji="1" lang="zh-TW" altLang="en-US" sz="1200" dirty="0">
              <a:latin typeface="Arial" panose="020B0604020202020204" pitchFamily="34" charset="0"/>
              <a:cs typeface="Arial" panose="020B0604020202020204" pitchFamily="34" charset="0"/>
            </a:endParaRPr>
          </a:p>
        </p:txBody>
      </p:sp>
      <p:cxnSp>
        <p:nvCxnSpPr>
          <p:cNvPr id="79" name="直線接點 78">
            <a:extLst>
              <a:ext uri="{FF2B5EF4-FFF2-40B4-BE49-F238E27FC236}">
                <a16:creationId xmlns:a16="http://schemas.microsoft.com/office/drawing/2014/main" id="{C481E1F2-A113-325F-7F72-BC4E4FC843CB}"/>
              </a:ext>
            </a:extLst>
          </p:cNvPr>
          <p:cNvCxnSpPr>
            <a:cxnSpLocks/>
          </p:cNvCxnSpPr>
          <p:nvPr/>
        </p:nvCxnSpPr>
        <p:spPr>
          <a:xfrm flipV="1">
            <a:off x="11173755" y="4646072"/>
            <a:ext cx="0" cy="244894"/>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6" name="文字方塊 85">
            <a:extLst>
              <a:ext uri="{FF2B5EF4-FFF2-40B4-BE49-F238E27FC236}">
                <a16:creationId xmlns:a16="http://schemas.microsoft.com/office/drawing/2014/main" id="{9137218E-DE47-FBAE-478D-89AFE06C467D}"/>
              </a:ext>
            </a:extLst>
          </p:cNvPr>
          <p:cNvSpPr txBox="1"/>
          <p:nvPr/>
        </p:nvSpPr>
        <p:spPr>
          <a:xfrm>
            <a:off x="11177956" y="5150000"/>
            <a:ext cx="543739"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IRQ8</a:t>
            </a:r>
            <a:endParaRPr kumimoji="1" lang="zh-TW" altLang="en-US" sz="1200" dirty="0">
              <a:latin typeface="Arial" panose="020B0604020202020204" pitchFamily="34" charset="0"/>
              <a:cs typeface="Arial" panose="020B0604020202020204" pitchFamily="34" charset="0"/>
            </a:endParaRPr>
          </a:p>
        </p:txBody>
      </p:sp>
      <p:sp>
        <p:nvSpPr>
          <p:cNvPr id="88" name="矩形 87">
            <a:extLst>
              <a:ext uri="{FF2B5EF4-FFF2-40B4-BE49-F238E27FC236}">
                <a16:creationId xmlns:a16="http://schemas.microsoft.com/office/drawing/2014/main" id="{03FF381B-4147-F584-6A63-B9C0955E8E47}"/>
              </a:ext>
            </a:extLst>
          </p:cNvPr>
          <p:cNvSpPr/>
          <p:nvPr/>
        </p:nvSpPr>
        <p:spPr>
          <a:xfrm>
            <a:off x="7998877" y="2926666"/>
            <a:ext cx="3662544"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kumimoji="1" lang="en-US" altLang="zh-TW" sz="1400" dirty="0">
                <a:solidFill>
                  <a:schemeClr val="tx1"/>
                </a:solidFill>
                <a:latin typeface="Arial" panose="020B0604020202020204" pitchFamily="34" charset="0"/>
                <a:cs typeface="Arial" panose="020B0604020202020204" pitchFamily="34" charset="0"/>
              </a:rPr>
              <a:t>Memory</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48" name="矩形 47">
            <a:extLst>
              <a:ext uri="{FF2B5EF4-FFF2-40B4-BE49-F238E27FC236}">
                <a16:creationId xmlns:a16="http://schemas.microsoft.com/office/drawing/2014/main" id="{175DD826-B8B8-14A7-0D7F-A4A5C33DA5FC}"/>
              </a:ext>
            </a:extLst>
          </p:cNvPr>
          <p:cNvSpPr/>
          <p:nvPr/>
        </p:nvSpPr>
        <p:spPr>
          <a:xfrm>
            <a:off x="8156239" y="4675517"/>
            <a:ext cx="1866900" cy="7110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Interrupt Controller</a:t>
            </a:r>
            <a:endParaRPr kumimoji="1" lang="zh-TW" altLang="en-US" sz="1400" dirty="0">
              <a:solidFill>
                <a:schemeClr val="tx1"/>
              </a:solidFill>
              <a:latin typeface="Arial" panose="020B0604020202020204" pitchFamily="34" charset="0"/>
              <a:cs typeface="Arial" panose="020B0604020202020204" pitchFamily="34" charset="0"/>
            </a:endParaRPr>
          </a:p>
        </p:txBody>
      </p:sp>
      <p:grpSp>
        <p:nvGrpSpPr>
          <p:cNvPr id="7" name="群組 6">
            <a:extLst>
              <a:ext uri="{FF2B5EF4-FFF2-40B4-BE49-F238E27FC236}">
                <a16:creationId xmlns:a16="http://schemas.microsoft.com/office/drawing/2014/main" id="{7B0BE6AF-C642-67E6-FD95-2DF6765C83FE}"/>
              </a:ext>
            </a:extLst>
          </p:cNvPr>
          <p:cNvGrpSpPr/>
          <p:nvPr/>
        </p:nvGrpSpPr>
        <p:grpSpPr>
          <a:xfrm>
            <a:off x="9882822" y="4112418"/>
            <a:ext cx="1778600" cy="806732"/>
            <a:chOff x="10198705" y="4970492"/>
            <a:chExt cx="1778600" cy="806732"/>
          </a:xfrm>
        </p:grpSpPr>
        <p:sp>
          <p:nvSpPr>
            <p:cNvPr id="57" name="文字方塊 56">
              <a:extLst>
                <a:ext uri="{FF2B5EF4-FFF2-40B4-BE49-F238E27FC236}">
                  <a16:creationId xmlns:a16="http://schemas.microsoft.com/office/drawing/2014/main" id="{2D5E6CA0-A1B1-10EA-12CB-45AF5DC9FD00}"/>
                </a:ext>
              </a:extLst>
            </p:cNvPr>
            <p:cNvSpPr txBox="1"/>
            <p:nvPr/>
          </p:nvSpPr>
          <p:spPr>
            <a:xfrm>
              <a:off x="11056860" y="4970492"/>
              <a:ext cx="920445"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Interrupt</a:t>
              </a:r>
              <a:endParaRPr kumimoji="1" lang="zh-TW" altLang="en-US" sz="1400" b="1" dirty="0">
                <a:solidFill>
                  <a:srgbClr val="C00000"/>
                </a:solidFill>
                <a:latin typeface="Arial" panose="020B0604020202020204" pitchFamily="34" charset="0"/>
                <a:cs typeface="Arial" panose="020B0604020202020204" pitchFamily="34" charset="0"/>
              </a:endParaRPr>
            </a:p>
          </p:txBody>
        </p:sp>
        <p:sp>
          <p:nvSpPr>
            <p:cNvPr id="75" name="文字方塊 74">
              <a:extLst>
                <a:ext uri="{FF2B5EF4-FFF2-40B4-BE49-F238E27FC236}">
                  <a16:creationId xmlns:a16="http://schemas.microsoft.com/office/drawing/2014/main" id="{3B3DA43C-8BFE-60AC-AE81-EA76182A07BA}"/>
                </a:ext>
              </a:extLst>
            </p:cNvPr>
            <p:cNvSpPr txBox="1"/>
            <p:nvPr/>
          </p:nvSpPr>
          <p:spPr>
            <a:xfrm>
              <a:off x="10986539" y="5500225"/>
              <a:ext cx="543739" cy="276999"/>
            </a:xfrm>
            <a:prstGeom prst="rect">
              <a:avLst/>
            </a:prstGeom>
            <a:noFill/>
          </p:spPr>
          <p:txBody>
            <a:bodyPr wrap="none" rtlCol="0">
              <a:spAutoFit/>
            </a:bodyPr>
            <a:lstStyle/>
            <a:p>
              <a:r>
                <a:rPr kumimoji="1" lang="en-US" altLang="zh-TW" sz="1200" b="1" dirty="0">
                  <a:solidFill>
                    <a:srgbClr val="C00000"/>
                  </a:solidFill>
                  <a:latin typeface="Arial" panose="020B0604020202020204" pitchFamily="34" charset="0"/>
                  <a:cs typeface="Arial" panose="020B0604020202020204" pitchFamily="34" charset="0"/>
                </a:rPr>
                <a:t>IRQ1</a:t>
              </a:r>
              <a:endParaRPr kumimoji="1" lang="zh-TW" altLang="en-US" sz="1200" b="1" dirty="0">
                <a:solidFill>
                  <a:srgbClr val="C00000"/>
                </a:solidFill>
                <a:latin typeface="Arial" panose="020B0604020202020204" pitchFamily="34" charset="0"/>
                <a:cs typeface="Arial" panose="020B0604020202020204" pitchFamily="34" charset="0"/>
              </a:endParaRPr>
            </a:p>
          </p:txBody>
        </p:sp>
        <p:cxnSp>
          <p:nvCxnSpPr>
            <p:cNvPr id="61" name="直線接點 60">
              <a:extLst>
                <a:ext uri="{FF2B5EF4-FFF2-40B4-BE49-F238E27FC236}">
                  <a16:creationId xmlns:a16="http://schemas.microsoft.com/office/drawing/2014/main" id="{BC728473-E627-85EE-FED6-4ED2A6504C34}"/>
                </a:ext>
              </a:extLst>
            </p:cNvPr>
            <p:cNvCxnSpPr>
              <a:cxnSpLocks/>
            </p:cNvCxnSpPr>
            <p:nvPr/>
          </p:nvCxnSpPr>
          <p:spPr>
            <a:xfrm>
              <a:off x="11490825" y="5500225"/>
              <a:ext cx="0" cy="276999"/>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id="{942E40E4-AFD5-549C-2F1D-A3ADBCD3A5CC}"/>
                </a:ext>
              </a:extLst>
            </p:cNvPr>
            <p:cNvCxnSpPr>
              <a:cxnSpLocks/>
            </p:cNvCxnSpPr>
            <p:nvPr/>
          </p:nvCxnSpPr>
          <p:spPr>
            <a:xfrm>
              <a:off x="10198705" y="5763143"/>
              <a:ext cx="1303863" cy="2005"/>
            </a:xfrm>
            <a:prstGeom prst="line">
              <a:avLst/>
            </a:prstGeom>
            <a:ln w="38100">
              <a:solidFill>
                <a:srgbClr val="C00000"/>
              </a:solidFill>
              <a:headEnd type="triangle"/>
            </a:ln>
          </p:spPr>
          <p:style>
            <a:lnRef idx="1">
              <a:schemeClr val="accent1"/>
            </a:lnRef>
            <a:fillRef idx="0">
              <a:schemeClr val="accent1"/>
            </a:fillRef>
            <a:effectRef idx="0">
              <a:schemeClr val="accent1"/>
            </a:effectRef>
            <a:fontRef idx="minor">
              <a:schemeClr val="tx1"/>
            </a:fontRef>
          </p:style>
        </p:cxnSp>
      </p:grpSp>
      <p:grpSp>
        <p:nvGrpSpPr>
          <p:cNvPr id="8" name="群組 7">
            <a:extLst>
              <a:ext uri="{FF2B5EF4-FFF2-40B4-BE49-F238E27FC236}">
                <a16:creationId xmlns:a16="http://schemas.microsoft.com/office/drawing/2014/main" id="{98D08567-5277-D496-4D07-E01BEDB74E42}"/>
              </a:ext>
            </a:extLst>
          </p:cNvPr>
          <p:cNvGrpSpPr/>
          <p:nvPr/>
        </p:nvGrpSpPr>
        <p:grpSpPr>
          <a:xfrm>
            <a:off x="7633482" y="1428149"/>
            <a:ext cx="2348872" cy="4001702"/>
            <a:chOff x="7947925" y="2284660"/>
            <a:chExt cx="2348872" cy="4001702"/>
          </a:xfrm>
        </p:grpSpPr>
        <p:sp>
          <p:nvSpPr>
            <p:cNvPr id="89" name="文字方塊 88">
              <a:extLst>
                <a:ext uri="{FF2B5EF4-FFF2-40B4-BE49-F238E27FC236}">
                  <a16:creationId xmlns:a16="http://schemas.microsoft.com/office/drawing/2014/main" id="{01433C64-7FF2-E61B-9F67-2C5BB40AC071}"/>
                </a:ext>
              </a:extLst>
            </p:cNvPr>
            <p:cNvSpPr txBox="1"/>
            <p:nvPr/>
          </p:nvSpPr>
          <p:spPr>
            <a:xfrm>
              <a:off x="7947925" y="2284660"/>
              <a:ext cx="920445"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INT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0x81</a:t>
              </a:r>
              <a:endParaRPr kumimoji="1" lang="zh-TW" altLang="en-US" sz="1400" b="1" dirty="0">
                <a:solidFill>
                  <a:srgbClr val="C00000"/>
                </a:solidFill>
                <a:latin typeface="Arial" panose="020B0604020202020204" pitchFamily="34" charset="0"/>
                <a:cs typeface="Arial" panose="020B0604020202020204" pitchFamily="34" charset="0"/>
              </a:endParaRPr>
            </a:p>
          </p:txBody>
        </p:sp>
        <p:cxnSp>
          <p:nvCxnSpPr>
            <p:cNvPr id="42" name="直線接點 41">
              <a:extLst>
                <a:ext uri="{FF2B5EF4-FFF2-40B4-BE49-F238E27FC236}">
                  <a16:creationId xmlns:a16="http://schemas.microsoft.com/office/drawing/2014/main" id="{FA7007A5-C913-87A7-0CB4-0D5DC60563CD}"/>
                </a:ext>
              </a:extLst>
            </p:cNvPr>
            <p:cNvCxnSpPr>
              <a:cxnSpLocks/>
            </p:cNvCxnSpPr>
            <p:nvPr/>
          </p:nvCxnSpPr>
          <p:spPr>
            <a:xfrm>
              <a:off x="8159742" y="2749685"/>
              <a:ext cx="0" cy="309890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0" name="直線接點 99">
              <a:extLst>
                <a:ext uri="{FF2B5EF4-FFF2-40B4-BE49-F238E27FC236}">
                  <a16:creationId xmlns:a16="http://schemas.microsoft.com/office/drawing/2014/main" id="{F0DCAA50-4AFA-FC2D-FA3D-DEE1D18CDD30}"/>
                </a:ext>
              </a:extLst>
            </p:cNvPr>
            <p:cNvCxnSpPr>
              <a:cxnSpLocks/>
            </p:cNvCxnSpPr>
            <p:nvPr/>
          </p:nvCxnSpPr>
          <p:spPr>
            <a:xfrm flipV="1">
              <a:off x="8145401" y="5853379"/>
              <a:ext cx="326721"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4" name="直線接點 103">
              <a:extLst>
                <a:ext uri="{FF2B5EF4-FFF2-40B4-BE49-F238E27FC236}">
                  <a16:creationId xmlns:a16="http://schemas.microsoft.com/office/drawing/2014/main" id="{7570E4B4-B26F-A88C-4378-650119EAFDDB}"/>
                </a:ext>
              </a:extLst>
            </p:cNvPr>
            <p:cNvCxnSpPr>
              <a:cxnSpLocks/>
            </p:cNvCxnSpPr>
            <p:nvPr/>
          </p:nvCxnSpPr>
          <p:spPr>
            <a:xfrm flipH="1" flipV="1">
              <a:off x="8164328" y="2749685"/>
              <a:ext cx="276695" cy="1796"/>
            </a:xfrm>
            <a:prstGeom prst="line">
              <a:avLst/>
            </a:prstGeom>
            <a:ln w="38100">
              <a:solidFill>
                <a:srgbClr val="C00000"/>
              </a:solidFill>
              <a:headEnd type="triangle"/>
            </a:ln>
          </p:spPr>
          <p:style>
            <a:lnRef idx="1">
              <a:schemeClr val="accent1"/>
            </a:lnRef>
            <a:fillRef idx="0">
              <a:schemeClr val="accent1"/>
            </a:fillRef>
            <a:effectRef idx="0">
              <a:schemeClr val="accent1"/>
            </a:effectRef>
            <a:fontRef idx="minor">
              <a:schemeClr val="tx1"/>
            </a:fontRef>
          </p:style>
        </p:cxnSp>
        <p:sp>
          <p:nvSpPr>
            <p:cNvPr id="108" name="文字方塊 107">
              <a:extLst>
                <a:ext uri="{FF2B5EF4-FFF2-40B4-BE49-F238E27FC236}">
                  <a16:creationId xmlns:a16="http://schemas.microsoft.com/office/drawing/2014/main" id="{EEB885FA-8DC3-BAF9-4483-73265D17E86E}"/>
                </a:ext>
              </a:extLst>
            </p:cNvPr>
            <p:cNvSpPr txBox="1"/>
            <p:nvPr/>
          </p:nvSpPr>
          <p:spPr>
            <a:xfrm>
              <a:off x="8541444" y="5763142"/>
              <a:ext cx="1755353" cy="523220"/>
            </a:xfrm>
            <a:prstGeom prst="rect">
              <a:avLst/>
            </a:prstGeom>
            <a:noFill/>
          </p:spPr>
          <p:txBody>
            <a:bodyPr wrap="none" rtlCol="0">
              <a:spAutoFit/>
            </a:bodyPr>
            <a:lstStyle/>
            <a:p>
              <a:pPr algn="ctr"/>
              <a:r>
                <a:rPr kumimoji="1" lang="en-US" altLang="zh-TW" sz="1400" b="1" dirty="0">
                  <a:solidFill>
                    <a:srgbClr val="C00000"/>
                  </a:solidFill>
                  <a:latin typeface="Arial" panose="020B0604020202020204" pitchFamily="34" charset="0"/>
                  <a:cs typeface="Arial" panose="020B0604020202020204" pitchFamily="34" charset="0"/>
                </a:rPr>
                <a:t>IRQ</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1</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sym typeface="Wingdings" pitchFamily="2" charset="2"/>
                </a:rPr>
                <a: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INT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0x81</a:t>
              </a:r>
              <a:br>
                <a:rPr kumimoji="1" lang="en-US" altLang="zh-TW" sz="1400" b="1" dirty="0">
                  <a:solidFill>
                    <a:srgbClr val="C00000"/>
                  </a:solidFill>
                  <a:latin typeface="Arial" panose="020B0604020202020204" pitchFamily="34" charset="0"/>
                  <a:cs typeface="Arial" panose="020B0604020202020204" pitchFamily="34" charset="0"/>
                </a:rPr>
              </a:br>
              <a:r>
                <a:rPr kumimoji="1" lang="en-US" altLang="zh-TW" sz="1400" b="1" dirty="0">
                  <a:solidFill>
                    <a:srgbClr val="C00000"/>
                  </a:solidFill>
                  <a:latin typeface="Arial" panose="020B0604020202020204" pitchFamily="34" charset="0"/>
                  <a:cs typeface="Arial" panose="020B0604020202020204" pitchFamily="34" charset="0"/>
                </a:rPr>
                <a:t>(Translates to IVN)</a:t>
              </a:r>
              <a:endParaRPr kumimoji="1" lang="zh-TW" altLang="en-US" sz="1400" b="1" dirty="0">
                <a:solidFill>
                  <a:srgbClr val="C00000"/>
                </a:solidFill>
                <a:latin typeface="Arial" panose="020B0604020202020204" pitchFamily="34" charset="0"/>
                <a:cs typeface="Arial" panose="020B0604020202020204" pitchFamily="34" charset="0"/>
              </a:endParaRPr>
            </a:p>
          </p:txBody>
        </p:sp>
      </p:grpSp>
      <p:sp>
        <p:nvSpPr>
          <p:cNvPr id="109" name="文字方塊 108">
            <a:extLst>
              <a:ext uri="{FF2B5EF4-FFF2-40B4-BE49-F238E27FC236}">
                <a16:creationId xmlns:a16="http://schemas.microsoft.com/office/drawing/2014/main" id="{C1792F3D-55E0-E4D3-86B7-397F40367674}"/>
              </a:ext>
            </a:extLst>
          </p:cNvPr>
          <p:cNvSpPr txBox="1"/>
          <p:nvPr/>
        </p:nvSpPr>
        <p:spPr>
          <a:xfrm>
            <a:off x="8156239" y="2386509"/>
            <a:ext cx="1601721"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0x81</a:t>
            </a:r>
            <a:r>
              <a:rPr kumimoji="1" lang="zh-TW" altLang="en-US" sz="1400" b="1" dirty="0">
                <a:solidFill>
                  <a:srgbClr val="C00000"/>
                </a:solidFill>
                <a:latin typeface="Arial" panose="020B0604020202020204" pitchFamily="34" charset="0"/>
                <a:cs typeface="Arial" panose="020B0604020202020204" pitchFamily="34" charset="0"/>
              </a:rPr>
              <a:t> * </a:t>
            </a:r>
            <a:r>
              <a:rPr kumimoji="1" lang="en-US" altLang="zh-TW" sz="1400" b="1" dirty="0">
                <a:solidFill>
                  <a:srgbClr val="C00000"/>
                </a:solidFill>
                <a:latin typeface="Arial" panose="020B0604020202020204" pitchFamily="34" charset="0"/>
                <a:cs typeface="Arial" panose="020B0604020202020204" pitchFamily="34" charset="0"/>
              </a:rPr>
              <a:t>4</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0x204</a:t>
            </a:r>
            <a:r>
              <a:rPr kumimoji="1" lang="zh-TW" altLang="en-US" sz="1400" b="1" dirty="0">
                <a:solidFill>
                  <a:srgbClr val="C00000"/>
                </a:solidFill>
                <a:latin typeface="Arial" panose="020B0604020202020204" pitchFamily="34" charset="0"/>
                <a:cs typeface="Arial" panose="020B0604020202020204" pitchFamily="34" charset="0"/>
              </a:rPr>
              <a:t> </a:t>
            </a:r>
          </a:p>
        </p:txBody>
      </p:sp>
      <p:grpSp>
        <p:nvGrpSpPr>
          <p:cNvPr id="11" name="群組 10">
            <a:extLst>
              <a:ext uri="{FF2B5EF4-FFF2-40B4-BE49-F238E27FC236}">
                <a16:creationId xmlns:a16="http://schemas.microsoft.com/office/drawing/2014/main" id="{DBC19B23-99BD-D213-D768-DE7B78ED02B1}"/>
              </a:ext>
            </a:extLst>
          </p:cNvPr>
          <p:cNvGrpSpPr/>
          <p:nvPr/>
        </p:nvGrpSpPr>
        <p:grpSpPr>
          <a:xfrm>
            <a:off x="7808783" y="3776549"/>
            <a:ext cx="1061509" cy="392021"/>
            <a:chOff x="8124666" y="4634623"/>
            <a:chExt cx="1061509" cy="392021"/>
          </a:xfrm>
        </p:grpSpPr>
        <p:sp>
          <p:nvSpPr>
            <p:cNvPr id="110" name="左大括弧 109">
              <a:extLst>
                <a:ext uri="{FF2B5EF4-FFF2-40B4-BE49-F238E27FC236}">
                  <a16:creationId xmlns:a16="http://schemas.microsoft.com/office/drawing/2014/main" id="{B19CECCC-DCBB-3B84-9D68-9F1559F8AD07}"/>
                </a:ext>
              </a:extLst>
            </p:cNvPr>
            <p:cNvSpPr/>
            <p:nvPr/>
          </p:nvSpPr>
          <p:spPr>
            <a:xfrm rot="16200000">
              <a:off x="8450470" y="4500085"/>
              <a:ext cx="144000" cy="413075"/>
            </a:xfrm>
            <a:prstGeom prst="lef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solidFill>
                  <a:srgbClr val="0070C0"/>
                </a:solidFill>
              </a:endParaRPr>
            </a:p>
          </p:txBody>
        </p:sp>
        <p:sp>
          <p:nvSpPr>
            <p:cNvPr id="111" name="文字方塊 110">
              <a:extLst>
                <a:ext uri="{FF2B5EF4-FFF2-40B4-BE49-F238E27FC236}">
                  <a16:creationId xmlns:a16="http://schemas.microsoft.com/office/drawing/2014/main" id="{0AB86A44-790B-D342-5523-B3F584CEE376}"/>
                </a:ext>
              </a:extLst>
            </p:cNvPr>
            <p:cNvSpPr txBox="1"/>
            <p:nvPr/>
          </p:nvSpPr>
          <p:spPr>
            <a:xfrm>
              <a:off x="8124666" y="4718867"/>
              <a:ext cx="1061509"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4B</a:t>
              </a:r>
              <a:r>
                <a:rPr kumimoji="1" lang="zh-TW" altLang="en-US" sz="1400" b="1" dirty="0">
                  <a:solidFill>
                    <a:srgbClr val="0070C0"/>
                  </a:solidFill>
                  <a:latin typeface="Arial" panose="020B0604020202020204" pitchFamily="34" charset="0"/>
                  <a:cs typeface="Arial" panose="020B0604020202020204" pitchFamily="34" charset="0"/>
                </a:rPr>
                <a:t> </a:t>
              </a:r>
              <a:r>
                <a:rPr kumimoji="1" lang="en-US" altLang="zh-TW" sz="1400" b="1" dirty="0">
                  <a:solidFill>
                    <a:srgbClr val="0070C0"/>
                  </a:solidFill>
                  <a:latin typeface="Arial" panose="020B0604020202020204" pitchFamily="34" charset="0"/>
                  <a:cs typeface="Arial" panose="020B0604020202020204" pitchFamily="34" charset="0"/>
                </a:rPr>
                <a:t>(CS:IP)</a:t>
              </a:r>
              <a:endParaRPr kumimoji="1" lang="zh-TW" altLang="en-US" sz="1400" b="1" dirty="0">
                <a:solidFill>
                  <a:srgbClr val="0070C0"/>
                </a:solidFill>
                <a:latin typeface="Arial" panose="020B0604020202020204" pitchFamily="34" charset="0"/>
                <a:cs typeface="Arial" panose="020B0604020202020204" pitchFamily="34" charset="0"/>
              </a:endParaRPr>
            </a:p>
          </p:txBody>
        </p:sp>
      </p:grpSp>
      <p:grpSp>
        <p:nvGrpSpPr>
          <p:cNvPr id="10" name="群組 9">
            <a:extLst>
              <a:ext uri="{FF2B5EF4-FFF2-40B4-BE49-F238E27FC236}">
                <a16:creationId xmlns:a16="http://schemas.microsoft.com/office/drawing/2014/main" id="{A3A5ED5F-E385-A8D3-64CD-6F517A3AE88E}"/>
              </a:ext>
            </a:extLst>
          </p:cNvPr>
          <p:cNvGrpSpPr/>
          <p:nvPr/>
        </p:nvGrpSpPr>
        <p:grpSpPr>
          <a:xfrm>
            <a:off x="7998877" y="2926595"/>
            <a:ext cx="2196209" cy="837067"/>
            <a:chOff x="8314760" y="3784669"/>
            <a:chExt cx="2196209" cy="837067"/>
          </a:xfrm>
        </p:grpSpPr>
        <p:sp>
          <p:nvSpPr>
            <p:cNvPr id="90" name="矩形 89">
              <a:extLst>
                <a:ext uri="{FF2B5EF4-FFF2-40B4-BE49-F238E27FC236}">
                  <a16:creationId xmlns:a16="http://schemas.microsoft.com/office/drawing/2014/main" id="{DE3BC005-230C-A172-2E21-71E336216136}"/>
                </a:ext>
              </a:extLst>
            </p:cNvPr>
            <p:cNvSpPr/>
            <p:nvPr/>
          </p:nvSpPr>
          <p:spPr>
            <a:xfrm>
              <a:off x="8314760"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0</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91" name="矩形 90">
              <a:extLst>
                <a:ext uri="{FF2B5EF4-FFF2-40B4-BE49-F238E27FC236}">
                  <a16:creationId xmlns:a16="http://schemas.microsoft.com/office/drawing/2014/main" id="{689C9299-418D-A6A2-3F43-8ADB9A9A956C}"/>
                </a:ext>
              </a:extLst>
            </p:cNvPr>
            <p:cNvSpPr/>
            <p:nvPr/>
          </p:nvSpPr>
          <p:spPr>
            <a:xfrm>
              <a:off x="9394991"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81</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92" name="矩形 91">
              <a:extLst>
                <a:ext uri="{FF2B5EF4-FFF2-40B4-BE49-F238E27FC236}">
                  <a16:creationId xmlns:a16="http://schemas.microsoft.com/office/drawing/2014/main" id="{8ED68375-2A22-D45E-5B27-448C922CD235}"/>
                </a:ext>
              </a:extLst>
            </p:cNvPr>
            <p:cNvSpPr/>
            <p:nvPr/>
          </p:nvSpPr>
          <p:spPr>
            <a:xfrm>
              <a:off x="10096721"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255</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15" name="文字方塊 114">
              <a:extLst>
                <a:ext uri="{FF2B5EF4-FFF2-40B4-BE49-F238E27FC236}">
                  <a16:creationId xmlns:a16="http://schemas.microsoft.com/office/drawing/2014/main" id="{8575355B-9E06-AE62-C3F7-0D0C0A3553B0}"/>
                </a:ext>
              </a:extLst>
            </p:cNvPr>
            <p:cNvSpPr txBox="1"/>
            <p:nvPr/>
          </p:nvSpPr>
          <p:spPr>
            <a:xfrm>
              <a:off x="9100049" y="4030171"/>
              <a:ext cx="338554"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a:t>
              </a:r>
              <a:endParaRPr kumimoji="1" lang="zh-TW" altLang="en-US" sz="1200" dirty="0">
                <a:latin typeface="Arial" panose="020B0604020202020204" pitchFamily="34" charset="0"/>
                <a:cs typeface="Arial" panose="020B0604020202020204" pitchFamily="34" charset="0"/>
              </a:endParaRPr>
            </a:p>
          </p:txBody>
        </p:sp>
        <p:sp>
          <p:nvSpPr>
            <p:cNvPr id="116" name="文字方塊 115">
              <a:extLst>
                <a:ext uri="{FF2B5EF4-FFF2-40B4-BE49-F238E27FC236}">
                  <a16:creationId xmlns:a16="http://schemas.microsoft.com/office/drawing/2014/main" id="{8D7815A7-15DD-84E5-E997-B4474C9B0E82}"/>
                </a:ext>
              </a:extLst>
            </p:cNvPr>
            <p:cNvSpPr txBox="1"/>
            <p:nvPr/>
          </p:nvSpPr>
          <p:spPr>
            <a:xfrm>
              <a:off x="9788444" y="4045334"/>
              <a:ext cx="338554"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a:t>
              </a:r>
              <a:endParaRPr kumimoji="1" lang="zh-TW" altLang="en-US" sz="1200" dirty="0">
                <a:latin typeface="Arial" panose="020B0604020202020204" pitchFamily="34" charset="0"/>
                <a:cs typeface="Arial" panose="020B0604020202020204" pitchFamily="34" charset="0"/>
              </a:endParaRPr>
            </a:p>
          </p:txBody>
        </p:sp>
        <p:sp>
          <p:nvSpPr>
            <p:cNvPr id="118" name="矩形 117">
              <a:extLst>
                <a:ext uri="{FF2B5EF4-FFF2-40B4-BE49-F238E27FC236}">
                  <a16:creationId xmlns:a16="http://schemas.microsoft.com/office/drawing/2014/main" id="{6C276251-EB03-42EB-817D-FFA541C79C3C}"/>
                </a:ext>
              </a:extLst>
            </p:cNvPr>
            <p:cNvSpPr/>
            <p:nvPr/>
          </p:nvSpPr>
          <p:spPr>
            <a:xfrm>
              <a:off x="8729335" y="3789684"/>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1</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grpSp>
      <p:grpSp>
        <p:nvGrpSpPr>
          <p:cNvPr id="12" name="群組 11">
            <a:extLst>
              <a:ext uri="{FF2B5EF4-FFF2-40B4-BE49-F238E27FC236}">
                <a16:creationId xmlns:a16="http://schemas.microsoft.com/office/drawing/2014/main" id="{3E5AD215-3930-7DF0-8EAB-010A4EB6B299}"/>
              </a:ext>
            </a:extLst>
          </p:cNvPr>
          <p:cNvGrpSpPr/>
          <p:nvPr/>
        </p:nvGrpSpPr>
        <p:grpSpPr>
          <a:xfrm>
            <a:off x="7959877" y="2675263"/>
            <a:ext cx="1685201" cy="307777"/>
            <a:chOff x="8275760" y="3533337"/>
            <a:chExt cx="1685201" cy="307777"/>
          </a:xfrm>
        </p:grpSpPr>
        <p:sp>
          <p:nvSpPr>
            <p:cNvPr id="114" name="文字方塊 113">
              <a:extLst>
                <a:ext uri="{FF2B5EF4-FFF2-40B4-BE49-F238E27FC236}">
                  <a16:creationId xmlns:a16="http://schemas.microsoft.com/office/drawing/2014/main" id="{F1277D9E-2B8E-D01C-57CD-C97EB0EC8E34}"/>
                </a:ext>
              </a:extLst>
            </p:cNvPr>
            <p:cNvSpPr txBox="1"/>
            <p:nvPr/>
          </p:nvSpPr>
          <p:spPr>
            <a:xfrm>
              <a:off x="8275760" y="3533337"/>
              <a:ext cx="482824"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0x0</a:t>
              </a:r>
              <a:endParaRPr kumimoji="1" lang="zh-TW" altLang="en-US" sz="1400" b="1" dirty="0">
                <a:solidFill>
                  <a:srgbClr val="0070C0"/>
                </a:solidFill>
                <a:latin typeface="Arial" panose="020B0604020202020204" pitchFamily="34" charset="0"/>
                <a:cs typeface="Arial" panose="020B0604020202020204" pitchFamily="34" charset="0"/>
              </a:endParaRPr>
            </a:p>
          </p:txBody>
        </p:sp>
        <p:sp>
          <p:nvSpPr>
            <p:cNvPr id="117" name="文字方塊 116">
              <a:extLst>
                <a:ext uri="{FF2B5EF4-FFF2-40B4-BE49-F238E27FC236}">
                  <a16:creationId xmlns:a16="http://schemas.microsoft.com/office/drawing/2014/main" id="{346BCF43-291A-D063-C0CE-5C3873BE87E2}"/>
                </a:ext>
              </a:extLst>
            </p:cNvPr>
            <p:cNvSpPr txBox="1"/>
            <p:nvPr/>
          </p:nvSpPr>
          <p:spPr>
            <a:xfrm>
              <a:off x="9279364" y="3533337"/>
              <a:ext cx="681597"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0x204</a:t>
              </a:r>
              <a:endParaRPr kumimoji="1" lang="zh-TW" altLang="en-US" sz="1400" b="1" dirty="0">
                <a:solidFill>
                  <a:srgbClr val="0070C0"/>
                </a:solidFill>
                <a:latin typeface="Arial" panose="020B0604020202020204" pitchFamily="34" charset="0"/>
                <a:cs typeface="Arial" panose="020B0604020202020204" pitchFamily="34" charset="0"/>
              </a:endParaRPr>
            </a:p>
          </p:txBody>
        </p:sp>
        <p:sp>
          <p:nvSpPr>
            <p:cNvPr id="119" name="文字方塊 118">
              <a:extLst>
                <a:ext uri="{FF2B5EF4-FFF2-40B4-BE49-F238E27FC236}">
                  <a16:creationId xmlns:a16="http://schemas.microsoft.com/office/drawing/2014/main" id="{88B0ECE1-136A-2509-5863-0BE24FFABE4F}"/>
                </a:ext>
              </a:extLst>
            </p:cNvPr>
            <p:cNvSpPr txBox="1"/>
            <p:nvPr/>
          </p:nvSpPr>
          <p:spPr>
            <a:xfrm>
              <a:off x="8701542" y="3533337"/>
              <a:ext cx="482824"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0x4</a:t>
              </a:r>
              <a:endParaRPr kumimoji="1" lang="zh-TW" altLang="en-US" sz="1400" b="1" dirty="0">
                <a:solidFill>
                  <a:srgbClr val="0070C0"/>
                </a:solidFill>
                <a:latin typeface="Arial" panose="020B0604020202020204" pitchFamily="34" charset="0"/>
                <a:cs typeface="Arial" panose="020B0604020202020204" pitchFamily="34" charset="0"/>
              </a:endParaRPr>
            </a:p>
          </p:txBody>
        </p:sp>
      </p:grpSp>
      <p:grpSp>
        <p:nvGrpSpPr>
          <p:cNvPr id="14" name="群組 13">
            <a:extLst>
              <a:ext uri="{FF2B5EF4-FFF2-40B4-BE49-F238E27FC236}">
                <a16:creationId xmlns:a16="http://schemas.microsoft.com/office/drawing/2014/main" id="{C8DBAC02-20BA-BD00-CA00-C9BB7BDB1378}"/>
              </a:ext>
            </a:extLst>
          </p:cNvPr>
          <p:cNvGrpSpPr/>
          <p:nvPr/>
        </p:nvGrpSpPr>
        <p:grpSpPr>
          <a:xfrm>
            <a:off x="10305296" y="2675263"/>
            <a:ext cx="763351" cy="1083384"/>
            <a:chOff x="10621179" y="3533337"/>
            <a:chExt cx="763351" cy="1083384"/>
          </a:xfrm>
        </p:grpSpPr>
        <p:sp>
          <p:nvSpPr>
            <p:cNvPr id="93" name="矩形 92">
              <a:extLst>
                <a:ext uri="{FF2B5EF4-FFF2-40B4-BE49-F238E27FC236}">
                  <a16:creationId xmlns:a16="http://schemas.microsoft.com/office/drawing/2014/main" id="{D225F8C7-BCE1-AA17-5608-C31CCFE13B93}"/>
                </a:ext>
              </a:extLst>
            </p:cNvPr>
            <p:cNvSpPr/>
            <p:nvPr/>
          </p:nvSpPr>
          <p:spPr>
            <a:xfrm>
              <a:off x="10746037"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81</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20" name="文字方塊 119">
              <a:extLst>
                <a:ext uri="{FF2B5EF4-FFF2-40B4-BE49-F238E27FC236}">
                  <a16:creationId xmlns:a16="http://schemas.microsoft.com/office/drawing/2014/main" id="{F49A3F02-FA14-00CF-6E71-32E170BE6585}"/>
                </a:ext>
              </a:extLst>
            </p:cNvPr>
            <p:cNvSpPr txBox="1"/>
            <p:nvPr/>
          </p:nvSpPr>
          <p:spPr>
            <a:xfrm>
              <a:off x="10621179" y="3533337"/>
              <a:ext cx="763351"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CS‘:IP’</a:t>
              </a:r>
              <a:endParaRPr kumimoji="1" lang="zh-TW" altLang="en-US" sz="1400" b="1" dirty="0">
                <a:solidFill>
                  <a:srgbClr val="0070C0"/>
                </a:solidFill>
                <a:latin typeface="Arial" panose="020B0604020202020204" pitchFamily="34" charset="0"/>
                <a:cs typeface="Arial" panose="020B0604020202020204" pitchFamily="34" charset="0"/>
              </a:endParaRPr>
            </a:p>
          </p:txBody>
        </p:sp>
      </p:grpSp>
      <p:grpSp>
        <p:nvGrpSpPr>
          <p:cNvPr id="13" name="群組 12">
            <a:extLst>
              <a:ext uri="{FF2B5EF4-FFF2-40B4-BE49-F238E27FC236}">
                <a16:creationId xmlns:a16="http://schemas.microsoft.com/office/drawing/2014/main" id="{74B22B85-478A-B501-8C23-52E33D61E31C}"/>
              </a:ext>
            </a:extLst>
          </p:cNvPr>
          <p:cNvGrpSpPr/>
          <p:nvPr/>
        </p:nvGrpSpPr>
        <p:grpSpPr>
          <a:xfrm>
            <a:off x="9122720" y="2164799"/>
            <a:ext cx="763351" cy="745544"/>
            <a:chOff x="9438603" y="3022873"/>
            <a:chExt cx="763351" cy="745544"/>
          </a:xfrm>
        </p:grpSpPr>
        <p:cxnSp>
          <p:nvCxnSpPr>
            <p:cNvPr id="122" name="曲線接點 121">
              <a:extLst>
                <a:ext uri="{FF2B5EF4-FFF2-40B4-BE49-F238E27FC236}">
                  <a16:creationId xmlns:a16="http://schemas.microsoft.com/office/drawing/2014/main" id="{2A220A9D-14A3-11F0-FC72-20FC8723C85D}"/>
                </a:ext>
              </a:extLst>
            </p:cNvPr>
            <p:cNvCxnSpPr>
              <a:cxnSpLocks/>
            </p:cNvCxnSpPr>
            <p:nvPr/>
          </p:nvCxnSpPr>
          <p:spPr>
            <a:xfrm rot="5400000" flipH="1" flipV="1">
              <a:off x="9437184" y="3396362"/>
              <a:ext cx="532353" cy="211757"/>
            </a:xfrm>
            <a:prstGeom prst="curvedConnector3">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4" name="文字方塊 123">
              <a:extLst>
                <a:ext uri="{FF2B5EF4-FFF2-40B4-BE49-F238E27FC236}">
                  <a16:creationId xmlns:a16="http://schemas.microsoft.com/office/drawing/2014/main" id="{CB343087-72B5-D098-2287-83C49D2A5B31}"/>
                </a:ext>
              </a:extLst>
            </p:cNvPr>
            <p:cNvSpPr txBox="1"/>
            <p:nvPr/>
          </p:nvSpPr>
          <p:spPr>
            <a:xfrm>
              <a:off x="9438603" y="3022873"/>
              <a:ext cx="763351"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CS‘:IP’</a:t>
              </a:r>
              <a:endParaRPr kumimoji="1" lang="zh-TW" altLang="en-US" sz="1400" b="1" dirty="0">
                <a:solidFill>
                  <a:srgbClr val="C00000"/>
                </a:solidFill>
                <a:latin typeface="Arial" panose="020B0604020202020204" pitchFamily="34" charset="0"/>
                <a:cs typeface="Arial" panose="020B0604020202020204" pitchFamily="34" charset="0"/>
              </a:endParaRPr>
            </a:p>
          </p:txBody>
        </p:sp>
      </p:grpSp>
      <p:grpSp>
        <p:nvGrpSpPr>
          <p:cNvPr id="15" name="群組 14">
            <a:extLst>
              <a:ext uri="{FF2B5EF4-FFF2-40B4-BE49-F238E27FC236}">
                <a16:creationId xmlns:a16="http://schemas.microsoft.com/office/drawing/2014/main" id="{0AE6E52C-8C7C-BA31-930B-5A459B487206}"/>
              </a:ext>
            </a:extLst>
          </p:cNvPr>
          <p:cNvGrpSpPr/>
          <p:nvPr/>
        </p:nvGrpSpPr>
        <p:grpSpPr>
          <a:xfrm>
            <a:off x="9629117" y="2327971"/>
            <a:ext cx="1572867" cy="607439"/>
            <a:chOff x="9945000" y="3186045"/>
            <a:chExt cx="1572867" cy="607439"/>
          </a:xfrm>
        </p:grpSpPr>
        <p:cxnSp>
          <p:nvCxnSpPr>
            <p:cNvPr id="125" name="曲線接點 124">
              <a:extLst>
                <a:ext uri="{FF2B5EF4-FFF2-40B4-BE49-F238E27FC236}">
                  <a16:creationId xmlns:a16="http://schemas.microsoft.com/office/drawing/2014/main" id="{CCD0E404-D1E0-CAA7-5F9F-0494CA59C474}"/>
                </a:ext>
              </a:extLst>
            </p:cNvPr>
            <p:cNvCxnSpPr>
              <a:cxnSpLocks/>
            </p:cNvCxnSpPr>
            <p:nvPr/>
          </p:nvCxnSpPr>
          <p:spPr>
            <a:xfrm rot="10800000">
              <a:off x="9945000" y="3312340"/>
              <a:ext cx="1024649" cy="481144"/>
            </a:xfrm>
            <a:prstGeom prst="curvedConnector3">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7" name="文字方塊 126">
              <a:extLst>
                <a:ext uri="{FF2B5EF4-FFF2-40B4-BE49-F238E27FC236}">
                  <a16:creationId xmlns:a16="http://schemas.microsoft.com/office/drawing/2014/main" id="{F14A7328-FFB8-6CD2-B6B4-52FF1161E3A7}"/>
                </a:ext>
              </a:extLst>
            </p:cNvPr>
            <p:cNvSpPr txBox="1"/>
            <p:nvPr/>
          </p:nvSpPr>
          <p:spPr>
            <a:xfrm>
              <a:off x="10318500" y="3186045"/>
              <a:ext cx="1199367"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Code of ISR</a:t>
              </a:r>
              <a:endParaRPr kumimoji="1" lang="zh-TW" altLang="en-US" sz="1400" b="1" dirty="0">
                <a:solidFill>
                  <a:srgbClr val="C00000"/>
                </a:solidFill>
                <a:latin typeface="Arial" panose="020B0604020202020204" pitchFamily="34" charset="0"/>
                <a:cs typeface="Arial" panose="020B0604020202020204" pitchFamily="34" charset="0"/>
              </a:endParaRPr>
            </a:p>
          </p:txBody>
        </p:sp>
      </p:grpSp>
      <p:sp>
        <p:nvSpPr>
          <p:cNvPr id="128" name="文字方塊 127">
            <a:extLst>
              <a:ext uri="{FF2B5EF4-FFF2-40B4-BE49-F238E27FC236}">
                <a16:creationId xmlns:a16="http://schemas.microsoft.com/office/drawing/2014/main" id="{92455F60-8B50-A9D1-0FC3-CDBCBC6A4C47}"/>
              </a:ext>
            </a:extLst>
          </p:cNvPr>
          <p:cNvSpPr txBox="1"/>
          <p:nvPr/>
        </p:nvSpPr>
        <p:spPr>
          <a:xfrm>
            <a:off x="9504395" y="1407389"/>
            <a:ext cx="2369559" cy="276999"/>
          </a:xfrm>
          <a:prstGeom prst="rect">
            <a:avLst/>
          </a:prstGeom>
          <a:noFill/>
        </p:spPr>
        <p:txBody>
          <a:bodyPr wrap="none" rtlCol="0">
            <a:spAutoFit/>
          </a:bodyPr>
          <a:lstStyle/>
          <a:p>
            <a:r>
              <a:rPr kumimoji="1" lang="en-US" altLang="zh-TW" sz="1200" b="1" dirty="0">
                <a:solidFill>
                  <a:schemeClr val="tx1">
                    <a:lumMod val="50000"/>
                    <a:lumOff val="50000"/>
                  </a:schemeClr>
                </a:solidFill>
                <a:latin typeface="Arial" panose="020B0604020202020204" pitchFamily="34" charset="0"/>
                <a:cs typeface="Arial" panose="020B0604020202020204" pitchFamily="34" charset="0"/>
              </a:rPr>
              <a:t>ISR=Interrupt Service</a:t>
            </a:r>
            <a:r>
              <a:rPr kumimoji="1" lang="zh-TW" altLang="en-US" sz="1200" b="1" dirty="0">
                <a:solidFill>
                  <a:schemeClr val="tx1">
                    <a:lumMod val="50000"/>
                    <a:lumOff val="50000"/>
                  </a:schemeClr>
                </a:solidFill>
                <a:latin typeface="Arial" panose="020B0604020202020204" pitchFamily="34" charset="0"/>
                <a:cs typeface="Arial" panose="020B0604020202020204" pitchFamily="34" charset="0"/>
              </a:rPr>
              <a:t> </a:t>
            </a:r>
            <a:r>
              <a:rPr kumimoji="1" lang="en-US" altLang="zh-TW" sz="1200" b="1" dirty="0">
                <a:solidFill>
                  <a:schemeClr val="tx1">
                    <a:lumMod val="50000"/>
                    <a:lumOff val="50000"/>
                  </a:schemeClr>
                </a:solidFill>
                <a:latin typeface="Arial" panose="020B0604020202020204" pitchFamily="34" charset="0"/>
                <a:cs typeface="Arial" panose="020B0604020202020204" pitchFamily="34" charset="0"/>
              </a:rPr>
              <a:t>Routine</a:t>
            </a:r>
            <a:endParaRPr kumimoji="1" lang="zh-TW" altLang="en-US" sz="1200" b="1"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6" name="文字方塊 5">
            <a:extLst>
              <a:ext uri="{FF2B5EF4-FFF2-40B4-BE49-F238E27FC236}">
                <a16:creationId xmlns:a16="http://schemas.microsoft.com/office/drawing/2014/main" id="{4C7D9ECD-EBE5-D22D-1C65-D8A72E8C566C}"/>
              </a:ext>
            </a:extLst>
          </p:cNvPr>
          <p:cNvSpPr txBox="1"/>
          <p:nvPr/>
        </p:nvSpPr>
        <p:spPr>
          <a:xfrm>
            <a:off x="0" y="6572147"/>
            <a:ext cx="7084440" cy="276999"/>
          </a:xfrm>
          <a:prstGeom prst="rect">
            <a:avLst/>
          </a:prstGeom>
          <a:noFill/>
        </p:spPr>
        <p:txBody>
          <a:bodyPr wrap="non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rPr>
              <a:t>Fan, </a:t>
            </a:r>
            <a:r>
              <a:rPr kumimoji="1" lang="en-US" altLang="zh-TW" sz="1200" dirty="0" err="1">
                <a:solidFill>
                  <a:schemeClr val="bg1">
                    <a:lumMod val="75000"/>
                  </a:schemeClr>
                </a:solidFill>
              </a:rPr>
              <a:t>Xiaocong</a:t>
            </a:r>
            <a:r>
              <a:rPr kumimoji="1" lang="en-US" altLang="zh-TW" sz="1200" dirty="0">
                <a:solidFill>
                  <a:schemeClr val="bg1">
                    <a:lumMod val="75000"/>
                  </a:schemeClr>
                </a:solidFill>
              </a:rPr>
              <a:t>. Real-time embedded systems: design principles and engineering practices. </a:t>
            </a:r>
            <a:r>
              <a:rPr kumimoji="1" lang="en-US" altLang="zh-TW" sz="1200" dirty="0" err="1">
                <a:solidFill>
                  <a:schemeClr val="bg1">
                    <a:lumMod val="75000"/>
                  </a:schemeClr>
                </a:solidFill>
              </a:rPr>
              <a:t>Newnes</a:t>
            </a:r>
            <a:r>
              <a:rPr kumimoji="1" lang="en-US" altLang="zh-TW" sz="1200" dirty="0">
                <a:solidFill>
                  <a:schemeClr val="bg1">
                    <a:lumMod val="75000"/>
                  </a:schemeClr>
                </a:solidFill>
              </a:rPr>
              <a:t>, 2015.</a:t>
            </a:r>
          </a:p>
        </p:txBody>
      </p:sp>
      <p:sp>
        <p:nvSpPr>
          <p:cNvPr id="16" name="文字方塊 15">
            <a:extLst>
              <a:ext uri="{FF2B5EF4-FFF2-40B4-BE49-F238E27FC236}">
                <a16:creationId xmlns:a16="http://schemas.microsoft.com/office/drawing/2014/main" id="{9DB73002-1766-D1A6-664D-577C6E15F8E5}"/>
              </a:ext>
            </a:extLst>
          </p:cNvPr>
          <p:cNvSpPr txBox="1"/>
          <p:nvPr/>
        </p:nvSpPr>
        <p:spPr>
          <a:xfrm>
            <a:off x="-374469" y="1837509"/>
            <a:ext cx="184731" cy="369332"/>
          </a:xfrm>
          <a:prstGeom prst="rect">
            <a:avLst/>
          </a:prstGeom>
          <a:noFill/>
        </p:spPr>
        <p:txBody>
          <a:bodyPr wrap="none" rtlCol="0">
            <a:spAutoFit/>
          </a:bodyPr>
          <a:lstStyle/>
          <a:p>
            <a:endParaRPr kumimoji="1" lang="zh-TW" altLang="en-US"/>
          </a:p>
        </p:txBody>
      </p:sp>
    </p:spTree>
    <p:extLst>
      <p:ext uri="{BB962C8B-B14F-4D97-AF65-F5344CB8AC3E}">
        <p14:creationId xmlns:p14="http://schemas.microsoft.com/office/powerpoint/2010/main" val="1993835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8"/>
                                        </p:tgtEl>
                                      </p:cBhvr>
                                    </p:animEffect>
                                    <p:animScale>
                                      <p:cBhvr>
                                        <p:cTn id="7" dur="250" autoRev="1" fill="hold"/>
                                        <p:tgtEl>
                                          <p:spTgt spid="38"/>
                                        </p:tgtEl>
                                      </p:cBhvr>
                                      <p:by x="105000" y="105000"/>
                                    </p:animScale>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par>
                          <p:cTn id="14" fill="hold">
                            <p:stCondLst>
                              <p:cond delay="500"/>
                            </p:stCondLst>
                            <p:childTnLst>
                              <p:par>
                                <p:cTn id="15" presetID="22" presetClass="entr" presetSubtype="2"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righ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par>
                          <p:cTn id="35" fill="hold">
                            <p:stCondLst>
                              <p:cond delay="1000"/>
                            </p:stCondLst>
                            <p:childTnLst>
                              <p:par>
                                <p:cTn id="36" presetID="22" presetClass="entr" presetSubtype="8" fill="hold"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09"/>
                                        </p:tgtEl>
                                        <p:attrNameLst>
                                          <p:attrName>style.visibility</p:attrName>
                                        </p:attrNameLst>
                                      </p:cBhvr>
                                      <p:to>
                                        <p:strVal val="visible"/>
                                      </p:to>
                                    </p:set>
                                    <p:animEffect transition="in" filter="fade">
                                      <p:cBhvr>
                                        <p:cTn id="43" dur="500"/>
                                        <p:tgtEl>
                                          <p:spTgt spid="109"/>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1" nodeType="clickEffect">
                                  <p:stCondLst>
                                    <p:cond delay="0"/>
                                  </p:stCondLst>
                                  <p:childTnLst>
                                    <p:set>
                                      <p:cBhvr>
                                        <p:cTn id="47" dur="1" fill="hold">
                                          <p:stCondLst>
                                            <p:cond delay="0"/>
                                          </p:stCondLst>
                                        </p:cTn>
                                        <p:tgtEl>
                                          <p:spTgt spid="109"/>
                                        </p:tgtEl>
                                        <p:attrNameLst>
                                          <p:attrName>style.visibility</p:attrName>
                                        </p:attrNameLst>
                                      </p:cBhvr>
                                      <p:to>
                                        <p:strVal val="hidden"/>
                                      </p:to>
                                    </p:set>
                                  </p:childTnLst>
                                </p:cTn>
                              </p:par>
                              <p:par>
                                <p:cTn id="48" presetID="10" presetClass="entr" presetSubtype="0" fill="hold" nodeType="withEffect">
                                  <p:stCondLst>
                                    <p:cond delay="0"/>
                                  </p:stCondLst>
                                  <p:childTnLst>
                                    <p:set>
                                      <p:cBhvr>
                                        <p:cTn id="49" dur="1" fill="hold">
                                          <p:stCondLst>
                                            <p:cond delay="0"/>
                                          </p:stCondLst>
                                        </p:cTn>
                                        <p:tgtEl>
                                          <p:spTgt spid="3">
                                            <p:txEl>
                                              <p:pRg st="4" end="4"/>
                                            </p:txEl>
                                          </p:spTgt>
                                        </p:tgtEl>
                                        <p:attrNameLst>
                                          <p:attrName>style.visibility</p:attrName>
                                        </p:attrNameLst>
                                      </p:cBhvr>
                                      <p:to>
                                        <p:strVal val="visible"/>
                                      </p:to>
                                    </p:set>
                                    <p:animEffect transition="in" filter="fade">
                                      <p:cBhvr>
                                        <p:cTn id="50" dur="500"/>
                                        <p:tgtEl>
                                          <p:spTgt spid="3">
                                            <p:txEl>
                                              <p:pRg st="4" end="4"/>
                                            </p:txEl>
                                          </p:spTgt>
                                        </p:tgtEl>
                                      </p:cBhvr>
                                    </p:animEffect>
                                  </p:childTnLst>
                                </p:cTn>
                              </p:par>
                            </p:childTnLst>
                          </p:cTn>
                        </p:par>
                        <p:par>
                          <p:cTn id="51" fill="hold">
                            <p:stCondLst>
                              <p:cond delay="500"/>
                            </p:stCondLst>
                            <p:childTnLst>
                              <p:par>
                                <p:cTn id="52" presetID="22" presetClass="entr" presetSubtype="4" fill="hold"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down)">
                                      <p:cBhvr>
                                        <p:cTn id="54" dur="500"/>
                                        <p:tgtEl>
                                          <p:spTgt spid="13"/>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00"/>
                                        <p:tgtEl>
                                          <p:spTgt spid="14"/>
                                        </p:tgtEl>
                                      </p:cBhvr>
                                    </p:animEffect>
                                  </p:childTnLst>
                                </p:cTn>
                              </p:par>
                              <p:par>
                                <p:cTn id="60" presetID="10" presetClass="entr" presetSubtype="0" fill="hold" nodeType="withEffect">
                                  <p:stCondLst>
                                    <p:cond delay="0"/>
                                  </p:stCondLst>
                                  <p:childTnLst>
                                    <p:set>
                                      <p:cBhvr>
                                        <p:cTn id="61" dur="1" fill="hold">
                                          <p:stCondLst>
                                            <p:cond delay="0"/>
                                          </p:stCondLst>
                                        </p:cTn>
                                        <p:tgtEl>
                                          <p:spTgt spid="3">
                                            <p:txEl>
                                              <p:pRg st="5" end="5"/>
                                            </p:txEl>
                                          </p:spTgt>
                                        </p:tgtEl>
                                        <p:attrNameLst>
                                          <p:attrName>style.visibility</p:attrName>
                                        </p:attrNameLst>
                                      </p:cBhvr>
                                      <p:to>
                                        <p:strVal val="visible"/>
                                      </p:to>
                                    </p:set>
                                    <p:animEffect transition="in" filter="fade">
                                      <p:cBhvr>
                                        <p:cTn id="62" dur="500"/>
                                        <p:tgtEl>
                                          <p:spTgt spid="3">
                                            <p:txEl>
                                              <p:pRg st="5" end="5"/>
                                            </p:txEl>
                                          </p:spTgt>
                                        </p:tgtEl>
                                      </p:cBhvr>
                                    </p:animEffect>
                                  </p:childTnLst>
                                </p:cTn>
                              </p:par>
                            </p:childTnLst>
                          </p:cTn>
                        </p:par>
                        <p:par>
                          <p:cTn id="63" fill="hold">
                            <p:stCondLst>
                              <p:cond delay="500"/>
                            </p:stCondLst>
                            <p:childTnLst>
                              <p:par>
                                <p:cTn id="64" presetID="22" presetClass="entr" presetSubtype="2" fill="hold" nodeType="after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wipe(right)">
                                      <p:cBhvr>
                                        <p:cTn id="6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109" grpId="0"/>
      <p:bldP spid="109"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A679866-913C-A073-6986-1295654BE079}"/>
              </a:ext>
            </a:extLst>
          </p:cNvPr>
          <p:cNvSpPr>
            <a:spLocks noGrp="1"/>
          </p:cNvSpPr>
          <p:nvPr>
            <p:ph type="title"/>
          </p:nvPr>
        </p:nvSpPr>
        <p:spPr/>
        <p:txBody>
          <a:bodyPr/>
          <a:lstStyle/>
          <a:p>
            <a:r>
              <a:rPr kumimoji="1" lang="en-US" altLang="zh-TW" dirty="0"/>
              <a:t>Interrupt Handler</a:t>
            </a:r>
            <a:endParaRPr kumimoji="1" lang="zh-TW" altLang="en-US" dirty="0"/>
          </a:p>
        </p:txBody>
      </p:sp>
      <p:sp>
        <p:nvSpPr>
          <p:cNvPr id="3" name="內容版面配置區 2">
            <a:extLst>
              <a:ext uri="{FF2B5EF4-FFF2-40B4-BE49-F238E27FC236}">
                <a16:creationId xmlns:a16="http://schemas.microsoft.com/office/drawing/2014/main" id="{80109A77-5AC8-2023-4C95-A90A404A044B}"/>
              </a:ext>
            </a:extLst>
          </p:cNvPr>
          <p:cNvSpPr>
            <a:spLocks noGrp="1"/>
          </p:cNvSpPr>
          <p:nvPr>
            <p:ph idx="1"/>
          </p:nvPr>
        </p:nvSpPr>
        <p:spPr>
          <a:xfrm>
            <a:off x="177800" y="1238249"/>
            <a:ext cx="11836400" cy="5736291"/>
          </a:xfrm>
        </p:spPr>
        <p:txBody>
          <a:bodyPr>
            <a:normAutofit/>
          </a:bodyPr>
          <a:lstStyle/>
          <a:p>
            <a:r>
              <a:rPr kumimoji="1" lang="en-US" altLang="zh-TW" dirty="0"/>
              <a:t>Interrupt</a:t>
            </a:r>
            <a:r>
              <a:rPr kumimoji="1" lang="zh-TW" altLang="en-US" dirty="0"/>
              <a:t> </a:t>
            </a:r>
            <a:r>
              <a:rPr kumimoji="1" lang="en-US" altLang="zh-TW" dirty="0"/>
              <a:t>Service</a:t>
            </a:r>
            <a:r>
              <a:rPr kumimoji="1" lang="zh-TW" altLang="en-US" dirty="0"/>
              <a:t> </a:t>
            </a:r>
            <a:r>
              <a:rPr lang="en-US" altLang="zh-TW" dirty="0"/>
              <a:t>Routine (ISR)</a:t>
            </a:r>
            <a:r>
              <a:rPr lang="zh-TW" altLang="en-US" dirty="0"/>
              <a:t> </a:t>
            </a:r>
            <a:r>
              <a:rPr lang="en-US" altLang="zh-TW" dirty="0"/>
              <a:t>or</a:t>
            </a:r>
            <a:r>
              <a:rPr lang="zh-TW" altLang="en-US" dirty="0"/>
              <a:t> </a:t>
            </a:r>
            <a:r>
              <a:rPr lang="en-US" altLang="zh-TW" dirty="0"/>
              <a:t>Interrupt</a:t>
            </a:r>
            <a:r>
              <a:rPr lang="zh-TW" altLang="en-US" dirty="0"/>
              <a:t> </a:t>
            </a:r>
            <a:r>
              <a:rPr lang="en-US" altLang="zh-TW" dirty="0"/>
              <a:t>Handler:</a:t>
            </a:r>
            <a:r>
              <a:rPr lang="zh-TW" altLang="en-US" dirty="0"/>
              <a:t> </a:t>
            </a:r>
            <a:r>
              <a:rPr lang="en-US" altLang="zh-TW" dirty="0"/>
              <a:t>The</a:t>
            </a:r>
            <a:r>
              <a:rPr lang="zh-TW" altLang="en-US" dirty="0"/>
              <a:t> </a:t>
            </a:r>
            <a:r>
              <a:rPr lang="en-US" altLang="zh-TW" dirty="0"/>
              <a:t>function</a:t>
            </a:r>
            <a:r>
              <a:rPr lang="zh-TW" altLang="en-US" dirty="0"/>
              <a:t> </a:t>
            </a:r>
            <a:r>
              <a:rPr lang="en-US" altLang="zh-TW" dirty="0"/>
              <a:t>the</a:t>
            </a:r>
            <a:r>
              <a:rPr lang="zh-TW" altLang="en-US" dirty="0"/>
              <a:t> </a:t>
            </a:r>
            <a:r>
              <a:rPr lang="en-US" altLang="zh-TW" dirty="0"/>
              <a:t>kernel</a:t>
            </a:r>
            <a:r>
              <a:rPr lang="zh-TW" altLang="en-US" dirty="0"/>
              <a:t> </a:t>
            </a:r>
            <a:r>
              <a:rPr lang="en-US" altLang="zh-TW" dirty="0"/>
              <a:t>runs</a:t>
            </a:r>
            <a:r>
              <a:rPr lang="zh-TW" altLang="en-US" dirty="0"/>
              <a:t> </a:t>
            </a:r>
            <a:r>
              <a:rPr lang="en-US" altLang="zh-TW" dirty="0"/>
              <a:t>in</a:t>
            </a:r>
            <a:r>
              <a:rPr lang="zh-TW" altLang="en-US" dirty="0"/>
              <a:t> </a:t>
            </a:r>
            <a:r>
              <a:rPr lang="en-US" altLang="zh-TW" dirty="0"/>
              <a:t>response</a:t>
            </a:r>
            <a:r>
              <a:rPr lang="zh-TW" altLang="en-US" dirty="0"/>
              <a:t> </a:t>
            </a:r>
            <a:r>
              <a:rPr lang="en-US" altLang="zh-TW" dirty="0"/>
              <a:t>to</a:t>
            </a:r>
            <a:r>
              <a:rPr lang="zh-TW" altLang="en-US" dirty="0"/>
              <a:t> </a:t>
            </a:r>
            <a:r>
              <a:rPr lang="en-US" altLang="zh-TW" dirty="0"/>
              <a:t>a</a:t>
            </a:r>
            <a:r>
              <a:rPr lang="zh-TW" altLang="en-US" dirty="0"/>
              <a:t> </a:t>
            </a:r>
            <a:r>
              <a:rPr lang="en-US" altLang="zh-TW" dirty="0"/>
              <a:t>specific</a:t>
            </a:r>
            <a:r>
              <a:rPr lang="zh-TW" altLang="en-US" dirty="0"/>
              <a:t> </a:t>
            </a:r>
            <a:r>
              <a:rPr lang="en-US" altLang="zh-TW" dirty="0"/>
              <a:t>interrupt.</a:t>
            </a:r>
          </a:p>
          <a:p>
            <a:pPr lvl="1"/>
            <a:r>
              <a:rPr kumimoji="1" lang="en-US" altLang="zh-TW" dirty="0"/>
              <a:t>It</a:t>
            </a:r>
            <a:r>
              <a:rPr kumimoji="1" lang="zh-TW" altLang="en-US" dirty="0"/>
              <a:t> </a:t>
            </a:r>
            <a:r>
              <a:rPr kumimoji="1" lang="en-US" altLang="zh-TW" dirty="0"/>
              <a:t>is</a:t>
            </a:r>
            <a:r>
              <a:rPr kumimoji="1" lang="zh-TW" altLang="en-US" dirty="0"/>
              <a:t> </a:t>
            </a:r>
            <a:r>
              <a:rPr kumimoji="1" lang="en-US" altLang="zh-TW" dirty="0"/>
              <a:t>part</a:t>
            </a:r>
            <a:r>
              <a:rPr kumimoji="1" lang="zh-TW" altLang="en-US" dirty="0"/>
              <a:t> </a:t>
            </a:r>
            <a:r>
              <a:rPr kumimoji="1" lang="en-US" altLang="zh-TW" dirty="0"/>
              <a:t>of</a:t>
            </a:r>
            <a:r>
              <a:rPr kumimoji="1" lang="zh-TW" altLang="en-US" dirty="0"/>
              <a:t> </a:t>
            </a:r>
            <a:r>
              <a:rPr kumimoji="1" lang="en-US" altLang="zh-TW" dirty="0"/>
              <a:t>a</a:t>
            </a:r>
            <a:r>
              <a:rPr kumimoji="1" lang="zh-TW" altLang="en-US" dirty="0"/>
              <a:t> </a:t>
            </a:r>
            <a:r>
              <a:rPr kumimoji="1" lang="en-US" altLang="zh-TW" dirty="0">
                <a:solidFill>
                  <a:srgbClr val="C00000"/>
                </a:solidFill>
              </a:rPr>
              <a:t>device</a:t>
            </a:r>
            <a:r>
              <a:rPr kumimoji="1" lang="zh-TW" altLang="en-US" dirty="0">
                <a:solidFill>
                  <a:srgbClr val="C00000"/>
                </a:solidFill>
              </a:rPr>
              <a:t> </a:t>
            </a:r>
            <a:r>
              <a:rPr kumimoji="1" lang="en-US" altLang="zh-TW" dirty="0">
                <a:solidFill>
                  <a:srgbClr val="C00000"/>
                </a:solidFill>
              </a:rPr>
              <a:t>driver</a:t>
            </a:r>
            <a:r>
              <a:rPr kumimoji="1" lang="zh-TW" altLang="en-US" dirty="0">
                <a:solidFill>
                  <a:srgbClr val="C00000"/>
                </a:solidFill>
              </a:rPr>
              <a:t> </a:t>
            </a:r>
            <a:r>
              <a:rPr kumimoji="1" lang="en-US" altLang="zh-TW" dirty="0"/>
              <a:t>(the</a:t>
            </a:r>
            <a:r>
              <a:rPr kumimoji="1" lang="zh-TW" altLang="en-US" dirty="0"/>
              <a:t> </a:t>
            </a:r>
            <a:r>
              <a:rPr kumimoji="1" lang="en-US" altLang="zh-TW" dirty="0">
                <a:solidFill>
                  <a:srgbClr val="C00000"/>
                </a:solidFill>
              </a:rPr>
              <a:t>kernel</a:t>
            </a:r>
            <a:r>
              <a:rPr kumimoji="1" lang="zh-TW" altLang="en-US" dirty="0">
                <a:solidFill>
                  <a:srgbClr val="C00000"/>
                </a:solidFill>
              </a:rPr>
              <a:t> </a:t>
            </a:r>
            <a:r>
              <a:rPr kumimoji="1" lang="en-US" altLang="zh-TW" dirty="0">
                <a:solidFill>
                  <a:srgbClr val="C00000"/>
                </a:solidFill>
              </a:rPr>
              <a:t>code</a:t>
            </a:r>
            <a:r>
              <a:rPr kumimoji="1" lang="zh-TW" altLang="en-US" dirty="0">
                <a:solidFill>
                  <a:srgbClr val="C00000"/>
                </a:solidFill>
              </a:rPr>
              <a:t> </a:t>
            </a:r>
            <a:r>
              <a:rPr kumimoji="1" lang="en-US" altLang="zh-TW" dirty="0"/>
              <a:t>manages</a:t>
            </a:r>
            <a:r>
              <a:rPr kumimoji="1" lang="zh-TW" altLang="en-US" dirty="0"/>
              <a:t> </a:t>
            </a:r>
            <a:r>
              <a:rPr kumimoji="1" lang="en-US" altLang="zh-TW" dirty="0"/>
              <a:t>the</a:t>
            </a:r>
            <a:r>
              <a:rPr kumimoji="1" lang="zh-TW" altLang="en-US" dirty="0"/>
              <a:t> </a:t>
            </a:r>
            <a:r>
              <a:rPr kumimoji="1" lang="en-US" altLang="zh-TW" dirty="0"/>
              <a:t>device)</a:t>
            </a:r>
          </a:p>
          <a:p>
            <a:r>
              <a:rPr lang="en-US" altLang="zh-TW" dirty="0"/>
              <a:t>Challenge: ISR is </a:t>
            </a:r>
            <a:r>
              <a:rPr lang="en-US" altLang="zh-TW" dirty="0">
                <a:solidFill>
                  <a:srgbClr val="C00000"/>
                </a:solidFill>
              </a:rPr>
              <a:t>non-</a:t>
            </a:r>
            <a:r>
              <a:rPr lang="en-US" altLang="zh-TW" dirty="0" err="1">
                <a:solidFill>
                  <a:srgbClr val="C00000"/>
                </a:solidFill>
              </a:rPr>
              <a:t>blockable</a:t>
            </a:r>
            <a:r>
              <a:rPr lang="en-US" altLang="zh-TW" dirty="0">
                <a:solidFill>
                  <a:srgbClr val="C00000"/>
                </a:solidFill>
              </a:rPr>
              <a:t> (Cannot Sleep)</a:t>
            </a:r>
            <a:r>
              <a:rPr lang="en-US" altLang="zh-TW" dirty="0"/>
              <a:t>. The handler shall run quickly, to resume execution of the interrupted code as soon as possible. </a:t>
            </a:r>
            <a:endParaRPr kumimoji="1" lang="en-US" altLang="zh-TW" dirty="0"/>
          </a:p>
          <a:p>
            <a:r>
              <a:rPr kumimoji="1" lang="en-US" altLang="zh-TW" dirty="0"/>
              <a:t>Split the ISR into two parts (Top Halves + Bottom Halves):</a:t>
            </a:r>
          </a:p>
          <a:p>
            <a:pPr lvl="1"/>
            <a:r>
              <a:rPr kumimoji="1" lang="en-US" altLang="zh-TW" dirty="0"/>
              <a:t>Top Halves: </a:t>
            </a:r>
            <a:r>
              <a:rPr lang="en-US" altLang="zh-TW" dirty="0">
                <a:solidFill>
                  <a:srgbClr val="C00000"/>
                </a:solidFill>
              </a:rPr>
              <a:t>Run immediately </a:t>
            </a:r>
            <a:r>
              <a:rPr lang="en-US" altLang="zh-TW" dirty="0"/>
              <a:t>upon receipt of the interrupt and performs only the </a:t>
            </a:r>
            <a:r>
              <a:rPr lang="en-US" altLang="zh-TW" dirty="0">
                <a:solidFill>
                  <a:srgbClr val="C00000"/>
                </a:solidFill>
              </a:rPr>
              <a:t>work that is time-critical</a:t>
            </a:r>
            <a:r>
              <a:rPr lang="en-US" altLang="zh-TW" dirty="0"/>
              <a:t>.</a:t>
            </a:r>
            <a:endParaRPr kumimoji="1" lang="en-US" altLang="zh-TW" dirty="0"/>
          </a:p>
          <a:p>
            <a:pPr lvl="1"/>
            <a:r>
              <a:rPr lang="en-US" altLang="zh-TW" dirty="0"/>
              <a:t>Bottom Halves: Work that can be performed later is </a:t>
            </a:r>
            <a:r>
              <a:rPr lang="en-US" altLang="zh-TW" dirty="0">
                <a:solidFill>
                  <a:srgbClr val="C00000"/>
                </a:solidFill>
              </a:rPr>
              <a:t>deferred</a:t>
            </a:r>
            <a:r>
              <a:rPr lang="en-US" altLang="zh-TW" dirty="0"/>
              <a:t> until the bottom half.</a:t>
            </a:r>
          </a:p>
          <a:p>
            <a:pPr lvl="1"/>
            <a:r>
              <a:rPr kumimoji="1" lang="en-US" altLang="zh-TW" dirty="0"/>
              <a:t>Example: </a:t>
            </a:r>
          </a:p>
          <a:p>
            <a:pPr marL="1371600" lvl="2" indent="-457200">
              <a:buFont typeface="+mj-lt"/>
              <a:buAutoNum type="arabicPeriod"/>
            </a:pPr>
            <a:r>
              <a:rPr kumimoji="1" lang="en-US" altLang="zh-TW" dirty="0"/>
              <a:t>A network </a:t>
            </a:r>
            <a:r>
              <a:rPr lang="en-US" altLang="zh-TW" dirty="0"/>
              <a:t>c</a:t>
            </a:r>
            <a:r>
              <a:rPr kumimoji="1" lang="en-US" altLang="zh-TW" dirty="0"/>
              <a:t>ard </a:t>
            </a:r>
            <a:r>
              <a:rPr lang="en-US" altLang="zh-TW" dirty="0"/>
              <a:t>r</a:t>
            </a:r>
            <a:r>
              <a:rPr kumimoji="1" lang="en-US" altLang="zh-TW" dirty="0"/>
              <a:t>eceived a </a:t>
            </a:r>
            <a:r>
              <a:rPr lang="en-US" altLang="zh-TW" dirty="0"/>
              <a:t>p</a:t>
            </a:r>
            <a:r>
              <a:rPr kumimoji="1" lang="en-US" altLang="zh-TW" dirty="0"/>
              <a:t>acket</a:t>
            </a:r>
            <a:r>
              <a:rPr lang="en-US" altLang="zh-TW" dirty="0"/>
              <a:t>, triggers a network device interrupt. (Interrupt low-priority interrupt, such as timer interrupt)</a:t>
            </a:r>
            <a:endParaRPr kumimoji="1" lang="en-US" altLang="zh-TW" dirty="0"/>
          </a:p>
          <a:p>
            <a:pPr marL="1371600" lvl="2" indent="-457200">
              <a:buFont typeface="+mj-lt"/>
              <a:buAutoNum type="arabicPeriod"/>
            </a:pPr>
            <a:r>
              <a:rPr lang="en-US" altLang="zh-TW" dirty="0"/>
              <a:t>Top Halves acknowledges the interrupt and performs quick actions (e.g., reading the NIC status, marking the buffer as ready).</a:t>
            </a:r>
            <a:endParaRPr kumimoji="1" lang="en-US" altLang="zh-TW" dirty="0"/>
          </a:p>
          <a:p>
            <a:pPr marL="1371600" lvl="2" indent="-457200">
              <a:buFont typeface="+mj-lt"/>
              <a:buAutoNum type="arabicPeriod"/>
            </a:pPr>
            <a:r>
              <a:rPr lang="en-US" altLang="zh-TW" dirty="0"/>
              <a:t>Bottom</a:t>
            </a:r>
            <a:r>
              <a:rPr kumimoji="1" lang="en-US" altLang="zh-TW" dirty="0"/>
              <a:t> Halves move the packet from the buffer in the network card to host memory. </a:t>
            </a:r>
          </a:p>
        </p:txBody>
      </p:sp>
      <p:sp>
        <p:nvSpPr>
          <p:cNvPr id="4" name="投影片編號版面配置區 3">
            <a:extLst>
              <a:ext uri="{FF2B5EF4-FFF2-40B4-BE49-F238E27FC236}">
                <a16:creationId xmlns:a16="http://schemas.microsoft.com/office/drawing/2014/main" id="{009481E5-4339-55E9-65B7-914221CEF4C9}"/>
              </a:ext>
            </a:extLst>
          </p:cNvPr>
          <p:cNvSpPr>
            <a:spLocks noGrp="1"/>
          </p:cNvSpPr>
          <p:nvPr>
            <p:ph type="sldNum" sz="quarter" idx="4"/>
          </p:nvPr>
        </p:nvSpPr>
        <p:spPr/>
        <p:txBody>
          <a:bodyPr/>
          <a:lstStyle/>
          <a:p>
            <a:fld id="{E24E6636-6BA5-4AAC-8485-BE8D914D288B}" type="slidenum">
              <a:rPr lang="zh-TW" altLang="en-US" smtClean="0"/>
              <a:pPr/>
              <a:t>34</a:t>
            </a:fld>
            <a:endParaRPr lang="zh-TW" altLang="en-US" dirty="0"/>
          </a:p>
        </p:txBody>
      </p:sp>
    </p:spTree>
    <p:extLst>
      <p:ext uri="{BB962C8B-B14F-4D97-AF65-F5344CB8AC3E}">
        <p14:creationId xmlns:p14="http://schemas.microsoft.com/office/powerpoint/2010/main" val="2004981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9" presetClass="emph" presetSubtype="0" nodeType="withEffect">
                                  <p:stCondLst>
                                    <p:cond delay="0"/>
                                  </p:stCondLst>
                                  <p:childTnLst>
                                    <p:set>
                                      <p:cBhvr>
                                        <p:cTn id="14" dur="indefinite"/>
                                        <p:tgtEl>
                                          <p:spTgt spid="3">
                                            <p:txEl>
                                              <p:pRg st="0" end="0"/>
                                            </p:txEl>
                                          </p:spTgt>
                                        </p:tgtEl>
                                        <p:attrNameLst>
                                          <p:attrName>style.opacity</p:attrName>
                                        </p:attrNameLst>
                                      </p:cBhvr>
                                      <p:to>
                                        <p:strVal val="0.5"/>
                                      </p:to>
                                    </p:set>
                                    <p:animEffect filter="image" prLst="opacity: 0.5">
                                      <p:cBhvr rctx="IE">
                                        <p:cTn id="15" dur="indefinite"/>
                                        <p:tgtEl>
                                          <p:spTgt spid="3">
                                            <p:txEl>
                                              <p:pRg st="0" end="0"/>
                                            </p:txEl>
                                          </p:spTgt>
                                        </p:tgtEl>
                                      </p:cBhvr>
                                    </p:animEffect>
                                  </p:childTnLst>
                                </p:cTn>
                              </p:par>
                              <p:par>
                                <p:cTn id="16" presetID="9" presetClass="emph" presetSubtype="0" nodeType="withEffect">
                                  <p:stCondLst>
                                    <p:cond delay="0"/>
                                  </p:stCondLst>
                                  <p:childTnLst>
                                    <p:set>
                                      <p:cBhvr>
                                        <p:cTn id="17" dur="indefinite"/>
                                        <p:tgtEl>
                                          <p:spTgt spid="3">
                                            <p:txEl>
                                              <p:pRg st="1" end="1"/>
                                            </p:txEl>
                                          </p:spTgt>
                                        </p:tgtEl>
                                        <p:attrNameLst>
                                          <p:attrName>style.opacity</p:attrName>
                                        </p:attrNameLst>
                                      </p:cBhvr>
                                      <p:to>
                                        <p:strVal val="0.5"/>
                                      </p:to>
                                    </p:set>
                                    <p:animEffect filter="image" prLst="opacity: 0.5">
                                      <p:cBhvr rctx="IE">
                                        <p:cTn id="18" dur="indefinite"/>
                                        <p:tgtEl>
                                          <p:spTgt spid="3">
                                            <p:txEl>
                                              <p:pRg st="1" end="1"/>
                                            </p:txEl>
                                          </p:spTgt>
                                        </p:tgtEl>
                                      </p:cBhvr>
                                    </p:animEffect>
                                  </p:childTnLst>
                                </p:cTn>
                              </p:par>
                              <p:par>
                                <p:cTn id="19" presetID="9" presetClass="emph" presetSubtype="0" nodeType="withEffect">
                                  <p:stCondLst>
                                    <p:cond delay="0"/>
                                  </p:stCondLst>
                                  <p:childTnLst>
                                    <p:set>
                                      <p:cBhvr>
                                        <p:cTn id="20" dur="indefinite"/>
                                        <p:tgtEl>
                                          <p:spTgt spid="3">
                                            <p:txEl>
                                              <p:pRg st="2" end="2"/>
                                            </p:txEl>
                                          </p:spTgt>
                                        </p:tgtEl>
                                        <p:attrNameLst>
                                          <p:attrName>style.opacity</p:attrName>
                                        </p:attrNameLst>
                                      </p:cBhvr>
                                      <p:to>
                                        <p:strVal val="0.5"/>
                                      </p:to>
                                    </p:set>
                                    <p:animEffect filter="image" prLst="opacity: 0.5">
                                      <p:cBhvr rctx="IE">
                                        <p:cTn id="21" dur="indefinite"/>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500"/>
                                        <p:tgtEl>
                                          <p:spTgt spid="3">
                                            <p:txEl>
                                              <p:pRg st="6" end="6"/>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500"/>
                                        <p:tgtEl>
                                          <p:spTgt spid="3">
                                            <p:txEl>
                                              <p:pRg st="7" end="7"/>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184418</TotalTime>
  <Words>20278</Words>
  <Application>Microsoft Office PowerPoint</Application>
  <PresentationFormat>寬螢幕</PresentationFormat>
  <Paragraphs>1305</Paragraphs>
  <Slides>34</Slides>
  <Notes>33</Notes>
  <HiddenSlides>1</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34</vt:i4>
      </vt:variant>
    </vt:vector>
  </HeadingPairs>
  <TitlesOfParts>
    <vt:vector size="44" baseType="lpstr">
      <vt:lpstr>Bradley Hand</vt:lpstr>
      <vt:lpstr>Kaiti TC</vt:lpstr>
      <vt:lpstr>SimSun</vt:lpstr>
      <vt:lpstr>Söhne</vt:lpstr>
      <vt:lpstr>Arial</vt:lpstr>
      <vt:lpstr>Calibri</vt:lpstr>
      <vt:lpstr>Calibri Light</vt:lpstr>
      <vt:lpstr>Palatino Linotype</vt:lpstr>
      <vt:lpstr>Wingdings</vt:lpstr>
      <vt:lpstr>Office Theme</vt:lpstr>
      <vt:lpstr>PowerPoint 簡報</vt:lpstr>
      <vt:lpstr>PowerPoint 簡報</vt:lpstr>
      <vt:lpstr>Task Lists &amp; Process Descriptor</vt:lpstr>
      <vt:lpstr>How Kernel accesses a Process Descriptor</vt:lpstr>
      <vt:lpstr>Process State</vt:lpstr>
      <vt:lpstr>Process State Diagram</vt:lpstr>
      <vt:lpstr>The Process Family Tree</vt:lpstr>
      <vt:lpstr>Process Creation</vt:lpstr>
      <vt:lpstr>Recap: Process Creation</vt:lpstr>
      <vt:lpstr>Process Creation (Count.)</vt:lpstr>
      <vt:lpstr>Process vs Thread</vt:lpstr>
      <vt:lpstr>Process Termination</vt:lpstr>
      <vt:lpstr>PowerPoint 簡報</vt:lpstr>
      <vt:lpstr>Multitasking Systems</vt:lpstr>
      <vt:lpstr>Considerations for Designing Policies</vt:lpstr>
      <vt:lpstr>Considerations for Designing Policies (Count.)</vt:lpstr>
      <vt:lpstr>Linux Process Scheduler</vt:lpstr>
      <vt:lpstr>Linux Process Scheduler</vt:lpstr>
      <vt:lpstr>Linux Process Scheduler (Count.)</vt:lpstr>
      <vt:lpstr>Realtime Scheduling Policies</vt:lpstr>
      <vt:lpstr>Process Context Switch</vt:lpstr>
      <vt:lpstr>Process Context Switch (Count.)</vt:lpstr>
      <vt:lpstr>CPU Mode Switch vs Process Context Switch</vt:lpstr>
      <vt:lpstr>PowerPoint 簡報</vt:lpstr>
      <vt:lpstr>What is System Call</vt:lpstr>
      <vt:lpstr>System Call Handler</vt:lpstr>
      <vt:lpstr>How to Implement a System Call</vt:lpstr>
      <vt:lpstr>How to Run System Call: x86 vs RISC-V</vt:lpstr>
      <vt:lpstr>PowerPoint 簡報</vt:lpstr>
      <vt:lpstr>Handling Hardware Events</vt:lpstr>
      <vt:lpstr>Handling Hardware Events (Count.)</vt:lpstr>
      <vt:lpstr>Interrupt Request (IRQ)</vt:lpstr>
      <vt:lpstr>How an Interrupt Works</vt:lpstr>
      <vt:lpstr>Interrupt Handler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 Ming-Chang</dc:creator>
  <cp:lastModifiedBy>温揚</cp:lastModifiedBy>
  <cp:revision>1375</cp:revision>
  <dcterms:created xsi:type="dcterms:W3CDTF">2017-10-03T14:18:54Z</dcterms:created>
  <dcterms:modified xsi:type="dcterms:W3CDTF">2025-10-29T03:38:58Z</dcterms:modified>
</cp:coreProperties>
</file>