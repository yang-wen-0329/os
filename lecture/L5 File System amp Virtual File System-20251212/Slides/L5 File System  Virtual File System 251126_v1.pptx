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handoutMasterIdLst>
    <p:handoutMasterId r:id="rId28"/>
  </p:handoutMasterIdLst>
  <p:sldIdLst>
    <p:sldId id="1262" r:id="rId2"/>
    <p:sldId id="1112" r:id="rId3"/>
    <p:sldId id="1235" r:id="rId4"/>
    <p:sldId id="1233" r:id="rId5"/>
    <p:sldId id="1312" r:id="rId6"/>
    <p:sldId id="1236" r:id="rId7"/>
    <p:sldId id="1311" r:id="rId8"/>
    <p:sldId id="1291" r:id="rId9"/>
    <p:sldId id="1285" r:id="rId10"/>
    <p:sldId id="1289" r:id="rId11"/>
    <p:sldId id="1287" r:id="rId12"/>
    <p:sldId id="1260" r:id="rId13"/>
    <p:sldId id="1303" r:id="rId14"/>
    <p:sldId id="1304" r:id="rId15"/>
    <p:sldId id="1305" r:id="rId16"/>
    <p:sldId id="1306" r:id="rId17"/>
    <p:sldId id="1307" r:id="rId18"/>
    <p:sldId id="1308" r:id="rId19"/>
    <p:sldId id="1309" r:id="rId20"/>
    <p:sldId id="1314" r:id="rId21"/>
    <p:sldId id="1316" r:id="rId22"/>
    <p:sldId id="1313" r:id="rId23"/>
    <p:sldId id="1320" r:id="rId24"/>
    <p:sldId id="1310" r:id="rId25"/>
    <p:sldId id="1261" r:id="rId26"/>
  </p:sldIdLst>
  <p:sldSz cx="12192000" cy="6858000"/>
  <p:notesSz cx="7099300"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A1A42E-9635-48ED-A31C-3B34D71B1AD6}">
          <p14:sldIdLst>
            <p14:sldId id="1262"/>
            <p14:sldId id="1112"/>
            <p14:sldId id="1235"/>
            <p14:sldId id="1233"/>
            <p14:sldId id="1312"/>
            <p14:sldId id="1236"/>
            <p14:sldId id="1311"/>
            <p14:sldId id="1291"/>
            <p14:sldId id="1285"/>
            <p14:sldId id="1289"/>
            <p14:sldId id="1287"/>
            <p14:sldId id="1260"/>
            <p14:sldId id="1303"/>
            <p14:sldId id="1304"/>
            <p14:sldId id="1305"/>
            <p14:sldId id="1306"/>
            <p14:sldId id="1307"/>
            <p14:sldId id="1308"/>
            <p14:sldId id="1309"/>
            <p14:sldId id="1314"/>
            <p14:sldId id="1316"/>
            <p14:sldId id="1313"/>
            <p14:sldId id="1320"/>
            <p14:sldId id="1310"/>
            <p14:sldId id="1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C400"/>
    <a:srgbClr val="F4EA00"/>
    <a:srgbClr val="800300"/>
    <a:srgbClr val="FBBFC8"/>
    <a:srgbClr val="FF9FA8"/>
    <a:srgbClr val="F6DF98"/>
    <a:srgbClr val="800080"/>
    <a:srgbClr val="F3CF64"/>
    <a:srgbClr val="FFFD99"/>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00" autoAdjust="0"/>
    <p:restoredTop sz="88095" autoAdjust="0"/>
  </p:normalViewPr>
  <p:slideViewPr>
    <p:cSldViewPr snapToGrid="0">
      <p:cViewPr varScale="1">
        <p:scale>
          <a:sx n="112" d="100"/>
          <a:sy n="112" d="100"/>
        </p:scale>
        <p:origin x="1472" y="184"/>
      </p:cViewPr>
      <p:guideLst/>
    </p:cSldViewPr>
  </p:slideViewPr>
  <p:notesTextViewPr>
    <p:cViewPr>
      <p:scale>
        <a:sx n="155" d="100"/>
        <a:sy n="155" d="100"/>
      </p:scale>
      <p:origin x="0" y="0"/>
    </p:cViewPr>
  </p:notesTextViewPr>
  <p:sorterViewPr>
    <p:cViewPr>
      <p:scale>
        <a:sx n="200" d="100"/>
        <a:sy n="200" d="100"/>
      </p:scale>
      <p:origin x="0" y="-235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4021139" y="1"/>
            <a:ext cx="3076575" cy="512763"/>
          </a:xfrm>
          <a:prstGeom prst="rect">
            <a:avLst/>
          </a:prstGeom>
        </p:spPr>
        <p:txBody>
          <a:bodyPr vert="horz" lIns="91440" tIns="45720" rIns="91440" bIns="45720" rtlCol="0"/>
          <a:lstStyle>
            <a:lvl1pPr algn="r">
              <a:defRPr sz="1200"/>
            </a:lvl1pPr>
          </a:lstStyle>
          <a:p>
            <a:fld id="{C70AB553-F76C-4E9E-A6A8-687C6D4F2678}" type="datetimeFigureOut">
              <a:rPr lang="zh-TW" altLang="en-US" smtClean="0"/>
              <a:t>2025/11/26</a:t>
            </a:fld>
            <a:endParaRPr lang="zh-TW" altLang="en-US"/>
          </a:p>
        </p:txBody>
      </p:sp>
      <p:sp>
        <p:nvSpPr>
          <p:cNvPr id="4" name="Footer Placeholder 3"/>
          <p:cNvSpPr>
            <a:spLocks noGrp="1"/>
          </p:cNvSpPr>
          <p:nvPr>
            <p:ph type="ftr" sz="quarter" idx="2"/>
          </p:nvPr>
        </p:nvSpPr>
        <p:spPr>
          <a:xfrm>
            <a:off x="1" y="9721851"/>
            <a:ext cx="3076575" cy="512763"/>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4021139" y="9721851"/>
            <a:ext cx="3076575" cy="512763"/>
          </a:xfrm>
          <a:prstGeom prst="rect">
            <a:avLst/>
          </a:prstGeom>
        </p:spPr>
        <p:txBody>
          <a:bodyPr vert="horz" lIns="91440" tIns="45720" rIns="91440" bIns="45720" rtlCol="0" anchor="b"/>
          <a:lstStyle>
            <a:lvl1pPr algn="r">
              <a:defRPr sz="1200"/>
            </a:lvl1pPr>
          </a:lstStyle>
          <a:p>
            <a:fld id="{56A29E38-24E5-4270-86F6-0CA4D49E0625}" type="slidenum">
              <a:rPr lang="zh-TW" altLang="en-US" smtClean="0"/>
              <a:t>‹#›</a:t>
            </a:fld>
            <a:endParaRPr lang="zh-TW" altLang="en-US"/>
          </a:p>
        </p:txBody>
      </p:sp>
    </p:spTree>
    <p:extLst>
      <p:ext uri="{BB962C8B-B14F-4D97-AF65-F5344CB8AC3E}">
        <p14:creationId xmlns:p14="http://schemas.microsoft.com/office/powerpoint/2010/main" val="12523679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endParaRPr lang="zh-TW" altLang="en-US"/>
          </a:p>
        </p:txBody>
      </p:sp>
      <p:sp>
        <p:nvSpPr>
          <p:cNvPr id="3" name="Date Placeholder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fld id="{C2CF7E20-0940-468E-AEA3-3A81AFC8423F}" type="datetimeFigureOut">
              <a:rPr lang="zh-TW" altLang="en-US" smtClean="0"/>
              <a:t>2025/11/26</a:t>
            </a:fld>
            <a:endParaRPr lang="zh-TW" alt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48" tIns="49524" rIns="99048" bIns="49524" rtlCol="0" anchor="ctr"/>
          <a:lstStyle/>
          <a:p>
            <a:endParaRPr lang="zh-TW" altLang="en-US"/>
          </a:p>
        </p:txBody>
      </p:sp>
      <p:sp>
        <p:nvSpPr>
          <p:cNvPr id="5" name="Notes Placeholder 4"/>
          <p:cNvSpPr>
            <a:spLocks noGrp="1"/>
          </p:cNvSpPr>
          <p:nvPr>
            <p:ph type="body" sz="quarter" idx="3"/>
          </p:nvPr>
        </p:nvSpPr>
        <p:spPr>
          <a:xfrm>
            <a:off x="709930" y="4925408"/>
            <a:ext cx="5679440" cy="4029878"/>
          </a:xfrm>
          <a:prstGeom prst="rect">
            <a:avLst/>
          </a:prstGeom>
        </p:spPr>
        <p:txBody>
          <a:bodyPr vert="horz" lIns="99048" tIns="49524" rIns="99048" bIns="49524" rtlCol="0"/>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1" y="9721108"/>
            <a:ext cx="3076363" cy="513507"/>
          </a:xfrm>
          <a:prstGeom prst="rect">
            <a:avLst/>
          </a:prstGeom>
        </p:spPr>
        <p:txBody>
          <a:bodyPr vert="horz" lIns="99048" tIns="49524" rIns="99048" bIns="49524" rtlCol="0" anchor="b"/>
          <a:lstStyle>
            <a:lvl1pPr algn="l">
              <a:defRPr sz="1300"/>
            </a:lvl1pPr>
          </a:lstStyle>
          <a:p>
            <a:endParaRPr lang="zh-TW" altLang="en-US"/>
          </a:p>
        </p:txBody>
      </p:sp>
      <p:sp>
        <p:nvSpPr>
          <p:cNvPr id="7" name="Slide Number Placeholder 6"/>
          <p:cNvSpPr>
            <a:spLocks noGrp="1"/>
          </p:cNvSpPr>
          <p:nvPr>
            <p:ph type="sldNum" sz="quarter" idx="5"/>
          </p:nvPr>
        </p:nvSpPr>
        <p:spPr>
          <a:xfrm>
            <a:off x="4021295" y="9721108"/>
            <a:ext cx="3076363" cy="513507"/>
          </a:xfrm>
          <a:prstGeom prst="rect">
            <a:avLst/>
          </a:prstGeom>
        </p:spPr>
        <p:txBody>
          <a:bodyPr vert="horz" lIns="99048" tIns="49524" rIns="99048" bIns="49524" rtlCol="0" anchor="b"/>
          <a:lstStyle>
            <a:lvl1pPr algn="r">
              <a:defRPr sz="1300"/>
            </a:lvl1pPr>
          </a:lstStyle>
          <a:p>
            <a:fld id="{7EE20D91-FCA7-443A-BB7B-86FCD89A57B0}" type="slidenum">
              <a:rPr lang="zh-TW" altLang="en-US" smtClean="0"/>
              <a:t>‹#›</a:t>
            </a:fld>
            <a:endParaRPr lang="zh-TW" altLang="en-US"/>
          </a:p>
        </p:txBody>
      </p:sp>
    </p:spTree>
    <p:extLst>
      <p:ext uri="{BB962C8B-B14F-4D97-AF65-F5344CB8AC3E}">
        <p14:creationId xmlns:p14="http://schemas.microsoft.com/office/powerpoint/2010/main" val="413702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1</a:t>
            </a:fld>
            <a:endParaRPr lang="zh-TW" altLang="en-US"/>
          </a:p>
        </p:txBody>
      </p:sp>
    </p:spTree>
    <p:extLst>
      <p:ext uri="{BB962C8B-B14F-4D97-AF65-F5344CB8AC3E}">
        <p14:creationId xmlns:p14="http://schemas.microsoft.com/office/powerpoint/2010/main" val="3503495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lgn="l"/>
            <a:r>
              <a:rPr lang="en-US" altLang="zh-TW" dirty="0"/>
              <a:t>Virtual filesystems: generated in the kernel itself and are a simple way of enabling </a:t>
            </a:r>
            <a:r>
              <a:rPr lang="en-US" altLang="zh-TW" dirty="0" err="1"/>
              <a:t>userspace</a:t>
            </a:r>
            <a:r>
              <a:rPr lang="en-US" altLang="zh-TW" dirty="0"/>
              <a:t> programs to communicate with users.</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a:t>
            </a:fld>
            <a:endParaRPr lang="zh-TW" altLang="en-US"/>
          </a:p>
        </p:txBody>
      </p:sp>
    </p:spTree>
    <p:extLst>
      <p:ext uri="{BB962C8B-B14F-4D97-AF65-F5344CB8AC3E}">
        <p14:creationId xmlns:p14="http://schemas.microsoft.com/office/powerpoint/2010/main" val="1455782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4</a:t>
            </a:fld>
            <a:endParaRPr lang="zh-TW" altLang="en-US"/>
          </a:p>
        </p:txBody>
      </p:sp>
    </p:spTree>
    <p:extLst>
      <p:ext uri="{BB962C8B-B14F-4D97-AF65-F5344CB8AC3E}">
        <p14:creationId xmlns:p14="http://schemas.microsoft.com/office/powerpoint/2010/main" val="1252930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BAD63-F592-0EA6-C0C1-FFC2C4D3B1F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BDDF3B0-041B-218D-7E6C-FB409241656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A866081-5903-2EF4-046C-92B540D39491}"/>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8B52DC08-5A2A-FBEA-9213-31ABEBCD6A53}"/>
              </a:ext>
            </a:extLst>
          </p:cNvPr>
          <p:cNvSpPr>
            <a:spLocks noGrp="1"/>
          </p:cNvSpPr>
          <p:nvPr>
            <p:ph type="sldNum" sz="quarter" idx="5"/>
          </p:nvPr>
        </p:nvSpPr>
        <p:spPr/>
        <p:txBody>
          <a:bodyPr/>
          <a:lstStyle/>
          <a:p>
            <a:fld id="{7EE20D91-FCA7-443A-BB7B-86FCD89A57B0}" type="slidenum">
              <a:rPr lang="zh-TW" altLang="en-US" smtClean="0"/>
              <a:t>5</a:t>
            </a:fld>
            <a:endParaRPr lang="zh-TW" altLang="en-US"/>
          </a:p>
        </p:txBody>
      </p:sp>
    </p:spTree>
    <p:extLst>
      <p:ext uri="{BB962C8B-B14F-4D97-AF65-F5344CB8AC3E}">
        <p14:creationId xmlns:p14="http://schemas.microsoft.com/office/powerpoint/2010/main" val="1241486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Creating a soft link will create a new </a:t>
            </a:r>
            <a:r>
              <a:rPr lang="en-US" altLang="zh-TW" dirty="0" err="1"/>
              <a:t>inode</a:t>
            </a:r>
            <a:r>
              <a:rPr lang="en-US" altLang="zh-TW" dirty="0"/>
              <a:t> and directory entry, but creating a hard link will only create a new directory entry</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6</a:t>
            </a:fld>
            <a:endParaRPr lang="zh-TW" altLang="en-US"/>
          </a:p>
        </p:txBody>
      </p:sp>
    </p:spTree>
    <p:extLst>
      <p:ext uri="{BB962C8B-B14F-4D97-AF65-F5344CB8AC3E}">
        <p14:creationId xmlns:p14="http://schemas.microsoft.com/office/powerpoint/2010/main" val="1747293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https://</a:t>
            </a:r>
            <a:r>
              <a:rPr kumimoji="1" lang="en-US" altLang="zh-TW" dirty="0" err="1"/>
              <a:t>connorbrereton.medium.com</a:t>
            </a:r>
            <a:r>
              <a:rPr kumimoji="1" lang="en-US" altLang="zh-TW" dirty="0"/>
              <a:t>/whats-an-inode-and-what-s-inside-of-one-linux-first-principles-63d0c8621ec0</a:t>
            </a:r>
            <a:br>
              <a:rPr kumimoji="1" lang="en-US" altLang="zh-TW" dirty="0"/>
            </a:br>
            <a:br>
              <a:rPr kumimoji="1" lang="en-US" altLang="zh-TW" dirty="0"/>
            </a:br>
            <a:r>
              <a:rPr lang="en-US" altLang="zh-TW" b="0" i="0" dirty="0">
                <a:solidFill>
                  <a:srgbClr val="3B4045"/>
                </a:solidFill>
                <a:effectLst/>
                <a:latin typeface="-apple-system"/>
              </a:rPr>
              <a:t>A </a:t>
            </a:r>
            <a:r>
              <a:rPr lang="en-US" altLang="zh-TW" b="0" i="1" dirty="0">
                <a:solidFill>
                  <a:srgbClr val="3B4045"/>
                </a:solidFill>
                <a:effectLst/>
                <a:latin typeface="-apple-system"/>
              </a:rPr>
              <a:t>directory</a:t>
            </a:r>
            <a:r>
              <a:rPr lang="en-US" altLang="zh-TW" b="0" i="0" dirty="0">
                <a:solidFill>
                  <a:srgbClr val="3B4045"/>
                </a:solidFill>
                <a:effectLst/>
                <a:latin typeface="-apple-system"/>
              </a:rPr>
              <a:t> is a file that contains directory entries. </a:t>
            </a:r>
            <a:r>
              <a:rPr lang="en-US" altLang="zh-TW" dirty="0"/>
              <a:t>Special types of files serve as containers for storing files and other </a:t>
            </a:r>
            <a:r>
              <a:rPr lang="en-US" altLang="zh-TW" dirty="0" err="1"/>
              <a:t>directorie</a:t>
            </a:r>
            <a:br>
              <a:rPr lang="en-US" altLang="zh-TW" b="0" i="0" dirty="0">
                <a:solidFill>
                  <a:srgbClr val="3B4045"/>
                </a:solidFill>
                <a:effectLst/>
                <a:latin typeface="-apple-system"/>
              </a:rPr>
            </a:br>
            <a:br>
              <a:rPr kumimoji="1" lang="en-US" altLang="zh-TW" dirty="0"/>
            </a:br>
            <a:r>
              <a:rPr kumimoji="1" lang="en-US" altLang="zh-TW" dirty="0"/>
              <a:t>Data block vs Directory Block</a:t>
            </a:r>
            <a:br>
              <a:rPr kumimoji="1" lang="en-US" altLang="zh-TW" dirty="0"/>
            </a:br>
            <a:r>
              <a:rPr kumimoji="1" lang="en-US" altLang="zh-TW" dirty="0"/>
              <a:t>Directory Entries: </a:t>
            </a:r>
            <a:r>
              <a:rPr lang="en-US" altLang="zh-TW" b="0" i="0" dirty="0">
                <a:solidFill>
                  <a:srgbClr val="0D0D0D"/>
                </a:solidFill>
                <a:effectLst/>
                <a:latin typeface="Söhne"/>
              </a:rPr>
              <a:t>Each directory entry corresponds to a file or subdirectory within the directory. It contains metadata about the file or subdirectory, such as the filename, </a:t>
            </a:r>
            <a:r>
              <a:rPr lang="en-US" altLang="zh-TW" b="0" i="0" dirty="0" err="1">
                <a:solidFill>
                  <a:srgbClr val="0D0D0D"/>
                </a:solidFill>
                <a:effectLst/>
                <a:latin typeface="Söhne"/>
              </a:rPr>
              <a:t>inode</a:t>
            </a:r>
            <a:r>
              <a:rPr lang="en-US" altLang="zh-TW" b="0" i="0" dirty="0">
                <a:solidFill>
                  <a:srgbClr val="0D0D0D"/>
                </a:solidFill>
                <a:effectLst/>
                <a:latin typeface="Söhne"/>
              </a:rPr>
              <a:t> number, file type, and possibly additional information depending on the file system.</a:t>
            </a:r>
            <a:br>
              <a:rPr kumimoji="1" lang="en-US" altLang="zh-TW" dirty="0"/>
            </a:br>
            <a:r>
              <a:rPr kumimoji="1" lang="en-US" altLang="zh-TW" dirty="0" err="1"/>
              <a:t>Inode</a:t>
            </a:r>
            <a:r>
              <a:rPr kumimoji="1" lang="en-US" altLang="zh-TW" dirty="0"/>
              <a:t> Number: </a:t>
            </a:r>
            <a:r>
              <a:rPr lang="en-US" altLang="zh-TW" b="0" i="0" dirty="0">
                <a:solidFill>
                  <a:srgbClr val="0D0D0D"/>
                </a:solidFill>
                <a:effectLst/>
                <a:latin typeface="Söhne"/>
              </a:rPr>
              <a:t>the </a:t>
            </a:r>
            <a:r>
              <a:rPr lang="en-US" altLang="zh-TW" b="0" i="0" dirty="0" err="1">
                <a:solidFill>
                  <a:srgbClr val="0D0D0D"/>
                </a:solidFill>
                <a:effectLst/>
                <a:latin typeface="Söhne"/>
              </a:rPr>
              <a:t>inode</a:t>
            </a:r>
            <a:r>
              <a:rPr lang="en-US" altLang="zh-TW" b="0" i="0" dirty="0">
                <a:solidFill>
                  <a:srgbClr val="0D0D0D"/>
                </a:solidFill>
                <a:effectLst/>
                <a:latin typeface="Söhne"/>
              </a:rPr>
              <a:t> number of the corresponding file or subdirectory. The </a:t>
            </a:r>
            <a:r>
              <a:rPr lang="en-US" altLang="zh-TW" b="0" i="0" dirty="0" err="1">
                <a:solidFill>
                  <a:srgbClr val="0D0D0D"/>
                </a:solidFill>
                <a:effectLst/>
                <a:latin typeface="Söhne"/>
              </a:rPr>
              <a:t>inode</a:t>
            </a:r>
            <a:r>
              <a:rPr lang="en-US" altLang="zh-TW" b="0" i="0" dirty="0">
                <a:solidFill>
                  <a:srgbClr val="0D0D0D"/>
                </a:solidFill>
                <a:effectLst/>
                <a:latin typeface="Söhne"/>
              </a:rPr>
              <a:t> contains detailed information about the file, such as its permissions, ownership, size, and pointers to the data blocks that store the file's contents.</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7</a:t>
            </a:fld>
            <a:endParaRPr lang="zh-TW" altLang="en-US"/>
          </a:p>
        </p:txBody>
      </p:sp>
    </p:spTree>
    <p:extLst>
      <p:ext uri="{BB962C8B-B14F-4D97-AF65-F5344CB8AC3E}">
        <p14:creationId xmlns:p14="http://schemas.microsoft.com/office/powerpoint/2010/main" val="3604659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8</a:t>
            </a:fld>
            <a:endParaRPr lang="zh-TW" altLang="en-US"/>
          </a:p>
        </p:txBody>
      </p:sp>
    </p:spTree>
    <p:extLst>
      <p:ext uri="{BB962C8B-B14F-4D97-AF65-F5344CB8AC3E}">
        <p14:creationId xmlns:p14="http://schemas.microsoft.com/office/powerpoint/2010/main" val="1742459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New writes to data block would also update </a:t>
            </a:r>
            <a:r>
              <a:rPr kumimoji="1" lang="en-US" altLang="zh-TW" dirty="0" err="1"/>
              <a:t>inode</a:t>
            </a:r>
            <a:r>
              <a:rPr kumimoji="1" lang="en-US" altLang="zh-TW" dirty="0"/>
              <a:t>. Thus, the position of </a:t>
            </a:r>
            <a:r>
              <a:rPr kumimoji="1" lang="en-US" altLang="zh-TW" dirty="0" err="1"/>
              <a:t>inode</a:t>
            </a:r>
            <a:r>
              <a:rPr kumimoji="1" lang="en-US" altLang="zh-TW" dirty="0"/>
              <a:t> changes</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9</a:t>
            </a:fld>
            <a:endParaRPr lang="zh-TW" altLang="en-US"/>
          </a:p>
        </p:txBody>
      </p:sp>
    </p:spTree>
    <p:extLst>
      <p:ext uri="{BB962C8B-B14F-4D97-AF65-F5344CB8AC3E}">
        <p14:creationId xmlns:p14="http://schemas.microsoft.com/office/powerpoint/2010/main" val="2642358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10</a:t>
            </a:fld>
            <a:endParaRPr lang="zh-TW" altLang="en-US"/>
          </a:p>
        </p:txBody>
      </p:sp>
    </p:spTree>
    <p:extLst>
      <p:ext uri="{BB962C8B-B14F-4D97-AF65-F5344CB8AC3E}">
        <p14:creationId xmlns:p14="http://schemas.microsoft.com/office/powerpoint/2010/main" val="2684142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11</a:t>
            </a:fld>
            <a:endParaRPr lang="zh-TW" altLang="en-US"/>
          </a:p>
        </p:txBody>
      </p:sp>
    </p:spTree>
    <p:extLst>
      <p:ext uri="{BB962C8B-B14F-4D97-AF65-F5344CB8AC3E}">
        <p14:creationId xmlns:p14="http://schemas.microsoft.com/office/powerpoint/2010/main" val="1070240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16</a:t>
            </a:fld>
            <a:endParaRPr lang="zh-TW" altLang="en-US"/>
          </a:p>
        </p:txBody>
      </p:sp>
    </p:spTree>
    <p:extLst>
      <p:ext uri="{BB962C8B-B14F-4D97-AF65-F5344CB8AC3E}">
        <p14:creationId xmlns:p14="http://schemas.microsoft.com/office/powerpoint/2010/main" val="1205810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17</a:t>
            </a:fld>
            <a:endParaRPr lang="zh-TW" altLang="en-US"/>
          </a:p>
        </p:txBody>
      </p:sp>
    </p:spTree>
    <p:extLst>
      <p:ext uri="{BB962C8B-B14F-4D97-AF65-F5344CB8AC3E}">
        <p14:creationId xmlns:p14="http://schemas.microsoft.com/office/powerpoint/2010/main" val="1153690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374151"/>
                </a:solidFill>
                <a:effectLst/>
                <a:latin typeface="Söhne"/>
              </a:rPr>
              <a:t>When the Linux kernel needs to access or manipulate directory information, such as performing file operations like opening, reading, writing, or navigating directories, it reads and interprets the directory entries stored on the storage device. These directory entries are read into memory and used to construct </a:t>
            </a:r>
            <a:r>
              <a:rPr lang="en-US" altLang="zh-TW" dirty="0"/>
              <a:t>struct </a:t>
            </a:r>
            <a:r>
              <a:rPr lang="en-US" altLang="zh-TW" dirty="0" err="1"/>
              <a:t>dentry</a:t>
            </a:r>
            <a:r>
              <a:rPr lang="en-US" altLang="zh-TW" b="0" i="0" dirty="0">
                <a:solidFill>
                  <a:srgbClr val="374151"/>
                </a:solidFill>
                <a:effectLst/>
                <a:latin typeface="Söhne"/>
              </a:rPr>
              <a:t> objects within the kernel's memory.</a:t>
            </a:r>
          </a:p>
          <a:p>
            <a:endParaRPr kumimoji="1" lang="en-US" altLang="zh-TW" b="0" i="0" dirty="0">
              <a:solidFill>
                <a:srgbClr val="374151"/>
              </a:solidFill>
              <a:effectLst/>
              <a:latin typeface="Söhne"/>
            </a:endParaRPr>
          </a:p>
          <a:p>
            <a:r>
              <a:rPr lang="en-US" altLang="zh-TW" b="0" i="0" dirty="0">
                <a:solidFill>
                  <a:srgbClr val="374151"/>
                </a:solidFill>
                <a:effectLst/>
                <a:latin typeface="Söhne"/>
              </a:rPr>
              <a:t>In most file systems, directory entries are stored within the data blocks allocated for directories. File systems organize data blocks to contain information about directories and their contents, including the directory entries. Each directory within the file system has its own data blocks allocated to store its contents, which include the directory entries.</a:t>
            </a:r>
          </a:p>
          <a:p>
            <a:endParaRPr kumimoji="1" lang="en-US" altLang="zh-TW" b="0" i="0" dirty="0">
              <a:solidFill>
                <a:srgbClr val="374151"/>
              </a:solidFill>
              <a:effectLst/>
              <a:latin typeface="Söhne"/>
            </a:endParaRPr>
          </a:p>
          <a:p>
            <a:pPr algn="l">
              <a:buFont typeface="Arial" panose="020B0604020202020204" pitchFamily="34" charset="0"/>
              <a:buChar char="•"/>
            </a:pPr>
            <a:r>
              <a:rPr lang="en-US" altLang="zh-TW" b="0" i="0" dirty="0">
                <a:solidFill>
                  <a:srgbClr val="374151"/>
                </a:solidFill>
                <a:effectLst/>
                <a:latin typeface="Söhne"/>
              </a:rPr>
              <a:t>Directory entries on storage are part of the file system's metadata, stored as data blocks, and typically optimized for direct storage access and retrieval by the file system.</a:t>
            </a:r>
          </a:p>
          <a:p>
            <a:pPr algn="l">
              <a:buFont typeface="Arial" panose="020B0604020202020204" pitchFamily="34" charset="0"/>
              <a:buChar char="•"/>
            </a:pPr>
            <a:r>
              <a:rPr lang="en-US" altLang="zh-TW" b="0" i="0" dirty="0">
                <a:solidFill>
                  <a:srgbClr val="374151"/>
                </a:solidFill>
                <a:effectLst/>
                <a:latin typeface="Söhne"/>
              </a:rPr>
              <a:t>struct </a:t>
            </a:r>
            <a:r>
              <a:rPr lang="en-US" altLang="zh-TW" b="0" i="0" dirty="0" err="1">
                <a:solidFill>
                  <a:srgbClr val="374151"/>
                </a:solidFill>
                <a:effectLst/>
                <a:latin typeface="Söhne"/>
              </a:rPr>
              <a:t>dentry</a:t>
            </a:r>
            <a:r>
              <a:rPr lang="en-US" altLang="zh-TW" b="0" i="0" dirty="0">
                <a:solidFill>
                  <a:srgbClr val="374151"/>
                </a:solidFill>
                <a:effectLst/>
                <a:latin typeface="Söhne"/>
              </a:rPr>
              <a:t> objects are in-memory representations used by the kernel for efficient manipulation and traversal of directory information during the system's runtime.</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18</a:t>
            </a:fld>
            <a:endParaRPr lang="zh-TW" altLang="en-US"/>
          </a:p>
        </p:txBody>
      </p:sp>
    </p:spTree>
    <p:extLst>
      <p:ext uri="{BB962C8B-B14F-4D97-AF65-F5344CB8AC3E}">
        <p14:creationId xmlns:p14="http://schemas.microsoft.com/office/powerpoint/2010/main" val="3467079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19</a:t>
            </a:fld>
            <a:endParaRPr lang="zh-TW" altLang="en-US"/>
          </a:p>
        </p:txBody>
      </p:sp>
    </p:spTree>
    <p:extLst>
      <p:ext uri="{BB962C8B-B14F-4D97-AF65-F5344CB8AC3E}">
        <p14:creationId xmlns:p14="http://schemas.microsoft.com/office/powerpoint/2010/main" val="509773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20</a:t>
            </a:fld>
            <a:endParaRPr lang="zh-TW" altLang="en-US"/>
          </a:p>
        </p:txBody>
      </p:sp>
    </p:spTree>
    <p:extLst>
      <p:ext uri="{BB962C8B-B14F-4D97-AF65-F5344CB8AC3E}">
        <p14:creationId xmlns:p14="http://schemas.microsoft.com/office/powerpoint/2010/main" val="42245029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8BCF6-A42A-2913-6E18-DC81F647275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705B47A-C368-C4B0-58D0-DCBF82125EC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C746C18-8892-3F9F-611A-715F7BBEEADE}"/>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1EF6E6E4-E1FF-7D48-988B-64F1DADE7186}"/>
              </a:ext>
            </a:extLst>
          </p:cNvPr>
          <p:cNvSpPr>
            <a:spLocks noGrp="1"/>
          </p:cNvSpPr>
          <p:nvPr>
            <p:ph type="sldNum" sz="quarter" idx="5"/>
          </p:nvPr>
        </p:nvSpPr>
        <p:spPr/>
        <p:txBody>
          <a:bodyPr/>
          <a:lstStyle/>
          <a:p>
            <a:fld id="{7EE20D91-FCA7-443A-BB7B-86FCD89A57B0}" type="slidenum">
              <a:rPr lang="zh-TW" altLang="en-US" smtClean="0"/>
              <a:t>21</a:t>
            </a:fld>
            <a:endParaRPr lang="zh-TW" altLang="en-US"/>
          </a:p>
        </p:txBody>
      </p:sp>
    </p:spTree>
    <p:extLst>
      <p:ext uri="{BB962C8B-B14F-4D97-AF65-F5344CB8AC3E}">
        <p14:creationId xmlns:p14="http://schemas.microsoft.com/office/powerpoint/2010/main" val="688675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7D67D-C65B-A8CF-A597-74735E5F7EB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6ACE061-071F-FF3A-FB5D-04ABC06FAFD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79CA34F-B4EF-5DA2-4650-DC8690434B3F}"/>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632238D1-7A9D-3EBA-7953-8D34E25D327F}"/>
              </a:ext>
            </a:extLst>
          </p:cNvPr>
          <p:cNvSpPr>
            <a:spLocks noGrp="1"/>
          </p:cNvSpPr>
          <p:nvPr>
            <p:ph type="sldNum" sz="quarter" idx="5"/>
          </p:nvPr>
        </p:nvSpPr>
        <p:spPr/>
        <p:txBody>
          <a:bodyPr/>
          <a:lstStyle/>
          <a:p>
            <a:fld id="{7EE20D91-FCA7-443A-BB7B-86FCD89A57B0}" type="slidenum">
              <a:rPr lang="zh-TW" altLang="en-US" smtClean="0"/>
              <a:t>23</a:t>
            </a:fld>
            <a:endParaRPr lang="zh-TW" altLang="en-US"/>
          </a:p>
        </p:txBody>
      </p:sp>
    </p:spTree>
    <p:extLst>
      <p:ext uri="{BB962C8B-B14F-4D97-AF65-F5344CB8AC3E}">
        <p14:creationId xmlns:p14="http://schemas.microsoft.com/office/powerpoint/2010/main" val="42902806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24</a:t>
            </a:fld>
            <a:endParaRPr lang="zh-TW" altLang="en-US"/>
          </a:p>
        </p:txBody>
      </p:sp>
    </p:spTree>
    <p:extLst>
      <p:ext uri="{BB962C8B-B14F-4D97-AF65-F5344CB8AC3E}">
        <p14:creationId xmlns:p14="http://schemas.microsoft.com/office/powerpoint/2010/main" val="38931591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圖片 3" descr="一張含有 符號, 標誌, 圖形, 圓形 的圖片&#10;&#10;自動產生的描述">
            <a:extLst>
              <a:ext uri="{FF2B5EF4-FFF2-40B4-BE49-F238E27FC236}">
                <a16:creationId xmlns:a16="http://schemas.microsoft.com/office/drawing/2014/main" id="{FF5A0F77-CAAD-6FBB-97AF-73EF6DAF23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3171" y="-365815"/>
            <a:ext cx="2767772" cy="2767772"/>
          </a:xfrm>
          <a:prstGeom prst="rect">
            <a:avLst/>
          </a:prstGeom>
        </p:spPr>
      </p:pic>
    </p:spTree>
    <p:extLst>
      <p:ext uri="{BB962C8B-B14F-4D97-AF65-F5344CB8AC3E}">
        <p14:creationId xmlns:p14="http://schemas.microsoft.com/office/powerpoint/2010/main" val="96630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7800" y="174625"/>
            <a:ext cx="11836400" cy="1063625"/>
          </a:xfrm>
        </p:spPr>
        <p:txBody>
          <a:bodyPr>
            <a:normAutofit/>
          </a:bodyPr>
          <a:lstStyle>
            <a:lvl1pPr algn="ctr" rtl="0" fontAlgn="base">
              <a:spcBef>
                <a:spcPct val="0"/>
              </a:spcBef>
              <a:spcAft>
                <a:spcPct val="0"/>
              </a:spcAft>
              <a:defRPr kumimoji="1" lang="zh-TW" altLang="en-US" sz="4400" b="1" kern="1200" dirty="0">
                <a:solidFill>
                  <a:schemeClr val="tx1"/>
                </a:solidFill>
                <a:latin typeface="Calibri" panose="020F0502020204030204" pitchFamily="34" charset="0"/>
                <a:ea typeface="+mj-ea"/>
                <a:cs typeface="Calibri" panose="020F0502020204030204" pitchFamily="34" charset="0"/>
              </a:defRPr>
            </a:lvl1pPr>
          </a:lstStyle>
          <a:p>
            <a:r>
              <a:rPr lang="en-US" altLang="zh-TW" dirty="0"/>
              <a:t>Click to edit Master title style</a:t>
            </a:r>
            <a:endParaRPr lang="zh-TW" altLang="en-US" dirty="0"/>
          </a:p>
        </p:txBody>
      </p:sp>
      <p:sp>
        <p:nvSpPr>
          <p:cNvPr id="3" name="Content Placeholder 2"/>
          <p:cNvSpPr>
            <a:spLocks noGrp="1"/>
          </p:cNvSpPr>
          <p:nvPr>
            <p:ph idx="1"/>
          </p:nvPr>
        </p:nvSpPr>
        <p:spPr>
          <a:xfrm>
            <a:off x="177800" y="1238250"/>
            <a:ext cx="11836400" cy="5441950"/>
          </a:xfrm>
        </p:spPr>
        <p:txBody>
          <a:bodyPr/>
          <a:lstStyle>
            <a:lvl1pPr algn="just">
              <a:spcBef>
                <a:spcPts val="0"/>
              </a:spcBef>
              <a:defRPr sz="2800">
                <a:latin typeface="Calibri" panose="020F0502020204030204" pitchFamily="34" charset="0"/>
                <a:cs typeface="Calibri" panose="020F0502020204030204" pitchFamily="34" charset="0"/>
              </a:defRPr>
            </a:lvl1pPr>
            <a:lvl2pPr marL="742950" indent="-285750" algn="just">
              <a:spcBef>
                <a:spcPts val="0"/>
              </a:spcBef>
              <a:buFont typeface="Arial" panose="020B0604020202020204" pitchFamily="34" charset="0"/>
              <a:buChar char="•"/>
              <a:defRPr sz="2400">
                <a:latin typeface="Calibri" panose="020F0502020204030204" pitchFamily="34" charset="0"/>
                <a:cs typeface="Calibri" panose="020F0502020204030204" pitchFamily="34" charset="0"/>
              </a:defRPr>
            </a:lvl2pPr>
            <a:lvl3pPr algn="just">
              <a:spcBef>
                <a:spcPts val="0"/>
              </a:spcBef>
              <a:defRPr sz="2000">
                <a:latin typeface="Calibri" panose="020F0502020204030204" pitchFamily="34" charset="0"/>
                <a:cs typeface="Calibri" panose="020F0502020204030204" pitchFamily="34" charset="0"/>
              </a:defRPr>
            </a:lvl3pPr>
            <a:lvl4pPr algn="just">
              <a:spcBef>
                <a:spcPts val="0"/>
              </a:spcBef>
              <a:defRPr sz="2400">
                <a:latin typeface="Calibri" panose="020F0502020204030204" pitchFamily="34" charset="0"/>
                <a:cs typeface="Calibri" panose="020F0502020204030204" pitchFamily="34" charset="0"/>
              </a:defRPr>
            </a:lvl4pPr>
            <a:lvl5pPr algn="just">
              <a:spcBef>
                <a:spcPts val="0"/>
              </a:spcBef>
              <a:defRPr sz="2400">
                <a:latin typeface="Calibri" panose="020F0502020204030204" pitchFamily="34" charset="0"/>
                <a:cs typeface="Calibri" panose="020F0502020204030204" pitchFamily="34" charset="0"/>
              </a:defRPr>
            </a:lvl5pPr>
          </a:lstStyle>
          <a:p>
            <a:pPr lvl="0"/>
            <a:r>
              <a:rPr lang="en-US" altLang="zh-TW" dirty="0"/>
              <a:t>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12" name="Slide Number Placeholder 8"/>
          <p:cNvSpPr>
            <a:spLocks noGrp="1"/>
          </p:cNvSpPr>
          <p:nvPr>
            <p:ph type="sldNum" sz="quarter" idx="4"/>
          </p:nvPr>
        </p:nvSpPr>
        <p:spPr>
          <a:xfrm>
            <a:off x="11668124" y="11113"/>
            <a:ext cx="523875" cy="484187"/>
          </a:xfrm>
          <a:prstGeom prst="rect">
            <a:avLst/>
          </a:prstGeom>
        </p:spPr>
        <p:txBody>
          <a:bodyPr vert="horz" lIns="91440" tIns="45720" rIns="91440" bIns="45720" rtlCol="0" anchor="ctr"/>
          <a:lstStyle>
            <a:lvl1pPr algn="ctr">
              <a:defRPr sz="1600" b="0">
                <a:solidFill>
                  <a:schemeClr val="tx1"/>
                </a:solidFill>
                <a:latin typeface="+mn-lt"/>
                <a:cs typeface="Arial" panose="020B0604020202020204" pitchFamily="34" charset="0"/>
              </a:defRPr>
            </a:lvl1pPr>
          </a:lstStyle>
          <a:p>
            <a:fld id="{E24E6636-6BA5-4AAC-8485-BE8D914D288B}" type="slidenum">
              <a:rPr lang="zh-TW" altLang="en-US" smtClean="0"/>
              <a:pPr/>
              <a:t>‹#›</a:t>
            </a:fld>
            <a:endParaRPr lang="zh-TW" altLang="en-US" dirty="0"/>
          </a:p>
        </p:txBody>
      </p:sp>
      <p:sp>
        <p:nvSpPr>
          <p:cNvPr id="4" name="文字方塊 3">
            <a:extLst>
              <a:ext uri="{FF2B5EF4-FFF2-40B4-BE49-F238E27FC236}">
                <a16:creationId xmlns:a16="http://schemas.microsoft.com/office/drawing/2014/main" id="{F2B048F7-DAB4-F1CA-94CE-9FBF17A495C6}"/>
              </a:ext>
            </a:extLst>
          </p:cNvPr>
          <p:cNvSpPr txBox="1"/>
          <p:nvPr userDrawn="1"/>
        </p:nvSpPr>
        <p:spPr>
          <a:xfrm>
            <a:off x="0" y="-37131"/>
            <a:ext cx="4750018" cy="276999"/>
          </a:xfrm>
          <a:prstGeom prst="rect">
            <a:avLst/>
          </a:prstGeom>
          <a:noFill/>
        </p:spPr>
        <p:txBody>
          <a:bodyPr wrap="none" rtlCol="0">
            <a:spAutoFit/>
          </a:bodyPr>
          <a:lstStyle/>
          <a:p>
            <a:r>
              <a:rPr kumimoji="1" lang="en-US" altLang="zh-TW" sz="1200" b="1" i="0" dirty="0">
                <a:solidFill>
                  <a:schemeClr val="bg1">
                    <a:lumMod val="85000"/>
                  </a:schemeClr>
                </a:solidFill>
                <a:latin typeface="Bradley Hand" pitchFamily="2" charset="0"/>
                <a:ea typeface="Brush Script MT" panose="03060802040406070304" pitchFamily="66" charset="-122"/>
                <a:cs typeface="Brush Script MT" panose="03060802040406070304" pitchFamily="66" charset="-122"/>
              </a:rPr>
              <a:t>National Yang Ming Chiao Tung University, Prof. Chun-Feng Wu</a:t>
            </a:r>
            <a:endParaRPr kumimoji="1" lang="zh-TW" altLang="en-US" sz="1200" b="1" i="0" dirty="0">
              <a:solidFill>
                <a:schemeClr val="bg1">
                  <a:lumMod val="85000"/>
                </a:schemeClr>
              </a:solidFill>
              <a:latin typeface="Bradley Hand" pitchFamily="2" charset="0"/>
              <a:ea typeface="STXingkai" panose="02010800040101010101" pitchFamily="2" charset="-122"/>
              <a:cs typeface="Brush Script MT" panose="03060802040406070304" pitchFamily="66" charset="-122"/>
            </a:endParaRPr>
          </a:p>
        </p:txBody>
      </p:sp>
    </p:spTree>
    <p:extLst>
      <p:ext uri="{BB962C8B-B14F-4D97-AF65-F5344CB8AC3E}">
        <p14:creationId xmlns:p14="http://schemas.microsoft.com/office/powerpoint/2010/main" val="108185610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Edit Master text styles</a:t>
            </a:r>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B2307BF4-857F-4354-B3C4-3040B9A2E51B}" type="datetime1">
              <a:rPr lang="zh-TW" altLang="en-US" smtClean="0"/>
              <a:t>2025/11/26</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4460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10EEA130-8DE6-4C11-A9CB-C786C33DE380}" type="datetime1">
              <a:rPr lang="zh-TW" altLang="en-US" smtClean="0"/>
              <a:t>2025/11/26</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933340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p:cNvSpPr>
            <a:spLocks noGrp="1"/>
          </p:cNvSpPr>
          <p:nvPr>
            <p:ph type="dt" sz="half" idx="10"/>
          </p:nvPr>
        </p:nvSpPr>
        <p:spPr>
          <a:xfrm>
            <a:off x="348342" y="6356350"/>
            <a:ext cx="1800000" cy="365125"/>
          </a:xfrm>
          <a:prstGeom prst="rect">
            <a:avLst/>
          </a:prstGeom>
        </p:spPr>
        <p:txBody>
          <a:bodyPr/>
          <a:lstStyle/>
          <a:p>
            <a:fld id="{9D1323E2-54AF-4A4F-968B-FCF5A3DE404F}" type="datetime1">
              <a:rPr lang="zh-TW" altLang="en-US" smtClean="0"/>
              <a:t>2025/11/26</a:t>
            </a:fld>
            <a:endParaRPr lang="zh-TW" altLang="en-US"/>
          </a:p>
        </p:txBody>
      </p:sp>
      <p:sp>
        <p:nvSpPr>
          <p:cNvPr id="8" name="Footer Placeholder 7"/>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9" name="Slide Number Placeholder 8"/>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407401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Date Placeholder 2"/>
          <p:cNvSpPr>
            <a:spLocks noGrp="1"/>
          </p:cNvSpPr>
          <p:nvPr>
            <p:ph type="dt" sz="half" idx="10"/>
          </p:nvPr>
        </p:nvSpPr>
        <p:spPr>
          <a:xfrm>
            <a:off x="348342" y="6356350"/>
            <a:ext cx="1800000" cy="365125"/>
          </a:xfrm>
          <a:prstGeom prst="rect">
            <a:avLst/>
          </a:prstGeom>
        </p:spPr>
        <p:txBody>
          <a:bodyPr/>
          <a:lstStyle/>
          <a:p>
            <a:fld id="{51747F57-0BE0-4E55-AF02-7E0C58AC5A0B}" type="datetime1">
              <a:rPr lang="zh-TW" altLang="en-US" smtClean="0"/>
              <a:t>2025/11/26</a:t>
            </a:fld>
            <a:endParaRPr lang="zh-TW" altLang="en-US"/>
          </a:p>
        </p:txBody>
      </p:sp>
      <p:sp>
        <p:nvSpPr>
          <p:cNvPr id="4" name="Footer Placeholder 3"/>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5" name="Slide Number Placeholder 4"/>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29600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48342" y="6356350"/>
            <a:ext cx="1800000" cy="365125"/>
          </a:xfrm>
          <a:prstGeom prst="rect">
            <a:avLst/>
          </a:prstGeom>
        </p:spPr>
        <p:txBody>
          <a:bodyPr/>
          <a:lstStyle/>
          <a:p>
            <a:fld id="{3BBAC840-47DB-4C07-9D45-73E1CD955F46}" type="datetime1">
              <a:rPr lang="zh-TW" altLang="en-US" smtClean="0"/>
              <a:t>2025/11/26</a:t>
            </a:fld>
            <a:endParaRPr lang="zh-TW" altLang="en-US"/>
          </a:p>
        </p:txBody>
      </p:sp>
      <p:sp>
        <p:nvSpPr>
          <p:cNvPr id="3" name="Footer Placeholder 2"/>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4" name="Slide Number Placeholder 3"/>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75086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B8C0969B-135B-4FC6-B762-AA1CE3881354}" type="datetime1">
              <a:rPr lang="zh-TW" altLang="en-US" smtClean="0"/>
              <a:t>2025/11/26</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94921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24AF6340-6F1C-4989-B134-2CA68BC9EAFF}" type="datetime1">
              <a:rPr lang="zh-TW" altLang="en-US" smtClean="0"/>
              <a:t>2025/11/26</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6508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60D8C7A9-0C67-4424-9979-8CFF97287F2E}" type="datetime1">
              <a:rPr lang="zh-TW" altLang="en-US" smtClean="0"/>
              <a:t>2025/11/26</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20670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AD10B1A8-9302-408C-B76D-C3FA78E2A799}" type="datetime1">
              <a:rPr lang="zh-TW" altLang="en-US" smtClean="0"/>
              <a:t>2025/11/26</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634339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8343" y="365125"/>
            <a:ext cx="11495314" cy="1325563"/>
          </a:xfrm>
          <a:prstGeom prst="rect">
            <a:avLst/>
          </a:prstGeom>
        </p:spPr>
        <p:txBody>
          <a:bodyPr vert="horz" lIns="91440" tIns="45720" rIns="91440" bIns="45720" rtlCol="0" anchor="ctr">
            <a:normAutofit/>
          </a:bodyPr>
          <a:lstStyle/>
          <a:p>
            <a:pPr lvl="0" algn="ctr" rtl="0" fontAlgn="base">
              <a:spcBef>
                <a:spcPct val="0"/>
              </a:spcBef>
              <a:spcAft>
                <a:spcPct val="0"/>
              </a:spcAft>
            </a:pPr>
            <a:r>
              <a:rPr kumimoji="1" lang="en-US" altLang="zh-TW" sz="4400" b="0" i="0" u="none" strike="noStrike" kern="1200" cap="none" spc="0" normalizeH="0" baseline="0" noProof="0" dirty="0">
                <a:ln>
                  <a:noFill/>
                </a:ln>
                <a:solidFill>
                  <a:srgbClr val="750F6D"/>
                </a:solidFill>
                <a:effectLst/>
                <a:uLnTx/>
                <a:uFillTx/>
                <a:latin typeface="Arial"/>
                <a:ea typeface="新細明體"/>
                <a:cs typeface="+mj-cs"/>
              </a:rPr>
              <a:t>Click to edit Master title style</a:t>
            </a:r>
            <a:endParaRPr lang="zh-TW" altLang="en-US" dirty="0"/>
          </a:p>
        </p:txBody>
      </p:sp>
      <p:sp>
        <p:nvSpPr>
          <p:cNvPr id="3" name="Text Placeholder 2"/>
          <p:cNvSpPr>
            <a:spLocks noGrp="1"/>
          </p:cNvSpPr>
          <p:nvPr>
            <p:ph type="body" idx="1"/>
          </p:nvPr>
        </p:nvSpPr>
        <p:spPr>
          <a:xfrm>
            <a:off x="348343" y="1825625"/>
            <a:ext cx="11495314" cy="4351338"/>
          </a:xfrm>
          <a:prstGeom prst="rect">
            <a:avLst/>
          </a:prstGeom>
        </p:spPr>
        <p:txBody>
          <a:bodyPr vert="horz" lIns="91440" tIns="45720" rIns="91440" bIns="45720" rtlCol="0">
            <a:normAutofit/>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1" lang="en-US" altLang="zh-TW" sz="3200" b="0" i="0" u="none" strike="noStrike" kern="1200" cap="none" spc="0" normalizeH="0" baseline="0" noProof="0" dirty="0">
                <a:ln>
                  <a:noFill/>
                </a:ln>
                <a:solidFill>
                  <a:srgbClr val="333333"/>
                </a:solidFill>
                <a:effectLst/>
                <a:uLnTx/>
                <a:uFillTx/>
                <a:latin typeface="Palatino Linotype"/>
                <a:ea typeface="新細明體"/>
                <a:cs typeface="+mn-cs"/>
              </a:rPr>
              <a:t>Click to edit Master text styles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1" lang="en-US" altLang="zh-TW" sz="2800" b="0" i="0" u="none" strike="noStrike" kern="1200" cap="none" spc="0" normalizeH="0" baseline="0" noProof="0" dirty="0">
                <a:ln>
                  <a:noFill/>
                </a:ln>
                <a:solidFill>
                  <a:srgbClr val="333333"/>
                </a:solidFill>
                <a:effectLst/>
                <a:uLnTx/>
                <a:uFillTx/>
                <a:latin typeface="Palatino Linotype"/>
                <a:ea typeface="新細明體"/>
                <a:cs typeface="+mn-cs"/>
              </a:rPr>
              <a:t>Second level</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400" b="0" i="0" u="none" strike="noStrike" kern="1200" cap="none" spc="0" normalizeH="0" baseline="0" noProof="0" dirty="0">
                <a:ln>
                  <a:noFill/>
                </a:ln>
                <a:solidFill>
                  <a:srgbClr val="333333"/>
                </a:solidFill>
                <a:effectLst/>
                <a:uLnTx/>
                <a:uFillTx/>
                <a:latin typeface="Palatino Linotype"/>
                <a:ea typeface="新細明體"/>
                <a:cs typeface="+mn-cs"/>
              </a:rPr>
              <a:t>Third level</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Fourth level</a:t>
            </a:r>
          </a:p>
          <a:p>
            <a:pPr marL="2057400" marR="0" lvl="4"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Fifth level</a:t>
            </a:r>
          </a:p>
        </p:txBody>
      </p:sp>
      <p:sp>
        <p:nvSpPr>
          <p:cNvPr id="7" name="Date Placeholder 6"/>
          <p:cNvSpPr>
            <a:spLocks noGrp="1"/>
          </p:cNvSpPr>
          <p:nvPr>
            <p:ph type="dt" sz="half" idx="2"/>
          </p:nvPr>
        </p:nvSpPr>
        <p:spPr>
          <a:xfrm>
            <a:off x="0" y="6477000"/>
            <a:ext cx="18000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A3A5E517-2EE9-4B06-A2F1-C885ADB8BF5D}" type="datetime1">
              <a:rPr lang="zh-TW" altLang="en-US" smtClean="0"/>
              <a:t>2025/11/26</a:t>
            </a:fld>
            <a:endParaRPr lang="zh-TW" altLang="en-US" dirty="0"/>
          </a:p>
        </p:txBody>
      </p:sp>
      <p:sp>
        <p:nvSpPr>
          <p:cNvPr id="9" name="Slide Number Placeholder 8"/>
          <p:cNvSpPr>
            <a:spLocks noGrp="1"/>
          </p:cNvSpPr>
          <p:nvPr>
            <p:ph type="sldNum" sz="quarter" idx="4"/>
          </p:nvPr>
        </p:nvSpPr>
        <p:spPr>
          <a:xfrm>
            <a:off x="10392000" y="6476999"/>
            <a:ext cx="1800000" cy="365125"/>
          </a:xfrm>
          <a:prstGeom prst="rect">
            <a:avLst/>
          </a:prstGeom>
        </p:spPr>
        <p:txBody>
          <a:bodyPr vert="horz" lIns="91440" tIns="45720" rIns="91440" bIns="45720" rtlCol="0" anchor="ctr"/>
          <a:lstStyle>
            <a:lvl1pPr algn="r">
              <a:defRPr sz="1200" b="1">
                <a:solidFill>
                  <a:schemeClr val="tx1">
                    <a:tint val="75000"/>
                  </a:schemeClr>
                </a:solidFill>
                <a:latin typeface="Arial" panose="020B0604020202020204" pitchFamily="34" charset="0"/>
                <a:cs typeface="Arial" panose="020B0604020202020204" pitchFamily="34" charset="0"/>
              </a:defRPr>
            </a:lvl1pPr>
          </a:lstStyle>
          <a:p>
            <a:fld id="{E24E6636-6BA5-4AAC-8485-BE8D914D288B}" type="slidenum">
              <a:rPr lang="zh-TW" altLang="en-US" smtClean="0"/>
              <a:pPr/>
              <a:t>‹#›</a:t>
            </a:fld>
            <a:endParaRPr lang="zh-TW" altLang="en-US"/>
          </a:p>
        </p:txBody>
      </p:sp>
    </p:spTree>
    <p:extLst>
      <p:ext uri="{BB962C8B-B14F-4D97-AF65-F5344CB8AC3E}">
        <p14:creationId xmlns:p14="http://schemas.microsoft.com/office/powerpoint/2010/main" val="384748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fontAlgn="base" latinLnBrk="0" hangingPunct="1">
        <a:lnSpc>
          <a:spcPct val="90000"/>
        </a:lnSpc>
        <a:spcBef>
          <a:spcPct val="0"/>
        </a:spcBef>
        <a:spcAft>
          <a:spcPct val="0"/>
        </a:spcAft>
        <a:buNone/>
        <a:defRPr kumimoji="1" lang="zh-TW" altLang="en-US" sz="4400" kern="1200" dirty="0" smtClean="0">
          <a:solidFill>
            <a:schemeClr val="tx1"/>
          </a:solidFill>
          <a:latin typeface="+mj-lt"/>
          <a:ea typeface="+mj-ea"/>
          <a:cs typeface="+mj-cs"/>
        </a:defRPr>
      </a:lvl1pPr>
    </p:titleStyle>
    <p:bodyStyle>
      <a:lvl1pPr marL="342900" marR="0" indent="-3429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1pPr>
      <a:lvl2pPr marL="742950" marR="0" indent="-28575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2pPr>
      <a:lvl3pPr marL="11430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3pPr>
      <a:lvl4pPr marL="16002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4pPr>
      <a:lvl5pPr marL="2057400" marR="0" indent="-228600" algn="l" defTabSz="914400" rtl="0" eaLnBrk="1" fontAlgn="base" latinLnBrk="0" hangingPunct="1">
        <a:lnSpc>
          <a:spcPct val="100000"/>
        </a:lnSpc>
        <a:spcBef>
          <a:spcPct val="20000"/>
        </a:spcBef>
        <a:spcAft>
          <a:spcPct val="0"/>
        </a:spcAft>
        <a:buClrTx/>
        <a:buSzTx/>
        <a:buFontTx/>
        <a:buChar char="»"/>
        <a:tabLst/>
        <a:defRPr kumimoji="1" lang="zh-TW" altLang="en-US" sz="3200" kern="1200" dirty="0" smtClean="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File System &amp;Virtual File System</a:t>
            </a:r>
          </a:p>
        </p:txBody>
      </p:sp>
      <p:sp>
        <p:nvSpPr>
          <p:cNvPr id="2" name="矩形 57">
            <a:extLst>
              <a:ext uri="{FF2B5EF4-FFF2-40B4-BE49-F238E27FC236}">
                <a16:creationId xmlns:a16="http://schemas.microsoft.com/office/drawing/2014/main" id="{52D52D27-AB1F-79D5-C62C-38A191A61F20}"/>
              </a:ext>
            </a:extLst>
          </p:cNvPr>
          <p:cNvSpPr/>
          <p:nvPr/>
        </p:nvSpPr>
        <p:spPr>
          <a:xfrm>
            <a:off x="9992188" y="713095"/>
            <a:ext cx="1567121"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Process</a:t>
            </a:r>
            <a:endParaRPr kumimoji="1" lang="zh-TW" altLang="en-US" sz="1600" dirty="0">
              <a:solidFill>
                <a:schemeClr val="tx1"/>
              </a:solidFill>
              <a:cs typeface="Arial" panose="020B0604020202020204" pitchFamily="34" charset="0"/>
            </a:endParaRPr>
          </a:p>
        </p:txBody>
      </p:sp>
      <p:sp>
        <p:nvSpPr>
          <p:cNvPr id="3" name="矩形 57">
            <a:extLst>
              <a:ext uri="{FF2B5EF4-FFF2-40B4-BE49-F238E27FC236}">
                <a16:creationId xmlns:a16="http://schemas.microsoft.com/office/drawing/2014/main" id="{E17704BC-BC4F-832F-CFA4-CFAD3EFE9393}"/>
              </a:ext>
            </a:extLst>
          </p:cNvPr>
          <p:cNvSpPr/>
          <p:nvPr/>
        </p:nvSpPr>
        <p:spPr>
          <a:xfrm>
            <a:off x="9992188" y="2023093"/>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Virtual</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File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System</a:t>
            </a:r>
            <a:endParaRPr kumimoji="1" lang="zh-TW" altLang="en-US" sz="1600" dirty="0">
              <a:solidFill>
                <a:schemeClr val="tx1"/>
              </a:solidFill>
              <a:cs typeface="Arial" panose="020B0604020202020204" pitchFamily="34" charset="0"/>
            </a:endParaRPr>
          </a:p>
        </p:txBody>
      </p:sp>
      <p:sp>
        <p:nvSpPr>
          <p:cNvPr id="4" name="矩形 57">
            <a:extLst>
              <a:ext uri="{FF2B5EF4-FFF2-40B4-BE49-F238E27FC236}">
                <a16:creationId xmlns:a16="http://schemas.microsoft.com/office/drawing/2014/main" id="{059E3054-4E17-FE8E-5B24-51F868096F21}"/>
              </a:ext>
            </a:extLst>
          </p:cNvPr>
          <p:cNvSpPr/>
          <p:nvPr/>
        </p:nvSpPr>
        <p:spPr>
          <a:xfrm>
            <a:off x="9992189" y="2802176"/>
            <a:ext cx="921104"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Page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Cache</a:t>
            </a:r>
            <a:endParaRPr kumimoji="1" lang="zh-TW" altLang="en-US" sz="1600" dirty="0">
              <a:solidFill>
                <a:schemeClr val="tx1"/>
              </a:solidFill>
              <a:cs typeface="Arial" panose="020B0604020202020204" pitchFamily="34" charset="0"/>
            </a:endParaRPr>
          </a:p>
        </p:txBody>
      </p:sp>
      <p:sp>
        <p:nvSpPr>
          <p:cNvPr id="6" name="矩形 57">
            <a:extLst>
              <a:ext uri="{FF2B5EF4-FFF2-40B4-BE49-F238E27FC236}">
                <a16:creationId xmlns:a16="http://schemas.microsoft.com/office/drawing/2014/main" id="{0FF36199-4E2A-2A86-D455-9031F8E7CB68}"/>
              </a:ext>
            </a:extLst>
          </p:cNvPr>
          <p:cNvSpPr/>
          <p:nvPr/>
        </p:nvSpPr>
        <p:spPr>
          <a:xfrm>
            <a:off x="9992188" y="3581259"/>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Mapping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Layer</a:t>
            </a:r>
            <a:br>
              <a:rPr kumimoji="1" lang="en-US" altLang="zh-TW" sz="1600" dirty="0">
                <a:solidFill>
                  <a:schemeClr val="tx1"/>
                </a:solidFill>
                <a:cs typeface="Arial" panose="020B0604020202020204" pitchFamily="34" charset="0"/>
              </a:rPr>
            </a:br>
            <a:r>
              <a:rPr kumimoji="1" lang="en-US" altLang="zh-TW" sz="1600" dirty="0">
                <a:solidFill>
                  <a:schemeClr val="tx1"/>
                </a:solidFill>
                <a:cs typeface="Arial" panose="020B0604020202020204" pitchFamily="34" charset="0"/>
              </a:rPr>
              <a:t>(FS</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Specific)</a:t>
            </a:r>
            <a:endParaRPr kumimoji="1" lang="zh-TW" altLang="en-US" sz="1600" dirty="0">
              <a:solidFill>
                <a:schemeClr val="tx1"/>
              </a:solidFill>
              <a:cs typeface="Arial" panose="020B0604020202020204" pitchFamily="34" charset="0"/>
            </a:endParaRPr>
          </a:p>
        </p:txBody>
      </p:sp>
      <p:cxnSp>
        <p:nvCxnSpPr>
          <p:cNvPr id="7" name="直線接點 6">
            <a:extLst>
              <a:ext uri="{FF2B5EF4-FFF2-40B4-BE49-F238E27FC236}">
                <a16:creationId xmlns:a16="http://schemas.microsoft.com/office/drawing/2014/main" id="{EAEFB806-3E77-E7B8-C4FE-C45CB6C0AAED}"/>
              </a:ext>
            </a:extLst>
          </p:cNvPr>
          <p:cNvCxnSpPr>
            <a:cxnSpLocks/>
          </p:cNvCxnSpPr>
          <p:nvPr/>
        </p:nvCxnSpPr>
        <p:spPr>
          <a:xfrm>
            <a:off x="9352830" y="1795323"/>
            <a:ext cx="284583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6B7E5BE-94D7-513D-A051-5D9F82B7CE28}"/>
              </a:ext>
            </a:extLst>
          </p:cNvPr>
          <p:cNvSpPr txBox="1"/>
          <p:nvPr/>
        </p:nvSpPr>
        <p:spPr>
          <a:xfrm>
            <a:off x="9258360" y="1458341"/>
            <a:ext cx="570990" cy="338554"/>
          </a:xfrm>
          <a:prstGeom prst="rect">
            <a:avLst/>
          </a:prstGeom>
          <a:noFill/>
        </p:spPr>
        <p:txBody>
          <a:bodyPr wrap="none" rtlCol="0">
            <a:spAutoFit/>
          </a:bodyPr>
          <a:lstStyle/>
          <a:p>
            <a:r>
              <a:rPr kumimoji="1" lang="en-US" altLang="zh-TW" sz="1600" dirty="0"/>
              <a:t>User</a:t>
            </a:r>
            <a:endParaRPr kumimoji="1" lang="zh-TW" altLang="en-US" sz="1600" dirty="0"/>
          </a:p>
        </p:txBody>
      </p:sp>
      <p:sp>
        <p:nvSpPr>
          <p:cNvPr id="9" name="文字方塊 8">
            <a:extLst>
              <a:ext uri="{FF2B5EF4-FFF2-40B4-BE49-F238E27FC236}">
                <a16:creationId xmlns:a16="http://schemas.microsoft.com/office/drawing/2014/main" id="{A7D3F1DF-2DCE-23E6-ECF3-FB46A5107C73}"/>
              </a:ext>
            </a:extLst>
          </p:cNvPr>
          <p:cNvSpPr txBox="1"/>
          <p:nvPr/>
        </p:nvSpPr>
        <p:spPr>
          <a:xfrm>
            <a:off x="9258360" y="1778077"/>
            <a:ext cx="719556" cy="338554"/>
          </a:xfrm>
          <a:prstGeom prst="rect">
            <a:avLst/>
          </a:prstGeom>
          <a:noFill/>
        </p:spPr>
        <p:txBody>
          <a:bodyPr wrap="none" rtlCol="0">
            <a:spAutoFit/>
          </a:bodyPr>
          <a:lstStyle/>
          <a:p>
            <a:r>
              <a:rPr kumimoji="1" lang="en-US" altLang="zh-TW" sz="1600" dirty="0"/>
              <a:t>Kernel</a:t>
            </a:r>
            <a:endParaRPr kumimoji="1" lang="zh-TW" altLang="en-US" sz="1600" dirty="0"/>
          </a:p>
        </p:txBody>
      </p:sp>
      <p:sp>
        <p:nvSpPr>
          <p:cNvPr id="10" name="文字方塊 9">
            <a:extLst>
              <a:ext uri="{FF2B5EF4-FFF2-40B4-BE49-F238E27FC236}">
                <a16:creationId xmlns:a16="http://schemas.microsoft.com/office/drawing/2014/main" id="{8352AAA6-9938-F920-064E-0C382EBAC9E7}"/>
              </a:ext>
            </a:extLst>
          </p:cNvPr>
          <p:cNvSpPr txBox="1"/>
          <p:nvPr/>
        </p:nvSpPr>
        <p:spPr>
          <a:xfrm>
            <a:off x="11072677" y="1230253"/>
            <a:ext cx="1095364" cy="584775"/>
          </a:xfrm>
          <a:prstGeom prst="rect">
            <a:avLst/>
          </a:prstGeom>
          <a:noFill/>
        </p:spPr>
        <p:txBody>
          <a:bodyPr wrap="none" rtlCol="0">
            <a:spAutoFit/>
          </a:bodyPr>
          <a:lstStyle/>
          <a:p>
            <a:r>
              <a:rPr kumimoji="1" lang="en-US" altLang="zh-TW" sz="1600" dirty="0"/>
              <a:t>sys_read()</a:t>
            </a:r>
          </a:p>
          <a:p>
            <a:r>
              <a:rPr kumimoji="1" lang="en-US" altLang="zh-TW" sz="1600" dirty="0"/>
              <a:t>sys_write()</a:t>
            </a:r>
            <a:endParaRPr kumimoji="1" lang="zh-TW" altLang="en-US" sz="1600" dirty="0"/>
          </a:p>
        </p:txBody>
      </p:sp>
      <p:cxnSp>
        <p:nvCxnSpPr>
          <p:cNvPr id="11" name="直線箭頭接點 10">
            <a:extLst>
              <a:ext uri="{FF2B5EF4-FFF2-40B4-BE49-F238E27FC236}">
                <a16:creationId xmlns:a16="http://schemas.microsoft.com/office/drawing/2014/main" id="{BC848B3E-9E5C-C397-BB14-1CFF7ADDF071}"/>
              </a:ext>
            </a:extLst>
          </p:cNvPr>
          <p:cNvCxnSpPr>
            <a:cxnSpLocks/>
          </p:cNvCxnSpPr>
          <p:nvPr/>
        </p:nvCxnSpPr>
        <p:spPr>
          <a:xfrm>
            <a:off x="11220391" y="2563093"/>
            <a:ext cx="0" cy="101816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直線箭頭接點 11">
            <a:extLst>
              <a:ext uri="{FF2B5EF4-FFF2-40B4-BE49-F238E27FC236}">
                <a16:creationId xmlns:a16="http://schemas.microsoft.com/office/drawing/2014/main" id="{5488AB8A-811B-B36A-F4D8-1737E2A7C665}"/>
              </a:ext>
            </a:extLst>
          </p:cNvPr>
          <p:cNvCxnSpPr>
            <a:cxnSpLocks/>
            <a:stCxn id="2" idx="2"/>
          </p:cNvCxnSpPr>
          <p:nvPr/>
        </p:nvCxnSpPr>
        <p:spPr>
          <a:xfrm flipH="1">
            <a:off x="10755488" y="1253095"/>
            <a:ext cx="0" cy="77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3" name="群組 12">
            <a:extLst>
              <a:ext uri="{FF2B5EF4-FFF2-40B4-BE49-F238E27FC236}">
                <a16:creationId xmlns:a16="http://schemas.microsoft.com/office/drawing/2014/main" id="{89E4CAB5-F01B-783F-5E35-E50DE8891A45}"/>
              </a:ext>
            </a:extLst>
          </p:cNvPr>
          <p:cNvGrpSpPr/>
          <p:nvPr/>
        </p:nvGrpSpPr>
        <p:grpSpPr>
          <a:xfrm>
            <a:off x="9992188" y="5414418"/>
            <a:ext cx="1567121" cy="1044089"/>
            <a:chOff x="9713254" y="5679425"/>
            <a:chExt cx="1567121" cy="1044089"/>
          </a:xfrm>
        </p:grpSpPr>
        <p:sp>
          <p:nvSpPr>
            <p:cNvPr id="14" name="矩形 57">
              <a:extLst>
                <a:ext uri="{FF2B5EF4-FFF2-40B4-BE49-F238E27FC236}">
                  <a16:creationId xmlns:a16="http://schemas.microsoft.com/office/drawing/2014/main" id="{9BFDF623-EB93-99EA-880E-F6B7DA6228B0}"/>
                </a:ext>
              </a:extLst>
            </p:cNvPr>
            <p:cNvSpPr/>
            <p:nvPr/>
          </p:nvSpPr>
          <p:spPr>
            <a:xfrm>
              <a:off x="9713254" y="6183514"/>
              <a:ext cx="1567121" cy="540000"/>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Devices</a:t>
              </a:r>
              <a:r>
                <a:rPr kumimoji="1" lang="zh-TW" altLang="en-US" sz="1600" dirty="0">
                  <a:solidFill>
                    <a:schemeClr val="tx1"/>
                  </a:solidFill>
                  <a:cs typeface="Arial" panose="020B0604020202020204" pitchFamily="34" charset="0"/>
                </a:rPr>
                <a:t> </a:t>
              </a:r>
              <a:endParaRPr kumimoji="1" lang="en-US" altLang="zh-TW" sz="1600" dirty="0">
                <a:solidFill>
                  <a:schemeClr val="tx1"/>
                </a:solidFill>
                <a:cs typeface="Arial" panose="020B0604020202020204" pitchFamily="34" charset="0"/>
              </a:endParaRPr>
            </a:p>
            <a:p>
              <a:pPr algn="ctr"/>
              <a:r>
                <a:rPr kumimoji="1" lang="en-US" altLang="zh-TW" sz="1600" dirty="0">
                  <a:solidFill>
                    <a:schemeClr val="tx1"/>
                  </a:solidFill>
                  <a:cs typeface="Arial" panose="020B0604020202020204" pitchFamily="34" charset="0"/>
                </a:rPr>
                <a:t>(e.g.,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HDD,</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SSD)</a:t>
              </a:r>
              <a:endParaRPr kumimoji="1" lang="zh-TW" altLang="en-US" sz="1600" dirty="0">
                <a:solidFill>
                  <a:schemeClr val="tx1"/>
                </a:solidFill>
                <a:cs typeface="Arial" panose="020B0604020202020204" pitchFamily="34" charset="0"/>
              </a:endParaRPr>
            </a:p>
          </p:txBody>
        </p:sp>
        <p:cxnSp>
          <p:nvCxnSpPr>
            <p:cNvPr id="15" name="直線箭頭接點 14">
              <a:extLst>
                <a:ext uri="{FF2B5EF4-FFF2-40B4-BE49-F238E27FC236}">
                  <a16:creationId xmlns:a16="http://schemas.microsoft.com/office/drawing/2014/main" id="{8C6F8A2B-87FB-7F84-FBD4-044B3671BA2B}"/>
                </a:ext>
              </a:extLst>
            </p:cNvPr>
            <p:cNvCxnSpPr>
              <a:cxnSpLocks/>
              <a:stCxn id="17" idx="2"/>
            </p:cNvCxnSpPr>
            <p:nvPr/>
          </p:nvCxnSpPr>
          <p:spPr>
            <a:xfrm flipH="1">
              <a:off x="10775747" y="5679425"/>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6" name="群組 15">
            <a:extLst>
              <a:ext uri="{FF2B5EF4-FFF2-40B4-BE49-F238E27FC236}">
                <a16:creationId xmlns:a16="http://schemas.microsoft.com/office/drawing/2014/main" id="{D3C20C0B-0014-0E2F-E8E8-25902714CCD3}"/>
              </a:ext>
            </a:extLst>
          </p:cNvPr>
          <p:cNvGrpSpPr/>
          <p:nvPr/>
        </p:nvGrpSpPr>
        <p:grpSpPr>
          <a:xfrm>
            <a:off x="9992188" y="4878599"/>
            <a:ext cx="1567121" cy="800826"/>
            <a:chOff x="9713254" y="5143606"/>
            <a:chExt cx="1567121" cy="800826"/>
          </a:xfrm>
        </p:grpSpPr>
        <p:sp>
          <p:nvSpPr>
            <p:cNvPr id="17" name="矩形 57">
              <a:extLst>
                <a:ext uri="{FF2B5EF4-FFF2-40B4-BE49-F238E27FC236}">
                  <a16:creationId xmlns:a16="http://schemas.microsoft.com/office/drawing/2014/main" id="{7B00B1E7-C520-ADAA-3665-91152A6E9149}"/>
                </a:ext>
              </a:extLst>
            </p:cNvPr>
            <p:cNvSpPr/>
            <p:nvPr/>
          </p:nvSpPr>
          <p:spPr>
            <a:xfrm>
              <a:off x="9713254" y="5404432"/>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Device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Driver</a:t>
              </a:r>
              <a:endParaRPr kumimoji="1" lang="zh-TW" altLang="en-US" sz="1600" dirty="0">
                <a:solidFill>
                  <a:schemeClr val="tx1"/>
                </a:solidFill>
                <a:cs typeface="Arial" panose="020B0604020202020204" pitchFamily="34" charset="0"/>
              </a:endParaRPr>
            </a:p>
          </p:txBody>
        </p:sp>
        <p:cxnSp>
          <p:nvCxnSpPr>
            <p:cNvPr id="18" name="直線箭頭接點 17">
              <a:extLst>
                <a:ext uri="{FF2B5EF4-FFF2-40B4-BE49-F238E27FC236}">
                  <a16:creationId xmlns:a16="http://schemas.microsoft.com/office/drawing/2014/main" id="{D3784790-CF32-98E2-3763-86B85949E8F6}"/>
                </a:ext>
              </a:extLst>
            </p:cNvPr>
            <p:cNvCxnSpPr>
              <a:cxnSpLocks/>
            </p:cNvCxnSpPr>
            <p:nvPr/>
          </p:nvCxnSpPr>
          <p:spPr>
            <a:xfrm flipH="1">
              <a:off x="10470620" y="514360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9" name="群組 18">
            <a:extLst>
              <a:ext uri="{FF2B5EF4-FFF2-40B4-BE49-F238E27FC236}">
                <a16:creationId xmlns:a16="http://schemas.microsoft.com/office/drawing/2014/main" id="{EB18F9CB-5BC2-6216-6748-361F363DC130}"/>
              </a:ext>
            </a:extLst>
          </p:cNvPr>
          <p:cNvGrpSpPr/>
          <p:nvPr/>
        </p:nvGrpSpPr>
        <p:grpSpPr>
          <a:xfrm>
            <a:off x="9992188" y="4121259"/>
            <a:ext cx="1567121" cy="779083"/>
            <a:chOff x="9713254" y="4386266"/>
            <a:chExt cx="1567121" cy="779083"/>
          </a:xfrm>
        </p:grpSpPr>
        <p:sp>
          <p:nvSpPr>
            <p:cNvPr id="20" name="矩形 57">
              <a:extLst>
                <a:ext uri="{FF2B5EF4-FFF2-40B4-BE49-F238E27FC236}">
                  <a16:creationId xmlns:a16="http://schemas.microsoft.com/office/drawing/2014/main" id="{1E306548-F77A-8A45-9039-0FB74F8A876F}"/>
                </a:ext>
              </a:extLst>
            </p:cNvPr>
            <p:cNvSpPr/>
            <p:nvPr/>
          </p:nvSpPr>
          <p:spPr>
            <a:xfrm>
              <a:off x="9713254" y="4625349"/>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I/O</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Layer</a:t>
              </a:r>
              <a:endParaRPr kumimoji="1" lang="zh-TW" altLang="en-US" sz="1600" dirty="0">
                <a:solidFill>
                  <a:schemeClr val="tx1"/>
                </a:solidFill>
                <a:cs typeface="Arial" panose="020B0604020202020204" pitchFamily="34" charset="0"/>
              </a:endParaRPr>
            </a:p>
          </p:txBody>
        </p:sp>
        <p:cxnSp>
          <p:nvCxnSpPr>
            <p:cNvPr id="21" name="直線箭頭接點 20">
              <a:extLst>
                <a:ext uri="{FF2B5EF4-FFF2-40B4-BE49-F238E27FC236}">
                  <a16:creationId xmlns:a16="http://schemas.microsoft.com/office/drawing/2014/main" id="{E1B6F31C-45EF-E499-4766-907D0C7FB6F7}"/>
                </a:ext>
              </a:extLst>
            </p:cNvPr>
            <p:cNvCxnSpPr>
              <a:cxnSpLocks/>
            </p:cNvCxnSpPr>
            <p:nvPr/>
          </p:nvCxnSpPr>
          <p:spPr>
            <a:xfrm flipH="1">
              <a:off x="10470618" y="438626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22" name="直線箭頭接點 21">
            <a:extLst>
              <a:ext uri="{FF2B5EF4-FFF2-40B4-BE49-F238E27FC236}">
                <a16:creationId xmlns:a16="http://schemas.microsoft.com/office/drawing/2014/main" id="{8493AC9A-4635-1E77-835E-0935E0121070}"/>
              </a:ext>
            </a:extLst>
          </p:cNvPr>
          <p:cNvCxnSpPr>
            <a:cxnSpLocks/>
          </p:cNvCxnSpPr>
          <p:nvPr/>
        </p:nvCxnSpPr>
        <p:spPr>
          <a:xfrm flipH="1">
            <a:off x="10446807" y="3341027"/>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直線箭頭接點 22">
            <a:extLst>
              <a:ext uri="{FF2B5EF4-FFF2-40B4-BE49-F238E27FC236}">
                <a16:creationId xmlns:a16="http://schemas.microsoft.com/office/drawing/2014/main" id="{00A34EF7-288E-B11C-02A3-739A2EFF8D53}"/>
              </a:ext>
            </a:extLst>
          </p:cNvPr>
          <p:cNvCxnSpPr>
            <a:cxnSpLocks/>
          </p:cNvCxnSpPr>
          <p:nvPr/>
        </p:nvCxnSpPr>
        <p:spPr>
          <a:xfrm flipH="1">
            <a:off x="10446805" y="2553625"/>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39DB00E9-F98A-0E60-E10E-08C1F900B5DB}"/>
              </a:ext>
            </a:extLst>
          </p:cNvPr>
          <p:cNvSpPr/>
          <p:nvPr/>
        </p:nvSpPr>
        <p:spPr>
          <a:xfrm>
            <a:off x="9977916" y="2029759"/>
            <a:ext cx="1581393" cy="209149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25" name="直線箭頭接點 24">
            <a:extLst>
              <a:ext uri="{FF2B5EF4-FFF2-40B4-BE49-F238E27FC236}">
                <a16:creationId xmlns:a16="http://schemas.microsoft.com/office/drawing/2014/main" id="{CCA000A2-F308-8FF9-94F1-ADA4820419C7}"/>
              </a:ext>
            </a:extLst>
          </p:cNvPr>
          <p:cNvCxnSpPr>
            <a:cxnSpLocks/>
          </p:cNvCxnSpPr>
          <p:nvPr/>
        </p:nvCxnSpPr>
        <p:spPr>
          <a:xfrm flipH="1">
            <a:off x="10749552" y="5673200"/>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57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2"/>
                                        </p:tgtEl>
                                        <p:attrNameLst>
                                          <p:attrName>style.opacity</p:attrName>
                                        </p:attrNameLst>
                                      </p:cBhvr>
                                      <p:to>
                                        <p:strVal val="0.5"/>
                                      </p:to>
                                    </p:set>
                                    <p:animEffect filter="image" prLst="opacity: 0.5">
                                      <p:cBhvr rctx="IE">
                                        <p:cTn id="7" dur="indefinite"/>
                                        <p:tgtEl>
                                          <p:spTgt spid="2"/>
                                        </p:tgtEl>
                                      </p:cBhvr>
                                    </p:animEffect>
                                  </p:childTnLst>
                                </p:cTn>
                              </p:par>
                              <p:par>
                                <p:cTn id="8" presetID="9" presetClass="emph" presetSubtype="0" grpId="0" nodeType="withEffect">
                                  <p:stCondLst>
                                    <p:cond delay="0"/>
                                  </p:stCondLst>
                                  <p:childTnLst>
                                    <p:set>
                                      <p:cBhvr>
                                        <p:cTn id="9" dur="indefinite"/>
                                        <p:tgtEl>
                                          <p:spTgt spid="3"/>
                                        </p:tgtEl>
                                        <p:attrNameLst>
                                          <p:attrName>style.opacity</p:attrName>
                                        </p:attrNameLst>
                                      </p:cBhvr>
                                      <p:to>
                                        <p:strVal val="0.5"/>
                                      </p:to>
                                    </p:set>
                                    <p:animEffect filter="image" prLst="opacity: 0.5">
                                      <p:cBhvr rctx="IE">
                                        <p:cTn id="10" dur="indefinite"/>
                                        <p:tgtEl>
                                          <p:spTgt spid="3"/>
                                        </p:tgtEl>
                                      </p:cBhvr>
                                    </p:animEffect>
                                  </p:childTnLst>
                                </p:cTn>
                              </p:par>
                              <p:par>
                                <p:cTn id="11" presetID="9" presetClass="emph" presetSubtype="0" grpId="0" nodeType="withEffect">
                                  <p:stCondLst>
                                    <p:cond delay="0"/>
                                  </p:stCondLst>
                                  <p:childTnLst>
                                    <p:set>
                                      <p:cBhvr>
                                        <p:cTn id="12" dur="indefinite"/>
                                        <p:tgtEl>
                                          <p:spTgt spid="4"/>
                                        </p:tgtEl>
                                        <p:attrNameLst>
                                          <p:attrName>style.opacity</p:attrName>
                                        </p:attrNameLst>
                                      </p:cBhvr>
                                      <p:to>
                                        <p:strVal val="0.5"/>
                                      </p:to>
                                    </p:set>
                                    <p:animEffect filter="image" prLst="opacity: 0.5">
                                      <p:cBhvr rctx="IE">
                                        <p:cTn id="13" dur="indefinite"/>
                                        <p:tgtEl>
                                          <p:spTgt spid="4"/>
                                        </p:tgtEl>
                                      </p:cBhvr>
                                    </p:animEffect>
                                  </p:childTnLst>
                                </p:cTn>
                              </p:par>
                              <p:par>
                                <p:cTn id="14" presetID="9" presetClass="emph" presetSubtype="0" grpId="0" nodeType="withEffect">
                                  <p:stCondLst>
                                    <p:cond delay="0"/>
                                  </p:stCondLst>
                                  <p:childTnLst>
                                    <p:set>
                                      <p:cBhvr>
                                        <p:cTn id="15" dur="indefinite"/>
                                        <p:tgtEl>
                                          <p:spTgt spid="6"/>
                                        </p:tgtEl>
                                        <p:attrNameLst>
                                          <p:attrName>style.opacity</p:attrName>
                                        </p:attrNameLst>
                                      </p:cBhvr>
                                      <p:to>
                                        <p:strVal val="0.5"/>
                                      </p:to>
                                    </p:set>
                                    <p:animEffect filter="image" prLst="opacity: 0.5">
                                      <p:cBhvr rctx="IE">
                                        <p:cTn id="16" dur="indefinite"/>
                                        <p:tgtEl>
                                          <p:spTgt spid="6"/>
                                        </p:tgtEl>
                                      </p:cBhvr>
                                    </p:animEffect>
                                  </p:childTnLst>
                                </p:cTn>
                              </p:par>
                              <p:par>
                                <p:cTn id="17" presetID="9" presetClass="emph" presetSubtype="0" nodeType="withEffect">
                                  <p:stCondLst>
                                    <p:cond delay="0"/>
                                  </p:stCondLst>
                                  <p:childTnLst>
                                    <p:set>
                                      <p:cBhvr>
                                        <p:cTn id="18" dur="indefinite"/>
                                        <p:tgtEl>
                                          <p:spTgt spid="7"/>
                                        </p:tgtEl>
                                        <p:attrNameLst>
                                          <p:attrName>style.opacity</p:attrName>
                                        </p:attrNameLst>
                                      </p:cBhvr>
                                      <p:to>
                                        <p:strVal val="0.5"/>
                                      </p:to>
                                    </p:set>
                                    <p:animEffect filter="image" prLst="opacity: 0.5">
                                      <p:cBhvr rctx="IE">
                                        <p:cTn id="19" dur="indefinite"/>
                                        <p:tgtEl>
                                          <p:spTgt spid="7"/>
                                        </p:tgtEl>
                                      </p:cBhvr>
                                    </p:animEffect>
                                  </p:childTnLst>
                                </p:cTn>
                              </p:par>
                              <p:par>
                                <p:cTn id="20" presetID="9" presetClass="emph" presetSubtype="0" grpId="0" nodeType="withEffect">
                                  <p:stCondLst>
                                    <p:cond delay="0"/>
                                  </p:stCondLst>
                                  <p:childTnLst>
                                    <p:set>
                                      <p:cBhvr>
                                        <p:cTn id="21" dur="indefinite"/>
                                        <p:tgtEl>
                                          <p:spTgt spid="8"/>
                                        </p:tgtEl>
                                        <p:attrNameLst>
                                          <p:attrName>style.opacity</p:attrName>
                                        </p:attrNameLst>
                                      </p:cBhvr>
                                      <p:to>
                                        <p:strVal val="0.5"/>
                                      </p:to>
                                    </p:set>
                                    <p:animEffect filter="image" prLst="opacity: 0.5">
                                      <p:cBhvr rctx="IE">
                                        <p:cTn id="22" dur="indefinite"/>
                                        <p:tgtEl>
                                          <p:spTgt spid="8"/>
                                        </p:tgtEl>
                                      </p:cBhvr>
                                    </p:animEffect>
                                  </p:childTnLst>
                                </p:cTn>
                              </p:par>
                              <p:par>
                                <p:cTn id="23" presetID="9" presetClass="emph" presetSubtype="0" grpId="0" nodeType="withEffect">
                                  <p:stCondLst>
                                    <p:cond delay="0"/>
                                  </p:stCondLst>
                                  <p:childTnLst>
                                    <p:set>
                                      <p:cBhvr>
                                        <p:cTn id="24" dur="indefinite"/>
                                        <p:tgtEl>
                                          <p:spTgt spid="9"/>
                                        </p:tgtEl>
                                        <p:attrNameLst>
                                          <p:attrName>style.opacity</p:attrName>
                                        </p:attrNameLst>
                                      </p:cBhvr>
                                      <p:to>
                                        <p:strVal val="0.5"/>
                                      </p:to>
                                    </p:set>
                                    <p:animEffect filter="image" prLst="opacity: 0.5">
                                      <p:cBhvr rctx="IE">
                                        <p:cTn id="25" dur="indefinite"/>
                                        <p:tgtEl>
                                          <p:spTgt spid="9"/>
                                        </p:tgtEl>
                                      </p:cBhvr>
                                    </p:animEffect>
                                  </p:childTnLst>
                                </p:cTn>
                              </p:par>
                              <p:par>
                                <p:cTn id="26" presetID="9" presetClass="emph" presetSubtype="0" grpId="0" nodeType="withEffect">
                                  <p:stCondLst>
                                    <p:cond delay="0"/>
                                  </p:stCondLst>
                                  <p:childTnLst>
                                    <p:set>
                                      <p:cBhvr>
                                        <p:cTn id="27" dur="indefinite"/>
                                        <p:tgtEl>
                                          <p:spTgt spid="10"/>
                                        </p:tgtEl>
                                        <p:attrNameLst>
                                          <p:attrName>style.opacity</p:attrName>
                                        </p:attrNameLst>
                                      </p:cBhvr>
                                      <p:to>
                                        <p:strVal val="0.5"/>
                                      </p:to>
                                    </p:set>
                                    <p:animEffect filter="image" prLst="opacity: 0.5">
                                      <p:cBhvr rctx="IE">
                                        <p:cTn id="28" dur="indefinite"/>
                                        <p:tgtEl>
                                          <p:spTgt spid="10"/>
                                        </p:tgtEl>
                                      </p:cBhvr>
                                    </p:animEffect>
                                  </p:childTnLst>
                                </p:cTn>
                              </p:par>
                              <p:par>
                                <p:cTn id="29" presetID="9" presetClass="emph" presetSubtype="0" nodeType="withEffect">
                                  <p:stCondLst>
                                    <p:cond delay="0"/>
                                  </p:stCondLst>
                                  <p:childTnLst>
                                    <p:set>
                                      <p:cBhvr>
                                        <p:cTn id="30" dur="indefinite"/>
                                        <p:tgtEl>
                                          <p:spTgt spid="11"/>
                                        </p:tgtEl>
                                        <p:attrNameLst>
                                          <p:attrName>style.opacity</p:attrName>
                                        </p:attrNameLst>
                                      </p:cBhvr>
                                      <p:to>
                                        <p:strVal val="0.5"/>
                                      </p:to>
                                    </p:set>
                                    <p:animEffect filter="image" prLst="opacity: 0.5">
                                      <p:cBhvr rctx="IE">
                                        <p:cTn id="31" dur="indefinite"/>
                                        <p:tgtEl>
                                          <p:spTgt spid="11"/>
                                        </p:tgtEl>
                                      </p:cBhvr>
                                    </p:animEffect>
                                  </p:childTnLst>
                                </p:cTn>
                              </p:par>
                              <p:par>
                                <p:cTn id="32" presetID="9" presetClass="emph" presetSubtype="0" nodeType="withEffect">
                                  <p:stCondLst>
                                    <p:cond delay="0"/>
                                  </p:stCondLst>
                                  <p:childTnLst>
                                    <p:set>
                                      <p:cBhvr>
                                        <p:cTn id="33" dur="indefinite"/>
                                        <p:tgtEl>
                                          <p:spTgt spid="12"/>
                                        </p:tgtEl>
                                        <p:attrNameLst>
                                          <p:attrName>style.opacity</p:attrName>
                                        </p:attrNameLst>
                                      </p:cBhvr>
                                      <p:to>
                                        <p:strVal val="0.5"/>
                                      </p:to>
                                    </p:set>
                                    <p:animEffect filter="image" prLst="opacity: 0.5">
                                      <p:cBhvr rctx="IE">
                                        <p:cTn id="34" dur="indefinite"/>
                                        <p:tgtEl>
                                          <p:spTgt spid="12"/>
                                        </p:tgtEl>
                                      </p:cBhvr>
                                    </p:animEffect>
                                  </p:childTnLst>
                                </p:cTn>
                              </p:par>
                              <p:par>
                                <p:cTn id="35" presetID="9" presetClass="emph" presetSubtype="0" nodeType="withEffect">
                                  <p:stCondLst>
                                    <p:cond delay="0"/>
                                  </p:stCondLst>
                                  <p:childTnLst>
                                    <p:set>
                                      <p:cBhvr>
                                        <p:cTn id="36" dur="indefinite"/>
                                        <p:tgtEl>
                                          <p:spTgt spid="22"/>
                                        </p:tgtEl>
                                        <p:attrNameLst>
                                          <p:attrName>style.opacity</p:attrName>
                                        </p:attrNameLst>
                                      </p:cBhvr>
                                      <p:to>
                                        <p:strVal val="0.5"/>
                                      </p:to>
                                    </p:set>
                                    <p:animEffect filter="image" prLst="opacity: 0.5">
                                      <p:cBhvr rctx="IE">
                                        <p:cTn id="37" dur="indefinite"/>
                                        <p:tgtEl>
                                          <p:spTgt spid="22"/>
                                        </p:tgtEl>
                                      </p:cBhvr>
                                    </p:animEffect>
                                  </p:childTnLst>
                                </p:cTn>
                              </p:par>
                              <p:par>
                                <p:cTn id="38" presetID="9" presetClass="emph" presetSubtype="0" nodeType="withEffect">
                                  <p:stCondLst>
                                    <p:cond delay="0"/>
                                  </p:stCondLst>
                                  <p:childTnLst>
                                    <p:set>
                                      <p:cBhvr>
                                        <p:cTn id="39" dur="indefinite"/>
                                        <p:tgtEl>
                                          <p:spTgt spid="23"/>
                                        </p:tgtEl>
                                        <p:attrNameLst>
                                          <p:attrName>style.opacity</p:attrName>
                                        </p:attrNameLst>
                                      </p:cBhvr>
                                      <p:to>
                                        <p:strVal val="0.5"/>
                                      </p:to>
                                    </p:set>
                                    <p:animEffect filter="image" prLst="opacity: 0.5">
                                      <p:cBhvr rctx="IE">
                                        <p:cTn id="40" dur="indefinite"/>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8" grpId="0"/>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2DA1FA-9B04-2E5B-E516-478253CDC9AF}"/>
              </a:ext>
            </a:extLst>
          </p:cNvPr>
          <p:cNvSpPr>
            <a:spLocks noGrp="1"/>
          </p:cNvSpPr>
          <p:nvPr>
            <p:ph type="title"/>
          </p:nvPr>
        </p:nvSpPr>
        <p:spPr/>
        <p:txBody>
          <a:bodyPr/>
          <a:lstStyle/>
          <a:p>
            <a:r>
              <a:rPr kumimoji="1" lang="en-US" altLang="zh-TW" dirty="0"/>
              <a:t>Filesystem – What Users Know</a:t>
            </a:r>
            <a:endParaRPr kumimoji="1" lang="zh-TW" altLang="en-US" dirty="0"/>
          </a:p>
        </p:txBody>
      </p:sp>
      <p:sp>
        <p:nvSpPr>
          <p:cNvPr id="3" name="內容版面配置區 2">
            <a:extLst>
              <a:ext uri="{FF2B5EF4-FFF2-40B4-BE49-F238E27FC236}">
                <a16:creationId xmlns:a16="http://schemas.microsoft.com/office/drawing/2014/main" id="{794A23E4-FA12-AF97-3BCA-FCCA13BED030}"/>
              </a:ext>
            </a:extLst>
          </p:cNvPr>
          <p:cNvSpPr>
            <a:spLocks noGrp="1"/>
          </p:cNvSpPr>
          <p:nvPr>
            <p:ph idx="1"/>
          </p:nvPr>
        </p:nvSpPr>
        <p:spPr>
          <a:xfrm>
            <a:off x="177800" y="920143"/>
            <a:ext cx="8865473" cy="6171953"/>
          </a:xfrm>
        </p:spPr>
        <p:txBody>
          <a:bodyPr>
            <a:normAutofit/>
          </a:bodyPr>
          <a:lstStyle/>
          <a:p>
            <a:pPr algn="l"/>
            <a:r>
              <a:rPr lang="en-US" altLang="zh-TW" dirty="0"/>
              <a:t>Filesystem: </a:t>
            </a:r>
            <a:r>
              <a:rPr lang="en-US" altLang="zh-TW" dirty="0">
                <a:solidFill>
                  <a:srgbClr val="C00000"/>
                </a:solidFill>
              </a:rPr>
              <a:t>Method</a:t>
            </a:r>
            <a:r>
              <a:rPr lang="en-US" altLang="zh-TW" dirty="0"/>
              <a:t> and </a:t>
            </a:r>
            <a:r>
              <a:rPr lang="en-US" altLang="zh-TW" dirty="0">
                <a:solidFill>
                  <a:srgbClr val="C00000"/>
                </a:solidFill>
              </a:rPr>
              <a:t>data structure </a:t>
            </a:r>
            <a:r>
              <a:rPr lang="en-US" altLang="zh-TW" dirty="0"/>
              <a:t>that the operating system uses to control how data is stored and retrieved.</a:t>
            </a:r>
          </a:p>
          <a:p>
            <a:pPr lvl="1" algn="l"/>
            <a:r>
              <a:rPr lang="en-US" altLang="zh-TW" dirty="0"/>
              <a:t>Without the filesystem, data will be one large body on storage media. (Hard to separate and identify.)</a:t>
            </a:r>
          </a:p>
          <a:p>
            <a:pPr algn="l"/>
            <a:r>
              <a:rPr lang="en-US" altLang="zh-TW" dirty="0"/>
              <a:t>Linux supports many filesystems:</a:t>
            </a:r>
          </a:p>
          <a:p>
            <a:pPr lvl="1" algn="l"/>
            <a:r>
              <a:rPr lang="en-US" altLang="zh-TW" dirty="0"/>
              <a:t>Disk-based filesystems: </a:t>
            </a:r>
            <a:r>
              <a:rPr lang="en-US" altLang="zh-TW" dirty="0">
                <a:solidFill>
                  <a:srgbClr val="C00000"/>
                </a:solidFill>
              </a:rPr>
              <a:t>Storing files on non-volatile block-oriented media</a:t>
            </a:r>
            <a:r>
              <a:rPr lang="en-US" altLang="zh-TW" dirty="0"/>
              <a:t> to retain their contents. (e.g., Ext3/4, XFS, </a:t>
            </a:r>
            <a:r>
              <a:rPr lang="en-US" altLang="zh-TW" dirty="0" err="1"/>
              <a:t>exFAT</a:t>
            </a:r>
            <a:r>
              <a:rPr lang="en-US" altLang="zh-TW" dirty="0"/>
              <a:t>)</a:t>
            </a:r>
          </a:p>
          <a:p>
            <a:pPr lvl="1" algn="l"/>
            <a:r>
              <a:rPr lang="en-US" altLang="zh-TW" dirty="0"/>
              <a:t>Network filesystems: The files might be on a different system. Carried out </a:t>
            </a:r>
            <a:r>
              <a:rPr lang="en-US" altLang="zh-TW" dirty="0">
                <a:solidFill>
                  <a:srgbClr val="C00000"/>
                </a:solidFill>
              </a:rPr>
              <a:t>over a network connection</a:t>
            </a:r>
            <a:r>
              <a:rPr lang="en-US" altLang="zh-TW" dirty="0"/>
              <a:t>.</a:t>
            </a:r>
          </a:p>
          <a:p>
            <a:pPr algn="l"/>
            <a:r>
              <a:rPr lang="en-US" altLang="zh-TW" dirty="0"/>
              <a:t>Analog I/O systems to Library:</a:t>
            </a:r>
          </a:p>
          <a:p>
            <a:pPr lvl="1" algn="l"/>
            <a:r>
              <a:rPr lang="en-US" altLang="zh-TW" dirty="0"/>
              <a:t>Library users (</a:t>
            </a:r>
            <a:r>
              <a:rPr lang="en-US" altLang="zh-TW" dirty="0">
                <a:solidFill>
                  <a:srgbClr val="C00000"/>
                </a:solidFill>
              </a:rPr>
              <a:t>Applications</a:t>
            </a:r>
            <a:r>
              <a:rPr lang="en-US" altLang="zh-TW" dirty="0"/>
              <a:t>) request books (</a:t>
            </a:r>
            <a:r>
              <a:rPr lang="en-US" altLang="zh-TW" dirty="0">
                <a:solidFill>
                  <a:srgbClr val="C00000"/>
                </a:solidFill>
              </a:rPr>
              <a:t>Files</a:t>
            </a:r>
            <a:r>
              <a:rPr lang="en-US" altLang="zh-TW" dirty="0"/>
              <a:t>)</a:t>
            </a:r>
          </a:p>
          <a:p>
            <a:pPr lvl="1" algn="l"/>
            <a:r>
              <a:rPr lang="en-US" altLang="zh-TW" dirty="0"/>
              <a:t>The catalog system (</a:t>
            </a:r>
            <a:r>
              <a:rPr lang="en-US" altLang="zh-TW" dirty="0">
                <a:solidFill>
                  <a:srgbClr val="C00000"/>
                </a:solidFill>
              </a:rPr>
              <a:t>File System</a:t>
            </a:r>
            <a:r>
              <a:rPr lang="en-US" altLang="zh-TW" dirty="0"/>
              <a:t>) locates the book</a:t>
            </a:r>
          </a:p>
          <a:p>
            <a:pPr lvl="1" algn="l"/>
            <a:r>
              <a:rPr lang="en-US" altLang="zh-TW" dirty="0"/>
              <a:t>The library staff (</a:t>
            </a:r>
            <a:r>
              <a:rPr lang="en-US" altLang="zh-TW" dirty="0">
                <a:solidFill>
                  <a:srgbClr val="C00000"/>
                </a:solidFill>
              </a:rPr>
              <a:t>Block Layer</a:t>
            </a:r>
            <a:r>
              <a:rPr lang="en-US" altLang="zh-TW" dirty="0"/>
              <a:t>) physically gets the book from the correct shelf and slot (</a:t>
            </a:r>
            <a:r>
              <a:rPr lang="en-US" altLang="zh-TW" dirty="0">
                <a:solidFill>
                  <a:srgbClr val="C00000"/>
                </a:solidFill>
              </a:rPr>
              <a:t>Devices</a:t>
            </a:r>
            <a:r>
              <a:rPr lang="en-US" altLang="zh-TW" dirty="0"/>
              <a:t> analog to bookshelves).</a:t>
            </a:r>
          </a:p>
        </p:txBody>
      </p:sp>
      <p:sp>
        <p:nvSpPr>
          <p:cNvPr id="4" name="投影片編號版面配置區 3">
            <a:extLst>
              <a:ext uri="{FF2B5EF4-FFF2-40B4-BE49-F238E27FC236}">
                <a16:creationId xmlns:a16="http://schemas.microsoft.com/office/drawing/2014/main" id="{91AE2619-3F0E-2ADE-FD9B-43C3CD788C1B}"/>
              </a:ext>
            </a:extLst>
          </p:cNvPr>
          <p:cNvSpPr>
            <a:spLocks noGrp="1"/>
          </p:cNvSpPr>
          <p:nvPr>
            <p:ph type="sldNum" sz="quarter" idx="4"/>
          </p:nvPr>
        </p:nvSpPr>
        <p:spPr/>
        <p:txBody>
          <a:bodyPr/>
          <a:lstStyle/>
          <a:p>
            <a:fld id="{E24E6636-6BA5-4AAC-8485-BE8D914D288B}" type="slidenum">
              <a:rPr lang="zh-TW" altLang="en-US" smtClean="0"/>
              <a:pPr/>
              <a:t>2</a:t>
            </a:fld>
            <a:endParaRPr lang="zh-TW" altLang="en-US" dirty="0"/>
          </a:p>
        </p:txBody>
      </p:sp>
      <p:sp>
        <p:nvSpPr>
          <p:cNvPr id="27" name="矩形 57">
            <a:extLst>
              <a:ext uri="{FF2B5EF4-FFF2-40B4-BE49-F238E27FC236}">
                <a16:creationId xmlns:a16="http://schemas.microsoft.com/office/drawing/2014/main" id="{8074A4A4-961F-854A-45E9-C7066960EE77}"/>
              </a:ext>
            </a:extLst>
          </p:cNvPr>
          <p:cNvSpPr/>
          <p:nvPr/>
        </p:nvSpPr>
        <p:spPr>
          <a:xfrm>
            <a:off x="9991857" y="488855"/>
            <a:ext cx="1567121" cy="316058"/>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Process</a:t>
            </a:r>
            <a:endParaRPr kumimoji="1" lang="zh-TW" altLang="en-US" sz="1600" dirty="0">
              <a:solidFill>
                <a:schemeClr val="tx1"/>
              </a:solidFill>
              <a:cs typeface="Arial" panose="020B0604020202020204" pitchFamily="34" charset="0"/>
            </a:endParaRPr>
          </a:p>
        </p:txBody>
      </p:sp>
      <p:sp>
        <p:nvSpPr>
          <p:cNvPr id="28" name="矩形 57">
            <a:extLst>
              <a:ext uri="{FF2B5EF4-FFF2-40B4-BE49-F238E27FC236}">
                <a16:creationId xmlns:a16="http://schemas.microsoft.com/office/drawing/2014/main" id="{2EAAE5C4-BBBC-95C2-2CF5-9749BBE97B51}"/>
              </a:ext>
            </a:extLst>
          </p:cNvPr>
          <p:cNvSpPr/>
          <p:nvPr/>
        </p:nvSpPr>
        <p:spPr>
          <a:xfrm>
            <a:off x="10018054" y="2310960"/>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Virtual</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File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System</a:t>
            </a:r>
            <a:endParaRPr kumimoji="1" lang="zh-TW" altLang="en-US" sz="1600" dirty="0">
              <a:solidFill>
                <a:schemeClr val="tx1"/>
              </a:solidFill>
              <a:cs typeface="Arial" panose="020B0604020202020204" pitchFamily="34" charset="0"/>
            </a:endParaRPr>
          </a:p>
        </p:txBody>
      </p:sp>
      <p:sp>
        <p:nvSpPr>
          <p:cNvPr id="29" name="矩形 57">
            <a:extLst>
              <a:ext uri="{FF2B5EF4-FFF2-40B4-BE49-F238E27FC236}">
                <a16:creationId xmlns:a16="http://schemas.microsoft.com/office/drawing/2014/main" id="{7A641741-1284-6416-5E6F-69126752E22D}"/>
              </a:ext>
            </a:extLst>
          </p:cNvPr>
          <p:cNvSpPr/>
          <p:nvPr/>
        </p:nvSpPr>
        <p:spPr>
          <a:xfrm>
            <a:off x="10018055" y="3090043"/>
            <a:ext cx="921104"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Page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Cache</a:t>
            </a:r>
            <a:endParaRPr kumimoji="1" lang="zh-TW" altLang="en-US" sz="1600" dirty="0">
              <a:solidFill>
                <a:schemeClr val="tx1"/>
              </a:solidFill>
              <a:cs typeface="Arial" panose="020B0604020202020204" pitchFamily="34" charset="0"/>
            </a:endParaRPr>
          </a:p>
        </p:txBody>
      </p:sp>
      <p:sp>
        <p:nvSpPr>
          <p:cNvPr id="30" name="矩形 57">
            <a:extLst>
              <a:ext uri="{FF2B5EF4-FFF2-40B4-BE49-F238E27FC236}">
                <a16:creationId xmlns:a16="http://schemas.microsoft.com/office/drawing/2014/main" id="{FBE3D638-7371-F598-3802-25C37B143225}"/>
              </a:ext>
            </a:extLst>
          </p:cNvPr>
          <p:cNvSpPr/>
          <p:nvPr/>
        </p:nvSpPr>
        <p:spPr>
          <a:xfrm>
            <a:off x="10018054" y="3869126"/>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Filesystems</a:t>
            </a:r>
            <a:br>
              <a:rPr kumimoji="1" lang="en-US" altLang="zh-TW" sz="1600" dirty="0">
                <a:solidFill>
                  <a:schemeClr val="tx1"/>
                </a:solidFill>
                <a:cs typeface="Arial" panose="020B0604020202020204" pitchFamily="34" charset="0"/>
              </a:rPr>
            </a:br>
            <a:r>
              <a:rPr kumimoji="1" lang="en-US" altLang="zh-TW" sz="1600" dirty="0">
                <a:solidFill>
                  <a:schemeClr val="tx1"/>
                </a:solidFill>
                <a:cs typeface="Arial" panose="020B0604020202020204" pitchFamily="34" charset="0"/>
              </a:rPr>
              <a:t>(Ext4, XFS, …)</a:t>
            </a:r>
            <a:endParaRPr kumimoji="1" lang="zh-TW" altLang="en-US" sz="1600" dirty="0">
              <a:solidFill>
                <a:schemeClr val="tx1"/>
              </a:solidFill>
              <a:cs typeface="Arial" panose="020B0604020202020204" pitchFamily="34" charset="0"/>
            </a:endParaRPr>
          </a:p>
        </p:txBody>
      </p:sp>
      <p:cxnSp>
        <p:nvCxnSpPr>
          <p:cNvPr id="35" name="直線接點 34">
            <a:extLst>
              <a:ext uri="{FF2B5EF4-FFF2-40B4-BE49-F238E27FC236}">
                <a16:creationId xmlns:a16="http://schemas.microsoft.com/office/drawing/2014/main" id="{A3568A74-6323-8FAA-1880-EB913C1C68BF}"/>
              </a:ext>
            </a:extLst>
          </p:cNvPr>
          <p:cNvCxnSpPr>
            <a:cxnSpLocks/>
          </p:cNvCxnSpPr>
          <p:nvPr/>
        </p:nvCxnSpPr>
        <p:spPr>
          <a:xfrm>
            <a:off x="9378696" y="2083190"/>
            <a:ext cx="284583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8" name="文字方塊 37">
            <a:extLst>
              <a:ext uri="{FF2B5EF4-FFF2-40B4-BE49-F238E27FC236}">
                <a16:creationId xmlns:a16="http://schemas.microsoft.com/office/drawing/2014/main" id="{805BF980-6F95-22D8-EFAD-C90B79FAE33C}"/>
              </a:ext>
            </a:extLst>
          </p:cNvPr>
          <p:cNvSpPr txBox="1"/>
          <p:nvPr/>
        </p:nvSpPr>
        <p:spPr>
          <a:xfrm>
            <a:off x="9284226" y="1746208"/>
            <a:ext cx="1041952" cy="338554"/>
          </a:xfrm>
          <a:prstGeom prst="rect">
            <a:avLst/>
          </a:prstGeom>
          <a:noFill/>
        </p:spPr>
        <p:txBody>
          <a:bodyPr wrap="none" rtlCol="0">
            <a:spAutoFit/>
          </a:bodyPr>
          <a:lstStyle/>
          <a:p>
            <a:r>
              <a:rPr kumimoji="1" lang="en-US" altLang="zh-TW" sz="1600" dirty="0" err="1"/>
              <a:t>Userspace</a:t>
            </a:r>
            <a:endParaRPr kumimoji="1" lang="zh-TW" altLang="en-US" sz="1600" dirty="0"/>
          </a:p>
        </p:txBody>
      </p:sp>
      <p:sp>
        <p:nvSpPr>
          <p:cNvPr id="39" name="文字方塊 38">
            <a:extLst>
              <a:ext uri="{FF2B5EF4-FFF2-40B4-BE49-F238E27FC236}">
                <a16:creationId xmlns:a16="http://schemas.microsoft.com/office/drawing/2014/main" id="{51929897-E7DA-565E-9B54-FE20006F0C83}"/>
              </a:ext>
            </a:extLst>
          </p:cNvPr>
          <p:cNvSpPr txBox="1"/>
          <p:nvPr/>
        </p:nvSpPr>
        <p:spPr>
          <a:xfrm>
            <a:off x="9284226" y="2065944"/>
            <a:ext cx="719556" cy="338554"/>
          </a:xfrm>
          <a:prstGeom prst="rect">
            <a:avLst/>
          </a:prstGeom>
          <a:noFill/>
        </p:spPr>
        <p:txBody>
          <a:bodyPr wrap="none" rtlCol="0">
            <a:spAutoFit/>
          </a:bodyPr>
          <a:lstStyle/>
          <a:p>
            <a:r>
              <a:rPr kumimoji="1" lang="en-US" altLang="zh-TW" sz="1600" dirty="0"/>
              <a:t>Kernel</a:t>
            </a:r>
            <a:endParaRPr kumimoji="1" lang="zh-TW" altLang="en-US" sz="1600" dirty="0"/>
          </a:p>
        </p:txBody>
      </p:sp>
      <p:sp>
        <p:nvSpPr>
          <p:cNvPr id="40" name="文字方塊 39">
            <a:extLst>
              <a:ext uri="{FF2B5EF4-FFF2-40B4-BE49-F238E27FC236}">
                <a16:creationId xmlns:a16="http://schemas.microsoft.com/office/drawing/2014/main" id="{1A9BEE5F-332C-8492-9BF0-2B0485738AC4}"/>
              </a:ext>
            </a:extLst>
          </p:cNvPr>
          <p:cNvSpPr txBox="1"/>
          <p:nvPr/>
        </p:nvSpPr>
        <p:spPr>
          <a:xfrm>
            <a:off x="11098543" y="1518120"/>
            <a:ext cx="1095364" cy="584775"/>
          </a:xfrm>
          <a:prstGeom prst="rect">
            <a:avLst/>
          </a:prstGeom>
          <a:noFill/>
        </p:spPr>
        <p:txBody>
          <a:bodyPr wrap="none" rtlCol="0">
            <a:spAutoFit/>
          </a:bodyPr>
          <a:lstStyle/>
          <a:p>
            <a:r>
              <a:rPr kumimoji="1" lang="en-US" altLang="zh-TW" sz="1600" dirty="0"/>
              <a:t>sys_read()</a:t>
            </a:r>
          </a:p>
          <a:p>
            <a:r>
              <a:rPr kumimoji="1" lang="en-US" altLang="zh-TW" sz="1600" dirty="0"/>
              <a:t>sys_write()</a:t>
            </a:r>
            <a:endParaRPr kumimoji="1" lang="zh-TW" altLang="en-US" sz="1600" dirty="0"/>
          </a:p>
        </p:txBody>
      </p:sp>
      <p:cxnSp>
        <p:nvCxnSpPr>
          <p:cNvPr id="42" name="直線箭頭接點 41">
            <a:extLst>
              <a:ext uri="{FF2B5EF4-FFF2-40B4-BE49-F238E27FC236}">
                <a16:creationId xmlns:a16="http://schemas.microsoft.com/office/drawing/2014/main" id="{F4E4F138-DFEF-B847-9063-B3D1AFE9C9A6}"/>
              </a:ext>
            </a:extLst>
          </p:cNvPr>
          <p:cNvCxnSpPr>
            <a:cxnSpLocks/>
          </p:cNvCxnSpPr>
          <p:nvPr/>
        </p:nvCxnSpPr>
        <p:spPr>
          <a:xfrm>
            <a:off x="11246257" y="2850960"/>
            <a:ext cx="0" cy="101816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直線箭頭接點 45">
            <a:extLst>
              <a:ext uri="{FF2B5EF4-FFF2-40B4-BE49-F238E27FC236}">
                <a16:creationId xmlns:a16="http://schemas.microsoft.com/office/drawing/2014/main" id="{74A05AB7-7C0C-17C9-D0E9-5AF1EB8C8607}"/>
              </a:ext>
            </a:extLst>
          </p:cNvPr>
          <p:cNvCxnSpPr>
            <a:cxnSpLocks/>
          </p:cNvCxnSpPr>
          <p:nvPr/>
        </p:nvCxnSpPr>
        <p:spPr>
          <a:xfrm flipH="1">
            <a:off x="10801613" y="1518120"/>
            <a:ext cx="0" cy="77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7" name="群組 6">
            <a:extLst>
              <a:ext uri="{FF2B5EF4-FFF2-40B4-BE49-F238E27FC236}">
                <a16:creationId xmlns:a16="http://schemas.microsoft.com/office/drawing/2014/main" id="{5F181D5B-FF97-B4F8-CDF0-50776087560B}"/>
              </a:ext>
            </a:extLst>
          </p:cNvPr>
          <p:cNvGrpSpPr/>
          <p:nvPr/>
        </p:nvGrpSpPr>
        <p:grpSpPr>
          <a:xfrm>
            <a:off x="10018054" y="5990152"/>
            <a:ext cx="1567121" cy="756222"/>
            <a:chOff x="9713254" y="5967292"/>
            <a:chExt cx="1567121" cy="756222"/>
          </a:xfrm>
        </p:grpSpPr>
        <p:sp>
          <p:nvSpPr>
            <p:cNvPr id="33" name="矩形 57">
              <a:extLst>
                <a:ext uri="{FF2B5EF4-FFF2-40B4-BE49-F238E27FC236}">
                  <a16:creationId xmlns:a16="http://schemas.microsoft.com/office/drawing/2014/main" id="{94959379-720C-9393-D32E-416FA1A6D8DA}"/>
                </a:ext>
              </a:extLst>
            </p:cNvPr>
            <p:cNvSpPr/>
            <p:nvPr/>
          </p:nvSpPr>
          <p:spPr>
            <a:xfrm>
              <a:off x="9713254" y="6183514"/>
              <a:ext cx="1567121" cy="540000"/>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Devices</a:t>
              </a:r>
              <a:r>
                <a:rPr kumimoji="1" lang="zh-TW" altLang="en-US" sz="1600" dirty="0">
                  <a:solidFill>
                    <a:schemeClr val="tx1"/>
                  </a:solidFill>
                  <a:cs typeface="Arial" panose="020B0604020202020204" pitchFamily="34" charset="0"/>
                </a:rPr>
                <a:t> </a:t>
              </a:r>
              <a:endParaRPr kumimoji="1" lang="en-US" altLang="zh-TW" sz="1600" dirty="0">
                <a:solidFill>
                  <a:schemeClr val="tx1"/>
                </a:solidFill>
                <a:cs typeface="Arial" panose="020B0604020202020204" pitchFamily="34" charset="0"/>
              </a:endParaRPr>
            </a:p>
            <a:p>
              <a:pPr algn="ctr"/>
              <a:r>
                <a:rPr kumimoji="1" lang="en-US" altLang="zh-TW" sz="1600" dirty="0">
                  <a:solidFill>
                    <a:schemeClr val="tx1"/>
                  </a:solidFill>
                  <a:cs typeface="Arial" panose="020B0604020202020204" pitchFamily="34" charset="0"/>
                </a:rPr>
                <a:t>(e.g.,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HDD,</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SSD)</a:t>
              </a:r>
              <a:endParaRPr kumimoji="1" lang="zh-TW" altLang="en-US" sz="1600" dirty="0">
                <a:solidFill>
                  <a:schemeClr val="tx1"/>
                </a:solidFill>
                <a:cs typeface="Arial" panose="020B0604020202020204" pitchFamily="34" charset="0"/>
              </a:endParaRPr>
            </a:p>
          </p:txBody>
        </p:sp>
        <p:cxnSp>
          <p:nvCxnSpPr>
            <p:cNvPr id="48" name="直線箭頭接點 47">
              <a:extLst>
                <a:ext uri="{FF2B5EF4-FFF2-40B4-BE49-F238E27FC236}">
                  <a16:creationId xmlns:a16="http://schemas.microsoft.com/office/drawing/2014/main" id="{61930ECB-D583-86B7-27F8-E842F245CEF1}"/>
                </a:ext>
              </a:extLst>
            </p:cNvPr>
            <p:cNvCxnSpPr>
              <a:cxnSpLocks/>
              <a:stCxn id="32" idx="2"/>
            </p:cNvCxnSpPr>
            <p:nvPr/>
          </p:nvCxnSpPr>
          <p:spPr>
            <a:xfrm flipH="1">
              <a:off x="10801613" y="5967292"/>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6" name="群組 5">
            <a:extLst>
              <a:ext uri="{FF2B5EF4-FFF2-40B4-BE49-F238E27FC236}">
                <a16:creationId xmlns:a16="http://schemas.microsoft.com/office/drawing/2014/main" id="{58A72B7A-8CC7-49BF-6DDD-65DE90C9E787}"/>
              </a:ext>
            </a:extLst>
          </p:cNvPr>
          <p:cNvGrpSpPr/>
          <p:nvPr/>
        </p:nvGrpSpPr>
        <p:grpSpPr>
          <a:xfrm>
            <a:off x="10018054" y="5166466"/>
            <a:ext cx="1567121" cy="800826"/>
            <a:chOff x="9713254" y="5143606"/>
            <a:chExt cx="1567121" cy="800826"/>
          </a:xfrm>
        </p:grpSpPr>
        <p:sp>
          <p:nvSpPr>
            <p:cNvPr id="32" name="矩形 57">
              <a:extLst>
                <a:ext uri="{FF2B5EF4-FFF2-40B4-BE49-F238E27FC236}">
                  <a16:creationId xmlns:a16="http://schemas.microsoft.com/office/drawing/2014/main" id="{80ECE979-814B-0283-67C0-2A8950F90C4E}"/>
                </a:ext>
              </a:extLst>
            </p:cNvPr>
            <p:cNvSpPr/>
            <p:nvPr/>
          </p:nvSpPr>
          <p:spPr>
            <a:xfrm>
              <a:off x="9713254" y="5404432"/>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Device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Driver</a:t>
              </a:r>
              <a:endParaRPr kumimoji="1" lang="zh-TW" altLang="en-US" sz="1600" dirty="0">
                <a:solidFill>
                  <a:schemeClr val="tx1"/>
                </a:solidFill>
                <a:cs typeface="Arial" panose="020B0604020202020204" pitchFamily="34" charset="0"/>
              </a:endParaRPr>
            </a:p>
          </p:txBody>
        </p:sp>
        <p:cxnSp>
          <p:nvCxnSpPr>
            <p:cNvPr id="50" name="直線箭頭接點 49">
              <a:extLst>
                <a:ext uri="{FF2B5EF4-FFF2-40B4-BE49-F238E27FC236}">
                  <a16:creationId xmlns:a16="http://schemas.microsoft.com/office/drawing/2014/main" id="{4CB7DD8A-206E-BD91-296C-E69018602E9E}"/>
                </a:ext>
              </a:extLst>
            </p:cNvPr>
            <p:cNvCxnSpPr>
              <a:cxnSpLocks/>
            </p:cNvCxnSpPr>
            <p:nvPr/>
          </p:nvCxnSpPr>
          <p:spPr>
            <a:xfrm flipH="1">
              <a:off x="10470620" y="514360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5" name="群組 4">
            <a:extLst>
              <a:ext uri="{FF2B5EF4-FFF2-40B4-BE49-F238E27FC236}">
                <a16:creationId xmlns:a16="http://schemas.microsoft.com/office/drawing/2014/main" id="{2BC6E848-2E56-110B-BB89-70DAC51DD291}"/>
              </a:ext>
            </a:extLst>
          </p:cNvPr>
          <p:cNvGrpSpPr/>
          <p:nvPr/>
        </p:nvGrpSpPr>
        <p:grpSpPr>
          <a:xfrm>
            <a:off x="10018054" y="4409126"/>
            <a:ext cx="1567121" cy="779083"/>
            <a:chOff x="9713254" y="4386266"/>
            <a:chExt cx="1567121" cy="779083"/>
          </a:xfrm>
        </p:grpSpPr>
        <p:sp>
          <p:nvSpPr>
            <p:cNvPr id="31" name="矩形 57">
              <a:extLst>
                <a:ext uri="{FF2B5EF4-FFF2-40B4-BE49-F238E27FC236}">
                  <a16:creationId xmlns:a16="http://schemas.microsoft.com/office/drawing/2014/main" id="{80405E10-CF66-ECB2-04F9-4F20E93391EE}"/>
                </a:ext>
              </a:extLst>
            </p:cNvPr>
            <p:cNvSpPr/>
            <p:nvPr/>
          </p:nvSpPr>
          <p:spPr>
            <a:xfrm>
              <a:off x="9713254" y="4625349"/>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I/O</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Layer</a:t>
              </a:r>
              <a:endParaRPr kumimoji="1" lang="zh-TW" altLang="en-US" sz="1600" dirty="0">
                <a:solidFill>
                  <a:schemeClr val="tx1"/>
                </a:solidFill>
                <a:cs typeface="Arial" panose="020B0604020202020204" pitchFamily="34" charset="0"/>
              </a:endParaRPr>
            </a:p>
          </p:txBody>
        </p:sp>
        <p:cxnSp>
          <p:nvCxnSpPr>
            <p:cNvPr id="51" name="直線箭頭接點 50">
              <a:extLst>
                <a:ext uri="{FF2B5EF4-FFF2-40B4-BE49-F238E27FC236}">
                  <a16:creationId xmlns:a16="http://schemas.microsoft.com/office/drawing/2014/main" id="{D19932F1-3B59-E774-F83F-8F19024C62FB}"/>
                </a:ext>
              </a:extLst>
            </p:cNvPr>
            <p:cNvCxnSpPr>
              <a:cxnSpLocks/>
            </p:cNvCxnSpPr>
            <p:nvPr/>
          </p:nvCxnSpPr>
          <p:spPr>
            <a:xfrm flipH="1">
              <a:off x="10470618" y="438626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52" name="直線箭頭接點 51">
            <a:extLst>
              <a:ext uri="{FF2B5EF4-FFF2-40B4-BE49-F238E27FC236}">
                <a16:creationId xmlns:a16="http://schemas.microsoft.com/office/drawing/2014/main" id="{6763DFB0-1347-6FF8-4A7B-FDA1F64FF12B}"/>
              </a:ext>
            </a:extLst>
          </p:cNvPr>
          <p:cNvCxnSpPr>
            <a:cxnSpLocks/>
          </p:cNvCxnSpPr>
          <p:nvPr/>
        </p:nvCxnSpPr>
        <p:spPr>
          <a:xfrm flipH="1">
            <a:off x="10472673" y="3628894"/>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直線箭頭接點 52">
            <a:extLst>
              <a:ext uri="{FF2B5EF4-FFF2-40B4-BE49-F238E27FC236}">
                <a16:creationId xmlns:a16="http://schemas.microsoft.com/office/drawing/2014/main" id="{E0318CBC-592E-04B4-006C-21EE405C9FB1}"/>
              </a:ext>
            </a:extLst>
          </p:cNvPr>
          <p:cNvCxnSpPr>
            <a:cxnSpLocks/>
          </p:cNvCxnSpPr>
          <p:nvPr/>
        </p:nvCxnSpPr>
        <p:spPr>
          <a:xfrm flipH="1">
            <a:off x="10472671" y="2841492"/>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9232D1AE-DCDE-ADB0-1A36-F65C545D749D}"/>
              </a:ext>
            </a:extLst>
          </p:cNvPr>
          <p:cNvSpPr/>
          <p:nvPr/>
        </p:nvSpPr>
        <p:spPr>
          <a:xfrm>
            <a:off x="10010916" y="3867522"/>
            <a:ext cx="1581393" cy="53050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5" name="文字方塊 54">
            <a:extLst>
              <a:ext uri="{FF2B5EF4-FFF2-40B4-BE49-F238E27FC236}">
                <a16:creationId xmlns:a16="http://schemas.microsoft.com/office/drawing/2014/main" id="{F7E38FD0-BC5F-9804-541A-2D33F46DF828}"/>
              </a:ext>
            </a:extLst>
          </p:cNvPr>
          <p:cNvSpPr txBox="1"/>
          <p:nvPr/>
        </p:nvSpPr>
        <p:spPr>
          <a:xfrm>
            <a:off x="0" y="6598099"/>
            <a:ext cx="3822585" cy="276999"/>
          </a:xfrm>
          <a:prstGeom prst="rect">
            <a:avLst/>
          </a:prstGeom>
          <a:noFill/>
        </p:spPr>
        <p:txBody>
          <a:bodyPr wrap="none" rtlCol="0">
            <a:spAutoFit/>
          </a:bodyPr>
          <a:lstStyle/>
          <a:p>
            <a:r>
              <a:rPr kumimoji="1" lang="en-US" altLang="zh-TW" sz="1200" dirty="0">
                <a:solidFill>
                  <a:schemeClr val="bg1">
                    <a:lumMod val="75000"/>
                  </a:schemeClr>
                </a:solidFill>
              </a:rPr>
              <a:t>http://</a:t>
            </a:r>
            <a:r>
              <a:rPr kumimoji="1" lang="en-US" altLang="zh-TW" sz="1200" dirty="0" err="1">
                <a:solidFill>
                  <a:schemeClr val="bg1">
                    <a:lumMod val="75000"/>
                  </a:schemeClr>
                </a:solidFill>
              </a:rPr>
              <a:t>byteliu.com</a:t>
            </a:r>
            <a:r>
              <a:rPr kumimoji="1" lang="en-US" altLang="zh-TW" sz="1200" dirty="0">
                <a:solidFill>
                  <a:schemeClr val="bg1">
                    <a:lumMod val="75000"/>
                  </a:schemeClr>
                </a:solidFill>
              </a:rPr>
              <a:t>/2019/05/10/Linux-The-block-I-O-layer/</a:t>
            </a:r>
          </a:p>
        </p:txBody>
      </p:sp>
      <p:sp>
        <p:nvSpPr>
          <p:cNvPr id="69" name="矩形 57">
            <a:extLst>
              <a:ext uri="{FF2B5EF4-FFF2-40B4-BE49-F238E27FC236}">
                <a16:creationId xmlns:a16="http://schemas.microsoft.com/office/drawing/2014/main" id="{D2BF1C16-5E3C-6014-4802-123758AF425C}"/>
              </a:ext>
            </a:extLst>
          </p:cNvPr>
          <p:cNvSpPr/>
          <p:nvPr/>
        </p:nvSpPr>
        <p:spPr>
          <a:xfrm>
            <a:off x="10003782" y="1019567"/>
            <a:ext cx="1567121" cy="509756"/>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C-Standard Library (</a:t>
            </a:r>
            <a:r>
              <a:rPr kumimoji="1" lang="en-US" altLang="zh-TW" sz="1600" dirty="0" err="1">
                <a:solidFill>
                  <a:schemeClr val="tx1"/>
                </a:solidFill>
                <a:cs typeface="Arial" panose="020B0604020202020204" pitchFamily="34" charset="0"/>
              </a:rPr>
              <a:t>Libc</a:t>
            </a:r>
            <a:r>
              <a:rPr kumimoji="1" lang="en-US" altLang="zh-TW" sz="1600" dirty="0">
                <a:solidFill>
                  <a:schemeClr val="tx1"/>
                </a:solidFill>
                <a:cs typeface="Arial" panose="020B0604020202020204" pitchFamily="34" charset="0"/>
              </a:rPr>
              <a:t>)</a:t>
            </a:r>
            <a:endParaRPr kumimoji="1" lang="zh-TW" altLang="en-US" sz="1600" dirty="0">
              <a:solidFill>
                <a:schemeClr val="tx1"/>
              </a:solidFill>
              <a:cs typeface="Arial" panose="020B0604020202020204" pitchFamily="34" charset="0"/>
            </a:endParaRPr>
          </a:p>
        </p:txBody>
      </p:sp>
      <p:cxnSp>
        <p:nvCxnSpPr>
          <p:cNvPr id="70" name="直線箭頭接點 69">
            <a:extLst>
              <a:ext uri="{FF2B5EF4-FFF2-40B4-BE49-F238E27FC236}">
                <a16:creationId xmlns:a16="http://schemas.microsoft.com/office/drawing/2014/main" id="{56C117B2-AE71-412F-73D0-E45B1DFB4A59}"/>
              </a:ext>
            </a:extLst>
          </p:cNvPr>
          <p:cNvCxnSpPr>
            <a:cxnSpLocks/>
          </p:cNvCxnSpPr>
          <p:nvPr/>
        </p:nvCxnSpPr>
        <p:spPr>
          <a:xfrm flipH="1">
            <a:off x="10775415" y="800829"/>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文字方塊 71">
            <a:extLst>
              <a:ext uri="{FF2B5EF4-FFF2-40B4-BE49-F238E27FC236}">
                <a16:creationId xmlns:a16="http://schemas.microsoft.com/office/drawing/2014/main" id="{F79EDCF1-4F56-AB92-DD5E-B57CB98E7802}"/>
              </a:ext>
            </a:extLst>
          </p:cNvPr>
          <p:cNvSpPr txBox="1"/>
          <p:nvPr/>
        </p:nvSpPr>
        <p:spPr>
          <a:xfrm>
            <a:off x="0" y="6354182"/>
            <a:ext cx="6097656" cy="276999"/>
          </a:xfrm>
          <a:prstGeom prst="rect">
            <a:avLst/>
          </a:prstGeom>
          <a:noFill/>
        </p:spPr>
        <p:txBody>
          <a:bodyPr wrap="square">
            <a:spAutoFit/>
          </a:bodyPr>
          <a:lstStyle/>
          <a:p>
            <a:r>
              <a:rPr kumimoji="1" lang="zh-TW" altLang="en-US" sz="1200" dirty="0">
                <a:solidFill>
                  <a:schemeClr val="bg1">
                    <a:lumMod val="75000"/>
                  </a:schemeClr>
                </a:solidFill>
              </a:rPr>
              <a:t>https://en.wikipedia.org/wiki/File_system</a:t>
            </a:r>
          </a:p>
        </p:txBody>
      </p:sp>
    </p:spTree>
    <p:extLst>
      <p:ext uri="{BB962C8B-B14F-4D97-AF65-F5344CB8AC3E}">
        <p14:creationId xmlns:p14="http://schemas.microsoft.com/office/powerpoint/2010/main" val="359529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500"/>
                                        <p:tgtEl>
                                          <p:spTgt spid="5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500"/>
                                        <p:tgtEl>
                                          <p:spTgt spid="52"/>
                                        </p:tgtEl>
                                      </p:cBhvr>
                                    </p:animEffect>
                                  </p:childTnLst>
                                </p:cTn>
                              </p:par>
                              <p:par>
                                <p:cTn id="19" presetID="10"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fade">
                                      <p:cBhvr>
                                        <p:cTn id="31" dur="500"/>
                                        <p:tgtEl>
                                          <p:spTgt spid="5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animEffect transition="in" filter="fade">
                                      <p:cBhvr>
                                        <p:cTn id="36" dur="500"/>
                                        <p:tgtEl>
                                          <p:spTgt spid="3">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1" end="1"/>
                                            </p:txEl>
                                          </p:spTgt>
                                        </p:tgtEl>
                                        <p:attrNameLst>
                                          <p:attrName>style.visibility</p:attrName>
                                        </p:attrNameLst>
                                      </p:cBhvr>
                                      <p:to>
                                        <p:strVal val="visible"/>
                                      </p:to>
                                    </p:set>
                                    <p:animEffect transition="in" filter="fade">
                                      <p:cBhvr>
                                        <p:cTn id="41" dur="500"/>
                                        <p:tgtEl>
                                          <p:spTgt spid="3">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fade">
                                      <p:cBhvr>
                                        <p:cTn id="46" dur="500"/>
                                        <p:tgtEl>
                                          <p:spTgt spid="3">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3" end="3"/>
                                            </p:txEl>
                                          </p:spTgt>
                                        </p:tgtEl>
                                        <p:attrNameLst>
                                          <p:attrName>style.visibility</p:attrName>
                                        </p:attrNameLst>
                                      </p:cBhvr>
                                      <p:to>
                                        <p:strVal val="visible"/>
                                      </p:to>
                                    </p:set>
                                    <p:animEffect transition="in" filter="fade">
                                      <p:cBhvr>
                                        <p:cTn id="51" dur="500"/>
                                        <p:tgtEl>
                                          <p:spTgt spid="3">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4" end="4"/>
                                            </p:txEl>
                                          </p:spTgt>
                                        </p:tgtEl>
                                        <p:attrNameLst>
                                          <p:attrName>style.visibility</p:attrName>
                                        </p:attrNameLst>
                                      </p:cBhvr>
                                      <p:to>
                                        <p:strVal val="visible"/>
                                      </p:to>
                                    </p:set>
                                    <p:animEffect transition="in" filter="fade">
                                      <p:cBhvr>
                                        <p:cTn id="56" dur="500"/>
                                        <p:tgtEl>
                                          <p:spTgt spid="3">
                                            <p:txEl>
                                              <p:pRg st="4" end="4"/>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mph" presetSubtype="0" nodeType="clickEffect">
                                  <p:stCondLst>
                                    <p:cond delay="0"/>
                                  </p:stCondLst>
                                  <p:childTnLst>
                                    <p:set>
                                      <p:cBhvr>
                                        <p:cTn id="60" dur="indefinite"/>
                                        <p:tgtEl>
                                          <p:spTgt spid="3">
                                            <p:txEl>
                                              <p:pRg st="0" end="0"/>
                                            </p:txEl>
                                          </p:spTgt>
                                        </p:tgtEl>
                                        <p:attrNameLst>
                                          <p:attrName>style.opacity</p:attrName>
                                        </p:attrNameLst>
                                      </p:cBhvr>
                                      <p:to>
                                        <p:strVal val="0.25"/>
                                      </p:to>
                                    </p:set>
                                    <p:animEffect filter="image" prLst="opacity: 0.25">
                                      <p:cBhvr rctx="IE">
                                        <p:cTn id="61" dur="indefinite"/>
                                        <p:tgtEl>
                                          <p:spTgt spid="3">
                                            <p:txEl>
                                              <p:pRg st="0" end="0"/>
                                            </p:txEl>
                                          </p:spTgt>
                                        </p:tgtEl>
                                      </p:cBhvr>
                                    </p:animEffect>
                                  </p:childTnLst>
                                </p:cTn>
                              </p:par>
                              <p:par>
                                <p:cTn id="62" presetID="9" presetClass="emph" presetSubtype="0" nodeType="withEffect">
                                  <p:stCondLst>
                                    <p:cond delay="0"/>
                                  </p:stCondLst>
                                  <p:childTnLst>
                                    <p:set>
                                      <p:cBhvr>
                                        <p:cTn id="63" dur="indefinite"/>
                                        <p:tgtEl>
                                          <p:spTgt spid="3">
                                            <p:txEl>
                                              <p:pRg st="1" end="1"/>
                                            </p:txEl>
                                          </p:spTgt>
                                        </p:tgtEl>
                                        <p:attrNameLst>
                                          <p:attrName>style.opacity</p:attrName>
                                        </p:attrNameLst>
                                      </p:cBhvr>
                                      <p:to>
                                        <p:strVal val="0.25"/>
                                      </p:to>
                                    </p:set>
                                    <p:animEffect filter="image" prLst="opacity: 0.25">
                                      <p:cBhvr rctx="IE">
                                        <p:cTn id="64" dur="indefinite"/>
                                        <p:tgtEl>
                                          <p:spTgt spid="3">
                                            <p:txEl>
                                              <p:pRg st="1" end="1"/>
                                            </p:txEl>
                                          </p:spTgt>
                                        </p:tgtEl>
                                      </p:cBhvr>
                                    </p:animEffect>
                                  </p:childTnLst>
                                </p:cTn>
                              </p:par>
                              <p:par>
                                <p:cTn id="65" presetID="9" presetClass="emph" presetSubtype="0" nodeType="withEffect">
                                  <p:stCondLst>
                                    <p:cond delay="0"/>
                                  </p:stCondLst>
                                  <p:childTnLst>
                                    <p:set>
                                      <p:cBhvr>
                                        <p:cTn id="66" dur="indefinite"/>
                                        <p:tgtEl>
                                          <p:spTgt spid="3">
                                            <p:txEl>
                                              <p:pRg st="2" end="2"/>
                                            </p:txEl>
                                          </p:spTgt>
                                        </p:tgtEl>
                                        <p:attrNameLst>
                                          <p:attrName>style.opacity</p:attrName>
                                        </p:attrNameLst>
                                      </p:cBhvr>
                                      <p:to>
                                        <p:strVal val="0.25"/>
                                      </p:to>
                                    </p:set>
                                    <p:animEffect filter="image" prLst="opacity: 0.25">
                                      <p:cBhvr rctx="IE">
                                        <p:cTn id="67" dur="indefinite"/>
                                        <p:tgtEl>
                                          <p:spTgt spid="3">
                                            <p:txEl>
                                              <p:pRg st="2" end="2"/>
                                            </p:txEl>
                                          </p:spTgt>
                                        </p:tgtEl>
                                      </p:cBhvr>
                                    </p:animEffect>
                                  </p:childTnLst>
                                </p:cTn>
                              </p:par>
                              <p:par>
                                <p:cTn id="68" presetID="9" presetClass="emph" presetSubtype="0" nodeType="withEffect">
                                  <p:stCondLst>
                                    <p:cond delay="0"/>
                                  </p:stCondLst>
                                  <p:childTnLst>
                                    <p:set>
                                      <p:cBhvr>
                                        <p:cTn id="69" dur="indefinite"/>
                                        <p:tgtEl>
                                          <p:spTgt spid="3">
                                            <p:txEl>
                                              <p:pRg st="3" end="3"/>
                                            </p:txEl>
                                          </p:spTgt>
                                        </p:tgtEl>
                                        <p:attrNameLst>
                                          <p:attrName>style.opacity</p:attrName>
                                        </p:attrNameLst>
                                      </p:cBhvr>
                                      <p:to>
                                        <p:strVal val="0.25"/>
                                      </p:to>
                                    </p:set>
                                    <p:animEffect filter="image" prLst="opacity: 0.25">
                                      <p:cBhvr rctx="IE">
                                        <p:cTn id="70" dur="indefinite"/>
                                        <p:tgtEl>
                                          <p:spTgt spid="3">
                                            <p:txEl>
                                              <p:pRg st="3" end="3"/>
                                            </p:txEl>
                                          </p:spTgt>
                                        </p:tgtEl>
                                      </p:cBhvr>
                                    </p:animEffect>
                                  </p:childTnLst>
                                </p:cTn>
                              </p:par>
                              <p:par>
                                <p:cTn id="71" presetID="9" presetClass="emph" presetSubtype="0" nodeType="withEffect">
                                  <p:stCondLst>
                                    <p:cond delay="0"/>
                                  </p:stCondLst>
                                  <p:childTnLst>
                                    <p:set>
                                      <p:cBhvr>
                                        <p:cTn id="72" dur="indefinite"/>
                                        <p:tgtEl>
                                          <p:spTgt spid="3">
                                            <p:txEl>
                                              <p:pRg st="4" end="4"/>
                                            </p:txEl>
                                          </p:spTgt>
                                        </p:tgtEl>
                                        <p:attrNameLst>
                                          <p:attrName>style.opacity</p:attrName>
                                        </p:attrNameLst>
                                      </p:cBhvr>
                                      <p:to>
                                        <p:strVal val="0.25"/>
                                      </p:to>
                                    </p:set>
                                    <p:animEffect filter="image" prLst="opacity: 0.25">
                                      <p:cBhvr rctx="IE">
                                        <p:cTn id="73" dur="indefinite"/>
                                        <p:tgtEl>
                                          <p:spTgt spid="3">
                                            <p:txEl>
                                              <p:pRg st="4" end="4"/>
                                            </p:txEl>
                                          </p:spTgt>
                                        </p:tgtEl>
                                      </p:cBhvr>
                                    </p:animEffect>
                                  </p:childTnLst>
                                </p:cTn>
                              </p:par>
                              <p:par>
                                <p:cTn id="74" presetID="22" presetClass="entr" presetSubtype="1" fill="hold" nodeType="withEffect">
                                  <p:stCondLst>
                                    <p:cond delay="0"/>
                                  </p:stCondLst>
                                  <p:childTnLst>
                                    <p:set>
                                      <p:cBhvr>
                                        <p:cTn id="75" dur="1" fill="hold">
                                          <p:stCondLst>
                                            <p:cond delay="0"/>
                                          </p:stCondLst>
                                        </p:cTn>
                                        <p:tgtEl>
                                          <p:spTgt spid="3">
                                            <p:txEl>
                                              <p:pRg st="5" end="5"/>
                                            </p:txEl>
                                          </p:spTgt>
                                        </p:tgtEl>
                                        <p:attrNameLst>
                                          <p:attrName>style.visibility</p:attrName>
                                        </p:attrNameLst>
                                      </p:cBhvr>
                                      <p:to>
                                        <p:strVal val="visible"/>
                                      </p:to>
                                    </p:set>
                                    <p:animEffect transition="in" filter="wipe(up)">
                                      <p:cBhvr>
                                        <p:cTn id="76" dur="500"/>
                                        <p:tgtEl>
                                          <p:spTgt spid="3">
                                            <p:txEl>
                                              <p:pRg st="5" end="5"/>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nodeType="clickEffect">
                                  <p:stCondLst>
                                    <p:cond delay="0"/>
                                  </p:stCondLst>
                                  <p:childTnLst>
                                    <p:set>
                                      <p:cBhvr>
                                        <p:cTn id="80" dur="1" fill="hold">
                                          <p:stCondLst>
                                            <p:cond delay="0"/>
                                          </p:stCondLst>
                                        </p:cTn>
                                        <p:tgtEl>
                                          <p:spTgt spid="3">
                                            <p:txEl>
                                              <p:pRg st="6" end="6"/>
                                            </p:txEl>
                                          </p:spTgt>
                                        </p:tgtEl>
                                        <p:attrNameLst>
                                          <p:attrName>style.visibility</p:attrName>
                                        </p:attrNameLst>
                                      </p:cBhvr>
                                      <p:to>
                                        <p:strVal val="visible"/>
                                      </p:to>
                                    </p:set>
                                    <p:animEffect transition="in" filter="wipe(up)">
                                      <p:cBhvr>
                                        <p:cTn id="81" dur="500"/>
                                        <p:tgtEl>
                                          <p:spTgt spid="3">
                                            <p:txEl>
                                              <p:pRg st="6" end="6"/>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3">
                                            <p:txEl>
                                              <p:pRg st="7" end="7"/>
                                            </p:txEl>
                                          </p:spTgt>
                                        </p:tgtEl>
                                        <p:attrNameLst>
                                          <p:attrName>style.visibility</p:attrName>
                                        </p:attrNameLst>
                                      </p:cBhvr>
                                      <p:to>
                                        <p:strVal val="visible"/>
                                      </p:to>
                                    </p:set>
                                    <p:animEffect transition="in" filter="wipe(up)">
                                      <p:cBhvr>
                                        <p:cTn id="86" dur="500"/>
                                        <p:tgtEl>
                                          <p:spTgt spid="3">
                                            <p:txEl>
                                              <p:pRg st="7" end="7"/>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3">
                                            <p:txEl>
                                              <p:pRg st="8" end="8"/>
                                            </p:txEl>
                                          </p:spTgt>
                                        </p:tgtEl>
                                        <p:attrNameLst>
                                          <p:attrName>style.visibility</p:attrName>
                                        </p:attrNameLst>
                                      </p:cBhvr>
                                      <p:to>
                                        <p:strVal val="visible"/>
                                      </p:to>
                                    </p:set>
                                    <p:animEffect transition="in" filter="wipe(up)">
                                      <p:cBhvr>
                                        <p:cTn id="9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5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5EDE40-2088-FCE9-F6C9-E477446445E9}"/>
              </a:ext>
            </a:extLst>
          </p:cNvPr>
          <p:cNvSpPr>
            <a:spLocks noGrp="1"/>
          </p:cNvSpPr>
          <p:nvPr>
            <p:ph type="title"/>
          </p:nvPr>
        </p:nvSpPr>
        <p:spPr/>
        <p:txBody>
          <a:bodyPr/>
          <a:lstStyle/>
          <a:p>
            <a:r>
              <a:rPr lang="en-US" altLang="zh-TW" dirty="0"/>
              <a:t>Filesystem – </a:t>
            </a:r>
            <a:r>
              <a:rPr kumimoji="1" lang="en-US" altLang="zh-TW" dirty="0"/>
              <a:t>File and Directories</a:t>
            </a:r>
            <a:endParaRPr kumimoji="1" lang="zh-TW" altLang="en-US" dirty="0"/>
          </a:p>
        </p:txBody>
      </p:sp>
      <p:sp>
        <p:nvSpPr>
          <p:cNvPr id="3" name="內容版面配置區 2">
            <a:extLst>
              <a:ext uri="{FF2B5EF4-FFF2-40B4-BE49-F238E27FC236}">
                <a16:creationId xmlns:a16="http://schemas.microsoft.com/office/drawing/2014/main" id="{DF76D294-7231-1FF9-F74E-AFE18CFEB997}"/>
              </a:ext>
            </a:extLst>
          </p:cNvPr>
          <p:cNvSpPr>
            <a:spLocks noGrp="1"/>
          </p:cNvSpPr>
          <p:nvPr>
            <p:ph idx="1"/>
          </p:nvPr>
        </p:nvSpPr>
        <p:spPr/>
        <p:txBody>
          <a:bodyPr>
            <a:normAutofit/>
          </a:bodyPr>
          <a:lstStyle/>
          <a:p>
            <a:r>
              <a:rPr kumimoji="1" lang="en-US" altLang="zh-TW" dirty="0"/>
              <a:t>File: a linear array of bytes that can be read/written</a:t>
            </a:r>
          </a:p>
          <a:p>
            <a:pPr lvl="1"/>
            <a:r>
              <a:rPr kumimoji="1" lang="en-US" altLang="zh-TW" dirty="0"/>
              <a:t>Each file has a low-level name (or </a:t>
            </a:r>
            <a:r>
              <a:rPr kumimoji="1" lang="en-US" altLang="zh-TW" dirty="0" err="1">
                <a:solidFill>
                  <a:srgbClr val="C00000"/>
                </a:solidFill>
              </a:rPr>
              <a:t>inode</a:t>
            </a:r>
            <a:r>
              <a:rPr kumimoji="1" lang="en-US" altLang="zh-TW" dirty="0">
                <a:solidFill>
                  <a:srgbClr val="C00000"/>
                </a:solidFill>
              </a:rPr>
              <a:t> number</a:t>
            </a:r>
            <a:r>
              <a:rPr kumimoji="1" lang="en-US" altLang="zh-TW" dirty="0"/>
              <a:t>) that </a:t>
            </a:r>
            <a:r>
              <a:rPr kumimoji="1" lang="en-US" altLang="zh-TW" dirty="0">
                <a:solidFill>
                  <a:srgbClr val="C00000"/>
                </a:solidFill>
              </a:rPr>
              <a:t>uniquely identifies</a:t>
            </a:r>
            <a:r>
              <a:rPr kumimoji="1" lang="en-US" altLang="zh-TW" dirty="0"/>
              <a:t> itself in the file system. (Often, the user is not aware of this name.)</a:t>
            </a:r>
          </a:p>
          <a:p>
            <a:pPr lvl="1"/>
            <a:r>
              <a:rPr kumimoji="1" lang="en-US" altLang="zh-TW" dirty="0"/>
              <a:t>A directory is just a </a:t>
            </a:r>
            <a:r>
              <a:rPr kumimoji="1" lang="en-US" altLang="zh-TW" dirty="0">
                <a:solidFill>
                  <a:srgbClr val="C00000"/>
                </a:solidFill>
              </a:rPr>
              <a:t>special type of file </a:t>
            </a:r>
            <a:r>
              <a:rPr kumimoji="1" lang="en-US" altLang="zh-TW" dirty="0"/>
              <a:t>with specific content. </a:t>
            </a:r>
          </a:p>
          <a:p>
            <a:pPr lvl="1"/>
            <a:r>
              <a:rPr lang="en-US" altLang="zh-TW" dirty="0"/>
              <a:t>Each</a:t>
            </a:r>
            <a:r>
              <a:rPr kumimoji="1" lang="en-US" altLang="zh-TW" dirty="0"/>
              <a:t> directory has an </a:t>
            </a:r>
            <a:r>
              <a:rPr kumimoji="1" lang="en-US" altLang="zh-TW" dirty="0" err="1"/>
              <a:t>inode</a:t>
            </a:r>
            <a:r>
              <a:rPr kumimoji="1" lang="en-US" altLang="zh-TW" dirty="0"/>
              <a:t> number as well.</a:t>
            </a:r>
          </a:p>
          <a:p>
            <a:r>
              <a:rPr lang="en-US" altLang="zh-TW" dirty="0"/>
              <a:t>Directory Tree (Leaf node: File, Non-Leaf node: Directory):</a:t>
            </a:r>
          </a:p>
          <a:p>
            <a:pPr lvl="1"/>
            <a:r>
              <a:rPr kumimoji="1" lang="en-US" altLang="zh-TW" b="1" dirty="0"/>
              <a:t>/</a:t>
            </a:r>
            <a:r>
              <a:rPr kumimoji="1" lang="en-US" altLang="zh-TW" dirty="0"/>
              <a:t> is the root directory.</a:t>
            </a:r>
          </a:p>
          <a:p>
            <a:pPr lvl="1"/>
            <a:r>
              <a:rPr kumimoji="1" lang="en-US" altLang="zh-TW" dirty="0"/>
              <a:t>/ is also a “separator” to name subsequent files.</a:t>
            </a:r>
          </a:p>
          <a:p>
            <a:pPr lvl="1"/>
            <a:r>
              <a:rPr lang="en-US" altLang="zh-TW" dirty="0"/>
              <a:t>A files referred by the absolute pathname (From root). </a:t>
            </a:r>
          </a:p>
          <a:p>
            <a:pPr lvl="2"/>
            <a:r>
              <a:rPr lang="en-US" altLang="zh-TW" dirty="0"/>
              <a:t>Directories and files can have the same name.</a:t>
            </a:r>
          </a:p>
          <a:p>
            <a:pPr lvl="2"/>
            <a:r>
              <a:rPr lang="en-US" altLang="zh-TW" dirty="0"/>
              <a:t>For Linux, </a:t>
            </a:r>
            <a:r>
              <a:rPr lang="en-US" altLang="zh-TW" dirty="0">
                <a:solidFill>
                  <a:srgbClr val="C00000"/>
                </a:solidFill>
              </a:rPr>
              <a:t>no difference </a:t>
            </a:r>
            <a:r>
              <a:rPr lang="en-US" altLang="zh-TW" dirty="0"/>
              <a:t>between files and directories</a:t>
            </a:r>
          </a:p>
          <a:p>
            <a:pPr lvl="2"/>
            <a:r>
              <a:rPr lang="en-US" altLang="zh-TW" dirty="0"/>
              <a:t>Linux </a:t>
            </a:r>
            <a:r>
              <a:rPr lang="en-US" altLang="zh-TW" dirty="0">
                <a:solidFill>
                  <a:srgbClr val="C00000"/>
                </a:solidFill>
              </a:rPr>
              <a:t>doesn’t care about the file extension</a:t>
            </a:r>
            <a:r>
              <a:rPr lang="en-US" altLang="zh-TW" dirty="0"/>
              <a:t>.</a:t>
            </a:r>
          </a:p>
        </p:txBody>
      </p:sp>
      <p:sp>
        <p:nvSpPr>
          <p:cNvPr id="4" name="投影片編號版面配置區 3">
            <a:extLst>
              <a:ext uri="{FF2B5EF4-FFF2-40B4-BE49-F238E27FC236}">
                <a16:creationId xmlns:a16="http://schemas.microsoft.com/office/drawing/2014/main" id="{14765494-5B40-F04C-3C58-42A473FA7DD7}"/>
              </a:ext>
            </a:extLst>
          </p:cNvPr>
          <p:cNvSpPr>
            <a:spLocks noGrp="1"/>
          </p:cNvSpPr>
          <p:nvPr>
            <p:ph type="sldNum" sz="quarter" idx="4"/>
          </p:nvPr>
        </p:nvSpPr>
        <p:spPr/>
        <p:txBody>
          <a:bodyPr/>
          <a:lstStyle/>
          <a:p>
            <a:fld id="{E24E6636-6BA5-4AAC-8485-BE8D914D288B}" type="slidenum">
              <a:rPr lang="zh-TW" altLang="en-US" smtClean="0"/>
              <a:pPr/>
              <a:t>3</a:t>
            </a:fld>
            <a:endParaRPr lang="zh-TW" altLang="en-US" dirty="0"/>
          </a:p>
        </p:txBody>
      </p:sp>
      <p:sp>
        <p:nvSpPr>
          <p:cNvPr id="7" name="文字方塊 6">
            <a:extLst>
              <a:ext uri="{FF2B5EF4-FFF2-40B4-BE49-F238E27FC236}">
                <a16:creationId xmlns:a16="http://schemas.microsoft.com/office/drawing/2014/main" id="{28A54C2B-5D43-A324-E5EA-209C3A8AE9D4}"/>
              </a:ext>
            </a:extLst>
          </p:cNvPr>
          <p:cNvSpPr txBox="1"/>
          <p:nvPr/>
        </p:nvSpPr>
        <p:spPr>
          <a:xfrm>
            <a:off x="0" y="6581001"/>
            <a:ext cx="6097656" cy="276999"/>
          </a:xfrm>
          <a:prstGeom prst="rect">
            <a:avLst/>
          </a:prstGeom>
          <a:noFill/>
        </p:spPr>
        <p:txBody>
          <a:bodyPr wrap="square">
            <a:spAutoFit/>
          </a:bodyPr>
          <a:lstStyle/>
          <a:p>
            <a:r>
              <a:rPr kumimoji="1" lang="en-US" altLang="zh-TW" sz="1200" dirty="0">
                <a:solidFill>
                  <a:schemeClr val="bg1">
                    <a:lumMod val="75000"/>
                  </a:schemeClr>
                </a:solidFill>
              </a:rPr>
              <a:t>MC Slides</a:t>
            </a:r>
            <a:endParaRPr kumimoji="1" lang="zh-TW" altLang="en-US" sz="1200" dirty="0">
              <a:solidFill>
                <a:schemeClr val="bg1">
                  <a:lumMod val="75000"/>
                </a:schemeClr>
              </a:solidFill>
            </a:endParaRPr>
          </a:p>
        </p:txBody>
      </p:sp>
      <p:sp>
        <p:nvSpPr>
          <p:cNvPr id="8" name="橢圓 7">
            <a:extLst>
              <a:ext uri="{FF2B5EF4-FFF2-40B4-BE49-F238E27FC236}">
                <a16:creationId xmlns:a16="http://schemas.microsoft.com/office/drawing/2014/main" id="{BA88AD5B-782D-A2C8-F941-3A6B1D2473E8}"/>
              </a:ext>
            </a:extLst>
          </p:cNvPr>
          <p:cNvSpPr/>
          <p:nvPr/>
        </p:nvSpPr>
        <p:spPr>
          <a:xfrm>
            <a:off x="9492671" y="3867305"/>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rPr>
              <a:t>/</a:t>
            </a:r>
          </a:p>
        </p:txBody>
      </p:sp>
      <p:sp>
        <p:nvSpPr>
          <p:cNvPr id="10" name="橢圓 9">
            <a:extLst>
              <a:ext uri="{FF2B5EF4-FFF2-40B4-BE49-F238E27FC236}">
                <a16:creationId xmlns:a16="http://schemas.microsoft.com/office/drawing/2014/main" id="{F76FCC00-BB1F-EED8-F738-A9017D7D3DB1}"/>
              </a:ext>
            </a:extLst>
          </p:cNvPr>
          <p:cNvSpPr/>
          <p:nvPr/>
        </p:nvSpPr>
        <p:spPr>
          <a:xfrm>
            <a:off x="10502200" y="4629305"/>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TW" sz="1600" dirty="0" err="1">
                <a:solidFill>
                  <a:schemeClr val="tx1"/>
                </a:solidFill>
              </a:rPr>
              <a:t>tmp</a:t>
            </a:r>
            <a:endParaRPr lang="en-US" altLang="zh-TW" sz="1600" dirty="0">
              <a:solidFill>
                <a:schemeClr val="tx1"/>
              </a:solidFill>
            </a:endParaRPr>
          </a:p>
        </p:txBody>
      </p:sp>
      <p:sp>
        <p:nvSpPr>
          <p:cNvPr id="11" name="橢圓 10">
            <a:extLst>
              <a:ext uri="{FF2B5EF4-FFF2-40B4-BE49-F238E27FC236}">
                <a16:creationId xmlns:a16="http://schemas.microsoft.com/office/drawing/2014/main" id="{5BBC5FC7-A186-6CF0-691B-2BA1B4B56FF0}"/>
              </a:ext>
            </a:extLst>
          </p:cNvPr>
          <p:cNvSpPr/>
          <p:nvPr/>
        </p:nvSpPr>
        <p:spPr>
          <a:xfrm>
            <a:off x="11258200" y="5650454"/>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TW" sz="1600" dirty="0" err="1">
                <a:solidFill>
                  <a:schemeClr val="tx1"/>
                </a:solidFill>
              </a:rPr>
              <a:t>Hi.txt</a:t>
            </a:r>
            <a:endParaRPr lang="en-US" altLang="zh-TW" sz="1600" dirty="0">
              <a:solidFill>
                <a:schemeClr val="tx1"/>
              </a:solidFill>
            </a:endParaRPr>
          </a:p>
        </p:txBody>
      </p:sp>
      <p:sp>
        <p:nvSpPr>
          <p:cNvPr id="12" name="橢圓 11">
            <a:extLst>
              <a:ext uri="{FF2B5EF4-FFF2-40B4-BE49-F238E27FC236}">
                <a16:creationId xmlns:a16="http://schemas.microsoft.com/office/drawing/2014/main" id="{C2800440-2328-A40F-EF48-B83AF98711C6}"/>
              </a:ext>
            </a:extLst>
          </p:cNvPr>
          <p:cNvSpPr/>
          <p:nvPr/>
        </p:nvSpPr>
        <p:spPr>
          <a:xfrm>
            <a:off x="9746200" y="5656401"/>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TW" sz="1600" dirty="0" err="1">
                <a:solidFill>
                  <a:schemeClr val="tx1"/>
                </a:solidFill>
              </a:rPr>
              <a:t>tmp</a:t>
            </a:r>
            <a:endParaRPr lang="en-US" altLang="zh-TW" sz="1600" dirty="0">
              <a:solidFill>
                <a:schemeClr val="tx1"/>
              </a:solidFill>
            </a:endParaRPr>
          </a:p>
        </p:txBody>
      </p:sp>
      <p:sp>
        <p:nvSpPr>
          <p:cNvPr id="13" name="橢圓 12">
            <a:extLst>
              <a:ext uri="{FF2B5EF4-FFF2-40B4-BE49-F238E27FC236}">
                <a16:creationId xmlns:a16="http://schemas.microsoft.com/office/drawing/2014/main" id="{BD9C345C-750A-31B3-214A-0E752EC5C7D1}"/>
              </a:ext>
            </a:extLst>
          </p:cNvPr>
          <p:cNvSpPr/>
          <p:nvPr/>
        </p:nvSpPr>
        <p:spPr>
          <a:xfrm>
            <a:off x="8483141" y="4629305"/>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TW" sz="1600" dirty="0">
                <a:solidFill>
                  <a:schemeClr val="tx1"/>
                </a:solidFill>
              </a:rPr>
              <a:t>tmp2</a:t>
            </a:r>
          </a:p>
        </p:txBody>
      </p:sp>
      <p:sp>
        <p:nvSpPr>
          <p:cNvPr id="14" name="橢圓 13">
            <a:extLst>
              <a:ext uri="{FF2B5EF4-FFF2-40B4-BE49-F238E27FC236}">
                <a16:creationId xmlns:a16="http://schemas.microsoft.com/office/drawing/2014/main" id="{8714FAA3-88CF-83CF-A002-552F5564664B}"/>
              </a:ext>
            </a:extLst>
          </p:cNvPr>
          <p:cNvSpPr/>
          <p:nvPr/>
        </p:nvSpPr>
        <p:spPr>
          <a:xfrm>
            <a:off x="7615633" y="5619750"/>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TW" sz="1600" dirty="0" err="1">
                <a:solidFill>
                  <a:schemeClr val="tx1"/>
                </a:solidFill>
              </a:rPr>
              <a:t>Hi.sh</a:t>
            </a:r>
            <a:endParaRPr lang="en-US" altLang="zh-TW" sz="1600" dirty="0">
              <a:solidFill>
                <a:schemeClr val="tx1"/>
              </a:solidFill>
            </a:endParaRPr>
          </a:p>
        </p:txBody>
      </p:sp>
      <p:cxnSp>
        <p:nvCxnSpPr>
          <p:cNvPr id="17" name="直線接點 16">
            <a:extLst>
              <a:ext uri="{FF2B5EF4-FFF2-40B4-BE49-F238E27FC236}">
                <a16:creationId xmlns:a16="http://schemas.microsoft.com/office/drawing/2014/main" id="{D76D4358-5F17-F1CB-D54D-40703970AE7C}"/>
              </a:ext>
            </a:extLst>
          </p:cNvPr>
          <p:cNvCxnSpPr>
            <a:cxnSpLocks/>
            <a:stCxn id="8" idx="2"/>
            <a:endCxn id="13" idx="7"/>
          </p:cNvCxnSpPr>
          <p:nvPr/>
        </p:nvCxnSpPr>
        <p:spPr>
          <a:xfrm flipH="1">
            <a:off x="9128427" y="4245305"/>
            <a:ext cx="364244" cy="4947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DEF633F7-E61F-F960-7961-EBAD9403B5DE}"/>
              </a:ext>
            </a:extLst>
          </p:cNvPr>
          <p:cNvCxnSpPr>
            <a:cxnSpLocks/>
          </p:cNvCxnSpPr>
          <p:nvPr/>
        </p:nvCxnSpPr>
        <p:spPr>
          <a:xfrm>
            <a:off x="10241583" y="4266388"/>
            <a:ext cx="371332" cy="4736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DD3A90E5-DDEC-EAA8-75CB-9BFB71878E55}"/>
              </a:ext>
            </a:extLst>
          </p:cNvPr>
          <p:cNvCxnSpPr>
            <a:cxnSpLocks/>
            <a:endCxn id="11" idx="0"/>
          </p:cNvCxnSpPr>
          <p:nvPr/>
        </p:nvCxnSpPr>
        <p:spPr>
          <a:xfrm>
            <a:off x="11143927" y="5274591"/>
            <a:ext cx="492273" cy="3758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E4A5D6D2-CE75-FC5F-BDB0-9B24A85E2830}"/>
              </a:ext>
            </a:extLst>
          </p:cNvPr>
          <p:cNvCxnSpPr>
            <a:cxnSpLocks/>
            <a:endCxn id="12" idx="0"/>
          </p:cNvCxnSpPr>
          <p:nvPr/>
        </p:nvCxnSpPr>
        <p:spPr>
          <a:xfrm flipH="1">
            <a:off x="10124200" y="5239652"/>
            <a:ext cx="452727" cy="4167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A6AF006F-2037-5ADF-8CEF-FA4104E105B7}"/>
              </a:ext>
            </a:extLst>
          </p:cNvPr>
          <p:cNvCxnSpPr>
            <a:cxnSpLocks/>
            <a:stCxn id="13" idx="3"/>
          </p:cNvCxnSpPr>
          <p:nvPr/>
        </p:nvCxnSpPr>
        <p:spPr>
          <a:xfrm flipH="1">
            <a:off x="8202405" y="5274591"/>
            <a:ext cx="391450" cy="407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3300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par>
                                <p:cTn id="53" presetID="10"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
                                            <p:txEl>
                                              <p:pRg st="5" end="5"/>
                                            </p:txEl>
                                          </p:spTgt>
                                        </p:tgtEl>
                                        <p:attrNameLst>
                                          <p:attrName>style.visibility</p:attrName>
                                        </p:attrNameLst>
                                      </p:cBhvr>
                                      <p:to>
                                        <p:strVal val="visible"/>
                                      </p:to>
                                    </p:set>
                                    <p:animEffect transition="in" filter="fade">
                                      <p:cBhvr>
                                        <p:cTn id="60" dur="500"/>
                                        <p:tgtEl>
                                          <p:spTgt spid="3">
                                            <p:txEl>
                                              <p:pRg st="5" end="5"/>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Effect transition="in" filter="fade">
                                      <p:cBhvr>
                                        <p:cTn id="63" dur="500"/>
                                        <p:tgtEl>
                                          <p:spTgt spid="3">
                                            <p:txEl>
                                              <p:pRg st="6" end="6"/>
                                            </p:txEl>
                                          </p:spTgt>
                                        </p:tgtEl>
                                      </p:cBhvr>
                                    </p:animEffect>
                                  </p:childTnLst>
                                </p:cTn>
                              </p:par>
                              <p:par>
                                <p:cTn id="64" presetID="1" presetClass="emph" presetSubtype="2" fill="hold" nodeType="withEffect">
                                  <p:stCondLst>
                                    <p:cond delay="0"/>
                                  </p:stCondLst>
                                  <p:childTnLst>
                                    <p:animClr clrSpc="rgb" dir="cw">
                                      <p:cBhvr>
                                        <p:cTn id="65" dur="2000" fill="hold"/>
                                        <p:tgtEl>
                                          <p:spTgt spid="8"/>
                                        </p:tgtEl>
                                        <p:attrNameLst>
                                          <p:attrName>fillcolor</p:attrName>
                                        </p:attrNameLst>
                                      </p:cBhvr>
                                      <p:to>
                                        <a:srgbClr val="EDEB9F"/>
                                      </p:to>
                                    </p:animClr>
                                    <p:set>
                                      <p:cBhvr>
                                        <p:cTn id="66" dur="2000" fill="hold"/>
                                        <p:tgtEl>
                                          <p:spTgt spid="8"/>
                                        </p:tgtEl>
                                        <p:attrNameLst>
                                          <p:attrName>fill.type</p:attrName>
                                        </p:attrNameLst>
                                      </p:cBhvr>
                                      <p:to>
                                        <p:strVal val="solid"/>
                                      </p:to>
                                    </p:set>
                                    <p:set>
                                      <p:cBhvr>
                                        <p:cTn id="67" dur="2000" fill="hold"/>
                                        <p:tgtEl>
                                          <p:spTgt spid="8"/>
                                        </p:tgtEl>
                                        <p:attrNameLst>
                                          <p:attrName>fill.on</p:attrName>
                                        </p:attrNameLst>
                                      </p:cBhvr>
                                      <p:to>
                                        <p:strVal val="tru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xEl>
                                              <p:pRg st="7" end="7"/>
                                            </p:txEl>
                                          </p:spTgt>
                                        </p:tgtEl>
                                        <p:attrNameLst>
                                          <p:attrName>style.visibility</p:attrName>
                                        </p:attrNameLst>
                                      </p:cBhvr>
                                      <p:to>
                                        <p:strVal val="visible"/>
                                      </p:to>
                                    </p:set>
                                    <p:animEffect transition="in" filter="fade">
                                      <p:cBhvr>
                                        <p:cTn id="72" dur="500"/>
                                        <p:tgtEl>
                                          <p:spTgt spid="3">
                                            <p:txEl>
                                              <p:pRg st="7" end="7"/>
                                            </p:txEl>
                                          </p:spTgt>
                                        </p:tgtEl>
                                      </p:cBhvr>
                                    </p:animEffect>
                                  </p:childTnLst>
                                </p:cTn>
                              </p:par>
                              <p:par>
                                <p:cTn id="73" presetID="1" presetClass="emph" presetSubtype="2" fill="hold" nodeType="withEffect">
                                  <p:stCondLst>
                                    <p:cond delay="0"/>
                                  </p:stCondLst>
                                  <p:childTnLst>
                                    <p:animClr clrSpc="rgb" dir="cw">
                                      <p:cBhvr>
                                        <p:cTn id="74" dur="2000" fill="hold"/>
                                        <p:tgtEl>
                                          <p:spTgt spid="10"/>
                                        </p:tgtEl>
                                        <p:attrNameLst>
                                          <p:attrName>fillcolor</p:attrName>
                                        </p:attrNameLst>
                                      </p:cBhvr>
                                      <p:to>
                                        <a:srgbClr val="EDEB9F"/>
                                      </p:to>
                                    </p:animClr>
                                    <p:set>
                                      <p:cBhvr>
                                        <p:cTn id="75" dur="2000" fill="hold"/>
                                        <p:tgtEl>
                                          <p:spTgt spid="10"/>
                                        </p:tgtEl>
                                        <p:attrNameLst>
                                          <p:attrName>fill.type</p:attrName>
                                        </p:attrNameLst>
                                      </p:cBhvr>
                                      <p:to>
                                        <p:strVal val="solid"/>
                                      </p:to>
                                    </p:set>
                                    <p:set>
                                      <p:cBhvr>
                                        <p:cTn id="76" dur="2000" fill="hold"/>
                                        <p:tgtEl>
                                          <p:spTgt spid="10"/>
                                        </p:tgtEl>
                                        <p:attrNameLst>
                                          <p:attrName>fill.on</p:attrName>
                                        </p:attrNameLst>
                                      </p:cBhvr>
                                      <p:to>
                                        <p:strVal val="true"/>
                                      </p:to>
                                    </p:set>
                                  </p:childTnLst>
                                </p:cTn>
                              </p:par>
                              <p:par>
                                <p:cTn id="77" presetID="1" presetClass="emph" presetSubtype="2" fill="hold" nodeType="withEffect">
                                  <p:stCondLst>
                                    <p:cond delay="0"/>
                                  </p:stCondLst>
                                  <p:childTnLst>
                                    <p:animClr clrSpc="rgb" dir="cw">
                                      <p:cBhvr>
                                        <p:cTn id="78" dur="2000" fill="hold"/>
                                        <p:tgtEl>
                                          <p:spTgt spid="11"/>
                                        </p:tgtEl>
                                        <p:attrNameLst>
                                          <p:attrName>fillcolor</p:attrName>
                                        </p:attrNameLst>
                                      </p:cBhvr>
                                      <p:to>
                                        <a:srgbClr val="EDEB9F"/>
                                      </p:to>
                                    </p:animClr>
                                    <p:set>
                                      <p:cBhvr>
                                        <p:cTn id="79" dur="2000" fill="hold"/>
                                        <p:tgtEl>
                                          <p:spTgt spid="11"/>
                                        </p:tgtEl>
                                        <p:attrNameLst>
                                          <p:attrName>fill.type</p:attrName>
                                        </p:attrNameLst>
                                      </p:cBhvr>
                                      <p:to>
                                        <p:strVal val="solid"/>
                                      </p:to>
                                    </p:set>
                                    <p:set>
                                      <p:cBhvr>
                                        <p:cTn id="80" dur="2000" fill="hold"/>
                                        <p:tgtEl>
                                          <p:spTgt spid="11"/>
                                        </p:tgtEl>
                                        <p:attrNameLst>
                                          <p:attrName>fill.on</p:attrName>
                                        </p:attrNameLst>
                                      </p:cBhvr>
                                      <p:to>
                                        <p:strVal val="true"/>
                                      </p:to>
                                    </p:set>
                                  </p:childTnLst>
                                </p:cTn>
                              </p:par>
                              <p:par>
                                <p:cTn id="81" presetID="7" presetClass="emph" presetSubtype="2" fill="hold" nodeType="withEffect">
                                  <p:stCondLst>
                                    <p:cond delay="0"/>
                                  </p:stCondLst>
                                  <p:childTnLst>
                                    <p:animClr clrSpc="rgb" dir="cw">
                                      <p:cBhvr>
                                        <p:cTn id="82" dur="2000" fill="hold"/>
                                        <p:tgtEl>
                                          <p:spTgt spid="20"/>
                                        </p:tgtEl>
                                        <p:attrNameLst>
                                          <p:attrName>stroke.color</p:attrName>
                                        </p:attrNameLst>
                                      </p:cBhvr>
                                      <p:to>
                                        <a:srgbClr val="EDBD23"/>
                                      </p:to>
                                    </p:animClr>
                                    <p:set>
                                      <p:cBhvr>
                                        <p:cTn id="83" dur="2000" fill="hold"/>
                                        <p:tgtEl>
                                          <p:spTgt spid="20"/>
                                        </p:tgtEl>
                                        <p:attrNameLst>
                                          <p:attrName>stroke.on</p:attrName>
                                        </p:attrNameLst>
                                      </p:cBhvr>
                                      <p:to>
                                        <p:strVal val="true"/>
                                      </p:to>
                                    </p:set>
                                  </p:childTnLst>
                                </p:cTn>
                              </p:par>
                              <p:par>
                                <p:cTn id="84" presetID="7" presetClass="emph" presetSubtype="2" fill="hold" nodeType="withEffect">
                                  <p:stCondLst>
                                    <p:cond delay="0"/>
                                  </p:stCondLst>
                                  <p:childTnLst>
                                    <p:animClr clrSpc="rgb" dir="cw">
                                      <p:cBhvr>
                                        <p:cTn id="85" dur="2000" fill="hold"/>
                                        <p:tgtEl>
                                          <p:spTgt spid="22"/>
                                        </p:tgtEl>
                                        <p:attrNameLst>
                                          <p:attrName>stroke.color</p:attrName>
                                        </p:attrNameLst>
                                      </p:cBhvr>
                                      <p:to>
                                        <a:srgbClr val="EDBD23"/>
                                      </p:to>
                                    </p:animClr>
                                    <p:set>
                                      <p:cBhvr>
                                        <p:cTn id="86" dur="2000" fill="hold"/>
                                        <p:tgtEl>
                                          <p:spTgt spid="22"/>
                                        </p:tgtEl>
                                        <p:attrNameLst>
                                          <p:attrName>stroke.on</p:attrName>
                                        </p:attrNameLst>
                                      </p:cBhvr>
                                      <p:to>
                                        <p:strVal val="true"/>
                                      </p:to>
                                    </p:se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
                                            <p:txEl>
                                              <p:pRg st="8" end="8"/>
                                            </p:txEl>
                                          </p:spTgt>
                                        </p:tgtEl>
                                        <p:attrNameLst>
                                          <p:attrName>style.visibility</p:attrName>
                                        </p:attrNameLst>
                                      </p:cBhvr>
                                      <p:to>
                                        <p:strVal val="visible"/>
                                      </p:to>
                                    </p:set>
                                    <p:animEffect transition="in" filter="fade">
                                      <p:cBhvr>
                                        <p:cTn id="91" dur="500"/>
                                        <p:tgtEl>
                                          <p:spTgt spid="3">
                                            <p:txEl>
                                              <p:pRg st="8" end="8"/>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3">
                                            <p:txEl>
                                              <p:pRg st="9" end="9"/>
                                            </p:txEl>
                                          </p:spTgt>
                                        </p:tgtEl>
                                        <p:attrNameLst>
                                          <p:attrName>style.visibility</p:attrName>
                                        </p:attrNameLst>
                                      </p:cBhvr>
                                      <p:to>
                                        <p:strVal val="visible"/>
                                      </p:to>
                                    </p:set>
                                    <p:animEffect transition="in" filter="fade">
                                      <p:cBhvr>
                                        <p:cTn id="96" dur="500"/>
                                        <p:tgtEl>
                                          <p:spTgt spid="3">
                                            <p:txEl>
                                              <p:pRg st="9" end="9"/>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3">
                                            <p:txEl>
                                              <p:pRg st="10" end="10"/>
                                            </p:txEl>
                                          </p:spTgt>
                                        </p:tgtEl>
                                        <p:attrNameLst>
                                          <p:attrName>style.visibility</p:attrName>
                                        </p:attrNameLst>
                                      </p:cBhvr>
                                      <p:to>
                                        <p:strVal val="visible"/>
                                      </p:to>
                                    </p:set>
                                    <p:animEffect transition="in" filter="fade">
                                      <p:cBhvr>
                                        <p:cTn id="10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F7A790-207A-677D-7F16-277C23BCA0B8}"/>
              </a:ext>
            </a:extLst>
          </p:cNvPr>
          <p:cNvSpPr>
            <a:spLocks noGrp="1"/>
          </p:cNvSpPr>
          <p:nvPr>
            <p:ph type="title"/>
          </p:nvPr>
        </p:nvSpPr>
        <p:spPr/>
        <p:txBody>
          <a:bodyPr>
            <a:normAutofit/>
          </a:bodyPr>
          <a:lstStyle/>
          <a:p>
            <a:r>
              <a:rPr kumimoji="1" lang="en-US" altLang="zh-TW" dirty="0"/>
              <a:t>Filesystem – </a:t>
            </a:r>
            <a:r>
              <a:rPr lang="en-US" altLang="zh-TW" dirty="0"/>
              <a:t>More Technical</a:t>
            </a:r>
            <a:endParaRPr kumimoji="1" lang="zh-TW" altLang="en-US" dirty="0"/>
          </a:p>
        </p:txBody>
      </p:sp>
      <p:sp>
        <p:nvSpPr>
          <p:cNvPr id="3" name="內容版面配置區 2">
            <a:extLst>
              <a:ext uri="{FF2B5EF4-FFF2-40B4-BE49-F238E27FC236}">
                <a16:creationId xmlns:a16="http://schemas.microsoft.com/office/drawing/2014/main" id="{942E1EE5-39AF-EEA7-D66C-D4292ACADCB5}"/>
              </a:ext>
            </a:extLst>
          </p:cNvPr>
          <p:cNvSpPr>
            <a:spLocks noGrp="1"/>
          </p:cNvSpPr>
          <p:nvPr>
            <p:ph idx="1"/>
          </p:nvPr>
        </p:nvSpPr>
        <p:spPr>
          <a:xfrm>
            <a:off x="177799" y="1238250"/>
            <a:ext cx="4700529" cy="5441950"/>
          </a:xfrm>
        </p:spPr>
        <p:txBody>
          <a:bodyPr>
            <a:normAutofit fontScale="92500"/>
          </a:bodyPr>
          <a:lstStyle/>
          <a:p>
            <a:pPr algn="l"/>
            <a:r>
              <a:rPr lang="en-US" altLang="zh-TW" dirty="0"/>
              <a:t>File Descriptor: An integer to identify the </a:t>
            </a:r>
            <a:r>
              <a:rPr lang="en-US" altLang="zh-TW" b="1" dirty="0">
                <a:solidFill>
                  <a:srgbClr val="C00000"/>
                </a:solidFill>
              </a:rPr>
              <a:t>open file </a:t>
            </a:r>
            <a:r>
              <a:rPr lang="en-US" altLang="zh-TW" dirty="0"/>
              <a:t>in all file-related operations. </a:t>
            </a:r>
          </a:p>
          <a:p>
            <a:pPr lvl="1" algn="l"/>
            <a:r>
              <a:rPr lang="en-US" altLang="zh-TW" dirty="0"/>
              <a:t>Assigned by the kernel </a:t>
            </a:r>
            <a:r>
              <a:rPr lang="en-US" altLang="zh-TW" dirty="0">
                <a:solidFill>
                  <a:srgbClr val="C00000"/>
                </a:solidFill>
              </a:rPr>
              <a:t>when a file is opened </a:t>
            </a:r>
            <a:r>
              <a:rPr lang="en-US" altLang="zh-TW" dirty="0"/>
              <a:t>and is valid only </a:t>
            </a:r>
            <a:r>
              <a:rPr lang="en-US" altLang="zh-TW" dirty="0">
                <a:solidFill>
                  <a:srgbClr val="C00000"/>
                </a:solidFill>
              </a:rPr>
              <a:t>within a process</a:t>
            </a:r>
            <a:r>
              <a:rPr lang="en-US" altLang="zh-TW" dirty="0"/>
              <a:t>.</a:t>
            </a:r>
          </a:p>
          <a:p>
            <a:pPr lvl="1" algn="l"/>
            <a:r>
              <a:rPr lang="en-US" altLang="zh-TW" dirty="0"/>
              <a:t>Two processes may use the same file descriptor, but it does not point to the same file.</a:t>
            </a:r>
          </a:p>
          <a:p>
            <a:pPr algn="l"/>
            <a:r>
              <a:rPr lang="en-US" altLang="zh-TW" dirty="0" err="1"/>
              <a:t>Inode</a:t>
            </a:r>
            <a:r>
              <a:rPr lang="en-US" altLang="zh-TW" dirty="0"/>
              <a:t>: Each file (or directory) has just one </a:t>
            </a:r>
            <a:r>
              <a:rPr lang="en-US" altLang="zh-TW" dirty="0" err="1"/>
              <a:t>inode</a:t>
            </a:r>
            <a:r>
              <a:rPr lang="en-US" altLang="zh-TW" dirty="0"/>
              <a:t>. </a:t>
            </a:r>
            <a:r>
              <a:rPr lang="en-US" altLang="zh-TW" dirty="0">
                <a:solidFill>
                  <a:srgbClr val="C00000"/>
                </a:solidFill>
              </a:rPr>
              <a:t>Contains metadata</a:t>
            </a:r>
            <a:r>
              <a:rPr lang="en-US" altLang="zh-TW" dirty="0"/>
              <a:t> such as access rights, date, pointers to the file data.</a:t>
            </a:r>
          </a:p>
          <a:p>
            <a:endParaRPr kumimoji="1" lang="zh-TW" altLang="en-US" dirty="0"/>
          </a:p>
        </p:txBody>
      </p:sp>
      <p:sp>
        <p:nvSpPr>
          <p:cNvPr id="4" name="投影片編號版面配置區 3">
            <a:extLst>
              <a:ext uri="{FF2B5EF4-FFF2-40B4-BE49-F238E27FC236}">
                <a16:creationId xmlns:a16="http://schemas.microsoft.com/office/drawing/2014/main" id="{0D5F9B49-0D08-8797-4194-323CDC63FBB1}"/>
              </a:ext>
            </a:extLst>
          </p:cNvPr>
          <p:cNvSpPr>
            <a:spLocks noGrp="1"/>
          </p:cNvSpPr>
          <p:nvPr>
            <p:ph type="sldNum" sz="quarter" idx="4"/>
          </p:nvPr>
        </p:nvSpPr>
        <p:spPr/>
        <p:txBody>
          <a:bodyPr/>
          <a:lstStyle/>
          <a:p>
            <a:fld id="{E24E6636-6BA5-4AAC-8485-BE8D914D288B}" type="slidenum">
              <a:rPr lang="zh-TW" altLang="en-US" smtClean="0"/>
              <a:pPr/>
              <a:t>4</a:t>
            </a:fld>
            <a:endParaRPr lang="zh-TW" altLang="en-US" dirty="0"/>
          </a:p>
        </p:txBody>
      </p:sp>
      <p:pic>
        <p:nvPicPr>
          <p:cNvPr id="6" name="圖片 5">
            <a:extLst>
              <a:ext uri="{FF2B5EF4-FFF2-40B4-BE49-F238E27FC236}">
                <a16:creationId xmlns:a16="http://schemas.microsoft.com/office/drawing/2014/main" id="{6DD15E76-A570-D1B2-E260-E178980C17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128" y="1608289"/>
            <a:ext cx="6873933" cy="4701872"/>
          </a:xfrm>
          <a:prstGeom prst="rect">
            <a:avLst/>
          </a:prstGeom>
        </p:spPr>
      </p:pic>
      <p:sp>
        <p:nvSpPr>
          <p:cNvPr id="7" name="矩形 6">
            <a:extLst>
              <a:ext uri="{FF2B5EF4-FFF2-40B4-BE49-F238E27FC236}">
                <a16:creationId xmlns:a16="http://schemas.microsoft.com/office/drawing/2014/main" id="{EED0FE20-1D3A-79AD-9C58-A1AA8C794CEB}"/>
              </a:ext>
            </a:extLst>
          </p:cNvPr>
          <p:cNvSpPr/>
          <p:nvPr/>
        </p:nvSpPr>
        <p:spPr>
          <a:xfrm>
            <a:off x="6840637" y="1608288"/>
            <a:ext cx="4827487" cy="4701871"/>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Tree>
    <p:extLst>
      <p:ext uri="{BB962C8B-B14F-4D97-AF65-F5344CB8AC3E}">
        <p14:creationId xmlns:p14="http://schemas.microsoft.com/office/powerpoint/2010/main" val="2516777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xit" presetSubtype="8" fill="hold" grpId="1" nodeType="clickEffect">
                                  <p:stCondLst>
                                    <p:cond delay="0"/>
                                  </p:stCondLst>
                                  <p:childTnLst>
                                    <p:animEffect transition="out" filter="wipe(left)">
                                      <p:cBhvr>
                                        <p:cTn id="29" dur="500"/>
                                        <p:tgtEl>
                                          <p:spTgt spid="7"/>
                                        </p:tgtEl>
                                      </p:cBhvr>
                                    </p:animEffect>
                                    <p:set>
                                      <p:cBhvr>
                                        <p:cTn id="30"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049B5-28A8-1705-EA5F-E268C6FA475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C0CB594-0DD1-BDA6-9EEE-EC9002284A37}"/>
              </a:ext>
            </a:extLst>
          </p:cNvPr>
          <p:cNvSpPr>
            <a:spLocks noGrp="1"/>
          </p:cNvSpPr>
          <p:nvPr>
            <p:ph type="title"/>
          </p:nvPr>
        </p:nvSpPr>
        <p:spPr/>
        <p:txBody>
          <a:bodyPr>
            <a:normAutofit/>
          </a:bodyPr>
          <a:lstStyle/>
          <a:p>
            <a:r>
              <a:rPr kumimoji="1" lang="en-US" altLang="zh-TW" dirty="0"/>
              <a:t>Filesystem – </a:t>
            </a:r>
            <a:r>
              <a:rPr lang="en-US" altLang="zh-TW" dirty="0"/>
              <a:t>More Technical (Count.)</a:t>
            </a:r>
            <a:endParaRPr kumimoji="1" lang="zh-TW" altLang="en-US" dirty="0"/>
          </a:p>
        </p:txBody>
      </p:sp>
      <p:sp>
        <p:nvSpPr>
          <p:cNvPr id="3" name="內容版面配置區 2">
            <a:extLst>
              <a:ext uri="{FF2B5EF4-FFF2-40B4-BE49-F238E27FC236}">
                <a16:creationId xmlns:a16="http://schemas.microsoft.com/office/drawing/2014/main" id="{F8B28823-0AFF-D8C7-5445-CE30FD6F1C17}"/>
              </a:ext>
            </a:extLst>
          </p:cNvPr>
          <p:cNvSpPr>
            <a:spLocks noGrp="1"/>
          </p:cNvSpPr>
          <p:nvPr>
            <p:ph idx="1"/>
          </p:nvPr>
        </p:nvSpPr>
        <p:spPr>
          <a:xfrm>
            <a:off x="177799" y="1238250"/>
            <a:ext cx="4878329" cy="5441950"/>
          </a:xfrm>
        </p:spPr>
        <p:txBody>
          <a:bodyPr>
            <a:normAutofit/>
          </a:bodyPr>
          <a:lstStyle/>
          <a:p>
            <a:pPr algn="l"/>
            <a:r>
              <a:rPr lang="en-US" altLang="zh-TW" dirty="0"/>
              <a:t>The design of open file table can relax the complexity of </a:t>
            </a:r>
            <a:r>
              <a:rPr lang="en-US" altLang="zh-TW" dirty="0" err="1"/>
              <a:t>inode</a:t>
            </a:r>
            <a:r>
              <a:rPr lang="en-US" altLang="zh-TW" dirty="0"/>
              <a:t> table.</a:t>
            </a:r>
          </a:p>
          <a:p>
            <a:pPr algn="l"/>
            <a:r>
              <a:rPr lang="en-US" altLang="zh-TW" dirty="0"/>
              <a:t>Ex1: Process A and B open the same file (fd0 in A, fd3 in B)</a:t>
            </a:r>
          </a:p>
          <a:p>
            <a:pPr lvl="1" algn="l"/>
            <a:r>
              <a:rPr lang="en-US" altLang="zh-TW" dirty="0"/>
              <a:t>Individual access mode</a:t>
            </a:r>
          </a:p>
          <a:p>
            <a:pPr lvl="1" algn="l"/>
            <a:r>
              <a:rPr lang="en-US" altLang="zh-TW" dirty="0"/>
              <a:t>Individual file offset</a:t>
            </a:r>
          </a:p>
          <a:p>
            <a:pPr lvl="1" algn="l"/>
            <a:r>
              <a:rPr lang="en-US" altLang="zh-TW" dirty="0"/>
              <a:t>Shared ref count</a:t>
            </a:r>
          </a:p>
          <a:p>
            <a:pPr lvl="1" algn="l"/>
            <a:r>
              <a:rPr lang="en-US" altLang="zh-TW" dirty="0"/>
              <a:t>Use file descriptor to get a lock</a:t>
            </a:r>
          </a:p>
          <a:p>
            <a:pPr algn="l"/>
            <a:r>
              <a:rPr lang="en-US" altLang="zh-TW" dirty="0"/>
              <a:t>Ex2: Process B inherits files from Process A (e.g., fd2)</a:t>
            </a:r>
          </a:p>
          <a:p>
            <a:pPr lvl="1" algn="l"/>
            <a:r>
              <a:rPr lang="en-US" altLang="zh-TW" dirty="0"/>
              <a:t>Process A forks Process B</a:t>
            </a:r>
          </a:p>
        </p:txBody>
      </p:sp>
      <p:sp>
        <p:nvSpPr>
          <p:cNvPr id="4" name="投影片編號版面配置區 3">
            <a:extLst>
              <a:ext uri="{FF2B5EF4-FFF2-40B4-BE49-F238E27FC236}">
                <a16:creationId xmlns:a16="http://schemas.microsoft.com/office/drawing/2014/main" id="{F33F0786-7D72-F928-135A-EE522621F63B}"/>
              </a:ext>
            </a:extLst>
          </p:cNvPr>
          <p:cNvSpPr>
            <a:spLocks noGrp="1"/>
          </p:cNvSpPr>
          <p:nvPr>
            <p:ph type="sldNum" sz="quarter" idx="4"/>
          </p:nvPr>
        </p:nvSpPr>
        <p:spPr/>
        <p:txBody>
          <a:bodyPr/>
          <a:lstStyle/>
          <a:p>
            <a:fld id="{E24E6636-6BA5-4AAC-8485-BE8D914D288B}" type="slidenum">
              <a:rPr lang="zh-TW" altLang="en-US" smtClean="0"/>
              <a:pPr/>
              <a:t>5</a:t>
            </a:fld>
            <a:endParaRPr lang="zh-TW" altLang="en-US" dirty="0"/>
          </a:p>
        </p:txBody>
      </p:sp>
      <p:pic>
        <p:nvPicPr>
          <p:cNvPr id="6" name="圖片 5">
            <a:extLst>
              <a:ext uri="{FF2B5EF4-FFF2-40B4-BE49-F238E27FC236}">
                <a16:creationId xmlns:a16="http://schemas.microsoft.com/office/drawing/2014/main" id="{71E5E2DF-D427-D1BC-194B-E6068DC801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128" y="1608289"/>
            <a:ext cx="6873933" cy="4701872"/>
          </a:xfrm>
          <a:prstGeom prst="rect">
            <a:avLst/>
          </a:prstGeom>
        </p:spPr>
      </p:pic>
    </p:spTree>
    <p:extLst>
      <p:ext uri="{BB962C8B-B14F-4D97-AF65-F5344CB8AC3E}">
        <p14:creationId xmlns:p14="http://schemas.microsoft.com/office/powerpoint/2010/main" val="317044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up)">
                                      <p:cBhvr>
                                        <p:cTn id="10" dur="500"/>
                                        <p:tgtEl>
                                          <p:spTgt spid="3">
                                            <p:txEl>
                                              <p:pRg st="2" end="2"/>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up)">
                                      <p:cBhvr>
                                        <p:cTn id="13" dur="500"/>
                                        <p:tgtEl>
                                          <p:spTgt spid="3">
                                            <p:txEl>
                                              <p:pRg st="3" end="3"/>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up)">
                                      <p:cBhvr>
                                        <p:cTn id="16" dur="500"/>
                                        <p:tgtEl>
                                          <p:spTgt spid="3">
                                            <p:txEl>
                                              <p:pRg st="4" end="4"/>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up)">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mph" presetSubtype="0" nodeType="clickEffect">
                                  <p:stCondLst>
                                    <p:cond delay="0"/>
                                  </p:stCondLst>
                                  <p:childTnLst>
                                    <p:set>
                                      <p:cBhvr>
                                        <p:cTn id="23" dur="indefinite"/>
                                        <p:tgtEl>
                                          <p:spTgt spid="3">
                                            <p:txEl>
                                              <p:pRg st="1" end="1"/>
                                            </p:txEl>
                                          </p:spTgt>
                                        </p:tgtEl>
                                        <p:attrNameLst>
                                          <p:attrName>style.opacity</p:attrName>
                                        </p:attrNameLst>
                                      </p:cBhvr>
                                      <p:to>
                                        <p:strVal val="0.25"/>
                                      </p:to>
                                    </p:set>
                                    <p:animEffect filter="image" prLst="opacity: 0.25">
                                      <p:cBhvr rctx="IE">
                                        <p:cTn id="24" dur="indefinite"/>
                                        <p:tgtEl>
                                          <p:spTgt spid="3">
                                            <p:txEl>
                                              <p:pRg st="1" end="1"/>
                                            </p:txEl>
                                          </p:spTgt>
                                        </p:tgtEl>
                                      </p:cBhvr>
                                    </p:animEffect>
                                  </p:childTnLst>
                                </p:cTn>
                              </p:par>
                              <p:par>
                                <p:cTn id="25" presetID="9" presetClass="emph" presetSubtype="0" nodeType="withEffect">
                                  <p:stCondLst>
                                    <p:cond delay="0"/>
                                  </p:stCondLst>
                                  <p:childTnLst>
                                    <p:set>
                                      <p:cBhvr>
                                        <p:cTn id="26" dur="indefinite"/>
                                        <p:tgtEl>
                                          <p:spTgt spid="3">
                                            <p:txEl>
                                              <p:pRg st="2" end="2"/>
                                            </p:txEl>
                                          </p:spTgt>
                                        </p:tgtEl>
                                        <p:attrNameLst>
                                          <p:attrName>style.opacity</p:attrName>
                                        </p:attrNameLst>
                                      </p:cBhvr>
                                      <p:to>
                                        <p:strVal val="0.25"/>
                                      </p:to>
                                    </p:set>
                                    <p:animEffect filter="image" prLst="opacity: 0.25">
                                      <p:cBhvr rctx="IE">
                                        <p:cTn id="27" dur="indefinite"/>
                                        <p:tgtEl>
                                          <p:spTgt spid="3">
                                            <p:txEl>
                                              <p:pRg st="2" end="2"/>
                                            </p:txEl>
                                          </p:spTgt>
                                        </p:tgtEl>
                                      </p:cBhvr>
                                    </p:animEffect>
                                  </p:childTnLst>
                                </p:cTn>
                              </p:par>
                              <p:par>
                                <p:cTn id="28" presetID="9" presetClass="emph" presetSubtype="0" nodeType="withEffect">
                                  <p:stCondLst>
                                    <p:cond delay="0"/>
                                  </p:stCondLst>
                                  <p:childTnLst>
                                    <p:set>
                                      <p:cBhvr>
                                        <p:cTn id="29" dur="indefinite"/>
                                        <p:tgtEl>
                                          <p:spTgt spid="3">
                                            <p:txEl>
                                              <p:pRg st="3" end="3"/>
                                            </p:txEl>
                                          </p:spTgt>
                                        </p:tgtEl>
                                        <p:attrNameLst>
                                          <p:attrName>style.opacity</p:attrName>
                                        </p:attrNameLst>
                                      </p:cBhvr>
                                      <p:to>
                                        <p:strVal val="0.25"/>
                                      </p:to>
                                    </p:set>
                                    <p:animEffect filter="image" prLst="opacity: 0.25">
                                      <p:cBhvr rctx="IE">
                                        <p:cTn id="30" dur="indefinite"/>
                                        <p:tgtEl>
                                          <p:spTgt spid="3">
                                            <p:txEl>
                                              <p:pRg st="3" end="3"/>
                                            </p:txEl>
                                          </p:spTgt>
                                        </p:tgtEl>
                                      </p:cBhvr>
                                    </p:animEffect>
                                  </p:childTnLst>
                                </p:cTn>
                              </p:par>
                              <p:par>
                                <p:cTn id="31" presetID="9" presetClass="emph" presetSubtype="0" nodeType="withEffect">
                                  <p:stCondLst>
                                    <p:cond delay="0"/>
                                  </p:stCondLst>
                                  <p:childTnLst>
                                    <p:set>
                                      <p:cBhvr>
                                        <p:cTn id="32" dur="indefinite"/>
                                        <p:tgtEl>
                                          <p:spTgt spid="3">
                                            <p:txEl>
                                              <p:pRg st="4" end="4"/>
                                            </p:txEl>
                                          </p:spTgt>
                                        </p:tgtEl>
                                        <p:attrNameLst>
                                          <p:attrName>style.opacity</p:attrName>
                                        </p:attrNameLst>
                                      </p:cBhvr>
                                      <p:to>
                                        <p:strVal val="0.25"/>
                                      </p:to>
                                    </p:set>
                                    <p:animEffect filter="image" prLst="opacity: 0.25">
                                      <p:cBhvr rctx="IE">
                                        <p:cTn id="33" dur="indefinite"/>
                                        <p:tgtEl>
                                          <p:spTgt spid="3">
                                            <p:txEl>
                                              <p:pRg st="4" end="4"/>
                                            </p:txEl>
                                          </p:spTgt>
                                        </p:tgtEl>
                                      </p:cBhvr>
                                    </p:animEffect>
                                  </p:childTnLst>
                                </p:cTn>
                              </p:par>
                              <p:par>
                                <p:cTn id="34" presetID="9" presetClass="emph" presetSubtype="0" nodeType="withEffect">
                                  <p:stCondLst>
                                    <p:cond delay="0"/>
                                  </p:stCondLst>
                                  <p:childTnLst>
                                    <p:set>
                                      <p:cBhvr>
                                        <p:cTn id="35" dur="indefinite"/>
                                        <p:tgtEl>
                                          <p:spTgt spid="3">
                                            <p:txEl>
                                              <p:pRg st="5" end="5"/>
                                            </p:txEl>
                                          </p:spTgt>
                                        </p:tgtEl>
                                        <p:attrNameLst>
                                          <p:attrName>style.opacity</p:attrName>
                                        </p:attrNameLst>
                                      </p:cBhvr>
                                      <p:to>
                                        <p:strVal val="0.25"/>
                                      </p:to>
                                    </p:set>
                                    <p:animEffect filter="image" prLst="opacity: 0.25">
                                      <p:cBhvr rctx="IE">
                                        <p:cTn id="36" dur="indefinite"/>
                                        <p:tgtEl>
                                          <p:spTgt spid="3">
                                            <p:txEl>
                                              <p:pRg st="5" end="5"/>
                                            </p:txEl>
                                          </p:spTgt>
                                        </p:tgtEl>
                                      </p:cBhvr>
                                    </p:animEffect>
                                  </p:childTnLst>
                                </p:cTn>
                              </p:par>
                              <p:par>
                                <p:cTn id="37" presetID="22" presetClass="entr" presetSubtype="1"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wipe(up)">
                                      <p:cBhvr>
                                        <p:cTn id="39" dur="500"/>
                                        <p:tgtEl>
                                          <p:spTgt spid="3">
                                            <p:txEl>
                                              <p:pRg st="6" end="6"/>
                                            </p:txEl>
                                          </p:spTgt>
                                        </p:tgtEl>
                                      </p:cBhvr>
                                    </p:animEffect>
                                  </p:childTnLst>
                                </p:cTn>
                              </p:par>
                              <p:par>
                                <p:cTn id="40" presetID="22" presetClass="entr" presetSubtype="4"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3CCF9E-1015-56DA-1559-ECC89CC713CA}"/>
              </a:ext>
            </a:extLst>
          </p:cNvPr>
          <p:cNvSpPr>
            <a:spLocks noGrp="1"/>
          </p:cNvSpPr>
          <p:nvPr>
            <p:ph type="title"/>
          </p:nvPr>
        </p:nvSpPr>
        <p:spPr/>
        <p:txBody>
          <a:bodyPr/>
          <a:lstStyle/>
          <a:p>
            <a:r>
              <a:rPr kumimoji="1" lang="en-US" altLang="zh-TW" dirty="0"/>
              <a:t>Filesystem – Soft &amp; Hard Links</a:t>
            </a:r>
            <a:endParaRPr kumimoji="1" lang="zh-TW" altLang="en-US" dirty="0"/>
          </a:p>
        </p:txBody>
      </p:sp>
      <p:sp>
        <p:nvSpPr>
          <p:cNvPr id="3" name="內容版面配置區 2">
            <a:extLst>
              <a:ext uri="{FF2B5EF4-FFF2-40B4-BE49-F238E27FC236}">
                <a16:creationId xmlns:a16="http://schemas.microsoft.com/office/drawing/2014/main" id="{5A144D5C-6B36-453D-7574-7C3FDE64D4C5}"/>
              </a:ext>
            </a:extLst>
          </p:cNvPr>
          <p:cNvSpPr>
            <a:spLocks noGrp="1"/>
          </p:cNvSpPr>
          <p:nvPr>
            <p:ph idx="1"/>
          </p:nvPr>
        </p:nvSpPr>
        <p:spPr>
          <a:xfrm>
            <a:off x="177800" y="1238250"/>
            <a:ext cx="4675554" cy="5441950"/>
          </a:xfrm>
        </p:spPr>
        <p:txBody>
          <a:bodyPr/>
          <a:lstStyle/>
          <a:p>
            <a:pPr algn="l"/>
            <a:r>
              <a:rPr kumimoji="1" lang="en-US" altLang="zh-TW" dirty="0"/>
              <a:t>Soft Links: A separate file (called shortcut) </a:t>
            </a:r>
            <a:r>
              <a:rPr kumimoji="1" lang="en-US" altLang="zh-TW" dirty="0">
                <a:solidFill>
                  <a:srgbClr val="C00000"/>
                </a:solidFill>
              </a:rPr>
              <a:t>contains a path or reference</a:t>
            </a:r>
            <a:r>
              <a:rPr kumimoji="1" lang="en-US" altLang="zh-TW" dirty="0"/>
              <a:t> to the target file or directory. (Only one real file)</a:t>
            </a:r>
          </a:p>
          <a:p>
            <a:pPr algn="l"/>
            <a:r>
              <a:rPr lang="en-US" altLang="zh-TW" dirty="0"/>
              <a:t>Hard Links: </a:t>
            </a:r>
            <a:r>
              <a:rPr lang="en-US" altLang="zh-TW" dirty="0">
                <a:solidFill>
                  <a:srgbClr val="C00000"/>
                </a:solidFill>
              </a:rPr>
              <a:t>The file shares</a:t>
            </a:r>
            <a:r>
              <a:rPr lang="en-US" altLang="zh-TW" b="0" i="0" dirty="0">
                <a:solidFill>
                  <a:srgbClr val="C00000"/>
                </a:solidFill>
                <a:effectLst/>
              </a:rPr>
              <a:t> </a:t>
            </a:r>
            <a:r>
              <a:rPr lang="en-US" altLang="zh-TW" b="0" i="0" dirty="0">
                <a:solidFill>
                  <a:srgbClr val="313131"/>
                </a:solidFill>
                <a:effectLst/>
              </a:rPr>
              <a:t>all the attributes of the original file, </a:t>
            </a:r>
            <a:r>
              <a:rPr lang="en-US" altLang="zh-TW" b="0" i="0" dirty="0">
                <a:solidFill>
                  <a:srgbClr val="C00000"/>
                </a:solidFill>
                <a:effectLst/>
              </a:rPr>
              <a:t>even the </a:t>
            </a:r>
            <a:r>
              <a:rPr lang="en-US" altLang="zh-TW" b="0" i="0" dirty="0" err="1">
                <a:solidFill>
                  <a:srgbClr val="C00000"/>
                </a:solidFill>
                <a:effectLst/>
              </a:rPr>
              <a:t>inode</a:t>
            </a:r>
            <a:r>
              <a:rPr lang="en-US" altLang="zh-TW" b="0" i="0" dirty="0">
                <a:solidFill>
                  <a:srgbClr val="C00000"/>
                </a:solidFill>
                <a:effectLst/>
              </a:rPr>
              <a:t> number. (counter to monitor the number of links)</a:t>
            </a:r>
            <a:endParaRPr kumimoji="1" lang="zh-TW" altLang="en-US" dirty="0">
              <a:solidFill>
                <a:srgbClr val="C00000"/>
              </a:solidFill>
            </a:endParaRPr>
          </a:p>
        </p:txBody>
      </p:sp>
      <p:sp>
        <p:nvSpPr>
          <p:cNvPr id="4" name="投影片編號版面配置區 3">
            <a:extLst>
              <a:ext uri="{FF2B5EF4-FFF2-40B4-BE49-F238E27FC236}">
                <a16:creationId xmlns:a16="http://schemas.microsoft.com/office/drawing/2014/main" id="{B8C535FF-030E-F6BA-A889-C14D924FB013}"/>
              </a:ext>
            </a:extLst>
          </p:cNvPr>
          <p:cNvSpPr>
            <a:spLocks noGrp="1"/>
          </p:cNvSpPr>
          <p:nvPr>
            <p:ph type="sldNum" sz="quarter" idx="4"/>
          </p:nvPr>
        </p:nvSpPr>
        <p:spPr/>
        <p:txBody>
          <a:bodyPr/>
          <a:lstStyle/>
          <a:p>
            <a:fld id="{E24E6636-6BA5-4AAC-8485-BE8D914D288B}" type="slidenum">
              <a:rPr lang="zh-TW" altLang="en-US" smtClean="0"/>
              <a:pPr/>
              <a:t>6</a:t>
            </a:fld>
            <a:endParaRPr lang="zh-TW" altLang="en-US" dirty="0"/>
          </a:p>
        </p:txBody>
      </p:sp>
      <p:sp>
        <p:nvSpPr>
          <p:cNvPr id="5" name="文字方塊 4">
            <a:extLst>
              <a:ext uri="{FF2B5EF4-FFF2-40B4-BE49-F238E27FC236}">
                <a16:creationId xmlns:a16="http://schemas.microsoft.com/office/drawing/2014/main" id="{46FEF08B-7008-9E8C-C2E6-5912E86FC109}"/>
              </a:ext>
            </a:extLst>
          </p:cNvPr>
          <p:cNvSpPr txBox="1"/>
          <p:nvPr/>
        </p:nvSpPr>
        <p:spPr>
          <a:xfrm>
            <a:off x="0" y="6581001"/>
            <a:ext cx="6097656" cy="276999"/>
          </a:xfrm>
          <a:prstGeom prst="rect">
            <a:avLst/>
          </a:prstGeom>
          <a:noFill/>
        </p:spPr>
        <p:txBody>
          <a:bodyPr wrap="square">
            <a:spAutoFit/>
          </a:bodyPr>
          <a:lstStyle/>
          <a:p>
            <a:r>
              <a:rPr kumimoji="1" lang="en-US" altLang="zh-TW" sz="1200" dirty="0">
                <a:solidFill>
                  <a:schemeClr val="bg1">
                    <a:lumMod val="75000"/>
                  </a:schemeClr>
                </a:solidFill>
              </a:rPr>
              <a:t>https://</a:t>
            </a:r>
            <a:r>
              <a:rPr kumimoji="1" lang="en-US" altLang="zh-TW" sz="1200" dirty="0" err="1">
                <a:solidFill>
                  <a:schemeClr val="bg1">
                    <a:lumMod val="75000"/>
                  </a:schemeClr>
                </a:solidFill>
              </a:rPr>
              <a:t>devconnected.com</a:t>
            </a:r>
            <a:r>
              <a:rPr kumimoji="1" lang="en-US" altLang="zh-TW" sz="1200" dirty="0">
                <a:solidFill>
                  <a:schemeClr val="bg1">
                    <a:lumMod val="75000"/>
                  </a:schemeClr>
                </a:solidFill>
              </a:rPr>
              <a:t>/understanding-hard-and-soft-links-on-</a:t>
            </a:r>
            <a:r>
              <a:rPr kumimoji="1" lang="en-US" altLang="zh-TW" sz="1200" dirty="0" err="1">
                <a:solidFill>
                  <a:schemeClr val="bg1">
                    <a:lumMod val="75000"/>
                  </a:schemeClr>
                </a:solidFill>
              </a:rPr>
              <a:t>linux</a:t>
            </a:r>
            <a:r>
              <a:rPr kumimoji="1" lang="en-US" altLang="zh-TW" sz="1200" dirty="0">
                <a:solidFill>
                  <a:schemeClr val="bg1">
                    <a:lumMod val="75000"/>
                  </a:schemeClr>
                </a:solidFill>
              </a:rPr>
              <a:t>/</a:t>
            </a:r>
            <a:endParaRPr kumimoji="1" lang="zh-TW" altLang="en-US" sz="1200" dirty="0">
              <a:solidFill>
                <a:schemeClr val="bg1">
                  <a:lumMod val="75000"/>
                </a:schemeClr>
              </a:solidFill>
            </a:endParaRPr>
          </a:p>
        </p:txBody>
      </p:sp>
      <p:pic>
        <p:nvPicPr>
          <p:cNvPr id="9" name="圖片 8">
            <a:extLst>
              <a:ext uri="{FF2B5EF4-FFF2-40B4-BE49-F238E27FC236}">
                <a16:creationId xmlns:a16="http://schemas.microsoft.com/office/drawing/2014/main" id="{9CA005D8-3FF3-C4EB-0567-766DF60DA2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5155" y="1238250"/>
            <a:ext cx="6729045" cy="2414341"/>
          </a:xfrm>
          <a:prstGeom prst="rect">
            <a:avLst/>
          </a:prstGeom>
        </p:spPr>
      </p:pic>
      <p:pic>
        <p:nvPicPr>
          <p:cNvPr id="8" name="圖片 7">
            <a:extLst>
              <a:ext uri="{FF2B5EF4-FFF2-40B4-BE49-F238E27FC236}">
                <a16:creationId xmlns:a16="http://schemas.microsoft.com/office/drawing/2014/main" id="{FAB7CEE8-2483-1E9C-2A2D-14E4CBCA58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3448" y="3757017"/>
            <a:ext cx="5253594" cy="2923183"/>
          </a:xfrm>
          <a:prstGeom prst="rect">
            <a:avLst/>
          </a:prstGeom>
        </p:spPr>
      </p:pic>
      <p:sp>
        <p:nvSpPr>
          <p:cNvPr id="10" name="文字方塊 9">
            <a:extLst>
              <a:ext uri="{FF2B5EF4-FFF2-40B4-BE49-F238E27FC236}">
                <a16:creationId xmlns:a16="http://schemas.microsoft.com/office/drawing/2014/main" id="{DC982B65-131F-EA14-5375-0D68697CF657}"/>
              </a:ext>
            </a:extLst>
          </p:cNvPr>
          <p:cNvSpPr txBox="1"/>
          <p:nvPr/>
        </p:nvSpPr>
        <p:spPr>
          <a:xfrm>
            <a:off x="7572651" y="1065963"/>
            <a:ext cx="1077026" cy="369332"/>
          </a:xfrm>
          <a:prstGeom prst="rect">
            <a:avLst/>
          </a:prstGeom>
          <a:noFill/>
        </p:spPr>
        <p:txBody>
          <a:bodyPr wrap="none" rtlCol="0">
            <a:spAutoFit/>
          </a:bodyPr>
          <a:lstStyle/>
          <a:p>
            <a:r>
              <a:rPr kumimoji="1" lang="en-US" altLang="zh-TW" dirty="0">
                <a:solidFill>
                  <a:srgbClr val="C00000"/>
                </a:solidFill>
              </a:rPr>
              <a:t>Soft Links</a:t>
            </a:r>
            <a:endParaRPr kumimoji="1" lang="zh-TW" altLang="en-US" dirty="0">
              <a:solidFill>
                <a:srgbClr val="C00000"/>
              </a:solidFill>
            </a:endParaRPr>
          </a:p>
        </p:txBody>
      </p:sp>
      <p:sp>
        <p:nvSpPr>
          <p:cNvPr id="11" name="文字方塊 10">
            <a:extLst>
              <a:ext uri="{FF2B5EF4-FFF2-40B4-BE49-F238E27FC236}">
                <a16:creationId xmlns:a16="http://schemas.microsoft.com/office/drawing/2014/main" id="{70817CBB-A805-6E1D-4C81-A06245FD6EFC}"/>
              </a:ext>
            </a:extLst>
          </p:cNvPr>
          <p:cNvSpPr txBox="1"/>
          <p:nvPr/>
        </p:nvSpPr>
        <p:spPr>
          <a:xfrm>
            <a:off x="7612426" y="3897675"/>
            <a:ext cx="1155637" cy="369332"/>
          </a:xfrm>
          <a:prstGeom prst="rect">
            <a:avLst/>
          </a:prstGeom>
          <a:noFill/>
        </p:spPr>
        <p:txBody>
          <a:bodyPr wrap="none" rtlCol="0">
            <a:spAutoFit/>
          </a:bodyPr>
          <a:lstStyle/>
          <a:p>
            <a:r>
              <a:rPr kumimoji="1" lang="en-US" altLang="zh-TW" dirty="0">
                <a:solidFill>
                  <a:srgbClr val="C00000"/>
                </a:solidFill>
              </a:rPr>
              <a:t>Hard Links</a:t>
            </a:r>
            <a:endParaRPr kumimoji="1" lang="zh-TW" altLang="en-US" dirty="0">
              <a:solidFill>
                <a:srgbClr val="C00000"/>
              </a:solidFill>
            </a:endParaRPr>
          </a:p>
        </p:txBody>
      </p:sp>
    </p:spTree>
    <p:extLst>
      <p:ext uri="{BB962C8B-B14F-4D97-AF65-F5344CB8AC3E}">
        <p14:creationId xmlns:p14="http://schemas.microsoft.com/office/powerpoint/2010/main" val="1449970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3">
                                            <p:txEl>
                                              <p:pRg st="0" end="0"/>
                                            </p:txEl>
                                          </p:spTgt>
                                        </p:tgtEl>
                                        <p:attrNameLst>
                                          <p:attrName>style.opacity</p:attrName>
                                        </p:attrNameLst>
                                      </p:cBhvr>
                                      <p:to>
                                        <p:strVal val="0.25"/>
                                      </p:to>
                                    </p:set>
                                    <p:animEffect filter="image" prLst="opacity: 0.25">
                                      <p:cBhvr rctx="IE">
                                        <p:cTn id="7" dur="indefinite"/>
                                        <p:tgtEl>
                                          <p:spTgt spid="3">
                                            <p:txEl>
                                              <p:pRg st="0" end="0"/>
                                            </p:txEl>
                                          </p:spTgt>
                                        </p:tgtEl>
                                      </p:cBhvr>
                                    </p:animEffect>
                                  </p:childTnLst>
                                </p:cTn>
                              </p:par>
                              <p:par>
                                <p:cTn id="8" presetID="9" presetClass="emph" presetSubtype="0" nodeType="withEffect">
                                  <p:stCondLst>
                                    <p:cond delay="0"/>
                                  </p:stCondLst>
                                  <p:childTnLst>
                                    <p:set>
                                      <p:cBhvr>
                                        <p:cTn id="9" dur="indefinite"/>
                                        <p:tgtEl>
                                          <p:spTgt spid="9"/>
                                        </p:tgtEl>
                                        <p:attrNameLst>
                                          <p:attrName>style.opacity</p:attrName>
                                        </p:attrNameLst>
                                      </p:cBhvr>
                                      <p:to>
                                        <p:strVal val="0.25"/>
                                      </p:to>
                                    </p:set>
                                    <p:animEffect filter="image" prLst="opacity: 0.25">
                                      <p:cBhvr rctx="IE">
                                        <p:cTn id="10" dur="indefinite"/>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up)">
                                      <p:cBhvr>
                                        <p:cTn id="15" dur="500"/>
                                        <p:tgtEl>
                                          <p:spTgt spid="3">
                                            <p:txEl>
                                              <p:pRg st="1" end="1"/>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up)">
                                      <p:cBhvr>
                                        <p:cTn id="18" dur="500"/>
                                        <p:tgtEl>
                                          <p:spTgt spid="8"/>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up)">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A8B7A-4946-B0B7-BA61-775C21A9CD55}"/>
              </a:ext>
            </a:extLst>
          </p:cNvPr>
          <p:cNvSpPr>
            <a:spLocks noGrp="1"/>
          </p:cNvSpPr>
          <p:nvPr>
            <p:ph type="title"/>
          </p:nvPr>
        </p:nvSpPr>
        <p:spPr/>
        <p:txBody>
          <a:bodyPr/>
          <a:lstStyle/>
          <a:p>
            <a:r>
              <a:rPr lang="en-US" altLang="zh-TW" dirty="0"/>
              <a:t>Layout Concepts of a FS (On Storage Device)</a:t>
            </a:r>
            <a:endParaRPr kumimoji="1" lang="zh-TW" altLang="en-US" dirty="0"/>
          </a:p>
        </p:txBody>
      </p:sp>
      <p:sp>
        <p:nvSpPr>
          <p:cNvPr id="3" name="內容版面配置區 2">
            <a:extLst>
              <a:ext uri="{FF2B5EF4-FFF2-40B4-BE49-F238E27FC236}">
                <a16:creationId xmlns:a16="http://schemas.microsoft.com/office/drawing/2014/main" id="{E47AA4B3-E210-1B15-ADBB-F99EEF2FCD16}"/>
              </a:ext>
            </a:extLst>
          </p:cNvPr>
          <p:cNvSpPr>
            <a:spLocks noGrp="1"/>
          </p:cNvSpPr>
          <p:nvPr>
            <p:ph idx="1"/>
          </p:nvPr>
        </p:nvSpPr>
        <p:spPr/>
        <p:txBody>
          <a:bodyPr/>
          <a:lstStyle/>
          <a:p>
            <a:r>
              <a:rPr kumimoji="1" lang="en-US" altLang="zh-TW" dirty="0"/>
              <a:t>An overview of key data structures used by </a:t>
            </a:r>
            <a:r>
              <a:rPr lang="en-US" altLang="zh-TW" dirty="0"/>
              <a:t>a file system</a:t>
            </a:r>
            <a:r>
              <a:rPr kumimoji="1"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D9575EC5-D0B9-6384-7FBC-3DE82CA220E8}"/>
              </a:ext>
            </a:extLst>
          </p:cNvPr>
          <p:cNvSpPr>
            <a:spLocks noGrp="1"/>
          </p:cNvSpPr>
          <p:nvPr>
            <p:ph type="sldNum" sz="quarter" idx="4"/>
          </p:nvPr>
        </p:nvSpPr>
        <p:spPr/>
        <p:txBody>
          <a:bodyPr/>
          <a:lstStyle/>
          <a:p>
            <a:fld id="{E24E6636-6BA5-4AAC-8485-BE8D914D288B}" type="slidenum">
              <a:rPr lang="zh-TW" altLang="en-US" smtClean="0"/>
              <a:pPr/>
              <a:t>7</a:t>
            </a:fld>
            <a:endParaRPr lang="zh-TW" altLang="en-US" dirty="0"/>
          </a:p>
        </p:txBody>
      </p:sp>
      <p:pic>
        <p:nvPicPr>
          <p:cNvPr id="7" name="圖片 6">
            <a:extLst>
              <a:ext uri="{FF2B5EF4-FFF2-40B4-BE49-F238E27FC236}">
                <a16:creationId xmlns:a16="http://schemas.microsoft.com/office/drawing/2014/main" id="{3960E3A8-6AD8-AD9C-96BC-A38BE12830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099" y="2118765"/>
            <a:ext cx="3680050" cy="2063750"/>
          </a:xfrm>
          <a:prstGeom prst="rect">
            <a:avLst/>
          </a:prstGeom>
        </p:spPr>
      </p:pic>
      <p:pic>
        <p:nvPicPr>
          <p:cNvPr id="10" name="圖片 9">
            <a:extLst>
              <a:ext uri="{FF2B5EF4-FFF2-40B4-BE49-F238E27FC236}">
                <a16:creationId xmlns:a16="http://schemas.microsoft.com/office/drawing/2014/main" id="{9EEEF7CB-AC79-0BA1-8C83-33270D4B12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8127" y="1673827"/>
            <a:ext cx="5308994" cy="2614779"/>
          </a:xfrm>
          <a:prstGeom prst="rect">
            <a:avLst/>
          </a:prstGeom>
        </p:spPr>
      </p:pic>
      <p:sp>
        <p:nvSpPr>
          <p:cNvPr id="11" name="矩形 10">
            <a:extLst>
              <a:ext uri="{FF2B5EF4-FFF2-40B4-BE49-F238E27FC236}">
                <a16:creationId xmlns:a16="http://schemas.microsoft.com/office/drawing/2014/main" id="{4D402803-5074-214C-01E9-441E6F2CC77C}"/>
              </a:ext>
            </a:extLst>
          </p:cNvPr>
          <p:cNvSpPr/>
          <p:nvPr/>
        </p:nvSpPr>
        <p:spPr>
          <a:xfrm>
            <a:off x="1154834" y="4920020"/>
            <a:ext cx="91440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Boot</a:t>
            </a:r>
            <a:br>
              <a:rPr kumimoji="1" lang="en-US" altLang="zh-TW" dirty="0">
                <a:solidFill>
                  <a:schemeClr val="tx1"/>
                </a:solidFill>
              </a:rPr>
            </a:br>
            <a:r>
              <a:rPr kumimoji="1" lang="en-US" altLang="zh-TW" dirty="0">
                <a:solidFill>
                  <a:schemeClr val="tx1"/>
                </a:solidFill>
              </a:rPr>
              <a:t>Block</a:t>
            </a:r>
            <a:endParaRPr kumimoji="1" lang="zh-TW" altLang="en-US" dirty="0">
              <a:solidFill>
                <a:schemeClr val="tx1"/>
              </a:solidFill>
            </a:endParaRPr>
          </a:p>
        </p:txBody>
      </p:sp>
      <p:sp>
        <p:nvSpPr>
          <p:cNvPr id="13" name="矩形 12">
            <a:extLst>
              <a:ext uri="{FF2B5EF4-FFF2-40B4-BE49-F238E27FC236}">
                <a16:creationId xmlns:a16="http://schemas.microsoft.com/office/drawing/2014/main" id="{8B141AE9-F54B-475A-385E-A4B8968E5343}"/>
              </a:ext>
            </a:extLst>
          </p:cNvPr>
          <p:cNvSpPr/>
          <p:nvPr/>
        </p:nvSpPr>
        <p:spPr>
          <a:xfrm>
            <a:off x="2069234" y="4920020"/>
            <a:ext cx="91440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Super Block</a:t>
            </a:r>
            <a:endParaRPr kumimoji="1" lang="zh-TW" altLang="en-US" dirty="0">
              <a:solidFill>
                <a:schemeClr val="tx1"/>
              </a:solidFill>
            </a:endParaRPr>
          </a:p>
        </p:txBody>
      </p:sp>
      <p:sp>
        <p:nvSpPr>
          <p:cNvPr id="14" name="矩形 13">
            <a:extLst>
              <a:ext uri="{FF2B5EF4-FFF2-40B4-BE49-F238E27FC236}">
                <a16:creationId xmlns:a16="http://schemas.microsoft.com/office/drawing/2014/main" id="{6909B583-B6D4-68CA-38DE-3F9C6AABD165}"/>
              </a:ext>
            </a:extLst>
          </p:cNvPr>
          <p:cNvSpPr/>
          <p:nvPr/>
        </p:nvSpPr>
        <p:spPr>
          <a:xfrm>
            <a:off x="2983634" y="4920020"/>
            <a:ext cx="1940094"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
        <p:nvSpPr>
          <p:cNvPr id="25" name="矩形 24">
            <a:extLst>
              <a:ext uri="{FF2B5EF4-FFF2-40B4-BE49-F238E27FC236}">
                <a16:creationId xmlns:a16="http://schemas.microsoft.com/office/drawing/2014/main" id="{ECCE8EA4-7339-3D69-F5A9-9E8AAD4521FD}"/>
              </a:ext>
            </a:extLst>
          </p:cNvPr>
          <p:cNvSpPr/>
          <p:nvPr/>
        </p:nvSpPr>
        <p:spPr>
          <a:xfrm>
            <a:off x="4923728" y="4920020"/>
            <a:ext cx="91440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Root Dir</a:t>
            </a:r>
            <a:endParaRPr kumimoji="1" lang="zh-TW" altLang="en-US" dirty="0">
              <a:solidFill>
                <a:schemeClr val="tx1"/>
              </a:solidFill>
            </a:endParaRPr>
          </a:p>
        </p:txBody>
      </p:sp>
      <p:sp>
        <p:nvSpPr>
          <p:cNvPr id="26" name="矩形 25">
            <a:extLst>
              <a:ext uri="{FF2B5EF4-FFF2-40B4-BE49-F238E27FC236}">
                <a16:creationId xmlns:a16="http://schemas.microsoft.com/office/drawing/2014/main" id="{220F95B2-0CDA-24A0-FAC0-2D36CFEC8082}"/>
              </a:ext>
            </a:extLst>
          </p:cNvPr>
          <p:cNvSpPr/>
          <p:nvPr/>
        </p:nvSpPr>
        <p:spPr>
          <a:xfrm>
            <a:off x="5838127" y="4920020"/>
            <a:ext cx="2146801"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File1’s Content in Data Block</a:t>
            </a:r>
            <a:endParaRPr kumimoji="1" lang="zh-TW" altLang="en-US" dirty="0">
              <a:solidFill>
                <a:schemeClr val="tx1"/>
              </a:solidFill>
            </a:endParaRPr>
          </a:p>
        </p:txBody>
      </p:sp>
      <p:sp>
        <p:nvSpPr>
          <p:cNvPr id="28" name="矩形 27">
            <a:extLst>
              <a:ext uri="{FF2B5EF4-FFF2-40B4-BE49-F238E27FC236}">
                <a16:creationId xmlns:a16="http://schemas.microsoft.com/office/drawing/2014/main" id="{DFF399AC-EAC4-7440-DD59-9A836AE0CCEB}"/>
              </a:ext>
            </a:extLst>
          </p:cNvPr>
          <p:cNvSpPr/>
          <p:nvPr/>
        </p:nvSpPr>
        <p:spPr>
          <a:xfrm>
            <a:off x="7980865" y="4920020"/>
            <a:ext cx="249025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subdir0</a:t>
            </a:r>
            <a:endParaRPr kumimoji="1" lang="zh-TW" altLang="en-US" dirty="0">
              <a:solidFill>
                <a:schemeClr val="tx1"/>
              </a:solidFill>
            </a:endParaRPr>
          </a:p>
        </p:txBody>
      </p:sp>
      <p:sp>
        <p:nvSpPr>
          <p:cNvPr id="29" name="矩形 28">
            <a:extLst>
              <a:ext uri="{FF2B5EF4-FFF2-40B4-BE49-F238E27FC236}">
                <a16:creationId xmlns:a16="http://schemas.microsoft.com/office/drawing/2014/main" id="{9A82C76E-9C25-5172-6C83-7D1CCDF9485E}"/>
              </a:ext>
            </a:extLst>
          </p:cNvPr>
          <p:cNvSpPr/>
          <p:nvPr/>
        </p:nvSpPr>
        <p:spPr>
          <a:xfrm>
            <a:off x="10471116" y="4920019"/>
            <a:ext cx="1132852"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File2</a:t>
            </a:r>
            <a:endParaRPr kumimoji="1" lang="zh-TW" altLang="en-US" dirty="0">
              <a:solidFill>
                <a:schemeClr val="tx1"/>
              </a:solidFill>
            </a:endParaRPr>
          </a:p>
        </p:txBody>
      </p:sp>
      <p:sp>
        <p:nvSpPr>
          <p:cNvPr id="31" name="文字方塊 30">
            <a:extLst>
              <a:ext uri="{FF2B5EF4-FFF2-40B4-BE49-F238E27FC236}">
                <a16:creationId xmlns:a16="http://schemas.microsoft.com/office/drawing/2014/main" id="{BDE66B6F-52D4-A4FC-62D2-C2C75884F843}"/>
              </a:ext>
            </a:extLst>
          </p:cNvPr>
          <p:cNvSpPr txBox="1"/>
          <p:nvPr/>
        </p:nvSpPr>
        <p:spPr>
          <a:xfrm>
            <a:off x="3331556" y="4553990"/>
            <a:ext cx="1271117" cy="369332"/>
          </a:xfrm>
          <a:prstGeom prst="rect">
            <a:avLst/>
          </a:prstGeom>
          <a:noFill/>
        </p:spPr>
        <p:txBody>
          <a:bodyPr wrap="none" rtlCol="0">
            <a:spAutoFit/>
          </a:bodyPr>
          <a:lstStyle/>
          <a:p>
            <a:r>
              <a:rPr kumimoji="1" lang="en-US" altLang="zh-TW" dirty="0" err="1"/>
              <a:t>Inode</a:t>
            </a:r>
            <a:r>
              <a:rPr kumimoji="1" lang="en-US" altLang="zh-TW" dirty="0"/>
              <a:t> Table</a:t>
            </a:r>
            <a:endParaRPr kumimoji="1" lang="zh-TW" altLang="en-US" dirty="0"/>
          </a:p>
        </p:txBody>
      </p:sp>
      <p:grpSp>
        <p:nvGrpSpPr>
          <p:cNvPr id="52" name="群組 51">
            <a:extLst>
              <a:ext uri="{FF2B5EF4-FFF2-40B4-BE49-F238E27FC236}">
                <a16:creationId xmlns:a16="http://schemas.microsoft.com/office/drawing/2014/main" id="{1888D395-B093-9FD0-6B43-EF910A47EB69}"/>
              </a:ext>
            </a:extLst>
          </p:cNvPr>
          <p:cNvGrpSpPr/>
          <p:nvPr/>
        </p:nvGrpSpPr>
        <p:grpSpPr>
          <a:xfrm>
            <a:off x="1154833" y="4559434"/>
            <a:ext cx="10618059" cy="1496587"/>
            <a:chOff x="1154833" y="4559434"/>
            <a:chExt cx="10618059" cy="1496587"/>
          </a:xfrm>
        </p:grpSpPr>
        <p:sp>
          <p:nvSpPr>
            <p:cNvPr id="12" name="矩形 11">
              <a:extLst>
                <a:ext uri="{FF2B5EF4-FFF2-40B4-BE49-F238E27FC236}">
                  <a16:creationId xmlns:a16="http://schemas.microsoft.com/office/drawing/2014/main" id="{4C1820F4-F585-AB3A-3440-C9722AD172EF}"/>
                </a:ext>
              </a:extLst>
            </p:cNvPr>
            <p:cNvSpPr/>
            <p:nvPr/>
          </p:nvSpPr>
          <p:spPr>
            <a:xfrm>
              <a:off x="1154833" y="4920020"/>
              <a:ext cx="10618059" cy="113600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
          <p:nvSpPr>
            <p:cNvPr id="32" name="文字方塊 31">
              <a:extLst>
                <a:ext uri="{FF2B5EF4-FFF2-40B4-BE49-F238E27FC236}">
                  <a16:creationId xmlns:a16="http://schemas.microsoft.com/office/drawing/2014/main" id="{BE4F85CD-DA66-CC45-80AD-14F765EF1004}"/>
                </a:ext>
              </a:extLst>
            </p:cNvPr>
            <p:cNvSpPr txBox="1"/>
            <p:nvPr/>
          </p:nvSpPr>
          <p:spPr>
            <a:xfrm>
              <a:off x="4757510" y="4559434"/>
              <a:ext cx="5160644" cy="369332"/>
            </a:xfrm>
            <a:prstGeom prst="rect">
              <a:avLst/>
            </a:prstGeom>
            <a:noFill/>
          </p:spPr>
          <p:txBody>
            <a:bodyPr wrap="none" rtlCol="0">
              <a:spAutoFit/>
            </a:bodyPr>
            <a:lstStyle/>
            <a:p>
              <a:r>
                <a:rPr kumimoji="1" lang="en-US" altLang="zh-TW" b="1" dirty="0"/>
                <a:t>Physical Layout of a file system on the disk (not VFS)</a:t>
              </a:r>
              <a:endParaRPr kumimoji="1" lang="zh-TW" altLang="en-US" b="1" dirty="0"/>
            </a:p>
          </p:txBody>
        </p:sp>
      </p:grpSp>
      <p:grpSp>
        <p:nvGrpSpPr>
          <p:cNvPr id="51" name="群組 50">
            <a:extLst>
              <a:ext uri="{FF2B5EF4-FFF2-40B4-BE49-F238E27FC236}">
                <a16:creationId xmlns:a16="http://schemas.microsoft.com/office/drawing/2014/main" id="{DAA425F5-FDDB-1CE0-404A-2A1AC5CA1147}"/>
              </a:ext>
            </a:extLst>
          </p:cNvPr>
          <p:cNvGrpSpPr/>
          <p:nvPr/>
        </p:nvGrpSpPr>
        <p:grpSpPr>
          <a:xfrm>
            <a:off x="3092963" y="4920019"/>
            <a:ext cx="1714183" cy="1136002"/>
            <a:chOff x="3092963" y="4920019"/>
            <a:chExt cx="1714183" cy="1136002"/>
          </a:xfrm>
        </p:grpSpPr>
        <p:cxnSp>
          <p:nvCxnSpPr>
            <p:cNvPr id="34" name="直線接點 33">
              <a:extLst>
                <a:ext uri="{FF2B5EF4-FFF2-40B4-BE49-F238E27FC236}">
                  <a16:creationId xmlns:a16="http://schemas.microsoft.com/office/drawing/2014/main" id="{46DD9FA6-A10A-838D-6CAD-96D6982A3EA4}"/>
                </a:ext>
              </a:extLst>
            </p:cNvPr>
            <p:cNvCxnSpPr>
              <a:cxnSpLocks/>
            </p:cNvCxnSpPr>
            <p:nvPr/>
          </p:nvCxnSpPr>
          <p:spPr>
            <a:xfrm>
              <a:off x="3092963"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CA8EA8AA-BBFB-3F91-23E5-116D4EB0BD54}"/>
                </a:ext>
              </a:extLst>
            </p:cNvPr>
            <p:cNvCxnSpPr>
              <a:cxnSpLocks/>
            </p:cNvCxnSpPr>
            <p:nvPr/>
          </p:nvCxnSpPr>
          <p:spPr>
            <a:xfrm>
              <a:off x="3207242"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84E9ECBE-D029-BFBF-2DE3-435FC1088351}"/>
                </a:ext>
              </a:extLst>
            </p:cNvPr>
            <p:cNvCxnSpPr>
              <a:cxnSpLocks/>
            </p:cNvCxnSpPr>
            <p:nvPr/>
          </p:nvCxnSpPr>
          <p:spPr>
            <a:xfrm>
              <a:off x="3321521"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38CC58F9-1621-9A3F-5DE7-44FDE060DA8A}"/>
                </a:ext>
              </a:extLst>
            </p:cNvPr>
            <p:cNvCxnSpPr>
              <a:cxnSpLocks/>
            </p:cNvCxnSpPr>
            <p:nvPr/>
          </p:nvCxnSpPr>
          <p:spPr>
            <a:xfrm>
              <a:off x="3550079"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8473A8B0-298F-CC2A-26E3-C2409CF2DBBD}"/>
                </a:ext>
              </a:extLst>
            </p:cNvPr>
            <p:cNvCxnSpPr>
              <a:cxnSpLocks/>
            </p:cNvCxnSpPr>
            <p:nvPr/>
          </p:nvCxnSpPr>
          <p:spPr>
            <a:xfrm>
              <a:off x="3778637"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679FFB6E-0440-E9E6-C497-6EDCDC91006A}"/>
                </a:ext>
              </a:extLst>
            </p:cNvPr>
            <p:cNvCxnSpPr>
              <a:cxnSpLocks/>
            </p:cNvCxnSpPr>
            <p:nvPr/>
          </p:nvCxnSpPr>
          <p:spPr>
            <a:xfrm>
              <a:off x="4007195"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線接點 40">
              <a:extLst>
                <a:ext uri="{FF2B5EF4-FFF2-40B4-BE49-F238E27FC236}">
                  <a16:creationId xmlns:a16="http://schemas.microsoft.com/office/drawing/2014/main" id="{9960498B-D50C-8BAC-5DCF-77D5DF9F7937}"/>
                </a:ext>
              </a:extLst>
            </p:cNvPr>
            <p:cNvCxnSpPr>
              <a:cxnSpLocks/>
            </p:cNvCxnSpPr>
            <p:nvPr/>
          </p:nvCxnSpPr>
          <p:spPr>
            <a:xfrm>
              <a:off x="4235753"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0DF9F306-A8D4-0849-62C1-6ABFD848736F}"/>
                </a:ext>
              </a:extLst>
            </p:cNvPr>
            <p:cNvCxnSpPr>
              <a:cxnSpLocks/>
            </p:cNvCxnSpPr>
            <p:nvPr/>
          </p:nvCxnSpPr>
          <p:spPr>
            <a:xfrm>
              <a:off x="4464311"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線接點 42">
              <a:extLst>
                <a:ext uri="{FF2B5EF4-FFF2-40B4-BE49-F238E27FC236}">
                  <a16:creationId xmlns:a16="http://schemas.microsoft.com/office/drawing/2014/main" id="{08D8DEAF-FCB4-C7B8-F200-C065E78B8AB1}"/>
                </a:ext>
              </a:extLst>
            </p:cNvPr>
            <p:cNvCxnSpPr>
              <a:cxnSpLocks/>
            </p:cNvCxnSpPr>
            <p:nvPr/>
          </p:nvCxnSpPr>
          <p:spPr>
            <a:xfrm>
              <a:off x="3435800"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D9839CC1-6B78-6A91-843B-35773913B95A}"/>
                </a:ext>
              </a:extLst>
            </p:cNvPr>
            <p:cNvCxnSpPr>
              <a:cxnSpLocks/>
            </p:cNvCxnSpPr>
            <p:nvPr/>
          </p:nvCxnSpPr>
          <p:spPr>
            <a:xfrm>
              <a:off x="3664358"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FD445D76-4C9F-133A-0192-DE60B36727E1}"/>
                </a:ext>
              </a:extLst>
            </p:cNvPr>
            <p:cNvCxnSpPr>
              <a:cxnSpLocks/>
            </p:cNvCxnSpPr>
            <p:nvPr/>
          </p:nvCxnSpPr>
          <p:spPr>
            <a:xfrm>
              <a:off x="3892916"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4BB4B745-8C27-2014-4762-8838A4569B78}"/>
                </a:ext>
              </a:extLst>
            </p:cNvPr>
            <p:cNvCxnSpPr>
              <a:cxnSpLocks/>
            </p:cNvCxnSpPr>
            <p:nvPr/>
          </p:nvCxnSpPr>
          <p:spPr>
            <a:xfrm>
              <a:off x="4121474"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A4DA421B-E2D7-F2A2-7C4D-2DC97B604444}"/>
                </a:ext>
              </a:extLst>
            </p:cNvPr>
            <p:cNvCxnSpPr>
              <a:cxnSpLocks/>
            </p:cNvCxnSpPr>
            <p:nvPr/>
          </p:nvCxnSpPr>
          <p:spPr>
            <a:xfrm>
              <a:off x="4350032"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124F89F4-D7A5-497B-340C-386E3BFF8B08}"/>
                </a:ext>
              </a:extLst>
            </p:cNvPr>
            <p:cNvCxnSpPr>
              <a:cxnSpLocks/>
            </p:cNvCxnSpPr>
            <p:nvPr/>
          </p:nvCxnSpPr>
          <p:spPr>
            <a:xfrm>
              <a:off x="4578590"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線接點 48">
              <a:extLst>
                <a:ext uri="{FF2B5EF4-FFF2-40B4-BE49-F238E27FC236}">
                  <a16:creationId xmlns:a16="http://schemas.microsoft.com/office/drawing/2014/main" id="{06D8AAFA-8F4A-9B25-0B90-8F6E3C241A5A}"/>
                </a:ext>
              </a:extLst>
            </p:cNvPr>
            <p:cNvCxnSpPr>
              <a:cxnSpLocks/>
            </p:cNvCxnSpPr>
            <p:nvPr/>
          </p:nvCxnSpPr>
          <p:spPr>
            <a:xfrm>
              <a:off x="4692869"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637A418E-8373-64A3-0CE1-2D66E26645D6}"/>
                </a:ext>
              </a:extLst>
            </p:cNvPr>
            <p:cNvCxnSpPr>
              <a:cxnSpLocks/>
            </p:cNvCxnSpPr>
            <p:nvPr/>
          </p:nvCxnSpPr>
          <p:spPr>
            <a:xfrm>
              <a:off x="4807146"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53" name="文字方塊 52">
            <a:extLst>
              <a:ext uri="{FF2B5EF4-FFF2-40B4-BE49-F238E27FC236}">
                <a16:creationId xmlns:a16="http://schemas.microsoft.com/office/drawing/2014/main" id="{96480281-8C7F-6FDE-A835-29860DDF40E6}"/>
              </a:ext>
            </a:extLst>
          </p:cNvPr>
          <p:cNvSpPr txBox="1"/>
          <p:nvPr/>
        </p:nvSpPr>
        <p:spPr>
          <a:xfrm>
            <a:off x="0" y="6552886"/>
            <a:ext cx="6102626" cy="276999"/>
          </a:xfrm>
          <a:prstGeom prst="rect">
            <a:avLst/>
          </a:prstGeom>
          <a:noFill/>
        </p:spPr>
        <p:txBody>
          <a:bodyPr wrap="square">
            <a:spAutoFit/>
          </a:bodyPr>
          <a:lstStyle/>
          <a:p>
            <a:r>
              <a:rPr lang="en-US" altLang="zh-TW" sz="1200" dirty="0">
                <a:solidFill>
                  <a:schemeClr val="bg1">
                    <a:lumMod val="50000"/>
                  </a:schemeClr>
                </a:solidFill>
              </a:rPr>
              <a:t>Ref: </a:t>
            </a:r>
            <a:r>
              <a:rPr lang="zh-TW" altLang="en-US" sz="1200" dirty="0">
                <a:solidFill>
                  <a:schemeClr val="bg1">
                    <a:lumMod val="50000"/>
                  </a:schemeClr>
                </a:solidFill>
              </a:rPr>
              <a:t>https://www.modb.pro/db/444637</a:t>
            </a:r>
          </a:p>
        </p:txBody>
      </p:sp>
      <p:sp>
        <p:nvSpPr>
          <p:cNvPr id="5" name="文字方塊 4">
            <a:extLst>
              <a:ext uri="{FF2B5EF4-FFF2-40B4-BE49-F238E27FC236}">
                <a16:creationId xmlns:a16="http://schemas.microsoft.com/office/drawing/2014/main" id="{03D4D8DA-A610-E0A2-24E3-2418E787A28D}"/>
              </a:ext>
            </a:extLst>
          </p:cNvPr>
          <p:cNvSpPr txBox="1"/>
          <p:nvPr/>
        </p:nvSpPr>
        <p:spPr>
          <a:xfrm>
            <a:off x="1045673" y="4559434"/>
            <a:ext cx="1688539" cy="369332"/>
          </a:xfrm>
          <a:prstGeom prst="rect">
            <a:avLst/>
          </a:prstGeom>
          <a:noFill/>
        </p:spPr>
        <p:txBody>
          <a:bodyPr wrap="none" rtlCol="0">
            <a:spAutoFit/>
          </a:bodyPr>
          <a:lstStyle/>
          <a:p>
            <a:r>
              <a:rPr kumimoji="1" lang="en-US" altLang="zh-TW" b="1" dirty="0"/>
              <a:t>Storage Devices</a:t>
            </a:r>
            <a:endParaRPr kumimoji="1" lang="zh-TW" altLang="en-US" b="1" dirty="0"/>
          </a:p>
        </p:txBody>
      </p:sp>
      <p:sp>
        <p:nvSpPr>
          <p:cNvPr id="9" name="文字方塊 8">
            <a:extLst>
              <a:ext uri="{FF2B5EF4-FFF2-40B4-BE49-F238E27FC236}">
                <a16:creationId xmlns:a16="http://schemas.microsoft.com/office/drawing/2014/main" id="{84A28629-8F0B-C5FC-F98C-46D5F28BFE8F}"/>
              </a:ext>
            </a:extLst>
          </p:cNvPr>
          <p:cNvSpPr txBox="1"/>
          <p:nvPr/>
        </p:nvSpPr>
        <p:spPr>
          <a:xfrm>
            <a:off x="9052564" y="1834669"/>
            <a:ext cx="1731180" cy="276999"/>
          </a:xfrm>
          <a:prstGeom prst="rect">
            <a:avLst/>
          </a:prstGeom>
          <a:noFill/>
        </p:spPr>
        <p:txBody>
          <a:bodyPr wrap="none" rtlCol="0">
            <a:spAutoFit/>
          </a:bodyPr>
          <a:lstStyle/>
          <a:p>
            <a:r>
              <a:rPr kumimoji="1" lang="en-US" altLang="zh-TW" sz="1200" b="1" dirty="0" err="1">
                <a:solidFill>
                  <a:srgbClr val="C00000"/>
                </a:solidFill>
              </a:rPr>
              <a:t>Inode</a:t>
            </a:r>
            <a:r>
              <a:rPr kumimoji="1" lang="en-US" altLang="zh-TW" sz="1200" b="1" dirty="0">
                <a:solidFill>
                  <a:srgbClr val="C00000"/>
                </a:solidFill>
              </a:rPr>
              <a:t> for “</a:t>
            </a:r>
            <a:r>
              <a:rPr kumimoji="1" lang="en-US" altLang="zh-TW" sz="1200" b="1" dirty="0" err="1">
                <a:solidFill>
                  <a:srgbClr val="C00000"/>
                </a:solidFill>
              </a:rPr>
              <a:t>dir</a:t>
            </a:r>
            <a:r>
              <a:rPr kumimoji="1" lang="en-US" altLang="zh-TW" sz="1200" b="1" dirty="0">
                <a:solidFill>
                  <a:srgbClr val="C00000"/>
                </a:solidFill>
              </a:rPr>
              <a:t>” directory</a:t>
            </a:r>
            <a:endParaRPr kumimoji="1" lang="zh-TW" altLang="en-US" sz="1200" b="1" dirty="0">
              <a:solidFill>
                <a:srgbClr val="C00000"/>
              </a:solidFill>
            </a:endParaRPr>
          </a:p>
        </p:txBody>
      </p:sp>
      <p:cxnSp>
        <p:nvCxnSpPr>
          <p:cNvPr id="16" name="直線接點 15">
            <a:extLst>
              <a:ext uri="{FF2B5EF4-FFF2-40B4-BE49-F238E27FC236}">
                <a16:creationId xmlns:a16="http://schemas.microsoft.com/office/drawing/2014/main" id="{35B0D25E-6FC1-867B-A06D-DC7B42662DBC}"/>
              </a:ext>
            </a:extLst>
          </p:cNvPr>
          <p:cNvCxnSpPr>
            <a:cxnSpLocks/>
          </p:cNvCxnSpPr>
          <p:nvPr/>
        </p:nvCxnSpPr>
        <p:spPr>
          <a:xfrm>
            <a:off x="9452344" y="2179825"/>
            <a:ext cx="43593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D3BF829B-0A14-BE5F-8599-6F3D080724D3}"/>
              </a:ext>
            </a:extLst>
          </p:cNvPr>
          <p:cNvSpPr/>
          <p:nvPr/>
        </p:nvSpPr>
        <p:spPr>
          <a:xfrm>
            <a:off x="7980864" y="4931276"/>
            <a:ext cx="2490245" cy="1136002"/>
          </a:xfrm>
          <a:prstGeom prst="rect">
            <a:avLst/>
          </a:prstGeom>
          <a:solidFill>
            <a:schemeClr val="bg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dirty="0">
                <a:solidFill>
                  <a:schemeClr val="tx1"/>
                </a:solidFill>
              </a:rPr>
              <a:t>Directory Block</a:t>
            </a:r>
            <a:endParaRPr kumimoji="1" lang="zh-TW" altLang="en-US" dirty="0">
              <a:solidFill>
                <a:schemeClr val="tx1"/>
              </a:solidFill>
            </a:endParaRPr>
          </a:p>
        </p:txBody>
      </p:sp>
      <p:sp>
        <p:nvSpPr>
          <p:cNvPr id="21" name="矩形 20">
            <a:extLst>
              <a:ext uri="{FF2B5EF4-FFF2-40B4-BE49-F238E27FC236}">
                <a16:creationId xmlns:a16="http://schemas.microsoft.com/office/drawing/2014/main" id="{14E6D003-B6E4-0212-14D8-E63C211D593E}"/>
              </a:ext>
            </a:extLst>
          </p:cNvPr>
          <p:cNvSpPr/>
          <p:nvPr/>
        </p:nvSpPr>
        <p:spPr>
          <a:xfrm>
            <a:off x="8090194" y="5229493"/>
            <a:ext cx="2292997" cy="792797"/>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Directory Entries</a:t>
            </a:r>
            <a:endParaRPr kumimoji="1" lang="zh-TW" altLang="en-US" dirty="0">
              <a:solidFill>
                <a:schemeClr val="tx1"/>
              </a:solidFill>
            </a:endParaRPr>
          </a:p>
        </p:txBody>
      </p:sp>
      <p:grpSp>
        <p:nvGrpSpPr>
          <p:cNvPr id="27" name="群組 26">
            <a:extLst>
              <a:ext uri="{FF2B5EF4-FFF2-40B4-BE49-F238E27FC236}">
                <a16:creationId xmlns:a16="http://schemas.microsoft.com/office/drawing/2014/main" id="{9FAA55ED-066C-4B97-ABBD-3B1077129CAA}"/>
              </a:ext>
            </a:extLst>
          </p:cNvPr>
          <p:cNvGrpSpPr/>
          <p:nvPr/>
        </p:nvGrpSpPr>
        <p:grpSpPr>
          <a:xfrm>
            <a:off x="8199339" y="5510362"/>
            <a:ext cx="1772143" cy="430888"/>
            <a:chOff x="8199339" y="5510362"/>
            <a:chExt cx="1772143" cy="430888"/>
          </a:xfrm>
        </p:grpSpPr>
        <p:sp>
          <p:nvSpPr>
            <p:cNvPr id="8" name="文字方塊 7">
              <a:extLst>
                <a:ext uri="{FF2B5EF4-FFF2-40B4-BE49-F238E27FC236}">
                  <a16:creationId xmlns:a16="http://schemas.microsoft.com/office/drawing/2014/main" id="{067FE95D-50DC-8FEF-0395-D498AC58174E}"/>
                </a:ext>
              </a:extLst>
            </p:cNvPr>
            <p:cNvSpPr txBox="1"/>
            <p:nvPr/>
          </p:nvSpPr>
          <p:spPr>
            <a:xfrm>
              <a:off x="8199339" y="5510362"/>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Inode4, file1’s filename</a:t>
              </a:r>
              <a:endParaRPr kumimoji="1" lang="zh-TW" altLang="en-US" sz="1400" dirty="0">
                <a:solidFill>
                  <a:srgbClr val="C00000"/>
                </a:solidFill>
              </a:endParaRPr>
            </a:p>
          </p:txBody>
        </p:sp>
        <p:sp>
          <p:nvSpPr>
            <p:cNvPr id="24" name="文字方塊 23">
              <a:extLst>
                <a:ext uri="{FF2B5EF4-FFF2-40B4-BE49-F238E27FC236}">
                  <a16:creationId xmlns:a16="http://schemas.microsoft.com/office/drawing/2014/main" id="{88EFC6E7-A7F2-8DED-F2C8-E7903FAA0DB5}"/>
                </a:ext>
              </a:extLst>
            </p:cNvPr>
            <p:cNvSpPr txBox="1"/>
            <p:nvPr/>
          </p:nvSpPr>
          <p:spPr>
            <a:xfrm>
              <a:off x="8199339" y="5725806"/>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Inode5, file2’s filename</a:t>
              </a:r>
              <a:endParaRPr kumimoji="1" lang="zh-TW" altLang="en-US" sz="1400" dirty="0">
                <a:solidFill>
                  <a:srgbClr val="C00000"/>
                </a:solidFill>
              </a:endParaRPr>
            </a:p>
          </p:txBody>
        </p:sp>
      </p:grpSp>
    </p:spTree>
    <p:extLst>
      <p:ext uri="{BB962C8B-B14F-4D97-AF65-F5344CB8AC3E}">
        <p14:creationId xmlns:p14="http://schemas.microsoft.com/office/powerpoint/2010/main" val="2059193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mph" presetSubtype="0" nodeType="clickEffect">
                                  <p:stCondLst>
                                    <p:cond delay="0"/>
                                  </p:stCondLst>
                                  <p:childTnLst>
                                    <p:set>
                                      <p:cBhvr>
                                        <p:cTn id="14" dur="indefinite"/>
                                        <p:tgtEl>
                                          <p:spTgt spid="10"/>
                                        </p:tgtEl>
                                        <p:attrNameLst>
                                          <p:attrName>style.opacity</p:attrName>
                                        </p:attrNameLst>
                                      </p:cBhvr>
                                      <p:to>
                                        <p:strVal val="0.25"/>
                                      </p:to>
                                    </p:set>
                                    <p:animEffect filter="image" prLst="opacity: 0.25">
                                      <p:cBhvr rctx="IE">
                                        <p:cTn id="15" dur="indefinite"/>
                                        <p:tgtEl>
                                          <p:spTgt spid="10"/>
                                        </p:tgtEl>
                                      </p:cBhvr>
                                    </p:animEffect>
                                  </p:childTnLst>
                                </p:cTn>
                              </p:par>
                              <p:par>
                                <p:cTn id="16" presetID="9" presetClass="emph" presetSubtype="0" nodeType="withEffect">
                                  <p:stCondLst>
                                    <p:cond delay="0"/>
                                  </p:stCondLst>
                                  <p:childTnLst>
                                    <p:set>
                                      <p:cBhvr>
                                        <p:cTn id="17" dur="indefinite"/>
                                        <p:tgtEl>
                                          <p:spTgt spid="7"/>
                                        </p:tgtEl>
                                        <p:attrNameLst>
                                          <p:attrName>style.opacity</p:attrName>
                                        </p:attrNameLst>
                                      </p:cBhvr>
                                      <p:to>
                                        <p:strVal val="0.25"/>
                                      </p:to>
                                    </p:set>
                                    <p:animEffect filter="image" prLst="opacity: 0.25">
                                      <p:cBhvr rctx="IE">
                                        <p:cTn id="18" dur="indefinite"/>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wipe(left)">
                                      <p:cBhvr>
                                        <p:cTn id="31" dur="500"/>
                                        <p:tgtEl>
                                          <p:spTgt spid="31"/>
                                        </p:tgtEl>
                                      </p:cBhvr>
                                    </p:animEffect>
                                  </p:childTnLst>
                                </p:cTn>
                              </p:par>
                              <p:par>
                                <p:cTn id="32" presetID="22" presetClass="entr" presetSubtype="8" fill="hold"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ipe(left)">
                                      <p:cBhvr>
                                        <p:cTn id="34" dur="500"/>
                                        <p:tgtEl>
                                          <p:spTgt spid="5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500"/>
                                        <p:tgtEl>
                                          <p:spTgt spid="29"/>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mph" presetSubtype="0" nodeType="clickEffect">
                                  <p:stCondLst>
                                    <p:cond delay="0"/>
                                  </p:stCondLst>
                                  <p:childTnLst>
                                    <p:set>
                                      <p:cBhvr>
                                        <p:cTn id="58" dur="indefinite"/>
                                        <p:tgtEl>
                                          <p:spTgt spid="10"/>
                                        </p:tgtEl>
                                        <p:attrNameLst>
                                          <p:attrName>style.opacity</p:attrName>
                                        </p:attrNameLst>
                                      </p:cBhvr>
                                      <p:to>
                                        <p:strVal val="1"/>
                                      </p:to>
                                    </p:set>
                                    <p:animEffect filter="image" prLst="opacity: 1">
                                      <p:cBhvr rctx="IE">
                                        <p:cTn id="59" dur="indefinite"/>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wipe(left)">
                                      <p:cBhvr>
                                        <p:cTn id="64" dur="500"/>
                                        <p:tgtEl>
                                          <p:spTgt spid="16"/>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wipe(left)">
                                      <p:cBhvr>
                                        <p:cTn id="68" dur="500"/>
                                        <p:tgtEl>
                                          <p:spTgt spid="9"/>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mph" presetSubtype="0" nodeType="clickEffect">
                                  <p:stCondLst>
                                    <p:cond delay="0"/>
                                  </p:stCondLst>
                                  <p:childTnLst>
                                    <p:set>
                                      <p:cBhvr>
                                        <p:cTn id="72" dur="indefinite"/>
                                        <p:tgtEl>
                                          <p:spTgt spid="10"/>
                                        </p:tgtEl>
                                        <p:attrNameLst>
                                          <p:attrName>style.opacity</p:attrName>
                                        </p:attrNameLst>
                                      </p:cBhvr>
                                      <p:to>
                                        <p:strVal val="0.25"/>
                                      </p:to>
                                    </p:set>
                                    <p:animEffect filter="image" prLst="opacity: 0.25">
                                      <p:cBhvr rctx="IE">
                                        <p:cTn id="73" dur="indefinite"/>
                                        <p:tgtEl>
                                          <p:spTgt spid="10"/>
                                        </p:tgtEl>
                                      </p:cBhvr>
                                    </p:animEffect>
                                  </p:childTnLst>
                                </p:cTn>
                              </p:par>
                              <p:par>
                                <p:cTn id="74" presetID="9" presetClass="emph" presetSubtype="0" grpId="1" nodeType="withEffect">
                                  <p:stCondLst>
                                    <p:cond delay="0"/>
                                  </p:stCondLst>
                                  <p:childTnLst>
                                    <p:set>
                                      <p:cBhvr>
                                        <p:cTn id="75" dur="indefinite"/>
                                        <p:tgtEl>
                                          <p:spTgt spid="9"/>
                                        </p:tgtEl>
                                        <p:attrNameLst>
                                          <p:attrName>style.opacity</p:attrName>
                                        </p:attrNameLst>
                                      </p:cBhvr>
                                      <p:to>
                                        <p:strVal val="0.25"/>
                                      </p:to>
                                    </p:set>
                                    <p:animEffect filter="image" prLst="opacity: 0.25">
                                      <p:cBhvr rctx="IE">
                                        <p:cTn id="76" dur="indefinite"/>
                                        <p:tgtEl>
                                          <p:spTgt spid="9"/>
                                        </p:tgtEl>
                                      </p:cBhvr>
                                    </p:animEffect>
                                  </p:childTnLst>
                                </p:cTn>
                              </p:par>
                              <p:par>
                                <p:cTn id="77" presetID="9" presetClass="emph" presetSubtype="0" nodeType="withEffect">
                                  <p:stCondLst>
                                    <p:cond delay="0"/>
                                  </p:stCondLst>
                                  <p:childTnLst>
                                    <p:set>
                                      <p:cBhvr>
                                        <p:cTn id="78" dur="indefinite"/>
                                        <p:tgtEl>
                                          <p:spTgt spid="16"/>
                                        </p:tgtEl>
                                        <p:attrNameLst>
                                          <p:attrName>style.opacity</p:attrName>
                                        </p:attrNameLst>
                                      </p:cBhvr>
                                      <p:to>
                                        <p:strVal val="0.25"/>
                                      </p:to>
                                    </p:set>
                                    <p:animEffect filter="image" prLst="opacity: 0.25">
                                      <p:cBhvr rctx="IE">
                                        <p:cTn id="79" dur="indefinite"/>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00"/>
                                        <p:tgtEl>
                                          <p:spTgt spid="1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childTnLst>
                                </p:cTn>
                              </p:par>
                              <p:par>
                                <p:cTn id="88" presetID="22" presetClass="entr" presetSubtype="1" fill="hold" nodeType="with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wipe(up)">
                                      <p:cBhvr>
                                        <p:cTn id="9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25" grpId="0" animBg="1"/>
      <p:bldP spid="26" grpId="0" animBg="1"/>
      <p:bldP spid="28" grpId="0" animBg="1"/>
      <p:bldP spid="29" grpId="0" animBg="1"/>
      <p:bldP spid="31" grpId="0"/>
      <p:bldP spid="9" grpId="0"/>
      <p:bldP spid="9" grpId="1"/>
      <p:bldP spid="19"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118BA4D8-55B7-3CC5-6852-DF1FCECD7602}"/>
              </a:ext>
            </a:extLst>
          </p:cNvPr>
          <p:cNvSpPr/>
          <p:nvPr/>
        </p:nvSpPr>
        <p:spPr>
          <a:xfrm>
            <a:off x="3335761" y="3431785"/>
            <a:ext cx="6479396"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baseline="-25000" dirty="0">
              <a:solidFill>
                <a:schemeClr val="tx1"/>
              </a:solidFill>
            </a:endParaRPr>
          </a:p>
        </p:txBody>
      </p:sp>
      <p:sp>
        <p:nvSpPr>
          <p:cNvPr id="3" name="內容版面配置區 2">
            <a:extLst>
              <a:ext uri="{FF2B5EF4-FFF2-40B4-BE49-F238E27FC236}">
                <a16:creationId xmlns:a16="http://schemas.microsoft.com/office/drawing/2014/main" id="{93856950-35C3-7886-7129-553661A0EC6A}"/>
              </a:ext>
            </a:extLst>
          </p:cNvPr>
          <p:cNvSpPr>
            <a:spLocks noGrp="1"/>
          </p:cNvSpPr>
          <p:nvPr>
            <p:ph idx="1"/>
          </p:nvPr>
        </p:nvSpPr>
        <p:spPr/>
        <p:txBody>
          <a:bodyPr/>
          <a:lstStyle/>
          <a:p>
            <a:r>
              <a:rPr kumimoji="1" lang="en-US" altLang="zh-TW" dirty="0">
                <a:solidFill>
                  <a:schemeClr val="tx1"/>
                </a:solidFill>
              </a:rPr>
              <a:t>Sequential Accesses: Write data in a </a:t>
            </a:r>
            <a:r>
              <a:rPr kumimoji="1" lang="en-US" altLang="zh-TW" dirty="0">
                <a:solidFill>
                  <a:srgbClr val="C00000"/>
                </a:solidFill>
              </a:rPr>
              <a:t>sequential order is not enough</a:t>
            </a:r>
            <a:r>
              <a:rPr kumimoji="1" lang="en-US" altLang="zh-TW" dirty="0">
                <a:solidFill>
                  <a:schemeClr val="tx1"/>
                </a:solidFill>
              </a:rPr>
              <a:t>. Must issue a large number of </a:t>
            </a:r>
            <a:r>
              <a:rPr kumimoji="1" lang="en-US" altLang="zh-TW" dirty="0">
                <a:solidFill>
                  <a:srgbClr val="C00000"/>
                </a:solidFill>
              </a:rPr>
              <a:t>contiguous writes</a:t>
            </a:r>
            <a:r>
              <a:rPr kumimoji="1" lang="en-US" altLang="zh-TW" dirty="0">
                <a:solidFill>
                  <a:schemeClr val="tx1"/>
                </a:solidFill>
              </a:rPr>
              <a:t>. (Reason: </a:t>
            </a:r>
            <a:r>
              <a:rPr lang="en-US" altLang="zh-TW" dirty="0">
                <a:solidFill>
                  <a:schemeClr val="tx1"/>
                </a:solidFill>
              </a:rPr>
              <a:t>A d</a:t>
            </a:r>
            <a:r>
              <a:rPr kumimoji="1" lang="en-US" altLang="zh-TW" dirty="0">
                <a:solidFill>
                  <a:schemeClr val="tx1"/>
                </a:solidFill>
              </a:rPr>
              <a:t>isk rotates all the time)</a:t>
            </a:r>
          </a:p>
          <a:p>
            <a:pPr lvl="1"/>
            <a:r>
              <a:rPr kumimoji="1" lang="en-US" altLang="zh-TW" dirty="0">
                <a:solidFill>
                  <a:schemeClr val="tx1"/>
                </a:solidFill>
              </a:rPr>
              <a:t>Write Buffering</a:t>
            </a:r>
            <a:r>
              <a:rPr lang="en-US" altLang="zh-TW" dirty="0">
                <a:solidFill>
                  <a:schemeClr val="tx1"/>
                </a:solidFill>
              </a:rPr>
              <a:t>: </a:t>
            </a:r>
            <a:r>
              <a:rPr kumimoji="1" lang="en-US" altLang="zh-TW" dirty="0">
                <a:solidFill>
                  <a:srgbClr val="C00000"/>
                </a:solidFill>
              </a:rPr>
              <a:t>Buffer all update</a:t>
            </a:r>
            <a:r>
              <a:rPr kumimoji="1" lang="en-US" altLang="zh-TW" dirty="0">
                <a:solidFill>
                  <a:schemeClr val="tx1"/>
                </a:solidFill>
              </a:rPr>
              <a:t>s (including metadata) in an in-memory segment</a:t>
            </a:r>
            <a:r>
              <a:rPr lang="en-US" altLang="zh-TW" dirty="0">
                <a:solidFill>
                  <a:schemeClr val="tx1"/>
                </a:solidFill>
              </a:rPr>
              <a:t>, and </a:t>
            </a:r>
            <a:r>
              <a:rPr kumimoji="1" lang="en-US" altLang="zh-TW" dirty="0">
                <a:solidFill>
                  <a:srgbClr val="C00000"/>
                </a:solidFill>
              </a:rPr>
              <a:t>write</a:t>
            </a:r>
            <a:r>
              <a:rPr kumimoji="1" lang="en-US" altLang="zh-TW" dirty="0">
                <a:solidFill>
                  <a:schemeClr val="tx1"/>
                </a:solidFill>
              </a:rPr>
              <a:t> a bunch of data (i.e., segment) </a:t>
            </a:r>
            <a:r>
              <a:rPr kumimoji="1" lang="en-US" altLang="zh-TW" dirty="0">
                <a:solidFill>
                  <a:srgbClr val="C00000"/>
                </a:solidFill>
              </a:rPr>
              <a:t>to a disk in a batch.</a:t>
            </a:r>
          </a:p>
        </p:txBody>
      </p:sp>
      <p:sp>
        <p:nvSpPr>
          <p:cNvPr id="2" name="標題 1">
            <a:extLst>
              <a:ext uri="{FF2B5EF4-FFF2-40B4-BE49-F238E27FC236}">
                <a16:creationId xmlns:a16="http://schemas.microsoft.com/office/drawing/2014/main" id="{335BC3B6-3A03-43A9-38A3-EE5EC55B0013}"/>
              </a:ext>
            </a:extLst>
          </p:cNvPr>
          <p:cNvSpPr>
            <a:spLocks noGrp="1"/>
          </p:cNvSpPr>
          <p:nvPr>
            <p:ph type="title"/>
          </p:nvPr>
        </p:nvSpPr>
        <p:spPr/>
        <p:txBody>
          <a:bodyPr/>
          <a:lstStyle/>
          <a:p>
            <a:r>
              <a:rPr kumimoji="1" lang="en-US" altLang="zh-TW" dirty="0"/>
              <a:t>Log-Structure File System</a:t>
            </a:r>
            <a:endParaRPr kumimoji="1" lang="zh-TW" altLang="en-US" dirty="0"/>
          </a:p>
        </p:txBody>
      </p:sp>
      <p:sp>
        <p:nvSpPr>
          <p:cNvPr id="4" name="投影片編號版面配置區 3">
            <a:extLst>
              <a:ext uri="{FF2B5EF4-FFF2-40B4-BE49-F238E27FC236}">
                <a16:creationId xmlns:a16="http://schemas.microsoft.com/office/drawing/2014/main" id="{C9908C72-7EF8-7779-49B9-CFC262338AEC}"/>
              </a:ext>
            </a:extLst>
          </p:cNvPr>
          <p:cNvSpPr>
            <a:spLocks noGrp="1"/>
          </p:cNvSpPr>
          <p:nvPr>
            <p:ph type="sldNum" sz="quarter" idx="4"/>
          </p:nvPr>
        </p:nvSpPr>
        <p:spPr/>
        <p:txBody>
          <a:bodyPr/>
          <a:lstStyle/>
          <a:p>
            <a:fld id="{E24E6636-6BA5-4AAC-8485-BE8D914D288B}" type="slidenum">
              <a:rPr lang="zh-TW" altLang="en-US" smtClean="0"/>
              <a:pPr/>
              <a:t>8</a:t>
            </a:fld>
            <a:endParaRPr lang="zh-TW" altLang="en-US" dirty="0"/>
          </a:p>
        </p:txBody>
      </p:sp>
      <p:cxnSp>
        <p:nvCxnSpPr>
          <p:cNvPr id="6" name="直線接點 5">
            <a:extLst>
              <a:ext uri="{FF2B5EF4-FFF2-40B4-BE49-F238E27FC236}">
                <a16:creationId xmlns:a16="http://schemas.microsoft.com/office/drawing/2014/main" id="{02D34FAD-AA12-890B-BE4B-6D963446D31A}"/>
              </a:ext>
            </a:extLst>
          </p:cNvPr>
          <p:cNvCxnSpPr>
            <a:cxnSpLocks/>
          </p:cNvCxnSpPr>
          <p:nvPr/>
        </p:nvCxnSpPr>
        <p:spPr>
          <a:xfrm>
            <a:off x="1967412" y="5227679"/>
            <a:ext cx="802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接點 8">
            <a:extLst>
              <a:ext uri="{FF2B5EF4-FFF2-40B4-BE49-F238E27FC236}">
                <a16:creationId xmlns:a16="http://schemas.microsoft.com/office/drawing/2014/main" id="{393D0D85-502C-4E38-43C4-28576CCAA638}"/>
              </a:ext>
            </a:extLst>
          </p:cNvPr>
          <p:cNvCxnSpPr>
            <a:cxnSpLocks/>
          </p:cNvCxnSpPr>
          <p:nvPr/>
        </p:nvCxnSpPr>
        <p:spPr>
          <a:xfrm>
            <a:off x="1967412" y="6256379"/>
            <a:ext cx="802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2C2EFCF-E358-DA72-1F00-CA9B505E68C3}"/>
              </a:ext>
            </a:extLst>
          </p:cNvPr>
          <p:cNvSpPr/>
          <p:nvPr/>
        </p:nvSpPr>
        <p:spPr>
          <a:xfrm>
            <a:off x="3335761" y="342900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j,0</a:t>
            </a:r>
            <a:endParaRPr kumimoji="1" lang="zh-TW" altLang="en-US" sz="1600" baseline="-25000" dirty="0">
              <a:solidFill>
                <a:schemeClr val="tx1"/>
              </a:solidFill>
            </a:endParaRPr>
          </a:p>
        </p:txBody>
      </p:sp>
      <p:sp>
        <p:nvSpPr>
          <p:cNvPr id="16" name="矩形 15">
            <a:extLst>
              <a:ext uri="{FF2B5EF4-FFF2-40B4-BE49-F238E27FC236}">
                <a16:creationId xmlns:a16="http://schemas.microsoft.com/office/drawing/2014/main" id="{E19489E7-C601-24B9-07B0-F8D6ABC32C74}"/>
              </a:ext>
            </a:extLst>
          </p:cNvPr>
          <p:cNvSpPr/>
          <p:nvPr/>
        </p:nvSpPr>
        <p:spPr>
          <a:xfrm>
            <a:off x="6305439" y="3429000"/>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a:r>
              <a:rPr kumimoji="1" lang="en-US" altLang="zh-TW" sz="1600" dirty="0" err="1">
                <a:solidFill>
                  <a:prstClr val="black"/>
                </a:solidFill>
              </a:rPr>
              <a:t>Inode</a:t>
            </a:r>
            <a:r>
              <a:rPr kumimoji="1" lang="en-US" altLang="zh-TW" sz="1600" baseline="-25000" dirty="0" err="1">
                <a:solidFill>
                  <a:prstClr val="black"/>
                </a:solidFill>
              </a:rPr>
              <a:t>j</a:t>
            </a:r>
            <a:endParaRPr kumimoji="1" lang="en-US" altLang="zh-TW" sz="1600" baseline="-25000" dirty="0">
              <a:solidFill>
                <a:prstClr val="black"/>
              </a:solidFill>
            </a:endParaRPr>
          </a:p>
          <a:p>
            <a:pPr lvl="0" algn="ctr"/>
            <a:r>
              <a:rPr kumimoji="1" lang="en-US" altLang="zh-TW" sz="1200" dirty="0">
                <a:solidFill>
                  <a:prstClr val="black"/>
                </a:solidFill>
              </a:rPr>
              <a:t>B[0]:A</a:t>
            </a:r>
            <a:r>
              <a:rPr kumimoji="1" lang="en-US" altLang="zh-TW" sz="1200" baseline="-25000" dirty="0">
                <a:solidFill>
                  <a:prstClr val="black"/>
                </a:solidFill>
              </a:rPr>
              <a:t>0</a:t>
            </a:r>
          </a:p>
          <a:p>
            <a:pPr lvl="0" algn="ctr"/>
            <a:r>
              <a:rPr kumimoji="1" lang="en-US" altLang="zh-TW" sz="1200" dirty="0">
                <a:solidFill>
                  <a:prstClr val="black"/>
                </a:solidFill>
              </a:rPr>
              <a:t>B[1]:A</a:t>
            </a:r>
            <a:r>
              <a:rPr kumimoji="1" lang="en-US" altLang="zh-TW" sz="1200" baseline="-25000" dirty="0">
                <a:solidFill>
                  <a:prstClr val="black"/>
                </a:solidFill>
              </a:rPr>
              <a:t>1 </a:t>
            </a:r>
            <a:endParaRPr kumimoji="1" lang="zh-TW" altLang="en-US" sz="1200" baseline="-25000" dirty="0">
              <a:solidFill>
                <a:prstClr val="black"/>
              </a:solidFill>
            </a:endParaRPr>
          </a:p>
          <a:p>
            <a:pPr lvl="0" algn="ctr"/>
            <a:r>
              <a:rPr kumimoji="1" lang="en-US" altLang="zh-TW" sz="1200" dirty="0">
                <a:solidFill>
                  <a:prstClr val="black"/>
                </a:solidFill>
              </a:rPr>
              <a:t>B[2]:A</a:t>
            </a:r>
            <a:r>
              <a:rPr kumimoji="1" lang="en-US" altLang="zh-TW" sz="1200" baseline="-25000" dirty="0">
                <a:solidFill>
                  <a:prstClr val="black"/>
                </a:solidFill>
              </a:rPr>
              <a:t>2</a:t>
            </a:r>
            <a:endParaRPr kumimoji="1" lang="zh-TW" altLang="en-US" sz="1200" baseline="-25000" dirty="0">
              <a:solidFill>
                <a:prstClr val="black"/>
              </a:solidFill>
            </a:endParaRPr>
          </a:p>
          <a:p>
            <a:pPr lvl="0" algn="ctr"/>
            <a:r>
              <a:rPr kumimoji="1" lang="en-US" altLang="zh-TW" sz="1200" dirty="0">
                <a:solidFill>
                  <a:prstClr val="black"/>
                </a:solidFill>
              </a:rPr>
              <a:t>B[3]:A</a:t>
            </a:r>
            <a:r>
              <a:rPr kumimoji="1" lang="en-US" altLang="zh-TW" sz="1200" baseline="-25000" dirty="0">
                <a:solidFill>
                  <a:prstClr val="black"/>
                </a:solidFill>
              </a:rPr>
              <a:t>3</a:t>
            </a:r>
            <a:endParaRPr kumimoji="1" lang="zh-TW" altLang="en-US" sz="1600" baseline="-25000" dirty="0">
              <a:solidFill>
                <a:schemeClr val="tx1"/>
              </a:solidFill>
            </a:endParaRPr>
          </a:p>
        </p:txBody>
      </p:sp>
      <p:sp>
        <p:nvSpPr>
          <p:cNvPr id="17" name="矩形 16">
            <a:extLst>
              <a:ext uri="{FF2B5EF4-FFF2-40B4-BE49-F238E27FC236}">
                <a16:creationId xmlns:a16="http://schemas.microsoft.com/office/drawing/2014/main" id="{7CB43057-C742-8721-5E20-F92F5F32849F}"/>
              </a:ext>
            </a:extLst>
          </p:cNvPr>
          <p:cNvSpPr/>
          <p:nvPr/>
        </p:nvSpPr>
        <p:spPr>
          <a:xfrm>
            <a:off x="4078711" y="342900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j,1</a:t>
            </a:r>
            <a:endParaRPr kumimoji="1" lang="zh-TW" altLang="en-US" sz="1600" baseline="-25000" dirty="0">
              <a:solidFill>
                <a:schemeClr val="tx1"/>
              </a:solidFill>
            </a:endParaRPr>
          </a:p>
        </p:txBody>
      </p:sp>
      <p:sp>
        <p:nvSpPr>
          <p:cNvPr id="18" name="矩形 17">
            <a:extLst>
              <a:ext uri="{FF2B5EF4-FFF2-40B4-BE49-F238E27FC236}">
                <a16:creationId xmlns:a16="http://schemas.microsoft.com/office/drawing/2014/main" id="{C0333D53-0ED5-FB90-0CD9-2A971B03E54C}"/>
              </a:ext>
            </a:extLst>
          </p:cNvPr>
          <p:cNvSpPr/>
          <p:nvPr/>
        </p:nvSpPr>
        <p:spPr>
          <a:xfrm>
            <a:off x="4820311" y="342900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j,2</a:t>
            </a:r>
            <a:endParaRPr kumimoji="1" lang="zh-TW" altLang="en-US" sz="1600" baseline="-25000" dirty="0">
              <a:solidFill>
                <a:schemeClr val="tx1"/>
              </a:solidFill>
            </a:endParaRPr>
          </a:p>
        </p:txBody>
      </p:sp>
      <p:sp>
        <p:nvSpPr>
          <p:cNvPr id="19" name="矩形 18">
            <a:extLst>
              <a:ext uri="{FF2B5EF4-FFF2-40B4-BE49-F238E27FC236}">
                <a16:creationId xmlns:a16="http://schemas.microsoft.com/office/drawing/2014/main" id="{95D38B82-5E2B-5809-320E-0D2DCFCC456A}"/>
              </a:ext>
            </a:extLst>
          </p:cNvPr>
          <p:cNvSpPr/>
          <p:nvPr/>
        </p:nvSpPr>
        <p:spPr>
          <a:xfrm>
            <a:off x="5561911" y="342900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j,3</a:t>
            </a:r>
            <a:endParaRPr kumimoji="1" lang="zh-TW" altLang="en-US" sz="1600" baseline="-25000" dirty="0">
              <a:solidFill>
                <a:schemeClr val="tx1"/>
              </a:solidFill>
            </a:endParaRPr>
          </a:p>
        </p:txBody>
      </p:sp>
      <p:sp>
        <p:nvSpPr>
          <p:cNvPr id="20" name="矩形 19">
            <a:extLst>
              <a:ext uri="{FF2B5EF4-FFF2-40B4-BE49-F238E27FC236}">
                <a16:creationId xmlns:a16="http://schemas.microsoft.com/office/drawing/2014/main" id="{D5887D75-4BD4-B294-ABA5-3E2790CA3FBD}"/>
              </a:ext>
            </a:extLst>
          </p:cNvPr>
          <p:cNvSpPr/>
          <p:nvPr/>
        </p:nvSpPr>
        <p:spPr>
          <a:xfrm>
            <a:off x="7784783" y="3429000"/>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a:r>
              <a:rPr kumimoji="1" lang="en-US" altLang="zh-TW" sz="1600" dirty="0" err="1">
                <a:solidFill>
                  <a:prstClr val="black"/>
                </a:solidFill>
              </a:rPr>
              <a:t>Inode</a:t>
            </a:r>
            <a:r>
              <a:rPr kumimoji="1" lang="en-US" altLang="zh-TW" sz="1600" baseline="-25000" dirty="0" err="1">
                <a:solidFill>
                  <a:prstClr val="black"/>
                </a:solidFill>
              </a:rPr>
              <a:t>k</a:t>
            </a:r>
            <a:endParaRPr kumimoji="1" lang="en-US" altLang="zh-TW" sz="1600" baseline="-25000" dirty="0">
              <a:solidFill>
                <a:prstClr val="black"/>
              </a:solidFill>
            </a:endParaRPr>
          </a:p>
          <a:p>
            <a:pPr lvl="0" algn="ctr"/>
            <a:r>
              <a:rPr kumimoji="1" lang="en-US" altLang="zh-TW" sz="1200" dirty="0">
                <a:solidFill>
                  <a:prstClr val="black"/>
                </a:solidFill>
              </a:rPr>
              <a:t>B[0]:A</a:t>
            </a:r>
            <a:r>
              <a:rPr kumimoji="1" lang="en-US" altLang="zh-TW" sz="1200" baseline="-25000" dirty="0">
                <a:solidFill>
                  <a:prstClr val="black"/>
                </a:solidFill>
              </a:rPr>
              <a:t>5</a:t>
            </a:r>
          </a:p>
        </p:txBody>
      </p:sp>
      <p:sp>
        <p:nvSpPr>
          <p:cNvPr id="21" name="矩形 20">
            <a:extLst>
              <a:ext uri="{FF2B5EF4-FFF2-40B4-BE49-F238E27FC236}">
                <a16:creationId xmlns:a16="http://schemas.microsoft.com/office/drawing/2014/main" id="{2FFF64F7-341C-1926-903A-5F9AD52761CA}"/>
              </a:ext>
            </a:extLst>
          </p:cNvPr>
          <p:cNvSpPr/>
          <p:nvPr/>
        </p:nvSpPr>
        <p:spPr>
          <a:xfrm>
            <a:off x="7045111" y="342900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k,0</a:t>
            </a:r>
            <a:endParaRPr kumimoji="1" lang="zh-TW" altLang="en-US" sz="1600" baseline="-25000" dirty="0">
              <a:solidFill>
                <a:schemeClr val="tx1"/>
              </a:solidFill>
            </a:endParaRPr>
          </a:p>
        </p:txBody>
      </p:sp>
      <p:sp>
        <p:nvSpPr>
          <p:cNvPr id="22" name="文字方塊 21">
            <a:extLst>
              <a:ext uri="{FF2B5EF4-FFF2-40B4-BE49-F238E27FC236}">
                <a16:creationId xmlns:a16="http://schemas.microsoft.com/office/drawing/2014/main" id="{C213B984-B46D-2C0C-EF1A-1C1AFB432506}"/>
              </a:ext>
            </a:extLst>
          </p:cNvPr>
          <p:cNvSpPr txBox="1"/>
          <p:nvPr/>
        </p:nvSpPr>
        <p:spPr>
          <a:xfrm>
            <a:off x="1907763" y="3766063"/>
            <a:ext cx="1334404" cy="369332"/>
          </a:xfrm>
          <a:prstGeom prst="rect">
            <a:avLst/>
          </a:prstGeom>
          <a:noFill/>
        </p:spPr>
        <p:txBody>
          <a:bodyPr wrap="none" rtlCol="0">
            <a:spAutoFit/>
          </a:bodyPr>
          <a:lstStyle/>
          <a:p>
            <a:r>
              <a:rPr kumimoji="1" lang="en-US" altLang="zh-TW" dirty="0"/>
              <a:t>Write Buffer</a:t>
            </a:r>
            <a:endParaRPr kumimoji="1" lang="zh-TW" altLang="en-US" dirty="0"/>
          </a:p>
        </p:txBody>
      </p:sp>
      <p:sp>
        <p:nvSpPr>
          <p:cNvPr id="23" name="文字方塊 22">
            <a:extLst>
              <a:ext uri="{FF2B5EF4-FFF2-40B4-BE49-F238E27FC236}">
                <a16:creationId xmlns:a16="http://schemas.microsoft.com/office/drawing/2014/main" id="{52BE31B0-5AA2-CD3F-E478-6E642386D1A6}"/>
              </a:ext>
            </a:extLst>
          </p:cNvPr>
          <p:cNvSpPr txBox="1"/>
          <p:nvPr/>
        </p:nvSpPr>
        <p:spPr>
          <a:xfrm>
            <a:off x="1574715" y="5559345"/>
            <a:ext cx="614271" cy="369332"/>
          </a:xfrm>
          <a:prstGeom prst="rect">
            <a:avLst/>
          </a:prstGeom>
          <a:noFill/>
        </p:spPr>
        <p:txBody>
          <a:bodyPr wrap="none" rtlCol="0">
            <a:spAutoFit/>
          </a:bodyPr>
          <a:lstStyle/>
          <a:p>
            <a:r>
              <a:rPr kumimoji="1" lang="en-US" altLang="zh-TW" dirty="0"/>
              <a:t>HDD</a:t>
            </a:r>
            <a:endParaRPr kumimoji="1" lang="zh-TW" altLang="en-US" dirty="0"/>
          </a:p>
        </p:txBody>
      </p:sp>
      <p:sp>
        <p:nvSpPr>
          <p:cNvPr id="24" name="迴轉箭號 23">
            <a:extLst>
              <a:ext uri="{FF2B5EF4-FFF2-40B4-BE49-F238E27FC236}">
                <a16:creationId xmlns:a16="http://schemas.microsoft.com/office/drawing/2014/main" id="{B0790D26-2764-5159-937E-65D2A7F2AE66}"/>
              </a:ext>
            </a:extLst>
          </p:cNvPr>
          <p:cNvSpPr/>
          <p:nvPr/>
        </p:nvSpPr>
        <p:spPr>
          <a:xfrm flipH="1">
            <a:off x="2728817" y="4736368"/>
            <a:ext cx="3203894"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27" name="迴轉箭號 26">
            <a:extLst>
              <a:ext uri="{FF2B5EF4-FFF2-40B4-BE49-F238E27FC236}">
                <a16:creationId xmlns:a16="http://schemas.microsoft.com/office/drawing/2014/main" id="{BAB8E74F-419C-1405-A675-B09D9BEE4A96}"/>
              </a:ext>
            </a:extLst>
          </p:cNvPr>
          <p:cNvSpPr/>
          <p:nvPr/>
        </p:nvSpPr>
        <p:spPr>
          <a:xfrm flipH="1">
            <a:off x="3424163" y="4736368"/>
            <a:ext cx="2508548"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28" name="迴轉箭號 27">
            <a:extLst>
              <a:ext uri="{FF2B5EF4-FFF2-40B4-BE49-F238E27FC236}">
                <a16:creationId xmlns:a16="http://schemas.microsoft.com/office/drawing/2014/main" id="{4E2E6E96-5B10-E3C5-D1DD-1BAE94B70AC0}"/>
              </a:ext>
            </a:extLst>
          </p:cNvPr>
          <p:cNvSpPr/>
          <p:nvPr/>
        </p:nvSpPr>
        <p:spPr>
          <a:xfrm flipH="1">
            <a:off x="4172329" y="4736368"/>
            <a:ext cx="1753984"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29" name="迴轉箭號 28">
            <a:extLst>
              <a:ext uri="{FF2B5EF4-FFF2-40B4-BE49-F238E27FC236}">
                <a16:creationId xmlns:a16="http://schemas.microsoft.com/office/drawing/2014/main" id="{F140F5FC-6019-A5D5-B766-A6FFBDA82863}"/>
              </a:ext>
            </a:extLst>
          </p:cNvPr>
          <p:cNvSpPr/>
          <p:nvPr/>
        </p:nvSpPr>
        <p:spPr>
          <a:xfrm flipH="1">
            <a:off x="4922256" y="4736368"/>
            <a:ext cx="1010455"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30" name="迴轉箭號 29">
            <a:extLst>
              <a:ext uri="{FF2B5EF4-FFF2-40B4-BE49-F238E27FC236}">
                <a16:creationId xmlns:a16="http://schemas.microsoft.com/office/drawing/2014/main" id="{02C7C39E-611B-CB0C-E65A-FD795C939850}"/>
              </a:ext>
            </a:extLst>
          </p:cNvPr>
          <p:cNvSpPr/>
          <p:nvPr/>
        </p:nvSpPr>
        <p:spPr>
          <a:xfrm flipH="1">
            <a:off x="6412095" y="4727896"/>
            <a:ext cx="1010455"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grpSp>
        <p:nvGrpSpPr>
          <p:cNvPr id="39" name="群組 38">
            <a:extLst>
              <a:ext uri="{FF2B5EF4-FFF2-40B4-BE49-F238E27FC236}">
                <a16:creationId xmlns:a16="http://schemas.microsoft.com/office/drawing/2014/main" id="{A3C93C29-BC5E-4BE7-CBC1-641F5B2DBE8D}"/>
              </a:ext>
            </a:extLst>
          </p:cNvPr>
          <p:cNvGrpSpPr/>
          <p:nvPr/>
        </p:nvGrpSpPr>
        <p:grpSpPr>
          <a:xfrm>
            <a:off x="2242986" y="6198322"/>
            <a:ext cx="4876280" cy="369332"/>
            <a:chOff x="2242986" y="6198322"/>
            <a:chExt cx="4876280" cy="369332"/>
          </a:xfrm>
        </p:grpSpPr>
        <p:sp>
          <p:nvSpPr>
            <p:cNvPr id="12" name="文字方塊 11">
              <a:extLst>
                <a:ext uri="{FF2B5EF4-FFF2-40B4-BE49-F238E27FC236}">
                  <a16:creationId xmlns:a16="http://schemas.microsoft.com/office/drawing/2014/main" id="{E7ED1E9E-B6D1-A32F-7B9A-103EB127186F}"/>
                </a:ext>
              </a:extLst>
            </p:cNvPr>
            <p:cNvSpPr txBox="1"/>
            <p:nvPr/>
          </p:nvSpPr>
          <p:spPr>
            <a:xfrm>
              <a:off x="2242986" y="6198322"/>
              <a:ext cx="396262" cy="369332"/>
            </a:xfrm>
            <a:prstGeom prst="rect">
              <a:avLst/>
            </a:prstGeom>
            <a:noFill/>
          </p:spPr>
          <p:txBody>
            <a:bodyPr wrap="none" rtlCol="0">
              <a:spAutoFit/>
            </a:bodyPr>
            <a:lstStyle/>
            <a:p>
              <a:r>
                <a:rPr kumimoji="1" lang="en-US" altLang="zh-TW" dirty="0"/>
                <a:t>A</a:t>
              </a:r>
              <a:r>
                <a:rPr kumimoji="1" lang="en-US" altLang="zh-TW" baseline="-25000" dirty="0"/>
                <a:t>0</a:t>
              </a:r>
              <a:endParaRPr kumimoji="1" lang="zh-TW" altLang="en-US" baseline="-25000" dirty="0"/>
            </a:p>
          </p:txBody>
        </p:sp>
        <p:sp>
          <p:nvSpPr>
            <p:cNvPr id="33" name="文字方塊 32">
              <a:extLst>
                <a:ext uri="{FF2B5EF4-FFF2-40B4-BE49-F238E27FC236}">
                  <a16:creationId xmlns:a16="http://schemas.microsoft.com/office/drawing/2014/main" id="{CD662B31-5D40-F400-262A-CB3A344268CE}"/>
                </a:ext>
              </a:extLst>
            </p:cNvPr>
            <p:cNvSpPr txBox="1"/>
            <p:nvPr/>
          </p:nvSpPr>
          <p:spPr>
            <a:xfrm>
              <a:off x="3005232" y="6198322"/>
              <a:ext cx="396262" cy="369332"/>
            </a:xfrm>
            <a:prstGeom prst="rect">
              <a:avLst/>
            </a:prstGeom>
            <a:noFill/>
          </p:spPr>
          <p:txBody>
            <a:bodyPr wrap="none" rtlCol="0">
              <a:spAutoFit/>
            </a:bodyPr>
            <a:lstStyle/>
            <a:p>
              <a:r>
                <a:rPr kumimoji="1" lang="en-US" altLang="zh-TW" dirty="0"/>
                <a:t>A</a:t>
              </a:r>
              <a:r>
                <a:rPr kumimoji="1" lang="en-US" altLang="zh-TW" baseline="-25000" dirty="0"/>
                <a:t>1</a:t>
              </a:r>
              <a:endParaRPr kumimoji="1" lang="zh-TW" altLang="en-US" baseline="-25000" dirty="0"/>
            </a:p>
          </p:txBody>
        </p:sp>
        <p:sp>
          <p:nvSpPr>
            <p:cNvPr id="34" name="文字方塊 33">
              <a:extLst>
                <a:ext uri="{FF2B5EF4-FFF2-40B4-BE49-F238E27FC236}">
                  <a16:creationId xmlns:a16="http://schemas.microsoft.com/office/drawing/2014/main" id="{6BAB090E-875A-B64E-F9CA-D72AC86C9D13}"/>
                </a:ext>
              </a:extLst>
            </p:cNvPr>
            <p:cNvSpPr txBox="1"/>
            <p:nvPr/>
          </p:nvSpPr>
          <p:spPr>
            <a:xfrm>
              <a:off x="3734559" y="6198322"/>
              <a:ext cx="396262" cy="369332"/>
            </a:xfrm>
            <a:prstGeom prst="rect">
              <a:avLst/>
            </a:prstGeom>
            <a:noFill/>
          </p:spPr>
          <p:txBody>
            <a:bodyPr wrap="none" rtlCol="0">
              <a:spAutoFit/>
            </a:bodyPr>
            <a:lstStyle/>
            <a:p>
              <a:r>
                <a:rPr kumimoji="1" lang="en-US" altLang="zh-TW" dirty="0"/>
                <a:t>A</a:t>
              </a:r>
              <a:r>
                <a:rPr kumimoji="1" lang="en-US" altLang="zh-TW" baseline="-25000" dirty="0"/>
                <a:t>2</a:t>
              </a:r>
              <a:endParaRPr kumimoji="1" lang="zh-TW" altLang="en-US" baseline="-25000" dirty="0"/>
            </a:p>
          </p:txBody>
        </p:sp>
        <p:sp>
          <p:nvSpPr>
            <p:cNvPr id="35" name="文字方塊 34">
              <a:extLst>
                <a:ext uri="{FF2B5EF4-FFF2-40B4-BE49-F238E27FC236}">
                  <a16:creationId xmlns:a16="http://schemas.microsoft.com/office/drawing/2014/main" id="{241FE936-E151-5E95-066D-17A4FD6B011E}"/>
                </a:ext>
              </a:extLst>
            </p:cNvPr>
            <p:cNvSpPr txBox="1"/>
            <p:nvPr/>
          </p:nvSpPr>
          <p:spPr>
            <a:xfrm>
              <a:off x="4464205" y="6198322"/>
              <a:ext cx="396262" cy="369332"/>
            </a:xfrm>
            <a:prstGeom prst="rect">
              <a:avLst/>
            </a:prstGeom>
            <a:noFill/>
          </p:spPr>
          <p:txBody>
            <a:bodyPr wrap="none" rtlCol="0">
              <a:spAutoFit/>
            </a:bodyPr>
            <a:lstStyle/>
            <a:p>
              <a:r>
                <a:rPr kumimoji="1" lang="en-US" altLang="zh-TW" dirty="0"/>
                <a:t>A</a:t>
              </a:r>
              <a:r>
                <a:rPr kumimoji="1" lang="en-US" altLang="zh-TW" baseline="-25000" dirty="0"/>
                <a:t>3</a:t>
              </a:r>
              <a:endParaRPr kumimoji="1" lang="zh-TW" altLang="en-US" baseline="-25000" dirty="0"/>
            </a:p>
          </p:txBody>
        </p:sp>
        <p:sp>
          <p:nvSpPr>
            <p:cNvPr id="36" name="文字方塊 35">
              <a:extLst>
                <a:ext uri="{FF2B5EF4-FFF2-40B4-BE49-F238E27FC236}">
                  <a16:creationId xmlns:a16="http://schemas.microsoft.com/office/drawing/2014/main" id="{AB6E990A-31C5-3185-148C-6D13E57EE550}"/>
                </a:ext>
              </a:extLst>
            </p:cNvPr>
            <p:cNvSpPr txBox="1"/>
            <p:nvPr/>
          </p:nvSpPr>
          <p:spPr>
            <a:xfrm>
              <a:off x="5984184" y="6198322"/>
              <a:ext cx="396262" cy="369332"/>
            </a:xfrm>
            <a:prstGeom prst="rect">
              <a:avLst/>
            </a:prstGeom>
            <a:noFill/>
          </p:spPr>
          <p:txBody>
            <a:bodyPr wrap="none" rtlCol="0">
              <a:spAutoFit/>
            </a:bodyPr>
            <a:lstStyle/>
            <a:p>
              <a:r>
                <a:rPr kumimoji="1" lang="en-US" altLang="zh-TW" dirty="0"/>
                <a:t>A</a:t>
              </a:r>
              <a:r>
                <a:rPr kumimoji="1" lang="en-US" altLang="zh-TW" baseline="-25000" dirty="0"/>
                <a:t>5</a:t>
              </a:r>
              <a:endParaRPr kumimoji="1" lang="zh-TW" altLang="en-US" baseline="-25000" dirty="0"/>
            </a:p>
          </p:txBody>
        </p:sp>
        <p:sp>
          <p:nvSpPr>
            <p:cNvPr id="37" name="文字方塊 36">
              <a:extLst>
                <a:ext uri="{FF2B5EF4-FFF2-40B4-BE49-F238E27FC236}">
                  <a16:creationId xmlns:a16="http://schemas.microsoft.com/office/drawing/2014/main" id="{4E55115A-2F66-8A53-1767-02D52592E8FB}"/>
                </a:ext>
              </a:extLst>
            </p:cNvPr>
            <p:cNvSpPr txBox="1"/>
            <p:nvPr/>
          </p:nvSpPr>
          <p:spPr>
            <a:xfrm>
              <a:off x="5241971" y="6198322"/>
              <a:ext cx="396262" cy="369332"/>
            </a:xfrm>
            <a:prstGeom prst="rect">
              <a:avLst/>
            </a:prstGeom>
            <a:noFill/>
          </p:spPr>
          <p:txBody>
            <a:bodyPr wrap="none" rtlCol="0">
              <a:spAutoFit/>
            </a:bodyPr>
            <a:lstStyle/>
            <a:p>
              <a:r>
                <a:rPr kumimoji="1" lang="en-US" altLang="zh-TW" dirty="0"/>
                <a:t>A</a:t>
              </a:r>
              <a:r>
                <a:rPr kumimoji="1" lang="en-US" altLang="zh-TW" baseline="-25000" dirty="0"/>
                <a:t>4</a:t>
              </a:r>
              <a:endParaRPr kumimoji="1" lang="zh-TW" altLang="en-US" baseline="-25000" dirty="0"/>
            </a:p>
          </p:txBody>
        </p:sp>
        <p:sp>
          <p:nvSpPr>
            <p:cNvPr id="38" name="文字方塊 37">
              <a:extLst>
                <a:ext uri="{FF2B5EF4-FFF2-40B4-BE49-F238E27FC236}">
                  <a16:creationId xmlns:a16="http://schemas.microsoft.com/office/drawing/2014/main" id="{DC3EDB1D-D03D-20DE-898D-5B047A4B7CB8}"/>
                </a:ext>
              </a:extLst>
            </p:cNvPr>
            <p:cNvSpPr txBox="1"/>
            <p:nvPr/>
          </p:nvSpPr>
          <p:spPr>
            <a:xfrm>
              <a:off x="6723004" y="6198322"/>
              <a:ext cx="396262" cy="369332"/>
            </a:xfrm>
            <a:prstGeom prst="rect">
              <a:avLst/>
            </a:prstGeom>
            <a:noFill/>
          </p:spPr>
          <p:txBody>
            <a:bodyPr wrap="none" rtlCol="0">
              <a:spAutoFit/>
            </a:bodyPr>
            <a:lstStyle/>
            <a:p>
              <a:r>
                <a:rPr kumimoji="1" lang="en-US" altLang="zh-TW" dirty="0"/>
                <a:t>A</a:t>
              </a:r>
              <a:r>
                <a:rPr kumimoji="1" lang="en-US" altLang="zh-TW" baseline="-25000" dirty="0"/>
                <a:t>6</a:t>
              </a:r>
              <a:endParaRPr kumimoji="1" lang="zh-TW" altLang="en-US" baseline="-25000" dirty="0"/>
            </a:p>
          </p:txBody>
        </p:sp>
      </p:grpSp>
      <p:grpSp>
        <p:nvGrpSpPr>
          <p:cNvPr id="5" name="群組 4">
            <a:extLst>
              <a:ext uri="{FF2B5EF4-FFF2-40B4-BE49-F238E27FC236}">
                <a16:creationId xmlns:a16="http://schemas.microsoft.com/office/drawing/2014/main" id="{3B303408-3BB4-943A-BE25-1C0B25AC2033}"/>
              </a:ext>
            </a:extLst>
          </p:cNvPr>
          <p:cNvGrpSpPr/>
          <p:nvPr/>
        </p:nvGrpSpPr>
        <p:grpSpPr>
          <a:xfrm>
            <a:off x="3335761" y="2964567"/>
            <a:ext cx="5190622" cy="424904"/>
            <a:chOff x="3335761" y="2964567"/>
            <a:chExt cx="5190622" cy="424904"/>
          </a:xfrm>
        </p:grpSpPr>
        <p:sp>
          <p:nvSpPr>
            <p:cNvPr id="40" name="文字方塊 39">
              <a:extLst>
                <a:ext uri="{FF2B5EF4-FFF2-40B4-BE49-F238E27FC236}">
                  <a16:creationId xmlns:a16="http://schemas.microsoft.com/office/drawing/2014/main" id="{FCAA53D9-AFCA-12A8-6ED2-A04FF1E40542}"/>
                </a:ext>
              </a:extLst>
            </p:cNvPr>
            <p:cNvSpPr txBox="1"/>
            <p:nvPr/>
          </p:nvSpPr>
          <p:spPr>
            <a:xfrm>
              <a:off x="5449254" y="2964567"/>
              <a:ext cx="1011302" cy="369332"/>
            </a:xfrm>
            <a:prstGeom prst="rect">
              <a:avLst/>
            </a:prstGeom>
            <a:noFill/>
          </p:spPr>
          <p:txBody>
            <a:bodyPr wrap="none" rtlCol="0">
              <a:spAutoFit/>
            </a:bodyPr>
            <a:lstStyle/>
            <a:p>
              <a:r>
                <a:rPr kumimoji="1" lang="en-US" altLang="zh-TW" dirty="0">
                  <a:solidFill>
                    <a:srgbClr val="C00000"/>
                  </a:solidFill>
                </a:rPr>
                <a:t>Segment</a:t>
              </a:r>
              <a:endParaRPr kumimoji="1" lang="zh-TW" altLang="en-US" dirty="0">
                <a:solidFill>
                  <a:srgbClr val="C00000"/>
                </a:solidFill>
              </a:endParaRPr>
            </a:p>
          </p:txBody>
        </p:sp>
        <p:sp>
          <p:nvSpPr>
            <p:cNvPr id="41" name="左大括弧 40">
              <a:extLst>
                <a:ext uri="{FF2B5EF4-FFF2-40B4-BE49-F238E27FC236}">
                  <a16:creationId xmlns:a16="http://schemas.microsoft.com/office/drawing/2014/main" id="{0A38A9B1-1853-6015-FF97-274FD6120773}"/>
                </a:ext>
              </a:extLst>
            </p:cNvPr>
            <p:cNvSpPr/>
            <p:nvPr/>
          </p:nvSpPr>
          <p:spPr>
            <a:xfrm rot="5400000">
              <a:off x="5866178" y="729266"/>
              <a:ext cx="129788" cy="5190622"/>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
        <p:nvSpPr>
          <p:cNvPr id="7" name="文字方塊 6">
            <a:extLst>
              <a:ext uri="{FF2B5EF4-FFF2-40B4-BE49-F238E27FC236}">
                <a16:creationId xmlns:a16="http://schemas.microsoft.com/office/drawing/2014/main" id="{6D077B03-98B0-5133-98D8-070A84190EC9}"/>
              </a:ext>
            </a:extLst>
          </p:cNvPr>
          <p:cNvSpPr txBox="1"/>
          <p:nvPr/>
        </p:nvSpPr>
        <p:spPr>
          <a:xfrm>
            <a:off x="7266339" y="3880965"/>
            <a:ext cx="184731" cy="369332"/>
          </a:xfrm>
          <a:prstGeom prst="rect">
            <a:avLst/>
          </a:prstGeom>
          <a:noFill/>
        </p:spPr>
        <p:txBody>
          <a:bodyPr wrap="none" rtlCol="0">
            <a:spAutoFit/>
          </a:bodyPr>
          <a:lstStyle/>
          <a:p>
            <a:endParaRPr kumimoji="1" lang="zh-TW" altLang="en-US" dirty="0"/>
          </a:p>
        </p:txBody>
      </p:sp>
    </p:spTree>
    <p:extLst>
      <p:ext uri="{BB962C8B-B14F-4D97-AF65-F5344CB8AC3E}">
        <p14:creationId xmlns:p14="http://schemas.microsoft.com/office/powerpoint/2010/main" val="4195397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1"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up)">
                                      <p:cBhvr>
                                        <p:cTn id="28" dur="500"/>
                                        <p:tgtEl>
                                          <p:spTgt spid="15"/>
                                        </p:tgtEl>
                                      </p:cBhvr>
                                    </p:animEffect>
                                  </p:childTnLst>
                                </p:cTn>
                              </p:par>
                              <p:par>
                                <p:cTn id="29" presetID="22" presetClass="entr" presetSubtype="1" fill="hold" grpId="1"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up)">
                                      <p:cBhvr>
                                        <p:cTn id="31" dur="500"/>
                                        <p:tgtEl>
                                          <p:spTgt spid="18"/>
                                        </p:tgtEl>
                                      </p:cBhvr>
                                    </p:animEffect>
                                  </p:childTnLst>
                                </p:cTn>
                              </p:par>
                              <p:par>
                                <p:cTn id="32" presetID="22" presetClass="entr" presetSubtype="1" fill="hold" grpId="1"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up)">
                                      <p:cBhvr>
                                        <p:cTn id="34" dur="500"/>
                                        <p:tgtEl>
                                          <p:spTgt spid="17"/>
                                        </p:tgtEl>
                                      </p:cBhvr>
                                    </p:animEffect>
                                  </p:childTnLst>
                                </p:cTn>
                              </p:par>
                              <p:par>
                                <p:cTn id="35" presetID="22" presetClass="entr" presetSubtype="1" fill="hold" grpId="1"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up)">
                                      <p:cBhvr>
                                        <p:cTn id="37" dur="500"/>
                                        <p:tgtEl>
                                          <p:spTgt spid="19"/>
                                        </p:tgtEl>
                                      </p:cBhvr>
                                    </p:animEffect>
                                  </p:childTnLst>
                                </p:cTn>
                              </p:par>
                              <p:par>
                                <p:cTn id="38" presetID="22" presetClass="entr" presetSubtype="1" fill="hold" grpId="1"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up)">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1"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up)">
                                      <p:cBhvr>
                                        <p:cTn id="45" dur="500"/>
                                        <p:tgtEl>
                                          <p:spTgt spid="21"/>
                                        </p:tgtEl>
                                      </p:cBhvr>
                                    </p:animEffect>
                                  </p:childTnLst>
                                </p:cTn>
                              </p:par>
                              <p:par>
                                <p:cTn id="46" presetID="22" presetClass="entr" presetSubtype="1" fill="hold" grpId="1"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up)">
                                      <p:cBhvr>
                                        <p:cTn id="48" dur="5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fade">
                                      <p:cBhvr>
                                        <p:cTn id="53" dur="500"/>
                                        <p:tgtEl>
                                          <p:spTgt spid="5"/>
                                        </p:tgtEl>
                                      </p:cBhvr>
                                    </p:animEffect>
                                  </p:childTnLst>
                                </p:cTn>
                              </p:par>
                            </p:childTnLst>
                          </p:cTn>
                        </p:par>
                      </p:childTnLst>
                    </p:cTn>
                  </p:par>
                  <p:par>
                    <p:cTn id="54" fill="hold">
                      <p:stCondLst>
                        <p:cond delay="indefinite"/>
                      </p:stCondLst>
                      <p:childTnLst>
                        <p:par>
                          <p:cTn id="55" fill="hold">
                            <p:stCondLst>
                              <p:cond delay="0"/>
                            </p:stCondLst>
                            <p:childTnLst>
                              <p:par>
                                <p:cTn id="56" presetID="0" presetClass="path" presetSubtype="0" accel="50000" decel="50000" fill="hold" grpId="0" nodeType="clickEffect">
                                  <p:stCondLst>
                                    <p:cond delay="0"/>
                                  </p:stCondLst>
                                  <p:childTnLst>
                                    <p:animMotion origin="layout" path="M -3.75E-6 2.96296E-6 L -0.07252 0.26527 " pathEditMode="relative" rAng="0" ptsTypes="AA">
                                      <p:cBhvr>
                                        <p:cTn id="57" dur="2000" fill="hold"/>
                                        <p:tgtEl>
                                          <p:spTgt spid="17"/>
                                        </p:tgtEl>
                                        <p:attrNameLst>
                                          <p:attrName>ppt_x</p:attrName>
                                          <p:attrName>ppt_y</p:attrName>
                                        </p:attrNameLst>
                                      </p:cBhvr>
                                      <p:rCtr x="-3633" y="13264"/>
                                    </p:animMotion>
                                  </p:childTnLst>
                                </p:cTn>
                              </p:par>
                              <p:par>
                                <p:cTn id="58" presetID="0" presetClass="path" presetSubtype="0" accel="50000" decel="50000" fill="hold" grpId="0" nodeType="withEffect">
                                  <p:stCondLst>
                                    <p:cond delay="0"/>
                                  </p:stCondLst>
                                  <p:childTnLst>
                                    <p:animMotion origin="layout" path="M 3.75E-6 2.96296E-6 L -0.07123 0.26527 " pathEditMode="relative" rAng="0" ptsTypes="AA">
                                      <p:cBhvr>
                                        <p:cTn id="59" dur="2000" fill="hold"/>
                                        <p:tgtEl>
                                          <p:spTgt spid="15"/>
                                        </p:tgtEl>
                                        <p:attrNameLst>
                                          <p:attrName>ppt_x</p:attrName>
                                          <p:attrName>ppt_y</p:attrName>
                                        </p:attrNameLst>
                                      </p:cBhvr>
                                      <p:rCtr x="-3568" y="13264"/>
                                    </p:animMotion>
                                  </p:childTnLst>
                                </p:cTn>
                              </p:par>
                              <p:par>
                                <p:cTn id="60" presetID="0" presetClass="path" presetSubtype="0" accel="50000" decel="50000" fill="hold" grpId="0" nodeType="withEffect">
                                  <p:stCondLst>
                                    <p:cond delay="0"/>
                                  </p:stCondLst>
                                  <p:childTnLst>
                                    <p:animMotion origin="layout" path="M -1.25E-6 2.96296E-6 L -0.07252 0.26389 " pathEditMode="relative" rAng="0" ptsTypes="AA">
                                      <p:cBhvr>
                                        <p:cTn id="61" dur="2000" fill="hold"/>
                                        <p:tgtEl>
                                          <p:spTgt spid="18"/>
                                        </p:tgtEl>
                                        <p:attrNameLst>
                                          <p:attrName>ppt_x</p:attrName>
                                          <p:attrName>ppt_y</p:attrName>
                                        </p:attrNameLst>
                                      </p:cBhvr>
                                      <p:rCtr x="-3633" y="13194"/>
                                    </p:animMotion>
                                  </p:childTnLst>
                                </p:cTn>
                              </p:par>
                              <p:par>
                                <p:cTn id="62" presetID="0" presetClass="path" presetSubtype="0" accel="50000" decel="50000" fill="hold" grpId="0" nodeType="withEffect">
                                  <p:stCondLst>
                                    <p:cond delay="0"/>
                                  </p:stCondLst>
                                  <p:childTnLst>
                                    <p:animMotion origin="layout" path="M 1.45833E-6 2.96296E-6 L -0.0724 0.26527 " pathEditMode="relative" rAng="0" ptsTypes="AA">
                                      <p:cBhvr>
                                        <p:cTn id="63" dur="2000" fill="hold"/>
                                        <p:tgtEl>
                                          <p:spTgt spid="19"/>
                                        </p:tgtEl>
                                        <p:attrNameLst>
                                          <p:attrName>ppt_x</p:attrName>
                                          <p:attrName>ppt_y</p:attrName>
                                        </p:attrNameLst>
                                      </p:cBhvr>
                                      <p:rCtr x="-3620" y="13264"/>
                                    </p:animMotion>
                                  </p:childTnLst>
                                </p:cTn>
                              </p:par>
                              <p:par>
                                <p:cTn id="64" presetID="0" presetClass="path" presetSubtype="0" accel="50000" decel="50000" fill="hold" grpId="0" nodeType="withEffect">
                                  <p:stCondLst>
                                    <p:cond delay="0"/>
                                  </p:stCondLst>
                                  <p:childTnLst>
                                    <p:animMotion origin="layout" path="M 3.95833E-6 2.96296E-6 L -0.07253 0.26527 " pathEditMode="relative" rAng="0" ptsTypes="AA">
                                      <p:cBhvr>
                                        <p:cTn id="65" dur="2000" fill="hold"/>
                                        <p:tgtEl>
                                          <p:spTgt spid="16"/>
                                        </p:tgtEl>
                                        <p:attrNameLst>
                                          <p:attrName>ppt_x</p:attrName>
                                          <p:attrName>ppt_y</p:attrName>
                                        </p:attrNameLst>
                                      </p:cBhvr>
                                      <p:rCtr x="-3633" y="13264"/>
                                    </p:animMotion>
                                  </p:childTnLst>
                                </p:cTn>
                              </p:par>
                              <p:par>
                                <p:cTn id="66" presetID="0" presetClass="path" presetSubtype="0" accel="50000" decel="50000" fill="hold" grpId="0" nodeType="withEffect">
                                  <p:stCondLst>
                                    <p:cond delay="0"/>
                                  </p:stCondLst>
                                  <p:childTnLst>
                                    <p:animMotion origin="layout" path="M -3.125E-6 2.96296E-6 L -0.07239 0.26527 " pathEditMode="relative" rAng="0" ptsTypes="AA">
                                      <p:cBhvr>
                                        <p:cTn id="67" dur="2000" fill="hold"/>
                                        <p:tgtEl>
                                          <p:spTgt spid="21"/>
                                        </p:tgtEl>
                                        <p:attrNameLst>
                                          <p:attrName>ppt_x</p:attrName>
                                          <p:attrName>ppt_y</p:attrName>
                                        </p:attrNameLst>
                                      </p:cBhvr>
                                      <p:rCtr x="-3620" y="13264"/>
                                    </p:animMotion>
                                  </p:childTnLst>
                                </p:cTn>
                              </p:par>
                              <p:par>
                                <p:cTn id="68" presetID="0" presetClass="path" presetSubtype="0" accel="50000" decel="50000" fill="hold" grpId="0" nodeType="withEffect">
                                  <p:stCondLst>
                                    <p:cond delay="0"/>
                                  </p:stCondLst>
                                  <p:childTnLst>
                                    <p:animMotion origin="layout" path="M -2.08333E-7 2.96296E-6 L -0.07161 0.2625 " pathEditMode="relative" rAng="0" ptsTypes="AA">
                                      <p:cBhvr>
                                        <p:cTn id="69" dur="2000" fill="hold"/>
                                        <p:tgtEl>
                                          <p:spTgt spid="20"/>
                                        </p:tgtEl>
                                        <p:attrNameLst>
                                          <p:attrName>ppt_x</p:attrName>
                                          <p:attrName>ppt_y</p:attrName>
                                        </p:attrNameLst>
                                      </p:cBhvr>
                                      <p:rCtr x="-3581" y="13125"/>
                                    </p:animMotion>
                                  </p:childTnLst>
                                </p:cTn>
                              </p:par>
                              <p:par>
                                <p:cTn id="70" presetID="10" presetClass="exit" presetSubtype="0" fill="hold" nodeType="withEffect">
                                  <p:stCondLst>
                                    <p:cond delay="0"/>
                                  </p:stCondLst>
                                  <p:childTnLst>
                                    <p:animEffect transition="out" filter="fade">
                                      <p:cBhvr>
                                        <p:cTn id="71" dur="500"/>
                                        <p:tgtEl>
                                          <p:spTgt spid="5"/>
                                        </p:tgtEl>
                                      </p:cBhvr>
                                    </p:animEffect>
                                    <p:set>
                                      <p:cBhvr>
                                        <p:cTn id="72" dur="1" fill="hold">
                                          <p:stCondLst>
                                            <p:cond delay="499"/>
                                          </p:stCondLst>
                                        </p:cTn>
                                        <p:tgtEl>
                                          <p:spTgt spid="5"/>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wipe(right)">
                                      <p:cBhvr>
                                        <p:cTn id="77" dur="500"/>
                                        <p:tgtEl>
                                          <p:spTgt spid="29"/>
                                        </p:tgtEl>
                                      </p:cBhvr>
                                    </p:animEffect>
                                  </p:childTnLst>
                                </p:cTn>
                              </p:par>
                              <p:par>
                                <p:cTn id="78" presetID="10" presetClass="entr" presetSubtype="0" fill="hold" nodeType="with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500"/>
                                        <p:tgtEl>
                                          <p:spTgt spid="39"/>
                                        </p:tgtEl>
                                      </p:cBhvr>
                                    </p:animEffect>
                                  </p:childTnLst>
                                </p:cTn>
                              </p:par>
                            </p:childTnLst>
                          </p:cTn>
                        </p:par>
                        <p:par>
                          <p:cTn id="81" fill="hold">
                            <p:stCondLst>
                              <p:cond delay="500"/>
                            </p:stCondLst>
                            <p:childTnLst>
                              <p:par>
                                <p:cTn id="82" presetID="22" presetClass="entr" presetSubtype="2" fill="hold" grpId="0" nodeType="after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wipe(right)">
                                      <p:cBhvr>
                                        <p:cTn id="84" dur="500"/>
                                        <p:tgtEl>
                                          <p:spTgt spid="28"/>
                                        </p:tgtEl>
                                      </p:cBhvr>
                                    </p:animEffect>
                                  </p:childTnLst>
                                </p:cTn>
                              </p:par>
                            </p:childTnLst>
                          </p:cTn>
                        </p:par>
                        <p:par>
                          <p:cTn id="85" fill="hold">
                            <p:stCondLst>
                              <p:cond delay="1000"/>
                            </p:stCondLst>
                            <p:childTnLst>
                              <p:par>
                                <p:cTn id="86" presetID="22" presetClass="entr" presetSubtype="2" fill="hold" grpId="0" nodeType="after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wipe(right)">
                                      <p:cBhvr>
                                        <p:cTn id="88" dur="500"/>
                                        <p:tgtEl>
                                          <p:spTgt spid="27"/>
                                        </p:tgtEl>
                                      </p:cBhvr>
                                    </p:animEffect>
                                  </p:childTnLst>
                                </p:cTn>
                              </p:par>
                            </p:childTnLst>
                          </p:cTn>
                        </p:par>
                        <p:par>
                          <p:cTn id="89" fill="hold">
                            <p:stCondLst>
                              <p:cond delay="1500"/>
                            </p:stCondLst>
                            <p:childTnLst>
                              <p:par>
                                <p:cTn id="90" presetID="22" presetClass="entr" presetSubtype="2" fill="hold" grpId="0" nodeType="after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wipe(right)">
                                      <p:cBhvr>
                                        <p:cTn id="92" dur="500"/>
                                        <p:tgtEl>
                                          <p:spTgt spid="24"/>
                                        </p:tgtEl>
                                      </p:cBhvr>
                                    </p:animEffect>
                                  </p:childTnLst>
                                </p:cTn>
                              </p:par>
                            </p:childTnLst>
                          </p:cTn>
                        </p:par>
                        <p:par>
                          <p:cTn id="93" fill="hold">
                            <p:stCondLst>
                              <p:cond delay="2000"/>
                            </p:stCondLst>
                            <p:childTnLst>
                              <p:par>
                                <p:cTn id="94" presetID="22" presetClass="entr" presetSubtype="2" fill="hold" grpId="0" nodeType="after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right)">
                                      <p:cBhvr>
                                        <p:cTn id="9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p:bldP spid="23" grpId="0"/>
      <p:bldP spid="24" grpId="0" animBg="1"/>
      <p:bldP spid="27" grpId="0" animBg="1"/>
      <p:bldP spid="28" grpId="0" animBg="1"/>
      <p:bldP spid="29" grpId="0" animBg="1"/>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群組 19">
            <a:extLst>
              <a:ext uri="{FF2B5EF4-FFF2-40B4-BE49-F238E27FC236}">
                <a16:creationId xmlns:a16="http://schemas.microsoft.com/office/drawing/2014/main" id="{16B16EC0-B9E9-09B2-12B8-5B3B6B59B18F}"/>
              </a:ext>
            </a:extLst>
          </p:cNvPr>
          <p:cNvGrpSpPr/>
          <p:nvPr/>
        </p:nvGrpSpPr>
        <p:grpSpPr>
          <a:xfrm>
            <a:off x="945521" y="2849107"/>
            <a:ext cx="9859755" cy="1400105"/>
            <a:chOff x="945521" y="2849107"/>
            <a:chExt cx="9859755" cy="1400105"/>
          </a:xfrm>
        </p:grpSpPr>
        <p:cxnSp>
          <p:nvCxnSpPr>
            <p:cNvPr id="43" name="直線接點 42">
              <a:extLst>
                <a:ext uri="{FF2B5EF4-FFF2-40B4-BE49-F238E27FC236}">
                  <a16:creationId xmlns:a16="http://schemas.microsoft.com/office/drawing/2014/main" id="{2659FC93-3A46-9BAD-9BC1-9CEF5BEBBED0}"/>
                </a:ext>
              </a:extLst>
            </p:cNvPr>
            <p:cNvCxnSpPr>
              <a:cxnSpLocks/>
            </p:cNvCxnSpPr>
            <p:nvPr/>
          </p:nvCxnSpPr>
          <p:spPr>
            <a:xfrm flipV="1">
              <a:off x="1338217" y="3216365"/>
              <a:ext cx="9467059" cy="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981E0F8A-8EBC-72D9-552A-77D346CF4336}"/>
                </a:ext>
              </a:extLst>
            </p:cNvPr>
            <p:cNvCxnSpPr>
              <a:cxnSpLocks/>
            </p:cNvCxnSpPr>
            <p:nvPr/>
          </p:nvCxnSpPr>
          <p:spPr>
            <a:xfrm flipV="1">
              <a:off x="1338217" y="4249118"/>
              <a:ext cx="9467059" cy="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文字方塊 47">
              <a:extLst>
                <a:ext uri="{FF2B5EF4-FFF2-40B4-BE49-F238E27FC236}">
                  <a16:creationId xmlns:a16="http://schemas.microsoft.com/office/drawing/2014/main" id="{9975C346-DF0D-2239-B350-95BC22C5ACD8}"/>
                </a:ext>
              </a:extLst>
            </p:cNvPr>
            <p:cNvSpPr txBox="1"/>
            <p:nvPr/>
          </p:nvSpPr>
          <p:spPr>
            <a:xfrm>
              <a:off x="945521" y="3552178"/>
              <a:ext cx="614271" cy="369332"/>
            </a:xfrm>
            <a:prstGeom prst="rect">
              <a:avLst/>
            </a:prstGeom>
            <a:noFill/>
          </p:spPr>
          <p:txBody>
            <a:bodyPr wrap="none" rtlCol="0">
              <a:spAutoFit/>
            </a:bodyPr>
            <a:lstStyle/>
            <a:p>
              <a:r>
                <a:rPr kumimoji="1" lang="en-US" altLang="zh-TW" dirty="0"/>
                <a:t>HDD</a:t>
              </a:r>
              <a:endParaRPr kumimoji="1" lang="zh-TW" altLang="en-US" dirty="0"/>
            </a:p>
          </p:txBody>
        </p:sp>
        <p:sp>
          <p:nvSpPr>
            <p:cNvPr id="50" name="文字方塊 49">
              <a:extLst>
                <a:ext uri="{FF2B5EF4-FFF2-40B4-BE49-F238E27FC236}">
                  <a16:creationId xmlns:a16="http://schemas.microsoft.com/office/drawing/2014/main" id="{546555FD-BAEB-9540-EC47-3CB8C16C3AAF}"/>
                </a:ext>
              </a:extLst>
            </p:cNvPr>
            <p:cNvSpPr txBox="1"/>
            <p:nvPr/>
          </p:nvSpPr>
          <p:spPr>
            <a:xfrm>
              <a:off x="991103" y="2849107"/>
              <a:ext cx="2085443" cy="369332"/>
            </a:xfrm>
            <a:prstGeom prst="rect">
              <a:avLst/>
            </a:prstGeom>
            <a:noFill/>
          </p:spPr>
          <p:txBody>
            <a:bodyPr wrap="none" rtlCol="0">
              <a:spAutoFit/>
            </a:bodyPr>
            <a:lstStyle/>
            <a:p>
              <a:r>
                <a:rPr kumimoji="1" lang="en-US" altLang="zh-TW" i="1" u="sng" dirty="0">
                  <a:solidFill>
                    <a:srgbClr val="C00000"/>
                  </a:solidFill>
                </a:rPr>
                <a:t>Old Unix File System</a:t>
              </a:r>
              <a:endParaRPr kumimoji="1" lang="zh-TW" altLang="en-US" i="1" u="sng" dirty="0">
                <a:solidFill>
                  <a:srgbClr val="C00000"/>
                </a:solidFill>
              </a:endParaRPr>
            </a:p>
          </p:txBody>
        </p:sp>
      </p:grpSp>
      <p:sp>
        <p:nvSpPr>
          <p:cNvPr id="2" name="標題 1">
            <a:extLst>
              <a:ext uri="{FF2B5EF4-FFF2-40B4-BE49-F238E27FC236}">
                <a16:creationId xmlns:a16="http://schemas.microsoft.com/office/drawing/2014/main" id="{335BC3B6-3A03-43A9-38A3-EE5EC55B0013}"/>
              </a:ext>
            </a:extLst>
          </p:cNvPr>
          <p:cNvSpPr>
            <a:spLocks noGrp="1"/>
          </p:cNvSpPr>
          <p:nvPr>
            <p:ph type="title"/>
          </p:nvPr>
        </p:nvSpPr>
        <p:spPr/>
        <p:txBody>
          <a:bodyPr/>
          <a:lstStyle/>
          <a:p>
            <a:r>
              <a:rPr kumimoji="1" lang="en-US" altLang="zh-TW" dirty="0"/>
              <a:t>Log-Structure File System (Count.)</a:t>
            </a:r>
            <a:endParaRPr kumimoji="1" lang="zh-TW" altLang="en-US" dirty="0"/>
          </a:p>
        </p:txBody>
      </p:sp>
      <p:sp>
        <p:nvSpPr>
          <p:cNvPr id="3" name="內容版面配置區 2">
            <a:extLst>
              <a:ext uri="{FF2B5EF4-FFF2-40B4-BE49-F238E27FC236}">
                <a16:creationId xmlns:a16="http://schemas.microsoft.com/office/drawing/2014/main" id="{93856950-35C3-7886-7129-553661A0EC6A}"/>
              </a:ext>
            </a:extLst>
          </p:cNvPr>
          <p:cNvSpPr>
            <a:spLocks noGrp="1"/>
          </p:cNvSpPr>
          <p:nvPr>
            <p:ph idx="1"/>
          </p:nvPr>
        </p:nvSpPr>
        <p:spPr/>
        <p:txBody>
          <a:bodyPr/>
          <a:lstStyle/>
          <a:p>
            <a:r>
              <a:rPr lang="en-US" altLang="zh-TW" dirty="0">
                <a:solidFill>
                  <a:schemeClr val="tx1"/>
                </a:solidFill>
              </a:rPr>
              <a:t>But, how to </a:t>
            </a:r>
            <a:r>
              <a:rPr lang="en-US" altLang="zh-TW" dirty="0">
                <a:solidFill>
                  <a:srgbClr val="C00000"/>
                </a:solidFill>
              </a:rPr>
              <a:t>find an </a:t>
            </a:r>
            <a:r>
              <a:rPr lang="en-US" altLang="zh-TW" dirty="0" err="1">
                <a:solidFill>
                  <a:srgbClr val="C00000"/>
                </a:solidFill>
              </a:rPr>
              <a:t>inode</a:t>
            </a:r>
            <a:r>
              <a:rPr lang="en-US" altLang="zh-TW" dirty="0">
                <a:solidFill>
                  <a:srgbClr val="C00000"/>
                </a:solidFill>
              </a:rPr>
              <a:t> </a:t>
            </a:r>
            <a:r>
              <a:rPr lang="en-US" altLang="zh-TW" dirty="0">
                <a:solidFill>
                  <a:schemeClr val="tx1"/>
                </a:solidFill>
              </a:rPr>
              <a:t>in the disk?</a:t>
            </a:r>
            <a:endParaRPr kumimoji="1" lang="zh-TW" altLang="en-US" dirty="0">
              <a:solidFill>
                <a:schemeClr val="tx1"/>
              </a:solidFill>
            </a:endParaRPr>
          </a:p>
          <a:p>
            <a:pPr lvl="1"/>
            <a:r>
              <a:rPr kumimoji="1" lang="en-US" altLang="zh-TW" dirty="0">
                <a:solidFill>
                  <a:schemeClr val="tx1"/>
                </a:solidFill>
              </a:rPr>
              <a:t>Old UNIX FS: Organized in an array and place on disk </a:t>
            </a:r>
            <a:r>
              <a:rPr kumimoji="1" lang="en-US" altLang="zh-TW" dirty="0">
                <a:solidFill>
                  <a:srgbClr val="C00000"/>
                </a:solidFill>
              </a:rPr>
              <a:t>at fixed location</a:t>
            </a:r>
          </a:p>
          <a:p>
            <a:pPr lvl="1"/>
            <a:r>
              <a:rPr kumimoji="1" lang="en-US" altLang="zh-TW" dirty="0">
                <a:solidFill>
                  <a:schemeClr val="tx1"/>
                </a:solidFill>
              </a:rPr>
              <a:t>LFS: </a:t>
            </a:r>
            <a:r>
              <a:rPr kumimoji="1" lang="en-US" altLang="zh-TW" dirty="0" err="1">
                <a:solidFill>
                  <a:schemeClr val="tx1"/>
                </a:solidFill>
              </a:rPr>
              <a:t>Inodes</a:t>
            </a:r>
            <a:r>
              <a:rPr kumimoji="1" lang="en-US" altLang="zh-TW" dirty="0">
                <a:solidFill>
                  <a:schemeClr val="tx1"/>
                </a:solidFill>
              </a:rPr>
              <a:t> are scattered all over the disk. </a:t>
            </a:r>
          </a:p>
          <a:p>
            <a:pPr lvl="2"/>
            <a:r>
              <a:rPr lang="en-US" altLang="zh-TW" dirty="0">
                <a:solidFill>
                  <a:schemeClr val="tx1"/>
                </a:solidFill>
              </a:rPr>
              <a:t>Why </a:t>
            </a:r>
            <a:r>
              <a:rPr lang="en-US" altLang="zh-TW" dirty="0" err="1">
                <a:solidFill>
                  <a:schemeClr val="tx1"/>
                </a:solidFill>
              </a:rPr>
              <a:t>inode</a:t>
            </a:r>
            <a:r>
              <a:rPr lang="en-US" altLang="zh-TW" dirty="0">
                <a:solidFill>
                  <a:schemeClr val="tx1"/>
                </a:solidFill>
              </a:rPr>
              <a:t> map: Can track each </a:t>
            </a:r>
            <a:r>
              <a:rPr lang="en-US" altLang="zh-TW" dirty="0" err="1">
                <a:solidFill>
                  <a:schemeClr val="tx1"/>
                </a:solidFill>
              </a:rPr>
              <a:t>inode</a:t>
            </a:r>
            <a:r>
              <a:rPr lang="en-US" altLang="zh-TW" dirty="0">
                <a:solidFill>
                  <a:schemeClr val="tx1"/>
                </a:solidFill>
              </a:rPr>
              <a:t> easily and efficiently.</a:t>
            </a:r>
          </a:p>
          <a:p>
            <a:pPr lvl="2"/>
            <a:endParaRPr kumimoji="1" lang="en-US" altLang="zh-TW" dirty="0">
              <a:solidFill>
                <a:schemeClr val="tx1"/>
              </a:solidFill>
            </a:endParaRPr>
          </a:p>
        </p:txBody>
      </p:sp>
      <p:sp>
        <p:nvSpPr>
          <p:cNvPr id="4" name="投影片編號版面配置區 3">
            <a:extLst>
              <a:ext uri="{FF2B5EF4-FFF2-40B4-BE49-F238E27FC236}">
                <a16:creationId xmlns:a16="http://schemas.microsoft.com/office/drawing/2014/main" id="{C9908C72-7EF8-7779-49B9-CFC262338AEC}"/>
              </a:ext>
            </a:extLst>
          </p:cNvPr>
          <p:cNvSpPr>
            <a:spLocks noGrp="1"/>
          </p:cNvSpPr>
          <p:nvPr>
            <p:ph type="sldNum" sz="quarter" idx="4"/>
          </p:nvPr>
        </p:nvSpPr>
        <p:spPr/>
        <p:txBody>
          <a:bodyPr/>
          <a:lstStyle/>
          <a:p>
            <a:fld id="{E24E6636-6BA5-4AAC-8485-BE8D914D288B}" type="slidenum">
              <a:rPr lang="zh-TW" altLang="en-US" smtClean="0"/>
              <a:pPr/>
              <a:t>9</a:t>
            </a:fld>
            <a:endParaRPr lang="zh-TW" altLang="en-US" dirty="0"/>
          </a:p>
        </p:txBody>
      </p:sp>
      <p:sp>
        <p:nvSpPr>
          <p:cNvPr id="45" name="矩形 44">
            <a:extLst>
              <a:ext uri="{FF2B5EF4-FFF2-40B4-BE49-F238E27FC236}">
                <a16:creationId xmlns:a16="http://schemas.microsoft.com/office/drawing/2014/main" id="{31D938DA-8AF1-65E6-636B-566871B43C16}"/>
              </a:ext>
            </a:extLst>
          </p:cNvPr>
          <p:cNvSpPr/>
          <p:nvPr/>
        </p:nvSpPr>
        <p:spPr>
          <a:xfrm>
            <a:off x="1823513" y="3220512"/>
            <a:ext cx="10080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1</a:t>
            </a:r>
            <a:endParaRPr kumimoji="1" lang="zh-TW" altLang="en-US" sz="1600" baseline="-25000" dirty="0">
              <a:solidFill>
                <a:schemeClr val="tx1"/>
              </a:solidFill>
            </a:endParaRPr>
          </a:p>
        </p:txBody>
      </p:sp>
      <p:sp>
        <p:nvSpPr>
          <p:cNvPr id="46" name="文字方塊 45">
            <a:extLst>
              <a:ext uri="{FF2B5EF4-FFF2-40B4-BE49-F238E27FC236}">
                <a16:creationId xmlns:a16="http://schemas.microsoft.com/office/drawing/2014/main" id="{E3AB237E-CABD-A447-4140-908BDFC4A208}"/>
              </a:ext>
            </a:extLst>
          </p:cNvPr>
          <p:cNvSpPr txBox="1"/>
          <p:nvPr/>
        </p:nvSpPr>
        <p:spPr>
          <a:xfrm>
            <a:off x="1624157" y="4184290"/>
            <a:ext cx="352982" cy="369332"/>
          </a:xfrm>
          <a:prstGeom prst="rect">
            <a:avLst/>
          </a:prstGeom>
          <a:noFill/>
        </p:spPr>
        <p:txBody>
          <a:bodyPr wrap="none" rtlCol="0">
            <a:spAutoFit/>
          </a:bodyPr>
          <a:lstStyle/>
          <a:p>
            <a:r>
              <a:rPr kumimoji="1" lang="en-US" altLang="zh-TW" dirty="0"/>
              <a:t>A</a:t>
            </a:r>
            <a:r>
              <a:rPr kumimoji="1" lang="en-US" altLang="zh-TW" baseline="-25000" dirty="0"/>
              <a:t>i</a:t>
            </a:r>
            <a:endParaRPr kumimoji="1" lang="zh-TW" altLang="en-US" baseline="-25000" dirty="0"/>
          </a:p>
        </p:txBody>
      </p:sp>
      <p:grpSp>
        <p:nvGrpSpPr>
          <p:cNvPr id="75" name="群組 74">
            <a:extLst>
              <a:ext uri="{FF2B5EF4-FFF2-40B4-BE49-F238E27FC236}">
                <a16:creationId xmlns:a16="http://schemas.microsoft.com/office/drawing/2014/main" id="{3A2D8426-A9CA-680B-38BA-8C796E987EA9}"/>
              </a:ext>
            </a:extLst>
          </p:cNvPr>
          <p:cNvGrpSpPr/>
          <p:nvPr/>
        </p:nvGrpSpPr>
        <p:grpSpPr>
          <a:xfrm>
            <a:off x="945521" y="4858032"/>
            <a:ext cx="9150616" cy="1413512"/>
            <a:chOff x="945521" y="4858032"/>
            <a:chExt cx="9150616" cy="1413512"/>
          </a:xfrm>
        </p:grpSpPr>
        <p:cxnSp>
          <p:nvCxnSpPr>
            <p:cNvPr id="36" name="直線接點 35">
              <a:extLst>
                <a:ext uri="{FF2B5EF4-FFF2-40B4-BE49-F238E27FC236}">
                  <a16:creationId xmlns:a16="http://schemas.microsoft.com/office/drawing/2014/main" id="{E17F3FF3-E457-BF5B-0D15-4D104CD27AAB}"/>
                </a:ext>
              </a:extLst>
            </p:cNvPr>
            <p:cNvCxnSpPr>
              <a:cxnSpLocks/>
            </p:cNvCxnSpPr>
            <p:nvPr/>
          </p:nvCxnSpPr>
          <p:spPr>
            <a:xfrm>
              <a:off x="1338217" y="5242844"/>
              <a:ext cx="8757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7CC5B7E2-821E-075C-81FE-FB457F287DD4}"/>
                </a:ext>
              </a:extLst>
            </p:cNvPr>
            <p:cNvCxnSpPr>
              <a:cxnSpLocks/>
            </p:cNvCxnSpPr>
            <p:nvPr/>
          </p:nvCxnSpPr>
          <p:spPr>
            <a:xfrm>
              <a:off x="1338217" y="6271544"/>
              <a:ext cx="8757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文字方塊 41">
              <a:extLst>
                <a:ext uri="{FF2B5EF4-FFF2-40B4-BE49-F238E27FC236}">
                  <a16:creationId xmlns:a16="http://schemas.microsoft.com/office/drawing/2014/main" id="{EFE3FC7D-A053-0581-A3D1-E4071C45D446}"/>
                </a:ext>
              </a:extLst>
            </p:cNvPr>
            <p:cNvSpPr txBox="1"/>
            <p:nvPr/>
          </p:nvSpPr>
          <p:spPr>
            <a:xfrm>
              <a:off x="945521" y="5574510"/>
              <a:ext cx="614271" cy="369332"/>
            </a:xfrm>
            <a:prstGeom prst="rect">
              <a:avLst/>
            </a:prstGeom>
            <a:noFill/>
          </p:spPr>
          <p:txBody>
            <a:bodyPr wrap="none" rtlCol="0">
              <a:spAutoFit/>
            </a:bodyPr>
            <a:lstStyle/>
            <a:p>
              <a:r>
                <a:rPr kumimoji="1" lang="en-US" altLang="zh-TW" dirty="0"/>
                <a:t>HDD</a:t>
              </a:r>
              <a:endParaRPr kumimoji="1" lang="zh-TW" altLang="en-US" dirty="0"/>
            </a:p>
          </p:txBody>
        </p:sp>
        <p:sp>
          <p:nvSpPr>
            <p:cNvPr id="49" name="文字方塊 48">
              <a:extLst>
                <a:ext uri="{FF2B5EF4-FFF2-40B4-BE49-F238E27FC236}">
                  <a16:creationId xmlns:a16="http://schemas.microsoft.com/office/drawing/2014/main" id="{ACCD0C86-A01C-36FE-160E-BD7462FC1807}"/>
                </a:ext>
              </a:extLst>
            </p:cNvPr>
            <p:cNvSpPr txBox="1"/>
            <p:nvPr/>
          </p:nvSpPr>
          <p:spPr>
            <a:xfrm>
              <a:off x="1064941" y="4858032"/>
              <a:ext cx="1702838" cy="369332"/>
            </a:xfrm>
            <a:prstGeom prst="rect">
              <a:avLst/>
            </a:prstGeom>
            <a:noFill/>
          </p:spPr>
          <p:txBody>
            <a:bodyPr wrap="none" rtlCol="0">
              <a:spAutoFit/>
            </a:bodyPr>
            <a:lstStyle/>
            <a:p>
              <a:r>
                <a:rPr kumimoji="1" lang="en-US" altLang="zh-TW" i="1" u="sng" dirty="0">
                  <a:solidFill>
                    <a:srgbClr val="C00000"/>
                  </a:solidFill>
                </a:rPr>
                <a:t>LFS</a:t>
              </a:r>
              <a:r>
                <a:rPr kumimoji="1" lang="en-US" altLang="zh-TW" i="1" u="sng" dirty="0">
                  <a:solidFill>
                    <a:srgbClr val="C00000"/>
                  </a:solidFill>
                  <a:sym typeface="Wingdings" pitchFamily="2" charset="2"/>
                </a:rPr>
                <a:t> (Indirection)</a:t>
              </a:r>
              <a:endParaRPr kumimoji="1" lang="zh-TW" altLang="en-US" i="1" u="sng" dirty="0">
                <a:solidFill>
                  <a:srgbClr val="C00000"/>
                </a:solidFill>
              </a:endParaRPr>
            </a:p>
          </p:txBody>
        </p:sp>
      </p:grpSp>
      <p:grpSp>
        <p:nvGrpSpPr>
          <p:cNvPr id="5" name="群組 4">
            <a:extLst>
              <a:ext uri="{FF2B5EF4-FFF2-40B4-BE49-F238E27FC236}">
                <a16:creationId xmlns:a16="http://schemas.microsoft.com/office/drawing/2014/main" id="{D29ACCA4-E434-37DD-AD3F-73DCDD0BB231}"/>
              </a:ext>
            </a:extLst>
          </p:cNvPr>
          <p:cNvGrpSpPr/>
          <p:nvPr/>
        </p:nvGrpSpPr>
        <p:grpSpPr>
          <a:xfrm>
            <a:off x="6626694" y="2732736"/>
            <a:ext cx="4178581" cy="452509"/>
            <a:chOff x="3335760" y="2941676"/>
            <a:chExt cx="4178581" cy="452509"/>
          </a:xfrm>
        </p:grpSpPr>
        <p:sp>
          <p:nvSpPr>
            <p:cNvPr id="6" name="文字方塊 5">
              <a:extLst>
                <a:ext uri="{FF2B5EF4-FFF2-40B4-BE49-F238E27FC236}">
                  <a16:creationId xmlns:a16="http://schemas.microsoft.com/office/drawing/2014/main" id="{AC12F4C7-C5E4-0810-B868-8E79A4018314}"/>
                </a:ext>
              </a:extLst>
            </p:cNvPr>
            <p:cNvSpPr txBox="1"/>
            <p:nvPr/>
          </p:nvSpPr>
          <p:spPr>
            <a:xfrm>
              <a:off x="3714005" y="2941676"/>
              <a:ext cx="3800336" cy="369332"/>
            </a:xfrm>
            <a:prstGeom prst="rect">
              <a:avLst/>
            </a:prstGeom>
            <a:noFill/>
          </p:spPr>
          <p:txBody>
            <a:bodyPr wrap="none" rtlCol="0">
              <a:spAutoFit/>
            </a:bodyPr>
            <a:lstStyle/>
            <a:p>
              <a:r>
                <a:rPr kumimoji="1" lang="en-US" altLang="zh-TW" dirty="0" err="1">
                  <a:solidFill>
                    <a:srgbClr val="C00000"/>
                  </a:solidFill>
                </a:rPr>
                <a:t>Inode</a:t>
              </a:r>
              <a:r>
                <a:rPr kumimoji="1" lang="en-US" altLang="zh-TW" dirty="0">
                  <a:solidFill>
                    <a:srgbClr val="C00000"/>
                  </a:solidFill>
                </a:rPr>
                <a:t> stored at a known fixed location</a:t>
              </a:r>
              <a:endParaRPr kumimoji="1" lang="zh-TW" altLang="en-US" dirty="0">
                <a:solidFill>
                  <a:srgbClr val="C00000"/>
                </a:solidFill>
              </a:endParaRPr>
            </a:p>
          </p:txBody>
        </p:sp>
        <p:sp>
          <p:nvSpPr>
            <p:cNvPr id="7" name="左大括弧 6">
              <a:extLst>
                <a:ext uri="{FF2B5EF4-FFF2-40B4-BE49-F238E27FC236}">
                  <a16:creationId xmlns:a16="http://schemas.microsoft.com/office/drawing/2014/main" id="{A655543B-605F-DAC5-D47A-DCC0BD04DDF9}"/>
                </a:ext>
              </a:extLst>
            </p:cNvPr>
            <p:cNvSpPr/>
            <p:nvPr/>
          </p:nvSpPr>
          <p:spPr>
            <a:xfrm rot="5400000">
              <a:off x="5357799" y="1237643"/>
              <a:ext cx="134503" cy="4178581"/>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
        <p:nvSpPr>
          <p:cNvPr id="11" name="矩形 10">
            <a:extLst>
              <a:ext uri="{FF2B5EF4-FFF2-40B4-BE49-F238E27FC236}">
                <a16:creationId xmlns:a16="http://schemas.microsoft.com/office/drawing/2014/main" id="{A36CA43F-C025-DB01-BCD7-D36F0BEF6DE4}"/>
              </a:ext>
            </a:extLst>
          </p:cNvPr>
          <p:cNvSpPr/>
          <p:nvPr/>
        </p:nvSpPr>
        <p:spPr>
          <a:xfrm>
            <a:off x="4285471" y="3220512"/>
            <a:ext cx="1528996"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2</a:t>
            </a:r>
            <a:endParaRPr kumimoji="1" lang="zh-TW" altLang="en-US" sz="1600" baseline="-25000" dirty="0">
              <a:solidFill>
                <a:schemeClr val="tx1"/>
              </a:solidFill>
            </a:endParaRPr>
          </a:p>
        </p:txBody>
      </p:sp>
      <p:sp>
        <p:nvSpPr>
          <p:cNvPr id="14" name="文字方塊 13">
            <a:extLst>
              <a:ext uri="{FF2B5EF4-FFF2-40B4-BE49-F238E27FC236}">
                <a16:creationId xmlns:a16="http://schemas.microsoft.com/office/drawing/2014/main" id="{20BA5AA5-8749-AF11-1C62-F03EAC814AEA}"/>
              </a:ext>
            </a:extLst>
          </p:cNvPr>
          <p:cNvSpPr txBox="1"/>
          <p:nvPr/>
        </p:nvSpPr>
        <p:spPr>
          <a:xfrm>
            <a:off x="4108179" y="4192030"/>
            <a:ext cx="354584" cy="369332"/>
          </a:xfrm>
          <a:prstGeom prst="rect">
            <a:avLst/>
          </a:prstGeom>
          <a:noFill/>
        </p:spPr>
        <p:txBody>
          <a:bodyPr wrap="none" rtlCol="0">
            <a:spAutoFit/>
          </a:bodyPr>
          <a:lstStyle/>
          <a:p>
            <a:r>
              <a:rPr kumimoji="1" lang="en-US" altLang="zh-TW" dirty="0" err="1"/>
              <a:t>A</a:t>
            </a:r>
            <a:r>
              <a:rPr kumimoji="1" lang="en-US" altLang="zh-TW" baseline="-25000" dirty="0" err="1"/>
              <a:t>j</a:t>
            </a:r>
            <a:endParaRPr kumimoji="1" lang="zh-TW" altLang="en-US" baseline="-25000" dirty="0"/>
          </a:p>
        </p:txBody>
      </p:sp>
      <p:sp>
        <p:nvSpPr>
          <p:cNvPr id="15" name="文字方塊 14">
            <a:extLst>
              <a:ext uri="{FF2B5EF4-FFF2-40B4-BE49-F238E27FC236}">
                <a16:creationId xmlns:a16="http://schemas.microsoft.com/office/drawing/2014/main" id="{D44BFD59-E37F-53F8-4C7C-398A31F4EEBC}"/>
              </a:ext>
            </a:extLst>
          </p:cNvPr>
          <p:cNvSpPr txBox="1"/>
          <p:nvPr/>
        </p:nvSpPr>
        <p:spPr>
          <a:xfrm>
            <a:off x="6449402" y="4205537"/>
            <a:ext cx="617477" cy="369332"/>
          </a:xfrm>
          <a:prstGeom prst="rect">
            <a:avLst/>
          </a:prstGeom>
          <a:noFill/>
        </p:spPr>
        <p:txBody>
          <a:bodyPr wrap="none" rtlCol="0">
            <a:spAutoFit/>
          </a:bodyPr>
          <a:lstStyle/>
          <a:p>
            <a:r>
              <a:rPr kumimoji="1" lang="en-US" altLang="zh-TW" b="1" dirty="0" err="1"/>
              <a:t>A</a:t>
            </a:r>
            <a:r>
              <a:rPr kumimoji="1" lang="en-US" altLang="zh-TW" b="1" baseline="-25000" dirty="0" err="1"/>
              <a:t>start</a:t>
            </a:r>
            <a:endParaRPr kumimoji="1" lang="zh-TW" altLang="en-US" b="1" baseline="-25000" dirty="0"/>
          </a:p>
        </p:txBody>
      </p:sp>
      <p:cxnSp>
        <p:nvCxnSpPr>
          <p:cNvPr id="17" name="直線箭頭接點 16">
            <a:extLst>
              <a:ext uri="{FF2B5EF4-FFF2-40B4-BE49-F238E27FC236}">
                <a16:creationId xmlns:a16="http://schemas.microsoft.com/office/drawing/2014/main" id="{754F7E0D-DEE7-169A-1980-C2C889251826}"/>
              </a:ext>
            </a:extLst>
          </p:cNvPr>
          <p:cNvCxnSpPr>
            <a:cxnSpLocks/>
          </p:cNvCxnSpPr>
          <p:nvPr/>
        </p:nvCxnSpPr>
        <p:spPr>
          <a:xfrm>
            <a:off x="7089093" y="4429377"/>
            <a:ext cx="1137218"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17E201C7-246A-F708-22C7-49591B1A1EF7}"/>
              </a:ext>
            </a:extLst>
          </p:cNvPr>
          <p:cNvSpPr txBox="1"/>
          <p:nvPr/>
        </p:nvSpPr>
        <p:spPr>
          <a:xfrm>
            <a:off x="8226311" y="4254045"/>
            <a:ext cx="2670026" cy="307777"/>
          </a:xfrm>
          <a:prstGeom prst="rect">
            <a:avLst/>
          </a:prstGeom>
          <a:noFill/>
        </p:spPr>
        <p:txBody>
          <a:bodyPr wrap="none" rtlCol="0">
            <a:spAutoFit/>
          </a:bodyPr>
          <a:lstStyle/>
          <a:p>
            <a:r>
              <a:rPr kumimoji="1" lang="en-US" altLang="zh-TW" sz="1400" dirty="0" err="1">
                <a:solidFill>
                  <a:srgbClr val="C00000"/>
                </a:solidFill>
              </a:rPr>
              <a:t>A</a:t>
            </a:r>
            <a:r>
              <a:rPr kumimoji="1" lang="en-US" altLang="zh-TW" sz="1400" baseline="-25000" dirty="0" err="1">
                <a:solidFill>
                  <a:srgbClr val="C00000"/>
                </a:solidFill>
              </a:rPr>
              <a:t>inode</a:t>
            </a:r>
            <a:r>
              <a:rPr kumimoji="1" lang="en-US" altLang="zh-TW" sz="1400" dirty="0">
                <a:solidFill>
                  <a:srgbClr val="C00000"/>
                </a:solidFill>
              </a:rPr>
              <a:t> = </a:t>
            </a:r>
            <a:r>
              <a:rPr kumimoji="1" lang="en-US" altLang="zh-TW" sz="1400" dirty="0" err="1">
                <a:solidFill>
                  <a:srgbClr val="C00000"/>
                </a:solidFill>
              </a:rPr>
              <a:t>A</a:t>
            </a:r>
            <a:r>
              <a:rPr kumimoji="1" lang="en-US" altLang="zh-TW" sz="1400" baseline="-25000" dirty="0" err="1">
                <a:solidFill>
                  <a:srgbClr val="C00000"/>
                </a:solidFill>
              </a:rPr>
              <a:t>start</a:t>
            </a:r>
            <a:r>
              <a:rPr kumimoji="1" lang="en-US" altLang="zh-TW" sz="1400" dirty="0">
                <a:solidFill>
                  <a:srgbClr val="C00000"/>
                </a:solidFill>
              </a:rPr>
              <a:t> + </a:t>
            </a:r>
            <a:r>
              <a:rPr kumimoji="1" lang="en-US" altLang="zh-TW" sz="1400" dirty="0" err="1">
                <a:solidFill>
                  <a:srgbClr val="C00000"/>
                </a:solidFill>
              </a:rPr>
              <a:t>inode</a:t>
            </a:r>
            <a:r>
              <a:rPr kumimoji="1" lang="en-US" altLang="zh-TW" sz="1400" baseline="-25000" dirty="0" err="1">
                <a:solidFill>
                  <a:srgbClr val="C00000"/>
                </a:solidFill>
              </a:rPr>
              <a:t>index</a:t>
            </a:r>
            <a:r>
              <a:rPr kumimoji="1" lang="en-US" altLang="zh-TW" sz="1400" dirty="0">
                <a:solidFill>
                  <a:srgbClr val="C00000"/>
                </a:solidFill>
              </a:rPr>
              <a:t> * </a:t>
            </a:r>
            <a:r>
              <a:rPr kumimoji="1" lang="en-US" altLang="zh-TW" sz="1400" dirty="0" err="1">
                <a:solidFill>
                  <a:srgbClr val="C00000"/>
                </a:solidFill>
              </a:rPr>
              <a:t>inode</a:t>
            </a:r>
            <a:r>
              <a:rPr kumimoji="1" lang="en-US" altLang="zh-TW" sz="1400" baseline="-25000" dirty="0" err="1">
                <a:solidFill>
                  <a:srgbClr val="C00000"/>
                </a:solidFill>
              </a:rPr>
              <a:t>size</a:t>
            </a:r>
            <a:endParaRPr kumimoji="1" lang="zh-TW" altLang="en-US" sz="1400" baseline="-25000" dirty="0">
              <a:solidFill>
                <a:srgbClr val="C00000"/>
              </a:solidFill>
            </a:endParaRPr>
          </a:p>
        </p:txBody>
      </p:sp>
      <p:sp>
        <p:nvSpPr>
          <p:cNvPr id="24" name="文字方塊 23">
            <a:extLst>
              <a:ext uri="{FF2B5EF4-FFF2-40B4-BE49-F238E27FC236}">
                <a16:creationId xmlns:a16="http://schemas.microsoft.com/office/drawing/2014/main" id="{DAFECD91-EE6D-3D8A-E0B4-F242E53E2AB3}"/>
              </a:ext>
            </a:extLst>
          </p:cNvPr>
          <p:cNvSpPr txBox="1"/>
          <p:nvPr/>
        </p:nvSpPr>
        <p:spPr>
          <a:xfrm>
            <a:off x="3367126" y="3525105"/>
            <a:ext cx="343364" cy="369332"/>
          </a:xfrm>
          <a:prstGeom prst="rect">
            <a:avLst/>
          </a:prstGeom>
          <a:noFill/>
        </p:spPr>
        <p:txBody>
          <a:bodyPr wrap="none" rtlCol="0">
            <a:spAutoFit/>
          </a:bodyPr>
          <a:lstStyle/>
          <a:p>
            <a:r>
              <a:rPr kumimoji="1" lang="en-US" altLang="zh-TW" dirty="0"/>
              <a:t>…</a:t>
            </a:r>
            <a:endParaRPr kumimoji="1" lang="zh-TW" altLang="en-US" dirty="0"/>
          </a:p>
        </p:txBody>
      </p:sp>
      <p:sp>
        <p:nvSpPr>
          <p:cNvPr id="25" name="文字方塊 24">
            <a:extLst>
              <a:ext uri="{FF2B5EF4-FFF2-40B4-BE49-F238E27FC236}">
                <a16:creationId xmlns:a16="http://schemas.microsoft.com/office/drawing/2014/main" id="{5EEECFE6-3B6B-AE28-9D33-94E7C119F718}"/>
              </a:ext>
            </a:extLst>
          </p:cNvPr>
          <p:cNvSpPr txBox="1"/>
          <p:nvPr/>
        </p:nvSpPr>
        <p:spPr>
          <a:xfrm>
            <a:off x="6065709" y="3473053"/>
            <a:ext cx="343364" cy="369332"/>
          </a:xfrm>
          <a:prstGeom prst="rect">
            <a:avLst/>
          </a:prstGeom>
          <a:noFill/>
        </p:spPr>
        <p:txBody>
          <a:bodyPr wrap="none" rtlCol="0">
            <a:spAutoFit/>
          </a:bodyPr>
          <a:lstStyle/>
          <a:p>
            <a:r>
              <a:rPr kumimoji="1" lang="en-US" altLang="zh-TW" dirty="0"/>
              <a:t>…</a:t>
            </a:r>
            <a:endParaRPr kumimoji="1" lang="zh-TW" altLang="en-US" dirty="0"/>
          </a:p>
        </p:txBody>
      </p:sp>
      <p:sp>
        <p:nvSpPr>
          <p:cNvPr id="26" name="矩形 25">
            <a:extLst>
              <a:ext uri="{FF2B5EF4-FFF2-40B4-BE49-F238E27FC236}">
                <a16:creationId xmlns:a16="http://schemas.microsoft.com/office/drawing/2014/main" id="{56031BB8-2545-9AF4-4D8F-6B7A4FB4E895}"/>
              </a:ext>
            </a:extLst>
          </p:cNvPr>
          <p:cNvSpPr/>
          <p:nvPr/>
        </p:nvSpPr>
        <p:spPr>
          <a:xfrm>
            <a:off x="2480143" y="5247914"/>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j,0</a:t>
            </a:r>
            <a:endParaRPr kumimoji="1" lang="zh-TW" altLang="en-US" sz="1600" baseline="-25000" dirty="0">
              <a:solidFill>
                <a:schemeClr val="tx1"/>
              </a:solidFill>
            </a:endParaRPr>
          </a:p>
        </p:txBody>
      </p:sp>
      <p:sp>
        <p:nvSpPr>
          <p:cNvPr id="27" name="矩形 26">
            <a:extLst>
              <a:ext uri="{FF2B5EF4-FFF2-40B4-BE49-F238E27FC236}">
                <a16:creationId xmlns:a16="http://schemas.microsoft.com/office/drawing/2014/main" id="{A948FBEE-9393-8B44-87DE-57A3C32802F0}"/>
              </a:ext>
            </a:extLst>
          </p:cNvPr>
          <p:cNvSpPr/>
          <p:nvPr/>
        </p:nvSpPr>
        <p:spPr>
          <a:xfrm>
            <a:off x="5449821" y="5247914"/>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0</a:t>
            </a:r>
          </a:p>
          <a:p>
            <a:pPr algn="ctr"/>
            <a:r>
              <a:rPr kumimoji="1" lang="en-US" altLang="zh-TW" sz="1200" dirty="0">
                <a:solidFill>
                  <a:schemeClr val="tx1"/>
                </a:solidFill>
              </a:rPr>
              <a:t>B[1]:A</a:t>
            </a:r>
            <a:r>
              <a:rPr kumimoji="1" lang="en-US" altLang="zh-TW" sz="1200" baseline="-25000" dirty="0">
                <a:solidFill>
                  <a:schemeClr val="tx1"/>
                </a:solidFill>
              </a:rPr>
              <a:t>1 </a:t>
            </a:r>
            <a:endParaRPr kumimoji="1" lang="zh-TW" altLang="en-US" sz="1200" baseline="-25000" dirty="0">
              <a:solidFill>
                <a:schemeClr val="tx1"/>
              </a:solidFill>
            </a:endParaRPr>
          </a:p>
          <a:p>
            <a:pPr algn="ctr"/>
            <a:r>
              <a:rPr kumimoji="1" lang="en-US" altLang="zh-TW" sz="1200" dirty="0">
                <a:solidFill>
                  <a:schemeClr val="tx1"/>
                </a:solidFill>
              </a:rPr>
              <a:t>B[2]:A</a:t>
            </a:r>
            <a:r>
              <a:rPr kumimoji="1" lang="en-US" altLang="zh-TW" sz="1200" baseline="-25000" dirty="0">
                <a:solidFill>
                  <a:schemeClr val="tx1"/>
                </a:solidFill>
              </a:rPr>
              <a:t>2</a:t>
            </a:r>
            <a:endParaRPr kumimoji="1" lang="zh-TW" altLang="en-US" sz="1200" baseline="-25000" dirty="0">
              <a:solidFill>
                <a:schemeClr val="tx1"/>
              </a:solidFill>
            </a:endParaRPr>
          </a:p>
          <a:p>
            <a:pPr algn="ctr"/>
            <a:r>
              <a:rPr kumimoji="1" lang="en-US" altLang="zh-TW" sz="1200" dirty="0">
                <a:solidFill>
                  <a:schemeClr val="tx1"/>
                </a:solidFill>
              </a:rPr>
              <a:t>B[3]:A</a:t>
            </a:r>
            <a:r>
              <a:rPr kumimoji="1" lang="en-US" altLang="zh-TW" sz="1200" baseline="-25000" dirty="0">
                <a:solidFill>
                  <a:schemeClr val="tx1"/>
                </a:solidFill>
              </a:rPr>
              <a:t>3</a:t>
            </a:r>
            <a:endParaRPr kumimoji="1" lang="zh-TW" altLang="en-US" sz="1200" baseline="-25000" dirty="0">
              <a:solidFill>
                <a:schemeClr val="tx1"/>
              </a:solidFill>
            </a:endParaRPr>
          </a:p>
        </p:txBody>
      </p:sp>
      <p:sp>
        <p:nvSpPr>
          <p:cNvPr id="28" name="矩形 27">
            <a:extLst>
              <a:ext uri="{FF2B5EF4-FFF2-40B4-BE49-F238E27FC236}">
                <a16:creationId xmlns:a16="http://schemas.microsoft.com/office/drawing/2014/main" id="{5BF8EBC2-6BBE-2F62-60B5-73E472BC7A7D}"/>
              </a:ext>
            </a:extLst>
          </p:cNvPr>
          <p:cNvSpPr/>
          <p:nvPr/>
        </p:nvSpPr>
        <p:spPr>
          <a:xfrm>
            <a:off x="3223093" y="5247914"/>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j,1</a:t>
            </a:r>
            <a:endParaRPr kumimoji="1" lang="zh-TW" altLang="en-US" sz="1600" baseline="-25000" dirty="0">
              <a:solidFill>
                <a:schemeClr val="tx1"/>
              </a:solidFill>
            </a:endParaRPr>
          </a:p>
        </p:txBody>
      </p:sp>
      <p:sp>
        <p:nvSpPr>
          <p:cNvPr id="29" name="矩形 28">
            <a:extLst>
              <a:ext uri="{FF2B5EF4-FFF2-40B4-BE49-F238E27FC236}">
                <a16:creationId xmlns:a16="http://schemas.microsoft.com/office/drawing/2014/main" id="{D2D290C4-719F-EFD5-73FA-A7789F5E2ABC}"/>
              </a:ext>
            </a:extLst>
          </p:cNvPr>
          <p:cNvSpPr/>
          <p:nvPr/>
        </p:nvSpPr>
        <p:spPr>
          <a:xfrm>
            <a:off x="3964693" y="5247914"/>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j,2</a:t>
            </a:r>
            <a:endParaRPr kumimoji="1" lang="zh-TW" altLang="en-US" sz="1600" baseline="-25000" dirty="0">
              <a:solidFill>
                <a:schemeClr val="tx1"/>
              </a:solidFill>
            </a:endParaRPr>
          </a:p>
        </p:txBody>
      </p:sp>
      <p:sp>
        <p:nvSpPr>
          <p:cNvPr id="30" name="矩形 29">
            <a:extLst>
              <a:ext uri="{FF2B5EF4-FFF2-40B4-BE49-F238E27FC236}">
                <a16:creationId xmlns:a16="http://schemas.microsoft.com/office/drawing/2014/main" id="{2CC0A7F4-EFC6-EB5F-B363-ED14147D4E37}"/>
              </a:ext>
            </a:extLst>
          </p:cNvPr>
          <p:cNvSpPr/>
          <p:nvPr/>
        </p:nvSpPr>
        <p:spPr>
          <a:xfrm>
            <a:off x="4706293" y="5247914"/>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j,3</a:t>
            </a:r>
            <a:endParaRPr kumimoji="1" lang="zh-TW" altLang="en-US" sz="1600" baseline="-25000" dirty="0">
              <a:solidFill>
                <a:schemeClr val="tx1"/>
              </a:solidFill>
            </a:endParaRPr>
          </a:p>
        </p:txBody>
      </p:sp>
      <p:sp>
        <p:nvSpPr>
          <p:cNvPr id="31" name="矩形 30">
            <a:extLst>
              <a:ext uri="{FF2B5EF4-FFF2-40B4-BE49-F238E27FC236}">
                <a16:creationId xmlns:a16="http://schemas.microsoft.com/office/drawing/2014/main" id="{06041D46-D82B-CEE9-A1E4-04AC26EE72A5}"/>
              </a:ext>
            </a:extLst>
          </p:cNvPr>
          <p:cNvSpPr/>
          <p:nvPr/>
        </p:nvSpPr>
        <p:spPr>
          <a:xfrm>
            <a:off x="6929165" y="5247914"/>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k</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5</a:t>
            </a:r>
          </a:p>
        </p:txBody>
      </p:sp>
      <p:sp>
        <p:nvSpPr>
          <p:cNvPr id="32" name="矩形 31">
            <a:extLst>
              <a:ext uri="{FF2B5EF4-FFF2-40B4-BE49-F238E27FC236}">
                <a16:creationId xmlns:a16="http://schemas.microsoft.com/office/drawing/2014/main" id="{A2423EF3-99C9-5BF1-C0AF-25CB6074D2AB}"/>
              </a:ext>
            </a:extLst>
          </p:cNvPr>
          <p:cNvSpPr/>
          <p:nvPr/>
        </p:nvSpPr>
        <p:spPr>
          <a:xfrm>
            <a:off x="6189493" y="5247914"/>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k,0</a:t>
            </a:r>
            <a:endParaRPr kumimoji="1" lang="zh-TW" altLang="en-US" sz="1600" baseline="-25000" dirty="0">
              <a:solidFill>
                <a:schemeClr val="tx1"/>
              </a:solidFill>
            </a:endParaRPr>
          </a:p>
        </p:txBody>
      </p:sp>
      <p:sp>
        <p:nvSpPr>
          <p:cNvPr id="33" name="文字方塊 32">
            <a:extLst>
              <a:ext uri="{FF2B5EF4-FFF2-40B4-BE49-F238E27FC236}">
                <a16:creationId xmlns:a16="http://schemas.microsoft.com/office/drawing/2014/main" id="{EC9CBBD5-3481-809B-0F81-65D83A61E533}"/>
              </a:ext>
            </a:extLst>
          </p:cNvPr>
          <p:cNvSpPr txBox="1"/>
          <p:nvPr/>
        </p:nvSpPr>
        <p:spPr>
          <a:xfrm>
            <a:off x="6204759" y="2018448"/>
            <a:ext cx="4630563" cy="461665"/>
          </a:xfrm>
          <a:prstGeom prst="rect">
            <a:avLst/>
          </a:prstGeom>
          <a:noFill/>
        </p:spPr>
        <p:txBody>
          <a:bodyPr wrap="none" rtlCol="0">
            <a:spAutoFit/>
          </a:bodyPr>
          <a:lstStyle/>
          <a:p>
            <a:r>
              <a:rPr kumimoji="1" lang="en-US" altLang="zh-TW" sz="2400" dirty="0">
                <a:solidFill>
                  <a:srgbClr val="C00000"/>
                </a:solidFill>
              </a:rPr>
              <a:t>Sol: </a:t>
            </a:r>
            <a:r>
              <a:rPr kumimoji="1" lang="en-US" altLang="zh-TW" sz="2400" dirty="0" err="1">
                <a:solidFill>
                  <a:srgbClr val="C00000"/>
                </a:solidFill>
              </a:rPr>
              <a:t>Inode</a:t>
            </a:r>
            <a:r>
              <a:rPr kumimoji="1" lang="en-US" altLang="zh-TW" sz="2400" dirty="0">
                <a:solidFill>
                  <a:srgbClr val="C00000"/>
                </a:solidFill>
              </a:rPr>
              <a:t> Map (</a:t>
            </a:r>
            <a:r>
              <a:rPr kumimoji="1" lang="en-US" altLang="zh-TW" sz="2400" dirty="0" err="1">
                <a:solidFill>
                  <a:srgbClr val="C00000"/>
                </a:solidFill>
              </a:rPr>
              <a:t>Inode</a:t>
            </a:r>
            <a:r>
              <a:rPr kumimoji="1" lang="en-US" altLang="zh-TW" sz="2400" dirty="0">
                <a:solidFill>
                  <a:srgbClr val="C00000"/>
                </a:solidFill>
              </a:rPr>
              <a:t># </a:t>
            </a:r>
            <a:r>
              <a:rPr kumimoji="1" lang="en-US" altLang="zh-TW" sz="2400" dirty="0">
                <a:solidFill>
                  <a:srgbClr val="C00000"/>
                </a:solidFill>
                <a:sym typeface="Wingdings" pitchFamily="2" charset="2"/>
              </a:rPr>
              <a:t> Address)</a:t>
            </a:r>
            <a:endParaRPr kumimoji="1" lang="zh-TW" altLang="en-US" sz="2400" dirty="0">
              <a:solidFill>
                <a:srgbClr val="C00000"/>
              </a:solidFill>
            </a:endParaRPr>
          </a:p>
        </p:txBody>
      </p:sp>
      <p:sp>
        <p:nvSpPr>
          <p:cNvPr id="34" name="矩形 33">
            <a:extLst>
              <a:ext uri="{FF2B5EF4-FFF2-40B4-BE49-F238E27FC236}">
                <a16:creationId xmlns:a16="http://schemas.microsoft.com/office/drawing/2014/main" id="{766CB4A8-E875-3A07-407A-EADF79F8092A}"/>
              </a:ext>
            </a:extLst>
          </p:cNvPr>
          <p:cNvSpPr/>
          <p:nvPr/>
        </p:nvSpPr>
        <p:spPr>
          <a:xfrm>
            <a:off x="6189971" y="5252983"/>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Imap</a:t>
            </a:r>
            <a:r>
              <a:rPr kumimoji="1" lang="en-US" altLang="zh-TW" sz="1600" baseline="-25000" dirty="0">
                <a:solidFill>
                  <a:schemeClr val="tx1"/>
                </a:solidFill>
              </a:rPr>
              <a:t>0-j</a:t>
            </a:r>
          </a:p>
          <a:p>
            <a:pPr algn="ctr"/>
            <a:r>
              <a:rPr kumimoji="1" lang="en-US" altLang="zh-TW" sz="1200" dirty="0">
                <a:solidFill>
                  <a:schemeClr val="tx1"/>
                </a:solidFill>
              </a:rPr>
              <a:t>I[0]:A</a:t>
            </a:r>
            <a:r>
              <a:rPr kumimoji="1" lang="en-US" altLang="zh-TW" sz="1200" baseline="-25000" dirty="0">
                <a:solidFill>
                  <a:schemeClr val="tx1"/>
                </a:solidFill>
              </a:rPr>
              <a:t>x</a:t>
            </a:r>
          </a:p>
          <a:p>
            <a:pPr algn="ctr"/>
            <a:r>
              <a:rPr kumimoji="1" lang="en-US" altLang="zh-TW" sz="1200" dirty="0">
                <a:solidFill>
                  <a:schemeClr val="tx1"/>
                </a:solidFill>
              </a:rPr>
              <a:t>I[1]:A</a:t>
            </a:r>
            <a:r>
              <a:rPr kumimoji="1" lang="en-US" altLang="zh-TW" sz="1200" baseline="-25000" dirty="0">
                <a:solidFill>
                  <a:schemeClr val="tx1"/>
                </a:solidFill>
              </a:rPr>
              <a:t>y</a:t>
            </a:r>
          </a:p>
          <a:p>
            <a:pPr algn="ctr"/>
            <a:r>
              <a:rPr kumimoji="1" lang="en-US" altLang="zh-TW" sz="1200" dirty="0">
                <a:solidFill>
                  <a:schemeClr val="tx1"/>
                </a:solidFill>
              </a:rPr>
              <a:t>…</a:t>
            </a:r>
            <a:endParaRPr kumimoji="1" lang="en-US" altLang="zh-TW" sz="1200" baseline="-25000" dirty="0">
              <a:solidFill>
                <a:schemeClr val="tx1"/>
              </a:solidFill>
            </a:endParaRPr>
          </a:p>
          <a:p>
            <a:pPr algn="ctr"/>
            <a:r>
              <a:rPr kumimoji="1" lang="en-US" altLang="zh-TW" sz="1200" dirty="0">
                <a:solidFill>
                  <a:schemeClr val="tx1"/>
                </a:solidFill>
              </a:rPr>
              <a:t>I[j]:A</a:t>
            </a:r>
            <a:r>
              <a:rPr kumimoji="1" lang="en-US" altLang="zh-TW" sz="1200" baseline="-25000" dirty="0">
                <a:solidFill>
                  <a:schemeClr val="tx1"/>
                </a:solidFill>
              </a:rPr>
              <a:t>4</a:t>
            </a:r>
          </a:p>
          <a:p>
            <a:pPr algn="ctr"/>
            <a:endParaRPr kumimoji="1" lang="en-US" altLang="zh-TW" sz="1200" baseline="-25000" dirty="0">
              <a:solidFill>
                <a:schemeClr val="tx1"/>
              </a:solidFill>
            </a:endParaRPr>
          </a:p>
        </p:txBody>
      </p:sp>
      <p:grpSp>
        <p:nvGrpSpPr>
          <p:cNvPr id="66" name="群組 65">
            <a:extLst>
              <a:ext uri="{FF2B5EF4-FFF2-40B4-BE49-F238E27FC236}">
                <a16:creationId xmlns:a16="http://schemas.microsoft.com/office/drawing/2014/main" id="{066560CB-AA7A-588A-5A9B-170877904AEF}"/>
              </a:ext>
            </a:extLst>
          </p:cNvPr>
          <p:cNvGrpSpPr/>
          <p:nvPr/>
        </p:nvGrpSpPr>
        <p:grpSpPr>
          <a:xfrm>
            <a:off x="6634139" y="3222303"/>
            <a:ext cx="4156872" cy="1024549"/>
            <a:chOff x="6634139" y="3222303"/>
            <a:chExt cx="4156872" cy="1024549"/>
          </a:xfrm>
        </p:grpSpPr>
        <p:sp>
          <p:nvSpPr>
            <p:cNvPr id="60" name="矩形 59">
              <a:extLst>
                <a:ext uri="{FF2B5EF4-FFF2-40B4-BE49-F238E27FC236}">
                  <a16:creationId xmlns:a16="http://schemas.microsoft.com/office/drawing/2014/main" id="{B118E73F-0034-A387-224E-44A7D6DC28AA}"/>
                </a:ext>
              </a:extLst>
            </p:cNvPr>
            <p:cNvSpPr/>
            <p:nvPr/>
          </p:nvSpPr>
          <p:spPr>
            <a:xfrm>
              <a:off x="6634139" y="322230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Inode</a:t>
              </a:r>
              <a:r>
                <a:rPr kumimoji="1" lang="en-US" altLang="zh-TW" sz="1600" baseline="-25000" dirty="0">
                  <a:solidFill>
                    <a:schemeClr val="tx1"/>
                  </a:solidFill>
                </a:rPr>
                <a:t>1</a:t>
              </a:r>
            </a:p>
          </p:txBody>
        </p:sp>
        <p:sp>
          <p:nvSpPr>
            <p:cNvPr id="61" name="矩形 60">
              <a:extLst>
                <a:ext uri="{FF2B5EF4-FFF2-40B4-BE49-F238E27FC236}">
                  <a16:creationId xmlns:a16="http://schemas.microsoft.com/office/drawing/2014/main" id="{8B5CAA74-1239-0C81-8C49-BCCBB3853AAF}"/>
                </a:ext>
              </a:extLst>
            </p:cNvPr>
            <p:cNvSpPr/>
            <p:nvPr/>
          </p:nvSpPr>
          <p:spPr>
            <a:xfrm>
              <a:off x="7375739" y="322230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Inode</a:t>
              </a:r>
              <a:r>
                <a:rPr kumimoji="1" lang="en-US" altLang="zh-TW" sz="1600" baseline="-25000" dirty="0">
                  <a:solidFill>
                    <a:schemeClr val="tx1"/>
                  </a:solidFill>
                </a:rPr>
                <a:t>2</a:t>
              </a:r>
            </a:p>
          </p:txBody>
        </p:sp>
        <p:sp>
          <p:nvSpPr>
            <p:cNvPr id="62" name="矩形 61">
              <a:extLst>
                <a:ext uri="{FF2B5EF4-FFF2-40B4-BE49-F238E27FC236}">
                  <a16:creationId xmlns:a16="http://schemas.microsoft.com/office/drawing/2014/main" id="{93A9DB27-772F-AB53-7C63-AB58CBE5AFCF}"/>
                </a:ext>
              </a:extLst>
            </p:cNvPr>
            <p:cNvSpPr/>
            <p:nvPr/>
          </p:nvSpPr>
          <p:spPr>
            <a:xfrm>
              <a:off x="8117339" y="322230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Inode</a:t>
              </a:r>
              <a:r>
                <a:rPr kumimoji="1" lang="en-US" altLang="zh-TW" sz="1600" baseline="-25000" dirty="0">
                  <a:solidFill>
                    <a:schemeClr val="tx1"/>
                  </a:solidFill>
                </a:rPr>
                <a:t>3</a:t>
              </a:r>
            </a:p>
          </p:txBody>
        </p:sp>
        <p:sp>
          <p:nvSpPr>
            <p:cNvPr id="63" name="矩形 62">
              <a:extLst>
                <a:ext uri="{FF2B5EF4-FFF2-40B4-BE49-F238E27FC236}">
                  <a16:creationId xmlns:a16="http://schemas.microsoft.com/office/drawing/2014/main" id="{95227B5E-5277-9D95-A732-3436F86A7900}"/>
                </a:ext>
              </a:extLst>
            </p:cNvPr>
            <p:cNvSpPr/>
            <p:nvPr/>
          </p:nvSpPr>
          <p:spPr>
            <a:xfrm>
              <a:off x="10049411" y="322230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N</a:t>
              </a:r>
              <a:endParaRPr kumimoji="1" lang="en-US" altLang="zh-TW" sz="1600" baseline="-25000" dirty="0">
                <a:solidFill>
                  <a:schemeClr val="tx1"/>
                </a:solidFill>
              </a:endParaRPr>
            </a:p>
          </p:txBody>
        </p:sp>
        <p:sp>
          <p:nvSpPr>
            <p:cNvPr id="64" name="矩形 63">
              <a:extLst>
                <a:ext uri="{FF2B5EF4-FFF2-40B4-BE49-F238E27FC236}">
                  <a16:creationId xmlns:a16="http://schemas.microsoft.com/office/drawing/2014/main" id="{1C23F0C5-583B-5F5E-AC3C-6B7E6074F18C}"/>
                </a:ext>
              </a:extLst>
            </p:cNvPr>
            <p:cNvSpPr/>
            <p:nvPr/>
          </p:nvSpPr>
          <p:spPr>
            <a:xfrm>
              <a:off x="9303177" y="322230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Inode</a:t>
              </a:r>
              <a:r>
                <a:rPr kumimoji="1" lang="en-US" altLang="zh-TW" sz="1600" baseline="-25000" dirty="0">
                  <a:solidFill>
                    <a:schemeClr val="tx1"/>
                  </a:solidFill>
                </a:rPr>
                <a:t>N-1</a:t>
              </a:r>
            </a:p>
          </p:txBody>
        </p:sp>
        <p:sp>
          <p:nvSpPr>
            <p:cNvPr id="65" name="文字方塊 64">
              <a:extLst>
                <a:ext uri="{FF2B5EF4-FFF2-40B4-BE49-F238E27FC236}">
                  <a16:creationId xmlns:a16="http://schemas.microsoft.com/office/drawing/2014/main" id="{316F1BA5-EEF6-D7B2-8707-A8E8529F0601}"/>
                </a:ext>
              </a:extLst>
            </p:cNvPr>
            <p:cNvSpPr txBox="1"/>
            <p:nvPr/>
          </p:nvSpPr>
          <p:spPr>
            <a:xfrm>
              <a:off x="8905107" y="3525105"/>
              <a:ext cx="343364" cy="369332"/>
            </a:xfrm>
            <a:prstGeom prst="rect">
              <a:avLst/>
            </a:prstGeom>
            <a:noFill/>
          </p:spPr>
          <p:txBody>
            <a:bodyPr wrap="none" rtlCol="0">
              <a:spAutoFit/>
            </a:bodyPr>
            <a:lstStyle/>
            <a:p>
              <a:r>
                <a:rPr kumimoji="1" lang="en-US" altLang="zh-TW" dirty="0"/>
                <a:t>…</a:t>
              </a:r>
              <a:endParaRPr kumimoji="1" lang="zh-TW" altLang="en-US" dirty="0"/>
            </a:p>
          </p:txBody>
        </p:sp>
      </p:grpSp>
      <p:grpSp>
        <p:nvGrpSpPr>
          <p:cNvPr id="73" name="群組 72">
            <a:extLst>
              <a:ext uri="{FF2B5EF4-FFF2-40B4-BE49-F238E27FC236}">
                <a16:creationId xmlns:a16="http://schemas.microsoft.com/office/drawing/2014/main" id="{AC3BE2FD-75E1-D89F-C694-6BB722753092}"/>
              </a:ext>
            </a:extLst>
          </p:cNvPr>
          <p:cNvGrpSpPr/>
          <p:nvPr/>
        </p:nvGrpSpPr>
        <p:grpSpPr>
          <a:xfrm>
            <a:off x="5513275" y="4692257"/>
            <a:ext cx="2094035" cy="555657"/>
            <a:chOff x="5513275" y="4692257"/>
            <a:chExt cx="2094035" cy="555657"/>
          </a:xfrm>
        </p:grpSpPr>
        <p:sp>
          <p:nvSpPr>
            <p:cNvPr id="67" name="文字方塊 66">
              <a:extLst>
                <a:ext uri="{FF2B5EF4-FFF2-40B4-BE49-F238E27FC236}">
                  <a16:creationId xmlns:a16="http://schemas.microsoft.com/office/drawing/2014/main" id="{83C1296D-159B-C388-96C6-AEFDD92AFE9C}"/>
                </a:ext>
              </a:extLst>
            </p:cNvPr>
            <p:cNvSpPr txBox="1"/>
            <p:nvPr/>
          </p:nvSpPr>
          <p:spPr>
            <a:xfrm>
              <a:off x="5513275" y="4692257"/>
              <a:ext cx="2094035" cy="369332"/>
            </a:xfrm>
            <a:prstGeom prst="rect">
              <a:avLst/>
            </a:prstGeom>
            <a:noFill/>
          </p:spPr>
          <p:txBody>
            <a:bodyPr wrap="none" rtlCol="0">
              <a:spAutoFit/>
            </a:bodyPr>
            <a:lstStyle/>
            <a:p>
              <a:r>
                <a:rPr kumimoji="1" lang="en-US" altLang="zh-TW" dirty="0" err="1">
                  <a:solidFill>
                    <a:srgbClr val="C00000"/>
                  </a:solidFill>
                </a:rPr>
                <a:t>Inodes</a:t>
              </a:r>
              <a:r>
                <a:rPr kumimoji="1" lang="en-US" altLang="zh-TW" dirty="0">
                  <a:solidFill>
                    <a:srgbClr val="C00000"/>
                  </a:solidFill>
                </a:rPr>
                <a:t> are scattered</a:t>
              </a:r>
              <a:endParaRPr kumimoji="1" lang="zh-TW" altLang="en-US" dirty="0">
                <a:solidFill>
                  <a:srgbClr val="C00000"/>
                </a:solidFill>
              </a:endParaRPr>
            </a:p>
          </p:txBody>
        </p:sp>
        <p:cxnSp>
          <p:nvCxnSpPr>
            <p:cNvPr id="69" name="直線箭頭接點 68">
              <a:extLst>
                <a:ext uri="{FF2B5EF4-FFF2-40B4-BE49-F238E27FC236}">
                  <a16:creationId xmlns:a16="http://schemas.microsoft.com/office/drawing/2014/main" id="{2AE99528-A03C-C9EE-B5D3-B8AE8F7CE71C}"/>
                </a:ext>
              </a:extLst>
            </p:cNvPr>
            <p:cNvCxnSpPr>
              <a:cxnSpLocks/>
              <a:endCxn id="27" idx="0"/>
            </p:cNvCxnSpPr>
            <p:nvPr/>
          </p:nvCxnSpPr>
          <p:spPr>
            <a:xfrm flipH="1">
              <a:off x="5820621" y="5029442"/>
              <a:ext cx="285528" cy="21847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箭頭接點 70">
              <a:extLst>
                <a:ext uri="{FF2B5EF4-FFF2-40B4-BE49-F238E27FC236}">
                  <a16:creationId xmlns:a16="http://schemas.microsoft.com/office/drawing/2014/main" id="{BF6D7169-200B-777D-3865-8BDDEBE5E409}"/>
                </a:ext>
              </a:extLst>
            </p:cNvPr>
            <p:cNvCxnSpPr>
              <a:cxnSpLocks/>
              <a:endCxn id="31" idx="0"/>
            </p:cNvCxnSpPr>
            <p:nvPr/>
          </p:nvCxnSpPr>
          <p:spPr>
            <a:xfrm>
              <a:off x="7029293" y="4996743"/>
              <a:ext cx="270672" cy="25117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4" name="矩形 73">
            <a:extLst>
              <a:ext uri="{FF2B5EF4-FFF2-40B4-BE49-F238E27FC236}">
                <a16:creationId xmlns:a16="http://schemas.microsoft.com/office/drawing/2014/main" id="{72999B46-330E-5057-EC1A-1F2E59555F36}"/>
              </a:ext>
            </a:extLst>
          </p:cNvPr>
          <p:cNvSpPr/>
          <p:nvPr/>
        </p:nvSpPr>
        <p:spPr>
          <a:xfrm>
            <a:off x="8413014" y="5246077"/>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Imap</a:t>
            </a:r>
            <a:r>
              <a:rPr kumimoji="1" lang="en-US" altLang="zh-TW" sz="1600" baseline="-25000" dirty="0" err="1">
                <a:solidFill>
                  <a:schemeClr val="tx1"/>
                </a:solidFill>
              </a:rPr>
              <a:t>k</a:t>
            </a:r>
            <a:r>
              <a:rPr kumimoji="1" lang="en-US" altLang="zh-TW" sz="1600" baseline="-25000" dirty="0">
                <a:solidFill>
                  <a:schemeClr val="tx1"/>
                </a:solidFill>
              </a:rPr>
              <a:t>-n</a:t>
            </a:r>
          </a:p>
          <a:p>
            <a:pPr algn="ctr"/>
            <a:r>
              <a:rPr kumimoji="1" lang="en-US" altLang="zh-TW" sz="1200" dirty="0">
                <a:solidFill>
                  <a:schemeClr val="tx1"/>
                </a:solidFill>
              </a:rPr>
              <a:t>I[k]:A</a:t>
            </a:r>
            <a:r>
              <a:rPr kumimoji="1" lang="en-US" altLang="zh-TW" sz="1200" baseline="-25000" dirty="0">
                <a:solidFill>
                  <a:schemeClr val="tx1"/>
                </a:solidFill>
              </a:rPr>
              <a:t>7</a:t>
            </a:r>
          </a:p>
          <a:p>
            <a:pPr algn="ctr"/>
            <a:r>
              <a:rPr kumimoji="1" lang="en-US" altLang="zh-TW" sz="1200" dirty="0">
                <a:solidFill>
                  <a:schemeClr val="tx1"/>
                </a:solidFill>
              </a:rPr>
              <a:t>…</a:t>
            </a:r>
          </a:p>
          <a:p>
            <a:pPr algn="ctr"/>
            <a:r>
              <a:rPr kumimoji="1" lang="en-US" altLang="zh-TW" sz="1200" dirty="0">
                <a:solidFill>
                  <a:schemeClr val="tx1"/>
                </a:solidFill>
              </a:rPr>
              <a:t>I[n]:A</a:t>
            </a:r>
            <a:r>
              <a:rPr kumimoji="1" lang="en-US" altLang="zh-TW" sz="1200" baseline="-25000" dirty="0">
                <a:solidFill>
                  <a:schemeClr val="tx1"/>
                </a:solidFill>
              </a:rPr>
              <a:t>z</a:t>
            </a:r>
          </a:p>
          <a:p>
            <a:pPr algn="ctr"/>
            <a:endParaRPr kumimoji="1" lang="en-US" altLang="zh-TW" sz="1200" baseline="-25000" dirty="0">
              <a:solidFill>
                <a:schemeClr val="tx1"/>
              </a:solidFill>
            </a:endParaRPr>
          </a:p>
        </p:txBody>
      </p:sp>
      <p:grpSp>
        <p:nvGrpSpPr>
          <p:cNvPr id="80" name="群組 79">
            <a:extLst>
              <a:ext uri="{FF2B5EF4-FFF2-40B4-BE49-F238E27FC236}">
                <a16:creationId xmlns:a16="http://schemas.microsoft.com/office/drawing/2014/main" id="{9B505345-1FCA-595C-66C8-50AEF8D5D5CC}"/>
              </a:ext>
            </a:extLst>
          </p:cNvPr>
          <p:cNvGrpSpPr/>
          <p:nvPr/>
        </p:nvGrpSpPr>
        <p:grpSpPr>
          <a:xfrm>
            <a:off x="2310570" y="6180720"/>
            <a:ext cx="4862618" cy="369332"/>
            <a:chOff x="2310570" y="6180720"/>
            <a:chExt cx="4862618" cy="369332"/>
          </a:xfrm>
        </p:grpSpPr>
        <p:sp>
          <p:nvSpPr>
            <p:cNvPr id="39" name="文字方塊 38">
              <a:extLst>
                <a:ext uri="{FF2B5EF4-FFF2-40B4-BE49-F238E27FC236}">
                  <a16:creationId xmlns:a16="http://schemas.microsoft.com/office/drawing/2014/main" id="{76616DD9-C21A-FC78-A086-533F089B7D14}"/>
                </a:ext>
              </a:extLst>
            </p:cNvPr>
            <p:cNvSpPr txBox="1"/>
            <p:nvPr/>
          </p:nvSpPr>
          <p:spPr>
            <a:xfrm>
              <a:off x="2310570" y="6180720"/>
              <a:ext cx="396262" cy="369332"/>
            </a:xfrm>
            <a:prstGeom prst="rect">
              <a:avLst/>
            </a:prstGeom>
            <a:noFill/>
          </p:spPr>
          <p:txBody>
            <a:bodyPr wrap="none" rtlCol="0">
              <a:spAutoFit/>
            </a:bodyPr>
            <a:lstStyle/>
            <a:p>
              <a:r>
                <a:rPr kumimoji="1" lang="en-US" altLang="zh-TW" dirty="0"/>
                <a:t>A</a:t>
              </a:r>
              <a:r>
                <a:rPr kumimoji="1" lang="en-US" altLang="zh-TW" baseline="-25000" dirty="0"/>
                <a:t>0</a:t>
              </a:r>
              <a:endParaRPr kumimoji="1" lang="zh-TW" altLang="en-US" baseline="-25000" dirty="0"/>
            </a:p>
          </p:txBody>
        </p:sp>
        <p:sp>
          <p:nvSpPr>
            <p:cNvPr id="35" name="文字方塊 34">
              <a:extLst>
                <a:ext uri="{FF2B5EF4-FFF2-40B4-BE49-F238E27FC236}">
                  <a16:creationId xmlns:a16="http://schemas.microsoft.com/office/drawing/2014/main" id="{DA88810A-84B7-31F5-BC1A-6E50C1ECDB6C}"/>
                </a:ext>
              </a:extLst>
            </p:cNvPr>
            <p:cNvSpPr txBox="1"/>
            <p:nvPr/>
          </p:nvSpPr>
          <p:spPr>
            <a:xfrm>
              <a:off x="3057101" y="6180720"/>
              <a:ext cx="396262" cy="369332"/>
            </a:xfrm>
            <a:prstGeom prst="rect">
              <a:avLst/>
            </a:prstGeom>
            <a:noFill/>
          </p:spPr>
          <p:txBody>
            <a:bodyPr wrap="none" rtlCol="0">
              <a:spAutoFit/>
            </a:bodyPr>
            <a:lstStyle/>
            <a:p>
              <a:r>
                <a:rPr kumimoji="1" lang="en-US" altLang="zh-TW" dirty="0"/>
                <a:t>A</a:t>
              </a:r>
              <a:r>
                <a:rPr kumimoji="1" lang="en-US" altLang="zh-TW" baseline="-25000" dirty="0"/>
                <a:t>1</a:t>
              </a:r>
              <a:endParaRPr kumimoji="1" lang="zh-TW" altLang="en-US" baseline="-25000" dirty="0"/>
            </a:p>
          </p:txBody>
        </p:sp>
        <p:sp>
          <p:nvSpPr>
            <p:cNvPr id="53" name="文字方塊 52">
              <a:extLst>
                <a:ext uri="{FF2B5EF4-FFF2-40B4-BE49-F238E27FC236}">
                  <a16:creationId xmlns:a16="http://schemas.microsoft.com/office/drawing/2014/main" id="{33E0F520-72CA-6D91-8159-F3F0F144D3E2}"/>
                </a:ext>
              </a:extLst>
            </p:cNvPr>
            <p:cNvSpPr txBox="1"/>
            <p:nvPr/>
          </p:nvSpPr>
          <p:spPr>
            <a:xfrm>
              <a:off x="3810320" y="6180720"/>
              <a:ext cx="396262" cy="369332"/>
            </a:xfrm>
            <a:prstGeom prst="rect">
              <a:avLst/>
            </a:prstGeom>
            <a:noFill/>
          </p:spPr>
          <p:txBody>
            <a:bodyPr wrap="none" rtlCol="0">
              <a:spAutoFit/>
            </a:bodyPr>
            <a:lstStyle/>
            <a:p>
              <a:r>
                <a:rPr kumimoji="1" lang="en-US" altLang="zh-TW" dirty="0"/>
                <a:t>A</a:t>
              </a:r>
              <a:r>
                <a:rPr kumimoji="1" lang="en-US" altLang="zh-TW" baseline="-25000" dirty="0"/>
                <a:t>2</a:t>
              </a:r>
              <a:endParaRPr kumimoji="1" lang="zh-TW" altLang="en-US" baseline="-25000" dirty="0"/>
            </a:p>
          </p:txBody>
        </p:sp>
        <p:sp>
          <p:nvSpPr>
            <p:cNvPr id="54" name="文字方塊 53">
              <a:extLst>
                <a:ext uri="{FF2B5EF4-FFF2-40B4-BE49-F238E27FC236}">
                  <a16:creationId xmlns:a16="http://schemas.microsoft.com/office/drawing/2014/main" id="{DF7E3568-9A98-068A-3B33-FF7AED2B750C}"/>
                </a:ext>
              </a:extLst>
            </p:cNvPr>
            <p:cNvSpPr txBox="1"/>
            <p:nvPr/>
          </p:nvSpPr>
          <p:spPr>
            <a:xfrm>
              <a:off x="4556851" y="6180720"/>
              <a:ext cx="396262" cy="369332"/>
            </a:xfrm>
            <a:prstGeom prst="rect">
              <a:avLst/>
            </a:prstGeom>
            <a:noFill/>
          </p:spPr>
          <p:txBody>
            <a:bodyPr wrap="none" rtlCol="0">
              <a:spAutoFit/>
            </a:bodyPr>
            <a:lstStyle/>
            <a:p>
              <a:r>
                <a:rPr kumimoji="1" lang="en-US" altLang="zh-TW" dirty="0"/>
                <a:t>A</a:t>
              </a:r>
              <a:r>
                <a:rPr kumimoji="1" lang="en-US" altLang="zh-TW" baseline="-25000" dirty="0"/>
                <a:t>3</a:t>
              </a:r>
              <a:endParaRPr kumimoji="1" lang="zh-TW" altLang="en-US" baseline="-25000" dirty="0"/>
            </a:p>
          </p:txBody>
        </p:sp>
        <p:sp>
          <p:nvSpPr>
            <p:cNvPr id="55" name="文字方塊 54">
              <a:extLst>
                <a:ext uri="{FF2B5EF4-FFF2-40B4-BE49-F238E27FC236}">
                  <a16:creationId xmlns:a16="http://schemas.microsoft.com/office/drawing/2014/main" id="{C4E957CE-9337-2F7E-C8C2-53000556C712}"/>
                </a:ext>
              </a:extLst>
            </p:cNvPr>
            <p:cNvSpPr txBox="1"/>
            <p:nvPr/>
          </p:nvSpPr>
          <p:spPr>
            <a:xfrm>
              <a:off x="5294595" y="6180720"/>
              <a:ext cx="396262" cy="369332"/>
            </a:xfrm>
            <a:prstGeom prst="rect">
              <a:avLst/>
            </a:prstGeom>
            <a:noFill/>
          </p:spPr>
          <p:txBody>
            <a:bodyPr wrap="none" rtlCol="0">
              <a:spAutoFit/>
            </a:bodyPr>
            <a:lstStyle/>
            <a:p>
              <a:r>
                <a:rPr kumimoji="1" lang="en-US" altLang="zh-TW" dirty="0"/>
                <a:t>A</a:t>
              </a:r>
              <a:r>
                <a:rPr kumimoji="1" lang="en-US" altLang="zh-TW" baseline="-25000" dirty="0"/>
                <a:t>4</a:t>
              </a:r>
              <a:endParaRPr kumimoji="1" lang="zh-TW" altLang="en-US" baseline="-25000" dirty="0"/>
            </a:p>
          </p:txBody>
        </p:sp>
        <p:sp>
          <p:nvSpPr>
            <p:cNvPr id="77" name="文字方塊 76">
              <a:extLst>
                <a:ext uri="{FF2B5EF4-FFF2-40B4-BE49-F238E27FC236}">
                  <a16:creationId xmlns:a16="http://schemas.microsoft.com/office/drawing/2014/main" id="{7FDCEC15-491C-672F-240D-4E544B792919}"/>
                </a:ext>
              </a:extLst>
            </p:cNvPr>
            <p:cNvSpPr txBox="1"/>
            <p:nvPr/>
          </p:nvSpPr>
          <p:spPr>
            <a:xfrm>
              <a:off x="6039182" y="6180720"/>
              <a:ext cx="396262" cy="369332"/>
            </a:xfrm>
            <a:prstGeom prst="rect">
              <a:avLst/>
            </a:prstGeom>
            <a:noFill/>
          </p:spPr>
          <p:txBody>
            <a:bodyPr wrap="none" rtlCol="0">
              <a:spAutoFit/>
            </a:bodyPr>
            <a:lstStyle/>
            <a:p>
              <a:r>
                <a:rPr kumimoji="1" lang="en-US" altLang="zh-TW" dirty="0"/>
                <a:t>A</a:t>
              </a:r>
              <a:r>
                <a:rPr kumimoji="1" lang="en-US" altLang="zh-TW" baseline="-25000" dirty="0"/>
                <a:t>5</a:t>
              </a:r>
              <a:endParaRPr kumimoji="1" lang="zh-TW" altLang="en-US" baseline="-25000" dirty="0"/>
            </a:p>
          </p:txBody>
        </p:sp>
        <p:sp>
          <p:nvSpPr>
            <p:cNvPr id="78" name="文字方塊 77">
              <a:extLst>
                <a:ext uri="{FF2B5EF4-FFF2-40B4-BE49-F238E27FC236}">
                  <a16:creationId xmlns:a16="http://schemas.microsoft.com/office/drawing/2014/main" id="{69BB3BBB-B545-6D29-C40E-F9A9DBEB0712}"/>
                </a:ext>
              </a:extLst>
            </p:cNvPr>
            <p:cNvSpPr txBox="1"/>
            <p:nvPr/>
          </p:nvSpPr>
          <p:spPr>
            <a:xfrm>
              <a:off x="6776926" y="6180720"/>
              <a:ext cx="396262" cy="369332"/>
            </a:xfrm>
            <a:prstGeom prst="rect">
              <a:avLst/>
            </a:prstGeom>
            <a:noFill/>
          </p:spPr>
          <p:txBody>
            <a:bodyPr wrap="none" rtlCol="0">
              <a:spAutoFit/>
            </a:bodyPr>
            <a:lstStyle/>
            <a:p>
              <a:r>
                <a:rPr kumimoji="1" lang="en-US" altLang="zh-TW" dirty="0"/>
                <a:t>A</a:t>
              </a:r>
              <a:r>
                <a:rPr kumimoji="1" lang="en-US" altLang="zh-TW" baseline="-25000" dirty="0"/>
                <a:t>6</a:t>
              </a:r>
              <a:endParaRPr kumimoji="1" lang="zh-TW" altLang="en-US" baseline="-25000" dirty="0"/>
            </a:p>
          </p:txBody>
        </p:sp>
      </p:grpSp>
      <p:grpSp>
        <p:nvGrpSpPr>
          <p:cNvPr id="84" name="群組 83">
            <a:extLst>
              <a:ext uri="{FF2B5EF4-FFF2-40B4-BE49-F238E27FC236}">
                <a16:creationId xmlns:a16="http://schemas.microsoft.com/office/drawing/2014/main" id="{85CAD7BA-0AF8-44D4-5214-3B807748BC7A}"/>
              </a:ext>
            </a:extLst>
          </p:cNvPr>
          <p:cNvGrpSpPr/>
          <p:nvPr/>
        </p:nvGrpSpPr>
        <p:grpSpPr>
          <a:xfrm>
            <a:off x="7522626" y="6180720"/>
            <a:ext cx="1141476" cy="369332"/>
            <a:chOff x="7522626" y="6180720"/>
            <a:chExt cx="1141476" cy="369332"/>
          </a:xfrm>
        </p:grpSpPr>
        <p:sp>
          <p:nvSpPr>
            <p:cNvPr id="82" name="文字方塊 81">
              <a:extLst>
                <a:ext uri="{FF2B5EF4-FFF2-40B4-BE49-F238E27FC236}">
                  <a16:creationId xmlns:a16="http://schemas.microsoft.com/office/drawing/2014/main" id="{00C4068B-B226-3FC0-D4F8-FA571083B7E5}"/>
                </a:ext>
              </a:extLst>
            </p:cNvPr>
            <p:cNvSpPr txBox="1"/>
            <p:nvPr/>
          </p:nvSpPr>
          <p:spPr>
            <a:xfrm>
              <a:off x="7522626" y="6180720"/>
              <a:ext cx="396262" cy="369332"/>
            </a:xfrm>
            <a:prstGeom prst="rect">
              <a:avLst/>
            </a:prstGeom>
            <a:noFill/>
          </p:spPr>
          <p:txBody>
            <a:bodyPr wrap="none" rtlCol="0">
              <a:spAutoFit/>
            </a:bodyPr>
            <a:lstStyle/>
            <a:p>
              <a:r>
                <a:rPr kumimoji="1" lang="en-US" altLang="zh-TW" dirty="0"/>
                <a:t>A</a:t>
              </a:r>
              <a:r>
                <a:rPr kumimoji="1" lang="en-US" altLang="zh-TW" baseline="-25000" dirty="0"/>
                <a:t>7</a:t>
              </a:r>
              <a:endParaRPr kumimoji="1" lang="zh-TW" altLang="en-US" baseline="-25000" dirty="0"/>
            </a:p>
          </p:txBody>
        </p:sp>
        <p:sp>
          <p:nvSpPr>
            <p:cNvPr id="83" name="文字方塊 82">
              <a:extLst>
                <a:ext uri="{FF2B5EF4-FFF2-40B4-BE49-F238E27FC236}">
                  <a16:creationId xmlns:a16="http://schemas.microsoft.com/office/drawing/2014/main" id="{843B8983-26EB-18DB-AD99-C7D3D04BCC33}"/>
                </a:ext>
              </a:extLst>
            </p:cNvPr>
            <p:cNvSpPr txBox="1"/>
            <p:nvPr/>
          </p:nvSpPr>
          <p:spPr>
            <a:xfrm>
              <a:off x="8267840" y="6180720"/>
              <a:ext cx="396262" cy="369332"/>
            </a:xfrm>
            <a:prstGeom prst="rect">
              <a:avLst/>
            </a:prstGeom>
            <a:noFill/>
          </p:spPr>
          <p:txBody>
            <a:bodyPr wrap="none" rtlCol="0">
              <a:spAutoFit/>
            </a:bodyPr>
            <a:lstStyle/>
            <a:p>
              <a:r>
                <a:rPr kumimoji="1" lang="en-US" altLang="zh-TW" dirty="0"/>
                <a:t>A</a:t>
              </a:r>
              <a:r>
                <a:rPr kumimoji="1" lang="en-US" altLang="zh-TW" baseline="-25000" dirty="0"/>
                <a:t>8</a:t>
              </a:r>
              <a:endParaRPr kumimoji="1" lang="zh-TW" altLang="en-US" baseline="-25000" dirty="0"/>
            </a:p>
          </p:txBody>
        </p:sp>
      </p:grpSp>
      <p:sp>
        <p:nvSpPr>
          <p:cNvPr id="85" name="迴轉箭號 84">
            <a:extLst>
              <a:ext uri="{FF2B5EF4-FFF2-40B4-BE49-F238E27FC236}">
                <a16:creationId xmlns:a16="http://schemas.microsoft.com/office/drawing/2014/main" id="{DEA81042-B46F-E172-676E-15BE9D76C2DC}"/>
              </a:ext>
            </a:extLst>
          </p:cNvPr>
          <p:cNvSpPr/>
          <p:nvPr/>
        </p:nvSpPr>
        <p:spPr>
          <a:xfrm flipH="1">
            <a:off x="5349712" y="4866014"/>
            <a:ext cx="1275204" cy="386509"/>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86" name="迴轉箭號 85">
            <a:extLst>
              <a:ext uri="{FF2B5EF4-FFF2-40B4-BE49-F238E27FC236}">
                <a16:creationId xmlns:a16="http://schemas.microsoft.com/office/drawing/2014/main" id="{932026DF-0695-6A36-018C-2AC230EADA67}"/>
              </a:ext>
            </a:extLst>
          </p:cNvPr>
          <p:cNvSpPr/>
          <p:nvPr/>
        </p:nvSpPr>
        <p:spPr>
          <a:xfrm flipH="1">
            <a:off x="7578013" y="4864295"/>
            <a:ext cx="1275204" cy="386509"/>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Tree>
    <p:extLst>
      <p:ext uri="{BB962C8B-B14F-4D97-AF65-F5344CB8AC3E}">
        <p14:creationId xmlns:p14="http://schemas.microsoft.com/office/powerpoint/2010/main" val="104693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wipe(left)">
                                      <p:cBhvr>
                                        <p:cTn id="34" dur="500"/>
                                        <p:tgtEl>
                                          <p:spTgt spid="25"/>
                                        </p:tgtEl>
                                      </p:cBhvr>
                                    </p:animEffect>
                                  </p:childTnLst>
                                </p:cTn>
                              </p:par>
                              <p:par>
                                <p:cTn id="35" presetID="22" presetClass="entr" presetSubtype="8" fill="hold" nodeType="with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wipe(left)">
                                      <p:cBhvr>
                                        <p:cTn id="37" dur="500"/>
                                        <p:tgtEl>
                                          <p:spTgt spid="6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par>
                                <p:cTn id="49" presetID="22" presetClass="entr" presetSubtype="8"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3">
                                            <p:txEl>
                                              <p:pRg st="2" end="2"/>
                                            </p:txEl>
                                          </p:spTgt>
                                        </p:tgtEl>
                                        <p:attrNameLst>
                                          <p:attrName>style.visibility</p:attrName>
                                        </p:attrNameLst>
                                      </p:cBhvr>
                                      <p:to>
                                        <p:strVal val="visible"/>
                                      </p:to>
                                    </p:set>
                                    <p:animEffect transition="in" filter="wipe(up)">
                                      <p:cBhvr>
                                        <p:cTn id="56" dur="500"/>
                                        <p:tgtEl>
                                          <p:spTgt spid="3">
                                            <p:txEl>
                                              <p:pRg st="2" end="2"/>
                                            </p:txEl>
                                          </p:spTgt>
                                        </p:tgtEl>
                                      </p:cBhvr>
                                    </p:animEffect>
                                  </p:childTnLst>
                                </p:cTn>
                              </p:par>
                            </p:childTnLst>
                          </p:cTn>
                        </p:par>
                        <p:par>
                          <p:cTn id="57" fill="hold">
                            <p:stCondLst>
                              <p:cond delay="500"/>
                            </p:stCondLst>
                            <p:childTnLst>
                              <p:par>
                                <p:cTn id="58" presetID="10" presetClass="entr" presetSubtype="0" fill="hold" nodeType="afterEffect">
                                  <p:stCondLst>
                                    <p:cond delay="0"/>
                                  </p:stCondLst>
                                  <p:childTnLst>
                                    <p:set>
                                      <p:cBhvr>
                                        <p:cTn id="59" dur="1" fill="hold">
                                          <p:stCondLst>
                                            <p:cond delay="0"/>
                                          </p:stCondLst>
                                        </p:cTn>
                                        <p:tgtEl>
                                          <p:spTgt spid="75"/>
                                        </p:tgtEl>
                                        <p:attrNameLst>
                                          <p:attrName>style.visibility</p:attrName>
                                        </p:attrNameLst>
                                      </p:cBhvr>
                                      <p:to>
                                        <p:strVal val="visible"/>
                                      </p:to>
                                    </p:set>
                                    <p:animEffect transition="in" filter="fade">
                                      <p:cBhvr>
                                        <p:cTn id="60" dur="500"/>
                                        <p:tgtEl>
                                          <p:spTgt spid="7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wipe(up)">
                                      <p:cBhvr>
                                        <p:cTn id="65" dur="500"/>
                                        <p:tgtEl>
                                          <p:spTgt spid="26"/>
                                        </p:tgtEl>
                                      </p:cBhvr>
                                    </p:animEffect>
                                  </p:childTnLst>
                                </p:cTn>
                              </p:par>
                              <p:par>
                                <p:cTn id="66" presetID="22" presetClass="entr" presetSubtype="1"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wipe(up)">
                                      <p:cBhvr>
                                        <p:cTn id="68" dur="500"/>
                                        <p:tgtEl>
                                          <p:spTgt spid="28"/>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wipe(up)">
                                      <p:cBhvr>
                                        <p:cTn id="71" dur="500"/>
                                        <p:tgtEl>
                                          <p:spTgt spid="29"/>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wipe(up)">
                                      <p:cBhvr>
                                        <p:cTn id="74" dur="500"/>
                                        <p:tgtEl>
                                          <p:spTgt spid="30"/>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wipe(up)">
                                      <p:cBhvr>
                                        <p:cTn id="77" dur="500"/>
                                        <p:tgtEl>
                                          <p:spTgt spid="27"/>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wipe(up)">
                                      <p:cBhvr>
                                        <p:cTn id="80" dur="500"/>
                                        <p:tgtEl>
                                          <p:spTgt spid="32"/>
                                        </p:tgtEl>
                                      </p:cBhvr>
                                    </p:animEffect>
                                  </p:childTnLst>
                                </p:cTn>
                              </p:par>
                              <p:par>
                                <p:cTn id="81" presetID="22" presetClass="entr" presetSubtype="1"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wipe(up)">
                                      <p:cBhvr>
                                        <p:cTn id="83" dur="500"/>
                                        <p:tgtEl>
                                          <p:spTgt spid="31"/>
                                        </p:tgtEl>
                                      </p:cBhvr>
                                    </p:animEffect>
                                  </p:childTnLst>
                                </p:cTn>
                              </p:par>
                            </p:childTnLst>
                          </p:cTn>
                        </p:par>
                        <p:par>
                          <p:cTn id="84" fill="hold">
                            <p:stCondLst>
                              <p:cond delay="500"/>
                            </p:stCondLst>
                            <p:childTnLst>
                              <p:par>
                                <p:cTn id="85" presetID="22" presetClass="entr" presetSubtype="8" fill="hold" nodeType="afterEffect">
                                  <p:stCondLst>
                                    <p:cond delay="0"/>
                                  </p:stCondLst>
                                  <p:childTnLst>
                                    <p:set>
                                      <p:cBhvr>
                                        <p:cTn id="86" dur="1" fill="hold">
                                          <p:stCondLst>
                                            <p:cond delay="0"/>
                                          </p:stCondLst>
                                        </p:cTn>
                                        <p:tgtEl>
                                          <p:spTgt spid="80"/>
                                        </p:tgtEl>
                                        <p:attrNameLst>
                                          <p:attrName>style.visibility</p:attrName>
                                        </p:attrNameLst>
                                      </p:cBhvr>
                                      <p:to>
                                        <p:strVal val="visible"/>
                                      </p:to>
                                    </p:set>
                                    <p:animEffect transition="in" filter="wipe(left)">
                                      <p:cBhvr>
                                        <p:cTn id="87" dur="500"/>
                                        <p:tgtEl>
                                          <p:spTgt spid="8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73"/>
                                        </p:tgtEl>
                                        <p:attrNameLst>
                                          <p:attrName>style.visibility</p:attrName>
                                        </p:attrNameLst>
                                      </p:cBhvr>
                                      <p:to>
                                        <p:strVal val="visible"/>
                                      </p:to>
                                    </p:set>
                                    <p:animEffect transition="in" filter="fade">
                                      <p:cBhvr>
                                        <p:cTn id="92" dur="500"/>
                                        <p:tgtEl>
                                          <p:spTgt spid="7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wipe(left)">
                                      <p:cBhvr>
                                        <p:cTn id="97" dur="500"/>
                                        <p:tgtEl>
                                          <p:spTgt spid="33"/>
                                        </p:tgtEl>
                                      </p:cBhvr>
                                    </p:animEffect>
                                  </p:childTnLst>
                                </p:cTn>
                              </p:par>
                              <p:par>
                                <p:cTn id="98" presetID="10" presetClass="exit" presetSubtype="0" fill="hold" nodeType="withEffect">
                                  <p:stCondLst>
                                    <p:cond delay="0"/>
                                  </p:stCondLst>
                                  <p:childTnLst>
                                    <p:animEffect transition="out" filter="fade">
                                      <p:cBhvr>
                                        <p:cTn id="99" dur="500"/>
                                        <p:tgtEl>
                                          <p:spTgt spid="73"/>
                                        </p:tgtEl>
                                      </p:cBhvr>
                                    </p:animEffect>
                                    <p:set>
                                      <p:cBhvr>
                                        <p:cTn id="100" dur="1" fill="hold">
                                          <p:stCondLst>
                                            <p:cond delay="499"/>
                                          </p:stCondLst>
                                        </p:cTn>
                                        <p:tgtEl>
                                          <p:spTgt spid="73"/>
                                        </p:tgtEl>
                                        <p:attrNameLst>
                                          <p:attrName>style.visibility</p:attrName>
                                        </p:attrNameLst>
                                      </p:cBhvr>
                                      <p:to>
                                        <p:strVal val="hidden"/>
                                      </p:to>
                                    </p:set>
                                  </p:childTnLst>
                                </p:cTn>
                              </p:par>
                            </p:childTnLst>
                          </p:cTn>
                        </p:par>
                        <p:par>
                          <p:cTn id="101" fill="hold">
                            <p:stCondLst>
                              <p:cond delay="500"/>
                            </p:stCondLst>
                            <p:childTnLst>
                              <p:par>
                                <p:cTn id="102" presetID="0" presetClass="path" presetSubtype="0" accel="50000" decel="50000" fill="hold" grpId="1" nodeType="afterEffect">
                                  <p:stCondLst>
                                    <p:cond delay="0"/>
                                  </p:stCondLst>
                                  <p:childTnLst>
                                    <p:animMotion origin="layout" path="M -8.33333E-7 -4.81481E-6 L 0.06068 -4.81481E-6 " pathEditMode="relative" rAng="0" ptsTypes="AA">
                                      <p:cBhvr>
                                        <p:cTn id="103" dur="2000" fill="hold"/>
                                        <p:tgtEl>
                                          <p:spTgt spid="32"/>
                                        </p:tgtEl>
                                        <p:attrNameLst>
                                          <p:attrName>ppt_x</p:attrName>
                                          <p:attrName>ppt_y</p:attrName>
                                        </p:attrNameLst>
                                      </p:cBhvr>
                                      <p:rCtr x="3034" y="0"/>
                                    </p:animMotion>
                                  </p:childTnLst>
                                </p:cTn>
                              </p:par>
                              <p:par>
                                <p:cTn id="104" presetID="0" presetClass="path" presetSubtype="0" accel="50000" decel="50000" fill="hold" grpId="1" nodeType="withEffect">
                                  <p:stCondLst>
                                    <p:cond delay="0"/>
                                  </p:stCondLst>
                                  <p:childTnLst>
                                    <p:animMotion origin="layout" path="M 2.08333E-6 -4.81481E-6 L 0.06081 -4.81481E-6 " pathEditMode="relative" rAng="0" ptsTypes="AA">
                                      <p:cBhvr>
                                        <p:cTn id="105" dur="2000" fill="hold"/>
                                        <p:tgtEl>
                                          <p:spTgt spid="31"/>
                                        </p:tgtEl>
                                        <p:attrNameLst>
                                          <p:attrName>ppt_x</p:attrName>
                                          <p:attrName>ppt_y</p:attrName>
                                        </p:attrNameLst>
                                      </p:cBhvr>
                                      <p:rCtr x="3034" y="0"/>
                                    </p:animMotion>
                                  </p:childTnLst>
                                </p:cTn>
                              </p:par>
                              <p:par>
                                <p:cTn id="106" presetID="22" presetClass="entr" presetSubtype="8" fill="hold" nodeType="withEffect">
                                  <p:stCondLst>
                                    <p:cond delay="0"/>
                                  </p:stCondLst>
                                  <p:childTnLst>
                                    <p:set>
                                      <p:cBhvr>
                                        <p:cTn id="107" dur="1" fill="hold">
                                          <p:stCondLst>
                                            <p:cond delay="0"/>
                                          </p:stCondLst>
                                        </p:cTn>
                                        <p:tgtEl>
                                          <p:spTgt spid="84"/>
                                        </p:tgtEl>
                                        <p:attrNameLst>
                                          <p:attrName>style.visibility</p:attrName>
                                        </p:attrNameLst>
                                      </p:cBhvr>
                                      <p:to>
                                        <p:strVal val="visible"/>
                                      </p:to>
                                    </p:set>
                                    <p:animEffect transition="in" filter="wipe(left)">
                                      <p:cBhvr>
                                        <p:cTn id="108" dur="500"/>
                                        <p:tgtEl>
                                          <p:spTgt spid="84"/>
                                        </p:tgtEl>
                                      </p:cBhvr>
                                    </p:animEffect>
                                  </p:childTnLst>
                                </p:cTn>
                              </p:par>
                            </p:childTnLst>
                          </p:cTn>
                        </p:par>
                        <p:par>
                          <p:cTn id="109" fill="hold">
                            <p:stCondLst>
                              <p:cond delay="2500"/>
                            </p:stCondLst>
                            <p:childTnLst>
                              <p:par>
                                <p:cTn id="110" presetID="22" presetClass="entr" presetSubtype="1" fill="hold" grpId="0" nodeType="afterEffect">
                                  <p:stCondLst>
                                    <p:cond delay="0"/>
                                  </p:stCondLst>
                                  <p:childTnLst>
                                    <p:set>
                                      <p:cBhvr>
                                        <p:cTn id="111" dur="1" fill="hold">
                                          <p:stCondLst>
                                            <p:cond delay="0"/>
                                          </p:stCondLst>
                                        </p:cTn>
                                        <p:tgtEl>
                                          <p:spTgt spid="74"/>
                                        </p:tgtEl>
                                        <p:attrNameLst>
                                          <p:attrName>style.visibility</p:attrName>
                                        </p:attrNameLst>
                                      </p:cBhvr>
                                      <p:to>
                                        <p:strVal val="visible"/>
                                      </p:to>
                                    </p:set>
                                    <p:animEffect transition="in" filter="wipe(up)">
                                      <p:cBhvr>
                                        <p:cTn id="112" dur="500"/>
                                        <p:tgtEl>
                                          <p:spTgt spid="74"/>
                                        </p:tgtEl>
                                      </p:cBhvr>
                                    </p:animEffect>
                                  </p:childTnLst>
                                </p:cTn>
                              </p:par>
                              <p:par>
                                <p:cTn id="113" presetID="22" presetClass="entr" presetSubtype="1" fill="hold" grpId="0" nodeType="withEffect">
                                  <p:stCondLst>
                                    <p:cond delay="0"/>
                                  </p:stCondLst>
                                  <p:childTnLst>
                                    <p:set>
                                      <p:cBhvr>
                                        <p:cTn id="114" dur="1" fill="hold">
                                          <p:stCondLst>
                                            <p:cond delay="0"/>
                                          </p:stCondLst>
                                        </p:cTn>
                                        <p:tgtEl>
                                          <p:spTgt spid="34"/>
                                        </p:tgtEl>
                                        <p:attrNameLst>
                                          <p:attrName>style.visibility</p:attrName>
                                        </p:attrNameLst>
                                      </p:cBhvr>
                                      <p:to>
                                        <p:strVal val="visible"/>
                                      </p:to>
                                    </p:set>
                                    <p:animEffect transition="in" filter="wipe(up)">
                                      <p:cBhvr>
                                        <p:cTn id="115" dur="500"/>
                                        <p:tgtEl>
                                          <p:spTgt spid="34"/>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2" fill="hold" grpId="0" nodeType="clickEffect">
                                  <p:stCondLst>
                                    <p:cond delay="0"/>
                                  </p:stCondLst>
                                  <p:childTnLst>
                                    <p:set>
                                      <p:cBhvr>
                                        <p:cTn id="119" dur="1" fill="hold">
                                          <p:stCondLst>
                                            <p:cond delay="0"/>
                                          </p:stCondLst>
                                        </p:cTn>
                                        <p:tgtEl>
                                          <p:spTgt spid="85"/>
                                        </p:tgtEl>
                                        <p:attrNameLst>
                                          <p:attrName>style.visibility</p:attrName>
                                        </p:attrNameLst>
                                      </p:cBhvr>
                                      <p:to>
                                        <p:strVal val="visible"/>
                                      </p:to>
                                    </p:set>
                                    <p:animEffect transition="in" filter="wipe(right)">
                                      <p:cBhvr>
                                        <p:cTn id="120" dur="500"/>
                                        <p:tgtEl>
                                          <p:spTgt spid="85"/>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2" fill="hold" grpId="0" nodeType="clickEffect">
                                  <p:stCondLst>
                                    <p:cond delay="0"/>
                                  </p:stCondLst>
                                  <p:childTnLst>
                                    <p:set>
                                      <p:cBhvr>
                                        <p:cTn id="124" dur="1" fill="hold">
                                          <p:stCondLst>
                                            <p:cond delay="0"/>
                                          </p:stCondLst>
                                        </p:cTn>
                                        <p:tgtEl>
                                          <p:spTgt spid="86"/>
                                        </p:tgtEl>
                                        <p:attrNameLst>
                                          <p:attrName>style.visibility</p:attrName>
                                        </p:attrNameLst>
                                      </p:cBhvr>
                                      <p:to>
                                        <p:strVal val="visible"/>
                                      </p:to>
                                    </p:set>
                                    <p:animEffect transition="in" filter="wipe(right)">
                                      <p:cBhvr>
                                        <p:cTn id="125" dur="500"/>
                                        <p:tgtEl>
                                          <p:spTgt spid="86"/>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1" fill="hold" nodeType="clickEffect">
                                  <p:stCondLst>
                                    <p:cond delay="0"/>
                                  </p:stCondLst>
                                  <p:childTnLst>
                                    <p:set>
                                      <p:cBhvr>
                                        <p:cTn id="129" dur="1" fill="hold">
                                          <p:stCondLst>
                                            <p:cond delay="0"/>
                                          </p:stCondLst>
                                        </p:cTn>
                                        <p:tgtEl>
                                          <p:spTgt spid="3">
                                            <p:txEl>
                                              <p:pRg st="3" end="3"/>
                                            </p:txEl>
                                          </p:spTgt>
                                        </p:tgtEl>
                                        <p:attrNameLst>
                                          <p:attrName>style.visibility</p:attrName>
                                        </p:attrNameLst>
                                      </p:cBhvr>
                                      <p:to>
                                        <p:strVal val="visible"/>
                                      </p:to>
                                    </p:set>
                                    <p:animEffect transition="in" filter="wipe(up)">
                                      <p:cBhvr>
                                        <p:cTn id="1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p:bldP spid="11" grpId="0" animBg="1"/>
      <p:bldP spid="14" grpId="0"/>
      <p:bldP spid="15" grpId="0"/>
      <p:bldP spid="19" grpId="0"/>
      <p:bldP spid="24" grpId="0"/>
      <p:bldP spid="25" grpId="0"/>
      <p:bldP spid="26" grpId="0" animBg="1"/>
      <p:bldP spid="27" grpId="0" animBg="1"/>
      <p:bldP spid="28" grpId="0" animBg="1"/>
      <p:bldP spid="29" grpId="0" animBg="1"/>
      <p:bldP spid="30" grpId="0" animBg="1"/>
      <p:bldP spid="31" grpId="0" animBg="1"/>
      <p:bldP spid="31" grpId="1" animBg="1"/>
      <p:bldP spid="32" grpId="0" animBg="1"/>
      <p:bldP spid="32" grpId="1" animBg="1"/>
      <p:bldP spid="33" grpId="0"/>
      <p:bldP spid="34" grpId="0" animBg="1"/>
      <p:bldP spid="74" grpId="0" animBg="1"/>
      <p:bldP spid="85" grpId="0" animBg="1"/>
      <p:bldP spid="8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5BC3B6-3A03-43A9-38A3-EE5EC55B0013}"/>
              </a:ext>
            </a:extLst>
          </p:cNvPr>
          <p:cNvSpPr>
            <a:spLocks noGrp="1"/>
          </p:cNvSpPr>
          <p:nvPr>
            <p:ph type="title"/>
          </p:nvPr>
        </p:nvSpPr>
        <p:spPr/>
        <p:txBody>
          <a:bodyPr/>
          <a:lstStyle/>
          <a:p>
            <a:r>
              <a:rPr kumimoji="1" lang="en-US" altLang="zh-TW" dirty="0"/>
              <a:t>Log-Structure File System (Count.)</a:t>
            </a:r>
            <a:endParaRPr kumimoji="1" lang="zh-TW" altLang="en-US" dirty="0"/>
          </a:p>
        </p:txBody>
      </p:sp>
      <p:sp>
        <p:nvSpPr>
          <p:cNvPr id="3" name="內容版面配置區 2">
            <a:extLst>
              <a:ext uri="{FF2B5EF4-FFF2-40B4-BE49-F238E27FC236}">
                <a16:creationId xmlns:a16="http://schemas.microsoft.com/office/drawing/2014/main" id="{93856950-35C3-7886-7129-553661A0EC6A}"/>
              </a:ext>
            </a:extLst>
          </p:cNvPr>
          <p:cNvSpPr>
            <a:spLocks noGrp="1"/>
          </p:cNvSpPr>
          <p:nvPr>
            <p:ph idx="1"/>
          </p:nvPr>
        </p:nvSpPr>
        <p:spPr/>
        <p:txBody>
          <a:bodyPr/>
          <a:lstStyle/>
          <a:p>
            <a:r>
              <a:rPr lang="en-US" altLang="zh-TW" dirty="0"/>
              <a:t>How to find the corresponding </a:t>
            </a:r>
            <a:r>
              <a:rPr lang="en-US" altLang="zh-TW" dirty="0" err="1"/>
              <a:t>inode</a:t>
            </a:r>
            <a:r>
              <a:rPr lang="en-US" altLang="zh-TW" dirty="0"/>
              <a:t> map </a:t>
            </a:r>
            <a:endParaRPr kumimoji="1" lang="zh-TW" altLang="en-US" dirty="0"/>
          </a:p>
          <a:p>
            <a:pPr lvl="1"/>
            <a:r>
              <a:rPr kumimoji="1" lang="en-US" altLang="zh-TW" dirty="0"/>
              <a:t>Checkpoint Region: Fixed and known region on the disk. It contains pointers to the </a:t>
            </a:r>
            <a:r>
              <a:rPr kumimoji="1" lang="en-US" altLang="zh-TW" dirty="0">
                <a:solidFill>
                  <a:srgbClr val="C00000"/>
                </a:solidFill>
              </a:rPr>
              <a:t>latest pieces of the </a:t>
            </a:r>
            <a:r>
              <a:rPr kumimoji="1" lang="en-US" altLang="zh-TW" dirty="0" err="1">
                <a:solidFill>
                  <a:srgbClr val="C00000"/>
                </a:solidFill>
              </a:rPr>
              <a:t>inode</a:t>
            </a:r>
            <a:r>
              <a:rPr kumimoji="1" lang="en-US" altLang="zh-TW" dirty="0">
                <a:solidFill>
                  <a:srgbClr val="C00000"/>
                </a:solidFill>
              </a:rPr>
              <a:t> map</a:t>
            </a:r>
            <a:r>
              <a:rPr kumimoji="1" lang="en-US" altLang="zh-TW" dirty="0"/>
              <a:t>.</a:t>
            </a:r>
          </a:p>
          <a:p>
            <a:pPr lvl="1"/>
            <a:r>
              <a:rPr lang="en-US" altLang="zh-TW" dirty="0"/>
              <a:t>Performance Consideration: Update periodically (e.g., 30 secs)</a:t>
            </a:r>
            <a:endParaRPr kumimoji="1" lang="en-US" altLang="zh-TW" dirty="0"/>
          </a:p>
        </p:txBody>
      </p:sp>
      <p:sp>
        <p:nvSpPr>
          <p:cNvPr id="4" name="投影片編號版面配置區 3">
            <a:extLst>
              <a:ext uri="{FF2B5EF4-FFF2-40B4-BE49-F238E27FC236}">
                <a16:creationId xmlns:a16="http://schemas.microsoft.com/office/drawing/2014/main" id="{C9908C72-7EF8-7779-49B9-CFC262338AEC}"/>
              </a:ext>
            </a:extLst>
          </p:cNvPr>
          <p:cNvSpPr>
            <a:spLocks noGrp="1"/>
          </p:cNvSpPr>
          <p:nvPr>
            <p:ph type="sldNum" sz="quarter" idx="4"/>
          </p:nvPr>
        </p:nvSpPr>
        <p:spPr/>
        <p:txBody>
          <a:bodyPr/>
          <a:lstStyle/>
          <a:p>
            <a:fld id="{E24E6636-6BA5-4AAC-8485-BE8D914D288B}" type="slidenum">
              <a:rPr lang="zh-TW" altLang="en-US" smtClean="0"/>
              <a:pPr/>
              <a:t>10</a:t>
            </a:fld>
            <a:endParaRPr lang="zh-TW" altLang="en-US" dirty="0"/>
          </a:p>
        </p:txBody>
      </p:sp>
      <p:grpSp>
        <p:nvGrpSpPr>
          <p:cNvPr id="25" name="群組 24">
            <a:extLst>
              <a:ext uri="{FF2B5EF4-FFF2-40B4-BE49-F238E27FC236}">
                <a16:creationId xmlns:a16="http://schemas.microsoft.com/office/drawing/2014/main" id="{868E65B8-778F-B9BB-643B-C1F49C012ED8}"/>
              </a:ext>
            </a:extLst>
          </p:cNvPr>
          <p:cNvGrpSpPr/>
          <p:nvPr/>
        </p:nvGrpSpPr>
        <p:grpSpPr>
          <a:xfrm>
            <a:off x="566074" y="4402100"/>
            <a:ext cx="10478095" cy="1028700"/>
            <a:chOff x="-381958" y="5242844"/>
            <a:chExt cx="10478095" cy="1028700"/>
          </a:xfrm>
        </p:grpSpPr>
        <p:cxnSp>
          <p:nvCxnSpPr>
            <p:cNvPr id="26" name="直線接點 25">
              <a:extLst>
                <a:ext uri="{FF2B5EF4-FFF2-40B4-BE49-F238E27FC236}">
                  <a16:creationId xmlns:a16="http://schemas.microsoft.com/office/drawing/2014/main" id="{ABBE9F7E-D83B-85F9-821D-2EF26DB17195}"/>
                </a:ext>
              </a:extLst>
            </p:cNvPr>
            <p:cNvCxnSpPr>
              <a:cxnSpLocks/>
            </p:cNvCxnSpPr>
            <p:nvPr/>
          </p:nvCxnSpPr>
          <p:spPr>
            <a:xfrm flipV="1">
              <a:off x="321044" y="5242844"/>
              <a:ext cx="977509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CC964AF-EB22-EC6B-BD41-2DD60638ACDA}"/>
                </a:ext>
              </a:extLst>
            </p:cNvPr>
            <p:cNvCxnSpPr>
              <a:cxnSpLocks/>
            </p:cNvCxnSpPr>
            <p:nvPr/>
          </p:nvCxnSpPr>
          <p:spPr>
            <a:xfrm>
              <a:off x="321044" y="6271544"/>
              <a:ext cx="97750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1F066A4B-C39D-E281-29AE-4D44DBD94714}"/>
                </a:ext>
              </a:extLst>
            </p:cNvPr>
            <p:cNvSpPr txBox="1"/>
            <p:nvPr/>
          </p:nvSpPr>
          <p:spPr>
            <a:xfrm>
              <a:off x="-381958" y="5573685"/>
              <a:ext cx="614271" cy="369332"/>
            </a:xfrm>
            <a:prstGeom prst="rect">
              <a:avLst/>
            </a:prstGeom>
            <a:noFill/>
          </p:spPr>
          <p:txBody>
            <a:bodyPr wrap="none" rtlCol="0">
              <a:spAutoFit/>
            </a:bodyPr>
            <a:lstStyle/>
            <a:p>
              <a:r>
                <a:rPr kumimoji="1" lang="en-US" altLang="zh-TW" dirty="0"/>
                <a:t>HDD</a:t>
              </a:r>
              <a:endParaRPr kumimoji="1" lang="zh-TW" altLang="en-US" dirty="0"/>
            </a:p>
          </p:txBody>
        </p:sp>
      </p:grpSp>
      <p:sp>
        <p:nvSpPr>
          <p:cNvPr id="30" name="矩形 29">
            <a:extLst>
              <a:ext uri="{FF2B5EF4-FFF2-40B4-BE49-F238E27FC236}">
                <a16:creationId xmlns:a16="http://schemas.microsoft.com/office/drawing/2014/main" id="{FE4F5460-2998-2A68-16E4-2E67FA1757D8}"/>
              </a:ext>
            </a:extLst>
          </p:cNvPr>
          <p:cNvSpPr/>
          <p:nvPr/>
        </p:nvSpPr>
        <p:spPr>
          <a:xfrm>
            <a:off x="3428175" y="440717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j,0</a:t>
            </a:r>
            <a:endParaRPr kumimoji="1" lang="zh-TW" altLang="en-US" sz="1600" baseline="-25000" dirty="0">
              <a:solidFill>
                <a:schemeClr val="tx1"/>
              </a:solidFill>
            </a:endParaRPr>
          </a:p>
        </p:txBody>
      </p:sp>
      <p:sp>
        <p:nvSpPr>
          <p:cNvPr id="31" name="矩形 30">
            <a:extLst>
              <a:ext uri="{FF2B5EF4-FFF2-40B4-BE49-F238E27FC236}">
                <a16:creationId xmlns:a16="http://schemas.microsoft.com/office/drawing/2014/main" id="{06068536-0C9F-8040-A2D0-53AC4BD91A46}"/>
              </a:ext>
            </a:extLst>
          </p:cNvPr>
          <p:cNvSpPr/>
          <p:nvPr/>
        </p:nvSpPr>
        <p:spPr>
          <a:xfrm>
            <a:off x="6397853" y="4407170"/>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0</a:t>
            </a:r>
          </a:p>
          <a:p>
            <a:pPr algn="ctr"/>
            <a:r>
              <a:rPr kumimoji="1" lang="en-US" altLang="zh-TW" sz="1200" dirty="0">
                <a:solidFill>
                  <a:schemeClr val="tx1"/>
                </a:solidFill>
              </a:rPr>
              <a:t>B[1]:A</a:t>
            </a:r>
            <a:r>
              <a:rPr kumimoji="1" lang="en-US" altLang="zh-TW" sz="1200" baseline="-25000" dirty="0">
                <a:solidFill>
                  <a:schemeClr val="tx1"/>
                </a:solidFill>
              </a:rPr>
              <a:t>1 </a:t>
            </a:r>
            <a:endParaRPr kumimoji="1" lang="zh-TW" altLang="en-US" sz="1200" baseline="-25000" dirty="0">
              <a:solidFill>
                <a:schemeClr val="tx1"/>
              </a:solidFill>
            </a:endParaRPr>
          </a:p>
          <a:p>
            <a:pPr algn="ctr"/>
            <a:r>
              <a:rPr kumimoji="1" lang="en-US" altLang="zh-TW" sz="1200" dirty="0">
                <a:solidFill>
                  <a:schemeClr val="tx1"/>
                </a:solidFill>
              </a:rPr>
              <a:t>B[2]:A</a:t>
            </a:r>
            <a:r>
              <a:rPr kumimoji="1" lang="en-US" altLang="zh-TW" sz="1200" baseline="-25000" dirty="0">
                <a:solidFill>
                  <a:schemeClr val="tx1"/>
                </a:solidFill>
              </a:rPr>
              <a:t>2</a:t>
            </a:r>
            <a:endParaRPr kumimoji="1" lang="zh-TW" altLang="en-US" sz="1200" baseline="-25000" dirty="0">
              <a:solidFill>
                <a:schemeClr val="tx1"/>
              </a:solidFill>
            </a:endParaRPr>
          </a:p>
          <a:p>
            <a:pPr algn="ctr"/>
            <a:r>
              <a:rPr kumimoji="1" lang="en-US" altLang="zh-TW" sz="1200" dirty="0">
                <a:solidFill>
                  <a:schemeClr val="tx1"/>
                </a:solidFill>
              </a:rPr>
              <a:t>B[3]:A</a:t>
            </a:r>
            <a:r>
              <a:rPr kumimoji="1" lang="en-US" altLang="zh-TW" sz="1200" baseline="-25000" dirty="0">
                <a:solidFill>
                  <a:schemeClr val="tx1"/>
                </a:solidFill>
              </a:rPr>
              <a:t>3</a:t>
            </a:r>
            <a:endParaRPr kumimoji="1" lang="zh-TW" altLang="en-US" sz="1200" baseline="-25000" dirty="0">
              <a:solidFill>
                <a:schemeClr val="tx1"/>
              </a:solidFill>
            </a:endParaRPr>
          </a:p>
        </p:txBody>
      </p:sp>
      <p:sp>
        <p:nvSpPr>
          <p:cNvPr id="32" name="矩形 31">
            <a:extLst>
              <a:ext uri="{FF2B5EF4-FFF2-40B4-BE49-F238E27FC236}">
                <a16:creationId xmlns:a16="http://schemas.microsoft.com/office/drawing/2014/main" id="{057A9B75-5A2A-835F-D74B-A0F57F0AB3F2}"/>
              </a:ext>
            </a:extLst>
          </p:cNvPr>
          <p:cNvSpPr/>
          <p:nvPr/>
        </p:nvSpPr>
        <p:spPr>
          <a:xfrm>
            <a:off x="4162333" y="440717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j,1</a:t>
            </a:r>
            <a:endParaRPr kumimoji="1" lang="zh-TW" altLang="en-US" sz="1600" baseline="-25000" dirty="0">
              <a:solidFill>
                <a:schemeClr val="tx1"/>
              </a:solidFill>
            </a:endParaRPr>
          </a:p>
        </p:txBody>
      </p:sp>
      <p:sp>
        <p:nvSpPr>
          <p:cNvPr id="33" name="矩形 32">
            <a:extLst>
              <a:ext uri="{FF2B5EF4-FFF2-40B4-BE49-F238E27FC236}">
                <a16:creationId xmlns:a16="http://schemas.microsoft.com/office/drawing/2014/main" id="{39EBA55A-7509-39EB-FF49-8EF4925E9D0D}"/>
              </a:ext>
            </a:extLst>
          </p:cNvPr>
          <p:cNvSpPr/>
          <p:nvPr/>
        </p:nvSpPr>
        <p:spPr>
          <a:xfrm>
            <a:off x="4912725" y="440717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j,2</a:t>
            </a:r>
            <a:endParaRPr kumimoji="1" lang="zh-TW" altLang="en-US" sz="1600" baseline="-25000" dirty="0">
              <a:solidFill>
                <a:schemeClr val="tx1"/>
              </a:solidFill>
            </a:endParaRPr>
          </a:p>
        </p:txBody>
      </p:sp>
      <p:sp>
        <p:nvSpPr>
          <p:cNvPr id="34" name="矩形 33">
            <a:extLst>
              <a:ext uri="{FF2B5EF4-FFF2-40B4-BE49-F238E27FC236}">
                <a16:creationId xmlns:a16="http://schemas.microsoft.com/office/drawing/2014/main" id="{B7D0C952-8100-042C-0229-48876CCCBF3D}"/>
              </a:ext>
            </a:extLst>
          </p:cNvPr>
          <p:cNvSpPr/>
          <p:nvPr/>
        </p:nvSpPr>
        <p:spPr>
          <a:xfrm>
            <a:off x="5654325" y="440717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j,3</a:t>
            </a:r>
            <a:endParaRPr kumimoji="1" lang="zh-TW" altLang="en-US" sz="1600" baseline="-25000" dirty="0">
              <a:solidFill>
                <a:schemeClr val="tx1"/>
              </a:solidFill>
            </a:endParaRPr>
          </a:p>
        </p:txBody>
      </p:sp>
      <p:sp>
        <p:nvSpPr>
          <p:cNvPr id="35" name="矩形 34">
            <a:extLst>
              <a:ext uri="{FF2B5EF4-FFF2-40B4-BE49-F238E27FC236}">
                <a16:creationId xmlns:a16="http://schemas.microsoft.com/office/drawing/2014/main" id="{6F90C6F2-1F0F-4EFB-9CD7-E537E2E503FA}"/>
              </a:ext>
            </a:extLst>
          </p:cNvPr>
          <p:cNvSpPr/>
          <p:nvPr/>
        </p:nvSpPr>
        <p:spPr>
          <a:xfrm>
            <a:off x="8621374" y="4405792"/>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k</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5</a:t>
            </a:r>
          </a:p>
        </p:txBody>
      </p:sp>
      <p:sp>
        <p:nvSpPr>
          <p:cNvPr id="36" name="矩形 35">
            <a:extLst>
              <a:ext uri="{FF2B5EF4-FFF2-40B4-BE49-F238E27FC236}">
                <a16:creationId xmlns:a16="http://schemas.microsoft.com/office/drawing/2014/main" id="{C2821F9E-7027-E5AA-CD01-39D85EB9642D}"/>
              </a:ext>
            </a:extLst>
          </p:cNvPr>
          <p:cNvSpPr/>
          <p:nvPr/>
        </p:nvSpPr>
        <p:spPr>
          <a:xfrm>
            <a:off x="7881702" y="4405792"/>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k,0</a:t>
            </a:r>
            <a:endParaRPr kumimoji="1" lang="zh-TW" altLang="en-US" sz="1600" baseline="-25000" dirty="0">
              <a:solidFill>
                <a:schemeClr val="tx1"/>
              </a:solidFill>
            </a:endParaRPr>
          </a:p>
        </p:txBody>
      </p:sp>
      <p:sp>
        <p:nvSpPr>
          <p:cNvPr id="37" name="矩形 36">
            <a:extLst>
              <a:ext uri="{FF2B5EF4-FFF2-40B4-BE49-F238E27FC236}">
                <a16:creationId xmlns:a16="http://schemas.microsoft.com/office/drawing/2014/main" id="{25ED11DA-BC34-0C49-E8E3-45089D10E007}"/>
              </a:ext>
            </a:extLst>
          </p:cNvPr>
          <p:cNvSpPr/>
          <p:nvPr/>
        </p:nvSpPr>
        <p:spPr>
          <a:xfrm>
            <a:off x="7137525" y="4407171"/>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Imap</a:t>
            </a:r>
            <a:r>
              <a:rPr kumimoji="1" lang="en-US" altLang="zh-TW" sz="1600" baseline="-25000" dirty="0">
                <a:solidFill>
                  <a:schemeClr val="tx1"/>
                </a:solidFill>
              </a:rPr>
              <a:t>0-j</a:t>
            </a:r>
          </a:p>
          <a:p>
            <a:pPr algn="ctr"/>
            <a:r>
              <a:rPr kumimoji="1" lang="en-US" altLang="zh-TW" sz="1200" dirty="0">
                <a:solidFill>
                  <a:schemeClr val="tx1"/>
                </a:solidFill>
              </a:rPr>
              <a:t>I[0]:A</a:t>
            </a:r>
            <a:r>
              <a:rPr kumimoji="1" lang="en-US" altLang="zh-TW" sz="1200" baseline="-25000" dirty="0">
                <a:solidFill>
                  <a:schemeClr val="tx1"/>
                </a:solidFill>
              </a:rPr>
              <a:t>x</a:t>
            </a:r>
          </a:p>
          <a:p>
            <a:pPr algn="ctr"/>
            <a:r>
              <a:rPr kumimoji="1" lang="en-US" altLang="zh-TW" sz="1200" dirty="0">
                <a:solidFill>
                  <a:schemeClr val="tx1"/>
                </a:solidFill>
              </a:rPr>
              <a:t>I[1]:A</a:t>
            </a:r>
            <a:r>
              <a:rPr kumimoji="1" lang="en-US" altLang="zh-TW" sz="1200" baseline="-25000" dirty="0">
                <a:solidFill>
                  <a:schemeClr val="tx1"/>
                </a:solidFill>
              </a:rPr>
              <a:t>y</a:t>
            </a:r>
          </a:p>
          <a:p>
            <a:pPr algn="ctr"/>
            <a:r>
              <a:rPr kumimoji="1" lang="en-US" altLang="zh-TW" sz="1200" dirty="0">
                <a:solidFill>
                  <a:schemeClr val="tx1"/>
                </a:solidFill>
              </a:rPr>
              <a:t>…</a:t>
            </a:r>
            <a:endParaRPr kumimoji="1" lang="en-US" altLang="zh-TW" sz="1200" baseline="-25000" dirty="0">
              <a:solidFill>
                <a:schemeClr val="tx1"/>
              </a:solidFill>
            </a:endParaRPr>
          </a:p>
          <a:p>
            <a:pPr algn="ctr"/>
            <a:r>
              <a:rPr kumimoji="1" lang="en-US" altLang="zh-TW" sz="1200" dirty="0">
                <a:solidFill>
                  <a:schemeClr val="tx1"/>
                </a:solidFill>
              </a:rPr>
              <a:t>I[j]:A</a:t>
            </a:r>
            <a:r>
              <a:rPr kumimoji="1" lang="en-US" altLang="zh-TW" sz="1200" baseline="-25000" dirty="0">
                <a:solidFill>
                  <a:schemeClr val="tx1"/>
                </a:solidFill>
              </a:rPr>
              <a:t>4</a:t>
            </a:r>
          </a:p>
          <a:p>
            <a:pPr algn="ctr"/>
            <a:endParaRPr kumimoji="1" lang="en-US" altLang="zh-TW" sz="1200" baseline="-25000" dirty="0">
              <a:solidFill>
                <a:schemeClr val="tx1"/>
              </a:solidFill>
            </a:endParaRPr>
          </a:p>
        </p:txBody>
      </p:sp>
      <p:sp>
        <p:nvSpPr>
          <p:cNvPr id="42" name="矩形 41">
            <a:extLst>
              <a:ext uri="{FF2B5EF4-FFF2-40B4-BE49-F238E27FC236}">
                <a16:creationId xmlns:a16="http://schemas.microsoft.com/office/drawing/2014/main" id="{E271B5A7-DA84-4998-D024-3164D852E89F}"/>
              </a:ext>
            </a:extLst>
          </p:cNvPr>
          <p:cNvSpPr/>
          <p:nvPr/>
        </p:nvSpPr>
        <p:spPr>
          <a:xfrm>
            <a:off x="9361046" y="4405333"/>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Imap</a:t>
            </a:r>
            <a:r>
              <a:rPr kumimoji="1" lang="en-US" altLang="zh-TW" sz="1600" baseline="-25000" dirty="0" err="1">
                <a:solidFill>
                  <a:schemeClr val="tx1"/>
                </a:solidFill>
              </a:rPr>
              <a:t>k</a:t>
            </a:r>
            <a:r>
              <a:rPr kumimoji="1" lang="en-US" altLang="zh-TW" sz="1600" baseline="-25000" dirty="0">
                <a:solidFill>
                  <a:schemeClr val="tx1"/>
                </a:solidFill>
              </a:rPr>
              <a:t>-n</a:t>
            </a:r>
          </a:p>
          <a:p>
            <a:pPr algn="ctr"/>
            <a:r>
              <a:rPr kumimoji="1" lang="en-US" altLang="zh-TW" sz="1200" dirty="0">
                <a:solidFill>
                  <a:schemeClr val="tx1"/>
                </a:solidFill>
              </a:rPr>
              <a:t>I[k]:A</a:t>
            </a:r>
            <a:r>
              <a:rPr kumimoji="1" lang="en-US" altLang="zh-TW" sz="1200" baseline="-25000" dirty="0">
                <a:solidFill>
                  <a:schemeClr val="tx1"/>
                </a:solidFill>
              </a:rPr>
              <a:t>7</a:t>
            </a:r>
          </a:p>
          <a:p>
            <a:pPr algn="ctr"/>
            <a:r>
              <a:rPr kumimoji="1" lang="en-US" altLang="zh-TW" sz="1200" dirty="0">
                <a:solidFill>
                  <a:schemeClr val="tx1"/>
                </a:solidFill>
              </a:rPr>
              <a:t>…</a:t>
            </a:r>
          </a:p>
          <a:p>
            <a:pPr algn="ctr"/>
            <a:r>
              <a:rPr kumimoji="1" lang="en-US" altLang="zh-TW" sz="1200" dirty="0">
                <a:solidFill>
                  <a:schemeClr val="tx1"/>
                </a:solidFill>
              </a:rPr>
              <a:t>I[n]:A</a:t>
            </a:r>
            <a:r>
              <a:rPr kumimoji="1" lang="en-US" altLang="zh-TW" sz="1200" baseline="-25000" dirty="0">
                <a:solidFill>
                  <a:schemeClr val="tx1"/>
                </a:solidFill>
              </a:rPr>
              <a:t>z</a:t>
            </a:r>
          </a:p>
          <a:p>
            <a:pPr algn="ctr"/>
            <a:endParaRPr kumimoji="1" lang="en-US" altLang="zh-TW" sz="1200" baseline="-25000" dirty="0">
              <a:solidFill>
                <a:schemeClr val="tx1"/>
              </a:solidFill>
            </a:endParaRPr>
          </a:p>
        </p:txBody>
      </p:sp>
      <p:grpSp>
        <p:nvGrpSpPr>
          <p:cNvPr id="55" name="群組 54">
            <a:extLst>
              <a:ext uri="{FF2B5EF4-FFF2-40B4-BE49-F238E27FC236}">
                <a16:creationId xmlns:a16="http://schemas.microsoft.com/office/drawing/2014/main" id="{5A883EDB-D445-EA36-CB2F-FA2A6960F1D0}"/>
              </a:ext>
            </a:extLst>
          </p:cNvPr>
          <p:cNvGrpSpPr/>
          <p:nvPr/>
        </p:nvGrpSpPr>
        <p:grpSpPr>
          <a:xfrm>
            <a:off x="3258602" y="5339976"/>
            <a:ext cx="4862618" cy="369332"/>
            <a:chOff x="2310570" y="6180720"/>
            <a:chExt cx="4862618" cy="369332"/>
          </a:xfrm>
        </p:grpSpPr>
        <p:sp>
          <p:nvSpPr>
            <p:cNvPr id="56" name="文字方塊 55">
              <a:extLst>
                <a:ext uri="{FF2B5EF4-FFF2-40B4-BE49-F238E27FC236}">
                  <a16:creationId xmlns:a16="http://schemas.microsoft.com/office/drawing/2014/main" id="{E9B673F8-4248-2B30-6164-DDBD1F7A6648}"/>
                </a:ext>
              </a:extLst>
            </p:cNvPr>
            <p:cNvSpPr txBox="1"/>
            <p:nvPr/>
          </p:nvSpPr>
          <p:spPr>
            <a:xfrm>
              <a:off x="2310570" y="6180720"/>
              <a:ext cx="396262" cy="369332"/>
            </a:xfrm>
            <a:prstGeom prst="rect">
              <a:avLst/>
            </a:prstGeom>
            <a:noFill/>
          </p:spPr>
          <p:txBody>
            <a:bodyPr wrap="none" rtlCol="0">
              <a:spAutoFit/>
            </a:bodyPr>
            <a:lstStyle/>
            <a:p>
              <a:r>
                <a:rPr kumimoji="1" lang="en-US" altLang="zh-TW" dirty="0"/>
                <a:t>A</a:t>
              </a:r>
              <a:r>
                <a:rPr kumimoji="1" lang="en-US" altLang="zh-TW" baseline="-25000" dirty="0"/>
                <a:t>0</a:t>
              </a:r>
              <a:endParaRPr kumimoji="1" lang="zh-TW" altLang="en-US" baseline="-25000" dirty="0"/>
            </a:p>
          </p:txBody>
        </p:sp>
        <p:sp>
          <p:nvSpPr>
            <p:cNvPr id="57" name="文字方塊 56">
              <a:extLst>
                <a:ext uri="{FF2B5EF4-FFF2-40B4-BE49-F238E27FC236}">
                  <a16:creationId xmlns:a16="http://schemas.microsoft.com/office/drawing/2014/main" id="{90FCD3E1-1926-53AD-7106-FB395E74CE7C}"/>
                </a:ext>
              </a:extLst>
            </p:cNvPr>
            <p:cNvSpPr txBox="1"/>
            <p:nvPr/>
          </p:nvSpPr>
          <p:spPr>
            <a:xfrm>
              <a:off x="3057101" y="6180720"/>
              <a:ext cx="396262" cy="369332"/>
            </a:xfrm>
            <a:prstGeom prst="rect">
              <a:avLst/>
            </a:prstGeom>
            <a:noFill/>
          </p:spPr>
          <p:txBody>
            <a:bodyPr wrap="none" rtlCol="0">
              <a:spAutoFit/>
            </a:bodyPr>
            <a:lstStyle/>
            <a:p>
              <a:r>
                <a:rPr kumimoji="1" lang="en-US" altLang="zh-TW" dirty="0"/>
                <a:t>A</a:t>
              </a:r>
              <a:r>
                <a:rPr kumimoji="1" lang="en-US" altLang="zh-TW" baseline="-25000" dirty="0"/>
                <a:t>1</a:t>
              </a:r>
              <a:endParaRPr kumimoji="1" lang="zh-TW" altLang="en-US" baseline="-25000" dirty="0"/>
            </a:p>
          </p:txBody>
        </p:sp>
        <p:sp>
          <p:nvSpPr>
            <p:cNvPr id="58" name="文字方塊 57">
              <a:extLst>
                <a:ext uri="{FF2B5EF4-FFF2-40B4-BE49-F238E27FC236}">
                  <a16:creationId xmlns:a16="http://schemas.microsoft.com/office/drawing/2014/main" id="{E49722BA-D2C8-4DA9-A235-E0C944AB56CD}"/>
                </a:ext>
              </a:extLst>
            </p:cNvPr>
            <p:cNvSpPr txBox="1"/>
            <p:nvPr/>
          </p:nvSpPr>
          <p:spPr>
            <a:xfrm>
              <a:off x="3810320" y="6180720"/>
              <a:ext cx="396262" cy="369332"/>
            </a:xfrm>
            <a:prstGeom prst="rect">
              <a:avLst/>
            </a:prstGeom>
            <a:noFill/>
          </p:spPr>
          <p:txBody>
            <a:bodyPr wrap="none" rtlCol="0">
              <a:spAutoFit/>
            </a:bodyPr>
            <a:lstStyle/>
            <a:p>
              <a:r>
                <a:rPr kumimoji="1" lang="en-US" altLang="zh-TW" dirty="0"/>
                <a:t>A</a:t>
              </a:r>
              <a:r>
                <a:rPr kumimoji="1" lang="en-US" altLang="zh-TW" baseline="-25000" dirty="0"/>
                <a:t>2</a:t>
              </a:r>
              <a:endParaRPr kumimoji="1" lang="zh-TW" altLang="en-US" baseline="-25000" dirty="0"/>
            </a:p>
          </p:txBody>
        </p:sp>
        <p:sp>
          <p:nvSpPr>
            <p:cNvPr id="59" name="文字方塊 58">
              <a:extLst>
                <a:ext uri="{FF2B5EF4-FFF2-40B4-BE49-F238E27FC236}">
                  <a16:creationId xmlns:a16="http://schemas.microsoft.com/office/drawing/2014/main" id="{34F2B7AD-93CB-B196-9A7B-82E32B540813}"/>
                </a:ext>
              </a:extLst>
            </p:cNvPr>
            <p:cNvSpPr txBox="1"/>
            <p:nvPr/>
          </p:nvSpPr>
          <p:spPr>
            <a:xfrm>
              <a:off x="4556851" y="6180720"/>
              <a:ext cx="396262" cy="369332"/>
            </a:xfrm>
            <a:prstGeom prst="rect">
              <a:avLst/>
            </a:prstGeom>
            <a:noFill/>
          </p:spPr>
          <p:txBody>
            <a:bodyPr wrap="none" rtlCol="0">
              <a:spAutoFit/>
            </a:bodyPr>
            <a:lstStyle/>
            <a:p>
              <a:r>
                <a:rPr kumimoji="1" lang="en-US" altLang="zh-TW" dirty="0"/>
                <a:t>A</a:t>
              </a:r>
              <a:r>
                <a:rPr kumimoji="1" lang="en-US" altLang="zh-TW" baseline="-25000" dirty="0"/>
                <a:t>3</a:t>
              </a:r>
              <a:endParaRPr kumimoji="1" lang="zh-TW" altLang="en-US" baseline="-25000" dirty="0"/>
            </a:p>
          </p:txBody>
        </p:sp>
        <p:sp>
          <p:nvSpPr>
            <p:cNvPr id="60" name="文字方塊 59">
              <a:extLst>
                <a:ext uri="{FF2B5EF4-FFF2-40B4-BE49-F238E27FC236}">
                  <a16:creationId xmlns:a16="http://schemas.microsoft.com/office/drawing/2014/main" id="{C0171A7B-24DA-5C7C-C1E9-78E1B3BEC34D}"/>
                </a:ext>
              </a:extLst>
            </p:cNvPr>
            <p:cNvSpPr txBox="1"/>
            <p:nvPr/>
          </p:nvSpPr>
          <p:spPr>
            <a:xfrm>
              <a:off x="5294595" y="6180720"/>
              <a:ext cx="396262" cy="369332"/>
            </a:xfrm>
            <a:prstGeom prst="rect">
              <a:avLst/>
            </a:prstGeom>
            <a:noFill/>
          </p:spPr>
          <p:txBody>
            <a:bodyPr wrap="none" rtlCol="0">
              <a:spAutoFit/>
            </a:bodyPr>
            <a:lstStyle/>
            <a:p>
              <a:r>
                <a:rPr kumimoji="1" lang="en-US" altLang="zh-TW" dirty="0"/>
                <a:t>A</a:t>
              </a:r>
              <a:r>
                <a:rPr kumimoji="1" lang="en-US" altLang="zh-TW" baseline="-25000" dirty="0"/>
                <a:t>4</a:t>
              </a:r>
              <a:endParaRPr kumimoji="1" lang="zh-TW" altLang="en-US" baseline="-25000" dirty="0"/>
            </a:p>
          </p:txBody>
        </p:sp>
        <p:sp>
          <p:nvSpPr>
            <p:cNvPr id="61" name="文字方塊 60">
              <a:extLst>
                <a:ext uri="{FF2B5EF4-FFF2-40B4-BE49-F238E27FC236}">
                  <a16:creationId xmlns:a16="http://schemas.microsoft.com/office/drawing/2014/main" id="{10E8DC73-30B7-806B-FD32-4AAEA628C039}"/>
                </a:ext>
              </a:extLst>
            </p:cNvPr>
            <p:cNvSpPr txBox="1"/>
            <p:nvPr/>
          </p:nvSpPr>
          <p:spPr>
            <a:xfrm>
              <a:off x="6039182" y="6180720"/>
              <a:ext cx="396262" cy="369332"/>
            </a:xfrm>
            <a:prstGeom prst="rect">
              <a:avLst/>
            </a:prstGeom>
            <a:noFill/>
          </p:spPr>
          <p:txBody>
            <a:bodyPr wrap="none" rtlCol="0">
              <a:spAutoFit/>
            </a:bodyPr>
            <a:lstStyle/>
            <a:p>
              <a:r>
                <a:rPr kumimoji="1" lang="en-US" altLang="zh-TW" dirty="0"/>
                <a:t>A</a:t>
              </a:r>
              <a:r>
                <a:rPr kumimoji="1" lang="en-US" altLang="zh-TW" baseline="-25000" dirty="0"/>
                <a:t>5</a:t>
              </a:r>
              <a:endParaRPr kumimoji="1" lang="zh-TW" altLang="en-US" baseline="-25000" dirty="0"/>
            </a:p>
          </p:txBody>
        </p:sp>
        <p:sp>
          <p:nvSpPr>
            <p:cNvPr id="62" name="文字方塊 61">
              <a:extLst>
                <a:ext uri="{FF2B5EF4-FFF2-40B4-BE49-F238E27FC236}">
                  <a16:creationId xmlns:a16="http://schemas.microsoft.com/office/drawing/2014/main" id="{B26DE158-15B3-2BE0-3338-C3CBACF1301E}"/>
                </a:ext>
              </a:extLst>
            </p:cNvPr>
            <p:cNvSpPr txBox="1"/>
            <p:nvPr/>
          </p:nvSpPr>
          <p:spPr>
            <a:xfrm>
              <a:off x="6776926" y="6180720"/>
              <a:ext cx="396262" cy="369332"/>
            </a:xfrm>
            <a:prstGeom prst="rect">
              <a:avLst/>
            </a:prstGeom>
            <a:noFill/>
          </p:spPr>
          <p:txBody>
            <a:bodyPr wrap="none" rtlCol="0">
              <a:spAutoFit/>
            </a:bodyPr>
            <a:lstStyle/>
            <a:p>
              <a:r>
                <a:rPr kumimoji="1" lang="en-US" altLang="zh-TW" dirty="0"/>
                <a:t>A</a:t>
              </a:r>
              <a:r>
                <a:rPr kumimoji="1" lang="en-US" altLang="zh-TW" baseline="-25000" dirty="0"/>
                <a:t>6</a:t>
              </a:r>
              <a:endParaRPr kumimoji="1" lang="zh-TW" altLang="en-US" baseline="-25000" dirty="0"/>
            </a:p>
          </p:txBody>
        </p:sp>
      </p:grpSp>
      <p:grpSp>
        <p:nvGrpSpPr>
          <p:cNvPr id="63" name="群組 62">
            <a:extLst>
              <a:ext uri="{FF2B5EF4-FFF2-40B4-BE49-F238E27FC236}">
                <a16:creationId xmlns:a16="http://schemas.microsoft.com/office/drawing/2014/main" id="{ADB8D255-9136-58DF-B6FA-177F86BB7877}"/>
              </a:ext>
            </a:extLst>
          </p:cNvPr>
          <p:cNvGrpSpPr/>
          <p:nvPr/>
        </p:nvGrpSpPr>
        <p:grpSpPr>
          <a:xfrm>
            <a:off x="8470658" y="5339976"/>
            <a:ext cx="1141476" cy="369332"/>
            <a:chOff x="7522626" y="6180720"/>
            <a:chExt cx="1141476" cy="369332"/>
          </a:xfrm>
        </p:grpSpPr>
        <p:sp>
          <p:nvSpPr>
            <p:cNvPr id="64" name="文字方塊 63">
              <a:extLst>
                <a:ext uri="{FF2B5EF4-FFF2-40B4-BE49-F238E27FC236}">
                  <a16:creationId xmlns:a16="http://schemas.microsoft.com/office/drawing/2014/main" id="{777AAA5C-0C91-7C21-142E-2D4BDABC4B9E}"/>
                </a:ext>
              </a:extLst>
            </p:cNvPr>
            <p:cNvSpPr txBox="1"/>
            <p:nvPr/>
          </p:nvSpPr>
          <p:spPr>
            <a:xfrm>
              <a:off x="7522626" y="6180720"/>
              <a:ext cx="396262" cy="369332"/>
            </a:xfrm>
            <a:prstGeom prst="rect">
              <a:avLst/>
            </a:prstGeom>
            <a:noFill/>
          </p:spPr>
          <p:txBody>
            <a:bodyPr wrap="none" rtlCol="0">
              <a:spAutoFit/>
            </a:bodyPr>
            <a:lstStyle/>
            <a:p>
              <a:r>
                <a:rPr kumimoji="1" lang="en-US" altLang="zh-TW" dirty="0"/>
                <a:t>A</a:t>
              </a:r>
              <a:r>
                <a:rPr kumimoji="1" lang="en-US" altLang="zh-TW" baseline="-25000" dirty="0"/>
                <a:t>7</a:t>
              </a:r>
              <a:endParaRPr kumimoji="1" lang="zh-TW" altLang="en-US" baseline="-25000" dirty="0"/>
            </a:p>
          </p:txBody>
        </p:sp>
        <p:sp>
          <p:nvSpPr>
            <p:cNvPr id="65" name="文字方塊 64">
              <a:extLst>
                <a:ext uri="{FF2B5EF4-FFF2-40B4-BE49-F238E27FC236}">
                  <a16:creationId xmlns:a16="http://schemas.microsoft.com/office/drawing/2014/main" id="{696EAC22-BCB8-B3C8-A2AC-0D58BCA1A478}"/>
                </a:ext>
              </a:extLst>
            </p:cNvPr>
            <p:cNvSpPr txBox="1"/>
            <p:nvPr/>
          </p:nvSpPr>
          <p:spPr>
            <a:xfrm>
              <a:off x="8267840" y="6180720"/>
              <a:ext cx="396262" cy="369332"/>
            </a:xfrm>
            <a:prstGeom prst="rect">
              <a:avLst/>
            </a:prstGeom>
            <a:noFill/>
          </p:spPr>
          <p:txBody>
            <a:bodyPr wrap="none" rtlCol="0">
              <a:spAutoFit/>
            </a:bodyPr>
            <a:lstStyle/>
            <a:p>
              <a:r>
                <a:rPr kumimoji="1" lang="en-US" altLang="zh-TW" dirty="0"/>
                <a:t>A</a:t>
              </a:r>
              <a:r>
                <a:rPr kumimoji="1" lang="en-US" altLang="zh-TW" baseline="-25000" dirty="0"/>
                <a:t>8</a:t>
              </a:r>
              <a:endParaRPr kumimoji="1" lang="zh-TW" altLang="en-US" baseline="-25000" dirty="0"/>
            </a:p>
          </p:txBody>
        </p:sp>
      </p:grpSp>
      <p:sp>
        <p:nvSpPr>
          <p:cNvPr id="66" name="迴轉箭號 65">
            <a:extLst>
              <a:ext uri="{FF2B5EF4-FFF2-40B4-BE49-F238E27FC236}">
                <a16:creationId xmlns:a16="http://schemas.microsoft.com/office/drawing/2014/main" id="{6AC3671F-4B20-A4F4-1530-A4D59B67E0CD}"/>
              </a:ext>
            </a:extLst>
          </p:cNvPr>
          <p:cNvSpPr/>
          <p:nvPr/>
        </p:nvSpPr>
        <p:spPr>
          <a:xfrm>
            <a:off x="2357318" y="4129581"/>
            <a:ext cx="4832123" cy="280342"/>
          </a:xfrm>
          <a:prstGeom prst="uturnArrow">
            <a:avLst>
              <a:gd name="adj1" fmla="val 29048"/>
              <a:gd name="adj2" fmla="val 25000"/>
              <a:gd name="adj3" fmla="val 33684"/>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67" name="迴轉箭號 66">
            <a:extLst>
              <a:ext uri="{FF2B5EF4-FFF2-40B4-BE49-F238E27FC236}">
                <a16:creationId xmlns:a16="http://schemas.microsoft.com/office/drawing/2014/main" id="{451A499C-6C1F-D688-C4DF-A0A1E5192AF8}"/>
              </a:ext>
            </a:extLst>
          </p:cNvPr>
          <p:cNvSpPr/>
          <p:nvPr/>
        </p:nvSpPr>
        <p:spPr>
          <a:xfrm flipH="1">
            <a:off x="6627348" y="4027937"/>
            <a:ext cx="929171" cy="386509"/>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0" name="矩形 69">
            <a:extLst>
              <a:ext uri="{FF2B5EF4-FFF2-40B4-BE49-F238E27FC236}">
                <a16:creationId xmlns:a16="http://schemas.microsoft.com/office/drawing/2014/main" id="{73CDA1F7-31FA-084B-D71D-A20E362A0357}"/>
              </a:ext>
            </a:extLst>
          </p:cNvPr>
          <p:cNvSpPr/>
          <p:nvPr/>
        </p:nvSpPr>
        <p:spPr>
          <a:xfrm>
            <a:off x="1269076" y="4407170"/>
            <a:ext cx="1632569" cy="1024549"/>
          </a:xfrm>
          <a:prstGeom prst="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Checkpoint Region</a:t>
            </a:r>
          </a:p>
          <a:p>
            <a:pPr algn="ctr"/>
            <a:r>
              <a:rPr kumimoji="1" lang="en-US" altLang="zh-TW" sz="1200" dirty="0" err="1">
                <a:solidFill>
                  <a:schemeClr val="tx1"/>
                </a:solidFill>
              </a:rPr>
              <a:t>Imap</a:t>
            </a:r>
            <a:r>
              <a:rPr kumimoji="1" lang="en-US" altLang="zh-TW" sz="1200" dirty="0">
                <a:solidFill>
                  <a:schemeClr val="tx1"/>
                </a:solidFill>
              </a:rPr>
              <a:t>[0-j]: A</a:t>
            </a:r>
            <a:r>
              <a:rPr kumimoji="1" lang="en-US" altLang="zh-TW" sz="1200" baseline="-25000" dirty="0">
                <a:solidFill>
                  <a:schemeClr val="tx1"/>
                </a:solidFill>
              </a:rPr>
              <a:t>5</a:t>
            </a:r>
          </a:p>
          <a:p>
            <a:pPr algn="ctr"/>
            <a:r>
              <a:rPr kumimoji="1" lang="en-US" altLang="zh-TW" sz="1200" dirty="0" err="1">
                <a:solidFill>
                  <a:schemeClr val="tx1"/>
                </a:solidFill>
              </a:rPr>
              <a:t>Imap</a:t>
            </a:r>
            <a:r>
              <a:rPr kumimoji="1" lang="en-US" altLang="zh-TW" sz="1200" dirty="0">
                <a:solidFill>
                  <a:schemeClr val="tx1"/>
                </a:solidFill>
              </a:rPr>
              <a:t>[k-n]: A</a:t>
            </a:r>
            <a:r>
              <a:rPr kumimoji="1" lang="en-US" altLang="zh-TW" sz="1200" baseline="-25000" dirty="0">
                <a:solidFill>
                  <a:schemeClr val="tx1"/>
                </a:solidFill>
              </a:rPr>
              <a:t>8</a:t>
            </a:r>
          </a:p>
        </p:txBody>
      </p:sp>
      <p:grpSp>
        <p:nvGrpSpPr>
          <p:cNvPr id="73" name="群組 72">
            <a:extLst>
              <a:ext uri="{FF2B5EF4-FFF2-40B4-BE49-F238E27FC236}">
                <a16:creationId xmlns:a16="http://schemas.microsoft.com/office/drawing/2014/main" id="{FB33B48A-18B6-51CC-1EA4-30A6BF202BBD}"/>
              </a:ext>
            </a:extLst>
          </p:cNvPr>
          <p:cNvGrpSpPr/>
          <p:nvPr/>
        </p:nvGrpSpPr>
        <p:grpSpPr>
          <a:xfrm>
            <a:off x="1016838" y="3843271"/>
            <a:ext cx="2348513" cy="506576"/>
            <a:chOff x="2690154" y="2887609"/>
            <a:chExt cx="6011049" cy="506576"/>
          </a:xfrm>
        </p:grpSpPr>
        <p:sp>
          <p:nvSpPr>
            <p:cNvPr id="74" name="文字方塊 73">
              <a:extLst>
                <a:ext uri="{FF2B5EF4-FFF2-40B4-BE49-F238E27FC236}">
                  <a16:creationId xmlns:a16="http://schemas.microsoft.com/office/drawing/2014/main" id="{A4BC2D1E-6EC7-C721-3140-9BD2FF222C16}"/>
                </a:ext>
              </a:extLst>
            </p:cNvPr>
            <p:cNvSpPr txBox="1"/>
            <p:nvPr/>
          </p:nvSpPr>
          <p:spPr>
            <a:xfrm>
              <a:off x="2690154" y="2887609"/>
              <a:ext cx="6011049" cy="369332"/>
            </a:xfrm>
            <a:prstGeom prst="rect">
              <a:avLst/>
            </a:prstGeom>
            <a:noFill/>
          </p:spPr>
          <p:txBody>
            <a:bodyPr wrap="square" rtlCol="0">
              <a:spAutoFit/>
            </a:bodyPr>
            <a:lstStyle/>
            <a:p>
              <a:r>
                <a:rPr kumimoji="1" lang="en-US" altLang="zh-TW" dirty="0">
                  <a:solidFill>
                    <a:srgbClr val="C00000"/>
                  </a:solidFill>
                </a:rPr>
                <a:t>Known fixed location</a:t>
              </a:r>
              <a:endParaRPr kumimoji="1" lang="zh-TW" altLang="en-US" dirty="0">
                <a:solidFill>
                  <a:srgbClr val="C00000"/>
                </a:solidFill>
              </a:endParaRPr>
            </a:p>
          </p:txBody>
        </p:sp>
        <p:sp>
          <p:nvSpPr>
            <p:cNvPr id="75" name="左大括弧 74">
              <a:extLst>
                <a:ext uri="{FF2B5EF4-FFF2-40B4-BE49-F238E27FC236}">
                  <a16:creationId xmlns:a16="http://schemas.microsoft.com/office/drawing/2014/main" id="{2F89CA2C-C6F5-0244-E499-997BE3A4E569}"/>
                </a:ext>
              </a:extLst>
            </p:cNvPr>
            <p:cNvSpPr/>
            <p:nvPr/>
          </p:nvSpPr>
          <p:spPr>
            <a:xfrm rot="5400000">
              <a:off x="5357799" y="1237643"/>
              <a:ext cx="134503" cy="4178581"/>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
        <p:nvSpPr>
          <p:cNvPr id="76" name="迴轉箭號 75">
            <a:extLst>
              <a:ext uri="{FF2B5EF4-FFF2-40B4-BE49-F238E27FC236}">
                <a16:creationId xmlns:a16="http://schemas.microsoft.com/office/drawing/2014/main" id="{12A86429-6D4B-5636-0012-7DA289586249}"/>
              </a:ext>
            </a:extLst>
          </p:cNvPr>
          <p:cNvSpPr/>
          <p:nvPr/>
        </p:nvSpPr>
        <p:spPr>
          <a:xfrm flipH="1">
            <a:off x="3348126" y="3902804"/>
            <a:ext cx="3203894"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7" name="迴轉箭號 76">
            <a:extLst>
              <a:ext uri="{FF2B5EF4-FFF2-40B4-BE49-F238E27FC236}">
                <a16:creationId xmlns:a16="http://schemas.microsoft.com/office/drawing/2014/main" id="{FDD7D940-FE2B-AD8E-0A8F-4013BD24BCD5}"/>
              </a:ext>
            </a:extLst>
          </p:cNvPr>
          <p:cNvSpPr/>
          <p:nvPr/>
        </p:nvSpPr>
        <p:spPr>
          <a:xfrm flipH="1">
            <a:off x="4043472" y="3902804"/>
            <a:ext cx="2508548" cy="515134"/>
          </a:xfrm>
          <a:prstGeom prst="uturnArrow">
            <a:avLst>
              <a:gd name="adj1" fmla="val 140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8" name="迴轉箭號 77">
            <a:extLst>
              <a:ext uri="{FF2B5EF4-FFF2-40B4-BE49-F238E27FC236}">
                <a16:creationId xmlns:a16="http://schemas.microsoft.com/office/drawing/2014/main" id="{C84945D6-483B-E657-E1C4-CB18766BA386}"/>
              </a:ext>
            </a:extLst>
          </p:cNvPr>
          <p:cNvSpPr/>
          <p:nvPr/>
        </p:nvSpPr>
        <p:spPr>
          <a:xfrm flipH="1">
            <a:off x="4791638" y="3902804"/>
            <a:ext cx="1753984" cy="515134"/>
          </a:xfrm>
          <a:prstGeom prst="uturnArrow">
            <a:avLst>
              <a:gd name="adj1" fmla="val 140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9" name="迴轉箭號 78">
            <a:extLst>
              <a:ext uri="{FF2B5EF4-FFF2-40B4-BE49-F238E27FC236}">
                <a16:creationId xmlns:a16="http://schemas.microsoft.com/office/drawing/2014/main" id="{4EFCCBBB-9DA3-779C-1A30-699A7F350BF7}"/>
              </a:ext>
            </a:extLst>
          </p:cNvPr>
          <p:cNvSpPr/>
          <p:nvPr/>
        </p:nvSpPr>
        <p:spPr>
          <a:xfrm flipH="1">
            <a:off x="5541565" y="3902804"/>
            <a:ext cx="1010455" cy="515134"/>
          </a:xfrm>
          <a:prstGeom prst="uturnArrow">
            <a:avLst>
              <a:gd name="adj1" fmla="val 140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Tree>
    <p:extLst>
      <p:ext uri="{BB962C8B-B14F-4D97-AF65-F5344CB8AC3E}">
        <p14:creationId xmlns:p14="http://schemas.microsoft.com/office/powerpoint/2010/main" val="124468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wipe(right)">
                                      <p:cBhvr>
                                        <p:cTn id="12" dur="500"/>
                                        <p:tgtEl>
                                          <p:spTgt spid="79"/>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wipe(right)">
                                      <p:cBhvr>
                                        <p:cTn id="16" dur="500"/>
                                        <p:tgtEl>
                                          <p:spTgt spid="78"/>
                                        </p:tgtEl>
                                      </p:cBhvr>
                                    </p:animEffect>
                                  </p:childTnLst>
                                </p:cTn>
                              </p:par>
                            </p:childTnLst>
                          </p:cTn>
                        </p:par>
                        <p:par>
                          <p:cTn id="17" fill="hold">
                            <p:stCondLst>
                              <p:cond delay="1000"/>
                            </p:stCondLst>
                            <p:childTnLst>
                              <p:par>
                                <p:cTn id="18" presetID="22" presetClass="entr" presetSubtype="2" fill="hold" grpId="0" nodeType="afterEffect">
                                  <p:stCondLst>
                                    <p:cond delay="0"/>
                                  </p:stCondLst>
                                  <p:childTnLst>
                                    <p:set>
                                      <p:cBhvr>
                                        <p:cTn id="19" dur="1" fill="hold">
                                          <p:stCondLst>
                                            <p:cond delay="0"/>
                                          </p:stCondLst>
                                        </p:cTn>
                                        <p:tgtEl>
                                          <p:spTgt spid="77"/>
                                        </p:tgtEl>
                                        <p:attrNameLst>
                                          <p:attrName>style.visibility</p:attrName>
                                        </p:attrNameLst>
                                      </p:cBhvr>
                                      <p:to>
                                        <p:strVal val="visible"/>
                                      </p:to>
                                    </p:set>
                                    <p:animEffect transition="in" filter="wipe(right)">
                                      <p:cBhvr>
                                        <p:cTn id="20" dur="500"/>
                                        <p:tgtEl>
                                          <p:spTgt spid="77"/>
                                        </p:tgtEl>
                                      </p:cBhvr>
                                    </p:animEffect>
                                  </p:childTnLst>
                                </p:cTn>
                              </p:par>
                            </p:childTnLst>
                          </p:cTn>
                        </p:par>
                        <p:par>
                          <p:cTn id="21" fill="hold">
                            <p:stCondLst>
                              <p:cond delay="1500"/>
                            </p:stCondLst>
                            <p:childTnLst>
                              <p:par>
                                <p:cTn id="22" presetID="22" presetClass="entr" presetSubtype="2" fill="hold" grpId="0" nodeType="afterEffect">
                                  <p:stCondLst>
                                    <p:cond delay="0"/>
                                  </p:stCondLst>
                                  <p:childTnLst>
                                    <p:set>
                                      <p:cBhvr>
                                        <p:cTn id="23" dur="1" fill="hold">
                                          <p:stCondLst>
                                            <p:cond delay="0"/>
                                          </p:stCondLst>
                                        </p:cTn>
                                        <p:tgtEl>
                                          <p:spTgt spid="76"/>
                                        </p:tgtEl>
                                        <p:attrNameLst>
                                          <p:attrName>style.visibility</p:attrName>
                                        </p:attrNameLst>
                                      </p:cBhvr>
                                      <p:to>
                                        <p:strVal val="visible"/>
                                      </p:to>
                                    </p:set>
                                    <p:animEffect transition="in" filter="wipe(right)">
                                      <p:cBhvr>
                                        <p:cTn id="24"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7" grpId="0" animBg="1"/>
      <p:bldP spid="78" grpId="0" animBg="1"/>
      <p:bldP spid="7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5BC3B6-3A03-43A9-38A3-EE5EC55B0013}"/>
              </a:ext>
            </a:extLst>
          </p:cNvPr>
          <p:cNvSpPr>
            <a:spLocks noGrp="1"/>
          </p:cNvSpPr>
          <p:nvPr>
            <p:ph type="title"/>
          </p:nvPr>
        </p:nvSpPr>
        <p:spPr/>
        <p:txBody>
          <a:bodyPr/>
          <a:lstStyle/>
          <a:p>
            <a:r>
              <a:rPr kumimoji="1" lang="en-US" altLang="zh-TW" dirty="0"/>
              <a:t>Log-Structure File System (Count.)</a:t>
            </a:r>
            <a:endParaRPr kumimoji="1" lang="zh-TW" altLang="en-US" dirty="0"/>
          </a:p>
        </p:txBody>
      </p:sp>
      <p:sp>
        <p:nvSpPr>
          <p:cNvPr id="3" name="內容版面配置區 2">
            <a:extLst>
              <a:ext uri="{FF2B5EF4-FFF2-40B4-BE49-F238E27FC236}">
                <a16:creationId xmlns:a16="http://schemas.microsoft.com/office/drawing/2014/main" id="{93856950-35C3-7886-7129-553661A0EC6A}"/>
              </a:ext>
            </a:extLst>
          </p:cNvPr>
          <p:cNvSpPr>
            <a:spLocks noGrp="1"/>
          </p:cNvSpPr>
          <p:nvPr>
            <p:ph idx="1"/>
          </p:nvPr>
        </p:nvSpPr>
        <p:spPr/>
        <p:txBody>
          <a:bodyPr/>
          <a:lstStyle/>
          <a:p>
            <a:r>
              <a:rPr kumimoji="1" lang="en-US" altLang="zh-TW" dirty="0"/>
              <a:t>What about Directories (/home/test)</a:t>
            </a:r>
          </a:p>
          <a:p>
            <a:pPr lvl="1"/>
            <a:r>
              <a:rPr lang="en-US" altLang="zh-TW" dirty="0">
                <a:solidFill>
                  <a:schemeClr val="tx1"/>
                </a:solidFill>
              </a:rPr>
              <a:t>A directory is just a collection of </a:t>
            </a:r>
            <a:r>
              <a:rPr lang="en-US" altLang="zh-TW" dirty="0">
                <a:solidFill>
                  <a:srgbClr val="C00000"/>
                </a:solidFill>
              </a:rPr>
              <a:t>(name, </a:t>
            </a:r>
            <a:r>
              <a:rPr lang="en-US" altLang="zh-TW" dirty="0" err="1">
                <a:solidFill>
                  <a:srgbClr val="C00000"/>
                </a:solidFill>
              </a:rPr>
              <a:t>inode</a:t>
            </a:r>
            <a:r>
              <a:rPr lang="en-US" altLang="zh-TW" dirty="0">
                <a:solidFill>
                  <a:srgbClr val="C00000"/>
                </a:solidFill>
              </a:rPr>
              <a:t> number) mappings.</a:t>
            </a:r>
          </a:p>
          <a:p>
            <a:pPr lvl="1"/>
            <a:r>
              <a:rPr kumimoji="1" lang="en-US" altLang="zh-TW" dirty="0">
                <a:solidFill>
                  <a:schemeClr val="tx1"/>
                </a:solidFill>
              </a:rPr>
              <a:t>A directory like a </a:t>
            </a:r>
            <a:r>
              <a:rPr kumimoji="1" lang="en-US" altLang="zh-TW" dirty="0">
                <a:solidFill>
                  <a:srgbClr val="C00000"/>
                </a:solidFill>
              </a:rPr>
              <a:t>file has their own </a:t>
            </a:r>
            <a:r>
              <a:rPr kumimoji="1" lang="en-US" altLang="zh-TW" dirty="0" err="1">
                <a:solidFill>
                  <a:srgbClr val="C00000"/>
                </a:solidFill>
              </a:rPr>
              <a:t>inode</a:t>
            </a:r>
            <a:r>
              <a:rPr kumimoji="1" lang="en-US" altLang="zh-TW" dirty="0">
                <a:solidFill>
                  <a:srgbClr val="C00000"/>
                </a:solidFill>
              </a:rPr>
              <a:t>.</a:t>
            </a:r>
          </a:p>
          <a:p>
            <a:pPr lvl="1"/>
            <a:r>
              <a:rPr kumimoji="1" lang="en-US" altLang="zh-TW" dirty="0">
                <a:solidFill>
                  <a:schemeClr val="tx1"/>
                </a:solidFill>
              </a:rPr>
              <a:t>Challenge </a:t>
            </a:r>
            <a:r>
              <a:rPr kumimoji="1" lang="en-US" altLang="zh-TW" dirty="0">
                <a:solidFill>
                  <a:srgbClr val="C00000"/>
                </a:solidFill>
              </a:rPr>
              <a:t>without </a:t>
            </a:r>
            <a:r>
              <a:rPr kumimoji="1" lang="en-US" altLang="zh-TW" dirty="0" err="1">
                <a:solidFill>
                  <a:srgbClr val="C00000"/>
                </a:solidFill>
              </a:rPr>
              <a:t>inode</a:t>
            </a:r>
            <a:r>
              <a:rPr kumimoji="1" lang="en-US" altLang="zh-TW" dirty="0">
                <a:solidFill>
                  <a:srgbClr val="C00000"/>
                </a:solidFill>
              </a:rPr>
              <a:t> map</a:t>
            </a:r>
            <a:r>
              <a:rPr lang="en-US" altLang="zh-TW" dirty="0">
                <a:solidFill>
                  <a:schemeClr val="tx1"/>
                </a:solidFill>
              </a:rPr>
              <a:t>: </a:t>
            </a:r>
            <a:r>
              <a:rPr kumimoji="1" lang="en-US" altLang="zh-TW" dirty="0">
                <a:solidFill>
                  <a:schemeClr val="tx1"/>
                </a:solidFill>
              </a:rPr>
              <a:t>recursive update problem</a:t>
            </a:r>
            <a:endParaRPr kumimoji="1" lang="en-US" altLang="zh-TW" dirty="0"/>
          </a:p>
        </p:txBody>
      </p:sp>
      <p:sp>
        <p:nvSpPr>
          <p:cNvPr id="4" name="投影片編號版面配置區 3">
            <a:extLst>
              <a:ext uri="{FF2B5EF4-FFF2-40B4-BE49-F238E27FC236}">
                <a16:creationId xmlns:a16="http://schemas.microsoft.com/office/drawing/2014/main" id="{C9908C72-7EF8-7779-49B9-CFC262338AEC}"/>
              </a:ext>
            </a:extLst>
          </p:cNvPr>
          <p:cNvSpPr>
            <a:spLocks noGrp="1"/>
          </p:cNvSpPr>
          <p:nvPr>
            <p:ph type="sldNum" sz="quarter" idx="4"/>
          </p:nvPr>
        </p:nvSpPr>
        <p:spPr/>
        <p:txBody>
          <a:bodyPr/>
          <a:lstStyle/>
          <a:p>
            <a:fld id="{E24E6636-6BA5-4AAC-8485-BE8D914D288B}" type="slidenum">
              <a:rPr lang="zh-TW" altLang="en-US" smtClean="0"/>
              <a:pPr/>
              <a:t>11</a:t>
            </a:fld>
            <a:endParaRPr lang="zh-TW" altLang="en-US" dirty="0"/>
          </a:p>
        </p:txBody>
      </p:sp>
      <p:grpSp>
        <p:nvGrpSpPr>
          <p:cNvPr id="25" name="群組 24">
            <a:extLst>
              <a:ext uri="{FF2B5EF4-FFF2-40B4-BE49-F238E27FC236}">
                <a16:creationId xmlns:a16="http://schemas.microsoft.com/office/drawing/2014/main" id="{868E65B8-778F-B9BB-643B-C1F49C012ED8}"/>
              </a:ext>
            </a:extLst>
          </p:cNvPr>
          <p:cNvGrpSpPr/>
          <p:nvPr/>
        </p:nvGrpSpPr>
        <p:grpSpPr>
          <a:xfrm>
            <a:off x="2165710" y="3535423"/>
            <a:ext cx="7587309" cy="1027304"/>
            <a:chOff x="1312852" y="5243322"/>
            <a:chExt cx="7587309" cy="1027304"/>
          </a:xfrm>
        </p:grpSpPr>
        <p:cxnSp>
          <p:nvCxnSpPr>
            <p:cNvPr id="26" name="直線接點 25">
              <a:extLst>
                <a:ext uri="{FF2B5EF4-FFF2-40B4-BE49-F238E27FC236}">
                  <a16:creationId xmlns:a16="http://schemas.microsoft.com/office/drawing/2014/main" id="{ABBE9F7E-D83B-85F9-821D-2EF26DB17195}"/>
                </a:ext>
              </a:extLst>
            </p:cNvPr>
            <p:cNvCxnSpPr>
              <a:cxnSpLocks/>
            </p:cNvCxnSpPr>
            <p:nvPr/>
          </p:nvCxnSpPr>
          <p:spPr>
            <a:xfrm>
              <a:off x="1817470" y="5243322"/>
              <a:ext cx="70826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CC964AF-EB22-EC6B-BD41-2DD60638ACDA}"/>
                </a:ext>
              </a:extLst>
            </p:cNvPr>
            <p:cNvCxnSpPr>
              <a:cxnSpLocks/>
            </p:cNvCxnSpPr>
            <p:nvPr/>
          </p:nvCxnSpPr>
          <p:spPr>
            <a:xfrm flipV="1">
              <a:off x="1817470" y="6267413"/>
              <a:ext cx="7082691" cy="3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1F066A4B-C39D-E281-29AE-4D44DBD94714}"/>
                </a:ext>
              </a:extLst>
            </p:cNvPr>
            <p:cNvSpPr txBox="1"/>
            <p:nvPr/>
          </p:nvSpPr>
          <p:spPr>
            <a:xfrm>
              <a:off x="1312852" y="5616377"/>
              <a:ext cx="614271" cy="369332"/>
            </a:xfrm>
            <a:prstGeom prst="rect">
              <a:avLst/>
            </a:prstGeom>
            <a:noFill/>
          </p:spPr>
          <p:txBody>
            <a:bodyPr wrap="none" rtlCol="0">
              <a:spAutoFit/>
            </a:bodyPr>
            <a:lstStyle/>
            <a:p>
              <a:r>
                <a:rPr kumimoji="1" lang="en-US" altLang="zh-TW" dirty="0"/>
                <a:t>HDD</a:t>
              </a:r>
              <a:endParaRPr kumimoji="1" lang="zh-TW" altLang="en-US" dirty="0"/>
            </a:p>
          </p:txBody>
        </p:sp>
      </p:grpSp>
      <p:sp>
        <p:nvSpPr>
          <p:cNvPr id="30" name="矩形 29">
            <a:extLst>
              <a:ext uri="{FF2B5EF4-FFF2-40B4-BE49-F238E27FC236}">
                <a16:creationId xmlns:a16="http://schemas.microsoft.com/office/drawing/2014/main" id="{FE4F5460-2998-2A68-16E4-2E67FA1757D8}"/>
              </a:ext>
            </a:extLst>
          </p:cNvPr>
          <p:cNvSpPr/>
          <p:nvPr/>
        </p:nvSpPr>
        <p:spPr>
          <a:xfrm>
            <a:off x="3333001" y="3535423"/>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D</a:t>
            </a:r>
            <a:r>
              <a:rPr kumimoji="1" lang="en-US" altLang="zh-TW" sz="1600" baseline="-25000" dirty="0" err="1">
                <a:solidFill>
                  <a:schemeClr val="tx1"/>
                </a:solidFill>
              </a:rPr>
              <a:t>j</a:t>
            </a:r>
            <a:endParaRPr kumimoji="1" lang="zh-TW" altLang="en-US" sz="1600" baseline="-25000" dirty="0">
              <a:solidFill>
                <a:schemeClr val="tx1"/>
              </a:solidFill>
            </a:endParaRPr>
          </a:p>
        </p:txBody>
      </p:sp>
      <p:sp>
        <p:nvSpPr>
          <p:cNvPr id="31" name="矩形 30">
            <a:extLst>
              <a:ext uri="{FF2B5EF4-FFF2-40B4-BE49-F238E27FC236}">
                <a16:creationId xmlns:a16="http://schemas.microsoft.com/office/drawing/2014/main" id="{06068536-0C9F-8040-A2D0-53AC4BD91A46}"/>
              </a:ext>
            </a:extLst>
          </p:cNvPr>
          <p:cNvSpPr/>
          <p:nvPr/>
        </p:nvSpPr>
        <p:spPr>
          <a:xfrm>
            <a:off x="4071942" y="353542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0</a:t>
            </a:r>
          </a:p>
        </p:txBody>
      </p:sp>
      <p:sp>
        <p:nvSpPr>
          <p:cNvPr id="37" name="矩形 36">
            <a:extLst>
              <a:ext uri="{FF2B5EF4-FFF2-40B4-BE49-F238E27FC236}">
                <a16:creationId xmlns:a16="http://schemas.microsoft.com/office/drawing/2014/main" id="{25ED11DA-BC34-0C49-E8E3-45089D10E007}"/>
              </a:ext>
            </a:extLst>
          </p:cNvPr>
          <p:cNvSpPr/>
          <p:nvPr/>
        </p:nvSpPr>
        <p:spPr>
          <a:xfrm>
            <a:off x="6295614" y="3535423"/>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Imap</a:t>
            </a:r>
            <a:endParaRPr kumimoji="1" lang="en-US" altLang="zh-TW" sz="1600" baseline="-25000" dirty="0">
              <a:solidFill>
                <a:schemeClr val="tx1"/>
              </a:solidFill>
            </a:endParaRPr>
          </a:p>
          <a:p>
            <a:pPr algn="ctr"/>
            <a:r>
              <a:rPr kumimoji="1" lang="en-US" altLang="zh-TW" sz="1200" dirty="0">
                <a:solidFill>
                  <a:schemeClr val="tx1"/>
                </a:solidFill>
              </a:rPr>
              <a:t>I[</a:t>
            </a:r>
            <a:r>
              <a:rPr kumimoji="1" lang="en-US" altLang="zh-TW" sz="1200" dirty="0" err="1">
                <a:solidFill>
                  <a:schemeClr val="tx1"/>
                </a:solidFill>
              </a:rPr>
              <a:t>dir</a:t>
            </a:r>
            <a:r>
              <a:rPr kumimoji="1" lang="en-US" altLang="zh-TW" sz="1200" dirty="0">
                <a:solidFill>
                  <a:schemeClr val="tx1"/>
                </a:solidFill>
              </a:rPr>
              <a:t>]:A</a:t>
            </a:r>
            <a:r>
              <a:rPr kumimoji="1" lang="en-US" altLang="zh-TW" sz="1200" baseline="-25000" dirty="0">
                <a:solidFill>
                  <a:schemeClr val="tx1"/>
                </a:solidFill>
              </a:rPr>
              <a:t>3</a:t>
            </a:r>
          </a:p>
          <a:p>
            <a:pPr algn="ctr"/>
            <a:r>
              <a:rPr kumimoji="1" lang="en-US" altLang="zh-TW" sz="1200" dirty="0">
                <a:solidFill>
                  <a:schemeClr val="tx1"/>
                </a:solidFill>
              </a:rPr>
              <a:t>I[j]:A</a:t>
            </a:r>
            <a:r>
              <a:rPr kumimoji="1" lang="en-US" altLang="zh-TW" sz="1200" baseline="-25000" dirty="0">
                <a:solidFill>
                  <a:schemeClr val="tx1"/>
                </a:solidFill>
              </a:rPr>
              <a:t>1</a:t>
            </a:r>
          </a:p>
          <a:p>
            <a:pPr algn="ctr"/>
            <a:endParaRPr kumimoji="1" lang="en-US" altLang="zh-TW" sz="1200" baseline="-25000" dirty="0">
              <a:solidFill>
                <a:schemeClr val="tx1"/>
              </a:solidFill>
            </a:endParaRPr>
          </a:p>
        </p:txBody>
      </p:sp>
      <p:grpSp>
        <p:nvGrpSpPr>
          <p:cNvPr id="55" name="群組 54">
            <a:extLst>
              <a:ext uri="{FF2B5EF4-FFF2-40B4-BE49-F238E27FC236}">
                <a16:creationId xmlns:a16="http://schemas.microsoft.com/office/drawing/2014/main" id="{5A883EDB-D445-EA36-CB2F-FA2A6960F1D0}"/>
              </a:ext>
            </a:extLst>
          </p:cNvPr>
          <p:cNvGrpSpPr/>
          <p:nvPr/>
        </p:nvGrpSpPr>
        <p:grpSpPr>
          <a:xfrm>
            <a:off x="3163428" y="4472821"/>
            <a:ext cx="3380287" cy="369332"/>
            <a:chOff x="2310570" y="6180720"/>
            <a:chExt cx="3380287" cy="369332"/>
          </a:xfrm>
        </p:grpSpPr>
        <p:sp>
          <p:nvSpPr>
            <p:cNvPr id="56" name="文字方塊 55">
              <a:extLst>
                <a:ext uri="{FF2B5EF4-FFF2-40B4-BE49-F238E27FC236}">
                  <a16:creationId xmlns:a16="http://schemas.microsoft.com/office/drawing/2014/main" id="{E9B673F8-4248-2B30-6164-DDBD1F7A6648}"/>
                </a:ext>
              </a:extLst>
            </p:cNvPr>
            <p:cNvSpPr txBox="1"/>
            <p:nvPr/>
          </p:nvSpPr>
          <p:spPr>
            <a:xfrm>
              <a:off x="2310570" y="6180720"/>
              <a:ext cx="396262" cy="369332"/>
            </a:xfrm>
            <a:prstGeom prst="rect">
              <a:avLst/>
            </a:prstGeom>
            <a:noFill/>
          </p:spPr>
          <p:txBody>
            <a:bodyPr wrap="none" rtlCol="0">
              <a:spAutoFit/>
            </a:bodyPr>
            <a:lstStyle/>
            <a:p>
              <a:r>
                <a:rPr kumimoji="1" lang="en-US" altLang="zh-TW" dirty="0"/>
                <a:t>A</a:t>
              </a:r>
              <a:r>
                <a:rPr kumimoji="1" lang="en-US" altLang="zh-TW" baseline="-25000" dirty="0"/>
                <a:t>0</a:t>
              </a:r>
              <a:endParaRPr kumimoji="1" lang="zh-TW" altLang="en-US" baseline="-25000" dirty="0"/>
            </a:p>
          </p:txBody>
        </p:sp>
        <p:sp>
          <p:nvSpPr>
            <p:cNvPr id="57" name="文字方塊 56">
              <a:extLst>
                <a:ext uri="{FF2B5EF4-FFF2-40B4-BE49-F238E27FC236}">
                  <a16:creationId xmlns:a16="http://schemas.microsoft.com/office/drawing/2014/main" id="{90FCD3E1-1926-53AD-7106-FB395E74CE7C}"/>
                </a:ext>
              </a:extLst>
            </p:cNvPr>
            <p:cNvSpPr txBox="1"/>
            <p:nvPr/>
          </p:nvSpPr>
          <p:spPr>
            <a:xfrm>
              <a:off x="3057101" y="6180720"/>
              <a:ext cx="396262" cy="369332"/>
            </a:xfrm>
            <a:prstGeom prst="rect">
              <a:avLst/>
            </a:prstGeom>
            <a:noFill/>
          </p:spPr>
          <p:txBody>
            <a:bodyPr wrap="none" rtlCol="0">
              <a:spAutoFit/>
            </a:bodyPr>
            <a:lstStyle/>
            <a:p>
              <a:r>
                <a:rPr kumimoji="1" lang="en-US" altLang="zh-TW" dirty="0"/>
                <a:t>A</a:t>
              </a:r>
              <a:r>
                <a:rPr kumimoji="1" lang="en-US" altLang="zh-TW" baseline="-25000" dirty="0"/>
                <a:t>1</a:t>
              </a:r>
              <a:endParaRPr kumimoji="1" lang="zh-TW" altLang="en-US" baseline="-25000" dirty="0"/>
            </a:p>
          </p:txBody>
        </p:sp>
        <p:sp>
          <p:nvSpPr>
            <p:cNvPr id="58" name="文字方塊 57">
              <a:extLst>
                <a:ext uri="{FF2B5EF4-FFF2-40B4-BE49-F238E27FC236}">
                  <a16:creationId xmlns:a16="http://schemas.microsoft.com/office/drawing/2014/main" id="{E49722BA-D2C8-4DA9-A235-E0C944AB56CD}"/>
                </a:ext>
              </a:extLst>
            </p:cNvPr>
            <p:cNvSpPr txBox="1"/>
            <p:nvPr/>
          </p:nvSpPr>
          <p:spPr>
            <a:xfrm>
              <a:off x="3810320" y="6180720"/>
              <a:ext cx="396262" cy="369332"/>
            </a:xfrm>
            <a:prstGeom prst="rect">
              <a:avLst/>
            </a:prstGeom>
            <a:noFill/>
          </p:spPr>
          <p:txBody>
            <a:bodyPr wrap="none" rtlCol="0">
              <a:spAutoFit/>
            </a:bodyPr>
            <a:lstStyle/>
            <a:p>
              <a:r>
                <a:rPr kumimoji="1" lang="en-US" altLang="zh-TW" dirty="0"/>
                <a:t>A</a:t>
              </a:r>
              <a:r>
                <a:rPr kumimoji="1" lang="en-US" altLang="zh-TW" baseline="-25000" dirty="0"/>
                <a:t>2</a:t>
              </a:r>
              <a:endParaRPr kumimoji="1" lang="zh-TW" altLang="en-US" baseline="-25000" dirty="0"/>
            </a:p>
          </p:txBody>
        </p:sp>
        <p:sp>
          <p:nvSpPr>
            <p:cNvPr id="59" name="文字方塊 58">
              <a:extLst>
                <a:ext uri="{FF2B5EF4-FFF2-40B4-BE49-F238E27FC236}">
                  <a16:creationId xmlns:a16="http://schemas.microsoft.com/office/drawing/2014/main" id="{34F2B7AD-93CB-B196-9A7B-82E32B540813}"/>
                </a:ext>
              </a:extLst>
            </p:cNvPr>
            <p:cNvSpPr txBox="1"/>
            <p:nvPr/>
          </p:nvSpPr>
          <p:spPr>
            <a:xfrm>
              <a:off x="4556851" y="6180720"/>
              <a:ext cx="396262" cy="369332"/>
            </a:xfrm>
            <a:prstGeom prst="rect">
              <a:avLst/>
            </a:prstGeom>
            <a:noFill/>
          </p:spPr>
          <p:txBody>
            <a:bodyPr wrap="none" rtlCol="0">
              <a:spAutoFit/>
            </a:bodyPr>
            <a:lstStyle/>
            <a:p>
              <a:r>
                <a:rPr kumimoji="1" lang="en-US" altLang="zh-TW" dirty="0"/>
                <a:t>A</a:t>
              </a:r>
              <a:r>
                <a:rPr kumimoji="1" lang="en-US" altLang="zh-TW" baseline="-25000" dirty="0"/>
                <a:t>3</a:t>
              </a:r>
              <a:endParaRPr kumimoji="1" lang="zh-TW" altLang="en-US" baseline="-25000" dirty="0"/>
            </a:p>
          </p:txBody>
        </p:sp>
        <p:sp>
          <p:nvSpPr>
            <p:cNvPr id="60" name="文字方塊 59">
              <a:extLst>
                <a:ext uri="{FF2B5EF4-FFF2-40B4-BE49-F238E27FC236}">
                  <a16:creationId xmlns:a16="http://schemas.microsoft.com/office/drawing/2014/main" id="{C0171A7B-24DA-5C7C-C1E9-78E1B3BEC34D}"/>
                </a:ext>
              </a:extLst>
            </p:cNvPr>
            <p:cNvSpPr txBox="1"/>
            <p:nvPr/>
          </p:nvSpPr>
          <p:spPr>
            <a:xfrm>
              <a:off x="5294595" y="6180720"/>
              <a:ext cx="396262" cy="369332"/>
            </a:xfrm>
            <a:prstGeom prst="rect">
              <a:avLst/>
            </a:prstGeom>
            <a:noFill/>
          </p:spPr>
          <p:txBody>
            <a:bodyPr wrap="none" rtlCol="0">
              <a:spAutoFit/>
            </a:bodyPr>
            <a:lstStyle/>
            <a:p>
              <a:r>
                <a:rPr kumimoji="1" lang="en-US" altLang="zh-TW" dirty="0"/>
                <a:t>A</a:t>
              </a:r>
              <a:r>
                <a:rPr kumimoji="1" lang="en-US" altLang="zh-TW" baseline="-25000" dirty="0"/>
                <a:t>4</a:t>
              </a:r>
              <a:endParaRPr kumimoji="1" lang="zh-TW" altLang="en-US" baseline="-25000" dirty="0"/>
            </a:p>
          </p:txBody>
        </p:sp>
      </p:grpSp>
      <p:sp>
        <p:nvSpPr>
          <p:cNvPr id="67" name="迴轉箭號 66">
            <a:extLst>
              <a:ext uri="{FF2B5EF4-FFF2-40B4-BE49-F238E27FC236}">
                <a16:creationId xmlns:a16="http://schemas.microsoft.com/office/drawing/2014/main" id="{451A499C-6C1F-D688-C4DF-A0A1E5192AF8}"/>
              </a:ext>
            </a:extLst>
          </p:cNvPr>
          <p:cNvSpPr/>
          <p:nvPr/>
        </p:nvSpPr>
        <p:spPr>
          <a:xfrm flipH="1">
            <a:off x="4740946" y="3257834"/>
            <a:ext cx="1259879" cy="280344"/>
          </a:xfrm>
          <a:prstGeom prst="uturnArrow">
            <a:avLst>
              <a:gd name="adj1" fmla="val 251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6" name="迴轉箭號 75">
            <a:extLst>
              <a:ext uri="{FF2B5EF4-FFF2-40B4-BE49-F238E27FC236}">
                <a16:creationId xmlns:a16="http://schemas.microsoft.com/office/drawing/2014/main" id="{12A86429-6D4B-5636-0012-7DA289586249}"/>
              </a:ext>
            </a:extLst>
          </p:cNvPr>
          <p:cNvSpPr/>
          <p:nvPr/>
        </p:nvSpPr>
        <p:spPr>
          <a:xfrm flipH="1">
            <a:off x="3252952" y="3261507"/>
            <a:ext cx="1192238" cy="289276"/>
          </a:xfrm>
          <a:prstGeom prst="uturnArrow">
            <a:avLst>
              <a:gd name="adj1" fmla="val 24801"/>
              <a:gd name="adj2" fmla="val 25000"/>
              <a:gd name="adj3" fmla="val 29708"/>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7" name="迴轉箭號 76">
            <a:extLst>
              <a:ext uri="{FF2B5EF4-FFF2-40B4-BE49-F238E27FC236}">
                <a16:creationId xmlns:a16="http://schemas.microsoft.com/office/drawing/2014/main" id="{FDD7D940-FE2B-AD8E-0A8F-4013BD24BCD5}"/>
              </a:ext>
            </a:extLst>
          </p:cNvPr>
          <p:cNvSpPr/>
          <p:nvPr/>
        </p:nvSpPr>
        <p:spPr>
          <a:xfrm flipH="1">
            <a:off x="3948298" y="3035649"/>
            <a:ext cx="2508548" cy="515134"/>
          </a:xfrm>
          <a:prstGeom prst="uturnArrow">
            <a:avLst>
              <a:gd name="adj1" fmla="val 140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9" name="迴轉箭號 78">
            <a:extLst>
              <a:ext uri="{FF2B5EF4-FFF2-40B4-BE49-F238E27FC236}">
                <a16:creationId xmlns:a16="http://schemas.microsoft.com/office/drawing/2014/main" id="{4EFCCBBB-9DA3-779C-1A30-699A7F350BF7}"/>
              </a:ext>
            </a:extLst>
          </p:cNvPr>
          <p:cNvSpPr/>
          <p:nvPr/>
        </p:nvSpPr>
        <p:spPr>
          <a:xfrm flipH="1">
            <a:off x="5446391" y="3035649"/>
            <a:ext cx="1010455" cy="515134"/>
          </a:xfrm>
          <a:prstGeom prst="uturnArrow">
            <a:avLst>
              <a:gd name="adj1" fmla="val 140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
        <p:nvSpPr>
          <p:cNvPr id="82" name="矩形 81">
            <a:extLst>
              <a:ext uri="{FF2B5EF4-FFF2-40B4-BE49-F238E27FC236}">
                <a16:creationId xmlns:a16="http://schemas.microsoft.com/office/drawing/2014/main" id="{A561951C-C4D5-ACFC-75BE-93A509BD2B1A}"/>
              </a:ext>
            </a:extLst>
          </p:cNvPr>
          <p:cNvSpPr/>
          <p:nvPr/>
        </p:nvSpPr>
        <p:spPr>
          <a:xfrm>
            <a:off x="4812268" y="3535423"/>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D</a:t>
            </a:r>
            <a:r>
              <a:rPr kumimoji="1" lang="en-US" altLang="zh-TW" sz="1600" baseline="-25000" dirty="0" err="1">
                <a:solidFill>
                  <a:schemeClr val="tx1"/>
                </a:solidFill>
              </a:rPr>
              <a:t>dir</a:t>
            </a:r>
            <a:endParaRPr kumimoji="1" lang="en-US" altLang="zh-TW" sz="1600" baseline="-25000" dirty="0">
              <a:solidFill>
                <a:schemeClr val="tx1"/>
              </a:solidFill>
            </a:endParaRPr>
          </a:p>
          <a:p>
            <a:pPr algn="ctr"/>
            <a:r>
              <a:rPr kumimoji="1" lang="en-US" altLang="zh-TW" sz="1200" dirty="0">
                <a:solidFill>
                  <a:schemeClr val="tx1"/>
                </a:solidFill>
              </a:rPr>
              <a:t>(test, j)</a:t>
            </a:r>
            <a:endParaRPr kumimoji="1" lang="zh-TW" altLang="en-US" sz="1200" dirty="0">
              <a:solidFill>
                <a:schemeClr val="tx1"/>
              </a:solidFill>
            </a:endParaRPr>
          </a:p>
        </p:txBody>
      </p:sp>
      <p:sp>
        <p:nvSpPr>
          <p:cNvPr id="83" name="矩形 82">
            <a:extLst>
              <a:ext uri="{FF2B5EF4-FFF2-40B4-BE49-F238E27FC236}">
                <a16:creationId xmlns:a16="http://schemas.microsoft.com/office/drawing/2014/main" id="{C5656271-9CB9-8953-5AAF-1DDC6BE283D6}"/>
              </a:ext>
            </a:extLst>
          </p:cNvPr>
          <p:cNvSpPr/>
          <p:nvPr/>
        </p:nvSpPr>
        <p:spPr>
          <a:xfrm>
            <a:off x="5551209" y="353542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dir</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2</a:t>
            </a:r>
          </a:p>
        </p:txBody>
      </p:sp>
      <p:sp>
        <p:nvSpPr>
          <p:cNvPr id="86" name="文字方塊 85">
            <a:extLst>
              <a:ext uri="{FF2B5EF4-FFF2-40B4-BE49-F238E27FC236}">
                <a16:creationId xmlns:a16="http://schemas.microsoft.com/office/drawing/2014/main" id="{BEE75493-3CCA-CDD5-DD36-CF9BF7DB2E0F}"/>
              </a:ext>
            </a:extLst>
          </p:cNvPr>
          <p:cNvSpPr txBox="1"/>
          <p:nvPr/>
        </p:nvSpPr>
        <p:spPr>
          <a:xfrm>
            <a:off x="2772703" y="3213340"/>
            <a:ext cx="1909433" cy="369332"/>
          </a:xfrm>
          <a:prstGeom prst="rect">
            <a:avLst/>
          </a:prstGeom>
          <a:noFill/>
        </p:spPr>
        <p:txBody>
          <a:bodyPr wrap="none" rtlCol="0">
            <a:spAutoFit/>
          </a:bodyPr>
          <a:lstStyle/>
          <a:p>
            <a:r>
              <a:rPr kumimoji="1" lang="en-US" altLang="zh-TW" dirty="0">
                <a:solidFill>
                  <a:srgbClr val="C00000"/>
                </a:solidFill>
              </a:rPr>
              <a:t>Update test (or </a:t>
            </a:r>
            <a:r>
              <a:rPr kumimoji="1" lang="en-US" altLang="zh-TW" dirty="0" err="1">
                <a:solidFill>
                  <a:srgbClr val="C00000"/>
                </a:solidFill>
              </a:rPr>
              <a:t>D</a:t>
            </a:r>
            <a:r>
              <a:rPr kumimoji="1" lang="en-US" altLang="zh-TW" baseline="-25000" dirty="0" err="1">
                <a:solidFill>
                  <a:srgbClr val="C00000"/>
                </a:solidFill>
              </a:rPr>
              <a:t>j</a:t>
            </a:r>
            <a:r>
              <a:rPr kumimoji="1" lang="en-US" altLang="zh-TW" dirty="0">
                <a:solidFill>
                  <a:srgbClr val="C00000"/>
                </a:solidFill>
              </a:rPr>
              <a:t>)</a:t>
            </a:r>
            <a:endParaRPr kumimoji="1" lang="zh-TW" altLang="en-US" dirty="0">
              <a:solidFill>
                <a:srgbClr val="C00000"/>
              </a:solidFill>
            </a:endParaRPr>
          </a:p>
        </p:txBody>
      </p:sp>
      <p:sp>
        <p:nvSpPr>
          <p:cNvPr id="87" name="文字方塊 86">
            <a:extLst>
              <a:ext uri="{FF2B5EF4-FFF2-40B4-BE49-F238E27FC236}">
                <a16:creationId xmlns:a16="http://schemas.microsoft.com/office/drawing/2014/main" id="{DF9FCAD7-592C-B506-307F-4C21C2FBCC7D}"/>
              </a:ext>
            </a:extLst>
          </p:cNvPr>
          <p:cNvSpPr txBox="1"/>
          <p:nvPr/>
        </p:nvSpPr>
        <p:spPr>
          <a:xfrm>
            <a:off x="6869425" y="4472821"/>
            <a:ext cx="396262" cy="369332"/>
          </a:xfrm>
          <a:prstGeom prst="rect">
            <a:avLst/>
          </a:prstGeom>
          <a:noFill/>
        </p:spPr>
        <p:txBody>
          <a:bodyPr wrap="none" rtlCol="0">
            <a:spAutoFit/>
          </a:bodyPr>
          <a:lstStyle/>
          <a:p>
            <a:r>
              <a:rPr kumimoji="1" lang="en-US" altLang="zh-TW" dirty="0"/>
              <a:t>A</a:t>
            </a:r>
            <a:r>
              <a:rPr kumimoji="1" lang="en-US" altLang="zh-TW" baseline="-25000" dirty="0"/>
              <a:t>5</a:t>
            </a:r>
            <a:endParaRPr kumimoji="1" lang="zh-TW" altLang="en-US" baseline="-25000" dirty="0"/>
          </a:p>
        </p:txBody>
      </p:sp>
      <p:sp>
        <p:nvSpPr>
          <p:cNvPr id="88" name="文字方塊 87">
            <a:extLst>
              <a:ext uri="{FF2B5EF4-FFF2-40B4-BE49-F238E27FC236}">
                <a16:creationId xmlns:a16="http://schemas.microsoft.com/office/drawing/2014/main" id="{7FA9206F-DF77-2755-404B-5F3EF78A78BC}"/>
              </a:ext>
            </a:extLst>
          </p:cNvPr>
          <p:cNvSpPr txBox="1"/>
          <p:nvPr/>
        </p:nvSpPr>
        <p:spPr>
          <a:xfrm>
            <a:off x="7626418" y="4472821"/>
            <a:ext cx="396262" cy="369332"/>
          </a:xfrm>
          <a:prstGeom prst="rect">
            <a:avLst/>
          </a:prstGeom>
          <a:noFill/>
        </p:spPr>
        <p:txBody>
          <a:bodyPr wrap="none" rtlCol="0">
            <a:spAutoFit/>
          </a:bodyPr>
          <a:lstStyle/>
          <a:p>
            <a:r>
              <a:rPr kumimoji="1" lang="en-US" altLang="zh-TW" dirty="0"/>
              <a:t>A</a:t>
            </a:r>
            <a:r>
              <a:rPr kumimoji="1" lang="en-US" altLang="zh-TW" baseline="-25000" dirty="0"/>
              <a:t>6</a:t>
            </a:r>
            <a:endParaRPr kumimoji="1" lang="zh-TW" altLang="en-US" baseline="-25000" dirty="0"/>
          </a:p>
        </p:txBody>
      </p:sp>
      <p:sp>
        <p:nvSpPr>
          <p:cNvPr id="89" name="文字方塊 88">
            <a:extLst>
              <a:ext uri="{FF2B5EF4-FFF2-40B4-BE49-F238E27FC236}">
                <a16:creationId xmlns:a16="http://schemas.microsoft.com/office/drawing/2014/main" id="{AA027BD5-F098-A215-5EDD-AB1335B4753F}"/>
              </a:ext>
            </a:extLst>
          </p:cNvPr>
          <p:cNvSpPr txBox="1"/>
          <p:nvPr/>
        </p:nvSpPr>
        <p:spPr>
          <a:xfrm>
            <a:off x="8319384" y="4472821"/>
            <a:ext cx="396262" cy="369332"/>
          </a:xfrm>
          <a:prstGeom prst="rect">
            <a:avLst/>
          </a:prstGeom>
          <a:noFill/>
        </p:spPr>
        <p:txBody>
          <a:bodyPr wrap="none" rtlCol="0">
            <a:spAutoFit/>
          </a:bodyPr>
          <a:lstStyle/>
          <a:p>
            <a:r>
              <a:rPr kumimoji="1" lang="en-US" altLang="zh-TW" dirty="0"/>
              <a:t>A</a:t>
            </a:r>
            <a:r>
              <a:rPr kumimoji="1" lang="en-US" altLang="zh-TW" baseline="-25000" dirty="0"/>
              <a:t>7</a:t>
            </a:r>
            <a:endParaRPr kumimoji="1" lang="zh-TW" altLang="en-US" baseline="-25000" dirty="0"/>
          </a:p>
        </p:txBody>
      </p:sp>
      <p:sp>
        <p:nvSpPr>
          <p:cNvPr id="90" name="矩形 89">
            <a:extLst>
              <a:ext uri="{FF2B5EF4-FFF2-40B4-BE49-F238E27FC236}">
                <a16:creationId xmlns:a16="http://schemas.microsoft.com/office/drawing/2014/main" id="{6B6F0316-1EDA-4C92-39FE-360913A24A42}"/>
              </a:ext>
            </a:extLst>
          </p:cNvPr>
          <p:cNvSpPr/>
          <p:nvPr/>
        </p:nvSpPr>
        <p:spPr>
          <a:xfrm>
            <a:off x="7037214" y="3535423"/>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D</a:t>
            </a:r>
            <a:r>
              <a:rPr kumimoji="1" lang="en-US" altLang="zh-TW" sz="1600" baseline="-25000" dirty="0" err="1">
                <a:solidFill>
                  <a:schemeClr val="tx1"/>
                </a:solidFill>
              </a:rPr>
              <a:t>j</a:t>
            </a:r>
            <a:endParaRPr kumimoji="1" lang="zh-TW" altLang="en-US" sz="1600" baseline="-25000" dirty="0">
              <a:solidFill>
                <a:schemeClr val="tx1"/>
              </a:solidFill>
            </a:endParaRPr>
          </a:p>
        </p:txBody>
      </p:sp>
      <p:sp>
        <p:nvSpPr>
          <p:cNvPr id="93" name="矩形 92">
            <a:extLst>
              <a:ext uri="{FF2B5EF4-FFF2-40B4-BE49-F238E27FC236}">
                <a16:creationId xmlns:a16="http://schemas.microsoft.com/office/drawing/2014/main" id="{DE713012-647A-B326-4EE5-51CABEB5109F}"/>
              </a:ext>
            </a:extLst>
          </p:cNvPr>
          <p:cNvSpPr/>
          <p:nvPr/>
        </p:nvSpPr>
        <p:spPr>
          <a:xfrm>
            <a:off x="7775915" y="353542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5</a:t>
            </a:r>
          </a:p>
        </p:txBody>
      </p:sp>
      <p:sp>
        <p:nvSpPr>
          <p:cNvPr id="94" name="矩形 93">
            <a:extLst>
              <a:ext uri="{FF2B5EF4-FFF2-40B4-BE49-F238E27FC236}">
                <a16:creationId xmlns:a16="http://schemas.microsoft.com/office/drawing/2014/main" id="{82D45FBF-DA11-2554-B102-488D49C2FC5F}"/>
              </a:ext>
            </a:extLst>
          </p:cNvPr>
          <p:cNvSpPr/>
          <p:nvPr/>
        </p:nvSpPr>
        <p:spPr>
          <a:xfrm>
            <a:off x="8514616" y="3535423"/>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Imap</a:t>
            </a:r>
            <a:endParaRPr kumimoji="1" lang="en-US" altLang="zh-TW" sz="1600" baseline="-25000" dirty="0">
              <a:solidFill>
                <a:schemeClr val="tx1"/>
              </a:solidFill>
            </a:endParaRPr>
          </a:p>
          <a:p>
            <a:pPr algn="ctr"/>
            <a:r>
              <a:rPr kumimoji="1" lang="en-US" altLang="zh-TW" sz="1200" dirty="0">
                <a:solidFill>
                  <a:schemeClr val="tx1"/>
                </a:solidFill>
              </a:rPr>
              <a:t>I[</a:t>
            </a:r>
            <a:r>
              <a:rPr kumimoji="1" lang="en-US" altLang="zh-TW" sz="1200" dirty="0" err="1">
                <a:solidFill>
                  <a:schemeClr val="tx1"/>
                </a:solidFill>
              </a:rPr>
              <a:t>dir</a:t>
            </a:r>
            <a:r>
              <a:rPr kumimoji="1" lang="en-US" altLang="zh-TW" sz="1200" dirty="0">
                <a:solidFill>
                  <a:schemeClr val="tx1"/>
                </a:solidFill>
              </a:rPr>
              <a:t>]:A</a:t>
            </a:r>
            <a:r>
              <a:rPr kumimoji="1" lang="en-US" altLang="zh-TW" sz="1200" baseline="-25000" dirty="0">
                <a:solidFill>
                  <a:schemeClr val="tx1"/>
                </a:solidFill>
              </a:rPr>
              <a:t>3</a:t>
            </a:r>
          </a:p>
          <a:p>
            <a:pPr algn="ctr"/>
            <a:r>
              <a:rPr kumimoji="1" lang="en-US" altLang="zh-TW" sz="1200" dirty="0">
                <a:solidFill>
                  <a:schemeClr val="tx1"/>
                </a:solidFill>
              </a:rPr>
              <a:t>I[j]:A</a:t>
            </a:r>
            <a:r>
              <a:rPr kumimoji="1" lang="en-US" altLang="zh-TW" sz="1200" baseline="-25000" dirty="0">
                <a:solidFill>
                  <a:schemeClr val="tx1"/>
                </a:solidFill>
              </a:rPr>
              <a:t>6</a:t>
            </a:r>
          </a:p>
          <a:p>
            <a:pPr algn="ctr"/>
            <a:endParaRPr kumimoji="1" lang="en-US" altLang="zh-TW" sz="1200" baseline="-25000" dirty="0">
              <a:solidFill>
                <a:schemeClr val="tx1"/>
              </a:solidFill>
            </a:endParaRPr>
          </a:p>
        </p:txBody>
      </p:sp>
      <p:grpSp>
        <p:nvGrpSpPr>
          <p:cNvPr id="95" name="群組 94">
            <a:extLst>
              <a:ext uri="{FF2B5EF4-FFF2-40B4-BE49-F238E27FC236}">
                <a16:creationId xmlns:a16="http://schemas.microsoft.com/office/drawing/2014/main" id="{2FBD297E-A78E-B41E-D3D3-1CFA36E803F1}"/>
              </a:ext>
            </a:extLst>
          </p:cNvPr>
          <p:cNvGrpSpPr/>
          <p:nvPr/>
        </p:nvGrpSpPr>
        <p:grpSpPr>
          <a:xfrm>
            <a:off x="2201694" y="5436273"/>
            <a:ext cx="7582287" cy="1024549"/>
            <a:chOff x="1317874" y="5246077"/>
            <a:chExt cx="7582287" cy="1024549"/>
          </a:xfrm>
        </p:grpSpPr>
        <p:cxnSp>
          <p:nvCxnSpPr>
            <p:cNvPr id="96" name="直線接點 95">
              <a:extLst>
                <a:ext uri="{FF2B5EF4-FFF2-40B4-BE49-F238E27FC236}">
                  <a16:creationId xmlns:a16="http://schemas.microsoft.com/office/drawing/2014/main" id="{0E21D247-C3D0-8ED1-4658-B5CFC36536F1}"/>
                </a:ext>
              </a:extLst>
            </p:cNvPr>
            <p:cNvCxnSpPr>
              <a:cxnSpLocks/>
            </p:cNvCxnSpPr>
            <p:nvPr/>
          </p:nvCxnSpPr>
          <p:spPr>
            <a:xfrm>
              <a:off x="1817470" y="5246077"/>
              <a:ext cx="69460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58F0FA0D-BB76-5B9A-9CDA-8C673CA91103}"/>
                </a:ext>
              </a:extLst>
            </p:cNvPr>
            <p:cNvCxnSpPr>
              <a:cxnSpLocks/>
            </p:cNvCxnSpPr>
            <p:nvPr/>
          </p:nvCxnSpPr>
          <p:spPr>
            <a:xfrm flipV="1">
              <a:off x="1817470" y="6267413"/>
              <a:ext cx="7082691" cy="3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文字方塊 97">
              <a:extLst>
                <a:ext uri="{FF2B5EF4-FFF2-40B4-BE49-F238E27FC236}">
                  <a16:creationId xmlns:a16="http://schemas.microsoft.com/office/drawing/2014/main" id="{FBA06A67-B49F-5597-7CB3-1A4F62B4E2E4}"/>
                </a:ext>
              </a:extLst>
            </p:cNvPr>
            <p:cNvSpPr txBox="1"/>
            <p:nvPr/>
          </p:nvSpPr>
          <p:spPr>
            <a:xfrm>
              <a:off x="1317874" y="5550935"/>
              <a:ext cx="614271" cy="369332"/>
            </a:xfrm>
            <a:prstGeom prst="rect">
              <a:avLst/>
            </a:prstGeom>
            <a:noFill/>
          </p:spPr>
          <p:txBody>
            <a:bodyPr wrap="none" rtlCol="0">
              <a:spAutoFit/>
            </a:bodyPr>
            <a:lstStyle/>
            <a:p>
              <a:r>
                <a:rPr kumimoji="1" lang="en-US" altLang="zh-TW" dirty="0"/>
                <a:t>HDD</a:t>
              </a:r>
              <a:endParaRPr kumimoji="1" lang="zh-TW" altLang="en-US" dirty="0"/>
            </a:p>
          </p:txBody>
        </p:sp>
      </p:grpSp>
      <p:sp>
        <p:nvSpPr>
          <p:cNvPr id="99" name="矩形 98">
            <a:extLst>
              <a:ext uri="{FF2B5EF4-FFF2-40B4-BE49-F238E27FC236}">
                <a16:creationId xmlns:a16="http://schemas.microsoft.com/office/drawing/2014/main" id="{F46CE9EB-D5A2-DEBA-2CD9-2F54B66B2585}"/>
              </a:ext>
            </a:extLst>
          </p:cNvPr>
          <p:cNvSpPr/>
          <p:nvPr/>
        </p:nvSpPr>
        <p:spPr>
          <a:xfrm>
            <a:off x="3363963" y="5433518"/>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D</a:t>
            </a:r>
            <a:r>
              <a:rPr kumimoji="1" lang="en-US" altLang="zh-TW" sz="1600" baseline="-25000" dirty="0" err="1">
                <a:solidFill>
                  <a:schemeClr val="tx1"/>
                </a:solidFill>
              </a:rPr>
              <a:t>j</a:t>
            </a:r>
            <a:endParaRPr kumimoji="1" lang="zh-TW" altLang="en-US" sz="1600" baseline="-25000" dirty="0">
              <a:solidFill>
                <a:schemeClr val="tx1"/>
              </a:solidFill>
            </a:endParaRPr>
          </a:p>
        </p:txBody>
      </p:sp>
      <p:sp>
        <p:nvSpPr>
          <p:cNvPr id="100" name="矩形 99">
            <a:extLst>
              <a:ext uri="{FF2B5EF4-FFF2-40B4-BE49-F238E27FC236}">
                <a16:creationId xmlns:a16="http://schemas.microsoft.com/office/drawing/2014/main" id="{E066594C-33C2-E07F-47A4-53D5B45B2FC6}"/>
              </a:ext>
            </a:extLst>
          </p:cNvPr>
          <p:cNvSpPr/>
          <p:nvPr/>
        </p:nvSpPr>
        <p:spPr>
          <a:xfrm>
            <a:off x="4102904" y="5433518"/>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0</a:t>
            </a:r>
          </a:p>
        </p:txBody>
      </p:sp>
      <p:sp>
        <p:nvSpPr>
          <p:cNvPr id="101" name="矩形 100">
            <a:extLst>
              <a:ext uri="{FF2B5EF4-FFF2-40B4-BE49-F238E27FC236}">
                <a16:creationId xmlns:a16="http://schemas.microsoft.com/office/drawing/2014/main" id="{90227DDD-5DEC-A8A1-DB82-D22610C3E92D}"/>
              </a:ext>
            </a:extLst>
          </p:cNvPr>
          <p:cNvSpPr/>
          <p:nvPr/>
        </p:nvSpPr>
        <p:spPr>
          <a:xfrm>
            <a:off x="4843230" y="5433518"/>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a:r>
              <a:rPr kumimoji="1" lang="en-US" altLang="zh-TW" sz="1600" dirty="0" err="1">
                <a:solidFill>
                  <a:prstClr val="black"/>
                </a:solidFill>
              </a:rPr>
              <a:t>D</a:t>
            </a:r>
            <a:r>
              <a:rPr kumimoji="1" lang="en-US" altLang="zh-TW" sz="1600" baseline="-25000" dirty="0" err="1">
                <a:solidFill>
                  <a:prstClr val="black"/>
                </a:solidFill>
              </a:rPr>
              <a:t>dir</a:t>
            </a:r>
            <a:endParaRPr kumimoji="1" lang="en-US" altLang="zh-TW" sz="1600" baseline="-25000" dirty="0">
              <a:solidFill>
                <a:prstClr val="black"/>
              </a:solidFill>
            </a:endParaRPr>
          </a:p>
          <a:p>
            <a:pPr lvl="0" algn="ctr"/>
            <a:r>
              <a:rPr kumimoji="1" lang="en-US" altLang="zh-TW" sz="1200" dirty="0">
                <a:solidFill>
                  <a:prstClr val="black"/>
                </a:solidFill>
              </a:rPr>
              <a:t>(test, j, </a:t>
            </a:r>
            <a:r>
              <a:rPr kumimoji="1" lang="en-US" altLang="zh-TW" sz="1200" dirty="0">
                <a:solidFill>
                  <a:srgbClr val="C00000"/>
                </a:solidFill>
              </a:rPr>
              <a:t>A</a:t>
            </a:r>
            <a:r>
              <a:rPr kumimoji="1" lang="en-US" altLang="zh-TW" sz="1200" baseline="-25000" dirty="0">
                <a:solidFill>
                  <a:srgbClr val="C00000"/>
                </a:solidFill>
              </a:rPr>
              <a:t>0</a:t>
            </a:r>
            <a:r>
              <a:rPr kumimoji="1" lang="en-US" altLang="zh-TW" sz="1200" dirty="0">
                <a:solidFill>
                  <a:prstClr val="black"/>
                </a:solidFill>
              </a:rPr>
              <a:t>)</a:t>
            </a:r>
            <a:endParaRPr kumimoji="1" lang="zh-TW" altLang="en-US" sz="1200" dirty="0">
              <a:solidFill>
                <a:prstClr val="black"/>
              </a:solidFill>
            </a:endParaRPr>
          </a:p>
        </p:txBody>
      </p:sp>
      <p:sp>
        <p:nvSpPr>
          <p:cNvPr id="102" name="矩形 101">
            <a:extLst>
              <a:ext uri="{FF2B5EF4-FFF2-40B4-BE49-F238E27FC236}">
                <a16:creationId xmlns:a16="http://schemas.microsoft.com/office/drawing/2014/main" id="{FB59173A-8824-16F9-A384-F0AB06DA4D19}"/>
              </a:ext>
            </a:extLst>
          </p:cNvPr>
          <p:cNvSpPr/>
          <p:nvPr/>
        </p:nvSpPr>
        <p:spPr>
          <a:xfrm>
            <a:off x="5582171" y="5433518"/>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dir</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2</a:t>
            </a:r>
          </a:p>
        </p:txBody>
      </p:sp>
      <p:grpSp>
        <p:nvGrpSpPr>
          <p:cNvPr id="103" name="群組 102">
            <a:extLst>
              <a:ext uri="{FF2B5EF4-FFF2-40B4-BE49-F238E27FC236}">
                <a16:creationId xmlns:a16="http://schemas.microsoft.com/office/drawing/2014/main" id="{E49458B6-7F34-4701-3A83-D4B16CBFD045}"/>
              </a:ext>
            </a:extLst>
          </p:cNvPr>
          <p:cNvGrpSpPr/>
          <p:nvPr/>
        </p:nvGrpSpPr>
        <p:grpSpPr>
          <a:xfrm>
            <a:off x="3204433" y="6393091"/>
            <a:ext cx="3380287" cy="369332"/>
            <a:chOff x="2310570" y="6180720"/>
            <a:chExt cx="3380287" cy="369332"/>
          </a:xfrm>
        </p:grpSpPr>
        <p:sp>
          <p:nvSpPr>
            <p:cNvPr id="104" name="文字方塊 103">
              <a:extLst>
                <a:ext uri="{FF2B5EF4-FFF2-40B4-BE49-F238E27FC236}">
                  <a16:creationId xmlns:a16="http://schemas.microsoft.com/office/drawing/2014/main" id="{17929FED-77BA-BAF0-BB6C-4E5BAF85D241}"/>
                </a:ext>
              </a:extLst>
            </p:cNvPr>
            <p:cNvSpPr txBox="1"/>
            <p:nvPr/>
          </p:nvSpPr>
          <p:spPr>
            <a:xfrm>
              <a:off x="2310570" y="6180720"/>
              <a:ext cx="396262" cy="369332"/>
            </a:xfrm>
            <a:prstGeom prst="rect">
              <a:avLst/>
            </a:prstGeom>
            <a:noFill/>
          </p:spPr>
          <p:txBody>
            <a:bodyPr wrap="none" rtlCol="0">
              <a:spAutoFit/>
            </a:bodyPr>
            <a:lstStyle/>
            <a:p>
              <a:r>
                <a:rPr kumimoji="1" lang="en-US" altLang="zh-TW" dirty="0"/>
                <a:t>A</a:t>
              </a:r>
              <a:r>
                <a:rPr kumimoji="1" lang="en-US" altLang="zh-TW" baseline="-25000" dirty="0"/>
                <a:t>0</a:t>
              </a:r>
              <a:endParaRPr kumimoji="1" lang="zh-TW" altLang="en-US" baseline="-25000" dirty="0"/>
            </a:p>
          </p:txBody>
        </p:sp>
        <p:sp>
          <p:nvSpPr>
            <p:cNvPr id="105" name="文字方塊 104">
              <a:extLst>
                <a:ext uri="{FF2B5EF4-FFF2-40B4-BE49-F238E27FC236}">
                  <a16:creationId xmlns:a16="http://schemas.microsoft.com/office/drawing/2014/main" id="{310AB4BD-D818-4B38-19CD-5E1638213250}"/>
                </a:ext>
              </a:extLst>
            </p:cNvPr>
            <p:cNvSpPr txBox="1"/>
            <p:nvPr/>
          </p:nvSpPr>
          <p:spPr>
            <a:xfrm>
              <a:off x="3057101" y="6180720"/>
              <a:ext cx="396262" cy="369332"/>
            </a:xfrm>
            <a:prstGeom prst="rect">
              <a:avLst/>
            </a:prstGeom>
            <a:noFill/>
          </p:spPr>
          <p:txBody>
            <a:bodyPr wrap="none" rtlCol="0">
              <a:spAutoFit/>
            </a:bodyPr>
            <a:lstStyle/>
            <a:p>
              <a:r>
                <a:rPr kumimoji="1" lang="en-US" altLang="zh-TW" dirty="0"/>
                <a:t>A</a:t>
              </a:r>
              <a:r>
                <a:rPr kumimoji="1" lang="en-US" altLang="zh-TW" baseline="-25000" dirty="0"/>
                <a:t>1</a:t>
              </a:r>
              <a:endParaRPr kumimoji="1" lang="zh-TW" altLang="en-US" baseline="-25000" dirty="0"/>
            </a:p>
          </p:txBody>
        </p:sp>
        <p:sp>
          <p:nvSpPr>
            <p:cNvPr id="106" name="文字方塊 105">
              <a:extLst>
                <a:ext uri="{FF2B5EF4-FFF2-40B4-BE49-F238E27FC236}">
                  <a16:creationId xmlns:a16="http://schemas.microsoft.com/office/drawing/2014/main" id="{B02309E5-154E-00EC-470B-7EFDE345A305}"/>
                </a:ext>
              </a:extLst>
            </p:cNvPr>
            <p:cNvSpPr txBox="1"/>
            <p:nvPr/>
          </p:nvSpPr>
          <p:spPr>
            <a:xfrm>
              <a:off x="3810320" y="6180720"/>
              <a:ext cx="396262" cy="369332"/>
            </a:xfrm>
            <a:prstGeom prst="rect">
              <a:avLst/>
            </a:prstGeom>
            <a:noFill/>
          </p:spPr>
          <p:txBody>
            <a:bodyPr wrap="none" rtlCol="0">
              <a:spAutoFit/>
            </a:bodyPr>
            <a:lstStyle/>
            <a:p>
              <a:r>
                <a:rPr kumimoji="1" lang="en-US" altLang="zh-TW" dirty="0"/>
                <a:t>A</a:t>
              </a:r>
              <a:r>
                <a:rPr kumimoji="1" lang="en-US" altLang="zh-TW" baseline="-25000" dirty="0"/>
                <a:t>2</a:t>
              </a:r>
              <a:endParaRPr kumimoji="1" lang="zh-TW" altLang="en-US" baseline="-25000" dirty="0"/>
            </a:p>
          </p:txBody>
        </p:sp>
        <p:sp>
          <p:nvSpPr>
            <p:cNvPr id="107" name="文字方塊 106">
              <a:extLst>
                <a:ext uri="{FF2B5EF4-FFF2-40B4-BE49-F238E27FC236}">
                  <a16:creationId xmlns:a16="http://schemas.microsoft.com/office/drawing/2014/main" id="{0FA72944-910A-8FE4-515C-3CC7BD8F477D}"/>
                </a:ext>
              </a:extLst>
            </p:cNvPr>
            <p:cNvSpPr txBox="1"/>
            <p:nvPr/>
          </p:nvSpPr>
          <p:spPr>
            <a:xfrm>
              <a:off x="4556851" y="6180720"/>
              <a:ext cx="396262" cy="369332"/>
            </a:xfrm>
            <a:prstGeom prst="rect">
              <a:avLst/>
            </a:prstGeom>
            <a:noFill/>
          </p:spPr>
          <p:txBody>
            <a:bodyPr wrap="none" rtlCol="0">
              <a:spAutoFit/>
            </a:bodyPr>
            <a:lstStyle/>
            <a:p>
              <a:r>
                <a:rPr kumimoji="1" lang="en-US" altLang="zh-TW" dirty="0"/>
                <a:t>A</a:t>
              </a:r>
              <a:r>
                <a:rPr kumimoji="1" lang="en-US" altLang="zh-TW" baseline="-25000" dirty="0"/>
                <a:t>3</a:t>
              </a:r>
              <a:endParaRPr kumimoji="1" lang="zh-TW" altLang="en-US" baseline="-25000" dirty="0"/>
            </a:p>
          </p:txBody>
        </p:sp>
        <p:sp>
          <p:nvSpPr>
            <p:cNvPr id="108" name="文字方塊 107">
              <a:extLst>
                <a:ext uri="{FF2B5EF4-FFF2-40B4-BE49-F238E27FC236}">
                  <a16:creationId xmlns:a16="http://schemas.microsoft.com/office/drawing/2014/main" id="{AFDCF27B-BEFC-CD29-6179-917EC3BB54C0}"/>
                </a:ext>
              </a:extLst>
            </p:cNvPr>
            <p:cNvSpPr txBox="1"/>
            <p:nvPr/>
          </p:nvSpPr>
          <p:spPr>
            <a:xfrm>
              <a:off x="5294595" y="6180720"/>
              <a:ext cx="396262" cy="369332"/>
            </a:xfrm>
            <a:prstGeom prst="rect">
              <a:avLst/>
            </a:prstGeom>
            <a:noFill/>
          </p:spPr>
          <p:txBody>
            <a:bodyPr wrap="none" rtlCol="0">
              <a:spAutoFit/>
            </a:bodyPr>
            <a:lstStyle/>
            <a:p>
              <a:r>
                <a:rPr kumimoji="1" lang="en-US" altLang="zh-TW" dirty="0"/>
                <a:t>A</a:t>
              </a:r>
              <a:r>
                <a:rPr kumimoji="1" lang="en-US" altLang="zh-TW" baseline="-25000" dirty="0"/>
                <a:t>4</a:t>
              </a:r>
              <a:endParaRPr kumimoji="1" lang="zh-TW" altLang="en-US" baseline="-25000" dirty="0"/>
            </a:p>
          </p:txBody>
        </p:sp>
      </p:grpSp>
      <p:sp>
        <p:nvSpPr>
          <p:cNvPr id="113" name="文字方塊 112">
            <a:extLst>
              <a:ext uri="{FF2B5EF4-FFF2-40B4-BE49-F238E27FC236}">
                <a16:creationId xmlns:a16="http://schemas.microsoft.com/office/drawing/2014/main" id="{6BD54897-E1AA-276F-0C96-48A8D45A7AE4}"/>
              </a:ext>
            </a:extLst>
          </p:cNvPr>
          <p:cNvSpPr txBox="1"/>
          <p:nvPr/>
        </p:nvSpPr>
        <p:spPr>
          <a:xfrm>
            <a:off x="2831513" y="5080629"/>
            <a:ext cx="1909433" cy="369332"/>
          </a:xfrm>
          <a:prstGeom prst="rect">
            <a:avLst/>
          </a:prstGeom>
          <a:noFill/>
        </p:spPr>
        <p:txBody>
          <a:bodyPr wrap="none" rtlCol="0">
            <a:spAutoFit/>
          </a:bodyPr>
          <a:lstStyle/>
          <a:p>
            <a:r>
              <a:rPr kumimoji="1" lang="en-US" altLang="zh-TW" dirty="0">
                <a:solidFill>
                  <a:srgbClr val="C00000"/>
                </a:solidFill>
              </a:rPr>
              <a:t>Update test (or </a:t>
            </a:r>
            <a:r>
              <a:rPr kumimoji="1" lang="en-US" altLang="zh-TW" dirty="0" err="1">
                <a:solidFill>
                  <a:srgbClr val="C00000"/>
                </a:solidFill>
              </a:rPr>
              <a:t>D</a:t>
            </a:r>
            <a:r>
              <a:rPr kumimoji="1" lang="en-US" altLang="zh-TW" baseline="-25000" dirty="0" err="1">
                <a:solidFill>
                  <a:srgbClr val="C00000"/>
                </a:solidFill>
              </a:rPr>
              <a:t>j</a:t>
            </a:r>
            <a:r>
              <a:rPr kumimoji="1" lang="en-US" altLang="zh-TW" dirty="0">
                <a:solidFill>
                  <a:srgbClr val="C00000"/>
                </a:solidFill>
              </a:rPr>
              <a:t>)</a:t>
            </a:r>
            <a:endParaRPr kumimoji="1" lang="zh-TW" altLang="en-US" dirty="0">
              <a:solidFill>
                <a:srgbClr val="C00000"/>
              </a:solidFill>
            </a:endParaRPr>
          </a:p>
        </p:txBody>
      </p:sp>
      <p:sp>
        <p:nvSpPr>
          <p:cNvPr id="114" name="矩形 113">
            <a:extLst>
              <a:ext uri="{FF2B5EF4-FFF2-40B4-BE49-F238E27FC236}">
                <a16:creationId xmlns:a16="http://schemas.microsoft.com/office/drawing/2014/main" id="{53A7991C-1299-947D-08C6-08D7254B58F9}"/>
              </a:ext>
            </a:extLst>
          </p:cNvPr>
          <p:cNvSpPr/>
          <p:nvPr/>
        </p:nvSpPr>
        <p:spPr>
          <a:xfrm>
            <a:off x="6318068" y="5434895"/>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D</a:t>
            </a:r>
            <a:r>
              <a:rPr kumimoji="1" lang="en-US" altLang="zh-TW" sz="1600" baseline="-25000" dirty="0" err="1">
                <a:solidFill>
                  <a:schemeClr val="tx1"/>
                </a:solidFill>
              </a:rPr>
              <a:t>j</a:t>
            </a:r>
            <a:endParaRPr kumimoji="1" lang="zh-TW" altLang="en-US" sz="1600" baseline="-25000" dirty="0">
              <a:solidFill>
                <a:schemeClr val="tx1"/>
              </a:solidFill>
            </a:endParaRPr>
          </a:p>
        </p:txBody>
      </p:sp>
      <p:sp>
        <p:nvSpPr>
          <p:cNvPr id="115" name="矩形 114">
            <a:extLst>
              <a:ext uri="{FF2B5EF4-FFF2-40B4-BE49-F238E27FC236}">
                <a16:creationId xmlns:a16="http://schemas.microsoft.com/office/drawing/2014/main" id="{A2673E8C-8B6B-705D-F749-DAEB8CDCC898}"/>
              </a:ext>
            </a:extLst>
          </p:cNvPr>
          <p:cNvSpPr/>
          <p:nvPr/>
        </p:nvSpPr>
        <p:spPr>
          <a:xfrm>
            <a:off x="7057009" y="5434895"/>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4</a:t>
            </a:r>
          </a:p>
        </p:txBody>
      </p:sp>
      <p:sp>
        <p:nvSpPr>
          <p:cNvPr id="116" name="矩形 115">
            <a:extLst>
              <a:ext uri="{FF2B5EF4-FFF2-40B4-BE49-F238E27FC236}">
                <a16:creationId xmlns:a16="http://schemas.microsoft.com/office/drawing/2014/main" id="{3F5D575E-EA86-FD69-3058-8D7EAF63D7B3}"/>
              </a:ext>
            </a:extLst>
          </p:cNvPr>
          <p:cNvSpPr/>
          <p:nvPr/>
        </p:nvSpPr>
        <p:spPr>
          <a:xfrm>
            <a:off x="7797335" y="5434895"/>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a:r>
              <a:rPr kumimoji="1" lang="en-US" altLang="zh-TW" sz="1600" dirty="0" err="1">
                <a:solidFill>
                  <a:prstClr val="black"/>
                </a:solidFill>
              </a:rPr>
              <a:t>D</a:t>
            </a:r>
            <a:r>
              <a:rPr kumimoji="1" lang="en-US" altLang="zh-TW" sz="1600" baseline="-25000" dirty="0" err="1">
                <a:solidFill>
                  <a:prstClr val="black"/>
                </a:solidFill>
              </a:rPr>
              <a:t>dir</a:t>
            </a:r>
            <a:endParaRPr kumimoji="1" lang="en-US" altLang="zh-TW" sz="1600" baseline="-25000" dirty="0">
              <a:solidFill>
                <a:prstClr val="black"/>
              </a:solidFill>
            </a:endParaRPr>
          </a:p>
          <a:p>
            <a:pPr lvl="0" algn="ctr"/>
            <a:r>
              <a:rPr kumimoji="1" lang="en-US" altLang="zh-TW" sz="1200" dirty="0">
                <a:solidFill>
                  <a:prstClr val="black"/>
                </a:solidFill>
              </a:rPr>
              <a:t>(test, j, </a:t>
            </a:r>
            <a:r>
              <a:rPr kumimoji="1" lang="en-US" altLang="zh-TW" sz="1200" dirty="0">
                <a:solidFill>
                  <a:srgbClr val="C00000"/>
                </a:solidFill>
              </a:rPr>
              <a:t>A</a:t>
            </a:r>
            <a:r>
              <a:rPr kumimoji="1" lang="en-US" altLang="zh-TW" sz="1200" baseline="-25000" dirty="0">
                <a:solidFill>
                  <a:srgbClr val="C00000"/>
                </a:solidFill>
              </a:rPr>
              <a:t>4</a:t>
            </a:r>
            <a:r>
              <a:rPr kumimoji="1" lang="en-US" altLang="zh-TW" sz="1200" dirty="0">
                <a:solidFill>
                  <a:prstClr val="black"/>
                </a:solidFill>
              </a:rPr>
              <a:t>)</a:t>
            </a:r>
            <a:endParaRPr kumimoji="1" lang="zh-TW" altLang="en-US" sz="1200" dirty="0">
              <a:solidFill>
                <a:prstClr val="black"/>
              </a:solidFill>
            </a:endParaRPr>
          </a:p>
        </p:txBody>
      </p:sp>
      <p:sp>
        <p:nvSpPr>
          <p:cNvPr id="117" name="矩形 116">
            <a:extLst>
              <a:ext uri="{FF2B5EF4-FFF2-40B4-BE49-F238E27FC236}">
                <a16:creationId xmlns:a16="http://schemas.microsoft.com/office/drawing/2014/main" id="{57CB1DCE-5926-FC56-464E-AD5F8DA0C1A9}"/>
              </a:ext>
            </a:extLst>
          </p:cNvPr>
          <p:cNvSpPr/>
          <p:nvPr/>
        </p:nvSpPr>
        <p:spPr>
          <a:xfrm>
            <a:off x="8536276" y="5434895"/>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dir</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6</a:t>
            </a:r>
          </a:p>
        </p:txBody>
      </p:sp>
      <p:sp>
        <p:nvSpPr>
          <p:cNvPr id="118" name="文字方塊 117">
            <a:extLst>
              <a:ext uri="{FF2B5EF4-FFF2-40B4-BE49-F238E27FC236}">
                <a16:creationId xmlns:a16="http://schemas.microsoft.com/office/drawing/2014/main" id="{53239FFD-1E7F-C544-9D8A-D6E15C5AC6DD}"/>
              </a:ext>
            </a:extLst>
          </p:cNvPr>
          <p:cNvSpPr txBox="1"/>
          <p:nvPr/>
        </p:nvSpPr>
        <p:spPr>
          <a:xfrm>
            <a:off x="6869425" y="6416113"/>
            <a:ext cx="396262" cy="369332"/>
          </a:xfrm>
          <a:prstGeom prst="rect">
            <a:avLst/>
          </a:prstGeom>
          <a:noFill/>
        </p:spPr>
        <p:txBody>
          <a:bodyPr wrap="none" rtlCol="0">
            <a:spAutoFit/>
          </a:bodyPr>
          <a:lstStyle/>
          <a:p>
            <a:r>
              <a:rPr kumimoji="1" lang="en-US" altLang="zh-TW" dirty="0"/>
              <a:t>A</a:t>
            </a:r>
            <a:r>
              <a:rPr kumimoji="1" lang="en-US" altLang="zh-TW" baseline="-25000" dirty="0"/>
              <a:t>5</a:t>
            </a:r>
            <a:endParaRPr kumimoji="1" lang="zh-TW" altLang="en-US" baseline="-25000" dirty="0"/>
          </a:p>
        </p:txBody>
      </p:sp>
      <p:sp>
        <p:nvSpPr>
          <p:cNvPr id="119" name="文字方塊 118">
            <a:extLst>
              <a:ext uri="{FF2B5EF4-FFF2-40B4-BE49-F238E27FC236}">
                <a16:creationId xmlns:a16="http://schemas.microsoft.com/office/drawing/2014/main" id="{E4B0ED63-FDF0-B74A-9F3A-09A5FE6F8E13}"/>
              </a:ext>
            </a:extLst>
          </p:cNvPr>
          <p:cNvSpPr txBox="1"/>
          <p:nvPr/>
        </p:nvSpPr>
        <p:spPr>
          <a:xfrm>
            <a:off x="7660734" y="6416113"/>
            <a:ext cx="396262" cy="369332"/>
          </a:xfrm>
          <a:prstGeom prst="rect">
            <a:avLst/>
          </a:prstGeom>
          <a:noFill/>
        </p:spPr>
        <p:txBody>
          <a:bodyPr wrap="none" rtlCol="0">
            <a:spAutoFit/>
          </a:bodyPr>
          <a:lstStyle/>
          <a:p>
            <a:r>
              <a:rPr kumimoji="1" lang="en-US" altLang="zh-TW" dirty="0"/>
              <a:t>A</a:t>
            </a:r>
            <a:r>
              <a:rPr kumimoji="1" lang="en-US" altLang="zh-TW" baseline="-25000" dirty="0"/>
              <a:t>6</a:t>
            </a:r>
            <a:endParaRPr kumimoji="1" lang="zh-TW" altLang="en-US" baseline="-25000" dirty="0"/>
          </a:p>
        </p:txBody>
      </p:sp>
      <p:sp>
        <p:nvSpPr>
          <p:cNvPr id="120" name="文字方塊 119">
            <a:extLst>
              <a:ext uri="{FF2B5EF4-FFF2-40B4-BE49-F238E27FC236}">
                <a16:creationId xmlns:a16="http://schemas.microsoft.com/office/drawing/2014/main" id="{31294836-1955-F17A-C7FA-2B6830114763}"/>
              </a:ext>
            </a:extLst>
          </p:cNvPr>
          <p:cNvSpPr txBox="1"/>
          <p:nvPr/>
        </p:nvSpPr>
        <p:spPr>
          <a:xfrm>
            <a:off x="8353700" y="6416113"/>
            <a:ext cx="396262" cy="369332"/>
          </a:xfrm>
          <a:prstGeom prst="rect">
            <a:avLst/>
          </a:prstGeom>
          <a:noFill/>
        </p:spPr>
        <p:txBody>
          <a:bodyPr wrap="none" rtlCol="0">
            <a:spAutoFit/>
          </a:bodyPr>
          <a:lstStyle/>
          <a:p>
            <a:r>
              <a:rPr kumimoji="1" lang="en-US" altLang="zh-TW" dirty="0"/>
              <a:t>A</a:t>
            </a:r>
            <a:r>
              <a:rPr kumimoji="1" lang="en-US" altLang="zh-TW" baseline="-25000" dirty="0"/>
              <a:t>7</a:t>
            </a:r>
            <a:endParaRPr kumimoji="1" lang="zh-TW" altLang="en-US" baseline="-25000" dirty="0"/>
          </a:p>
        </p:txBody>
      </p:sp>
      <p:sp>
        <p:nvSpPr>
          <p:cNvPr id="121" name="文字方塊 120">
            <a:extLst>
              <a:ext uri="{FF2B5EF4-FFF2-40B4-BE49-F238E27FC236}">
                <a16:creationId xmlns:a16="http://schemas.microsoft.com/office/drawing/2014/main" id="{92AC5C72-E7FA-2DA8-4792-9527D12C08BF}"/>
              </a:ext>
            </a:extLst>
          </p:cNvPr>
          <p:cNvSpPr txBox="1"/>
          <p:nvPr/>
        </p:nvSpPr>
        <p:spPr>
          <a:xfrm>
            <a:off x="6386589" y="5076318"/>
            <a:ext cx="4080541" cy="369332"/>
          </a:xfrm>
          <a:prstGeom prst="rect">
            <a:avLst/>
          </a:prstGeom>
          <a:noFill/>
        </p:spPr>
        <p:txBody>
          <a:bodyPr wrap="none" rtlCol="0">
            <a:spAutoFit/>
          </a:bodyPr>
          <a:lstStyle/>
          <a:p>
            <a:r>
              <a:rPr kumimoji="1" lang="en-US" altLang="zh-TW" dirty="0">
                <a:solidFill>
                  <a:srgbClr val="C00000"/>
                </a:solidFill>
              </a:rPr>
              <a:t>Recursive update problem affects parents</a:t>
            </a:r>
            <a:endParaRPr kumimoji="1" lang="zh-TW" altLang="en-US" dirty="0">
              <a:solidFill>
                <a:srgbClr val="C00000"/>
              </a:solidFill>
            </a:endParaRPr>
          </a:p>
        </p:txBody>
      </p:sp>
    </p:spTree>
    <p:extLst>
      <p:ext uri="{BB962C8B-B14F-4D97-AF65-F5344CB8AC3E}">
        <p14:creationId xmlns:p14="http://schemas.microsoft.com/office/powerpoint/2010/main" val="321136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1000" tmFilter="0, 0; .2, .5; .8, .5; 1, 0"/>
                                        <p:tgtEl>
                                          <p:spTgt spid="30"/>
                                        </p:tgtEl>
                                      </p:cBhvr>
                                    </p:animEffect>
                                    <p:animScale>
                                      <p:cBhvr>
                                        <p:cTn id="7" dur="500" autoRev="1" fill="hold"/>
                                        <p:tgtEl>
                                          <p:spTgt spid="30"/>
                                        </p:tgtEl>
                                      </p:cBhvr>
                                      <p:by x="105000" y="105000"/>
                                    </p:animScale>
                                  </p:childTnLst>
                                </p:cTn>
                              </p:par>
                              <p:par>
                                <p:cTn id="8" presetID="26" presetClass="emph" presetSubtype="0" fill="hold" grpId="0" nodeType="withEffect">
                                  <p:stCondLst>
                                    <p:cond delay="0"/>
                                  </p:stCondLst>
                                  <p:childTnLst>
                                    <p:animEffect transition="out" filter="fade">
                                      <p:cBhvr>
                                        <p:cTn id="9" dur="1000" tmFilter="0, 0; .2, .5; .8, .5; 1, 0"/>
                                        <p:tgtEl>
                                          <p:spTgt spid="31"/>
                                        </p:tgtEl>
                                      </p:cBhvr>
                                    </p:animEffect>
                                    <p:animScale>
                                      <p:cBhvr>
                                        <p:cTn id="10" dur="500" autoRev="1" fill="hold"/>
                                        <p:tgtEl>
                                          <p:spTgt spid="31"/>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up)">
                                      <p:cBhvr>
                                        <p:cTn id="15" dur="500"/>
                                        <p:tgtEl>
                                          <p:spTgt spid="3">
                                            <p:txEl>
                                              <p:pRg st="1" end="1"/>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up)">
                                      <p:cBhvr>
                                        <p:cTn id="18" dur="500"/>
                                        <p:tgtEl>
                                          <p:spTgt spid="3">
                                            <p:txEl>
                                              <p:pRg st="2" end="2"/>
                                            </p:txEl>
                                          </p:spTgt>
                                        </p:tgtEl>
                                      </p:cBhvr>
                                    </p:animEffect>
                                  </p:childTnLst>
                                </p:cTn>
                              </p:par>
                            </p:childTnLst>
                          </p:cTn>
                        </p:par>
                        <p:par>
                          <p:cTn id="19" fill="hold">
                            <p:stCondLst>
                              <p:cond delay="500"/>
                            </p:stCondLst>
                            <p:childTnLst>
                              <p:par>
                                <p:cTn id="20" presetID="26" presetClass="emph" presetSubtype="0" fill="hold" grpId="0" nodeType="afterEffect">
                                  <p:stCondLst>
                                    <p:cond delay="0"/>
                                  </p:stCondLst>
                                  <p:childTnLst>
                                    <p:animEffect transition="out" filter="fade">
                                      <p:cBhvr>
                                        <p:cTn id="21" dur="1000" tmFilter="0, 0; .2, .5; .8, .5; 1, 0"/>
                                        <p:tgtEl>
                                          <p:spTgt spid="82"/>
                                        </p:tgtEl>
                                      </p:cBhvr>
                                    </p:animEffect>
                                    <p:animScale>
                                      <p:cBhvr>
                                        <p:cTn id="22" dur="500" autoRev="1" fill="hold"/>
                                        <p:tgtEl>
                                          <p:spTgt spid="82"/>
                                        </p:tgtEl>
                                      </p:cBhvr>
                                      <p:by x="105000" y="105000"/>
                                    </p:animScale>
                                  </p:childTnLst>
                                </p:cTn>
                              </p:par>
                              <p:par>
                                <p:cTn id="23" presetID="26" presetClass="emph" presetSubtype="0" fill="hold" grpId="0" nodeType="withEffect">
                                  <p:stCondLst>
                                    <p:cond delay="0"/>
                                  </p:stCondLst>
                                  <p:childTnLst>
                                    <p:animEffect transition="out" filter="fade">
                                      <p:cBhvr>
                                        <p:cTn id="24" dur="1000" tmFilter="0, 0; .2, .5; .8, .5; 1, 0"/>
                                        <p:tgtEl>
                                          <p:spTgt spid="83"/>
                                        </p:tgtEl>
                                      </p:cBhvr>
                                    </p:animEffect>
                                    <p:animScale>
                                      <p:cBhvr>
                                        <p:cTn id="25" dur="500" autoRev="1" fill="hold"/>
                                        <p:tgtEl>
                                          <p:spTgt spid="83"/>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79"/>
                                        </p:tgtEl>
                                        <p:attrNameLst>
                                          <p:attrName>style.visibility</p:attrName>
                                        </p:attrNameLst>
                                      </p:cBhvr>
                                      <p:to>
                                        <p:strVal val="visible"/>
                                      </p:to>
                                    </p:set>
                                    <p:animEffect transition="in" filter="wipe(right)">
                                      <p:cBhvr>
                                        <p:cTn id="30" dur="500"/>
                                        <p:tgtEl>
                                          <p:spTgt spid="7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67"/>
                                        </p:tgtEl>
                                        <p:attrNameLst>
                                          <p:attrName>style.visibility</p:attrName>
                                        </p:attrNameLst>
                                      </p:cBhvr>
                                      <p:to>
                                        <p:strVal val="visible"/>
                                      </p:to>
                                    </p:set>
                                    <p:animEffect transition="in" filter="wipe(right)">
                                      <p:cBhvr>
                                        <p:cTn id="35" dur="500"/>
                                        <p:tgtEl>
                                          <p:spTgt spid="6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77"/>
                                        </p:tgtEl>
                                        <p:attrNameLst>
                                          <p:attrName>style.visibility</p:attrName>
                                        </p:attrNameLst>
                                      </p:cBhvr>
                                      <p:to>
                                        <p:strVal val="visible"/>
                                      </p:to>
                                    </p:set>
                                    <p:animEffect transition="in" filter="wipe(right)">
                                      <p:cBhvr>
                                        <p:cTn id="40" dur="500"/>
                                        <p:tgtEl>
                                          <p:spTgt spid="77"/>
                                        </p:tgtEl>
                                      </p:cBhvr>
                                    </p:animEffect>
                                  </p:childTnLst>
                                </p:cTn>
                              </p:par>
                              <p:par>
                                <p:cTn id="41" presetID="9" presetClass="emph" presetSubtype="0" grpId="1" nodeType="withEffect">
                                  <p:stCondLst>
                                    <p:cond delay="0"/>
                                  </p:stCondLst>
                                  <p:childTnLst>
                                    <p:set>
                                      <p:cBhvr>
                                        <p:cTn id="42" dur="indefinite"/>
                                        <p:tgtEl>
                                          <p:spTgt spid="67"/>
                                        </p:tgtEl>
                                        <p:attrNameLst>
                                          <p:attrName>style.opacity</p:attrName>
                                        </p:attrNameLst>
                                      </p:cBhvr>
                                      <p:to>
                                        <p:strVal val="0.25"/>
                                      </p:to>
                                    </p:set>
                                    <p:animEffect filter="image" prLst="opacity: 0.25">
                                      <p:cBhvr rctx="IE">
                                        <p:cTn id="43" dur="indefinite"/>
                                        <p:tgtEl>
                                          <p:spTgt spid="67"/>
                                        </p:tgtEl>
                                      </p:cBhvr>
                                    </p:animEffect>
                                  </p:childTnLst>
                                </p:cTn>
                              </p:par>
                              <p:par>
                                <p:cTn id="44" presetID="9" presetClass="emph" presetSubtype="0" grpId="1" nodeType="withEffect">
                                  <p:stCondLst>
                                    <p:cond delay="0"/>
                                  </p:stCondLst>
                                  <p:childTnLst>
                                    <p:set>
                                      <p:cBhvr>
                                        <p:cTn id="45" dur="indefinite"/>
                                        <p:tgtEl>
                                          <p:spTgt spid="79"/>
                                        </p:tgtEl>
                                        <p:attrNameLst>
                                          <p:attrName>style.opacity</p:attrName>
                                        </p:attrNameLst>
                                      </p:cBhvr>
                                      <p:to>
                                        <p:strVal val="0.25"/>
                                      </p:to>
                                    </p:set>
                                    <p:animEffect filter="image" prLst="opacity: 0.25">
                                      <p:cBhvr rctx="IE">
                                        <p:cTn id="46" dur="indefinite"/>
                                        <p:tgtEl>
                                          <p:spTgt spid="7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76"/>
                                        </p:tgtEl>
                                        <p:attrNameLst>
                                          <p:attrName>style.visibility</p:attrName>
                                        </p:attrNameLst>
                                      </p:cBhvr>
                                      <p:to>
                                        <p:strVal val="visible"/>
                                      </p:to>
                                    </p:set>
                                    <p:animEffect transition="in" filter="wipe(right)">
                                      <p:cBhvr>
                                        <p:cTn id="51" dur="500"/>
                                        <p:tgtEl>
                                          <p:spTgt spid="7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grpId="2" nodeType="clickEffect">
                                  <p:stCondLst>
                                    <p:cond delay="0"/>
                                  </p:stCondLst>
                                  <p:childTnLst>
                                    <p:animEffect transition="out" filter="fade">
                                      <p:cBhvr>
                                        <p:cTn id="55" dur="500"/>
                                        <p:tgtEl>
                                          <p:spTgt spid="67"/>
                                        </p:tgtEl>
                                      </p:cBhvr>
                                    </p:animEffect>
                                    <p:set>
                                      <p:cBhvr>
                                        <p:cTn id="56" dur="1" fill="hold">
                                          <p:stCondLst>
                                            <p:cond delay="499"/>
                                          </p:stCondLst>
                                        </p:cTn>
                                        <p:tgtEl>
                                          <p:spTgt spid="67"/>
                                        </p:tgtEl>
                                        <p:attrNameLst>
                                          <p:attrName>style.visibility</p:attrName>
                                        </p:attrNameLst>
                                      </p:cBhvr>
                                      <p:to>
                                        <p:strVal val="hidden"/>
                                      </p:to>
                                    </p:set>
                                  </p:childTnLst>
                                </p:cTn>
                              </p:par>
                              <p:par>
                                <p:cTn id="57" presetID="10" presetClass="exit" presetSubtype="0" fill="hold" grpId="1" nodeType="withEffect">
                                  <p:stCondLst>
                                    <p:cond delay="0"/>
                                  </p:stCondLst>
                                  <p:childTnLst>
                                    <p:animEffect transition="out" filter="fade">
                                      <p:cBhvr>
                                        <p:cTn id="58" dur="500"/>
                                        <p:tgtEl>
                                          <p:spTgt spid="76"/>
                                        </p:tgtEl>
                                      </p:cBhvr>
                                    </p:animEffect>
                                    <p:set>
                                      <p:cBhvr>
                                        <p:cTn id="59" dur="1" fill="hold">
                                          <p:stCondLst>
                                            <p:cond delay="499"/>
                                          </p:stCondLst>
                                        </p:cTn>
                                        <p:tgtEl>
                                          <p:spTgt spid="76"/>
                                        </p:tgtEl>
                                        <p:attrNameLst>
                                          <p:attrName>style.visibility</p:attrName>
                                        </p:attrNameLst>
                                      </p:cBhvr>
                                      <p:to>
                                        <p:strVal val="hidden"/>
                                      </p:to>
                                    </p:set>
                                  </p:childTnLst>
                                </p:cTn>
                              </p:par>
                              <p:par>
                                <p:cTn id="60" presetID="10" presetClass="exit" presetSubtype="0" fill="hold" grpId="1" nodeType="withEffect">
                                  <p:stCondLst>
                                    <p:cond delay="0"/>
                                  </p:stCondLst>
                                  <p:childTnLst>
                                    <p:animEffect transition="out" filter="fade">
                                      <p:cBhvr>
                                        <p:cTn id="61" dur="500"/>
                                        <p:tgtEl>
                                          <p:spTgt spid="77"/>
                                        </p:tgtEl>
                                      </p:cBhvr>
                                    </p:animEffect>
                                    <p:set>
                                      <p:cBhvr>
                                        <p:cTn id="62" dur="1" fill="hold">
                                          <p:stCondLst>
                                            <p:cond delay="499"/>
                                          </p:stCondLst>
                                        </p:cTn>
                                        <p:tgtEl>
                                          <p:spTgt spid="77"/>
                                        </p:tgtEl>
                                        <p:attrNameLst>
                                          <p:attrName>style.visibility</p:attrName>
                                        </p:attrNameLst>
                                      </p:cBhvr>
                                      <p:to>
                                        <p:strVal val="hidden"/>
                                      </p:to>
                                    </p:set>
                                  </p:childTnLst>
                                </p:cTn>
                              </p:par>
                              <p:par>
                                <p:cTn id="63" presetID="10" presetClass="exit" presetSubtype="0" fill="hold" grpId="2" nodeType="withEffect">
                                  <p:stCondLst>
                                    <p:cond delay="0"/>
                                  </p:stCondLst>
                                  <p:childTnLst>
                                    <p:animEffect transition="out" filter="fade">
                                      <p:cBhvr>
                                        <p:cTn id="64" dur="500"/>
                                        <p:tgtEl>
                                          <p:spTgt spid="79"/>
                                        </p:tgtEl>
                                      </p:cBhvr>
                                    </p:animEffect>
                                    <p:set>
                                      <p:cBhvr>
                                        <p:cTn id="65" dur="1" fill="hold">
                                          <p:stCondLst>
                                            <p:cond delay="499"/>
                                          </p:stCondLst>
                                        </p:cTn>
                                        <p:tgtEl>
                                          <p:spTgt spid="79"/>
                                        </p:tgtEl>
                                        <p:attrNameLst>
                                          <p:attrName>style.visibility</p:attrName>
                                        </p:attrNameLst>
                                      </p:cBhvr>
                                      <p:to>
                                        <p:strVal val="hidden"/>
                                      </p:to>
                                    </p:set>
                                  </p:childTnLst>
                                </p:cTn>
                              </p:par>
                            </p:childTnLst>
                          </p:cTn>
                        </p:par>
                        <p:par>
                          <p:cTn id="66" fill="hold">
                            <p:stCondLst>
                              <p:cond delay="500"/>
                            </p:stCondLst>
                            <p:childTnLst>
                              <p:par>
                                <p:cTn id="67" presetID="2" presetClass="entr" presetSubtype="1" fill="hold" grpId="0" nodeType="afterEffect">
                                  <p:stCondLst>
                                    <p:cond delay="0"/>
                                  </p:stCondLst>
                                  <p:childTnLst>
                                    <p:set>
                                      <p:cBhvr>
                                        <p:cTn id="68" dur="1" fill="hold">
                                          <p:stCondLst>
                                            <p:cond delay="0"/>
                                          </p:stCondLst>
                                        </p:cTn>
                                        <p:tgtEl>
                                          <p:spTgt spid="86"/>
                                        </p:tgtEl>
                                        <p:attrNameLst>
                                          <p:attrName>style.visibility</p:attrName>
                                        </p:attrNameLst>
                                      </p:cBhvr>
                                      <p:to>
                                        <p:strVal val="visible"/>
                                      </p:to>
                                    </p:set>
                                    <p:anim calcmode="lin" valueType="num">
                                      <p:cBhvr additive="base">
                                        <p:cTn id="69" dur="500" fill="hold"/>
                                        <p:tgtEl>
                                          <p:spTgt spid="86"/>
                                        </p:tgtEl>
                                        <p:attrNameLst>
                                          <p:attrName>ppt_x</p:attrName>
                                        </p:attrNameLst>
                                      </p:cBhvr>
                                      <p:tavLst>
                                        <p:tav tm="0">
                                          <p:val>
                                            <p:strVal val="#ppt_x"/>
                                          </p:val>
                                        </p:tav>
                                        <p:tav tm="100000">
                                          <p:val>
                                            <p:strVal val="#ppt_x"/>
                                          </p:val>
                                        </p:tav>
                                      </p:tavLst>
                                    </p:anim>
                                    <p:anim calcmode="lin" valueType="num">
                                      <p:cBhvr additive="base">
                                        <p:cTn id="70" dur="500" fill="hold"/>
                                        <p:tgtEl>
                                          <p:spTgt spid="86"/>
                                        </p:tgtEl>
                                        <p:attrNameLst>
                                          <p:attrName>ppt_y</p:attrName>
                                        </p:attrNameLst>
                                      </p:cBhvr>
                                      <p:tavLst>
                                        <p:tav tm="0">
                                          <p:val>
                                            <p:strVal val="0-#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9" presetClass="emph" presetSubtype="0" grpId="1" nodeType="clickEffect">
                                  <p:stCondLst>
                                    <p:cond delay="0"/>
                                  </p:stCondLst>
                                  <p:childTnLst>
                                    <p:set>
                                      <p:cBhvr>
                                        <p:cTn id="74" dur="indefinite"/>
                                        <p:tgtEl>
                                          <p:spTgt spid="30"/>
                                        </p:tgtEl>
                                        <p:attrNameLst>
                                          <p:attrName>style.opacity</p:attrName>
                                        </p:attrNameLst>
                                      </p:cBhvr>
                                      <p:to>
                                        <p:strVal val="0.25"/>
                                      </p:to>
                                    </p:set>
                                    <p:animEffect filter="image" prLst="opacity: 0.25">
                                      <p:cBhvr rctx="IE">
                                        <p:cTn id="75" dur="indefinite"/>
                                        <p:tgtEl>
                                          <p:spTgt spid="30"/>
                                        </p:tgtEl>
                                      </p:cBhvr>
                                    </p:animEffect>
                                  </p:childTnLst>
                                </p:cTn>
                              </p:par>
                            </p:childTnLst>
                          </p:cTn>
                        </p:par>
                        <p:par>
                          <p:cTn id="76" fill="hold">
                            <p:stCondLst>
                              <p:cond delay="0"/>
                            </p:stCondLst>
                            <p:childTnLst>
                              <p:par>
                                <p:cTn id="77" presetID="22" presetClass="entr" presetSubtype="2" fill="hold" grpId="0" nodeType="afterEffect">
                                  <p:stCondLst>
                                    <p:cond delay="0"/>
                                  </p:stCondLst>
                                  <p:childTnLst>
                                    <p:set>
                                      <p:cBhvr>
                                        <p:cTn id="78" dur="1" fill="hold">
                                          <p:stCondLst>
                                            <p:cond delay="0"/>
                                          </p:stCondLst>
                                        </p:cTn>
                                        <p:tgtEl>
                                          <p:spTgt spid="90"/>
                                        </p:tgtEl>
                                        <p:attrNameLst>
                                          <p:attrName>style.visibility</p:attrName>
                                        </p:attrNameLst>
                                      </p:cBhvr>
                                      <p:to>
                                        <p:strVal val="visible"/>
                                      </p:to>
                                    </p:set>
                                    <p:animEffect transition="in" filter="wipe(right)">
                                      <p:cBhvr>
                                        <p:cTn id="79" dur="500"/>
                                        <p:tgtEl>
                                          <p:spTgt spid="90"/>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mph" presetSubtype="0" grpId="1" nodeType="clickEffect">
                                  <p:stCondLst>
                                    <p:cond delay="0"/>
                                  </p:stCondLst>
                                  <p:childTnLst>
                                    <p:set>
                                      <p:cBhvr>
                                        <p:cTn id="83" dur="indefinite"/>
                                        <p:tgtEl>
                                          <p:spTgt spid="31"/>
                                        </p:tgtEl>
                                        <p:attrNameLst>
                                          <p:attrName>style.opacity</p:attrName>
                                        </p:attrNameLst>
                                      </p:cBhvr>
                                      <p:to>
                                        <p:strVal val="0.25"/>
                                      </p:to>
                                    </p:set>
                                    <p:animEffect filter="image" prLst="opacity: 0.25">
                                      <p:cBhvr rctx="IE">
                                        <p:cTn id="84" dur="indefinite"/>
                                        <p:tgtEl>
                                          <p:spTgt spid="31"/>
                                        </p:tgtEl>
                                      </p:cBhvr>
                                    </p:animEffect>
                                  </p:childTnLst>
                                </p:cTn>
                              </p:par>
                            </p:childTnLst>
                          </p:cTn>
                        </p:par>
                        <p:par>
                          <p:cTn id="85" fill="hold">
                            <p:stCondLst>
                              <p:cond delay="0"/>
                            </p:stCondLst>
                            <p:childTnLst>
                              <p:par>
                                <p:cTn id="86" presetID="22" presetClass="entr" presetSubtype="2" fill="hold" grpId="0" nodeType="afterEffect">
                                  <p:stCondLst>
                                    <p:cond delay="0"/>
                                  </p:stCondLst>
                                  <p:childTnLst>
                                    <p:set>
                                      <p:cBhvr>
                                        <p:cTn id="87" dur="1" fill="hold">
                                          <p:stCondLst>
                                            <p:cond delay="0"/>
                                          </p:stCondLst>
                                        </p:cTn>
                                        <p:tgtEl>
                                          <p:spTgt spid="93"/>
                                        </p:tgtEl>
                                        <p:attrNameLst>
                                          <p:attrName>style.visibility</p:attrName>
                                        </p:attrNameLst>
                                      </p:cBhvr>
                                      <p:to>
                                        <p:strVal val="visible"/>
                                      </p:to>
                                    </p:set>
                                    <p:animEffect transition="in" filter="wipe(right)">
                                      <p:cBhvr>
                                        <p:cTn id="88" dur="500"/>
                                        <p:tgtEl>
                                          <p:spTgt spid="93"/>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mph" presetSubtype="0" grpId="0" nodeType="clickEffect">
                                  <p:stCondLst>
                                    <p:cond delay="0"/>
                                  </p:stCondLst>
                                  <p:childTnLst>
                                    <p:set>
                                      <p:cBhvr>
                                        <p:cTn id="92" dur="indefinite"/>
                                        <p:tgtEl>
                                          <p:spTgt spid="37"/>
                                        </p:tgtEl>
                                        <p:attrNameLst>
                                          <p:attrName>style.opacity</p:attrName>
                                        </p:attrNameLst>
                                      </p:cBhvr>
                                      <p:to>
                                        <p:strVal val="0.25"/>
                                      </p:to>
                                    </p:set>
                                    <p:animEffect filter="image" prLst="opacity: 0.25">
                                      <p:cBhvr rctx="IE">
                                        <p:cTn id="93" dur="indefinite"/>
                                        <p:tgtEl>
                                          <p:spTgt spid="37"/>
                                        </p:tgtEl>
                                      </p:cBhvr>
                                    </p:animEffect>
                                  </p:childTnLst>
                                </p:cTn>
                              </p:par>
                            </p:childTnLst>
                          </p:cTn>
                        </p:par>
                        <p:par>
                          <p:cTn id="94" fill="hold">
                            <p:stCondLst>
                              <p:cond delay="0"/>
                            </p:stCondLst>
                            <p:childTnLst>
                              <p:par>
                                <p:cTn id="95" presetID="22" presetClass="entr" presetSubtype="2" fill="hold" grpId="0" nodeType="afterEffect">
                                  <p:stCondLst>
                                    <p:cond delay="0"/>
                                  </p:stCondLst>
                                  <p:childTnLst>
                                    <p:set>
                                      <p:cBhvr>
                                        <p:cTn id="96" dur="1" fill="hold">
                                          <p:stCondLst>
                                            <p:cond delay="0"/>
                                          </p:stCondLst>
                                        </p:cTn>
                                        <p:tgtEl>
                                          <p:spTgt spid="94"/>
                                        </p:tgtEl>
                                        <p:attrNameLst>
                                          <p:attrName>style.visibility</p:attrName>
                                        </p:attrNameLst>
                                      </p:cBhvr>
                                      <p:to>
                                        <p:strVal val="visible"/>
                                      </p:to>
                                    </p:set>
                                    <p:animEffect transition="in" filter="wipe(right)">
                                      <p:cBhvr>
                                        <p:cTn id="97" dur="500"/>
                                        <p:tgtEl>
                                          <p:spTgt spid="9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3">
                                            <p:txEl>
                                              <p:pRg st="3" end="3"/>
                                            </p:txEl>
                                          </p:spTgt>
                                        </p:tgtEl>
                                        <p:attrNameLst>
                                          <p:attrName>style.visibility</p:attrName>
                                        </p:attrNameLst>
                                      </p:cBhvr>
                                      <p:to>
                                        <p:strVal val="visible"/>
                                      </p:to>
                                    </p:set>
                                    <p:animEffect transition="in" filter="wipe(up)">
                                      <p:cBhvr>
                                        <p:cTn id="102" dur="500"/>
                                        <p:tgtEl>
                                          <p:spTgt spid="3">
                                            <p:txEl>
                                              <p:pRg st="3" end="3"/>
                                            </p:txEl>
                                          </p:spTgt>
                                        </p:tgtEl>
                                      </p:cBhvr>
                                    </p:animEffect>
                                  </p:childTnLst>
                                </p:cTn>
                              </p:par>
                            </p:childTnLst>
                          </p:cTn>
                        </p:par>
                        <p:par>
                          <p:cTn id="103" fill="hold">
                            <p:stCondLst>
                              <p:cond delay="500"/>
                            </p:stCondLst>
                            <p:childTnLst>
                              <p:par>
                                <p:cTn id="104" presetID="10" presetClass="entr" presetSubtype="0" fill="hold" nodeType="afterEffect">
                                  <p:stCondLst>
                                    <p:cond delay="0"/>
                                  </p:stCondLst>
                                  <p:childTnLst>
                                    <p:set>
                                      <p:cBhvr>
                                        <p:cTn id="105" dur="1" fill="hold">
                                          <p:stCondLst>
                                            <p:cond delay="0"/>
                                          </p:stCondLst>
                                        </p:cTn>
                                        <p:tgtEl>
                                          <p:spTgt spid="95"/>
                                        </p:tgtEl>
                                        <p:attrNameLst>
                                          <p:attrName>style.visibility</p:attrName>
                                        </p:attrNameLst>
                                      </p:cBhvr>
                                      <p:to>
                                        <p:strVal val="visible"/>
                                      </p:to>
                                    </p:set>
                                    <p:animEffect transition="in" filter="fade">
                                      <p:cBhvr>
                                        <p:cTn id="106" dur="500"/>
                                        <p:tgtEl>
                                          <p:spTgt spid="9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99"/>
                                        </p:tgtEl>
                                        <p:attrNameLst>
                                          <p:attrName>style.visibility</p:attrName>
                                        </p:attrNameLst>
                                      </p:cBhvr>
                                      <p:to>
                                        <p:strVal val="visible"/>
                                      </p:to>
                                    </p:set>
                                    <p:animEffect transition="in" filter="fade">
                                      <p:cBhvr>
                                        <p:cTn id="109" dur="500"/>
                                        <p:tgtEl>
                                          <p:spTgt spid="9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00"/>
                                        </p:tgtEl>
                                        <p:attrNameLst>
                                          <p:attrName>style.visibility</p:attrName>
                                        </p:attrNameLst>
                                      </p:cBhvr>
                                      <p:to>
                                        <p:strVal val="visible"/>
                                      </p:to>
                                    </p:set>
                                    <p:animEffect transition="in" filter="fade">
                                      <p:cBhvr>
                                        <p:cTn id="112" dur="500"/>
                                        <p:tgtEl>
                                          <p:spTgt spid="10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01"/>
                                        </p:tgtEl>
                                        <p:attrNameLst>
                                          <p:attrName>style.visibility</p:attrName>
                                        </p:attrNameLst>
                                      </p:cBhvr>
                                      <p:to>
                                        <p:strVal val="visible"/>
                                      </p:to>
                                    </p:set>
                                    <p:animEffect transition="in" filter="fade">
                                      <p:cBhvr>
                                        <p:cTn id="115" dur="500"/>
                                        <p:tgtEl>
                                          <p:spTgt spid="10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02"/>
                                        </p:tgtEl>
                                        <p:attrNameLst>
                                          <p:attrName>style.visibility</p:attrName>
                                        </p:attrNameLst>
                                      </p:cBhvr>
                                      <p:to>
                                        <p:strVal val="visible"/>
                                      </p:to>
                                    </p:set>
                                    <p:animEffect transition="in" filter="fade">
                                      <p:cBhvr>
                                        <p:cTn id="118" dur="500"/>
                                        <p:tgtEl>
                                          <p:spTgt spid="102"/>
                                        </p:tgtEl>
                                      </p:cBhvr>
                                    </p:animEffect>
                                  </p:childTnLst>
                                </p:cTn>
                              </p:par>
                              <p:par>
                                <p:cTn id="119" presetID="10" presetClass="entr" presetSubtype="0" fill="hold" nodeType="withEffect">
                                  <p:stCondLst>
                                    <p:cond delay="0"/>
                                  </p:stCondLst>
                                  <p:childTnLst>
                                    <p:set>
                                      <p:cBhvr>
                                        <p:cTn id="120" dur="1" fill="hold">
                                          <p:stCondLst>
                                            <p:cond delay="0"/>
                                          </p:stCondLst>
                                        </p:cTn>
                                        <p:tgtEl>
                                          <p:spTgt spid="103"/>
                                        </p:tgtEl>
                                        <p:attrNameLst>
                                          <p:attrName>style.visibility</p:attrName>
                                        </p:attrNameLst>
                                      </p:cBhvr>
                                      <p:to>
                                        <p:strVal val="visible"/>
                                      </p:to>
                                    </p:set>
                                    <p:animEffect transition="in" filter="fade">
                                      <p:cBhvr>
                                        <p:cTn id="121" dur="500"/>
                                        <p:tgtEl>
                                          <p:spTgt spid="10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18"/>
                                        </p:tgtEl>
                                        <p:attrNameLst>
                                          <p:attrName>style.visibility</p:attrName>
                                        </p:attrNameLst>
                                      </p:cBhvr>
                                      <p:to>
                                        <p:strVal val="visible"/>
                                      </p:to>
                                    </p:set>
                                    <p:animEffect transition="in" filter="fade">
                                      <p:cBhvr>
                                        <p:cTn id="124" dur="500"/>
                                        <p:tgtEl>
                                          <p:spTgt spid="118"/>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19"/>
                                        </p:tgtEl>
                                        <p:attrNameLst>
                                          <p:attrName>style.visibility</p:attrName>
                                        </p:attrNameLst>
                                      </p:cBhvr>
                                      <p:to>
                                        <p:strVal val="visible"/>
                                      </p:to>
                                    </p:set>
                                    <p:animEffect transition="in" filter="fade">
                                      <p:cBhvr>
                                        <p:cTn id="127" dur="500"/>
                                        <p:tgtEl>
                                          <p:spTgt spid="119"/>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20"/>
                                        </p:tgtEl>
                                        <p:attrNameLst>
                                          <p:attrName>style.visibility</p:attrName>
                                        </p:attrNameLst>
                                      </p:cBhvr>
                                      <p:to>
                                        <p:strVal val="visible"/>
                                      </p:to>
                                    </p:set>
                                    <p:animEffect transition="in" filter="fade">
                                      <p:cBhvr>
                                        <p:cTn id="130" dur="500"/>
                                        <p:tgtEl>
                                          <p:spTgt spid="120"/>
                                        </p:tgtEl>
                                      </p:cBhvr>
                                    </p:animEffect>
                                  </p:childTnLst>
                                </p:cTn>
                              </p:par>
                            </p:childTnLst>
                          </p:cTn>
                        </p:par>
                      </p:childTnLst>
                    </p:cTn>
                  </p:par>
                  <p:par>
                    <p:cTn id="131" fill="hold">
                      <p:stCondLst>
                        <p:cond delay="indefinite"/>
                      </p:stCondLst>
                      <p:childTnLst>
                        <p:par>
                          <p:cTn id="132" fill="hold">
                            <p:stCondLst>
                              <p:cond delay="0"/>
                            </p:stCondLst>
                            <p:childTnLst>
                              <p:par>
                                <p:cTn id="133" presetID="26" presetClass="emph" presetSubtype="0" fill="hold" grpId="1" nodeType="clickEffect">
                                  <p:stCondLst>
                                    <p:cond delay="0"/>
                                  </p:stCondLst>
                                  <p:childTnLst>
                                    <p:animEffect transition="out" filter="fade">
                                      <p:cBhvr>
                                        <p:cTn id="134" dur="1000" tmFilter="0, 0; .2, .5; .8, .5; 1, 0"/>
                                        <p:tgtEl>
                                          <p:spTgt spid="101"/>
                                        </p:tgtEl>
                                      </p:cBhvr>
                                    </p:animEffect>
                                    <p:animScale>
                                      <p:cBhvr>
                                        <p:cTn id="135" dur="500" autoRev="1" fill="hold"/>
                                        <p:tgtEl>
                                          <p:spTgt spid="101"/>
                                        </p:tgtEl>
                                      </p:cBhvr>
                                      <p:by x="105000" y="105000"/>
                                    </p:animScale>
                                  </p:childTnLst>
                                </p:cTn>
                              </p:par>
                            </p:childTnLst>
                          </p:cTn>
                        </p:par>
                      </p:childTnLst>
                    </p:cTn>
                  </p:par>
                  <p:par>
                    <p:cTn id="136" fill="hold">
                      <p:stCondLst>
                        <p:cond delay="indefinite"/>
                      </p:stCondLst>
                      <p:childTnLst>
                        <p:par>
                          <p:cTn id="137" fill="hold">
                            <p:stCondLst>
                              <p:cond delay="0"/>
                            </p:stCondLst>
                            <p:childTnLst>
                              <p:par>
                                <p:cTn id="138" presetID="2" presetClass="entr" presetSubtype="1" fill="hold" grpId="0" nodeType="clickEffect">
                                  <p:stCondLst>
                                    <p:cond delay="0"/>
                                  </p:stCondLst>
                                  <p:childTnLst>
                                    <p:set>
                                      <p:cBhvr>
                                        <p:cTn id="139" dur="1" fill="hold">
                                          <p:stCondLst>
                                            <p:cond delay="0"/>
                                          </p:stCondLst>
                                        </p:cTn>
                                        <p:tgtEl>
                                          <p:spTgt spid="113"/>
                                        </p:tgtEl>
                                        <p:attrNameLst>
                                          <p:attrName>style.visibility</p:attrName>
                                        </p:attrNameLst>
                                      </p:cBhvr>
                                      <p:to>
                                        <p:strVal val="visible"/>
                                      </p:to>
                                    </p:set>
                                    <p:anim calcmode="lin" valueType="num">
                                      <p:cBhvr additive="base">
                                        <p:cTn id="140" dur="500" fill="hold"/>
                                        <p:tgtEl>
                                          <p:spTgt spid="113"/>
                                        </p:tgtEl>
                                        <p:attrNameLst>
                                          <p:attrName>ppt_x</p:attrName>
                                        </p:attrNameLst>
                                      </p:cBhvr>
                                      <p:tavLst>
                                        <p:tav tm="0">
                                          <p:val>
                                            <p:strVal val="#ppt_x"/>
                                          </p:val>
                                        </p:tav>
                                        <p:tav tm="100000">
                                          <p:val>
                                            <p:strVal val="#ppt_x"/>
                                          </p:val>
                                        </p:tav>
                                      </p:tavLst>
                                    </p:anim>
                                    <p:anim calcmode="lin" valueType="num">
                                      <p:cBhvr additive="base">
                                        <p:cTn id="141" dur="500" fill="hold"/>
                                        <p:tgtEl>
                                          <p:spTgt spid="113"/>
                                        </p:tgtEl>
                                        <p:attrNameLst>
                                          <p:attrName>ppt_y</p:attrName>
                                        </p:attrNameLst>
                                      </p:cBhvr>
                                      <p:tavLst>
                                        <p:tav tm="0">
                                          <p:val>
                                            <p:strVal val="0-#ppt_h/2"/>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9" presetClass="emph" presetSubtype="0" grpId="1" nodeType="clickEffect">
                                  <p:stCondLst>
                                    <p:cond delay="0"/>
                                  </p:stCondLst>
                                  <p:childTnLst>
                                    <p:set>
                                      <p:cBhvr>
                                        <p:cTn id="145" dur="indefinite"/>
                                        <p:tgtEl>
                                          <p:spTgt spid="99"/>
                                        </p:tgtEl>
                                        <p:attrNameLst>
                                          <p:attrName>style.opacity</p:attrName>
                                        </p:attrNameLst>
                                      </p:cBhvr>
                                      <p:to>
                                        <p:strVal val="0.25"/>
                                      </p:to>
                                    </p:set>
                                    <p:animEffect filter="image" prLst="opacity: 0.25">
                                      <p:cBhvr rctx="IE">
                                        <p:cTn id="146" dur="indefinite"/>
                                        <p:tgtEl>
                                          <p:spTgt spid="99"/>
                                        </p:tgtEl>
                                      </p:cBhvr>
                                    </p:animEffect>
                                  </p:childTnLst>
                                </p:cTn>
                              </p:par>
                            </p:childTnLst>
                          </p:cTn>
                        </p:par>
                        <p:par>
                          <p:cTn id="147" fill="hold">
                            <p:stCondLst>
                              <p:cond delay="0"/>
                            </p:stCondLst>
                            <p:childTnLst>
                              <p:par>
                                <p:cTn id="148" presetID="22" presetClass="entr" presetSubtype="2" fill="hold" grpId="0" nodeType="afterEffect">
                                  <p:stCondLst>
                                    <p:cond delay="0"/>
                                  </p:stCondLst>
                                  <p:childTnLst>
                                    <p:set>
                                      <p:cBhvr>
                                        <p:cTn id="149" dur="1" fill="hold">
                                          <p:stCondLst>
                                            <p:cond delay="0"/>
                                          </p:stCondLst>
                                        </p:cTn>
                                        <p:tgtEl>
                                          <p:spTgt spid="114"/>
                                        </p:tgtEl>
                                        <p:attrNameLst>
                                          <p:attrName>style.visibility</p:attrName>
                                        </p:attrNameLst>
                                      </p:cBhvr>
                                      <p:to>
                                        <p:strVal val="visible"/>
                                      </p:to>
                                    </p:set>
                                    <p:animEffect transition="in" filter="wipe(right)">
                                      <p:cBhvr>
                                        <p:cTn id="150" dur="500"/>
                                        <p:tgtEl>
                                          <p:spTgt spid="114"/>
                                        </p:tgtEl>
                                      </p:cBhvr>
                                    </p:animEffect>
                                  </p:childTnLst>
                                </p:cTn>
                              </p:par>
                            </p:childTnLst>
                          </p:cTn>
                        </p:par>
                      </p:childTnLst>
                    </p:cTn>
                  </p:par>
                  <p:par>
                    <p:cTn id="151" fill="hold">
                      <p:stCondLst>
                        <p:cond delay="indefinite"/>
                      </p:stCondLst>
                      <p:childTnLst>
                        <p:par>
                          <p:cTn id="152" fill="hold">
                            <p:stCondLst>
                              <p:cond delay="0"/>
                            </p:stCondLst>
                            <p:childTnLst>
                              <p:par>
                                <p:cTn id="153" presetID="9" presetClass="emph" presetSubtype="0" grpId="1" nodeType="clickEffect">
                                  <p:stCondLst>
                                    <p:cond delay="0"/>
                                  </p:stCondLst>
                                  <p:childTnLst>
                                    <p:set>
                                      <p:cBhvr>
                                        <p:cTn id="154" dur="indefinite"/>
                                        <p:tgtEl>
                                          <p:spTgt spid="100"/>
                                        </p:tgtEl>
                                        <p:attrNameLst>
                                          <p:attrName>style.opacity</p:attrName>
                                        </p:attrNameLst>
                                      </p:cBhvr>
                                      <p:to>
                                        <p:strVal val="0.25"/>
                                      </p:to>
                                    </p:set>
                                    <p:animEffect filter="image" prLst="opacity: 0.25">
                                      <p:cBhvr rctx="IE">
                                        <p:cTn id="155" dur="indefinite"/>
                                        <p:tgtEl>
                                          <p:spTgt spid="100"/>
                                        </p:tgtEl>
                                      </p:cBhvr>
                                    </p:animEffect>
                                  </p:childTnLst>
                                </p:cTn>
                              </p:par>
                            </p:childTnLst>
                          </p:cTn>
                        </p:par>
                        <p:par>
                          <p:cTn id="156" fill="hold">
                            <p:stCondLst>
                              <p:cond delay="0"/>
                            </p:stCondLst>
                            <p:childTnLst>
                              <p:par>
                                <p:cTn id="157" presetID="22" presetClass="entr" presetSubtype="2" fill="hold" grpId="0" nodeType="afterEffect">
                                  <p:stCondLst>
                                    <p:cond delay="0"/>
                                  </p:stCondLst>
                                  <p:childTnLst>
                                    <p:set>
                                      <p:cBhvr>
                                        <p:cTn id="158" dur="1" fill="hold">
                                          <p:stCondLst>
                                            <p:cond delay="0"/>
                                          </p:stCondLst>
                                        </p:cTn>
                                        <p:tgtEl>
                                          <p:spTgt spid="115"/>
                                        </p:tgtEl>
                                        <p:attrNameLst>
                                          <p:attrName>style.visibility</p:attrName>
                                        </p:attrNameLst>
                                      </p:cBhvr>
                                      <p:to>
                                        <p:strVal val="visible"/>
                                      </p:to>
                                    </p:set>
                                    <p:animEffect transition="in" filter="wipe(right)">
                                      <p:cBhvr>
                                        <p:cTn id="159" dur="500"/>
                                        <p:tgtEl>
                                          <p:spTgt spid="115"/>
                                        </p:tgtEl>
                                      </p:cBhvr>
                                    </p:animEffect>
                                  </p:childTnLst>
                                </p:cTn>
                              </p:par>
                            </p:childTnLst>
                          </p:cTn>
                        </p:par>
                      </p:childTnLst>
                    </p:cTn>
                  </p:par>
                  <p:par>
                    <p:cTn id="160" fill="hold">
                      <p:stCondLst>
                        <p:cond delay="indefinite"/>
                      </p:stCondLst>
                      <p:childTnLst>
                        <p:par>
                          <p:cTn id="161" fill="hold">
                            <p:stCondLst>
                              <p:cond delay="0"/>
                            </p:stCondLst>
                            <p:childTnLst>
                              <p:par>
                                <p:cTn id="162" presetID="9" presetClass="emph" presetSubtype="0" grpId="2" nodeType="clickEffect">
                                  <p:stCondLst>
                                    <p:cond delay="0"/>
                                  </p:stCondLst>
                                  <p:childTnLst>
                                    <p:set>
                                      <p:cBhvr>
                                        <p:cTn id="163" dur="indefinite"/>
                                        <p:tgtEl>
                                          <p:spTgt spid="101"/>
                                        </p:tgtEl>
                                        <p:attrNameLst>
                                          <p:attrName>style.opacity</p:attrName>
                                        </p:attrNameLst>
                                      </p:cBhvr>
                                      <p:to>
                                        <p:strVal val="0.25"/>
                                      </p:to>
                                    </p:set>
                                    <p:animEffect filter="image" prLst="opacity: 0.25">
                                      <p:cBhvr rctx="IE">
                                        <p:cTn id="164" dur="indefinite"/>
                                        <p:tgtEl>
                                          <p:spTgt spid="101"/>
                                        </p:tgtEl>
                                      </p:cBhvr>
                                    </p:animEffect>
                                  </p:childTnLst>
                                </p:cTn>
                              </p:par>
                            </p:childTnLst>
                          </p:cTn>
                        </p:par>
                        <p:par>
                          <p:cTn id="165" fill="hold">
                            <p:stCondLst>
                              <p:cond delay="0"/>
                            </p:stCondLst>
                            <p:childTnLst>
                              <p:par>
                                <p:cTn id="166" presetID="22" presetClass="entr" presetSubtype="2" fill="hold" grpId="0" nodeType="afterEffect">
                                  <p:stCondLst>
                                    <p:cond delay="0"/>
                                  </p:stCondLst>
                                  <p:childTnLst>
                                    <p:set>
                                      <p:cBhvr>
                                        <p:cTn id="167" dur="1" fill="hold">
                                          <p:stCondLst>
                                            <p:cond delay="0"/>
                                          </p:stCondLst>
                                        </p:cTn>
                                        <p:tgtEl>
                                          <p:spTgt spid="116"/>
                                        </p:tgtEl>
                                        <p:attrNameLst>
                                          <p:attrName>style.visibility</p:attrName>
                                        </p:attrNameLst>
                                      </p:cBhvr>
                                      <p:to>
                                        <p:strVal val="visible"/>
                                      </p:to>
                                    </p:set>
                                    <p:animEffect transition="in" filter="wipe(right)">
                                      <p:cBhvr>
                                        <p:cTn id="168" dur="500"/>
                                        <p:tgtEl>
                                          <p:spTgt spid="116"/>
                                        </p:tgtEl>
                                      </p:cBhvr>
                                    </p:animEffect>
                                  </p:childTnLst>
                                </p:cTn>
                              </p:par>
                            </p:childTnLst>
                          </p:cTn>
                        </p:par>
                      </p:childTnLst>
                    </p:cTn>
                  </p:par>
                  <p:par>
                    <p:cTn id="169" fill="hold">
                      <p:stCondLst>
                        <p:cond delay="indefinite"/>
                      </p:stCondLst>
                      <p:childTnLst>
                        <p:par>
                          <p:cTn id="170" fill="hold">
                            <p:stCondLst>
                              <p:cond delay="0"/>
                            </p:stCondLst>
                            <p:childTnLst>
                              <p:par>
                                <p:cTn id="171" presetID="9" presetClass="emph" presetSubtype="0" grpId="1" nodeType="clickEffect">
                                  <p:stCondLst>
                                    <p:cond delay="0"/>
                                  </p:stCondLst>
                                  <p:childTnLst>
                                    <p:set>
                                      <p:cBhvr>
                                        <p:cTn id="172" dur="indefinite"/>
                                        <p:tgtEl>
                                          <p:spTgt spid="102"/>
                                        </p:tgtEl>
                                        <p:attrNameLst>
                                          <p:attrName>style.opacity</p:attrName>
                                        </p:attrNameLst>
                                      </p:cBhvr>
                                      <p:to>
                                        <p:strVal val="0.25"/>
                                      </p:to>
                                    </p:set>
                                    <p:animEffect filter="image" prLst="opacity: 0.25">
                                      <p:cBhvr rctx="IE">
                                        <p:cTn id="173" dur="indefinite"/>
                                        <p:tgtEl>
                                          <p:spTgt spid="102"/>
                                        </p:tgtEl>
                                      </p:cBhvr>
                                    </p:animEffect>
                                  </p:childTnLst>
                                </p:cTn>
                              </p:par>
                            </p:childTnLst>
                          </p:cTn>
                        </p:par>
                        <p:par>
                          <p:cTn id="174" fill="hold">
                            <p:stCondLst>
                              <p:cond delay="0"/>
                            </p:stCondLst>
                            <p:childTnLst>
                              <p:par>
                                <p:cTn id="175" presetID="22" presetClass="entr" presetSubtype="2" fill="hold" grpId="0" nodeType="afterEffect">
                                  <p:stCondLst>
                                    <p:cond delay="0"/>
                                  </p:stCondLst>
                                  <p:childTnLst>
                                    <p:set>
                                      <p:cBhvr>
                                        <p:cTn id="176" dur="1" fill="hold">
                                          <p:stCondLst>
                                            <p:cond delay="0"/>
                                          </p:stCondLst>
                                        </p:cTn>
                                        <p:tgtEl>
                                          <p:spTgt spid="117"/>
                                        </p:tgtEl>
                                        <p:attrNameLst>
                                          <p:attrName>style.visibility</p:attrName>
                                        </p:attrNameLst>
                                      </p:cBhvr>
                                      <p:to>
                                        <p:strVal val="visible"/>
                                      </p:to>
                                    </p:set>
                                    <p:animEffect transition="in" filter="wipe(right)">
                                      <p:cBhvr>
                                        <p:cTn id="177" dur="500"/>
                                        <p:tgtEl>
                                          <p:spTgt spid="117"/>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grpId="0" nodeType="clickEffect">
                                  <p:stCondLst>
                                    <p:cond delay="0"/>
                                  </p:stCondLst>
                                  <p:childTnLst>
                                    <p:set>
                                      <p:cBhvr>
                                        <p:cTn id="181" dur="1" fill="hold">
                                          <p:stCondLst>
                                            <p:cond delay="0"/>
                                          </p:stCondLst>
                                        </p:cTn>
                                        <p:tgtEl>
                                          <p:spTgt spid="121"/>
                                        </p:tgtEl>
                                        <p:attrNameLst>
                                          <p:attrName>style.visibility</p:attrName>
                                        </p:attrNameLst>
                                      </p:cBhvr>
                                      <p:to>
                                        <p:strVal val="visible"/>
                                      </p:to>
                                    </p:set>
                                    <p:animEffect transition="in" filter="wipe(left)">
                                      <p:cBhvr>
                                        <p:cTn id="182"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P spid="31" grpId="0" animBg="1"/>
      <p:bldP spid="31" grpId="1" animBg="1"/>
      <p:bldP spid="37" grpId="0" animBg="1"/>
      <p:bldP spid="67" grpId="0" animBg="1"/>
      <p:bldP spid="67" grpId="1" animBg="1"/>
      <p:bldP spid="67" grpId="2" animBg="1"/>
      <p:bldP spid="76" grpId="0" animBg="1"/>
      <p:bldP spid="76" grpId="1" animBg="1"/>
      <p:bldP spid="77" grpId="0" animBg="1"/>
      <p:bldP spid="77" grpId="1" animBg="1"/>
      <p:bldP spid="79" grpId="0" animBg="1"/>
      <p:bldP spid="79" grpId="1" animBg="1"/>
      <p:bldP spid="79" grpId="2" animBg="1"/>
      <p:bldP spid="82" grpId="0" animBg="1"/>
      <p:bldP spid="83" grpId="0" animBg="1"/>
      <p:bldP spid="86" grpId="0"/>
      <p:bldP spid="90" grpId="0" animBg="1"/>
      <p:bldP spid="93" grpId="0" animBg="1"/>
      <p:bldP spid="94" grpId="0" animBg="1"/>
      <p:bldP spid="99" grpId="0" animBg="1"/>
      <p:bldP spid="99" grpId="1" animBg="1"/>
      <p:bldP spid="100" grpId="0" animBg="1"/>
      <p:bldP spid="100" grpId="1" animBg="1"/>
      <p:bldP spid="101" grpId="0" animBg="1"/>
      <p:bldP spid="101" grpId="1" animBg="1"/>
      <p:bldP spid="101" grpId="2" animBg="1"/>
      <p:bldP spid="102" grpId="0" animBg="1"/>
      <p:bldP spid="102" grpId="1" animBg="1"/>
      <p:bldP spid="113" grpId="0"/>
      <p:bldP spid="114" grpId="0" animBg="1"/>
      <p:bldP spid="115" grpId="0" animBg="1"/>
      <p:bldP spid="116" grpId="0" animBg="1"/>
      <p:bldP spid="117" grpId="0" animBg="1"/>
      <p:bldP spid="118" grpId="0"/>
      <p:bldP spid="119" grpId="0"/>
      <p:bldP spid="120" grpId="0"/>
      <p:bldP spid="1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58DA7D-52BF-DFBE-1065-638DA4B2DF26}"/>
              </a:ext>
            </a:extLst>
          </p:cNvPr>
          <p:cNvSpPr>
            <a:spLocks noGrp="1"/>
          </p:cNvSpPr>
          <p:nvPr>
            <p:ph type="title"/>
          </p:nvPr>
        </p:nvSpPr>
        <p:spPr/>
        <p:txBody>
          <a:bodyPr/>
          <a:lstStyle/>
          <a:p>
            <a:r>
              <a:rPr kumimoji="1" lang="en-US" altLang="zh-TW" dirty="0"/>
              <a:t>What is Virtual Filesystem (VFS)</a:t>
            </a:r>
            <a:endParaRPr kumimoji="1" lang="zh-TW" altLang="en-US" dirty="0"/>
          </a:p>
        </p:txBody>
      </p:sp>
      <p:sp>
        <p:nvSpPr>
          <p:cNvPr id="3" name="內容版面配置區 2">
            <a:extLst>
              <a:ext uri="{FF2B5EF4-FFF2-40B4-BE49-F238E27FC236}">
                <a16:creationId xmlns:a16="http://schemas.microsoft.com/office/drawing/2014/main" id="{4F3ABA8D-58D8-B069-7D91-DEF9A4D88442}"/>
              </a:ext>
            </a:extLst>
          </p:cNvPr>
          <p:cNvSpPr>
            <a:spLocks noGrp="1"/>
          </p:cNvSpPr>
          <p:nvPr>
            <p:ph idx="1"/>
          </p:nvPr>
        </p:nvSpPr>
        <p:spPr/>
        <p:txBody>
          <a:bodyPr/>
          <a:lstStyle/>
          <a:p>
            <a:r>
              <a:rPr kumimoji="1" lang="en-US" altLang="zh-TW" dirty="0">
                <a:solidFill>
                  <a:srgbClr val="C00000"/>
                </a:solidFill>
              </a:rPr>
              <a:t>Enables programs </a:t>
            </a:r>
            <a:r>
              <a:rPr kumimoji="1" lang="en-US" altLang="zh-TW" dirty="0"/>
              <a:t>to use standard Unix system calls to </a:t>
            </a:r>
            <a:r>
              <a:rPr kumimoji="1" lang="en-US" altLang="zh-TW" dirty="0">
                <a:solidFill>
                  <a:srgbClr val="C00000"/>
                </a:solidFill>
              </a:rPr>
              <a:t>work regardless of the filesystem</a:t>
            </a:r>
            <a:r>
              <a:rPr kumimoji="1" lang="en-US" altLang="zh-TW" dirty="0"/>
              <a:t> or underlying physical mediu</a:t>
            </a:r>
            <a:r>
              <a:rPr lang="en-US" altLang="zh-TW" dirty="0"/>
              <a:t>m</a:t>
            </a:r>
            <a:r>
              <a:rPr kumimoji="1" lang="en-US" altLang="zh-TW" dirty="0"/>
              <a:t>.</a:t>
            </a:r>
            <a:r>
              <a:rPr kumimoji="1" lang="zh-TW" altLang="en-US" dirty="0"/>
              <a:t> </a:t>
            </a:r>
            <a:endParaRPr kumimoji="1" lang="en-US" altLang="zh-TW" dirty="0"/>
          </a:p>
          <a:p>
            <a:r>
              <a:rPr kumimoji="1" lang="en-US" altLang="zh-TW" dirty="0"/>
              <a:t>Together, the VFS and the block I/O layer provide the abstractions</a:t>
            </a:r>
            <a:r>
              <a:rPr kumimoji="1" lang="zh-TW" altLang="en-US" dirty="0"/>
              <a:t> </a:t>
            </a:r>
            <a:r>
              <a:rPr kumimoji="1" lang="en-US" altLang="zh-TW" dirty="0"/>
              <a:t>that allow user-space programs to </a:t>
            </a:r>
            <a:r>
              <a:rPr kumimoji="1" lang="en-US" altLang="zh-TW" dirty="0">
                <a:solidFill>
                  <a:srgbClr val="C00000"/>
                </a:solidFill>
              </a:rPr>
              <a:t>issue generic system calls to access files via a uniform naming policy on any filesystem</a:t>
            </a:r>
            <a:r>
              <a:rPr kumimoji="1" lang="en-US" altLang="zh-TW" dirty="0"/>
              <a:t>, which itself exists </a:t>
            </a:r>
            <a:r>
              <a:rPr kumimoji="1" lang="en-US" altLang="zh-TW" dirty="0">
                <a:solidFill>
                  <a:srgbClr val="C00000"/>
                </a:solidFill>
              </a:rPr>
              <a:t>on any storage medium</a:t>
            </a:r>
            <a:r>
              <a:rPr kumimoji="1" lang="en-US" altLang="zh-TW" dirty="0"/>
              <a:t>.</a:t>
            </a:r>
          </a:p>
          <a:p>
            <a:r>
              <a:rPr lang="en-US" altLang="zh-TW" dirty="0"/>
              <a:t>This abstract layer </a:t>
            </a:r>
            <a:r>
              <a:rPr lang="en-US" altLang="zh-TW" dirty="0">
                <a:solidFill>
                  <a:srgbClr val="C00000"/>
                </a:solidFill>
              </a:rPr>
              <a:t>mirrors a filesystem (Ext2)</a:t>
            </a:r>
            <a:r>
              <a:rPr lang="en-US" altLang="zh-TW" dirty="0"/>
              <a:t> and defines the basic conceptual interfaces and data structure. (e.g., files and directories)</a:t>
            </a:r>
            <a:endParaRPr kumimoji="1" lang="en-US" altLang="zh-TW" dirty="0"/>
          </a:p>
        </p:txBody>
      </p:sp>
      <p:sp>
        <p:nvSpPr>
          <p:cNvPr id="4" name="投影片編號版面配置區 3">
            <a:extLst>
              <a:ext uri="{FF2B5EF4-FFF2-40B4-BE49-F238E27FC236}">
                <a16:creationId xmlns:a16="http://schemas.microsoft.com/office/drawing/2014/main" id="{D5147743-2C8A-CDED-6D5E-EB6B4F31F772}"/>
              </a:ext>
            </a:extLst>
          </p:cNvPr>
          <p:cNvSpPr>
            <a:spLocks noGrp="1"/>
          </p:cNvSpPr>
          <p:nvPr>
            <p:ph type="sldNum" sz="quarter" idx="4"/>
          </p:nvPr>
        </p:nvSpPr>
        <p:spPr/>
        <p:txBody>
          <a:bodyPr/>
          <a:lstStyle/>
          <a:p>
            <a:fld id="{E24E6636-6BA5-4AAC-8485-BE8D914D288B}" type="slidenum">
              <a:rPr lang="zh-TW" altLang="en-US" smtClean="0"/>
              <a:pPr/>
              <a:t>12</a:t>
            </a:fld>
            <a:endParaRPr lang="zh-TW" altLang="en-US" dirty="0"/>
          </a:p>
        </p:txBody>
      </p:sp>
      <p:pic>
        <p:nvPicPr>
          <p:cNvPr id="6" name="圖片 5">
            <a:extLst>
              <a:ext uri="{FF2B5EF4-FFF2-40B4-BE49-F238E27FC236}">
                <a16:creationId xmlns:a16="http://schemas.microsoft.com/office/drawing/2014/main" id="{6FDC95EE-3C60-C887-300B-6ADF5F2B2B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6226" y="4709342"/>
            <a:ext cx="9698695" cy="1970858"/>
          </a:xfrm>
          <a:prstGeom prst="rect">
            <a:avLst/>
          </a:prstGeom>
        </p:spPr>
      </p:pic>
    </p:spTree>
    <p:extLst>
      <p:ext uri="{BB962C8B-B14F-4D97-AF65-F5344CB8AC3E}">
        <p14:creationId xmlns:p14="http://schemas.microsoft.com/office/powerpoint/2010/main" val="75762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D0437C-0B6E-7A0A-727D-F48269504C0E}"/>
              </a:ext>
            </a:extLst>
          </p:cNvPr>
          <p:cNvSpPr>
            <a:spLocks noGrp="1"/>
          </p:cNvSpPr>
          <p:nvPr>
            <p:ph type="title"/>
          </p:nvPr>
        </p:nvSpPr>
        <p:spPr/>
        <p:txBody>
          <a:bodyPr/>
          <a:lstStyle/>
          <a:p>
            <a:r>
              <a:rPr kumimoji="1" lang="en-US" altLang="zh-TW" dirty="0"/>
              <a:t>VFS Objects and Data Structures</a:t>
            </a:r>
            <a:r>
              <a:rPr kumimoji="1" lang="zh-TW" altLang="en-US" dirty="0"/>
              <a:t> </a:t>
            </a:r>
            <a:r>
              <a:rPr kumimoji="1" lang="en-US" altLang="zh-TW" dirty="0"/>
              <a:t>(Metadata)</a:t>
            </a:r>
            <a:endParaRPr kumimoji="1" lang="zh-TW" altLang="en-US" dirty="0"/>
          </a:p>
        </p:txBody>
      </p:sp>
      <p:sp>
        <p:nvSpPr>
          <p:cNvPr id="3" name="內容版面配置區 2">
            <a:extLst>
              <a:ext uri="{FF2B5EF4-FFF2-40B4-BE49-F238E27FC236}">
                <a16:creationId xmlns:a16="http://schemas.microsoft.com/office/drawing/2014/main" id="{9112085B-9517-88B3-1545-8A8E4B483DEB}"/>
              </a:ext>
            </a:extLst>
          </p:cNvPr>
          <p:cNvSpPr>
            <a:spLocks noGrp="1"/>
          </p:cNvSpPr>
          <p:nvPr>
            <p:ph idx="1"/>
          </p:nvPr>
        </p:nvSpPr>
        <p:spPr/>
        <p:txBody>
          <a:bodyPr>
            <a:normAutofit/>
          </a:bodyPr>
          <a:lstStyle/>
          <a:p>
            <a:r>
              <a:rPr kumimoji="1" lang="en-US" altLang="zh-TW" dirty="0"/>
              <a:t>Four primary object types of VFS (also </a:t>
            </a:r>
            <a:r>
              <a:rPr kumimoji="1" lang="en-US" altLang="zh-TW" dirty="0">
                <a:solidFill>
                  <a:srgbClr val="C00000"/>
                </a:solidFill>
              </a:rPr>
              <a:t>fs-related abstractions</a:t>
            </a:r>
            <a:r>
              <a:rPr kumimoji="1" lang="en-US" altLang="zh-TW" dirty="0"/>
              <a:t>): </a:t>
            </a:r>
          </a:p>
          <a:p>
            <a:pPr lvl="1"/>
            <a:r>
              <a:rPr kumimoji="1" lang="en-US" altLang="zh-TW" dirty="0">
                <a:latin typeface="+mj-lt"/>
              </a:rPr>
              <a:t>Superblock</a:t>
            </a:r>
            <a:r>
              <a:rPr kumimoji="1" lang="en-US" altLang="zh-TW" dirty="0"/>
              <a:t> Object:</a:t>
            </a:r>
            <a:r>
              <a:rPr kumimoji="1" lang="zh-TW" altLang="en-US" dirty="0"/>
              <a:t> </a:t>
            </a:r>
            <a:r>
              <a:rPr kumimoji="1" lang="en-US" altLang="zh-TW" dirty="0"/>
              <a:t>Represents a specific </a:t>
            </a:r>
            <a:r>
              <a:rPr kumimoji="1" lang="en-US" altLang="zh-TW" dirty="0">
                <a:solidFill>
                  <a:srgbClr val="C00000"/>
                </a:solidFill>
              </a:rPr>
              <a:t>mounted file system</a:t>
            </a:r>
            <a:r>
              <a:rPr kumimoji="1" lang="en-US" altLang="zh-TW" dirty="0"/>
              <a:t>.</a:t>
            </a:r>
          </a:p>
          <a:p>
            <a:pPr lvl="1"/>
            <a:r>
              <a:rPr lang="en-US" altLang="zh-TW" dirty="0" err="1">
                <a:latin typeface="+mj-lt"/>
              </a:rPr>
              <a:t>i</a:t>
            </a:r>
            <a:r>
              <a:rPr kumimoji="1" lang="en-US" altLang="zh-TW" dirty="0" err="1">
                <a:latin typeface="+mj-lt"/>
              </a:rPr>
              <a:t>node</a:t>
            </a:r>
            <a:r>
              <a:rPr kumimoji="1" lang="en-US" altLang="zh-TW" dirty="0"/>
              <a:t> (Index Node) </a:t>
            </a:r>
            <a:r>
              <a:rPr lang="en-US" altLang="zh-TW" dirty="0"/>
              <a:t>O</a:t>
            </a:r>
            <a:r>
              <a:rPr kumimoji="1" lang="en-US" altLang="zh-TW" dirty="0"/>
              <a:t>bject: Represents a </a:t>
            </a:r>
            <a:r>
              <a:rPr kumimoji="1" lang="en-US" altLang="zh-TW" dirty="0">
                <a:solidFill>
                  <a:srgbClr val="C00000"/>
                </a:solidFill>
              </a:rPr>
              <a:t>specific file.</a:t>
            </a:r>
          </a:p>
          <a:p>
            <a:pPr lvl="1"/>
            <a:r>
              <a:rPr lang="en-US" altLang="zh-TW" dirty="0" err="1">
                <a:latin typeface="+mj-lt"/>
              </a:rPr>
              <a:t>d</a:t>
            </a:r>
            <a:r>
              <a:rPr kumimoji="1" lang="en-US" altLang="zh-TW" dirty="0" err="1">
                <a:latin typeface="+mj-lt"/>
              </a:rPr>
              <a:t>entries</a:t>
            </a:r>
            <a:r>
              <a:rPr kumimoji="1" lang="en-US" altLang="zh-TW" dirty="0"/>
              <a:t> O</a:t>
            </a:r>
            <a:r>
              <a:rPr lang="en-US" altLang="zh-TW" dirty="0"/>
              <a:t>bject: Represents a </a:t>
            </a:r>
            <a:r>
              <a:rPr lang="en-US" altLang="zh-TW" dirty="0">
                <a:solidFill>
                  <a:srgbClr val="C00000"/>
                </a:solidFill>
              </a:rPr>
              <a:t>directory entry</a:t>
            </a:r>
            <a:r>
              <a:rPr lang="en-US" altLang="zh-TW" dirty="0"/>
              <a:t>, which is a single component of a path. </a:t>
            </a:r>
            <a:r>
              <a:rPr lang="en-US" altLang="zh-TW" dirty="0">
                <a:solidFill>
                  <a:schemeClr val="tx1">
                    <a:lumMod val="50000"/>
                    <a:lumOff val="50000"/>
                  </a:schemeClr>
                </a:solidFill>
              </a:rPr>
              <a:t>(e.g., /</a:t>
            </a:r>
            <a:r>
              <a:rPr lang="en-US" altLang="zh-TW" dirty="0" err="1">
                <a:solidFill>
                  <a:schemeClr val="tx1">
                    <a:lumMod val="50000"/>
                    <a:lumOff val="50000"/>
                  </a:schemeClr>
                </a:solidFill>
              </a:rPr>
              <a:t>usr</a:t>
            </a:r>
            <a:r>
              <a:rPr lang="en-US" altLang="zh-TW" dirty="0">
                <a:solidFill>
                  <a:schemeClr val="tx1">
                    <a:lumMod val="50000"/>
                    <a:lumOff val="50000"/>
                  </a:schemeClr>
                </a:solidFill>
              </a:rPr>
              <a:t>/home/</a:t>
            </a:r>
            <a:r>
              <a:rPr lang="en-US" altLang="zh-TW" dirty="0" err="1">
                <a:solidFill>
                  <a:schemeClr val="tx1">
                    <a:lumMod val="50000"/>
                    <a:lumOff val="50000"/>
                  </a:schemeClr>
                </a:solidFill>
              </a:rPr>
              <a:t>tmp</a:t>
            </a:r>
            <a:r>
              <a:rPr lang="en-US" altLang="zh-TW" dirty="0">
                <a:solidFill>
                  <a:schemeClr val="tx1">
                    <a:lumMod val="50000"/>
                    <a:lumOff val="50000"/>
                  </a:schemeClr>
                </a:solidFill>
              </a:rPr>
              <a:t> </a:t>
            </a:r>
            <a:r>
              <a:rPr lang="en-US" altLang="zh-TW" dirty="0">
                <a:solidFill>
                  <a:schemeClr val="tx1">
                    <a:lumMod val="50000"/>
                    <a:lumOff val="50000"/>
                  </a:schemeClr>
                </a:solidFill>
                <a:sym typeface="Wingdings" pitchFamily="2" charset="2"/>
              </a:rPr>
              <a:t> At least four </a:t>
            </a:r>
            <a:r>
              <a:rPr lang="en-US" altLang="zh-TW" dirty="0" err="1">
                <a:solidFill>
                  <a:schemeClr val="tx1">
                    <a:lumMod val="50000"/>
                    <a:lumOff val="50000"/>
                  </a:schemeClr>
                </a:solidFill>
                <a:sym typeface="Wingdings" pitchFamily="2" charset="2"/>
              </a:rPr>
              <a:t>dentries</a:t>
            </a:r>
            <a:r>
              <a:rPr lang="en-US" altLang="zh-TW" dirty="0">
                <a:solidFill>
                  <a:schemeClr val="tx1">
                    <a:lumMod val="50000"/>
                    <a:lumOff val="50000"/>
                  </a:schemeClr>
                </a:solidFill>
                <a:sym typeface="Wingdings" pitchFamily="2" charset="2"/>
              </a:rPr>
              <a:t>)</a:t>
            </a:r>
            <a:endParaRPr lang="en-US" altLang="zh-TW" dirty="0">
              <a:solidFill>
                <a:schemeClr val="tx1">
                  <a:lumMod val="50000"/>
                  <a:lumOff val="50000"/>
                </a:schemeClr>
              </a:solidFill>
            </a:endParaRPr>
          </a:p>
          <a:p>
            <a:pPr lvl="1"/>
            <a:r>
              <a:rPr kumimoji="1" lang="en-US" altLang="zh-TW" dirty="0">
                <a:latin typeface="+mj-lt"/>
              </a:rPr>
              <a:t>File</a:t>
            </a:r>
            <a:r>
              <a:rPr kumimoji="1" lang="en-US" altLang="zh-TW" dirty="0"/>
              <a:t> Object: Represents an </a:t>
            </a:r>
            <a:r>
              <a:rPr kumimoji="1" lang="en-US" altLang="zh-TW" dirty="0">
                <a:solidFill>
                  <a:srgbClr val="C00000"/>
                </a:solidFill>
              </a:rPr>
              <a:t>open file</a:t>
            </a:r>
            <a:r>
              <a:rPr kumimoji="1" lang="en-US" altLang="zh-TW" dirty="0"/>
              <a:t> as associated with a process.</a:t>
            </a:r>
            <a:endParaRPr lang="en-US" altLang="zh-TW" dirty="0"/>
          </a:p>
          <a:p>
            <a:pPr lvl="1"/>
            <a:r>
              <a:rPr lang="en-US" altLang="zh-TW" dirty="0"/>
              <a:t>The </a:t>
            </a:r>
            <a:r>
              <a:rPr lang="en-US" altLang="zh-TW" dirty="0">
                <a:solidFill>
                  <a:srgbClr val="C00000"/>
                </a:solidFill>
              </a:rPr>
              <a:t>VFS treats directories as normal files</a:t>
            </a:r>
            <a:r>
              <a:rPr lang="en-US" altLang="zh-TW" dirty="0"/>
              <a:t>, so there is not a specific directory object. (</a:t>
            </a:r>
            <a:r>
              <a:rPr lang="en-US" altLang="zh-TW" dirty="0" err="1"/>
              <a:t>dentry</a:t>
            </a:r>
            <a:r>
              <a:rPr lang="en-US" altLang="zh-TW" dirty="0"/>
              <a:t> != directory. </a:t>
            </a:r>
            <a:r>
              <a:rPr lang="en-US" altLang="zh-TW" u="sng" dirty="0"/>
              <a:t>Directory is just another kind of file</a:t>
            </a:r>
            <a:r>
              <a:rPr lang="en-US" altLang="zh-TW" dirty="0"/>
              <a:t>)</a:t>
            </a:r>
          </a:p>
        </p:txBody>
      </p:sp>
      <p:sp>
        <p:nvSpPr>
          <p:cNvPr id="4" name="投影片編號版面配置區 3">
            <a:extLst>
              <a:ext uri="{FF2B5EF4-FFF2-40B4-BE49-F238E27FC236}">
                <a16:creationId xmlns:a16="http://schemas.microsoft.com/office/drawing/2014/main" id="{758214E9-32A6-31F1-8AE5-FA4C8B004512}"/>
              </a:ext>
            </a:extLst>
          </p:cNvPr>
          <p:cNvSpPr>
            <a:spLocks noGrp="1"/>
          </p:cNvSpPr>
          <p:nvPr>
            <p:ph type="sldNum" sz="quarter" idx="4"/>
          </p:nvPr>
        </p:nvSpPr>
        <p:spPr/>
        <p:txBody>
          <a:bodyPr/>
          <a:lstStyle/>
          <a:p>
            <a:fld id="{E24E6636-6BA5-4AAC-8485-BE8D914D288B}" type="slidenum">
              <a:rPr lang="zh-TW" altLang="en-US" smtClean="0"/>
              <a:pPr/>
              <a:t>13</a:t>
            </a:fld>
            <a:endParaRPr lang="zh-TW" altLang="en-US" dirty="0"/>
          </a:p>
        </p:txBody>
      </p:sp>
      <p:sp>
        <p:nvSpPr>
          <p:cNvPr id="5" name="文字方塊 4">
            <a:extLst>
              <a:ext uri="{FF2B5EF4-FFF2-40B4-BE49-F238E27FC236}">
                <a16:creationId xmlns:a16="http://schemas.microsoft.com/office/drawing/2014/main" id="{D767D7A7-7EF8-9C5A-8230-25919F4CA27B}"/>
              </a:ext>
            </a:extLst>
          </p:cNvPr>
          <p:cNvSpPr txBox="1"/>
          <p:nvPr/>
        </p:nvSpPr>
        <p:spPr>
          <a:xfrm>
            <a:off x="-3174" y="6581001"/>
            <a:ext cx="6099174" cy="276999"/>
          </a:xfrm>
          <a:prstGeom prst="rect">
            <a:avLst/>
          </a:prstGeom>
          <a:noFill/>
        </p:spPr>
        <p:txBody>
          <a:bodyPr wrap="square">
            <a:spAutoFit/>
          </a:bodyPr>
          <a:lstStyle/>
          <a:p>
            <a:r>
              <a:rPr lang="en-US" altLang="zh-TW" sz="1200" dirty="0">
                <a:solidFill>
                  <a:schemeClr val="bg1">
                    <a:lumMod val="50000"/>
                  </a:schemeClr>
                </a:solidFill>
              </a:rPr>
              <a:t>Ref: </a:t>
            </a:r>
            <a:r>
              <a:rPr lang="zh-TW" altLang="en-US" sz="1200" dirty="0">
                <a:solidFill>
                  <a:schemeClr val="bg1">
                    <a:lumMod val="50000"/>
                  </a:schemeClr>
                </a:solidFill>
              </a:rPr>
              <a:t>https://www.gushiciku.cn/pl/g4f9/zh-tw</a:t>
            </a:r>
          </a:p>
        </p:txBody>
      </p:sp>
    </p:spTree>
    <p:extLst>
      <p:ext uri="{BB962C8B-B14F-4D97-AF65-F5344CB8AC3E}">
        <p14:creationId xmlns:p14="http://schemas.microsoft.com/office/powerpoint/2010/main" val="34095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D0437C-0B6E-7A0A-727D-F48269504C0E}"/>
              </a:ext>
            </a:extLst>
          </p:cNvPr>
          <p:cNvSpPr>
            <a:spLocks noGrp="1"/>
          </p:cNvSpPr>
          <p:nvPr>
            <p:ph type="title"/>
          </p:nvPr>
        </p:nvSpPr>
        <p:spPr/>
        <p:txBody>
          <a:bodyPr/>
          <a:lstStyle/>
          <a:p>
            <a:r>
              <a:rPr kumimoji="1" lang="en-US" altLang="zh-TW" dirty="0"/>
              <a:t>VFS Objects and Data Structures</a:t>
            </a:r>
            <a:r>
              <a:rPr kumimoji="1" lang="zh-TW" altLang="en-US" dirty="0"/>
              <a:t> </a:t>
            </a:r>
            <a:r>
              <a:rPr kumimoji="1" lang="en-US" altLang="zh-TW" dirty="0"/>
              <a:t>(Metadata)</a:t>
            </a:r>
            <a:endParaRPr kumimoji="1" lang="zh-TW" altLang="en-US" dirty="0"/>
          </a:p>
        </p:txBody>
      </p:sp>
      <p:sp>
        <p:nvSpPr>
          <p:cNvPr id="3" name="內容版面配置區 2">
            <a:extLst>
              <a:ext uri="{FF2B5EF4-FFF2-40B4-BE49-F238E27FC236}">
                <a16:creationId xmlns:a16="http://schemas.microsoft.com/office/drawing/2014/main" id="{9112085B-9517-88B3-1545-8A8E4B483DEB}"/>
              </a:ext>
            </a:extLst>
          </p:cNvPr>
          <p:cNvSpPr>
            <a:spLocks noGrp="1"/>
          </p:cNvSpPr>
          <p:nvPr>
            <p:ph idx="1"/>
          </p:nvPr>
        </p:nvSpPr>
        <p:spPr/>
        <p:txBody>
          <a:bodyPr>
            <a:normAutofit/>
          </a:bodyPr>
          <a:lstStyle/>
          <a:p>
            <a:r>
              <a:rPr kumimoji="1" lang="en-US" altLang="zh-TW" sz="2400" dirty="0">
                <a:solidFill>
                  <a:schemeClr val="bg1">
                    <a:lumMod val="50000"/>
                  </a:schemeClr>
                </a:solidFill>
              </a:rPr>
              <a:t>Four primary object types of VFS (also fs-related abstractions): </a:t>
            </a:r>
          </a:p>
          <a:p>
            <a:pPr lvl="1"/>
            <a:r>
              <a:rPr kumimoji="1" lang="en-US" altLang="zh-TW" sz="2000" dirty="0">
                <a:solidFill>
                  <a:schemeClr val="bg1">
                    <a:lumMod val="50000"/>
                  </a:schemeClr>
                </a:solidFill>
                <a:latin typeface="+mj-lt"/>
              </a:rPr>
              <a:t>Superblock</a:t>
            </a:r>
            <a:r>
              <a:rPr kumimoji="1" lang="en-US" altLang="zh-TW" sz="2000" dirty="0">
                <a:solidFill>
                  <a:schemeClr val="bg1">
                    <a:lumMod val="50000"/>
                  </a:schemeClr>
                </a:solidFill>
              </a:rPr>
              <a:t> Object:</a:t>
            </a:r>
            <a:r>
              <a:rPr kumimoji="1" lang="zh-TW" altLang="en-US" sz="2000" dirty="0">
                <a:solidFill>
                  <a:schemeClr val="bg1">
                    <a:lumMod val="50000"/>
                  </a:schemeClr>
                </a:solidFill>
              </a:rPr>
              <a:t> </a:t>
            </a:r>
            <a:r>
              <a:rPr kumimoji="1" lang="en-US" altLang="zh-TW" sz="2000" dirty="0">
                <a:solidFill>
                  <a:schemeClr val="bg1">
                    <a:lumMod val="50000"/>
                  </a:schemeClr>
                </a:solidFill>
              </a:rPr>
              <a:t>Represents a specific mounted file system.</a:t>
            </a:r>
          </a:p>
          <a:p>
            <a:pPr lvl="1"/>
            <a:r>
              <a:rPr lang="en-US" altLang="zh-TW" sz="2000" dirty="0" err="1">
                <a:solidFill>
                  <a:schemeClr val="bg1">
                    <a:lumMod val="50000"/>
                  </a:schemeClr>
                </a:solidFill>
                <a:latin typeface="+mj-lt"/>
              </a:rPr>
              <a:t>i</a:t>
            </a:r>
            <a:r>
              <a:rPr kumimoji="1" lang="en-US" altLang="zh-TW" sz="2000" dirty="0" err="1">
                <a:solidFill>
                  <a:schemeClr val="bg1">
                    <a:lumMod val="50000"/>
                  </a:schemeClr>
                </a:solidFill>
                <a:latin typeface="+mj-lt"/>
              </a:rPr>
              <a:t>node</a:t>
            </a:r>
            <a:r>
              <a:rPr kumimoji="1" lang="en-US" altLang="zh-TW" sz="2000" dirty="0">
                <a:solidFill>
                  <a:schemeClr val="bg1">
                    <a:lumMod val="50000"/>
                  </a:schemeClr>
                </a:solidFill>
              </a:rPr>
              <a:t> (Index Node) </a:t>
            </a:r>
            <a:r>
              <a:rPr lang="en-US" altLang="zh-TW" sz="2000" dirty="0">
                <a:solidFill>
                  <a:schemeClr val="bg1">
                    <a:lumMod val="50000"/>
                  </a:schemeClr>
                </a:solidFill>
              </a:rPr>
              <a:t>O</a:t>
            </a:r>
            <a:r>
              <a:rPr kumimoji="1" lang="en-US" altLang="zh-TW" sz="2000" dirty="0">
                <a:solidFill>
                  <a:schemeClr val="bg1">
                    <a:lumMod val="50000"/>
                  </a:schemeClr>
                </a:solidFill>
              </a:rPr>
              <a:t>bject: Represents a specific file.</a:t>
            </a:r>
          </a:p>
          <a:p>
            <a:pPr lvl="1"/>
            <a:r>
              <a:rPr lang="en-US" altLang="zh-TW" sz="2000" dirty="0" err="1">
                <a:solidFill>
                  <a:schemeClr val="bg1">
                    <a:lumMod val="50000"/>
                  </a:schemeClr>
                </a:solidFill>
                <a:latin typeface="+mj-lt"/>
              </a:rPr>
              <a:t>d</a:t>
            </a:r>
            <a:r>
              <a:rPr kumimoji="1" lang="en-US" altLang="zh-TW" sz="2000" dirty="0" err="1">
                <a:solidFill>
                  <a:schemeClr val="bg1">
                    <a:lumMod val="50000"/>
                  </a:schemeClr>
                </a:solidFill>
                <a:latin typeface="+mj-lt"/>
              </a:rPr>
              <a:t>entries</a:t>
            </a:r>
            <a:r>
              <a:rPr kumimoji="1" lang="en-US" altLang="zh-TW" sz="2000" dirty="0">
                <a:solidFill>
                  <a:schemeClr val="bg1">
                    <a:lumMod val="50000"/>
                  </a:schemeClr>
                </a:solidFill>
              </a:rPr>
              <a:t> O</a:t>
            </a:r>
            <a:r>
              <a:rPr lang="en-US" altLang="zh-TW" sz="2000" dirty="0">
                <a:solidFill>
                  <a:schemeClr val="bg1">
                    <a:lumMod val="50000"/>
                  </a:schemeClr>
                </a:solidFill>
              </a:rPr>
              <a:t>bject: Represents a directory entry, which is a single component of a path.</a:t>
            </a:r>
          </a:p>
          <a:p>
            <a:pPr lvl="1"/>
            <a:r>
              <a:rPr kumimoji="1" lang="en-US" altLang="zh-TW" sz="2000" dirty="0">
                <a:solidFill>
                  <a:schemeClr val="bg1">
                    <a:lumMod val="50000"/>
                  </a:schemeClr>
                </a:solidFill>
                <a:latin typeface="+mj-lt"/>
              </a:rPr>
              <a:t>File</a:t>
            </a:r>
            <a:r>
              <a:rPr kumimoji="1" lang="en-US" altLang="zh-TW" sz="2000" dirty="0">
                <a:solidFill>
                  <a:schemeClr val="bg1">
                    <a:lumMod val="50000"/>
                  </a:schemeClr>
                </a:solidFill>
              </a:rPr>
              <a:t> Object: Represents an open file as associated with a process.</a:t>
            </a:r>
            <a:endParaRPr lang="en-US" altLang="zh-TW" sz="2000" dirty="0">
              <a:solidFill>
                <a:schemeClr val="bg1">
                  <a:lumMod val="50000"/>
                </a:schemeClr>
              </a:solidFill>
            </a:endParaRPr>
          </a:p>
          <a:p>
            <a:pPr lvl="1"/>
            <a:r>
              <a:rPr lang="en-US" altLang="zh-TW" sz="2000" dirty="0">
                <a:solidFill>
                  <a:schemeClr val="bg1">
                    <a:lumMod val="50000"/>
                  </a:schemeClr>
                </a:solidFill>
              </a:rPr>
              <a:t>The VFS treats directories as normal files, so there is not a specific directory object. (</a:t>
            </a:r>
            <a:r>
              <a:rPr lang="en-US" altLang="zh-TW" sz="2000" dirty="0" err="1">
                <a:solidFill>
                  <a:schemeClr val="bg1">
                    <a:lumMod val="50000"/>
                  </a:schemeClr>
                </a:solidFill>
              </a:rPr>
              <a:t>dentry</a:t>
            </a:r>
            <a:r>
              <a:rPr lang="en-US" altLang="zh-TW" sz="2000" dirty="0">
                <a:solidFill>
                  <a:schemeClr val="bg1">
                    <a:lumMod val="50000"/>
                  </a:schemeClr>
                </a:solidFill>
              </a:rPr>
              <a:t> != directory. Directory is just another kind of file)</a:t>
            </a:r>
          </a:p>
          <a:p>
            <a:r>
              <a:rPr kumimoji="1" lang="en-US" altLang="zh-TW" dirty="0"/>
              <a:t>Operations objects describe the methods </a:t>
            </a:r>
            <a:r>
              <a:rPr lang="en-US" altLang="zh-TW" dirty="0"/>
              <a:t>belonging to each primary objects.</a:t>
            </a:r>
          </a:p>
          <a:p>
            <a:pPr lvl="1"/>
            <a:r>
              <a:rPr lang="en-US" altLang="zh-TW" dirty="0"/>
              <a:t>The </a:t>
            </a:r>
            <a:r>
              <a:rPr lang="en-US" altLang="zh-TW" dirty="0">
                <a:solidFill>
                  <a:srgbClr val="C00000"/>
                </a:solidFill>
              </a:rPr>
              <a:t>specific instance of the filesystem (e.g., ext4, XFS, …)</a:t>
            </a:r>
            <a:r>
              <a:rPr lang="en-US" altLang="zh-TW" dirty="0"/>
              <a:t> fills link with its </a:t>
            </a:r>
            <a:r>
              <a:rPr lang="en-US" altLang="zh-TW" dirty="0">
                <a:solidFill>
                  <a:srgbClr val="C00000"/>
                </a:solidFill>
              </a:rPr>
              <a:t>own filesystem-specific methods</a:t>
            </a:r>
            <a:endParaRPr kumimoji="1" lang="en-US" altLang="zh-TW" dirty="0"/>
          </a:p>
          <a:p>
            <a:pPr lvl="1"/>
            <a:r>
              <a:rPr kumimoji="1" lang="en-US" altLang="zh-TW" dirty="0" err="1"/>
              <a:t>Super_operations</a:t>
            </a:r>
            <a:r>
              <a:rPr kumimoji="1" lang="en-US" altLang="zh-TW" dirty="0"/>
              <a:t>: Methods that kernel can invoke on a specific </a:t>
            </a:r>
            <a:r>
              <a:rPr kumimoji="1" lang="en-US" altLang="zh-TW" dirty="0">
                <a:solidFill>
                  <a:srgbClr val="C00000"/>
                </a:solidFill>
              </a:rPr>
              <a:t>FS</a:t>
            </a:r>
            <a:r>
              <a:rPr kumimoji="1" lang="en-US" altLang="zh-TW" dirty="0"/>
              <a:t>, e.g., </a:t>
            </a:r>
            <a:r>
              <a:rPr kumimoji="1" lang="en-US" altLang="zh-TW" dirty="0" err="1">
                <a:latin typeface="+mj-lt"/>
              </a:rPr>
              <a:t>sync_fs</a:t>
            </a:r>
            <a:r>
              <a:rPr lang="en-US" altLang="zh-TW" dirty="0">
                <a:latin typeface="+mj-lt"/>
              </a:rPr>
              <a:t>()</a:t>
            </a:r>
            <a:endParaRPr kumimoji="1" lang="en-US" altLang="zh-TW" dirty="0">
              <a:latin typeface="+mj-lt"/>
            </a:endParaRPr>
          </a:p>
          <a:p>
            <a:pPr lvl="1"/>
            <a:r>
              <a:rPr lang="en-US" altLang="zh-TW" dirty="0" err="1"/>
              <a:t>Inode_operations</a:t>
            </a:r>
            <a:r>
              <a:rPr lang="en-US" altLang="zh-TW" dirty="0"/>
              <a:t>: Methods that kernel can invoke on a specific</a:t>
            </a:r>
            <a:r>
              <a:rPr lang="zh-TW" altLang="en-US" dirty="0"/>
              <a:t> </a:t>
            </a:r>
            <a:r>
              <a:rPr lang="en-US" altLang="zh-TW" dirty="0">
                <a:solidFill>
                  <a:srgbClr val="C00000"/>
                </a:solidFill>
              </a:rPr>
              <a:t>file</a:t>
            </a:r>
            <a:r>
              <a:rPr lang="en-US" altLang="zh-TW" dirty="0"/>
              <a:t>, e.g., </a:t>
            </a:r>
            <a:r>
              <a:rPr lang="en-US" altLang="zh-TW" dirty="0">
                <a:latin typeface="+mj-lt"/>
              </a:rPr>
              <a:t>create(), link()</a:t>
            </a:r>
          </a:p>
          <a:p>
            <a:pPr lvl="1"/>
            <a:r>
              <a:rPr kumimoji="1" lang="en-US" altLang="zh-TW" dirty="0" err="1"/>
              <a:t>Dentry_operations</a:t>
            </a:r>
            <a:r>
              <a:rPr kumimoji="1" lang="en-US" altLang="zh-TW" dirty="0"/>
              <a:t>: </a:t>
            </a:r>
            <a:r>
              <a:rPr lang="en-US" altLang="zh-TW" dirty="0"/>
              <a:t>Methods that kernel can invoke on a specific</a:t>
            </a:r>
            <a:r>
              <a:rPr lang="zh-TW" altLang="en-US" dirty="0"/>
              <a:t> </a:t>
            </a:r>
            <a:r>
              <a:rPr lang="en-US" altLang="zh-TW" dirty="0">
                <a:solidFill>
                  <a:srgbClr val="C00000"/>
                </a:solidFill>
              </a:rPr>
              <a:t>directory entry</a:t>
            </a:r>
            <a:r>
              <a:rPr lang="en-US" altLang="zh-TW" dirty="0"/>
              <a:t>, e.g., </a:t>
            </a:r>
            <a:r>
              <a:rPr lang="en-US" altLang="zh-TW" dirty="0" err="1"/>
              <a:t>d</a:t>
            </a:r>
            <a:r>
              <a:rPr lang="en-US" altLang="zh-TW" dirty="0" err="1">
                <a:latin typeface="+mj-lt"/>
              </a:rPr>
              <a:t>_delete</a:t>
            </a:r>
            <a:r>
              <a:rPr lang="en-US" altLang="zh-TW" dirty="0">
                <a:latin typeface="+mj-lt"/>
              </a:rPr>
              <a:t>()</a:t>
            </a:r>
            <a:endParaRPr kumimoji="1" lang="en-US" altLang="zh-TW" dirty="0"/>
          </a:p>
          <a:p>
            <a:pPr lvl="1"/>
            <a:r>
              <a:rPr lang="en-US" altLang="zh-TW" dirty="0" err="1"/>
              <a:t>File_operations</a:t>
            </a:r>
            <a:r>
              <a:rPr lang="en-US" altLang="zh-TW" dirty="0"/>
              <a:t>: Methods that </a:t>
            </a:r>
            <a:r>
              <a:rPr lang="en-US" altLang="zh-TW" dirty="0">
                <a:solidFill>
                  <a:srgbClr val="C00000"/>
                </a:solidFill>
              </a:rPr>
              <a:t>the process</a:t>
            </a:r>
            <a:r>
              <a:rPr lang="en-US" altLang="zh-TW" dirty="0"/>
              <a:t> can invoke on an </a:t>
            </a:r>
            <a:r>
              <a:rPr lang="en-US" altLang="zh-TW" dirty="0">
                <a:solidFill>
                  <a:srgbClr val="C00000"/>
                </a:solidFill>
              </a:rPr>
              <a:t>open</a:t>
            </a:r>
            <a:r>
              <a:rPr lang="zh-TW" altLang="en-US" dirty="0">
                <a:solidFill>
                  <a:srgbClr val="C00000"/>
                </a:solidFill>
              </a:rPr>
              <a:t> </a:t>
            </a:r>
            <a:r>
              <a:rPr lang="en-US" altLang="zh-TW" dirty="0">
                <a:solidFill>
                  <a:srgbClr val="C00000"/>
                </a:solidFill>
              </a:rPr>
              <a:t>file</a:t>
            </a:r>
            <a:r>
              <a:rPr lang="en-US" altLang="zh-TW" dirty="0"/>
              <a:t>, e.g., </a:t>
            </a:r>
            <a:r>
              <a:rPr lang="en-US" altLang="zh-TW" dirty="0">
                <a:latin typeface="+mj-lt"/>
              </a:rPr>
              <a:t>read()</a:t>
            </a:r>
          </a:p>
        </p:txBody>
      </p:sp>
      <p:sp>
        <p:nvSpPr>
          <p:cNvPr id="4" name="投影片編號版面配置區 3">
            <a:extLst>
              <a:ext uri="{FF2B5EF4-FFF2-40B4-BE49-F238E27FC236}">
                <a16:creationId xmlns:a16="http://schemas.microsoft.com/office/drawing/2014/main" id="{758214E9-32A6-31F1-8AE5-FA4C8B004512}"/>
              </a:ext>
            </a:extLst>
          </p:cNvPr>
          <p:cNvSpPr>
            <a:spLocks noGrp="1"/>
          </p:cNvSpPr>
          <p:nvPr>
            <p:ph type="sldNum" sz="quarter" idx="4"/>
          </p:nvPr>
        </p:nvSpPr>
        <p:spPr/>
        <p:txBody>
          <a:bodyPr/>
          <a:lstStyle/>
          <a:p>
            <a:fld id="{E24E6636-6BA5-4AAC-8485-BE8D914D288B}" type="slidenum">
              <a:rPr lang="zh-TW" altLang="en-US" smtClean="0"/>
              <a:pPr/>
              <a:t>14</a:t>
            </a:fld>
            <a:endParaRPr lang="zh-TW" altLang="en-US" dirty="0"/>
          </a:p>
        </p:txBody>
      </p:sp>
    </p:spTree>
    <p:extLst>
      <p:ext uri="{BB962C8B-B14F-4D97-AF65-F5344CB8AC3E}">
        <p14:creationId xmlns:p14="http://schemas.microsoft.com/office/powerpoint/2010/main" val="647370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wipe(up)">
                                      <p:cBhvr>
                                        <p:cTn id="7" dur="500"/>
                                        <p:tgtEl>
                                          <p:spTgt spid="3">
                                            <p:txEl>
                                              <p:pRg st="8" end="8"/>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9" end="9"/>
                                            </p:txEl>
                                          </p:spTgt>
                                        </p:tgtEl>
                                        <p:attrNameLst>
                                          <p:attrName>style.visibility</p:attrName>
                                        </p:attrNameLst>
                                      </p:cBhvr>
                                      <p:to>
                                        <p:strVal val="visible"/>
                                      </p:to>
                                    </p:set>
                                    <p:animEffect transition="in" filter="wipe(down)">
                                      <p:cBhvr>
                                        <p:cTn id="10" dur="500"/>
                                        <p:tgtEl>
                                          <p:spTgt spid="3">
                                            <p:txEl>
                                              <p:pRg st="9" end="9"/>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animEffect transition="in" filter="wipe(down)">
                                      <p:cBhvr>
                                        <p:cTn id="13" dur="500"/>
                                        <p:tgtEl>
                                          <p:spTgt spid="3">
                                            <p:txEl>
                                              <p:pRg st="10" end="10"/>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11" end="11"/>
                                            </p:txEl>
                                          </p:spTgt>
                                        </p:tgtEl>
                                        <p:attrNameLst>
                                          <p:attrName>style.visibility</p:attrName>
                                        </p:attrNameLst>
                                      </p:cBhvr>
                                      <p:to>
                                        <p:strVal val="visible"/>
                                      </p:to>
                                    </p:set>
                                    <p:animEffect transition="in" filter="wipe(down)">
                                      <p:cBhvr>
                                        <p:cTn id="1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63B1F-39BA-2FCE-4726-98DDB2CFA4B9}"/>
              </a:ext>
            </a:extLst>
          </p:cNvPr>
          <p:cNvSpPr>
            <a:spLocks noGrp="1"/>
          </p:cNvSpPr>
          <p:nvPr>
            <p:ph type="title"/>
          </p:nvPr>
        </p:nvSpPr>
        <p:spPr/>
        <p:txBody>
          <a:bodyPr/>
          <a:lstStyle/>
          <a:p>
            <a:r>
              <a:rPr lang="en-US" altLang="zh-TW" dirty="0"/>
              <a:t>The Superblock Object</a:t>
            </a:r>
            <a:endParaRPr kumimoji="1" lang="zh-TW" altLang="en-US" dirty="0"/>
          </a:p>
        </p:txBody>
      </p:sp>
      <p:sp>
        <p:nvSpPr>
          <p:cNvPr id="3" name="內容版面配置區 2">
            <a:extLst>
              <a:ext uri="{FF2B5EF4-FFF2-40B4-BE49-F238E27FC236}">
                <a16:creationId xmlns:a16="http://schemas.microsoft.com/office/drawing/2014/main" id="{ABC877ED-8308-DC32-520F-70C0F0FB8751}"/>
              </a:ext>
            </a:extLst>
          </p:cNvPr>
          <p:cNvSpPr>
            <a:spLocks noGrp="1"/>
          </p:cNvSpPr>
          <p:nvPr>
            <p:ph idx="1"/>
          </p:nvPr>
        </p:nvSpPr>
        <p:spPr/>
        <p:txBody>
          <a:bodyPr/>
          <a:lstStyle/>
          <a:p>
            <a:r>
              <a:rPr kumimoji="1" lang="en-US" altLang="zh-TW" dirty="0"/>
              <a:t>Designed to </a:t>
            </a:r>
            <a:r>
              <a:rPr kumimoji="1" lang="en-US" altLang="zh-TW" dirty="0">
                <a:solidFill>
                  <a:srgbClr val="C00000"/>
                </a:solidFill>
              </a:rPr>
              <a:t>store information describing the filesystem</a:t>
            </a:r>
            <a:r>
              <a:rPr kumimoji="1" lang="en-US" altLang="zh-TW" dirty="0"/>
              <a:t>. </a:t>
            </a:r>
            <a:r>
              <a:rPr lang="en-US" altLang="zh-TW" dirty="0"/>
              <a:t>Also called the filesystem control block. This is stored in a </a:t>
            </a:r>
            <a:r>
              <a:rPr lang="en-US" altLang="zh-TW" dirty="0">
                <a:solidFill>
                  <a:srgbClr val="C00000"/>
                </a:solidFill>
              </a:rPr>
              <a:t>special sector on disk</a:t>
            </a:r>
            <a:r>
              <a:rPr lang="en-US" altLang="zh-TW" dirty="0"/>
              <a:t>.</a:t>
            </a:r>
          </a:p>
          <a:p>
            <a:r>
              <a:rPr kumimoji="1" lang="en-US" altLang="zh-TW" dirty="0"/>
              <a:t>When mounted, a </a:t>
            </a:r>
            <a:r>
              <a:rPr lang="en-US" altLang="zh-TW" dirty="0"/>
              <a:t>FS invokes </a:t>
            </a:r>
            <a:r>
              <a:rPr lang="en-US" altLang="zh-TW" dirty="0" err="1"/>
              <a:t>alloc_super</a:t>
            </a:r>
            <a:r>
              <a:rPr lang="en-US" altLang="zh-TW" dirty="0"/>
              <a:t>(), </a:t>
            </a:r>
            <a:r>
              <a:rPr lang="en-US" altLang="zh-TW" dirty="0">
                <a:solidFill>
                  <a:srgbClr val="C00000"/>
                </a:solidFill>
              </a:rPr>
              <a:t>reads its superblock off the disk</a:t>
            </a:r>
            <a:r>
              <a:rPr lang="en-US" altLang="zh-TW" dirty="0"/>
              <a:t>, and </a:t>
            </a:r>
            <a:r>
              <a:rPr lang="en-US" altLang="zh-TW" dirty="0">
                <a:solidFill>
                  <a:srgbClr val="C00000"/>
                </a:solidFill>
              </a:rPr>
              <a:t>fills in its superblock object </a:t>
            </a:r>
            <a:r>
              <a:rPr lang="en-US" altLang="zh-TW" dirty="0"/>
              <a:t>(This object is in memory!).</a:t>
            </a:r>
          </a:p>
          <a:p>
            <a:endParaRPr kumimoji="1" lang="zh-TW" altLang="en-US" dirty="0"/>
          </a:p>
        </p:txBody>
      </p:sp>
      <p:sp>
        <p:nvSpPr>
          <p:cNvPr id="4" name="投影片編號版面配置區 3">
            <a:extLst>
              <a:ext uri="{FF2B5EF4-FFF2-40B4-BE49-F238E27FC236}">
                <a16:creationId xmlns:a16="http://schemas.microsoft.com/office/drawing/2014/main" id="{D48EF121-24C7-4C40-DD03-E5C1565A4543}"/>
              </a:ext>
            </a:extLst>
          </p:cNvPr>
          <p:cNvSpPr>
            <a:spLocks noGrp="1"/>
          </p:cNvSpPr>
          <p:nvPr>
            <p:ph type="sldNum" sz="quarter" idx="4"/>
          </p:nvPr>
        </p:nvSpPr>
        <p:spPr/>
        <p:txBody>
          <a:bodyPr/>
          <a:lstStyle/>
          <a:p>
            <a:fld id="{E24E6636-6BA5-4AAC-8485-BE8D914D288B}" type="slidenum">
              <a:rPr lang="zh-TW" altLang="en-US" smtClean="0"/>
              <a:pPr/>
              <a:t>15</a:t>
            </a:fld>
            <a:endParaRPr lang="zh-TW" altLang="en-US" dirty="0"/>
          </a:p>
        </p:txBody>
      </p:sp>
      <p:grpSp>
        <p:nvGrpSpPr>
          <p:cNvPr id="12" name="群組 11">
            <a:extLst>
              <a:ext uri="{FF2B5EF4-FFF2-40B4-BE49-F238E27FC236}">
                <a16:creationId xmlns:a16="http://schemas.microsoft.com/office/drawing/2014/main" id="{B7BF3B76-E418-1FA0-A8EB-55424DB181CC}"/>
              </a:ext>
            </a:extLst>
          </p:cNvPr>
          <p:cNvGrpSpPr/>
          <p:nvPr/>
        </p:nvGrpSpPr>
        <p:grpSpPr>
          <a:xfrm>
            <a:off x="1114504" y="3429000"/>
            <a:ext cx="10404764" cy="2981853"/>
            <a:chOff x="1114504" y="3429000"/>
            <a:chExt cx="10404764" cy="2981853"/>
          </a:xfrm>
        </p:grpSpPr>
        <p:pic>
          <p:nvPicPr>
            <p:cNvPr id="8" name="圖片 7">
              <a:extLst>
                <a:ext uri="{FF2B5EF4-FFF2-40B4-BE49-F238E27FC236}">
                  <a16:creationId xmlns:a16="http://schemas.microsoft.com/office/drawing/2014/main" id="{86981A0D-DBDE-D48A-7736-2E0F06BE90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504" y="3429000"/>
              <a:ext cx="10404764" cy="2981853"/>
            </a:xfrm>
            <a:prstGeom prst="rect">
              <a:avLst/>
            </a:prstGeom>
          </p:spPr>
        </p:pic>
        <p:cxnSp>
          <p:nvCxnSpPr>
            <p:cNvPr id="10" name="直線接點 9">
              <a:extLst>
                <a:ext uri="{FF2B5EF4-FFF2-40B4-BE49-F238E27FC236}">
                  <a16:creationId xmlns:a16="http://schemas.microsoft.com/office/drawing/2014/main" id="{BE4AAEF5-D0CD-A7DD-FAD2-83939AFC0486}"/>
                </a:ext>
              </a:extLst>
            </p:cNvPr>
            <p:cNvCxnSpPr>
              <a:cxnSpLocks/>
            </p:cNvCxnSpPr>
            <p:nvPr/>
          </p:nvCxnSpPr>
          <p:spPr>
            <a:xfrm>
              <a:off x="2234126" y="6410853"/>
              <a:ext cx="8504094"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523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63B1F-39BA-2FCE-4726-98DDB2CFA4B9}"/>
              </a:ext>
            </a:extLst>
          </p:cNvPr>
          <p:cNvSpPr>
            <a:spLocks noGrp="1"/>
          </p:cNvSpPr>
          <p:nvPr>
            <p:ph type="title"/>
          </p:nvPr>
        </p:nvSpPr>
        <p:spPr/>
        <p:txBody>
          <a:bodyPr/>
          <a:lstStyle/>
          <a:p>
            <a:r>
              <a:rPr lang="en-US" altLang="zh-TW" dirty="0"/>
              <a:t>The Superblock Operations</a:t>
            </a:r>
            <a:endParaRPr kumimoji="1" lang="zh-TW" altLang="en-US" dirty="0"/>
          </a:p>
        </p:txBody>
      </p:sp>
      <p:sp>
        <p:nvSpPr>
          <p:cNvPr id="3" name="內容版面配置區 2">
            <a:extLst>
              <a:ext uri="{FF2B5EF4-FFF2-40B4-BE49-F238E27FC236}">
                <a16:creationId xmlns:a16="http://schemas.microsoft.com/office/drawing/2014/main" id="{ABC877ED-8308-DC32-520F-70C0F0FB8751}"/>
              </a:ext>
            </a:extLst>
          </p:cNvPr>
          <p:cNvSpPr>
            <a:spLocks noGrp="1"/>
          </p:cNvSpPr>
          <p:nvPr>
            <p:ph idx="1"/>
          </p:nvPr>
        </p:nvSpPr>
        <p:spPr/>
        <p:txBody>
          <a:bodyPr/>
          <a:lstStyle/>
          <a:p>
            <a:r>
              <a:rPr lang="en-US" altLang="zh-TW" dirty="0"/>
              <a:t>Perform low-level operations on the filesystem and its </a:t>
            </a:r>
            <a:r>
              <a:rPr lang="en-US" altLang="zh-TW" dirty="0" err="1"/>
              <a:t>inodes</a:t>
            </a:r>
            <a:r>
              <a:rPr lang="en-US" altLang="zh-TW" dirty="0"/>
              <a:t>.</a:t>
            </a:r>
          </a:p>
          <a:p>
            <a:r>
              <a:rPr kumimoji="1" lang="en-US" altLang="zh-TW" dirty="0"/>
              <a:t>Ex: </a:t>
            </a:r>
            <a:r>
              <a:rPr lang="en-US" altLang="zh-TW" dirty="0"/>
              <a:t>If a FS wanted to write to its superblock, sb </a:t>
            </a:r>
            <a:r>
              <a:rPr lang="en-US" altLang="zh-TW" dirty="0">
                <a:sym typeface="Wingdings" pitchFamily="2" charset="2"/>
              </a:rPr>
              <a:t> </a:t>
            </a:r>
            <a:r>
              <a:rPr lang="en-US" altLang="zh-TW" dirty="0" err="1">
                <a:sym typeface="Wingdings" pitchFamily="2" charset="2"/>
              </a:rPr>
              <a:t>s_op</a:t>
            </a:r>
            <a:r>
              <a:rPr lang="en-US" altLang="zh-TW" dirty="0">
                <a:sym typeface="Wingdings" pitchFamily="2" charset="2"/>
              </a:rPr>
              <a:t>  </a:t>
            </a:r>
            <a:r>
              <a:rPr lang="en-US" altLang="zh-TW" dirty="0" err="1">
                <a:sym typeface="Wingdings" pitchFamily="2" charset="2"/>
              </a:rPr>
              <a:t>write_super</a:t>
            </a:r>
            <a:r>
              <a:rPr lang="en-US" altLang="zh-TW" dirty="0">
                <a:sym typeface="Wingdings" pitchFamily="2" charset="2"/>
              </a:rPr>
              <a:t>(sb);</a:t>
            </a:r>
            <a:endParaRPr kumimoji="1" lang="zh-TW" altLang="en-US" dirty="0"/>
          </a:p>
        </p:txBody>
      </p:sp>
      <p:sp>
        <p:nvSpPr>
          <p:cNvPr id="4" name="投影片編號版面配置區 3">
            <a:extLst>
              <a:ext uri="{FF2B5EF4-FFF2-40B4-BE49-F238E27FC236}">
                <a16:creationId xmlns:a16="http://schemas.microsoft.com/office/drawing/2014/main" id="{D48EF121-24C7-4C40-DD03-E5C1565A4543}"/>
              </a:ext>
            </a:extLst>
          </p:cNvPr>
          <p:cNvSpPr>
            <a:spLocks noGrp="1"/>
          </p:cNvSpPr>
          <p:nvPr>
            <p:ph type="sldNum" sz="quarter" idx="4"/>
          </p:nvPr>
        </p:nvSpPr>
        <p:spPr/>
        <p:txBody>
          <a:bodyPr/>
          <a:lstStyle/>
          <a:p>
            <a:fld id="{E24E6636-6BA5-4AAC-8485-BE8D914D288B}" type="slidenum">
              <a:rPr lang="zh-TW" altLang="en-US" smtClean="0"/>
              <a:pPr/>
              <a:t>16</a:t>
            </a:fld>
            <a:endParaRPr lang="zh-TW" altLang="en-US" dirty="0"/>
          </a:p>
        </p:txBody>
      </p:sp>
      <p:pic>
        <p:nvPicPr>
          <p:cNvPr id="6" name="圖片 5">
            <a:extLst>
              <a:ext uri="{FF2B5EF4-FFF2-40B4-BE49-F238E27FC236}">
                <a16:creationId xmlns:a16="http://schemas.microsoft.com/office/drawing/2014/main" id="{4FBED00A-8A19-0B44-8C87-1F21564660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800" y="2614373"/>
            <a:ext cx="7037630" cy="3156846"/>
          </a:xfrm>
          <a:prstGeom prst="rect">
            <a:avLst/>
          </a:prstGeom>
        </p:spPr>
      </p:pic>
      <p:grpSp>
        <p:nvGrpSpPr>
          <p:cNvPr id="26" name="群組 25">
            <a:extLst>
              <a:ext uri="{FF2B5EF4-FFF2-40B4-BE49-F238E27FC236}">
                <a16:creationId xmlns:a16="http://schemas.microsoft.com/office/drawing/2014/main" id="{AB32C108-0C82-48A6-B83B-E3385D7696C3}"/>
              </a:ext>
            </a:extLst>
          </p:cNvPr>
          <p:cNvGrpSpPr/>
          <p:nvPr/>
        </p:nvGrpSpPr>
        <p:grpSpPr>
          <a:xfrm>
            <a:off x="7332299" y="2890640"/>
            <a:ext cx="4303167" cy="369332"/>
            <a:chOff x="7332299" y="2890640"/>
            <a:chExt cx="4303167" cy="369332"/>
          </a:xfrm>
        </p:grpSpPr>
        <p:sp>
          <p:nvSpPr>
            <p:cNvPr id="8" name="文字方塊 7">
              <a:extLst>
                <a:ext uri="{FF2B5EF4-FFF2-40B4-BE49-F238E27FC236}">
                  <a16:creationId xmlns:a16="http://schemas.microsoft.com/office/drawing/2014/main" id="{28F996EF-E93D-D8DB-09AF-B0A7ED1E2182}"/>
                </a:ext>
              </a:extLst>
            </p:cNvPr>
            <p:cNvSpPr txBox="1"/>
            <p:nvPr/>
          </p:nvSpPr>
          <p:spPr>
            <a:xfrm>
              <a:off x="7773062" y="2890640"/>
              <a:ext cx="3862404" cy="369332"/>
            </a:xfrm>
            <a:prstGeom prst="rect">
              <a:avLst/>
            </a:prstGeom>
            <a:noFill/>
          </p:spPr>
          <p:txBody>
            <a:bodyPr wrap="none" rtlCol="0">
              <a:spAutoFit/>
            </a:bodyPr>
            <a:lstStyle/>
            <a:p>
              <a:r>
                <a:rPr kumimoji="1" lang="en-US" altLang="zh-TW" dirty="0">
                  <a:solidFill>
                    <a:srgbClr val="C00000"/>
                  </a:solidFill>
                </a:rPr>
                <a:t>Creates &amp; initializes a new </a:t>
              </a:r>
              <a:r>
                <a:rPr kumimoji="1" lang="en-US" altLang="zh-TW" dirty="0" err="1">
                  <a:solidFill>
                    <a:srgbClr val="C00000"/>
                  </a:solidFill>
                </a:rPr>
                <a:t>inode</a:t>
              </a:r>
              <a:r>
                <a:rPr kumimoji="1" lang="en-US" altLang="zh-TW" dirty="0">
                  <a:solidFill>
                    <a:srgbClr val="C00000"/>
                  </a:solidFill>
                </a:rPr>
                <a:t> object</a:t>
              </a:r>
              <a:endParaRPr kumimoji="1" lang="zh-TW" altLang="en-US" dirty="0">
                <a:solidFill>
                  <a:srgbClr val="C00000"/>
                </a:solidFill>
              </a:endParaRPr>
            </a:p>
          </p:txBody>
        </p:sp>
        <p:cxnSp>
          <p:nvCxnSpPr>
            <p:cNvPr id="10" name="直線箭頭接點 9">
              <a:extLst>
                <a:ext uri="{FF2B5EF4-FFF2-40B4-BE49-F238E27FC236}">
                  <a16:creationId xmlns:a16="http://schemas.microsoft.com/office/drawing/2014/main" id="{DE992281-51D2-1AA1-27A5-0E7B6F2DE5A0}"/>
                </a:ext>
              </a:extLst>
            </p:cNvPr>
            <p:cNvCxnSpPr>
              <a:cxnSpLocks/>
            </p:cNvCxnSpPr>
            <p:nvPr/>
          </p:nvCxnSpPr>
          <p:spPr>
            <a:xfrm flipH="1">
              <a:off x="7332299" y="3061126"/>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群組 27">
            <a:extLst>
              <a:ext uri="{FF2B5EF4-FFF2-40B4-BE49-F238E27FC236}">
                <a16:creationId xmlns:a16="http://schemas.microsoft.com/office/drawing/2014/main" id="{C8BD323A-B2F4-2183-E011-65489B30F1C3}"/>
              </a:ext>
            </a:extLst>
          </p:cNvPr>
          <p:cNvGrpSpPr/>
          <p:nvPr/>
        </p:nvGrpSpPr>
        <p:grpSpPr>
          <a:xfrm>
            <a:off x="5311648" y="3493591"/>
            <a:ext cx="6702552" cy="369332"/>
            <a:chOff x="5311648" y="3493591"/>
            <a:chExt cx="6702552" cy="369332"/>
          </a:xfrm>
        </p:grpSpPr>
        <p:sp>
          <p:nvSpPr>
            <p:cNvPr id="13" name="文字方塊 12">
              <a:extLst>
                <a:ext uri="{FF2B5EF4-FFF2-40B4-BE49-F238E27FC236}">
                  <a16:creationId xmlns:a16="http://schemas.microsoft.com/office/drawing/2014/main" id="{3560CE4E-8D09-CC2B-461B-8D31FFAC5983}"/>
                </a:ext>
              </a:extLst>
            </p:cNvPr>
            <p:cNvSpPr txBox="1"/>
            <p:nvPr/>
          </p:nvSpPr>
          <p:spPr>
            <a:xfrm>
              <a:off x="5725747" y="3493591"/>
              <a:ext cx="6288453" cy="369332"/>
            </a:xfrm>
            <a:prstGeom prst="rect">
              <a:avLst/>
            </a:prstGeom>
            <a:noFill/>
          </p:spPr>
          <p:txBody>
            <a:bodyPr wrap="none" rtlCol="0">
              <a:spAutoFit/>
            </a:bodyPr>
            <a:lstStyle/>
            <a:p>
              <a:r>
                <a:rPr kumimoji="1" lang="en-US" altLang="zh-TW" dirty="0">
                  <a:solidFill>
                    <a:srgbClr val="C00000"/>
                  </a:solidFill>
                </a:rPr>
                <a:t>When an </a:t>
              </a:r>
              <a:r>
                <a:rPr kumimoji="1" lang="en-US" altLang="zh-TW" dirty="0" err="1">
                  <a:solidFill>
                    <a:srgbClr val="C00000"/>
                  </a:solidFill>
                </a:rPr>
                <a:t>inode</a:t>
              </a:r>
              <a:r>
                <a:rPr kumimoji="1" lang="en-US" altLang="zh-TW" dirty="0">
                  <a:solidFill>
                    <a:srgbClr val="C00000"/>
                  </a:solidFill>
                </a:rPr>
                <a:t> is dirtied, use this function to do journal updates.</a:t>
              </a:r>
              <a:endParaRPr kumimoji="1" lang="zh-TW" altLang="en-US" dirty="0">
                <a:solidFill>
                  <a:srgbClr val="C00000"/>
                </a:solidFill>
              </a:endParaRPr>
            </a:p>
          </p:txBody>
        </p:sp>
        <p:cxnSp>
          <p:nvCxnSpPr>
            <p:cNvPr id="14" name="直線箭頭接點 13">
              <a:extLst>
                <a:ext uri="{FF2B5EF4-FFF2-40B4-BE49-F238E27FC236}">
                  <a16:creationId xmlns:a16="http://schemas.microsoft.com/office/drawing/2014/main" id="{E5669532-8CCC-984E-A66C-B847EFECDE38}"/>
                </a:ext>
              </a:extLst>
            </p:cNvPr>
            <p:cNvCxnSpPr>
              <a:cxnSpLocks/>
            </p:cNvCxnSpPr>
            <p:nvPr/>
          </p:nvCxnSpPr>
          <p:spPr>
            <a:xfrm flipH="1">
              <a:off x="5311648" y="3678257"/>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群組 28">
            <a:extLst>
              <a:ext uri="{FF2B5EF4-FFF2-40B4-BE49-F238E27FC236}">
                <a16:creationId xmlns:a16="http://schemas.microsoft.com/office/drawing/2014/main" id="{0F4211FB-1621-0C7F-8597-BDC1B0DA4E92}"/>
              </a:ext>
            </a:extLst>
          </p:cNvPr>
          <p:cNvGrpSpPr/>
          <p:nvPr/>
        </p:nvGrpSpPr>
        <p:grpSpPr>
          <a:xfrm>
            <a:off x="5792660" y="3846996"/>
            <a:ext cx="3536172" cy="369332"/>
            <a:chOff x="5792660" y="3846996"/>
            <a:chExt cx="3536172" cy="369332"/>
          </a:xfrm>
        </p:grpSpPr>
        <p:sp>
          <p:nvSpPr>
            <p:cNvPr id="15" name="文字方塊 14">
              <a:extLst>
                <a:ext uri="{FF2B5EF4-FFF2-40B4-BE49-F238E27FC236}">
                  <a16:creationId xmlns:a16="http://schemas.microsoft.com/office/drawing/2014/main" id="{4BDCE93C-384F-7877-CEA4-5D37129DFAB1}"/>
                </a:ext>
              </a:extLst>
            </p:cNvPr>
            <p:cNvSpPr txBox="1"/>
            <p:nvPr/>
          </p:nvSpPr>
          <p:spPr>
            <a:xfrm>
              <a:off x="6206759" y="3846996"/>
              <a:ext cx="3122073" cy="369332"/>
            </a:xfrm>
            <a:prstGeom prst="rect">
              <a:avLst/>
            </a:prstGeom>
            <a:noFill/>
          </p:spPr>
          <p:txBody>
            <a:bodyPr wrap="none" rtlCol="0">
              <a:spAutoFit/>
            </a:bodyPr>
            <a:lstStyle/>
            <a:p>
              <a:r>
                <a:rPr kumimoji="1" lang="en-US" altLang="zh-TW" dirty="0">
                  <a:solidFill>
                    <a:srgbClr val="C00000"/>
                  </a:solidFill>
                </a:rPr>
                <a:t>Writes the given </a:t>
              </a:r>
              <a:r>
                <a:rPr kumimoji="1" lang="en-US" altLang="zh-TW" dirty="0" err="1">
                  <a:solidFill>
                    <a:srgbClr val="C00000"/>
                  </a:solidFill>
                </a:rPr>
                <a:t>inode</a:t>
              </a:r>
              <a:r>
                <a:rPr kumimoji="1" lang="en-US" altLang="zh-TW" dirty="0">
                  <a:solidFill>
                    <a:srgbClr val="C00000"/>
                  </a:solidFill>
                </a:rPr>
                <a:t> to disk.</a:t>
              </a:r>
              <a:endParaRPr kumimoji="1" lang="zh-TW" altLang="en-US" dirty="0">
                <a:solidFill>
                  <a:srgbClr val="C00000"/>
                </a:solidFill>
              </a:endParaRPr>
            </a:p>
          </p:txBody>
        </p:sp>
        <p:cxnSp>
          <p:nvCxnSpPr>
            <p:cNvPr id="16" name="直線箭頭接點 15">
              <a:extLst>
                <a:ext uri="{FF2B5EF4-FFF2-40B4-BE49-F238E27FC236}">
                  <a16:creationId xmlns:a16="http://schemas.microsoft.com/office/drawing/2014/main" id="{CF4CEDEA-29FE-0F87-E228-BB19B8D70CB8}"/>
                </a:ext>
              </a:extLst>
            </p:cNvPr>
            <p:cNvCxnSpPr>
              <a:cxnSpLocks/>
            </p:cNvCxnSpPr>
            <p:nvPr/>
          </p:nvCxnSpPr>
          <p:spPr>
            <a:xfrm flipH="1">
              <a:off x="5792660" y="4031662"/>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 name="群組 26">
            <a:extLst>
              <a:ext uri="{FF2B5EF4-FFF2-40B4-BE49-F238E27FC236}">
                <a16:creationId xmlns:a16="http://schemas.microsoft.com/office/drawing/2014/main" id="{8556E968-75A2-C890-D27E-634980BB8D85}"/>
              </a:ext>
            </a:extLst>
          </p:cNvPr>
          <p:cNvGrpSpPr/>
          <p:nvPr/>
        </p:nvGrpSpPr>
        <p:grpSpPr>
          <a:xfrm>
            <a:off x="5521922" y="3187197"/>
            <a:ext cx="4524711" cy="369332"/>
            <a:chOff x="5521922" y="3187197"/>
            <a:chExt cx="4524711" cy="369332"/>
          </a:xfrm>
        </p:grpSpPr>
        <p:sp>
          <p:nvSpPr>
            <p:cNvPr id="17" name="文字方塊 16">
              <a:extLst>
                <a:ext uri="{FF2B5EF4-FFF2-40B4-BE49-F238E27FC236}">
                  <a16:creationId xmlns:a16="http://schemas.microsoft.com/office/drawing/2014/main" id="{17CDE5DD-3EA1-529A-02A4-3209497BA5F9}"/>
                </a:ext>
              </a:extLst>
            </p:cNvPr>
            <p:cNvSpPr txBox="1"/>
            <p:nvPr/>
          </p:nvSpPr>
          <p:spPr>
            <a:xfrm>
              <a:off x="5936021" y="3187197"/>
              <a:ext cx="4110612" cy="369332"/>
            </a:xfrm>
            <a:prstGeom prst="rect">
              <a:avLst/>
            </a:prstGeom>
            <a:noFill/>
          </p:spPr>
          <p:txBody>
            <a:bodyPr wrap="none" rtlCol="0">
              <a:spAutoFit/>
            </a:bodyPr>
            <a:lstStyle/>
            <a:p>
              <a:r>
                <a:rPr kumimoji="1" lang="en-US" altLang="zh-TW" dirty="0">
                  <a:solidFill>
                    <a:srgbClr val="C00000"/>
                  </a:solidFill>
                </a:rPr>
                <a:t>Deallocate the given </a:t>
              </a:r>
              <a:r>
                <a:rPr kumimoji="1" lang="en-US" altLang="zh-TW" dirty="0" err="1">
                  <a:solidFill>
                    <a:srgbClr val="C00000"/>
                  </a:solidFill>
                </a:rPr>
                <a:t>inode</a:t>
              </a:r>
              <a:r>
                <a:rPr kumimoji="1" lang="en-US" altLang="zh-TW" dirty="0">
                  <a:solidFill>
                    <a:srgbClr val="C00000"/>
                  </a:solidFill>
                </a:rPr>
                <a:t> from memory.</a:t>
              </a:r>
              <a:endParaRPr kumimoji="1" lang="zh-TW" altLang="en-US" dirty="0">
                <a:solidFill>
                  <a:srgbClr val="C00000"/>
                </a:solidFill>
              </a:endParaRPr>
            </a:p>
          </p:txBody>
        </p:sp>
        <p:cxnSp>
          <p:nvCxnSpPr>
            <p:cNvPr id="18" name="直線箭頭接點 17">
              <a:extLst>
                <a:ext uri="{FF2B5EF4-FFF2-40B4-BE49-F238E27FC236}">
                  <a16:creationId xmlns:a16="http://schemas.microsoft.com/office/drawing/2014/main" id="{8B01A96A-0455-2F8E-1F15-E8796162EFF6}"/>
                </a:ext>
              </a:extLst>
            </p:cNvPr>
            <p:cNvCxnSpPr>
              <a:cxnSpLocks/>
            </p:cNvCxnSpPr>
            <p:nvPr/>
          </p:nvCxnSpPr>
          <p:spPr>
            <a:xfrm flipH="1">
              <a:off x="5521922" y="3371863"/>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 name="群組 29">
            <a:extLst>
              <a:ext uri="{FF2B5EF4-FFF2-40B4-BE49-F238E27FC236}">
                <a16:creationId xmlns:a16="http://schemas.microsoft.com/office/drawing/2014/main" id="{0DB3E8F4-FA9B-DFD0-EF4D-D6E91AC39C65}"/>
              </a:ext>
            </a:extLst>
          </p:cNvPr>
          <p:cNvGrpSpPr/>
          <p:nvPr/>
        </p:nvGrpSpPr>
        <p:grpSpPr>
          <a:xfrm>
            <a:off x="5470085" y="4482639"/>
            <a:ext cx="3796692" cy="369332"/>
            <a:chOff x="5470085" y="4482639"/>
            <a:chExt cx="3796692" cy="369332"/>
          </a:xfrm>
        </p:grpSpPr>
        <p:sp>
          <p:nvSpPr>
            <p:cNvPr id="19" name="文字方塊 18">
              <a:extLst>
                <a:ext uri="{FF2B5EF4-FFF2-40B4-BE49-F238E27FC236}">
                  <a16:creationId xmlns:a16="http://schemas.microsoft.com/office/drawing/2014/main" id="{5E570B48-88F4-9005-E99F-95BA5442AE37}"/>
                </a:ext>
              </a:extLst>
            </p:cNvPr>
            <p:cNvSpPr txBox="1"/>
            <p:nvPr/>
          </p:nvSpPr>
          <p:spPr>
            <a:xfrm>
              <a:off x="5884184" y="4482639"/>
              <a:ext cx="3382593" cy="369332"/>
            </a:xfrm>
            <a:prstGeom prst="rect">
              <a:avLst/>
            </a:prstGeom>
            <a:noFill/>
          </p:spPr>
          <p:txBody>
            <a:bodyPr wrap="none" rtlCol="0">
              <a:spAutoFit/>
            </a:bodyPr>
            <a:lstStyle/>
            <a:p>
              <a:r>
                <a:rPr kumimoji="1" lang="en-US" altLang="zh-TW" dirty="0">
                  <a:solidFill>
                    <a:srgbClr val="C00000"/>
                  </a:solidFill>
                </a:rPr>
                <a:t>Deletes the given </a:t>
              </a:r>
              <a:r>
                <a:rPr kumimoji="1" lang="en-US" altLang="zh-TW" dirty="0" err="1">
                  <a:solidFill>
                    <a:srgbClr val="C00000"/>
                  </a:solidFill>
                </a:rPr>
                <a:t>inode</a:t>
              </a:r>
              <a:r>
                <a:rPr kumimoji="1" lang="en-US" altLang="zh-TW" dirty="0">
                  <a:solidFill>
                    <a:srgbClr val="C00000"/>
                  </a:solidFill>
                </a:rPr>
                <a:t> from disk.</a:t>
              </a:r>
              <a:endParaRPr kumimoji="1" lang="zh-TW" altLang="en-US" dirty="0">
                <a:solidFill>
                  <a:srgbClr val="C00000"/>
                </a:solidFill>
              </a:endParaRPr>
            </a:p>
          </p:txBody>
        </p:sp>
        <p:cxnSp>
          <p:nvCxnSpPr>
            <p:cNvPr id="20" name="直線箭頭接點 19">
              <a:extLst>
                <a:ext uri="{FF2B5EF4-FFF2-40B4-BE49-F238E27FC236}">
                  <a16:creationId xmlns:a16="http://schemas.microsoft.com/office/drawing/2014/main" id="{25ABC7E9-2A6B-89E4-3D61-295C19993FD5}"/>
                </a:ext>
              </a:extLst>
            </p:cNvPr>
            <p:cNvCxnSpPr>
              <a:cxnSpLocks/>
            </p:cNvCxnSpPr>
            <p:nvPr/>
          </p:nvCxnSpPr>
          <p:spPr>
            <a:xfrm flipH="1">
              <a:off x="5470085" y="4667305"/>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1" name="群組 30">
            <a:extLst>
              <a:ext uri="{FF2B5EF4-FFF2-40B4-BE49-F238E27FC236}">
                <a16:creationId xmlns:a16="http://schemas.microsoft.com/office/drawing/2014/main" id="{DBD4CDEC-FC73-B703-01F4-0C1C535A73CA}"/>
              </a:ext>
            </a:extLst>
          </p:cNvPr>
          <p:cNvGrpSpPr/>
          <p:nvPr/>
        </p:nvGrpSpPr>
        <p:grpSpPr>
          <a:xfrm>
            <a:off x="5792660" y="4816948"/>
            <a:ext cx="6295453" cy="369332"/>
            <a:chOff x="5792660" y="4816948"/>
            <a:chExt cx="6295453" cy="369332"/>
          </a:xfrm>
        </p:grpSpPr>
        <p:sp>
          <p:nvSpPr>
            <p:cNvPr id="21" name="文字方塊 20">
              <a:extLst>
                <a:ext uri="{FF2B5EF4-FFF2-40B4-BE49-F238E27FC236}">
                  <a16:creationId xmlns:a16="http://schemas.microsoft.com/office/drawing/2014/main" id="{027DC538-B7BC-DA21-92A5-22E97CAA1FB5}"/>
                </a:ext>
              </a:extLst>
            </p:cNvPr>
            <p:cNvSpPr txBox="1"/>
            <p:nvPr/>
          </p:nvSpPr>
          <p:spPr>
            <a:xfrm>
              <a:off x="6206759" y="4816948"/>
              <a:ext cx="5881354" cy="369332"/>
            </a:xfrm>
            <a:prstGeom prst="rect">
              <a:avLst/>
            </a:prstGeom>
            <a:noFill/>
          </p:spPr>
          <p:txBody>
            <a:bodyPr wrap="none" rtlCol="0">
              <a:spAutoFit/>
            </a:bodyPr>
            <a:lstStyle/>
            <a:p>
              <a:r>
                <a:rPr kumimoji="1" lang="en-US" altLang="zh-TW" dirty="0">
                  <a:solidFill>
                    <a:srgbClr val="C00000"/>
                  </a:solidFill>
                </a:rPr>
                <a:t>Called when unmount. Releases the given superblock object.</a:t>
              </a:r>
              <a:endParaRPr kumimoji="1" lang="zh-TW" altLang="en-US" dirty="0">
                <a:solidFill>
                  <a:srgbClr val="C00000"/>
                </a:solidFill>
              </a:endParaRPr>
            </a:p>
          </p:txBody>
        </p:sp>
        <p:cxnSp>
          <p:nvCxnSpPr>
            <p:cNvPr id="22" name="直線箭頭接點 21">
              <a:extLst>
                <a:ext uri="{FF2B5EF4-FFF2-40B4-BE49-F238E27FC236}">
                  <a16:creationId xmlns:a16="http://schemas.microsoft.com/office/drawing/2014/main" id="{1EDE4512-B280-302F-42A6-2ED71210F5EF}"/>
                </a:ext>
              </a:extLst>
            </p:cNvPr>
            <p:cNvCxnSpPr>
              <a:cxnSpLocks/>
            </p:cNvCxnSpPr>
            <p:nvPr/>
          </p:nvCxnSpPr>
          <p:spPr>
            <a:xfrm flipH="1">
              <a:off x="5792660" y="5001614"/>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 name="群組 31">
            <a:extLst>
              <a:ext uri="{FF2B5EF4-FFF2-40B4-BE49-F238E27FC236}">
                <a16:creationId xmlns:a16="http://schemas.microsoft.com/office/drawing/2014/main" id="{4C9A92E5-E4B6-4F17-74DA-6519EB80F900}"/>
              </a:ext>
            </a:extLst>
          </p:cNvPr>
          <p:cNvGrpSpPr/>
          <p:nvPr/>
        </p:nvGrpSpPr>
        <p:grpSpPr>
          <a:xfrm>
            <a:off x="5974056" y="5140569"/>
            <a:ext cx="6457110" cy="646331"/>
            <a:chOff x="5974056" y="5140569"/>
            <a:chExt cx="6457110" cy="646331"/>
          </a:xfrm>
        </p:grpSpPr>
        <p:sp>
          <p:nvSpPr>
            <p:cNvPr id="23" name="文字方塊 22">
              <a:extLst>
                <a:ext uri="{FF2B5EF4-FFF2-40B4-BE49-F238E27FC236}">
                  <a16:creationId xmlns:a16="http://schemas.microsoft.com/office/drawing/2014/main" id="{44330FF6-091A-3BD2-80A0-EE255EBE6569}"/>
                </a:ext>
              </a:extLst>
            </p:cNvPr>
            <p:cNvSpPr txBox="1"/>
            <p:nvPr/>
          </p:nvSpPr>
          <p:spPr>
            <a:xfrm>
              <a:off x="6731208" y="5140569"/>
              <a:ext cx="5699958" cy="646331"/>
            </a:xfrm>
            <a:prstGeom prst="rect">
              <a:avLst/>
            </a:prstGeom>
            <a:noFill/>
          </p:spPr>
          <p:txBody>
            <a:bodyPr wrap="square" rtlCol="0">
              <a:spAutoFit/>
            </a:bodyPr>
            <a:lstStyle/>
            <a:p>
              <a:r>
                <a:rPr kumimoji="1" lang="en-US" altLang="zh-TW" dirty="0">
                  <a:solidFill>
                    <a:srgbClr val="C00000"/>
                  </a:solidFill>
                </a:rPr>
                <a:t>Updates the on-disk superblock. Synchronizes a modified     in-memory superblock with the disk.</a:t>
              </a:r>
              <a:endParaRPr kumimoji="1" lang="zh-TW" altLang="en-US" dirty="0">
                <a:solidFill>
                  <a:srgbClr val="C00000"/>
                </a:solidFill>
              </a:endParaRPr>
            </a:p>
          </p:txBody>
        </p:sp>
        <p:cxnSp>
          <p:nvCxnSpPr>
            <p:cNvPr id="24" name="直線箭頭接點 23">
              <a:extLst>
                <a:ext uri="{FF2B5EF4-FFF2-40B4-BE49-F238E27FC236}">
                  <a16:creationId xmlns:a16="http://schemas.microsoft.com/office/drawing/2014/main" id="{411F4C06-5D9C-5957-EDF5-3F846F001B00}"/>
                </a:ext>
              </a:extLst>
            </p:cNvPr>
            <p:cNvCxnSpPr>
              <a:cxnSpLocks/>
            </p:cNvCxnSpPr>
            <p:nvPr/>
          </p:nvCxnSpPr>
          <p:spPr>
            <a:xfrm flipH="1">
              <a:off x="5974056" y="5328728"/>
              <a:ext cx="75715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2166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mph" presetSubtype="0" nodeType="clickEffect">
                                  <p:stCondLst>
                                    <p:cond delay="0"/>
                                  </p:stCondLst>
                                  <p:childTnLst>
                                    <p:set>
                                      <p:cBhvr>
                                        <p:cTn id="19" dur="indefinite"/>
                                        <p:tgtEl>
                                          <p:spTgt spid="26"/>
                                        </p:tgtEl>
                                        <p:attrNameLst>
                                          <p:attrName>style.opacity</p:attrName>
                                        </p:attrNameLst>
                                      </p:cBhvr>
                                      <p:to>
                                        <p:strVal val="0.25"/>
                                      </p:to>
                                    </p:set>
                                    <p:animEffect filter="image" prLst="opacity: 0.25">
                                      <p:cBhvr rctx="IE">
                                        <p:cTn id="20" dur="indefinite"/>
                                        <p:tgtEl>
                                          <p:spTgt spid="26"/>
                                        </p:tgtEl>
                                      </p:cBhvr>
                                    </p:animEffect>
                                  </p:childTnLst>
                                </p:cTn>
                              </p:par>
                              <p:par>
                                <p:cTn id="21" presetID="9" presetClass="emph" presetSubtype="0" nodeType="withEffect">
                                  <p:stCondLst>
                                    <p:cond delay="0"/>
                                  </p:stCondLst>
                                  <p:childTnLst>
                                    <p:set>
                                      <p:cBhvr>
                                        <p:cTn id="22" dur="indefinite"/>
                                        <p:tgtEl>
                                          <p:spTgt spid="27"/>
                                        </p:tgtEl>
                                        <p:attrNameLst>
                                          <p:attrName>style.opacity</p:attrName>
                                        </p:attrNameLst>
                                      </p:cBhvr>
                                      <p:to>
                                        <p:strVal val="0.25"/>
                                      </p:to>
                                    </p:set>
                                    <p:animEffect filter="image" prLst="opacity: 0.25">
                                      <p:cBhvr rctx="IE">
                                        <p:cTn id="23" dur="indefinite"/>
                                        <p:tgtEl>
                                          <p:spTgt spid="27"/>
                                        </p:tgtEl>
                                      </p:cBhvr>
                                    </p:animEffect>
                                  </p:childTnLst>
                                </p:cTn>
                              </p:par>
                              <p:par>
                                <p:cTn id="24" presetID="10" presetClass="entr" presetSubtype="0"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par>
                                <p:cTn id="27" presetID="10"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mph" presetSubtype="0" nodeType="clickEffect">
                                  <p:stCondLst>
                                    <p:cond delay="0"/>
                                  </p:stCondLst>
                                  <p:childTnLst>
                                    <p:set>
                                      <p:cBhvr>
                                        <p:cTn id="33" dur="indefinite"/>
                                        <p:tgtEl>
                                          <p:spTgt spid="28"/>
                                        </p:tgtEl>
                                        <p:attrNameLst>
                                          <p:attrName>style.opacity</p:attrName>
                                        </p:attrNameLst>
                                      </p:cBhvr>
                                      <p:to>
                                        <p:strVal val="0.25"/>
                                      </p:to>
                                    </p:set>
                                    <p:animEffect filter="image" prLst="opacity: 0.25">
                                      <p:cBhvr rctx="IE">
                                        <p:cTn id="34" dur="indefinite"/>
                                        <p:tgtEl>
                                          <p:spTgt spid="28"/>
                                        </p:tgtEl>
                                      </p:cBhvr>
                                    </p:animEffect>
                                  </p:childTnLst>
                                </p:cTn>
                              </p:par>
                              <p:par>
                                <p:cTn id="35" presetID="9" presetClass="emph" presetSubtype="0" nodeType="withEffect">
                                  <p:stCondLst>
                                    <p:cond delay="0"/>
                                  </p:stCondLst>
                                  <p:childTnLst>
                                    <p:set>
                                      <p:cBhvr>
                                        <p:cTn id="36" dur="indefinite"/>
                                        <p:tgtEl>
                                          <p:spTgt spid="29"/>
                                        </p:tgtEl>
                                        <p:attrNameLst>
                                          <p:attrName>style.opacity</p:attrName>
                                        </p:attrNameLst>
                                      </p:cBhvr>
                                      <p:to>
                                        <p:strVal val="0.25"/>
                                      </p:to>
                                    </p:set>
                                    <p:animEffect filter="image" prLst="opacity: 0.25">
                                      <p:cBhvr rctx="IE">
                                        <p:cTn id="37" dur="indefinite"/>
                                        <p:tgtEl>
                                          <p:spTgt spid="29"/>
                                        </p:tgtEl>
                                      </p:cBhvr>
                                    </p:animEffect>
                                  </p:childTnLst>
                                </p:cTn>
                              </p:par>
                              <p:par>
                                <p:cTn id="38" presetID="10" presetClass="entr" presetSubtype="0"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mph" presetSubtype="0" nodeType="clickEffect">
                                  <p:stCondLst>
                                    <p:cond delay="0"/>
                                  </p:stCondLst>
                                  <p:childTnLst>
                                    <p:set>
                                      <p:cBhvr>
                                        <p:cTn id="44" dur="indefinite"/>
                                        <p:tgtEl>
                                          <p:spTgt spid="30"/>
                                        </p:tgtEl>
                                        <p:attrNameLst>
                                          <p:attrName>style.opacity</p:attrName>
                                        </p:attrNameLst>
                                      </p:cBhvr>
                                      <p:to>
                                        <p:strVal val="0.25"/>
                                      </p:to>
                                    </p:set>
                                    <p:animEffect filter="image" prLst="opacity: 0.25">
                                      <p:cBhvr rctx="IE">
                                        <p:cTn id="45" dur="indefinite"/>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500"/>
                                        <p:tgtEl>
                                          <p:spTgt spid="31"/>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mph" presetSubtype="0" nodeType="clickEffect">
                                  <p:stCondLst>
                                    <p:cond delay="0"/>
                                  </p:stCondLst>
                                  <p:childTnLst>
                                    <p:set>
                                      <p:cBhvr>
                                        <p:cTn id="52" dur="indefinite"/>
                                        <p:tgtEl>
                                          <p:spTgt spid="31"/>
                                        </p:tgtEl>
                                        <p:attrNameLst>
                                          <p:attrName>style.opacity</p:attrName>
                                        </p:attrNameLst>
                                      </p:cBhvr>
                                      <p:to>
                                        <p:strVal val="0.25"/>
                                      </p:to>
                                    </p:set>
                                    <p:animEffect filter="image" prLst="opacity: 0.25">
                                      <p:cBhvr rctx="IE">
                                        <p:cTn id="53" dur="indefinite"/>
                                        <p:tgtEl>
                                          <p:spTgt spid="31"/>
                                        </p:tgtEl>
                                      </p:cBhvr>
                                    </p:animEffect>
                                  </p:childTnLst>
                                </p:cTn>
                              </p:par>
                              <p:par>
                                <p:cTn id="54" presetID="10" presetClass="entr" presetSubtype="0" fill="hold"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A8B7A-4946-B0B7-BA61-775C21A9CD55}"/>
              </a:ext>
            </a:extLst>
          </p:cNvPr>
          <p:cNvSpPr>
            <a:spLocks noGrp="1"/>
          </p:cNvSpPr>
          <p:nvPr>
            <p:ph type="title"/>
          </p:nvPr>
        </p:nvSpPr>
        <p:spPr/>
        <p:txBody>
          <a:bodyPr/>
          <a:lstStyle/>
          <a:p>
            <a:r>
              <a:rPr lang="en-US" altLang="zh-TW" dirty="0"/>
              <a:t>The </a:t>
            </a:r>
            <a:r>
              <a:rPr lang="en-US" altLang="zh-TW" dirty="0" err="1"/>
              <a:t>Inode</a:t>
            </a:r>
            <a:r>
              <a:rPr lang="en-US" altLang="zh-TW" dirty="0"/>
              <a:t> Object &amp; Operations</a:t>
            </a:r>
            <a:endParaRPr kumimoji="1" lang="zh-TW" altLang="en-US" dirty="0"/>
          </a:p>
        </p:txBody>
      </p:sp>
      <p:sp>
        <p:nvSpPr>
          <p:cNvPr id="3" name="內容版面配置區 2">
            <a:extLst>
              <a:ext uri="{FF2B5EF4-FFF2-40B4-BE49-F238E27FC236}">
                <a16:creationId xmlns:a16="http://schemas.microsoft.com/office/drawing/2014/main" id="{E47AA4B3-E210-1B15-ADBB-F99EEF2FCD16}"/>
              </a:ext>
            </a:extLst>
          </p:cNvPr>
          <p:cNvSpPr>
            <a:spLocks noGrp="1"/>
          </p:cNvSpPr>
          <p:nvPr>
            <p:ph idx="1"/>
          </p:nvPr>
        </p:nvSpPr>
        <p:spPr/>
        <p:txBody>
          <a:bodyPr/>
          <a:lstStyle/>
          <a:p>
            <a:r>
              <a:rPr kumimoji="1" lang="en-US" altLang="zh-TW" dirty="0">
                <a:solidFill>
                  <a:srgbClr val="C00000"/>
                </a:solidFill>
              </a:rPr>
              <a:t>Represents all the information </a:t>
            </a:r>
            <a:r>
              <a:rPr kumimoji="1" lang="en-US" altLang="zh-TW" dirty="0"/>
              <a:t>needed by the kernel to </a:t>
            </a:r>
            <a:r>
              <a:rPr kumimoji="1" lang="en-US" altLang="zh-TW" dirty="0">
                <a:solidFill>
                  <a:srgbClr val="C00000"/>
                </a:solidFill>
              </a:rPr>
              <a:t>manipulate a file</a:t>
            </a:r>
            <a:r>
              <a:rPr kumimoji="1" lang="en-US" altLang="zh-TW" dirty="0"/>
              <a:t>.</a:t>
            </a:r>
          </a:p>
          <a:p>
            <a:r>
              <a:rPr lang="en-US" altLang="zh-TW" dirty="0"/>
              <a:t>An </a:t>
            </a:r>
            <a:r>
              <a:rPr lang="en-US" altLang="zh-TW" dirty="0" err="1">
                <a:solidFill>
                  <a:srgbClr val="C00000"/>
                </a:solidFill>
              </a:rPr>
              <a:t>inode</a:t>
            </a:r>
            <a:r>
              <a:rPr lang="en-US" altLang="zh-TW" dirty="0"/>
              <a:t> represents metadata of each file on a FS, and the </a:t>
            </a:r>
            <a:r>
              <a:rPr lang="en-US" altLang="zh-TW" dirty="0" err="1">
                <a:solidFill>
                  <a:srgbClr val="C00000"/>
                </a:solidFill>
              </a:rPr>
              <a:t>inode</a:t>
            </a:r>
            <a:r>
              <a:rPr lang="en-US" altLang="zh-TW" dirty="0">
                <a:solidFill>
                  <a:srgbClr val="C00000"/>
                </a:solidFill>
              </a:rPr>
              <a:t> object (or VFS </a:t>
            </a:r>
            <a:r>
              <a:rPr lang="en-US" altLang="zh-TW" dirty="0" err="1">
                <a:solidFill>
                  <a:srgbClr val="C00000"/>
                </a:solidFill>
              </a:rPr>
              <a:t>inode</a:t>
            </a:r>
            <a:r>
              <a:rPr lang="en-US" altLang="zh-TW" dirty="0">
                <a:solidFill>
                  <a:srgbClr val="C00000"/>
                </a:solidFill>
              </a:rPr>
              <a:t>)</a:t>
            </a:r>
            <a:r>
              <a:rPr lang="en-US" altLang="zh-TW" dirty="0"/>
              <a:t> is constructed in memory only as files are accessed.</a:t>
            </a:r>
            <a:endParaRPr kumimoji="1" lang="zh-TW" altLang="en-US" dirty="0"/>
          </a:p>
        </p:txBody>
      </p:sp>
      <p:sp>
        <p:nvSpPr>
          <p:cNvPr id="4" name="投影片編號版面配置區 3">
            <a:extLst>
              <a:ext uri="{FF2B5EF4-FFF2-40B4-BE49-F238E27FC236}">
                <a16:creationId xmlns:a16="http://schemas.microsoft.com/office/drawing/2014/main" id="{D9575EC5-D0B9-6384-7FBC-3DE82CA220E8}"/>
              </a:ext>
            </a:extLst>
          </p:cNvPr>
          <p:cNvSpPr>
            <a:spLocks noGrp="1"/>
          </p:cNvSpPr>
          <p:nvPr>
            <p:ph type="sldNum" sz="quarter" idx="4"/>
          </p:nvPr>
        </p:nvSpPr>
        <p:spPr/>
        <p:txBody>
          <a:bodyPr/>
          <a:lstStyle/>
          <a:p>
            <a:fld id="{E24E6636-6BA5-4AAC-8485-BE8D914D288B}" type="slidenum">
              <a:rPr lang="zh-TW" altLang="en-US" smtClean="0"/>
              <a:pPr/>
              <a:t>17</a:t>
            </a:fld>
            <a:endParaRPr lang="zh-TW" altLang="en-US" dirty="0"/>
          </a:p>
        </p:txBody>
      </p:sp>
      <p:grpSp>
        <p:nvGrpSpPr>
          <p:cNvPr id="33" name="群組 32">
            <a:extLst>
              <a:ext uri="{FF2B5EF4-FFF2-40B4-BE49-F238E27FC236}">
                <a16:creationId xmlns:a16="http://schemas.microsoft.com/office/drawing/2014/main" id="{74489D10-C8BC-11C7-2595-FA4261ECED9E}"/>
              </a:ext>
            </a:extLst>
          </p:cNvPr>
          <p:cNvGrpSpPr/>
          <p:nvPr/>
        </p:nvGrpSpPr>
        <p:grpSpPr>
          <a:xfrm>
            <a:off x="76202" y="2917896"/>
            <a:ext cx="11470530" cy="2557733"/>
            <a:chOff x="76202" y="2917896"/>
            <a:chExt cx="11470530" cy="2557733"/>
          </a:xfrm>
        </p:grpSpPr>
        <p:grpSp>
          <p:nvGrpSpPr>
            <p:cNvPr id="16" name="群組 15">
              <a:extLst>
                <a:ext uri="{FF2B5EF4-FFF2-40B4-BE49-F238E27FC236}">
                  <a16:creationId xmlns:a16="http://schemas.microsoft.com/office/drawing/2014/main" id="{DDB2B2A9-CDC4-21EB-8A63-1A4FF9E97761}"/>
                </a:ext>
              </a:extLst>
            </p:cNvPr>
            <p:cNvGrpSpPr/>
            <p:nvPr/>
          </p:nvGrpSpPr>
          <p:grpSpPr>
            <a:xfrm>
              <a:off x="76202" y="2917896"/>
              <a:ext cx="9449792" cy="2332108"/>
              <a:chOff x="177800" y="2833231"/>
              <a:chExt cx="9449792" cy="2332108"/>
            </a:xfrm>
          </p:grpSpPr>
          <p:pic>
            <p:nvPicPr>
              <p:cNvPr id="8" name="圖片 7">
                <a:extLst>
                  <a:ext uri="{FF2B5EF4-FFF2-40B4-BE49-F238E27FC236}">
                    <a16:creationId xmlns:a16="http://schemas.microsoft.com/office/drawing/2014/main" id="{D782B06D-40DD-0409-9820-F265E5EAA5E7}"/>
                  </a:ext>
                </a:extLst>
              </p:cNvPr>
              <p:cNvPicPr>
                <a:picLocks noChangeAspect="1"/>
              </p:cNvPicPr>
              <p:nvPr/>
            </p:nvPicPr>
            <p:blipFill rotWithShape="1">
              <a:blip r:embed="rId3">
                <a:extLst>
                  <a:ext uri="{28A0092B-C50C-407E-A947-70E740481C1C}">
                    <a14:useLocalDpi xmlns:a14="http://schemas.microsoft.com/office/drawing/2010/main" val="0"/>
                  </a:ext>
                </a:extLst>
              </a:blip>
              <a:srcRect b="62273"/>
              <a:stretch/>
            </p:blipFill>
            <p:spPr>
              <a:xfrm>
                <a:off x="515090" y="4574712"/>
                <a:ext cx="7990958" cy="590627"/>
              </a:xfrm>
              <a:prstGeom prst="rect">
                <a:avLst/>
              </a:prstGeom>
            </p:spPr>
          </p:pic>
          <p:pic>
            <p:nvPicPr>
              <p:cNvPr id="10" name="圖片 9">
                <a:extLst>
                  <a:ext uri="{FF2B5EF4-FFF2-40B4-BE49-F238E27FC236}">
                    <a16:creationId xmlns:a16="http://schemas.microsoft.com/office/drawing/2014/main" id="{4E10CA60-F0E0-829B-1AF9-7D1FE0B214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800" y="2833231"/>
                <a:ext cx="9449792" cy="1781299"/>
              </a:xfrm>
              <a:prstGeom prst="rect">
                <a:avLst/>
              </a:prstGeom>
            </p:spPr>
          </p:pic>
          <p:sp>
            <p:nvSpPr>
              <p:cNvPr id="11" name="文字方塊 10">
                <a:extLst>
                  <a:ext uri="{FF2B5EF4-FFF2-40B4-BE49-F238E27FC236}">
                    <a16:creationId xmlns:a16="http://schemas.microsoft.com/office/drawing/2014/main" id="{5F2C49AE-2E91-1152-7110-D37630161360}"/>
                  </a:ext>
                </a:extLst>
              </p:cNvPr>
              <p:cNvSpPr txBox="1"/>
              <p:nvPr/>
            </p:nvSpPr>
            <p:spPr>
              <a:xfrm>
                <a:off x="2116667" y="3017427"/>
                <a:ext cx="6604000" cy="369325"/>
              </a:xfrm>
              <a:prstGeom prst="rect">
                <a:avLst/>
              </a:prstGeom>
              <a:solidFill>
                <a:schemeClr val="bg1"/>
              </a:solidFill>
            </p:spPr>
            <p:txBody>
              <a:bodyPr wrap="square" rtlCol="0">
                <a:spAutoFit/>
              </a:bodyPr>
              <a:lstStyle/>
              <a:p>
                <a:r>
                  <a:rPr kumimoji="1" lang="en-US" altLang="zh-TW" dirty="0"/>
                  <a:t>(struct </a:t>
                </a:r>
                <a:r>
                  <a:rPr kumimoji="1" lang="en-US" altLang="zh-TW" dirty="0" err="1"/>
                  <a:t>inode</a:t>
                </a:r>
                <a:r>
                  <a:rPr kumimoji="1" lang="en-US" altLang="zh-TW" dirty="0"/>
                  <a:t> *</a:t>
                </a:r>
                <a:r>
                  <a:rPr kumimoji="1" lang="en-US" altLang="zh-TW" dirty="0" err="1"/>
                  <a:t>dir</a:t>
                </a:r>
                <a:r>
                  <a:rPr kumimoji="1" lang="en-US" altLang="zh-TW" dirty="0"/>
                  <a:t>, struct </a:t>
                </a:r>
                <a:r>
                  <a:rPr kumimoji="1" lang="en-US" altLang="zh-TW" dirty="0" err="1"/>
                  <a:t>dentry</a:t>
                </a:r>
                <a:r>
                  <a:rPr kumimoji="1" lang="en-US" altLang="zh-TW" dirty="0"/>
                  <a:t> *</a:t>
                </a:r>
                <a:r>
                  <a:rPr kumimoji="1" lang="en-US" altLang="zh-TW" dirty="0" err="1"/>
                  <a:t>dentry</a:t>
                </a:r>
                <a:r>
                  <a:rPr kumimoji="1" lang="en-US" altLang="zh-TW" dirty="0"/>
                  <a:t>, int mode);</a:t>
                </a:r>
                <a:endParaRPr kumimoji="1" lang="zh-TW" altLang="en-US" dirty="0"/>
              </a:p>
            </p:txBody>
          </p:sp>
        </p:grpSp>
        <p:sp>
          <p:nvSpPr>
            <p:cNvPr id="22" name="文字方塊 21">
              <a:extLst>
                <a:ext uri="{FF2B5EF4-FFF2-40B4-BE49-F238E27FC236}">
                  <a16:creationId xmlns:a16="http://schemas.microsoft.com/office/drawing/2014/main" id="{4E20DC6B-AA24-06E1-8ACF-E2827B76264F}"/>
                </a:ext>
              </a:extLst>
            </p:cNvPr>
            <p:cNvSpPr txBox="1"/>
            <p:nvPr/>
          </p:nvSpPr>
          <p:spPr>
            <a:xfrm>
              <a:off x="3359800" y="3441791"/>
              <a:ext cx="6166193" cy="369332"/>
            </a:xfrm>
            <a:prstGeom prst="rect">
              <a:avLst/>
            </a:prstGeom>
            <a:solidFill>
              <a:schemeClr val="bg1"/>
            </a:solidFill>
          </p:spPr>
          <p:txBody>
            <a:bodyPr wrap="square" rtlCol="0">
              <a:spAutoFit/>
            </a:bodyPr>
            <a:lstStyle/>
            <a:p>
              <a:r>
                <a:rPr kumimoji="1" lang="en-US" altLang="zh-TW" dirty="0"/>
                <a:t>(struct </a:t>
              </a:r>
              <a:r>
                <a:rPr kumimoji="1" lang="en-US" altLang="zh-TW" dirty="0" err="1"/>
                <a:t>inode</a:t>
              </a:r>
              <a:r>
                <a:rPr kumimoji="1" lang="en-US" altLang="zh-TW" dirty="0"/>
                <a:t> *</a:t>
              </a:r>
              <a:r>
                <a:rPr kumimoji="1" lang="en-US" altLang="zh-TW" dirty="0" err="1"/>
                <a:t>dir</a:t>
              </a:r>
              <a:r>
                <a:rPr kumimoji="1" lang="en-US" altLang="zh-TW" dirty="0"/>
                <a:t>, struct </a:t>
              </a:r>
              <a:r>
                <a:rPr kumimoji="1" lang="en-US" altLang="zh-TW" dirty="0" err="1"/>
                <a:t>dentry</a:t>
              </a:r>
              <a:r>
                <a:rPr kumimoji="1" lang="en-US" altLang="zh-TW" dirty="0"/>
                <a:t> *</a:t>
              </a:r>
              <a:r>
                <a:rPr kumimoji="1" lang="en-US" altLang="zh-TW" dirty="0" err="1"/>
                <a:t>dentry</a:t>
              </a:r>
              <a:r>
                <a:rPr kumimoji="1" lang="en-US" altLang="zh-TW" dirty="0"/>
                <a:t>);</a:t>
              </a:r>
              <a:endParaRPr kumimoji="1" lang="zh-TW" altLang="en-US" dirty="0"/>
            </a:p>
          </p:txBody>
        </p:sp>
        <p:sp>
          <p:nvSpPr>
            <p:cNvPr id="23" name="文字方塊 22">
              <a:extLst>
                <a:ext uri="{FF2B5EF4-FFF2-40B4-BE49-F238E27FC236}">
                  <a16:creationId xmlns:a16="http://schemas.microsoft.com/office/drawing/2014/main" id="{7B87A4E5-1CB4-1C6F-83FE-89AAD873CF4D}"/>
                </a:ext>
              </a:extLst>
            </p:cNvPr>
            <p:cNvSpPr txBox="1"/>
            <p:nvPr/>
          </p:nvSpPr>
          <p:spPr>
            <a:xfrm>
              <a:off x="2015068" y="4289604"/>
              <a:ext cx="6625074" cy="369332"/>
            </a:xfrm>
            <a:prstGeom prst="rect">
              <a:avLst/>
            </a:prstGeom>
            <a:solidFill>
              <a:schemeClr val="bg1"/>
            </a:solidFill>
          </p:spPr>
          <p:txBody>
            <a:bodyPr wrap="square" rtlCol="0">
              <a:spAutoFit/>
            </a:bodyPr>
            <a:lstStyle/>
            <a:p>
              <a:r>
                <a:rPr kumimoji="1" lang="en-US" altLang="zh-TW" dirty="0"/>
                <a:t>(struct </a:t>
              </a:r>
              <a:r>
                <a:rPr kumimoji="1" lang="en-US" altLang="zh-TW" dirty="0" err="1"/>
                <a:t>inode</a:t>
              </a:r>
              <a:r>
                <a:rPr kumimoji="1" lang="en-US" altLang="zh-TW" dirty="0"/>
                <a:t> *</a:t>
              </a:r>
              <a:r>
                <a:rPr kumimoji="1" lang="en-US" altLang="zh-TW" dirty="0" err="1"/>
                <a:t>dir</a:t>
              </a:r>
              <a:r>
                <a:rPr kumimoji="1" lang="en-US" altLang="zh-TW" dirty="0"/>
                <a:t>, struct </a:t>
              </a:r>
              <a:r>
                <a:rPr kumimoji="1" lang="en-US" altLang="zh-TW" dirty="0" err="1"/>
                <a:t>dentry</a:t>
              </a:r>
              <a:r>
                <a:rPr kumimoji="1" lang="en-US" altLang="zh-TW" dirty="0"/>
                <a:t> *</a:t>
              </a:r>
              <a:r>
                <a:rPr kumimoji="1" lang="en-US" altLang="zh-TW" dirty="0" err="1"/>
                <a:t>dentry</a:t>
              </a:r>
              <a:r>
                <a:rPr kumimoji="1" lang="en-US" altLang="zh-TW" dirty="0"/>
                <a:t>, const char *</a:t>
              </a:r>
              <a:r>
                <a:rPr kumimoji="1" lang="en-US" altLang="zh-TW" dirty="0" err="1"/>
                <a:t>symname</a:t>
              </a:r>
              <a:r>
                <a:rPr kumimoji="1" lang="en-US" altLang="zh-TW" dirty="0"/>
                <a:t>);</a:t>
              </a:r>
              <a:endParaRPr kumimoji="1" lang="zh-TW" altLang="en-US" dirty="0"/>
            </a:p>
          </p:txBody>
        </p:sp>
        <p:sp>
          <p:nvSpPr>
            <p:cNvPr id="28" name="文字方塊 27">
              <a:extLst>
                <a:ext uri="{FF2B5EF4-FFF2-40B4-BE49-F238E27FC236}">
                  <a16:creationId xmlns:a16="http://schemas.microsoft.com/office/drawing/2014/main" id="{F3D71CAC-662F-3349-F15C-44BE1524C45C}"/>
                </a:ext>
              </a:extLst>
            </p:cNvPr>
            <p:cNvSpPr txBox="1"/>
            <p:nvPr/>
          </p:nvSpPr>
          <p:spPr>
            <a:xfrm>
              <a:off x="413492" y="5198630"/>
              <a:ext cx="11133240" cy="276999"/>
            </a:xfrm>
            <a:prstGeom prst="rect">
              <a:avLst/>
            </a:prstGeom>
            <a:solidFill>
              <a:schemeClr val="bg1"/>
            </a:solidFill>
          </p:spPr>
          <p:txBody>
            <a:bodyPr wrap="square" tIns="0" bIns="0" rtlCol="0">
              <a:spAutoFit/>
            </a:bodyPr>
            <a:lstStyle/>
            <a:p>
              <a:r>
                <a:rPr kumimoji="1" lang="en-US" altLang="zh-TW" dirty="0"/>
                <a:t>int (*rename) (struct </a:t>
              </a:r>
              <a:r>
                <a:rPr kumimoji="1" lang="en-US" altLang="zh-TW" dirty="0" err="1"/>
                <a:t>inode</a:t>
              </a:r>
              <a:r>
                <a:rPr kumimoji="1" lang="en-US" altLang="zh-TW" dirty="0"/>
                <a:t> *</a:t>
              </a:r>
              <a:r>
                <a:rPr kumimoji="1" lang="en-US" altLang="zh-TW" dirty="0" err="1"/>
                <a:t>old_dir</a:t>
              </a:r>
              <a:r>
                <a:rPr kumimoji="1" lang="en-US" altLang="zh-TW" dirty="0"/>
                <a:t>, struct </a:t>
              </a:r>
              <a:r>
                <a:rPr kumimoji="1" lang="en-US" altLang="zh-TW" dirty="0" err="1"/>
                <a:t>dentry</a:t>
              </a:r>
              <a:r>
                <a:rPr kumimoji="1" lang="en-US" altLang="zh-TW" dirty="0"/>
                <a:t> *</a:t>
              </a:r>
              <a:r>
                <a:rPr kumimoji="1" lang="en-US" altLang="zh-TW" dirty="0" err="1"/>
                <a:t>old_dentry</a:t>
              </a:r>
              <a:r>
                <a:rPr kumimoji="1" lang="en-US" altLang="zh-TW" dirty="0"/>
                <a:t>, struct </a:t>
              </a:r>
              <a:r>
                <a:rPr kumimoji="1" lang="en-US" altLang="zh-TW" dirty="0" err="1"/>
                <a:t>inode</a:t>
              </a:r>
              <a:r>
                <a:rPr kumimoji="1" lang="en-US" altLang="zh-TW" dirty="0"/>
                <a:t> *</a:t>
              </a:r>
              <a:r>
                <a:rPr kumimoji="1" lang="en-US" altLang="zh-TW" dirty="0" err="1"/>
                <a:t>new_dir</a:t>
              </a:r>
              <a:r>
                <a:rPr kumimoji="1" lang="en-US" altLang="zh-TW" dirty="0"/>
                <a:t>, struct </a:t>
              </a:r>
              <a:r>
                <a:rPr kumimoji="1" lang="en-US" altLang="zh-TW" dirty="0" err="1"/>
                <a:t>dentry</a:t>
              </a:r>
              <a:r>
                <a:rPr kumimoji="1" lang="en-US" altLang="zh-TW" dirty="0"/>
                <a:t> *</a:t>
              </a:r>
              <a:r>
                <a:rPr kumimoji="1" lang="en-US" altLang="zh-TW" dirty="0" err="1"/>
                <a:t>new_dentry</a:t>
              </a:r>
              <a:r>
                <a:rPr kumimoji="1" lang="en-US" altLang="zh-TW" dirty="0"/>
                <a:t>); </a:t>
              </a:r>
              <a:endParaRPr kumimoji="1" lang="zh-TW" altLang="en-US" dirty="0"/>
            </a:p>
          </p:txBody>
        </p:sp>
      </p:grpSp>
      <p:grpSp>
        <p:nvGrpSpPr>
          <p:cNvPr id="34" name="群組 33">
            <a:extLst>
              <a:ext uri="{FF2B5EF4-FFF2-40B4-BE49-F238E27FC236}">
                <a16:creationId xmlns:a16="http://schemas.microsoft.com/office/drawing/2014/main" id="{31146C00-D4CE-2437-E163-318160F7033F}"/>
              </a:ext>
            </a:extLst>
          </p:cNvPr>
          <p:cNvGrpSpPr/>
          <p:nvPr/>
        </p:nvGrpSpPr>
        <p:grpSpPr>
          <a:xfrm>
            <a:off x="7041671" y="2587628"/>
            <a:ext cx="4972529" cy="923330"/>
            <a:chOff x="7041671" y="2587628"/>
            <a:chExt cx="4972529" cy="923330"/>
          </a:xfrm>
        </p:grpSpPr>
        <p:cxnSp>
          <p:nvCxnSpPr>
            <p:cNvPr id="12" name="直線箭頭接點 11">
              <a:extLst>
                <a:ext uri="{FF2B5EF4-FFF2-40B4-BE49-F238E27FC236}">
                  <a16:creationId xmlns:a16="http://schemas.microsoft.com/office/drawing/2014/main" id="{77509AD9-21D5-C36A-C682-5DAA70991674}"/>
                </a:ext>
              </a:extLst>
            </p:cNvPr>
            <p:cNvCxnSpPr>
              <a:cxnSpLocks/>
            </p:cNvCxnSpPr>
            <p:nvPr/>
          </p:nvCxnSpPr>
          <p:spPr>
            <a:xfrm flipH="1">
              <a:off x="7041671" y="3320620"/>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3BC75BDE-5902-6F01-0CFC-E2D81FD0476A}"/>
                </a:ext>
              </a:extLst>
            </p:cNvPr>
            <p:cNvSpPr txBox="1"/>
            <p:nvPr/>
          </p:nvSpPr>
          <p:spPr>
            <a:xfrm>
              <a:off x="7466046" y="2587628"/>
              <a:ext cx="4548154" cy="923330"/>
            </a:xfrm>
            <a:prstGeom prst="rect">
              <a:avLst/>
            </a:prstGeom>
            <a:noFill/>
          </p:spPr>
          <p:txBody>
            <a:bodyPr wrap="square" rtlCol="0">
              <a:spAutoFit/>
            </a:bodyPr>
            <a:lstStyle/>
            <a:p>
              <a:r>
                <a:rPr kumimoji="1" lang="en-US" altLang="zh-TW" dirty="0">
                  <a:solidFill>
                    <a:srgbClr val="C00000"/>
                  </a:solidFill>
                </a:rPr>
                <a:t>Creates a new </a:t>
              </a:r>
              <a:r>
                <a:rPr kumimoji="1" lang="en-US" altLang="zh-TW" dirty="0" err="1">
                  <a:solidFill>
                    <a:srgbClr val="C00000"/>
                  </a:solidFill>
                </a:rPr>
                <a:t>inode</a:t>
              </a:r>
              <a:r>
                <a:rPr kumimoji="1" lang="en-US" altLang="zh-TW" dirty="0">
                  <a:solidFill>
                    <a:srgbClr val="C00000"/>
                  </a:solidFill>
                </a:rPr>
                <a:t> associated with the </a:t>
              </a:r>
              <a:r>
                <a:rPr kumimoji="1" lang="en-US" altLang="zh-TW" dirty="0" err="1">
                  <a:solidFill>
                    <a:srgbClr val="C00000"/>
                  </a:solidFill>
                </a:rPr>
                <a:t>dentry</a:t>
              </a:r>
              <a:r>
                <a:rPr kumimoji="1" lang="en-US" altLang="zh-TW" dirty="0">
                  <a:solidFill>
                    <a:srgbClr val="C00000"/>
                  </a:solidFill>
                </a:rPr>
                <a:t> object with the access mode. (called by create() and open() system call)</a:t>
              </a:r>
              <a:endParaRPr kumimoji="1" lang="zh-TW" altLang="en-US" dirty="0">
                <a:solidFill>
                  <a:srgbClr val="C00000"/>
                </a:solidFill>
              </a:endParaRPr>
            </a:p>
          </p:txBody>
        </p:sp>
      </p:grpSp>
      <p:grpSp>
        <p:nvGrpSpPr>
          <p:cNvPr id="35" name="群組 34">
            <a:extLst>
              <a:ext uri="{FF2B5EF4-FFF2-40B4-BE49-F238E27FC236}">
                <a16:creationId xmlns:a16="http://schemas.microsoft.com/office/drawing/2014/main" id="{5B2F8EE9-FE5D-B701-9CD9-2C0C35EF6B4B}"/>
              </a:ext>
            </a:extLst>
          </p:cNvPr>
          <p:cNvGrpSpPr/>
          <p:nvPr/>
        </p:nvGrpSpPr>
        <p:grpSpPr>
          <a:xfrm>
            <a:off x="7355225" y="3569279"/>
            <a:ext cx="4962398" cy="720325"/>
            <a:chOff x="7355225" y="3569279"/>
            <a:chExt cx="4962398" cy="720325"/>
          </a:xfrm>
        </p:grpSpPr>
        <p:sp>
          <p:nvSpPr>
            <p:cNvPr id="15" name="文字方塊 14">
              <a:extLst>
                <a:ext uri="{FF2B5EF4-FFF2-40B4-BE49-F238E27FC236}">
                  <a16:creationId xmlns:a16="http://schemas.microsoft.com/office/drawing/2014/main" id="{B8F31D36-C947-B109-0B2E-A7D680BDB3CF}"/>
                </a:ext>
              </a:extLst>
            </p:cNvPr>
            <p:cNvSpPr txBox="1"/>
            <p:nvPr/>
          </p:nvSpPr>
          <p:spPr>
            <a:xfrm>
              <a:off x="7609979" y="3643273"/>
              <a:ext cx="4707644" cy="646331"/>
            </a:xfrm>
            <a:prstGeom prst="rect">
              <a:avLst/>
            </a:prstGeom>
            <a:noFill/>
          </p:spPr>
          <p:txBody>
            <a:bodyPr wrap="square" rtlCol="0">
              <a:spAutoFit/>
            </a:bodyPr>
            <a:lstStyle/>
            <a:p>
              <a:r>
                <a:rPr kumimoji="1" lang="en-US" altLang="zh-TW" dirty="0">
                  <a:solidFill>
                    <a:srgbClr val="C00000"/>
                  </a:solidFill>
                </a:rPr>
                <a:t>Searches a directory for an </a:t>
              </a:r>
              <a:r>
                <a:rPr kumimoji="1" lang="en-US" altLang="zh-TW" dirty="0" err="1">
                  <a:solidFill>
                    <a:srgbClr val="C00000"/>
                  </a:solidFill>
                </a:rPr>
                <a:t>inode</a:t>
              </a:r>
              <a:r>
                <a:rPr kumimoji="1" lang="en-US" altLang="zh-TW" dirty="0">
                  <a:solidFill>
                    <a:srgbClr val="C00000"/>
                  </a:solidFill>
                </a:rPr>
                <a:t> corresponding to a filename specified in the given </a:t>
              </a:r>
              <a:r>
                <a:rPr kumimoji="1" lang="en-US" altLang="zh-TW" dirty="0" err="1">
                  <a:solidFill>
                    <a:srgbClr val="C00000"/>
                  </a:solidFill>
                </a:rPr>
                <a:t>dentry</a:t>
              </a:r>
              <a:r>
                <a:rPr kumimoji="1" lang="en-US" altLang="zh-TW" dirty="0">
                  <a:solidFill>
                    <a:srgbClr val="C00000"/>
                  </a:solidFill>
                </a:rPr>
                <a:t>.</a:t>
              </a:r>
              <a:endParaRPr kumimoji="1" lang="zh-TW" altLang="en-US" dirty="0">
                <a:solidFill>
                  <a:srgbClr val="C00000"/>
                </a:solidFill>
              </a:endParaRPr>
            </a:p>
          </p:txBody>
        </p:sp>
        <p:cxnSp>
          <p:nvCxnSpPr>
            <p:cNvPr id="18" name="曲線接點 17">
              <a:extLst>
                <a:ext uri="{FF2B5EF4-FFF2-40B4-BE49-F238E27FC236}">
                  <a16:creationId xmlns:a16="http://schemas.microsoft.com/office/drawing/2014/main" id="{52F68363-3FDF-53D0-0183-30F8A3FAEC7F}"/>
                </a:ext>
              </a:extLst>
            </p:cNvPr>
            <p:cNvCxnSpPr>
              <a:cxnSpLocks/>
            </p:cNvCxnSpPr>
            <p:nvPr/>
          </p:nvCxnSpPr>
          <p:spPr>
            <a:xfrm rot="10800000">
              <a:off x="7355225" y="3569279"/>
              <a:ext cx="803338" cy="152934"/>
            </a:xfrm>
            <a:prstGeom prst="curvedConnector3">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群組 35">
            <a:extLst>
              <a:ext uri="{FF2B5EF4-FFF2-40B4-BE49-F238E27FC236}">
                <a16:creationId xmlns:a16="http://schemas.microsoft.com/office/drawing/2014/main" id="{28BF9B7D-230C-2A72-EDC3-FBFDB8E3038B}"/>
              </a:ext>
            </a:extLst>
          </p:cNvPr>
          <p:cNvGrpSpPr/>
          <p:nvPr/>
        </p:nvGrpSpPr>
        <p:grpSpPr>
          <a:xfrm>
            <a:off x="7609979" y="4480876"/>
            <a:ext cx="4707644" cy="692497"/>
            <a:chOff x="7609979" y="4480876"/>
            <a:chExt cx="4707644" cy="692497"/>
          </a:xfrm>
        </p:grpSpPr>
        <p:sp>
          <p:nvSpPr>
            <p:cNvPr id="21" name="文字方塊 20">
              <a:extLst>
                <a:ext uri="{FF2B5EF4-FFF2-40B4-BE49-F238E27FC236}">
                  <a16:creationId xmlns:a16="http://schemas.microsoft.com/office/drawing/2014/main" id="{04A10850-9F22-E514-F724-0DA7F342B2FF}"/>
                </a:ext>
              </a:extLst>
            </p:cNvPr>
            <p:cNvSpPr txBox="1"/>
            <p:nvPr/>
          </p:nvSpPr>
          <p:spPr>
            <a:xfrm>
              <a:off x="7609979" y="4527042"/>
              <a:ext cx="4707644" cy="646331"/>
            </a:xfrm>
            <a:prstGeom prst="rect">
              <a:avLst/>
            </a:prstGeom>
            <a:noFill/>
          </p:spPr>
          <p:txBody>
            <a:bodyPr wrap="square" rtlCol="0">
              <a:spAutoFit/>
            </a:bodyPr>
            <a:lstStyle/>
            <a:p>
              <a:r>
                <a:rPr kumimoji="1" lang="en-US" altLang="zh-TW" dirty="0">
                  <a:solidFill>
                    <a:srgbClr val="C00000"/>
                  </a:solidFill>
                </a:rPr>
                <a:t>Creates a symbolic link named </a:t>
              </a:r>
              <a:r>
                <a:rPr kumimoji="1" lang="en-US" altLang="zh-TW" dirty="0" err="1">
                  <a:solidFill>
                    <a:srgbClr val="C00000"/>
                  </a:solidFill>
                </a:rPr>
                <a:t>symname</a:t>
              </a:r>
              <a:r>
                <a:rPr kumimoji="1" lang="en-US" altLang="zh-TW" dirty="0">
                  <a:solidFill>
                    <a:srgbClr val="C00000"/>
                  </a:solidFill>
                </a:rPr>
                <a:t> to the file represented by </a:t>
              </a:r>
              <a:r>
                <a:rPr kumimoji="1" lang="en-US" altLang="zh-TW" dirty="0" err="1">
                  <a:solidFill>
                    <a:srgbClr val="C00000"/>
                  </a:solidFill>
                </a:rPr>
                <a:t>dentry</a:t>
              </a:r>
              <a:r>
                <a:rPr kumimoji="1" lang="en-US" altLang="zh-TW" dirty="0">
                  <a:solidFill>
                    <a:srgbClr val="C00000"/>
                  </a:solidFill>
                </a:rPr>
                <a:t> in the directory dir.</a:t>
              </a:r>
              <a:endParaRPr kumimoji="1" lang="zh-TW" altLang="en-US" dirty="0">
                <a:solidFill>
                  <a:srgbClr val="C00000"/>
                </a:solidFill>
              </a:endParaRPr>
            </a:p>
          </p:txBody>
        </p:sp>
        <p:cxnSp>
          <p:nvCxnSpPr>
            <p:cNvPr id="24" name="曲線接點 23">
              <a:extLst>
                <a:ext uri="{FF2B5EF4-FFF2-40B4-BE49-F238E27FC236}">
                  <a16:creationId xmlns:a16="http://schemas.microsoft.com/office/drawing/2014/main" id="{8327480A-7F25-146B-6043-DD26555C50A6}"/>
                </a:ext>
              </a:extLst>
            </p:cNvPr>
            <p:cNvCxnSpPr>
              <a:cxnSpLocks/>
            </p:cNvCxnSpPr>
            <p:nvPr/>
          </p:nvCxnSpPr>
          <p:spPr>
            <a:xfrm rot="10800000">
              <a:off x="8080054" y="4480876"/>
              <a:ext cx="803338" cy="152934"/>
            </a:xfrm>
            <a:prstGeom prst="curvedConnector3">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7" name="群組 36">
            <a:extLst>
              <a:ext uri="{FF2B5EF4-FFF2-40B4-BE49-F238E27FC236}">
                <a16:creationId xmlns:a16="http://schemas.microsoft.com/office/drawing/2014/main" id="{F3E1B2A9-7210-9CE2-2A85-6E1858E3CBCB}"/>
              </a:ext>
            </a:extLst>
          </p:cNvPr>
          <p:cNvGrpSpPr/>
          <p:nvPr/>
        </p:nvGrpSpPr>
        <p:grpSpPr>
          <a:xfrm>
            <a:off x="6096005" y="5128958"/>
            <a:ext cx="5997940" cy="1178685"/>
            <a:chOff x="6096005" y="5128958"/>
            <a:chExt cx="5997940" cy="1178685"/>
          </a:xfrm>
        </p:grpSpPr>
        <p:sp>
          <p:nvSpPr>
            <p:cNvPr id="25" name="文字方塊 24">
              <a:extLst>
                <a:ext uri="{FF2B5EF4-FFF2-40B4-BE49-F238E27FC236}">
                  <a16:creationId xmlns:a16="http://schemas.microsoft.com/office/drawing/2014/main" id="{55AB81DA-8926-2EA3-5E28-85593E0B402A}"/>
                </a:ext>
              </a:extLst>
            </p:cNvPr>
            <p:cNvSpPr txBox="1"/>
            <p:nvPr/>
          </p:nvSpPr>
          <p:spPr>
            <a:xfrm>
              <a:off x="7386301" y="5661312"/>
              <a:ext cx="4707644" cy="646331"/>
            </a:xfrm>
            <a:prstGeom prst="rect">
              <a:avLst/>
            </a:prstGeom>
            <a:noFill/>
          </p:spPr>
          <p:txBody>
            <a:bodyPr wrap="square" rtlCol="0">
              <a:spAutoFit/>
            </a:bodyPr>
            <a:lstStyle/>
            <a:p>
              <a:r>
                <a:rPr kumimoji="1" lang="en-US" altLang="zh-TW" dirty="0">
                  <a:solidFill>
                    <a:srgbClr val="C00000"/>
                  </a:solidFill>
                </a:rPr>
                <a:t>Removes the directory referenced by </a:t>
              </a:r>
              <a:r>
                <a:rPr kumimoji="1" lang="en-US" altLang="zh-TW" dirty="0" err="1">
                  <a:solidFill>
                    <a:srgbClr val="C00000"/>
                  </a:solidFill>
                </a:rPr>
                <a:t>dentry</a:t>
              </a:r>
              <a:r>
                <a:rPr kumimoji="1" lang="en-US" altLang="zh-TW" dirty="0">
                  <a:solidFill>
                    <a:srgbClr val="C00000"/>
                  </a:solidFill>
                </a:rPr>
                <a:t> from the directory dir.</a:t>
              </a:r>
              <a:endParaRPr kumimoji="1" lang="zh-TW" altLang="en-US" dirty="0">
                <a:solidFill>
                  <a:srgbClr val="C00000"/>
                </a:solidFill>
              </a:endParaRPr>
            </a:p>
          </p:txBody>
        </p:sp>
        <p:cxnSp>
          <p:nvCxnSpPr>
            <p:cNvPr id="26" name="曲線接點 25">
              <a:extLst>
                <a:ext uri="{FF2B5EF4-FFF2-40B4-BE49-F238E27FC236}">
                  <a16:creationId xmlns:a16="http://schemas.microsoft.com/office/drawing/2014/main" id="{7D804B73-30B2-5F83-0E32-A336280E20C1}"/>
                </a:ext>
              </a:extLst>
            </p:cNvPr>
            <p:cNvCxnSpPr>
              <a:cxnSpLocks/>
              <a:stCxn id="25" idx="1"/>
            </p:cNvCxnSpPr>
            <p:nvPr/>
          </p:nvCxnSpPr>
          <p:spPr>
            <a:xfrm rot="10800000">
              <a:off x="6096005" y="5128958"/>
              <a:ext cx="1290297" cy="855520"/>
            </a:xfrm>
            <a:prstGeom prst="curvedConnector3">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群組 37">
            <a:extLst>
              <a:ext uri="{FF2B5EF4-FFF2-40B4-BE49-F238E27FC236}">
                <a16:creationId xmlns:a16="http://schemas.microsoft.com/office/drawing/2014/main" id="{0D5F5C6E-6B7A-7A1A-70D8-5A660B0F724A}"/>
              </a:ext>
            </a:extLst>
          </p:cNvPr>
          <p:cNvGrpSpPr/>
          <p:nvPr/>
        </p:nvGrpSpPr>
        <p:grpSpPr>
          <a:xfrm>
            <a:off x="766196" y="5510213"/>
            <a:ext cx="5187208" cy="1218918"/>
            <a:chOff x="766196" y="5510213"/>
            <a:chExt cx="5187208" cy="1218918"/>
          </a:xfrm>
        </p:grpSpPr>
        <p:sp>
          <p:nvSpPr>
            <p:cNvPr id="30" name="文字方塊 29">
              <a:extLst>
                <a:ext uri="{FF2B5EF4-FFF2-40B4-BE49-F238E27FC236}">
                  <a16:creationId xmlns:a16="http://schemas.microsoft.com/office/drawing/2014/main" id="{9DAEB7AC-6B01-8736-3464-53577DFED3AF}"/>
                </a:ext>
              </a:extLst>
            </p:cNvPr>
            <p:cNvSpPr txBox="1"/>
            <p:nvPr/>
          </p:nvSpPr>
          <p:spPr>
            <a:xfrm>
              <a:off x="766196" y="5805801"/>
              <a:ext cx="5187208" cy="923330"/>
            </a:xfrm>
            <a:prstGeom prst="rect">
              <a:avLst/>
            </a:prstGeom>
            <a:noFill/>
          </p:spPr>
          <p:txBody>
            <a:bodyPr wrap="square" rtlCol="0">
              <a:spAutoFit/>
            </a:bodyPr>
            <a:lstStyle/>
            <a:p>
              <a:r>
                <a:rPr kumimoji="1" lang="en-US" altLang="zh-TW" dirty="0">
                  <a:solidFill>
                    <a:srgbClr val="C00000"/>
                  </a:solidFill>
                </a:rPr>
                <a:t>Moves the file specified by </a:t>
              </a:r>
              <a:r>
                <a:rPr kumimoji="1" lang="en-US" altLang="zh-TW" dirty="0" err="1">
                  <a:solidFill>
                    <a:srgbClr val="C00000"/>
                  </a:solidFill>
                </a:rPr>
                <a:t>old_dentry</a:t>
              </a:r>
              <a:r>
                <a:rPr kumimoji="1" lang="en-US" altLang="zh-TW" dirty="0">
                  <a:solidFill>
                    <a:srgbClr val="C00000"/>
                  </a:solidFill>
                </a:rPr>
                <a:t>  from the </a:t>
              </a:r>
              <a:r>
                <a:rPr kumimoji="1" lang="en-US" altLang="zh-TW" dirty="0" err="1">
                  <a:solidFill>
                    <a:srgbClr val="C00000"/>
                  </a:solidFill>
                </a:rPr>
                <a:t>old_dir</a:t>
              </a:r>
              <a:r>
                <a:rPr kumimoji="1" lang="en-US" altLang="zh-TW" dirty="0">
                  <a:solidFill>
                    <a:srgbClr val="C00000"/>
                  </a:solidFill>
                </a:rPr>
                <a:t> directory to the directory </a:t>
              </a:r>
              <a:r>
                <a:rPr kumimoji="1" lang="en-US" altLang="zh-TW" dirty="0" err="1">
                  <a:solidFill>
                    <a:srgbClr val="C00000"/>
                  </a:solidFill>
                </a:rPr>
                <a:t>new_dir</a:t>
              </a:r>
              <a:r>
                <a:rPr kumimoji="1" lang="en-US" altLang="zh-TW" dirty="0">
                  <a:solidFill>
                    <a:srgbClr val="C00000"/>
                  </a:solidFill>
                </a:rPr>
                <a:t> with the filename specified by </a:t>
              </a:r>
              <a:r>
                <a:rPr kumimoji="1" lang="en-US" altLang="zh-TW" dirty="0" err="1">
                  <a:solidFill>
                    <a:srgbClr val="C00000"/>
                  </a:solidFill>
                </a:rPr>
                <a:t>new_dentry</a:t>
              </a:r>
              <a:r>
                <a:rPr kumimoji="1" lang="en-US" altLang="zh-TW" dirty="0">
                  <a:solidFill>
                    <a:srgbClr val="C00000"/>
                  </a:solidFill>
                </a:rPr>
                <a:t>.</a:t>
              </a:r>
              <a:endParaRPr kumimoji="1" lang="zh-TW" altLang="en-US" dirty="0">
                <a:solidFill>
                  <a:srgbClr val="C00000"/>
                </a:solidFill>
              </a:endParaRPr>
            </a:p>
          </p:txBody>
        </p:sp>
        <p:cxnSp>
          <p:nvCxnSpPr>
            <p:cNvPr id="31" name="直線箭頭接點 30">
              <a:extLst>
                <a:ext uri="{FF2B5EF4-FFF2-40B4-BE49-F238E27FC236}">
                  <a16:creationId xmlns:a16="http://schemas.microsoft.com/office/drawing/2014/main" id="{2EB564D3-29E1-B254-36C7-83E1D7C1B7D9}"/>
                </a:ext>
              </a:extLst>
            </p:cNvPr>
            <p:cNvCxnSpPr>
              <a:cxnSpLocks/>
            </p:cNvCxnSpPr>
            <p:nvPr/>
          </p:nvCxnSpPr>
          <p:spPr>
            <a:xfrm flipV="1">
              <a:off x="2203217" y="5510213"/>
              <a:ext cx="0" cy="427759"/>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4079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mph" presetSubtype="0" nodeType="clickEffect">
                                  <p:stCondLst>
                                    <p:cond delay="0"/>
                                  </p:stCondLst>
                                  <p:childTnLst>
                                    <p:set>
                                      <p:cBhvr>
                                        <p:cTn id="21" dur="indefinite"/>
                                        <p:tgtEl>
                                          <p:spTgt spid="34"/>
                                        </p:tgtEl>
                                        <p:attrNameLst>
                                          <p:attrName>style.opacity</p:attrName>
                                        </p:attrNameLst>
                                      </p:cBhvr>
                                      <p:to>
                                        <p:strVal val="0.25"/>
                                      </p:to>
                                    </p:set>
                                    <p:animEffect filter="image" prLst="opacity: 0.25">
                                      <p:cBhvr rctx="IE">
                                        <p:cTn id="22" dur="indefinite"/>
                                        <p:tgtEl>
                                          <p:spTgt spid="34"/>
                                        </p:tgtEl>
                                      </p:cBhvr>
                                    </p:animEffect>
                                  </p:childTnLst>
                                </p:cTn>
                              </p:par>
                              <p:par>
                                <p:cTn id="23" presetID="10"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mph" presetSubtype="0" nodeType="clickEffect">
                                  <p:stCondLst>
                                    <p:cond delay="0"/>
                                  </p:stCondLst>
                                  <p:childTnLst>
                                    <p:set>
                                      <p:cBhvr>
                                        <p:cTn id="29" dur="indefinite"/>
                                        <p:tgtEl>
                                          <p:spTgt spid="35"/>
                                        </p:tgtEl>
                                        <p:attrNameLst>
                                          <p:attrName>style.opacity</p:attrName>
                                        </p:attrNameLst>
                                      </p:cBhvr>
                                      <p:to>
                                        <p:strVal val="0.25"/>
                                      </p:to>
                                    </p:set>
                                    <p:animEffect filter="image" prLst="opacity: 0.25">
                                      <p:cBhvr rctx="IE">
                                        <p:cTn id="30" dur="indefinite"/>
                                        <p:tgtEl>
                                          <p:spTgt spid="35"/>
                                        </p:tgtEl>
                                      </p:cBhvr>
                                    </p:animEffect>
                                  </p:childTnLst>
                                </p:cTn>
                              </p:par>
                              <p:par>
                                <p:cTn id="31" presetID="10"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500"/>
                                        <p:tgtEl>
                                          <p:spTgt spid="36"/>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mph" presetSubtype="0" nodeType="clickEffect">
                                  <p:stCondLst>
                                    <p:cond delay="0"/>
                                  </p:stCondLst>
                                  <p:childTnLst>
                                    <p:set>
                                      <p:cBhvr>
                                        <p:cTn id="37" dur="indefinite"/>
                                        <p:tgtEl>
                                          <p:spTgt spid="36"/>
                                        </p:tgtEl>
                                        <p:attrNameLst>
                                          <p:attrName>style.opacity</p:attrName>
                                        </p:attrNameLst>
                                      </p:cBhvr>
                                      <p:to>
                                        <p:strVal val="0.25"/>
                                      </p:to>
                                    </p:set>
                                    <p:animEffect filter="image" prLst="opacity: 0.25">
                                      <p:cBhvr rctx="IE">
                                        <p:cTn id="38" dur="indefinite"/>
                                        <p:tgtEl>
                                          <p:spTgt spid="36"/>
                                        </p:tgtEl>
                                      </p:cBhvr>
                                    </p:animEffect>
                                  </p:childTnLst>
                                </p:cTn>
                              </p:par>
                              <p:par>
                                <p:cTn id="39" presetID="10"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mph" presetSubtype="0" nodeType="clickEffect">
                                  <p:stCondLst>
                                    <p:cond delay="0"/>
                                  </p:stCondLst>
                                  <p:childTnLst>
                                    <p:set>
                                      <p:cBhvr>
                                        <p:cTn id="45" dur="indefinite"/>
                                        <p:tgtEl>
                                          <p:spTgt spid="37"/>
                                        </p:tgtEl>
                                        <p:attrNameLst>
                                          <p:attrName>style.opacity</p:attrName>
                                        </p:attrNameLst>
                                      </p:cBhvr>
                                      <p:to>
                                        <p:strVal val="0.25"/>
                                      </p:to>
                                    </p:set>
                                    <p:animEffect filter="image" prLst="opacity: 0.25">
                                      <p:cBhvr rctx="IE">
                                        <p:cTn id="46" dur="indefinite"/>
                                        <p:tgtEl>
                                          <p:spTgt spid="37"/>
                                        </p:tgtEl>
                                      </p:cBhvr>
                                    </p:animEffect>
                                  </p:childTnLst>
                                </p:cTn>
                              </p:par>
                              <p:par>
                                <p:cTn id="47" presetID="10" presetClass="entr" presetSubtype="0" fill="hold"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A8B7A-4946-B0B7-BA61-775C21A9CD55}"/>
              </a:ext>
            </a:extLst>
          </p:cNvPr>
          <p:cNvSpPr>
            <a:spLocks noGrp="1"/>
          </p:cNvSpPr>
          <p:nvPr>
            <p:ph type="title"/>
          </p:nvPr>
        </p:nvSpPr>
        <p:spPr/>
        <p:txBody>
          <a:bodyPr/>
          <a:lstStyle/>
          <a:p>
            <a:r>
              <a:rPr lang="en-US" altLang="zh-TW" dirty="0"/>
              <a:t>The </a:t>
            </a:r>
            <a:r>
              <a:rPr lang="en-US" altLang="zh-TW" dirty="0" err="1"/>
              <a:t>Dentry</a:t>
            </a:r>
            <a:r>
              <a:rPr lang="en-US" altLang="zh-TW" dirty="0"/>
              <a:t> Object</a:t>
            </a:r>
            <a:endParaRPr kumimoji="1" lang="zh-TW" altLang="en-US" dirty="0"/>
          </a:p>
        </p:txBody>
      </p:sp>
      <p:sp>
        <p:nvSpPr>
          <p:cNvPr id="3" name="內容版面配置區 2">
            <a:extLst>
              <a:ext uri="{FF2B5EF4-FFF2-40B4-BE49-F238E27FC236}">
                <a16:creationId xmlns:a16="http://schemas.microsoft.com/office/drawing/2014/main" id="{E47AA4B3-E210-1B15-ADBB-F99EEF2FCD16}"/>
              </a:ext>
            </a:extLst>
          </p:cNvPr>
          <p:cNvSpPr>
            <a:spLocks noGrp="1"/>
          </p:cNvSpPr>
          <p:nvPr>
            <p:ph idx="1"/>
          </p:nvPr>
        </p:nvSpPr>
        <p:spPr/>
        <p:txBody>
          <a:bodyPr/>
          <a:lstStyle/>
          <a:p>
            <a:r>
              <a:rPr kumimoji="1" lang="en-US" altLang="zh-TW" dirty="0"/>
              <a:t>The </a:t>
            </a:r>
            <a:r>
              <a:rPr kumimoji="1" lang="en-US" altLang="zh-TW" dirty="0">
                <a:solidFill>
                  <a:srgbClr val="C00000"/>
                </a:solidFill>
              </a:rPr>
              <a:t>hierarchical nature of a file system </a:t>
            </a:r>
            <a:r>
              <a:rPr kumimoji="1" lang="en-US" altLang="zh-TW" dirty="0"/>
              <a:t>is managed by </a:t>
            </a:r>
            <a:r>
              <a:rPr kumimoji="1" lang="en-US" altLang="zh-TW" dirty="0" err="1"/>
              <a:t>dentry</a:t>
            </a:r>
            <a:r>
              <a:rPr kumimoji="1" lang="en-US" altLang="zh-TW" dirty="0"/>
              <a:t> objects. (Ex: /home/hello/world </a:t>
            </a:r>
            <a:r>
              <a:rPr kumimoji="1" lang="en-US" altLang="zh-TW" dirty="0">
                <a:sym typeface="Wingdings" pitchFamily="2" charset="2"/>
              </a:rPr>
              <a:t> Four </a:t>
            </a:r>
            <a:r>
              <a:rPr kumimoji="1" lang="en-US" altLang="zh-TW" dirty="0" err="1">
                <a:sym typeface="Wingdings" pitchFamily="2" charset="2"/>
              </a:rPr>
              <a:t>dentry</a:t>
            </a:r>
            <a:r>
              <a:rPr kumimoji="1" lang="en-US" altLang="zh-TW" dirty="0">
                <a:sym typeface="Wingdings" pitchFamily="2" charset="2"/>
              </a:rPr>
              <a:t> objects /, home, hello, world)</a:t>
            </a:r>
            <a:endParaRPr kumimoji="1" lang="en-US" altLang="zh-TW" dirty="0"/>
          </a:p>
          <a:p>
            <a:r>
              <a:rPr kumimoji="1" lang="en-US" altLang="zh-TW" dirty="0"/>
              <a:t>The VFS </a:t>
            </a:r>
            <a:r>
              <a:rPr kumimoji="1" lang="en-US" altLang="zh-TW" dirty="0">
                <a:solidFill>
                  <a:srgbClr val="C00000"/>
                </a:solidFill>
              </a:rPr>
              <a:t>constructs </a:t>
            </a:r>
            <a:r>
              <a:rPr kumimoji="1" lang="en-US" altLang="zh-TW" dirty="0" err="1">
                <a:solidFill>
                  <a:srgbClr val="C00000"/>
                </a:solidFill>
              </a:rPr>
              <a:t>dentry</a:t>
            </a:r>
            <a:r>
              <a:rPr kumimoji="1" lang="en-US" altLang="zh-TW" dirty="0">
                <a:solidFill>
                  <a:srgbClr val="C00000"/>
                </a:solidFill>
              </a:rPr>
              <a:t> objects on-the-fly</a:t>
            </a:r>
            <a:r>
              <a:rPr kumimoji="1" lang="en-US" altLang="zh-TW" dirty="0"/>
              <a:t>, as needed, when performing directory operations. (The </a:t>
            </a:r>
            <a:r>
              <a:rPr kumimoji="1" lang="en-US" altLang="zh-TW" dirty="0" err="1"/>
              <a:t>dentry</a:t>
            </a:r>
            <a:r>
              <a:rPr kumimoji="1" lang="en-US" altLang="zh-TW" dirty="0"/>
              <a:t> object </a:t>
            </a:r>
            <a:r>
              <a:rPr kumimoji="1" lang="en-US" altLang="zh-TW" dirty="0">
                <a:solidFill>
                  <a:srgbClr val="C00000"/>
                </a:solidFill>
              </a:rPr>
              <a:t>does not correspond </a:t>
            </a:r>
            <a:r>
              <a:rPr kumimoji="1" lang="en-US" altLang="zh-TW" dirty="0"/>
              <a:t>to any sort of </a:t>
            </a:r>
            <a:r>
              <a:rPr kumimoji="1" lang="en-US" altLang="zh-TW" dirty="0">
                <a:solidFill>
                  <a:srgbClr val="C00000"/>
                </a:solidFill>
              </a:rPr>
              <a:t>on-disk data structure</a:t>
            </a:r>
            <a:r>
              <a:rPr kumimoji="1" lang="en-US" altLang="zh-TW" dirty="0"/>
              <a:t>.)</a:t>
            </a:r>
          </a:p>
          <a:p>
            <a:r>
              <a:rPr kumimoji="1" lang="en-US" altLang="zh-TW" dirty="0"/>
              <a:t>A </a:t>
            </a:r>
            <a:r>
              <a:rPr kumimoji="1" lang="en-US" altLang="zh-TW" dirty="0" err="1"/>
              <a:t>dentry</a:t>
            </a:r>
            <a:r>
              <a:rPr kumimoji="1" lang="en-US" altLang="zh-TW" dirty="0"/>
              <a:t> object can be in one of the </a:t>
            </a:r>
            <a:r>
              <a:rPr lang="en-US" altLang="zh-TW" dirty="0"/>
              <a:t>three states:</a:t>
            </a:r>
          </a:p>
          <a:p>
            <a:pPr lvl="1"/>
            <a:r>
              <a:rPr kumimoji="1" lang="en-US" altLang="zh-TW" dirty="0"/>
              <a:t>Used: Corresponds to a </a:t>
            </a:r>
            <a:r>
              <a:rPr kumimoji="1" lang="en-US" altLang="zh-TW" dirty="0">
                <a:solidFill>
                  <a:srgbClr val="C00000"/>
                </a:solidFill>
              </a:rPr>
              <a:t>valid </a:t>
            </a:r>
            <a:r>
              <a:rPr kumimoji="1" lang="en-US" altLang="zh-TW" dirty="0" err="1">
                <a:solidFill>
                  <a:srgbClr val="C00000"/>
                </a:solidFill>
              </a:rPr>
              <a:t>inode</a:t>
            </a:r>
            <a:r>
              <a:rPr lang="en-US" altLang="zh-TW" dirty="0"/>
              <a:t> (</a:t>
            </a:r>
            <a:r>
              <a:rPr lang="en-US" altLang="zh-TW" dirty="0" err="1"/>
              <a:t>d_inode</a:t>
            </a:r>
            <a:r>
              <a:rPr lang="en-US" altLang="zh-TW" dirty="0"/>
              <a:t>) and is </a:t>
            </a:r>
            <a:r>
              <a:rPr lang="en-US" altLang="zh-TW" dirty="0">
                <a:solidFill>
                  <a:srgbClr val="C00000"/>
                </a:solidFill>
              </a:rPr>
              <a:t>own by some users </a:t>
            </a:r>
            <a:r>
              <a:rPr lang="en-US" altLang="zh-TW" dirty="0"/>
              <a:t>(</a:t>
            </a:r>
            <a:r>
              <a:rPr lang="en-US" altLang="zh-TW" dirty="0" err="1"/>
              <a:t>d_count</a:t>
            </a:r>
            <a:r>
              <a:rPr lang="en-US" altLang="zh-TW" dirty="0"/>
              <a:t>).</a:t>
            </a:r>
            <a:endParaRPr kumimoji="1" lang="en-US" altLang="zh-TW" dirty="0"/>
          </a:p>
          <a:p>
            <a:pPr lvl="1"/>
            <a:r>
              <a:rPr lang="en-US" altLang="zh-TW" dirty="0"/>
              <a:t>Unused: </a:t>
            </a:r>
            <a:r>
              <a:rPr kumimoji="1" lang="en-US" altLang="zh-TW" dirty="0"/>
              <a:t>Corresponds to a </a:t>
            </a:r>
            <a:r>
              <a:rPr kumimoji="1" lang="en-US" altLang="zh-TW" dirty="0">
                <a:solidFill>
                  <a:srgbClr val="C00000"/>
                </a:solidFill>
              </a:rPr>
              <a:t>valid </a:t>
            </a:r>
            <a:r>
              <a:rPr kumimoji="1" lang="en-US" altLang="zh-TW" dirty="0" err="1">
                <a:solidFill>
                  <a:srgbClr val="C00000"/>
                </a:solidFill>
              </a:rPr>
              <a:t>inode</a:t>
            </a:r>
            <a:r>
              <a:rPr kumimoji="1" lang="en-US" altLang="zh-TW" dirty="0"/>
              <a:t>, but </a:t>
            </a:r>
            <a:r>
              <a:rPr kumimoji="1" lang="en-US" altLang="zh-TW" dirty="0">
                <a:solidFill>
                  <a:srgbClr val="C00000"/>
                </a:solidFill>
              </a:rPr>
              <a:t>does not belong to any</a:t>
            </a:r>
            <a:r>
              <a:rPr lang="en-US" altLang="zh-TW" dirty="0">
                <a:solidFill>
                  <a:srgbClr val="C00000"/>
                </a:solidFill>
              </a:rPr>
              <a:t> user</a:t>
            </a:r>
            <a:r>
              <a:rPr lang="en-US" altLang="zh-TW" dirty="0"/>
              <a:t>. (Just Cache)</a:t>
            </a:r>
          </a:p>
          <a:p>
            <a:pPr lvl="1"/>
            <a:r>
              <a:rPr kumimoji="1" lang="en-US" altLang="zh-TW" dirty="0"/>
              <a:t>Negative: </a:t>
            </a:r>
            <a:r>
              <a:rPr kumimoji="1" lang="en-US" altLang="zh-TW" dirty="0">
                <a:solidFill>
                  <a:srgbClr val="C00000"/>
                </a:solidFill>
              </a:rPr>
              <a:t>Not associated with </a:t>
            </a:r>
            <a:r>
              <a:rPr kumimoji="1" lang="en-US" altLang="zh-TW" dirty="0" err="1">
                <a:solidFill>
                  <a:srgbClr val="C00000"/>
                </a:solidFill>
              </a:rPr>
              <a:t>inode</a:t>
            </a:r>
            <a:r>
              <a:rPr kumimoji="1" lang="en-US" altLang="zh-TW" dirty="0"/>
              <a:t>. Either the </a:t>
            </a:r>
            <a:r>
              <a:rPr kumimoji="1" lang="en-US" altLang="zh-TW" dirty="0" err="1"/>
              <a:t>inode</a:t>
            </a:r>
            <a:r>
              <a:rPr kumimoji="1" lang="en-US" altLang="zh-TW" dirty="0"/>
              <a:t> was deleted, or the path name was never correct. (Quickly response to the open() system call).</a:t>
            </a:r>
          </a:p>
          <a:p>
            <a:r>
              <a:rPr lang="en-US" altLang="zh-TW" dirty="0"/>
              <a:t>Both </a:t>
            </a:r>
            <a:r>
              <a:rPr lang="en-US" altLang="zh-TW" dirty="0" err="1">
                <a:solidFill>
                  <a:srgbClr val="C00000"/>
                </a:solidFill>
              </a:rPr>
              <a:t>dentry</a:t>
            </a:r>
            <a:r>
              <a:rPr lang="en-US" altLang="zh-TW" dirty="0">
                <a:solidFill>
                  <a:srgbClr val="C00000"/>
                </a:solidFill>
              </a:rPr>
              <a:t> objects </a:t>
            </a:r>
            <a:r>
              <a:rPr lang="en-US" altLang="zh-TW" dirty="0"/>
              <a:t>and the </a:t>
            </a:r>
            <a:r>
              <a:rPr lang="en-US" altLang="zh-TW" dirty="0">
                <a:solidFill>
                  <a:srgbClr val="C00000"/>
                </a:solidFill>
              </a:rPr>
              <a:t>corresponding </a:t>
            </a:r>
            <a:r>
              <a:rPr lang="en-US" altLang="zh-TW" dirty="0" err="1">
                <a:solidFill>
                  <a:srgbClr val="C00000"/>
                </a:solidFill>
              </a:rPr>
              <a:t>inodes</a:t>
            </a:r>
            <a:r>
              <a:rPr lang="en-US" altLang="zh-TW" dirty="0">
                <a:solidFill>
                  <a:srgbClr val="C00000"/>
                </a:solidFill>
              </a:rPr>
              <a:t> can be cached </a:t>
            </a:r>
            <a:r>
              <a:rPr lang="en-US" altLang="zh-TW" dirty="0"/>
              <a:t>for faster directory lookup and file metadata accesses.</a:t>
            </a:r>
            <a:endParaRPr kumimoji="1" lang="zh-TW" altLang="en-US" dirty="0"/>
          </a:p>
        </p:txBody>
      </p:sp>
      <p:sp>
        <p:nvSpPr>
          <p:cNvPr id="4" name="投影片編號版面配置區 3">
            <a:extLst>
              <a:ext uri="{FF2B5EF4-FFF2-40B4-BE49-F238E27FC236}">
                <a16:creationId xmlns:a16="http://schemas.microsoft.com/office/drawing/2014/main" id="{D9575EC5-D0B9-6384-7FBC-3DE82CA220E8}"/>
              </a:ext>
            </a:extLst>
          </p:cNvPr>
          <p:cNvSpPr>
            <a:spLocks noGrp="1"/>
          </p:cNvSpPr>
          <p:nvPr>
            <p:ph type="sldNum" sz="quarter" idx="4"/>
          </p:nvPr>
        </p:nvSpPr>
        <p:spPr/>
        <p:txBody>
          <a:bodyPr/>
          <a:lstStyle/>
          <a:p>
            <a:fld id="{E24E6636-6BA5-4AAC-8485-BE8D914D288B}" type="slidenum">
              <a:rPr lang="zh-TW" altLang="en-US" smtClean="0"/>
              <a:pPr/>
              <a:t>18</a:t>
            </a:fld>
            <a:endParaRPr lang="zh-TW" altLang="en-US" dirty="0"/>
          </a:p>
        </p:txBody>
      </p:sp>
      <p:sp>
        <p:nvSpPr>
          <p:cNvPr id="6" name="文字方塊 5">
            <a:extLst>
              <a:ext uri="{FF2B5EF4-FFF2-40B4-BE49-F238E27FC236}">
                <a16:creationId xmlns:a16="http://schemas.microsoft.com/office/drawing/2014/main" id="{27467E0B-75A5-80CC-FEA2-CF609CAF9537}"/>
              </a:ext>
            </a:extLst>
          </p:cNvPr>
          <p:cNvSpPr txBox="1"/>
          <p:nvPr/>
        </p:nvSpPr>
        <p:spPr>
          <a:xfrm>
            <a:off x="0" y="6581001"/>
            <a:ext cx="7784183" cy="276999"/>
          </a:xfrm>
          <a:prstGeom prst="rect">
            <a:avLst/>
          </a:prstGeom>
          <a:noFill/>
        </p:spPr>
        <p:txBody>
          <a:bodyPr wrap="square">
            <a:spAutoFit/>
          </a:bodyPr>
          <a:lstStyle/>
          <a:p>
            <a:r>
              <a:rPr lang="en-US" altLang="zh-TW" sz="1200" dirty="0">
                <a:solidFill>
                  <a:schemeClr val="bg1">
                    <a:lumMod val="50000"/>
                  </a:schemeClr>
                </a:solidFill>
              </a:rPr>
              <a:t>Ref: </a:t>
            </a:r>
            <a:r>
              <a:rPr lang="zh-TW" altLang="en-US" sz="1200" dirty="0">
                <a:solidFill>
                  <a:schemeClr val="bg1">
                    <a:lumMod val="50000"/>
                  </a:schemeClr>
                </a:solidFill>
              </a:rPr>
              <a:t>https://developer.ibm.com/tutorials/l-virtual-filesystem-switch/</a:t>
            </a:r>
          </a:p>
        </p:txBody>
      </p:sp>
    </p:spTree>
    <p:extLst>
      <p:ext uri="{BB962C8B-B14F-4D97-AF65-F5344CB8AC3E}">
        <p14:creationId xmlns:p14="http://schemas.microsoft.com/office/powerpoint/2010/main" val="193441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A8B7A-4946-B0B7-BA61-775C21A9CD55}"/>
              </a:ext>
            </a:extLst>
          </p:cNvPr>
          <p:cNvSpPr>
            <a:spLocks noGrp="1"/>
          </p:cNvSpPr>
          <p:nvPr>
            <p:ph type="title"/>
          </p:nvPr>
        </p:nvSpPr>
        <p:spPr/>
        <p:txBody>
          <a:bodyPr/>
          <a:lstStyle/>
          <a:p>
            <a:r>
              <a:rPr lang="en-US" altLang="zh-TW" dirty="0"/>
              <a:t>The </a:t>
            </a:r>
            <a:r>
              <a:rPr lang="en-US" altLang="zh-TW" dirty="0" err="1"/>
              <a:t>Dentry</a:t>
            </a:r>
            <a:r>
              <a:rPr lang="en-US" altLang="zh-TW" dirty="0"/>
              <a:t> Operations</a:t>
            </a:r>
            <a:endParaRPr kumimoji="1" lang="zh-TW" altLang="en-US" dirty="0"/>
          </a:p>
        </p:txBody>
      </p:sp>
      <p:sp>
        <p:nvSpPr>
          <p:cNvPr id="3" name="內容版面配置區 2">
            <a:extLst>
              <a:ext uri="{FF2B5EF4-FFF2-40B4-BE49-F238E27FC236}">
                <a16:creationId xmlns:a16="http://schemas.microsoft.com/office/drawing/2014/main" id="{E47AA4B3-E210-1B15-ADBB-F99EEF2FCD16}"/>
              </a:ext>
            </a:extLst>
          </p:cNvPr>
          <p:cNvSpPr>
            <a:spLocks noGrp="1"/>
          </p:cNvSpPr>
          <p:nvPr>
            <p:ph idx="1"/>
          </p:nvPr>
        </p:nvSpPr>
        <p:spPr/>
        <p:txBody>
          <a:bodyPr/>
          <a:lstStyle/>
          <a:p>
            <a:r>
              <a:rPr lang="en-US" altLang="zh-TW" dirty="0"/>
              <a:t>M</a:t>
            </a:r>
            <a:r>
              <a:rPr kumimoji="1" lang="en-US" altLang="zh-TW" dirty="0"/>
              <a:t>ethods that the VFS invokes on directory entries on a given filesystem.</a:t>
            </a:r>
            <a:endParaRPr kumimoji="1" lang="zh-TW" altLang="en-US" dirty="0"/>
          </a:p>
        </p:txBody>
      </p:sp>
      <p:sp>
        <p:nvSpPr>
          <p:cNvPr id="4" name="投影片編號版面配置區 3">
            <a:extLst>
              <a:ext uri="{FF2B5EF4-FFF2-40B4-BE49-F238E27FC236}">
                <a16:creationId xmlns:a16="http://schemas.microsoft.com/office/drawing/2014/main" id="{D9575EC5-D0B9-6384-7FBC-3DE82CA220E8}"/>
              </a:ext>
            </a:extLst>
          </p:cNvPr>
          <p:cNvSpPr>
            <a:spLocks noGrp="1"/>
          </p:cNvSpPr>
          <p:nvPr>
            <p:ph type="sldNum" sz="quarter" idx="4"/>
          </p:nvPr>
        </p:nvSpPr>
        <p:spPr/>
        <p:txBody>
          <a:bodyPr/>
          <a:lstStyle/>
          <a:p>
            <a:fld id="{E24E6636-6BA5-4AAC-8485-BE8D914D288B}" type="slidenum">
              <a:rPr lang="zh-TW" altLang="en-US" smtClean="0"/>
              <a:pPr/>
              <a:t>19</a:t>
            </a:fld>
            <a:endParaRPr lang="zh-TW" altLang="en-US" dirty="0"/>
          </a:p>
        </p:txBody>
      </p:sp>
      <p:pic>
        <p:nvPicPr>
          <p:cNvPr id="6" name="圖片 5" descr="一張含有 文字 的圖片&#10;&#10;自動產生的描述">
            <a:extLst>
              <a:ext uri="{FF2B5EF4-FFF2-40B4-BE49-F238E27FC236}">
                <a16:creationId xmlns:a16="http://schemas.microsoft.com/office/drawing/2014/main" id="{57853651-EA30-0B4C-C782-7AAC65BDE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610" y="3016156"/>
            <a:ext cx="9360141" cy="2896788"/>
          </a:xfrm>
          <a:prstGeom prst="rect">
            <a:avLst/>
          </a:prstGeom>
        </p:spPr>
      </p:pic>
      <p:grpSp>
        <p:nvGrpSpPr>
          <p:cNvPr id="7" name="群組 6">
            <a:extLst>
              <a:ext uri="{FF2B5EF4-FFF2-40B4-BE49-F238E27FC236}">
                <a16:creationId xmlns:a16="http://schemas.microsoft.com/office/drawing/2014/main" id="{F813634F-EECE-057A-6033-B0BCBFB20DEE}"/>
              </a:ext>
            </a:extLst>
          </p:cNvPr>
          <p:cNvGrpSpPr/>
          <p:nvPr/>
        </p:nvGrpSpPr>
        <p:grpSpPr>
          <a:xfrm>
            <a:off x="6905767" y="2453937"/>
            <a:ext cx="5286233" cy="1237784"/>
            <a:chOff x="7031390" y="3643273"/>
            <a:chExt cx="5286233" cy="1237784"/>
          </a:xfrm>
        </p:grpSpPr>
        <p:sp>
          <p:nvSpPr>
            <p:cNvPr id="8" name="文字方塊 7">
              <a:extLst>
                <a:ext uri="{FF2B5EF4-FFF2-40B4-BE49-F238E27FC236}">
                  <a16:creationId xmlns:a16="http://schemas.microsoft.com/office/drawing/2014/main" id="{AC739A4D-FD2A-81D2-58C8-3A69EA3445D8}"/>
                </a:ext>
              </a:extLst>
            </p:cNvPr>
            <p:cNvSpPr txBox="1"/>
            <p:nvPr/>
          </p:nvSpPr>
          <p:spPr>
            <a:xfrm>
              <a:off x="7031390" y="3643273"/>
              <a:ext cx="5286233" cy="646331"/>
            </a:xfrm>
            <a:prstGeom prst="rect">
              <a:avLst/>
            </a:prstGeom>
            <a:noFill/>
          </p:spPr>
          <p:txBody>
            <a:bodyPr wrap="square" rtlCol="0">
              <a:spAutoFit/>
            </a:bodyPr>
            <a:lstStyle/>
            <a:p>
              <a:r>
                <a:rPr kumimoji="1" lang="en-US" altLang="zh-TW" dirty="0">
                  <a:solidFill>
                    <a:srgbClr val="C00000"/>
                  </a:solidFill>
                </a:rPr>
                <a:t>Creates a hash value from the given </a:t>
              </a:r>
              <a:r>
                <a:rPr kumimoji="1" lang="en-US" altLang="zh-TW" dirty="0" err="1">
                  <a:solidFill>
                    <a:srgbClr val="C00000"/>
                  </a:solidFill>
                </a:rPr>
                <a:t>dentry</a:t>
              </a:r>
              <a:r>
                <a:rPr kumimoji="1" lang="en-US" altLang="zh-TW" dirty="0">
                  <a:solidFill>
                    <a:srgbClr val="C00000"/>
                  </a:solidFill>
                </a:rPr>
                <a:t>. The VFS calls this whenever it adds a </a:t>
              </a:r>
              <a:r>
                <a:rPr kumimoji="1" lang="en-US" altLang="zh-TW" dirty="0" err="1">
                  <a:solidFill>
                    <a:srgbClr val="C00000"/>
                  </a:solidFill>
                </a:rPr>
                <a:t>dentry</a:t>
              </a:r>
              <a:r>
                <a:rPr kumimoji="1" lang="en-US" altLang="zh-TW" dirty="0">
                  <a:solidFill>
                    <a:srgbClr val="C00000"/>
                  </a:solidFill>
                </a:rPr>
                <a:t> to the hash table.</a:t>
              </a:r>
              <a:endParaRPr kumimoji="1" lang="zh-TW" altLang="en-US" dirty="0">
                <a:solidFill>
                  <a:srgbClr val="C00000"/>
                </a:solidFill>
              </a:endParaRPr>
            </a:p>
          </p:txBody>
        </p:sp>
        <p:cxnSp>
          <p:nvCxnSpPr>
            <p:cNvPr id="9" name="曲線接點 8">
              <a:extLst>
                <a:ext uri="{FF2B5EF4-FFF2-40B4-BE49-F238E27FC236}">
                  <a16:creationId xmlns:a16="http://schemas.microsoft.com/office/drawing/2014/main" id="{703593A6-1DD6-1F20-26B7-06AEE765D716}"/>
                </a:ext>
              </a:extLst>
            </p:cNvPr>
            <p:cNvCxnSpPr>
              <a:cxnSpLocks/>
            </p:cNvCxnSpPr>
            <p:nvPr/>
          </p:nvCxnSpPr>
          <p:spPr>
            <a:xfrm rot="10800000" flipV="1">
              <a:off x="7511704" y="4289604"/>
              <a:ext cx="725135" cy="591453"/>
            </a:xfrm>
            <a:prstGeom prst="curvedConnector3">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5359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群組 63">
            <a:extLst>
              <a:ext uri="{FF2B5EF4-FFF2-40B4-BE49-F238E27FC236}">
                <a16:creationId xmlns:a16="http://schemas.microsoft.com/office/drawing/2014/main" id="{F808AF00-7D82-3A56-32C2-C2E13AA9AB5B}"/>
              </a:ext>
            </a:extLst>
          </p:cNvPr>
          <p:cNvGrpSpPr/>
          <p:nvPr/>
        </p:nvGrpSpPr>
        <p:grpSpPr>
          <a:xfrm>
            <a:off x="133351" y="3219257"/>
            <a:ext cx="6336128" cy="3159489"/>
            <a:chOff x="133351" y="3219257"/>
            <a:chExt cx="6336128" cy="3159489"/>
          </a:xfrm>
        </p:grpSpPr>
        <p:grpSp>
          <p:nvGrpSpPr>
            <p:cNvPr id="63" name="群組 62">
              <a:extLst>
                <a:ext uri="{FF2B5EF4-FFF2-40B4-BE49-F238E27FC236}">
                  <a16:creationId xmlns:a16="http://schemas.microsoft.com/office/drawing/2014/main" id="{2EC3BC25-1E00-AF23-C040-67110748B823}"/>
                </a:ext>
              </a:extLst>
            </p:cNvPr>
            <p:cNvGrpSpPr/>
            <p:nvPr/>
          </p:nvGrpSpPr>
          <p:grpSpPr>
            <a:xfrm>
              <a:off x="133351" y="3816017"/>
              <a:ext cx="6336128" cy="2562729"/>
              <a:chOff x="133351" y="3816017"/>
              <a:chExt cx="6336128" cy="2562729"/>
            </a:xfrm>
          </p:grpSpPr>
          <p:grpSp>
            <p:nvGrpSpPr>
              <p:cNvPr id="62" name="群組 61">
                <a:extLst>
                  <a:ext uri="{FF2B5EF4-FFF2-40B4-BE49-F238E27FC236}">
                    <a16:creationId xmlns:a16="http://schemas.microsoft.com/office/drawing/2014/main" id="{753FB4F6-84FA-653A-D93C-76A85FB2F285}"/>
                  </a:ext>
                </a:extLst>
              </p:cNvPr>
              <p:cNvGrpSpPr/>
              <p:nvPr/>
            </p:nvGrpSpPr>
            <p:grpSpPr>
              <a:xfrm>
                <a:off x="190683" y="5231488"/>
                <a:ext cx="6211301" cy="1147258"/>
                <a:chOff x="190683" y="5231488"/>
                <a:chExt cx="6211301" cy="1147258"/>
              </a:xfrm>
            </p:grpSpPr>
            <p:sp>
              <p:nvSpPr>
                <p:cNvPr id="14" name="矩形 13">
                  <a:extLst>
                    <a:ext uri="{FF2B5EF4-FFF2-40B4-BE49-F238E27FC236}">
                      <a16:creationId xmlns:a16="http://schemas.microsoft.com/office/drawing/2014/main" id="{6C0309A6-8F5D-270F-F420-E7C656FD3922}"/>
                    </a:ext>
                  </a:extLst>
                </p:cNvPr>
                <p:cNvSpPr/>
                <p:nvPr/>
              </p:nvSpPr>
              <p:spPr>
                <a:xfrm>
                  <a:off x="1257621" y="5235044"/>
                  <a:ext cx="1171067"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
              <p:nvSpPr>
                <p:cNvPr id="16" name="矩形 15">
                  <a:extLst>
                    <a:ext uri="{FF2B5EF4-FFF2-40B4-BE49-F238E27FC236}">
                      <a16:creationId xmlns:a16="http://schemas.microsoft.com/office/drawing/2014/main" id="{05596CC9-02B7-0156-5B10-A90B65444795}"/>
                    </a:ext>
                  </a:extLst>
                </p:cNvPr>
                <p:cNvSpPr/>
                <p:nvPr/>
              </p:nvSpPr>
              <p:spPr>
                <a:xfrm>
                  <a:off x="4917870" y="5241161"/>
                  <a:ext cx="1484114"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File1’s Content in Data Block</a:t>
                  </a:r>
                  <a:endParaRPr kumimoji="1" lang="zh-TW" altLang="en-US" dirty="0">
                    <a:solidFill>
                      <a:schemeClr val="tx1"/>
                    </a:solidFill>
                  </a:endParaRPr>
                </a:p>
              </p:txBody>
            </p:sp>
            <p:sp>
              <p:nvSpPr>
                <p:cNvPr id="17" name="矩形 16">
                  <a:extLst>
                    <a:ext uri="{FF2B5EF4-FFF2-40B4-BE49-F238E27FC236}">
                      <a16:creationId xmlns:a16="http://schemas.microsoft.com/office/drawing/2014/main" id="{EDDA0F9F-7FB7-3286-DED8-58258F0AC754}"/>
                    </a:ext>
                  </a:extLst>
                </p:cNvPr>
                <p:cNvSpPr/>
                <p:nvPr/>
              </p:nvSpPr>
              <p:spPr>
                <a:xfrm>
                  <a:off x="2436679" y="5231488"/>
                  <a:ext cx="249025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subdir0</a:t>
                  </a:r>
                  <a:endParaRPr kumimoji="1" lang="zh-TW" altLang="en-US" dirty="0">
                    <a:solidFill>
                      <a:schemeClr val="tx1"/>
                    </a:solidFill>
                  </a:endParaRPr>
                </a:p>
              </p:txBody>
            </p:sp>
            <p:grpSp>
              <p:nvGrpSpPr>
                <p:cNvPr id="20" name="群組 19">
                  <a:extLst>
                    <a:ext uri="{FF2B5EF4-FFF2-40B4-BE49-F238E27FC236}">
                      <a16:creationId xmlns:a16="http://schemas.microsoft.com/office/drawing/2014/main" id="{57F150CA-E777-ED6A-41D4-82A0A401BFAB}"/>
                    </a:ext>
                  </a:extLst>
                </p:cNvPr>
                <p:cNvGrpSpPr/>
                <p:nvPr/>
              </p:nvGrpSpPr>
              <p:grpSpPr>
                <a:xfrm>
                  <a:off x="1366950" y="5235043"/>
                  <a:ext cx="914232" cy="1136002"/>
                  <a:chOff x="3092963" y="4920019"/>
                  <a:chExt cx="914232" cy="1136002"/>
                </a:xfrm>
              </p:grpSpPr>
              <p:cxnSp>
                <p:nvCxnSpPr>
                  <p:cNvPr id="21" name="直線接點 20">
                    <a:extLst>
                      <a:ext uri="{FF2B5EF4-FFF2-40B4-BE49-F238E27FC236}">
                        <a16:creationId xmlns:a16="http://schemas.microsoft.com/office/drawing/2014/main" id="{078A0EE1-9908-7BC4-2649-25EE98274665}"/>
                      </a:ext>
                    </a:extLst>
                  </p:cNvPr>
                  <p:cNvCxnSpPr>
                    <a:cxnSpLocks/>
                  </p:cNvCxnSpPr>
                  <p:nvPr/>
                </p:nvCxnSpPr>
                <p:spPr>
                  <a:xfrm>
                    <a:off x="3092963"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FEF9032-E9F3-267E-BD0F-0BC0A5941987}"/>
                      </a:ext>
                    </a:extLst>
                  </p:cNvPr>
                  <p:cNvCxnSpPr>
                    <a:cxnSpLocks/>
                  </p:cNvCxnSpPr>
                  <p:nvPr/>
                </p:nvCxnSpPr>
                <p:spPr>
                  <a:xfrm>
                    <a:off x="3207242"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DD1B13D0-53DA-0423-6406-55122B92CBED}"/>
                      </a:ext>
                    </a:extLst>
                  </p:cNvPr>
                  <p:cNvCxnSpPr>
                    <a:cxnSpLocks/>
                  </p:cNvCxnSpPr>
                  <p:nvPr/>
                </p:nvCxnSpPr>
                <p:spPr>
                  <a:xfrm>
                    <a:off x="3321521"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2A26C23E-16A5-AE2B-9209-B35A38086FDB}"/>
                      </a:ext>
                    </a:extLst>
                  </p:cNvPr>
                  <p:cNvCxnSpPr>
                    <a:cxnSpLocks/>
                  </p:cNvCxnSpPr>
                  <p:nvPr/>
                </p:nvCxnSpPr>
                <p:spPr>
                  <a:xfrm>
                    <a:off x="3550079"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2ADD2944-467A-7044-3E72-4BD64A554839}"/>
                      </a:ext>
                    </a:extLst>
                  </p:cNvPr>
                  <p:cNvCxnSpPr>
                    <a:cxnSpLocks/>
                  </p:cNvCxnSpPr>
                  <p:nvPr/>
                </p:nvCxnSpPr>
                <p:spPr>
                  <a:xfrm>
                    <a:off x="3778637"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19051D5D-E042-00FB-641E-33FB06231AFB}"/>
                      </a:ext>
                    </a:extLst>
                  </p:cNvPr>
                  <p:cNvCxnSpPr>
                    <a:cxnSpLocks/>
                  </p:cNvCxnSpPr>
                  <p:nvPr/>
                </p:nvCxnSpPr>
                <p:spPr>
                  <a:xfrm>
                    <a:off x="4007195"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3C46AFBC-9122-14CC-47B1-FECD6016E30B}"/>
                      </a:ext>
                    </a:extLst>
                  </p:cNvPr>
                  <p:cNvCxnSpPr>
                    <a:cxnSpLocks/>
                  </p:cNvCxnSpPr>
                  <p:nvPr/>
                </p:nvCxnSpPr>
                <p:spPr>
                  <a:xfrm>
                    <a:off x="3435800"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50F0C35F-4682-AD10-9814-DB643F14A244}"/>
                      </a:ext>
                    </a:extLst>
                  </p:cNvPr>
                  <p:cNvCxnSpPr>
                    <a:cxnSpLocks/>
                  </p:cNvCxnSpPr>
                  <p:nvPr/>
                </p:nvCxnSpPr>
                <p:spPr>
                  <a:xfrm>
                    <a:off x="3664358"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555BA5B7-F529-B3B1-E139-757AC441430B}"/>
                      </a:ext>
                    </a:extLst>
                  </p:cNvPr>
                  <p:cNvCxnSpPr>
                    <a:cxnSpLocks/>
                  </p:cNvCxnSpPr>
                  <p:nvPr/>
                </p:nvCxnSpPr>
                <p:spPr>
                  <a:xfrm>
                    <a:off x="3892916"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58DE6740-6ABC-5F44-838E-9B5B1535B738}"/>
                    </a:ext>
                  </a:extLst>
                </p:cNvPr>
                <p:cNvSpPr/>
                <p:nvPr/>
              </p:nvSpPr>
              <p:spPr>
                <a:xfrm>
                  <a:off x="2436678" y="5242744"/>
                  <a:ext cx="2490245" cy="1136002"/>
                </a:xfrm>
                <a:prstGeom prst="rect">
                  <a:avLst/>
                </a:prstGeom>
                <a:solidFill>
                  <a:schemeClr val="bg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dirty="0">
                      <a:solidFill>
                        <a:schemeClr val="tx1"/>
                      </a:solidFill>
                    </a:rPr>
                    <a:t>Directory Block</a:t>
                  </a:r>
                  <a:endParaRPr kumimoji="1" lang="zh-TW" altLang="en-US" dirty="0">
                    <a:solidFill>
                      <a:schemeClr val="tx1"/>
                    </a:solidFill>
                  </a:endParaRPr>
                </a:p>
              </p:txBody>
            </p:sp>
            <p:sp>
              <p:nvSpPr>
                <p:cNvPr id="38" name="矩形 37">
                  <a:extLst>
                    <a:ext uri="{FF2B5EF4-FFF2-40B4-BE49-F238E27FC236}">
                      <a16:creationId xmlns:a16="http://schemas.microsoft.com/office/drawing/2014/main" id="{B1FC9936-7BE2-8EB9-E277-389EF045DC0A}"/>
                    </a:ext>
                  </a:extLst>
                </p:cNvPr>
                <p:cNvSpPr/>
                <p:nvPr/>
              </p:nvSpPr>
              <p:spPr>
                <a:xfrm>
                  <a:off x="2546008" y="5540961"/>
                  <a:ext cx="2292997" cy="792797"/>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Directory Entries</a:t>
                  </a:r>
                  <a:endParaRPr kumimoji="1" lang="zh-TW" altLang="en-US" dirty="0">
                    <a:solidFill>
                      <a:schemeClr val="tx1"/>
                    </a:solidFill>
                  </a:endParaRPr>
                </a:p>
              </p:txBody>
            </p:sp>
            <p:grpSp>
              <p:nvGrpSpPr>
                <p:cNvPr id="39" name="群組 38">
                  <a:extLst>
                    <a:ext uri="{FF2B5EF4-FFF2-40B4-BE49-F238E27FC236}">
                      <a16:creationId xmlns:a16="http://schemas.microsoft.com/office/drawing/2014/main" id="{38D905C5-1E88-F285-F64D-88FE8594CC63}"/>
                    </a:ext>
                  </a:extLst>
                </p:cNvPr>
                <p:cNvGrpSpPr/>
                <p:nvPr/>
              </p:nvGrpSpPr>
              <p:grpSpPr>
                <a:xfrm>
                  <a:off x="2782153" y="5821830"/>
                  <a:ext cx="1772143" cy="430888"/>
                  <a:chOff x="8326339" y="5510362"/>
                  <a:chExt cx="1772143" cy="430888"/>
                </a:xfrm>
              </p:grpSpPr>
              <p:sp>
                <p:nvSpPr>
                  <p:cNvPr id="40" name="文字方塊 39">
                    <a:extLst>
                      <a:ext uri="{FF2B5EF4-FFF2-40B4-BE49-F238E27FC236}">
                        <a16:creationId xmlns:a16="http://schemas.microsoft.com/office/drawing/2014/main" id="{FC4DE3FF-F4F2-93BA-73D0-5E081367AE1B}"/>
                      </a:ext>
                    </a:extLst>
                  </p:cNvPr>
                  <p:cNvSpPr txBox="1"/>
                  <p:nvPr/>
                </p:nvSpPr>
                <p:spPr>
                  <a:xfrm>
                    <a:off x="8326339" y="5510362"/>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Inode4, file1’s filename</a:t>
                    </a:r>
                    <a:endParaRPr kumimoji="1" lang="zh-TW" altLang="en-US" sz="1400" dirty="0">
                      <a:solidFill>
                        <a:srgbClr val="C00000"/>
                      </a:solidFill>
                    </a:endParaRPr>
                  </a:p>
                </p:txBody>
              </p:sp>
              <p:sp>
                <p:nvSpPr>
                  <p:cNvPr id="41" name="文字方塊 40">
                    <a:extLst>
                      <a:ext uri="{FF2B5EF4-FFF2-40B4-BE49-F238E27FC236}">
                        <a16:creationId xmlns:a16="http://schemas.microsoft.com/office/drawing/2014/main" id="{45AAAF76-2FD0-C2C6-C162-D52860B92BD3}"/>
                      </a:ext>
                    </a:extLst>
                  </p:cNvPr>
                  <p:cNvSpPr txBox="1"/>
                  <p:nvPr/>
                </p:nvSpPr>
                <p:spPr>
                  <a:xfrm>
                    <a:off x="8326339" y="5725806"/>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Inode5, file2’s filename</a:t>
                    </a:r>
                    <a:endParaRPr kumimoji="1" lang="zh-TW" altLang="en-US" sz="1400" dirty="0">
                      <a:solidFill>
                        <a:srgbClr val="C00000"/>
                      </a:solidFill>
                    </a:endParaRPr>
                  </a:p>
                </p:txBody>
              </p:sp>
            </p:grpSp>
            <p:sp>
              <p:nvSpPr>
                <p:cNvPr id="19" name="文字方塊 18">
                  <a:extLst>
                    <a:ext uri="{FF2B5EF4-FFF2-40B4-BE49-F238E27FC236}">
                      <a16:creationId xmlns:a16="http://schemas.microsoft.com/office/drawing/2014/main" id="{B5ED2542-CB97-8B36-393D-3862D760EC21}"/>
                    </a:ext>
                  </a:extLst>
                </p:cNvPr>
                <p:cNvSpPr txBox="1"/>
                <p:nvPr/>
              </p:nvSpPr>
              <p:spPr>
                <a:xfrm>
                  <a:off x="1310293" y="5653970"/>
                  <a:ext cx="1086451" cy="369332"/>
                </a:xfrm>
                <a:prstGeom prst="rect">
                  <a:avLst/>
                </a:prstGeom>
                <a:solidFill>
                  <a:schemeClr val="bg1"/>
                </a:solidFill>
              </p:spPr>
              <p:txBody>
                <a:bodyPr wrap="none" lIns="0" rIns="0" rtlCol="0">
                  <a:spAutoFit/>
                </a:bodyPr>
                <a:lstStyle/>
                <a:p>
                  <a:r>
                    <a:rPr kumimoji="1" lang="en-US" altLang="zh-TW" dirty="0" err="1"/>
                    <a:t>Inode</a:t>
                  </a:r>
                  <a:r>
                    <a:rPr kumimoji="1" lang="en-US" altLang="zh-TW" dirty="0"/>
                    <a:t> Table</a:t>
                  </a:r>
                  <a:endParaRPr kumimoji="1" lang="zh-TW" altLang="en-US" dirty="0"/>
                </a:p>
              </p:txBody>
            </p:sp>
            <p:sp>
              <p:nvSpPr>
                <p:cNvPr id="7" name="文字方塊 6">
                  <a:extLst>
                    <a:ext uri="{FF2B5EF4-FFF2-40B4-BE49-F238E27FC236}">
                      <a16:creationId xmlns:a16="http://schemas.microsoft.com/office/drawing/2014/main" id="{585D8C77-0FD7-E3EC-4406-D7A9290E5173}"/>
                    </a:ext>
                  </a:extLst>
                </p:cNvPr>
                <p:cNvSpPr txBox="1"/>
                <p:nvPr/>
              </p:nvSpPr>
              <p:spPr>
                <a:xfrm>
                  <a:off x="190683" y="5422731"/>
                  <a:ext cx="960904" cy="646331"/>
                </a:xfrm>
                <a:prstGeom prst="rect">
                  <a:avLst/>
                </a:prstGeom>
                <a:noFill/>
              </p:spPr>
              <p:txBody>
                <a:bodyPr wrap="none" rtlCol="0">
                  <a:spAutoFit/>
                </a:bodyPr>
                <a:lstStyle/>
                <a:p>
                  <a:r>
                    <a:rPr kumimoji="1" lang="en-US" altLang="zh-TW" i="1" dirty="0">
                      <a:solidFill>
                        <a:srgbClr val="C00000"/>
                      </a:solidFill>
                    </a:rPr>
                    <a:t>Storage </a:t>
                  </a:r>
                </a:p>
                <a:p>
                  <a:r>
                    <a:rPr kumimoji="1" lang="en-US" altLang="zh-TW" i="1" dirty="0">
                      <a:solidFill>
                        <a:srgbClr val="C00000"/>
                      </a:solidFill>
                    </a:rPr>
                    <a:t>Devices</a:t>
                  </a:r>
                  <a:endParaRPr kumimoji="1" lang="zh-TW" altLang="en-US" i="1" dirty="0">
                    <a:solidFill>
                      <a:srgbClr val="C00000"/>
                    </a:solidFill>
                  </a:endParaRPr>
                </a:p>
              </p:txBody>
            </p:sp>
          </p:grpSp>
          <p:sp>
            <p:nvSpPr>
              <p:cNvPr id="15" name="文字方塊 14">
                <a:extLst>
                  <a:ext uri="{FF2B5EF4-FFF2-40B4-BE49-F238E27FC236}">
                    <a16:creationId xmlns:a16="http://schemas.microsoft.com/office/drawing/2014/main" id="{4226B91B-677B-91CE-1E05-81176E5D7359}"/>
                  </a:ext>
                </a:extLst>
              </p:cNvPr>
              <p:cNvSpPr txBox="1"/>
              <p:nvPr/>
            </p:nvSpPr>
            <p:spPr>
              <a:xfrm>
                <a:off x="133351" y="3816017"/>
                <a:ext cx="988925" cy="369332"/>
              </a:xfrm>
              <a:prstGeom prst="rect">
                <a:avLst/>
              </a:prstGeom>
              <a:noFill/>
            </p:spPr>
            <p:txBody>
              <a:bodyPr wrap="none" rtlCol="0">
                <a:spAutoFit/>
              </a:bodyPr>
              <a:lstStyle/>
              <a:p>
                <a:r>
                  <a:rPr kumimoji="1" lang="en-US" altLang="zh-TW" i="1" dirty="0">
                    <a:solidFill>
                      <a:srgbClr val="C00000"/>
                    </a:solidFill>
                  </a:rPr>
                  <a:t>Memory</a:t>
                </a:r>
                <a:endParaRPr kumimoji="1" lang="zh-TW" altLang="en-US" i="1" dirty="0">
                  <a:solidFill>
                    <a:srgbClr val="C00000"/>
                  </a:solidFill>
                </a:endParaRPr>
              </a:p>
            </p:txBody>
          </p:sp>
          <p:cxnSp>
            <p:nvCxnSpPr>
              <p:cNvPr id="34" name="直線接點 33">
                <a:extLst>
                  <a:ext uri="{FF2B5EF4-FFF2-40B4-BE49-F238E27FC236}">
                    <a16:creationId xmlns:a16="http://schemas.microsoft.com/office/drawing/2014/main" id="{68064F53-B19C-2E8C-F89A-5F8C84B75C95}"/>
                  </a:ext>
                </a:extLst>
              </p:cNvPr>
              <p:cNvCxnSpPr>
                <a:cxnSpLocks/>
              </p:cNvCxnSpPr>
              <p:nvPr/>
            </p:nvCxnSpPr>
            <p:spPr>
              <a:xfrm>
                <a:off x="915533" y="5055653"/>
                <a:ext cx="5553946" cy="0"/>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54" name="文字方塊 53">
              <a:extLst>
                <a:ext uri="{FF2B5EF4-FFF2-40B4-BE49-F238E27FC236}">
                  <a16:creationId xmlns:a16="http://schemas.microsoft.com/office/drawing/2014/main" id="{DBE5B39E-CDC3-184D-2A9A-38BA866B79E4}"/>
                </a:ext>
              </a:extLst>
            </p:cNvPr>
            <p:cNvSpPr txBox="1"/>
            <p:nvPr/>
          </p:nvSpPr>
          <p:spPr>
            <a:xfrm>
              <a:off x="2234673" y="3219257"/>
              <a:ext cx="2894254" cy="369332"/>
            </a:xfrm>
            <a:prstGeom prst="rect">
              <a:avLst/>
            </a:prstGeom>
            <a:noFill/>
          </p:spPr>
          <p:txBody>
            <a:bodyPr wrap="none" rtlCol="0">
              <a:spAutoFit/>
            </a:bodyPr>
            <a:lstStyle/>
            <a:p>
              <a:r>
                <a:rPr kumimoji="1" lang="en-US" altLang="zh-TW" u="sng" dirty="0">
                  <a:solidFill>
                    <a:srgbClr val="C00000"/>
                  </a:solidFill>
                </a:rPr>
                <a:t>Reason 1 – Consistency Issue</a:t>
              </a:r>
              <a:endParaRPr kumimoji="1" lang="zh-TW" altLang="en-US" u="sng" dirty="0">
                <a:solidFill>
                  <a:srgbClr val="C00000"/>
                </a:solidFill>
              </a:endParaRPr>
            </a:p>
          </p:txBody>
        </p:sp>
      </p:grpSp>
      <p:sp>
        <p:nvSpPr>
          <p:cNvPr id="2" name="標題 1">
            <a:extLst>
              <a:ext uri="{FF2B5EF4-FFF2-40B4-BE49-F238E27FC236}">
                <a16:creationId xmlns:a16="http://schemas.microsoft.com/office/drawing/2014/main" id="{143B27CD-04F5-D56C-6EF5-4A88D3591263}"/>
              </a:ext>
            </a:extLst>
          </p:cNvPr>
          <p:cNvSpPr>
            <a:spLocks noGrp="1"/>
          </p:cNvSpPr>
          <p:nvPr>
            <p:ph type="title"/>
          </p:nvPr>
        </p:nvSpPr>
        <p:spPr/>
        <p:txBody>
          <a:bodyPr/>
          <a:lstStyle/>
          <a:p>
            <a:r>
              <a:rPr kumimoji="1" lang="en-US" altLang="zh-TW" dirty="0"/>
              <a:t>More about Rename</a:t>
            </a:r>
            <a:endParaRPr kumimoji="1" lang="zh-TW" altLang="en-US" dirty="0"/>
          </a:p>
        </p:txBody>
      </p:sp>
      <p:sp>
        <p:nvSpPr>
          <p:cNvPr id="3" name="內容版面配置區 2">
            <a:extLst>
              <a:ext uri="{FF2B5EF4-FFF2-40B4-BE49-F238E27FC236}">
                <a16:creationId xmlns:a16="http://schemas.microsoft.com/office/drawing/2014/main" id="{59D1BBFD-C9AE-F8DE-1038-74A0DC99D1FB}"/>
              </a:ext>
            </a:extLst>
          </p:cNvPr>
          <p:cNvSpPr>
            <a:spLocks noGrp="1"/>
          </p:cNvSpPr>
          <p:nvPr>
            <p:ph idx="1"/>
          </p:nvPr>
        </p:nvSpPr>
        <p:spPr/>
        <p:txBody>
          <a:bodyPr/>
          <a:lstStyle/>
          <a:p>
            <a:pPr algn="l"/>
            <a:r>
              <a:rPr kumimoji="1" lang="en-US" altLang="zh-TW" dirty="0"/>
              <a:t>By Linux: </a:t>
            </a:r>
            <a:r>
              <a:rPr kumimoji="1" lang="en-US" altLang="zh-TW" dirty="0">
                <a:solidFill>
                  <a:srgbClr val="C00000"/>
                </a:solidFill>
              </a:rPr>
              <a:t>Replace the old </a:t>
            </a:r>
            <a:r>
              <a:rPr kumimoji="1" lang="en-US" altLang="zh-TW" dirty="0" err="1">
                <a:solidFill>
                  <a:srgbClr val="C00000"/>
                </a:solidFill>
              </a:rPr>
              <a:t>dentry</a:t>
            </a:r>
            <a:r>
              <a:rPr kumimoji="1" lang="en-US" altLang="zh-TW" dirty="0">
                <a:solidFill>
                  <a:srgbClr val="C00000"/>
                </a:solidFill>
              </a:rPr>
              <a:t> </a:t>
            </a:r>
            <a:r>
              <a:rPr kumimoji="1" lang="en-US" altLang="zh-TW" dirty="0"/>
              <a:t>with a new one having a new name.</a:t>
            </a:r>
          </a:p>
          <a:p>
            <a:pPr algn="l"/>
            <a:r>
              <a:rPr kumimoji="1" lang="en-US" altLang="zh-TW" dirty="0"/>
              <a:t>Issue: </a:t>
            </a:r>
            <a:r>
              <a:rPr kumimoji="1" lang="en-US" altLang="zh-TW" dirty="0">
                <a:solidFill>
                  <a:srgbClr val="C00000"/>
                </a:solidFill>
              </a:rPr>
              <a:t>Why not directly modify </a:t>
            </a:r>
            <a:r>
              <a:rPr kumimoji="1" lang="en-US" altLang="zh-TW" dirty="0"/>
              <a:t>the name in the </a:t>
            </a:r>
            <a:r>
              <a:rPr kumimoji="1" lang="en-US" altLang="zh-TW" dirty="0" err="1"/>
              <a:t>dentry</a:t>
            </a:r>
            <a:r>
              <a:rPr kumimoji="1" lang="en-US" altLang="zh-TW" dirty="0"/>
              <a:t>?</a:t>
            </a:r>
          </a:p>
          <a:p>
            <a:pPr algn="l"/>
            <a:r>
              <a:rPr lang="en-US" altLang="zh-TW" dirty="0"/>
              <a:t>Reason 1: Face </a:t>
            </a:r>
            <a:r>
              <a:rPr lang="en-US" altLang="zh-TW" dirty="0">
                <a:solidFill>
                  <a:srgbClr val="C00000"/>
                </a:solidFill>
              </a:rPr>
              <a:t>consistency issue </a:t>
            </a:r>
            <a:r>
              <a:rPr lang="en-US" altLang="zh-TW" dirty="0"/>
              <a:t>as updating the name directly is </a:t>
            </a:r>
            <a:r>
              <a:rPr lang="en-US" altLang="zh-TW" dirty="0">
                <a:solidFill>
                  <a:srgbClr val="C00000"/>
                </a:solidFill>
              </a:rPr>
              <a:t>not atomic</a:t>
            </a:r>
            <a:r>
              <a:rPr lang="en-US" altLang="zh-TW" dirty="0"/>
              <a:t>.</a:t>
            </a:r>
          </a:p>
        </p:txBody>
      </p:sp>
      <p:sp>
        <p:nvSpPr>
          <p:cNvPr id="4" name="投影片編號版面配置區 3">
            <a:extLst>
              <a:ext uri="{FF2B5EF4-FFF2-40B4-BE49-F238E27FC236}">
                <a16:creationId xmlns:a16="http://schemas.microsoft.com/office/drawing/2014/main" id="{97A1F7F7-B198-0337-0FA4-FD43212A54C2}"/>
              </a:ext>
            </a:extLst>
          </p:cNvPr>
          <p:cNvSpPr>
            <a:spLocks noGrp="1"/>
          </p:cNvSpPr>
          <p:nvPr>
            <p:ph type="sldNum" sz="quarter" idx="4"/>
          </p:nvPr>
        </p:nvSpPr>
        <p:spPr/>
        <p:txBody>
          <a:bodyPr/>
          <a:lstStyle/>
          <a:p>
            <a:fld id="{E24E6636-6BA5-4AAC-8485-BE8D914D288B}" type="slidenum">
              <a:rPr lang="zh-TW" altLang="en-US" smtClean="0"/>
              <a:pPr/>
              <a:t>20</a:t>
            </a:fld>
            <a:endParaRPr lang="zh-TW" altLang="en-US" dirty="0"/>
          </a:p>
        </p:txBody>
      </p:sp>
      <p:sp>
        <p:nvSpPr>
          <p:cNvPr id="43" name="矩形 42">
            <a:extLst>
              <a:ext uri="{FF2B5EF4-FFF2-40B4-BE49-F238E27FC236}">
                <a16:creationId xmlns:a16="http://schemas.microsoft.com/office/drawing/2014/main" id="{17A3D9D4-A7D7-EE81-25FA-2B5A6AEA3798}"/>
              </a:ext>
            </a:extLst>
          </p:cNvPr>
          <p:cNvSpPr/>
          <p:nvPr/>
        </p:nvSpPr>
        <p:spPr>
          <a:xfrm>
            <a:off x="1263260" y="3814689"/>
            <a:ext cx="2101045"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err="1">
                <a:solidFill>
                  <a:schemeClr val="tx1"/>
                </a:solidFill>
              </a:rPr>
              <a:t>Dentry</a:t>
            </a:r>
            <a:endParaRPr kumimoji="1" lang="zh-TW" altLang="en-US" dirty="0">
              <a:solidFill>
                <a:schemeClr val="tx1"/>
              </a:solidFill>
            </a:endParaRPr>
          </a:p>
        </p:txBody>
      </p:sp>
      <p:sp>
        <p:nvSpPr>
          <p:cNvPr id="18" name="文字方塊 17">
            <a:extLst>
              <a:ext uri="{FF2B5EF4-FFF2-40B4-BE49-F238E27FC236}">
                <a16:creationId xmlns:a16="http://schemas.microsoft.com/office/drawing/2014/main" id="{F7B2F702-F7FC-D644-5246-096DE0871F92}"/>
              </a:ext>
            </a:extLst>
          </p:cNvPr>
          <p:cNvSpPr txBox="1"/>
          <p:nvPr/>
        </p:nvSpPr>
        <p:spPr>
          <a:xfrm>
            <a:off x="1312786" y="4077627"/>
            <a:ext cx="198457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file1’s filename, </a:t>
            </a:r>
            <a:r>
              <a:rPr kumimoji="1" lang="en-US" altLang="zh-TW" sz="1400" dirty="0" err="1">
                <a:solidFill>
                  <a:srgbClr val="C00000"/>
                </a:solidFill>
              </a:rPr>
              <a:t>inode_ptr</a:t>
            </a:r>
            <a:endParaRPr kumimoji="1" lang="zh-TW" altLang="en-US" sz="1400" dirty="0">
              <a:solidFill>
                <a:srgbClr val="C00000"/>
              </a:solidFill>
            </a:endParaRPr>
          </a:p>
        </p:txBody>
      </p:sp>
      <p:sp>
        <p:nvSpPr>
          <p:cNvPr id="28" name="矩形 27">
            <a:extLst>
              <a:ext uri="{FF2B5EF4-FFF2-40B4-BE49-F238E27FC236}">
                <a16:creationId xmlns:a16="http://schemas.microsoft.com/office/drawing/2014/main" id="{1C32E9DF-B40D-3046-A5E3-B221ABE00BE0}"/>
              </a:ext>
            </a:extLst>
          </p:cNvPr>
          <p:cNvSpPr/>
          <p:nvPr/>
        </p:nvSpPr>
        <p:spPr>
          <a:xfrm>
            <a:off x="3585610" y="3814689"/>
            <a:ext cx="2812249"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err="1">
                <a:solidFill>
                  <a:schemeClr val="tx1"/>
                </a:solidFill>
              </a:rPr>
              <a:t>Inode</a:t>
            </a:r>
            <a:r>
              <a:rPr kumimoji="1" lang="en-US" altLang="zh-TW" dirty="0">
                <a:solidFill>
                  <a:schemeClr val="tx1"/>
                </a:solidFill>
              </a:rPr>
              <a:t> Object</a:t>
            </a:r>
            <a:endParaRPr kumimoji="1" lang="zh-TW" altLang="en-US" dirty="0">
              <a:solidFill>
                <a:schemeClr val="tx1"/>
              </a:solidFill>
            </a:endParaRPr>
          </a:p>
        </p:txBody>
      </p:sp>
      <p:sp>
        <p:nvSpPr>
          <p:cNvPr id="32" name="文字方塊 31">
            <a:extLst>
              <a:ext uri="{FF2B5EF4-FFF2-40B4-BE49-F238E27FC236}">
                <a16:creationId xmlns:a16="http://schemas.microsoft.com/office/drawing/2014/main" id="{4B728A44-2B4F-784F-E74F-A98FDF9F5CBE}"/>
              </a:ext>
            </a:extLst>
          </p:cNvPr>
          <p:cNvSpPr txBox="1"/>
          <p:nvPr/>
        </p:nvSpPr>
        <p:spPr>
          <a:xfrm>
            <a:off x="3636338" y="4083973"/>
            <a:ext cx="2715414"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state, </a:t>
            </a:r>
            <a:r>
              <a:rPr kumimoji="1" lang="en-US" altLang="zh-TW" sz="1400" dirty="0" err="1">
                <a:solidFill>
                  <a:srgbClr val="C00000"/>
                </a:solidFill>
              </a:rPr>
              <a:t>file_size</a:t>
            </a:r>
            <a:r>
              <a:rPr kumimoji="1" lang="en-US" altLang="zh-TW" sz="1400" dirty="0">
                <a:solidFill>
                  <a:srgbClr val="C00000"/>
                </a:solidFill>
              </a:rPr>
              <a:t>, </a:t>
            </a:r>
            <a:r>
              <a:rPr kumimoji="1" lang="en-US" altLang="zh-TW" sz="1400" dirty="0" err="1">
                <a:solidFill>
                  <a:srgbClr val="C00000"/>
                </a:solidFill>
              </a:rPr>
              <a:t>operstions</a:t>
            </a:r>
            <a:r>
              <a:rPr kumimoji="1" lang="en-US" altLang="zh-TW" sz="1400" dirty="0">
                <a:solidFill>
                  <a:srgbClr val="C00000"/>
                </a:solidFill>
              </a:rPr>
              <a:t> , </a:t>
            </a:r>
            <a:r>
              <a:rPr kumimoji="1" lang="en-US" altLang="zh-TW" sz="1400" dirty="0" err="1">
                <a:solidFill>
                  <a:srgbClr val="C00000"/>
                </a:solidFill>
              </a:rPr>
              <a:t>data_ptr</a:t>
            </a:r>
            <a:endParaRPr kumimoji="1" lang="zh-TW" altLang="en-US" sz="1400" dirty="0">
              <a:solidFill>
                <a:srgbClr val="C00000"/>
              </a:solidFill>
            </a:endParaRPr>
          </a:p>
        </p:txBody>
      </p:sp>
      <p:sp>
        <p:nvSpPr>
          <p:cNvPr id="50" name="矩形 49">
            <a:extLst>
              <a:ext uri="{FF2B5EF4-FFF2-40B4-BE49-F238E27FC236}">
                <a16:creationId xmlns:a16="http://schemas.microsoft.com/office/drawing/2014/main" id="{5DC5EFB9-A7E5-3072-CDCD-21F536BDEDCC}"/>
              </a:ext>
            </a:extLst>
          </p:cNvPr>
          <p:cNvSpPr/>
          <p:nvPr/>
        </p:nvSpPr>
        <p:spPr>
          <a:xfrm>
            <a:off x="3589735" y="4434955"/>
            <a:ext cx="2812249"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Page Cache</a:t>
            </a:r>
            <a:endParaRPr kumimoji="1" lang="zh-TW" altLang="en-US" dirty="0">
              <a:solidFill>
                <a:schemeClr val="tx1"/>
              </a:solidFill>
            </a:endParaRPr>
          </a:p>
        </p:txBody>
      </p:sp>
      <p:grpSp>
        <p:nvGrpSpPr>
          <p:cNvPr id="66" name="群組 65">
            <a:extLst>
              <a:ext uri="{FF2B5EF4-FFF2-40B4-BE49-F238E27FC236}">
                <a16:creationId xmlns:a16="http://schemas.microsoft.com/office/drawing/2014/main" id="{3E495CD6-E522-4127-80A1-F86CFA5E962C}"/>
              </a:ext>
            </a:extLst>
          </p:cNvPr>
          <p:cNvGrpSpPr/>
          <p:nvPr/>
        </p:nvGrpSpPr>
        <p:grpSpPr>
          <a:xfrm>
            <a:off x="-49013" y="4251856"/>
            <a:ext cx="3862796" cy="1569974"/>
            <a:chOff x="-49013" y="4251856"/>
            <a:chExt cx="3862796" cy="1569974"/>
          </a:xfrm>
        </p:grpSpPr>
        <p:cxnSp>
          <p:nvCxnSpPr>
            <p:cNvPr id="52" name="曲線接點 51">
              <a:extLst>
                <a:ext uri="{FF2B5EF4-FFF2-40B4-BE49-F238E27FC236}">
                  <a16:creationId xmlns:a16="http://schemas.microsoft.com/office/drawing/2014/main" id="{7AB93CE2-DCFB-AD46-BA6E-A84DEC3C0DEF}"/>
                </a:ext>
              </a:extLst>
            </p:cNvPr>
            <p:cNvCxnSpPr>
              <a:cxnSpLocks/>
            </p:cNvCxnSpPr>
            <p:nvPr/>
          </p:nvCxnSpPr>
          <p:spPr>
            <a:xfrm rot="16200000" flipH="1">
              <a:off x="2243927" y="4251974"/>
              <a:ext cx="1569974" cy="1569738"/>
            </a:xfrm>
            <a:prstGeom prst="curvedConnector3">
              <a:avLst/>
            </a:prstGeom>
            <a:ln w="317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5" name="文字方塊 54">
              <a:extLst>
                <a:ext uri="{FF2B5EF4-FFF2-40B4-BE49-F238E27FC236}">
                  <a16:creationId xmlns:a16="http://schemas.microsoft.com/office/drawing/2014/main" id="{299DDF26-206C-1926-39B2-079CD6F109CE}"/>
                </a:ext>
              </a:extLst>
            </p:cNvPr>
            <p:cNvSpPr txBox="1"/>
            <p:nvPr/>
          </p:nvSpPr>
          <p:spPr>
            <a:xfrm>
              <a:off x="-49013" y="4422988"/>
              <a:ext cx="2519872" cy="523220"/>
            </a:xfrm>
            <a:prstGeom prst="rect">
              <a:avLst/>
            </a:prstGeom>
            <a:noFill/>
          </p:spPr>
          <p:txBody>
            <a:bodyPr wrap="square" rtlCol="0">
              <a:spAutoFit/>
            </a:bodyPr>
            <a:lstStyle/>
            <a:p>
              <a:r>
                <a:rPr kumimoji="1" lang="en-US" altLang="zh-TW" sz="1400" dirty="0">
                  <a:solidFill>
                    <a:srgbClr val="0070C0"/>
                  </a:solidFill>
                </a:rPr>
                <a:t>Updating storage is not atomic. Failure causes </a:t>
              </a:r>
              <a:r>
                <a:rPr kumimoji="1" lang="en-US" altLang="zh-TW" sz="1400" dirty="0">
                  <a:solidFill>
                    <a:srgbClr val="C00000"/>
                  </a:solidFill>
                </a:rPr>
                <a:t>partial results</a:t>
              </a:r>
              <a:r>
                <a:rPr kumimoji="1" lang="en-US" altLang="zh-TW" sz="1400" dirty="0">
                  <a:solidFill>
                    <a:srgbClr val="0070C0"/>
                  </a:solidFill>
                </a:rPr>
                <a:t>.</a:t>
              </a:r>
              <a:endParaRPr kumimoji="1" lang="zh-TW" altLang="en-US" sz="1400" dirty="0">
                <a:solidFill>
                  <a:srgbClr val="0070C0"/>
                </a:solidFill>
              </a:endParaRPr>
            </a:p>
          </p:txBody>
        </p:sp>
      </p:grpSp>
      <p:cxnSp>
        <p:nvCxnSpPr>
          <p:cNvPr id="57" name="直線箭頭接點 56">
            <a:extLst>
              <a:ext uri="{FF2B5EF4-FFF2-40B4-BE49-F238E27FC236}">
                <a16:creationId xmlns:a16="http://schemas.microsoft.com/office/drawing/2014/main" id="{564B0A36-11C8-0E4D-23D8-9B4854E9C627}"/>
              </a:ext>
            </a:extLst>
          </p:cNvPr>
          <p:cNvCxnSpPr>
            <a:cxnSpLocks/>
          </p:cNvCxnSpPr>
          <p:nvPr/>
        </p:nvCxnSpPr>
        <p:spPr>
          <a:xfrm>
            <a:off x="3297359" y="4194702"/>
            <a:ext cx="338979" cy="0"/>
          </a:xfrm>
          <a:prstGeom prst="straightConnector1">
            <a:avLst/>
          </a:prstGeom>
          <a:ln w="190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9" name="直線箭頭接點 58">
            <a:extLst>
              <a:ext uri="{FF2B5EF4-FFF2-40B4-BE49-F238E27FC236}">
                <a16:creationId xmlns:a16="http://schemas.microsoft.com/office/drawing/2014/main" id="{07FC541F-0287-0633-9852-33E9CC14D427}"/>
              </a:ext>
            </a:extLst>
          </p:cNvPr>
          <p:cNvCxnSpPr>
            <a:cxnSpLocks/>
          </p:cNvCxnSpPr>
          <p:nvPr/>
        </p:nvCxnSpPr>
        <p:spPr>
          <a:xfrm>
            <a:off x="5926510" y="4293071"/>
            <a:ext cx="0" cy="415986"/>
          </a:xfrm>
          <a:prstGeom prst="straightConnector1">
            <a:avLst/>
          </a:prstGeom>
          <a:ln w="190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65" name="群組 64">
            <a:extLst>
              <a:ext uri="{FF2B5EF4-FFF2-40B4-BE49-F238E27FC236}">
                <a16:creationId xmlns:a16="http://schemas.microsoft.com/office/drawing/2014/main" id="{FA8D1056-10F0-2A81-33E4-64EA5A3A37BB}"/>
              </a:ext>
            </a:extLst>
          </p:cNvPr>
          <p:cNvGrpSpPr/>
          <p:nvPr/>
        </p:nvGrpSpPr>
        <p:grpSpPr>
          <a:xfrm>
            <a:off x="3777194" y="4702711"/>
            <a:ext cx="2574558" cy="224365"/>
            <a:chOff x="3777194" y="4702711"/>
            <a:chExt cx="2574558" cy="224365"/>
          </a:xfrm>
        </p:grpSpPr>
        <p:sp>
          <p:nvSpPr>
            <p:cNvPr id="49" name="文字方塊 48">
              <a:extLst>
                <a:ext uri="{FF2B5EF4-FFF2-40B4-BE49-F238E27FC236}">
                  <a16:creationId xmlns:a16="http://schemas.microsoft.com/office/drawing/2014/main" id="{3B4DABBA-974B-1DFF-5228-690F95AC65BF}"/>
                </a:ext>
              </a:extLst>
            </p:cNvPr>
            <p:cNvSpPr txBox="1"/>
            <p:nvPr/>
          </p:nvSpPr>
          <p:spPr>
            <a:xfrm>
              <a:off x="5447475" y="4702711"/>
              <a:ext cx="904277"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File1’s Data</a:t>
              </a:r>
              <a:endParaRPr kumimoji="1" lang="zh-TW" altLang="en-US" sz="1400" dirty="0">
                <a:solidFill>
                  <a:srgbClr val="C00000"/>
                </a:solidFill>
              </a:endParaRPr>
            </a:p>
          </p:txBody>
        </p:sp>
        <p:sp>
          <p:nvSpPr>
            <p:cNvPr id="61" name="文字方塊 60">
              <a:extLst>
                <a:ext uri="{FF2B5EF4-FFF2-40B4-BE49-F238E27FC236}">
                  <a16:creationId xmlns:a16="http://schemas.microsoft.com/office/drawing/2014/main" id="{03A2295D-77FC-9FD2-62F5-AD6002DCCB7B}"/>
                </a:ext>
              </a:extLst>
            </p:cNvPr>
            <p:cNvSpPr txBox="1"/>
            <p:nvPr/>
          </p:nvSpPr>
          <p:spPr>
            <a:xfrm>
              <a:off x="3777194" y="4711632"/>
              <a:ext cx="1245040" cy="215444"/>
            </a:xfrm>
            <a:prstGeom prst="rect">
              <a:avLst/>
            </a:prstGeom>
            <a:noFill/>
            <a:ln w="12700">
              <a:solidFill>
                <a:schemeClr val="tx1"/>
              </a:solidFill>
            </a:ln>
          </p:spPr>
          <p:txBody>
            <a:bodyPr wrap="square" lIns="36000" tIns="0" rIns="36000" bIns="0" rtlCol="0">
              <a:spAutoFit/>
            </a:bodyPr>
            <a:lstStyle/>
            <a:p>
              <a:pPr algn="ctr"/>
              <a:r>
                <a:rPr kumimoji="1" lang="en-US" altLang="zh-TW" sz="1400" dirty="0">
                  <a:solidFill>
                    <a:srgbClr val="C00000"/>
                  </a:solidFill>
                </a:rPr>
                <a:t>Cached Data</a:t>
              </a:r>
              <a:endParaRPr kumimoji="1" lang="zh-TW" altLang="en-US" sz="1400" dirty="0">
                <a:solidFill>
                  <a:srgbClr val="C00000"/>
                </a:solidFill>
              </a:endParaRPr>
            </a:p>
          </p:txBody>
        </p:sp>
      </p:grpSp>
    </p:spTree>
    <p:extLst>
      <p:ext uri="{BB962C8B-B14F-4D97-AF65-F5344CB8AC3E}">
        <p14:creationId xmlns:p14="http://schemas.microsoft.com/office/powerpoint/2010/main" val="317624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fade">
                                      <p:cBhvr>
                                        <p:cTn id="17" dur="500"/>
                                        <p:tgtEl>
                                          <p:spTgt spid="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down)">
                                      <p:cBhvr>
                                        <p:cTn id="22" dur="500"/>
                                        <p:tgtEl>
                                          <p:spTgt spid="43"/>
                                        </p:tgtEl>
                                      </p:cBhvr>
                                    </p:animEffect>
                                  </p:childTnLst>
                                </p:cTn>
                              </p:par>
                              <p:par>
                                <p:cTn id="23" presetID="22" presetClass="entr" presetSubtype="4" fill="hold" grpId="0" nodeType="withEffect">
                                  <p:stCondLst>
                                    <p:cond delay="0"/>
                                  </p:stCondLst>
                                  <p:iterate type="lt">
                                    <p:tmPct val="0"/>
                                  </p:iterate>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wipe(left)">
                                      <p:cBhvr>
                                        <p:cTn id="30" dur="500"/>
                                        <p:tgtEl>
                                          <p:spTgt spid="57"/>
                                        </p:tgtEl>
                                      </p:cBhvr>
                                    </p:animEffect>
                                  </p:childTnLst>
                                </p:cTn>
                              </p:par>
                            </p:childTnLst>
                          </p:cTn>
                        </p:par>
                        <p:par>
                          <p:cTn id="31" fill="hold">
                            <p:stCondLst>
                              <p:cond delay="500"/>
                            </p:stCondLst>
                            <p:childTnLst>
                              <p:par>
                                <p:cTn id="32" presetID="22" presetClass="entr" presetSubtype="4" fill="hold" grpId="0" nodeType="after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down)">
                                      <p:cBhvr>
                                        <p:cTn id="34" dur="500"/>
                                        <p:tgtEl>
                                          <p:spTgt spid="28"/>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down)">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9"/>
                                        </p:tgtEl>
                                        <p:attrNameLst>
                                          <p:attrName>style.visibility</p:attrName>
                                        </p:attrNameLst>
                                      </p:cBhvr>
                                      <p:to>
                                        <p:strVal val="visible"/>
                                      </p:to>
                                    </p:set>
                                    <p:animEffect transition="in" filter="wipe(up)">
                                      <p:cBhvr>
                                        <p:cTn id="42" dur="500"/>
                                        <p:tgtEl>
                                          <p:spTgt spid="59"/>
                                        </p:tgtEl>
                                      </p:cBhvr>
                                    </p:animEffect>
                                  </p:childTnLst>
                                </p:cTn>
                              </p:par>
                            </p:childTnLst>
                          </p:cTn>
                        </p:par>
                        <p:par>
                          <p:cTn id="43" fill="hold">
                            <p:stCondLst>
                              <p:cond delay="500"/>
                            </p:stCondLst>
                            <p:childTnLst>
                              <p:par>
                                <p:cTn id="44" presetID="22" presetClass="entr" presetSubtype="4" fill="hold" grpId="0" nodeType="after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wipe(down)">
                                      <p:cBhvr>
                                        <p:cTn id="46" dur="500"/>
                                        <p:tgtEl>
                                          <p:spTgt spid="50"/>
                                        </p:tgtEl>
                                      </p:cBhvr>
                                    </p:animEffect>
                                  </p:childTnLst>
                                </p:cTn>
                              </p:par>
                              <p:par>
                                <p:cTn id="47" presetID="22" presetClass="entr" presetSubtype="4" fill="hold" nodeType="withEffect">
                                  <p:stCondLst>
                                    <p:cond delay="0"/>
                                  </p:stCondLst>
                                  <p:childTnLst>
                                    <p:set>
                                      <p:cBhvr>
                                        <p:cTn id="48" dur="1" fill="hold">
                                          <p:stCondLst>
                                            <p:cond delay="0"/>
                                          </p:stCondLst>
                                        </p:cTn>
                                        <p:tgtEl>
                                          <p:spTgt spid="65"/>
                                        </p:tgtEl>
                                        <p:attrNameLst>
                                          <p:attrName>style.visibility</p:attrName>
                                        </p:attrNameLst>
                                      </p:cBhvr>
                                      <p:to>
                                        <p:strVal val="visible"/>
                                      </p:to>
                                    </p:set>
                                    <p:animEffect transition="in" filter="wipe(down)">
                                      <p:cBhvr>
                                        <p:cTn id="49" dur="500"/>
                                        <p:tgtEl>
                                          <p:spTgt spid="65"/>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mph" presetSubtype="0" grpId="1" nodeType="clickEffect">
                                  <p:stCondLst>
                                    <p:cond delay="0"/>
                                  </p:stCondLst>
                                  <p:childTnLst>
                                    <p:set>
                                      <p:cBhvr>
                                        <p:cTn id="53" dur="indefinite"/>
                                        <p:tgtEl>
                                          <p:spTgt spid="28"/>
                                        </p:tgtEl>
                                        <p:attrNameLst>
                                          <p:attrName>style.opacity</p:attrName>
                                        </p:attrNameLst>
                                      </p:cBhvr>
                                      <p:to>
                                        <p:strVal val="0.25"/>
                                      </p:to>
                                    </p:set>
                                    <p:animEffect filter="image" prLst="opacity: 0.25">
                                      <p:cBhvr rctx="IE">
                                        <p:cTn id="54" dur="indefinite"/>
                                        <p:tgtEl>
                                          <p:spTgt spid="28"/>
                                        </p:tgtEl>
                                      </p:cBhvr>
                                    </p:animEffect>
                                  </p:childTnLst>
                                </p:cTn>
                              </p:par>
                              <p:par>
                                <p:cTn id="55" presetID="9" presetClass="emph" presetSubtype="0" grpId="1" nodeType="withEffect">
                                  <p:stCondLst>
                                    <p:cond delay="0"/>
                                  </p:stCondLst>
                                  <p:childTnLst>
                                    <p:set>
                                      <p:cBhvr>
                                        <p:cTn id="56" dur="indefinite"/>
                                        <p:tgtEl>
                                          <p:spTgt spid="32"/>
                                        </p:tgtEl>
                                        <p:attrNameLst>
                                          <p:attrName>style.opacity</p:attrName>
                                        </p:attrNameLst>
                                      </p:cBhvr>
                                      <p:to>
                                        <p:strVal val="0.25"/>
                                      </p:to>
                                    </p:set>
                                    <p:animEffect filter="image" prLst="opacity: 0.25">
                                      <p:cBhvr rctx="IE">
                                        <p:cTn id="57" dur="indefinite"/>
                                        <p:tgtEl>
                                          <p:spTgt spid="32"/>
                                        </p:tgtEl>
                                      </p:cBhvr>
                                    </p:animEffect>
                                  </p:childTnLst>
                                </p:cTn>
                              </p:par>
                              <p:par>
                                <p:cTn id="58" presetID="9" presetClass="emph" presetSubtype="0" grpId="1" nodeType="withEffect">
                                  <p:stCondLst>
                                    <p:cond delay="0"/>
                                  </p:stCondLst>
                                  <p:childTnLst>
                                    <p:set>
                                      <p:cBhvr>
                                        <p:cTn id="59" dur="indefinite"/>
                                        <p:tgtEl>
                                          <p:spTgt spid="50"/>
                                        </p:tgtEl>
                                        <p:attrNameLst>
                                          <p:attrName>style.opacity</p:attrName>
                                        </p:attrNameLst>
                                      </p:cBhvr>
                                      <p:to>
                                        <p:strVal val="0.25"/>
                                      </p:to>
                                    </p:set>
                                    <p:animEffect filter="image" prLst="opacity: 0.25">
                                      <p:cBhvr rctx="IE">
                                        <p:cTn id="60" dur="indefinite"/>
                                        <p:tgtEl>
                                          <p:spTgt spid="50"/>
                                        </p:tgtEl>
                                      </p:cBhvr>
                                    </p:animEffect>
                                  </p:childTnLst>
                                </p:cTn>
                              </p:par>
                              <p:par>
                                <p:cTn id="61" presetID="9" presetClass="emph" presetSubtype="0" nodeType="withEffect">
                                  <p:stCondLst>
                                    <p:cond delay="0"/>
                                  </p:stCondLst>
                                  <p:childTnLst>
                                    <p:set>
                                      <p:cBhvr>
                                        <p:cTn id="62" dur="indefinite"/>
                                        <p:tgtEl>
                                          <p:spTgt spid="57"/>
                                        </p:tgtEl>
                                        <p:attrNameLst>
                                          <p:attrName>style.opacity</p:attrName>
                                        </p:attrNameLst>
                                      </p:cBhvr>
                                      <p:to>
                                        <p:strVal val="0.25"/>
                                      </p:to>
                                    </p:set>
                                    <p:animEffect filter="image" prLst="opacity: 0.25">
                                      <p:cBhvr rctx="IE">
                                        <p:cTn id="63" dur="indefinite"/>
                                        <p:tgtEl>
                                          <p:spTgt spid="57"/>
                                        </p:tgtEl>
                                      </p:cBhvr>
                                    </p:animEffect>
                                  </p:childTnLst>
                                </p:cTn>
                              </p:par>
                              <p:par>
                                <p:cTn id="64" presetID="9" presetClass="emph" presetSubtype="0" nodeType="withEffect">
                                  <p:stCondLst>
                                    <p:cond delay="0"/>
                                  </p:stCondLst>
                                  <p:childTnLst>
                                    <p:set>
                                      <p:cBhvr>
                                        <p:cTn id="65" dur="indefinite"/>
                                        <p:tgtEl>
                                          <p:spTgt spid="59"/>
                                        </p:tgtEl>
                                        <p:attrNameLst>
                                          <p:attrName>style.opacity</p:attrName>
                                        </p:attrNameLst>
                                      </p:cBhvr>
                                      <p:to>
                                        <p:strVal val="0.25"/>
                                      </p:to>
                                    </p:set>
                                    <p:animEffect filter="image" prLst="opacity: 0.25">
                                      <p:cBhvr rctx="IE">
                                        <p:cTn id="66" dur="indefinite"/>
                                        <p:tgtEl>
                                          <p:spTgt spid="59"/>
                                        </p:tgtEl>
                                      </p:cBhvr>
                                    </p:animEffect>
                                  </p:childTnLst>
                                </p:cTn>
                              </p:par>
                              <p:par>
                                <p:cTn id="67" presetID="9" presetClass="emph" presetSubtype="0" nodeType="withEffect">
                                  <p:stCondLst>
                                    <p:cond delay="0"/>
                                  </p:stCondLst>
                                  <p:childTnLst>
                                    <p:set>
                                      <p:cBhvr>
                                        <p:cTn id="68" dur="indefinite"/>
                                        <p:tgtEl>
                                          <p:spTgt spid="65"/>
                                        </p:tgtEl>
                                        <p:attrNameLst>
                                          <p:attrName>style.opacity</p:attrName>
                                        </p:attrNameLst>
                                      </p:cBhvr>
                                      <p:to>
                                        <p:strVal val="0.25"/>
                                      </p:to>
                                    </p:set>
                                    <p:animEffect filter="image" prLst="opacity: 0.25">
                                      <p:cBhvr rctx="IE">
                                        <p:cTn id="69" dur="indefinite"/>
                                        <p:tgtEl>
                                          <p:spTgt spid="65"/>
                                        </p:tgtEl>
                                      </p:cBhvr>
                                    </p:animEffect>
                                  </p:childTnLst>
                                </p:cTn>
                              </p:par>
                            </p:childTnLst>
                          </p:cTn>
                        </p:par>
                        <p:par>
                          <p:cTn id="70" fill="hold">
                            <p:stCondLst>
                              <p:cond delay="0"/>
                            </p:stCondLst>
                            <p:childTnLst>
                              <p:par>
                                <p:cTn id="71" presetID="15" presetClass="emph" presetSubtype="0" grpId="1" nodeType="afterEffect">
                                  <p:stCondLst>
                                    <p:cond delay="0"/>
                                  </p:stCondLst>
                                  <p:endCondLst>
                                    <p:cond evt="onNext" delay="0">
                                      <p:tgtEl>
                                        <p:sldTgt/>
                                      </p:tgtEl>
                                    </p:cond>
                                  </p:endCondLst>
                                  <p:iterate type="lt">
                                    <p:tmAbs val="25"/>
                                  </p:iterate>
                                  <p:childTnLst>
                                    <p:set>
                                      <p:cBhvr override="childStyle">
                                        <p:cTn id="72" dur="indefinite"/>
                                        <p:tgtEl>
                                          <p:spTgt spid="18"/>
                                        </p:tgtEl>
                                        <p:attrNameLst>
                                          <p:attrName>style.fontWeight</p:attrName>
                                        </p:attrNameLst>
                                      </p:cBhvr>
                                      <p:to>
                                        <p:strVal val="bold"/>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66"/>
                                        </p:tgtEl>
                                        <p:attrNameLst>
                                          <p:attrName>style.visibility</p:attrName>
                                        </p:attrNameLst>
                                      </p:cBhvr>
                                      <p:to>
                                        <p:strVal val="visible"/>
                                      </p:to>
                                    </p:set>
                                    <p:animEffect transition="in" filter="wipe(up)">
                                      <p:cBhvr>
                                        <p:cTn id="7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18" grpId="0" animBg="1"/>
      <p:bldP spid="18" grpId="1" animBg="1"/>
      <p:bldP spid="28" grpId="0" animBg="1"/>
      <p:bldP spid="28" grpId="1" animBg="1"/>
      <p:bldP spid="32" grpId="0" animBg="1"/>
      <p:bldP spid="32" grpId="1" animBg="1"/>
      <p:bldP spid="50" grpId="0" animBg="1"/>
      <p:bldP spid="50"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DDCE1-5CC4-8404-7E4E-9BCB6948A3A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670B0CB-8B58-25E4-5D4D-8954AC26C68A}"/>
              </a:ext>
            </a:extLst>
          </p:cNvPr>
          <p:cNvSpPr>
            <a:spLocks noGrp="1"/>
          </p:cNvSpPr>
          <p:nvPr>
            <p:ph type="title"/>
          </p:nvPr>
        </p:nvSpPr>
        <p:spPr/>
        <p:txBody>
          <a:bodyPr/>
          <a:lstStyle/>
          <a:p>
            <a:r>
              <a:rPr kumimoji="1" lang="en-US" altLang="zh-TW" dirty="0"/>
              <a:t>More about Rename (Count.)</a:t>
            </a:r>
            <a:endParaRPr kumimoji="1" lang="zh-TW" altLang="en-US" dirty="0"/>
          </a:p>
        </p:txBody>
      </p:sp>
      <p:sp>
        <p:nvSpPr>
          <p:cNvPr id="3" name="內容版面配置區 2">
            <a:extLst>
              <a:ext uri="{FF2B5EF4-FFF2-40B4-BE49-F238E27FC236}">
                <a16:creationId xmlns:a16="http://schemas.microsoft.com/office/drawing/2014/main" id="{3840D4A8-976E-20DA-60FA-04D04E878C51}"/>
              </a:ext>
            </a:extLst>
          </p:cNvPr>
          <p:cNvSpPr>
            <a:spLocks noGrp="1"/>
          </p:cNvSpPr>
          <p:nvPr>
            <p:ph idx="1"/>
          </p:nvPr>
        </p:nvSpPr>
        <p:spPr/>
        <p:txBody>
          <a:bodyPr/>
          <a:lstStyle/>
          <a:p>
            <a:pPr algn="l"/>
            <a:r>
              <a:rPr kumimoji="1" lang="en-US" altLang="zh-TW" dirty="0"/>
              <a:t>By Linux: </a:t>
            </a:r>
            <a:r>
              <a:rPr kumimoji="1" lang="en-US" altLang="zh-TW" dirty="0">
                <a:solidFill>
                  <a:srgbClr val="C00000"/>
                </a:solidFill>
              </a:rPr>
              <a:t>Replace the old </a:t>
            </a:r>
            <a:r>
              <a:rPr kumimoji="1" lang="en-US" altLang="zh-TW" dirty="0" err="1">
                <a:solidFill>
                  <a:srgbClr val="C00000"/>
                </a:solidFill>
              </a:rPr>
              <a:t>dentry</a:t>
            </a:r>
            <a:r>
              <a:rPr kumimoji="1" lang="en-US" altLang="zh-TW" dirty="0">
                <a:solidFill>
                  <a:srgbClr val="C00000"/>
                </a:solidFill>
              </a:rPr>
              <a:t> </a:t>
            </a:r>
            <a:r>
              <a:rPr kumimoji="1" lang="en-US" altLang="zh-TW" dirty="0"/>
              <a:t>with a new one having a new name.</a:t>
            </a:r>
          </a:p>
          <a:p>
            <a:pPr algn="l"/>
            <a:r>
              <a:rPr kumimoji="1" lang="en-US" altLang="zh-TW" dirty="0"/>
              <a:t>Issue: </a:t>
            </a:r>
            <a:r>
              <a:rPr kumimoji="1" lang="en-US" altLang="zh-TW" dirty="0">
                <a:solidFill>
                  <a:srgbClr val="C00000"/>
                </a:solidFill>
              </a:rPr>
              <a:t>Why not directly modify </a:t>
            </a:r>
            <a:r>
              <a:rPr kumimoji="1" lang="en-US" altLang="zh-TW" dirty="0"/>
              <a:t>the name in the </a:t>
            </a:r>
            <a:r>
              <a:rPr kumimoji="1" lang="en-US" altLang="zh-TW" dirty="0" err="1"/>
              <a:t>dentry</a:t>
            </a:r>
            <a:r>
              <a:rPr kumimoji="1" lang="en-US" altLang="zh-TW" dirty="0"/>
              <a:t>?</a:t>
            </a:r>
          </a:p>
          <a:p>
            <a:pPr algn="l"/>
            <a:r>
              <a:rPr lang="en-US" altLang="zh-TW" dirty="0"/>
              <a:t>Reason 1: Face </a:t>
            </a:r>
            <a:r>
              <a:rPr lang="en-US" altLang="zh-TW" dirty="0">
                <a:solidFill>
                  <a:srgbClr val="C00000"/>
                </a:solidFill>
              </a:rPr>
              <a:t>consistency issue </a:t>
            </a:r>
            <a:r>
              <a:rPr lang="en-US" altLang="zh-TW" dirty="0"/>
              <a:t>as updating the name directly is not atomic.</a:t>
            </a:r>
          </a:p>
          <a:p>
            <a:pPr algn="l"/>
            <a:r>
              <a:rPr lang="en-US" altLang="zh-TW" dirty="0"/>
              <a:t>Reason 2: If the </a:t>
            </a:r>
            <a:r>
              <a:rPr lang="en-US" altLang="zh-TW" dirty="0">
                <a:solidFill>
                  <a:srgbClr val="C00000"/>
                </a:solidFill>
              </a:rPr>
              <a:t>new name is longer</a:t>
            </a:r>
            <a:r>
              <a:rPr lang="en-US" altLang="zh-TW" dirty="0"/>
              <a:t>, and there is no space in the block.</a:t>
            </a:r>
            <a:endParaRPr lang="zh-TW" altLang="en-US" dirty="0"/>
          </a:p>
          <a:p>
            <a:pPr algn="l"/>
            <a:endParaRPr lang="en-US" altLang="zh-TW" dirty="0"/>
          </a:p>
        </p:txBody>
      </p:sp>
      <p:sp>
        <p:nvSpPr>
          <p:cNvPr id="4" name="投影片編號版面配置區 3">
            <a:extLst>
              <a:ext uri="{FF2B5EF4-FFF2-40B4-BE49-F238E27FC236}">
                <a16:creationId xmlns:a16="http://schemas.microsoft.com/office/drawing/2014/main" id="{274C4044-8367-EE00-4A99-A219E6FA75D2}"/>
              </a:ext>
            </a:extLst>
          </p:cNvPr>
          <p:cNvSpPr>
            <a:spLocks noGrp="1"/>
          </p:cNvSpPr>
          <p:nvPr>
            <p:ph type="sldNum" sz="quarter" idx="4"/>
          </p:nvPr>
        </p:nvSpPr>
        <p:spPr/>
        <p:txBody>
          <a:bodyPr/>
          <a:lstStyle/>
          <a:p>
            <a:fld id="{E24E6636-6BA5-4AAC-8485-BE8D914D288B}" type="slidenum">
              <a:rPr lang="zh-TW" altLang="en-US" smtClean="0"/>
              <a:pPr/>
              <a:t>21</a:t>
            </a:fld>
            <a:endParaRPr lang="zh-TW" altLang="en-US" dirty="0"/>
          </a:p>
        </p:txBody>
      </p:sp>
      <p:sp>
        <p:nvSpPr>
          <p:cNvPr id="14" name="矩形 13">
            <a:extLst>
              <a:ext uri="{FF2B5EF4-FFF2-40B4-BE49-F238E27FC236}">
                <a16:creationId xmlns:a16="http://schemas.microsoft.com/office/drawing/2014/main" id="{CF441053-9129-9FA1-84BC-57CA15872630}"/>
              </a:ext>
            </a:extLst>
          </p:cNvPr>
          <p:cNvSpPr/>
          <p:nvPr/>
        </p:nvSpPr>
        <p:spPr>
          <a:xfrm>
            <a:off x="1257621" y="5235044"/>
            <a:ext cx="1171067"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
        <p:nvSpPr>
          <p:cNvPr id="16" name="矩形 15">
            <a:extLst>
              <a:ext uri="{FF2B5EF4-FFF2-40B4-BE49-F238E27FC236}">
                <a16:creationId xmlns:a16="http://schemas.microsoft.com/office/drawing/2014/main" id="{EF39B1B6-3215-D596-F6A5-C294A4AEC093}"/>
              </a:ext>
            </a:extLst>
          </p:cNvPr>
          <p:cNvSpPr/>
          <p:nvPr/>
        </p:nvSpPr>
        <p:spPr>
          <a:xfrm>
            <a:off x="4917870" y="5241161"/>
            <a:ext cx="1484114"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File1’s Content in Data Block</a:t>
            </a:r>
            <a:endParaRPr kumimoji="1" lang="zh-TW" altLang="en-US" dirty="0">
              <a:solidFill>
                <a:schemeClr val="tx1"/>
              </a:solidFill>
            </a:endParaRPr>
          </a:p>
        </p:txBody>
      </p:sp>
      <p:sp>
        <p:nvSpPr>
          <p:cNvPr id="17" name="矩形 16">
            <a:extLst>
              <a:ext uri="{FF2B5EF4-FFF2-40B4-BE49-F238E27FC236}">
                <a16:creationId xmlns:a16="http://schemas.microsoft.com/office/drawing/2014/main" id="{D125722C-7735-CBE2-DE5E-6FF8570A9BCD}"/>
              </a:ext>
            </a:extLst>
          </p:cNvPr>
          <p:cNvSpPr/>
          <p:nvPr/>
        </p:nvSpPr>
        <p:spPr>
          <a:xfrm>
            <a:off x="2436679" y="5231488"/>
            <a:ext cx="249025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subdir0</a:t>
            </a:r>
            <a:endParaRPr kumimoji="1" lang="zh-TW" altLang="en-US" dirty="0">
              <a:solidFill>
                <a:schemeClr val="tx1"/>
              </a:solidFill>
            </a:endParaRPr>
          </a:p>
        </p:txBody>
      </p:sp>
      <p:grpSp>
        <p:nvGrpSpPr>
          <p:cNvPr id="20" name="群組 19">
            <a:extLst>
              <a:ext uri="{FF2B5EF4-FFF2-40B4-BE49-F238E27FC236}">
                <a16:creationId xmlns:a16="http://schemas.microsoft.com/office/drawing/2014/main" id="{A80031A1-85AC-E548-6629-BD8DD9DB6FA5}"/>
              </a:ext>
            </a:extLst>
          </p:cNvPr>
          <p:cNvGrpSpPr/>
          <p:nvPr/>
        </p:nvGrpSpPr>
        <p:grpSpPr>
          <a:xfrm>
            <a:off x="1366950" y="5235043"/>
            <a:ext cx="914232" cy="1136002"/>
            <a:chOff x="3092963" y="4920019"/>
            <a:chExt cx="914232" cy="1136002"/>
          </a:xfrm>
        </p:grpSpPr>
        <p:cxnSp>
          <p:nvCxnSpPr>
            <p:cNvPr id="21" name="直線接點 20">
              <a:extLst>
                <a:ext uri="{FF2B5EF4-FFF2-40B4-BE49-F238E27FC236}">
                  <a16:creationId xmlns:a16="http://schemas.microsoft.com/office/drawing/2014/main" id="{18586F18-612D-DE42-57DD-77193DE489A3}"/>
                </a:ext>
              </a:extLst>
            </p:cNvPr>
            <p:cNvCxnSpPr>
              <a:cxnSpLocks/>
            </p:cNvCxnSpPr>
            <p:nvPr/>
          </p:nvCxnSpPr>
          <p:spPr>
            <a:xfrm>
              <a:off x="3092963"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FCFAE7CD-60C4-02C7-B8F1-590038ACC339}"/>
                </a:ext>
              </a:extLst>
            </p:cNvPr>
            <p:cNvCxnSpPr>
              <a:cxnSpLocks/>
            </p:cNvCxnSpPr>
            <p:nvPr/>
          </p:nvCxnSpPr>
          <p:spPr>
            <a:xfrm>
              <a:off x="3207242"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3F3E8D59-6C51-70C2-58CB-9AD9F85AE6AB}"/>
                </a:ext>
              </a:extLst>
            </p:cNvPr>
            <p:cNvCxnSpPr>
              <a:cxnSpLocks/>
            </p:cNvCxnSpPr>
            <p:nvPr/>
          </p:nvCxnSpPr>
          <p:spPr>
            <a:xfrm>
              <a:off x="3321521"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3CA20B5F-7997-83FF-ABCC-D13DCF19CC4E}"/>
                </a:ext>
              </a:extLst>
            </p:cNvPr>
            <p:cNvCxnSpPr>
              <a:cxnSpLocks/>
            </p:cNvCxnSpPr>
            <p:nvPr/>
          </p:nvCxnSpPr>
          <p:spPr>
            <a:xfrm>
              <a:off x="3550079"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A3C82700-C191-4BEA-E9A0-78FB1248B863}"/>
                </a:ext>
              </a:extLst>
            </p:cNvPr>
            <p:cNvCxnSpPr>
              <a:cxnSpLocks/>
            </p:cNvCxnSpPr>
            <p:nvPr/>
          </p:nvCxnSpPr>
          <p:spPr>
            <a:xfrm>
              <a:off x="3778637"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92CFA913-A7C7-1D36-8A9C-72CF64D649DC}"/>
                </a:ext>
              </a:extLst>
            </p:cNvPr>
            <p:cNvCxnSpPr>
              <a:cxnSpLocks/>
            </p:cNvCxnSpPr>
            <p:nvPr/>
          </p:nvCxnSpPr>
          <p:spPr>
            <a:xfrm>
              <a:off x="4007195"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E6587E6-0770-05DD-28D1-8A1A92556496}"/>
                </a:ext>
              </a:extLst>
            </p:cNvPr>
            <p:cNvCxnSpPr>
              <a:cxnSpLocks/>
            </p:cNvCxnSpPr>
            <p:nvPr/>
          </p:nvCxnSpPr>
          <p:spPr>
            <a:xfrm>
              <a:off x="3435800"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7F21523-2D03-CA83-FB2E-7BCFFAB9C5D7}"/>
                </a:ext>
              </a:extLst>
            </p:cNvPr>
            <p:cNvCxnSpPr>
              <a:cxnSpLocks/>
            </p:cNvCxnSpPr>
            <p:nvPr/>
          </p:nvCxnSpPr>
          <p:spPr>
            <a:xfrm>
              <a:off x="3664358"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446D5284-BA6E-9D5E-7E7B-414AA7E7735C}"/>
                </a:ext>
              </a:extLst>
            </p:cNvPr>
            <p:cNvCxnSpPr>
              <a:cxnSpLocks/>
            </p:cNvCxnSpPr>
            <p:nvPr/>
          </p:nvCxnSpPr>
          <p:spPr>
            <a:xfrm>
              <a:off x="3892916"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4BDEE602-85C7-B111-BF91-4E388CA037E8}"/>
              </a:ext>
            </a:extLst>
          </p:cNvPr>
          <p:cNvSpPr/>
          <p:nvPr/>
        </p:nvSpPr>
        <p:spPr>
          <a:xfrm>
            <a:off x="2436678" y="5242744"/>
            <a:ext cx="2490245" cy="1136002"/>
          </a:xfrm>
          <a:prstGeom prst="rect">
            <a:avLst/>
          </a:prstGeom>
          <a:solidFill>
            <a:schemeClr val="bg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dirty="0">
                <a:solidFill>
                  <a:schemeClr val="tx1"/>
                </a:solidFill>
              </a:rPr>
              <a:t>Directory Block</a:t>
            </a:r>
            <a:endParaRPr kumimoji="1" lang="zh-TW" altLang="en-US" dirty="0">
              <a:solidFill>
                <a:schemeClr val="tx1"/>
              </a:solidFill>
            </a:endParaRPr>
          </a:p>
        </p:txBody>
      </p:sp>
      <p:sp>
        <p:nvSpPr>
          <p:cNvPr id="38" name="矩形 37">
            <a:extLst>
              <a:ext uri="{FF2B5EF4-FFF2-40B4-BE49-F238E27FC236}">
                <a16:creationId xmlns:a16="http://schemas.microsoft.com/office/drawing/2014/main" id="{BD3E637A-1139-E76D-809E-BA824E9265BD}"/>
              </a:ext>
            </a:extLst>
          </p:cNvPr>
          <p:cNvSpPr/>
          <p:nvPr/>
        </p:nvSpPr>
        <p:spPr>
          <a:xfrm>
            <a:off x="2546008" y="5540961"/>
            <a:ext cx="2292997" cy="792797"/>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Directory Entries</a:t>
            </a:r>
            <a:endParaRPr kumimoji="1" lang="zh-TW" altLang="en-US" dirty="0">
              <a:solidFill>
                <a:schemeClr val="tx1"/>
              </a:solidFill>
            </a:endParaRPr>
          </a:p>
        </p:txBody>
      </p:sp>
      <p:grpSp>
        <p:nvGrpSpPr>
          <p:cNvPr id="39" name="群組 38">
            <a:extLst>
              <a:ext uri="{FF2B5EF4-FFF2-40B4-BE49-F238E27FC236}">
                <a16:creationId xmlns:a16="http://schemas.microsoft.com/office/drawing/2014/main" id="{E705B046-0A6C-3592-BB4A-934FA843FC81}"/>
              </a:ext>
            </a:extLst>
          </p:cNvPr>
          <p:cNvGrpSpPr/>
          <p:nvPr/>
        </p:nvGrpSpPr>
        <p:grpSpPr>
          <a:xfrm>
            <a:off x="2731353" y="5821830"/>
            <a:ext cx="1772143" cy="430888"/>
            <a:chOff x="8275539" y="5510362"/>
            <a:chExt cx="1772143" cy="430888"/>
          </a:xfrm>
        </p:grpSpPr>
        <p:sp>
          <p:nvSpPr>
            <p:cNvPr id="40" name="文字方塊 39">
              <a:extLst>
                <a:ext uri="{FF2B5EF4-FFF2-40B4-BE49-F238E27FC236}">
                  <a16:creationId xmlns:a16="http://schemas.microsoft.com/office/drawing/2014/main" id="{3198A85B-C715-8D4C-2370-2CEDE8B385EF}"/>
                </a:ext>
              </a:extLst>
            </p:cNvPr>
            <p:cNvSpPr txBox="1"/>
            <p:nvPr/>
          </p:nvSpPr>
          <p:spPr>
            <a:xfrm>
              <a:off x="8275539" y="5510362"/>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Inode4, file1’s filename</a:t>
              </a:r>
              <a:endParaRPr kumimoji="1" lang="zh-TW" altLang="en-US" sz="1400" dirty="0">
                <a:solidFill>
                  <a:srgbClr val="C00000"/>
                </a:solidFill>
              </a:endParaRPr>
            </a:p>
          </p:txBody>
        </p:sp>
        <p:sp>
          <p:nvSpPr>
            <p:cNvPr id="41" name="文字方塊 40">
              <a:extLst>
                <a:ext uri="{FF2B5EF4-FFF2-40B4-BE49-F238E27FC236}">
                  <a16:creationId xmlns:a16="http://schemas.microsoft.com/office/drawing/2014/main" id="{34D7780F-3FDD-9AC7-F6AD-BFDD2DB37509}"/>
                </a:ext>
              </a:extLst>
            </p:cNvPr>
            <p:cNvSpPr txBox="1"/>
            <p:nvPr/>
          </p:nvSpPr>
          <p:spPr>
            <a:xfrm>
              <a:off x="8275539" y="5725806"/>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Inode5, file2’s filename</a:t>
              </a:r>
              <a:endParaRPr kumimoji="1" lang="zh-TW" altLang="en-US" sz="1400" dirty="0">
                <a:solidFill>
                  <a:srgbClr val="C00000"/>
                </a:solidFill>
              </a:endParaRPr>
            </a:p>
          </p:txBody>
        </p:sp>
      </p:grpSp>
      <p:sp>
        <p:nvSpPr>
          <p:cNvPr id="43" name="矩形 42">
            <a:extLst>
              <a:ext uri="{FF2B5EF4-FFF2-40B4-BE49-F238E27FC236}">
                <a16:creationId xmlns:a16="http://schemas.microsoft.com/office/drawing/2014/main" id="{6B6D2C30-500F-AEB2-6FFB-6AA354D10C6F}"/>
              </a:ext>
            </a:extLst>
          </p:cNvPr>
          <p:cNvSpPr/>
          <p:nvPr/>
        </p:nvSpPr>
        <p:spPr>
          <a:xfrm>
            <a:off x="1272402" y="3631080"/>
            <a:ext cx="2101045"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err="1">
                <a:solidFill>
                  <a:schemeClr val="tx1"/>
                </a:solidFill>
              </a:rPr>
              <a:t>Dentry</a:t>
            </a:r>
            <a:endParaRPr kumimoji="1" lang="zh-TW" altLang="en-US" dirty="0">
              <a:solidFill>
                <a:schemeClr val="tx1"/>
              </a:solidFill>
            </a:endParaRPr>
          </a:p>
        </p:txBody>
      </p:sp>
      <p:sp>
        <p:nvSpPr>
          <p:cNvPr id="19" name="文字方塊 18">
            <a:extLst>
              <a:ext uri="{FF2B5EF4-FFF2-40B4-BE49-F238E27FC236}">
                <a16:creationId xmlns:a16="http://schemas.microsoft.com/office/drawing/2014/main" id="{524C8183-4E7F-00B2-F3CF-98F36655D39B}"/>
              </a:ext>
            </a:extLst>
          </p:cNvPr>
          <p:cNvSpPr txBox="1"/>
          <p:nvPr/>
        </p:nvSpPr>
        <p:spPr>
          <a:xfrm>
            <a:off x="1310293" y="5653970"/>
            <a:ext cx="1086451" cy="369332"/>
          </a:xfrm>
          <a:prstGeom prst="rect">
            <a:avLst/>
          </a:prstGeom>
          <a:solidFill>
            <a:schemeClr val="bg1"/>
          </a:solidFill>
        </p:spPr>
        <p:txBody>
          <a:bodyPr wrap="none" lIns="0" rIns="0" rtlCol="0">
            <a:spAutoFit/>
          </a:bodyPr>
          <a:lstStyle/>
          <a:p>
            <a:r>
              <a:rPr kumimoji="1" lang="en-US" altLang="zh-TW" dirty="0" err="1"/>
              <a:t>Inode</a:t>
            </a:r>
            <a:r>
              <a:rPr kumimoji="1" lang="en-US" altLang="zh-TW" dirty="0"/>
              <a:t> Table</a:t>
            </a:r>
            <a:endParaRPr kumimoji="1" lang="zh-TW" altLang="en-US" dirty="0"/>
          </a:p>
        </p:txBody>
      </p:sp>
      <p:sp>
        <p:nvSpPr>
          <p:cNvPr id="7" name="文字方塊 6">
            <a:extLst>
              <a:ext uri="{FF2B5EF4-FFF2-40B4-BE49-F238E27FC236}">
                <a16:creationId xmlns:a16="http://schemas.microsoft.com/office/drawing/2014/main" id="{0546DF60-6AF1-BF9F-C201-B80D5336FAD9}"/>
              </a:ext>
            </a:extLst>
          </p:cNvPr>
          <p:cNvSpPr txBox="1"/>
          <p:nvPr/>
        </p:nvSpPr>
        <p:spPr>
          <a:xfrm>
            <a:off x="190683" y="5422731"/>
            <a:ext cx="960904" cy="646331"/>
          </a:xfrm>
          <a:prstGeom prst="rect">
            <a:avLst/>
          </a:prstGeom>
          <a:noFill/>
        </p:spPr>
        <p:txBody>
          <a:bodyPr wrap="none" rtlCol="0">
            <a:spAutoFit/>
          </a:bodyPr>
          <a:lstStyle/>
          <a:p>
            <a:r>
              <a:rPr kumimoji="1" lang="en-US" altLang="zh-TW" i="1" dirty="0">
                <a:solidFill>
                  <a:srgbClr val="C00000"/>
                </a:solidFill>
              </a:rPr>
              <a:t>Storage </a:t>
            </a:r>
          </a:p>
          <a:p>
            <a:r>
              <a:rPr kumimoji="1" lang="en-US" altLang="zh-TW" i="1" dirty="0">
                <a:solidFill>
                  <a:srgbClr val="C00000"/>
                </a:solidFill>
              </a:rPr>
              <a:t>Devices</a:t>
            </a:r>
            <a:endParaRPr kumimoji="1" lang="zh-TW" altLang="en-US" i="1" dirty="0">
              <a:solidFill>
                <a:srgbClr val="C00000"/>
              </a:solidFill>
            </a:endParaRPr>
          </a:p>
        </p:txBody>
      </p:sp>
      <p:sp>
        <p:nvSpPr>
          <p:cNvPr id="15" name="文字方塊 14">
            <a:extLst>
              <a:ext uri="{FF2B5EF4-FFF2-40B4-BE49-F238E27FC236}">
                <a16:creationId xmlns:a16="http://schemas.microsoft.com/office/drawing/2014/main" id="{FDA696B8-155C-A799-3A67-C2A3242DA44E}"/>
              </a:ext>
            </a:extLst>
          </p:cNvPr>
          <p:cNvSpPr txBox="1"/>
          <p:nvPr/>
        </p:nvSpPr>
        <p:spPr>
          <a:xfrm>
            <a:off x="142493" y="3632408"/>
            <a:ext cx="988925" cy="369332"/>
          </a:xfrm>
          <a:prstGeom prst="rect">
            <a:avLst/>
          </a:prstGeom>
          <a:noFill/>
        </p:spPr>
        <p:txBody>
          <a:bodyPr wrap="none" rtlCol="0">
            <a:spAutoFit/>
          </a:bodyPr>
          <a:lstStyle/>
          <a:p>
            <a:r>
              <a:rPr kumimoji="1" lang="en-US" altLang="zh-TW" i="1" dirty="0">
                <a:solidFill>
                  <a:srgbClr val="C00000"/>
                </a:solidFill>
              </a:rPr>
              <a:t>Memory</a:t>
            </a:r>
            <a:endParaRPr kumimoji="1" lang="zh-TW" altLang="en-US" i="1" dirty="0">
              <a:solidFill>
                <a:srgbClr val="C00000"/>
              </a:solidFill>
            </a:endParaRPr>
          </a:p>
        </p:txBody>
      </p:sp>
      <p:sp>
        <p:nvSpPr>
          <p:cNvPr id="18" name="文字方塊 17">
            <a:extLst>
              <a:ext uri="{FF2B5EF4-FFF2-40B4-BE49-F238E27FC236}">
                <a16:creationId xmlns:a16="http://schemas.microsoft.com/office/drawing/2014/main" id="{D3C451FA-45C1-42C5-EB3F-DAEA097F0633}"/>
              </a:ext>
            </a:extLst>
          </p:cNvPr>
          <p:cNvSpPr txBox="1"/>
          <p:nvPr/>
        </p:nvSpPr>
        <p:spPr>
          <a:xfrm>
            <a:off x="1321928" y="3894018"/>
            <a:ext cx="198457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file1’s filename, </a:t>
            </a:r>
            <a:r>
              <a:rPr kumimoji="1" lang="en-US" altLang="zh-TW" sz="1400" dirty="0" err="1">
                <a:solidFill>
                  <a:srgbClr val="C00000"/>
                </a:solidFill>
              </a:rPr>
              <a:t>inode_ptr</a:t>
            </a:r>
            <a:endParaRPr kumimoji="1" lang="zh-TW" altLang="en-US" sz="1400" dirty="0">
              <a:solidFill>
                <a:srgbClr val="C00000"/>
              </a:solidFill>
            </a:endParaRPr>
          </a:p>
        </p:txBody>
      </p:sp>
      <p:cxnSp>
        <p:nvCxnSpPr>
          <p:cNvPr id="34" name="直線接點 33">
            <a:extLst>
              <a:ext uri="{FF2B5EF4-FFF2-40B4-BE49-F238E27FC236}">
                <a16:creationId xmlns:a16="http://schemas.microsoft.com/office/drawing/2014/main" id="{7839EEA5-E4D3-4581-17C3-9381ED8B2594}"/>
              </a:ext>
            </a:extLst>
          </p:cNvPr>
          <p:cNvCxnSpPr>
            <a:cxnSpLocks/>
          </p:cNvCxnSpPr>
          <p:nvPr/>
        </p:nvCxnSpPr>
        <p:spPr>
          <a:xfrm>
            <a:off x="915533" y="5055653"/>
            <a:ext cx="5553946" cy="0"/>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文字方塊 53">
            <a:extLst>
              <a:ext uri="{FF2B5EF4-FFF2-40B4-BE49-F238E27FC236}">
                <a16:creationId xmlns:a16="http://schemas.microsoft.com/office/drawing/2014/main" id="{0EEC7121-E515-3906-9CC1-E99537CC4599}"/>
              </a:ext>
            </a:extLst>
          </p:cNvPr>
          <p:cNvSpPr txBox="1"/>
          <p:nvPr/>
        </p:nvSpPr>
        <p:spPr>
          <a:xfrm>
            <a:off x="1824066" y="3137158"/>
            <a:ext cx="3495444" cy="369332"/>
          </a:xfrm>
          <a:prstGeom prst="rect">
            <a:avLst/>
          </a:prstGeom>
          <a:noFill/>
        </p:spPr>
        <p:txBody>
          <a:bodyPr wrap="none" rtlCol="0">
            <a:spAutoFit/>
          </a:bodyPr>
          <a:lstStyle/>
          <a:p>
            <a:r>
              <a:rPr kumimoji="1" lang="en-US" altLang="zh-TW" u="sng" dirty="0">
                <a:solidFill>
                  <a:srgbClr val="C00000"/>
                </a:solidFill>
              </a:rPr>
              <a:t>Correct Way to Handle Inconsistent</a:t>
            </a:r>
            <a:endParaRPr kumimoji="1" lang="zh-TW" altLang="en-US" u="sng" dirty="0">
              <a:solidFill>
                <a:srgbClr val="C00000"/>
              </a:solidFill>
            </a:endParaRPr>
          </a:p>
        </p:txBody>
      </p:sp>
      <p:cxnSp>
        <p:nvCxnSpPr>
          <p:cNvPr id="57" name="直線箭頭接點 56">
            <a:extLst>
              <a:ext uri="{FF2B5EF4-FFF2-40B4-BE49-F238E27FC236}">
                <a16:creationId xmlns:a16="http://schemas.microsoft.com/office/drawing/2014/main" id="{09EF7071-0F72-2143-2139-17738282B094}"/>
              </a:ext>
            </a:extLst>
          </p:cNvPr>
          <p:cNvCxnSpPr>
            <a:cxnSpLocks/>
          </p:cNvCxnSpPr>
          <p:nvPr/>
        </p:nvCxnSpPr>
        <p:spPr>
          <a:xfrm>
            <a:off x="3306501" y="4011093"/>
            <a:ext cx="338979" cy="0"/>
          </a:xfrm>
          <a:prstGeom prst="straightConnector1">
            <a:avLst/>
          </a:prstGeom>
          <a:ln w="190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42" name="群組 41">
            <a:extLst>
              <a:ext uri="{FF2B5EF4-FFF2-40B4-BE49-F238E27FC236}">
                <a16:creationId xmlns:a16="http://schemas.microsoft.com/office/drawing/2014/main" id="{93E3B423-CC0C-BE01-2300-43487CFD6562}"/>
              </a:ext>
            </a:extLst>
          </p:cNvPr>
          <p:cNvGrpSpPr/>
          <p:nvPr/>
        </p:nvGrpSpPr>
        <p:grpSpPr>
          <a:xfrm>
            <a:off x="3594752" y="3631080"/>
            <a:ext cx="2816374" cy="1142266"/>
            <a:chOff x="3585610" y="3814689"/>
            <a:chExt cx="2816374" cy="1142266"/>
          </a:xfrm>
        </p:grpSpPr>
        <p:sp>
          <p:nvSpPr>
            <p:cNvPr id="28" name="矩形 27">
              <a:extLst>
                <a:ext uri="{FF2B5EF4-FFF2-40B4-BE49-F238E27FC236}">
                  <a16:creationId xmlns:a16="http://schemas.microsoft.com/office/drawing/2014/main" id="{458E3789-9D20-053C-F4E6-A0215FA6BBB7}"/>
                </a:ext>
              </a:extLst>
            </p:cNvPr>
            <p:cNvSpPr/>
            <p:nvPr/>
          </p:nvSpPr>
          <p:spPr>
            <a:xfrm>
              <a:off x="3585610" y="3814689"/>
              <a:ext cx="2812249"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err="1">
                  <a:solidFill>
                    <a:schemeClr val="tx1"/>
                  </a:solidFill>
                </a:rPr>
                <a:t>Inode</a:t>
              </a:r>
              <a:r>
                <a:rPr kumimoji="1" lang="en-US" altLang="zh-TW" dirty="0">
                  <a:solidFill>
                    <a:schemeClr val="tx1"/>
                  </a:solidFill>
                </a:rPr>
                <a:t> Object</a:t>
              </a:r>
              <a:endParaRPr kumimoji="1" lang="zh-TW" altLang="en-US" dirty="0">
                <a:solidFill>
                  <a:schemeClr val="tx1"/>
                </a:solidFill>
              </a:endParaRPr>
            </a:p>
          </p:txBody>
        </p:sp>
        <p:sp>
          <p:nvSpPr>
            <p:cNvPr id="32" name="文字方塊 31">
              <a:extLst>
                <a:ext uri="{FF2B5EF4-FFF2-40B4-BE49-F238E27FC236}">
                  <a16:creationId xmlns:a16="http://schemas.microsoft.com/office/drawing/2014/main" id="{0E11D14A-1350-160B-DDD6-78E9FA4CE453}"/>
                </a:ext>
              </a:extLst>
            </p:cNvPr>
            <p:cNvSpPr txBox="1"/>
            <p:nvPr/>
          </p:nvSpPr>
          <p:spPr>
            <a:xfrm>
              <a:off x="3636338" y="4083973"/>
              <a:ext cx="2715414"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state, </a:t>
              </a:r>
              <a:r>
                <a:rPr kumimoji="1" lang="en-US" altLang="zh-TW" sz="1400" dirty="0" err="1">
                  <a:solidFill>
                    <a:srgbClr val="C00000"/>
                  </a:solidFill>
                </a:rPr>
                <a:t>file_size</a:t>
              </a:r>
              <a:r>
                <a:rPr kumimoji="1" lang="en-US" altLang="zh-TW" sz="1400" dirty="0">
                  <a:solidFill>
                    <a:srgbClr val="C00000"/>
                  </a:solidFill>
                </a:rPr>
                <a:t>, </a:t>
              </a:r>
              <a:r>
                <a:rPr kumimoji="1" lang="en-US" altLang="zh-TW" sz="1400" dirty="0" err="1">
                  <a:solidFill>
                    <a:srgbClr val="C00000"/>
                  </a:solidFill>
                </a:rPr>
                <a:t>operstions</a:t>
              </a:r>
              <a:r>
                <a:rPr kumimoji="1" lang="en-US" altLang="zh-TW" sz="1400" dirty="0">
                  <a:solidFill>
                    <a:srgbClr val="C00000"/>
                  </a:solidFill>
                </a:rPr>
                <a:t> , </a:t>
              </a:r>
              <a:r>
                <a:rPr kumimoji="1" lang="en-US" altLang="zh-TW" sz="1400" dirty="0" err="1">
                  <a:solidFill>
                    <a:srgbClr val="C00000"/>
                  </a:solidFill>
                </a:rPr>
                <a:t>data_ptr</a:t>
              </a:r>
              <a:endParaRPr kumimoji="1" lang="zh-TW" altLang="en-US" sz="1400" dirty="0">
                <a:solidFill>
                  <a:srgbClr val="C00000"/>
                </a:solidFill>
              </a:endParaRPr>
            </a:p>
          </p:txBody>
        </p:sp>
        <p:sp>
          <p:nvSpPr>
            <p:cNvPr id="49" name="文字方塊 48">
              <a:extLst>
                <a:ext uri="{FF2B5EF4-FFF2-40B4-BE49-F238E27FC236}">
                  <a16:creationId xmlns:a16="http://schemas.microsoft.com/office/drawing/2014/main" id="{08184847-FCB9-40D5-926A-82D806F0193D}"/>
                </a:ext>
              </a:extLst>
            </p:cNvPr>
            <p:cNvSpPr txBox="1"/>
            <p:nvPr/>
          </p:nvSpPr>
          <p:spPr>
            <a:xfrm>
              <a:off x="5447475" y="4702711"/>
              <a:ext cx="904277"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File1’s Data</a:t>
              </a:r>
              <a:endParaRPr kumimoji="1" lang="zh-TW" altLang="en-US" sz="1400" dirty="0">
                <a:solidFill>
                  <a:srgbClr val="C00000"/>
                </a:solidFill>
              </a:endParaRPr>
            </a:p>
          </p:txBody>
        </p:sp>
        <p:sp>
          <p:nvSpPr>
            <p:cNvPr id="50" name="矩形 49">
              <a:extLst>
                <a:ext uri="{FF2B5EF4-FFF2-40B4-BE49-F238E27FC236}">
                  <a16:creationId xmlns:a16="http://schemas.microsoft.com/office/drawing/2014/main" id="{3A0A8241-5893-770C-B31E-ABA643C24236}"/>
                </a:ext>
              </a:extLst>
            </p:cNvPr>
            <p:cNvSpPr/>
            <p:nvPr/>
          </p:nvSpPr>
          <p:spPr>
            <a:xfrm>
              <a:off x="3589735" y="4434955"/>
              <a:ext cx="2812249"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Page Cache</a:t>
              </a:r>
              <a:endParaRPr kumimoji="1" lang="zh-TW" altLang="en-US" dirty="0">
                <a:solidFill>
                  <a:schemeClr val="tx1"/>
                </a:solidFill>
              </a:endParaRPr>
            </a:p>
          </p:txBody>
        </p:sp>
        <p:cxnSp>
          <p:nvCxnSpPr>
            <p:cNvPr id="59" name="直線箭頭接點 58">
              <a:extLst>
                <a:ext uri="{FF2B5EF4-FFF2-40B4-BE49-F238E27FC236}">
                  <a16:creationId xmlns:a16="http://schemas.microsoft.com/office/drawing/2014/main" id="{617A3984-D521-F0DD-4830-5DFA3131CA3A}"/>
                </a:ext>
              </a:extLst>
            </p:cNvPr>
            <p:cNvCxnSpPr>
              <a:cxnSpLocks/>
            </p:cNvCxnSpPr>
            <p:nvPr/>
          </p:nvCxnSpPr>
          <p:spPr>
            <a:xfrm>
              <a:off x="5926510" y="4293071"/>
              <a:ext cx="0" cy="415986"/>
            </a:xfrm>
            <a:prstGeom prst="straightConnector1">
              <a:avLst/>
            </a:prstGeom>
            <a:ln w="190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1" name="文字方塊 60">
              <a:extLst>
                <a:ext uri="{FF2B5EF4-FFF2-40B4-BE49-F238E27FC236}">
                  <a16:creationId xmlns:a16="http://schemas.microsoft.com/office/drawing/2014/main" id="{9B3861FA-EB9E-A81C-FB0E-FDD0BDB305DA}"/>
                </a:ext>
              </a:extLst>
            </p:cNvPr>
            <p:cNvSpPr txBox="1"/>
            <p:nvPr/>
          </p:nvSpPr>
          <p:spPr>
            <a:xfrm>
              <a:off x="3777194" y="4711632"/>
              <a:ext cx="1245040" cy="215444"/>
            </a:xfrm>
            <a:prstGeom prst="rect">
              <a:avLst/>
            </a:prstGeom>
            <a:noFill/>
            <a:ln w="12700">
              <a:solidFill>
                <a:schemeClr val="tx1"/>
              </a:solidFill>
            </a:ln>
          </p:spPr>
          <p:txBody>
            <a:bodyPr wrap="square" lIns="36000" tIns="0" rIns="36000" bIns="0" rtlCol="0">
              <a:spAutoFit/>
            </a:bodyPr>
            <a:lstStyle/>
            <a:p>
              <a:pPr algn="ctr"/>
              <a:r>
                <a:rPr kumimoji="1" lang="en-US" altLang="zh-TW" sz="1400" dirty="0">
                  <a:solidFill>
                    <a:srgbClr val="C00000"/>
                  </a:solidFill>
                </a:rPr>
                <a:t>Cached Data</a:t>
              </a:r>
              <a:endParaRPr kumimoji="1" lang="zh-TW" altLang="en-US" sz="1400" dirty="0">
                <a:solidFill>
                  <a:srgbClr val="C00000"/>
                </a:solidFill>
              </a:endParaRPr>
            </a:p>
          </p:txBody>
        </p:sp>
      </p:grpSp>
      <p:grpSp>
        <p:nvGrpSpPr>
          <p:cNvPr id="60" name="群組 59">
            <a:extLst>
              <a:ext uri="{FF2B5EF4-FFF2-40B4-BE49-F238E27FC236}">
                <a16:creationId xmlns:a16="http://schemas.microsoft.com/office/drawing/2014/main" id="{9D0EA7E2-B92E-2786-30A0-9CD2249AE771}"/>
              </a:ext>
            </a:extLst>
          </p:cNvPr>
          <p:cNvGrpSpPr/>
          <p:nvPr/>
        </p:nvGrpSpPr>
        <p:grpSpPr>
          <a:xfrm>
            <a:off x="408607" y="4733496"/>
            <a:ext cx="2869094" cy="1105139"/>
            <a:chOff x="408607" y="4733496"/>
            <a:chExt cx="2869094" cy="1105139"/>
          </a:xfrm>
        </p:grpSpPr>
        <p:cxnSp>
          <p:nvCxnSpPr>
            <p:cNvPr id="44" name="曲線接點 43">
              <a:extLst>
                <a:ext uri="{FF2B5EF4-FFF2-40B4-BE49-F238E27FC236}">
                  <a16:creationId xmlns:a16="http://schemas.microsoft.com/office/drawing/2014/main" id="{B00C14B3-0FA1-CDF5-ED7A-9CA3F8FF5864}"/>
                </a:ext>
              </a:extLst>
            </p:cNvPr>
            <p:cNvCxnSpPr>
              <a:cxnSpLocks/>
            </p:cNvCxnSpPr>
            <p:nvPr/>
          </p:nvCxnSpPr>
          <p:spPr>
            <a:xfrm rot="16200000" flipH="1">
              <a:off x="2069350" y="5044168"/>
              <a:ext cx="1105139" cy="483795"/>
            </a:xfrm>
            <a:prstGeom prst="curvedConnector3">
              <a:avLst/>
            </a:prstGeom>
            <a:ln w="317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6" name="文字方塊 45">
              <a:extLst>
                <a:ext uri="{FF2B5EF4-FFF2-40B4-BE49-F238E27FC236}">
                  <a16:creationId xmlns:a16="http://schemas.microsoft.com/office/drawing/2014/main" id="{78AA740A-1668-3F56-67AB-AAF3B14C5F99}"/>
                </a:ext>
              </a:extLst>
            </p:cNvPr>
            <p:cNvSpPr txBox="1"/>
            <p:nvPr/>
          </p:nvSpPr>
          <p:spPr>
            <a:xfrm>
              <a:off x="408607" y="4757100"/>
              <a:ext cx="2869094" cy="523220"/>
            </a:xfrm>
            <a:prstGeom prst="rect">
              <a:avLst/>
            </a:prstGeom>
            <a:noFill/>
          </p:spPr>
          <p:txBody>
            <a:bodyPr wrap="square" rtlCol="0">
              <a:spAutoFit/>
            </a:bodyPr>
            <a:lstStyle/>
            <a:p>
              <a:r>
                <a:rPr kumimoji="1" lang="en-US" altLang="zh-TW" sz="1400" dirty="0">
                  <a:solidFill>
                    <a:srgbClr val="0070C0"/>
                  </a:solidFill>
                </a:rPr>
                <a:t>Replace the whole directory entry. (All or Nothing, </a:t>
              </a:r>
              <a:r>
                <a:rPr kumimoji="1" lang="en-US" altLang="zh-TW" sz="1400" dirty="0">
                  <a:solidFill>
                    <a:srgbClr val="C00000"/>
                  </a:solidFill>
                </a:rPr>
                <a:t>No Partial Data</a:t>
              </a:r>
              <a:r>
                <a:rPr kumimoji="1" lang="en-US" altLang="zh-TW" sz="1400" dirty="0">
                  <a:solidFill>
                    <a:srgbClr val="0070C0"/>
                  </a:solidFill>
                </a:rPr>
                <a:t>)</a:t>
              </a:r>
              <a:endParaRPr kumimoji="1" lang="zh-TW" altLang="en-US" sz="1400" dirty="0">
                <a:solidFill>
                  <a:srgbClr val="0070C0"/>
                </a:solidFill>
              </a:endParaRPr>
            </a:p>
          </p:txBody>
        </p:sp>
      </p:grpSp>
      <p:grpSp>
        <p:nvGrpSpPr>
          <p:cNvPr id="58" name="群組 57">
            <a:extLst>
              <a:ext uri="{FF2B5EF4-FFF2-40B4-BE49-F238E27FC236}">
                <a16:creationId xmlns:a16="http://schemas.microsoft.com/office/drawing/2014/main" id="{52F15BCA-C263-A5F6-0D79-2C41416599AA}"/>
              </a:ext>
            </a:extLst>
          </p:cNvPr>
          <p:cNvGrpSpPr/>
          <p:nvPr/>
        </p:nvGrpSpPr>
        <p:grpSpPr>
          <a:xfrm>
            <a:off x="1272402" y="4008086"/>
            <a:ext cx="2373078" cy="765260"/>
            <a:chOff x="1272402" y="4008086"/>
            <a:chExt cx="2373078" cy="765260"/>
          </a:xfrm>
        </p:grpSpPr>
        <p:sp>
          <p:nvSpPr>
            <p:cNvPr id="27" name="矩形 26">
              <a:extLst>
                <a:ext uri="{FF2B5EF4-FFF2-40B4-BE49-F238E27FC236}">
                  <a16:creationId xmlns:a16="http://schemas.microsoft.com/office/drawing/2014/main" id="{229BA0BA-328E-01E9-2463-2DCC277BA220}"/>
                </a:ext>
              </a:extLst>
            </p:cNvPr>
            <p:cNvSpPr/>
            <p:nvPr/>
          </p:nvSpPr>
          <p:spPr>
            <a:xfrm>
              <a:off x="1272402" y="4251346"/>
              <a:ext cx="2101045"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New </a:t>
              </a:r>
              <a:r>
                <a:rPr kumimoji="1" lang="en-US" altLang="zh-TW" dirty="0" err="1">
                  <a:solidFill>
                    <a:schemeClr val="tx1"/>
                  </a:solidFill>
                </a:rPr>
                <a:t>Dentry</a:t>
              </a:r>
              <a:endParaRPr kumimoji="1" lang="zh-TW" altLang="en-US" dirty="0">
                <a:solidFill>
                  <a:schemeClr val="tx1"/>
                </a:solidFill>
              </a:endParaRPr>
            </a:p>
          </p:txBody>
        </p:sp>
        <p:sp>
          <p:nvSpPr>
            <p:cNvPr id="35" name="文字方塊 34">
              <a:extLst>
                <a:ext uri="{FF2B5EF4-FFF2-40B4-BE49-F238E27FC236}">
                  <a16:creationId xmlns:a16="http://schemas.microsoft.com/office/drawing/2014/main" id="{11D9DEEA-B521-1153-4F74-38EE54DF9851}"/>
                </a:ext>
              </a:extLst>
            </p:cNvPr>
            <p:cNvSpPr txBox="1"/>
            <p:nvPr/>
          </p:nvSpPr>
          <p:spPr>
            <a:xfrm>
              <a:off x="1295361" y="4506846"/>
              <a:ext cx="2039738" cy="215444"/>
            </a:xfrm>
            <a:prstGeom prst="rect">
              <a:avLst/>
            </a:prstGeom>
            <a:noFill/>
            <a:ln w="12700">
              <a:solidFill>
                <a:schemeClr val="tx1"/>
              </a:solidFill>
            </a:ln>
          </p:spPr>
          <p:txBody>
            <a:bodyPr wrap="square" lIns="0" tIns="0" rIns="0" bIns="0" rtlCol="0">
              <a:spAutoFit/>
            </a:bodyPr>
            <a:lstStyle/>
            <a:p>
              <a:r>
                <a:rPr kumimoji="1" lang="en-US" altLang="zh-TW" sz="1400" dirty="0">
                  <a:solidFill>
                    <a:srgbClr val="C00000"/>
                  </a:solidFill>
                </a:rPr>
                <a:t>file1’s Newname, </a:t>
              </a:r>
              <a:r>
                <a:rPr kumimoji="1" lang="en-US" altLang="zh-TW" sz="1400" dirty="0" err="1">
                  <a:solidFill>
                    <a:srgbClr val="C00000"/>
                  </a:solidFill>
                </a:rPr>
                <a:t>inode_ptr</a:t>
              </a:r>
              <a:endParaRPr kumimoji="1" lang="zh-TW" altLang="en-US" sz="1400" dirty="0">
                <a:solidFill>
                  <a:srgbClr val="C00000"/>
                </a:solidFill>
              </a:endParaRPr>
            </a:p>
          </p:txBody>
        </p:sp>
        <p:cxnSp>
          <p:nvCxnSpPr>
            <p:cNvPr id="51" name="曲線接點 50">
              <a:extLst>
                <a:ext uri="{FF2B5EF4-FFF2-40B4-BE49-F238E27FC236}">
                  <a16:creationId xmlns:a16="http://schemas.microsoft.com/office/drawing/2014/main" id="{437C7415-2F2E-6A76-58C6-CB835D1C0E0E}"/>
                </a:ext>
              </a:extLst>
            </p:cNvPr>
            <p:cNvCxnSpPr>
              <a:cxnSpLocks/>
              <a:stCxn id="35" idx="3"/>
              <a:endCxn id="32" idx="1"/>
            </p:cNvCxnSpPr>
            <p:nvPr/>
          </p:nvCxnSpPr>
          <p:spPr>
            <a:xfrm flipV="1">
              <a:off x="3335099" y="4008086"/>
              <a:ext cx="310381" cy="606482"/>
            </a:xfrm>
            <a:prstGeom prst="curvedConnector3">
              <a:avLst>
                <a:gd name="adj1" fmla="val 50000"/>
              </a:avLst>
            </a:prstGeom>
            <a:ln w="190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grpSp>
      <p:sp>
        <p:nvSpPr>
          <p:cNvPr id="62" name="矩形 61">
            <a:extLst>
              <a:ext uri="{FF2B5EF4-FFF2-40B4-BE49-F238E27FC236}">
                <a16:creationId xmlns:a16="http://schemas.microsoft.com/office/drawing/2014/main" id="{8FD9ADCE-17A7-3DF1-298B-287EFAC5CB55}"/>
              </a:ext>
            </a:extLst>
          </p:cNvPr>
          <p:cNvSpPr/>
          <p:nvPr/>
        </p:nvSpPr>
        <p:spPr>
          <a:xfrm>
            <a:off x="9682985" y="4000466"/>
            <a:ext cx="2107364"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dirty="0">
                <a:solidFill>
                  <a:schemeClr val="tx1"/>
                </a:solidFill>
              </a:rPr>
              <a:t>The Next </a:t>
            </a:r>
            <a:br>
              <a:rPr kumimoji="1" lang="en-US" altLang="zh-TW" dirty="0">
                <a:solidFill>
                  <a:schemeClr val="tx1"/>
                </a:solidFill>
              </a:rPr>
            </a:br>
            <a:r>
              <a:rPr kumimoji="1" lang="en-US" altLang="zh-TW" dirty="0">
                <a:solidFill>
                  <a:schemeClr val="tx1"/>
                </a:solidFill>
              </a:rPr>
              <a:t>Directory Entry</a:t>
            </a:r>
            <a:endParaRPr kumimoji="1" lang="zh-TW" altLang="en-US" sz="1400" dirty="0">
              <a:solidFill>
                <a:schemeClr val="tx1"/>
              </a:solidFill>
            </a:endParaRPr>
          </a:p>
        </p:txBody>
      </p:sp>
      <p:grpSp>
        <p:nvGrpSpPr>
          <p:cNvPr id="71" name="群組 70">
            <a:extLst>
              <a:ext uri="{FF2B5EF4-FFF2-40B4-BE49-F238E27FC236}">
                <a16:creationId xmlns:a16="http://schemas.microsoft.com/office/drawing/2014/main" id="{ED934A2E-B7EC-0E41-6539-2EB0BACEB6F9}"/>
              </a:ext>
            </a:extLst>
          </p:cNvPr>
          <p:cNvGrpSpPr/>
          <p:nvPr/>
        </p:nvGrpSpPr>
        <p:grpSpPr>
          <a:xfrm>
            <a:off x="6842949" y="3118405"/>
            <a:ext cx="5109326" cy="2704366"/>
            <a:chOff x="7092333" y="3118405"/>
            <a:chExt cx="5109326" cy="2704366"/>
          </a:xfrm>
        </p:grpSpPr>
        <p:sp>
          <p:nvSpPr>
            <p:cNvPr id="5" name="矩形 4">
              <a:extLst>
                <a:ext uri="{FF2B5EF4-FFF2-40B4-BE49-F238E27FC236}">
                  <a16:creationId xmlns:a16="http://schemas.microsoft.com/office/drawing/2014/main" id="{96C07460-62A7-A09E-DEEB-34238CB2260E}"/>
                </a:ext>
              </a:extLst>
            </p:cNvPr>
            <p:cNvSpPr/>
            <p:nvPr/>
          </p:nvSpPr>
          <p:spPr>
            <a:xfrm>
              <a:off x="7092333" y="4002555"/>
              <a:ext cx="5109326"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zh-TW" altLang="en-US" dirty="0">
                <a:solidFill>
                  <a:schemeClr val="tx1"/>
                </a:solidFill>
              </a:endParaRPr>
            </a:p>
          </p:txBody>
        </p:sp>
        <p:sp>
          <p:nvSpPr>
            <p:cNvPr id="8" name="矩形 7">
              <a:extLst>
                <a:ext uri="{FF2B5EF4-FFF2-40B4-BE49-F238E27FC236}">
                  <a16:creationId xmlns:a16="http://schemas.microsoft.com/office/drawing/2014/main" id="{C78D1EEA-5A6A-E28C-C803-948691904670}"/>
                </a:ext>
              </a:extLst>
            </p:cNvPr>
            <p:cNvSpPr/>
            <p:nvPr/>
          </p:nvSpPr>
          <p:spPr>
            <a:xfrm>
              <a:off x="7095838" y="4003496"/>
              <a:ext cx="749643"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dirty="0" err="1">
                  <a:solidFill>
                    <a:schemeClr val="tx1"/>
                  </a:solidFill>
                </a:rPr>
                <a:t>Inode</a:t>
              </a:r>
              <a:r>
                <a:rPr kumimoji="1" lang="en-US" altLang="zh-TW" dirty="0">
                  <a:solidFill>
                    <a:schemeClr val="tx1"/>
                  </a:solidFill>
                </a:rPr>
                <a:t># 4B</a:t>
              </a:r>
              <a:endParaRPr kumimoji="1" lang="zh-TW" altLang="en-US" dirty="0">
                <a:solidFill>
                  <a:schemeClr val="tx1"/>
                </a:solidFill>
              </a:endParaRPr>
            </a:p>
          </p:txBody>
        </p:sp>
        <p:sp>
          <p:nvSpPr>
            <p:cNvPr id="9" name="文字方塊 8">
              <a:extLst>
                <a:ext uri="{FF2B5EF4-FFF2-40B4-BE49-F238E27FC236}">
                  <a16:creationId xmlns:a16="http://schemas.microsoft.com/office/drawing/2014/main" id="{6EB97939-3668-24D9-2B33-414F83569337}"/>
                </a:ext>
              </a:extLst>
            </p:cNvPr>
            <p:cNvSpPr txBox="1"/>
            <p:nvPr/>
          </p:nvSpPr>
          <p:spPr>
            <a:xfrm>
              <a:off x="7588021" y="5453439"/>
              <a:ext cx="1599862" cy="369332"/>
            </a:xfrm>
            <a:prstGeom prst="rect">
              <a:avLst/>
            </a:prstGeom>
            <a:noFill/>
          </p:spPr>
          <p:txBody>
            <a:bodyPr wrap="none" rtlCol="0">
              <a:spAutoFit/>
            </a:bodyPr>
            <a:lstStyle/>
            <a:p>
              <a:r>
                <a:rPr kumimoji="1" lang="en-US" altLang="zh-TW" dirty="0"/>
                <a:t>Directory Entry</a:t>
              </a:r>
              <a:endParaRPr kumimoji="1" lang="zh-TW" altLang="en-US" dirty="0"/>
            </a:p>
          </p:txBody>
        </p:sp>
        <p:sp>
          <p:nvSpPr>
            <p:cNvPr id="10" name="矩形 9">
              <a:extLst>
                <a:ext uri="{FF2B5EF4-FFF2-40B4-BE49-F238E27FC236}">
                  <a16:creationId xmlns:a16="http://schemas.microsoft.com/office/drawing/2014/main" id="{B68F8E2C-537E-38BD-F458-A5F409D6264C}"/>
                </a:ext>
              </a:extLst>
            </p:cNvPr>
            <p:cNvSpPr/>
            <p:nvPr/>
          </p:nvSpPr>
          <p:spPr>
            <a:xfrm>
              <a:off x="7845481" y="4011929"/>
              <a:ext cx="572155"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dirty="0" err="1">
                  <a:solidFill>
                    <a:schemeClr val="tx1"/>
                  </a:solidFill>
                </a:rPr>
                <a:t>Name_len</a:t>
              </a:r>
              <a:r>
                <a:rPr kumimoji="1" lang="en-US" altLang="zh-TW" dirty="0">
                  <a:solidFill>
                    <a:schemeClr val="tx1"/>
                  </a:solidFill>
                </a:rPr>
                <a:t> 1B</a:t>
              </a:r>
              <a:endParaRPr kumimoji="1" lang="zh-TW" altLang="en-US" dirty="0">
                <a:solidFill>
                  <a:schemeClr val="tx1"/>
                </a:solidFill>
              </a:endParaRPr>
            </a:p>
          </p:txBody>
        </p:sp>
        <p:sp>
          <p:nvSpPr>
            <p:cNvPr id="11" name="矩形 10">
              <a:extLst>
                <a:ext uri="{FF2B5EF4-FFF2-40B4-BE49-F238E27FC236}">
                  <a16:creationId xmlns:a16="http://schemas.microsoft.com/office/drawing/2014/main" id="{FCB4807C-A4BD-DD53-08A9-023944B5F2E2}"/>
                </a:ext>
              </a:extLst>
            </p:cNvPr>
            <p:cNvSpPr/>
            <p:nvPr/>
          </p:nvSpPr>
          <p:spPr>
            <a:xfrm>
              <a:off x="8421982" y="4002354"/>
              <a:ext cx="552174"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dirty="0">
                  <a:solidFill>
                    <a:schemeClr val="tx1"/>
                  </a:solidFill>
                </a:rPr>
                <a:t>Type 1B</a:t>
              </a:r>
              <a:endParaRPr kumimoji="1" lang="zh-TW" altLang="en-US" dirty="0">
                <a:solidFill>
                  <a:schemeClr val="tx1"/>
                </a:solidFill>
              </a:endParaRPr>
            </a:p>
          </p:txBody>
        </p:sp>
        <p:sp>
          <p:nvSpPr>
            <p:cNvPr id="12" name="矩形 11">
              <a:extLst>
                <a:ext uri="{FF2B5EF4-FFF2-40B4-BE49-F238E27FC236}">
                  <a16:creationId xmlns:a16="http://schemas.microsoft.com/office/drawing/2014/main" id="{D3355FD4-9C46-251B-475B-95DC269CED1D}"/>
                </a:ext>
              </a:extLst>
            </p:cNvPr>
            <p:cNvSpPr/>
            <p:nvPr/>
          </p:nvSpPr>
          <p:spPr>
            <a:xfrm>
              <a:off x="8975346" y="3998950"/>
              <a:ext cx="988306" cy="113600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dirty="0">
                  <a:solidFill>
                    <a:schemeClr val="tx1"/>
                  </a:solidFill>
                </a:rPr>
                <a:t>Name</a:t>
              </a:r>
              <a:br>
                <a:rPr kumimoji="1" lang="en-US" altLang="zh-TW" dirty="0">
                  <a:solidFill>
                    <a:schemeClr val="tx1"/>
                  </a:solidFill>
                </a:rPr>
              </a:br>
              <a:r>
                <a:rPr kumimoji="1" lang="en-US" altLang="zh-TW" sz="1400" dirty="0">
                  <a:solidFill>
                    <a:schemeClr val="tx1"/>
                  </a:solidFill>
                </a:rPr>
                <a:t>(Align to 4 B, </a:t>
              </a:r>
              <a:br>
                <a:rPr kumimoji="1" lang="en-US" altLang="zh-TW" sz="1400" dirty="0">
                  <a:solidFill>
                    <a:schemeClr val="tx1"/>
                  </a:solidFill>
                </a:rPr>
              </a:br>
              <a:r>
                <a:rPr kumimoji="1" lang="en-US" altLang="zh-TW" sz="1400" dirty="0">
                  <a:solidFill>
                    <a:schemeClr val="tx1"/>
                  </a:solidFill>
                </a:rPr>
                <a:t>Max: 255)</a:t>
              </a:r>
              <a:endParaRPr kumimoji="1" lang="zh-TW" altLang="en-US" sz="1400" dirty="0">
                <a:solidFill>
                  <a:schemeClr val="tx1"/>
                </a:solidFill>
              </a:endParaRPr>
            </a:p>
          </p:txBody>
        </p:sp>
        <p:sp>
          <p:nvSpPr>
            <p:cNvPr id="13" name="右大括弧 12">
              <a:extLst>
                <a:ext uri="{FF2B5EF4-FFF2-40B4-BE49-F238E27FC236}">
                  <a16:creationId xmlns:a16="http://schemas.microsoft.com/office/drawing/2014/main" id="{E9ACAD98-322A-23C8-C2E8-EEE0A46BA49B}"/>
                </a:ext>
              </a:extLst>
            </p:cNvPr>
            <p:cNvSpPr/>
            <p:nvPr/>
          </p:nvSpPr>
          <p:spPr>
            <a:xfrm rot="5400000">
              <a:off x="8423100" y="3921320"/>
              <a:ext cx="213289" cy="2867814"/>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64" name="文字方塊 63">
              <a:extLst>
                <a:ext uri="{FF2B5EF4-FFF2-40B4-BE49-F238E27FC236}">
                  <a16:creationId xmlns:a16="http://schemas.microsoft.com/office/drawing/2014/main" id="{70968CC9-EA48-CFD4-A3C1-43A18FE45F5E}"/>
                </a:ext>
              </a:extLst>
            </p:cNvPr>
            <p:cNvSpPr txBox="1"/>
            <p:nvPr/>
          </p:nvSpPr>
          <p:spPr>
            <a:xfrm>
              <a:off x="7754638" y="3118405"/>
              <a:ext cx="3429721" cy="369332"/>
            </a:xfrm>
            <a:prstGeom prst="rect">
              <a:avLst/>
            </a:prstGeom>
            <a:noFill/>
          </p:spPr>
          <p:txBody>
            <a:bodyPr wrap="none" rtlCol="0">
              <a:spAutoFit/>
            </a:bodyPr>
            <a:lstStyle/>
            <a:p>
              <a:r>
                <a:rPr kumimoji="1" lang="en-US" altLang="zh-TW" u="sng" dirty="0">
                  <a:solidFill>
                    <a:srgbClr val="C00000"/>
                  </a:solidFill>
                </a:rPr>
                <a:t>Reason 2 – Overwriting Neighbors</a:t>
              </a:r>
              <a:endParaRPr kumimoji="1" lang="zh-TW" altLang="en-US" u="sng" dirty="0">
                <a:solidFill>
                  <a:srgbClr val="C00000"/>
                </a:solidFill>
              </a:endParaRPr>
            </a:p>
          </p:txBody>
        </p:sp>
        <p:sp>
          <p:nvSpPr>
            <p:cNvPr id="65" name="文字方塊 64">
              <a:extLst>
                <a:ext uri="{FF2B5EF4-FFF2-40B4-BE49-F238E27FC236}">
                  <a16:creationId xmlns:a16="http://schemas.microsoft.com/office/drawing/2014/main" id="{D42CF459-62B5-575C-B37F-92BC693EC0F3}"/>
                </a:ext>
              </a:extLst>
            </p:cNvPr>
            <p:cNvSpPr txBox="1"/>
            <p:nvPr/>
          </p:nvSpPr>
          <p:spPr>
            <a:xfrm>
              <a:off x="8671526" y="3539918"/>
              <a:ext cx="2345648" cy="369332"/>
            </a:xfrm>
            <a:prstGeom prst="rect">
              <a:avLst/>
            </a:prstGeom>
            <a:noFill/>
          </p:spPr>
          <p:txBody>
            <a:bodyPr wrap="square" rtlCol="0">
              <a:spAutoFit/>
            </a:bodyPr>
            <a:lstStyle/>
            <a:p>
              <a:r>
                <a:rPr kumimoji="1" lang="en-US" altLang="zh-TW" i="1" dirty="0">
                  <a:solidFill>
                    <a:srgbClr val="C00000"/>
                  </a:solidFill>
                </a:rPr>
                <a:t>Storage Devices</a:t>
              </a:r>
              <a:endParaRPr kumimoji="1" lang="zh-TW" altLang="en-US" i="1" dirty="0">
                <a:solidFill>
                  <a:srgbClr val="C00000"/>
                </a:solidFill>
              </a:endParaRPr>
            </a:p>
          </p:txBody>
        </p:sp>
      </p:grpSp>
      <p:sp>
        <p:nvSpPr>
          <p:cNvPr id="66" name="矩形 65">
            <a:extLst>
              <a:ext uri="{FF2B5EF4-FFF2-40B4-BE49-F238E27FC236}">
                <a16:creationId xmlns:a16="http://schemas.microsoft.com/office/drawing/2014/main" id="{C9F7DF0B-562F-4B66-E56C-847C52A7F3F2}"/>
              </a:ext>
            </a:extLst>
          </p:cNvPr>
          <p:cNvSpPr/>
          <p:nvPr/>
        </p:nvSpPr>
        <p:spPr>
          <a:xfrm>
            <a:off x="8727718" y="4003496"/>
            <a:ext cx="2143230" cy="1136002"/>
          </a:xfrm>
          <a:prstGeom prst="rect">
            <a:avLst/>
          </a:prstGeom>
          <a:solidFill>
            <a:schemeClr val="bg1">
              <a:lumMod val="50000"/>
              <a:alpha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rgbClr val="C00000"/>
                </a:solidFill>
              </a:rPr>
              <a:t>New Name</a:t>
            </a:r>
            <a:endParaRPr kumimoji="1" lang="zh-TW" altLang="en-US" sz="1400" b="1" dirty="0">
              <a:solidFill>
                <a:srgbClr val="C00000"/>
              </a:solidFill>
            </a:endParaRPr>
          </a:p>
        </p:txBody>
      </p:sp>
      <p:grpSp>
        <p:nvGrpSpPr>
          <p:cNvPr id="72" name="群組 71">
            <a:extLst>
              <a:ext uri="{FF2B5EF4-FFF2-40B4-BE49-F238E27FC236}">
                <a16:creationId xmlns:a16="http://schemas.microsoft.com/office/drawing/2014/main" id="{DBADDADE-B2FF-CF6A-8BAD-C93363AA198C}"/>
              </a:ext>
            </a:extLst>
          </p:cNvPr>
          <p:cNvGrpSpPr/>
          <p:nvPr/>
        </p:nvGrpSpPr>
        <p:grpSpPr>
          <a:xfrm>
            <a:off x="7221275" y="5134952"/>
            <a:ext cx="4523569" cy="1056210"/>
            <a:chOff x="7470659" y="5134952"/>
            <a:chExt cx="4523569" cy="1056210"/>
          </a:xfrm>
        </p:grpSpPr>
        <p:sp>
          <p:nvSpPr>
            <p:cNvPr id="63" name="文字方塊 62">
              <a:extLst>
                <a:ext uri="{FF2B5EF4-FFF2-40B4-BE49-F238E27FC236}">
                  <a16:creationId xmlns:a16="http://schemas.microsoft.com/office/drawing/2014/main" id="{6BF0A7B5-DB32-3EEB-8C5B-F2F310551D10}"/>
                </a:ext>
              </a:extLst>
            </p:cNvPr>
            <p:cNvSpPr txBox="1"/>
            <p:nvPr/>
          </p:nvSpPr>
          <p:spPr>
            <a:xfrm>
              <a:off x="7470659" y="5883385"/>
              <a:ext cx="4523569" cy="307777"/>
            </a:xfrm>
            <a:prstGeom prst="rect">
              <a:avLst/>
            </a:prstGeom>
            <a:noFill/>
          </p:spPr>
          <p:txBody>
            <a:bodyPr wrap="square" rtlCol="0">
              <a:spAutoFit/>
            </a:bodyPr>
            <a:lstStyle/>
            <a:p>
              <a:r>
                <a:rPr kumimoji="1" lang="en-US" altLang="zh-TW" sz="1400" dirty="0">
                  <a:solidFill>
                    <a:srgbClr val="0070C0"/>
                  </a:solidFill>
                </a:rPr>
                <a:t>Updating the Name to a longer one causes overwriting!</a:t>
              </a:r>
              <a:endParaRPr kumimoji="1" lang="zh-TW" altLang="en-US" sz="1400" dirty="0">
                <a:solidFill>
                  <a:srgbClr val="0070C0"/>
                </a:solidFill>
              </a:endParaRPr>
            </a:p>
          </p:txBody>
        </p:sp>
        <p:cxnSp>
          <p:nvCxnSpPr>
            <p:cNvPr id="69" name="曲線接點 68">
              <a:extLst>
                <a:ext uri="{FF2B5EF4-FFF2-40B4-BE49-F238E27FC236}">
                  <a16:creationId xmlns:a16="http://schemas.microsoft.com/office/drawing/2014/main" id="{D5E54BE7-13D3-DD20-F949-474DF27BC34E}"/>
                </a:ext>
              </a:extLst>
            </p:cNvPr>
            <p:cNvCxnSpPr>
              <a:cxnSpLocks/>
            </p:cNvCxnSpPr>
            <p:nvPr/>
          </p:nvCxnSpPr>
          <p:spPr>
            <a:xfrm rot="5400000" flipH="1" flipV="1">
              <a:off x="8942910" y="5380835"/>
              <a:ext cx="772471" cy="280706"/>
            </a:xfrm>
            <a:prstGeom prst="curvedConnector3">
              <a:avLst/>
            </a:prstGeom>
            <a:ln w="317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98090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42"/>
                                        </p:tgtEl>
                                        <p:attrNameLst>
                                          <p:attrName>style.opacity</p:attrName>
                                        </p:attrNameLst>
                                      </p:cBhvr>
                                      <p:to>
                                        <p:strVal val="0.25"/>
                                      </p:to>
                                    </p:set>
                                    <p:animEffect filter="image" prLst="opacity: 0.25">
                                      <p:cBhvr rctx="IE">
                                        <p:cTn id="7" dur="indefinite"/>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mph" presetSubtype="0" grpId="0" nodeType="clickEffect">
                                  <p:stCondLst>
                                    <p:cond delay="0"/>
                                  </p:stCondLst>
                                  <p:endCondLst>
                                    <p:cond evt="onNext" delay="0">
                                      <p:tgtEl>
                                        <p:sldTgt/>
                                      </p:tgtEl>
                                    </p:cond>
                                  </p:endCondLst>
                                  <p:iterate type="lt">
                                    <p:tmAbs val="25"/>
                                  </p:iterate>
                                  <p:childTnLst>
                                    <p:set>
                                      <p:cBhvr override="childStyle">
                                        <p:cTn id="11" dur="indefinite"/>
                                        <p:tgtEl>
                                          <p:spTgt spid="18"/>
                                        </p:tgtEl>
                                        <p:attrNameLst>
                                          <p:attrName>style.fontWeight</p:attrName>
                                        </p:attrNameLst>
                                      </p:cBhvr>
                                      <p:to>
                                        <p:strVal val="bold"/>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wipe(down)">
                                      <p:cBhvr>
                                        <p:cTn id="16" dur="500"/>
                                        <p:tgtEl>
                                          <p:spTgt spid="5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60"/>
                                        </p:tgtEl>
                                        <p:attrNameLst>
                                          <p:attrName>style.visibility</p:attrName>
                                        </p:attrNameLst>
                                      </p:cBhvr>
                                      <p:to>
                                        <p:strVal val="visible"/>
                                      </p:to>
                                    </p:set>
                                    <p:animEffect transition="in" filter="wipe(up)">
                                      <p:cBhvr>
                                        <p:cTn id="21" dur="500"/>
                                        <p:tgtEl>
                                          <p:spTgt spid="60"/>
                                        </p:tgtEl>
                                      </p:cBhvr>
                                    </p:animEffect>
                                  </p:childTnLst>
                                </p:cTn>
                              </p:par>
                            </p:childTnLst>
                          </p:cTn>
                        </p:par>
                        <p:par>
                          <p:cTn id="22" fill="hold">
                            <p:stCondLst>
                              <p:cond delay="500"/>
                            </p:stCondLst>
                            <p:childTnLst>
                              <p:par>
                                <p:cTn id="23" presetID="9" presetClass="exit" presetSubtype="0" fill="hold" grpId="0" nodeType="afterEffect">
                                  <p:stCondLst>
                                    <p:cond delay="0"/>
                                  </p:stCondLst>
                                  <p:childTnLst>
                                    <p:animEffect transition="out" filter="dissolve">
                                      <p:cBhvr>
                                        <p:cTn id="24" dur="500"/>
                                        <p:tgtEl>
                                          <p:spTgt spid="43"/>
                                        </p:tgtEl>
                                      </p:cBhvr>
                                    </p:animEffect>
                                    <p:set>
                                      <p:cBhvr>
                                        <p:cTn id="25" dur="1" fill="hold">
                                          <p:stCondLst>
                                            <p:cond delay="499"/>
                                          </p:stCondLst>
                                        </p:cTn>
                                        <p:tgtEl>
                                          <p:spTgt spid="43"/>
                                        </p:tgtEl>
                                        <p:attrNameLst>
                                          <p:attrName>style.visibility</p:attrName>
                                        </p:attrNameLst>
                                      </p:cBhvr>
                                      <p:to>
                                        <p:strVal val="hidden"/>
                                      </p:to>
                                    </p:set>
                                  </p:childTnLst>
                                </p:cTn>
                              </p:par>
                              <p:par>
                                <p:cTn id="26" presetID="9" presetClass="exit" presetSubtype="0" fill="hold" grpId="1" nodeType="withEffect">
                                  <p:stCondLst>
                                    <p:cond delay="0"/>
                                  </p:stCondLst>
                                  <p:iterate type="lt">
                                    <p:tmPct val="0"/>
                                  </p:iterate>
                                  <p:childTnLst>
                                    <p:animEffect transition="out" filter="dissolve">
                                      <p:cBhvr>
                                        <p:cTn id="27" dur="500"/>
                                        <p:tgtEl>
                                          <p:spTgt spid="18"/>
                                        </p:tgtEl>
                                      </p:cBhvr>
                                    </p:animEffect>
                                    <p:set>
                                      <p:cBhvr>
                                        <p:cTn id="28" dur="1" fill="hold">
                                          <p:stCondLst>
                                            <p:cond delay="499"/>
                                          </p:stCondLst>
                                        </p:cTn>
                                        <p:tgtEl>
                                          <p:spTgt spid="18"/>
                                        </p:tgtEl>
                                        <p:attrNameLst>
                                          <p:attrName>style.visibility</p:attrName>
                                        </p:attrNameLst>
                                      </p:cBhvr>
                                      <p:to>
                                        <p:strVal val="hidden"/>
                                      </p:to>
                                    </p:set>
                                  </p:childTnLst>
                                </p:cTn>
                              </p:par>
                              <p:par>
                                <p:cTn id="29" presetID="9" presetClass="exit" presetSubtype="0" fill="hold" nodeType="withEffect">
                                  <p:stCondLst>
                                    <p:cond delay="0"/>
                                  </p:stCondLst>
                                  <p:childTnLst>
                                    <p:animEffect transition="out" filter="dissolve">
                                      <p:cBhvr>
                                        <p:cTn id="30" dur="500"/>
                                        <p:tgtEl>
                                          <p:spTgt spid="57"/>
                                        </p:tgtEl>
                                      </p:cBhvr>
                                    </p:animEffect>
                                    <p:set>
                                      <p:cBhvr>
                                        <p:cTn id="31" dur="1" fill="hold">
                                          <p:stCondLst>
                                            <p:cond delay="499"/>
                                          </p:stCondLst>
                                        </p:cTn>
                                        <p:tgtEl>
                                          <p:spTgt spid="5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9" presetClass="emph" presetSubtype="0" grpId="0" nodeType="clickEffect">
                                  <p:stCondLst>
                                    <p:cond delay="0"/>
                                  </p:stCondLst>
                                  <p:childTnLst>
                                    <p:set>
                                      <p:cBhvr>
                                        <p:cTn id="35" dur="indefinite"/>
                                        <p:tgtEl>
                                          <p:spTgt spid="14"/>
                                        </p:tgtEl>
                                        <p:attrNameLst>
                                          <p:attrName>style.opacity</p:attrName>
                                        </p:attrNameLst>
                                      </p:cBhvr>
                                      <p:to>
                                        <p:strVal val="0.5"/>
                                      </p:to>
                                    </p:set>
                                    <p:animEffect filter="image" prLst="opacity: 0.5">
                                      <p:cBhvr rctx="IE">
                                        <p:cTn id="36" dur="indefinite"/>
                                        <p:tgtEl>
                                          <p:spTgt spid="14"/>
                                        </p:tgtEl>
                                      </p:cBhvr>
                                    </p:animEffect>
                                  </p:childTnLst>
                                </p:cTn>
                              </p:par>
                              <p:par>
                                <p:cTn id="37" presetID="9" presetClass="emph" presetSubtype="0" grpId="0" nodeType="withEffect">
                                  <p:stCondLst>
                                    <p:cond delay="0"/>
                                  </p:stCondLst>
                                  <p:childTnLst>
                                    <p:set>
                                      <p:cBhvr>
                                        <p:cTn id="38" dur="indefinite"/>
                                        <p:tgtEl>
                                          <p:spTgt spid="16"/>
                                        </p:tgtEl>
                                        <p:attrNameLst>
                                          <p:attrName>style.opacity</p:attrName>
                                        </p:attrNameLst>
                                      </p:cBhvr>
                                      <p:to>
                                        <p:strVal val="0.5"/>
                                      </p:to>
                                    </p:set>
                                    <p:animEffect filter="image" prLst="opacity: 0.5">
                                      <p:cBhvr rctx="IE">
                                        <p:cTn id="39" dur="indefinite"/>
                                        <p:tgtEl>
                                          <p:spTgt spid="16"/>
                                        </p:tgtEl>
                                      </p:cBhvr>
                                    </p:animEffect>
                                  </p:childTnLst>
                                </p:cTn>
                              </p:par>
                              <p:par>
                                <p:cTn id="40" presetID="9" presetClass="emph" presetSubtype="0" grpId="0" nodeType="withEffect">
                                  <p:stCondLst>
                                    <p:cond delay="0"/>
                                  </p:stCondLst>
                                  <p:childTnLst>
                                    <p:set>
                                      <p:cBhvr>
                                        <p:cTn id="41" dur="indefinite"/>
                                        <p:tgtEl>
                                          <p:spTgt spid="17"/>
                                        </p:tgtEl>
                                        <p:attrNameLst>
                                          <p:attrName>style.opacity</p:attrName>
                                        </p:attrNameLst>
                                      </p:cBhvr>
                                      <p:to>
                                        <p:strVal val="0.5"/>
                                      </p:to>
                                    </p:set>
                                    <p:animEffect filter="image" prLst="opacity: 0.5">
                                      <p:cBhvr rctx="IE">
                                        <p:cTn id="42" dur="indefinite"/>
                                        <p:tgtEl>
                                          <p:spTgt spid="17"/>
                                        </p:tgtEl>
                                      </p:cBhvr>
                                    </p:animEffect>
                                  </p:childTnLst>
                                </p:cTn>
                              </p:par>
                              <p:par>
                                <p:cTn id="43" presetID="9" presetClass="emph" presetSubtype="0" nodeType="withEffect">
                                  <p:stCondLst>
                                    <p:cond delay="0"/>
                                  </p:stCondLst>
                                  <p:childTnLst>
                                    <p:set>
                                      <p:cBhvr>
                                        <p:cTn id="44" dur="indefinite"/>
                                        <p:tgtEl>
                                          <p:spTgt spid="20"/>
                                        </p:tgtEl>
                                        <p:attrNameLst>
                                          <p:attrName>style.opacity</p:attrName>
                                        </p:attrNameLst>
                                      </p:cBhvr>
                                      <p:to>
                                        <p:strVal val="0.5"/>
                                      </p:to>
                                    </p:set>
                                    <p:animEffect filter="image" prLst="opacity: 0.5">
                                      <p:cBhvr rctx="IE">
                                        <p:cTn id="45" dur="indefinite"/>
                                        <p:tgtEl>
                                          <p:spTgt spid="20"/>
                                        </p:tgtEl>
                                      </p:cBhvr>
                                    </p:animEffect>
                                  </p:childTnLst>
                                </p:cTn>
                              </p:par>
                              <p:par>
                                <p:cTn id="46" presetID="9" presetClass="emph" presetSubtype="0" grpId="0" nodeType="withEffect">
                                  <p:stCondLst>
                                    <p:cond delay="0"/>
                                  </p:stCondLst>
                                  <p:childTnLst>
                                    <p:set>
                                      <p:cBhvr>
                                        <p:cTn id="47" dur="indefinite"/>
                                        <p:tgtEl>
                                          <p:spTgt spid="37"/>
                                        </p:tgtEl>
                                        <p:attrNameLst>
                                          <p:attrName>style.opacity</p:attrName>
                                        </p:attrNameLst>
                                      </p:cBhvr>
                                      <p:to>
                                        <p:strVal val="0.5"/>
                                      </p:to>
                                    </p:set>
                                    <p:animEffect filter="image" prLst="opacity: 0.5">
                                      <p:cBhvr rctx="IE">
                                        <p:cTn id="48" dur="indefinite"/>
                                        <p:tgtEl>
                                          <p:spTgt spid="37"/>
                                        </p:tgtEl>
                                      </p:cBhvr>
                                    </p:animEffect>
                                  </p:childTnLst>
                                </p:cTn>
                              </p:par>
                              <p:par>
                                <p:cTn id="49" presetID="9" presetClass="emph" presetSubtype="0" grpId="0" nodeType="withEffect">
                                  <p:stCondLst>
                                    <p:cond delay="0"/>
                                  </p:stCondLst>
                                  <p:childTnLst>
                                    <p:set>
                                      <p:cBhvr>
                                        <p:cTn id="50" dur="indefinite"/>
                                        <p:tgtEl>
                                          <p:spTgt spid="38"/>
                                        </p:tgtEl>
                                        <p:attrNameLst>
                                          <p:attrName>style.opacity</p:attrName>
                                        </p:attrNameLst>
                                      </p:cBhvr>
                                      <p:to>
                                        <p:strVal val="0.5"/>
                                      </p:to>
                                    </p:set>
                                    <p:animEffect filter="image" prLst="opacity: 0.5">
                                      <p:cBhvr rctx="IE">
                                        <p:cTn id="51" dur="indefinite"/>
                                        <p:tgtEl>
                                          <p:spTgt spid="38"/>
                                        </p:tgtEl>
                                      </p:cBhvr>
                                    </p:animEffect>
                                  </p:childTnLst>
                                </p:cTn>
                              </p:par>
                              <p:par>
                                <p:cTn id="52" presetID="9" presetClass="emph" presetSubtype="0" nodeType="withEffect">
                                  <p:stCondLst>
                                    <p:cond delay="0"/>
                                  </p:stCondLst>
                                  <p:childTnLst>
                                    <p:set>
                                      <p:cBhvr>
                                        <p:cTn id="53" dur="indefinite"/>
                                        <p:tgtEl>
                                          <p:spTgt spid="39"/>
                                        </p:tgtEl>
                                        <p:attrNameLst>
                                          <p:attrName>style.opacity</p:attrName>
                                        </p:attrNameLst>
                                      </p:cBhvr>
                                      <p:to>
                                        <p:strVal val="0.5"/>
                                      </p:to>
                                    </p:set>
                                    <p:animEffect filter="image" prLst="opacity: 0.5">
                                      <p:cBhvr rctx="IE">
                                        <p:cTn id="54" dur="indefinite"/>
                                        <p:tgtEl>
                                          <p:spTgt spid="39"/>
                                        </p:tgtEl>
                                      </p:cBhvr>
                                    </p:animEffect>
                                  </p:childTnLst>
                                </p:cTn>
                              </p:par>
                              <p:par>
                                <p:cTn id="55" presetID="9" presetClass="emph" presetSubtype="0" grpId="1" nodeType="withEffect">
                                  <p:stCondLst>
                                    <p:cond delay="0"/>
                                  </p:stCondLst>
                                  <p:childTnLst>
                                    <p:set>
                                      <p:cBhvr>
                                        <p:cTn id="56" dur="indefinite"/>
                                        <p:tgtEl>
                                          <p:spTgt spid="43"/>
                                        </p:tgtEl>
                                        <p:attrNameLst>
                                          <p:attrName>style.opacity</p:attrName>
                                        </p:attrNameLst>
                                      </p:cBhvr>
                                      <p:to>
                                        <p:strVal val="0.5"/>
                                      </p:to>
                                    </p:set>
                                    <p:animEffect filter="image" prLst="opacity: 0.5">
                                      <p:cBhvr rctx="IE">
                                        <p:cTn id="57" dur="indefinite"/>
                                        <p:tgtEl>
                                          <p:spTgt spid="43"/>
                                        </p:tgtEl>
                                      </p:cBhvr>
                                    </p:animEffect>
                                  </p:childTnLst>
                                </p:cTn>
                              </p:par>
                              <p:par>
                                <p:cTn id="58" presetID="9" presetClass="emph" presetSubtype="0" grpId="0" nodeType="withEffect">
                                  <p:stCondLst>
                                    <p:cond delay="0"/>
                                  </p:stCondLst>
                                  <p:childTnLst>
                                    <p:set>
                                      <p:cBhvr>
                                        <p:cTn id="59" dur="indefinite"/>
                                        <p:tgtEl>
                                          <p:spTgt spid="19"/>
                                        </p:tgtEl>
                                        <p:attrNameLst>
                                          <p:attrName>style.opacity</p:attrName>
                                        </p:attrNameLst>
                                      </p:cBhvr>
                                      <p:to>
                                        <p:strVal val="0.5"/>
                                      </p:to>
                                    </p:set>
                                    <p:animEffect filter="image" prLst="opacity: 0.5">
                                      <p:cBhvr rctx="IE">
                                        <p:cTn id="60" dur="indefinite"/>
                                        <p:tgtEl>
                                          <p:spTgt spid="19"/>
                                        </p:tgtEl>
                                      </p:cBhvr>
                                    </p:animEffect>
                                  </p:childTnLst>
                                </p:cTn>
                              </p:par>
                              <p:par>
                                <p:cTn id="61" presetID="9" presetClass="emph" presetSubtype="0" grpId="0" nodeType="withEffect">
                                  <p:stCondLst>
                                    <p:cond delay="0"/>
                                  </p:stCondLst>
                                  <p:childTnLst>
                                    <p:set>
                                      <p:cBhvr>
                                        <p:cTn id="62" dur="indefinite"/>
                                        <p:tgtEl>
                                          <p:spTgt spid="7"/>
                                        </p:tgtEl>
                                        <p:attrNameLst>
                                          <p:attrName>style.opacity</p:attrName>
                                        </p:attrNameLst>
                                      </p:cBhvr>
                                      <p:to>
                                        <p:strVal val="0.5"/>
                                      </p:to>
                                    </p:set>
                                    <p:animEffect filter="image" prLst="opacity: 0.5">
                                      <p:cBhvr rctx="IE">
                                        <p:cTn id="63" dur="indefinite"/>
                                        <p:tgtEl>
                                          <p:spTgt spid="7"/>
                                        </p:tgtEl>
                                      </p:cBhvr>
                                    </p:animEffect>
                                  </p:childTnLst>
                                </p:cTn>
                              </p:par>
                              <p:par>
                                <p:cTn id="64" presetID="9" presetClass="emph" presetSubtype="0" grpId="0" nodeType="withEffect">
                                  <p:stCondLst>
                                    <p:cond delay="0"/>
                                  </p:stCondLst>
                                  <p:childTnLst>
                                    <p:set>
                                      <p:cBhvr>
                                        <p:cTn id="65" dur="indefinite"/>
                                        <p:tgtEl>
                                          <p:spTgt spid="15"/>
                                        </p:tgtEl>
                                        <p:attrNameLst>
                                          <p:attrName>style.opacity</p:attrName>
                                        </p:attrNameLst>
                                      </p:cBhvr>
                                      <p:to>
                                        <p:strVal val="0.5"/>
                                      </p:to>
                                    </p:set>
                                    <p:animEffect filter="image" prLst="opacity: 0.5">
                                      <p:cBhvr rctx="IE">
                                        <p:cTn id="66" dur="indefinite"/>
                                        <p:tgtEl>
                                          <p:spTgt spid="15"/>
                                        </p:tgtEl>
                                      </p:cBhvr>
                                    </p:animEffect>
                                  </p:childTnLst>
                                </p:cTn>
                              </p:par>
                              <p:par>
                                <p:cTn id="67" presetID="9" presetClass="emph" presetSubtype="0" grpId="2" nodeType="withEffect">
                                  <p:stCondLst>
                                    <p:cond delay="0"/>
                                  </p:stCondLst>
                                  <p:iterate type="lt">
                                    <p:tmAbs val="0"/>
                                  </p:iterate>
                                  <p:childTnLst>
                                    <p:set>
                                      <p:cBhvr>
                                        <p:cTn id="68" dur="indefinite"/>
                                        <p:tgtEl>
                                          <p:spTgt spid="18"/>
                                        </p:tgtEl>
                                        <p:attrNameLst>
                                          <p:attrName>style.opacity</p:attrName>
                                        </p:attrNameLst>
                                      </p:cBhvr>
                                      <p:to>
                                        <p:strVal val="0.5"/>
                                      </p:to>
                                    </p:set>
                                    <p:animEffect filter="image" prLst="opacity: 0.5">
                                      <p:cBhvr rctx="IE">
                                        <p:cTn id="69" dur="indefinite"/>
                                        <p:tgtEl>
                                          <p:spTgt spid="18"/>
                                        </p:tgtEl>
                                      </p:cBhvr>
                                    </p:animEffect>
                                  </p:childTnLst>
                                </p:cTn>
                              </p:par>
                              <p:par>
                                <p:cTn id="70" presetID="9" presetClass="emph" presetSubtype="0" nodeType="withEffect">
                                  <p:stCondLst>
                                    <p:cond delay="0"/>
                                  </p:stCondLst>
                                  <p:childTnLst>
                                    <p:set>
                                      <p:cBhvr>
                                        <p:cTn id="71" dur="indefinite"/>
                                        <p:tgtEl>
                                          <p:spTgt spid="34"/>
                                        </p:tgtEl>
                                        <p:attrNameLst>
                                          <p:attrName>style.opacity</p:attrName>
                                        </p:attrNameLst>
                                      </p:cBhvr>
                                      <p:to>
                                        <p:strVal val="0.5"/>
                                      </p:to>
                                    </p:set>
                                    <p:animEffect filter="image" prLst="opacity: 0.5">
                                      <p:cBhvr rctx="IE">
                                        <p:cTn id="72" dur="indefinite"/>
                                        <p:tgtEl>
                                          <p:spTgt spid="34"/>
                                        </p:tgtEl>
                                      </p:cBhvr>
                                    </p:animEffect>
                                  </p:childTnLst>
                                </p:cTn>
                              </p:par>
                              <p:par>
                                <p:cTn id="73" presetID="9" presetClass="emph" presetSubtype="0" grpId="0" nodeType="withEffect">
                                  <p:stCondLst>
                                    <p:cond delay="0"/>
                                  </p:stCondLst>
                                  <p:childTnLst>
                                    <p:set>
                                      <p:cBhvr>
                                        <p:cTn id="74" dur="indefinite"/>
                                        <p:tgtEl>
                                          <p:spTgt spid="54"/>
                                        </p:tgtEl>
                                        <p:attrNameLst>
                                          <p:attrName>style.opacity</p:attrName>
                                        </p:attrNameLst>
                                      </p:cBhvr>
                                      <p:to>
                                        <p:strVal val="0.5"/>
                                      </p:to>
                                    </p:set>
                                    <p:animEffect filter="image" prLst="opacity: 0.5">
                                      <p:cBhvr rctx="IE">
                                        <p:cTn id="75" dur="indefinite"/>
                                        <p:tgtEl>
                                          <p:spTgt spid="54"/>
                                        </p:tgtEl>
                                      </p:cBhvr>
                                    </p:animEffect>
                                  </p:childTnLst>
                                </p:cTn>
                              </p:par>
                              <p:par>
                                <p:cTn id="76" presetID="9" presetClass="emph" presetSubtype="0" nodeType="withEffect">
                                  <p:stCondLst>
                                    <p:cond delay="0"/>
                                  </p:stCondLst>
                                  <p:childTnLst>
                                    <p:set>
                                      <p:cBhvr>
                                        <p:cTn id="77" dur="indefinite"/>
                                        <p:tgtEl>
                                          <p:spTgt spid="57"/>
                                        </p:tgtEl>
                                        <p:attrNameLst>
                                          <p:attrName>style.opacity</p:attrName>
                                        </p:attrNameLst>
                                      </p:cBhvr>
                                      <p:to>
                                        <p:strVal val="0.5"/>
                                      </p:to>
                                    </p:set>
                                    <p:animEffect filter="image" prLst="opacity: 0.5">
                                      <p:cBhvr rctx="IE">
                                        <p:cTn id="78" dur="indefinite"/>
                                        <p:tgtEl>
                                          <p:spTgt spid="57"/>
                                        </p:tgtEl>
                                      </p:cBhvr>
                                    </p:animEffect>
                                  </p:childTnLst>
                                </p:cTn>
                              </p:par>
                              <p:par>
                                <p:cTn id="79" presetID="9" presetClass="emph" presetSubtype="0" nodeType="withEffect">
                                  <p:stCondLst>
                                    <p:cond delay="0"/>
                                  </p:stCondLst>
                                  <p:childTnLst>
                                    <p:set>
                                      <p:cBhvr>
                                        <p:cTn id="80" dur="indefinite"/>
                                        <p:tgtEl>
                                          <p:spTgt spid="42"/>
                                        </p:tgtEl>
                                        <p:attrNameLst>
                                          <p:attrName>style.opacity</p:attrName>
                                        </p:attrNameLst>
                                      </p:cBhvr>
                                      <p:to>
                                        <p:strVal val="0.5"/>
                                      </p:to>
                                    </p:set>
                                    <p:animEffect filter="image" prLst="opacity: 0.5">
                                      <p:cBhvr rctx="IE">
                                        <p:cTn id="81" dur="indefinite"/>
                                        <p:tgtEl>
                                          <p:spTgt spid="42"/>
                                        </p:tgtEl>
                                      </p:cBhvr>
                                    </p:animEffect>
                                  </p:childTnLst>
                                </p:cTn>
                              </p:par>
                              <p:par>
                                <p:cTn id="82" presetID="9" presetClass="emph" presetSubtype="0" nodeType="withEffect">
                                  <p:stCondLst>
                                    <p:cond delay="0"/>
                                  </p:stCondLst>
                                  <p:childTnLst>
                                    <p:set>
                                      <p:cBhvr>
                                        <p:cTn id="83" dur="indefinite"/>
                                        <p:tgtEl>
                                          <p:spTgt spid="60"/>
                                        </p:tgtEl>
                                        <p:attrNameLst>
                                          <p:attrName>style.opacity</p:attrName>
                                        </p:attrNameLst>
                                      </p:cBhvr>
                                      <p:to>
                                        <p:strVal val="0.5"/>
                                      </p:to>
                                    </p:set>
                                    <p:animEffect filter="image" prLst="opacity: 0.5">
                                      <p:cBhvr rctx="IE">
                                        <p:cTn id="84" dur="indefinite"/>
                                        <p:tgtEl>
                                          <p:spTgt spid="60"/>
                                        </p:tgtEl>
                                      </p:cBhvr>
                                    </p:animEffect>
                                  </p:childTnLst>
                                </p:cTn>
                              </p:par>
                              <p:par>
                                <p:cTn id="85" presetID="9" presetClass="emph" presetSubtype="0" nodeType="withEffect">
                                  <p:stCondLst>
                                    <p:cond delay="0"/>
                                  </p:stCondLst>
                                  <p:childTnLst>
                                    <p:set>
                                      <p:cBhvr>
                                        <p:cTn id="86" dur="indefinite"/>
                                        <p:tgtEl>
                                          <p:spTgt spid="58"/>
                                        </p:tgtEl>
                                        <p:attrNameLst>
                                          <p:attrName>style.opacity</p:attrName>
                                        </p:attrNameLst>
                                      </p:cBhvr>
                                      <p:to>
                                        <p:strVal val="0.5"/>
                                      </p:to>
                                    </p:set>
                                    <p:animEffect filter="image" prLst="opacity: 0.5">
                                      <p:cBhvr rctx="IE">
                                        <p:cTn id="87" dur="indefinite"/>
                                        <p:tgtEl>
                                          <p:spTgt spid="58"/>
                                        </p:tgtEl>
                                      </p:cBhvr>
                                    </p:animEffect>
                                  </p:childTnLst>
                                </p:cTn>
                              </p:par>
                              <p:par>
                                <p:cTn id="88" presetID="9" presetClass="emph" presetSubtype="0" nodeType="withEffect">
                                  <p:stCondLst>
                                    <p:cond delay="0"/>
                                  </p:stCondLst>
                                  <p:childTnLst>
                                    <p:set>
                                      <p:cBhvr>
                                        <p:cTn id="89" dur="indefinite"/>
                                        <p:tgtEl>
                                          <p:spTgt spid="3">
                                            <p:txEl>
                                              <p:pRg st="2" end="2"/>
                                            </p:txEl>
                                          </p:spTgt>
                                        </p:tgtEl>
                                        <p:attrNameLst>
                                          <p:attrName>style.opacity</p:attrName>
                                        </p:attrNameLst>
                                      </p:cBhvr>
                                      <p:to>
                                        <p:strVal val="0.5"/>
                                      </p:to>
                                    </p:set>
                                    <p:animEffect filter="image" prLst="opacity: 0.5">
                                      <p:cBhvr rctx="IE">
                                        <p:cTn id="90" dur="indefinite"/>
                                        <p:tgtEl>
                                          <p:spTgt spid="3">
                                            <p:txEl>
                                              <p:pRg st="2" end="2"/>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3">
                                            <p:txEl>
                                              <p:pRg st="3" end="3"/>
                                            </p:txEl>
                                          </p:spTgt>
                                        </p:tgtEl>
                                        <p:attrNameLst>
                                          <p:attrName>style.visibility</p:attrName>
                                        </p:attrNameLst>
                                      </p:cBhvr>
                                      <p:to>
                                        <p:strVal val="visible"/>
                                      </p:to>
                                    </p:set>
                                    <p:animEffect transition="in" filter="wipe(left)">
                                      <p:cBhvr>
                                        <p:cTn id="95" dur="500"/>
                                        <p:tgtEl>
                                          <p:spTgt spid="3">
                                            <p:txEl>
                                              <p:pRg st="3" end="3"/>
                                            </p:txEl>
                                          </p:spTgt>
                                        </p:tgtEl>
                                      </p:cBhvr>
                                    </p:animEffect>
                                  </p:childTnLst>
                                </p:cTn>
                              </p:par>
                              <p:par>
                                <p:cTn id="96" presetID="10" presetClass="entr" presetSubtype="0" fill="hold" nodeType="withEffect">
                                  <p:stCondLst>
                                    <p:cond delay="0"/>
                                  </p:stCondLst>
                                  <p:childTnLst>
                                    <p:set>
                                      <p:cBhvr>
                                        <p:cTn id="97" dur="1" fill="hold">
                                          <p:stCondLst>
                                            <p:cond delay="0"/>
                                          </p:stCondLst>
                                        </p:cTn>
                                        <p:tgtEl>
                                          <p:spTgt spid="71"/>
                                        </p:tgtEl>
                                        <p:attrNameLst>
                                          <p:attrName>style.visibility</p:attrName>
                                        </p:attrNameLst>
                                      </p:cBhvr>
                                      <p:to>
                                        <p:strVal val="visible"/>
                                      </p:to>
                                    </p:set>
                                    <p:animEffect transition="in" filter="fade">
                                      <p:cBhvr>
                                        <p:cTn id="98" dur="500"/>
                                        <p:tgtEl>
                                          <p:spTgt spid="71"/>
                                        </p:tgtEl>
                                      </p:cBhvr>
                                    </p:animEffect>
                                  </p:childTnLst>
                                </p:cTn>
                              </p:par>
                            </p:childTnLst>
                          </p:cTn>
                        </p:par>
                      </p:childTnLst>
                    </p:cTn>
                  </p:par>
                  <p:par>
                    <p:cTn id="99" fill="hold">
                      <p:stCondLst>
                        <p:cond delay="indefinite"/>
                      </p:stCondLst>
                      <p:childTnLst>
                        <p:par>
                          <p:cTn id="100" fill="hold">
                            <p:stCondLst>
                              <p:cond delay="0"/>
                            </p:stCondLst>
                            <p:childTnLst>
                              <p:par>
                                <p:cTn id="101" presetID="12" presetClass="entr" presetSubtype="4" fill="hold" grpId="0" nodeType="clickEffect">
                                  <p:stCondLst>
                                    <p:cond delay="0"/>
                                  </p:stCondLst>
                                  <p:childTnLst>
                                    <p:set>
                                      <p:cBhvr>
                                        <p:cTn id="102" dur="1" fill="hold">
                                          <p:stCondLst>
                                            <p:cond delay="0"/>
                                          </p:stCondLst>
                                        </p:cTn>
                                        <p:tgtEl>
                                          <p:spTgt spid="62"/>
                                        </p:tgtEl>
                                        <p:attrNameLst>
                                          <p:attrName>style.visibility</p:attrName>
                                        </p:attrNameLst>
                                      </p:cBhvr>
                                      <p:to>
                                        <p:strVal val="visible"/>
                                      </p:to>
                                    </p:set>
                                    <p:anim calcmode="lin" valueType="num">
                                      <p:cBhvr additive="base">
                                        <p:cTn id="103" dur="500"/>
                                        <p:tgtEl>
                                          <p:spTgt spid="62"/>
                                        </p:tgtEl>
                                        <p:attrNameLst>
                                          <p:attrName>ppt_y</p:attrName>
                                        </p:attrNameLst>
                                      </p:cBhvr>
                                      <p:tavLst>
                                        <p:tav tm="0">
                                          <p:val>
                                            <p:strVal val="#ppt_y+#ppt_h*1.125000"/>
                                          </p:val>
                                        </p:tav>
                                        <p:tav tm="100000">
                                          <p:val>
                                            <p:strVal val="#ppt_y"/>
                                          </p:val>
                                        </p:tav>
                                      </p:tavLst>
                                    </p:anim>
                                    <p:animEffect transition="in" filter="wipe(up)">
                                      <p:cBhvr>
                                        <p:cTn id="104" dur="500"/>
                                        <p:tgtEl>
                                          <p:spTgt spid="62"/>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nodeType="clickEffect">
                                  <p:stCondLst>
                                    <p:cond delay="0"/>
                                  </p:stCondLst>
                                  <p:childTnLst>
                                    <p:set>
                                      <p:cBhvr>
                                        <p:cTn id="108" dur="1" fill="hold">
                                          <p:stCondLst>
                                            <p:cond delay="0"/>
                                          </p:stCondLst>
                                        </p:cTn>
                                        <p:tgtEl>
                                          <p:spTgt spid="72"/>
                                        </p:tgtEl>
                                        <p:attrNameLst>
                                          <p:attrName>style.visibility</p:attrName>
                                        </p:attrNameLst>
                                      </p:cBhvr>
                                      <p:to>
                                        <p:strVal val="visible"/>
                                      </p:to>
                                    </p:set>
                                    <p:animEffect transition="in" filter="wipe(down)">
                                      <p:cBhvr>
                                        <p:cTn id="109" dur="500"/>
                                        <p:tgtEl>
                                          <p:spTgt spid="72"/>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66"/>
                                        </p:tgtEl>
                                        <p:attrNameLst>
                                          <p:attrName>style.visibility</p:attrName>
                                        </p:attrNameLst>
                                      </p:cBhvr>
                                      <p:to>
                                        <p:strVal val="visible"/>
                                      </p:to>
                                    </p:set>
                                    <p:animEffect transition="in" filter="wipe(left)">
                                      <p:cBhvr>
                                        <p:cTn id="112"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37" grpId="0" animBg="1"/>
      <p:bldP spid="38" grpId="0" animBg="1"/>
      <p:bldP spid="43" grpId="0" animBg="1"/>
      <p:bldP spid="43" grpId="1" animBg="1"/>
      <p:bldP spid="19" grpId="0" animBg="1"/>
      <p:bldP spid="7" grpId="0"/>
      <p:bldP spid="15" grpId="0"/>
      <p:bldP spid="18" grpId="0" animBg="1"/>
      <p:bldP spid="18" grpId="1" animBg="1"/>
      <p:bldP spid="18" grpId="2" animBg="1"/>
      <p:bldP spid="54" grpId="0"/>
      <p:bldP spid="62" grpId="0" animBg="1"/>
      <p:bldP spid="6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2728DC-A17E-D365-FA9A-258B2C39C5F0}"/>
              </a:ext>
            </a:extLst>
          </p:cNvPr>
          <p:cNvSpPr>
            <a:spLocks noGrp="1"/>
          </p:cNvSpPr>
          <p:nvPr>
            <p:ph type="title"/>
          </p:nvPr>
        </p:nvSpPr>
        <p:spPr/>
        <p:txBody>
          <a:bodyPr/>
          <a:lstStyle/>
          <a:p>
            <a:r>
              <a:rPr kumimoji="1" lang="en-US" altLang="zh-TW" dirty="0"/>
              <a:t>Example to Access /Path/to/File</a:t>
            </a:r>
            <a:endParaRPr kumimoji="1" lang="zh-TW" altLang="en-US" dirty="0"/>
          </a:p>
        </p:txBody>
      </p:sp>
      <p:sp>
        <p:nvSpPr>
          <p:cNvPr id="3" name="內容版面配置區 2">
            <a:extLst>
              <a:ext uri="{FF2B5EF4-FFF2-40B4-BE49-F238E27FC236}">
                <a16:creationId xmlns:a16="http://schemas.microsoft.com/office/drawing/2014/main" id="{C1E2C329-A66D-68DB-566C-3A89AC5D762D}"/>
              </a:ext>
            </a:extLst>
          </p:cNvPr>
          <p:cNvSpPr>
            <a:spLocks noGrp="1"/>
          </p:cNvSpPr>
          <p:nvPr>
            <p:ph idx="1"/>
          </p:nvPr>
        </p:nvSpPr>
        <p:spPr/>
        <p:txBody>
          <a:bodyPr/>
          <a:lstStyle/>
          <a:p>
            <a:pPr algn="l"/>
            <a:r>
              <a:rPr lang="en-US" altLang="zh-TW" dirty="0"/>
              <a:t>A user process requests a file: /path/to/file</a:t>
            </a:r>
          </a:p>
          <a:p>
            <a:pPr algn="l"/>
            <a:r>
              <a:rPr kumimoji="1" lang="en-US" altLang="zh-TW" dirty="0"/>
              <a:t>Step 1: VFS </a:t>
            </a:r>
            <a:r>
              <a:rPr kumimoji="1" lang="en-US" altLang="zh-TW" dirty="0">
                <a:solidFill>
                  <a:srgbClr val="C00000"/>
                </a:solidFill>
              </a:rPr>
              <a:t>parses to </a:t>
            </a:r>
            <a:r>
              <a:rPr kumimoji="1" lang="en-US" altLang="zh-TW" dirty="0"/>
              <a:t>get “/”, ”path”, “to”, “file” </a:t>
            </a:r>
            <a:r>
              <a:rPr kumimoji="1" lang="en-US" altLang="zh-TW" dirty="0">
                <a:solidFill>
                  <a:srgbClr val="C00000"/>
                </a:solidFill>
              </a:rPr>
              <a:t>four components</a:t>
            </a:r>
          </a:p>
          <a:p>
            <a:pPr algn="l"/>
            <a:r>
              <a:rPr lang="en-US" altLang="zh-TW" dirty="0"/>
              <a:t>Step 2: </a:t>
            </a:r>
            <a:r>
              <a:rPr lang="en-US" altLang="zh-TW" dirty="0">
                <a:solidFill>
                  <a:srgbClr val="C00000"/>
                </a:solidFill>
              </a:rPr>
              <a:t>Resolves the path </a:t>
            </a:r>
            <a:r>
              <a:rPr lang="en-US" altLang="zh-TW" dirty="0"/>
              <a:t>for each component</a:t>
            </a:r>
          </a:p>
          <a:p>
            <a:pPr lvl="1" algn="l"/>
            <a:r>
              <a:rPr lang="en-US" altLang="zh-TW" dirty="0">
                <a:solidFill>
                  <a:srgbClr val="C00000"/>
                </a:solidFill>
              </a:rPr>
              <a:t>Check</a:t>
            </a:r>
            <a:r>
              <a:rPr lang="en-US" altLang="zh-TW" dirty="0"/>
              <a:t> whether the </a:t>
            </a:r>
            <a:r>
              <a:rPr lang="en-US" altLang="zh-TW" dirty="0" err="1"/>
              <a:t>dentry</a:t>
            </a:r>
            <a:r>
              <a:rPr lang="en-US" altLang="zh-TW" dirty="0"/>
              <a:t> of the component </a:t>
            </a:r>
            <a:r>
              <a:rPr lang="en-US" altLang="zh-TW" dirty="0">
                <a:solidFill>
                  <a:srgbClr val="C00000"/>
                </a:solidFill>
              </a:rPr>
              <a:t>existing or not</a:t>
            </a:r>
            <a:br>
              <a:rPr lang="en-US" altLang="zh-TW" dirty="0"/>
            </a:br>
            <a:r>
              <a:rPr lang="en-US" altLang="zh-TW" dirty="0"/>
              <a:t>(The root directory </a:t>
            </a:r>
            <a:r>
              <a:rPr lang="en-US" altLang="zh-TW" dirty="0" err="1"/>
              <a:t>inode</a:t>
            </a:r>
            <a:r>
              <a:rPr lang="en-US" altLang="zh-TW" dirty="0"/>
              <a:t> is preloaded during system boot)</a:t>
            </a:r>
          </a:p>
          <a:p>
            <a:pPr lvl="1" algn="l"/>
            <a:r>
              <a:rPr lang="en-US" altLang="zh-TW" dirty="0"/>
              <a:t>(If not) </a:t>
            </a:r>
            <a:r>
              <a:rPr lang="en-US" altLang="zh-TW" dirty="0" err="1"/>
              <a:t>VFS.inodes_operations.lookup</a:t>
            </a:r>
            <a:r>
              <a:rPr lang="en-US" altLang="zh-TW" dirty="0"/>
              <a:t> </a:t>
            </a:r>
            <a:r>
              <a:rPr lang="en-US" altLang="zh-TW" dirty="0">
                <a:solidFill>
                  <a:srgbClr val="C00000"/>
                </a:solidFill>
              </a:rPr>
              <a:t>search “path” </a:t>
            </a:r>
            <a:r>
              <a:rPr lang="en-US" altLang="zh-TW" dirty="0" err="1">
                <a:solidFill>
                  <a:srgbClr val="C00000"/>
                </a:solidFill>
              </a:rPr>
              <a:t>inode</a:t>
            </a:r>
            <a:r>
              <a:rPr lang="en-US" altLang="zh-TW" dirty="0">
                <a:solidFill>
                  <a:srgbClr val="C00000"/>
                </a:solidFill>
              </a:rPr>
              <a:t> from disk </a:t>
            </a:r>
            <a:r>
              <a:rPr lang="en-US" altLang="zh-TW" dirty="0"/>
              <a:t>and create </a:t>
            </a:r>
            <a:r>
              <a:rPr lang="en-US" altLang="zh-TW" dirty="0" err="1"/>
              <a:t>dentry</a:t>
            </a:r>
            <a:r>
              <a:rPr lang="en-US" altLang="zh-TW" dirty="0"/>
              <a:t>.</a:t>
            </a:r>
          </a:p>
          <a:p>
            <a:pPr lvl="1" algn="l"/>
            <a:r>
              <a:rPr lang="en-US" altLang="zh-TW" dirty="0"/>
              <a:t>Run the lookup function to resolve “to” and “file”</a:t>
            </a:r>
          </a:p>
        </p:txBody>
      </p:sp>
      <p:sp>
        <p:nvSpPr>
          <p:cNvPr id="4" name="投影片編號版面配置區 3">
            <a:extLst>
              <a:ext uri="{FF2B5EF4-FFF2-40B4-BE49-F238E27FC236}">
                <a16:creationId xmlns:a16="http://schemas.microsoft.com/office/drawing/2014/main" id="{AC575ED7-4B9C-2E4E-54DC-3342C1241C57}"/>
              </a:ext>
            </a:extLst>
          </p:cNvPr>
          <p:cNvSpPr>
            <a:spLocks noGrp="1"/>
          </p:cNvSpPr>
          <p:nvPr>
            <p:ph type="sldNum" sz="quarter" idx="4"/>
          </p:nvPr>
        </p:nvSpPr>
        <p:spPr/>
        <p:txBody>
          <a:bodyPr/>
          <a:lstStyle/>
          <a:p>
            <a:fld id="{E24E6636-6BA5-4AAC-8485-BE8D914D288B}" type="slidenum">
              <a:rPr lang="zh-TW" altLang="en-US" smtClean="0"/>
              <a:pPr/>
              <a:t>22</a:t>
            </a:fld>
            <a:endParaRPr lang="zh-TW" altLang="en-US" dirty="0"/>
          </a:p>
        </p:txBody>
      </p:sp>
    </p:spTree>
    <p:extLst>
      <p:ext uri="{BB962C8B-B14F-4D97-AF65-F5344CB8AC3E}">
        <p14:creationId xmlns:p14="http://schemas.microsoft.com/office/powerpoint/2010/main" val="111894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mph" presetSubtype="0" nodeType="clickEffect">
                                  <p:stCondLst>
                                    <p:cond delay="0"/>
                                  </p:stCondLst>
                                  <p:childTnLst>
                                    <p:set>
                                      <p:cBhvr>
                                        <p:cTn id="11" dur="indefinite"/>
                                        <p:tgtEl>
                                          <p:spTgt spid="3">
                                            <p:txEl>
                                              <p:pRg st="0" end="0"/>
                                            </p:txEl>
                                          </p:spTgt>
                                        </p:tgtEl>
                                        <p:attrNameLst>
                                          <p:attrName>style.opacity</p:attrName>
                                        </p:attrNameLst>
                                      </p:cBhvr>
                                      <p:to>
                                        <p:strVal val="0.25"/>
                                      </p:to>
                                    </p:set>
                                    <p:animEffect filter="image" prLst="opacity: 0.25">
                                      <p:cBhvr rctx="IE">
                                        <p:cTn id="12" dur="indefinite"/>
                                        <p:tgtEl>
                                          <p:spTgt spid="3">
                                            <p:txEl>
                                              <p:pRg st="0" end="0"/>
                                            </p:txEl>
                                          </p:spTgt>
                                        </p:tgtEl>
                                      </p:cBhvr>
                                    </p:animEffect>
                                  </p:childTnLst>
                                </p:cTn>
                              </p:par>
                              <p:par>
                                <p:cTn id="13" presetID="9" presetClass="emph" presetSubtype="0" nodeType="withEffect">
                                  <p:stCondLst>
                                    <p:cond delay="0"/>
                                  </p:stCondLst>
                                  <p:childTnLst>
                                    <p:set>
                                      <p:cBhvr>
                                        <p:cTn id="14" dur="indefinite"/>
                                        <p:tgtEl>
                                          <p:spTgt spid="3">
                                            <p:txEl>
                                              <p:pRg st="1" end="1"/>
                                            </p:txEl>
                                          </p:spTgt>
                                        </p:tgtEl>
                                        <p:attrNameLst>
                                          <p:attrName>style.opacity</p:attrName>
                                        </p:attrNameLst>
                                      </p:cBhvr>
                                      <p:to>
                                        <p:strVal val="0.25"/>
                                      </p:to>
                                    </p:set>
                                    <p:animEffect filter="image" prLst="opacity: 0.25">
                                      <p:cBhvr rctx="IE">
                                        <p:cTn id="15" dur="indefinite"/>
                                        <p:tgtEl>
                                          <p:spTgt spid="3">
                                            <p:txEl>
                                              <p:pRg st="1" end="1"/>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left)">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left)">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wipe(left)">
                                      <p:cBhvr>
                                        <p:cTn id="28" dur="500"/>
                                        <p:tgtEl>
                                          <p:spTgt spid="3">
                                            <p:txEl>
                                              <p:pRg st="4" end="4"/>
                                            </p:txEl>
                                          </p:spTgt>
                                        </p:tgtEl>
                                      </p:cBhvr>
                                    </p:animEffect>
                                  </p:childTnLst>
                                </p:cTn>
                              </p:par>
                              <p:par>
                                <p:cTn id="29" presetID="9" presetClass="emph" presetSubtype="0" nodeType="withEffect">
                                  <p:stCondLst>
                                    <p:cond delay="0"/>
                                  </p:stCondLst>
                                  <p:childTnLst>
                                    <p:set>
                                      <p:cBhvr>
                                        <p:cTn id="30" dur="indefinite"/>
                                        <p:tgtEl>
                                          <p:spTgt spid="3">
                                            <p:txEl>
                                              <p:pRg st="3" end="3"/>
                                            </p:txEl>
                                          </p:spTgt>
                                        </p:tgtEl>
                                        <p:attrNameLst>
                                          <p:attrName>style.opacity</p:attrName>
                                        </p:attrNameLst>
                                      </p:cBhvr>
                                      <p:to>
                                        <p:strVal val="0.25"/>
                                      </p:to>
                                    </p:set>
                                    <p:animEffect filter="image" prLst="opacity: 0.25">
                                      <p:cBhvr rctx="IE">
                                        <p:cTn id="31" dur="indefinite"/>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wipe(left)">
                                      <p:cBhvr>
                                        <p:cTn id="3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D75E4-C63F-E959-5F8F-02E0CDFBAA4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5944716-4AFC-1509-170A-CA5B95B975E7}"/>
              </a:ext>
            </a:extLst>
          </p:cNvPr>
          <p:cNvSpPr>
            <a:spLocks noGrp="1"/>
          </p:cNvSpPr>
          <p:nvPr>
            <p:ph type="title"/>
          </p:nvPr>
        </p:nvSpPr>
        <p:spPr/>
        <p:txBody>
          <a:bodyPr/>
          <a:lstStyle/>
          <a:p>
            <a:r>
              <a:rPr kumimoji="1" lang="en-US" altLang="zh-TW" dirty="0"/>
              <a:t>More About </a:t>
            </a:r>
            <a:r>
              <a:rPr kumimoji="1" lang="en-US" altLang="zh-TW" dirty="0" err="1"/>
              <a:t>Dentry</a:t>
            </a:r>
            <a:r>
              <a:rPr kumimoji="1" lang="en-US" altLang="zh-TW" dirty="0"/>
              <a:t> Object</a:t>
            </a:r>
            <a:endParaRPr kumimoji="1" lang="zh-TW" altLang="en-US" dirty="0"/>
          </a:p>
        </p:txBody>
      </p:sp>
      <p:sp>
        <p:nvSpPr>
          <p:cNvPr id="3" name="內容版面配置區 2">
            <a:extLst>
              <a:ext uri="{FF2B5EF4-FFF2-40B4-BE49-F238E27FC236}">
                <a16:creationId xmlns:a16="http://schemas.microsoft.com/office/drawing/2014/main" id="{7CCCB987-1730-490B-B84D-532238265BAC}"/>
              </a:ext>
            </a:extLst>
          </p:cNvPr>
          <p:cNvSpPr>
            <a:spLocks noGrp="1"/>
          </p:cNvSpPr>
          <p:nvPr>
            <p:ph idx="1"/>
          </p:nvPr>
        </p:nvSpPr>
        <p:spPr/>
        <p:txBody>
          <a:bodyPr/>
          <a:lstStyle/>
          <a:p>
            <a:pPr algn="l"/>
            <a:r>
              <a:rPr lang="en-US" altLang="zh-TW" dirty="0"/>
              <a:t>Why there is no </a:t>
            </a:r>
            <a:r>
              <a:rPr lang="en-US" altLang="zh-TW" dirty="0" err="1"/>
              <a:t>dentry</a:t>
            </a:r>
            <a:r>
              <a:rPr lang="en-US" altLang="zh-TW" dirty="0"/>
              <a:t> object in the following figure? </a:t>
            </a:r>
          </a:p>
          <a:p>
            <a:pPr lvl="1" algn="l"/>
            <a:r>
              <a:rPr lang="en-US" altLang="zh-TW" dirty="0"/>
              <a:t>Ans: </a:t>
            </a:r>
            <a:r>
              <a:rPr lang="en-US" altLang="zh-TW" dirty="0">
                <a:solidFill>
                  <a:srgbClr val="C00000"/>
                </a:solidFill>
              </a:rPr>
              <a:t>After a file is opened</a:t>
            </a:r>
            <a:r>
              <a:rPr lang="en-US" altLang="zh-TW" dirty="0"/>
              <a:t>, the file descriptor can directly access the corresponding </a:t>
            </a:r>
            <a:r>
              <a:rPr lang="en-US" altLang="zh-TW" dirty="0" err="1"/>
              <a:t>inode</a:t>
            </a:r>
            <a:r>
              <a:rPr lang="en-US" altLang="zh-TW" dirty="0"/>
              <a:t> via the open file table.</a:t>
            </a:r>
          </a:p>
          <a:p>
            <a:pPr lvl="1" algn="l"/>
            <a:r>
              <a:rPr lang="en-US" altLang="zh-TW" dirty="0" err="1"/>
              <a:t>Dentry</a:t>
            </a:r>
            <a:r>
              <a:rPr lang="en-US" altLang="zh-TW" dirty="0"/>
              <a:t> object is usually used for </a:t>
            </a:r>
            <a:r>
              <a:rPr lang="en-US" altLang="zh-TW" dirty="0">
                <a:solidFill>
                  <a:srgbClr val="C00000"/>
                </a:solidFill>
              </a:rPr>
              <a:t>file path resolving</a:t>
            </a:r>
            <a:r>
              <a:rPr lang="en-US" altLang="zh-TW" dirty="0"/>
              <a:t>.</a:t>
            </a:r>
          </a:p>
          <a:p>
            <a:pPr lvl="1" algn="l"/>
            <a:endParaRPr kumimoji="1" lang="zh-TW" altLang="en-US" dirty="0"/>
          </a:p>
        </p:txBody>
      </p:sp>
      <p:sp>
        <p:nvSpPr>
          <p:cNvPr id="4" name="投影片編號版面配置區 3">
            <a:extLst>
              <a:ext uri="{FF2B5EF4-FFF2-40B4-BE49-F238E27FC236}">
                <a16:creationId xmlns:a16="http://schemas.microsoft.com/office/drawing/2014/main" id="{88C795BC-6084-81DB-C65A-C4A5D040965D}"/>
              </a:ext>
            </a:extLst>
          </p:cNvPr>
          <p:cNvSpPr>
            <a:spLocks noGrp="1"/>
          </p:cNvSpPr>
          <p:nvPr>
            <p:ph type="sldNum" sz="quarter" idx="4"/>
          </p:nvPr>
        </p:nvSpPr>
        <p:spPr/>
        <p:txBody>
          <a:bodyPr/>
          <a:lstStyle/>
          <a:p>
            <a:fld id="{E24E6636-6BA5-4AAC-8485-BE8D914D288B}" type="slidenum">
              <a:rPr lang="zh-TW" altLang="en-US" smtClean="0"/>
              <a:pPr/>
              <a:t>23</a:t>
            </a:fld>
            <a:endParaRPr lang="zh-TW" altLang="en-US" dirty="0"/>
          </a:p>
        </p:txBody>
      </p:sp>
      <p:pic>
        <p:nvPicPr>
          <p:cNvPr id="5" name="圖片 4">
            <a:extLst>
              <a:ext uri="{FF2B5EF4-FFF2-40B4-BE49-F238E27FC236}">
                <a16:creationId xmlns:a16="http://schemas.microsoft.com/office/drawing/2014/main" id="{239E0C76-0738-3634-30A9-7DEAFCC7DE14}"/>
              </a:ext>
            </a:extLst>
          </p:cNvPr>
          <p:cNvPicPr>
            <a:picLocks noChangeAspect="1"/>
          </p:cNvPicPr>
          <p:nvPr/>
        </p:nvPicPr>
        <p:blipFill>
          <a:blip r:embed="rId3"/>
          <a:stretch>
            <a:fillRect/>
          </a:stretch>
        </p:blipFill>
        <p:spPr>
          <a:xfrm>
            <a:off x="222138" y="2904988"/>
            <a:ext cx="5754594" cy="3939030"/>
          </a:xfrm>
          <a:prstGeom prst="rect">
            <a:avLst/>
          </a:prstGeom>
        </p:spPr>
      </p:pic>
      <p:sp>
        <p:nvSpPr>
          <p:cNvPr id="7" name="文字方塊 6">
            <a:extLst>
              <a:ext uri="{FF2B5EF4-FFF2-40B4-BE49-F238E27FC236}">
                <a16:creationId xmlns:a16="http://schemas.microsoft.com/office/drawing/2014/main" id="{0B84C85C-417C-9B96-C161-D103ABF9C1BE}"/>
              </a:ext>
            </a:extLst>
          </p:cNvPr>
          <p:cNvSpPr txBox="1"/>
          <p:nvPr/>
        </p:nvSpPr>
        <p:spPr>
          <a:xfrm>
            <a:off x="5909734" y="3004378"/>
            <a:ext cx="6104466" cy="2862322"/>
          </a:xfrm>
          <a:prstGeom prst="rect">
            <a:avLst/>
          </a:prstGeom>
          <a:noFill/>
          <a:ln w="19050">
            <a:solidFill>
              <a:schemeClr val="tx1"/>
            </a:solidFill>
          </a:ln>
        </p:spPr>
        <p:txBody>
          <a:bodyPr wrap="square">
            <a:spAutoFit/>
          </a:bodyPr>
          <a:lstStyle/>
          <a:p>
            <a:pPr algn="ctr"/>
            <a:r>
              <a:rPr lang="en-US" altLang="zh-TW" b="1" dirty="0">
                <a:solidFill>
                  <a:srgbClr val="C00000"/>
                </a:solidFill>
              </a:rPr>
              <a:t>File Path Resolving</a:t>
            </a:r>
            <a:br>
              <a:rPr lang="en-US" altLang="zh-TW" b="1" dirty="0">
                <a:solidFill>
                  <a:srgbClr val="C00000"/>
                </a:solidFill>
              </a:rPr>
            </a:br>
            <a:endParaRPr lang="en-US" altLang="zh-TW" b="1" dirty="0">
              <a:solidFill>
                <a:srgbClr val="C00000"/>
              </a:solidFill>
            </a:endParaRPr>
          </a:p>
          <a:p>
            <a:pPr algn="l"/>
            <a:r>
              <a:rPr lang="en-US" altLang="zh-TW" dirty="0"/>
              <a:t>A user process requests a file: /path/to/file</a:t>
            </a:r>
          </a:p>
          <a:p>
            <a:pPr algn="l"/>
            <a:r>
              <a:rPr kumimoji="1" lang="en-US" altLang="zh-TW" dirty="0"/>
              <a:t>Step 1: VFS </a:t>
            </a:r>
            <a:r>
              <a:rPr kumimoji="1" lang="en-US" altLang="zh-TW" dirty="0">
                <a:solidFill>
                  <a:srgbClr val="C00000"/>
                </a:solidFill>
              </a:rPr>
              <a:t>parses to </a:t>
            </a:r>
            <a:r>
              <a:rPr kumimoji="1" lang="en-US" altLang="zh-TW" dirty="0"/>
              <a:t>get “/”, ”path”, “to”, “file” </a:t>
            </a:r>
            <a:r>
              <a:rPr kumimoji="1" lang="en-US" altLang="zh-TW" dirty="0">
                <a:solidFill>
                  <a:srgbClr val="C00000"/>
                </a:solidFill>
              </a:rPr>
              <a:t>four components</a:t>
            </a:r>
          </a:p>
          <a:p>
            <a:pPr algn="l"/>
            <a:r>
              <a:rPr lang="en-US" altLang="zh-TW" dirty="0"/>
              <a:t>Step 2: </a:t>
            </a:r>
            <a:r>
              <a:rPr lang="en-US" altLang="zh-TW" dirty="0">
                <a:solidFill>
                  <a:srgbClr val="C00000"/>
                </a:solidFill>
              </a:rPr>
              <a:t>Resolves the path </a:t>
            </a:r>
            <a:r>
              <a:rPr lang="en-US" altLang="zh-TW" dirty="0"/>
              <a:t>for each component</a:t>
            </a:r>
          </a:p>
          <a:p>
            <a:pPr algn="l"/>
            <a:r>
              <a:rPr lang="en-US" altLang="zh-TW" dirty="0">
                <a:solidFill>
                  <a:srgbClr val="C00000"/>
                </a:solidFill>
              </a:rPr>
              <a:t>          Check</a:t>
            </a:r>
            <a:r>
              <a:rPr lang="en-US" altLang="zh-TW" dirty="0"/>
              <a:t> if the </a:t>
            </a:r>
            <a:r>
              <a:rPr lang="en-US" altLang="zh-TW" dirty="0" err="1"/>
              <a:t>dentry</a:t>
            </a:r>
            <a:r>
              <a:rPr lang="en-US" altLang="zh-TW" dirty="0"/>
              <a:t> of the component </a:t>
            </a:r>
            <a:r>
              <a:rPr lang="en-US" altLang="zh-TW" dirty="0">
                <a:solidFill>
                  <a:srgbClr val="C00000"/>
                </a:solidFill>
              </a:rPr>
              <a:t>existing or not</a:t>
            </a:r>
            <a:endParaRPr lang="en-US" altLang="zh-TW" dirty="0"/>
          </a:p>
          <a:p>
            <a:pPr lvl="1" algn="l"/>
            <a:r>
              <a:rPr lang="en-US" altLang="zh-TW" dirty="0"/>
              <a:t>(If not) </a:t>
            </a:r>
            <a:r>
              <a:rPr lang="en-US" altLang="zh-TW" dirty="0" err="1"/>
              <a:t>VFS.inodes_operations.lookup</a:t>
            </a:r>
            <a:r>
              <a:rPr lang="en-US" altLang="zh-TW" dirty="0"/>
              <a:t> </a:t>
            </a:r>
            <a:r>
              <a:rPr lang="en-US" altLang="zh-TW" dirty="0">
                <a:solidFill>
                  <a:srgbClr val="C00000"/>
                </a:solidFill>
              </a:rPr>
              <a:t>search “path” </a:t>
            </a:r>
            <a:r>
              <a:rPr lang="en-US" altLang="zh-TW" dirty="0" err="1">
                <a:solidFill>
                  <a:srgbClr val="C00000"/>
                </a:solidFill>
              </a:rPr>
              <a:t>inode</a:t>
            </a:r>
            <a:r>
              <a:rPr lang="en-US" altLang="zh-TW" dirty="0">
                <a:solidFill>
                  <a:srgbClr val="C00000"/>
                </a:solidFill>
              </a:rPr>
              <a:t> from disk </a:t>
            </a:r>
            <a:r>
              <a:rPr lang="en-US" altLang="zh-TW" dirty="0"/>
              <a:t>and create </a:t>
            </a:r>
            <a:r>
              <a:rPr lang="en-US" altLang="zh-TW" dirty="0" err="1"/>
              <a:t>dentry</a:t>
            </a:r>
            <a:r>
              <a:rPr lang="en-US" altLang="zh-TW" dirty="0"/>
              <a:t>.</a:t>
            </a:r>
          </a:p>
          <a:p>
            <a:pPr lvl="1" algn="l"/>
            <a:r>
              <a:rPr lang="en-US" altLang="zh-TW" dirty="0"/>
              <a:t>Run the lookup function to resolve “to” and “file”</a:t>
            </a:r>
          </a:p>
        </p:txBody>
      </p:sp>
    </p:spTree>
    <p:extLst>
      <p:ext uri="{BB962C8B-B14F-4D97-AF65-F5344CB8AC3E}">
        <p14:creationId xmlns:p14="http://schemas.microsoft.com/office/powerpoint/2010/main" val="329004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63B1F-39BA-2FCE-4726-98DDB2CFA4B9}"/>
              </a:ext>
            </a:extLst>
          </p:cNvPr>
          <p:cNvSpPr>
            <a:spLocks noGrp="1"/>
          </p:cNvSpPr>
          <p:nvPr>
            <p:ph type="title"/>
          </p:nvPr>
        </p:nvSpPr>
        <p:spPr/>
        <p:txBody>
          <a:bodyPr/>
          <a:lstStyle/>
          <a:p>
            <a:r>
              <a:rPr lang="en-US" altLang="zh-TW" dirty="0"/>
              <a:t>The File Object &amp; File Operations</a:t>
            </a:r>
            <a:endParaRPr kumimoji="1" lang="zh-TW" altLang="en-US" dirty="0"/>
          </a:p>
        </p:txBody>
      </p:sp>
      <p:sp>
        <p:nvSpPr>
          <p:cNvPr id="3" name="內容版面配置區 2">
            <a:extLst>
              <a:ext uri="{FF2B5EF4-FFF2-40B4-BE49-F238E27FC236}">
                <a16:creationId xmlns:a16="http://schemas.microsoft.com/office/drawing/2014/main" id="{ABC877ED-8308-DC32-520F-70C0F0FB8751}"/>
              </a:ext>
            </a:extLst>
          </p:cNvPr>
          <p:cNvSpPr>
            <a:spLocks noGrp="1"/>
          </p:cNvSpPr>
          <p:nvPr>
            <p:ph idx="1"/>
          </p:nvPr>
        </p:nvSpPr>
        <p:spPr/>
        <p:txBody>
          <a:bodyPr/>
          <a:lstStyle/>
          <a:p>
            <a:r>
              <a:rPr kumimoji="1" lang="en-US" altLang="zh-TW" dirty="0"/>
              <a:t>Represent a </a:t>
            </a:r>
            <a:r>
              <a:rPr kumimoji="1" lang="en-US" altLang="zh-TW" dirty="0">
                <a:solidFill>
                  <a:srgbClr val="C00000"/>
                </a:solidFill>
              </a:rPr>
              <a:t>file opened by a process</a:t>
            </a:r>
            <a:r>
              <a:rPr kumimoji="1" lang="en-US" altLang="zh-TW" dirty="0"/>
              <a:t>.</a:t>
            </a:r>
          </a:p>
          <a:p>
            <a:r>
              <a:rPr kumimoji="1" lang="en-US" altLang="zh-TW" dirty="0"/>
              <a:t>There may have </a:t>
            </a:r>
            <a:r>
              <a:rPr kumimoji="1" lang="en-US" altLang="zh-TW" dirty="0">
                <a:solidFill>
                  <a:srgbClr val="C00000"/>
                </a:solidFill>
              </a:rPr>
              <a:t>multiple file objects for the same file</a:t>
            </a:r>
            <a:r>
              <a:rPr kumimoji="1" lang="en-US" altLang="zh-TW" dirty="0"/>
              <a:t>. (But, each file has only one </a:t>
            </a:r>
            <a:r>
              <a:rPr kumimoji="1" lang="en-US" altLang="zh-TW" dirty="0" err="1"/>
              <a:t>inode</a:t>
            </a:r>
            <a:r>
              <a:rPr kumimoji="1" lang="en-US" altLang="zh-TW" dirty="0"/>
              <a:t> and one </a:t>
            </a:r>
            <a:r>
              <a:rPr kumimoji="1" lang="en-US" altLang="zh-TW" dirty="0" err="1"/>
              <a:t>dentry</a:t>
            </a:r>
            <a:r>
              <a:rPr kumimoji="1" lang="en-US" altLang="zh-TW" dirty="0"/>
              <a:t>.)</a:t>
            </a:r>
          </a:p>
          <a:p>
            <a:r>
              <a:rPr lang="en-US" altLang="zh-TW" dirty="0"/>
              <a:t>Like </a:t>
            </a:r>
            <a:r>
              <a:rPr lang="en-US" altLang="zh-TW" dirty="0" err="1"/>
              <a:t>dentry</a:t>
            </a:r>
            <a:r>
              <a:rPr lang="en-US" altLang="zh-TW" dirty="0"/>
              <a:t> object, the file object </a:t>
            </a:r>
            <a:r>
              <a:rPr lang="en-US" altLang="zh-TW" dirty="0">
                <a:solidFill>
                  <a:srgbClr val="C00000"/>
                </a:solidFill>
              </a:rPr>
              <a:t>doesn’t correspond to any on-disk data</a:t>
            </a:r>
            <a:r>
              <a:rPr lang="en-US" altLang="zh-TW" dirty="0"/>
              <a:t>.</a:t>
            </a:r>
          </a:p>
          <a:p>
            <a:r>
              <a:rPr kumimoji="1" lang="en-US" altLang="zh-TW" dirty="0">
                <a:solidFill>
                  <a:srgbClr val="C00000"/>
                </a:solidFill>
              </a:rPr>
              <a:t>Filesystems</a:t>
            </a:r>
            <a:r>
              <a:rPr kumimoji="1" lang="en-US" altLang="zh-TW" dirty="0"/>
              <a:t> can </a:t>
            </a:r>
            <a:r>
              <a:rPr kumimoji="1" lang="en-US" altLang="zh-TW" dirty="0">
                <a:solidFill>
                  <a:srgbClr val="C00000"/>
                </a:solidFill>
              </a:rPr>
              <a:t>implement unique functions</a:t>
            </a:r>
            <a:r>
              <a:rPr kumimoji="1" lang="en-US" altLang="zh-TW" dirty="0"/>
              <a:t> for each of these operations, or they can </a:t>
            </a:r>
            <a:r>
              <a:rPr kumimoji="1" lang="en-US" altLang="zh-TW" dirty="0">
                <a:solidFill>
                  <a:srgbClr val="C00000"/>
                </a:solidFill>
              </a:rPr>
              <a:t>use a generic method </a:t>
            </a:r>
            <a:r>
              <a:rPr kumimoji="1" lang="en-US" altLang="zh-TW" dirty="0"/>
              <a:t>if one exists.</a:t>
            </a:r>
            <a:endParaRPr kumimoji="1" lang="zh-TW" altLang="en-US" dirty="0"/>
          </a:p>
        </p:txBody>
      </p:sp>
      <p:sp>
        <p:nvSpPr>
          <p:cNvPr id="4" name="投影片編號版面配置區 3">
            <a:extLst>
              <a:ext uri="{FF2B5EF4-FFF2-40B4-BE49-F238E27FC236}">
                <a16:creationId xmlns:a16="http://schemas.microsoft.com/office/drawing/2014/main" id="{D48EF121-24C7-4C40-DD03-E5C1565A4543}"/>
              </a:ext>
            </a:extLst>
          </p:cNvPr>
          <p:cNvSpPr>
            <a:spLocks noGrp="1"/>
          </p:cNvSpPr>
          <p:nvPr>
            <p:ph type="sldNum" sz="quarter" idx="4"/>
          </p:nvPr>
        </p:nvSpPr>
        <p:spPr/>
        <p:txBody>
          <a:bodyPr/>
          <a:lstStyle/>
          <a:p>
            <a:fld id="{E24E6636-6BA5-4AAC-8485-BE8D914D288B}" type="slidenum">
              <a:rPr lang="zh-TW" altLang="en-US" smtClean="0"/>
              <a:pPr/>
              <a:t>24</a:t>
            </a:fld>
            <a:endParaRPr lang="zh-TW" altLang="en-US" dirty="0"/>
          </a:p>
        </p:txBody>
      </p:sp>
      <p:grpSp>
        <p:nvGrpSpPr>
          <p:cNvPr id="14" name="群組 13">
            <a:extLst>
              <a:ext uri="{FF2B5EF4-FFF2-40B4-BE49-F238E27FC236}">
                <a16:creationId xmlns:a16="http://schemas.microsoft.com/office/drawing/2014/main" id="{72E7BE7A-5728-5354-327E-B1EBC7C8DC2B}"/>
              </a:ext>
            </a:extLst>
          </p:cNvPr>
          <p:cNvGrpSpPr/>
          <p:nvPr/>
        </p:nvGrpSpPr>
        <p:grpSpPr>
          <a:xfrm>
            <a:off x="64279" y="3931252"/>
            <a:ext cx="6262427" cy="2809146"/>
            <a:chOff x="64279" y="3931252"/>
            <a:chExt cx="6262427" cy="2809146"/>
          </a:xfrm>
        </p:grpSpPr>
        <p:pic>
          <p:nvPicPr>
            <p:cNvPr id="6" name="圖片 5" descr="一張含有 文字 的圖片&#10;&#10;自動產生的描述">
              <a:extLst>
                <a:ext uri="{FF2B5EF4-FFF2-40B4-BE49-F238E27FC236}">
                  <a16:creationId xmlns:a16="http://schemas.microsoft.com/office/drawing/2014/main" id="{9F2FACBB-05C7-ACF9-8569-E306FED666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79" y="3931252"/>
              <a:ext cx="6262427" cy="2809146"/>
            </a:xfrm>
            <a:prstGeom prst="rect">
              <a:avLst/>
            </a:prstGeom>
          </p:spPr>
        </p:pic>
        <p:sp>
          <p:nvSpPr>
            <p:cNvPr id="10" name="文字方塊 9">
              <a:extLst>
                <a:ext uri="{FF2B5EF4-FFF2-40B4-BE49-F238E27FC236}">
                  <a16:creationId xmlns:a16="http://schemas.microsoft.com/office/drawing/2014/main" id="{613C91F4-8AED-7F7A-FA56-5E1CAE6ADBD1}"/>
                </a:ext>
              </a:extLst>
            </p:cNvPr>
            <p:cNvSpPr txBox="1"/>
            <p:nvPr/>
          </p:nvSpPr>
          <p:spPr>
            <a:xfrm>
              <a:off x="1936048" y="4481462"/>
              <a:ext cx="4126424" cy="215444"/>
            </a:xfrm>
            <a:prstGeom prst="rect">
              <a:avLst/>
            </a:prstGeom>
            <a:solidFill>
              <a:schemeClr val="bg1"/>
            </a:solidFill>
          </p:spPr>
          <p:txBody>
            <a:bodyPr wrap="square" tIns="0" bIns="0" rtlCol="0">
              <a:spAutoFit/>
            </a:bodyPr>
            <a:lstStyle/>
            <a:p>
              <a:r>
                <a:rPr kumimoji="1" lang="en-US" altLang="zh-TW" sz="1400" dirty="0"/>
                <a:t>(struct file *file, char *</a:t>
              </a:r>
              <a:r>
                <a:rPr kumimoji="1" lang="en-US" altLang="zh-TW" sz="1400" dirty="0" err="1"/>
                <a:t>buf</a:t>
              </a:r>
              <a:r>
                <a:rPr kumimoji="1" lang="en-US" altLang="zh-TW" sz="1400" dirty="0"/>
                <a:t>, </a:t>
              </a:r>
              <a:r>
                <a:rPr kumimoji="1" lang="en-US" altLang="zh-TW" sz="1400" dirty="0" err="1"/>
                <a:t>size_t</a:t>
              </a:r>
              <a:r>
                <a:rPr kumimoji="1" lang="en-US" altLang="zh-TW" sz="1400" dirty="0"/>
                <a:t> count, </a:t>
              </a:r>
              <a:r>
                <a:rPr kumimoji="1" lang="en-US" altLang="zh-TW" sz="1400" dirty="0" err="1"/>
                <a:t>loff_t</a:t>
              </a:r>
              <a:r>
                <a:rPr kumimoji="1" lang="en-US" altLang="zh-TW" sz="1400" dirty="0"/>
                <a:t> *offset)</a:t>
              </a:r>
              <a:endParaRPr kumimoji="1" lang="zh-TW" altLang="en-US" sz="1400" dirty="0"/>
            </a:p>
          </p:txBody>
        </p:sp>
      </p:grpSp>
      <p:grpSp>
        <p:nvGrpSpPr>
          <p:cNvPr id="7" name="群組 6">
            <a:extLst>
              <a:ext uri="{FF2B5EF4-FFF2-40B4-BE49-F238E27FC236}">
                <a16:creationId xmlns:a16="http://schemas.microsoft.com/office/drawing/2014/main" id="{6480B135-9110-CD15-370E-526585F65BB1}"/>
              </a:ext>
            </a:extLst>
          </p:cNvPr>
          <p:cNvGrpSpPr/>
          <p:nvPr/>
        </p:nvGrpSpPr>
        <p:grpSpPr>
          <a:xfrm>
            <a:off x="5952716" y="4404518"/>
            <a:ext cx="6586158" cy="369332"/>
            <a:chOff x="7041671" y="3135954"/>
            <a:chExt cx="6586158" cy="369332"/>
          </a:xfrm>
        </p:grpSpPr>
        <p:cxnSp>
          <p:nvCxnSpPr>
            <p:cNvPr id="8" name="直線箭頭接點 7">
              <a:extLst>
                <a:ext uri="{FF2B5EF4-FFF2-40B4-BE49-F238E27FC236}">
                  <a16:creationId xmlns:a16="http://schemas.microsoft.com/office/drawing/2014/main" id="{FFC8DE4C-EB96-35ED-613E-EF1B516FD4CB}"/>
                </a:ext>
              </a:extLst>
            </p:cNvPr>
            <p:cNvCxnSpPr>
              <a:cxnSpLocks/>
            </p:cNvCxnSpPr>
            <p:nvPr/>
          </p:nvCxnSpPr>
          <p:spPr>
            <a:xfrm flipH="1">
              <a:off x="7041671" y="3320620"/>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E01FCF0C-0B07-073E-7019-6A91EA57958D}"/>
                </a:ext>
              </a:extLst>
            </p:cNvPr>
            <p:cNvSpPr txBox="1"/>
            <p:nvPr/>
          </p:nvSpPr>
          <p:spPr>
            <a:xfrm>
              <a:off x="7415661" y="3135954"/>
              <a:ext cx="6212168" cy="369332"/>
            </a:xfrm>
            <a:prstGeom prst="rect">
              <a:avLst/>
            </a:prstGeom>
            <a:noFill/>
          </p:spPr>
          <p:txBody>
            <a:bodyPr wrap="square" rtlCol="0">
              <a:spAutoFit/>
            </a:bodyPr>
            <a:lstStyle/>
            <a:p>
              <a:r>
                <a:rPr kumimoji="1" lang="en-US" altLang="zh-TW" dirty="0">
                  <a:solidFill>
                    <a:srgbClr val="C00000"/>
                  </a:solidFill>
                </a:rPr>
                <a:t>Read </a:t>
              </a:r>
              <a:r>
                <a:rPr kumimoji="1" lang="en-US" altLang="zh-TW" dirty="0">
                  <a:solidFill>
                    <a:srgbClr val="C00000"/>
                  </a:solidFill>
                  <a:latin typeface="+mj-lt"/>
                </a:rPr>
                <a:t>count</a:t>
              </a:r>
              <a:r>
                <a:rPr kumimoji="1" lang="en-US" altLang="zh-TW" dirty="0">
                  <a:solidFill>
                    <a:srgbClr val="C00000"/>
                  </a:solidFill>
                </a:rPr>
                <a:t> bytes from the given </a:t>
              </a:r>
              <a:r>
                <a:rPr kumimoji="1" lang="en-US" altLang="zh-TW" dirty="0">
                  <a:solidFill>
                    <a:srgbClr val="C00000"/>
                  </a:solidFill>
                  <a:latin typeface="+mj-lt"/>
                </a:rPr>
                <a:t>file</a:t>
              </a:r>
              <a:r>
                <a:rPr kumimoji="1" lang="en-US" altLang="zh-TW" dirty="0">
                  <a:solidFill>
                    <a:srgbClr val="C00000"/>
                  </a:solidFill>
                </a:rPr>
                <a:t> at position </a:t>
              </a:r>
              <a:r>
                <a:rPr kumimoji="1" lang="en-US" altLang="zh-TW" dirty="0">
                  <a:solidFill>
                    <a:srgbClr val="C00000"/>
                  </a:solidFill>
                  <a:latin typeface="+mj-lt"/>
                </a:rPr>
                <a:t>offset</a:t>
              </a:r>
              <a:r>
                <a:rPr kumimoji="1" lang="en-US" altLang="zh-TW" dirty="0">
                  <a:solidFill>
                    <a:srgbClr val="C00000"/>
                  </a:solidFill>
                </a:rPr>
                <a:t> into </a:t>
              </a:r>
              <a:r>
                <a:rPr kumimoji="1" lang="en-US" altLang="zh-TW" dirty="0" err="1">
                  <a:solidFill>
                    <a:srgbClr val="C00000"/>
                  </a:solidFill>
                  <a:latin typeface="+mj-lt"/>
                </a:rPr>
                <a:t>buf</a:t>
              </a:r>
              <a:r>
                <a:rPr kumimoji="1" lang="en-US" altLang="zh-TW" dirty="0">
                  <a:solidFill>
                    <a:srgbClr val="C00000"/>
                  </a:solidFill>
                </a:rPr>
                <a:t>.</a:t>
              </a:r>
              <a:endParaRPr kumimoji="1" lang="zh-TW" altLang="en-US" dirty="0">
                <a:solidFill>
                  <a:srgbClr val="C00000"/>
                </a:solidFill>
              </a:endParaRPr>
            </a:p>
          </p:txBody>
        </p:sp>
      </p:grpSp>
      <p:grpSp>
        <p:nvGrpSpPr>
          <p:cNvPr id="11" name="群組 10">
            <a:extLst>
              <a:ext uri="{FF2B5EF4-FFF2-40B4-BE49-F238E27FC236}">
                <a16:creationId xmlns:a16="http://schemas.microsoft.com/office/drawing/2014/main" id="{2F45020C-076D-340A-56B8-354CEB40426B}"/>
              </a:ext>
            </a:extLst>
          </p:cNvPr>
          <p:cNvGrpSpPr/>
          <p:nvPr/>
        </p:nvGrpSpPr>
        <p:grpSpPr>
          <a:xfrm>
            <a:off x="5952716" y="5760531"/>
            <a:ext cx="6586158" cy="369332"/>
            <a:chOff x="7041671" y="3135954"/>
            <a:chExt cx="6586158" cy="369332"/>
          </a:xfrm>
        </p:grpSpPr>
        <p:cxnSp>
          <p:nvCxnSpPr>
            <p:cNvPr id="12" name="直線箭頭接點 11">
              <a:extLst>
                <a:ext uri="{FF2B5EF4-FFF2-40B4-BE49-F238E27FC236}">
                  <a16:creationId xmlns:a16="http://schemas.microsoft.com/office/drawing/2014/main" id="{1F2807E3-396C-E51B-E6B4-F99C2F193CF9}"/>
                </a:ext>
              </a:extLst>
            </p:cNvPr>
            <p:cNvCxnSpPr>
              <a:cxnSpLocks/>
            </p:cNvCxnSpPr>
            <p:nvPr/>
          </p:nvCxnSpPr>
          <p:spPr>
            <a:xfrm flipH="1">
              <a:off x="7041671" y="3320620"/>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BF9F3544-B5CD-24A6-E296-1D506A60CC13}"/>
                </a:ext>
              </a:extLst>
            </p:cNvPr>
            <p:cNvSpPr txBox="1"/>
            <p:nvPr/>
          </p:nvSpPr>
          <p:spPr>
            <a:xfrm>
              <a:off x="7415661" y="3135954"/>
              <a:ext cx="6212168" cy="369332"/>
            </a:xfrm>
            <a:prstGeom prst="rect">
              <a:avLst/>
            </a:prstGeom>
            <a:noFill/>
          </p:spPr>
          <p:txBody>
            <a:bodyPr wrap="square" rtlCol="0">
              <a:spAutoFit/>
            </a:bodyPr>
            <a:lstStyle/>
            <a:p>
              <a:r>
                <a:rPr kumimoji="1" lang="en-US" altLang="zh-TW" dirty="0">
                  <a:solidFill>
                    <a:srgbClr val="C00000"/>
                  </a:solidFill>
                </a:rPr>
                <a:t>Sleeps, waiting for activity on the given file.</a:t>
              </a:r>
              <a:endParaRPr kumimoji="1" lang="zh-TW" altLang="en-US" dirty="0">
                <a:solidFill>
                  <a:srgbClr val="C00000"/>
                </a:solidFill>
              </a:endParaRPr>
            </a:p>
          </p:txBody>
        </p:sp>
      </p:grpSp>
    </p:spTree>
    <p:extLst>
      <p:ext uri="{BB962C8B-B14F-4D97-AF65-F5344CB8AC3E}">
        <p14:creationId xmlns:p14="http://schemas.microsoft.com/office/powerpoint/2010/main" val="1774087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mph" presetSubtype="0" nodeType="clickEffect">
                                  <p:stCondLst>
                                    <p:cond delay="0"/>
                                  </p:stCondLst>
                                  <p:childTnLst>
                                    <p:set>
                                      <p:cBhvr>
                                        <p:cTn id="29" dur="indefinite"/>
                                        <p:tgtEl>
                                          <p:spTgt spid="7"/>
                                        </p:tgtEl>
                                        <p:attrNameLst>
                                          <p:attrName>style.opacity</p:attrName>
                                        </p:attrNameLst>
                                      </p:cBhvr>
                                      <p:to>
                                        <p:strVal val="0.25"/>
                                      </p:to>
                                    </p:set>
                                    <p:animEffect filter="image" prLst="opacity: 0.25">
                                      <p:cBhvr rctx="IE">
                                        <p:cTn id="30" dur="indefinite"/>
                                        <p:tgtEl>
                                          <p:spTgt spid="7"/>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C1A803-1B3E-4E3D-2B9C-E1F0545AB286}"/>
              </a:ext>
            </a:extLst>
          </p:cNvPr>
          <p:cNvSpPr>
            <a:spLocks noGrp="1"/>
          </p:cNvSpPr>
          <p:nvPr>
            <p:ph type="title"/>
          </p:nvPr>
        </p:nvSpPr>
        <p:spPr/>
        <p:txBody>
          <a:bodyPr/>
          <a:lstStyle/>
          <a:p>
            <a:r>
              <a:rPr kumimoji="1" lang="en-US" altLang="zh-TW" dirty="0"/>
              <a:t>Put FS Components All Together</a:t>
            </a:r>
            <a:endParaRPr kumimoji="1" lang="zh-TW" altLang="en-US" dirty="0"/>
          </a:p>
        </p:txBody>
      </p:sp>
      <p:sp>
        <p:nvSpPr>
          <p:cNvPr id="3" name="內容版面配置區 2">
            <a:extLst>
              <a:ext uri="{FF2B5EF4-FFF2-40B4-BE49-F238E27FC236}">
                <a16:creationId xmlns:a16="http://schemas.microsoft.com/office/drawing/2014/main" id="{1105CFE1-5D36-D851-8A71-4F97D794D954}"/>
              </a:ext>
            </a:extLst>
          </p:cNvPr>
          <p:cNvSpPr>
            <a:spLocks noGrp="1"/>
          </p:cNvSpPr>
          <p:nvPr>
            <p:ph idx="1"/>
          </p:nvPr>
        </p:nvSpPr>
        <p:spPr/>
        <p:txBody>
          <a:bodyPr/>
          <a:lstStyle/>
          <a:p>
            <a:r>
              <a:rPr kumimoji="1" lang="en-US" altLang="zh-TW" dirty="0"/>
              <a:t>How does a process access a file:</a:t>
            </a:r>
            <a:endParaRPr kumimoji="1" lang="zh-TW" altLang="en-US" dirty="0"/>
          </a:p>
        </p:txBody>
      </p:sp>
      <p:sp>
        <p:nvSpPr>
          <p:cNvPr id="4" name="投影片編號版面配置區 3">
            <a:extLst>
              <a:ext uri="{FF2B5EF4-FFF2-40B4-BE49-F238E27FC236}">
                <a16:creationId xmlns:a16="http://schemas.microsoft.com/office/drawing/2014/main" id="{457E5EA5-4445-6B71-E940-18B681D63D50}"/>
              </a:ext>
            </a:extLst>
          </p:cNvPr>
          <p:cNvSpPr>
            <a:spLocks noGrp="1"/>
          </p:cNvSpPr>
          <p:nvPr>
            <p:ph type="sldNum" sz="quarter" idx="4"/>
          </p:nvPr>
        </p:nvSpPr>
        <p:spPr/>
        <p:txBody>
          <a:bodyPr/>
          <a:lstStyle/>
          <a:p>
            <a:fld id="{E24E6636-6BA5-4AAC-8485-BE8D914D288B}" type="slidenum">
              <a:rPr lang="zh-TW" altLang="en-US" smtClean="0"/>
              <a:pPr/>
              <a:t>25</a:t>
            </a:fld>
            <a:endParaRPr lang="zh-TW" altLang="en-US" dirty="0"/>
          </a:p>
        </p:txBody>
      </p:sp>
      <p:pic>
        <p:nvPicPr>
          <p:cNvPr id="7" name="圖片 6">
            <a:extLst>
              <a:ext uri="{FF2B5EF4-FFF2-40B4-BE49-F238E27FC236}">
                <a16:creationId xmlns:a16="http://schemas.microsoft.com/office/drawing/2014/main" id="{24BE013F-06F9-596E-5ED5-40C96C4422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3242" y="2301875"/>
            <a:ext cx="8645516" cy="4101326"/>
          </a:xfrm>
          <a:prstGeom prst="rect">
            <a:avLst/>
          </a:prstGeom>
        </p:spPr>
      </p:pic>
      <p:sp>
        <p:nvSpPr>
          <p:cNvPr id="8" name="文字方塊 7">
            <a:extLst>
              <a:ext uri="{FF2B5EF4-FFF2-40B4-BE49-F238E27FC236}">
                <a16:creationId xmlns:a16="http://schemas.microsoft.com/office/drawing/2014/main" id="{6647D395-D3EA-AA8F-57AE-A6A84AD3C20E}"/>
              </a:ext>
            </a:extLst>
          </p:cNvPr>
          <p:cNvSpPr txBox="1"/>
          <p:nvPr/>
        </p:nvSpPr>
        <p:spPr>
          <a:xfrm>
            <a:off x="-3858" y="6581001"/>
            <a:ext cx="6099858" cy="276999"/>
          </a:xfrm>
          <a:prstGeom prst="rect">
            <a:avLst/>
          </a:prstGeom>
          <a:noFill/>
        </p:spPr>
        <p:txBody>
          <a:bodyPr wrap="square">
            <a:spAutoFit/>
          </a:bodyPr>
          <a:lstStyle/>
          <a:p>
            <a:r>
              <a:rPr lang="en-US" altLang="zh-TW" sz="1200" dirty="0">
                <a:solidFill>
                  <a:schemeClr val="bg1">
                    <a:lumMod val="50000"/>
                  </a:schemeClr>
                </a:solidFill>
              </a:rPr>
              <a:t>Ref: </a:t>
            </a:r>
            <a:r>
              <a:rPr lang="zh-TW" altLang="en-US" sz="1200" dirty="0">
                <a:solidFill>
                  <a:schemeClr val="bg1">
                    <a:lumMod val="50000"/>
                  </a:schemeClr>
                </a:solidFill>
              </a:rPr>
              <a:t>https://myaut.github.io/dtrace-stap-book/kernel/fs.html</a:t>
            </a:r>
          </a:p>
        </p:txBody>
      </p:sp>
      <p:sp>
        <p:nvSpPr>
          <p:cNvPr id="5" name="矩形 4">
            <a:extLst>
              <a:ext uri="{FF2B5EF4-FFF2-40B4-BE49-F238E27FC236}">
                <a16:creationId xmlns:a16="http://schemas.microsoft.com/office/drawing/2014/main" id="{2462442A-2369-BF7E-A9A7-959899051F9C}"/>
              </a:ext>
            </a:extLst>
          </p:cNvPr>
          <p:cNvSpPr/>
          <p:nvPr/>
        </p:nvSpPr>
        <p:spPr>
          <a:xfrm>
            <a:off x="3645950" y="3197489"/>
            <a:ext cx="2079242" cy="22015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6" name="矩形 5">
            <a:extLst>
              <a:ext uri="{FF2B5EF4-FFF2-40B4-BE49-F238E27FC236}">
                <a16:creationId xmlns:a16="http://schemas.microsoft.com/office/drawing/2014/main" id="{A0DD09AF-4AFE-A262-496B-C2D0AAC84D74}"/>
              </a:ext>
            </a:extLst>
          </p:cNvPr>
          <p:cNvSpPr/>
          <p:nvPr/>
        </p:nvSpPr>
        <p:spPr>
          <a:xfrm>
            <a:off x="5706093" y="1918915"/>
            <a:ext cx="4539742" cy="22015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9" name="矩形 8">
            <a:extLst>
              <a:ext uri="{FF2B5EF4-FFF2-40B4-BE49-F238E27FC236}">
                <a16:creationId xmlns:a16="http://schemas.microsoft.com/office/drawing/2014/main" id="{9490783E-5BA8-D652-174D-B0B1776A6C04}"/>
              </a:ext>
            </a:extLst>
          </p:cNvPr>
          <p:cNvSpPr/>
          <p:nvPr/>
        </p:nvSpPr>
        <p:spPr>
          <a:xfrm>
            <a:off x="5711125" y="4045674"/>
            <a:ext cx="4433037" cy="23575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0" name="矩形 9">
            <a:extLst>
              <a:ext uri="{FF2B5EF4-FFF2-40B4-BE49-F238E27FC236}">
                <a16:creationId xmlns:a16="http://schemas.microsoft.com/office/drawing/2014/main" id="{F9756D4B-601F-51E6-6286-9777AC83EC6B}"/>
              </a:ext>
            </a:extLst>
          </p:cNvPr>
          <p:cNvSpPr/>
          <p:nvPr/>
        </p:nvSpPr>
        <p:spPr>
          <a:xfrm>
            <a:off x="10064152" y="2904305"/>
            <a:ext cx="964261" cy="23575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Tree>
    <p:extLst>
      <p:ext uri="{BB962C8B-B14F-4D97-AF65-F5344CB8AC3E}">
        <p14:creationId xmlns:p14="http://schemas.microsoft.com/office/powerpoint/2010/main" val="1478474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par>
                          <p:cTn id="18" fill="hold">
                            <p:stCondLst>
                              <p:cond delay="500"/>
                            </p:stCondLst>
                            <p:childTnLst>
                              <p:par>
                                <p:cTn id="19" presetID="22" presetClass="exit" presetSubtype="8" fill="hold" grpId="0" nodeType="afterEffect">
                                  <p:stCondLst>
                                    <p:cond delay="0"/>
                                  </p:stCondLst>
                                  <p:childTnLst>
                                    <p:animEffect transition="out" filter="wipe(left)">
                                      <p:cBhvr>
                                        <p:cTn id="20" dur="500"/>
                                        <p:tgtEl>
                                          <p:spTgt spid="10"/>
                                        </p:tgtEl>
                                      </p:cBhvr>
                                    </p:animEffect>
                                    <p:set>
                                      <p:cBhvr>
                                        <p:cTn id="21"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255885</TotalTime>
  <Words>3522</Words>
  <Application>Microsoft Macintosh PowerPoint</Application>
  <PresentationFormat>寬螢幕</PresentationFormat>
  <Paragraphs>472</Paragraphs>
  <Slides>25</Slides>
  <Notes>18</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25</vt:i4>
      </vt:variant>
    </vt:vector>
  </HeadingPairs>
  <TitlesOfParts>
    <vt:vector size="34" baseType="lpstr">
      <vt:lpstr>-apple-system</vt:lpstr>
      <vt:lpstr>Söhne</vt:lpstr>
      <vt:lpstr>Arial</vt:lpstr>
      <vt:lpstr>Bradley Hand</vt:lpstr>
      <vt:lpstr>Calibri</vt:lpstr>
      <vt:lpstr>Calibri Light</vt:lpstr>
      <vt:lpstr>Palatino Linotype</vt:lpstr>
      <vt:lpstr>Wingdings</vt:lpstr>
      <vt:lpstr>Office Theme</vt:lpstr>
      <vt:lpstr>PowerPoint 簡報</vt:lpstr>
      <vt:lpstr>Filesystem – What Users Know</vt:lpstr>
      <vt:lpstr>Filesystem – File and Directories</vt:lpstr>
      <vt:lpstr>Filesystem – More Technical</vt:lpstr>
      <vt:lpstr>Filesystem – More Technical (Count.)</vt:lpstr>
      <vt:lpstr>Filesystem – Soft &amp; Hard Links</vt:lpstr>
      <vt:lpstr>Layout Concepts of a FS (On Storage Device)</vt:lpstr>
      <vt:lpstr>Log-Structure File System</vt:lpstr>
      <vt:lpstr>Log-Structure File System (Count.)</vt:lpstr>
      <vt:lpstr>Log-Structure File System (Count.)</vt:lpstr>
      <vt:lpstr>Log-Structure File System (Count.)</vt:lpstr>
      <vt:lpstr>What is Virtual Filesystem (VFS)</vt:lpstr>
      <vt:lpstr>VFS Objects and Data Structures (Metadata)</vt:lpstr>
      <vt:lpstr>VFS Objects and Data Structures (Metadata)</vt:lpstr>
      <vt:lpstr>The Superblock Object</vt:lpstr>
      <vt:lpstr>The Superblock Operations</vt:lpstr>
      <vt:lpstr>The Inode Object &amp; Operations</vt:lpstr>
      <vt:lpstr>The Dentry Object</vt:lpstr>
      <vt:lpstr>The Dentry Operations</vt:lpstr>
      <vt:lpstr>More about Rename</vt:lpstr>
      <vt:lpstr>More about Rename (Count.)</vt:lpstr>
      <vt:lpstr>Example to Access /Path/to/File</vt:lpstr>
      <vt:lpstr>More About Dentry Object</vt:lpstr>
      <vt:lpstr>The File Object &amp; File Operations</vt:lpstr>
      <vt:lpstr>Put FS Components All Together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 Ming-Chang</dc:creator>
  <cp:lastModifiedBy>吳俊峯</cp:lastModifiedBy>
  <cp:revision>1788</cp:revision>
  <dcterms:created xsi:type="dcterms:W3CDTF">2017-10-03T14:18:54Z</dcterms:created>
  <dcterms:modified xsi:type="dcterms:W3CDTF">2025-11-25T20:30:55Z</dcterms:modified>
</cp:coreProperties>
</file>