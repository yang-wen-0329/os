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8"/>
  </p:notesMasterIdLst>
  <p:handoutMasterIdLst>
    <p:handoutMasterId r:id="rId39"/>
  </p:handoutMasterIdLst>
  <p:sldIdLst>
    <p:sldId id="1234" r:id="rId2"/>
    <p:sldId id="1149" r:id="rId3"/>
    <p:sldId id="1178" r:id="rId4"/>
    <p:sldId id="1179" r:id="rId5"/>
    <p:sldId id="1168" r:id="rId6"/>
    <p:sldId id="1188" r:id="rId7"/>
    <p:sldId id="1180" r:id="rId8"/>
    <p:sldId id="1223" r:id="rId9"/>
    <p:sldId id="1183" r:id="rId10"/>
    <p:sldId id="1191" r:id="rId11"/>
    <p:sldId id="1185" r:id="rId12"/>
    <p:sldId id="1186" r:id="rId13"/>
    <p:sldId id="1190" r:id="rId14"/>
    <p:sldId id="1193" r:id="rId15"/>
    <p:sldId id="1236" r:id="rId16"/>
    <p:sldId id="1192" r:id="rId17"/>
    <p:sldId id="1187" r:id="rId18"/>
    <p:sldId id="1197" r:id="rId19"/>
    <p:sldId id="1196" r:id="rId20"/>
    <p:sldId id="1198" r:id="rId21"/>
    <p:sldId id="1224" r:id="rId22"/>
    <p:sldId id="1194" r:id="rId23"/>
    <p:sldId id="1199" r:id="rId24"/>
    <p:sldId id="1200" r:id="rId25"/>
    <p:sldId id="1201" r:id="rId26"/>
    <p:sldId id="1202" r:id="rId27"/>
    <p:sldId id="1203" r:id="rId28"/>
    <p:sldId id="1219" r:id="rId29"/>
    <p:sldId id="1204" r:id="rId30"/>
    <p:sldId id="1207" r:id="rId31"/>
    <p:sldId id="1184" r:id="rId32"/>
    <p:sldId id="1220" r:id="rId33"/>
    <p:sldId id="1225" r:id="rId34"/>
    <p:sldId id="1216" r:id="rId35"/>
    <p:sldId id="1218" r:id="rId36"/>
    <p:sldId id="1208" r:id="rId37"/>
  </p:sldIdLst>
  <p:sldSz cx="12192000" cy="6858000"/>
  <p:notesSz cx="7099300" cy="102346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4A1A42E-9635-48ED-A31C-3B34D71B1AD6}">
          <p14:sldIdLst>
            <p14:sldId id="1234"/>
            <p14:sldId id="1149"/>
            <p14:sldId id="1178"/>
            <p14:sldId id="1179"/>
            <p14:sldId id="1168"/>
            <p14:sldId id="1188"/>
            <p14:sldId id="1180"/>
            <p14:sldId id="1223"/>
            <p14:sldId id="1183"/>
            <p14:sldId id="1191"/>
            <p14:sldId id="1185"/>
            <p14:sldId id="1186"/>
            <p14:sldId id="1190"/>
            <p14:sldId id="1193"/>
            <p14:sldId id="1236"/>
            <p14:sldId id="1192"/>
            <p14:sldId id="1187"/>
            <p14:sldId id="1197"/>
            <p14:sldId id="1196"/>
            <p14:sldId id="1198"/>
            <p14:sldId id="1224"/>
            <p14:sldId id="1194"/>
            <p14:sldId id="1199"/>
            <p14:sldId id="1200"/>
            <p14:sldId id="1201"/>
            <p14:sldId id="1202"/>
            <p14:sldId id="1203"/>
            <p14:sldId id="1219"/>
            <p14:sldId id="1204"/>
            <p14:sldId id="1207"/>
            <p14:sldId id="1184"/>
            <p14:sldId id="1220"/>
            <p14:sldId id="1225"/>
            <p14:sldId id="1216"/>
            <p14:sldId id="1218"/>
            <p14:sldId id="120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FA8"/>
    <a:srgbClr val="FBBFC8"/>
    <a:srgbClr val="F6DF98"/>
    <a:srgbClr val="800080"/>
    <a:srgbClr val="F3CF64"/>
    <a:srgbClr val="FFFD99"/>
    <a:srgbClr val="F2F2F2"/>
    <a:srgbClr val="EAEB01"/>
    <a:srgbClr val="800300"/>
    <a:srgbClr val="EB7B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674" autoAdjust="0"/>
    <p:restoredTop sz="85146" autoAdjust="0"/>
  </p:normalViewPr>
  <p:slideViewPr>
    <p:cSldViewPr snapToGrid="0">
      <p:cViewPr varScale="1">
        <p:scale>
          <a:sx n="143" d="100"/>
          <a:sy n="143" d="100"/>
        </p:scale>
        <p:origin x="2312" y="200"/>
      </p:cViewPr>
      <p:guideLst/>
    </p:cSldViewPr>
  </p:slideViewPr>
  <p:notesTextViewPr>
    <p:cViewPr>
      <p:scale>
        <a:sx n="120" d="100"/>
        <a:sy n="120" d="100"/>
      </p:scale>
      <p:origin x="0" y="0"/>
    </p:cViewPr>
  </p:notesTextViewPr>
  <p:sorterViewPr>
    <p:cViewPr>
      <p:scale>
        <a:sx n="200" d="100"/>
        <a:sy n="200" d="100"/>
      </p:scale>
      <p:origin x="0" y="-235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575" cy="512763"/>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4021139" y="1"/>
            <a:ext cx="3076575" cy="512763"/>
          </a:xfrm>
          <a:prstGeom prst="rect">
            <a:avLst/>
          </a:prstGeom>
        </p:spPr>
        <p:txBody>
          <a:bodyPr vert="horz" lIns="91440" tIns="45720" rIns="91440" bIns="45720" rtlCol="0"/>
          <a:lstStyle>
            <a:lvl1pPr algn="r">
              <a:defRPr sz="1200"/>
            </a:lvl1pPr>
          </a:lstStyle>
          <a:p>
            <a:fld id="{C70AB553-F76C-4E9E-A6A8-687C6D4F2678}" type="datetimeFigureOut">
              <a:rPr lang="zh-TW" altLang="en-US" smtClean="0"/>
              <a:t>2025/10/15</a:t>
            </a:fld>
            <a:endParaRPr lang="zh-TW" altLang="en-US"/>
          </a:p>
        </p:txBody>
      </p:sp>
      <p:sp>
        <p:nvSpPr>
          <p:cNvPr id="4" name="Footer Placeholder 3"/>
          <p:cNvSpPr>
            <a:spLocks noGrp="1"/>
          </p:cNvSpPr>
          <p:nvPr>
            <p:ph type="ftr" sz="quarter" idx="2"/>
          </p:nvPr>
        </p:nvSpPr>
        <p:spPr>
          <a:xfrm>
            <a:off x="1" y="9721851"/>
            <a:ext cx="3076575" cy="512763"/>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4021139" y="9721851"/>
            <a:ext cx="3076575" cy="512763"/>
          </a:xfrm>
          <a:prstGeom prst="rect">
            <a:avLst/>
          </a:prstGeom>
        </p:spPr>
        <p:txBody>
          <a:bodyPr vert="horz" lIns="91440" tIns="45720" rIns="91440" bIns="45720" rtlCol="0" anchor="b"/>
          <a:lstStyle>
            <a:lvl1pPr algn="r">
              <a:defRPr sz="1200"/>
            </a:lvl1pPr>
          </a:lstStyle>
          <a:p>
            <a:fld id="{56A29E38-24E5-4270-86F6-0CA4D49E0625}" type="slidenum">
              <a:rPr lang="zh-TW" altLang="en-US" smtClean="0"/>
              <a:t>‹#›</a:t>
            </a:fld>
            <a:endParaRPr lang="zh-TW" altLang="en-US"/>
          </a:p>
        </p:txBody>
      </p:sp>
    </p:spTree>
    <p:extLst>
      <p:ext uri="{BB962C8B-B14F-4D97-AF65-F5344CB8AC3E}">
        <p14:creationId xmlns:p14="http://schemas.microsoft.com/office/powerpoint/2010/main" val="12523679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endParaRPr lang="zh-TW" altLang="en-US"/>
          </a:p>
        </p:txBody>
      </p:sp>
      <p:sp>
        <p:nvSpPr>
          <p:cNvPr id="3" name="Date Placeholder 2"/>
          <p:cNvSpPr>
            <a:spLocks noGrp="1"/>
          </p:cNvSpPr>
          <p:nvPr>
            <p:ph type="dt" idx="1"/>
          </p:nvPr>
        </p:nvSpPr>
        <p:spPr>
          <a:xfrm>
            <a:off x="4021295" y="0"/>
            <a:ext cx="3076363" cy="513508"/>
          </a:xfrm>
          <a:prstGeom prst="rect">
            <a:avLst/>
          </a:prstGeom>
        </p:spPr>
        <p:txBody>
          <a:bodyPr vert="horz" lIns="99048" tIns="49524" rIns="99048" bIns="49524" rtlCol="0"/>
          <a:lstStyle>
            <a:lvl1pPr algn="r">
              <a:defRPr sz="1300"/>
            </a:lvl1pPr>
          </a:lstStyle>
          <a:p>
            <a:fld id="{C2CF7E20-0940-468E-AEA3-3A81AFC8423F}" type="datetimeFigureOut">
              <a:rPr lang="zh-TW" altLang="en-US" smtClean="0"/>
              <a:t>2025/10/15</a:t>
            </a:fld>
            <a:endParaRPr lang="zh-TW" altLang="en-US"/>
          </a:p>
        </p:txBody>
      </p:sp>
      <p:sp>
        <p:nvSpPr>
          <p:cNvPr id="4" name="Slide Image Placeholder 3"/>
          <p:cNvSpPr>
            <a:spLocks noGrp="1" noRot="1" noChangeAspect="1"/>
          </p:cNvSpPr>
          <p:nvPr>
            <p:ph type="sldImg" idx="2"/>
          </p:nvPr>
        </p:nvSpPr>
        <p:spPr>
          <a:xfrm>
            <a:off x="481013" y="1279525"/>
            <a:ext cx="6137275" cy="3452813"/>
          </a:xfrm>
          <a:prstGeom prst="rect">
            <a:avLst/>
          </a:prstGeom>
          <a:noFill/>
          <a:ln w="12700">
            <a:solidFill>
              <a:prstClr val="black"/>
            </a:solidFill>
          </a:ln>
        </p:spPr>
        <p:txBody>
          <a:bodyPr vert="horz" lIns="99048" tIns="49524" rIns="99048" bIns="49524" rtlCol="0" anchor="ctr"/>
          <a:lstStyle/>
          <a:p>
            <a:endParaRPr lang="zh-TW" altLang="en-US"/>
          </a:p>
        </p:txBody>
      </p:sp>
      <p:sp>
        <p:nvSpPr>
          <p:cNvPr id="5" name="Notes Placeholder 4"/>
          <p:cNvSpPr>
            <a:spLocks noGrp="1"/>
          </p:cNvSpPr>
          <p:nvPr>
            <p:ph type="body" sz="quarter" idx="3"/>
          </p:nvPr>
        </p:nvSpPr>
        <p:spPr>
          <a:xfrm>
            <a:off x="709930" y="4925408"/>
            <a:ext cx="5679440" cy="4029878"/>
          </a:xfrm>
          <a:prstGeom prst="rect">
            <a:avLst/>
          </a:prstGeom>
        </p:spPr>
        <p:txBody>
          <a:bodyPr vert="horz" lIns="99048" tIns="49524" rIns="99048" bIns="49524" rtlCol="0"/>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1" y="9721108"/>
            <a:ext cx="3076363" cy="513507"/>
          </a:xfrm>
          <a:prstGeom prst="rect">
            <a:avLst/>
          </a:prstGeom>
        </p:spPr>
        <p:txBody>
          <a:bodyPr vert="horz" lIns="99048" tIns="49524" rIns="99048" bIns="49524" rtlCol="0" anchor="b"/>
          <a:lstStyle>
            <a:lvl1pPr algn="l">
              <a:defRPr sz="1300"/>
            </a:lvl1pPr>
          </a:lstStyle>
          <a:p>
            <a:endParaRPr lang="zh-TW" altLang="en-US"/>
          </a:p>
        </p:txBody>
      </p:sp>
      <p:sp>
        <p:nvSpPr>
          <p:cNvPr id="7" name="Slide Number Placeholder 6"/>
          <p:cNvSpPr>
            <a:spLocks noGrp="1"/>
          </p:cNvSpPr>
          <p:nvPr>
            <p:ph type="sldNum" sz="quarter" idx="5"/>
          </p:nvPr>
        </p:nvSpPr>
        <p:spPr>
          <a:xfrm>
            <a:off x="4021295" y="9721108"/>
            <a:ext cx="3076363" cy="513507"/>
          </a:xfrm>
          <a:prstGeom prst="rect">
            <a:avLst/>
          </a:prstGeom>
        </p:spPr>
        <p:txBody>
          <a:bodyPr vert="horz" lIns="99048" tIns="49524" rIns="99048" bIns="49524" rtlCol="0" anchor="b"/>
          <a:lstStyle>
            <a:lvl1pPr algn="r">
              <a:defRPr sz="1300"/>
            </a:lvl1pPr>
          </a:lstStyle>
          <a:p>
            <a:fld id="{7EE20D91-FCA7-443A-BB7B-86FCD89A57B0}" type="slidenum">
              <a:rPr lang="zh-TW" altLang="en-US" smtClean="0"/>
              <a:t>‹#›</a:t>
            </a:fld>
            <a:endParaRPr lang="zh-TW" altLang="en-US"/>
          </a:p>
        </p:txBody>
      </p:sp>
    </p:spTree>
    <p:extLst>
      <p:ext uri="{BB962C8B-B14F-4D97-AF65-F5344CB8AC3E}">
        <p14:creationId xmlns:p14="http://schemas.microsoft.com/office/powerpoint/2010/main" val="4137020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a:t>
            </a:fld>
            <a:endParaRPr lang="zh-TW" altLang="en-US"/>
          </a:p>
        </p:txBody>
      </p:sp>
    </p:spTree>
    <p:extLst>
      <p:ext uri="{BB962C8B-B14F-4D97-AF65-F5344CB8AC3E}">
        <p14:creationId xmlns:p14="http://schemas.microsoft.com/office/powerpoint/2010/main" val="31684058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3</a:t>
            </a:fld>
            <a:endParaRPr lang="zh-TW" altLang="en-US"/>
          </a:p>
        </p:txBody>
      </p:sp>
    </p:spTree>
    <p:extLst>
      <p:ext uri="{BB962C8B-B14F-4D97-AF65-F5344CB8AC3E}">
        <p14:creationId xmlns:p14="http://schemas.microsoft.com/office/powerpoint/2010/main" val="3564833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Actually, there is no specific name for the table inside interrupt controller</a:t>
            </a:r>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4</a:t>
            </a:fld>
            <a:endParaRPr lang="zh-TW" altLang="en-US"/>
          </a:p>
        </p:txBody>
      </p:sp>
    </p:spTree>
    <p:extLst>
      <p:ext uri="{BB962C8B-B14F-4D97-AF65-F5344CB8AC3E}">
        <p14:creationId xmlns:p14="http://schemas.microsoft.com/office/powerpoint/2010/main" val="8045255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5</a:t>
            </a:fld>
            <a:endParaRPr lang="zh-TW" altLang="en-US"/>
          </a:p>
        </p:txBody>
      </p:sp>
    </p:spTree>
    <p:extLst>
      <p:ext uri="{BB962C8B-B14F-4D97-AF65-F5344CB8AC3E}">
        <p14:creationId xmlns:p14="http://schemas.microsoft.com/office/powerpoint/2010/main" val="29382358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Good Morning, My name is Chun-Feng Wu.</a:t>
            </a:r>
            <a:br>
              <a:rPr lang="en-US" altLang="zh-CN"/>
            </a:br>
            <a:r>
              <a:rPr lang="en-US" altLang="zh-CN"/>
              <a:t>In this presentation, I will briefly introduce myself and </a:t>
            </a:r>
            <a:r>
              <a:rPr lang="en-US" altLang="zh-TW"/>
              <a:t>share</a:t>
            </a:r>
            <a:r>
              <a:rPr lang="en-US" altLang="zh-CN"/>
              <a:t> some key idea of my researches.</a:t>
            </a:r>
          </a:p>
          <a:p>
            <a:endParaRPr lang="en-US" altLang="zh-CN"/>
          </a:p>
          <a:p>
            <a:r>
              <a:rPr lang="en-US" altLang="zh-CN"/>
              <a:t>Intensive data movement is one of the critical issue when Von-Neumann machines enter the big data era.</a:t>
            </a:r>
          </a:p>
          <a:p>
            <a:r>
              <a:rPr lang="en-US" altLang="zh-CN"/>
              <a:t>To deal with this issue, my research is to enable a fast, large and device-friendly next-generation computing system.</a:t>
            </a:r>
            <a:endParaRPr lang="en-US" altLang="zh-CN" dirty="0"/>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6</a:t>
            </a:fld>
            <a:endParaRPr lang="zh-TW" altLang="en-US"/>
          </a:p>
        </p:txBody>
      </p:sp>
    </p:spTree>
    <p:extLst>
      <p:ext uri="{BB962C8B-B14F-4D97-AF65-F5344CB8AC3E}">
        <p14:creationId xmlns:p14="http://schemas.microsoft.com/office/powerpoint/2010/main" val="35087591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7</a:t>
            </a:fld>
            <a:endParaRPr lang="zh-TW" altLang="en-US"/>
          </a:p>
        </p:txBody>
      </p:sp>
    </p:spTree>
    <p:extLst>
      <p:ext uri="{BB962C8B-B14F-4D97-AF65-F5344CB8AC3E}">
        <p14:creationId xmlns:p14="http://schemas.microsoft.com/office/powerpoint/2010/main" val="3743315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9</a:t>
            </a:fld>
            <a:endParaRPr lang="zh-TW" altLang="en-US"/>
          </a:p>
        </p:txBody>
      </p:sp>
    </p:spTree>
    <p:extLst>
      <p:ext uri="{BB962C8B-B14F-4D97-AF65-F5344CB8AC3E}">
        <p14:creationId xmlns:p14="http://schemas.microsoft.com/office/powerpoint/2010/main" val="62303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10</a:t>
            </a:fld>
            <a:endParaRPr lang="zh-TW" altLang="en-US"/>
          </a:p>
        </p:txBody>
      </p:sp>
    </p:spTree>
    <p:extLst>
      <p:ext uri="{BB962C8B-B14F-4D97-AF65-F5344CB8AC3E}">
        <p14:creationId xmlns:p14="http://schemas.microsoft.com/office/powerpoint/2010/main" val="31904935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14</a:t>
            </a:fld>
            <a:endParaRPr lang="zh-TW" altLang="en-US"/>
          </a:p>
        </p:txBody>
      </p:sp>
    </p:spTree>
    <p:extLst>
      <p:ext uri="{BB962C8B-B14F-4D97-AF65-F5344CB8AC3E}">
        <p14:creationId xmlns:p14="http://schemas.microsoft.com/office/powerpoint/2010/main" val="164038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16</a:t>
            </a:fld>
            <a:endParaRPr lang="zh-TW" altLang="en-US"/>
          </a:p>
        </p:txBody>
      </p:sp>
    </p:spTree>
    <p:extLst>
      <p:ext uri="{BB962C8B-B14F-4D97-AF65-F5344CB8AC3E}">
        <p14:creationId xmlns:p14="http://schemas.microsoft.com/office/powerpoint/2010/main" val="13061083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dirty="0">
                <a:solidFill>
                  <a:schemeClr val="tx1"/>
                </a:solidFill>
              </a:rPr>
              <a:t>The slab layer divides different objects into groups called caches, each of which stores a different type of object.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TW" dirty="0">
              <a:solidFill>
                <a:schemeClr val="tx1"/>
              </a:solidFill>
            </a:endParaRPr>
          </a:p>
          <a:p>
            <a:pPr lvl="1" algn="l"/>
            <a:r>
              <a:rPr lang="en-US" altLang="zh-TW" dirty="0">
                <a:solidFill>
                  <a:schemeClr val="tx1"/>
                </a:solidFill>
                <a:sym typeface="Wingdings" pitchFamily="2" charset="2"/>
              </a:rPr>
              <a:t>Full Lists: All objects on a slab marked as used</a:t>
            </a:r>
          </a:p>
          <a:p>
            <a:pPr lvl="1" algn="l"/>
            <a:r>
              <a:rPr lang="en-US" altLang="zh-TW" dirty="0">
                <a:solidFill>
                  <a:schemeClr val="tx1"/>
                </a:solidFill>
                <a:sym typeface="Wingdings" pitchFamily="2" charset="2"/>
              </a:rPr>
              <a:t>Partial Lists: Slab comprises both used and free objects</a:t>
            </a:r>
          </a:p>
          <a:p>
            <a:pPr lvl="1" algn="l"/>
            <a:r>
              <a:rPr lang="en-US" altLang="zh-TW" dirty="0">
                <a:solidFill>
                  <a:schemeClr val="tx1"/>
                </a:solidFill>
                <a:sym typeface="Wingdings" pitchFamily="2" charset="2"/>
              </a:rPr>
              <a:t>Empty Lists: All objects on a slab marked as free</a:t>
            </a:r>
            <a:endParaRPr lang="en-US" altLang="zh-TW"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solidFill>
                <a:srgbClr val="C00000"/>
              </a:solidFill>
            </a:endParaRP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19</a:t>
            </a:fld>
            <a:endParaRPr lang="zh-TW" altLang="en-US"/>
          </a:p>
        </p:txBody>
      </p:sp>
    </p:spTree>
    <p:extLst>
      <p:ext uri="{BB962C8B-B14F-4D97-AF65-F5344CB8AC3E}">
        <p14:creationId xmlns:p14="http://schemas.microsoft.com/office/powerpoint/2010/main" val="875629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dirty="0">
                <a:solidFill>
                  <a:schemeClr val="tx1"/>
                </a:solidFill>
              </a:rPr>
              <a:t>The slab layer divides different objects into groups called caches, each of which stores a different type of object.</a:t>
            </a:r>
            <a:endParaRPr lang="en-US" altLang="zh-TW" dirty="0">
              <a:solidFill>
                <a:srgbClr val="C00000"/>
              </a:solidFill>
            </a:endParaRPr>
          </a:p>
          <a:p>
            <a:br>
              <a:rPr kumimoji="1" lang="en-US" altLang="zh-TW" dirty="0"/>
            </a:br>
            <a:r>
              <a:rPr lang="en-US" altLang="zh-TW" b="0" i="0" dirty="0">
                <a:solidFill>
                  <a:srgbClr val="222222"/>
                </a:solidFill>
                <a:effectLst/>
                <a:latin typeface="Arial" panose="020B0604020202020204" pitchFamily="34" charset="0"/>
              </a:rPr>
              <a:t>On the same system and with the same kernel configuration, the size of the slab cache allocated for the same object should typically remain consistent. Slab caches are created based on the specific requirements of the objects they manage, and once configured, they maintain a consistent size.</a:t>
            </a:r>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20</a:t>
            </a:fld>
            <a:endParaRPr lang="zh-TW" altLang="en-US"/>
          </a:p>
        </p:txBody>
      </p:sp>
    </p:spTree>
    <p:extLst>
      <p:ext uri="{BB962C8B-B14F-4D97-AF65-F5344CB8AC3E}">
        <p14:creationId xmlns:p14="http://schemas.microsoft.com/office/powerpoint/2010/main" val="30071694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21</a:t>
            </a:fld>
            <a:endParaRPr lang="zh-TW" altLang="en-US"/>
          </a:p>
        </p:txBody>
      </p:sp>
    </p:spTree>
    <p:extLst>
      <p:ext uri="{BB962C8B-B14F-4D97-AF65-F5344CB8AC3E}">
        <p14:creationId xmlns:p14="http://schemas.microsoft.com/office/powerpoint/2010/main" val="11356494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r>
              <a:rPr lang="en-US" altLang="zh-TW" b="0" i="0" dirty="0">
                <a:solidFill>
                  <a:srgbClr val="374151"/>
                </a:solidFill>
                <a:effectLst/>
                <a:latin typeface="Söhne"/>
              </a:rPr>
              <a:t>When you use </a:t>
            </a:r>
            <a:r>
              <a:rPr lang="en-US" altLang="zh-TW" b="0" i="0" dirty="0" err="1">
                <a:solidFill>
                  <a:srgbClr val="374151"/>
                </a:solidFill>
                <a:effectLst/>
                <a:latin typeface="Söhne"/>
              </a:rPr>
              <a:t>vmalloc</a:t>
            </a:r>
            <a:r>
              <a:rPr lang="en-US" altLang="zh-TW" b="0" i="0" dirty="0">
                <a:solidFill>
                  <a:srgbClr val="374151"/>
                </a:solidFill>
                <a:effectLst/>
                <a:latin typeface="Söhne"/>
              </a:rPr>
              <a:t>() in the Linux kernel, it initially allocates a contiguous region of virtual memory, but it doesn't immediately allocate corresponding physical memory. The physical memory allocation occurs on-demand, as pages within the virtual memory region are accessed and written to.</a:t>
            </a:r>
          </a:p>
          <a:p>
            <a:br>
              <a:rPr lang="en-US" altLang="zh-TW" dirty="0"/>
            </a:br>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22</a:t>
            </a:fld>
            <a:endParaRPr lang="zh-TW" altLang="en-US"/>
          </a:p>
        </p:txBody>
      </p:sp>
    </p:spTree>
    <p:extLst>
      <p:ext uri="{BB962C8B-B14F-4D97-AF65-F5344CB8AC3E}">
        <p14:creationId xmlns:p14="http://schemas.microsoft.com/office/powerpoint/2010/main" val="28994431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buFont typeface="+mj-lt"/>
              <a:buNone/>
            </a:pPr>
            <a:r>
              <a:rPr lang="en-US" altLang="zh-TW" b="0" i="0" dirty="0">
                <a:solidFill>
                  <a:srgbClr val="374151"/>
                </a:solidFill>
                <a:effectLst/>
                <a:latin typeface="Söhne"/>
              </a:rPr>
              <a:t>High memory is typically used for situations where physical memory addresses exceed the limitations of the CPU's address bus.</a:t>
            </a:r>
            <a:endParaRPr lang="en-US" altLang="zh-TW" b="1" i="0" dirty="0">
              <a:solidFill>
                <a:srgbClr val="374151"/>
              </a:solidFill>
              <a:effectLst/>
              <a:latin typeface="Söhne"/>
            </a:endParaRPr>
          </a:p>
          <a:p>
            <a:pPr algn="l">
              <a:buFont typeface="+mj-lt"/>
              <a:buAutoNum type="arabicPeriod"/>
            </a:pPr>
            <a:r>
              <a:rPr lang="en-US" altLang="zh-TW" b="1" i="0" dirty="0">
                <a:solidFill>
                  <a:srgbClr val="374151"/>
                </a:solidFill>
                <a:effectLst/>
                <a:latin typeface="Söhne"/>
              </a:rPr>
              <a:t>File Caching</a:t>
            </a:r>
            <a:r>
              <a:rPr lang="en-US" altLang="zh-TW" b="0" i="0" dirty="0">
                <a:solidFill>
                  <a:srgbClr val="374151"/>
                </a:solidFill>
                <a:effectLst/>
                <a:latin typeface="Söhne"/>
              </a:rPr>
              <a:t>: High memory can be used for caching file data that doesn't need to be in the lower, directly accessible physical memory. When data is read from disk, it can be cached in high memory, making efficient use of the available RAM for caching purposes.</a:t>
            </a:r>
          </a:p>
          <a:p>
            <a:pPr algn="l">
              <a:buFont typeface="+mj-lt"/>
              <a:buAutoNum type="arabicPeriod"/>
            </a:pPr>
            <a:r>
              <a:rPr lang="en-US" altLang="zh-TW" b="1" i="0" dirty="0">
                <a:solidFill>
                  <a:srgbClr val="374151"/>
                </a:solidFill>
                <a:effectLst/>
                <a:latin typeface="Söhne"/>
              </a:rPr>
              <a:t>User Process Address Space</a:t>
            </a:r>
            <a:r>
              <a:rPr lang="en-US" altLang="zh-TW" b="0" i="0" dirty="0">
                <a:solidFill>
                  <a:srgbClr val="374151"/>
                </a:solidFill>
                <a:effectLst/>
                <a:latin typeface="Söhne"/>
              </a:rPr>
              <a:t>: High memory can be used for mapping parts of user processes' address space when it is necessary to allocate memory that doesn't need to be directly accessible with the CPU's 32-bit address space.</a:t>
            </a:r>
          </a:p>
          <a:p>
            <a:pPr algn="l">
              <a:buFont typeface="+mj-lt"/>
              <a:buAutoNum type="arabicPeriod"/>
            </a:pPr>
            <a:r>
              <a:rPr lang="en-US" altLang="zh-TW" b="1" i="0" dirty="0">
                <a:solidFill>
                  <a:srgbClr val="374151"/>
                </a:solidFill>
                <a:effectLst/>
                <a:latin typeface="Söhne"/>
              </a:rPr>
              <a:t>DMA and I/O Buffers</a:t>
            </a:r>
            <a:r>
              <a:rPr lang="en-US" altLang="zh-TW" b="0" i="0" dirty="0">
                <a:solidFill>
                  <a:srgbClr val="374151"/>
                </a:solidFill>
                <a:effectLst/>
                <a:latin typeface="Söhne"/>
              </a:rPr>
              <a:t>: High memory can be used for Direct Memory Access (DMA) buffers and I/O buffers that are not directly accessible by the CPU. This is important for certain device drivers and hardware devices that require DMA to transfer data directly between device and RAM.</a:t>
            </a:r>
          </a:p>
          <a:p>
            <a:pPr algn="l">
              <a:buFont typeface="+mj-lt"/>
              <a:buAutoNum type="arabicPeriod"/>
            </a:pPr>
            <a:r>
              <a:rPr lang="en-US" altLang="zh-TW" b="1" i="0" dirty="0">
                <a:solidFill>
                  <a:srgbClr val="374151"/>
                </a:solidFill>
                <a:effectLst/>
                <a:latin typeface="Söhne"/>
              </a:rPr>
              <a:t>Large Kernel Data Structures</a:t>
            </a:r>
            <a:r>
              <a:rPr lang="en-US" altLang="zh-TW" b="0" i="0" dirty="0">
                <a:solidFill>
                  <a:srgbClr val="374151"/>
                </a:solidFill>
                <a:effectLst/>
                <a:latin typeface="Söhne"/>
              </a:rPr>
              <a:t>: Some kernel data structures, like those used for large networking buffers or certain types of kernel caches, may be allocated in high memory to avoid fragmentation in lower memory areas.</a:t>
            </a:r>
          </a:p>
          <a:p>
            <a:pPr algn="l">
              <a:buFont typeface="+mj-lt"/>
              <a:buAutoNum type="arabicPeriod"/>
            </a:pPr>
            <a:r>
              <a:rPr lang="en-US" altLang="zh-TW" b="1" i="0" dirty="0">
                <a:solidFill>
                  <a:srgbClr val="374151"/>
                </a:solidFill>
                <a:effectLst/>
                <a:latin typeface="Söhne"/>
              </a:rPr>
              <a:t>Shared Memory</a:t>
            </a:r>
            <a:r>
              <a:rPr lang="en-US" altLang="zh-TW" b="0" i="0" dirty="0">
                <a:solidFill>
                  <a:srgbClr val="374151"/>
                </a:solidFill>
                <a:effectLst/>
                <a:latin typeface="Söhne"/>
              </a:rPr>
              <a:t>: High memory can be used for shared memory segments where multiple processes need to share a common memory area that is larger than what can be accommodated in the lower memory.</a:t>
            </a: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23</a:t>
            </a:fld>
            <a:endParaRPr lang="zh-TW" altLang="en-US"/>
          </a:p>
        </p:txBody>
      </p:sp>
    </p:spTree>
    <p:extLst>
      <p:ext uri="{BB962C8B-B14F-4D97-AF65-F5344CB8AC3E}">
        <p14:creationId xmlns:p14="http://schemas.microsoft.com/office/powerpoint/2010/main" val="26084417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Good Morning, My name is Chun-Feng Wu.</a:t>
            </a:r>
            <a:br>
              <a:rPr lang="en-US" altLang="zh-CN"/>
            </a:br>
            <a:r>
              <a:rPr lang="en-US" altLang="zh-CN"/>
              <a:t>In this presentation, I will briefly introduce myself and </a:t>
            </a:r>
            <a:r>
              <a:rPr lang="en-US" altLang="zh-TW"/>
              <a:t>share</a:t>
            </a:r>
            <a:r>
              <a:rPr lang="en-US" altLang="zh-CN"/>
              <a:t> some key idea of my researches.</a:t>
            </a:r>
          </a:p>
          <a:p>
            <a:endParaRPr lang="en-US" altLang="zh-CN"/>
          </a:p>
          <a:p>
            <a:r>
              <a:rPr lang="en-US" altLang="zh-CN"/>
              <a:t>Intensive data movement is one of the critical issue when Von-Neumann machines enter the big data era.</a:t>
            </a:r>
          </a:p>
          <a:p>
            <a:r>
              <a:rPr lang="en-US" altLang="zh-CN"/>
              <a:t>To deal with this issue, my research is to enable a fast, large and device-friendly next-generation computing system.</a:t>
            </a:r>
            <a:endParaRPr lang="en-US" altLang="zh-CN" dirty="0"/>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24</a:t>
            </a:fld>
            <a:endParaRPr lang="zh-TW" altLang="en-US"/>
          </a:p>
        </p:txBody>
      </p:sp>
    </p:spTree>
    <p:extLst>
      <p:ext uri="{BB962C8B-B14F-4D97-AF65-F5344CB8AC3E}">
        <p14:creationId xmlns:p14="http://schemas.microsoft.com/office/powerpoint/2010/main" val="38162351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25</a:t>
            </a:fld>
            <a:endParaRPr lang="zh-TW" altLang="en-US"/>
          </a:p>
        </p:txBody>
      </p:sp>
    </p:spTree>
    <p:extLst>
      <p:ext uri="{BB962C8B-B14F-4D97-AF65-F5344CB8AC3E}">
        <p14:creationId xmlns:p14="http://schemas.microsoft.com/office/powerpoint/2010/main" val="9139183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i="0" dirty="0">
                <a:solidFill>
                  <a:srgbClr val="374151"/>
                </a:solidFill>
                <a:effectLst/>
                <a:latin typeface="Söhne"/>
              </a:rPr>
              <a:t>The key difference between the two is that </a:t>
            </a:r>
            <a:r>
              <a:rPr lang="en-US" altLang="zh-TW" dirty="0" err="1"/>
              <a:t>mm_count</a:t>
            </a:r>
            <a:r>
              <a:rPr lang="en-US" altLang="zh-TW" b="0" i="0" dirty="0">
                <a:solidFill>
                  <a:srgbClr val="374151"/>
                </a:solidFill>
                <a:effectLst/>
                <a:latin typeface="Söhne"/>
              </a:rPr>
              <a:t> tracks references to the memory map, which can come from multiple processes, threads, or sources, while </a:t>
            </a:r>
            <a:r>
              <a:rPr lang="en-US" altLang="zh-TW" dirty="0" err="1"/>
              <a:t>mm_users</a:t>
            </a:r>
            <a:r>
              <a:rPr lang="en-US" altLang="zh-TW" b="0" i="0" dirty="0">
                <a:solidFill>
                  <a:srgbClr val="374151"/>
                </a:solidFill>
                <a:effectLst/>
                <a:latin typeface="Söhne"/>
              </a:rPr>
              <a:t> specifically counts the number of users within the same process that are sharing the memory map. In many cases, </a:t>
            </a:r>
            <a:r>
              <a:rPr lang="en-US" altLang="zh-TW" dirty="0" err="1"/>
              <a:t>mm_users</a:t>
            </a:r>
            <a:r>
              <a:rPr lang="en-US" altLang="zh-TW" b="0" i="0" dirty="0">
                <a:solidFill>
                  <a:srgbClr val="374151"/>
                </a:solidFill>
                <a:effectLst/>
                <a:latin typeface="Söhne"/>
              </a:rPr>
              <a:t> will be equal to or less than </a:t>
            </a:r>
            <a:r>
              <a:rPr lang="en-US" altLang="zh-TW" dirty="0" err="1"/>
              <a:t>mm_count</a:t>
            </a:r>
            <a:r>
              <a:rPr lang="en-US" altLang="zh-TW" b="0" i="0" dirty="0">
                <a:solidFill>
                  <a:srgbClr val="374151"/>
                </a:solidFill>
                <a:effectLst/>
                <a:latin typeface="Söhne"/>
              </a:rPr>
              <a:t> because it's focused on the per-process reference count.</a:t>
            </a:r>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26</a:t>
            </a:fld>
            <a:endParaRPr lang="zh-TW" altLang="en-US"/>
          </a:p>
        </p:txBody>
      </p:sp>
    </p:spTree>
    <p:extLst>
      <p:ext uri="{BB962C8B-B14F-4D97-AF65-F5344CB8AC3E}">
        <p14:creationId xmlns:p14="http://schemas.microsoft.com/office/powerpoint/2010/main" val="16818032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Memory is byte addressable, so one bit can address one byte</a:t>
            </a:r>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32</a:t>
            </a:fld>
            <a:endParaRPr lang="zh-TW" altLang="en-US"/>
          </a:p>
        </p:txBody>
      </p:sp>
    </p:spTree>
    <p:extLst>
      <p:ext uri="{BB962C8B-B14F-4D97-AF65-F5344CB8AC3E}">
        <p14:creationId xmlns:p14="http://schemas.microsoft.com/office/powerpoint/2010/main" val="17773165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Good Morning, My name is Chun-Feng Wu.</a:t>
            </a:r>
            <a:br>
              <a:rPr lang="en-US" altLang="zh-CN"/>
            </a:br>
            <a:r>
              <a:rPr lang="en-US" altLang="zh-CN"/>
              <a:t>In this presentation, I will briefly introduce myself and </a:t>
            </a:r>
            <a:r>
              <a:rPr lang="en-US" altLang="zh-TW"/>
              <a:t>share</a:t>
            </a:r>
            <a:r>
              <a:rPr lang="en-US" altLang="zh-CN"/>
              <a:t> some key idea of my researches.</a:t>
            </a:r>
          </a:p>
          <a:p>
            <a:endParaRPr lang="en-US" altLang="zh-CN"/>
          </a:p>
          <a:p>
            <a:r>
              <a:rPr lang="en-US" altLang="zh-CN"/>
              <a:t>Intensive data movement is one of the critical issue when Von-Neumann machines enter the big data era.</a:t>
            </a:r>
          </a:p>
          <a:p>
            <a:r>
              <a:rPr lang="en-US" altLang="zh-CN"/>
              <a:t>To deal with this issue, my research is to enable a fast, large and device-friendly next-generation computing system.</a:t>
            </a:r>
            <a:endParaRPr lang="en-US" altLang="zh-CN" dirty="0"/>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33</a:t>
            </a:fld>
            <a:endParaRPr lang="zh-TW" altLang="en-US"/>
          </a:p>
        </p:txBody>
      </p:sp>
    </p:spTree>
    <p:extLst>
      <p:ext uri="{BB962C8B-B14F-4D97-AF65-F5344CB8AC3E}">
        <p14:creationId xmlns:p14="http://schemas.microsoft.com/office/powerpoint/2010/main" val="21983888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圖片 3" descr="一張含有 符號, 標誌, 圖形, 圓形 的圖片&#10;&#10;自動產生的描述">
            <a:extLst>
              <a:ext uri="{FF2B5EF4-FFF2-40B4-BE49-F238E27FC236}">
                <a16:creationId xmlns:a16="http://schemas.microsoft.com/office/drawing/2014/main" id="{B56F5430-B8B8-5B49-D020-4366AEE7381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3050" y="-256485"/>
            <a:ext cx="1906380" cy="1906380"/>
          </a:xfrm>
          <a:prstGeom prst="rect">
            <a:avLst/>
          </a:prstGeom>
        </p:spPr>
      </p:pic>
    </p:spTree>
    <p:extLst>
      <p:ext uri="{BB962C8B-B14F-4D97-AF65-F5344CB8AC3E}">
        <p14:creationId xmlns:p14="http://schemas.microsoft.com/office/powerpoint/2010/main" val="96630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7800" y="174625"/>
            <a:ext cx="11836400" cy="1063625"/>
          </a:xfrm>
        </p:spPr>
        <p:txBody>
          <a:bodyPr>
            <a:normAutofit/>
          </a:bodyPr>
          <a:lstStyle>
            <a:lvl1pPr algn="ctr" rtl="0" fontAlgn="base">
              <a:spcBef>
                <a:spcPct val="0"/>
              </a:spcBef>
              <a:spcAft>
                <a:spcPct val="0"/>
              </a:spcAft>
              <a:defRPr kumimoji="1" lang="zh-TW" altLang="en-US" sz="4400" b="1" kern="1200" dirty="0">
                <a:solidFill>
                  <a:schemeClr val="tx1"/>
                </a:solidFill>
                <a:latin typeface="Calibri" panose="020F0502020204030204" pitchFamily="34" charset="0"/>
                <a:ea typeface="+mj-ea"/>
                <a:cs typeface="Calibri" panose="020F0502020204030204" pitchFamily="34" charset="0"/>
              </a:defRPr>
            </a:lvl1pPr>
          </a:lstStyle>
          <a:p>
            <a:r>
              <a:rPr lang="en-US" altLang="zh-TW" dirty="0"/>
              <a:t>Click to edit Master title style</a:t>
            </a:r>
            <a:endParaRPr lang="zh-TW" altLang="en-US" dirty="0"/>
          </a:p>
        </p:txBody>
      </p:sp>
      <p:sp>
        <p:nvSpPr>
          <p:cNvPr id="3" name="Content Placeholder 2"/>
          <p:cNvSpPr>
            <a:spLocks noGrp="1"/>
          </p:cNvSpPr>
          <p:nvPr>
            <p:ph idx="1"/>
          </p:nvPr>
        </p:nvSpPr>
        <p:spPr>
          <a:xfrm>
            <a:off x="177800" y="1238250"/>
            <a:ext cx="11836400" cy="5441950"/>
          </a:xfrm>
        </p:spPr>
        <p:txBody>
          <a:bodyPr/>
          <a:lstStyle>
            <a:lvl1pPr algn="just">
              <a:spcBef>
                <a:spcPts val="0"/>
              </a:spcBef>
              <a:defRPr sz="2800">
                <a:latin typeface="Calibri" panose="020F0502020204030204" pitchFamily="34" charset="0"/>
                <a:cs typeface="Calibri" panose="020F0502020204030204" pitchFamily="34" charset="0"/>
              </a:defRPr>
            </a:lvl1pPr>
            <a:lvl2pPr marL="742950" indent="-285750" algn="just">
              <a:spcBef>
                <a:spcPts val="0"/>
              </a:spcBef>
              <a:buFont typeface="Arial" panose="020B0604020202020204" pitchFamily="34" charset="0"/>
              <a:buChar char="•"/>
              <a:defRPr sz="2400">
                <a:latin typeface="Calibri" panose="020F0502020204030204" pitchFamily="34" charset="0"/>
                <a:cs typeface="Calibri" panose="020F0502020204030204" pitchFamily="34" charset="0"/>
              </a:defRPr>
            </a:lvl2pPr>
            <a:lvl3pPr algn="just">
              <a:spcBef>
                <a:spcPts val="0"/>
              </a:spcBef>
              <a:defRPr sz="2000">
                <a:latin typeface="Calibri" panose="020F0502020204030204" pitchFamily="34" charset="0"/>
                <a:cs typeface="Calibri" panose="020F0502020204030204" pitchFamily="34" charset="0"/>
              </a:defRPr>
            </a:lvl3pPr>
            <a:lvl4pPr algn="just">
              <a:spcBef>
                <a:spcPts val="0"/>
              </a:spcBef>
              <a:defRPr sz="2400">
                <a:latin typeface="Calibri" panose="020F0502020204030204" pitchFamily="34" charset="0"/>
                <a:cs typeface="Calibri" panose="020F0502020204030204" pitchFamily="34" charset="0"/>
              </a:defRPr>
            </a:lvl4pPr>
            <a:lvl5pPr algn="just">
              <a:spcBef>
                <a:spcPts val="0"/>
              </a:spcBef>
              <a:defRPr sz="2400">
                <a:latin typeface="Calibri" panose="020F0502020204030204" pitchFamily="34" charset="0"/>
                <a:cs typeface="Calibri" panose="020F0502020204030204" pitchFamily="34" charset="0"/>
              </a:defRPr>
            </a:lvl5pPr>
          </a:lstStyle>
          <a:p>
            <a:pPr lvl="0"/>
            <a:r>
              <a:rPr lang="en-US" altLang="zh-TW" dirty="0"/>
              <a:t>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12" name="Slide Number Placeholder 8"/>
          <p:cNvSpPr>
            <a:spLocks noGrp="1"/>
          </p:cNvSpPr>
          <p:nvPr>
            <p:ph type="sldNum" sz="quarter" idx="4"/>
          </p:nvPr>
        </p:nvSpPr>
        <p:spPr>
          <a:xfrm>
            <a:off x="11668124" y="11113"/>
            <a:ext cx="523875" cy="484187"/>
          </a:xfrm>
          <a:prstGeom prst="rect">
            <a:avLst/>
          </a:prstGeom>
        </p:spPr>
        <p:txBody>
          <a:bodyPr vert="horz" lIns="91440" tIns="45720" rIns="91440" bIns="45720" rtlCol="0" anchor="ctr"/>
          <a:lstStyle>
            <a:lvl1pPr algn="ctr">
              <a:defRPr sz="1600" b="0">
                <a:solidFill>
                  <a:schemeClr val="tx1"/>
                </a:solidFill>
                <a:latin typeface="+mn-lt"/>
                <a:cs typeface="Arial" panose="020B0604020202020204" pitchFamily="34" charset="0"/>
              </a:defRPr>
            </a:lvl1pPr>
          </a:lstStyle>
          <a:p>
            <a:fld id="{E24E6636-6BA5-4AAC-8485-BE8D914D288B}" type="slidenum">
              <a:rPr lang="zh-TW" altLang="en-US" smtClean="0"/>
              <a:pPr/>
              <a:t>‹#›</a:t>
            </a:fld>
            <a:endParaRPr lang="zh-TW" altLang="en-US" dirty="0"/>
          </a:p>
        </p:txBody>
      </p:sp>
      <p:sp>
        <p:nvSpPr>
          <p:cNvPr id="4" name="文字方塊 3">
            <a:extLst>
              <a:ext uri="{FF2B5EF4-FFF2-40B4-BE49-F238E27FC236}">
                <a16:creationId xmlns:a16="http://schemas.microsoft.com/office/drawing/2014/main" id="{F2B048F7-DAB4-F1CA-94CE-9FBF17A495C6}"/>
              </a:ext>
            </a:extLst>
          </p:cNvPr>
          <p:cNvSpPr txBox="1"/>
          <p:nvPr userDrawn="1"/>
        </p:nvSpPr>
        <p:spPr>
          <a:xfrm>
            <a:off x="0" y="-37131"/>
            <a:ext cx="4750018" cy="276999"/>
          </a:xfrm>
          <a:prstGeom prst="rect">
            <a:avLst/>
          </a:prstGeom>
          <a:noFill/>
        </p:spPr>
        <p:txBody>
          <a:bodyPr wrap="none" rtlCol="0">
            <a:spAutoFit/>
          </a:bodyPr>
          <a:lstStyle/>
          <a:p>
            <a:r>
              <a:rPr kumimoji="1" lang="en-US" altLang="zh-TW" sz="1200" b="1" i="0" dirty="0">
                <a:solidFill>
                  <a:schemeClr val="bg1">
                    <a:lumMod val="85000"/>
                  </a:schemeClr>
                </a:solidFill>
                <a:latin typeface="Bradley Hand" pitchFamily="2" charset="0"/>
                <a:ea typeface="Brush Script MT" panose="03060802040406070304" pitchFamily="66" charset="-122"/>
                <a:cs typeface="Brush Script MT" panose="03060802040406070304" pitchFamily="66" charset="-122"/>
              </a:rPr>
              <a:t>National Yang Ming Chiao Tung University, Prof. Chun-Feng Wu</a:t>
            </a:r>
            <a:endParaRPr kumimoji="1" lang="zh-TW" altLang="en-US" sz="1200" b="1" i="0" dirty="0">
              <a:solidFill>
                <a:schemeClr val="bg1">
                  <a:lumMod val="85000"/>
                </a:schemeClr>
              </a:solidFill>
              <a:latin typeface="Bradley Hand" pitchFamily="2" charset="0"/>
              <a:ea typeface="STXingkai" panose="02010800040101010101" pitchFamily="2" charset="-122"/>
              <a:cs typeface="Brush Script MT" panose="03060802040406070304" pitchFamily="66" charset="-122"/>
            </a:endParaRPr>
          </a:p>
        </p:txBody>
      </p:sp>
    </p:spTree>
    <p:extLst>
      <p:ext uri="{BB962C8B-B14F-4D97-AF65-F5344CB8AC3E}">
        <p14:creationId xmlns:p14="http://schemas.microsoft.com/office/powerpoint/2010/main" val="108185610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TW"/>
              <a:t>Click to edit Master title style</a:t>
            </a:r>
            <a:endParaRPr lang="zh-TW" alt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TW"/>
              <a:t>Edit Master text styles</a:t>
            </a:r>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B2307BF4-857F-4354-B3C4-3040B9A2E51B}" type="datetime1">
              <a:rPr lang="zh-TW" altLang="en-US" smtClean="0"/>
              <a:t>2025/10/15</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144603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Content Placeholder 2"/>
          <p:cNvSpPr>
            <a:spLocks noGrp="1"/>
          </p:cNvSpPr>
          <p:nvPr>
            <p:ph sz="half" idx="1"/>
          </p:nvPr>
        </p:nvSpPr>
        <p:spPr>
          <a:xfrm>
            <a:off x="838200" y="1825625"/>
            <a:ext cx="5181600" cy="435133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p:cNvSpPr>
            <a:spLocks noGrp="1"/>
          </p:cNvSpPr>
          <p:nvPr>
            <p:ph sz="half" idx="2"/>
          </p:nvPr>
        </p:nvSpPr>
        <p:spPr>
          <a:xfrm>
            <a:off x="6172200" y="1825625"/>
            <a:ext cx="5181600" cy="435133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10EEA130-8DE6-4C11-A9CB-C786C33DE380}" type="datetime1">
              <a:rPr lang="zh-TW" altLang="en-US" smtClean="0"/>
              <a:t>2025/10/15</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933340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TW"/>
              <a:t>Click to edit Master title style</a:t>
            </a:r>
            <a:endParaRPr lang="zh-TW" alt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6"/>
          <p:cNvSpPr>
            <a:spLocks noGrp="1"/>
          </p:cNvSpPr>
          <p:nvPr>
            <p:ph type="dt" sz="half" idx="10"/>
          </p:nvPr>
        </p:nvSpPr>
        <p:spPr>
          <a:xfrm>
            <a:off x="348342" y="6356350"/>
            <a:ext cx="1800000" cy="365125"/>
          </a:xfrm>
          <a:prstGeom prst="rect">
            <a:avLst/>
          </a:prstGeom>
        </p:spPr>
        <p:txBody>
          <a:bodyPr/>
          <a:lstStyle/>
          <a:p>
            <a:fld id="{9D1323E2-54AF-4A4F-968B-FCF5A3DE404F}" type="datetime1">
              <a:rPr lang="zh-TW" altLang="en-US" smtClean="0"/>
              <a:t>2025/10/15</a:t>
            </a:fld>
            <a:endParaRPr lang="zh-TW" altLang="en-US"/>
          </a:p>
        </p:txBody>
      </p:sp>
      <p:sp>
        <p:nvSpPr>
          <p:cNvPr id="8" name="Footer Placeholder 7"/>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9" name="Slide Number Placeholder 8"/>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4074015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Date Placeholder 2"/>
          <p:cNvSpPr>
            <a:spLocks noGrp="1"/>
          </p:cNvSpPr>
          <p:nvPr>
            <p:ph type="dt" sz="half" idx="10"/>
          </p:nvPr>
        </p:nvSpPr>
        <p:spPr>
          <a:xfrm>
            <a:off x="348342" y="6356350"/>
            <a:ext cx="1800000" cy="365125"/>
          </a:xfrm>
          <a:prstGeom prst="rect">
            <a:avLst/>
          </a:prstGeom>
        </p:spPr>
        <p:txBody>
          <a:bodyPr/>
          <a:lstStyle/>
          <a:p>
            <a:fld id="{51747F57-0BE0-4E55-AF02-7E0C58AC5A0B}" type="datetime1">
              <a:rPr lang="zh-TW" altLang="en-US" smtClean="0"/>
              <a:t>2025/10/15</a:t>
            </a:fld>
            <a:endParaRPr lang="zh-TW" altLang="en-US"/>
          </a:p>
        </p:txBody>
      </p:sp>
      <p:sp>
        <p:nvSpPr>
          <p:cNvPr id="4" name="Footer Placeholder 3"/>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5" name="Slide Number Placeholder 4"/>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296001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48342" y="6356350"/>
            <a:ext cx="1800000" cy="365125"/>
          </a:xfrm>
          <a:prstGeom prst="rect">
            <a:avLst/>
          </a:prstGeom>
        </p:spPr>
        <p:txBody>
          <a:bodyPr/>
          <a:lstStyle/>
          <a:p>
            <a:fld id="{3BBAC840-47DB-4C07-9D45-73E1CD955F46}" type="datetime1">
              <a:rPr lang="zh-TW" altLang="en-US" smtClean="0"/>
              <a:t>2025/10/15</a:t>
            </a:fld>
            <a:endParaRPr lang="zh-TW" altLang="en-US"/>
          </a:p>
        </p:txBody>
      </p:sp>
      <p:sp>
        <p:nvSpPr>
          <p:cNvPr id="3" name="Footer Placeholder 2"/>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4" name="Slide Number Placeholder 3"/>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750865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Edit Master text styles</a:t>
            </a:r>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B8C0969B-135B-4FC6-B762-AA1CE3881354}" type="datetime1">
              <a:rPr lang="zh-TW" altLang="en-US" smtClean="0"/>
              <a:t>2025/10/15</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949216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Edit Master text styles</a:t>
            </a:r>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24AF6340-6F1C-4989-B134-2CA68BC9EAFF}" type="datetime1">
              <a:rPr lang="zh-TW" altLang="en-US" smtClean="0"/>
              <a:t>2025/10/15</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165085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Vertical Text Placeholder 2"/>
          <p:cNvSpPr>
            <a:spLocks noGrp="1"/>
          </p:cNvSpPr>
          <p:nvPr>
            <p:ph type="body" orient="vert" idx="1"/>
          </p:nvPr>
        </p:nvSpPr>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60D8C7A9-0C67-4424-9979-8CFF97287F2E}" type="datetime1">
              <a:rPr lang="zh-TW" altLang="en-US" smtClean="0"/>
              <a:t>2025/10/15</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206704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TW"/>
              <a:t>Click to edit Master title style</a:t>
            </a:r>
            <a:endParaRPr lang="zh-TW" alt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AD10B1A8-9302-408C-B76D-C3FA78E2A799}" type="datetime1">
              <a:rPr lang="zh-TW" altLang="en-US" smtClean="0"/>
              <a:t>2025/10/15</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634339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8343" y="365125"/>
            <a:ext cx="11495314" cy="1325563"/>
          </a:xfrm>
          <a:prstGeom prst="rect">
            <a:avLst/>
          </a:prstGeom>
        </p:spPr>
        <p:txBody>
          <a:bodyPr vert="horz" lIns="91440" tIns="45720" rIns="91440" bIns="45720" rtlCol="0" anchor="ctr">
            <a:normAutofit/>
          </a:bodyPr>
          <a:lstStyle/>
          <a:p>
            <a:pPr lvl="0" algn="ctr" rtl="0" fontAlgn="base">
              <a:spcBef>
                <a:spcPct val="0"/>
              </a:spcBef>
              <a:spcAft>
                <a:spcPct val="0"/>
              </a:spcAft>
            </a:pPr>
            <a:r>
              <a:rPr kumimoji="1" lang="en-US" altLang="zh-TW" sz="4400" b="0" i="0" u="none" strike="noStrike" kern="1200" cap="none" spc="0" normalizeH="0" baseline="0" noProof="0" dirty="0">
                <a:ln>
                  <a:noFill/>
                </a:ln>
                <a:solidFill>
                  <a:srgbClr val="750F6D"/>
                </a:solidFill>
                <a:effectLst/>
                <a:uLnTx/>
                <a:uFillTx/>
                <a:latin typeface="Arial"/>
                <a:ea typeface="新細明體"/>
                <a:cs typeface="+mj-cs"/>
              </a:rPr>
              <a:t>Click to edit Master title style</a:t>
            </a:r>
            <a:endParaRPr lang="zh-TW" altLang="en-US" dirty="0"/>
          </a:p>
        </p:txBody>
      </p:sp>
      <p:sp>
        <p:nvSpPr>
          <p:cNvPr id="3" name="Text Placeholder 2"/>
          <p:cNvSpPr>
            <a:spLocks noGrp="1"/>
          </p:cNvSpPr>
          <p:nvPr>
            <p:ph type="body" idx="1"/>
          </p:nvPr>
        </p:nvSpPr>
        <p:spPr>
          <a:xfrm>
            <a:off x="348343" y="1825625"/>
            <a:ext cx="11495314" cy="4351338"/>
          </a:xfrm>
          <a:prstGeom prst="rect">
            <a:avLst/>
          </a:prstGeom>
        </p:spPr>
        <p:txBody>
          <a:bodyPr vert="horz" lIns="91440" tIns="45720" rIns="91440" bIns="45720" rtlCol="0">
            <a:normAutofit/>
          </a:body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1" lang="en-US" altLang="zh-TW" sz="3200" b="0" i="0" u="none" strike="noStrike" kern="1200" cap="none" spc="0" normalizeH="0" baseline="0" noProof="0" dirty="0">
                <a:ln>
                  <a:noFill/>
                </a:ln>
                <a:solidFill>
                  <a:srgbClr val="333333"/>
                </a:solidFill>
                <a:effectLst/>
                <a:uLnTx/>
                <a:uFillTx/>
                <a:latin typeface="Palatino Linotype"/>
                <a:ea typeface="新細明體"/>
                <a:cs typeface="+mn-cs"/>
              </a:rPr>
              <a:t>Click to edit Master text styles</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1" lang="en-US" altLang="zh-TW" sz="2800" b="0" i="0" u="none" strike="noStrike" kern="1200" cap="none" spc="0" normalizeH="0" baseline="0" noProof="0" dirty="0">
                <a:ln>
                  <a:noFill/>
                </a:ln>
                <a:solidFill>
                  <a:srgbClr val="333333"/>
                </a:solidFill>
                <a:effectLst/>
                <a:uLnTx/>
                <a:uFillTx/>
                <a:latin typeface="Palatino Linotype"/>
                <a:ea typeface="新細明體"/>
                <a:cs typeface="+mn-cs"/>
              </a:rPr>
              <a:t>Second level</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400" b="0" i="0" u="none" strike="noStrike" kern="1200" cap="none" spc="0" normalizeH="0" baseline="0" noProof="0" dirty="0">
                <a:ln>
                  <a:noFill/>
                </a:ln>
                <a:solidFill>
                  <a:srgbClr val="333333"/>
                </a:solidFill>
                <a:effectLst/>
                <a:uLnTx/>
                <a:uFillTx/>
                <a:latin typeface="Palatino Linotype"/>
                <a:ea typeface="新細明體"/>
                <a:cs typeface="+mn-cs"/>
              </a:rPr>
              <a:t>Third level</a:t>
            </a:r>
          </a:p>
          <a:p>
            <a:pPr marL="1600200" marR="0" lvl="3"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000" b="0" i="0" u="none" strike="noStrike" kern="1200" cap="none" spc="0" normalizeH="0" baseline="0" noProof="0" dirty="0">
                <a:ln>
                  <a:noFill/>
                </a:ln>
                <a:solidFill>
                  <a:srgbClr val="333333"/>
                </a:solidFill>
                <a:effectLst/>
                <a:uLnTx/>
                <a:uFillTx/>
                <a:latin typeface="Palatino Linotype"/>
                <a:ea typeface="新細明體"/>
                <a:cs typeface="+mn-cs"/>
              </a:rPr>
              <a:t>Fourth level</a:t>
            </a:r>
          </a:p>
          <a:p>
            <a:pPr marL="2057400" marR="0" lvl="4"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000" b="0" i="0" u="none" strike="noStrike" kern="1200" cap="none" spc="0" normalizeH="0" baseline="0" noProof="0" dirty="0">
                <a:ln>
                  <a:noFill/>
                </a:ln>
                <a:solidFill>
                  <a:srgbClr val="333333"/>
                </a:solidFill>
                <a:effectLst/>
                <a:uLnTx/>
                <a:uFillTx/>
                <a:latin typeface="Palatino Linotype"/>
                <a:ea typeface="新細明體"/>
                <a:cs typeface="+mn-cs"/>
              </a:rPr>
              <a:t>Fifth level</a:t>
            </a:r>
          </a:p>
        </p:txBody>
      </p:sp>
      <p:sp>
        <p:nvSpPr>
          <p:cNvPr id="7" name="Date Placeholder 6"/>
          <p:cNvSpPr>
            <a:spLocks noGrp="1"/>
          </p:cNvSpPr>
          <p:nvPr>
            <p:ph type="dt" sz="half" idx="2"/>
          </p:nvPr>
        </p:nvSpPr>
        <p:spPr>
          <a:xfrm>
            <a:off x="0" y="6477000"/>
            <a:ext cx="18000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A3A5E517-2EE9-4B06-A2F1-C885ADB8BF5D}" type="datetime1">
              <a:rPr lang="zh-TW" altLang="en-US" smtClean="0"/>
              <a:t>2025/10/15</a:t>
            </a:fld>
            <a:endParaRPr lang="zh-TW" altLang="en-US" dirty="0"/>
          </a:p>
        </p:txBody>
      </p:sp>
      <p:sp>
        <p:nvSpPr>
          <p:cNvPr id="9" name="Slide Number Placeholder 8"/>
          <p:cNvSpPr>
            <a:spLocks noGrp="1"/>
          </p:cNvSpPr>
          <p:nvPr>
            <p:ph type="sldNum" sz="quarter" idx="4"/>
          </p:nvPr>
        </p:nvSpPr>
        <p:spPr>
          <a:xfrm>
            <a:off x="10392000" y="6476999"/>
            <a:ext cx="1800000" cy="365125"/>
          </a:xfrm>
          <a:prstGeom prst="rect">
            <a:avLst/>
          </a:prstGeom>
        </p:spPr>
        <p:txBody>
          <a:bodyPr vert="horz" lIns="91440" tIns="45720" rIns="91440" bIns="45720" rtlCol="0" anchor="ctr"/>
          <a:lstStyle>
            <a:lvl1pPr algn="r">
              <a:defRPr sz="1200" b="1">
                <a:solidFill>
                  <a:schemeClr val="tx1">
                    <a:tint val="75000"/>
                  </a:schemeClr>
                </a:solidFill>
                <a:latin typeface="Arial" panose="020B0604020202020204" pitchFamily="34" charset="0"/>
                <a:cs typeface="Arial" panose="020B0604020202020204" pitchFamily="34" charset="0"/>
              </a:defRPr>
            </a:lvl1pPr>
          </a:lstStyle>
          <a:p>
            <a:fld id="{E24E6636-6BA5-4AAC-8485-BE8D914D288B}" type="slidenum">
              <a:rPr lang="zh-TW" altLang="en-US" smtClean="0"/>
              <a:pPr/>
              <a:t>‹#›</a:t>
            </a:fld>
            <a:endParaRPr lang="zh-TW" altLang="en-US"/>
          </a:p>
        </p:txBody>
      </p:sp>
    </p:spTree>
    <p:extLst>
      <p:ext uri="{BB962C8B-B14F-4D97-AF65-F5344CB8AC3E}">
        <p14:creationId xmlns:p14="http://schemas.microsoft.com/office/powerpoint/2010/main" val="3847488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fontAlgn="base" latinLnBrk="0" hangingPunct="1">
        <a:lnSpc>
          <a:spcPct val="90000"/>
        </a:lnSpc>
        <a:spcBef>
          <a:spcPct val="0"/>
        </a:spcBef>
        <a:spcAft>
          <a:spcPct val="0"/>
        </a:spcAft>
        <a:buNone/>
        <a:defRPr kumimoji="1" lang="zh-TW" altLang="en-US" sz="4400" kern="1200" dirty="0" smtClean="0">
          <a:solidFill>
            <a:schemeClr val="tx1"/>
          </a:solidFill>
          <a:latin typeface="+mj-lt"/>
          <a:ea typeface="+mj-ea"/>
          <a:cs typeface="+mj-cs"/>
        </a:defRPr>
      </a:lvl1pPr>
    </p:titleStyle>
    <p:bodyStyle>
      <a:lvl1pPr marL="342900" marR="0" indent="-3429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1pPr>
      <a:lvl2pPr marL="742950" marR="0" indent="-28575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2pPr>
      <a:lvl3pPr marL="1143000" marR="0" indent="-2286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3pPr>
      <a:lvl4pPr marL="1600200" marR="0" indent="-2286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4pPr>
      <a:lvl5pPr marL="2057400" marR="0" indent="-228600" algn="l" defTabSz="914400" rtl="0" eaLnBrk="1" fontAlgn="base" latinLnBrk="0" hangingPunct="1">
        <a:lnSpc>
          <a:spcPct val="100000"/>
        </a:lnSpc>
        <a:spcBef>
          <a:spcPct val="20000"/>
        </a:spcBef>
        <a:spcAft>
          <a:spcPct val="0"/>
        </a:spcAft>
        <a:buClrTx/>
        <a:buSzTx/>
        <a:buFontTx/>
        <a:buChar char="»"/>
        <a:tabLst/>
        <a:defRPr kumimoji="1" lang="zh-TW" altLang="en-US" sz="3200" kern="1200" dirty="0" smtClean="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zhuanlan.zhihu.com/p/313725721"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mailto:cfwu@g.harvard.edu"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cfwu417.github.io/"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quora.com/Why-is-there-ZONE_HIGHMEM-in-the-x86-32-Linux-kernel-but-not-in-the-x86-64-kernel"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AA7F0E-73BD-74FB-C1E9-A25B88F6F2D9}"/>
              </a:ext>
            </a:extLst>
          </p:cNvPr>
          <p:cNvSpPr>
            <a:spLocks noGrp="1"/>
          </p:cNvSpPr>
          <p:nvPr>
            <p:ph type="title"/>
          </p:nvPr>
        </p:nvSpPr>
        <p:spPr/>
        <p:txBody>
          <a:bodyPr/>
          <a:lstStyle/>
          <a:p>
            <a:r>
              <a:rPr kumimoji="1" lang="en-US" altLang="zh-TW" dirty="0"/>
              <a:t>Q &amp; A</a:t>
            </a:r>
            <a:endParaRPr kumimoji="1" lang="zh-TW" altLang="en-US" dirty="0"/>
          </a:p>
        </p:txBody>
      </p:sp>
      <p:sp>
        <p:nvSpPr>
          <p:cNvPr id="3" name="內容版面配置區 2">
            <a:extLst>
              <a:ext uri="{FF2B5EF4-FFF2-40B4-BE49-F238E27FC236}">
                <a16:creationId xmlns:a16="http://schemas.microsoft.com/office/drawing/2014/main" id="{B3B5B8DF-0750-3017-548C-7526CE40CCA4}"/>
              </a:ext>
            </a:extLst>
          </p:cNvPr>
          <p:cNvSpPr>
            <a:spLocks noGrp="1"/>
          </p:cNvSpPr>
          <p:nvPr>
            <p:ph idx="1"/>
          </p:nvPr>
        </p:nvSpPr>
        <p:spPr/>
        <p:txBody>
          <a:bodyPr/>
          <a:lstStyle/>
          <a:p>
            <a:r>
              <a:rPr kumimoji="1" lang="en-US" altLang="zh-TW" dirty="0"/>
              <a:t>In Linux, it is possible to interrupt a user process even it is running kernel functions.</a:t>
            </a:r>
          </a:p>
          <a:p>
            <a:r>
              <a:rPr kumimoji="1" lang="en-US" altLang="zh-TW" dirty="0">
                <a:solidFill>
                  <a:srgbClr val="C00000"/>
                </a:solidFill>
              </a:rPr>
              <a:t>Interrupt priority </a:t>
            </a:r>
            <a:r>
              <a:rPr kumimoji="1" lang="en-US" altLang="zh-TW" dirty="0"/>
              <a:t>determines the order of service, with higher-priority interrupts being handled first, and </a:t>
            </a:r>
            <a:r>
              <a:rPr kumimoji="1" lang="en-US" altLang="zh-TW" dirty="0">
                <a:solidFill>
                  <a:srgbClr val="C00000"/>
                </a:solidFill>
              </a:rPr>
              <a:t>nested interrupts </a:t>
            </a:r>
            <a:r>
              <a:rPr kumimoji="1" lang="en-US" altLang="zh-TW" dirty="0"/>
              <a:t>allow one interrupt to preempt another if necessary.</a:t>
            </a:r>
            <a:endParaRPr kumimoji="1" lang="zh-TW" altLang="en-US" dirty="0"/>
          </a:p>
        </p:txBody>
      </p:sp>
      <p:sp>
        <p:nvSpPr>
          <p:cNvPr id="4" name="投影片編號版面配置區 3">
            <a:extLst>
              <a:ext uri="{FF2B5EF4-FFF2-40B4-BE49-F238E27FC236}">
                <a16:creationId xmlns:a16="http://schemas.microsoft.com/office/drawing/2014/main" id="{32F72147-F2F8-5B83-5F71-CED13E814E9E}"/>
              </a:ext>
            </a:extLst>
          </p:cNvPr>
          <p:cNvSpPr>
            <a:spLocks noGrp="1"/>
          </p:cNvSpPr>
          <p:nvPr>
            <p:ph type="sldNum" sz="quarter" idx="4"/>
          </p:nvPr>
        </p:nvSpPr>
        <p:spPr/>
        <p:txBody>
          <a:bodyPr/>
          <a:lstStyle/>
          <a:p>
            <a:fld id="{E24E6636-6BA5-4AAC-8485-BE8D914D288B}" type="slidenum">
              <a:rPr lang="zh-TW" altLang="en-US" smtClean="0"/>
              <a:pPr/>
              <a:t>1</a:t>
            </a:fld>
            <a:endParaRPr lang="zh-TW" altLang="en-US" dirty="0"/>
          </a:p>
        </p:txBody>
      </p:sp>
    </p:spTree>
    <p:extLst>
      <p:ext uri="{BB962C8B-B14F-4D97-AF65-F5344CB8AC3E}">
        <p14:creationId xmlns:p14="http://schemas.microsoft.com/office/powerpoint/2010/main" val="2247235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solidFill>
                  <a:srgbClr val="C00000"/>
                </a:solidFill>
              </a:rPr>
              <a:t>Recap:</a:t>
            </a:r>
            <a:r>
              <a:rPr kumimoji="1" lang="en-US" altLang="zh-TW" dirty="0"/>
              <a:t> Handling Hardware Events</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a:xfrm>
            <a:off x="177800" y="1238250"/>
            <a:ext cx="7217410" cy="5441950"/>
          </a:xfrm>
        </p:spPr>
        <p:txBody>
          <a:bodyPr/>
          <a:lstStyle/>
          <a:p>
            <a:endParaRPr kumimoji="1" lang="en-US" altLang="zh-TW" dirty="0"/>
          </a:p>
          <a:p>
            <a:r>
              <a:rPr kumimoji="1" lang="en-US" altLang="zh-TW" dirty="0"/>
              <a:t>How CPUs work with slower </a:t>
            </a:r>
            <a:r>
              <a:rPr lang="en-US" altLang="zh-TW" dirty="0"/>
              <a:t>h</a:t>
            </a:r>
            <a:r>
              <a:rPr kumimoji="1" lang="en-US" altLang="zh-TW" dirty="0"/>
              <a:t>ardware </a:t>
            </a:r>
            <a:r>
              <a:rPr lang="en-US" altLang="zh-TW" dirty="0"/>
              <a:t>d</a:t>
            </a:r>
            <a:r>
              <a:rPr kumimoji="1" lang="en-US" altLang="zh-TW" dirty="0"/>
              <a:t>evices</a:t>
            </a:r>
          </a:p>
          <a:p>
            <a:pPr lvl="1"/>
            <a:r>
              <a:rPr lang="en-US" altLang="zh-TW" dirty="0"/>
              <a:t>Polling: Periodically, the </a:t>
            </a:r>
            <a:r>
              <a:rPr lang="en-US" altLang="zh-TW" dirty="0">
                <a:solidFill>
                  <a:srgbClr val="C00000"/>
                </a:solidFill>
              </a:rPr>
              <a:t>kernel checks hardware </a:t>
            </a:r>
            <a:r>
              <a:rPr lang="en-US" altLang="zh-TW" dirty="0"/>
              <a:t>status and responds accordingly.</a:t>
            </a:r>
          </a:p>
          <a:p>
            <a:pPr lvl="1"/>
            <a:r>
              <a:rPr lang="en-US" altLang="zh-TW" dirty="0"/>
              <a:t>Interrupt: Let the </a:t>
            </a:r>
            <a:r>
              <a:rPr lang="en-US" altLang="zh-TW" dirty="0">
                <a:solidFill>
                  <a:srgbClr val="C00000"/>
                </a:solidFill>
              </a:rPr>
              <a:t>hardware to signal</a:t>
            </a:r>
            <a:r>
              <a:rPr lang="en-US" altLang="zh-TW" dirty="0"/>
              <a:t> to the kernel.</a:t>
            </a:r>
            <a:endParaRPr kumimoji="1" lang="en-US" altLang="zh-TW" dirty="0"/>
          </a:p>
          <a:p>
            <a:r>
              <a:rPr kumimoji="1" lang="en-US" altLang="zh-TW" dirty="0"/>
              <a:t>What causes interrupts:</a:t>
            </a:r>
          </a:p>
          <a:p>
            <a:pPr lvl="1"/>
            <a:r>
              <a:rPr kumimoji="1" lang="en-US" altLang="zh-TW" dirty="0"/>
              <a:t>Interrupt (Asynchronous, Hardware </a:t>
            </a:r>
            <a:r>
              <a:rPr lang="en-US" altLang="zh-TW" dirty="0"/>
              <a:t>Interrupts): Hardware devices </a:t>
            </a:r>
            <a:r>
              <a:rPr lang="en-US" altLang="zh-TW" dirty="0">
                <a:solidFill>
                  <a:srgbClr val="C00000"/>
                </a:solidFill>
              </a:rPr>
              <a:t>physically produce electronic signals</a:t>
            </a:r>
            <a:r>
              <a:rPr lang="en-US" altLang="zh-TW" dirty="0"/>
              <a:t>, which are directed into </a:t>
            </a:r>
            <a:r>
              <a:rPr lang="en-US" altLang="zh-TW" dirty="0">
                <a:solidFill>
                  <a:srgbClr val="C00000"/>
                </a:solidFill>
              </a:rPr>
              <a:t>input pins on an interrupt controller</a:t>
            </a:r>
            <a:r>
              <a:rPr lang="en-US" altLang="zh-TW" dirty="0"/>
              <a:t>.</a:t>
            </a:r>
            <a:endParaRPr kumimoji="1" lang="en-US" altLang="zh-TW" dirty="0"/>
          </a:p>
          <a:p>
            <a:endParaRPr kumimoji="1" lang="en-US" altLang="zh-TW"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2</a:t>
            </a:fld>
            <a:endParaRPr lang="zh-TW" altLang="en-US" dirty="0"/>
          </a:p>
        </p:txBody>
      </p:sp>
      <p:sp>
        <p:nvSpPr>
          <p:cNvPr id="5" name="矩形 4">
            <a:extLst>
              <a:ext uri="{FF2B5EF4-FFF2-40B4-BE49-F238E27FC236}">
                <a16:creationId xmlns:a16="http://schemas.microsoft.com/office/drawing/2014/main" id="{59228A93-0EA5-BD3B-1F90-460B6F29AB65}"/>
              </a:ext>
            </a:extLst>
          </p:cNvPr>
          <p:cNvSpPr/>
          <p:nvPr/>
        </p:nvSpPr>
        <p:spPr>
          <a:xfrm>
            <a:off x="7777316" y="1738413"/>
            <a:ext cx="4152745" cy="407262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kumimoji="1" lang="en-US" altLang="zh-TW" sz="1400" dirty="0">
                <a:solidFill>
                  <a:schemeClr val="tx1"/>
                </a:solidFill>
                <a:latin typeface="Arial" panose="020B0604020202020204" pitchFamily="34" charset="0"/>
                <a:cs typeface="Arial" panose="020B0604020202020204" pitchFamily="34" charset="0"/>
              </a:rPr>
              <a:t>Motherboard</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9" name="文字方塊 8">
            <a:extLst>
              <a:ext uri="{FF2B5EF4-FFF2-40B4-BE49-F238E27FC236}">
                <a16:creationId xmlns:a16="http://schemas.microsoft.com/office/drawing/2014/main" id="{9D24A877-206D-B6AE-4FFC-1886C4603A5E}"/>
              </a:ext>
            </a:extLst>
          </p:cNvPr>
          <p:cNvSpPr txBox="1"/>
          <p:nvPr/>
        </p:nvSpPr>
        <p:spPr>
          <a:xfrm>
            <a:off x="8126071" y="5901050"/>
            <a:ext cx="3803990" cy="523220"/>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Note: After 2019, all northbridge functions </a:t>
            </a:r>
          </a:p>
          <a:p>
            <a:r>
              <a:rPr kumimoji="1" lang="en-US" altLang="zh-TW" sz="1400" b="1" dirty="0">
                <a:solidFill>
                  <a:srgbClr val="0070C0"/>
                </a:solidFill>
                <a:latin typeface="Arial" panose="020B0604020202020204" pitchFamily="34" charset="0"/>
                <a:cs typeface="Arial" panose="020B0604020202020204" pitchFamily="34" charset="0"/>
              </a:rPr>
              <a:t>had been integrated into CPU!!</a:t>
            </a:r>
            <a:endParaRPr kumimoji="1" lang="zh-TW" altLang="en-US" sz="1400" b="1" dirty="0">
              <a:solidFill>
                <a:srgbClr val="0070C0"/>
              </a:solidFill>
              <a:latin typeface="Arial" panose="020B0604020202020204" pitchFamily="34" charset="0"/>
              <a:cs typeface="Arial" panose="020B0604020202020204" pitchFamily="34" charset="0"/>
            </a:endParaRPr>
          </a:p>
        </p:txBody>
      </p:sp>
      <p:sp>
        <p:nvSpPr>
          <p:cNvPr id="12" name="文字方塊 11">
            <a:extLst>
              <a:ext uri="{FF2B5EF4-FFF2-40B4-BE49-F238E27FC236}">
                <a16:creationId xmlns:a16="http://schemas.microsoft.com/office/drawing/2014/main" id="{0767D059-5B35-ECD9-44BB-F9418AF54803}"/>
              </a:ext>
            </a:extLst>
          </p:cNvPr>
          <p:cNvSpPr txBox="1"/>
          <p:nvPr/>
        </p:nvSpPr>
        <p:spPr>
          <a:xfrm>
            <a:off x="0" y="6396335"/>
            <a:ext cx="4027641" cy="461665"/>
          </a:xfrm>
          <a:prstGeom prst="rect">
            <a:avLst/>
          </a:prstGeom>
          <a:noFill/>
        </p:spPr>
        <p:txBody>
          <a:bodyPr wrap="non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hlinkClick r:id="rId3"/>
              </a:rPr>
              <a:t>https://zhuanlan.zhihu.com/p/313725721</a:t>
            </a:r>
            <a:endParaRPr kumimoji="1" lang="en-US" altLang="zh-TW" sz="1200" dirty="0">
              <a:solidFill>
                <a:schemeClr val="bg1">
                  <a:lumMod val="75000"/>
                </a:schemeClr>
              </a:solidFill>
            </a:endParaRPr>
          </a:p>
          <a:p>
            <a:r>
              <a:rPr kumimoji="1" lang="en-US" altLang="zh-TW" sz="1200" dirty="0">
                <a:solidFill>
                  <a:schemeClr val="bg1">
                    <a:lumMod val="75000"/>
                  </a:schemeClr>
                </a:solidFill>
              </a:rPr>
              <a:t>Ref2:</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en.wikipedia.org</a:t>
            </a:r>
            <a:r>
              <a:rPr kumimoji="1" lang="en-US" altLang="zh-TW" sz="1200" dirty="0">
                <a:solidFill>
                  <a:schemeClr val="bg1">
                    <a:lumMod val="75000"/>
                  </a:schemeClr>
                </a:solidFill>
              </a:rPr>
              <a:t>/wiki/Northbridge_(computing)</a:t>
            </a:r>
          </a:p>
        </p:txBody>
      </p:sp>
      <p:grpSp>
        <p:nvGrpSpPr>
          <p:cNvPr id="64" name="群組 63">
            <a:extLst>
              <a:ext uri="{FF2B5EF4-FFF2-40B4-BE49-F238E27FC236}">
                <a16:creationId xmlns:a16="http://schemas.microsoft.com/office/drawing/2014/main" id="{404DB057-7842-AAAC-D0CE-258942E1C510}"/>
              </a:ext>
            </a:extLst>
          </p:cNvPr>
          <p:cNvGrpSpPr/>
          <p:nvPr/>
        </p:nvGrpSpPr>
        <p:grpSpPr>
          <a:xfrm>
            <a:off x="10269117" y="3111892"/>
            <a:ext cx="1515213" cy="777724"/>
            <a:chOff x="10269117" y="3111892"/>
            <a:chExt cx="1515213" cy="777724"/>
          </a:xfrm>
        </p:grpSpPr>
        <p:cxnSp>
          <p:nvCxnSpPr>
            <p:cNvPr id="18" name="直線接點 17">
              <a:extLst>
                <a:ext uri="{FF2B5EF4-FFF2-40B4-BE49-F238E27FC236}">
                  <a16:creationId xmlns:a16="http://schemas.microsoft.com/office/drawing/2014/main" id="{B3F3A90F-0EC6-2F21-CB48-C269793DE105}"/>
                </a:ext>
              </a:extLst>
            </p:cNvPr>
            <p:cNvCxnSpPr>
              <a:cxnSpLocks/>
            </p:cNvCxnSpPr>
            <p:nvPr/>
          </p:nvCxnSpPr>
          <p:spPr>
            <a:xfrm>
              <a:off x="10269117" y="3513454"/>
              <a:ext cx="40364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899913A7-632C-618B-F1DA-89FA074F0353}"/>
                </a:ext>
              </a:extLst>
            </p:cNvPr>
            <p:cNvCxnSpPr>
              <a:cxnSpLocks/>
            </p:cNvCxnSpPr>
            <p:nvPr/>
          </p:nvCxnSpPr>
          <p:spPr>
            <a:xfrm>
              <a:off x="10672761" y="3257549"/>
              <a:ext cx="0" cy="5029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64C25631-9780-14EF-CF19-0F9FBD026016}"/>
                </a:ext>
              </a:extLst>
            </p:cNvPr>
            <p:cNvCxnSpPr>
              <a:cxnSpLocks/>
            </p:cNvCxnSpPr>
            <p:nvPr/>
          </p:nvCxnSpPr>
          <p:spPr>
            <a:xfrm>
              <a:off x="10662601" y="3257549"/>
              <a:ext cx="1981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76CB5695-465B-5574-E647-38903527D76F}"/>
                </a:ext>
              </a:extLst>
            </p:cNvPr>
            <p:cNvCxnSpPr>
              <a:cxnSpLocks/>
            </p:cNvCxnSpPr>
            <p:nvPr/>
          </p:nvCxnSpPr>
          <p:spPr>
            <a:xfrm>
              <a:off x="10670221" y="3743960"/>
              <a:ext cx="190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圓角矩形 27">
              <a:extLst>
                <a:ext uri="{FF2B5EF4-FFF2-40B4-BE49-F238E27FC236}">
                  <a16:creationId xmlns:a16="http://schemas.microsoft.com/office/drawing/2014/main" id="{06DB8595-EF80-D27C-406B-A23FD123E2AF}"/>
                </a:ext>
              </a:extLst>
            </p:cNvPr>
            <p:cNvSpPr/>
            <p:nvPr/>
          </p:nvSpPr>
          <p:spPr>
            <a:xfrm>
              <a:off x="10869930" y="3111892"/>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DRAM</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29" name="圓角矩形 28">
              <a:extLst>
                <a:ext uri="{FF2B5EF4-FFF2-40B4-BE49-F238E27FC236}">
                  <a16:creationId xmlns:a16="http://schemas.microsoft.com/office/drawing/2014/main" id="{E8574694-ED8A-41A9-EF53-06B5A000937A}"/>
                </a:ext>
              </a:extLst>
            </p:cNvPr>
            <p:cNvSpPr/>
            <p:nvPr/>
          </p:nvSpPr>
          <p:spPr>
            <a:xfrm>
              <a:off x="10869930" y="3598303"/>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GPU</a:t>
              </a:r>
              <a:endParaRPr kumimoji="1" lang="zh-TW" altLang="en-US" sz="1400" dirty="0">
                <a:solidFill>
                  <a:schemeClr val="tx1"/>
                </a:solidFill>
                <a:latin typeface="Arial" panose="020B0604020202020204" pitchFamily="34" charset="0"/>
                <a:cs typeface="Arial" panose="020B0604020202020204" pitchFamily="34" charset="0"/>
              </a:endParaRPr>
            </a:p>
          </p:txBody>
        </p:sp>
      </p:grpSp>
      <p:grpSp>
        <p:nvGrpSpPr>
          <p:cNvPr id="63" name="群組 62">
            <a:extLst>
              <a:ext uri="{FF2B5EF4-FFF2-40B4-BE49-F238E27FC236}">
                <a16:creationId xmlns:a16="http://schemas.microsoft.com/office/drawing/2014/main" id="{B6F9EB6E-A4FE-CF35-B3D5-99B2695A0A16}"/>
              </a:ext>
            </a:extLst>
          </p:cNvPr>
          <p:cNvGrpSpPr/>
          <p:nvPr/>
        </p:nvGrpSpPr>
        <p:grpSpPr>
          <a:xfrm>
            <a:off x="7966819" y="1892934"/>
            <a:ext cx="2305156" cy="3292475"/>
            <a:chOff x="7966819" y="1892934"/>
            <a:chExt cx="2305156" cy="3292475"/>
          </a:xfrm>
        </p:grpSpPr>
        <p:sp>
          <p:nvSpPr>
            <p:cNvPr id="7" name="矩形 6">
              <a:extLst>
                <a:ext uri="{FF2B5EF4-FFF2-40B4-BE49-F238E27FC236}">
                  <a16:creationId xmlns:a16="http://schemas.microsoft.com/office/drawing/2014/main" id="{AC1E176E-3D2D-1FD3-C4AC-14E0029D0DB7}"/>
                </a:ext>
              </a:extLst>
            </p:cNvPr>
            <p:cNvSpPr/>
            <p:nvPr/>
          </p:nvSpPr>
          <p:spPr>
            <a:xfrm>
              <a:off x="8279345" y="4665344"/>
              <a:ext cx="1866900" cy="520065"/>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latin typeface="Arial" panose="020B0604020202020204" pitchFamily="34" charset="0"/>
                  <a:cs typeface="Arial" panose="020B0604020202020204" pitchFamily="34" charset="0"/>
                </a:rPr>
                <a:t>Interrupt Controller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(I/O APIC)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5" name="矩形 14">
              <a:extLst>
                <a:ext uri="{FF2B5EF4-FFF2-40B4-BE49-F238E27FC236}">
                  <a16:creationId xmlns:a16="http://schemas.microsoft.com/office/drawing/2014/main" id="{438A62E0-B075-E36E-61A5-3A1DEA15CCE0}"/>
                </a:ext>
              </a:extLst>
            </p:cNvPr>
            <p:cNvSpPr/>
            <p:nvPr/>
          </p:nvSpPr>
          <p:spPr>
            <a:xfrm>
              <a:off x="8121801" y="1892934"/>
              <a:ext cx="1002266" cy="469901"/>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Local APIC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6" name="矩形 15">
              <a:extLst>
                <a:ext uri="{FF2B5EF4-FFF2-40B4-BE49-F238E27FC236}">
                  <a16:creationId xmlns:a16="http://schemas.microsoft.com/office/drawing/2014/main" id="{FD84199D-A48E-4277-E936-E83C2ACFEEE8}"/>
                </a:ext>
              </a:extLst>
            </p:cNvPr>
            <p:cNvSpPr/>
            <p:nvPr/>
          </p:nvSpPr>
          <p:spPr>
            <a:xfrm>
              <a:off x="9271850" y="1892934"/>
              <a:ext cx="1000125" cy="469901"/>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Local APIC</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43" name="直線接點 42">
              <a:extLst>
                <a:ext uri="{FF2B5EF4-FFF2-40B4-BE49-F238E27FC236}">
                  <a16:creationId xmlns:a16="http://schemas.microsoft.com/office/drawing/2014/main" id="{D9578038-C6D0-D7B2-4945-C12F6B28C380}"/>
                </a:ext>
              </a:extLst>
            </p:cNvPr>
            <p:cNvCxnSpPr>
              <a:cxnSpLocks/>
            </p:cNvCxnSpPr>
            <p:nvPr/>
          </p:nvCxnSpPr>
          <p:spPr>
            <a:xfrm>
              <a:off x="7966965" y="2127885"/>
              <a:ext cx="0" cy="28708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387E2BE6-CFBE-43B4-B339-06B6ABE1B455}"/>
                </a:ext>
              </a:extLst>
            </p:cNvPr>
            <p:cNvCxnSpPr>
              <a:cxnSpLocks/>
              <a:endCxn id="15" idx="1"/>
            </p:cNvCxnSpPr>
            <p:nvPr/>
          </p:nvCxnSpPr>
          <p:spPr>
            <a:xfrm>
              <a:off x="7966819" y="2127885"/>
              <a:ext cx="15498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線接點 46">
              <a:extLst>
                <a:ext uri="{FF2B5EF4-FFF2-40B4-BE49-F238E27FC236}">
                  <a16:creationId xmlns:a16="http://schemas.microsoft.com/office/drawing/2014/main" id="{99530FE4-47CC-D9BB-FCE0-8CF77793174B}"/>
                </a:ext>
              </a:extLst>
            </p:cNvPr>
            <p:cNvCxnSpPr>
              <a:cxnSpLocks/>
            </p:cNvCxnSpPr>
            <p:nvPr/>
          </p:nvCxnSpPr>
          <p:spPr>
            <a:xfrm>
              <a:off x="7966965" y="4986572"/>
              <a:ext cx="31238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2" name="群組 61">
            <a:extLst>
              <a:ext uri="{FF2B5EF4-FFF2-40B4-BE49-F238E27FC236}">
                <a16:creationId xmlns:a16="http://schemas.microsoft.com/office/drawing/2014/main" id="{AB2122B2-74D9-C2BC-CA33-1804D4702E59}"/>
              </a:ext>
            </a:extLst>
          </p:cNvPr>
          <p:cNvGrpSpPr/>
          <p:nvPr/>
        </p:nvGrpSpPr>
        <p:grpSpPr>
          <a:xfrm>
            <a:off x="8124087" y="2362835"/>
            <a:ext cx="2147888" cy="2919730"/>
            <a:chOff x="8124087" y="2362835"/>
            <a:chExt cx="2147888" cy="2919730"/>
          </a:xfrm>
        </p:grpSpPr>
        <p:sp>
          <p:nvSpPr>
            <p:cNvPr id="6" name="矩形 5">
              <a:extLst>
                <a:ext uri="{FF2B5EF4-FFF2-40B4-BE49-F238E27FC236}">
                  <a16:creationId xmlns:a16="http://schemas.microsoft.com/office/drawing/2014/main" id="{B840B442-F28B-6B3C-0D1A-E4EA1FE7DEA6}"/>
                </a:ext>
              </a:extLst>
            </p:cNvPr>
            <p:cNvSpPr/>
            <p:nvPr/>
          </p:nvSpPr>
          <p:spPr>
            <a:xfrm>
              <a:off x="8126945" y="4115435"/>
              <a:ext cx="2145030" cy="116713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latin typeface="Arial" panose="020B0604020202020204" pitchFamily="34" charset="0"/>
                  <a:cs typeface="Arial" panose="020B0604020202020204" pitchFamily="34" charset="0"/>
                </a:rPr>
                <a:t>Southbridge</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lumMod val="50000"/>
                      <a:lumOff val="50000"/>
                    </a:schemeClr>
                  </a:solidFill>
                  <a:latin typeface="Arial" panose="020B0604020202020204" pitchFamily="34" charset="0"/>
                  <a:cs typeface="Arial" panose="020B0604020202020204" pitchFamily="34" charset="0"/>
                </a:rPr>
                <a:t>(I/O Controller Hub)</a:t>
              </a:r>
              <a:endParaRPr kumimoji="1" lang="zh-TW" altLang="en-US" sz="14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8" name="矩形 7">
              <a:extLst>
                <a:ext uri="{FF2B5EF4-FFF2-40B4-BE49-F238E27FC236}">
                  <a16:creationId xmlns:a16="http://schemas.microsoft.com/office/drawing/2014/main" id="{9EFFFF51-984A-DC0F-5889-71A2B3A58DBD}"/>
                </a:ext>
              </a:extLst>
            </p:cNvPr>
            <p:cNvSpPr/>
            <p:nvPr/>
          </p:nvSpPr>
          <p:spPr>
            <a:xfrm>
              <a:off x="8124087" y="3257549"/>
              <a:ext cx="2145030" cy="5029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Northbridge</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lumMod val="50000"/>
                      <a:lumOff val="50000"/>
                    </a:schemeClr>
                  </a:solidFill>
                  <a:latin typeface="Arial" panose="020B0604020202020204" pitchFamily="34" charset="0"/>
                  <a:cs typeface="Arial" panose="020B0604020202020204" pitchFamily="34" charset="0"/>
                </a:rPr>
                <a:t>(Memory Controller Hub)</a:t>
              </a:r>
              <a:endParaRPr kumimoji="1" lang="zh-TW" altLang="en-US" sz="14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13" name="矩形 12">
              <a:extLst>
                <a:ext uri="{FF2B5EF4-FFF2-40B4-BE49-F238E27FC236}">
                  <a16:creationId xmlns:a16="http://schemas.microsoft.com/office/drawing/2014/main" id="{E4927536-3941-A3EA-E820-2834C5673B37}"/>
                </a:ext>
              </a:extLst>
            </p:cNvPr>
            <p:cNvSpPr/>
            <p:nvPr/>
          </p:nvSpPr>
          <p:spPr>
            <a:xfrm>
              <a:off x="8126945" y="2362835"/>
              <a:ext cx="1000125" cy="5029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CPU</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4" name="矩形 13">
              <a:extLst>
                <a:ext uri="{FF2B5EF4-FFF2-40B4-BE49-F238E27FC236}">
                  <a16:creationId xmlns:a16="http://schemas.microsoft.com/office/drawing/2014/main" id="{58857E46-1A8B-66DE-9489-756B982133A2}"/>
                </a:ext>
              </a:extLst>
            </p:cNvPr>
            <p:cNvSpPr/>
            <p:nvPr/>
          </p:nvSpPr>
          <p:spPr>
            <a:xfrm>
              <a:off x="9271850" y="2362835"/>
              <a:ext cx="1000125" cy="5029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CPU</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30" name="直線接點 29">
              <a:extLst>
                <a:ext uri="{FF2B5EF4-FFF2-40B4-BE49-F238E27FC236}">
                  <a16:creationId xmlns:a16="http://schemas.microsoft.com/office/drawing/2014/main" id="{2A91E5A7-F432-E22B-9513-EF8A698988E7}"/>
                </a:ext>
              </a:extLst>
            </p:cNvPr>
            <p:cNvCxnSpPr>
              <a:cxnSpLocks/>
            </p:cNvCxnSpPr>
            <p:nvPr/>
          </p:nvCxnSpPr>
          <p:spPr>
            <a:xfrm>
              <a:off x="8624149" y="2865755"/>
              <a:ext cx="0" cy="16302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B126330A-3D3B-5718-CDA7-1742EA0F357A}"/>
                </a:ext>
              </a:extLst>
            </p:cNvPr>
            <p:cNvCxnSpPr>
              <a:cxnSpLocks/>
            </p:cNvCxnSpPr>
            <p:nvPr/>
          </p:nvCxnSpPr>
          <p:spPr>
            <a:xfrm>
              <a:off x="9771912" y="2863813"/>
              <a:ext cx="0" cy="16302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3D0FDAC2-785D-6280-0A3F-41DD0C72E4C6}"/>
                </a:ext>
              </a:extLst>
            </p:cNvPr>
            <p:cNvCxnSpPr>
              <a:cxnSpLocks/>
            </p:cNvCxnSpPr>
            <p:nvPr/>
          </p:nvCxnSpPr>
          <p:spPr>
            <a:xfrm>
              <a:off x="9217034" y="3026839"/>
              <a:ext cx="0" cy="2307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DAD04AC8-D599-A3BC-28E7-874BD52283BB}"/>
                </a:ext>
              </a:extLst>
            </p:cNvPr>
            <p:cNvCxnSpPr>
              <a:cxnSpLocks/>
            </p:cNvCxnSpPr>
            <p:nvPr/>
          </p:nvCxnSpPr>
          <p:spPr>
            <a:xfrm>
              <a:off x="8623769" y="3026839"/>
              <a:ext cx="114814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線接點 49">
              <a:extLst>
                <a:ext uri="{FF2B5EF4-FFF2-40B4-BE49-F238E27FC236}">
                  <a16:creationId xmlns:a16="http://schemas.microsoft.com/office/drawing/2014/main" id="{6A562E9C-1225-72C4-A568-90AA5D37C465}"/>
                </a:ext>
              </a:extLst>
            </p:cNvPr>
            <p:cNvCxnSpPr>
              <a:cxnSpLocks/>
            </p:cNvCxnSpPr>
            <p:nvPr/>
          </p:nvCxnSpPr>
          <p:spPr>
            <a:xfrm>
              <a:off x="9228970" y="3760469"/>
              <a:ext cx="0" cy="3549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5" name="群組 64">
            <a:extLst>
              <a:ext uri="{FF2B5EF4-FFF2-40B4-BE49-F238E27FC236}">
                <a16:creationId xmlns:a16="http://schemas.microsoft.com/office/drawing/2014/main" id="{03FDDAE2-429B-E574-8A34-1E526F377C1F}"/>
              </a:ext>
            </a:extLst>
          </p:cNvPr>
          <p:cNvGrpSpPr/>
          <p:nvPr/>
        </p:nvGrpSpPr>
        <p:grpSpPr>
          <a:xfrm>
            <a:off x="10146245" y="4337129"/>
            <a:ext cx="1638085" cy="1253197"/>
            <a:chOff x="10146245" y="4337129"/>
            <a:chExt cx="1638085" cy="1253197"/>
          </a:xfrm>
        </p:grpSpPr>
        <p:cxnSp>
          <p:nvCxnSpPr>
            <p:cNvPr id="37" name="直線接點 36">
              <a:extLst>
                <a:ext uri="{FF2B5EF4-FFF2-40B4-BE49-F238E27FC236}">
                  <a16:creationId xmlns:a16="http://schemas.microsoft.com/office/drawing/2014/main" id="{A99EF251-5987-282D-FBD6-99D65E4C3E46}"/>
                </a:ext>
              </a:extLst>
            </p:cNvPr>
            <p:cNvCxnSpPr>
              <a:cxnSpLocks/>
              <a:stCxn id="7" idx="3"/>
            </p:cNvCxnSpPr>
            <p:nvPr/>
          </p:nvCxnSpPr>
          <p:spPr>
            <a:xfrm flipV="1">
              <a:off x="10146245" y="4862868"/>
              <a:ext cx="51635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id="{5A04FD74-85DB-1AEB-2771-8EC2483501E4}"/>
                </a:ext>
              </a:extLst>
            </p:cNvPr>
            <p:cNvCxnSpPr>
              <a:cxnSpLocks/>
            </p:cNvCxnSpPr>
            <p:nvPr/>
          </p:nvCxnSpPr>
          <p:spPr>
            <a:xfrm>
              <a:off x="10672761" y="4482786"/>
              <a:ext cx="0" cy="5029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接點 38">
              <a:extLst>
                <a:ext uri="{FF2B5EF4-FFF2-40B4-BE49-F238E27FC236}">
                  <a16:creationId xmlns:a16="http://schemas.microsoft.com/office/drawing/2014/main" id="{937E4405-4349-A49B-9C81-F016769FD6D4}"/>
                </a:ext>
              </a:extLst>
            </p:cNvPr>
            <p:cNvCxnSpPr>
              <a:cxnSpLocks/>
            </p:cNvCxnSpPr>
            <p:nvPr/>
          </p:nvCxnSpPr>
          <p:spPr>
            <a:xfrm>
              <a:off x="10662601" y="4482786"/>
              <a:ext cx="1981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線接點 39">
              <a:extLst>
                <a:ext uri="{FF2B5EF4-FFF2-40B4-BE49-F238E27FC236}">
                  <a16:creationId xmlns:a16="http://schemas.microsoft.com/office/drawing/2014/main" id="{C0C1150C-DD3D-0477-D6ED-83BCA8561D78}"/>
                </a:ext>
              </a:extLst>
            </p:cNvPr>
            <p:cNvCxnSpPr>
              <a:cxnSpLocks/>
            </p:cNvCxnSpPr>
            <p:nvPr/>
          </p:nvCxnSpPr>
          <p:spPr>
            <a:xfrm>
              <a:off x="10680612" y="4969197"/>
              <a:ext cx="190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圓角矩形 40">
              <a:extLst>
                <a:ext uri="{FF2B5EF4-FFF2-40B4-BE49-F238E27FC236}">
                  <a16:creationId xmlns:a16="http://schemas.microsoft.com/office/drawing/2014/main" id="{EC87647D-B2CA-5EF2-1CE9-5F14D6A66FD7}"/>
                </a:ext>
              </a:extLst>
            </p:cNvPr>
            <p:cNvSpPr/>
            <p:nvPr/>
          </p:nvSpPr>
          <p:spPr>
            <a:xfrm>
              <a:off x="10869930" y="4337129"/>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Keyboard</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42" name="圓角矩形 41">
              <a:extLst>
                <a:ext uri="{FF2B5EF4-FFF2-40B4-BE49-F238E27FC236}">
                  <a16:creationId xmlns:a16="http://schemas.microsoft.com/office/drawing/2014/main" id="{56820A37-32FC-4138-7928-96208DA9D011}"/>
                </a:ext>
              </a:extLst>
            </p:cNvPr>
            <p:cNvSpPr/>
            <p:nvPr/>
          </p:nvSpPr>
          <p:spPr>
            <a:xfrm>
              <a:off x="10869930" y="4823540"/>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HDD</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55" name="直線接點 54">
              <a:extLst>
                <a:ext uri="{FF2B5EF4-FFF2-40B4-BE49-F238E27FC236}">
                  <a16:creationId xmlns:a16="http://schemas.microsoft.com/office/drawing/2014/main" id="{41317142-6817-CDE0-F9F7-B725CB4EFD63}"/>
                </a:ext>
              </a:extLst>
            </p:cNvPr>
            <p:cNvCxnSpPr>
              <a:cxnSpLocks/>
            </p:cNvCxnSpPr>
            <p:nvPr/>
          </p:nvCxnSpPr>
          <p:spPr>
            <a:xfrm>
              <a:off x="10670221" y="5444670"/>
              <a:ext cx="190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圓角矩形 55">
              <a:extLst>
                <a:ext uri="{FF2B5EF4-FFF2-40B4-BE49-F238E27FC236}">
                  <a16:creationId xmlns:a16="http://schemas.microsoft.com/office/drawing/2014/main" id="{6C4734EC-D617-AF3D-0323-BF3CF40528F5}"/>
                </a:ext>
              </a:extLst>
            </p:cNvPr>
            <p:cNvSpPr/>
            <p:nvPr/>
          </p:nvSpPr>
          <p:spPr>
            <a:xfrm>
              <a:off x="10869930" y="5299013"/>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PCIE</a:t>
              </a: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a:solidFill>
                    <a:schemeClr val="tx1"/>
                  </a:solidFill>
                  <a:latin typeface="Arial" panose="020B0604020202020204" pitchFamily="34" charset="0"/>
                  <a:cs typeface="Arial" panose="020B0604020202020204" pitchFamily="34" charset="0"/>
                </a:rPr>
                <a:t>SSD</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57" name="直線接點 56">
              <a:extLst>
                <a:ext uri="{FF2B5EF4-FFF2-40B4-BE49-F238E27FC236}">
                  <a16:creationId xmlns:a16="http://schemas.microsoft.com/office/drawing/2014/main" id="{07E09B6A-CD1E-A980-37B7-263171A120D7}"/>
                </a:ext>
              </a:extLst>
            </p:cNvPr>
            <p:cNvCxnSpPr>
              <a:cxnSpLocks/>
            </p:cNvCxnSpPr>
            <p:nvPr/>
          </p:nvCxnSpPr>
          <p:spPr>
            <a:xfrm>
              <a:off x="10673929" y="4946693"/>
              <a:ext cx="0" cy="5029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8" name="圓角矩形 57">
            <a:extLst>
              <a:ext uri="{FF2B5EF4-FFF2-40B4-BE49-F238E27FC236}">
                <a16:creationId xmlns:a16="http://schemas.microsoft.com/office/drawing/2014/main" id="{F30D72A8-38A1-0ADE-0500-842F66AA74F6}"/>
              </a:ext>
            </a:extLst>
          </p:cNvPr>
          <p:cNvSpPr/>
          <p:nvPr/>
        </p:nvSpPr>
        <p:spPr>
          <a:xfrm>
            <a:off x="8050180" y="3166557"/>
            <a:ext cx="2297326" cy="2384767"/>
          </a:xfrm>
          <a:prstGeom prst="roundRect">
            <a:avLst>
              <a:gd name="adj" fmla="val 7163"/>
            </a:avLst>
          </a:prstGeom>
          <a:noFill/>
          <a:ln w="190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bIns="0" rtlCol="0" anchor="b"/>
          <a:lstStyle/>
          <a:p>
            <a:pPr algn="ctr"/>
            <a:r>
              <a:rPr kumimoji="1" lang="en-US" altLang="zh-TW" sz="1400" dirty="0">
                <a:solidFill>
                  <a:srgbClr val="0070C0"/>
                </a:solidFill>
                <a:latin typeface="Arial" panose="020B0604020202020204" pitchFamily="34" charset="0"/>
                <a:cs typeface="Arial" panose="020B0604020202020204" pitchFamily="34" charset="0"/>
              </a:rPr>
              <a:t>Chipset</a:t>
            </a:r>
            <a:endParaRPr kumimoji="1" lang="zh-TW" altLang="en-US" sz="1400" dirty="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6044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62"/>
                                        </p:tgtEl>
                                        <p:attrNameLst>
                                          <p:attrName>style.visibility</p:attrName>
                                        </p:attrNameLst>
                                      </p:cBhvr>
                                      <p:to>
                                        <p:strVal val="visible"/>
                                      </p:to>
                                    </p:set>
                                    <p:animEffect transition="in" filter="wipe(up)">
                                      <p:cBhvr>
                                        <p:cTn id="30" dur="500"/>
                                        <p:tgtEl>
                                          <p:spTgt spid="6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8"/>
                                        </p:tgtEl>
                                        <p:attrNameLst>
                                          <p:attrName>style.visibility</p:attrName>
                                        </p:attrNameLst>
                                      </p:cBhvr>
                                      <p:to>
                                        <p:strVal val="visible"/>
                                      </p:to>
                                    </p:set>
                                    <p:animEffect transition="in" filter="fade">
                                      <p:cBhvr>
                                        <p:cTn id="35" dur="500"/>
                                        <p:tgtEl>
                                          <p:spTgt spid="5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64"/>
                                        </p:tgtEl>
                                        <p:attrNameLst>
                                          <p:attrName>style.visibility</p:attrName>
                                        </p:attrNameLst>
                                      </p:cBhvr>
                                      <p:to>
                                        <p:strVal val="visible"/>
                                      </p:to>
                                    </p:set>
                                    <p:animEffect transition="in" filter="wipe(left)">
                                      <p:cBhvr>
                                        <p:cTn id="40" dur="500"/>
                                        <p:tgtEl>
                                          <p:spTgt spid="64"/>
                                        </p:tgtEl>
                                      </p:cBhvr>
                                    </p:animEffect>
                                  </p:childTnLst>
                                </p:cTn>
                              </p:par>
                              <p:par>
                                <p:cTn id="41" presetID="1" presetClass="exit" presetSubtype="0" fill="hold" grpId="1" nodeType="withEffect">
                                  <p:stCondLst>
                                    <p:cond delay="0"/>
                                  </p:stCondLst>
                                  <p:childTnLst>
                                    <p:set>
                                      <p:cBhvr>
                                        <p:cTn id="42" dur="1" fill="hold">
                                          <p:stCondLst>
                                            <p:cond delay="0"/>
                                          </p:stCondLst>
                                        </p:cTn>
                                        <p:tgtEl>
                                          <p:spTgt spid="58"/>
                                        </p:tgtEl>
                                        <p:attrNameLst>
                                          <p:attrName>style.visibility</p:attrName>
                                        </p:attrNameLst>
                                      </p:cBhvr>
                                      <p:to>
                                        <p:strVal val="hidden"/>
                                      </p:to>
                                    </p:set>
                                  </p:childTnLst>
                                </p:cTn>
                              </p:par>
                              <p:par>
                                <p:cTn id="43" presetID="22" presetClass="entr" presetSubtype="8" fill="hold" nodeType="withEffect">
                                  <p:stCondLst>
                                    <p:cond delay="0"/>
                                  </p:stCondLst>
                                  <p:childTnLst>
                                    <p:set>
                                      <p:cBhvr>
                                        <p:cTn id="44" dur="1" fill="hold">
                                          <p:stCondLst>
                                            <p:cond delay="0"/>
                                          </p:stCondLst>
                                        </p:cTn>
                                        <p:tgtEl>
                                          <p:spTgt spid="65"/>
                                        </p:tgtEl>
                                        <p:attrNameLst>
                                          <p:attrName>style.visibility</p:attrName>
                                        </p:attrNameLst>
                                      </p:cBhvr>
                                      <p:to>
                                        <p:strVal val="visible"/>
                                      </p:to>
                                    </p:set>
                                    <p:animEffect transition="in" filter="wipe(left)">
                                      <p:cBhvr>
                                        <p:cTn id="45" dur="500"/>
                                        <p:tgtEl>
                                          <p:spTgt spid="6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63"/>
                                        </p:tgtEl>
                                        <p:attrNameLst>
                                          <p:attrName>style.visibility</p:attrName>
                                        </p:attrNameLst>
                                      </p:cBhvr>
                                      <p:to>
                                        <p:strVal val="visible"/>
                                      </p:to>
                                    </p:set>
                                    <p:animEffect transition="in" filter="fade">
                                      <p:cBhvr>
                                        <p:cTn id="50" dur="500"/>
                                        <p:tgtEl>
                                          <p:spTgt spid="6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wipe(left)">
                                      <p:cBhvr>
                                        <p:cTn id="5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p:bldP spid="58" grpId="0" animBg="1"/>
      <p:bldP spid="58"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solidFill>
                  <a:srgbClr val="C00000"/>
                </a:solidFill>
              </a:rPr>
              <a:t>Recap: </a:t>
            </a:r>
            <a:r>
              <a:rPr kumimoji="1" lang="en-US" altLang="zh-TW" dirty="0"/>
              <a:t>Handling Hardware Events (Count.)</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a:xfrm>
            <a:off x="177800" y="1238250"/>
            <a:ext cx="11652250" cy="5441950"/>
          </a:xfrm>
        </p:spPr>
        <p:txBody>
          <a:bodyPr/>
          <a:lstStyle/>
          <a:p>
            <a:endParaRPr kumimoji="1" lang="en-US" altLang="zh-TW" dirty="0"/>
          </a:p>
          <a:p>
            <a:r>
              <a:rPr kumimoji="1" lang="en-US" altLang="zh-TW" dirty="0">
                <a:solidFill>
                  <a:schemeClr val="bg1">
                    <a:lumMod val="50000"/>
                  </a:schemeClr>
                </a:solidFill>
              </a:rPr>
              <a:t>How CPUs work with slower </a:t>
            </a:r>
            <a:r>
              <a:rPr lang="en-US" altLang="zh-TW" dirty="0">
                <a:solidFill>
                  <a:schemeClr val="bg1">
                    <a:lumMod val="50000"/>
                  </a:schemeClr>
                </a:solidFill>
              </a:rPr>
              <a:t>h</a:t>
            </a:r>
            <a:r>
              <a:rPr kumimoji="1" lang="en-US" altLang="zh-TW" dirty="0">
                <a:solidFill>
                  <a:schemeClr val="bg1">
                    <a:lumMod val="50000"/>
                  </a:schemeClr>
                </a:solidFill>
              </a:rPr>
              <a:t>ardware </a:t>
            </a:r>
            <a:r>
              <a:rPr lang="en-US" altLang="zh-TW" dirty="0">
                <a:solidFill>
                  <a:schemeClr val="bg1">
                    <a:lumMod val="50000"/>
                  </a:schemeClr>
                </a:solidFill>
              </a:rPr>
              <a:t>d</a:t>
            </a:r>
            <a:r>
              <a:rPr kumimoji="1" lang="en-US" altLang="zh-TW" dirty="0">
                <a:solidFill>
                  <a:schemeClr val="bg1">
                    <a:lumMod val="50000"/>
                  </a:schemeClr>
                </a:solidFill>
              </a:rPr>
              <a:t>evices</a:t>
            </a:r>
          </a:p>
          <a:p>
            <a:pPr lvl="1"/>
            <a:r>
              <a:rPr lang="en-US" altLang="zh-TW" dirty="0">
                <a:solidFill>
                  <a:schemeClr val="bg1">
                    <a:lumMod val="50000"/>
                  </a:schemeClr>
                </a:solidFill>
              </a:rPr>
              <a:t>Polling: Periodically, the kernel checks hardware status and responds accordingly.</a:t>
            </a:r>
          </a:p>
          <a:p>
            <a:pPr lvl="1"/>
            <a:r>
              <a:rPr lang="en-US" altLang="zh-TW" dirty="0">
                <a:solidFill>
                  <a:schemeClr val="bg1">
                    <a:lumMod val="50000"/>
                  </a:schemeClr>
                </a:solidFill>
              </a:rPr>
              <a:t>Interrupt: Let the hardware to signal to the kernel.</a:t>
            </a:r>
            <a:endParaRPr kumimoji="1" lang="en-US" altLang="zh-TW" dirty="0">
              <a:solidFill>
                <a:schemeClr val="bg1">
                  <a:lumMod val="50000"/>
                </a:schemeClr>
              </a:solidFill>
            </a:endParaRPr>
          </a:p>
          <a:p>
            <a:r>
              <a:rPr kumimoji="1" lang="en-US" altLang="zh-TW" dirty="0"/>
              <a:t>What causes interrupts:</a:t>
            </a:r>
          </a:p>
          <a:p>
            <a:pPr lvl="1"/>
            <a:r>
              <a:rPr kumimoji="1" lang="en-US" altLang="zh-TW" dirty="0"/>
              <a:t>Interrupt (Asynchronous, Hardware </a:t>
            </a:r>
            <a:r>
              <a:rPr lang="en-US" altLang="zh-TW" dirty="0"/>
              <a:t>Interrupts): Hardware devices </a:t>
            </a:r>
            <a:r>
              <a:rPr lang="en-US" altLang="zh-TW" dirty="0">
                <a:solidFill>
                  <a:srgbClr val="C00000"/>
                </a:solidFill>
              </a:rPr>
              <a:t>physically produce electronic signals</a:t>
            </a:r>
            <a:r>
              <a:rPr lang="en-US" altLang="zh-TW" dirty="0"/>
              <a:t>, which are directed into </a:t>
            </a:r>
            <a:r>
              <a:rPr lang="en-US" altLang="zh-TW" dirty="0">
                <a:solidFill>
                  <a:srgbClr val="C00000"/>
                </a:solidFill>
              </a:rPr>
              <a:t>input pins on an interrupt controller </a:t>
            </a:r>
            <a:br>
              <a:rPr lang="en-US" altLang="zh-TW" dirty="0"/>
            </a:br>
            <a:r>
              <a:rPr lang="en-US" altLang="zh-TW" dirty="0"/>
              <a:t>(e.g.,</a:t>
            </a:r>
            <a:r>
              <a:rPr lang="zh-TW" altLang="en-US" dirty="0"/>
              <a:t> </a:t>
            </a:r>
            <a:r>
              <a:rPr lang="en-US" altLang="zh-TW" dirty="0"/>
              <a:t>keyboard,</a:t>
            </a:r>
            <a:r>
              <a:rPr lang="zh-TW" altLang="en-US" dirty="0"/>
              <a:t> </a:t>
            </a:r>
            <a:r>
              <a:rPr lang="en-US" altLang="zh-TW" dirty="0"/>
              <a:t>disk).</a:t>
            </a:r>
            <a:endParaRPr kumimoji="1" lang="en-US" altLang="zh-TW" dirty="0"/>
          </a:p>
          <a:p>
            <a:pPr lvl="1"/>
            <a:r>
              <a:rPr lang="en-US" altLang="zh-TW" dirty="0"/>
              <a:t>Exceptions (Synchronous, Software Interrupts): Exceptions are </a:t>
            </a:r>
            <a:r>
              <a:rPr lang="en-US" altLang="zh-TW" dirty="0">
                <a:solidFill>
                  <a:srgbClr val="C00000"/>
                </a:solidFill>
              </a:rPr>
              <a:t>produced by the processor</a:t>
            </a:r>
            <a:r>
              <a:rPr lang="en-US" altLang="zh-TW" dirty="0"/>
              <a:t> while executing instructions either in response to a </a:t>
            </a:r>
            <a:r>
              <a:rPr lang="en-US" altLang="zh-TW" dirty="0">
                <a:solidFill>
                  <a:srgbClr val="C00000"/>
                </a:solidFill>
              </a:rPr>
              <a:t>programming error</a:t>
            </a:r>
            <a:r>
              <a:rPr lang="zh-TW" altLang="en-US" dirty="0">
                <a:solidFill>
                  <a:srgbClr val="C00000"/>
                </a:solidFill>
              </a:rPr>
              <a:t> </a:t>
            </a:r>
            <a:r>
              <a:rPr lang="en-US" altLang="zh-TW" dirty="0">
                <a:solidFill>
                  <a:schemeClr val="tx1"/>
                </a:solidFill>
              </a:rPr>
              <a:t>(e.g.,</a:t>
            </a:r>
            <a:r>
              <a:rPr lang="zh-TW" altLang="en-US" dirty="0">
                <a:solidFill>
                  <a:schemeClr val="tx1"/>
                </a:solidFill>
              </a:rPr>
              <a:t> </a:t>
            </a:r>
            <a:r>
              <a:rPr lang="en-US" altLang="zh-TW" dirty="0">
                <a:solidFill>
                  <a:schemeClr val="tx1"/>
                </a:solidFill>
              </a:rPr>
              <a:t>divide</a:t>
            </a:r>
            <a:r>
              <a:rPr lang="zh-TW" altLang="en-US" dirty="0">
                <a:solidFill>
                  <a:schemeClr val="tx1"/>
                </a:solidFill>
              </a:rPr>
              <a:t> </a:t>
            </a:r>
            <a:r>
              <a:rPr lang="en-US" altLang="zh-TW" dirty="0">
                <a:solidFill>
                  <a:schemeClr val="tx1"/>
                </a:solidFill>
              </a:rPr>
              <a:t>by</a:t>
            </a:r>
            <a:r>
              <a:rPr lang="zh-TW" altLang="en-US" dirty="0">
                <a:solidFill>
                  <a:schemeClr val="tx1"/>
                </a:solidFill>
              </a:rPr>
              <a:t> </a:t>
            </a:r>
            <a:r>
              <a:rPr lang="en-US" altLang="zh-TW" dirty="0">
                <a:solidFill>
                  <a:schemeClr val="tx1"/>
                </a:solidFill>
              </a:rPr>
              <a:t>zero) </a:t>
            </a:r>
            <a:r>
              <a:rPr lang="en-US" altLang="zh-TW" dirty="0"/>
              <a:t>or</a:t>
            </a:r>
            <a:r>
              <a:rPr lang="zh-TW" altLang="en-US" dirty="0"/>
              <a:t> </a:t>
            </a:r>
            <a:r>
              <a:rPr lang="en-US" altLang="zh-TW" dirty="0">
                <a:solidFill>
                  <a:srgbClr val="C00000"/>
                </a:solidFill>
              </a:rPr>
              <a:t>abnormal</a:t>
            </a:r>
            <a:r>
              <a:rPr lang="zh-TW" altLang="en-US" dirty="0">
                <a:solidFill>
                  <a:srgbClr val="C00000"/>
                </a:solidFill>
              </a:rPr>
              <a:t> </a:t>
            </a:r>
            <a:r>
              <a:rPr lang="en-US" altLang="zh-TW" dirty="0">
                <a:solidFill>
                  <a:srgbClr val="C00000"/>
                </a:solidFill>
              </a:rPr>
              <a:t>condition</a:t>
            </a:r>
            <a:r>
              <a:rPr lang="zh-TW" altLang="en-US" dirty="0"/>
              <a:t> </a:t>
            </a:r>
            <a:r>
              <a:rPr lang="en-US" altLang="zh-TW" dirty="0"/>
              <a:t>(e.g.,</a:t>
            </a:r>
            <a:r>
              <a:rPr lang="zh-TW" altLang="en-US" dirty="0"/>
              <a:t> </a:t>
            </a:r>
            <a:r>
              <a:rPr lang="en-US" altLang="zh-TW" dirty="0"/>
              <a:t>call</a:t>
            </a:r>
            <a:r>
              <a:rPr lang="zh-TW" altLang="en-US" dirty="0"/>
              <a:t> </a:t>
            </a:r>
            <a:r>
              <a:rPr lang="en-US" altLang="zh-TW" dirty="0"/>
              <a:t>a</a:t>
            </a:r>
            <a:r>
              <a:rPr lang="zh-TW" altLang="en-US" dirty="0"/>
              <a:t> </a:t>
            </a:r>
            <a:r>
              <a:rPr lang="en-US" altLang="zh-TW" dirty="0"/>
              <a:t>system</a:t>
            </a:r>
            <a:r>
              <a:rPr lang="zh-TW" altLang="en-US" dirty="0"/>
              <a:t> </a:t>
            </a:r>
            <a:r>
              <a:rPr lang="en-US" altLang="zh-TW" dirty="0"/>
              <a:t>call</a:t>
            </a:r>
            <a:r>
              <a:rPr lang="zh-TW" altLang="en-US" dirty="0"/>
              <a:t> </a:t>
            </a:r>
            <a:r>
              <a:rPr lang="en-US" altLang="zh-TW" dirty="0"/>
              <a:t>or</a:t>
            </a:r>
            <a:r>
              <a:rPr lang="zh-TW" altLang="en-US" dirty="0"/>
              <a:t> </a:t>
            </a:r>
            <a:r>
              <a:rPr lang="en-US" altLang="zh-TW" dirty="0"/>
              <a:t>a</a:t>
            </a:r>
            <a:r>
              <a:rPr lang="zh-TW" altLang="en-US" dirty="0"/>
              <a:t> </a:t>
            </a:r>
            <a:r>
              <a:rPr lang="en-US" altLang="zh-TW" dirty="0"/>
              <a:t>page</a:t>
            </a:r>
            <a:r>
              <a:rPr lang="zh-TW" altLang="en-US" dirty="0"/>
              <a:t> </a:t>
            </a:r>
            <a:r>
              <a:rPr lang="en-US" altLang="zh-TW" dirty="0"/>
              <a:t>fault).</a:t>
            </a:r>
          </a:p>
          <a:p>
            <a:pPr lvl="1"/>
            <a:endParaRPr lang="en-US" altLang="zh-TW" dirty="0"/>
          </a:p>
          <a:p>
            <a:endParaRPr kumimoji="1" lang="en-US" altLang="zh-TW"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3</a:t>
            </a:fld>
            <a:endParaRPr lang="zh-TW" altLang="en-US" dirty="0"/>
          </a:p>
        </p:txBody>
      </p:sp>
    </p:spTree>
    <p:extLst>
      <p:ext uri="{BB962C8B-B14F-4D97-AF65-F5344CB8AC3E}">
        <p14:creationId xmlns:p14="http://schemas.microsoft.com/office/powerpoint/2010/main" val="3768365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p:cTn id="6" dur="indefinite"/>
                                        <p:tgtEl>
                                          <p:spTgt spid="3">
                                            <p:txEl>
                                              <p:pRg st="1" end="1"/>
                                            </p:txEl>
                                          </p:spTgt>
                                        </p:tgtEl>
                                        <p:attrNameLst>
                                          <p:attrName>style.opacity</p:attrName>
                                        </p:attrNameLst>
                                      </p:cBhvr>
                                      <p:to>
                                        <p:strVal val="0.5"/>
                                      </p:to>
                                    </p:set>
                                    <p:animEffect filter="image" prLst="opacity: 0.5">
                                      <p:cBhvr rctx="IE">
                                        <p:cTn id="7" dur="indefinite"/>
                                        <p:tgtEl>
                                          <p:spTgt spid="3">
                                            <p:txEl>
                                              <p:pRg st="1" end="1"/>
                                            </p:txEl>
                                          </p:spTgt>
                                        </p:tgtEl>
                                      </p:cBhvr>
                                    </p:animEffect>
                                  </p:childTnLst>
                                </p:cTn>
                              </p:par>
                              <p:par>
                                <p:cTn id="8" presetID="9" presetClass="emph" presetSubtype="0" nodeType="withEffect">
                                  <p:stCondLst>
                                    <p:cond delay="0"/>
                                  </p:stCondLst>
                                  <p:childTnLst>
                                    <p:set>
                                      <p:cBhvr>
                                        <p:cTn id="9" dur="indefinite"/>
                                        <p:tgtEl>
                                          <p:spTgt spid="3">
                                            <p:txEl>
                                              <p:pRg st="2" end="2"/>
                                            </p:txEl>
                                          </p:spTgt>
                                        </p:tgtEl>
                                        <p:attrNameLst>
                                          <p:attrName>style.opacity</p:attrName>
                                        </p:attrNameLst>
                                      </p:cBhvr>
                                      <p:to>
                                        <p:strVal val="0.5"/>
                                      </p:to>
                                    </p:set>
                                    <p:animEffect filter="image" prLst="opacity: 0.5">
                                      <p:cBhvr rctx="IE">
                                        <p:cTn id="10" dur="indefinite"/>
                                        <p:tgtEl>
                                          <p:spTgt spid="3">
                                            <p:txEl>
                                              <p:pRg st="2" end="2"/>
                                            </p:txEl>
                                          </p:spTgt>
                                        </p:tgtEl>
                                      </p:cBhvr>
                                    </p:animEffect>
                                  </p:childTnLst>
                                </p:cTn>
                              </p:par>
                              <p:par>
                                <p:cTn id="11" presetID="9" presetClass="emph" presetSubtype="0" nodeType="withEffect">
                                  <p:stCondLst>
                                    <p:cond delay="0"/>
                                  </p:stCondLst>
                                  <p:childTnLst>
                                    <p:set>
                                      <p:cBhvr>
                                        <p:cTn id="12" dur="indefinite"/>
                                        <p:tgtEl>
                                          <p:spTgt spid="3">
                                            <p:txEl>
                                              <p:pRg st="3" end="3"/>
                                            </p:txEl>
                                          </p:spTgt>
                                        </p:tgtEl>
                                        <p:attrNameLst>
                                          <p:attrName>style.opacity</p:attrName>
                                        </p:attrNameLst>
                                      </p:cBhvr>
                                      <p:to>
                                        <p:strVal val="0.5"/>
                                      </p:to>
                                    </p:set>
                                    <p:animEffect filter="image" prLst="opacity: 0.5">
                                      <p:cBhvr rctx="IE">
                                        <p:cTn id="13" dur="indefinite"/>
                                        <p:tgtEl>
                                          <p:spTgt spid="3">
                                            <p:txEl>
                                              <p:pRg st="3" end="3"/>
                                            </p:txEl>
                                          </p:spTgt>
                                        </p:tgtEl>
                                      </p:cBhvr>
                                    </p:animEffect>
                                  </p:childTnLst>
                                </p:cTn>
                              </p:par>
                              <p:par>
                                <p:cTn id="14" presetID="9" presetClass="emph" presetSubtype="0" nodeType="withEffect">
                                  <p:stCondLst>
                                    <p:cond delay="0"/>
                                  </p:stCondLst>
                                  <p:childTnLst>
                                    <p:set>
                                      <p:cBhvr>
                                        <p:cTn id="15" dur="indefinite"/>
                                        <p:tgtEl>
                                          <p:spTgt spid="3">
                                            <p:txEl>
                                              <p:pRg st="5" end="5"/>
                                            </p:txEl>
                                          </p:spTgt>
                                        </p:tgtEl>
                                        <p:attrNameLst>
                                          <p:attrName>style.opacity</p:attrName>
                                        </p:attrNameLst>
                                      </p:cBhvr>
                                      <p:to>
                                        <p:strVal val="0.5"/>
                                      </p:to>
                                    </p:set>
                                    <p:animEffect filter="image" prLst="opacity: 0.5">
                                      <p:cBhvr rctx="IE">
                                        <p:cTn id="16" dur="indefinite"/>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ABAA54BE-2718-3EB9-2482-AF6DAE82945A}"/>
              </a:ext>
            </a:extLst>
          </p:cNvPr>
          <p:cNvSpPr>
            <a:spLocks noGrp="1"/>
          </p:cNvSpPr>
          <p:nvPr>
            <p:ph idx="1"/>
          </p:nvPr>
        </p:nvSpPr>
        <p:spPr>
          <a:xfrm>
            <a:off x="15240" y="1268697"/>
            <a:ext cx="7469943" cy="5441950"/>
          </a:xfrm>
        </p:spPr>
        <p:txBody>
          <a:bodyPr>
            <a:normAutofit/>
          </a:bodyPr>
          <a:lstStyle/>
          <a:p>
            <a:pPr algn="l"/>
            <a:r>
              <a:rPr lang="en-US" altLang="zh-TW" dirty="0"/>
              <a:t>How an interrupt works:</a:t>
            </a:r>
          </a:p>
          <a:p>
            <a:pPr lvl="1" algn="l"/>
            <a:r>
              <a:rPr kumimoji="1" lang="en-US" altLang="zh-TW" dirty="0"/>
              <a:t>Hardware devices send out </a:t>
            </a:r>
            <a:r>
              <a:rPr lang="en-US" altLang="zh-TW" dirty="0"/>
              <a:t>an </a:t>
            </a:r>
            <a:r>
              <a:rPr lang="en-US" altLang="zh-TW" dirty="0">
                <a:solidFill>
                  <a:srgbClr val="C00000"/>
                </a:solidFill>
              </a:rPr>
              <a:t>interrupt signal</a:t>
            </a:r>
            <a:r>
              <a:rPr lang="en-US" altLang="zh-TW" dirty="0"/>
              <a:t>.</a:t>
            </a:r>
            <a:endParaRPr kumimoji="1" lang="en-US" altLang="zh-TW" dirty="0"/>
          </a:p>
          <a:p>
            <a:pPr lvl="1" algn="l"/>
            <a:r>
              <a:rPr kumimoji="1" lang="en-US" altLang="zh-TW" dirty="0"/>
              <a:t>The CPU</a:t>
            </a:r>
            <a:r>
              <a:rPr kumimoji="1" lang="zh-TW" altLang="en-US" dirty="0"/>
              <a:t> </a:t>
            </a:r>
            <a:r>
              <a:rPr kumimoji="1" lang="en-US" altLang="zh-TW" dirty="0"/>
              <a:t>stops </a:t>
            </a:r>
            <a:r>
              <a:rPr lang="en-US" altLang="zh-TW" dirty="0"/>
              <a:t>current execution.</a:t>
            </a:r>
          </a:p>
          <a:p>
            <a:pPr lvl="1" algn="l"/>
            <a:r>
              <a:rPr lang="en-US" altLang="zh-TW" dirty="0"/>
              <a:t>The interrupt controller sends </a:t>
            </a:r>
            <a:r>
              <a:rPr lang="en-US" altLang="zh-TW" dirty="0">
                <a:solidFill>
                  <a:srgbClr val="C00000"/>
                </a:solidFill>
              </a:rPr>
              <a:t>INT</a:t>
            </a:r>
            <a:r>
              <a:rPr lang="zh-TW" altLang="en-US" dirty="0">
                <a:solidFill>
                  <a:srgbClr val="C00000"/>
                </a:solidFill>
              </a:rPr>
              <a:t> </a:t>
            </a:r>
            <a:r>
              <a:rPr lang="en-US" altLang="zh-TW" dirty="0">
                <a:solidFill>
                  <a:srgbClr val="C00000"/>
                </a:solidFill>
              </a:rPr>
              <a:t>#</a:t>
            </a:r>
            <a:r>
              <a:rPr lang="zh-TW" altLang="en-US" dirty="0"/>
              <a:t> </a:t>
            </a:r>
            <a:r>
              <a:rPr lang="en-US" altLang="zh-TW" dirty="0"/>
              <a:t>to the CPU.</a:t>
            </a:r>
          </a:p>
          <a:p>
            <a:pPr lvl="1" algn="l"/>
            <a:r>
              <a:rPr lang="en-US" altLang="zh-TW" dirty="0"/>
              <a:t>CPU</a:t>
            </a:r>
            <a:r>
              <a:rPr lang="zh-TW" altLang="en-US" dirty="0"/>
              <a:t> </a:t>
            </a:r>
            <a:r>
              <a:rPr lang="en-US" altLang="zh-TW" dirty="0">
                <a:solidFill>
                  <a:srgbClr val="C00000"/>
                </a:solidFill>
              </a:rPr>
              <a:t>accesses</a:t>
            </a:r>
            <a:r>
              <a:rPr lang="zh-TW" altLang="en-US" dirty="0">
                <a:solidFill>
                  <a:srgbClr val="C00000"/>
                </a:solidFill>
              </a:rPr>
              <a:t> </a:t>
            </a:r>
            <a:r>
              <a:rPr lang="en-US" altLang="zh-TW" dirty="0">
                <a:solidFill>
                  <a:srgbClr val="C00000"/>
                </a:solidFill>
              </a:rPr>
              <a:t>the</a:t>
            </a:r>
            <a:r>
              <a:rPr lang="zh-TW" altLang="en-US" dirty="0">
                <a:solidFill>
                  <a:srgbClr val="C00000"/>
                </a:solidFill>
              </a:rPr>
              <a:t> </a:t>
            </a:r>
            <a:r>
              <a:rPr lang="en-US" altLang="zh-TW" dirty="0">
                <a:solidFill>
                  <a:srgbClr val="C00000"/>
                </a:solidFill>
              </a:rPr>
              <a:t>Interrupt</a:t>
            </a:r>
            <a:r>
              <a:rPr lang="zh-TW" altLang="en-US" dirty="0">
                <a:solidFill>
                  <a:srgbClr val="C00000"/>
                </a:solidFill>
              </a:rPr>
              <a:t> </a:t>
            </a:r>
            <a:r>
              <a:rPr lang="en-US" altLang="zh-TW" dirty="0">
                <a:solidFill>
                  <a:srgbClr val="C00000"/>
                </a:solidFill>
              </a:rPr>
              <a:t>Vector</a:t>
            </a:r>
            <a:r>
              <a:rPr lang="zh-TW" altLang="en-US" dirty="0">
                <a:solidFill>
                  <a:srgbClr val="C00000"/>
                </a:solidFill>
              </a:rPr>
              <a:t> </a:t>
            </a:r>
            <a:r>
              <a:rPr lang="en-US" altLang="zh-TW" dirty="0">
                <a:solidFill>
                  <a:srgbClr val="C00000"/>
                </a:solidFill>
              </a:rPr>
              <a:t>Table</a:t>
            </a:r>
            <a:r>
              <a:rPr lang="zh-TW" altLang="en-US" dirty="0">
                <a:solidFill>
                  <a:srgbClr val="C00000"/>
                </a:solidFill>
              </a:rPr>
              <a:t> </a:t>
            </a:r>
            <a:r>
              <a:rPr lang="en-US" altLang="zh-TW" dirty="0"/>
              <a:t>by</a:t>
            </a:r>
            <a:r>
              <a:rPr lang="zh-TW" altLang="en-US" dirty="0"/>
              <a:t> </a:t>
            </a:r>
            <a:r>
              <a:rPr lang="en-US" altLang="zh-TW" dirty="0"/>
              <a:t>INT</a:t>
            </a:r>
            <a:r>
              <a:rPr lang="zh-TW" altLang="en-US" dirty="0"/>
              <a:t> </a:t>
            </a:r>
            <a:r>
              <a:rPr lang="en-US" altLang="zh-TW" dirty="0"/>
              <a:t>#</a:t>
            </a:r>
            <a:r>
              <a:rPr lang="zh-TW" altLang="en-US" dirty="0"/>
              <a:t> * </a:t>
            </a:r>
            <a:r>
              <a:rPr lang="en-US" altLang="zh-TW" dirty="0"/>
              <a:t>4</a:t>
            </a:r>
          </a:p>
          <a:p>
            <a:pPr lvl="1" algn="l"/>
            <a:r>
              <a:rPr kumimoji="1" lang="en-US" altLang="zh-TW" dirty="0"/>
              <a:t>The CPU runs the</a:t>
            </a:r>
            <a:r>
              <a:rPr kumimoji="1" lang="zh-TW" altLang="en-US" dirty="0"/>
              <a:t> </a:t>
            </a:r>
            <a:r>
              <a:rPr kumimoji="1" lang="en-US" altLang="zh-TW" dirty="0">
                <a:solidFill>
                  <a:srgbClr val="C00000"/>
                </a:solidFill>
              </a:rPr>
              <a:t>interrupt</a:t>
            </a:r>
            <a:r>
              <a:rPr kumimoji="1" lang="zh-TW" altLang="en-US" dirty="0">
                <a:solidFill>
                  <a:srgbClr val="C00000"/>
                </a:solidFill>
              </a:rPr>
              <a:t> </a:t>
            </a:r>
            <a:r>
              <a:rPr kumimoji="1" lang="en-US" altLang="zh-TW" dirty="0">
                <a:solidFill>
                  <a:srgbClr val="C00000"/>
                </a:solidFill>
              </a:rPr>
              <a:t>service</a:t>
            </a:r>
            <a:r>
              <a:rPr kumimoji="1" lang="zh-TW" altLang="en-US" dirty="0">
                <a:solidFill>
                  <a:srgbClr val="C00000"/>
                </a:solidFill>
              </a:rPr>
              <a:t> </a:t>
            </a:r>
            <a:r>
              <a:rPr kumimoji="1" lang="en-US" altLang="zh-TW" dirty="0">
                <a:solidFill>
                  <a:srgbClr val="C00000"/>
                </a:solidFill>
              </a:rPr>
              <a:t>routine</a:t>
            </a:r>
            <a:r>
              <a:rPr lang="en-US" altLang="zh-TW" dirty="0"/>
              <a:t> to handle the interrupt.</a:t>
            </a:r>
            <a:endParaRPr kumimoji="1" lang="en-US" altLang="zh-TW" dirty="0"/>
          </a:p>
        </p:txBody>
      </p:sp>
      <p:sp>
        <p:nvSpPr>
          <p:cNvPr id="2" name="標題 1">
            <a:extLst>
              <a:ext uri="{FF2B5EF4-FFF2-40B4-BE49-F238E27FC236}">
                <a16:creationId xmlns:a16="http://schemas.microsoft.com/office/drawing/2014/main" id="{76615A16-456A-C4C1-A53C-A28B3FE56ECA}"/>
              </a:ext>
            </a:extLst>
          </p:cNvPr>
          <p:cNvSpPr>
            <a:spLocks noGrp="1"/>
          </p:cNvSpPr>
          <p:nvPr>
            <p:ph type="title"/>
          </p:nvPr>
        </p:nvSpPr>
        <p:spPr/>
        <p:txBody>
          <a:bodyPr/>
          <a:lstStyle/>
          <a:p>
            <a:r>
              <a:rPr kumimoji="1" lang="en-US" altLang="zh-TW" dirty="0">
                <a:solidFill>
                  <a:srgbClr val="C00000"/>
                </a:solidFill>
              </a:rPr>
              <a:t>Recap: </a:t>
            </a:r>
            <a:r>
              <a:rPr kumimoji="1" lang="en-US" altLang="zh-TW" dirty="0"/>
              <a:t>How an Interrupt Works</a:t>
            </a:r>
            <a:endParaRPr kumimoji="1" lang="zh-TW" altLang="en-US" dirty="0"/>
          </a:p>
        </p:txBody>
      </p:sp>
      <p:sp>
        <p:nvSpPr>
          <p:cNvPr id="4" name="投影片編號版面配置區 3">
            <a:extLst>
              <a:ext uri="{FF2B5EF4-FFF2-40B4-BE49-F238E27FC236}">
                <a16:creationId xmlns:a16="http://schemas.microsoft.com/office/drawing/2014/main" id="{C49BE4F4-D949-1DDD-A02A-D9593B004A8C}"/>
              </a:ext>
            </a:extLst>
          </p:cNvPr>
          <p:cNvSpPr>
            <a:spLocks noGrp="1"/>
          </p:cNvSpPr>
          <p:nvPr>
            <p:ph type="sldNum" sz="quarter" idx="4"/>
          </p:nvPr>
        </p:nvSpPr>
        <p:spPr/>
        <p:txBody>
          <a:bodyPr/>
          <a:lstStyle/>
          <a:p>
            <a:fld id="{E24E6636-6BA5-4AAC-8485-BE8D914D288B}" type="slidenum">
              <a:rPr lang="zh-TW" altLang="en-US" smtClean="0"/>
              <a:pPr/>
              <a:t>4</a:t>
            </a:fld>
            <a:endParaRPr lang="zh-TW" altLang="en-US" dirty="0"/>
          </a:p>
        </p:txBody>
      </p:sp>
      <p:sp>
        <p:nvSpPr>
          <p:cNvPr id="5" name="矩形 4">
            <a:extLst>
              <a:ext uri="{FF2B5EF4-FFF2-40B4-BE49-F238E27FC236}">
                <a16:creationId xmlns:a16="http://schemas.microsoft.com/office/drawing/2014/main" id="{CAEF2BCE-7D0E-7A84-2ADD-1C16554F4880}"/>
              </a:ext>
            </a:extLst>
          </p:cNvPr>
          <p:cNvSpPr/>
          <p:nvPr/>
        </p:nvSpPr>
        <p:spPr>
          <a:xfrm>
            <a:off x="7637012" y="1426586"/>
            <a:ext cx="4152745" cy="439871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kumimoji="1" lang="en-US" altLang="zh-TW" sz="1400" dirty="0">
                <a:solidFill>
                  <a:schemeClr val="tx1"/>
                </a:solidFill>
                <a:latin typeface="Arial" panose="020B0604020202020204" pitchFamily="34" charset="0"/>
                <a:cs typeface="Arial" panose="020B0604020202020204" pitchFamily="34" charset="0"/>
              </a:rPr>
              <a:t>Motherboard</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24" name="矩形 23">
            <a:extLst>
              <a:ext uri="{FF2B5EF4-FFF2-40B4-BE49-F238E27FC236}">
                <a16:creationId xmlns:a16="http://schemas.microsoft.com/office/drawing/2014/main" id="{CD01B13C-6B20-A08A-3C11-7D003DAA2E5C}"/>
              </a:ext>
            </a:extLst>
          </p:cNvPr>
          <p:cNvSpPr/>
          <p:nvPr/>
        </p:nvSpPr>
        <p:spPr>
          <a:xfrm>
            <a:off x="7986641" y="4129696"/>
            <a:ext cx="2145030" cy="134190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latin typeface="Arial" panose="020B0604020202020204" pitchFamily="34" charset="0"/>
                <a:cs typeface="Arial" panose="020B0604020202020204" pitchFamily="34" charset="0"/>
              </a:rPr>
              <a:t>Southbridge</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lumMod val="50000"/>
                    <a:lumOff val="50000"/>
                  </a:schemeClr>
                </a:solidFill>
                <a:latin typeface="Arial" panose="020B0604020202020204" pitchFamily="34" charset="0"/>
                <a:cs typeface="Arial" panose="020B0604020202020204" pitchFamily="34" charset="0"/>
              </a:rPr>
              <a:t>(I/O Controller Hub)</a:t>
            </a:r>
            <a:endParaRPr kumimoji="1" lang="zh-TW" altLang="en-US" sz="1400" dirty="0">
              <a:solidFill>
                <a:schemeClr val="tx1">
                  <a:lumMod val="50000"/>
                  <a:lumOff val="50000"/>
                </a:schemeClr>
              </a:solidFill>
              <a:latin typeface="Arial" panose="020B0604020202020204" pitchFamily="34" charset="0"/>
              <a:cs typeface="Arial" panose="020B0604020202020204" pitchFamily="34" charset="0"/>
            </a:endParaRPr>
          </a:p>
        </p:txBody>
      </p:sp>
      <p:cxnSp>
        <p:nvCxnSpPr>
          <p:cNvPr id="34" name="直線接點 33">
            <a:extLst>
              <a:ext uri="{FF2B5EF4-FFF2-40B4-BE49-F238E27FC236}">
                <a16:creationId xmlns:a16="http://schemas.microsoft.com/office/drawing/2014/main" id="{0D29653C-D830-9959-9195-D7C64B09B3E1}"/>
              </a:ext>
            </a:extLst>
          </p:cNvPr>
          <p:cNvCxnSpPr>
            <a:cxnSpLocks/>
          </p:cNvCxnSpPr>
          <p:nvPr/>
        </p:nvCxnSpPr>
        <p:spPr>
          <a:xfrm>
            <a:off x="10023139" y="4762036"/>
            <a:ext cx="518003"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BE9D0D46-66D4-C6CA-6E75-C1C844C94E34}"/>
              </a:ext>
            </a:extLst>
          </p:cNvPr>
          <p:cNvCxnSpPr>
            <a:cxnSpLocks/>
          </p:cNvCxnSpPr>
          <p:nvPr/>
        </p:nvCxnSpPr>
        <p:spPr>
          <a:xfrm flipV="1">
            <a:off x="10541142" y="4168674"/>
            <a:ext cx="0" cy="593362"/>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8" name="圓角矩形 37">
            <a:extLst>
              <a:ext uri="{FF2B5EF4-FFF2-40B4-BE49-F238E27FC236}">
                <a16:creationId xmlns:a16="http://schemas.microsoft.com/office/drawing/2014/main" id="{6C93A089-53E5-CC8B-9262-DA561E8EB5DF}"/>
              </a:ext>
            </a:extLst>
          </p:cNvPr>
          <p:cNvSpPr/>
          <p:nvPr/>
        </p:nvSpPr>
        <p:spPr>
          <a:xfrm>
            <a:off x="10730460" y="4354759"/>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Keyboard</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40" name="直線接點 39">
            <a:extLst>
              <a:ext uri="{FF2B5EF4-FFF2-40B4-BE49-F238E27FC236}">
                <a16:creationId xmlns:a16="http://schemas.microsoft.com/office/drawing/2014/main" id="{B95F9E0B-522E-8A04-8C01-6EE26909793E}"/>
              </a:ext>
            </a:extLst>
          </p:cNvPr>
          <p:cNvCxnSpPr>
            <a:cxnSpLocks/>
          </p:cNvCxnSpPr>
          <p:nvPr/>
        </p:nvCxnSpPr>
        <p:spPr>
          <a:xfrm>
            <a:off x="10024729" y="5267064"/>
            <a:ext cx="1159200"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ABAAFCD0-0162-649A-B841-B5A31165261A}"/>
              </a:ext>
            </a:extLst>
          </p:cNvPr>
          <p:cNvSpPr/>
          <p:nvPr/>
        </p:nvSpPr>
        <p:spPr>
          <a:xfrm>
            <a:off x="7984499" y="1663250"/>
            <a:ext cx="1898319" cy="469901"/>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Local APIC</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51" name="直線接點 50">
            <a:extLst>
              <a:ext uri="{FF2B5EF4-FFF2-40B4-BE49-F238E27FC236}">
                <a16:creationId xmlns:a16="http://schemas.microsoft.com/office/drawing/2014/main" id="{53985844-5F4B-F7BD-BAD2-03B60234DAA5}"/>
              </a:ext>
            </a:extLst>
          </p:cNvPr>
          <p:cNvCxnSpPr>
            <a:cxnSpLocks/>
          </p:cNvCxnSpPr>
          <p:nvPr/>
        </p:nvCxnSpPr>
        <p:spPr>
          <a:xfrm>
            <a:off x="7843859" y="1898200"/>
            <a:ext cx="0" cy="3110666"/>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直線接點 51">
            <a:extLst>
              <a:ext uri="{FF2B5EF4-FFF2-40B4-BE49-F238E27FC236}">
                <a16:creationId xmlns:a16="http://schemas.microsoft.com/office/drawing/2014/main" id="{7BC87234-F63F-DD19-4447-5602241BE648}"/>
              </a:ext>
            </a:extLst>
          </p:cNvPr>
          <p:cNvCxnSpPr>
            <a:cxnSpLocks/>
            <a:endCxn id="49" idx="1"/>
          </p:cNvCxnSpPr>
          <p:nvPr/>
        </p:nvCxnSpPr>
        <p:spPr>
          <a:xfrm>
            <a:off x="7829518" y="1898201"/>
            <a:ext cx="154981"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5" name="矩形 54">
            <a:extLst>
              <a:ext uri="{FF2B5EF4-FFF2-40B4-BE49-F238E27FC236}">
                <a16:creationId xmlns:a16="http://schemas.microsoft.com/office/drawing/2014/main" id="{6AFF3B14-0D7E-D805-3F7D-E056EA2EE8AC}"/>
              </a:ext>
            </a:extLst>
          </p:cNvPr>
          <p:cNvSpPr/>
          <p:nvPr/>
        </p:nvSpPr>
        <p:spPr>
          <a:xfrm>
            <a:off x="7986641" y="2138519"/>
            <a:ext cx="1896172" cy="5029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CPU</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53" name="直線接點 52">
            <a:extLst>
              <a:ext uri="{FF2B5EF4-FFF2-40B4-BE49-F238E27FC236}">
                <a16:creationId xmlns:a16="http://schemas.microsoft.com/office/drawing/2014/main" id="{F2655EC6-BB3A-FE94-163F-7C422CBA9194}"/>
              </a:ext>
            </a:extLst>
          </p:cNvPr>
          <p:cNvCxnSpPr>
            <a:cxnSpLocks/>
          </p:cNvCxnSpPr>
          <p:nvPr/>
        </p:nvCxnSpPr>
        <p:spPr>
          <a:xfrm>
            <a:off x="7843859" y="4996745"/>
            <a:ext cx="312380"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4" name="圓角矩形 63">
            <a:extLst>
              <a:ext uri="{FF2B5EF4-FFF2-40B4-BE49-F238E27FC236}">
                <a16:creationId xmlns:a16="http://schemas.microsoft.com/office/drawing/2014/main" id="{AAE72B5C-860E-02A4-FEDB-384036DCC1BA}"/>
              </a:ext>
            </a:extLst>
          </p:cNvPr>
          <p:cNvSpPr/>
          <p:nvPr/>
        </p:nvSpPr>
        <p:spPr>
          <a:xfrm>
            <a:off x="10433020" y="3878509"/>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Timer</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66" name="直線接點 65">
            <a:extLst>
              <a:ext uri="{FF2B5EF4-FFF2-40B4-BE49-F238E27FC236}">
                <a16:creationId xmlns:a16="http://schemas.microsoft.com/office/drawing/2014/main" id="{15E8B3F3-0C19-09B4-8C90-2078668F2A41}"/>
              </a:ext>
            </a:extLst>
          </p:cNvPr>
          <p:cNvCxnSpPr>
            <a:cxnSpLocks/>
          </p:cNvCxnSpPr>
          <p:nvPr/>
        </p:nvCxnSpPr>
        <p:spPr>
          <a:xfrm>
            <a:off x="10024729" y="4905069"/>
            <a:ext cx="1157677"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1" name="直線接點 70">
            <a:extLst>
              <a:ext uri="{FF2B5EF4-FFF2-40B4-BE49-F238E27FC236}">
                <a16:creationId xmlns:a16="http://schemas.microsoft.com/office/drawing/2014/main" id="{90B94639-1B60-5A7B-789A-BA3526FB025B}"/>
              </a:ext>
            </a:extLst>
          </p:cNvPr>
          <p:cNvCxnSpPr>
            <a:cxnSpLocks/>
          </p:cNvCxnSpPr>
          <p:nvPr/>
        </p:nvCxnSpPr>
        <p:spPr>
          <a:xfrm>
            <a:off x="10024729" y="5045367"/>
            <a:ext cx="1159200"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3" name="文字方塊 72">
            <a:extLst>
              <a:ext uri="{FF2B5EF4-FFF2-40B4-BE49-F238E27FC236}">
                <a16:creationId xmlns:a16="http://schemas.microsoft.com/office/drawing/2014/main" id="{FFFD1EF9-A4D6-FA6B-6999-B8D9CCEA5318}"/>
              </a:ext>
            </a:extLst>
          </p:cNvPr>
          <p:cNvSpPr txBox="1"/>
          <p:nvPr/>
        </p:nvSpPr>
        <p:spPr>
          <a:xfrm>
            <a:off x="10079463" y="4476517"/>
            <a:ext cx="543739"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IRQ0</a:t>
            </a:r>
            <a:endParaRPr kumimoji="1" lang="zh-TW" altLang="en-US" sz="1200" dirty="0">
              <a:latin typeface="Arial" panose="020B0604020202020204" pitchFamily="34" charset="0"/>
              <a:cs typeface="Arial" panose="020B0604020202020204" pitchFamily="34" charset="0"/>
            </a:endParaRPr>
          </a:p>
        </p:txBody>
      </p:sp>
      <p:sp>
        <p:nvSpPr>
          <p:cNvPr id="76" name="文字方塊 75">
            <a:extLst>
              <a:ext uri="{FF2B5EF4-FFF2-40B4-BE49-F238E27FC236}">
                <a16:creationId xmlns:a16="http://schemas.microsoft.com/office/drawing/2014/main" id="{25641F21-B402-7ED8-0A8A-F7030AC2E5F9}"/>
              </a:ext>
            </a:extLst>
          </p:cNvPr>
          <p:cNvSpPr txBox="1"/>
          <p:nvPr/>
        </p:nvSpPr>
        <p:spPr>
          <a:xfrm>
            <a:off x="11177956" y="4894663"/>
            <a:ext cx="543739"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IRQ2</a:t>
            </a:r>
            <a:endParaRPr kumimoji="1" lang="zh-TW" altLang="en-US" sz="1200" dirty="0">
              <a:latin typeface="Arial" panose="020B0604020202020204" pitchFamily="34" charset="0"/>
              <a:cs typeface="Arial" panose="020B0604020202020204" pitchFamily="34" charset="0"/>
            </a:endParaRPr>
          </a:p>
        </p:txBody>
      </p:sp>
      <p:sp>
        <p:nvSpPr>
          <p:cNvPr id="77" name="文字方塊 76">
            <a:extLst>
              <a:ext uri="{FF2B5EF4-FFF2-40B4-BE49-F238E27FC236}">
                <a16:creationId xmlns:a16="http://schemas.microsoft.com/office/drawing/2014/main" id="{74AF5070-CB33-6D6C-573A-877712359F44}"/>
              </a:ext>
            </a:extLst>
          </p:cNvPr>
          <p:cNvSpPr txBox="1"/>
          <p:nvPr/>
        </p:nvSpPr>
        <p:spPr>
          <a:xfrm rot="5400000">
            <a:off x="10458191" y="5021290"/>
            <a:ext cx="338554"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a:t>
            </a:r>
            <a:endParaRPr kumimoji="1" lang="zh-TW" altLang="en-US" sz="1200" dirty="0">
              <a:latin typeface="Arial" panose="020B0604020202020204" pitchFamily="34" charset="0"/>
              <a:cs typeface="Arial" panose="020B0604020202020204" pitchFamily="34" charset="0"/>
            </a:endParaRPr>
          </a:p>
        </p:txBody>
      </p:sp>
      <p:cxnSp>
        <p:nvCxnSpPr>
          <p:cNvPr id="79" name="直線接點 78">
            <a:extLst>
              <a:ext uri="{FF2B5EF4-FFF2-40B4-BE49-F238E27FC236}">
                <a16:creationId xmlns:a16="http://schemas.microsoft.com/office/drawing/2014/main" id="{C481E1F2-A113-325F-7F72-BC4E4FC843CB}"/>
              </a:ext>
            </a:extLst>
          </p:cNvPr>
          <p:cNvCxnSpPr>
            <a:cxnSpLocks/>
          </p:cNvCxnSpPr>
          <p:nvPr/>
        </p:nvCxnSpPr>
        <p:spPr>
          <a:xfrm flipV="1">
            <a:off x="11173755" y="4646072"/>
            <a:ext cx="0" cy="244894"/>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6" name="文字方塊 85">
            <a:extLst>
              <a:ext uri="{FF2B5EF4-FFF2-40B4-BE49-F238E27FC236}">
                <a16:creationId xmlns:a16="http://schemas.microsoft.com/office/drawing/2014/main" id="{9137218E-DE47-FBAE-478D-89AFE06C467D}"/>
              </a:ext>
            </a:extLst>
          </p:cNvPr>
          <p:cNvSpPr txBox="1"/>
          <p:nvPr/>
        </p:nvSpPr>
        <p:spPr>
          <a:xfrm>
            <a:off x="11177956" y="5150000"/>
            <a:ext cx="543739"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IRQ8</a:t>
            </a:r>
            <a:endParaRPr kumimoji="1" lang="zh-TW" altLang="en-US" sz="1200" dirty="0">
              <a:latin typeface="Arial" panose="020B0604020202020204" pitchFamily="34" charset="0"/>
              <a:cs typeface="Arial" panose="020B0604020202020204" pitchFamily="34" charset="0"/>
            </a:endParaRPr>
          </a:p>
        </p:txBody>
      </p:sp>
      <p:sp>
        <p:nvSpPr>
          <p:cNvPr id="88" name="矩形 87">
            <a:extLst>
              <a:ext uri="{FF2B5EF4-FFF2-40B4-BE49-F238E27FC236}">
                <a16:creationId xmlns:a16="http://schemas.microsoft.com/office/drawing/2014/main" id="{03FF381B-4147-F584-6A63-B9C0955E8E47}"/>
              </a:ext>
            </a:extLst>
          </p:cNvPr>
          <p:cNvSpPr/>
          <p:nvPr/>
        </p:nvSpPr>
        <p:spPr>
          <a:xfrm>
            <a:off x="7998877" y="2926666"/>
            <a:ext cx="3662544"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kumimoji="1" lang="en-US" altLang="zh-TW" sz="1400" dirty="0">
                <a:solidFill>
                  <a:schemeClr val="tx1"/>
                </a:solidFill>
                <a:latin typeface="Arial" panose="020B0604020202020204" pitchFamily="34" charset="0"/>
                <a:cs typeface="Arial" panose="020B0604020202020204" pitchFamily="34" charset="0"/>
              </a:rPr>
              <a:t>Memory</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48" name="矩形 47">
            <a:extLst>
              <a:ext uri="{FF2B5EF4-FFF2-40B4-BE49-F238E27FC236}">
                <a16:creationId xmlns:a16="http://schemas.microsoft.com/office/drawing/2014/main" id="{175DD826-B8B8-14A7-0D7F-A4A5C33DA5FC}"/>
              </a:ext>
            </a:extLst>
          </p:cNvPr>
          <p:cNvSpPr/>
          <p:nvPr/>
        </p:nvSpPr>
        <p:spPr>
          <a:xfrm>
            <a:off x="8156239" y="4675517"/>
            <a:ext cx="1866900" cy="711001"/>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latin typeface="Arial" panose="020B0604020202020204" pitchFamily="34" charset="0"/>
                <a:cs typeface="Arial" panose="020B0604020202020204" pitchFamily="34" charset="0"/>
              </a:rPr>
              <a:t>Interrupt Controller</a:t>
            </a:r>
            <a:endParaRPr kumimoji="1" lang="zh-TW" altLang="en-US" sz="1400" dirty="0">
              <a:solidFill>
                <a:schemeClr val="tx1"/>
              </a:solidFill>
              <a:latin typeface="Arial" panose="020B0604020202020204" pitchFamily="34" charset="0"/>
              <a:cs typeface="Arial" panose="020B0604020202020204" pitchFamily="34" charset="0"/>
            </a:endParaRPr>
          </a:p>
        </p:txBody>
      </p:sp>
      <p:grpSp>
        <p:nvGrpSpPr>
          <p:cNvPr id="7" name="群組 6">
            <a:extLst>
              <a:ext uri="{FF2B5EF4-FFF2-40B4-BE49-F238E27FC236}">
                <a16:creationId xmlns:a16="http://schemas.microsoft.com/office/drawing/2014/main" id="{7B0BE6AF-C642-67E6-FD95-2DF6765C83FE}"/>
              </a:ext>
            </a:extLst>
          </p:cNvPr>
          <p:cNvGrpSpPr/>
          <p:nvPr/>
        </p:nvGrpSpPr>
        <p:grpSpPr>
          <a:xfrm>
            <a:off x="9882822" y="4112418"/>
            <a:ext cx="1778600" cy="806732"/>
            <a:chOff x="10198705" y="4970492"/>
            <a:chExt cx="1778600" cy="806732"/>
          </a:xfrm>
        </p:grpSpPr>
        <p:sp>
          <p:nvSpPr>
            <p:cNvPr id="57" name="文字方塊 56">
              <a:extLst>
                <a:ext uri="{FF2B5EF4-FFF2-40B4-BE49-F238E27FC236}">
                  <a16:creationId xmlns:a16="http://schemas.microsoft.com/office/drawing/2014/main" id="{2D5E6CA0-A1B1-10EA-12CB-45AF5DC9FD00}"/>
                </a:ext>
              </a:extLst>
            </p:cNvPr>
            <p:cNvSpPr txBox="1"/>
            <p:nvPr/>
          </p:nvSpPr>
          <p:spPr>
            <a:xfrm>
              <a:off x="11056860" y="4970492"/>
              <a:ext cx="920445"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Interrupt</a:t>
              </a:r>
              <a:endParaRPr kumimoji="1" lang="zh-TW" altLang="en-US" sz="1400" b="1" dirty="0">
                <a:solidFill>
                  <a:srgbClr val="C00000"/>
                </a:solidFill>
                <a:latin typeface="Arial" panose="020B0604020202020204" pitchFamily="34" charset="0"/>
                <a:cs typeface="Arial" panose="020B0604020202020204" pitchFamily="34" charset="0"/>
              </a:endParaRPr>
            </a:p>
          </p:txBody>
        </p:sp>
        <p:sp>
          <p:nvSpPr>
            <p:cNvPr id="75" name="文字方塊 74">
              <a:extLst>
                <a:ext uri="{FF2B5EF4-FFF2-40B4-BE49-F238E27FC236}">
                  <a16:creationId xmlns:a16="http://schemas.microsoft.com/office/drawing/2014/main" id="{3B3DA43C-8BFE-60AC-AE81-EA76182A07BA}"/>
                </a:ext>
              </a:extLst>
            </p:cNvPr>
            <p:cNvSpPr txBox="1"/>
            <p:nvPr/>
          </p:nvSpPr>
          <p:spPr>
            <a:xfrm>
              <a:off x="10986539" y="5500225"/>
              <a:ext cx="543739" cy="276999"/>
            </a:xfrm>
            <a:prstGeom prst="rect">
              <a:avLst/>
            </a:prstGeom>
            <a:noFill/>
          </p:spPr>
          <p:txBody>
            <a:bodyPr wrap="none" rtlCol="0">
              <a:spAutoFit/>
            </a:bodyPr>
            <a:lstStyle/>
            <a:p>
              <a:r>
                <a:rPr kumimoji="1" lang="en-US" altLang="zh-TW" sz="1200" b="1" dirty="0">
                  <a:solidFill>
                    <a:srgbClr val="C00000"/>
                  </a:solidFill>
                  <a:latin typeface="Arial" panose="020B0604020202020204" pitchFamily="34" charset="0"/>
                  <a:cs typeface="Arial" panose="020B0604020202020204" pitchFamily="34" charset="0"/>
                </a:rPr>
                <a:t>IRQ1</a:t>
              </a:r>
              <a:endParaRPr kumimoji="1" lang="zh-TW" altLang="en-US" sz="1200" b="1" dirty="0">
                <a:solidFill>
                  <a:srgbClr val="C00000"/>
                </a:solidFill>
                <a:latin typeface="Arial" panose="020B0604020202020204" pitchFamily="34" charset="0"/>
                <a:cs typeface="Arial" panose="020B0604020202020204" pitchFamily="34" charset="0"/>
              </a:endParaRPr>
            </a:p>
          </p:txBody>
        </p:sp>
        <p:cxnSp>
          <p:nvCxnSpPr>
            <p:cNvPr id="61" name="直線接點 60">
              <a:extLst>
                <a:ext uri="{FF2B5EF4-FFF2-40B4-BE49-F238E27FC236}">
                  <a16:creationId xmlns:a16="http://schemas.microsoft.com/office/drawing/2014/main" id="{BC728473-E627-85EE-FED6-4ED2A6504C34}"/>
                </a:ext>
              </a:extLst>
            </p:cNvPr>
            <p:cNvCxnSpPr>
              <a:cxnSpLocks/>
            </p:cNvCxnSpPr>
            <p:nvPr/>
          </p:nvCxnSpPr>
          <p:spPr>
            <a:xfrm>
              <a:off x="11490825" y="5500225"/>
              <a:ext cx="0" cy="276999"/>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2" name="直線接點 61">
              <a:extLst>
                <a:ext uri="{FF2B5EF4-FFF2-40B4-BE49-F238E27FC236}">
                  <a16:creationId xmlns:a16="http://schemas.microsoft.com/office/drawing/2014/main" id="{942E40E4-AFD5-549C-2F1D-A3ADBCD3A5CC}"/>
                </a:ext>
              </a:extLst>
            </p:cNvPr>
            <p:cNvCxnSpPr>
              <a:cxnSpLocks/>
            </p:cNvCxnSpPr>
            <p:nvPr/>
          </p:nvCxnSpPr>
          <p:spPr>
            <a:xfrm>
              <a:off x="10198705" y="5763143"/>
              <a:ext cx="1303863" cy="2005"/>
            </a:xfrm>
            <a:prstGeom prst="line">
              <a:avLst/>
            </a:prstGeom>
            <a:ln w="38100">
              <a:solidFill>
                <a:srgbClr val="C00000"/>
              </a:solidFill>
              <a:headEnd type="triangle"/>
            </a:ln>
          </p:spPr>
          <p:style>
            <a:lnRef idx="1">
              <a:schemeClr val="accent1"/>
            </a:lnRef>
            <a:fillRef idx="0">
              <a:schemeClr val="accent1"/>
            </a:fillRef>
            <a:effectRef idx="0">
              <a:schemeClr val="accent1"/>
            </a:effectRef>
            <a:fontRef idx="minor">
              <a:schemeClr val="tx1"/>
            </a:fontRef>
          </p:style>
        </p:cxnSp>
      </p:grpSp>
      <p:grpSp>
        <p:nvGrpSpPr>
          <p:cNvPr id="8" name="群組 7">
            <a:extLst>
              <a:ext uri="{FF2B5EF4-FFF2-40B4-BE49-F238E27FC236}">
                <a16:creationId xmlns:a16="http://schemas.microsoft.com/office/drawing/2014/main" id="{98D08567-5277-D496-4D07-E01BEDB74E42}"/>
              </a:ext>
            </a:extLst>
          </p:cNvPr>
          <p:cNvGrpSpPr/>
          <p:nvPr/>
        </p:nvGrpSpPr>
        <p:grpSpPr>
          <a:xfrm>
            <a:off x="7633482" y="1428149"/>
            <a:ext cx="2348872" cy="4001702"/>
            <a:chOff x="7947925" y="2284660"/>
            <a:chExt cx="2348872" cy="4001702"/>
          </a:xfrm>
        </p:grpSpPr>
        <p:sp>
          <p:nvSpPr>
            <p:cNvPr id="89" name="文字方塊 88">
              <a:extLst>
                <a:ext uri="{FF2B5EF4-FFF2-40B4-BE49-F238E27FC236}">
                  <a16:creationId xmlns:a16="http://schemas.microsoft.com/office/drawing/2014/main" id="{01433C64-7FF2-E61B-9F67-2C5BB40AC071}"/>
                </a:ext>
              </a:extLst>
            </p:cNvPr>
            <p:cNvSpPr txBox="1"/>
            <p:nvPr/>
          </p:nvSpPr>
          <p:spPr>
            <a:xfrm>
              <a:off x="7947925" y="2284660"/>
              <a:ext cx="920445"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INT</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0x81</a:t>
              </a:r>
              <a:endParaRPr kumimoji="1" lang="zh-TW" altLang="en-US" sz="1400" b="1" dirty="0">
                <a:solidFill>
                  <a:srgbClr val="C00000"/>
                </a:solidFill>
                <a:latin typeface="Arial" panose="020B0604020202020204" pitchFamily="34" charset="0"/>
                <a:cs typeface="Arial" panose="020B0604020202020204" pitchFamily="34" charset="0"/>
              </a:endParaRPr>
            </a:p>
          </p:txBody>
        </p:sp>
        <p:cxnSp>
          <p:nvCxnSpPr>
            <p:cNvPr id="42" name="直線接點 41">
              <a:extLst>
                <a:ext uri="{FF2B5EF4-FFF2-40B4-BE49-F238E27FC236}">
                  <a16:creationId xmlns:a16="http://schemas.microsoft.com/office/drawing/2014/main" id="{FA7007A5-C913-87A7-0CB4-0D5DC60563CD}"/>
                </a:ext>
              </a:extLst>
            </p:cNvPr>
            <p:cNvCxnSpPr>
              <a:cxnSpLocks/>
            </p:cNvCxnSpPr>
            <p:nvPr/>
          </p:nvCxnSpPr>
          <p:spPr>
            <a:xfrm>
              <a:off x="8159742" y="2749685"/>
              <a:ext cx="0" cy="309890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0" name="直線接點 99">
              <a:extLst>
                <a:ext uri="{FF2B5EF4-FFF2-40B4-BE49-F238E27FC236}">
                  <a16:creationId xmlns:a16="http://schemas.microsoft.com/office/drawing/2014/main" id="{F0DCAA50-4AFA-FC2D-FA3D-DEE1D18CDD30}"/>
                </a:ext>
              </a:extLst>
            </p:cNvPr>
            <p:cNvCxnSpPr>
              <a:cxnSpLocks/>
            </p:cNvCxnSpPr>
            <p:nvPr/>
          </p:nvCxnSpPr>
          <p:spPr>
            <a:xfrm flipV="1">
              <a:off x="8145401" y="5853379"/>
              <a:ext cx="326721"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4" name="直線接點 103">
              <a:extLst>
                <a:ext uri="{FF2B5EF4-FFF2-40B4-BE49-F238E27FC236}">
                  <a16:creationId xmlns:a16="http://schemas.microsoft.com/office/drawing/2014/main" id="{7570E4B4-B26F-A88C-4378-650119EAFDDB}"/>
                </a:ext>
              </a:extLst>
            </p:cNvPr>
            <p:cNvCxnSpPr>
              <a:cxnSpLocks/>
            </p:cNvCxnSpPr>
            <p:nvPr/>
          </p:nvCxnSpPr>
          <p:spPr>
            <a:xfrm flipH="1" flipV="1">
              <a:off x="8164328" y="2749685"/>
              <a:ext cx="276695" cy="1796"/>
            </a:xfrm>
            <a:prstGeom prst="line">
              <a:avLst/>
            </a:prstGeom>
            <a:ln w="38100">
              <a:solidFill>
                <a:srgbClr val="C00000"/>
              </a:solidFill>
              <a:headEnd type="triangle"/>
            </a:ln>
          </p:spPr>
          <p:style>
            <a:lnRef idx="1">
              <a:schemeClr val="accent1"/>
            </a:lnRef>
            <a:fillRef idx="0">
              <a:schemeClr val="accent1"/>
            </a:fillRef>
            <a:effectRef idx="0">
              <a:schemeClr val="accent1"/>
            </a:effectRef>
            <a:fontRef idx="minor">
              <a:schemeClr val="tx1"/>
            </a:fontRef>
          </p:style>
        </p:cxnSp>
        <p:sp>
          <p:nvSpPr>
            <p:cNvPr id="108" name="文字方塊 107">
              <a:extLst>
                <a:ext uri="{FF2B5EF4-FFF2-40B4-BE49-F238E27FC236}">
                  <a16:creationId xmlns:a16="http://schemas.microsoft.com/office/drawing/2014/main" id="{EEB885FA-8DC3-BAF9-4483-73265D17E86E}"/>
                </a:ext>
              </a:extLst>
            </p:cNvPr>
            <p:cNvSpPr txBox="1"/>
            <p:nvPr/>
          </p:nvSpPr>
          <p:spPr>
            <a:xfrm>
              <a:off x="8541444" y="5763142"/>
              <a:ext cx="1755353" cy="523220"/>
            </a:xfrm>
            <a:prstGeom prst="rect">
              <a:avLst/>
            </a:prstGeom>
            <a:noFill/>
          </p:spPr>
          <p:txBody>
            <a:bodyPr wrap="none" rtlCol="0">
              <a:spAutoFit/>
            </a:bodyPr>
            <a:lstStyle/>
            <a:p>
              <a:pPr algn="ctr"/>
              <a:r>
                <a:rPr kumimoji="1" lang="en-US" altLang="zh-TW" sz="1400" b="1" dirty="0">
                  <a:solidFill>
                    <a:srgbClr val="C00000"/>
                  </a:solidFill>
                  <a:latin typeface="Arial" panose="020B0604020202020204" pitchFamily="34" charset="0"/>
                  <a:cs typeface="Arial" panose="020B0604020202020204" pitchFamily="34" charset="0"/>
                </a:rPr>
                <a:t>IRQ</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1</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sym typeface="Wingdings" pitchFamily="2" charset="2"/>
                </a:rPr>
                <a:t></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INT</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0x81</a:t>
              </a:r>
              <a:br>
                <a:rPr kumimoji="1" lang="en-US" altLang="zh-TW" sz="1400" b="1" dirty="0">
                  <a:solidFill>
                    <a:srgbClr val="C00000"/>
                  </a:solidFill>
                  <a:latin typeface="Arial" panose="020B0604020202020204" pitchFamily="34" charset="0"/>
                  <a:cs typeface="Arial" panose="020B0604020202020204" pitchFamily="34" charset="0"/>
                </a:rPr>
              </a:br>
              <a:r>
                <a:rPr kumimoji="1" lang="en-US" altLang="zh-TW" sz="1400" b="1" dirty="0">
                  <a:solidFill>
                    <a:srgbClr val="C00000"/>
                  </a:solidFill>
                  <a:latin typeface="Arial" panose="020B0604020202020204" pitchFamily="34" charset="0"/>
                  <a:cs typeface="Arial" panose="020B0604020202020204" pitchFamily="34" charset="0"/>
                </a:rPr>
                <a:t>(Translates to IVN)</a:t>
              </a:r>
              <a:endParaRPr kumimoji="1" lang="zh-TW" altLang="en-US" sz="1400" b="1" dirty="0">
                <a:solidFill>
                  <a:srgbClr val="C00000"/>
                </a:solidFill>
                <a:latin typeface="Arial" panose="020B0604020202020204" pitchFamily="34" charset="0"/>
                <a:cs typeface="Arial" panose="020B0604020202020204" pitchFamily="34" charset="0"/>
              </a:endParaRPr>
            </a:p>
          </p:txBody>
        </p:sp>
      </p:grpSp>
      <p:sp>
        <p:nvSpPr>
          <p:cNvPr id="109" name="文字方塊 108">
            <a:extLst>
              <a:ext uri="{FF2B5EF4-FFF2-40B4-BE49-F238E27FC236}">
                <a16:creationId xmlns:a16="http://schemas.microsoft.com/office/drawing/2014/main" id="{C1792F3D-55E0-E4D3-86B7-397F40367674}"/>
              </a:ext>
            </a:extLst>
          </p:cNvPr>
          <p:cNvSpPr txBox="1"/>
          <p:nvPr/>
        </p:nvSpPr>
        <p:spPr>
          <a:xfrm>
            <a:off x="8156239" y="2386509"/>
            <a:ext cx="1601721"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0x81</a:t>
            </a:r>
            <a:r>
              <a:rPr kumimoji="1" lang="zh-TW" altLang="en-US" sz="1400" b="1" dirty="0">
                <a:solidFill>
                  <a:srgbClr val="C00000"/>
                </a:solidFill>
                <a:latin typeface="Arial" panose="020B0604020202020204" pitchFamily="34" charset="0"/>
                <a:cs typeface="Arial" panose="020B0604020202020204" pitchFamily="34" charset="0"/>
              </a:rPr>
              <a:t> * </a:t>
            </a:r>
            <a:r>
              <a:rPr kumimoji="1" lang="en-US" altLang="zh-TW" sz="1400" b="1" dirty="0">
                <a:solidFill>
                  <a:srgbClr val="C00000"/>
                </a:solidFill>
                <a:latin typeface="Arial" panose="020B0604020202020204" pitchFamily="34" charset="0"/>
                <a:cs typeface="Arial" panose="020B0604020202020204" pitchFamily="34" charset="0"/>
              </a:rPr>
              <a:t>4</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0x324</a:t>
            </a:r>
            <a:r>
              <a:rPr kumimoji="1" lang="zh-TW" altLang="en-US" sz="1400" b="1" dirty="0">
                <a:solidFill>
                  <a:srgbClr val="C00000"/>
                </a:solidFill>
                <a:latin typeface="Arial" panose="020B0604020202020204" pitchFamily="34" charset="0"/>
                <a:cs typeface="Arial" panose="020B0604020202020204" pitchFamily="34" charset="0"/>
              </a:rPr>
              <a:t> </a:t>
            </a:r>
          </a:p>
        </p:txBody>
      </p:sp>
      <p:grpSp>
        <p:nvGrpSpPr>
          <p:cNvPr id="11" name="群組 10">
            <a:extLst>
              <a:ext uri="{FF2B5EF4-FFF2-40B4-BE49-F238E27FC236}">
                <a16:creationId xmlns:a16="http://schemas.microsoft.com/office/drawing/2014/main" id="{DBC19B23-99BD-D213-D768-DE7B78ED02B1}"/>
              </a:ext>
            </a:extLst>
          </p:cNvPr>
          <p:cNvGrpSpPr/>
          <p:nvPr/>
        </p:nvGrpSpPr>
        <p:grpSpPr>
          <a:xfrm>
            <a:off x="7808783" y="3776549"/>
            <a:ext cx="1061509" cy="392021"/>
            <a:chOff x="8124666" y="4634623"/>
            <a:chExt cx="1061509" cy="392021"/>
          </a:xfrm>
        </p:grpSpPr>
        <p:sp>
          <p:nvSpPr>
            <p:cNvPr id="110" name="左大括弧 109">
              <a:extLst>
                <a:ext uri="{FF2B5EF4-FFF2-40B4-BE49-F238E27FC236}">
                  <a16:creationId xmlns:a16="http://schemas.microsoft.com/office/drawing/2014/main" id="{B19CECCC-DCBB-3B84-9D68-9F1559F8AD07}"/>
                </a:ext>
              </a:extLst>
            </p:cNvPr>
            <p:cNvSpPr/>
            <p:nvPr/>
          </p:nvSpPr>
          <p:spPr>
            <a:xfrm rot="16200000">
              <a:off x="8450470" y="4500085"/>
              <a:ext cx="144000" cy="413075"/>
            </a:xfrm>
            <a:prstGeom prst="lef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solidFill>
                  <a:srgbClr val="0070C0"/>
                </a:solidFill>
              </a:endParaRPr>
            </a:p>
          </p:txBody>
        </p:sp>
        <p:sp>
          <p:nvSpPr>
            <p:cNvPr id="111" name="文字方塊 110">
              <a:extLst>
                <a:ext uri="{FF2B5EF4-FFF2-40B4-BE49-F238E27FC236}">
                  <a16:creationId xmlns:a16="http://schemas.microsoft.com/office/drawing/2014/main" id="{0AB86A44-790B-D342-5523-B3F584CEE376}"/>
                </a:ext>
              </a:extLst>
            </p:cNvPr>
            <p:cNvSpPr txBox="1"/>
            <p:nvPr/>
          </p:nvSpPr>
          <p:spPr>
            <a:xfrm>
              <a:off x="8124666" y="4718867"/>
              <a:ext cx="1061509"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4B</a:t>
              </a:r>
              <a:r>
                <a:rPr kumimoji="1" lang="zh-TW" altLang="en-US" sz="1400" b="1" dirty="0">
                  <a:solidFill>
                    <a:srgbClr val="0070C0"/>
                  </a:solidFill>
                  <a:latin typeface="Arial" panose="020B0604020202020204" pitchFamily="34" charset="0"/>
                  <a:cs typeface="Arial" panose="020B0604020202020204" pitchFamily="34" charset="0"/>
                </a:rPr>
                <a:t> </a:t>
              </a:r>
              <a:r>
                <a:rPr kumimoji="1" lang="en-US" altLang="zh-TW" sz="1400" b="1" dirty="0">
                  <a:solidFill>
                    <a:srgbClr val="0070C0"/>
                  </a:solidFill>
                  <a:latin typeface="Arial" panose="020B0604020202020204" pitchFamily="34" charset="0"/>
                  <a:cs typeface="Arial" panose="020B0604020202020204" pitchFamily="34" charset="0"/>
                </a:rPr>
                <a:t>(CS:IP)</a:t>
              </a:r>
              <a:endParaRPr kumimoji="1" lang="zh-TW" altLang="en-US" sz="1400" b="1" dirty="0">
                <a:solidFill>
                  <a:srgbClr val="0070C0"/>
                </a:solidFill>
                <a:latin typeface="Arial" panose="020B0604020202020204" pitchFamily="34" charset="0"/>
                <a:cs typeface="Arial" panose="020B0604020202020204" pitchFamily="34" charset="0"/>
              </a:endParaRPr>
            </a:p>
          </p:txBody>
        </p:sp>
      </p:grpSp>
      <p:grpSp>
        <p:nvGrpSpPr>
          <p:cNvPr id="10" name="群組 9">
            <a:extLst>
              <a:ext uri="{FF2B5EF4-FFF2-40B4-BE49-F238E27FC236}">
                <a16:creationId xmlns:a16="http://schemas.microsoft.com/office/drawing/2014/main" id="{A3A5ED5F-E385-A8D3-64CD-6F517A3AE88E}"/>
              </a:ext>
            </a:extLst>
          </p:cNvPr>
          <p:cNvGrpSpPr/>
          <p:nvPr/>
        </p:nvGrpSpPr>
        <p:grpSpPr>
          <a:xfrm>
            <a:off x="7998877" y="2926595"/>
            <a:ext cx="2196209" cy="837067"/>
            <a:chOff x="8314760" y="3784669"/>
            <a:chExt cx="2196209" cy="837067"/>
          </a:xfrm>
        </p:grpSpPr>
        <p:sp>
          <p:nvSpPr>
            <p:cNvPr id="90" name="矩形 89">
              <a:extLst>
                <a:ext uri="{FF2B5EF4-FFF2-40B4-BE49-F238E27FC236}">
                  <a16:creationId xmlns:a16="http://schemas.microsoft.com/office/drawing/2014/main" id="{DE3BC005-230C-A172-2E21-71E336216136}"/>
                </a:ext>
              </a:extLst>
            </p:cNvPr>
            <p:cNvSpPr/>
            <p:nvPr/>
          </p:nvSpPr>
          <p:spPr>
            <a:xfrm>
              <a:off x="8314760" y="3784669"/>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0</a:t>
              </a:r>
            </a:p>
            <a:p>
              <a:pPr algn="ctr"/>
              <a:r>
                <a:rPr kumimoji="1" lang="en-US" altLang="zh-TW" sz="1400" dirty="0" err="1">
                  <a:solidFill>
                    <a:schemeClr val="tx1"/>
                  </a:solidFill>
                  <a:latin typeface="Arial" panose="020B0604020202020204" pitchFamily="34" charset="0"/>
                  <a:cs typeface="Arial" panose="020B0604020202020204" pitchFamily="34" charset="0"/>
                </a:rPr>
                <a:t>Vec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91" name="矩形 90">
              <a:extLst>
                <a:ext uri="{FF2B5EF4-FFF2-40B4-BE49-F238E27FC236}">
                  <a16:creationId xmlns:a16="http://schemas.microsoft.com/office/drawing/2014/main" id="{689C9299-418D-A6A2-3F43-8ADB9A9A956C}"/>
                </a:ext>
              </a:extLst>
            </p:cNvPr>
            <p:cNvSpPr/>
            <p:nvPr/>
          </p:nvSpPr>
          <p:spPr>
            <a:xfrm>
              <a:off x="9394991" y="3784669"/>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81</a:t>
              </a:r>
            </a:p>
            <a:p>
              <a:pPr algn="ctr"/>
              <a:r>
                <a:rPr kumimoji="1" lang="en-US" altLang="zh-TW" sz="1400" dirty="0" err="1">
                  <a:solidFill>
                    <a:schemeClr val="tx1"/>
                  </a:solidFill>
                  <a:latin typeface="Arial" panose="020B0604020202020204" pitchFamily="34" charset="0"/>
                  <a:cs typeface="Arial" panose="020B0604020202020204" pitchFamily="34" charset="0"/>
                </a:rPr>
                <a:t>Vec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92" name="矩形 91">
              <a:extLst>
                <a:ext uri="{FF2B5EF4-FFF2-40B4-BE49-F238E27FC236}">
                  <a16:creationId xmlns:a16="http://schemas.microsoft.com/office/drawing/2014/main" id="{8ED68375-2A22-D45E-5B27-448C922CD235}"/>
                </a:ext>
              </a:extLst>
            </p:cNvPr>
            <p:cNvSpPr/>
            <p:nvPr/>
          </p:nvSpPr>
          <p:spPr>
            <a:xfrm>
              <a:off x="10096721" y="3784669"/>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255</a:t>
              </a:r>
            </a:p>
            <a:p>
              <a:pPr algn="ctr"/>
              <a:r>
                <a:rPr kumimoji="1" lang="en-US" altLang="zh-TW" sz="1400" dirty="0" err="1">
                  <a:solidFill>
                    <a:schemeClr val="tx1"/>
                  </a:solidFill>
                  <a:latin typeface="Arial" panose="020B0604020202020204" pitchFamily="34" charset="0"/>
                  <a:cs typeface="Arial" panose="020B0604020202020204" pitchFamily="34" charset="0"/>
                </a:rPr>
                <a:t>Vec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15" name="文字方塊 114">
              <a:extLst>
                <a:ext uri="{FF2B5EF4-FFF2-40B4-BE49-F238E27FC236}">
                  <a16:creationId xmlns:a16="http://schemas.microsoft.com/office/drawing/2014/main" id="{8575355B-9E06-AE62-C3F7-0D0C0A3553B0}"/>
                </a:ext>
              </a:extLst>
            </p:cNvPr>
            <p:cNvSpPr txBox="1"/>
            <p:nvPr/>
          </p:nvSpPr>
          <p:spPr>
            <a:xfrm>
              <a:off x="9100049" y="4030171"/>
              <a:ext cx="338554"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a:t>
              </a:r>
              <a:endParaRPr kumimoji="1" lang="zh-TW" altLang="en-US" sz="1200" dirty="0">
                <a:latin typeface="Arial" panose="020B0604020202020204" pitchFamily="34" charset="0"/>
                <a:cs typeface="Arial" panose="020B0604020202020204" pitchFamily="34" charset="0"/>
              </a:endParaRPr>
            </a:p>
          </p:txBody>
        </p:sp>
        <p:sp>
          <p:nvSpPr>
            <p:cNvPr id="116" name="文字方塊 115">
              <a:extLst>
                <a:ext uri="{FF2B5EF4-FFF2-40B4-BE49-F238E27FC236}">
                  <a16:creationId xmlns:a16="http://schemas.microsoft.com/office/drawing/2014/main" id="{8D7815A7-15DD-84E5-E997-B4474C9B0E82}"/>
                </a:ext>
              </a:extLst>
            </p:cNvPr>
            <p:cNvSpPr txBox="1"/>
            <p:nvPr/>
          </p:nvSpPr>
          <p:spPr>
            <a:xfrm>
              <a:off x="9788444" y="4045334"/>
              <a:ext cx="338554"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a:t>
              </a:r>
              <a:endParaRPr kumimoji="1" lang="zh-TW" altLang="en-US" sz="1200" dirty="0">
                <a:latin typeface="Arial" panose="020B0604020202020204" pitchFamily="34" charset="0"/>
                <a:cs typeface="Arial" panose="020B0604020202020204" pitchFamily="34" charset="0"/>
              </a:endParaRPr>
            </a:p>
          </p:txBody>
        </p:sp>
        <p:sp>
          <p:nvSpPr>
            <p:cNvPr id="118" name="矩形 117">
              <a:extLst>
                <a:ext uri="{FF2B5EF4-FFF2-40B4-BE49-F238E27FC236}">
                  <a16:creationId xmlns:a16="http://schemas.microsoft.com/office/drawing/2014/main" id="{6C276251-EB03-42EB-817D-FFA541C79C3C}"/>
                </a:ext>
              </a:extLst>
            </p:cNvPr>
            <p:cNvSpPr/>
            <p:nvPr/>
          </p:nvSpPr>
          <p:spPr>
            <a:xfrm>
              <a:off x="8729335" y="3789684"/>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1</a:t>
              </a:r>
            </a:p>
            <a:p>
              <a:pPr algn="ctr"/>
              <a:r>
                <a:rPr kumimoji="1" lang="en-US" altLang="zh-TW" sz="1400" dirty="0" err="1">
                  <a:solidFill>
                    <a:schemeClr val="tx1"/>
                  </a:solidFill>
                  <a:latin typeface="Arial" panose="020B0604020202020204" pitchFamily="34" charset="0"/>
                  <a:cs typeface="Arial" panose="020B0604020202020204" pitchFamily="34" charset="0"/>
                </a:rPr>
                <a:t>Vec</a:t>
              </a:r>
              <a:endParaRPr kumimoji="1" lang="zh-TW" altLang="en-US" sz="1400" dirty="0">
                <a:solidFill>
                  <a:schemeClr val="tx1"/>
                </a:solidFill>
                <a:latin typeface="Arial" panose="020B0604020202020204" pitchFamily="34" charset="0"/>
                <a:cs typeface="Arial" panose="020B0604020202020204" pitchFamily="34" charset="0"/>
              </a:endParaRPr>
            </a:p>
          </p:txBody>
        </p:sp>
      </p:grpSp>
      <p:grpSp>
        <p:nvGrpSpPr>
          <p:cNvPr id="12" name="群組 11">
            <a:extLst>
              <a:ext uri="{FF2B5EF4-FFF2-40B4-BE49-F238E27FC236}">
                <a16:creationId xmlns:a16="http://schemas.microsoft.com/office/drawing/2014/main" id="{3E5AD215-3930-7DF0-8EAB-010A4EB6B299}"/>
              </a:ext>
            </a:extLst>
          </p:cNvPr>
          <p:cNvGrpSpPr/>
          <p:nvPr/>
        </p:nvGrpSpPr>
        <p:grpSpPr>
          <a:xfrm>
            <a:off x="7959877" y="2675263"/>
            <a:ext cx="1685201" cy="307777"/>
            <a:chOff x="8275760" y="3533337"/>
            <a:chExt cx="1685201" cy="307777"/>
          </a:xfrm>
        </p:grpSpPr>
        <p:sp>
          <p:nvSpPr>
            <p:cNvPr id="114" name="文字方塊 113">
              <a:extLst>
                <a:ext uri="{FF2B5EF4-FFF2-40B4-BE49-F238E27FC236}">
                  <a16:creationId xmlns:a16="http://schemas.microsoft.com/office/drawing/2014/main" id="{F1277D9E-2B8E-D01C-57CD-C97EB0EC8E34}"/>
                </a:ext>
              </a:extLst>
            </p:cNvPr>
            <p:cNvSpPr txBox="1"/>
            <p:nvPr/>
          </p:nvSpPr>
          <p:spPr>
            <a:xfrm>
              <a:off x="8275760" y="3533337"/>
              <a:ext cx="482824"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0x0</a:t>
              </a:r>
              <a:endParaRPr kumimoji="1" lang="zh-TW" altLang="en-US" sz="1400" b="1" dirty="0">
                <a:solidFill>
                  <a:srgbClr val="0070C0"/>
                </a:solidFill>
                <a:latin typeface="Arial" panose="020B0604020202020204" pitchFamily="34" charset="0"/>
                <a:cs typeface="Arial" panose="020B0604020202020204" pitchFamily="34" charset="0"/>
              </a:endParaRPr>
            </a:p>
          </p:txBody>
        </p:sp>
        <p:sp>
          <p:nvSpPr>
            <p:cNvPr id="117" name="文字方塊 116">
              <a:extLst>
                <a:ext uri="{FF2B5EF4-FFF2-40B4-BE49-F238E27FC236}">
                  <a16:creationId xmlns:a16="http://schemas.microsoft.com/office/drawing/2014/main" id="{346BCF43-291A-D063-C0CE-5C3873BE87E2}"/>
                </a:ext>
              </a:extLst>
            </p:cNvPr>
            <p:cNvSpPr txBox="1"/>
            <p:nvPr/>
          </p:nvSpPr>
          <p:spPr>
            <a:xfrm>
              <a:off x="9279364" y="3533337"/>
              <a:ext cx="681597"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0x324</a:t>
              </a:r>
              <a:endParaRPr kumimoji="1" lang="zh-TW" altLang="en-US" sz="1400" b="1" dirty="0">
                <a:solidFill>
                  <a:srgbClr val="0070C0"/>
                </a:solidFill>
                <a:latin typeface="Arial" panose="020B0604020202020204" pitchFamily="34" charset="0"/>
                <a:cs typeface="Arial" panose="020B0604020202020204" pitchFamily="34" charset="0"/>
              </a:endParaRPr>
            </a:p>
          </p:txBody>
        </p:sp>
        <p:sp>
          <p:nvSpPr>
            <p:cNvPr id="119" name="文字方塊 118">
              <a:extLst>
                <a:ext uri="{FF2B5EF4-FFF2-40B4-BE49-F238E27FC236}">
                  <a16:creationId xmlns:a16="http://schemas.microsoft.com/office/drawing/2014/main" id="{88B0ECE1-136A-2509-5863-0BE24FFABE4F}"/>
                </a:ext>
              </a:extLst>
            </p:cNvPr>
            <p:cNvSpPr txBox="1"/>
            <p:nvPr/>
          </p:nvSpPr>
          <p:spPr>
            <a:xfrm>
              <a:off x="8701542" y="3533337"/>
              <a:ext cx="482824"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0x4</a:t>
              </a:r>
              <a:endParaRPr kumimoji="1" lang="zh-TW" altLang="en-US" sz="1400" b="1" dirty="0">
                <a:solidFill>
                  <a:srgbClr val="0070C0"/>
                </a:solidFill>
                <a:latin typeface="Arial" panose="020B0604020202020204" pitchFamily="34" charset="0"/>
                <a:cs typeface="Arial" panose="020B0604020202020204" pitchFamily="34" charset="0"/>
              </a:endParaRPr>
            </a:p>
          </p:txBody>
        </p:sp>
      </p:grpSp>
      <p:grpSp>
        <p:nvGrpSpPr>
          <p:cNvPr id="14" name="群組 13">
            <a:extLst>
              <a:ext uri="{FF2B5EF4-FFF2-40B4-BE49-F238E27FC236}">
                <a16:creationId xmlns:a16="http://schemas.microsoft.com/office/drawing/2014/main" id="{C8DBAC02-20BA-BD00-CA00-C9BB7BDB1378}"/>
              </a:ext>
            </a:extLst>
          </p:cNvPr>
          <p:cNvGrpSpPr/>
          <p:nvPr/>
        </p:nvGrpSpPr>
        <p:grpSpPr>
          <a:xfrm>
            <a:off x="10305296" y="2675263"/>
            <a:ext cx="763351" cy="1083384"/>
            <a:chOff x="10621179" y="3533337"/>
            <a:chExt cx="763351" cy="1083384"/>
          </a:xfrm>
        </p:grpSpPr>
        <p:sp>
          <p:nvSpPr>
            <p:cNvPr id="93" name="矩形 92">
              <a:extLst>
                <a:ext uri="{FF2B5EF4-FFF2-40B4-BE49-F238E27FC236}">
                  <a16:creationId xmlns:a16="http://schemas.microsoft.com/office/drawing/2014/main" id="{D225F8C7-BCE1-AA17-5608-C31CCFE13B93}"/>
                </a:ext>
              </a:extLst>
            </p:cNvPr>
            <p:cNvSpPr/>
            <p:nvPr/>
          </p:nvSpPr>
          <p:spPr>
            <a:xfrm>
              <a:off x="10746037" y="3784669"/>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81</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20" name="文字方塊 119">
              <a:extLst>
                <a:ext uri="{FF2B5EF4-FFF2-40B4-BE49-F238E27FC236}">
                  <a16:creationId xmlns:a16="http://schemas.microsoft.com/office/drawing/2014/main" id="{F49A3F02-FA14-00CF-6E71-32E170BE6585}"/>
                </a:ext>
              </a:extLst>
            </p:cNvPr>
            <p:cNvSpPr txBox="1"/>
            <p:nvPr/>
          </p:nvSpPr>
          <p:spPr>
            <a:xfrm>
              <a:off x="10621179" y="3533337"/>
              <a:ext cx="763351"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CS‘:IP’</a:t>
              </a:r>
              <a:endParaRPr kumimoji="1" lang="zh-TW" altLang="en-US" sz="1400" b="1" dirty="0">
                <a:solidFill>
                  <a:srgbClr val="0070C0"/>
                </a:solidFill>
                <a:latin typeface="Arial" panose="020B0604020202020204" pitchFamily="34" charset="0"/>
                <a:cs typeface="Arial" panose="020B0604020202020204" pitchFamily="34" charset="0"/>
              </a:endParaRPr>
            </a:p>
          </p:txBody>
        </p:sp>
      </p:grpSp>
      <p:grpSp>
        <p:nvGrpSpPr>
          <p:cNvPr id="13" name="群組 12">
            <a:extLst>
              <a:ext uri="{FF2B5EF4-FFF2-40B4-BE49-F238E27FC236}">
                <a16:creationId xmlns:a16="http://schemas.microsoft.com/office/drawing/2014/main" id="{74B22B85-478A-B501-8C23-52E33D61E31C}"/>
              </a:ext>
            </a:extLst>
          </p:cNvPr>
          <p:cNvGrpSpPr/>
          <p:nvPr/>
        </p:nvGrpSpPr>
        <p:grpSpPr>
          <a:xfrm>
            <a:off x="9122720" y="2164799"/>
            <a:ext cx="763351" cy="745544"/>
            <a:chOff x="9438603" y="3022873"/>
            <a:chExt cx="763351" cy="745544"/>
          </a:xfrm>
        </p:grpSpPr>
        <p:cxnSp>
          <p:nvCxnSpPr>
            <p:cNvPr id="122" name="曲線接點 121">
              <a:extLst>
                <a:ext uri="{FF2B5EF4-FFF2-40B4-BE49-F238E27FC236}">
                  <a16:creationId xmlns:a16="http://schemas.microsoft.com/office/drawing/2014/main" id="{2A220A9D-14A3-11F0-FC72-20FC8723C85D}"/>
                </a:ext>
              </a:extLst>
            </p:cNvPr>
            <p:cNvCxnSpPr>
              <a:cxnSpLocks/>
            </p:cNvCxnSpPr>
            <p:nvPr/>
          </p:nvCxnSpPr>
          <p:spPr>
            <a:xfrm rot="5400000" flipH="1" flipV="1">
              <a:off x="9437184" y="3396362"/>
              <a:ext cx="532353" cy="211757"/>
            </a:xfrm>
            <a:prstGeom prst="curvedConnector3">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4" name="文字方塊 123">
              <a:extLst>
                <a:ext uri="{FF2B5EF4-FFF2-40B4-BE49-F238E27FC236}">
                  <a16:creationId xmlns:a16="http://schemas.microsoft.com/office/drawing/2014/main" id="{CB343087-72B5-D098-2287-83C49D2A5B31}"/>
                </a:ext>
              </a:extLst>
            </p:cNvPr>
            <p:cNvSpPr txBox="1"/>
            <p:nvPr/>
          </p:nvSpPr>
          <p:spPr>
            <a:xfrm>
              <a:off x="9438603" y="3022873"/>
              <a:ext cx="763351"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CS‘:IP’</a:t>
              </a:r>
              <a:endParaRPr kumimoji="1" lang="zh-TW" altLang="en-US" sz="1400" b="1" dirty="0">
                <a:solidFill>
                  <a:srgbClr val="C00000"/>
                </a:solidFill>
                <a:latin typeface="Arial" panose="020B0604020202020204" pitchFamily="34" charset="0"/>
                <a:cs typeface="Arial" panose="020B0604020202020204" pitchFamily="34" charset="0"/>
              </a:endParaRPr>
            </a:p>
          </p:txBody>
        </p:sp>
      </p:grpSp>
      <p:grpSp>
        <p:nvGrpSpPr>
          <p:cNvPr id="15" name="群組 14">
            <a:extLst>
              <a:ext uri="{FF2B5EF4-FFF2-40B4-BE49-F238E27FC236}">
                <a16:creationId xmlns:a16="http://schemas.microsoft.com/office/drawing/2014/main" id="{0AE6E52C-8C7C-BA31-930B-5A459B487206}"/>
              </a:ext>
            </a:extLst>
          </p:cNvPr>
          <p:cNvGrpSpPr/>
          <p:nvPr/>
        </p:nvGrpSpPr>
        <p:grpSpPr>
          <a:xfrm>
            <a:off x="9629117" y="2327971"/>
            <a:ext cx="1572867" cy="607439"/>
            <a:chOff x="9945000" y="3186045"/>
            <a:chExt cx="1572867" cy="607439"/>
          </a:xfrm>
        </p:grpSpPr>
        <p:cxnSp>
          <p:nvCxnSpPr>
            <p:cNvPr id="125" name="曲線接點 124">
              <a:extLst>
                <a:ext uri="{FF2B5EF4-FFF2-40B4-BE49-F238E27FC236}">
                  <a16:creationId xmlns:a16="http://schemas.microsoft.com/office/drawing/2014/main" id="{CCD0E404-D1E0-CAA7-5F9F-0494CA59C474}"/>
                </a:ext>
              </a:extLst>
            </p:cNvPr>
            <p:cNvCxnSpPr>
              <a:cxnSpLocks/>
            </p:cNvCxnSpPr>
            <p:nvPr/>
          </p:nvCxnSpPr>
          <p:spPr>
            <a:xfrm rot="10800000">
              <a:off x="9945000" y="3312340"/>
              <a:ext cx="1024649" cy="481144"/>
            </a:xfrm>
            <a:prstGeom prst="curvedConnector3">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7" name="文字方塊 126">
              <a:extLst>
                <a:ext uri="{FF2B5EF4-FFF2-40B4-BE49-F238E27FC236}">
                  <a16:creationId xmlns:a16="http://schemas.microsoft.com/office/drawing/2014/main" id="{F14A7328-FFB8-6CD2-B6B4-52FF1161E3A7}"/>
                </a:ext>
              </a:extLst>
            </p:cNvPr>
            <p:cNvSpPr txBox="1"/>
            <p:nvPr/>
          </p:nvSpPr>
          <p:spPr>
            <a:xfrm>
              <a:off x="10318500" y="3186045"/>
              <a:ext cx="1199367"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Code of ISR</a:t>
              </a:r>
              <a:endParaRPr kumimoji="1" lang="zh-TW" altLang="en-US" sz="1400" b="1" dirty="0">
                <a:solidFill>
                  <a:srgbClr val="C00000"/>
                </a:solidFill>
                <a:latin typeface="Arial" panose="020B0604020202020204" pitchFamily="34" charset="0"/>
                <a:cs typeface="Arial" panose="020B0604020202020204" pitchFamily="34" charset="0"/>
              </a:endParaRPr>
            </a:p>
          </p:txBody>
        </p:sp>
      </p:grpSp>
      <p:sp>
        <p:nvSpPr>
          <p:cNvPr id="128" name="文字方塊 127">
            <a:extLst>
              <a:ext uri="{FF2B5EF4-FFF2-40B4-BE49-F238E27FC236}">
                <a16:creationId xmlns:a16="http://schemas.microsoft.com/office/drawing/2014/main" id="{92455F60-8B50-A9D1-0FC3-CDBCBC6A4C47}"/>
              </a:ext>
            </a:extLst>
          </p:cNvPr>
          <p:cNvSpPr txBox="1"/>
          <p:nvPr/>
        </p:nvSpPr>
        <p:spPr>
          <a:xfrm>
            <a:off x="9504395" y="1407389"/>
            <a:ext cx="2369559" cy="276999"/>
          </a:xfrm>
          <a:prstGeom prst="rect">
            <a:avLst/>
          </a:prstGeom>
          <a:noFill/>
        </p:spPr>
        <p:txBody>
          <a:bodyPr wrap="none" rtlCol="0">
            <a:spAutoFit/>
          </a:bodyPr>
          <a:lstStyle/>
          <a:p>
            <a:r>
              <a:rPr kumimoji="1" lang="en-US" altLang="zh-TW" sz="1200" b="1" dirty="0">
                <a:solidFill>
                  <a:schemeClr val="tx1">
                    <a:lumMod val="50000"/>
                    <a:lumOff val="50000"/>
                  </a:schemeClr>
                </a:solidFill>
                <a:latin typeface="Arial" panose="020B0604020202020204" pitchFamily="34" charset="0"/>
                <a:cs typeface="Arial" panose="020B0604020202020204" pitchFamily="34" charset="0"/>
              </a:rPr>
              <a:t>ISR=Interrupt Service</a:t>
            </a:r>
            <a:r>
              <a:rPr kumimoji="1" lang="zh-TW" altLang="en-US" sz="1200" b="1" dirty="0">
                <a:solidFill>
                  <a:schemeClr val="tx1">
                    <a:lumMod val="50000"/>
                    <a:lumOff val="50000"/>
                  </a:schemeClr>
                </a:solidFill>
                <a:latin typeface="Arial" panose="020B0604020202020204" pitchFamily="34" charset="0"/>
                <a:cs typeface="Arial" panose="020B0604020202020204" pitchFamily="34" charset="0"/>
              </a:rPr>
              <a:t> </a:t>
            </a:r>
            <a:r>
              <a:rPr kumimoji="1" lang="en-US" altLang="zh-TW" sz="1200" b="1" dirty="0">
                <a:solidFill>
                  <a:schemeClr val="tx1">
                    <a:lumMod val="50000"/>
                    <a:lumOff val="50000"/>
                  </a:schemeClr>
                </a:solidFill>
                <a:latin typeface="Arial" panose="020B0604020202020204" pitchFamily="34" charset="0"/>
                <a:cs typeface="Arial" panose="020B0604020202020204" pitchFamily="34" charset="0"/>
              </a:rPr>
              <a:t>Routine</a:t>
            </a:r>
            <a:endParaRPr kumimoji="1" lang="zh-TW" altLang="en-US" sz="1200" b="1"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6" name="文字方塊 5">
            <a:extLst>
              <a:ext uri="{FF2B5EF4-FFF2-40B4-BE49-F238E27FC236}">
                <a16:creationId xmlns:a16="http://schemas.microsoft.com/office/drawing/2014/main" id="{4C7D9ECD-EBE5-D22D-1C65-D8A72E8C566C}"/>
              </a:ext>
            </a:extLst>
          </p:cNvPr>
          <p:cNvSpPr txBox="1"/>
          <p:nvPr/>
        </p:nvSpPr>
        <p:spPr>
          <a:xfrm>
            <a:off x="0" y="6572147"/>
            <a:ext cx="7084440" cy="276999"/>
          </a:xfrm>
          <a:prstGeom prst="rect">
            <a:avLst/>
          </a:prstGeom>
          <a:noFill/>
        </p:spPr>
        <p:txBody>
          <a:bodyPr wrap="non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rPr>
              <a:t>Fan, </a:t>
            </a:r>
            <a:r>
              <a:rPr kumimoji="1" lang="en-US" altLang="zh-TW" sz="1200" dirty="0" err="1">
                <a:solidFill>
                  <a:schemeClr val="bg1">
                    <a:lumMod val="75000"/>
                  </a:schemeClr>
                </a:solidFill>
              </a:rPr>
              <a:t>Xiaocong</a:t>
            </a:r>
            <a:r>
              <a:rPr kumimoji="1" lang="en-US" altLang="zh-TW" sz="1200" dirty="0">
                <a:solidFill>
                  <a:schemeClr val="bg1">
                    <a:lumMod val="75000"/>
                  </a:schemeClr>
                </a:solidFill>
              </a:rPr>
              <a:t>. Real-time embedded systems: design principles and engineering practices. </a:t>
            </a:r>
            <a:r>
              <a:rPr kumimoji="1" lang="en-US" altLang="zh-TW" sz="1200" dirty="0" err="1">
                <a:solidFill>
                  <a:schemeClr val="bg1">
                    <a:lumMod val="75000"/>
                  </a:schemeClr>
                </a:solidFill>
              </a:rPr>
              <a:t>Newnes</a:t>
            </a:r>
            <a:r>
              <a:rPr kumimoji="1" lang="en-US" altLang="zh-TW" sz="1200" dirty="0">
                <a:solidFill>
                  <a:schemeClr val="bg1">
                    <a:lumMod val="75000"/>
                  </a:schemeClr>
                </a:solidFill>
              </a:rPr>
              <a:t>, 2015.</a:t>
            </a:r>
          </a:p>
        </p:txBody>
      </p:sp>
      <p:sp>
        <p:nvSpPr>
          <p:cNvPr id="16" name="文字方塊 15">
            <a:extLst>
              <a:ext uri="{FF2B5EF4-FFF2-40B4-BE49-F238E27FC236}">
                <a16:creationId xmlns:a16="http://schemas.microsoft.com/office/drawing/2014/main" id="{9DB73002-1766-D1A6-664D-577C6E15F8E5}"/>
              </a:ext>
            </a:extLst>
          </p:cNvPr>
          <p:cNvSpPr txBox="1"/>
          <p:nvPr/>
        </p:nvSpPr>
        <p:spPr>
          <a:xfrm>
            <a:off x="-374469" y="1837509"/>
            <a:ext cx="184731" cy="369332"/>
          </a:xfrm>
          <a:prstGeom prst="rect">
            <a:avLst/>
          </a:prstGeom>
          <a:noFill/>
        </p:spPr>
        <p:txBody>
          <a:bodyPr wrap="none" rtlCol="0">
            <a:spAutoFit/>
          </a:bodyPr>
          <a:lstStyle/>
          <a:p>
            <a:endParaRPr kumimoji="1" lang="zh-TW" altLang="en-US"/>
          </a:p>
        </p:txBody>
      </p:sp>
    </p:spTree>
    <p:extLst>
      <p:ext uri="{BB962C8B-B14F-4D97-AF65-F5344CB8AC3E}">
        <p14:creationId xmlns:p14="http://schemas.microsoft.com/office/powerpoint/2010/main" val="1993835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8"/>
                                        </p:tgtEl>
                                      </p:cBhvr>
                                    </p:animEffect>
                                    <p:animScale>
                                      <p:cBhvr>
                                        <p:cTn id="7" dur="250" autoRev="1" fill="hold"/>
                                        <p:tgtEl>
                                          <p:spTgt spid="38"/>
                                        </p:tgtEl>
                                      </p:cBhvr>
                                      <p:by x="105000" y="105000"/>
                                    </p:animScale>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par>
                          <p:cTn id="14" fill="hold">
                            <p:stCondLst>
                              <p:cond delay="500"/>
                            </p:stCondLst>
                            <p:childTnLst>
                              <p:par>
                                <p:cTn id="15" presetID="22" presetClass="entr" presetSubtype="2"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righ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childTnLst>
                          </p:cTn>
                        </p:par>
                        <p:par>
                          <p:cTn id="31" fill="hold">
                            <p:stCondLst>
                              <p:cond delay="500"/>
                            </p:stCondLst>
                            <p:childTnLst>
                              <p:par>
                                <p:cTn id="32" presetID="10" presetClass="entr" presetSubtype="0" fill="hold"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childTnLst>
                          </p:cTn>
                        </p:par>
                        <p:par>
                          <p:cTn id="35" fill="hold">
                            <p:stCondLst>
                              <p:cond delay="1000"/>
                            </p:stCondLst>
                            <p:childTnLst>
                              <p:par>
                                <p:cTn id="36" presetID="22" presetClass="entr" presetSubtype="8" fill="hold" nodeType="after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left)">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09"/>
                                        </p:tgtEl>
                                        <p:attrNameLst>
                                          <p:attrName>style.visibility</p:attrName>
                                        </p:attrNameLst>
                                      </p:cBhvr>
                                      <p:to>
                                        <p:strVal val="visible"/>
                                      </p:to>
                                    </p:set>
                                    <p:animEffect transition="in" filter="fade">
                                      <p:cBhvr>
                                        <p:cTn id="43" dur="500"/>
                                        <p:tgtEl>
                                          <p:spTgt spid="109"/>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grpId="1" nodeType="clickEffect">
                                  <p:stCondLst>
                                    <p:cond delay="0"/>
                                  </p:stCondLst>
                                  <p:childTnLst>
                                    <p:set>
                                      <p:cBhvr>
                                        <p:cTn id="47" dur="1" fill="hold">
                                          <p:stCondLst>
                                            <p:cond delay="0"/>
                                          </p:stCondLst>
                                        </p:cTn>
                                        <p:tgtEl>
                                          <p:spTgt spid="109"/>
                                        </p:tgtEl>
                                        <p:attrNameLst>
                                          <p:attrName>style.visibility</p:attrName>
                                        </p:attrNameLst>
                                      </p:cBhvr>
                                      <p:to>
                                        <p:strVal val="hidden"/>
                                      </p:to>
                                    </p:set>
                                  </p:childTnLst>
                                </p:cTn>
                              </p:par>
                              <p:par>
                                <p:cTn id="48" presetID="10" presetClass="entr" presetSubtype="0" fill="hold" nodeType="withEffect">
                                  <p:stCondLst>
                                    <p:cond delay="0"/>
                                  </p:stCondLst>
                                  <p:childTnLst>
                                    <p:set>
                                      <p:cBhvr>
                                        <p:cTn id="49" dur="1" fill="hold">
                                          <p:stCondLst>
                                            <p:cond delay="0"/>
                                          </p:stCondLst>
                                        </p:cTn>
                                        <p:tgtEl>
                                          <p:spTgt spid="3">
                                            <p:txEl>
                                              <p:pRg st="4" end="4"/>
                                            </p:txEl>
                                          </p:spTgt>
                                        </p:tgtEl>
                                        <p:attrNameLst>
                                          <p:attrName>style.visibility</p:attrName>
                                        </p:attrNameLst>
                                      </p:cBhvr>
                                      <p:to>
                                        <p:strVal val="visible"/>
                                      </p:to>
                                    </p:set>
                                    <p:animEffect transition="in" filter="fade">
                                      <p:cBhvr>
                                        <p:cTn id="50" dur="500"/>
                                        <p:tgtEl>
                                          <p:spTgt spid="3">
                                            <p:txEl>
                                              <p:pRg st="4" end="4"/>
                                            </p:txEl>
                                          </p:spTgt>
                                        </p:tgtEl>
                                      </p:cBhvr>
                                    </p:animEffect>
                                  </p:childTnLst>
                                </p:cTn>
                              </p:par>
                            </p:childTnLst>
                          </p:cTn>
                        </p:par>
                        <p:par>
                          <p:cTn id="51" fill="hold">
                            <p:stCondLst>
                              <p:cond delay="500"/>
                            </p:stCondLst>
                            <p:childTnLst>
                              <p:par>
                                <p:cTn id="52" presetID="22" presetClass="entr" presetSubtype="4" fill="hold"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down)">
                                      <p:cBhvr>
                                        <p:cTn id="54" dur="500"/>
                                        <p:tgtEl>
                                          <p:spTgt spid="13"/>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500"/>
                                        <p:tgtEl>
                                          <p:spTgt spid="14"/>
                                        </p:tgtEl>
                                      </p:cBhvr>
                                    </p:animEffect>
                                  </p:childTnLst>
                                </p:cTn>
                              </p:par>
                              <p:par>
                                <p:cTn id="60" presetID="10" presetClass="entr" presetSubtype="0" fill="hold" nodeType="withEffect">
                                  <p:stCondLst>
                                    <p:cond delay="0"/>
                                  </p:stCondLst>
                                  <p:childTnLst>
                                    <p:set>
                                      <p:cBhvr>
                                        <p:cTn id="61" dur="1" fill="hold">
                                          <p:stCondLst>
                                            <p:cond delay="0"/>
                                          </p:stCondLst>
                                        </p:cTn>
                                        <p:tgtEl>
                                          <p:spTgt spid="3">
                                            <p:txEl>
                                              <p:pRg st="5" end="5"/>
                                            </p:txEl>
                                          </p:spTgt>
                                        </p:tgtEl>
                                        <p:attrNameLst>
                                          <p:attrName>style.visibility</p:attrName>
                                        </p:attrNameLst>
                                      </p:cBhvr>
                                      <p:to>
                                        <p:strVal val="visible"/>
                                      </p:to>
                                    </p:set>
                                    <p:animEffect transition="in" filter="fade">
                                      <p:cBhvr>
                                        <p:cTn id="62" dur="500"/>
                                        <p:tgtEl>
                                          <p:spTgt spid="3">
                                            <p:txEl>
                                              <p:pRg st="5" end="5"/>
                                            </p:txEl>
                                          </p:spTgt>
                                        </p:tgtEl>
                                      </p:cBhvr>
                                    </p:animEffect>
                                  </p:childTnLst>
                                </p:cTn>
                              </p:par>
                            </p:childTnLst>
                          </p:cTn>
                        </p:par>
                        <p:par>
                          <p:cTn id="63" fill="hold">
                            <p:stCondLst>
                              <p:cond delay="500"/>
                            </p:stCondLst>
                            <p:childTnLst>
                              <p:par>
                                <p:cTn id="64" presetID="22" presetClass="entr" presetSubtype="2" fill="hold" nodeType="after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wipe(right)">
                                      <p:cBhvr>
                                        <p:cTn id="6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109" grpId="0"/>
      <p:bldP spid="109"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A679866-913C-A073-6986-1295654BE079}"/>
              </a:ext>
            </a:extLst>
          </p:cNvPr>
          <p:cNvSpPr>
            <a:spLocks noGrp="1"/>
          </p:cNvSpPr>
          <p:nvPr>
            <p:ph type="title"/>
          </p:nvPr>
        </p:nvSpPr>
        <p:spPr/>
        <p:txBody>
          <a:bodyPr/>
          <a:lstStyle/>
          <a:p>
            <a:r>
              <a:rPr kumimoji="1" lang="en-US" altLang="zh-TW" dirty="0"/>
              <a:t>Interrupt Handler</a:t>
            </a:r>
            <a:endParaRPr kumimoji="1" lang="zh-TW" altLang="en-US" dirty="0"/>
          </a:p>
        </p:txBody>
      </p:sp>
      <p:sp>
        <p:nvSpPr>
          <p:cNvPr id="3" name="內容版面配置區 2">
            <a:extLst>
              <a:ext uri="{FF2B5EF4-FFF2-40B4-BE49-F238E27FC236}">
                <a16:creationId xmlns:a16="http://schemas.microsoft.com/office/drawing/2014/main" id="{80109A77-5AC8-2023-4C95-A90A404A044B}"/>
              </a:ext>
            </a:extLst>
          </p:cNvPr>
          <p:cNvSpPr>
            <a:spLocks noGrp="1"/>
          </p:cNvSpPr>
          <p:nvPr>
            <p:ph idx="1"/>
          </p:nvPr>
        </p:nvSpPr>
        <p:spPr>
          <a:xfrm>
            <a:off x="177800" y="1238249"/>
            <a:ext cx="11836400" cy="5736291"/>
          </a:xfrm>
        </p:spPr>
        <p:txBody>
          <a:bodyPr>
            <a:normAutofit/>
          </a:bodyPr>
          <a:lstStyle/>
          <a:p>
            <a:r>
              <a:rPr kumimoji="1" lang="en-US" altLang="zh-TW" dirty="0"/>
              <a:t>Interrupt</a:t>
            </a:r>
            <a:r>
              <a:rPr kumimoji="1" lang="zh-TW" altLang="en-US" dirty="0"/>
              <a:t> </a:t>
            </a:r>
            <a:r>
              <a:rPr kumimoji="1" lang="en-US" altLang="zh-TW" dirty="0"/>
              <a:t>Service</a:t>
            </a:r>
            <a:r>
              <a:rPr kumimoji="1" lang="zh-TW" altLang="en-US" dirty="0"/>
              <a:t> </a:t>
            </a:r>
            <a:r>
              <a:rPr lang="en-US" altLang="zh-TW" dirty="0"/>
              <a:t>Routine (ISR)</a:t>
            </a:r>
            <a:r>
              <a:rPr lang="zh-TW" altLang="en-US" dirty="0"/>
              <a:t> </a:t>
            </a:r>
            <a:r>
              <a:rPr lang="en-US" altLang="zh-TW" dirty="0"/>
              <a:t>or</a:t>
            </a:r>
            <a:r>
              <a:rPr lang="zh-TW" altLang="en-US" dirty="0"/>
              <a:t> </a:t>
            </a:r>
            <a:r>
              <a:rPr lang="en-US" altLang="zh-TW" dirty="0"/>
              <a:t>Interrupt</a:t>
            </a:r>
            <a:r>
              <a:rPr lang="zh-TW" altLang="en-US" dirty="0"/>
              <a:t> </a:t>
            </a:r>
            <a:r>
              <a:rPr lang="en-US" altLang="zh-TW" dirty="0"/>
              <a:t>Handler:</a:t>
            </a:r>
            <a:r>
              <a:rPr lang="zh-TW" altLang="en-US" dirty="0"/>
              <a:t> </a:t>
            </a:r>
            <a:r>
              <a:rPr lang="en-US" altLang="zh-TW" dirty="0"/>
              <a:t>The</a:t>
            </a:r>
            <a:r>
              <a:rPr lang="zh-TW" altLang="en-US" dirty="0"/>
              <a:t> </a:t>
            </a:r>
            <a:r>
              <a:rPr lang="en-US" altLang="zh-TW" dirty="0"/>
              <a:t>function</a:t>
            </a:r>
            <a:r>
              <a:rPr lang="zh-TW" altLang="en-US" dirty="0"/>
              <a:t> </a:t>
            </a:r>
            <a:r>
              <a:rPr lang="en-US" altLang="zh-TW" dirty="0"/>
              <a:t>the</a:t>
            </a:r>
            <a:r>
              <a:rPr lang="zh-TW" altLang="en-US" dirty="0"/>
              <a:t> </a:t>
            </a:r>
            <a:r>
              <a:rPr lang="en-US" altLang="zh-TW" dirty="0"/>
              <a:t>kernel</a:t>
            </a:r>
            <a:r>
              <a:rPr lang="zh-TW" altLang="en-US" dirty="0"/>
              <a:t> </a:t>
            </a:r>
            <a:r>
              <a:rPr lang="en-US" altLang="zh-TW" dirty="0"/>
              <a:t>runs</a:t>
            </a:r>
            <a:r>
              <a:rPr lang="zh-TW" altLang="en-US" dirty="0"/>
              <a:t> </a:t>
            </a:r>
            <a:r>
              <a:rPr lang="en-US" altLang="zh-TW" dirty="0"/>
              <a:t>in</a:t>
            </a:r>
            <a:r>
              <a:rPr lang="zh-TW" altLang="en-US" dirty="0"/>
              <a:t> </a:t>
            </a:r>
            <a:r>
              <a:rPr lang="en-US" altLang="zh-TW" dirty="0"/>
              <a:t>response</a:t>
            </a:r>
            <a:r>
              <a:rPr lang="zh-TW" altLang="en-US" dirty="0"/>
              <a:t> </a:t>
            </a:r>
            <a:r>
              <a:rPr lang="en-US" altLang="zh-TW" dirty="0"/>
              <a:t>to</a:t>
            </a:r>
            <a:r>
              <a:rPr lang="zh-TW" altLang="en-US" dirty="0"/>
              <a:t> </a:t>
            </a:r>
            <a:r>
              <a:rPr lang="en-US" altLang="zh-TW" dirty="0"/>
              <a:t>a</a:t>
            </a:r>
            <a:r>
              <a:rPr lang="zh-TW" altLang="en-US" dirty="0"/>
              <a:t> </a:t>
            </a:r>
            <a:r>
              <a:rPr lang="en-US" altLang="zh-TW" dirty="0"/>
              <a:t>specific</a:t>
            </a:r>
            <a:r>
              <a:rPr lang="zh-TW" altLang="en-US" dirty="0"/>
              <a:t> </a:t>
            </a:r>
            <a:r>
              <a:rPr lang="en-US" altLang="zh-TW" dirty="0"/>
              <a:t>interrupt.</a:t>
            </a:r>
          </a:p>
          <a:p>
            <a:pPr lvl="1"/>
            <a:r>
              <a:rPr kumimoji="1" lang="en-US" altLang="zh-TW" dirty="0"/>
              <a:t>It</a:t>
            </a:r>
            <a:r>
              <a:rPr kumimoji="1" lang="zh-TW" altLang="en-US" dirty="0"/>
              <a:t> </a:t>
            </a:r>
            <a:r>
              <a:rPr kumimoji="1" lang="en-US" altLang="zh-TW" dirty="0"/>
              <a:t>is</a:t>
            </a:r>
            <a:r>
              <a:rPr kumimoji="1" lang="zh-TW" altLang="en-US" dirty="0"/>
              <a:t> </a:t>
            </a:r>
            <a:r>
              <a:rPr kumimoji="1" lang="en-US" altLang="zh-TW" dirty="0"/>
              <a:t>part</a:t>
            </a:r>
            <a:r>
              <a:rPr kumimoji="1" lang="zh-TW" altLang="en-US" dirty="0"/>
              <a:t> </a:t>
            </a:r>
            <a:r>
              <a:rPr kumimoji="1" lang="en-US" altLang="zh-TW" dirty="0"/>
              <a:t>of</a:t>
            </a:r>
            <a:r>
              <a:rPr kumimoji="1" lang="zh-TW" altLang="en-US" dirty="0"/>
              <a:t> </a:t>
            </a:r>
            <a:r>
              <a:rPr kumimoji="1" lang="en-US" altLang="zh-TW" dirty="0"/>
              <a:t>a</a:t>
            </a:r>
            <a:r>
              <a:rPr kumimoji="1" lang="zh-TW" altLang="en-US" dirty="0"/>
              <a:t> </a:t>
            </a:r>
            <a:r>
              <a:rPr kumimoji="1" lang="en-US" altLang="zh-TW" dirty="0">
                <a:solidFill>
                  <a:srgbClr val="C00000"/>
                </a:solidFill>
              </a:rPr>
              <a:t>device</a:t>
            </a:r>
            <a:r>
              <a:rPr kumimoji="1" lang="zh-TW" altLang="en-US" dirty="0">
                <a:solidFill>
                  <a:srgbClr val="C00000"/>
                </a:solidFill>
              </a:rPr>
              <a:t> </a:t>
            </a:r>
            <a:r>
              <a:rPr kumimoji="1" lang="en-US" altLang="zh-TW" dirty="0">
                <a:solidFill>
                  <a:srgbClr val="C00000"/>
                </a:solidFill>
              </a:rPr>
              <a:t>driver</a:t>
            </a:r>
            <a:r>
              <a:rPr kumimoji="1" lang="zh-TW" altLang="en-US" dirty="0">
                <a:solidFill>
                  <a:srgbClr val="C00000"/>
                </a:solidFill>
              </a:rPr>
              <a:t> </a:t>
            </a:r>
            <a:r>
              <a:rPr kumimoji="1" lang="en-US" altLang="zh-TW" dirty="0"/>
              <a:t>(the</a:t>
            </a:r>
            <a:r>
              <a:rPr kumimoji="1" lang="zh-TW" altLang="en-US" dirty="0"/>
              <a:t> </a:t>
            </a:r>
            <a:r>
              <a:rPr kumimoji="1" lang="en-US" altLang="zh-TW" dirty="0">
                <a:solidFill>
                  <a:srgbClr val="C00000"/>
                </a:solidFill>
              </a:rPr>
              <a:t>kernel</a:t>
            </a:r>
            <a:r>
              <a:rPr kumimoji="1" lang="zh-TW" altLang="en-US" dirty="0">
                <a:solidFill>
                  <a:srgbClr val="C00000"/>
                </a:solidFill>
              </a:rPr>
              <a:t> </a:t>
            </a:r>
            <a:r>
              <a:rPr kumimoji="1" lang="en-US" altLang="zh-TW" dirty="0">
                <a:solidFill>
                  <a:srgbClr val="C00000"/>
                </a:solidFill>
              </a:rPr>
              <a:t>code</a:t>
            </a:r>
            <a:r>
              <a:rPr kumimoji="1" lang="zh-TW" altLang="en-US" dirty="0">
                <a:solidFill>
                  <a:srgbClr val="C00000"/>
                </a:solidFill>
              </a:rPr>
              <a:t> </a:t>
            </a:r>
            <a:r>
              <a:rPr kumimoji="1" lang="en-US" altLang="zh-TW" dirty="0"/>
              <a:t>manages</a:t>
            </a:r>
            <a:r>
              <a:rPr kumimoji="1" lang="zh-TW" altLang="en-US" dirty="0"/>
              <a:t> </a:t>
            </a:r>
            <a:r>
              <a:rPr kumimoji="1" lang="en-US" altLang="zh-TW" dirty="0"/>
              <a:t>the</a:t>
            </a:r>
            <a:r>
              <a:rPr kumimoji="1" lang="zh-TW" altLang="en-US" dirty="0"/>
              <a:t> </a:t>
            </a:r>
            <a:r>
              <a:rPr kumimoji="1" lang="en-US" altLang="zh-TW" dirty="0"/>
              <a:t>device)</a:t>
            </a:r>
          </a:p>
          <a:p>
            <a:r>
              <a:rPr lang="en-US" altLang="zh-TW" dirty="0"/>
              <a:t>Challenge: ISR is </a:t>
            </a:r>
            <a:r>
              <a:rPr lang="en-US" altLang="zh-TW" dirty="0">
                <a:solidFill>
                  <a:srgbClr val="C00000"/>
                </a:solidFill>
              </a:rPr>
              <a:t>non-</a:t>
            </a:r>
            <a:r>
              <a:rPr lang="en-US" altLang="zh-TW" dirty="0" err="1">
                <a:solidFill>
                  <a:srgbClr val="C00000"/>
                </a:solidFill>
              </a:rPr>
              <a:t>blockable</a:t>
            </a:r>
            <a:r>
              <a:rPr lang="en-US" altLang="zh-TW" dirty="0">
                <a:solidFill>
                  <a:srgbClr val="C00000"/>
                </a:solidFill>
              </a:rPr>
              <a:t> (Cannot Sleep)</a:t>
            </a:r>
            <a:r>
              <a:rPr lang="en-US" altLang="zh-TW" dirty="0"/>
              <a:t>. The handler shall run quickly, to resume execution of the interrupted code as soon as possible. </a:t>
            </a:r>
            <a:endParaRPr kumimoji="1" lang="en-US" altLang="zh-TW" dirty="0"/>
          </a:p>
          <a:p>
            <a:r>
              <a:rPr kumimoji="1" lang="en-US" altLang="zh-TW" dirty="0"/>
              <a:t>Split the ISR into two parts (Top Halves + Bottom Halves):</a:t>
            </a:r>
          </a:p>
          <a:p>
            <a:pPr lvl="1"/>
            <a:r>
              <a:rPr kumimoji="1" lang="en-US" altLang="zh-TW" dirty="0"/>
              <a:t>Top Halves: </a:t>
            </a:r>
            <a:r>
              <a:rPr lang="en-US" altLang="zh-TW" dirty="0">
                <a:solidFill>
                  <a:srgbClr val="C00000"/>
                </a:solidFill>
              </a:rPr>
              <a:t>Run immediately </a:t>
            </a:r>
            <a:r>
              <a:rPr lang="en-US" altLang="zh-TW" dirty="0"/>
              <a:t>upon receipt of the interrupt and performs only the </a:t>
            </a:r>
            <a:r>
              <a:rPr lang="en-US" altLang="zh-TW" dirty="0">
                <a:solidFill>
                  <a:srgbClr val="C00000"/>
                </a:solidFill>
              </a:rPr>
              <a:t>work that is time-critical</a:t>
            </a:r>
            <a:r>
              <a:rPr lang="en-US" altLang="zh-TW" dirty="0"/>
              <a:t>.</a:t>
            </a:r>
            <a:endParaRPr kumimoji="1" lang="en-US" altLang="zh-TW" dirty="0"/>
          </a:p>
          <a:p>
            <a:pPr lvl="1"/>
            <a:r>
              <a:rPr lang="en-US" altLang="zh-TW" dirty="0"/>
              <a:t>Bottom Halves: Work that can be performed later is </a:t>
            </a:r>
            <a:r>
              <a:rPr lang="en-US" altLang="zh-TW" dirty="0">
                <a:solidFill>
                  <a:srgbClr val="C00000"/>
                </a:solidFill>
              </a:rPr>
              <a:t>deferred</a:t>
            </a:r>
            <a:r>
              <a:rPr lang="en-US" altLang="zh-TW" dirty="0"/>
              <a:t> until the bottom half.</a:t>
            </a:r>
          </a:p>
          <a:p>
            <a:pPr lvl="1"/>
            <a:r>
              <a:rPr kumimoji="1" lang="en-US" altLang="zh-TW" dirty="0"/>
              <a:t>Example: </a:t>
            </a:r>
          </a:p>
          <a:p>
            <a:pPr marL="1371600" lvl="2" indent="-457200">
              <a:buFont typeface="+mj-lt"/>
              <a:buAutoNum type="arabicPeriod"/>
            </a:pPr>
            <a:r>
              <a:rPr kumimoji="1" lang="en-US" altLang="zh-TW" dirty="0"/>
              <a:t>A network </a:t>
            </a:r>
            <a:r>
              <a:rPr lang="en-US" altLang="zh-TW" dirty="0"/>
              <a:t>c</a:t>
            </a:r>
            <a:r>
              <a:rPr kumimoji="1" lang="en-US" altLang="zh-TW" dirty="0"/>
              <a:t>ard </a:t>
            </a:r>
            <a:r>
              <a:rPr lang="en-US" altLang="zh-TW" dirty="0"/>
              <a:t>r</a:t>
            </a:r>
            <a:r>
              <a:rPr kumimoji="1" lang="en-US" altLang="zh-TW" dirty="0"/>
              <a:t>eceived a </a:t>
            </a:r>
            <a:r>
              <a:rPr lang="en-US" altLang="zh-TW" dirty="0"/>
              <a:t>p</a:t>
            </a:r>
            <a:r>
              <a:rPr kumimoji="1" lang="en-US" altLang="zh-TW" dirty="0"/>
              <a:t>acket</a:t>
            </a:r>
            <a:r>
              <a:rPr lang="en-US" altLang="zh-TW" dirty="0"/>
              <a:t>, triggers a network device interrupt. (Interrupt low-priority interrupt, such as timer interrupt)</a:t>
            </a:r>
            <a:endParaRPr kumimoji="1" lang="en-US" altLang="zh-TW" dirty="0"/>
          </a:p>
          <a:p>
            <a:pPr marL="1371600" lvl="2" indent="-457200">
              <a:buFont typeface="+mj-lt"/>
              <a:buAutoNum type="arabicPeriod"/>
            </a:pPr>
            <a:r>
              <a:rPr lang="en-US" altLang="zh-TW" dirty="0"/>
              <a:t>Top Halves acknowledges the interrupt and performs quick actions (e.g., reading the NIC status, marking the buffer as ready).</a:t>
            </a:r>
            <a:endParaRPr kumimoji="1" lang="en-US" altLang="zh-TW" dirty="0"/>
          </a:p>
          <a:p>
            <a:pPr marL="1371600" lvl="2" indent="-457200">
              <a:buFont typeface="+mj-lt"/>
              <a:buAutoNum type="arabicPeriod"/>
            </a:pPr>
            <a:r>
              <a:rPr lang="en-US" altLang="zh-TW" dirty="0"/>
              <a:t>Bottom</a:t>
            </a:r>
            <a:r>
              <a:rPr kumimoji="1" lang="en-US" altLang="zh-TW" dirty="0"/>
              <a:t> Halves move the packet from the buffer in the network card to host memory. </a:t>
            </a:r>
          </a:p>
        </p:txBody>
      </p:sp>
      <p:sp>
        <p:nvSpPr>
          <p:cNvPr id="4" name="投影片編號版面配置區 3">
            <a:extLst>
              <a:ext uri="{FF2B5EF4-FFF2-40B4-BE49-F238E27FC236}">
                <a16:creationId xmlns:a16="http://schemas.microsoft.com/office/drawing/2014/main" id="{009481E5-4339-55E9-65B7-914221CEF4C9}"/>
              </a:ext>
            </a:extLst>
          </p:cNvPr>
          <p:cNvSpPr>
            <a:spLocks noGrp="1"/>
          </p:cNvSpPr>
          <p:nvPr>
            <p:ph type="sldNum" sz="quarter" idx="4"/>
          </p:nvPr>
        </p:nvSpPr>
        <p:spPr/>
        <p:txBody>
          <a:bodyPr/>
          <a:lstStyle/>
          <a:p>
            <a:fld id="{E24E6636-6BA5-4AAC-8485-BE8D914D288B}" type="slidenum">
              <a:rPr lang="zh-TW" altLang="en-US" smtClean="0"/>
              <a:pPr/>
              <a:t>5</a:t>
            </a:fld>
            <a:endParaRPr lang="zh-TW" altLang="en-US" dirty="0"/>
          </a:p>
        </p:txBody>
      </p:sp>
    </p:spTree>
    <p:extLst>
      <p:ext uri="{BB962C8B-B14F-4D97-AF65-F5344CB8AC3E}">
        <p14:creationId xmlns:p14="http://schemas.microsoft.com/office/powerpoint/2010/main" val="3294062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9" presetClass="emph" presetSubtype="0" nodeType="withEffect">
                                  <p:stCondLst>
                                    <p:cond delay="0"/>
                                  </p:stCondLst>
                                  <p:childTnLst>
                                    <p:set>
                                      <p:cBhvr>
                                        <p:cTn id="14" dur="indefinite"/>
                                        <p:tgtEl>
                                          <p:spTgt spid="3">
                                            <p:txEl>
                                              <p:pRg st="0" end="0"/>
                                            </p:txEl>
                                          </p:spTgt>
                                        </p:tgtEl>
                                        <p:attrNameLst>
                                          <p:attrName>style.opacity</p:attrName>
                                        </p:attrNameLst>
                                      </p:cBhvr>
                                      <p:to>
                                        <p:strVal val="0.5"/>
                                      </p:to>
                                    </p:set>
                                    <p:animEffect filter="image" prLst="opacity: 0.5">
                                      <p:cBhvr rctx="IE">
                                        <p:cTn id="15" dur="indefinite"/>
                                        <p:tgtEl>
                                          <p:spTgt spid="3">
                                            <p:txEl>
                                              <p:pRg st="0" end="0"/>
                                            </p:txEl>
                                          </p:spTgt>
                                        </p:tgtEl>
                                      </p:cBhvr>
                                    </p:animEffect>
                                  </p:childTnLst>
                                </p:cTn>
                              </p:par>
                              <p:par>
                                <p:cTn id="16" presetID="9" presetClass="emph" presetSubtype="0" nodeType="withEffect">
                                  <p:stCondLst>
                                    <p:cond delay="0"/>
                                  </p:stCondLst>
                                  <p:childTnLst>
                                    <p:set>
                                      <p:cBhvr>
                                        <p:cTn id="17" dur="indefinite"/>
                                        <p:tgtEl>
                                          <p:spTgt spid="3">
                                            <p:txEl>
                                              <p:pRg st="1" end="1"/>
                                            </p:txEl>
                                          </p:spTgt>
                                        </p:tgtEl>
                                        <p:attrNameLst>
                                          <p:attrName>style.opacity</p:attrName>
                                        </p:attrNameLst>
                                      </p:cBhvr>
                                      <p:to>
                                        <p:strVal val="0.5"/>
                                      </p:to>
                                    </p:set>
                                    <p:animEffect filter="image" prLst="opacity: 0.5">
                                      <p:cBhvr rctx="IE">
                                        <p:cTn id="18" dur="indefinite"/>
                                        <p:tgtEl>
                                          <p:spTgt spid="3">
                                            <p:txEl>
                                              <p:pRg st="1" end="1"/>
                                            </p:txEl>
                                          </p:spTgt>
                                        </p:tgtEl>
                                      </p:cBhvr>
                                    </p:animEffect>
                                  </p:childTnLst>
                                </p:cTn>
                              </p:par>
                              <p:par>
                                <p:cTn id="19" presetID="9" presetClass="emph" presetSubtype="0" nodeType="withEffect">
                                  <p:stCondLst>
                                    <p:cond delay="0"/>
                                  </p:stCondLst>
                                  <p:childTnLst>
                                    <p:set>
                                      <p:cBhvr>
                                        <p:cTn id="20" dur="indefinite"/>
                                        <p:tgtEl>
                                          <p:spTgt spid="3">
                                            <p:txEl>
                                              <p:pRg st="2" end="2"/>
                                            </p:txEl>
                                          </p:spTgt>
                                        </p:tgtEl>
                                        <p:attrNameLst>
                                          <p:attrName>style.opacity</p:attrName>
                                        </p:attrNameLst>
                                      </p:cBhvr>
                                      <p:to>
                                        <p:strVal val="0.5"/>
                                      </p:to>
                                    </p:set>
                                    <p:animEffect filter="image" prLst="opacity: 0.5">
                                      <p:cBhvr rctx="IE">
                                        <p:cTn id="21" dur="indefinite"/>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500"/>
                                        <p:tgtEl>
                                          <p:spTgt spid="3">
                                            <p:txEl>
                                              <p:pRg st="6" end="6"/>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500"/>
                                        <p:tgtEl>
                                          <p:spTgt spid="3">
                                            <p:txEl>
                                              <p:pRg st="7" end="7"/>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32691" y="1653411"/>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L3: Memory Management</a:t>
            </a:r>
          </a:p>
        </p:txBody>
      </p:sp>
      <p:sp>
        <p:nvSpPr>
          <p:cNvPr id="9" name="Rectangle 3">
            <a:extLst>
              <a:ext uri="{FF2B5EF4-FFF2-40B4-BE49-F238E27FC236}">
                <a16:creationId xmlns:a16="http://schemas.microsoft.com/office/drawing/2014/main" id="{5AFF0398-C56C-EF34-D937-57DAB24DA303}"/>
              </a:ext>
            </a:extLst>
          </p:cNvPr>
          <p:cNvSpPr txBox="1">
            <a:spLocks noChangeArrowheads="1"/>
          </p:cNvSpPr>
          <p:nvPr/>
        </p:nvSpPr>
        <p:spPr bwMode="auto">
          <a:xfrm>
            <a:off x="1132114" y="3762490"/>
            <a:ext cx="9927772" cy="1318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lvl1pPr marL="0" indent="0" algn="ctr" rtl="0" fontAlgn="base">
              <a:spcBef>
                <a:spcPct val="20000"/>
              </a:spcBef>
              <a:spcAft>
                <a:spcPct val="0"/>
              </a:spcAft>
              <a:buFontTx/>
              <a:buNone/>
              <a:defRPr kumimoji="1" sz="3200" kern="1200">
                <a:solidFill>
                  <a:srgbClr val="333333"/>
                </a:solidFill>
                <a:latin typeface="+mn-lt"/>
                <a:ea typeface="+mn-ea"/>
                <a:cs typeface="+mn-cs"/>
              </a:defRPr>
            </a:lvl1pPr>
            <a:lvl2pPr marL="742950" indent="-285750" algn="l" rtl="0" fontAlgn="base">
              <a:spcBef>
                <a:spcPct val="20000"/>
              </a:spcBef>
              <a:spcAft>
                <a:spcPct val="0"/>
              </a:spcAft>
              <a:buChar char="–"/>
              <a:defRPr kumimoji="1" sz="2800" kern="1200">
                <a:solidFill>
                  <a:srgbClr val="333333"/>
                </a:solidFill>
                <a:latin typeface="+mn-lt"/>
                <a:ea typeface="+mn-ea"/>
                <a:cs typeface="+mn-cs"/>
              </a:defRPr>
            </a:lvl2pPr>
            <a:lvl3pPr marL="1143000" indent="-228600" algn="l" rtl="0" fontAlgn="base">
              <a:spcBef>
                <a:spcPct val="20000"/>
              </a:spcBef>
              <a:spcAft>
                <a:spcPct val="0"/>
              </a:spcAft>
              <a:buChar char="•"/>
              <a:defRPr kumimoji="1" sz="2400" kern="1200">
                <a:solidFill>
                  <a:srgbClr val="333333"/>
                </a:solidFill>
                <a:latin typeface="+mn-lt"/>
                <a:ea typeface="+mn-ea"/>
                <a:cs typeface="+mn-cs"/>
              </a:defRPr>
            </a:lvl3pPr>
            <a:lvl4pPr marL="1600200" indent="-228600" algn="l" rtl="0" fontAlgn="base">
              <a:spcBef>
                <a:spcPct val="20000"/>
              </a:spcBef>
              <a:spcAft>
                <a:spcPct val="0"/>
              </a:spcAft>
              <a:buChar char="–"/>
              <a:defRPr kumimoji="1" sz="2000" kern="1200">
                <a:solidFill>
                  <a:srgbClr val="333333"/>
                </a:solidFill>
                <a:latin typeface="+mn-lt"/>
                <a:ea typeface="+mn-ea"/>
                <a:cs typeface="+mn-cs"/>
              </a:defRPr>
            </a:lvl4pPr>
            <a:lvl5pPr marL="2057400" indent="-228600" algn="l" rtl="0" fontAlgn="base">
              <a:spcBef>
                <a:spcPct val="20000"/>
              </a:spcBef>
              <a:spcAft>
                <a:spcPct val="0"/>
              </a:spcAft>
              <a:buChar char="»"/>
              <a:defRPr kumimoji="1" sz="20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TW" sz="2800" b="1" dirty="0">
                <a:solidFill>
                  <a:schemeClr val="tx1"/>
                </a:solidFill>
                <a:latin typeface="Palatino Linotype" panose="02040502050505030304" pitchFamily="18" charset="0"/>
                <a:ea typeface="新細明體"/>
              </a:rPr>
              <a:t>Chun-Feng Wu (</a:t>
            </a:r>
            <a:r>
              <a:rPr lang="zh-TW" altLang="en-US" sz="2800" b="1" dirty="0">
                <a:solidFill>
                  <a:schemeClr val="tx1"/>
                </a:solidFill>
                <a:latin typeface="Kaiti TC" panose="02010600040101010101" pitchFamily="2" charset="-120"/>
                <a:ea typeface="Kaiti TC" panose="02010600040101010101" pitchFamily="2" charset="-120"/>
              </a:rPr>
              <a:t>吳俊峯</a:t>
            </a:r>
            <a:r>
              <a:rPr lang="en-US" altLang="zh-TW" sz="2800" b="1" dirty="0">
                <a:solidFill>
                  <a:schemeClr val="tx1"/>
                </a:solidFill>
                <a:latin typeface="Palatino Linotype" panose="02040502050505030304" pitchFamily="18" charset="0"/>
                <a:ea typeface="新細明體"/>
              </a:rPr>
              <a:t>)</a:t>
            </a:r>
          </a:p>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TW" sz="2000" b="1" dirty="0">
                <a:solidFill>
                  <a:schemeClr val="tx1"/>
                </a:solidFill>
                <a:latin typeface="Palatino Linotype" panose="02040502050505030304" pitchFamily="18" charset="0"/>
                <a:ea typeface="新細明體"/>
              </a:rPr>
              <a:t>Assistant</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Professor, National</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Yang</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Ming</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Chiao</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Tung</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University</a:t>
            </a:r>
          </a:p>
        </p:txBody>
      </p:sp>
      <p:grpSp>
        <p:nvGrpSpPr>
          <p:cNvPr id="10" name="Group 17">
            <a:extLst>
              <a:ext uri="{FF2B5EF4-FFF2-40B4-BE49-F238E27FC236}">
                <a16:creationId xmlns:a16="http://schemas.microsoft.com/office/drawing/2014/main" id="{89C9EB9B-D847-8763-647D-4A1AC557E2CA}"/>
              </a:ext>
            </a:extLst>
          </p:cNvPr>
          <p:cNvGrpSpPr/>
          <p:nvPr/>
        </p:nvGrpSpPr>
        <p:grpSpPr>
          <a:xfrm>
            <a:off x="4539533" y="4639104"/>
            <a:ext cx="3482385" cy="1144694"/>
            <a:chOff x="4604975" y="4666826"/>
            <a:chExt cx="3482385" cy="1144694"/>
          </a:xfrm>
        </p:grpSpPr>
        <p:sp>
          <p:nvSpPr>
            <p:cNvPr id="11" name="Rectangle 1">
              <a:extLst>
                <a:ext uri="{FF2B5EF4-FFF2-40B4-BE49-F238E27FC236}">
                  <a16:creationId xmlns:a16="http://schemas.microsoft.com/office/drawing/2014/main" id="{38E8E4F6-0E2B-B4A8-C878-7642B7F99112}"/>
                </a:ext>
              </a:extLst>
            </p:cNvPr>
            <p:cNvSpPr/>
            <p:nvPr/>
          </p:nvSpPr>
          <p:spPr>
            <a:xfrm>
              <a:off x="6003635" y="4666826"/>
              <a:ext cx="184730" cy="461665"/>
            </a:xfrm>
            <a:prstGeom prst="rect">
              <a:avLst/>
            </a:prstGeom>
          </p:spPr>
          <p:txBody>
            <a:bodyPr wrap="none">
              <a:spAutoFit/>
            </a:bodyPr>
            <a:lstStyle/>
            <a:p>
              <a:pPr lvl="0" algn="ctr">
                <a:defRPr/>
              </a:pPr>
              <a:endParaRPr kumimoji="1" lang="en-US" altLang="zh-TW" sz="2400" dirty="0">
                <a:solidFill>
                  <a:schemeClr val="bg1"/>
                </a:solidFill>
                <a:latin typeface="Palatino Linotype"/>
                <a:ea typeface="新細明體"/>
              </a:endParaRPr>
            </a:p>
          </p:txBody>
        </p:sp>
        <p:sp>
          <p:nvSpPr>
            <p:cNvPr id="12" name="Rectangle 3">
              <a:extLst>
                <a:ext uri="{FF2B5EF4-FFF2-40B4-BE49-F238E27FC236}">
                  <a16:creationId xmlns:a16="http://schemas.microsoft.com/office/drawing/2014/main" id="{65F24944-F567-4E32-2237-25794D664663}"/>
                </a:ext>
              </a:extLst>
            </p:cNvPr>
            <p:cNvSpPr txBox="1">
              <a:spLocks noChangeArrowheads="1"/>
            </p:cNvSpPr>
            <p:nvPr/>
          </p:nvSpPr>
          <p:spPr bwMode="auto">
            <a:xfrm>
              <a:off x="4911634" y="4786024"/>
              <a:ext cx="3175726" cy="1025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lvl1pPr marL="0" indent="0" algn="ctr" rtl="0" fontAlgn="base">
                <a:spcBef>
                  <a:spcPct val="20000"/>
                </a:spcBef>
                <a:spcAft>
                  <a:spcPct val="0"/>
                </a:spcAft>
                <a:buFontTx/>
                <a:buNone/>
                <a:defRPr kumimoji="1" sz="3200" kern="1200">
                  <a:solidFill>
                    <a:srgbClr val="333333"/>
                  </a:solidFill>
                  <a:latin typeface="+mn-lt"/>
                  <a:ea typeface="+mn-ea"/>
                  <a:cs typeface="+mn-cs"/>
                </a:defRPr>
              </a:lvl1pPr>
              <a:lvl2pPr marL="742950" indent="-285750" algn="l" rtl="0" fontAlgn="base">
                <a:spcBef>
                  <a:spcPct val="20000"/>
                </a:spcBef>
                <a:spcAft>
                  <a:spcPct val="0"/>
                </a:spcAft>
                <a:buChar char="–"/>
                <a:defRPr kumimoji="1" sz="2800" kern="1200">
                  <a:solidFill>
                    <a:srgbClr val="333333"/>
                  </a:solidFill>
                  <a:latin typeface="+mn-lt"/>
                  <a:ea typeface="+mn-ea"/>
                  <a:cs typeface="+mn-cs"/>
                </a:defRPr>
              </a:lvl2pPr>
              <a:lvl3pPr marL="1143000" indent="-228600" algn="l" rtl="0" fontAlgn="base">
                <a:spcBef>
                  <a:spcPct val="20000"/>
                </a:spcBef>
                <a:spcAft>
                  <a:spcPct val="0"/>
                </a:spcAft>
                <a:buChar char="•"/>
                <a:defRPr kumimoji="1" sz="2400" kern="1200">
                  <a:solidFill>
                    <a:srgbClr val="333333"/>
                  </a:solidFill>
                  <a:latin typeface="+mn-lt"/>
                  <a:ea typeface="+mn-ea"/>
                  <a:cs typeface="+mn-cs"/>
                </a:defRPr>
              </a:lvl3pPr>
              <a:lvl4pPr marL="1600200" indent="-228600" algn="l" rtl="0" fontAlgn="base">
                <a:spcBef>
                  <a:spcPct val="20000"/>
                </a:spcBef>
                <a:spcAft>
                  <a:spcPct val="0"/>
                </a:spcAft>
                <a:buChar char="–"/>
                <a:defRPr kumimoji="1" sz="2000" kern="1200">
                  <a:solidFill>
                    <a:srgbClr val="333333"/>
                  </a:solidFill>
                  <a:latin typeface="+mn-lt"/>
                  <a:ea typeface="+mn-ea"/>
                  <a:cs typeface="+mn-cs"/>
                </a:defRPr>
              </a:lvl4pPr>
              <a:lvl5pPr marL="2057400" indent="-228600" algn="l" rtl="0" fontAlgn="base">
                <a:spcBef>
                  <a:spcPct val="20000"/>
                </a:spcBef>
                <a:spcAft>
                  <a:spcPct val="0"/>
                </a:spcAft>
                <a:buChar char="»"/>
                <a:defRPr kumimoji="1" sz="20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n-US" altLang="zh-TW" sz="1800" u="sng" dirty="0">
                  <a:solidFill>
                    <a:schemeClr val="tx1">
                      <a:lumMod val="75000"/>
                      <a:lumOff val="25000"/>
                    </a:schemeClr>
                  </a:solidFill>
                  <a:latin typeface="Palatino Linotype" panose="02040502050505030304" pitchFamily="18" charset="0"/>
                  <a:ea typeface="新細明體"/>
                  <a:hlinkClick r:id="rId3">
                    <a:extLst>
                      <a:ext uri="{A12FA001-AC4F-418D-AE19-62706E023703}">
                        <ahyp:hlinkClr xmlns:ahyp="http://schemas.microsoft.com/office/drawing/2018/hyperlinkcolor" val="tx"/>
                      </a:ext>
                    </a:extLst>
                  </a:hlinkClick>
                </a:rPr>
                <a:t>cfwu417@</a:t>
              </a:r>
              <a:r>
                <a:rPr lang="en-US" altLang="zh-TW" sz="1800" u="sng" dirty="0">
                  <a:solidFill>
                    <a:schemeClr val="tx1">
                      <a:lumMod val="75000"/>
                      <a:lumOff val="25000"/>
                    </a:schemeClr>
                  </a:solidFill>
                  <a:latin typeface="Palatino Linotype" panose="02040502050505030304" pitchFamily="18" charset="0"/>
                  <a:ea typeface="新細明體"/>
                </a:rPr>
                <a:t>cs.nycu.edu.tw</a:t>
              </a:r>
            </a:p>
            <a:p>
              <a:pPr marL="0" marR="0" lvl="0" indent="0" algn="l" defTabSz="914400" rtl="0" eaLnBrk="1" fontAlgn="base" latinLnBrk="0" hangingPunct="1">
                <a:lnSpc>
                  <a:spcPct val="100000"/>
                </a:lnSpc>
                <a:spcBef>
                  <a:spcPct val="20000"/>
                </a:spcBef>
                <a:spcAft>
                  <a:spcPct val="0"/>
                </a:spcAft>
                <a:buClrTx/>
                <a:buSzTx/>
                <a:buFontTx/>
                <a:buNone/>
                <a:tabLst/>
                <a:defRPr/>
              </a:pPr>
              <a:r>
                <a:rPr lang="en-US" altLang="zh-TW" sz="1800" dirty="0">
                  <a:solidFill>
                    <a:schemeClr val="tx1">
                      <a:lumMod val="75000"/>
                      <a:lumOff val="25000"/>
                    </a:schemeClr>
                  </a:solidFill>
                  <a:latin typeface="Palatino Linotype" panose="02040502050505030304" pitchFamily="18" charset="0"/>
                  <a:ea typeface="新細明體"/>
                  <a:hlinkClick r:id="rId4">
                    <a:extLst>
                      <a:ext uri="{A12FA001-AC4F-418D-AE19-62706E023703}">
                        <ahyp:hlinkClr xmlns:ahyp="http://schemas.microsoft.com/office/drawing/2018/hyperlinkcolor" val="tx"/>
                      </a:ext>
                    </a:extLst>
                  </a:hlinkClick>
                </a:rPr>
                <a:t>https://cfwu417.github.io</a:t>
              </a:r>
              <a:endParaRPr lang="en-US" altLang="zh-TW" sz="1800" dirty="0">
                <a:solidFill>
                  <a:schemeClr val="tx1">
                    <a:lumMod val="75000"/>
                    <a:lumOff val="25000"/>
                  </a:schemeClr>
                </a:solidFill>
                <a:latin typeface="Palatino Linotype" panose="02040502050505030304" pitchFamily="18" charset="0"/>
                <a:ea typeface="新細明體"/>
              </a:endParaRPr>
            </a:p>
          </p:txBody>
        </p:sp>
        <p:pic>
          <p:nvPicPr>
            <p:cNvPr id="13" name="Picture 14" descr="Shape&#10;&#10;Description automatically generated with low confidence">
              <a:extLst>
                <a:ext uri="{FF2B5EF4-FFF2-40B4-BE49-F238E27FC236}">
                  <a16:creationId xmlns:a16="http://schemas.microsoft.com/office/drawing/2014/main" id="{505174C7-FCE3-7C3B-8944-531A7458B502}"/>
                </a:ext>
              </a:extLst>
            </p:cNvPr>
            <p:cNvPicPr>
              <a:picLocks noChangeAspect="1"/>
            </p:cNvPicPr>
            <p:nvPr/>
          </p:nvPicPr>
          <p:blipFill>
            <a:blip r:embed="rId5">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4604975" y="4972996"/>
              <a:ext cx="360000" cy="360000"/>
            </a:xfrm>
            <a:prstGeom prst="rect">
              <a:avLst/>
            </a:prstGeom>
          </p:spPr>
        </p:pic>
        <p:pic>
          <p:nvPicPr>
            <p:cNvPr id="14" name="Picture 16" descr="Shape&#10;&#10;Description automatically generated with low confidence">
              <a:extLst>
                <a:ext uri="{FF2B5EF4-FFF2-40B4-BE49-F238E27FC236}">
                  <a16:creationId xmlns:a16="http://schemas.microsoft.com/office/drawing/2014/main" id="{97C273A0-DE4B-A1A6-8CD5-00C49E144049}"/>
                </a:ext>
              </a:extLst>
            </p:cNvPr>
            <p:cNvPicPr>
              <a:picLocks noChangeAspect="1"/>
            </p:cNvPicPr>
            <p:nvPr/>
          </p:nvPicPr>
          <p:blipFill>
            <a:blip r:embed="rId6">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4604975" y="5301873"/>
              <a:ext cx="360000" cy="360000"/>
            </a:xfrm>
            <a:prstGeom prst="rect">
              <a:avLst/>
            </a:prstGeom>
          </p:spPr>
        </p:pic>
      </p:grpSp>
    </p:spTree>
    <p:extLst>
      <p:ext uri="{BB962C8B-B14F-4D97-AF65-F5344CB8AC3E}">
        <p14:creationId xmlns:p14="http://schemas.microsoft.com/office/powerpoint/2010/main" val="1831537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latin typeface="+mn-lt"/>
              </a:rPr>
              <a:t>Agenda</a:t>
            </a:r>
            <a:endParaRPr kumimoji="1" lang="zh-TW" altLang="en-US" sz="4000" dirty="0">
              <a:latin typeface="+mn-lt"/>
            </a:endParaRP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lang="en-US" altLang="zh-TW" dirty="0">
                <a:solidFill>
                  <a:schemeClr val="tx1"/>
                </a:solidFill>
              </a:rPr>
              <a:t>Physical Memory Management</a:t>
            </a:r>
          </a:p>
          <a:p>
            <a:pPr lvl="1" algn="l"/>
            <a:r>
              <a:rPr lang="en-US" altLang="zh-TW" dirty="0"/>
              <a:t>Basic Concept: Page vs (Page) Frame</a:t>
            </a:r>
          </a:p>
          <a:p>
            <a:pPr lvl="1" algn="l"/>
            <a:r>
              <a:rPr lang="en-US" altLang="zh-TW" dirty="0"/>
              <a:t>Manage Kernel Physical Address (Page, Zone, Node)</a:t>
            </a:r>
          </a:p>
          <a:p>
            <a:pPr lvl="1" algn="l"/>
            <a:r>
              <a:rPr lang="en-US" altLang="zh-TW" dirty="0">
                <a:solidFill>
                  <a:schemeClr val="tx1"/>
                </a:solidFill>
              </a:rPr>
              <a:t>Memory Allocation: First Fit, Best Fit, Worst Fit, Buddy, Slab Allocator</a:t>
            </a:r>
            <a:endParaRPr lang="en-US" altLang="zh-TW" dirty="0"/>
          </a:p>
          <a:p>
            <a:pPr algn="l"/>
            <a:r>
              <a:rPr lang="en-US" altLang="zh-TW" dirty="0"/>
              <a:t>Virtual Memory Management</a:t>
            </a:r>
          </a:p>
          <a:p>
            <a:pPr lvl="1" algn="l"/>
            <a:r>
              <a:rPr lang="en-US" altLang="zh-TW" dirty="0"/>
              <a:t>Virtual Memory Area (VMA)</a:t>
            </a:r>
          </a:p>
          <a:p>
            <a:pPr lvl="1" algn="l"/>
            <a:r>
              <a:rPr lang="en-US" altLang="zh-TW" dirty="0"/>
              <a:t>How CPU Walks Page Table</a:t>
            </a:r>
          </a:p>
          <a:p>
            <a:pPr algn="l"/>
            <a:r>
              <a:rPr lang="en-US" altLang="zh-TW" dirty="0">
                <a:solidFill>
                  <a:schemeClr val="tx1"/>
                </a:solidFill>
              </a:rPr>
              <a:t>Advance</a:t>
            </a:r>
            <a:r>
              <a:rPr lang="zh-TW" altLang="en-US" dirty="0">
                <a:solidFill>
                  <a:schemeClr val="tx1"/>
                </a:solidFill>
              </a:rPr>
              <a:t> </a:t>
            </a:r>
            <a:r>
              <a:rPr lang="en-US" altLang="zh-TW" dirty="0">
                <a:solidFill>
                  <a:schemeClr val="tx1"/>
                </a:solidFill>
              </a:rPr>
              <a:t>Research Topics </a:t>
            </a: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7</a:t>
            </a:fld>
            <a:endParaRPr lang="zh-TW" altLang="en-US" dirty="0"/>
          </a:p>
        </p:txBody>
      </p:sp>
    </p:spTree>
    <p:extLst>
      <p:ext uri="{BB962C8B-B14F-4D97-AF65-F5344CB8AC3E}">
        <p14:creationId xmlns:p14="http://schemas.microsoft.com/office/powerpoint/2010/main" val="3537095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2">
            <a:extLst>
              <a:ext uri="{FF2B5EF4-FFF2-40B4-BE49-F238E27FC236}">
                <a16:creationId xmlns:a16="http://schemas.microsoft.com/office/drawing/2014/main" id="{BF106409-5FB6-17A2-3074-81368DA5E316}"/>
              </a:ext>
            </a:extLst>
          </p:cNvPr>
          <p:cNvSpPr>
            <a:spLocks noGrp="1"/>
          </p:cNvSpPr>
          <p:nvPr>
            <p:ph idx="1"/>
          </p:nvPr>
        </p:nvSpPr>
        <p:spPr>
          <a:xfrm>
            <a:off x="177800" y="1238250"/>
            <a:ext cx="11836400" cy="5441950"/>
          </a:xfrm>
        </p:spPr>
        <p:txBody>
          <a:bodyPr>
            <a:normAutofit/>
          </a:bodyPr>
          <a:lstStyle/>
          <a:p>
            <a:pPr algn="l"/>
            <a:r>
              <a:rPr lang="en-US" altLang="zh-TW" dirty="0">
                <a:solidFill>
                  <a:schemeClr val="tx1"/>
                </a:solidFill>
              </a:rPr>
              <a:t>Page Frame: Partition </a:t>
            </a:r>
            <a:r>
              <a:rPr lang="en-US" altLang="zh-TW" dirty="0">
                <a:solidFill>
                  <a:srgbClr val="C00000"/>
                </a:solidFill>
              </a:rPr>
              <a:t>physical address space</a:t>
            </a:r>
            <a:r>
              <a:rPr lang="en-US" altLang="zh-TW" dirty="0">
                <a:solidFill>
                  <a:schemeClr val="tx1"/>
                </a:solidFill>
              </a:rPr>
              <a:t> to chunks with the same size</a:t>
            </a:r>
          </a:p>
          <a:p>
            <a:pPr algn="l"/>
            <a:r>
              <a:rPr lang="en-US" altLang="zh-TW" dirty="0">
                <a:solidFill>
                  <a:schemeClr val="tx1"/>
                </a:solidFill>
              </a:rPr>
              <a:t>Page (Virtual): Partition </a:t>
            </a:r>
            <a:r>
              <a:rPr lang="en-US" altLang="zh-TW" dirty="0">
                <a:solidFill>
                  <a:srgbClr val="C00000"/>
                </a:solidFill>
              </a:rPr>
              <a:t>virtual address space </a:t>
            </a:r>
            <a:r>
              <a:rPr lang="en-US" altLang="zh-TW" dirty="0">
                <a:solidFill>
                  <a:schemeClr val="tx1"/>
                </a:solidFill>
              </a:rPr>
              <a:t>to chunks with the same size</a:t>
            </a:r>
          </a:p>
        </p:txBody>
      </p:sp>
      <p:sp>
        <p:nvSpPr>
          <p:cNvPr id="4" name="投影片編號版面配置區 3">
            <a:extLst>
              <a:ext uri="{FF2B5EF4-FFF2-40B4-BE49-F238E27FC236}">
                <a16:creationId xmlns:a16="http://schemas.microsoft.com/office/drawing/2014/main" id="{4D1F3AAD-527D-3021-3075-824148F76CD9}"/>
              </a:ext>
            </a:extLst>
          </p:cNvPr>
          <p:cNvSpPr>
            <a:spLocks noGrp="1"/>
          </p:cNvSpPr>
          <p:nvPr>
            <p:ph type="sldNum" sz="quarter" idx="4"/>
          </p:nvPr>
        </p:nvSpPr>
        <p:spPr/>
        <p:txBody>
          <a:bodyPr/>
          <a:lstStyle/>
          <a:p>
            <a:fld id="{E24E6636-6BA5-4AAC-8485-BE8D914D288B}" type="slidenum">
              <a:rPr lang="zh-TW" altLang="en-US" smtClean="0"/>
              <a:pPr/>
              <a:t>8</a:t>
            </a:fld>
            <a:endParaRPr lang="zh-TW" altLang="en-US" dirty="0"/>
          </a:p>
        </p:txBody>
      </p:sp>
      <p:sp>
        <p:nvSpPr>
          <p:cNvPr id="5" name="文字方塊 4">
            <a:extLst>
              <a:ext uri="{FF2B5EF4-FFF2-40B4-BE49-F238E27FC236}">
                <a16:creationId xmlns:a16="http://schemas.microsoft.com/office/drawing/2014/main" id="{6D6265D2-8D3F-17E2-AF78-E4953EA92989}"/>
              </a:ext>
            </a:extLst>
          </p:cNvPr>
          <p:cNvSpPr txBox="1"/>
          <p:nvPr/>
        </p:nvSpPr>
        <p:spPr>
          <a:xfrm>
            <a:off x="1367480" y="3451393"/>
            <a:ext cx="8593455" cy="1015663"/>
          </a:xfrm>
          <a:prstGeom prst="rect">
            <a:avLst/>
          </a:prstGeom>
          <a:noFill/>
          <a:ln w="19050">
            <a:solidFill>
              <a:schemeClr val="tx1"/>
            </a:solidFill>
          </a:ln>
        </p:spPr>
        <p:txBody>
          <a:bodyPr wrap="square" rtlCol="0">
            <a:spAutoFit/>
          </a:bodyPr>
          <a:lstStyle/>
          <a:p>
            <a:pPr algn="ctr"/>
            <a:r>
              <a:rPr kumimoji="1" lang="en-US" altLang="zh-TW" sz="2000" dirty="0">
                <a:solidFill>
                  <a:srgbClr val="C00000"/>
                </a:solidFill>
              </a:rPr>
              <a:t>Physical vs Virtual Addresses</a:t>
            </a:r>
          </a:p>
          <a:p>
            <a:pPr algn="ctr"/>
            <a:r>
              <a:rPr kumimoji="1" lang="en-US" altLang="zh-TW" sz="2000" dirty="0"/>
              <a:t>Physical: The location where the data </a:t>
            </a:r>
            <a:r>
              <a:rPr kumimoji="1" lang="en-US" altLang="zh-TW" sz="2000" dirty="0">
                <a:solidFill>
                  <a:srgbClr val="C00000"/>
                </a:solidFill>
              </a:rPr>
              <a:t>actually stored </a:t>
            </a:r>
            <a:r>
              <a:rPr kumimoji="1" lang="en-US" altLang="zh-TW" sz="2000" dirty="0"/>
              <a:t>on the device. (Page Frame)</a:t>
            </a:r>
          </a:p>
          <a:p>
            <a:pPr algn="ctr"/>
            <a:r>
              <a:rPr kumimoji="1" lang="en-US" altLang="zh-TW" sz="2000" dirty="0"/>
              <a:t>Virtual: The location where the </a:t>
            </a:r>
            <a:r>
              <a:rPr kumimoji="1" lang="en-US" altLang="zh-TW" sz="2000" dirty="0">
                <a:solidFill>
                  <a:srgbClr val="C00000"/>
                </a:solidFill>
              </a:rPr>
              <a:t>programmers think </a:t>
            </a:r>
            <a:r>
              <a:rPr kumimoji="1" lang="en-US" altLang="zh-TW" sz="2000" dirty="0"/>
              <a:t>the data is. (Page)</a:t>
            </a:r>
          </a:p>
        </p:txBody>
      </p:sp>
      <p:sp>
        <p:nvSpPr>
          <p:cNvPr id="3" name="標題 1">
            <a:extLst>
              <a:ext uri="{FF2B5EF4-FFF2-40B4-BE49-F238E27FC236}">
                <a16:creationId xmlns:a16="http://schemas.microsoft.com/office/drawing/2014/main" id="{015F70FC-F4AF-8CBF-50C4-618A478D09FC}"/>
              </a:ext>
            </a:extLst>
          </p:cNvPr>
          <p:cNvSpPr>
            <a:spLocks noGrp="1"/>
          </p:cNvSpPr>
          <p:nvPr>
            <p:ph type="title"/>
          </p:nvPr>
        </p:nvSpPr>
        <p:spPr>
          <a:xfrm>
            <a:off x="177800" y="174625"/>
            <a:ext cx="11836400" cy="1063625"/>
          </a:xfrm>
        </p:spPr>
        <p:txBody>
          <a:bodyPr>
            <a:normAutofit/>
          </a:bodyPr>
          <a:lstStyle/>
          <a:p>
            <a:r>
              <a:rPr lang="en-US" altLang="zh-TW" sz="4000" dirty="0">
                <a:solidFill>
                  <a:srgbClr val="C00000"/>
                </a:solidFill>
                <a:latin typeface="+mn-lt"/>
              </a:rPr>
              <a:t>Recall:</a:t>
            </a:r>
            <a:r>
              <a:rPr lang="en-US" altLang="zh-TW" sz="4000" dirty="0">
                <a:latin typeface="+mn-lt"/>
              </a:rPr>
              <a:t> Basic Concepts of Memory Management</a:t>
            </a:r>
            <a:endParaRPr kumimoji="1" lang="zh-TW" altLang="en-US" sz="4000" dirty="0">
              <a:latin typeface="+mn-lt"/>
            </a:endParaRPr>
          </a:p>
        </p:txBody>
      </p:sp>
    </p:spTree>
    <p:extLst>
      <p:ext uri="{BB962C8B-B14F-4D97-AF65-F5344CB8AC3E}">
        <p14:creationId xmlns:p14="http://schemas.microsoft.com/office/powerpoint/2010/main" val="4044360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solidFill>
                  <a:srgbClr val="C00000"/>
                </a:solidFill>
                <a:latin typeface="+mn-lt"/>
              </a:rPr>
              <a:t>Recall:</a:t>
            </a:r>
            <a:r>
              <a:rPr lang="en-US" altLang="zh-TW" sz="4000" dirty="0">
                <a:latin typeface="+mn-lt"/>
              </a:rPr>
              <a:t> Basic Concepts of Memory Management</a:t>
            </a:r>
            <a:endParaRPr kumimoji="1" lang="zh-TW" altLang="en-US" sz="4000" dirty="0">
              <a:latin typeface="+mn-lt"/>
            </a:endParaRP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lang="en-US" altLang="zh-TW" dirty="0">
                <a:solidFill>
                  <a:schemeClr val="tx1"/>
                </a:solidFill>
              </a:rPr>
              <a:t>Page Frame: Partition </a:t>
            </a:r>
            <a:r>
              <a:rPr lang="en-US" altLang="zh-TW" dirty="0">
                <a:solidFill>
                  <a:srgbClr val="C00000"/>
                </a:solidFill>
              </a:rPr>
              <a:t>physical address space</a:t>
            </a:r>
            <a:r>
              <a:rPr lang="en-US" altLang="zh-TW" dirty="0">
                <a:solidFill>
                  <a:schemeClr val="tx1"/>
                </a:solidFill>
              </a:rPr>
              <a:t> to chunks with the same size</a:t>
            </a:r>
          </a:p>
          <a:p>
            <a:pPr algn="l"/>
            <a:r>
              <a:rPr lang="en-US" altLang="zh-TW" dirty="0">
                <a:solidFill>
                  <a:schemeClr val="tx1"/>
                </a:solidFill>
              </a:rPr>
              <a:t>Page (Virtual): Partition </a:t>
            </a:r>
            <a:r>
              <a:rPr lang="en-US" altLang="zh-TW" dirty="0">
                <a:solidFill>
                  <a:srgbClr val="C00000"/>
                </a:solidFill>
              </a:rPr>
              <a:t>virtual address space </a:t>
            </a:r>
            <a:r>
              <a:rPr lang="en-US" altLang="zh-TW" dirty="0">
                <a:solidFill>
                  <a:schemeClr val="tx1"/>
                </a:solidFill>
              </a:rPr>
              <a:t>to chunks with the same size</a:t>
            </a:r>
          </a:p>
          <a:p>
            <a:pPr algn="l"/>
            <a:r>
              <a:rPr lang="en-US" altLang="zh-TW" dirty="0">
                <a:solidFill>
                  <a:schemeClr val="tx1"/>
                </a:solidFill>
              </a:rPr>
              <a:t>Kernel manages all page frames and maintains page tables.</a:t>
            </a:r>
          </a:p>
          <a:p>
            <a:pPr lvl="1" algn="l"/>
            <a:r>
              <a:rPr lang="en-US" altLang="zh-TW" dirty="0">
                <a:solidFill>
                  <a:schemeClr val="tx1"/>
                </a:solidFill>
              </a:rPr>
              <a:t>How to manage each page frame</a:t>
            </a:r>
          </a:p>
          <a:p>
            <a:pPr lvl="1" algn="l"/>
            <a:r>
              <a:rPr lang="en-US" altLang="zh-TW" dirty="0">
                <a:solidFill>
                  <a:schemeClr val="tx1"/>
                </a:solidFill>
              </a:rPr>
              <a:t>How to do the allocation</a:t>
            </a: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9</a:t>
            </a:fld>
            <a:endParaRPr lang="zh-TW" altLang="en-US" dirty="0"/>
          </a:p>
        </p:txBody>
      </p:sp>
      <p:sp>
        <p:nvSpPr>
          <p:cNvPr id="5" name="文字方塊 4">
            <a:extLst>
              <a:ext uri="{FF2B5EF4-FFF2-40B4-BE49-F238E27FC236}">
                <a16:creationId xmlns:a16="http://schemas.microsoft.com/office/drawing/2014/main" id="{2F2B47F2-1580-3D89-01CB-00DAB1E82D62}"/>
              </a:ext>
            </a:extLst>
          </p:cNvPr>
          <p:cNvSpPr txBox="1"/>
          <p:nvPr/>
        </p:nvSpPr>
        <p:spPr>
          <a:xfrm>
            <a:off x="5724383" y="3957638"/>
            <a:ext cx="184731" cy="369332"/>
          </a:xfrm>
          <a:prstGeom prst="rect">
            <a:avLst/>
          </a:prstGeom>
          <a:noFill/>
        </p:spPr>
        <p:txBody>
          <a:bodyPr wrap="none" rtlCol="0">
            <a:spAutoFit/>
          </a:bodyPr>
          <a:lstStyle/>
          <a:p>
            <a:endParaRPr kumimoji="1" lang="zh-TW" altLang="en-US" dirty="0"/>
          </a:p>
        </p:txBody>
      </p:sp>
      <p:sp>
        <p:nvSpPr>
          <p:cNvPr id="7" name="矩形 6">
            <a:extLst>
              <a:ext uri="{FF2B5EF4-FFF2-40B4-BE49-F238E27FC236}">
                <a16:creationId xmlns:a16="http://schemas.microsoft.com/office/drawing/2014/main" id="{BD922497-EF95-A94F-566E-CBBC2C5FB0B2}"/>
              </a:ext>
            </a:extLst>
          </p:cNvPr>
          <p:cNvSpPr/>
          <p:nvPr/>
        </p:nvSpPr>
        <p:spPr>
          <a:xfrm>
            <a:off x="1869902" y="5097954"/>
            <a:ext cx="9377830" cy="1037553"/>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9" name="文字方塊 8">
            <a:extLst>
              <a:ext uri="{FF2B5EF4-FFF2-40B4-BE49-F238E27FC236}">
                <a16:creationId xmlns:a16="http://schemas.microsoft.com/office/drawing/2014/main" id="{8C7ECDC7-CA4F-92DB-BCC6-FFE561C27B61}"/>
              </a:ext>
            </a:extLst>
          </p:cNvPr>
          <p:cNvSpPr txBox="1"/>
          <p:nvPr/>
        </p:nvSpPr>
        <p:spPr>
          <a:xfrm>
            <a:off x="4880038" y="6485188"/>
            <a:ext cx="3193567" cy="338554"/>
          </a:xfrm>
          <a:prstGeom prst="rect">
            <a:avLst/>
          </a:prstGeom>
          <a:noFill/>
        </p:spPr>
        <p:txBody>
          <a:bodyPr wrap="none" rtlCol="0">
            <a:spAutoFit/>
          </a:bodyPr>
          <a:lstStyle/>
          <a:p>
            <a:r>
              <a:rPr kumimoji="1" lang="en-US" altLang="zh-TW" sz="1600" dirty="0"/>
              <a:t>Physical</a:t>
            </a:r>
            <a:r>
              <a:rPr kumimoji="1" lang="zh-TW" altLang="en-US" sz="1600" dirty="0"/>
              <a:t> </a:t>
            </a:r>
            <a:r>
              <a:rPr kumimoji="1" lang="en-US" altLang="zh-TW" sz="1600" dirty="0"/>
              <a:t>Address Space</a:t>
            </a:r>
            <a:r>
              <a:rPr kumimoji="1" lang="zh-TW" altLang="en-US" sz="1600" dirty="0"/>
              <a:t> </a:t>
            </a:r>
            <a:r>
              <a:rPr kumimoji="1" lang="en-US" altLang="zh-TW" sz="1600" dirty="0"/>
              <a:t>(e.g.,</a:t>
            </a:r>
            <a:r>
              <a:rPr kumimoji="1" lang="zh-TW" altLang="en-US" sz="1600" dirty="0"/>
              <a:t> </a:t>
            </a:r>
            <a:r>
              <a:rPr kumimoji="1" lang="en-US" altLang="zh-TW" sz="1600" dirty="0"/>
              <a:t>DRAM)</a:t>
            </a:r>
            <a:endParaRPr kumimoji="1" lang="zh-TW" altLang="en-US" sz="1600" dirty="0"/>
          </a:p>
        </p:txBody>
      </p:sp>
      <p:sp>
        <p:nvSpPr>
          <p:cNvPr id="32" name="矩形 31">
            <a:extLst>
              <a:ext uri="{FF2B5EF4-FFF2-40B4-BE49-F238E27FC236}">
                <a16:creationId xmlns:a16="http://schemas.microsoft.com/office/drawing/2014/main" id="{3E6CF605-754E-E273-CC94-473C2D2E9678}"/>
              </a:ext>
            </a:extLst>
          </p:cNvPr>
          <p:cNvSpPr/>
          <p:nvPr/>
        </p:nvSpPr>
        <p:spPr>
          <a:xfrm>
            <a:off x="1869901" y="3429000"/>
            <a:ext cx="2907714" cy="1328824"/>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rPr>
              <a:t>CPU</a:t>
            </a:r>
            <a:endParaRPr kumimoji="1" lang="zh-TW" altLang="en-US" sz="1400" dirty="0">
              <a:solidFill>
                <a:schemeClr val="tx1"/>
              </a:solidFill>
            </a:endParaRPr>
          </a:p>
        </p:txBody>
      </p:sp>
      <p:sp>
        <p:nvSpPr>
          <p:cNvPr id="126" name="圓角矩形圖說文字 125">
            <a:extLst>
              <a:ext uri="{FF2B5EF4-FFF2-40B4-BE49-F238E27FC236}">
                <a16:creationId xmlns:a16="http://schemas.microsoft.com/office/drawing/2014/main" id="{174A7A8B-C5FC-FE60-6BE2-2181E8F69DBD}"/>
              </a:ext>
            </a:extLst>
          </p:cNvPr>
          <p:cNvSpPr/>
          <p:nvPr/>
        </p:nvSpPr>
        <p:spPr>
          <a:xfrm>
            <a:off x="8894164" y="3957638"/>
            <a:ext cx="2246802" cy="849166"/>
          </a:xfrm>
          <a:prstGeom prst="wedgeRoundRectCallout">
            <a:avLst>
              <a:gd name="adj1" fmla="val -43774"/>
              <a:gd name="adj2" fmla="val 86608"/>
              <a:gd name="adj3" fmla="val 16667"/>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1. How the kernel manages </a:t>
            </a:r>
            <a:r>
              <a:rPr kumimoji="1" lang="en-US" altLang="zh-TW" sz="1400" i="1" dirty="0">
                <a:solidFill>
                  <a:schemeClr val="tx1"/>
                </a:solidFill>
              </a:rPr>
              <a:t>(allocates or frees)</a:t>
            </a:r>
            <a:r>
              <a:rPr kumimoji="1" lang="en-US" altLang="zh-TW" sz="1400" dirty="0">
                <a:solidFill>
                  <a:schemeClr val="tx1"/>
                </a:solidFill>
              </a:rPr>
              <a:t> physical memory </a:t>
            </a:r>
            <a:r>
              <a:rPr kumimoji="1" lang="en-US" altLang="zh-TW" sz="1400" i="1" dirty="0">
                <a:solidFill>
                  <a:schemeClr val="tx1"/>
                </a:solidFill>
              </a:rPr>
              <a:t>(page frame)</a:t>
            </a:r>
            <a:endParaRPr kumimoji="1" lang="zh-TW" altLang="en-US" sz="1400" i="1" dirty="0">
              <a:solidFill>
                <a:schemeClr val="tx1"/>
              </a:solidFill>
            </a:endParaRPr>
          </a:p>
        </p:txBody>
      </p:sp>
      <p:sp>
        <p:nvSpPr>
          <p:cNvPr id="143" name="文字方塊 142">
            <a:extLst>
              <a:ext uri="{FF2B5EF4-FFF2-40B4-BE49-F238E27FC236}">
                <a16:creationId xmlns:a16="http://schemas.microsoft.com/office/drawing/2014/main" id="{AF324EF9-C30C-FB4B-E41E-7C7D27690CBB}"/>
              </a:ext>
            </a:extLst>
          </p:cNvPr>
          <p:cNvSpPr txBox="1"/>
          <p:nvPr/>
        </p:nvSpPr>
        <p:spPr>
          <a:xfrm>
            <a:off x="1899878" y="3775317"/>
            <a:ext cx="2618987" cy="738664"/>
          </a:xfrm>
          <a:prstGeom prst="rect">
            <a:avLst/>
          </a:prstGeom>
          <a:noFill/>
        </p:spPr>
        <p:txBody>
          <a:bodyPr wrap="none" rtlCol="0">
            <a:spAutoFit/>
          </a:bodyPr>
          <a:lstStyle/>
          <a:p>
            <a:pPr marL="342900" indent="-342900">
              <a:buAutoNum type="arabicPeriod"/>
            </a:pPr>
            <a:r>
              <a:rPr kumimoji="1" lang="en-US" altLang="zh-TW" sz="1400" dirty="0"/>
              <a:t>P1 calls malloc()</a:t>
            </a:r>
          </a:p>
          <a:p>
            <a:pPr marL="342900" indent="-342900">
              <a:buAutoNum type="arabicPeriod"/>
            </a:pPr>
            <a:r>
              <a:rPr kumimoji="1" lang="en-US" altLang="zh-TW" sz="1400" dirty="0"/>
              <a:t>Kernel allocates page frames</a:t>
            </a:r>
          </a:p>
          <a:p>
            <a:pPr marL="342900" indent="-342900">
              <a:buAutoNum type="arabicPeriod"/>
            </a:pPr>
            <a:r>
              <a:rPr kumimoji="1" lang="en-US" altLang="zh-TW" sz="1400" dirty="0"/>
              <a:t>Kernel updates page tables</a:t>
            </a:r>
          </a:p>
        </p:txBody>
      </p:sp>
      <p:grpSp>
        <p:nvGrpSpPr>
          <p:cNvPr id="154" name="群組 153">
            <a:extLst>
              <a:ext uri="{FF2B5EF4-FFF2-40B4-BE49-F238E27FC236}">
                <a16:creationId xmlns:a16="http://schemas.microsoft.com/office/drawing/2014/main" id="{1206A3B3-BAE1-A7D8-60AB-330E5A2E7506}"/>
              </a:ext>
            </a:extLst>
          </p:cNvPr>
          <p:cNvGrpSpPr/>
          <p:nvPr/>
        </p:nvGrpSpPr>
        <p:grpSpPr>
          <a:xfrm>
            <a:off x="1869535" y="5098104"/>
            <a:ext cx="9379388" cy="1040655"/>
            <a:chOff x="1861544" y="5096403"/>
            <a:chExt cx="9379388" cy="1040655"/>
          </a:xfrm>
        </p:grpSpPr>
        <p:sp>
          <p:nvSpPr>
            <p:cNvPr id="10" name="矩形 9">
              <a:extLst>
                <a:ext uri="{FF2B5EF4-FFF2-40B4-BE49-F238E27FC236}">
                  <a16:creationId xmlns:a16="http://schemas.microsoft.com/office/drawing/2014/main" id="{6FAC3AF5-258C-2F20-9E7B-1CA12F463E01}"/>
                </a:ext>
              </a:extLst>
            </p:cNvPr>
            <p:cNvSpPr/>
            <p:nvPr/>
          </p:nvSpPr>
          <p:spPr>
            <a:xfrm>
              <a:off x="9897540" y="5100658"/>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sp>
          <p:nvSpPr>
            <p:cNvPr id="11" name="矩形 10">
              <a:extLst>
                <a:ext uri="{FF2B5EF4-FFF2-40B4-BE49-F238E27FC236}">
                  <a16:creationId xmlns:a16="http://schemas.microsoft.com/office/drawing/2014/main" id="{B1C700D6-213B-3252-7FB6-7177619AA639}"/>
                </a:ext>
              </a:extLst>
            </p:cNvPr>
            <p:cNvSpPr/>
            <p:nvPr/>
          </p:nvSpPr>
          <p:spPr>
            <a:xfrm>
              <a:off x="10569236" y="5100658"/>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sp>
          <p:nvSpPr>
            <p:cNvPr id="128" name="矩形 127">
              <a:extLst>
                <a:ext uri="{FF2B5EF4-FFF2-40B4-BE49-F238E27FC236}">
                  <a16:creationId xmlns:a16="http://schemas.microsoft.com/office/drawing/2014/main" id="{56B3F654-10DE-A380-59E8-0FA476F3A6EC}"/>
                </a:ext>
              </a:extLst>
            </p:cNvPr>
            <p:cNvSpPr/>
            <p:nvPr/>
          </p:nvSpPr>
          <p:spPr>
            <a:xfrm>
              <a:off x="9229399" y="5100658"/>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sp>
          <p:nvSpPr>
            <p:cNvPr id="129" name="矩形 128">
              <a:extLst>
                <a:ext uri="{FF2B5EF4-FFF2-40B4-BE49-F238E27FC236}">
                  <a16:creationId xmlns:a16="http://schemas.microsoft.com/office/drawing/2014/main" id="{1F49DE3B-2577-CE7A-3997-9DC18692BC6C}"/>
                </a:ext>
              </a:extLst>
            </p:cNvPr>
            <p:cNvSpPr/>
            <p:nvPr/>
          </p:nvSpPr>
          <p:spPr>
            <a:xfrm>
              <a:off x="7893108" y="5100658"/>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sp>
          <p:nvSpPr>
            <p:cNvPr id="130" name="矩形 129">
              <a:extLst>
                <a:ext uri="{FF2B5EF4-FFF2-40B4-BE49-F238E27FC236}">
                  <a16:creationId xmlns:a16="http://schemas.microsoft.com/office/drawing/2014/main" id="{8642B124-5E66-B4F5-36E2-725E108D42BE}"/>
                </a:ext>
              </a:extLst>
            </p:cNvPr>
            <p:cNvSpPr/>
            <p:nvPr/>
          </p:nvSpPr>
          <p:spPr>
            <a:xfrm>
              <a:off x="8563727" y="5096403"/>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sp>
          <p:nvSpPr>
            <p:cNvPr id="131" name="矩形 130">
              <a:extLst>
                <a:ext uri="{FF2B5EF4-FFF2-40B4-BE49-F238E27FC236}">
                  <a16:creationId xmlns:a16="http://schemas.microsoft.com/office/drawing/2014/main" id="{7E0C7A00-D731-9A6C-6D0B-B23BF3FE2212}"/>
                </a:ext>
              </a:extLst>
            </p:cNvPr>
            <p:cNvSpPr/>
            <p:nvPr/>
          </p:nvSpPr>
          <p:spPr>
            <a:xfrm>
              <a:off x="7224967" y="5100658"/>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sp>
          <p:nvSpPr>
            <p:cNvPr id="138" name="矩形 137">
              <a:extLst>
                <a:ext uri="{FF2B5EF4-FFF2-40B4-BE49-F238E27FC236}">
                  <a16:creationId xmlns:a16="http://schemas.microsoft.com/office/drawing/2014/main" id="{3EA03FA4-BEA1-C057-502D-0F9CD3F4DD2E}"/>
                </a:ext>
              </a:extLst>
            </p:cNvPr>
            <p:cNvSpPr/>
            <p:nvPr/>
          </p:nvSpPr>
          <p:spPr>
            <a:xfrm>
              <a:off x="2529685" y="5102705"/>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sp>
          <p:nvSpPr>
            <p:cNvPr id="139" name="矩形 138">
              <a:extLst>
                <a:ext uri="{FF2B5EF4-FFF2-40B4-BE49-F238E27FC236}">
                  <a16:creationId xmlns:a16="http://schemas.microsoft.com/office/drawing/2014/main" id="{15A14D8F-833B-6D98-7744-3A89C9DDBB46}"/>
                </a:ext>
              </a:extLst>
            </p:cNvPr>
            <p:cNvSpPr/>
            <p:nvPr/>
          </p:nvSpPr>
          <p:spPr>
            <a:xfrm>
              <a:off x="3201381" y="5102705"/>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sp>
          <p:nvSpPr>
            <p:cNvPr id="140" name="矩形 139">
              <a:extLst>
                <a:ext uri="{FF2B5EF4-FFF2-40B4-BE49-F238E27FC236}">
                  <a16:creationId xmlns:a16="http://schemas.microsoft.com/office/drawing/2014/main" id="{A788BCDB-1EB9-15FD-0239-F9FBFA7524C3}"/>
                </a:ext>
              </a:extLst>
            </p:cNvPr>
            <p:cNvSpPr/>
            <p:nvPr/>
          </p:nvSpPr>
          <p:spPr>
            <a:xfrm>
              <a:off x="1861544" y="5102705"/>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sp>
          <p:nvSpPr>
            <p:cNvPr id="145" name="文字方塊 144">
              <a:extLst>
                <a:ext uri="{FF2B5EF4-FFF2-40B4-BE49-F238E27FC236}">
                  <a16:creationId xmlns:a16="http://schemas.microsoft.com/office/drawing/2014/main" id="{50180B20-97C0-34A5-C155-8D36100567F0}"/>
                </a:ext>
              </a:extLst>
            </p:cNvPr>
            <p:cNvSpPr txBox="1"/>
            <p:nvPr/>
          </p:nvSpPr>
          <p:spPr>
            <a:xfrm>
              <a:off x="5810980" y="5397503"/>
              <a:ext cx="516488" cy="369332"/>
            </a:xfrm>
            <a:prstGeom prst="rect">
              <a:avLst/>
            </a:prstGeom>
            <a:noFill/>
          </p:spPr>
          <p:txBody>
            <a:bodyPr wrap="none" rtlCol="0">
              <a:spAutoFit/>
            </a:bodyPr>
            <a:lstStyle/>
            <a:p>
              <a:r>
                <a:rPr kumimoji="1" lang="en-US" altLang="zh-TW" dirty="0"/>
                <a:t>……</a:t>
              </a:r>
              <a:endParaRPr kumimoji="1" lang="zh-TW" altLang="en-US" dirty="0"/>
            </a:p>
          </p:txBody>
        </p:sp>
        <p:sp>
          <p:nvSpPr>
            <p:cNvPr id="146" name="矩形 145">
              <a:extLst>
                <a:ext uri="{FF2B5EF4-FFF2-40B4-BE49-F238E27FC236}">
                  <a16:creationId xmlns:a16="http://schemas.microsoft.com/office/drawing/2014/main" id="{99A97223-E4E0-83C6-FCAE-A6966F0E2F5A}"/>
                </a:ext>
              </a:extLst>
            </p:cNvPr>
            <p:cNvSpPr/>
            <p:nvPr/>
          </p:nvSpPr>
          <p:spPr>
            <a:xfrm>
              <a:off x="4536199" y="5099553"/>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sp>
          <p:nvSpPr>
            <p:cNvPr id="147" name="文字方塊 146">
              <a:extLst>
                <a:ext uri="{FF2B5EF4-FFF2-40B4-BE49-F238E27FC236}">
                  <a16:creationId xmlns:a16="http://schemas.microsoft.com/office/drawing/2014/main" id="{29221261-1D60-969F-251D-82FFA15849C0}"/>
                </a:ext>
              </a:extLst>
            </p:cNvPr>
            <p:cNvSpPr txBox="1"/>
            <p:nvPr/>
          </p:nvSpPr>
          <p:spPr>
            <a:xfrm>
              <a:off x="3895757" y="5397503"/>
              <a:ext cx="516488" cy="369332"/>
            </a:xfrm>
            <a:prstGeom prst="rect">
              <a:avLst/>
            </a:prstGeom>
            <a:noFill/>
          </p:spPr>
          <p:txBody>
            <a:bodyPr wrap="none" rtlCol="0">
              <a:spAutoFit/>
            </a:bodyPr>
            <a:lstStyle/>
            <a:p>
              <a:r>
                <a:rPr kumimoji="1" lang="en-US" altLang="zh-TW" dirty="0"/>
                <a:t>……</a:t>
              </a:r>
              <a:endParaRPr kumimoji="1" lang="zh-TW" altLang="en-US" dirty="0"/>
            </a:p>
          </p:txBody>
        </p:sp>
      </p:grpSp>
      <p:grpSp>
        <p:nvGrpSpPr>
          <p:cNvPr id="155" name="群組 154">
            <a:extLst>
              <a:ext uri="{FF2B5EF4-FFF2-40B4-BE49-F238E27FC236}">
                <a16:creationId xmlns:a16="http://schemas.microsoft.com/office/drawing/2014/main" id="{9103E75F-8285-7FCD-F9BF-DE954CA922E7}"/>
              </a:ext>
            </a:extLst>
          </p:cNvPr>
          <p:cNvGrpSpPr/>
          <p:nvPr/>
        </p:nvGrpSpPr>
        <p:grpSpPr>
          <a:xfrm>
            <a:off x="1850392" y="6160542"/>
            <a:ext cx="3346352" cy="426284"/>
            <a:chOff x="1850392" y="6160542"/>
            <a:chExt cx="3346352" cy="426284"/>
          </a:xfrm>
        </p:grpSpPr>
        <p:sp>
          <p:nvSpPr>
            <p:cNvPr id="144" name="左大括弧 143">
              <a:extLst>
                <a:ext uri="{FF2B5EF4-FFF2-40B4-BE49-F238E27FC236}">
                  <a16:creationId xmlns:a16="http://schemas.microsoft.com/office/drawing/2014/main" id="{338BCDF0-A242-35E2-68F9-8578E3ACE4BF}"/>
                </a:ext>
              </a:extLst>
            </p:cNvPr>
            <p:cNvSpPr/>
            <p:nvPr/>
          </p:nvSpPr>
          <p:spPr>
            <a:xfrm rot="16200000">
              <a:off x="3435915" y="4575019"/>
              <a:ext cx="175305" cy="3346352"/>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150" name="文字方塊 149">
              <a:extLst>
                <a:ext uri="{FF2B5EF4-FFF2-40B4-BE49-F238E27FC236}">
                  <a16:creationId xmlns:a16="http://schemas.microsoft.com/office/drawing/2014/main" id="{746130F4-770A-27EF-7660-D78B7BE23E8F}"/>
                </a:ext>
              </a:extLst>
            </p:cNvPr>
            <p:cNvSpPr txBox="1"/>
            <p:nvPr/>
          </p:nvSpPr>
          <p:spPr>
            <a:xfrm>
              <a:off x="2193881" y="6279049"/>
              <a:ext cx="2618089" cy="307777"/>
            </a:xfrm>
            <a:prstGeom prst="rect">
              <a:avLst/>
            </a:prstGeom>
            <a:noFill/>
          </p:spPr>
          <p:txBody>
            <a:bodyPr wrap="none" rtlCol="0">
              <a:spAutoFit/>
            </a:bodyPr>
            <a:lstStyle/>
            <a:p>
              <a:r>
                <a:rPr kumimoji="1" lang="en-US" altLang="zh-TW" sz="1400" dirty="0">
                  <a:solidFill>
                    <a:srgbClr val="C00000"/>
                  </a:solidFill>
                </a:rPr>
                <a:t>Kernel Address Space (Low Mem)</a:t>
              </a:r>
              <a:endParaRPr kumimoji="1" lang="zh-TW" altLang="en-US" sz="1400" dirty="0">
                <a:solidFill>
                  <a:srgbClr val="C00000"/>
                </a:solidFill>
              </a:endParaRPr>
            </a:p>
          </p:txBody>
        </p:sp>
      </p:grpSp>
      <p:grpSp>
        <p:nvGrpSpPr>
          <p:cNvPr id="156" name="群組 155">
            <a:extLst>
              <a:ext uri="{FF2B5EF4-FFF2-40B4-BE49-F238E27FC236}">
                <a16:creationId xmlns:a16="http://schemas.microsoft.com/office/drawing/2014/main" id="{61FC0B0C-C38A-4913-99C6-F7A11D3E3A81}"/>
              </a:ext>
            </a:extLst>
          </p:cNvPr>
          <p:cNvGrpSpPr/>
          <p:nvPr/>
        </p:nvGrpSpPr>
        <p:grpSpPr>
          <a:xfrm>
            <a:off x="5235164" y="6156778"/>
            <a:ext cx="6012570" cy="436491"/>
            <a:chOff x="5235164" y="6156778"/>
            <a:chExt cx="6012570" cy="436491"/>
          </a:xfrm>
        </p:grpSpPr>
        <p:sp>
          <p:nvSpPr>
            <p:cNvPr id="148" name="左大括弧 147">
              <a:extLst>
                <a:ext uri="{FF2B5EF4-FFF2-40B4-BE49-F238E27FC236}">
                  <a16:creationId xmlns:a16="http://schemas.microsoft.com/office/drawing/2014/main" id="{2A6D5C38-BD18-DB94-2ECA-423A0CB651D0}"/>
                </a:ext>
              </a:extLst>
            </p:cNvPr>
            <p:cNvSpPr/>
            <p:nvPr/>
          </p:nvSpPr>
          <p:spPr>
            <a:xfrm rot="16200000">
              <a:off x="8154264" y="3237678"/>
              <a:ext cx="174369" cy="6012570"/>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151" name="文字方塊 150">
              <a:extLst>
                <a:ext uri="{FF2B5EF4-FFF2-40B4-BE49-F238E27FC236}">
                  <a16:creationId xmlns:a16="http://schemas.microsoft.com/office/drawing/2014/main" id="{07C9C14E-FDB4-2DC7-5D27-1152FA2527E3}"/>
                </a:ext>
              </a:extLst>
            </p:cNvPr>
            <p:cNvSpPr txBox="1"/>
            <p:nvPr/>
          </p:nvSpPr>
          <p:spPr>
            <a:xfrm>
              <a:off x="7433759" y="6285492"/>
              <a:ext cx="1615379" cy="307777"/>
            </a:xfrm>
            <a:prstGeom prst="rect">
              <a:avLst/>
            </a:prstGeom>
            <a:noFill/>
          </p:spPr>
          <p:txBody>
            <a:bodyPr wrap="none" rtlCol="0">
              <a:spAutoFit/>
            </a:bodyPr>
            <a:lstStyle/>
            <a:p>
              <a:r>
                <a:rPr kumimoji="1" lang="en-US" altLang="zh-TW" sz="1400" dirty="0">
                  <a:solidFill>
                    <a:srgbClr val="C00000"/>
                  </a:solidFill>
                </a:rPr>
                <a:t>User Address Space</a:t>
              </a:r>
              <a:endParaRPr kumimoji="1" lang="zh-TW" altLang="en-US" sz="1400" dirty="0">
                <a:solidFill>
                  <a:srgbClr val="C00000"/>
                </a:solidFill>
              </a:endParaRPr>
            </a:p>
          </p:txBody>
        </p:sp>
      </p:grpSp>
      <p:grpSp>
        <p:nvGrpSpPr>
          <p:cNvPr id="159" name="群組 158">
            <a:extLst>
              <a:ext uri="{FF2B5EF4-FFF2-40B4-BE49-F238E27FC236}">
                <a16:creationId xmlns:a16="http://schemas.microsoft.com/office/drawing/2014/main" id="{23328C81-5B01-1F48-78A7-EAAE720531CB}"/>
              </a:ext>
            </a:extLst>
          </p:cNvPr>
          <p:cNvGrpSpPr/>
          <p:nvPr/>
        </p:nvGrpSpPr>
        <p:grpSpPr>
          <a:xfrm>
            <a:off x="1279154" y="5157927"/>
            <a:ext cx="742580" cy="307777"/>
            <a:chOff x="1279154" y="5157927"/>
            <a:chExt cx="742580" cy="307777"/>
          </a:xfrm>
        </p:grpSpPr>
        <p:sp>
          <p:nvSpPr>
            <p:cNvPr id="12" name="文字方塊 11">
              <a:extLst>
                <a:ext uri="{FF2B5EF4-FFF2-40B4-BE49-F238E27FC236}">
                  <a16:creationId xmlns:a16="http://schemas.microsoft.com/office/drawing/2014/main" id="{A23062C2-577A-F50F-A56A-287F5D4BA428}"/>
                </a:ext>
              </a:extLst>
            </p:cNvPr>
            <p:cNvSpPr txBox="1"/>
            <p:nvPr/>
          </p:nvSpPr>
          <p:spPr>
            <a:xfrm>
              <a:off x="1279154" y="5157927"/>
              <a:ext cx="466794" cy="307777"/>
            </a:xfrm>
            <a:prstGeom prst="rect">
              <a:avLst/>
            </a:prstGeom>
            <a:noFill/>
          </p:spPr>
          <p:txBody>
            <a:bodyPr wrap="none" rtlCol="0">
              <a:spAutoFit/>
            </a:bodyPr>
            <a:lstStyle/>
            <a:p>
              <a:r>
                <a:rPr kumimoji="1" lang="en-US" altLang="zh-TW" sz="1400" dirty="0"/>
                <a:t>4KB</a:t>
              </a:r>
              <a:endParaRPr kumimoji="1" lang="zh-TW" altLang="en-US" sz="1400" dirty="0"/>
            </a:p>
          </p:txBody>
        </p:sp>
        <p:cxnSp>
          <p:nvCxnSpPr>
            <p:cNvPr id="13" name="曲線接點 12">
              <a:extLst>
                <a:ext uri="{FF2B5EF4-FFF2-40B4-BE49-F238E27FC236}">
                  <a16:creationId xmlns:a16="http://schemas.microsoft.com/office/drawing/2014/main" id="{FF44DC26-C23D-5936-E640-0D0C2F66B67F}"/>
                </a:ext>
              </a:extLst>
            </p:cNvPr>
            <p:cNvCxnSpPr>
              <a:cxnSpLocks/>
            </p:cNvCxnSpPr>
            <p:nvPr/>
          </p:nvCxnSpPr>
          <p:spPr>
            <a:xfrm>
              <a:off x="1683806" y="5302610"/>
              <a:ext cx="337928" cy="130239"/>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58" name="矩形 157">
            <a:extLst>
              <a:ext uri="{FF2B5EF4-FFF2-40B4-BE49-F238E27FC236}">
                <a16:creationId xmlns:a16="http://schemas.microsoft.com/office/drawing/2014/main" id="{51B8BC0F-CB7C-FA72-4B6A-05EA1823F7B8}"/>
              </a:ext>
            </a:extLst>
          </p:cNvPr>
          <p:cNvSpPr/>
          <p:nvPr/>
        </p:nvSpPr>
        <p:spPr>
          <a:xfrm>
            <a:off x="8573052" y="5106250"/>
            <a:ext cx="665444" cy="1026207"/>
          </a:xfrm>
          <a:prstGeom prst="rect">
            <a:avLst/>
          </a:prstGeom>
          <a:solidFill>
            <a:schemeClr val="accent4">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Allocated</a:t>
            </a:r>
            <a:endParaRPr kumimoji="1" lang="zh-TW" altLang="en-US" sz="1400" dirty="0">
              <a:solidFill>
                <a:schemeClr val="tx1"/>
              </a:solidFill>
            </a:endParaRPr>
          </a:p>
        </p:txBody>
      </p:sp>
      <p:grpSp>
        <p:nvGrpSpPr>
          <p:cNvPr id="161" name="群組 160">
            <a:extLst>
              <a:ext uri="{FF2B5EF4-FFF2-40B4-BE49-F238E27FC236}">
                <a16:creationId xmlns:a16="http://schemas.microsoft.com/office/drawing/2014/main" id="{2EC0FEB1-95ED-204D-8FAD-239F6A84BBA6}"/>
              </a:ext>
            </a:extLst>
          </p:cNvPr>
          <p:cNvGrpSpPr/>
          <p:nvPr/>
        </p:nvGrpSpPr>
        <p:grpSpPr>
          <a:xfrm>
            <a:off x="2542644" y="5105999"/>
            <a:ext cx="665444" cy="1026458"/>
            <a:chOff x="2542644" y="5095113"/>
            <a:chExt cx="665444" cy="1026458"/>
          </a:xfrm>
        </p:grpSpPr>
        <p:sp>
          <p:nvSpPr>
            <p:cNvPr id="8" name="矩形 7">
              <a:extLst>
                <a:ext uri="{FF2B5EF4-FFF2-40B4-BE49-F238E27FC236}">
                  <a16:creationId xmlns:a16="http://schemas.microsoft.com/office/drawing/2014/main" id="{721EEEF8-6521-A729-A59C-1654014F4F84}"/>
                </a:ext>
              </a:extLst>
            </p:cNvPr>
            <p:cNvSpPr/>
            <p:nvPr/>
          </p:nvSpPr>
          <p:spPr>
            <a:xfrm>
              <a:off x="2542644" y="5095113"/>
              <a:ext cx="665444" cy="1026458"/>
            </a:xfrm>
            <a:prstGeom prst="rect">
              <a:avLst/>
            </a:prstGeom>
            <a:solidFill>
              <a:schemeClr val="accent4">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 </a:t>
              </a:r>
            </a:p>
            <a:p>
              <a:pPr algn="ctr"/>
              <a:r>
                <a:rPr kumimoji="1" lang="en-US" altLang="zh-TW" sz="1400" dirty="0">
                  <a:solidFill>
                    <a:schemeClr val="tx1"/>
                  </a:solidFill>
                </a:rPr>
                <a:t>Table</a:t>
              </a:r>
              <a:endParaRPr kumimoji="1" lang="zh-TW" altLang="en-US" sz="1400" dirty="0">
                <a:solidFill>
                  <a:schemeClr val="tx1"/>
                </a:solidFill>
              </a:endParaRPr>
            </a:p>
          </p:txBody>
        </p:sp>
        <p:sp>
          <p:nvSpPr>
            <p:cNvPr id="141" name="矩形 140">
              <a:extLst>
                <a:ext uri="{FF2B5EF4-FFF2-40B4-BE49-F238E27FC236}">
                  <a16:creationId xmlns:a16="http://schemas.microsoft.com/office/drawing/2014/main" id="{3FDB28E1-DFFD-557D-82F0-A9AE6262BD0F}"/>
                </a:ext>
              </a:extLst>
            </p:cNvPr>
            <p:cNvSpPr/>
            <p:nvPr/>
          </p:nvSpPr>
          <p:spPr>
            <a:xfrm>
              <a:off x="2545341" y="5888304"/>
              <a:ext cx="656957" cy="149432"/>
            </a:xfrm>
            <a:prstGeom prst="rect">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VA</a:t>
              </a:r>
              <a:r>
                <a:rPr kumimoji="1" lang="zh-TW" altLang="en-US" sz="1400" dirty="0">
                  <a:solidFill>
                    <a:schemeClr val="tx1"/>
                  </a:solidFill>
                </a:rPr>
                <a:t> </a:t>
              </a:r>
              <a:r>
                <a:rPr kumimoji="1" lang="en-US" altLang="zh-TW" sz="1400" dirty="0">
                  <a:solidFill>
                    <a:schemeClr val="tx1"/>
                  </a:solidFill>
                </a:rPr>
                <a:t>-&gt;</a:t>
              </a:r>
              <a:r>
                <a:rPr kumimoji="1" lang="zh-TW" altLang="en-US" sz="1400" dirty="0">
                  <a:solidFill>
                    <a:schemeClr val="tx1"/>
                  </a:solidFill>
                </a:rPr>
                <a:t> </a:t>
              </a:r>
              <a:r>
                <a:rPr kumimoji="1" lang="en-US" altLang="zh-TW" sz="1400" dirty="0">
                  <a:solidFill>
                    <a:schemeClr val="tx1"/>
                  </a:solidFill>
                </a:rPr>
                <a:t>PA</a:t>
              </a:r>
              <a:endParaRPr kumimoji="1" lang="zh-TW" altLang="en-US" sz="1400" dirty="0">
                <a:solidFill>
                  <a:schemeClr val="tx1"/>
                </a:solidFill>
              </a:endParaRPr>
            </a:p>
          </p:txBody>
        </p:sp>
      </p:grpSp>
    </p:spTree>
    <p:extLst>
      <p:ext uri="{BB962C8B-B14F-4D97-AF65-F5344CB8AC3E}">
        <p14:creationId xmlns:p14="http://schemas.microsoft.com/office/powerpoint/2010/main" val="4264285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4"/>
                                        </p:tgtEl>
                                        <p:attrNameLst>
                                          <p:attrName>style.visibility</p:attrName>
                                        </p:attrNameLst>
                                      </p:cBhvr>
                                      <p:to>
                                        <p:strVal val="visible"/>
                                      </p:to>
                                    </p:set>
                                    <p:animEffect transition="in" filter="wipe(left)">
                                      <p:cBhvr>
                                        <p:cTn id="7" dur="500"/>
                                        <p:tgtEl>
                                          <p:spTgt spid="15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6"/>
                                        </p:tgtEl>
                                        <p:attrNameLst>
                                          <p:attrName>style.visibility</p:attrName>
                                        </p:attrNameLst>
                                      </p:cBhvr>
                                      <p:to>
                                        <p:strVal val="visible"/>
                                      </p:to>
                                    </p:set>
                                    <p:animEffect transition="in" filter="fade">
                                      <p:cBhvr>
                                        <p:cTn id="12" dur="500"/>
                                        <p:tgtEl>
                                          <p:spTgt spid="156"/>
                                        </p:tgtEl>
                                      </p:cBhvr>
                                    </p:animEffect>
                                  </p:childTnLst>
                                </p:cTn>
                              </p:par>
                              <p:par>
                                <p:cTn id="13" presetID="10" presetClass="entr" presetSubtype="0" fill="hold" nodeType="withEffect">
                                  <p:stCondLst>
                                    <p:cond delay="0"/>
                                  </p:stCondLst>
                                  <p:childTnLst>
                                    <p:set>
                                      <p:cBhvr>
                                        <p:cTn id="14" dur="1" fill="hold">
                                          <p:stCondLst>
                                            <p:cond delay="0"/>
                                          </p:stCondLst>
                                        </p:cTn>
                                        <p:tgtEl>
                                          <p:spTgt spid="155"/>
                                        </p:tgtEl>
                                        <p:attrNameLst>
                                          <p:attrName>style.visibility</p:attrName>
                                        </p:attrNameLst>
                                      </p:cBhvr>
                                      <p:to>
                                        <p:strVal val="visible"/>
                                      </p:to>
                                    </p:set>
                                    <p:animEffect transition="in" filter="fade">
                                      <p:cBhvr>
                                        <p:cTn id="15" dur="500"/>
                                        <p:tgtEl>
                                          <p:spTgt spid="15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59"/>
                                        </p:tgtEl>
                                        <p:attrNameLst>
                                          <p:attrName>style.visibility</p:attrName>
                                        </p:attrNameLst>
                                      </p:cBhvr>
                                      <p:to>
                                        <p:strVal val="visible"/>
                                      </p:to>
                                    </p:set>
                                    <p:animEffect transition="in" filter="fade">
                                      <p:cBhvr>
                                        <p:cTn id="20" dur="500"/>
                                        <p:tgtEl>
                                          <p:spTgt spid="15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3">
                                            <p:txEl>
                                              <p:pRg st="0" end="0"/>
                                            </p:txEl>
                                          </p:spTgt>
                                        </p:tgtEl>
                                        <p:attrNameLst>
                                          <p:attrName>style.visibility</p:attrName>
                                        </p:attrNameLst>
                                      </p:cBhvr>
                                      <p:to>
                                        <p:strVal val="visible"/>
                                      </p:to>
                                    </p:set>
                                    <p:animEffect transition="in" filter="fade">
                                      <p:cBhvr>
                                        <p:cTn id="25" dur="500"/>
                                        <p:tgtEl>
                                          <p:spTgt spid="143">
                                            <p:txEl>
                                              <p:pRg st="0" end="0"/>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43">
                                            <p:txEl>
                                              <p:pRg st="1" end="1"/>
                                            </p:txEl>
                                          </p:spTgt>
                                        </p:tgtEl>
                                        <p:attrNameLst>
                                          <p:attrName>style.visibility</p:attrName>
                                        </p:attrNameLst>
                                      </p:cBhvr>
                                      <p:to>
                                        <p:strVal val="visible"/>
                                      </p:to>
                                    </p:set>
                                    <p:animEffect transition="in" filter="fade">
                                      <p:cBhvr>
                                        <p:cTn id="28" dur="500"/>
                                        <p:tgtEl>
                                          <p:spTgt spid="143">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58"/>
                                        </p:tgtEl>
                                        <p:attrNameLst>
                                          <p:attrName>style.visibility</p:attrName>
                                        </p:attrNameLst>
                                      </p:cBhvr>
                                      <p:to>
                                        <p:strVal val="visible"/>
                                      </p:to>
                                    </p:set>
                                    <p:animEffect transition="in" filter="wipe(up)">
                                      <p:cBhvr>
                                        <p:cTn id="33" dur="500"/>
                                        <p:tgtEl>
                                          <p:spTgt spid="15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161"/>
                                        </p:tgtEl>
                                        <p:attrNameLst>
                                          <p:attrName>style.visibility</p:attrName>
                                        </p:attrNameLst>
                                      </p:cBhvr>
                                      <p:to>
                                        <p:strVal val="visible"/>
                                      </p:to>
                                    </p:set>
                                    <p:animEffect transition="in" filter="wipe(up)">
                                      <p:cBhvr>
                                        <p:cTn id="38" dur="500"/>
                                        <p:tgtEl>
                                          <p:spTgt spid="161"/>
                                        </p:tgtEl>
                                      </p:cBhvr>
                                    </p:animEffect>
                                  </p:childTnLst>
                                </p:cTn>
                              </p:par>
                              <p:par>
                                <p:cTn id="39" presetID="10" presetClass="entr" presetSubtype="0" fill="hold" nodeType="withEffect">
                                  <p:stCondLst>
                                    <p:cond delay="0"/>
                                  </p:stCondLst>
                                  <p:childTnLst>
                                    <p:set>
                                      <p:cBhvr>
                                        <p:cTn id="40" dur="1" fill="hold">
                                          <p:stCondLst>
                                            <p:cond delay="0"/>
                                          </p:stCondLst>
                                        </p:cTn>
                                        <p:tgtEl>
                                          <p:spTgt spid="143">
                                            <p:txEl>
                                              <p:pRg st="2" end="2"/>
                                            </p:txEl>
                                          </p:spTgt>
                                        </p:tgtEl>
                                        <p:attrNameLst>
                                          <p:attrName>style.visibility</p:attrName>
                                        </p:attrNameLst>
                                      </p:cBhvr>
                                      <p:to>
                                        <p:strVal val="visible"/>
                                      </p:to>
                                    </p:set>
                                    <p:animEffect transition="in" filter="fade">
                                      <p:cBhvr>
                                        <p:cTn id="41" dur="500"/>
                                        <p:tgtEl>
                                          <p:spTgt spid="143">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2" end="2"/>
                                            </p:txEl>
                                          </p:spTgt>
                                        </p:tgtEl>
                                        <p:attrNameLst>
                                          <p:attrName>style.visibility</p:attrName>
                                        </p:attrNameLst>
                                      </p:cBhvr>
                                      <p:to>
                                        <p:strVal val="visible"/>
                                      </p:to>
                                    </p:set>
                                    <p:animEffect transition="in" filter="fade">
                                      <p:cBhvr>
                                        <p:cTn id="46" dur="500"/>
                                        <p:tgtEl>
                                          <p:spTgt spid="3">
                                            <p:txEl>
                                              <p:pRg st="2" end="2"/>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3">
                                            <p:txEl>
                                              <p:pRg st="3" end="3"/>
                                            </p:txEl>
                                          </p:spTgt>
                                        </p:tgtEl>
                                        <p:attrNameLst>
                                          <p:attrName>style.visibility</p:attrName>
                                        </p:attrNameLst>
                                      </p:cBhvr>
                                      <p:to>
                                        <p:strVal val="visible"/>
                                      </p:to>
                                    </p:set>
                                    <p:animEffect transition="in" filter="fade">
                                      <p:cBhvr>
                                        <p:cTn id="49" dur="500"/>
                                        <p:tgtEl>
                                          <p:spTgt spid="3">
                                            <p:txEl>
                                              <p:pRg st="3" end="3"/>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3">
                                            <p:txEl>
                                              <p:pRg st="4" end="4"/>
                                            </p:txEl>
                                          </p:spTgt>
                                        </p:tgtEl>
                                        <p:attrNameLst>
                                          <p:attrName>style.visibility</p:attrName>
                                        </p:attrNameLst>
                                      </p:cBhvr>
                                      <p:to>
                                        <p:strVal val="visible"/>
                                      </p:to>
                                    </p:set>
                                    <p:animEffect transition="in" filter="fade">
                                      <p:cBhvr>
                                        <p:cTn id="52" dur="500"/>
                                        <p:tgtEl>
                                          <p:spTgt spid="3">
                                            <p:txEl>
                                              <p:pRg st="4" end="4"/>
                                            </p:tx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26"/>
                                        </p:tgtEl>
                                        <p:attrNameLst>
                                          <p:attrName>style.visibility</p:attrName>
                                        </p:attrNameLst>
                                      </p:cBhvr>
                                      <p:to>
                                        <p:strVal val="visible"/>
                                      </p:to>
                                    </p:set>
                                    <p:animEffect transition="in" filter="fade">
                                      <p:cBhvr>
                                        <p:cTn id="55" dur="500"/>
                                        <p:tgtEl>
                                          <p:spTgt spid="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animBg="1"/>
      <p:bldP spid="15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solidFill>
                  <a:srgbClr val="C00000"/>
                </a:solidFill>
                <a:latin typeface="+mn-lt"/>
              </a:rPr>
              <a:t>Recall:</a:t>
            </a:r>
            <a:r>
              <a:rPr lang="en-US" altLang="zh-TW" sz="4000" dirty="0">
                <a:latin typeface="+mn-lt"/>
              </a:rPr>
              <a:t> Basic Concepts of Memory Management</a:t>
            </a:r>
            <a:endParaRPr kumimoji="1" lang="zh-TW" altLang="en-US" sz="4000" dirty="0">
              <a:latin typeface="+mn-lt"/>
            </a:endParaRP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lang="en-US" altLang="zh-TW" dirty="0">
                <a:solidFill>
                  <a:schemeClr val="tx1"/>
                </a:solidFill>
              </a:rPr>
              <a:t>Page Frame: Partition </a:t>
            </a:r>
            <a:r>
              <a:rPr lang="en-US" altLang="zh-TW" dirty="0">
                <a:solidFill>
                  <a:srgbClr val="C00000"/>
                </a:solidFill>
              </a:rPr>
              <a:t>physical address space</a:t>
            </a:r>
            <a:r>
              <a:rPr lang="en-US" altLang="zh-TW" dirty="0">
                <a:solidFill>
                  <a:schemeClr val="tx1"/>
                </a:solidFill>
              </a:rPr>
              <a:t> to chunks with the same size</a:t>
            </a:r>
          </a:p>
          <a:p>
            <a:pPr algn="l"/>
            <a:r>
              <a:rPr lang="en-US" altLang="zh-TW" dirty="0">
                <a:solidFill>
                  <a:schemeClr val="tx1"/>
                </a:solidFill>
              </a:rPr>
              <a:t>Page (Virtual): Partition </a:t>
            </a:r>
            <a:r>
              <a:rPr lang="en-US" altLang="zh-TW" dirty="0">
                <a:solidFill>
                  <a:srgbClr val="C00000"/>
                </a:solidFill>
              </a:rPr>
              <a:t>virtual address space </a:t>
            </a:r>
            <a:r>
              <a:rPr lang="en-US" altLang="zh-TW" dirty="0">
                <a:solidFill>
                  <a:schemeClr val="tx1"/>
                </a:solidFill>
              </a:rPr>
              <a:t>to chunks with the same size</a:t>
            </a:r>
          </a:p>
          <a:p>
            <a:pPr algn="l"/>
            <a:r>
              <a:rPr lang="en-US" altLang="zh-TW" dirty="0">
                <a:solidFill>
                  <a:schemeClr val="tx1"/>
                </a:solidFill>
              </a:rPr>
              <a:t>Kernel manages all page frames and maintains page tables.</a:t>
            </a:r>
          </a:p>
          <a:p>
            <a:pPr algn="l"/>
            <a:r>
              <a:rPr lang="en-US" altLang="zh-TW" dirty="0">
                <a:solidFill>
                  <a:schemeClr val="tx1"/>
                </a:solidFill>
              </a:rPr>
              <a:t>Virtual Memory Management: Let all processes </a:t>
            </a:r>
            <a:r>
              <a:rPr lang="en-US" altLang="zh-TW" dirty="0">
                <a:solidFill>
                  <a:srgbClr val="C00000"/>
                </a:solidFill>
              </a:rPr>
              <a:t>share the same physical address space</a:t>
            </a:r>
            <a:r>
              <a:rPr lang="en-US" altLang="zh-TW" dirty="0">
                <a:solidFill>
                  <a:schemeClr val="tx1"/>
                </a:solidFill>
              </a:rPr>
              <a:t> via page tables. (Each process has their own page table.)</a:t>
            </a: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10</a:t>
            </a:fld>
            <a:endParaRPr lang="zh-TW" altLang="en-US" dirty="0"/>
          </a:p>
        </p:txBody>
      </p:sp>
      <p:sp>
        <p:nvSpPr>
          <p:cNvPr id="5" name="文字方塊 4">
            <a:extLst>
              <a:ext uri="{FF2B5EF4-FFF2-40B4-BE49-F238E27FC236}">
                <a16:creationId xmlns:a16="http://schemas.microsoft.com/office/drawing/2014/main" id="{2F2B47F2-1580-3D89-01CB-00DAB1E82D62}"/>
              </a:ext>
            </a:extLst>
          </p:cNvPr>
          <p:cNvSpPr txBox="1"/>
          <p:nvPr/>
        </p:nvSpPr>
        <p:spPr>
          <a:xfrm>
            <a:off x="5724383" y="3957638"/>
            <a:ext cx="184731" cy="369332"/>
          </a:xfrm>
          <a:prstGeom prst="rect">
            <a:avLst/>
          </a:prstGeom>
          <a:noFill/>
        </p:spPr>
        <p:txBody>
          <a:bodyPr wrap="none" rtlCol="0">
            <a:spAutoFit/>
          </a:bodyPr>
          <a:lstStyle/>
          <a:p>
            <a:endParaRPr kumimoji="1" lang="zh-TW" altLang="en-US" dirty="0"/>
          </a:p>
        </p:txBody>
      </p:sp>
      <p:sp>
        <p:nvSpPr>
          <p:cNvPr id="7" name="矩形 6">
            <a:extLst>
              <a:ext uri="{FF2B5EF4-FFF2-40B4-BE49-F238E27FC236}">
                <a16:creationId xmlns:a16="http://schemas.microsoft.com/office/drawing/2014/main" id="{BD922497-EF95-A94F-566E-CBBC2C5FB0B2}"/>
              </a:ext>
            </a:extLst>
          </p:cNvPr>
          <p:cNvSpPr/>
          <p:nvPr/>
        </p:nvSpPr>
        <p:spPr>
          <a:xfrm>
            <a:off x="1869902" y="5097954"/>
            <a:ext cx="9377830" cy="1037553"/>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 name="文字方塊 8">
            <a:extLst>
              <a:ext uri="{FF2B5EF4-FFF2-40B4-BE49-F238E27FC236}">
                <a16:creationId xmlns:a16="http://schemas.microsoft.com/office/drawing/2014/main" id="{8C7ECDC7-CA4F-92DB-BCC6-FFE561C27B61}"/>
              </a:ext>
            </a:extLst>
          </p:cNvPr>
          <p:cNvSpPr txBox="1"/>
          <p:nvPr/>
        </p:nvSpPr>
        <p:spPr>
          <a:xfrm>
            <a:off x="5549142" y="6519446"/>
            <a:ext cx="3193567" cy="338554"/>
          </a:xfrm>
          <a:prstGeom prst="rect">
            <a:avLst/>
          </a:prstGeom>
          <a:noFill/>
        </p:spPr>
        <p:txBody>
          <a:bodyPr wrap="none" rtlCol="0">
            <a:spAutoFit/>
          </a:bodyPr>
          <a:lstStyle/>
          <a:p>
            <a:r>
              <a:rPr kumimoji="1" lang="en-US" altLang="zh-TW" sz="1600" dirty="0"/>
              <a:t>Physical</a:t>
            </a:r>
            <a:r>
              <a:rPr kumimoji="1" lang="zh-TW" altLang="en-US" sz="1600" dirty="0"/>
              <a:t> </a:t>
            </a:r>
            <a:r>
              <a:rPr kumimoji="1" lang="en-US" altLang="zh-TW" sz="1600" dirty="0"/>
              <a:t>Address Space</a:t>
            </a:r>
            <a:r>
              <a:rPr kumimoji="1" lang="zh-TW" altLang="en-US" sz="1600" dirty="0"/>
              <a:t> </a:t>
            </a:r>
            <a:r>
              <a:rPr kumimoji="1" lang="en-US" altLang="zh-TW" sz="1600" dirty="0"/>
              <a:t>(e.g.,</a:t>
            </a:r>
            <a:r>
              <a:rPr kumimoji="1" lang="zh-TW" altLang="en-US" sz="1600" dirty="0"/>
              <a:t> </a:t>
            </a:r>
            <a:r>
              <a:rPr kumimoji="1" lang="en-US" altLang="zh-TW" sz="1600" dirty="0"/>
              <a:t>DRAM)</a:t>
            </a:r>
            <a:endParaRPr kumimoji="1" lang="zh-TW" altLang="en-US" sz="1600" dirty="0"/>
          </a:p>
        </p:txBody>
      </p:sp>
      <p:sp>
        <p:nvSpPr>
          <p:cNvPr id="10" name="矩形 9">
            <a:extLst>
              <a:ext uri="{FF2B5EF4-FFF2-40B4-BE49-F238E27FC236}">
                <a16:creationId xmlns:a16="http://schemas.microsoft.com/office/drawing/2014/main" id="{6FAC3AF5-258C-2F20-9E7B-1CA12F463E01}"/>
              </a:ext>
            </a:extLst>
          </p:cNvPr>
          <p:cNvSpPr/>
          <p:nvPr/>
        </p:nvSpPr>
        <p:spPr>
          <a:xfrm>
            <a:off x="9897540" y="5100658"/>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sp>
        <p:nvSpPr>
          <p:cNvPr id="11" name="矩形 10">
            <a:extLst>
              <a:ext uri="{FF2B5EF4-FFF2-40B4-BE49-F238E27FC236}">
                <a16:creationId xmlns:a16="http://schemas.microsoft.com/office/drawing/2014/main" id="{B1C700D6-213B-3252-7FB6-7177619AA639}"/>
              </a:ext>
            </a:extLst>
          </p:cNvPr>
          <p:cNvSpPr/>
          <p:nvPr/>
        </p:nvSpPr>
        <p:spPr>
          <a:xfrm>
            <a:off x="10569236" y="5100658"/>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sp>
        <p:nvSpPr>
          <p:cNvPr id="12" name="文字方塊 11">
            <a:extLst>
              <a:ext uri="{FF2B5EF4-FFF2-40B4-BE49-F238E27FC236}">
                <a16:creationId xmlns:a16="http://schemas.microsoft.com/office/drawing/2014/main" id="{A23062C2-577A-F50F-A56A-287F5D4BA428}"/>
              </a:ext>
            </a:extLst>
          </p:cNvPr>
          <p:cNvSpPr txBox="1"/>
          <p:nvPr/>
        </p:nvSpPr>
        <p:spPr>
          <a:xfrm>
            <a:off x="8616412" y="6210183"/>
            <a:ext cx="466794" cy="307777"/>
          </a:xfrm>
          <a:prstGeom prst="rect">
            <a:avLst/>
          </a:prstGeom>
          <a:noFill/>
        </p:spPr>
        <p:txBody>
          <a:bodyPr wrap="none" rtlCol="0">
            <a:spAutoFit/>
          </a:bodyPr>
          <a:lstStyle/>
          <a:p>
            <a:r>
              <a:rPr kumimoji="1" lang="en-US" altLang="zh-TW" sz="1400" dirty="0"/>
              <a:t>4KB</a:t>
            </a:r>
            <a:endParaRPr kumimoji="1" lang="zh-TW" altLang="en-US" sz="1400" dirty="0"/>
          </a:p>
        </p:txBody>
      </p:sp>
      <p:cxnSp>
        <p:nvCxnSpPr>
          <p:cNvPr id="13" name="曲線接點 12">
            <a:extLst>
              <a:ext uri="{FF2B5EF4-FFF2-40B4-BE49-F238E27FC236}">
                <a16:creationId xmlns:a16="http://schemas.microsoft.com/office/drawing/2014/main" id="{FF44DC26-C23D-5936-E640-0D0C2F66B67F}"/>
              </a:ext>
            </a:extLst>
          </p:cNvPr>
          <p:cNvCxnSpPr>
            <a:cxnSpLocks/>
          </p:cNvCxnSpPr>
          <p:nvPr/>
        </p:nvCxnSpPr>
        <p:spPr>
          <a:xfrm rot="5400000" flipH="1" flipV="1">
            <a:off x="8743039" y="6100507"/>
            <a:ext cx="246170" cy="5607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3E6CF605-754E-E273-CC94-473C2D2E9678}"/>
              </a:ext>
            </a:extLst>
          </p:cNvPr>
          <p:cNvSpPr/>
          <p:nvPr/>
        </p:nvSpPr>
        <p:spPr>
          <a:xfrm>
            <a:off x="1869901" y="3429000"/>
            <a:ext cx="1598815" cy="1328824"/>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rPr>
              <a:t>CPU</a:t>
            </a:r>
            <a:endParaRPr kumimoji="1" lang="zh-TW" altLang="en-US" sz="1400" dirty="0">
              <a:solidFill>
                <a:schemeClr val="tx1"/>
              </a:solidFill>
            </a:endParaRPr>
          </a:p>
        </p:txBody>
      </p:sp>
      <p:grpSp>
        <p:nvGrpSpPr>
          <p:cNvPr id="34" name="群組 33">
            <a:extLst>
              <a:ext uri="{FF2B5EF4-FFF2-40B4-BE49-F238E27FC236}">
                <a16:creationId xmlns:a16="http://schemas.microsoft.com/office/drawing/2014/main" id="{79507074-202C-D26D-B501-03618A771339}"/>
              </a:ext>
            </a:extLst>
          </p:cNvPr>
          <p:cNvGrpSpPr/>
          <p:nvPr/>
        </p:nvGrpSpPr>
        <p:grpSpPr>
          <a:xfrm>
            <a:off x="3307175" y="4762877"/>
            <a:ext cx="5524099" cy="343476"/>
            <a:chOff x="2128928" y="4990986"/>
            <a:chExt cx="5524099" cy="343476"/>
          </a:xfrm>
        </p:grpSpPr>
        <p:cxnSp>
          <p:nvCxnSpPr>
            <p:cNvPr id="37" name="肘形接點 36">
              <a:extLst>
                <a:ext uri="{FF2B5EF4-FFF2-40B4-BE49-F238E27FC236}">
                  <a16:creationId xmlns:a16="http://schemas.microsoft.com/office/drawing/2014/main" id="{109EEB74-F1DA-E783-2E27-A167CD388589}"/>
                </a:ext>
              </a:extLst>
            </p:cNvPr>
            <p:cNvCxnSpPr>
              <a:cxnSpLocks/>
            </p:cNvCxnSpPr>
            <p:nvPr/>
          </p:nvCxnSpPr>
          <p:spPr>
            <a:xfrm>
              <a:off x="2128928" y="5167947"/>
              <a:ext cx="5524099" cy="166515"/>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箭頭接點 37">
              <a:extLst>
                <a:ext uri="{FF2B5EF4-FFF2-40B4-BE49-F238E27FC236}">
                  <a16:creationId xmlns:a16="http://schemas.microsoft.com/office/drawing/2014/main" id="{41679980-C9A9-4CD2-394E-C16304504355}"/>
                </a:ext>
              </a:extLst>
            </p:cNvPr>
            <p:cNvCxnSpPr>
              <a:cxnSpLocks/>
            </p:cNvCxnSpPr>
            <p:nvPr/>
          </p:nvCxnSpPr>
          <p:spPr>
            <a:xfrm>
              <a:off x="2135618" y="4990986"/>
              <a:ext cx="0" cy="174356"/>
            </a:xfrm>
            <a:prstGeom prst="straightConnector1">
              <a:avLst/>
            </a:prstGeom>
            <a:ln w="19050">
              <a:solidFill>
                <a:schemeClr val="tx1"/>
              </a:solidFill>
              <a:headEnd type="oval"/>
              <a:tailEnd type="none"/>
            </a:ln>
          </p:spPr>
          <p:style>
            <a:lnRef idx="1">
              <a:schemeClr val="accent1"/>
            </a:lnRef>
            <a:fillRef idx="0">
              <a:schemeClr val="accent1"/>
            </a:fillRef>
            <a:effectRef idx="0">
              <a:schemeClr val="accent1"/>
            </a:effectRef>
            <a:fontRef idx="minor">
              <a:schemeClr val="tx1"/>
            </a:fontRef>
          </p:style>
        </p:cxnSp>
      </p:grpSp>
      <p:sp>
        <p:nvSpPr>
          <p:cNvPr id="36" name="橢圓 35">
            <a:extLst>
              <a:ext uri="{FF2B5EF4-FFF2-40B4-BE49-F238E27FC236}">
                <a16:creationId xmlns:a16="http://schemas.microsoft.com/office/drawing/2014/main" id="{0EEDB766-5544-4966-9A95-BC111DE3BFA8}"/>
              </a:ext>
            </a:extLst>
          </p:cNvPr>
          <p:cNvSpPr/>
          <p:nvPr/>
        </p:nvSpPr>
        <p:spPr>
          <a:xfrm>
            <a:off x="3686248" y="4752355"/>
            <a:ext cx="162000" cy="16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t>2</a:t>
            </a:r>
            <a:endParaRPr kumimoji="1" lang="zh-TW" altLang="en-US" sz="1400" dirty="0"/>
          </a:p>
        </p:txBody>
      </p:sp>
      <p:sp>
        <p:nvSpPr>
          <p:cNvPr id="98" name="矩形 97">
            <a:extLst>
              <a:ext uri="{FF2B5EF4-FFF2-40B4-BE49-F238E27FC236}">
                <a16:creationId xmlns:a16="http://schemas.microsoft.com/office/drawing/2014/main" id="{86FC30EB-DBFC-8931-2217-11F8C6B499C0}"/>
              </a:ext>
            </a:extLst>
          </p:cNvPr>
          <p:cNvSpPr/>
          <p:nvPr/>
        </p:nvSpPr>
        <p:spPr>
          <a:xfrm>
            <a:off x="1948526" y="4078373"/>
            <a:ext cx="656957" cy="590652"/>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TLB</a:t>
            </a:r>
            <a:endParaRPr kumimoji="1" lang="zh-TW" altLang="en-US" sz="1400" dirty="0">
              <a:solidFill>
                <a:schemeClr val="tx1"/>
              </a:solidFill>
            </a:endParaRPr>
          </a:p>
        </p:txBody>
      </p:sp>
      <p:sp>
        <p:nvSpPr>
          <p:cNvPr id="99" name="矩形 98">
            <a:extLst>
              <a:ext uri="{FF2B5EF4-FFF2-40B4-BE49-F238E27FC236}">
                <a16:creationId xmlns:a16="http://schemas.microsoft.com/office/drawing/2014/main" id="{EFC89ECE-3F31-0301-5939-85D22E31D0CE}"/>
              </a:ext>
            </a:extLst>
          </p:cNvPr>
          <p:cNvSpPr/>
          <p:nvPr/>
        </p:nvSpPr>
        <p:spPr>
          <a:xfrm>
            <a:off x="2719298" y="4078373"/>
            <a:ext cx="656957" cy="590652"/>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MMU</a:t>
            </a:r>
            <a:endParaRPr kumimoji="1" lang="zh-TW" altLang="en-US" sz="1400" dirty="0">
              <a:solidFill>
                <a:schemeClr val="tx1"/>
              </a:solidFill>
            </a:endParaRPr>
          </a:p>
        </p:txBody>
      </p:sp>
      <p:grpSp>
        <p:nvGrpSpPr>
          <p:cNvPr id="17" name="群組 16">
            <a:extLst>
              <a:ext uri="{FF2B5EF4-FFF2-40B4-BE49-F238E27FC236}">
                <a16:creationId xmlns:a16="http://schemas.microsoft.com/office/drawing/2014/main" id="{4DA22996-14C7-9A5A-7881-C0C798EE3226}"/>
              </a:ext>
            </a:extLst>
          </p:cNvPr>
          <p:cNvGrpSpPr/>
          <p:nvPr/>
        </p:nvGrpSpPr>
        <p:grpSpPr>
          <a:xfrm>
            <a:off x="2152393" y="3738243"/>
            <a:ext cx="383054" cy="526224"/>
            <a:chOff x="2240766" y="3679466"/>
            <a:chExt cx="383054" cy="526224"/>
          </a:xfrm>
        </p:grpSpPr>
        <p:cxnSp>
          <p:nvCxnSpPr>
            <p:cNvPr id="100" name="曲線接點 99">
              <a:extLst>
                <a:ext uri="{FF2B5EF4-FFF2-40B4-BE49-F238E27FC236}">
                  <a16:creationId xmlns:a16="http://schemas.microsoft.com/office/drawing/2014/main" id="{22AB29AA-E28D-CAB4-A43F-0EC668A55F7C}"/>
                </a:ext>
              </a:extLst>
            </p:cNvPr>
            <p:cNvCxnSpPr>
              <a:cxnSpLocks/>
            </p:cNvCxnSpPr>
            <p:nvPr/>
          </p:nvCxnSpPr>
          <p:spPr>
            <a:xfrm rot="5400000">
              <a:off x="2199493" y="3997268"/>
              <a:ext cx="276170" cy="140674"/>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2" name="文字方塊 101">
              <a:extLst>
                <a:ext uri="{FF2B5EF4-FFF2-40B4-BE49-F238E27FC236}">
                  <a16:creationId xmlns:a16="http://schemas.microsoft.com/office/drawing/2014/main" id="{B200752F-B321-A315-2E57-90CD8FDA7A7E}"/>
                </a:ext>
              </a:extLst>
            </p:cNvPr>
            <p:cNvSpPr txBox="1"/>
            <p:nvPr/>
          </p:nvSpPr>
          <p:spPr>
            <a:xfrm>
              <a:off x="2240766" y="3679466"/>
              <a:ext cx="383054" cy="307777"/>
            </a:xfrm>
            <a:prstGeom prst="rect">
              <a:avLst/>
            </a:prstGeom>
            <a:noFill/>
          </p:spPr>
          <p:txBody>
            <a:bodyPr wrap="none" rtlCol="0">
              <a:spAutoFit/>
            </a:bodyPr>
            <a:lstStyle/>
            <a:p>
              <a:r>
                <a:rPr kumimoji="1" lang="en-US" altLang="zh-TW" sz="1400" dirty="0"/>
                <a:t>VA</a:t>
              </a:r>
              <a:endParaRPr kumimoji="1" lang="zh-TW" altLang="en-US" sz="1400" dirty="0"/>
            </a:p>
          </p:txBody>
        </p:sp>
      </p:grpSp>
      <p:sp>
        <p:nvSpPr>
          <p:cNvPr id="111" name="矩形 110">
            <a:extLst>
              <a:ext uri="{FF2B5EF4-FFF2-40B4-BE49-F238E27FC236}">
                <a16:creationId xmlns:a16="http://schemas.microsoft.com/office/drawing/2014/main" id="{8CC85113-5E25-7EF2-1CD1-E8D3109762C2}"/>
              </a:ext>
            </a:extLst>
          </p:cNvPr>
          <p:cNvSpPr/>
          <p:nvPr/>
        </p:nvSpPr>
        <p:spPr>
          <a:xfrm>
            <a:off x="1948526" y="4468713"/>
            <a:ext cx="656957" cy="149432"/>
          </a:xfrm>
          <a:prstGeom prst="rect">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VA’</a:t>
            </a:r>
            <a:r>
              <a:rPr kumimoji="1" lang="zh-TW" altLang="en-US" sz="1400" dirty="0">
                <a:solidFill>
                  <a:schemeClr val="tx1"/>
                </a:solidFill>
              </a:rPr>
              <a:t> </a:t>
            </a:r>
            <a:r>
              <a:rPr kumimoji="1" lang="en-US" altLang="zh-TW" sz="1400" dirty="0">
                <a:solidFill>
                  <a:schemeClr val="tx1"/>
                </a:solidFill>
              </a:rPr>
              <a:t>-&gt;</a:t>
            </a:r>
            <a:r>
              <a:rPr kumimoji="1" lang="zh-TW" altLang="en-US" sz="1400" dirty="0">
                <a:solidFill>
                  <a:schemeClr val="tx1"/>
                </a:solidFill>
              </a:rPr>
              <a:t> </a:t>
            </a:r>
            <a:r>
              <a:rPr kumimoji="1" lang="en-US" altLang="zh-TW" sz="1400" dirty="0">
                <a:solidFill>
                  <a:schemeClr val="tx1"/>
                </a:solidFill>
              </a:rPr>
              <a:t>PA’</a:t>
            </a:r>
            <a:endParaRPr kumimoji="1" lang="zh-TW" altLang="en-US" sz="1400" dirty="0">
              <a:solidFill>
                <a:schemeClr val="tx1"/>
              </a:solidFill>
            </a:endParaRPr>
          </a:p>
        </p:txBody>
      </p:sp>
      <p:sp>
        <p:nvSpPr>
          <p:cNvPr id="112" name="文字方塊 111">
            <a:extLst>
              <a:ext uri="{FF2B5EF4-FFF2-40B4-BE49-F238E27FC236}">
                <a16:creationId xmlns:a16="http://schemas.microsoft.com/office/drawing/2014/main" id="{7E7FE8EE-7AD4-5952-6879-5E43C92F9D41}"/>
              </a:ext>
            </a:extLst>
          </p:cNvPr>
          <p:cNvSpPr txBox="1"/>
          <p:nvPr/>
        </p:nvSpPr>
        <p:spPr>
          <a:xfrm>
            <a:off x="3268013" y="4698788"/>
            <a:ext cx="368627" cy="307777"/>
          </a:xfrm>
          <a:prstGeom prst="rect">
            <a:avLst/>
          </a:prstGeom>
          <a:noFill/>
        </p:spPr>
        <p:txBody>
          <a:bodyPr wrap="none" rtlCol="0">
            <a:spAutoFit/>
          </a:bodyPr>
          <a:lstStyle/>
          <a:p>
            <a:r>
              <a:rPr kumimoji="1" lang="en-US" altLang="zh-TW" sz="1400" dirty="0"/>
              <a:t>PA</a:t>
            </a:r>
            <a:endParaRPr kumimoji="1" lang="zh-TW" altLang="en-US" sz="1400" dirty="0"/>
          </a:p>
        </p:txBody>
      </p:sp>
      <p:sp>
        <p:nvSpPr>
          <p:cNvPr id="128" name="矩形 127">
            <a:extLst>
              <a:ext uri="{FF2B5EF4-FFF2-40B4-BE49-F238E27FC236}">
                <a16:creationId xmlns:a16="http://schemas.microsoft.com/office/drawing/2014/main" id="{56B3F654-10DE-A380-59E8-0FA476F3A6EC}"/>
              </a:ext>
            </a:extLst>
          </p:cNvPr>
          <p:cNvSpPr/>
          <p:nvPr/>
        </p:nvSpPr>
        <p:spPr>
          <a:xfrm>
            <a:off x="9229399" y="5100658"/>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sp>
        <p:nvSpPr>
          <p:cNvPr id="129" name="矩形 128">
            <a:extLst>
              <a:ext uri="{FF2B5EF4-FFF2-40B4-BE49-F238E27FC236}">
                <a16:creationId xmlns:a16="http://schemas.microsoft.com/office/drawing/2014/main" id="{1F49DE3B-2577-CE7A-3997-9DC18692BC6C}"/>
              </a:ext>
            </a:extLst>
          </p:cNvPr>
          <p:cNvSpPr/>
          <p:nvPr/>
        </p:nvSpPr>
        <p:spPr>
          <a:xfrm>
            <a:off x="7893108" y="5100658"/>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sp>
        <p:nvSpPr>
          <p:cNvPr id="130" name="矩形 129">
            <a:extLst>
              <a:ext uri="{FF2B5EF4-FFF2-40B4-BE49-F238E27FC236}">
                <a16:creationId xmlns:a16="http://schemas.microsoft.com/office/drawing/2014/main" id="{8642B124-5E66-B4F5-36E2-725E108D42BE}"/>
              </a:ext>
            </a:extLst>
          </p:cNvPr>
          <p:cNvSpPr/>
          <p:nvPr/>
        </p:nvSpPr>
        <p:spPr>
          <a:xfrm>
            <a:off x="8564804" y="5100658"/>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sp>
        <p:nvSpPr>
          <p:cNvPr id="131" name="矩形 130">
            <a:extLst>
              <a:ext uri="{FF2B5EF4-FFF2-40B4-BE49-F238E27FC236}">
                <a16:creationId xmlns:a16="http://schemas.microsoft.com/office/drawing/2014/main" id="{7E0C7A00-D731-9A6C-6D0B-B23BF3FE2212}"/>
              </a:ext>
            </a:extLst>
          </p:cNvPr>
          <p:cNvSpPr/>
          <p:nvPr/>
        </p:nvSpPr>
        <p:spPr>
          <a:xfrm>
            <a:off x="7224967" y="5100658"/>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sp>
        <p:nvSpPr>
          <p:cNvPr id="138" name="矩形 137">
            <a:extLst>
              <a:ext uri="{FF2B5EF4-FFF2-40B4-BE49-F238E27FC236}">
                <a16:creationId xmlns:a16="http://schemas.microsoft.com/office/drawing/2014/main" id="{3EA03FA4-BEA1-C057-502D-0F9CD3F4DD2E}"/>
              </a:ext>
            </a:extLst>
          </p:cNvPr>
          <p:cNvSpPr/>
          <p:nvPr/>
        </p:nvSpPr>
        <p:spPr>
          <a:xfrm>
            <a:off x="2529685" y="5102705"/>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sp>
        <p:nvSpPr>
          <p:cNvPr id="139" name="矩形 138">
            <a:extLst>
              <a:ext uri="{FF2B5EF4-FFF2-40B4-BE49-F238E27FC236}">
                <a16:creationId xmlns:a16="http://schemas.microsoft.com/office/drawing/2014/main" id="{15A14D8F-833B-6D98-7744-3A89C9DDBB46}"/>
              </a:ext>
            </a:extLst>
          </p:cNvPr>
          <p:cNvSpPr/>
          <p:nvPr/>
        </p:nvSpPr>
        <p:spPr>
          <a:xfrm>
            <a:off x="3201381" y="5102705"/>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sp>
        <p:nvSpPr>
          <p:cNvPr id="140" name="矩形 139">
            <a:extLst>
              <a:ext uri="{FF2B5EF4-FFF2-40B4-BE49-F238E27FC236}">
                <a16:creationId xmlns:a16="http://schemas.microsoft.com/office/drawing/2014/main" id="{A788BCDB-1EB9-15FD-0239-F9FBFA7524C3}"/>
              </a:ext>
            </a:extLst>
          </p:cNvPr>
          <p:cNvSpPr/>
          <p:nvPr/>
        </p:nvSpPr>
        <p:spPr>
          <a:xfrm>
            <a:off x="1861544" y="5102705"/>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grpSp>
        <p:nvGrpSpPr>
          <p:cNvPr id="19" name="群組 18">
            <a:extLst>
              <a:ext uri="{FF2B5EF4-FFF2-40B4-BE49-F238E27FC236}">
                <a16:creationId xmlns:a16="http://schemas.microsoft.com/office/drawing/2014/main" id="{F9757F94-706A-B6EB-A164-BB8873ED7C4F}"/>
              </a:ext>
            </a:extLst>
          </p:cNvPr>
          <p:cNvGrpSpPr/>
          <p:nvPr/>
        </p:nvGrpSpPr>
        <p:grpSpPr>
          <a:xfrm>
            <a:off x="2333139" y="4671995"/>
            <a:ext cx="662541" cy="1305790"/>
            <a:chOff x="2333139" y="4671995"/>
            <a:chExt cx="662541" cy="1305790"/>
          </a:xfrm>
        </p:grpSpPr>
        <p:cxnSp>
          <p:nvCxnSpPr>
            <p:cNvPr id="118" name="直線箭頭接點 117">
              <a:extLst>
                <a:ext uri="{FF2B5EF4-FFF2-40B4-BE49-F238E27FC236}">
                  <a16:creationId xmlns:a16="http://schemas.microsoft.com/office/drawing/2014/main" id="{21B5034F-744F-9655-2C1E-40C9C66943DC}"/>
                </a:ext>
              </a:extLst>
            </p:cNvPr>
            <p:cNvCxnSpPr>
              <a:cxnSpLocks/>
            </p:cNvCxnSpPr>
            <p:nvPr/>
          </p:nvCxnSpPr>
          <p:spPr>
            <a:xfrm>
              <a:off x="2995680" y="4671995"/>
              <a:ext cx="0" cy="282417"/>
            </a:xfrm>
            <a:prstGeom prst="straightConnector1">
              <a:avLst/>
            </a:prstGeom>
            <a:ln w="19050">
              <a:solidFill>
                <a:schemeClr val="tx1"/>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33" name="直線箭頭接點 32">
              <a:extLst>
                <a:ext uri="{FF2B5EF4-FFF2-40B4-BE49-F238E27FC236}">
                  <a16:creationId xmlns:a16="http://schemas.microsoft.com/office/drawing/2014/main" id="{7FA4BE24-14C5-03A1-0A25-26931E571B0C}"/>
                </a:ext>
              </a:extLst>
            </p:cNvPr>
            <p:cNvCxnSpPr>
              <a:cxnSpLocks/>
            </p:cNvCxnSpPr>
            <p:nvPr/>
          </p:nvCxnSpPr>
          <p:spPr>
            <a:xfrm>
              <a:off x="2337578" y="4947969"/>
              <a:ext cx="7" cy="1029816"/>
            </a:xfrm>
            <a:prstGeom prst="straightConnector1">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5" name="橢圓 34">
              <a:extLst>
                <a:ext uri="{FF2B5EF4-FFF2-40B4-BE49-F238E27FC236}">
                  <a16:creationId xmlns:a16="http://schemas.microsoft.com/office/drawing/2014/main" id="{18742618-6F57-5505-3EA1-1C834EAE539E}"/>
                </a:ext>
              </a:extLst>
            </p:cNvPr>
            <p:cNvSpPr/>
            <p:nvPr/>
          </p:nvSpPr>
          <p:spPr>
            <a:xfrm>
              <a:off x="2752680" y="4767867"/>
              <a:ext cx="162000" cy="16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t>1</a:t>
              </a:r>
              <a:endParaRPr kumimoji="1" lang="zh-TW" altLang="en-US" sz="1400" dirty="0"/>
            </a:p>
          </p:txBody>
        </p:sp>
        <p:cxnSp>
          <p:nvCxnSpPr>
            <p:cNvPr id="30" name="直線箭頭接點 29">
              <a:extLst>
                <a:ext uri="{FF2B5EF4-FFF2-40B4-BE49-F238E27FC236}">
                  <a16:creationId xmlns:a16="http://schemas.microsoft.com/office/drawing/2014/main" id="{5608E1A7-A480-D1D1-E399-7569C4C03076}"/>
                </a:ext>
              </a:extLst>
            </p:cNvPr>
            <p:cNvCxnSpPr>
              <a:cxnSpLocks/>
            </p:cNvCxnSpPr>
            <p:nvPr/>
          </p:nvCxnSpPr>
          <p:spPr>
            <a:xfrm>
              <a:off x="2337578" y="5977785"/>
              <a:ext cx="15539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直線箭頭接點 119">
              <a:extLst>
                <a:ext uri="{FF2B5EF4-FFF2-40B4-BE49-F238E27FC236}">
                  <a16:creationId xmlns:a16="http://schemas.microsoft.com/office/drawing/2014/main" id="{D1DB864A-2DCB-E2C9-6B96-8C12EBEE22FF}"/>
                </a:ext>
              </a:extLst>
            </p:cNvPr>
            <p:cNvCxnSpPr>
              <a:cxnSpLocks/>
            </p:cNvCxnSpPr>
            <p:nvPr/>
          </p:nvCxnSpPr>
          <p:spPr>
            <a:xfrm flipH="1">
              <a:off x="2333139" y="4960136"/>
              <a:ext cx="662541" cy="0"/>
            </a:xfrm>
            <a:prstGeom prst="straightConnector1">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27" name="圓角矩形圖說文字 126">
            <a:extLst>
              <a:ext uri="{FF2B5EF4-FFF2-40B4-BE49-F238E27FC236}">
                <a16:creationId xmlns:a16="http://schemas.microsoft.com/office/drawing/2014/main" id="{639A27D7-0A13-BFB4-767D-E56F91476F86}"/>
              </a:ext>
            </a:extLst>
          </p:cNvPr>
          <p:cNvSpPr/>
          <p:nvPr/>
        </p:nvSpPr>
        <p:spPr>
          <a:xfrm>
            <a:off x="57078" y="4365188"/>
            <a:ext cx="1780595" cy="849166"/>
          </a:xfrm>
          <a:prstGeom prst="wedgeRoundRectCallout">
            <a:avLst>
              <a:gd name="adj1" fmla="val 95050"/>
              <a:gd name="adj2" fmla="val 51108"/>
              <a:gd name="adj3" fmla="val 16667"/>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2. How the kernel manages process address space (page)</a:t>
            </a:r>
            <a:endParaRPr kumimoji="1" lang="zh-TW" altLang="en-US" sz="1400" i="1" dirty="0">
              <a:solidFill>
                <a:schemeClr val="tx1"/>
              </a:solidFill>
            </a:endParaRPr>
          </a:p>
        </p:txBody>
      </p:sp>
      <p:sp>
        <p:nvSpPr>
          <p:cNvPr id="8" name="矩形 7">
            <a:extLst>
              <a:ext uri="{FF2B5EF4-FFF2-40B4-BE49-F238E27FC236}">
                <a16:creationId xmlns:a16="http://schemas.microsoft.com/office/drawing/2014/main" id="{721EEEF8-6521-A729-A59C-1654014F4F84}"/>
              </a:ext>
            </a:extLst>
          </p:cNvPr>
          <p:cNvSpPr/>
          <p:nvPr/>
        </p:nvSpPr>
        <p:spPr>
          <a:xfrm>
            <a:off x="2536786" y="5101370"/>
            <a:ext cx="665444" cy="1040144"/>
          </a:xfrm>
          <a:prstGeom prst="rect">
            <a:avLst/>
          </a:prstGeom>
          <a:solidFill>
            <a:schemeClr val="accent4">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 </a:t>
            </a:r>
          </a:p>
          <a:p>
            <a:pPr algn="ctr"/>
            <a:r>
              <a:rPr kumimoji="1" lang="en-US" altLang="zh-TW" sz="1400" dirty="0">
                <a:solidFill>
                  <a:schemeClr val="tx1"/>
                </a:solidFill>
              </a:rPr>
              <a:t>Table</a:t>
            </a:r>
            <a:endParaRPr kumimoji="1" lang="zh-TW" altLang="en-US" sz="1400" dirty="0">
              <a:solidFill>
                <a:schemeClr val="tx1"/>
              </a:solidFill>
            </a:endParaRPr>
          </a:p>
        </p:txBody>
      </p:sp>
      <p:sp>
        <p:nvSpPr>
          <p:cNvPr id="14" name="文字方塊 13">
            <a:extLst>
              <a:ext uri="{FF2B5EF4-FFF2-40B4-BE49-F238E27FC236}">
                <a16:creationId xmlns:a16="http://schemas.microsoft.com/office/drawing/2014/main" id="{28EAB835-3634-98BB-C633-6275DFA6944F}"/>
              </a:ext>
            </a:extLst>
          </p:cNvPr>
          <p:cNvSpPr txBox="1"/>
          <p:nvPr/>
        </p:nvSpPr>
        <p:spPr>
          <a:xfrm>
            <a:off x="1808693" y="6303938"/>
            <a:ext cx="1825115" cy="523220"/>
          </a:xfrm>
          <a:prstGeom prst="rect">
            <a:avLst/>
          </a:prstGeom>
          <a:noFill/>
        </p:spPr>
        <p:txBody>
          <a:bodyPr wrap="none" rtlCol="0">
            <a:spAutoFit/>
          </a:bodyPr>
          <a:lstStyle/>
          <a:p>
            <a:pPr algn="ctr"/>
            <a:r>
              <a:rPr kumimoji="1" lang="en-US" altLang="zh-TW" sz="1400" dirty="0"/>
              <a:t>Assume only one-level</a:t>
            </a:r>
            <a:br>
              <a:rPr kumimoji="1" lang="en-US" altLang="zh-TW" sz="1400" dirty="0"/>
            </a:br>
            <a:r>
              <a:rPr kumimoji="1" lang="en-US" altLang="zh-TW" sz="1400" dirty="0"/>
              <a:t>(4-level Actually)</a:t>
            </a:r>
            <a:endParaRPr kumimoji="1" lang="zh-TW" altLang="en-US" sz="1400" dirty="0"/>
          </a:p>
        </p:txBody>
      </p:sp>
      <p:cxnSp>
        <p:nvCxnSpPr>
          <p:cNvPr id="15" name="曲線接點 14">
            <a:extLst>
              <a:ext uri="{FF2B5EF4-FFF2-40B4-BE49-F238E27FC236}">
                <a16:creationId xmlns:a16="http://schemas.microsoft.com/office/drawing/2014/main" id="{778655B0-9AD5-E939-A71E-64D988B00931}"/>
              </a:ext>
            </a:extLst>
          </p:cNvPr>
          <p:cNvCxnSpPr>
            <a:cxnSpLocks/>
          </p:cNvCxnSpPr>
          <p:nvPr/>
        </p:nvCxnSpPr>
        <p:spPr>
          <a:xfrm rot="5400000" flipH="1" flipV="1">
            <a:off x="2908434" y="6220655"/>
            <a:ext cx="246170" cy="5607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1" name="矩形 140">
            <a:extLst>
              <a:ext uri="{FF2B5EF4-FFF2-40B4-BE49-F238E27FC236}">
                <a16:creationId xmlns:a16="http://schemas.microsoft.com/office/drawing/2014/main" id="{3FDB28E1-DFFD-557D-82F0-A9AE6262BD0F}"/>
              </a:ext>
            </a:extLst>
          </p:cNvPr>
          <p:cNvSpPr/>
          <p:nvPr/>
        </p:nvSpPr>
        <p:spPr>
          <a:xfrm>
            <a:off x="2538906" y="5900222"/>
            <a:ext cx="656957" cy="149432"/>
          </a:xfrm>
          <a:prstGeom prst="rect">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VA</a:t>
            </a:r>
            <a:r>
              <a:rPr kumimoji="1" lang="zh-TW" altLang="en-US" sz="1400" dirty="0">
                <a:solidFill>
                  <a:schemeClr val="tx1"/>
                </a:solidFill>
              </a:rPr>
              <a:t> </a:t>
            </a:r>
            <a:r>
              <a:rPr kumimoji="1" lang="en-US" altLang="zh-TW" sz="1400" dirty="0">
                <a:solidFill>
                  <a:schemeClr val="tx1"/>
                </a:solidFill>
              </a:rPr>
              <a:t>-&gt;</a:t>
            </a:r>
            <a:r>
              <a:rPr kumimoji="1" lang="zh-TW" altLang="en-US" sz="1400" dirty="0">
                <a:solidFill>
                  <a:schemeClr val="tx1"/>
                </a:solidFill>
              </a:rPr>
              <a:t> </a:t>
            </a:r>
            <a:r>
              <a:rPr kumimoji="1" lang="en-US" altLang="zh-TW" sz="1400" dirty="0">
                <a:solidFill>
                  <a:schemeClr val="tx1"/>
                </a:solidFill>
              </a:rPr>
              <a:t>PA</a:t>
            </a:r>
            <a:endParaRPr kumimoji="1" lang="zh-TW" altLang="en-US" sz="1400" dirty="0">
              <a:solidFill>
                <a:schemeClr val="tx1"/>
              </a:solidFill>
            </a:endParaRPr>
          </a:p>
        </p:txBody>
      </p:sp>
      <p:sp>
        <p:nvSpPr>
          <p:cNvPr id="6" name="矩形 5">
            <a:extLst>
              <a:ext uri="{FF2B5EF4-FFF2-40B4-BE49-F238E27FC236}">
                <a16:creationId xmlns:a16="http://schemas.microsoft.com/office/drawing/2014/main" id="{7D4FB393-03CF-2A17-C088-7A0136278FBB}"/>
              </a:ext>
            </a:extLst>
          </p:cNvPr>
          <p:cNvSpPr/>
          <p:nvPr/>
        </p:nvSpPr>
        <p:spPr>
          <a:xfrm>
            <a:off x="8564065" y="5101370"/>
            <a:ext cx="673200" cy="1033200"/>
          </a:xfrm>
          <a:prstGeom prst="rect">
            <a:avLst/>
          </a:prstGeom>
          <a:solidFill>
            <a:schemeClr val="accent4">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 </a:t>
            </a:r>
          </a:p>
          <a:p>
            <a:pPr algn="ctr"/>
            <a:r>
              <a:rPr kumimoji="1" lang="en-US" altLang="zh-TW" sz="1400" dirty="0">
                <a:solidFill>
                  <a:schemeClr val="tx1"/>
                </a:solidFill>
              </a:rPr>
              <a:t>Data</a:t>
            </a:r>
            <a:endParaRPr kumimoji="1" lang="zh-TW" altLang="en-US" sz="1400" dirty="0">
              <a:solidFill>
                <a:schemeClr val="tx1"/>
              </a:solidFill>
            </a:endParaRPr>
          </a:p>
        </p:txBody>
      </p:sp>
      <p:grpSp>
        <p:nvGrpSpPr>
          <p:cNvPr id="18" name="群組 17">
            <a:extLst>
              <a:ext uri="{FF2B5EF4-FFF2-40B4-BE49-F238E27FC236}">
                <a16:creationId xmlns:a16="http://schemas.microsoft.com/office/drawing/2014/main" id="{EE3281A7-E763-6979-FDC1-533B65ECA58D}"/>
              </a:ext>
            </a:extLst>
          </p:cNvPr>
          <p:cNvGrpSpPr/>
          <p:nvPr/>
        </p:nvGrpSpPr>
        <p:grpSpPr>
          <a:xfrm>
            <a:off x="2479636" y="3691669"/>
            <a:ext cx="1031067" cy="386704"/>
            <a:chOff x="2479636" y="3691669"/>
            <a:chExt cx="1031067" cy="386704"/>
          </a:xfrm>
        </p:grpSpPr>
        <p:cxnSp>
          <p:nvCxnSpPr>
            <p:cNvPr id="104" name="曲線接點 103">
              <a:extLst>
                <a:ext uri="{FF2B5EF4-FFF2-40B4-BE49-F238E27FC236}">
                  <a16:creationId xmlns:a16="http://schemas.microsoft.com/office/drawing/2014/main" id="{ADFCBC00-1BC2-1CF4-472A-634C6DD59A6A}"/>
                </a:ext>
              </a:extLst>
            </p:cNvPr>
            <p:cNvCxnSpPr>
              <a:cxnSpLocks/>
              <a:endCxn id="99" idx="0"/>
            </p:cNvCxnSpPr>
            <p:nvPr/>
          </p:nvCxnSpPr>
          <p:spPr>
            <a:xfrm>
              <a:off x="2479636" y="3928941"/>
              <a:ext cx="568141" cy="149432"/>
            </a:xfrm>
            <a:prstGeom prst="curved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文字方塊 15">
              <a:extLst>
                <a:ext uri="{FF2B5EF4-FFF2-40B4-BE49-F238E27FC236}">
                  <a16:creationId xmlns:a16="http://schemas.microsoft.com/office/drawing/2014/main" id="{7E9940F0-0498-24D6-91DD-C51C79A205AC}"/>
                </a:ext>
              </a:extLst>
            </p:cNvPr>
            <p:cNvSpPr txBox="1"/>
            <p:nvPr/>
          </p:nvSpPr>
          <p:spPr>
            <a:xfrm>
              <a:off x="2577434" y="3691669"/>
              <a:ext cx="933269" cy="307777"/>
            </a:xfrm>
            <a:prstGeom prst="rect">
              <a:avLst/>
            </a:prstGeom>
            <a:noFill/>
          </p:spPr>
          <p:txBody>
            <a:bodyPr wrap="none" rtlCol="0">
              <a:spAutoFit/>
            </a:bodyPr>
            <a:lstStyle/>
            <a:p>
              <a:r>
                <a:rPr kumimoji="1" lang="en-US" altLang="zh-TW" sz="1400" dirty="0"/>
                <a:t>Not in TLB</a:t>
              </a:r>
              <a:endParaRPr kumimoji="1" lang="zh-TW" altLang="en-US" sz="1400" dirty="0"/>
            </a:p>
          </p:txBody>
        </p:sp>
      </p:grpSp>
      <p:sp>
        <p:nvSpPr>
          <p:cNvPr id="20" name="文字方塊 19">
            <a:extLst>
              <a:ext uri="{FF2B5EF4-FFF2-40B4-BE49-F238E27FC236}">
                <a16:creationId xmlns:a16="http://schemas.microsoft.com/office/drawing/2014/main" id="{1257DEFF-AA86-9A96-728C-B8CCB6E8FD2D}"/>
              </a:ext>
            </a:extLst>
          </p:cNvPr>
          <p:cNvSpPr txBox="1"/>
          <p:nvPr/>
        </p:nvSpPr>
        <p:spPr>
          <a:xfrm>
            <a:off x="5818971" y="5399204"/>
            <a:ext cx="516488" cy="369332"/>
          </a:xfrm>
          <a:prstGeom prst="rect">
            <a:avLst/>
          </a:prstGeom>
          <a:noFill/>
        </p:spPr>
        <p:txBody>
          <a:bodyPr wrap="none" rtlCol="0">
            <a:spAutoFit/>
          </a:bodyPr>
          <a:lstStyle/>
          <a:p>
            <a:r>
              <a:rPr kumimoji="1" lang="en-US" altLang="zh-TW" dirty="0"/>
              <a:t>……</a:t>
            </a:r>
            <a:endParaRPr kumimoji="1" lang="zh-TW" altLang="en-US" dirty="0"/>
          </a:p>
        </p:txBody>
      </p:sp>
      <p:sp>
        <p:nvSpPr>
          <p:cNvPr id="21" name="矩形 20">
            <a:extLst>
              <a:ext uri="{FF2B5EF4-FFF2-40B4-BE49-F238E27FC236}">
                <a16:creationId xmlns:a16="http://schemas.microsoft.com/office/drawing/2014/main" id="{C4922110-1909-AA84-09AC-3B6145F046B3}"/>
              </a:ext>
            </a:extLst>
          </p:cNvPr>
          <p:cNvSpPr/>
          <p:nvPr/>
        </p:nvSpPr>
        <p:spPr>
          <a:xfrm>
            <a:off x="4544190" y="5101254"/>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sp>
        <p:nvSpPr>
          <p:cNvPr id="22" name="文字方塊 21">
            <a:extLst>
              <a:ext uri="{FF2B5EF4-FFF2-40B4-BE49-F238E27FC236}">
                <a16:creationId xmlns:a16="http://schemas.microsoft.com/office/drawing/2014/main" id="{FF0FA2CB-FD0F-B33C-D6EB-C0FD3280C431}"/>
              </a:ext>
            </a:extLst>
          </p:cNvPr>
          <p:cNvSpPr txBox="1"/>
          <p:nvPr/>
        </p:nvSpPr>
        <p:spPr>
          <a:xfrm>
            <a:off x="3903748" y="5399204"/>
            <a:ext cx="516488" cy="369332"/>
          </a:xfrm>
          <a:prstGeom prst="rect">
            <a:avLst/>
          </a:prstGeom>
          <a:noFill/>
        </p:spPr>
        <p:txBody>
          <a:bodyPr wrap="none" rtlCol="0">
            <a:spAutoFit/>
          </a:bodyPr>
          <a:lstStyle/>
          <a:p>
            <a:r>
              <a:rPr kumimoji="1" lang="en-US" altLang="zh-TW" dirty="0"/>
              <a:t>……</a:t>
            </a:r>
            <a:endParaRPr kumimoji="1" lang="zh-TW" altLang="en-US" dirty="0"/>
          </a:p>
        </p:txBody>
      </p:sp>
    </p:spTree>
    <p:extLst>
      <p:ext uri="{BB962C8B-B14F-4D97-AF65-F5344CB8AC3E}">
        <p14:creationId xmlns:p14="http://schemas.microsoft.com/office/powerpoint/2010/main" val="1746071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p:cTn id="6" dur="indefinite"/>
                                        <p:tgtEl>
                                          <p:spTgt spid="3">
                                            <p:txEl>
                                              <p:pRg st="0" end="0"/>
                                            </p:txEl>
                                          </p:spTgt>
                                        </p:tgtEl>
                                        <p:attrNameLst>
                                          <p:attrName>style.opacity</p:attrName>
                                        </p:attrNameLst>
                                      </p:cBhvr>
                                      <p:to>
                                        <p:strVal val="0.5"/>
                                      </p:to>
                                    </p:set>
                                    <p:animEffect filter="image" prLst="opacity: 0.5">
                                      <p:cBhvr rctx="IE">
                                        <p:cTn id="7" dur="indefinite"/>
                                        <p:tgtEl>
                                          <p:spTgt spid="3">
                                            <p:txEl>
                                              <p:pRg st="0" end="0"/>
                                            </p:txEl>
                                          </p:spTgt>
                                        </p:tgtEl>
                                      </p:cBhvr>
                                    </p:animEffect>
                                  </p:childTnLst>
                                </p:cTn>
                              </p:par>
                              <p:par>
                                <p:cTn id="8" presetID="9" presetClass="emph" presetSubtype="0" nodeType="withEffect">
                                  <p:stCondLst>
                                    <p:cond delay="0"/>
                                  </p:stCondLst>
                                  <p:childTnLst>
                                    <p:set>
                                      <p:cBhvr>
                                        <p:cTn id="9" dur="indefinite"/>
                                        <p:tgtEl>
                                          <p:spTgt spid="3">
                                            <p:txEl>
                                              <p:pRg st="1" end="1"/>
                                            </p:txEl>
                                          </p:spTgt>
                                        </p:tgtEl>
                                        <p:attrNameLst>
                                          <p:attrName>style.opacity</p:attrName>
                                        </p:attrNameLst>
                                      </p:cBhvr>
                                      <p:to>
                                        <p:strVal val="0.5"/>
                                      </p:to>
                                    </p:set>
                                    <p:animEffect filter="image" prLst="opacity: 0.5">
                                      <p:cBhvr rctx="IE">
                                        <p:cTn id="10" dur="indefinite"/>
                                        <p:tgtEl>
                                          <p:spTgt spid="3">
                                            <p:txEl>
                                              <p:pRg st="1" end="1"/>
                                            </p:txEl>
                                          </p:spTgt>
                                        </p:tgtEl>
                                      </p:cBhvr>
                                    </p:animEffect>
                                  </p:childTnLst>
                                </p:cTn>
                              </p:par>
                              <p:par>
                                <p:cTn id="11" presetID="9" presetClass="emph" presetSubtype="0" nodeType="withEffect">
                                  <p:stCondLst>
                                    <p:cond delay="0"/>
                                  </p:stCondLst>
                                  <p:childTnLst>
                                    <p:set>
                                      <p:cBhvr>
                                        <p:cTn id="12" dur="indefinite"/>
                                        <p:tgtEl>
                                          <p:spTgt spid="3">
                                            <p:txEl>
                                              <p:pRg st="2" end="2"/>
                                            </p:txEl>
                                          </p:spTgt>
                                        </p:tgtEl>
                                        <p:attrNameLst>
                                          <p:attrName>style.opacity</p:attrName>
                                        </p:attrNameLst>
                                      </p:cBhvr>
                                      <p:to>
                                        <p:strVal val="0.5"/>
                                      </p:to>
                                    </p:set>
                                    <p:animEffect filter="image" prLst="opacity: 0.5">
                                      <p:cBhvr rctx="IE">
                                        <p:cTn id="13" dur="indefinite"/>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99"/>
                                        </p:tgtEl>
                                        <p:attrNameLst>
                                          <p:attrName>style.visibility</p:attrName>
                                        </p:attrNameLst>
                                      </p:cBhvr>
                                      <p:to>
                                        <p:strVal val="visible"/>
                                      </p:to>
                                    </p:set>
                                    <p:animEffect transition="in" filter="wipe(up)">
                                      <p:cBhvr>
                                        <p:cTn id="18" dur="500"/>
                                        <p:tgtEl>
                                          <p:spTgt spid="99"/>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98"/>
                                        </p:tgtEl>
                                        <p:attrNameLst>
                                          <p:attrName>style.visibility</p:attrName>
                                        </p:attrNameLst>
                                      </p:cBhvr>
                                      <p:to>
                                        <p:strVal val="visible"/>
                                      </p:to>
                                    </p:set>
                                    <p:animEffect transition="in" filter="wipe(up)">
                                      <p:cBhvr>
                                        <p:cTn id="21" dur="500"/>
                                        <p:tgtEl>
                                          <p:spTgt spid="9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1"/>
                                        </p:tgtEl>
                                        <p:attrNameLst>
                                          <p:attrName>style.visibility</p:attrName>
                                        </p:attrNameLst>
                                      </p:cBhvr>
                                      <p:to>
                                        <p:strVal val="visible"/>
                                      </p:to>
                                    </p:set>
                                    <p:animEffect transition="in" filter="fade">
                                      <p:cBhvr>
                                        <p:cTn id="29" dur="500"/>
                                        <p:tgtEl>
                                          <p:spTgt spid="1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up)">
                                      <p:cBhvr>
                                        <p:cTn id="39" dur="500"/>
                                        <p:tgtEl>
                                          <p:spTgt spid="19"/>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wipe(left)">
                                      <p:cBhvr>
                                        <p:cTn id="44" dur="500"/>
                                        <p:tgtEl>
                                          <p:spTgt spid="34"/>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wipe(left)">
                                      <p:cBhvr>
                                        <p:cTn id="47" dur="500"/>
                                        <p:tgtEl>
                                          <p:spTgt spid="36"/>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12"/>
                                        </p:tgtEl>
                                        <p:attrNameLst>
                                          <p:attrName>style.visibility</p:attrName>
                                        </p:attrNameLst>
                                      </p:cBhvr>
                                      <p:to>
                                        <p:strVal val="visible"/>
                                      </p:to>
                                    </p:set>
                                    <p:animEffect transition="in" filter="wipe(left)">
                                      <p:cBhvr>
                                        <p:cTn id="50" dur="500"/>
                                        <p:tgtEl>
                                          <p:spTgt spid="11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27"/>
                                        </p:tgtEl>
                                        <p:attrNameLst>
                                          <p:attrName>style.visibility</p:attrName>
                                        </p:attrNameLst>
                                      </p:cBhvr>
                                      <p:to>
                                        <p:strVal val="visible"/>
                                      </p:to>
                                    </p:set>
                                    <p:animEffect transition="in" filter="fade">
                                      <p:cBhvr>
                                        <p:cTn id="55"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98" grpId="0" animBg="1"/>
      <p:bldP spid="99" grpId="0" animBg="1"/>
      <p:bldP spid="111" grpId="0" animBg="1"/>
      <p:bldP spid="112" grpId="0"/>
      <p:bldP spid="12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F17210-4894-6094-D97D-9F900E25C87F}"/>
              </a:ext>
            </a:extLst>
          </p:cNvPr>
          <p:cNvSpPr>
            <a:spLocks noGrp="1"/>
          </p:cNvSpPr>
          <p:nvPr>
            <p:ph type="title"/>
          </p:nvPr>
        </p:nvSpPr>
        <p:spPr/>
        <p:txBody>
          <a:bodyPr/>
          <a:lstStyle/>
          <a:p>
            <a:r>
              <a:rPr kumimoji="1" lang="en-US" altLang="zh-TW" dirty="0"/>
              <a:t>Manage Physical Address (Page Frame)</a:t>
            </a:r>
            <a:endParaRPr kumimoji="1" lang="zh-TW" altLang="en-US" dirty="0"/>
          </a:p>
        </p:txBody>
      </p:sp>
      <p:sp>
        <p:nvSpPr>
          <p:cNvPr id="3" name="內容版面配置區 2">
            <a:extLst>
              <a:ext uri="{FF2B5EF4-FFF2-40B4-BE49-F238E27FC236}">
                <a16:creationId xmlns:a16="http://schemas.microsoft.com/office/drawing/2014/main" id="{224DD704-CCC1-6CAA-B9E0-14F83FD49670}"/>
              </a:ext>
            </a:extLst>
          </p:cNvPr>
          <p:cNvSpPr>
            <a:spLocks noGrp="1"/>
          </p:cNvSpPr>
          <p:nvPr>
            <p:ph idx="1"/>
          </p:nvPr>
        </p:nvSpPr>
        <p:spPr/>
        <p:txBody>
          <a:bodyPr/>
          <a:lstStyle/>
          <a:p>
            <a:pPr algn="l"/>
            <a:r>
              <a:rPr kumimoji="1" lang="en-US" altLang="zh-TW" dirty="0"/>
              <a:t>Although the processor’s smallest addressable unit is a byte, the </a:t>
            </a:r>
            <a:r>
              <a:rPr kumimoji="1" lang="en-US" altLang="zh-TW" dirty="0">
                <a:solidFill>
                  <a:srgbClr val="C00000"/>
                </a:solidFill>
              </a:rPr>
              <a:t>memory management unit (MMU) typically deals in pages</a:t>
            </a:r>
            <a:r>
              <a:rPr kumimoji="1" lang="en-US" altLang="zh-TW" dirty="0"/>
              <a:t> (e.g., 4KB or 8KB).</a:t>
            </a:r>
          </a:p>
          <a:p>
            <a:pPr algn="l"/>
            <a:r>
              <a:rPr kumimoji="1" lang="en-US" altLang="zh-TW" dirty="0">
                <a:solidFill>
                  <a:srgbClr val="C00000"/>
                </a:solidFill>
              </a:rPr>
              <a:t>Each page frame</a:t>
            </a:r>
            <a:r>
              <a:rPr kumimoji="1" lang="en-US" altLang="zh-TW" dirty="0"/>
              <a:t> is managed by </a:t>
            </a:r>
            <a:r>
              <a:rPr lang="en-US" altLang="zh-TW" dirty="0">
                <a:solidFill>
                  <a:srgbClr val="C00000"/>
                </a:solidFill>
              </a:rPr>
              <a:t>a </a:t>
            </a:r>
            <a:r>
              <a:rPr lang="en-US" altLang="zh-TW" dirty="0">
                <a:solidFill>
                  <a:srgbClr val="C00000"/>
                </a:solidFill>
                <a:latin typeface="+mj-lt"/>
              </a:rPr>
              <a:t>struct page</a:t>
            </a:r>
            <a:r>
              <a:rPr lang="en-US" altLang="zh-TW" dirty="0">
                <a:solidFill>
                  <a:srgbClr val="C00000"/>
                </a:solidFill>
              </a:rPr>
              <a:t> </a:t>
            </a:r>
            <a:r>
              <a:rPr lang="en-US" altLang="zh-TW" dirty="0"/>
              <a:t>structure </a:t>
            </a:r>
            <a:br>
              <a:rPr lang="en-US" altLang="zh-TW" dirty="0"/>
            </a:br>
            <a:r>
              <a:rPr lang="en-US" altLang="zh-TW" i="1" dirty="0"/>
              <a:t>(</a:t>
            </a:r>
            <a:r>
              <a:rPr kumimoji="1" lang="en-US" altLang="zh-TW" i="1" dirty="0">
                <a:latin typeface="+mj-lt"/>
              </a:rPr>
              <a:t>struct page </a:t>
            </a:r>
            <a:r>
              <a:rPr kumimoji="1" lang="en-US" altLang="zh-TW" i="1" dirty="0"/>
              <a:t>is associated with physical pages, not virtual pages</a:t>
            </a:r>
            <a:r>
              <a:rPr lang="en-US" altLang="zh-TW" i="1" dirty="0"/>
              <a:t>)</a:t>
            </a:r>
          </a:p>
          <a:p>
            <a:pPr algn="l"/>
            <a:r>
              <a:rPr kumimoji="1" lang="en-US" altLang="zh-TW" dirty="0"/>
              <a:t>Overhead: 40B for each </a:t>
            </a:r>
            <a:r>
              <a:rPr kumimoji="1" lang="en-US" altLang="zh-TW" dirty="0">
                <a:latin typeface="+mj-lt"/>
              </a:rPr>
              <a:t>struct page</a:t>
            </a:r>
            <a:r>
              <a:rPr kumimoji="1" lang="en-US" altLang="zh-TW" dirty="0"/>
              <a:t>, 4KB for each page frame, 4GB DRAM   </a:t>
            </a:r>
            <a:br>
              <a:rPr kumimoji="1" lang="en-US" altLang="zh-TW" dirty="0"/>
            </a:br>
            <a:r>
              <a:rPr kumimoji="1" lang="en-US" altLang="zh-TW" b="1" dirty="0">
                <a:solidFill>
                  <a:srgbClr val="C00000"/>
                </a:solidFill>
              </a:rPr>
              <a:t>Require </a:t>
            </a:r>
            <a:r>
              <a:rPr kumimoji="1" lang="en-US" altLang="zh-TW" b="1">
                <a:solidFill>
                  <a:srgbClr val="C00000"/>
                </a:solidFill>
              </a:rPr>
              <a:t>Only 40MB</a:t>
            </a:r>
            <a:r>
              <a:rPr kumimoji="1" lang="en-US" altLang="zh-TW">
                <a:solidFill>
                  <a:srgbClr val="C00000"/>
                </a:solidFill>
              </a:rPr>
              <a:t> </a:t>
            </a:r>
            <a:endParaRPr kumimoji="1" lang="zh-TW" altLang="en-US" dirty="0">
              <a:solidFill>
                <a:srgbClr val="C00000"/>
              </a:solidFill>
            </a:endParaRPr>
          </a:p>
        </p:txBody>
      </p:sp>
      <p:sp>
        <p:nvSpPr>
          <p:cNvPr id="4" name="投影片編號版面配置區 3">
            <a:extLst>
              <a:ext uri="{FF2B5EF4-FFF2-40B4-BE49-F238E27FC236}">
                <a16:creationId xmlns:a16="http://schemas.microsoft.com/office/drawing/2014/main" id="{BB297A69-424A-5E02-6B78-FC61E498E9FD}"/>
              </a:ext>
            </a:extLst>
          </p:cNvPr>
          <p:cNvSpPr>
            <a:spLocks noGrp="1"/>
          </p:cNvSpPr>
          <p:nvPr>
            <p:ph type="sldNum" sz="quarter" idx="4"/>
          </p:nvPr>
        </p:nvSpPr>
        <p:spPr/>
        <p:txBody>
          <a:bodyPr/>
          <a:lstStyle/>
          <a:p>
            <a:fld id="{E24E6636-6BA5-4AAC-8485-BE8D914D288B}" type="slidenum">
              <a:rPr lang="zh-TW" altLang="en-US" smtClean="0"/>
              <a:pPr/>
              <a:t>11</a:t>
            </a:fld>
            <a:endParaRPr lang="zh-TW" altLang="en-US" dirty="0"/>
          </a:p>
        </p:txBody>
      </p:sp>
      <p:sp>
        <p:nvSpPr>
          <p:cNvPr id="5" name="文字方塊 4">
            <a:extLst>
              <a:ext uri="{FF2B5EF4-FFF2-40B4-BE49-F238E27FC236}">
                <a16:creationId xmlns:a16="http://schemas.microsoft.com/office/drawing/2014/main" id="{F67AD4D4-B26D-CEE2-65B3-6F4E0D764BCD}"/>
              </a:ext>
            </a:extLst>
          </p:cNvPr>
          <p:cNvSpPr txBox="1"/>
          <p:nvPr/>
        </p:nvSpPr>
        <p:spPr>
          <a:xfrm>
            <a:off x="4031638" y="3768132"/>
            <a:ext cx="3916608" cy="2912068"/>
          </a:xfrm>
          <a:prstGeom prst="rect">
            <a:avLst/>
          </a:prstGeom>
          <a:noFill/>
        </p:spPr>
        <p:txBody>
          <a:bodyPr wrap="square" rtlCol="0">
            <a:spAutoFit/>
          </a:bodyPr>
          <a:lstStyle/>
          <a:p>
            <a:r>
              <a:rPr kumimoji="1" lang="en-US" altLang="zh-TW" dirty="0">
                <a:latin typeface="+mj-lt"/>
              </a:rPr>
              <a:t>struct page {</a:t>
            </a:r>
          </a:p>
          <a:p>
            <a:r>
              <a:rPr kumimoji="1" lang="en-US" altLang="zh-TW" dirty="0">
                <a:latin typeface="+mj-lt"/>
              </a:rPr>
              <a:t>unsigned long                    flags;</a:t>
            </a:r>
          </a:p>
          <a:p>
            <a:r>
              <a:rPr kumimoji="1" lang="en-US" altLang="zh-TW" dirty="0" err="1">
                <a:latin typeface="+mj-lt"/>
              </a:rPr>
              <a:t>atomic_t</a:t>
            </a:r>
            <a:r>
              <a:rPr kumimoji="1" lang="en-US" altLang="zh-TW" dirty="0">
                <a:latin typeface="+mj-lt"/>
              </a:rPr>
              <a:t>                              _count;</a:t>
            </a:r>
          </a:p>
          <a:p>
            <a:r>
              <a:rPr kumimoji="1" lang="en-US" altLang="zh-TW" dirty="0" err="1">
                <a:latin typeface="+mj-lt"/>
              </a:rPr>
              <a:t>atomic_t</a:t>
            </a:r>
            <a:r>
              <a:rPr kumimoji="1" lang="en-US" altLang="zh-TW" dirty="0">
                <a:latin typeface="+mj-lt"/>
              </a:rPr>
              <a:t>                              _</a:t>
            </a:r>
            <a:r>
              <a:rPr kumimoji="1" lang="en-US" altLang="zh-TW" dirty="0" err="1">
                <a:latin typeface="+mj-lt"/>
              </a:rPr>
              <a:t>mapcount</a:t>
            </a:r>
            <a:r>
              <a:rPr kumimoji="1" lang="en-US" altLang="zh-TW" dirty="0">
                <a:latin typeface="+mj-lt"/>
              </a:rPr>
              <a:t>;</a:t>
            </a:r>
          </a:p>
          <a:p>
            <a:r>
              <a:rPr kumimoji="1" lang="en-US" altLang="zh-TW" dirty="0">
                <a:latin typeface="+mj-lt"/>
              </a:rPr>
              <a:t>unsigned long                    private;</a:t>
            </a:r>
          </a:p>
          <a:p>
            <a:r>
              <a:rPr kumimoji="1" lang="en-US" altLang="zh-TW" dirty="0">
                <a:latin typeface="+mj-lt"/>
              </a:rPr>
              <a:t>struct </a:t>
            </a:r>
            <a:r>
              <a:rPr kumimoji="1" lang="en-US" altLang="zh-TW" dirty="0" err="1">
                <a:latin typeface="+mj-lt"/>
              </a:rPr>
              <a:t>address_space</a:t>
            </a:r>
            <a:r>
              <a:rPr kumimoji="1" lang="en-US" altLang="zh-TW" dirty="0">
                <a:latin typeface="+mj-lt"/>
              </a:rPr>
              <a:t>        *mapping;</a:t>
            </a:r>
          </a:p>
          <a:p>
            <a:r>
              <a:rPr kumimoji="1" lang="en-US" altLang="zh-TW" dirty="0" err="1">
                <a:latin typeface="+mj-lt"/>
              </a:rPr>
              <a:t>pgoff_t</a:t>
            </a:r>
            <a:r>
              <a:rPr kumimoji="1" lang="en-US" altLang="zh-TW" dirty="0">
                <a:latin typeface="+mj-lt"/>
              </a:rPr>
              <a:t>                                 index;</a:t>
            </a:r>
          </a:p>
          <a:p>
            <a:r>
              <a:rPr kumimoji="1" lang="en-US" altLang="zh-TW" dirty="0">
                <a:latin typeface="+mj-lt"/>
              </a:rPr>
              <a:t>struct </a:t>
            </a:r>
            <a:r>
              <a:rPr kumimoji="1" lang="en-US" altLang="zh-TW" dirty="0" err="1">
                <a:latin typeface="+mj-lt"/>
              </a:rPr>
              <a:t>list_head</a:t>
            </a:r>
            <a:r>
              <a:rPr kumimoji="1" lang="en-US" altLang="zh-TW" dirty="0">
                <a:latin typeface="+mj-lt"/>
              </a:rPr>
              <a:t>                   </a:t>
            </a:r>
            <a:r>
              <a:rPr kumimoji="1" lang="en-US" altLang="zh-TW" dirty="0" err="1">
                <a:latin typeface="+mj-lt"/>
              </a:rPr>
              <a:t>lru</a:t>
            </a:r>
            <a:r>
              <a:rPr kumimoji="1" lang="en-US" altLang="zh-TW" dirty="0">
                <a:latin typeface="+mj-lt"/>
              </a:rPr>
              <a:t>;</a:t>
            </a:r>
          </a:p>
          <a:p>
            <a:r>
              <a:rPr kumimoji="1" lang="en-US" altLang="zh-TW" dirty="0">
                <a:latin typeface="+mj-lt"/>
              </a:rPr>
              <a:t>Void                                       *virtual;</a:t>
            </a:r>
          </a:p>
          <a:p>
            <a:r>
              <a:rPr kumimoji="1" lang="en-US" altLang="zh-TW" dirty="0">
                <a:latin typeface="+mj-lt"/>
              </a:rPr>
              <a:t>};</a:t>
            </a:r>
            <a:endParaRPr kumimoji="1" lang="zh-TW" altLang="en-US" dirty="0">
              <a:latin typeface="+mj-lt"/>
            </a:endParaRPr>
          </a:p>
        </p:txBody>
      </p:sp>
      <p:sp>
        <p:nvSpPr>
          <p:cNvPr id="6" name="文字方塊 5">
            <a:extLst>
              <a:ext uri="{FF2B5EF4-FFF2-40B4-BE49-F238E27FC236}">
                <a16:creationId xmlns:a16="http://schemas.microsoft.com/office/drawing/2014/main" id="{935B4C0F-5CAF-0F66-4B4E-223F3AFECF1B}"/>
              </a:ext>
            </a:extLst>
          </p:cNvPr>
          <p:cNvSpPr txBox="1"/>
          <p:nvPr/>
        </p:nvSpPr>
        <p:spPr>
          <a:xfrm>
            <a:off x="7565636" y="5967693"/>
            <a:ext cx="2887619" cy="369332"/>
          </a:xfrm>
          <a:prstGeom prst="rect">
            <a:avLst/>
          </a:prstGeom>
          <a:noFill/>
        </p:spPr>
        <p:txBody>
          <a:bodyPr wrap="square" rtlCol="0">
            <a:spAutoFit/>
          </a:bodyPr>
          <a:lstStyle/>
          <a:p>
            <a:r>
              <a:rPr kumimoji="1" lang="en-US" altLang="zh-TW" dirty="0">
                <a:solidFill>
                  <a:srgbClr val="C00000"/>
                </a:solidFill>
                <a:sym typeface="Wingdings" pitchFamily="2" charset="2"/>
              </a:rPr>
              <a:t> </a:t>
            </a:r>
            <a:r>
              <a:rPr kumimoji="1" lang="en-US" altLang="zh-TW" dirty="0">
                <a:solidFill>
                  <a:srgbClr val="C00000"/>
                </a:solidFill>
              </a:rPr>
              <a:t>Page’s virtual address</a:t>
            </a:r>
            <a:endParaRPr kumimoji="1" lang="zh-TW" altLang="en-US" dirty="0">
              <a:solidFill>
                <a:srgbClr val="C00000"/>
              </a:solidFill>
            </a:endParaRPr>
          </a:p>
        </p:txBody>
      </p:sp>
      <p:sp>
        <p:nvSpPr>
          <p:cNvPr id="7" name="文字方塊 6">
            <a:extLst>
              <a:ext uri="{FF2B5EF4-FFF2-40B4-BE49-F238E27FC236}">
                <a16:creationId xmlns:a16="http://schemas.microsoft.com/office/drawing/2014/main" id="{D6967448-B85B-964D-D7D4-B74AE577F007}"/>
              </a:ext>
            </a:extLst>
          </p:cNvPr>
          <p:cNvSpPr txBox="1"/>
          <p:nvPr/>
        </p:nvSpPr>
        <p:spPr>
          <a:xfrm>
            <a:off x="7565635" y="4023494"/>
            <a:ext cx="2887619" cy="369332"/>
          </a:xfrm>
          <a:prstGeom prst="rect">
            <a:avLst/>
          </a:prstGeom>
          <a:noFill/>
        </p:spPr>
        <p:txBody>
          <a:bodyPr wrap="square" rtlCol="0">
            <a:spAutoFit/>
          </a:bodyPr>
          <a:lstStyle/>
          <a:p>
            <a:r>
              <a:rPr kumimoji="1" lang="en-US" altLang="zh-TW" dirty="0">
                <a:solidFill>
                  <a:srgbClr val="C00000"/>
                </a:solidFill>
                <a:sym typeface="Wingdings" pitchFamily="2" charset="2"/>
              </a:rPr>
              <a:t> </a:t>
            </a:r>
            <a:r>
              <a:rPr kumimoji="1" lang="en-US" altLang="zh-TW" dirty="0">
                <a:solidFill>
                  <a:srgbClr val="C00000"/>
                </a:solidFill>
              </a:rPr>
              <a:t>status, e.g., dirty, lock</a:t>
            </a:r>
            <a:endParaRPr kumimoji="1" lang="zh-TW" altLang="en-US" dirty="0">
              <a:solidFill>
                <a:srgbClr val="C00000"/>
              </a:solidFill>
            </a:endParaRPr>
          </a:p>
        </p:txBody>
      </p:sp>
      <p:sp>
        <p:nvSpPr>
          <p:cNvPr id="8" name="文字方塊 7">
            <a:extLst>
              <a:ext uri="{FF2B5EF4-FFF2-40B4-BE49-F238E27FC236}">
                <a16:creationId xmlns:a16="http://schemas.microsoft.com/office/drawing/2014/main" id="{E3079FFD-0CFF-50B3-0719-3A5946E7C03D}"/>
              </a:ext>
            </a:extLst>
          </p:cNvPr>
          <p:cNvSpPr txBox="1"/>
          <p:nvPr/>
        </p:nvSpPr>
        <p:spPr>
          <a:xfrm>
            <a:off x="7565635" y="5167181"/>
            <a:ext cx="3718892" cy="369332"/>
          </a:xfrm>
          <a:prstGeom prst="rect">
            <a:avLst/>
          </a:prstGeom>
          <a:noFill/>
        </p:spPr>
        <p:txBody>
          <a:bodyPr wrap="square" rtlCol="0">
            <a:spAutoFit/>
          </a:bodyPr>
          <a:lstStyle/>
          <a:p>
            <a:r>
              <a:rPr kumimoji="1" lang="en-US" altLang="zh-TW" dirty="0">
                <a:solidFill>
                  <a:srgbClr val="C00000"/>
                </a:solidFill>
                <a:sym typeface="Wingdings" pitchFamily="2" charset="2"/>
              </a:rPr>
              <a:t> If the page is used by page cache</a:t>
            </a:r>
            <a:endParaRPr kumimoji="1" lang="zh-TW" altLang="en-US" dirty="0">
              <a:solidFill>
                <a:srgbClr val="C00000"/>
              </a:solidFill>
            </a:endParaRPr>
          </a:p>
        </p:txBody>
      </p:sp>
      <p:sp>
        <p:nvSpPr>
          <p:cNvPr id="9" name="文字方塊 8">
            <a:extLst>
              <a:ext uri="{FF2B5EF4-FFF2-40B4-BE49-F238E27FC236}">
                <a16:creationId xmlns:a16="http://schemas.microsoft.com/office/drawing/2014/main" id="{3A679321-A803-3B3C-487B-B50BAF187901}"/>
              </a:ext>
            </a:extLst>
          </p:cNvPr>
          <p:cNvSpPr txBox="1"/>
          <p:nvPr/>
        </p:nvSpPr>
        <p:spPr>
          <a:xfrm>
            <a:off x="7565634" y="4320686"/>
            <a:ext cx="2887619" cy="369332"/>
          </a:xfrm>
          <a:prstGeom prst="rect">
            <a:avLst/>
          </a:prstGeom>
          <a:noFill/>
        </p:spPr>
        <p:txBody>
          <a:bodyPr wrap="square" rtlCol="0">
            <a:spAutoFit/>
          </a:bodyPr>
          <a:lstStyle/>
          <a:p>
            <a:r>
              <a:rPr kumimoji="1" lang="en-US" altLang="zh-TW" dirty="0">
                <a:solidFill>
                  <a:srgbClr val="C00000"/>
                </a:solidFill>
                <a:sym typeface="Wingdings" pitchFamily="2" charset="2"/>
              </a:rPr>
              <a:t> </a:t>
            </a:r>
            <a:r>
              <a:rPr kumimoji="1" lang="en-US" altLang="zh-TW" dirty="0">
                <a:solidFill>
                  <a:srgbClr val="C00000"/>
                </a:solidFill>
              </a:rPr>
              <a:t>How many references.</a:t>
            </a:r>
            <a:endParaRPr kumimoji="1" lang="zh-TW" altLang="en-US" dirty="0">
              <a:solidFill>
                <a:srgbClr val="C00000"/>
              </a:solidFill>
            </a:endParaRPr>
          </a:p>
        </p:txBody>
      </p:sp>
      <p:sp>
        <p:nvSpPr>
          <p:cNvPr id="10" name="文字方塊 9">
            <a:extLst>
              <a:ext uri="{FF2B5EF4-FFF2-40B4-BE49-F238E27FC236}">
                <a16:creationId xmlns:a16="http://schemas.microsoft.com/office/drawing/2014/main" id="{19C52A5F-019F-388E-DFA3-4D3B60BA6B30}"/>
              </a:ext>
            </a:extLst>
          </p:cNvPr>
          <p:cNvSpPr txBox="1"/>
          <p:nvPr/>
        </p:nvSpPr>
        <p:spPr>
          <a:xfrm>
            <a:off x="7565633" y="5679963"/>
            <a:ext cx="3521467" cy="369332"/>
          </a:xfrm>
          <a:prstGeom prst="rect">
            <a:avLst/>
          </a:prstGeom>
          <a:noFill/>
        </p:spPr>
        <p:txBody>
          <a:bodyPr wrap="square" rtlCol="0">
            <a:spAutoFit/>
          </a:bodyPr>
          <a:lstStyle/>
          <a:p>
            <a:r>
              <a:rPr kumimoji="1" lang="en-US" altLang="zh-TW" dirty="0">
                <a:solidFill>
                  <a:srgbClr val="C00000"/>
                </a:solidFill>
                <a:sym typeface="Wingdings" pitchFamily="2" charset="2"/>
              </a:rPr>
              <a:t> </a:t>
            </a:r>
            <a:r>
              <a:rPr kumimoji="1" lang="en-US" altLang="zh-TW" dirty="0">
                <a:solidFill>
                  <a:srgbClr val="C00000"/>
                </a:solidFill>
              </a:rPr>
              <a:t>For the page replacement policy</a:t>
            </a:r>
            <a:endParaRPr kumimoji="1" lang="zh-TW" altLang="en-US" dirty="0">
              <a:solidFill>
                <a:srgbClr val="C00000"/>
              </a:solidFill>
            </a:endParaRPr>
          </a:p>
        </p:txBody>
      </p:sp>
      <p:sp>
        <p:nvSpPr>
          <p:cNvPr id="11" name="文字方塊 10">
            <a:extLst>
              <a:ext uri="{FF2B5EF4-FFF2-40B4-BE49-F238E27FC236}">
                <a16:creationId xmlns:a16="http://schemas.microsoft.com/office/drawing/2014/main" id="{11F7FFFE-8BC2-9FE6-13F6-7D22E9331977}"/>
              </a:ext>
            </a:extLst>
          </p:cNvPr>
          <p:cNvSpPr txBox="1"/>
          <p:nvPr/>
        </p:nvSpPr>
        <p:spPr>
          <a:xfrm>
            <a:off x="7565633" y="5421999"/>
            <a:ext cx="3521467" cy="369332"/>
          </a:xfrm>
          <a:prstGeom prst="rect">
            <a:avLst/>
          </a:prstGeom>
          <a:noFill/>
        </p:spPr>
        <p:txBody>
          <a:bodyPr wrap="square" rtlCol="0">
            <a:spAutoFit/>
          </a:bodyPr>
          <a:lstStyle/>
          <a:p>
            <a:r>
              <a:rPr kumimoji="1" lang="en-US" altLang="zh-TW" dirty="0">
                <a:solidFill>
                  <a:srgbClr val="C00000"/>
                </a:solidFill>
                <a:sym typeface="Wingdings" pitchFamily="2" charset="2"/>
              </a:rPr>
              <a:t> Offset of a file or a swap file</a:t>
            </a:r>
            <a:r>
              <a:rPr kumimoji="1" lang="en-US" altLang="zh-TW" dirty="0">
                <a:solidFill>
                  <a:srgbClr val="C00000"/>
                </a:solidFill>
              </a:rPr>
              <a:t>.</a:t>
            </a:r>
            <a:endParaRPr kumimoji="1" lang="zh-TW" altLang="en-US" dirty="0">
              <a:solidFill>
                <a:srgbClr val="C00000"/>
              </a:solidFill>
            </a:endParaRPr>
          </a:p>
        </p:txBody>
      </p:sp>
    </p:spTree>
    <p:extLst>
      <p:ext uri="{BB962C8B-B14F-4D97-AF65-F5344CB8AC3E}">
        <p14:creationId xmlns:p14="http://schemas.microsoft.com/office/powerpoint/2010/main" val="971996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500"/>
                                        <p:tgtEl>
                                          <p:spTgt spid="9"/>
                                        </p:tgtEl>
                                      </p:cBhvr>
                                    </p:animEffect>
                                  </p:childTnLst>
                                </p:cTn>
                              </p:par>
                              <p:par>
                                <p:cTn id="21" presetID="1" presetClass="exit" presetSubtype="0" fill="hold" grpId="1" nodeType="withEffect">
                                  <p:stCondLst>
                                    <p:cond delay="0"/>
                                  </p:stCondLst>
                                  <p:childTnLst>
                                    <p:set>
                                      <p:cBhvr>
                                        <p:cTn id="22" dur="1" fill="hold">
                                          <p:stCondLst>
                                            <p:cond delay="0"/>
                                          </p:stCondLst>
                                        </p:cTn>
                                        <p:tgtEl>
                                          <p:spTgt spid="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par>
                                <p:cTn id="28" presetID="1" presetClass="exit" presetSubtype="0" fill="hold" grpId="1" nodeType="withEffect">
                                  <p:stCondLst>
                                    <p:cond delay="0"/>
                                  </p:stCondLst>
                                  <p:childTnLst>
                                    <p:set>
                                      <p:cBhvr>
                                        <p:cTn id="29" dur="1" fill="hold">
                                          <p:stCondLst>
                                            <p:cond delay="0"/>
                                          </p:stCondLst>
                                        </p:cTn>
                                        <p:tgtEl>
                                          <p:spTgt spid="9"/>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left)">
                                      <p:cBhvr>
                                        <p:cTn id="34" dur="500"/>
                                        <p:tgtEl>
                                          <p:spTgt spid="11"/>
                                        </p:tgtEl>
                                      </p:cBhvr>
                                    </p:animEffect>
                                  </p:childTnLst>
                                </p:cTn>
                              </p:par>
                              <p:par>
                                <p:cTn id="35" presetID="1" presetClass="exit" presetSubtype="0" fill="hold" grpId="1" nodeType="withEffect">
                                  <p:stCondLst>
                                    <p:cond delay="0"/>
                                  </p:stCondLst>
                                  <p:childTnLst>
                                    <p:set>
                                      <p:cBhvr>
                                        <p:cTn id="36" dur="1" fill="hold">
                                          <p:stCondLst>
                                            <p:cond delay="0"/>
                                          </p:stCondLst>
                                        </p:cTn>
                                        <p:tgtEl>
                                          <p:spTgt spid="8"/>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1" dur="500"/>
                                        <p:tgtEl>
                                          <p:spTgt spid="10"/>
                                        </p:tgtEl>
                                      </p:cBhvr>
                                    </p:animEffect>
                                  </p:childTnLst>
                                </p:cTn>
                              </p:par>
                              <p:par>
                                <p:cTn id="42" presetID="1" presetClass="exit" presetSubtype="0" fill="hold" grpId="1" nodeType="withEffect">
                                  <p:stCondLst>
                                    <p:cond delay="0"/>
                                  </p:stCondLst>
                                  <p:childTnLst>
                                    <p:set>
                                      <p:cBhvr>
                                        <p:cTn id="43" dur="1" fill="hold">
                                          <p:stCondLst>
                                            <p:cond delay="0"/>
                                          </p:stCondLst>
                                        </p:cTn>
                                        <p:tgtEl>
                                          <p:spTgt spid="11"/>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wipe(left)">
                                      <p:cBhvr>
                                        <p:cTn id="48" dur="500"/>
                                        <p:tgtEl>
                                          <p:spTgt spid="6"/>
                                        </p:tgtEl>
                                      </p:cBhvr>
                                    </p:animEffect>
                                  </p:childTnLst>
                                </p:cTn>
                              </p:par>
                              <p:par>
                                <p:cTn id="49" presetID="1" presetClass="exit" presetSubtype="0" fill="hold" grpId="1" nodeType="withEffect">
                                  <p:stCondLst>
                                    <p:cond delay="0"/>
                                  </p:stCondLst>
                                  <p:childTnLst>
                                    <p:set>
                                      <p:cBhvr>
                                        <p:cTn id="50" dur="1" fill="hold">
                                          <p:stCondLst>
                                            <p:cond delay="0"/>
                                          </p:stCondLst>
                                        </p:cTn>
                                        <p:tgtEl>
                                          <p:spTgt spid="10"/>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
                                            <p:txEl>
                                              <p:pRg st="2" end="2"/>
                                            </p:txEl>
                                          </p:spTgt>
                                        </p:tgtEl>
                                        <p:attrNameLst>
                                          <p:attrName>style.visibility</p:attrName>
                                        </p:attrNameLst>
                                      </p:cBhvr>
                                      <p:to>
                                        <p:strVal val="visible"/>
                                      </p:to>
                                    </p:set>
                                    <p:animEffect transition="in" filter="fade">
                                      <p:cBhvr>
                                        <p:cTn id="5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7" grpId="1"/>
      <p:bldP spid="8" grpId="0"/>
      <p:bldP spid="8" grpId="1"/>
      <p:bldP spid="9" grpId="0"/>
      <p:bldP spid="9" grpId="1"/>
      <p:bldP spid="10" grpId="0"/>
      <p:bldP spid="10" grpId="1"/>
      <p:bldP spid="11" grpId="0"/>
      <p:bldP spid="11"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F17210-4894-6094-D97D-9F900E25C87F}"/>
              </a:ext>
            </a:extLst>
          </p:cNvPr>
          <p:cNvSpPr>
            <a:spLocks noGrp="1"/>
          </p:cNvSpPr>
          <p:nvPr>
            <p:ph type="title"/>
          </p:nvPr>
        </p:nvSpPr>
        <p:spPr/>
        <p:txBody>
          <a:bodyPr/>
          <a:lstStyle/>
          <a:p>
            <a:r>
              <a:rPr kumimoji="1" lang="en-US" altLang="zh-TW" dirty="0"/>
              <a:t>Manage </a:t>
            </a:r>
            <a:r>
              <a:rPr lang="en-US" altLang="zh-TW" dirty="0"/>
              <a:t>Kernel </a:t>
            </a:r>
            <a:r>
              <a:rPr kumimoji="1" lang="en-US" altLang="zh-TW" dirty="0"/>
              <a:t>Physical Address (Zone)</a:t>
            </a:r>
            <a:endParaRPr kumimoji="1" lang="zh-TW" altLang="en-US" dirty="0"/>
          </a:p>
        </p:txBody>
      </p:sp>
      <p:sp>
        <p:nvSpPr>
          <p:cNvPr id="3" name="內容版面配置區 2">
            <a:extLst>
              <a:ext uri="{FF2B5EF4-FFF2-40B4-BE49-F238E27FC236}">
                <a16:creationId xmlns:a16="http://schemas.microsoft.com/office/drawing/2014/main" id="{224DD704-CCC1-6CAA-B9E0-14F83FD49670}"/>
              </a:ext>
            </a:extLst>
          </p:cNvPr>
          <p:cNvSpPr>
            <a:spLocks noGrp="1"/>
          </p:cNvSpPr>
          <p:nvPr>
            <p:ph idx="1"/>
          </p:nvPr>
        </p:nvSpPr>
        <p:spPr/>
        <p:txBody>
          <a:bodyPr/>
          <a:lstStyle/>
          <a:p>
            <a:pPr algn="l"/>
            <a:r>
              <a:rPr lang="en-US" altLang="zh-TW" dirty="0"/>
              <a:t>The kernel uses the zones to </a:t>
            </a:r>
            <a:r>
              <a:rPr lang="en-US" altLang="zh-TW" dirty="0">
                <a:solidFill>
                  <a:srgbClr val="C00000"/>
                </a:solidFill>
              </a:rPr>
              <a:t>group pages of similar properties </a:t>
            </a:r>
            <a:r>
              <a:rPr lang="en-US" altLang="zh-TW" dirty="0"/>
              <a:t>(or hardware characteristics), three primary zones below.</a:t>
            </a:r>
          </a:p>
          <a:p>
            <a:pPr lvl="1" algn="l"/>
            <a:r>
              <a:rPr kumimoji="1" lang="en-US" altLang="zh-TW" dirty="0"/>
              <a:t>ZONE_NORMAL: The </a:t>
            </a:r>
            <a:r>
              <a:rPr lang="en-US" altLang="zh-TW" dirty="0"/>
              <a:t>z</a:t>
            </a:r>
            <a:r>
              <a:rPr kumimoji="1" lang="en-US" altLang="zh-TW" dirty="0"/>
              <a:t>one contains normal, regularly mapped, pages.</a:t>
            </a:r>
          </a:p>
          <a:p>
            <a:pPr lvl="1" algn="l"/>
            <a:r>
              <a:rPr kumimoji="1" lang="en-US" altLang="zh-TW" dirty="0"/>
              <a:t>ZONE_DMA: Page frames that </a:t>
            </a:r>
            <a:r>
              <a:rPr kumimoji="1" lang="en-US" altLang="zh-TW" dirty="0">
                <a:solidFill>
                  <a:srgbClr val="C00000"/>
                </a:solidFill>
              </a:rPr>
              <a:t>can undergo DMA</a:t>
            </a:r>
            <a:r>
              <a:rPr kumimoji="1" lang="en-US" altLang="zh-TW" dirty="0"/>
              <a:t> (Direct Memory Access).</a:t>
            </a:r>
          </a:p>
          <a:p>
            <a:pPr lvl="1" algn="l"/>
            <a:r>
              <a:rPr lang="en-US" altLang="zh-TW" dirty="0"/>
              <a:t>ZONE_HIGHMEM: Some page frames are </a:t>
            </a:r>
            <a:r>
              <a:rPr lang="en-US" altLang="zh-TW" dirty="0">
                <a:solidFill>
                  <a:srgbClr val="C00000"/>
                </a:solidFill>
              </a:rPr>
              <a:t>not permanently mapped into </a:t>
            </a:r>
            <a:r>
              <a:rPr lang="en-US" altLang="zh-TW" dirty="0"/>
              <a:t>the kernel address space. </a:t>
            </a:r>
            <a:endParaRPr kumimoji="1" lang="zh-TW" altLang="en-US" dirty="0"/>
          </a:p>
        </p:txBody>
      </p:sp>
      <p:sp>
        <p:nvSpPr>
          <p:cNvPr id="4" name="投影片編號版面配置區 3">
            <a:extLst>
              <a:ext uri="{FF2B5EF4-FFF2-40B4-BE49-F238E27FC236}">
                <a16:creationId xmlns:a16="http://schemas.microsoft.com/office/drawing/2014/main" id="{BB297A69-424A-5E02-6B78-FC61E498E9FD}"/>
              </a:ext>
            </a:extLst>
          </p:cNvPr>
          <p:cNvSpPr>
            <a:spLocks noGrp="1"/>
          </p:cNvSpPr>
          <p:nvPr>
            <p:ph type="sldNum" sz="quarter" idx="4"/>
          </p:nvPr>
        </p:nvSpPr>
        <p:spPr/>
        <p:txBody>
          <a:bodyPr/>
          <a:lstStyle/>
          <a:p>
            <a:fld id="{E24E6636-6BA5-4AAC-8485-BE8D914D288B}" type="slidenum">
              <a:rPr lang="zh-TW" altLang="en-US" smtClean="0"/>
              <a:pPr/>
              <a:t>12</a:t>
            </a:fld>
            <a:endParaRPr lang="zh-TW" altLang="en-US" dirty="0"/>
          </a:p>
        </p:txBody>
      </p:sp>
      <p:sp>
        <p:nvSpPr>
          <p:cNvPr id="10" name="文字方塊 9">
            <a:extLst>
              <a:ext uri="{FF2B5EF4-FFF2-40B4-BE49-F238E27FC236}">
                <a16:creationId xmlns:a16="http://schemas.microsoft.com/office/drawing/2014/main" id="{03444D78-C795-6E5C-EBE6-72DB43E3152D}"/>
              </a:ext>
            </a:extLst>
          </p:cNvPr>
          <p:cNvSpPr txBox="1"/>
          <p:nvPr/>
        </p:nvSpPr>
        <p:spPr>
          <a:xfrm>
            <a:off x="0" y="6598099"/>
            <a:ext cx="6979090" cy="276999"/>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rPr>
              <a:t>Gorman, Mel. Understanding the Linux virtual memory manager. Upper Saddle River: Prentice Hall, 2004</a:t>
            </a:r>
            <a:endParaRPr kumimoji="1" lang="zh-TW" altLang="en-US" sz="1200" dirty="0">
              <a:solidFill>
                <a:schemeClr val="bg1">
                  <a:lumMod val="75000"/>
                </a:schemeClr>
              </a:solidFill>
            </a:endParaRPr>
          </a:p>
        </p:txBody>
      </p:sp>
      <p:grpSp>
        <p:nvGrpSpPr>
          <p:cNvPr id="12" name="群組 11">
            <a:extLst>
              <a:ext uri="{FF2B5EF4-FFF2-40B4-BE49-F238E27FC236}">
                <a16:creationId xmlns:a16="http://schemas.microsoft.com/office/drawing/2014/main" id="{57437313-8CBD-31A2-E39F-41311407BB62}"/>
              </a:ext>
            </a:extLst>
          </p:cNvPr>
          <p:cNvGrpSpPr/>
          <p:nvPr/>
        </p:nvGrpSpPr>
        <p:grpSpPr>
          <a:xfrm>
            <a:off x="2139097" y="3733508"/>
            <a:ext cx="7892861" cy="2493116"/>
            <a:chOff x="2139097" y="3733508"/>
            <a:chExt cx="7892861" cy="2493116"/>
          </a:xfrm>
        </p:grpSpPr>
        <p:pic>
          <p:nvPicPr>
            <p:cNvPr id="7" name="圖片 6" descr="一張含有 文字 的圖片&#10;&#10;自動產生的描述">
              <a:extLst>
                <a:ext uri="{FF2B5EF4-FFF2-40B4-BE49-F238E27FC236}">
                  <a16:creationId xmlns:a16="http://schemas.microsoft.com/office/drawing/2014/main" id="{853E8339-8979-8D03-D56D-4A3F72BD4E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6258" y="4032250"/>
              <a:ext cx="6896100" cy="1587500"/>
            </a:xfrm>
            <a:prstGeom prst="rect">
              <a:avLst/>
            </a:prstGeom>
          </p:spPr>
        </p:pic>
        <p:sp>
          <p:nvSpPr>
            <p:cNvPr id="8" name="文字方塊 7">
              <a:extLst>
                <a:ext uri="{FF2B5EF4-FFF2-40B4-BE49-F238E27FC236}">
                  <a16:creationId xmlns:a16="http://schemas.microsoft.com/office/drawing/2014/main" id="{29B31414-8EA0-0427-E944-F578D53FE06B}"/>
                </a:ext>
              </a:extLst>
            </p:cNvPr>
            <p:cNvSpPr txBox="1"/>
            <p:nvPr/>
          </p:nvSpPr>
          <p:spPr>
            <a:xfrm>
              <a:off x="2139097" y="5580293"/>
              <a:ext cx="7436010" cy="646331"/>
            </a:xfrm>
            <a:prstGeom prst="rect">
              <a:avLst/>
            </a:prstGeom>
            <a:noFill/>
          </p:spPr>
          <p:txBody>
            <a:bodyPr wrap="none" rtlCol="0">
              <a:spAutoFit/>
            </a:bodyPr>
            <a:lstStyle/>
            <a:p>
              <a:pPr algn="ctr"/>
              <a:r>
                <a:rPr kumimoji="1" lang="en-US" altLang="zh-TW" dirty="0"/>
                <a:t>Zones on x86-32 </a:t>
              </a:r>
            </a:p>
            <a:p>
              <a:pPr algn="ctr"/>
              <a:r>
                <a:rPr kumimoji="1" lang="en-US" altLang="zh-TW" dirty="0"/>
                <a:t>(Notice: x86-64 has no ZONE_HIGHMEM, 64bits address space is pretty large)</a:t>
              </a:r>
              <a:endParaRPr kumimoji="1" lang="zh-TW" altLang="en-US" dirty="0"/>
            </a:p>
          </p:txBody>
        </p:sp>
        <p:sp>
          <p:nvSpPr>
            <p:cNvPr id="11" name="文字方塊 10">
              <a:extLst>
                <a:ext uri="{FF2B5EF4-FFF2-40B4-BE49-F238E27FC236}">
                  <a16:creationId xmlns:a16="http://schemas.microsoft.com/office/drawing/2014/main" id="{E815E536-101E-DBAC-EC37-27155195C3A6}"/>
                </a:ext>
              </a:extLst>
            </p:cNvPr>
            <p:cNvSpPr txBox="1"/>
            <p:nvPr/>
          </p:nvSpPr>
          <p:spPr>
            <a:xfrm>
              <a:off x="6584539" y="3733508"/>
              <a:ext cx="3447419" cy="369332"/>
            </a:xfrm>
            <a:prstGeom prst="rect">
              <a:avLst/>
            </a:prstGeom>
            <a:noFill/>
          </p:spPr>
          <p:txBody>
            <a:bodyPr wrap="none" rtlCol="0">
              <a:spAutoFit/>
            </a:bodyPr>
            <a:lstStyle/>
            <a:p>
              <a:r>
                <a:rPr kumimoji="1" lang="en-US" altLang="zh-TW" dirty="0">
                  <a:solidFill>
                    <a:srgbClr val="0070C0"/>
                  </a:solidFill>
                </a:rPr>
                <a:t>Assume Kernel Space has only 1GB</a:t>
              </a:r>
              <a:endParaRPr kumimoji="1" lang="zh-TW" altLang="en-US" dirty="0">
                <a:solidFill>
                  <a:srgbClr val="0070C0"/>
                </a:solidFill>
              </a:endParaRPr>
            </a:p>
          </p:txBody>
        </p:sp>
      </p:grpSp>
    </p:spTree>
    <p:extLst>
      <p:ext uri="{BB962C8B-B14F-4D97-AF65-F5344CB8AC3E}">
        <p14:creationId xmlns:p14="http://schemas.microsoft.com/office/powerpoint/2010/main" val="1999521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F17210-4894-6094-D97D-9F900E25C87F}"/>
              </a:ext>
            </a:extLst>
          </p:cNvPr>
          <p:cNvSpPr>
            <a:spLocks noGrp="1"/>
          </p:cNvSpPr>
          <p:nvPr>
            <p:ph type="title"/>
          </p:nvPr>
        </p:nvSpPr>
        <p:spPr/>
        <p:txBody>
          <a:bodyPr/>
          <a:lstStyle/>
          <a:p>
            <a:r>
              <a:rPr kumimoji="1" lang="en-US" altLang="zh-TW" dirty="0"/>
              <a:t>Manage Kernel Physical Address (Nodes)</a:t>
            </a:r>
            <a:endParaRPr kumimoji="1" lang="zh-TW" altLang="en-US" dirty="0"/>
          </a:p>
        </p:txBody>
      </p:sp>
      <p:sp>
        <p:nvSpPr>
          <p:cNvPr id="4" name="投影片編號版面配置區 3">
            <a:extLst>
              <a:ext uri="{FF2B5EF4-FFF2-40B4-BE49-F238E27FC236}">
                <a16:creationId xmlns:a16="http://schemas.microsoft.com/office/drawing/2014/main" id="{BB297A69-424A-5E02-6B78-FC61E498E9FD}"/>
              </a:ext>
            </a:extLst>
          </p:cNvPr>
          <p:cNvSpPr>
            <a:spLocks noGrp="1"/>
          </p:cNvSpPr>
          <p:nvPr>
            <p:ph type="sldNum" sz="quarter" idx="4"/>
          </p:nvPr>
        </p:nvSpPr>
        <p:spPr/>
        <p:txBody>
          <a:bodyPr/>
          <a:lstStyle/>
          <a:p>
            <a:fld id="{E24E6636-6BA5-4AAC-8485-BE8D914D288B}" type="slidenum">
              <a:rPr lang="zh-TW" altLang="en-US" smtClean="0"/>
              <a:pPr/>
              <a:t>13</a:t>
            </a:fld>
            <a:endParaRPr lang="zh-TW" altLang="en-US" dirty="0"/>
          </a:p>
        </p:txBody>
      </p:sp>
      <p:pic>
        <p:nvPicPr>
          <p:cNvPr id="8" name="圖片 7">
            <a:extLst>
              <a:ext uri="{FF2B5EF4-FFF2-40B4-BE49-F238E27FC236}">
                <a16:creationId xmlns:a16="http://schemas.microsoft.com/office/drawing/2014/main" id="{6BD8BB1C-DB4F-11FA-6F29-2DC55EB381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80286" y="3593491"/>
            <a:ext cx="5511714" cy="2974201"/>
          </a:xfrm>
          <a:prstGeom prst="rect">
            <a:avLst/>
          </a:prstGeom>
        </p:spPr>
      </p:pic>
      <p:sp>
        <p:nvSpPr>
          <p:cNvPr id="9" name="文字方塊 8">
            <a:extLst>
              <a:ext uri="{FF2B5EF4-FFF2-40B4-BE49-F238E27FC236}">
                <a16:creationId xmlns:a16="http://schemas.microsoft.com/office/drawing/2014/main" id="{C1A3FB7A-0756-D500-AB84-6C4D21AE4E02}"/>
              </a:ext>
            </a:extLst>
          </p:cNvPr>
          <p:cNvSpPr txBox="1"/>
          <p:nvPr/>
        </p:nvSpPr>
        <p:spPr>
          <a:xfrm>
            <a:off x="0" y="6598099"/>
            <a:ext cx="6979090" cy="276999"/>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rPr>
              <a:t>Gorman, Mel. Understanding the Linux virtual memory manager. Upper Saddle River: Prentice Hall, 2004</a:t>
            </a:r>
            <a:endParaRPr kumimoji="1" lang="zh-TW" altLang="en-US" sz="1200" dirty="0">
              <a:solidFill>
                <a:schemeClr val="bg1">
                  <a:lumMod val="75000"/>
                </a:schemeClr>
              </a:solidFill>
            </a:endParaRPr>
          </a:p>
        </p:txBody>
      </p:sp>
      <p:grpSp>
        <p:nvGrpSpPr>
          <p:cNvPr id="73" name="群組 72">
            <a:extLst>
              <a:ext uri="{FF2B5EF4-FFF2-40B4-BE49-F238E27FC236}">
                <a16:creationId xmlns:a16="http://schemas.microsoft.com/office/drawing/2014/main" id="{B2251190-782C-BBC6-FF2D-8461FFA601B7}"/>
              </a:ext>
            </a:extLst>
          </p:cNvPr>
          <p:cNvGrpSpPr/>
          <p:nvPr/>
        </p:nvGrpSpPr>
        <p:grpSpPr>
          <a:xfrm>
            <a:off x="1038297" y="2041724"/>
            <a:ext cx="2379003" cy="1549276"/>
            <a:chOff x="1038297" y="2041724"/>
            <a:chExt cx="2379003" cy="1549276"/>
          </a:xfrm>
        </p:grpSpPr>
        <p:sp>
          <p:nvSpPr>
            <p:cNvPr id="10" name="矩形 9">
              <a:extLst>
                <a:ext uri="{FF2B5EF4-FFF2-40B4-BE49-F238E27FC236}">
                  <a16:creationId xmlns:a16="http://schemas.microsoft.com/office/drawing/2014/main" id="{FEF86643-ADB0-B7B2-3D43-C49067B7CE32}"/>
                </a:ext>
              </a:extLst>
            </p:cNvPr>
            <p:cNvSpPr/>
            <p:nvPr/>
          </p:nvSpPr>
          <p:spPr>
            <a:xfrm>
              <a:off x="1038297" y="2041724"/>
              <a:ext cx="720000" cy="324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CPU</a:t>
              </a:r>
              <a:endParaRPr kumimoji="1" lang="zh-TW" altLang="en-US" sz="1400" dirty="0">
                <a:solidFill>
                  <a:schemeClr val="tx1"/>
                </a:solidFill>
              </a:endParaRPr>
            </a:p>
          </p:txBody>
        </p:sp>
        <p:sp>
          <p:nvSpPr>
            <p:cNvPr id="11" name="矩形 10">
              <a:extLst>
                <a:ext uri="{FF2B5EF4-FFF2-40B4-BE49-F238E27FC236}">
                  <a16:creationId xmlns:a16="http://schemas.microsoft.com/office/drawing/2014/main" id="{5B0AC739-1DBF-AF0E-3441-8AF999AC0EAD}"/>
                </a:ext>
              </a:extLst>
            </p:cNvPr>
            <p:cNvSpPr/>
            <p:nvPr/>
          </p:nvSpPr>
          <p:spPr>
            <a:xfrm>
              <a:off x="2697300" y="2049039"/>
              <a:ext cx="720000" cy="324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CPU</a:t>
              </a:r>
              <a:endParaRPr kumimoji="1" lang="zh-TW" altLang="en-US" sz="1400" dirty="0">
                <a:solidFill>
                  <a:schemeClr val="tx1"/>
                </a:solidFill>
              </a:endParaRPr>
            </a:p>
          </p:txBody>
        </p:sp>
        <p:sp>
          <p:nvSpPr>
            <p:cNvPr id="12" name="矩形 11">
              <a:extLst>
                <a:ext uri="{FF2B5EF4-FFF2-40B4-BE49-F238E27FC236}">
                  <a16:creationId xmlns:a16="http://schemas.microsoft.com/office/drawing/2014/main" id="{9A64881B-4070-162F-8511-32BECBD26A9B}"/>
                </a:ext>
              </a:extLst>
            </p:cNvPr>
            <p:cNvSpPr/>
            <p:nvPr/>
          </p:nvSpPr>
          <p:spPr>
            <a:xfrm>
              <a:off x="1038297" y="3267000"/>
              <a:ext cx="720000" cy="324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DRAM</a:t>
              </a:r>
              <a:endParaRPr kumimoji="1" lang="zh-TW" altLang="en-US" sz="1400" dirty="0">
                <a:solidFill>
                  <a:schemeClr val="tx1"/>
                </a:solidFill>
              </a:endParaRPr>
            </a:p>
          </p:txBody>
        </p:sp>
        <p:sp>
          <p:nvSpPr>
            <p:cNvPr id="13" name="矩形 12">
              <a:extLst>
                <a:ext uri="{FF2B5EF4-FFF2-40B4-BE49-F238E27FC236}">
                  <a16:creationId xmlns:a16="http://schemas.microsoft.com/office/drawing/2014/main" id="{1755CD03-E06F-B4A4-FCCD-833737C3595D}"/>
                </a:ext>
              </a:extLst>
            </p:cNvPr>
            <p:cNvSpPr/>
            <p:nvPr/>
          </p:nvSpPr>
          <p:spPr>
            <a:xfrm>
              <a:off x="2653013" y="3267000"/>
              <a:ext cx="720000" cy="324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DRAM</a:t>
              </a:r>
              <a:endParaRPr kumimoji="1" lang="zh-TW" altLang="en-US" sz="1400" dirty="0">
                <a:solidFill>
                  <a:schemeClr val="tx1"/>
                </a:solidFill>
              </a:endParaRPr>
            </a:p>
          </p:txBody>
        </p:sp>
        <p:sp>
          <p:nvSpPr>
            <p:cNvPr id="16" name="矩形 15">
              <a:extLst>
                <a:ext uri="{FF2B5EF4-FFF2-40B4-BE49-F238E27FC236}">
                  <a16:creationId xmlns:a16="http://schemas.microsoft.com/office/drawing/2014/main" id="{E5B49AD9-A5D4-BCB3-5936-B579CD3B025F}"/>
                </a:ext>
              </a:extLst>
            </p:cNvPr>
            <p:cNvSpPr/>
            <p:nvPr/>
          </p:nvSpPr>
          <p:spPr>
            <a:xfrm>
              <a:off x="1775211" y="2582121"/>
              <a:ext cx="922089" cy="466814"/>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Memory</a:t>
              </a:r>
            </a:p>
            <a:p>
              <a:pPr algn="ctr"/>
              <a:r>
                <a:rPr kumimoji="1" lang="en-US" altLang="zh-TW" sz="1400" dirty="0">
                  <a:solidFill>
                    <a:schemeClr val="tx1"/>
                  </a:solidFill>
                </a:rPr>
                <a:t>Controller </a:t>
              </a:r>
              <a:endParaRPr kumimoji="1" lang="zh-TW" altLang="en-US" sz="1400" dirty="0">
                <a:solidFill>
                  <a:schemeClr val="tx1"/>
                </a:solidFill>
              </a:endParaRPr>
            </a:p>
          </p:txBody>
        </p:sp>
        <p:cxnSp>
          <p:nvCxnSpPr>
            <p:cNvPr id="30" name="直線接點 29">
              <a:extLst>
                <a:ext uri="{FF2B5EF4-FFF2-40B4-BE49-F238E27FC236}">
                  <a16:creationId xmlns:a16="http://schemas.microsoft.com/office/drawing/2014/main" id="{A027527C-5F5C-ACEF-F455-979FE4990B30}"/>
                </a:ext>
              </a:extLst>
            </p:cNvPr>
            <p:cNvCxnSpPr>
              <a:cxnSpLocks/>
            </p:cNvCxnSpPr>
            <p:nvPr/>
          </p:nvCxnSpPr>
          <p:spPr>
            <a:xfrm>
              <a:off x="1398297" y="2365724"/>
              <a:ext cx="0" cy="10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D75B0123-EA77-5E97-751D-61A5049B379D}"/>
                </a:ext>
              </a:extLst>
            </p:cNvPr>
            <p:cNvCxnSpPr>
              <a:cxnSpLocks/>
            </p:cNvCxnSpPr>
            <p:nvPr/>
          </p:nvCxnSpPr>
          <p:spPr>
            <a:xfrm>
              <a:off x="3058976" y="2373039"/>
              <a:ext cx="0" cy="10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C6903A75-E63D-DC8A-DFBE-4B61976FE1D7}"/>
                </a:ext>
              </a:extLst>
            </p:cNvPr>
            <p:cNvCxnSpPr>
              <a:cxnSpLocks/>
            </p:cNvCxnSpPr>
            <p:nvPr/>
          </p:nvCxnSpPr>
          <p:spPr>
            <a:xfrm>
              <a:off x="2236255" y="2465329"/>
              <a:ext cx="0" cy="10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79813F24-8F4A-F681-B55C-EC48826C88CB}"/>
                </a:ext>
              </a:extLst>
            </p:cNvPr>
            <p:cNvCxnSpPr>
              <a:cxnSpLocks/>
            </p:cNvCxnSpPr>
            <p:nvPr/>
          </p:nvCxnSpPr>
          <p:spPr>
            <a:xfrm flipH="1">
              <a:off x="1398297" y="2475377"/>
              <a:ext cx="165900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線接點 36">
              <a:extLst>
                <a:ext uri="{FF2B5EF4-FFF2-40B4-BE49-F238E27FC236}">
                  <a16:creationId xmlns:a16="http://schemas.microsoft.com/office/drawing/2014/main" id="{1F81EBE0-62EE-F5E7-BF50-1ED517270A08}"/>
                </a:ext>
              </a:extLst>
            </p:cNvPr>
            <p:cNvCxnSpPr>
              <a:cxnSpLocks/>
            </p:cNvCxnSpPr>
            <p:nvPr/>
          </p:nvCxnSpPr>
          <p:spPr>
            <a:xfrm>
              <a:off x="1412785" y="3157347"/>
              <a:ext cx="0" cy="10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id="{E9EB5BCA-7002-A397-880F-F7BF10E1B407}"/>
                </a:ext>
              </a:extLst>
            </p:cNvPr>
            <p:cNvCxnSpPr>
              <a:cxnSpLocks/>
            </p:cNvCxnSpPr>
            <p:nvPr/>
          </p:nvCxnSpPr>
          <p:spPr>
            <a:xfrm>
              <a:off x="3073464" y="3164662"/>
              <a:ext cx="0" cy="10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接點 38">
              <a:extLst>
                <a:ext uri="{FF2B5EF4-FFF2-40B4-BE49-F238E27FC236}">
                  <a16:creationId xmlns:a16="http://schemas.microsoft.com/office/drawing/2014/main" id="{760C7432-FB30-5980-0E2F-05AC7ECA5E5A}"/>
                </a:ext>
              </a:extLst>
            </p:cNvPr>
            <p:cNvCxnSpPr>
              <a:cxnSpLocks/>
            </p:cNvCxnSpPr>
            <p:nvPr/>
          </p:nvCxnSpPr>
          <p:spPr>
            <a:xfrm>
              <a:off x="2250743" y="3055987"/>
              <a:ext cx="0" cy="10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線接點 39">
              <a:extLst>
                <a:ext uri="{FF2B5EF4-FFF2-40B4-BE49-F238E27FC236}">
                  <a16:creationId xmlns:a16="http://schemas.microsoft.com/office/drawing/2014/main" id="{CA63779C-E0EC-EA8B-24B5-725BC521E9D3}"/>
                </a:ext>
              </a:extLst>
            </p:cNvPr>
            <p:cNvCxnSpPr>
              <a:cxnSpLocks/>
            </p:cNvCxnSpPr>
            <p:nvPr/>
          </p:nvCxnSpPr>
          <p:spPr>
            <a:xfrm flipH="1">
              <a:off x="1412785" y="3166518"/>
              <a:ext cx="165900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4" name="群組 73">
            <a:extLst>
              <a:ext uri="{FF2B5EF4-FFF2-40B4-BE49-F238E27FC236}">
                <a16:creationId xmlns:a16="http://schemas.microsoft.com/office/drawing/2014/main" id="{E70E5867-B455-E1DE-A871-ED599C3FC932}"/>
              </a:ext>
            </a:extLst>
          </p:cNvPr>
          <p:cNvGrpSpPr/>
          <p:nvPr/>
        </p:nvGrpSpPr>
        <p:grpSpPr>
          <a:xfrm>
            <a:off x="4407803" y="2602525"/>
            <a:ext cx="5379634" cy="554299"/>
            <a:chOff x="4428167" y="2711048"/>
            <a:chExt cx="5379634" cy="554299"/>
          </a:xfrm>
        </p:grpSpPr>
        <p:cxnSp>
          <p:nvCxnSpPr>
            <p:cNvPr id="56" name="直線接點 55">
              <a:extLst>
                <a:ext uri="{FF2B5EF4-FFF2-40B4-BE49-F238E27FC236}">
                  <a16:creationId xmlns:a16="http://schemas.microsoft.com/office/drawing/2014/main" id="{8458E952-31E4-0BEC-042E-57F04BB0889A}"/>
                </a:ext>
              </a:extLst>
            </p:cNvPr>
            <p:cNvCxnSpPr>
              <a:cxnSpLocks/>
              <a:stCxn id="44" idx="1"/>
            </p:cNvCxnSpPr>
            <p:nvPr/>
          </p:nvCxnSpPr>
          <p:spPr>
            <a:xfrm flipH="1" flipV="1">
              <a:off x="5148167" y="2988964"/>
              <a:ext cx="393963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矩形 40">
              <a:extLst>
                <a:ext uri="{FF2B5EF4-FFF2-40B4-BE49-F238E27FC236}">
                  <a16:creationId xmlns:a16="http://schemas.microsoft.com/office/drawing/2014/main" id="{C8E7E9B9-3FCD-A579-2C4A-7FCE1A9682CA}"/>
                </a:ext>
              </a:extLst>
            </p:cNvPr>
            <p:cNvSpPr/>
            <p:nvPr/>
          </p:nvSpPr>
          <p:spPr>
            <a:xfrm>
              <a:off x="5549454" y="2711048"/>
              <a:ext cx="1404000" cy="554299"/>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kumimoji="1" lang="en-US" altLang="zh-TW" sz="1400" dirty="0">
                  <a:solidFill>
                    <a:schemeClr val="tx1"/>
                  </a:solidFill>
                </a:rPr>
                <a:t>CPU</a:t>
              </a:r>
              <a:endParaRPr kumimoji="1" lang="zh-TW" altLang="en-US" sz="1400" dirty="0">
                <a:solidFill>
                  <a:schemeClr val="tx1"/>
                </a:solidFill>
              </a:endParaRPr>
            </a:p>
          </p:txBody>
        </p:sp>
        <p:sp>
          <p:nvSpPr>
            <p:cNvPr id="42" name="矩形 41">
              <a:extLst>
                <a:ext uri="{FF2B5EF4-FFF2-40B4-BE49-F238E27FC236}">
                  <a16:creationId xmlns:a16="http://schemas.microsoft.com/office/drawing/2014/main" id="{A04A12DE-F2CF-9ABF-FEF7-70942008778A}"/>
                </a:ext>
              </a:extLst>
            </p:cNvPr>
            <p:cNvSpPr/>
            <p:nvPr/>
          </p:nvSpPr>
          <p:spPr>
            <a:xfrm>
              <a:off x="7341876" y="2711394"/>
              <a:ext cx="1404724" cy="553953"/>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TW" sz="1400" dirty="0">
                  <a:solidFill>
                    <a:schemeClr val="tx1"/>
                  </a:solidFill>
                </a:rPr>
                <a:t>CPU</a:t>
              </a:r>
              <a:endParaRPr kumimoji="1" lang="zh-TW" altLang="en-US" sz="1400" dirty="0">
                <a:solidFill>
                  <a:schemeClr val="tx1"/>
                </a:solidFill>
              </a:endParaRPr>
            </a:p>
          </p:txBody>
        </p:sp>
        <p:sp>
          <p:nvSpPr>
            <p:cNvPr id="43" name="矩形 42">
              <a:extLst>
                <a:ext uri="{FF2B5EF4-FFF2-40B4-BE49-F238E27FC236}">
                  <a16:creationId xmlns:a16="http://schemas.microsoft.com/office/drawing/2014/main" id="{E282C410-E27A-94B4-B32A-0F1BDAA9B054}"/>
                </a:ext>
              </a:extLst>
            </p:cNvPr>
            <p:cNvSpPr/>
            <p:nvPr/>
          </p:nvSpPr>
          <p:spPr>
            <a:xfrm>
              <a:off x="4428167" y="2830997"/>
              <a:ext cx="720000" cy="324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DRAM</a:t>
              </a:r>
              <a:endParaRPr kumimoji="1" lang="zh-TW" altLang="en-US" sz="1400" dirty="0">
                <a:solidFill>
                  <a:schemeClr val="tx1"/>
                </a:solidFill>
              </a:endParaRPr>
            </a:p>
          </p:txBody>
        </p:sp>
        <p:sp>
          <p:nvSpPr>
            <p:cNvPr id="44" name="矩形 43">
              <a:extLst>
                <a:ext uri="{FF2B5EF4-FFF2-40B4-BE49-F238E27FC236}">
                  <a16:creationId xmlns:a16="http://schemas.microsoft.com/office/drawing/2014/main" id="{079EE2BD-0151-7610-6451-6D48E5258AB9}"/>
                </a:ext>
              </a:extLst>
            </p:cNvPr>
            <p:cNvSpPr/>
            <p:nvPr/>
          </p:nvSpPr>
          <p:spPr>
            <a:xfrm>
              <a:off x="9087801" y="2838969"/>
              <a:ext cx="720000" cy="324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DRAM</a:t>
              </a:r>
              <a:endParaRPr kumimoji="1" lang="zh-TW" altLang="en-US" sz="1400" dirty="0">
                <a:solidFill>
                  <a:schemeClr val="tx1"/>
                </a:solidFill>
              </a:endParaRPr>
            </a:p>
          </p:txBody>
        </p:sp>
        <p:sp>
          <p:nvSpPr>
            <p:cNvPr id="45" name="矩形 44">
              <a:extLst>
                <a:ext uri="{FF2B5EF4-FFF2-40B4-BE49-F238E27FC236}">
                  <a16:creationId xmlns:a16="http://schemas.microsoft.com/office/drawing/2014/main" id="{4A2F4473-6C9E-8CBF-277A-AEA096CF18FD}"/>
                </a:ext>
              </a:extLst>
            </p:cNvPr>
            <p:cNvSpPr/>
            <p:nvPr/>
          </p:nvSpPr>
          <p:spPr>
            <a:xfrm>
              <a:off x="5597067" y="2759590"/>
              <a:ext cx="922089" cy="466814"/>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Memory</a:t>
              </a:r>
            </a:p>
            <a:p>
              <a:pPr algn="ctr"/>
              <a:r>
                <a:rPr kumimoji="1" lang="en-US" altLang="zh-TW" sz="1400" dirty="0">
                  <a:solidFill>
                    <a:schemeClr val="tx1"/>
                  </a:solidFill>
                </a:rPr>
                <a:t>Controller </a:t>
              </a:r>
              <a:endParaRPr kumimoji="1" lang="zh-TW" altLang="en-US" sz="1400" dirty="0">
                <a:solidFill>
                  <a:schemeClr val="tx1"/>
                </a:solidFill>
              </a:endParaRPr>
            </a:p>
          </p:txBody>
        </p:sp>
        <p:sp>
          <p:nvSpPr>
            <p:cNvPr id="54" name="矩形 53">
              <a:extLst>
                <a:ext uri="{FF2B5EF4-FFF2-40B4-BE49-F238E27FC236}">
                  <a16:creationId xmlns:a16="http://schemas.microsoft.com/office/drawing/2014/main" id="{635C38B0-B407-ACB5-91CB-E905BEA623FD}"/>
                </a:ext>
              </a:extLst>
            </p:cNvPr>
            <p:cNvSpPr/>
            <p:nvPr/>
          </p:nvSpPr>
          <p:spPr>
            <a:xfrm>
              <a:off x="7773989" y="2759590"/>
              <a:ext cx="922089" cy="466814"/>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Memory</a:t>
              </a:r>
            </a:p>
            <a:p>
              <a:pPr algn="ctr"/>
              <a:r>
                <a:rPr kumimoji="1" lang="en-US" altLang="zh-TW" sz="1400" dirty="0">
                  <a:solidFill>
                    <a:schemeClr val="tx1"/>
                  </a:solidFill>
                </a:rPr>
                <a:t>Controller </a:t>
              </a:r>
              <a:endParaRPr kumimoji="1" lang="zh-TW" altLang="en-US" sz="1400" dirty="0">
                <a:solidFill>
                  <a:schemeClr val="tx1"/>
                </a:solidFill>
              </a:endParaRPr>
            </a:p>
          </p:txBody>
        </p:sp>
      </p:grpSp>
      <p:grpSp>
        <p:nvGrpSpPr>
          <p:cNvPr id="75" name="群組 74">
            <a:extLst>
              <a:ext uri="{FF2B5EF4-FFF2-40B4-BE49-F238E27FC236}">
                <a16:creationId xmlns:a16="http://schemas.microsoft.com/office/drawing/2014/main" id="{ADE0BEE4-AED0-1A52-B0B1-008A0279FE10}"/>
              </a:ext>
            </a:extLst>
          </p:cNvPr>
          <p:cNvGrpSpPr/>
          <p:nvPr/>
        </p:nvGrpSpPr>
        <p:grpSpPr>
          <a:xfrm>
            <a:off x="4747200" y="2035499"/>
            <a:ext cx="1383324" cy="686975"/>
            <a:chOff x="4767564" y="2144022"/>
            <a:chExt cx="1383324" cy="686975"/>
          </a:xfrm>
        </p:grpSpPr>
        <p:cxnSp>
          <p:nvCxnSpPr>
            <p:cNvPr id="58" name="直線接點 57">
              <a:extLst>
                <a:ext uri="{FF2B5EF4-FFF2-40B4-BE49-F238E27FC236}">
                  <a16:creationId xmlns:a16="http://schemas.microsoft.com/office/drawing/2014/main" id="{52D61D24-15E7-80FA-39A0-83B0909BBEC9}"/>
                </a:ext>
              </a:extLst>
            </p:cNvPr>
            <p:cNvCxnSpPr>
              <a:cxnSpLocks/>
            </p:cNvCxnSpPr>
            <p:nvPr/>
          </p:nvCxnSpPr>
          <p:spPr>
            <a:xfrm flipH="1">
              <a:off x="4767565" y="2497047"/>
              <a:ext cx="1383323"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9" name="直線接點 58">
              <a:extLst>
                <a:ext uri="{FF2B5EF4-FFF2-40B4-BE49-F238E27FC236}">
                  <a16:creationId xmlns:a16="http://schemas.microsoft.com/office/drawing/2014/main" id="{00D6E2F1-484E-50B7-B42A-5338AE23EEB6}"/>
                </a:ext>
              </a:extLst>
            </p:cNvPr>
            <p:cNvCxnSpPr>
              <a:cxnSpLocks/>
            </p:cNvCxnSpPr>
            <p:nvPr/>
          </p:nvCxnSpPr>
          <p:spPr>
            <a:xfrm>
              <a:off x="4767565" y="2491180"/>
              <a:ext cx="0" cy="339817"/>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62" name="直線接點 61">
              <a:extLst>
                <a:ext uri="{FF2B5EF4-FFF2-40B4-BE49-F238E27FC236}">
                  <a16:creationId xmlns:a16="http://schemas.microsoft.com/office/drawing/2014/main" id="{00732A79-4D4C-63B8-8699-F6DF11A15881}"/>
                </a:ext>
              </a:extLst>
            </p:cNvPr>
            <p:cNvCxnSpPr>
              <a:cxnSpLocks/>
            </p:cNvCxnSpPr>
            <p:nvPr/>
          </p:nvCxnSpPr>
          <p:spPr>
            <a:xfrm>
              <a:off x="6150888" y="2496709"/>
              <a:ext cx="0" cy="210251"/>
            </a:xfrm>
            <a:prstGeom prst="line">
              <a:avLst/>
            </a:prstGeom>
            <a:ln w="25400">
              <a:solidFill>
                <a:schemeClr val="tx1"/>
              </a:solidFill>
              <a:prstDash val="sysDot"/>
              <a:headEnd type="none"/>
              <a:tailEnd type="triangle"/>
            </a:ln>
          </p:spPr>
          <p:style>
            <a:lnRef idx="1">
              <a:schemeClr val="accent1"/>
            </a:lnRef>
            <a:fillRef idx="0">
              <a:schemeClr val="accent1"/>
            </a:fillRef>
            <a:effectRef idx="0">
              <a:schemeClr val="accent1"/>
            </a:effectRef>
            <a:fontRef idx="minor">
              <a:schemeClr val="tx1"/>
            </a:fontRef>
          </p:style>
        </p:cxnSp>
        <p:sp>
          <p:nvSpPr>
            <p:cNvPr id="69" name="文字方塊 68">
              <a:extLst>
                <a:ext uri="{FF2B5EF4-FFF2-40B4-BE49-F238E27FC236}">
                  <a16:creationId xmlns:a16="http://schemas.microsoft.com/office/drawing/2014/main" id="{5432C94F-A5CD-8FD2-77F0-E397FB674DC6}"/>
                </a:ext>
              </a:extLst>
            </p:cNvPr>
            <p:cNvSpPr txBox="1"/>
            <p:nvPr/>
          </p:nvSpPr>
          <p:spPr>
            <a:xfrm>
              <a:off x="4767564" y="2144022"/>
              <a:ext cx="1340110" cy="369332"/>
            </a:xfrm>
            <a:prstGeom prst="rect">
              <a:avLst/>
            </a:prstGeom>
            <a:noFill/>
          </p:spPr>
          <p:txBody>
            <a:bodyPr wrap="none" rtlCol="0">
              <a:spAutoFit/>
            </a:bodyPr>
            <a:lstStyle/>
            <a:p>
              <a:r>
                <a:rPr kumimoji="1" lang="en-US" altLang="zh-TW" dirty="0"/>
                <a:t>Local Access</a:t>
              </a:r>
              <a:endParaRPr kumimoji="1" lang="zh-TW" altLang="en-US" dirty="0"/>
            </a:p>
          </p:txBody>
        </p:sp>
      </p:grpSp>
      <p:grpSp>
        <p:nvGrpSpPr>
          <p:cNvPr id="76" name="群組 75">
            <a:extLst>
              <a:ext uri="{FF2B5EF4-FFF2-40B4-BE49-F238E27FC236}">
                <a16:creationId xmlns:a16="http://schemas.microsoft.com/office/drawing/2014/main" id="{E05F129A-A483-6D87-B26C-9CADD68CD6A0}"/>
              </a:ext>
            </a:extLst>
          </p:cNvPr>
          <p:cNvGrpSpPr/>
          <p:nvPr/>
        </p:nvGrpSpPr>
        <p:grpSpPr>
          <a:xfrm>
            <a:off x="6364165" y="2032933"/>
            <a:ext cx="3070051" cy="709149"/>
            <a:chOff x="6384529" y="2141456"/>
            <a:chExt cx="3070051" cy="709149"/>
          </a:xfrm>
        </p:grpSpPr>
        <p:cxnSp>
          <p:nvCxnSpPr>
            <p:cNvPr id="65" name="直線接點 64">
              <a:extLst>
                <a:ext uri="{FF2B5EF4-FFF2-40B4-BE49-F238E27FC236}">
                  <a16:creationId xmlns:a16="http://schemas.microsoft.com/office/drawing/2014/main" id="{073932C7-752A-5701-EFE4-99F71491BCB3}"/>
                </a:ext>
              </a:extLst>
            </p:cNvPr>
            <p:cNvCxnSpPr>
              <a:cxnSpLocks/>
            </p:cNvCxnSpPr>
            <p:nvPr/>
          </p:nvCxnSpPr>
          <p:spPr>
            <a:xfrm>
              <a:off x="9454580" y="2510788"/>
              <a:ext cx="0" cy="339817"/>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66" name="直線接點 65">
              <a:extLst>
                <a:ext uri="{FF2B5EF4-FFF2-40B4-BE49-F238E27FC236}">
                  <a16:creationId xmlns:a16="http://schemas.microsoft.com/office/drawing/2014/main" id="{FF16BC12-B00E-BA46-2941-DA844D1D2301}"/>
                </a:ext>
              </a:extLst>
            </p:cNvPr>
            <p:cNvCxnSpPr>
              <a:cxnSpLocks/>
            </p:cNvCxnSpPr>
            <p:nvPr/>
          </p:nvCxnSpPr>
          <p:spPr>
            <a:xfrm flipH="1">
              <a:off x="6384529" y="2479305"/>
              <a:ext cx="3063914"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68" name="直線接點 67">
              <a:extLst>
                <a:ext uri="{FF2B5EF4-FFF2-40B4-BE49-F238E27FC236}">
                  <a16:creationId xmlns:a16="http://schemas.microsoft.com/office/drawing/2014/main" id="{5366270E-BB91-6284-F33D-4A44863658C1}"/>
                </a:ext>
              </a:extLst>
            </p:cNvPr>
            <p:cNvCxnSpPr>
              <a:cxnSpLocks/>
            </p:cNvCxnSpPr>
            <p:nvPr/>
          </p:nvCxnSpPr>
          <p:spPr>
            <a:xfrm>
              <a:off x="6390666" y="2498685"/>
              <a:ext cx="0" cy="210251"/>
            </a:xfrm>
            <a:prstGeom prst="line">
              <a:avLst/>
            </a:prstGeom>
            <a:ln w="25400">
              <a:solidFill>
                <a:schemeClr val="tx1"/>
              </a:solidFill>
              <a:prstDash val="sysDot"/>
              <a:headEnd type="none"/>
              <a:tailEnd type="triangle"/>
            </a:ln>
          </p:spPr>
          <p:style>
            <a:lnRef idx="1">
              <a:schemeClr val="accent1"/>
            </a:lnRef>
            <a:fillRef idx="0">
              <a:schemeClr val="accent1"/>
            </a:fillRef>
            <a:effectRef idx="0">
              <a:schemeClr val="accent1"/>
            </a:effectRef>
            <a:fontRef idx="minor">
              <a:schemeClr val="tx1"/>
            </a:fontRef>
          </p:style>
        </p:cxnSp>
        <p:sp>
          <p:nvSpPr>
            <p:cNvPr id="70" name="文字方塊 69">
              <a:extLst>
                <a:ext uri="{FF2B5EF4-FFF2-40B4-BE49-F238E27FC236}">
                  <a16:creationId xmlns:a16="http://schemas.microsoft.com/office/drawing/2014/main" id="{532F0926-8C30-A6AA-BF60-84E372A99F53}"/>
                </a:ext>
              </a:extLst>
            </p:cNvPr>
            <p:cNvSpPr txBox="1"/>
            <p:nvPr/>
          </p:nvSpPr>
          <p:spPr>
            <a:xfrm>
              <a:off x="6577831" y="2141456"/>
              <a:ext cx="2810513" cy="369332"/>
            </a:xfrm>
            <a:prstGeom prst="rect">
              <a:avLst/>
            </a:prstGeom>
            <a:noFill/>
          </p:spPr>
          <p:txBody>
            <a:bodyPr wrap="none" rtlCol="0">
              <a:spAutoFit/>
            </a:bodyPr>
            <a:lstStyle/>
            <a:p>
              <a:r>
                <a:rPr kumimoji="1" lang="en-US" altLang="zh-TW" dirty="0"/>
                <a:t>Remote Access (~2x Slower)</a:t>
              </a:r>
              <a:endParaRPr kumimoji="1" lang="zh-TW" altLang="en-US" dirty="0"/>
            </a:p>
          </p:txBody>
        </p:sp>
      </p:grpSp>
      <p:sp>
        <p:nvSpPr>
          <p:cNvPr id="71" name="文字方塊 70">
            <a:extLst>
              <a:ext uri="{FF2B5EF4-FFF2-40B4-BE49-F238E27FC236}">
                <a16:creationId xmlns:a16="http://schemas.microsoft.com/office/drawing/2014/main" id="{4DF27C79-D65B-02F4-F7CF-773AAB1FBBD2}"/>
              </a:ext>
            </a:extLst>
          </p:cNvPr>
          <p:cNvSpPr txBox="1"/>
          <p:nvPr/>
        </p:nvSpPr>
        <p:spPr>
          <a:xfrm>
            <a:off x="9904374" y="2337102"/>
            <a:ext cx="2260704" cy="923330"/>
          </a:xfrm>
          <a:prstGeom prst="rect">
            <a:avLst/>
          </a:prstGeom>
          <a:noFill/>
        </p:spPr>
        <p:txBody>
          <a:bodyPr wrap="square" rtlCol="0">
            <a:spAutoFit/>
          </a:bodyPr>
          <a:lstStyle/>
          <a:p>
            <a:pPr marL="342900" indent="-342900">
              <a:buAutoNum type="arabicPeriod"/>
            </a:pPr>
            <a:r>
              <a:rPr kumimoji="1" lang="en-US" altLang="zh-TW" dirty="0"/>
              <a:t>Fast local access</a:t>
            </a:r>
          </a:p>
          <a:p>
            <a:pPr marL="342900" indent="-342900">
              <a:buAutoNum type="arabicPeriod"/>
            </a:pPr>
            <a:r>
              <a:rPr kumimoji="1" lang="en-US" altLang="zh-TW" dirty="0"/>
              <a:t>Higher bandwidth</a:t>
            </a:r>
          </a:p>
          <a:p>
            <a:pPr marL="342900" indent="-342900">
              <a:buAutoNum type="arabicPeriod"/>
            </a:pPr>
            <a:r>
              <a:rPr kumimoji="1" lang="en-US" altLang="zh-TW" dirty="0"/>
              <a:t>Easy to scale out</a:t>
            </a:r>
            <a:endParaRPr kumimoji="1" lang="zh-TW" altLang="en-US" dirty="0"/>
          </a:p>
        </p:txBody>
      </p:sp>
      <p:sp>
        <p:nvSpPr>
          <p:cNvPr id="72" name="文字方塊 71">
            <a:extLst>
              <a:ext uri="{FF2B5EF4-FFF2-40B4-BE49-F238E27FC236}">
                <a16:creationId xmlns:a16="http://schemas.microsoft.com/office/drawing/2014/main" id="{28977B0B-AE95-C9A0-164A-F0EAFFE9893C}"/>
              </a:ext>
            </a:extLst>
          </p:cNvPr>
          <p:cNvSpPr txBox="1"/>
          <p:nvPr/>
        </p:nvSpPr>
        <p:spPr>
          <a:xfrm>
            <a:off x="9828935" y="2032933"/>
            <a:ext cx="2260704" cy="369332"/>
          </a:xfrm>
          <a:prstGeom prst="rect">
            <a:avLst/>
          </a:prstGeom>
          <a:noFill/>
        </p:spPr>
        <p:txBody>
          <a:bodyPr wrap="square" rtlCol="0">
            <a:spAutoFit/>
          </a:bodyPr>
          <a:lstStyle/>
          <a:p>
            <a:r>
              <a:rPr kumimoji="1" lang="en-US" altLang="zh-TW" dirty="0">
                <a:solidFill>
                  <a:srgbClr val="C00000"/>
                </a:solidFill>
              </a:rPr>
              <a:t>Why NUMA?</a:t>
            </a:r>
          </a:p>
        </p:txBody>
      </p:sp>
      <p:grpSp>
        <p:nvGrpSpPr>
          <p:cNvPr id="79" name="群組 78">
            <a:extLst>
              <a:ext uri="{FF2B5EF4-FFF2-40B4-BE49-F238E27FC236}">
                <a16:creationId xmlns:a16="http://schemas.microsoft.com/office/drawing/2014/main" id="{7B1B205F-65BA-6A87-0259-69923E62D782}"/>
              </a:ext>
            </a:extLst>
          </p:cNvPr>
          <p:cNvGrpSpPr/>
          <p:nvPr/>
        </p:nvGrpSpPr>
        <p:grpSpPr>
          <a:xfrm>
            <a:off x="3923138" y="3269982"/>
            <a:ext cx="2575654" cy="494022"/>
            <a:chOff x="3923138" y="3269982"/>
            <a:chExt cx="2575654" cy="494022"/>
          </a:xfrm>
        </p:grpSpPr>
        <p:sp>
          <p:nvSpPr>
            <p:cNvPr id="77" name="左大括弧 76">
              <a:extLst>
                <a:ext uri="{FF2B5EF4-FFF2-40B4-BE49-F238E27FC236}">
                  <a16:creationId xmlns:a16="http://schemas.microsoft.com/office/drawing/2014/main" id="{E0D6CD97-819F-356B-B5B1-BA363BC983F2}"/>
                </a:ext>
              </a:extLst>
            </p:cNvPr>
            <p:cNvSpPr/>
            <p:nvPr/>
          </p:nvSpPr>
          <p:spPr>
            <a:xfrm rot="16200000">
              <a:off x="4912744" y="2765041"/>
              <a:ext cx="159017" cy="1168900"/>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78" name="文字方塊 77">
              <a:extLst>
                <a:ext uri="{FF2B5EF4-FFF2-40B4-BE49-F238E27FC236}">
                  <a16:creationId xmlns:a16="http://schemas.microsoft.com/office/drawing/2014/main" id="{36D9A387-D224-6E9D-2120-1C0D8DC7C5FE}"/>
                </a:ext>
              </a:extLst>
            </p:cNvPr>
            <p:cNvSpPr txBox="1"/>
            <p:nvPr/>
          </p:nvSpPr>
          <p:spPr>
            <a:xfrm>
              <a:off x="3923138" y="3394672"/>
              <a:ext cx="2575654" cy="369332"/>
            </a:xfrm>
            <a:prstGeom prst="rect">
              <a:avLst/>
            </a:prstGeom>
            <a:noFill/>
          </p:spPr>
          <p:txBody>
            <a:bodyPr wrap="square" rtlCol="0">
              <a:spAutoFit/>
            </a:bodyPr>
            <a:lstStyle/>
            <a:p>
              <a:r>
                <a:rPr kumimoji="1" lang="en-US" altLang="zh-TW" dirty="0">
                  <a:solidFill>
                    <a:srgbClr val="C00000"/>
                  </a:solidFill>
                </a:rPr>
                <a:t>A memory </a:t>
              </a:r>
              <a:r>
                <a:rPr kumimoji="1" lang="en-US" altLang="zh-TW" u="sng" dirty="0">
                  <a:solidFill>
                    <a:srgbClr val="C00000"/>
                  </a:solidFill>
                </a:rPr>
                <a:t>node</a:t>
              </a:r>
              <a:r>
                <a:rPr kumimoji="1" lang="en-US" altLang="zh-TW" dirty="0">
                  <a:solidFill>
                    <a:srgbClr val="C00000"/>
                  </a:solidFill>
                </a:rPr>
                <a:t> (or bank)</a:t>
              </a:r>
            </a:p>
          </p:txBody>
        </p:sp>
      </p:grpSp>
      <p:sp>
        <p:nvSpPr>
          <p:cNvPr id="3" name="內容版面配置區 2">
            <a:extLst>
              <a:ext uri="{FF2B5EF4-FFF2-40B4-BE49-F238E27FC236}">
                <a16:creationId xmlns:a16="http://schemas.microsoft.com/office/drawing/2014/main" id="{224DD704-CCC1-6CAA-B9E0-14F83FD49670}"/>
              </a:ext>
            </a:extLst>
          </p:cNvPr>
          <p:cNvSpPr>
            <a:spLocks noGrp="1"/>
          </p:cNvSpPr>
          <p:nvPr>
            <p:ph idx="1"/>
          </p:nvPr>
        </p:nvSpPr>
        <p:spPr/>
        <p:txBody>
          <a:bodyPr/>
          <a:lstStyle/>
          <a:p>
            <a:pPr algn="l"/>
            <a:r>
              <a:rPr lang="en-US" altLang="zh-TW" u="sng" dirty="0"/>
              <a:t>U</a:t>
            </a:r>
            <a:r>
              <a:rPr lang="en-US" altLang="zh-TW" dirty="0"/>
              <a:t>niform </a:t>
            </a:r>
            <a:r>
              <a:rPr lang="en-US" altLang="zh-TW" u="sng" dirty="0"/>
              <a:t>M</a:t>
            </a:r>
            <a:r>
              <a:rPr lang="en-US" altLang="zh-TW" dirty="0"/>
              <a:t>emory </a:t>
            </a:r>
            <a:r>
              <a:rPr lang="en-US" altLang="zh-TW" u="sng" dirty="0"/>
              <a:t>A</a:t>
            </a:r>
            <a:r>
              <a:rPr lang="en-US" altLang="zh-TW" dirty="0"/>
              <a:t>ccess vs </a:t>
            </a:r>
            <a:r>
              <a:rPr lang="en-US" altLang="zh-TW" u="sng" dirty="0"/>
              <a:t>N</a:t>
            </a:r>
            <a:r>
              <a:rPr lang="en-US" altLang="zh-TW" dirty="0"/>
              <a:t>on-</a:t>
            </a:r>
            <a:r>
              <a:rPr lang="en-US" altLang="zh-TW" u="sng" dirty="0"/>
              <a:t>U</a:t>
            </a:r>
            <a:r>
              <a:rPr lang="en-US" altLang="zh-TW" dirty="0"/>
              <a:t>niform </a:t>
            </a:r>
            <a:r>
              <a:rPr lang="en-US" altLang="zh-TW" u="sng" dirty="0"/>
              <a:t>M</a:t>
            </a:r>
            <a:r>
              <a:rPr lang="en-US" altLang="zh-TW" dirty="0"/>
              <a:t>emory </a:t>
            </a:r>
            <a:r>
              <a:rPr lang="en-US" altLang="zh-TW" u="sng" dirty="0"/>
              <a:t>A</a:t>
            </a:r>
            <a:r>
              <a:rPr lang="en-US" altLang="zh-TW" dirty="0"/>
              <a:t>ccess</a:t>
            </a:r>
          </a:p>
          <a:p>
            <a:pPr algn="l"/>
            <a:endParaRPr lang="en-US" altLang="zh-TW" dirty="0"/>
          </a:p>
          <a:p>
            <a:pPr algn="l"/>
            <a:endParaRPr lang="en-US" altLang="zh-TW" dirty="0"/>
          </a:p>
          <a:p>
            <a:pPr algn="l"/>
            <a:endParaRPr lang="en-US" altLang="zh-TW" dirty="0"/>
          </a:p>
          <a:p>
            <a:pPr algn="l"/>
            <a:endParaRPr lang="en-US" altLang="zh-TW" dirty="0"/>
          </a:p>
          <a:p>
            <a:pPr algn="l"/>
            <a:endParaRPr lang="en-US" altLang="zh-TW" dirty="0"/>
          </a:p>
          <a:p>
            <a:pPr algn="l"/>
            <a:r>
              <a:rPr lang="en-US" altLang="zh-TW" dirty="0"/>
              <a:t>Nodes</a:t>
            </a:r>
          </a:p>
          <a:p>
            <a:pPr lvl="1" algn="l"/>
            <a:r>
              <a:rPr lang="en-US" altLang="zh-TW" dirty="0"/>
              <a:t>Maintains a data structure (</a:t>
            </a:r>
            <a:r>
              <a:rPr lang="en-US" altLang="zh-TW" dirty="0" err="1">
                <a:latin typeface="+mj-lt"/>
              </a:rPr>
              <a:t>pg_data_t</a:t>
            </a:r>
            <a:r>
              <a:rPr lang="en-US" altLang="zh-TW" dirty="0"/>
              <a:t>) for </a:t>
            </a:r>
            <a:br>
              <a:rPr lang="en-US" altLang="zh-TW" dirty="0"/>
            </a:br>
            <a:r>
              <a:rPr lang="en-US" altLang="zh-TW" dirty="0">
                <a:solidFill>
                  <a:srgbClr val="C00000"/>
                </a:solidFill>
              </a:rPr>
              <a:t>each NUMA node. </a:t>
            </a:r>
          </a:p>
          <a:p>
            <a:pPr lvl="1" algn="l"/>
            <a:r>
              <a:rPr lang="en-US" altLang="zh-TW" dirty="0"/>
              <a:t>Allocate memory from the </a:t>
            </a:r>
            <a:r>
              <a:rPr lang="en-US" altLang="zh-TW" dirty="0">
                <a:solidFill>
                  <a:srgbClr val="C00000"/>
                </a:solidFill>
              </a:rPr>
              <a:t>node closest </a:t>
            </a:r>
            <a:br>
              <a:rPr lang="en-US" altLang="zh-TW" dirty="0">
                <a:solidFill>
                  <a:srgbClr val="C00000"/>
                </a:solidFill>
              </a:rPr>
            </a:br>
            <a:r>
              <a:rPr lang="en-US" altLang="zh-TW" dirty="0">
                <a:solidFill>
                  <a:srgbClr val="C00000"/>
                </a:solidFill>
              </a:rPr>
              <a:t>to the running CPU</a:t>
            </a:r>
            <a:r>
              <a:rPr lang="en-US" altLang="zh-TW" dirty="0"/>
              <a:t>.</a:t>
            </a:r>
          </a:p>
          <a:p>
            <a:pPr lvl="1" algn="l"/>
            <a:r>
              <a:rPr kumimoji="1" lang="en-US" altLang="zh-TW" dirty="0"/>
              <a:t>Granularity: Nodes </a:t>
            </a:r>
            <a:r>
              <a:rPr kumimoji="1" lang="en-US" altLang="zh-TW" dirty="0">
                <a:sym typeface="Wingdings" pitchFamily="2" charset="2"/>
              </a:rPr>
              <a:t></a:t>
            </a:r>
            <a:r>
              <a:rPr kumimoji="1" lang="en-US" altLang="zh-TW" dirty="0"/>
              <a:t> Zones </a:t>
            </a:r>
            <a:r>
              <a:rPr kumimoji="1" lang="en-US" altLang="zh-TW" dirty="0">
                <a:sym typeface="Wingdings" pitchFamily="2" charset="2"/>
              </a:rPr>
              <a:t> Page Frames</a:t>
            </a:r>
            <a:endParaRPr kumimoji="1" lang="zh-TW" altLang="en-US" dirty="0"/>
          </a:p>
        </p:txBody>
      </p:sp>
    </p:spTree>
    <p:extLst>
      <p:ext uri="{BB962C8B-B14F-4D97-AF65-F5344CB8AC3E}">
        <p14:creationId xmlns:p14="http://schemas.microsoft.com/office/powerpoint/2010/main" val="794307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fade">
                                      <p:cBhvr>
                                        <p:cTn id="7" dur="5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fade">
                                      <p:cBhvr>
                                        <p:cTn id="12" dur="500"/>
                                        <p:tgtEl>
                                          <p:spTgt spid="7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5"/>
                                        </p:tgtEl>
                                        <p:attrNameLst>
                                          <p:attrName>style.visibility</p:attrName>
                                        </p:attrNameLst>
                                      </p:cBhvr>
                                      <p:to>
                                        <p:strVal val="visible"/>
                                      </p:to>
                                    </p:set>
                                    <p:animEffect transition="in" filter="fade">
                                      <p:cBhvr>
                                        <p:cTn id="17" dur="500"/>
                                        <p:tgtEl>
                                          <p:spTgt spid="7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6"/>
                                        </p:tgtEl>
                                        <p:attrNameLst>
                                          <p:attrName>style.visibility</p:attrName>
                                        </p:attrNameLst>
                                      </p:cBhvr>
                                      <p:to>
                                        <p:strVal val="visible"/>
                                      </p:to>
                                    </p:set>
                                    <p:animEffect transition="in" filter="fade">
                                      <p:cBhvr>
                                        <p:cTn id="22" dur="500"/>
                                        <p:tgtEl>
                                          <p:spTgt spid="7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2"/>
                                        </p:tgtEl>
                                        <p:attrNameLst>
                                          <p:attrName>style.visibility</p:attrName>
                                        </p:attrNameLst>
                                      </p:cBhvr>
                                      <p:to>
                                        <p:strVal val="visible"/>
                                      </p:to>
                                    </p:set>
                                    <p:animEffect transition="in" filter="fade">
                                      <p:cBhvr>
                                        <p:cTn id="27" dur="500"/>
                                        <p:tgtEl>
                                          <p:spTgt spid="7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71"/>
                                        </p:tgtEl>
                                        <p:attrNameLst>
                                          <p:attrName>style.visibility</p:attrName>
                                        </p:attrNameLst>
                                      </p:cBhvr>
                                      <p:to>
                                        <p:strVal val="visible"/>
                                      </p:to>
                                    </p:set>
                                    <p:animEffect transition="in" filter="wipe(up)">
                                      <p:cBhvr>
                                        <p:cTn id="32" dur="500"/>
                                        <p:tgtEl>
                                          <p:spTgt spid="7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79"/>
                                        </p:tgtEl>
                                        <p:attrNameLst>
                                          <p:attrName>style.visibility</p:attrName>
                                        </p:attrNameLst>
                                      </p:cBhvr>
                                      <p:to>
                                        <p:strVal val="visible"/>
                                      </p:to>
                                    </p:set>
                                    <p:animEffect transition="in" filter="fade">
                                      <p:cBhvr>
                                        <p:cTn id="43" dur="500"/>
                                        <p:tgtEl>
                                          <p:spTgt spid="7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
                                            <p:txEl>
                                              <p:pRg st="8" end="8"/>
                                            </p:txEl>
                                          </p:spTgt>
                                        </p:tgtEl>
                                        <p:attrNameLst>
                                          <p:attrName>style.visibility</p:attrName>
                                        </p:attrNameLst>
                                      </p:cBhvr>
                                      <p:to>
                                        <p:strVal val="visible"/>
                                      </p:to>
                                    </p:set>
                                    <p:animEffect transition="in" filter="fade">
                                      <p:cBhvr>
                                        <p:cTn id="48" dur="500"/>
                                        <p:tgtEl>
                                          <p:spTgt spid="3">
                                            <p:txEl>
                                              <p:pRg st="8" end="8"/>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
                                            <p:txEl>
                                              <p:pRg st="9" end="9"/>
                                            </p:txEl>
                                          </p:spTgt>
                                        </p:tgtEl>
                                        <p:attrNameLst>
                                          <p:attrName>style.visibility</p:attrName>
                                        </p:attrNameLst>
                                      </p:cBhvr>
                                      <p:to>
                                        <p:strVal val="visible"/>
                                      </p:to>
                                    </p:set>
                                    <p:animEffect transition="in" filter="fade">
                                      <p:cBhvr>
                                        <p:cTn id="53" dur="500"/>
                                        <p:tgtEl>
                                          <p:spTgt spid="3">
                                            <p:txEl>
                                              <p:pRg st="9" end="9"/>
                                            </p:txEl>
                                          </p:spTgt>
                                        </p:tgtEl>
                                      </p:cBhvr>
                                    </p:animEffect>
                                  </p:childTnLst>
                                </p:cTn>
                              </p:par>
                            </p:childTnLst>
                          </p:cTn>
                        </p:par>
                        <p:par>
                          <p:cTn id="54" fill="hold">
                            <p:stCondLst>
                              <p:cond delay="500"/>
                            </p:stCondLst>
                            <p:childTnLst>
                              <p:par>
                                <p:cTn id="55" presetID="22" presetClass="entr" presetSubtype="1" fill="hold" nodeType="after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wipe(up)">
                                      <p:cBhvr>
                                        <p:cTn id="5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7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0628AE8-65E8-948A-09EC-75FB31AF2387}"/>
              </a:ext>
            </a:extLst>
          </p:cNvPr>
          <p:cNvSpPr>
            <a:spLocks noGrp="1"/>
          </p:cNvSpPr>
          <p:nvPr>
            <p:ph type="title"/>
          </p:nvPr>
        </p:nvSpPr>
        <p:spPr/>
        <p:txBody>
          <a:bodyPr/>
          <a:lstStyle/>
          <a:p>
            <a:r>
              <a:rPr kumimoji="1" lang="en-US" altLang="zh-TW" dirty="0"/>
              <a:t>Basic Concepts of Memory Allocation</a:t>
            </a:r>
            <a:endParaRPr kumimoji="1" lang="zh-TW" altLang="en-US" dirty="0"/>
          </a:p>
        </p:txBody>
      </p:sp>
      <p:sp>
        <p:nvSpPr>
          <p:cNvPr id="3" name="內容版面配置區 2">
            <a:extLst>
              <a:ext uri="{FF2B5EF4-FFF2-40B4-BE49-F238E27FC236}">
                <a16:creationId xmlns:a16="http://schemas.microsoft.com/office/drawing/2014/main" id="{1D60604A-0877-34F3-5E3D-F71A26F986E1}"/>
              </a:ext>
            </a:extLst>
          </p:cNvPr>
          <p:cNvSpPr>
            <a:spLocks noGrp="1"/>
          </p:cNvSpPr>
          <p:nvPr>
            <p:ph idx="1"/>
          </p:nvPr>
        </p:nvSpPr>
        <p:spPr>
          <a:xfrm>
            <a:off x="177799" y="1238250"/>
            <a:ext cx="12014199" cy="5441950"/>
          </a:xfrm>
        </p:spPr>
        <p:txBody>
          <a:bodyPr/>
          <a:lstStyle/>
          <a:p>
            <a:pPr algn="l"/>
            <a:r>
              <a:rPr kumimoji="1" lang="en-US" altLang="zh-TW" dirty="0"/>
              <a:t>Initially, </a:t>
            </a:r>
            <a:r>
              <a:rPr kumimoji="1" lang="en-US" altLang="zh-TW" dirty="0">
                <a:solidFill>
                  <a:srgbClr val="C00000"/>
                </a:solidFill>
              </a:rPr>
              <a:t>all memory is available </a:t>
            </a:r>
            <a:r>
              <a:rPr kumimoji="1" lang="en-US" altLang="zh-TW" dirty="0"/>
              <a:t>and is considered as a large block of </a:t>
            </a:r>
            <a:r>
              <a:rPr kumimoji="1" lang="en-US" altLang="zh-TW" dirty="0">
                <a:solidFill>
                  <a:srgbClr val="C00000"/>
                </a:solidFill>
              </a:rPr>
              <a:t>hole</a:t>
            </a:r>
            <a:r>
              <a:rPr kumimoji="1" lang="en-US" altLang="zh-TW" dirty="0"/>
              <a:t>.</a:t>
            </a:r>
          </a:p>
          <a:p>
            <a:r>
              <a:rPr kumimoji="1" lang="en-US" altLang="zh-TW" dirty="0"/>
              <a:t>When a process needs memory, the </a:t>
            </a:r>
            <a:r>
              <a:rPr kumimoji="1" lang="en-US" altLang="zh-TW" dirty="0">
                <a:solidFill>
                  <a:srgbClr val="C00000"/>
                </a:solidFill>
              </a:rPr>
              <a:t>system searches the set for a hole that is large enough</a:t>
            </a:r>
            <a:r>
              <a:rPr kumimoji="1" lang="en-US" altLang="zh-TW" dirty="0"/>
              <a:t> for this process.</a:t>
            </a:r>
          </a:p>
          <a:p>
            <a:pPr lvl="1"/>
            <a:r>
              <a:rPr lang="en-US" altLang="zh-TW" dirty="0"/>
              <a:t>First Fit: Search and allocate the </a:t>
            </a:r>
            <a:r>
              <a:rPr lang="en-US" altLang="zh-TW" dirty="0">
                <a:solidFill>
                  <a:srgbClr val="C00000"/>
                </a:solidFill>
              </a:rPr>
              <a:t>first hole that is big enough</a:t>
            </a:r>
            <a:r>
              <a:rPr lang="en-US" altLang="zh-TW" dirty="0"/>
              <a:t>. (Waste Size)</a:t>
            </a:r>
          </a:p>
          <a:p>
            <a:pPr lvl="1"/>
            <a:r>
              <a:rPr kumimoji="1" lang="en-US" altLang="zh-TW" dirty="0"/>
              <a:t>Best Fit: </a:t>
            </a:r>
            <a:r>
              <a:rPr kumimoji="1" lang="en-US" altLang="zh-TW" dirty="0">
                <a:solidFill>
                  <a:srgbClr val="C00000"/>
                </a:solidFill>
              </a:rPr>
              <a:t>Search all holes </a:t>
            </a:r>
            <a:r>
              <a:rPr kumimoji="1" lang="en-US" altLang="zh-TW" dirty="0"/>
              <a:t>and allocate the </a:t>
            </a:r>
            <a:r>
              <a:rPr kumimoji="1" lang="en-US" altLang="zh-TW" dirty="0">
                <a:solidFill>
                  <a:srgbClr val="C00000"/>
                </a:solidFill>
              </a:rPr>
              <a:t>smallest hole, which is big enough. </a:t>
            </a:r>
            <a:r>
              <a:rPr kumimoji="1" lang="en-US" altLang="zh-TW" dirty="0">
                <a:solidFill>
                  <a:schemeClr val="tx1"/>
                </a:solidFill>
              </a:rPr>
              <a:t>(Waste Time)</a:t>
            </a:r>
          </a:p>
          <a:p>
            <a:pPr lvl="1"/>
            <a:r>
              <a:rPr lang="en-US" altLang="zh-TW" dirty="0"/>
              <a:t>Worst Fit: </a:t>
            </a:r>
            <a:r>
              <a:rPr kumimoji="1" lang="en-US" altLang="zh-TW" dirty="0">
                <a:solidFill>
                  <a:srgbClr val="C00000"/>
                </a:solidFill>
              </a:rPr>
              <a:t>Search all holes </a:t>
            </a:r>
            <a:r>
              <a:rPr kumimoji="1" lang="en-US" altLang="zh-TW" dirty="0"/>
              <a:t>and allocate the </a:t>
            </a:r>
            <a:r>
              <a:rPr kumimoji="1" lang="en-US" altLang="zh-TW" dirty="0">
                <a:solidFill>
                  <a:srgbClr val="C00000"/>
                </a:solidFill>
              </a:rPr>
              <a:t>largest hole. (Waste Size &amp; Time)</a:t>
            </a:r>
          </a:p>
          <a:p>
            <a:r>
              <a:rPr lang="en-US" altLang="zh-TW" dirty="0">
                <a:solidFill>
                  <a:schemeClr val="tx1"/>
                </a:solidFill>
              </a:rPr>
              <a:t>Fragmentation (Low Utilization):</a:t>
            </a:r>
          </a:p>
          <a:p>
            <a:pPr lvl="1"/>
            <a:r>
              <a:rPr kumimoji="1" lang="en-US" altLang="zh-TW" dirty="0">
                <a:solidFill>
                  <a:schemeClr val="tx1"/>
                </a:solidFill>
              </a:rPr>
              <a:t>External Fragmentation: Enough total memory space to satisfy a request but </a:t>
            </a:r>
            <a:r>
              <a:rPr kumimoji="1" lang="en-US" altLang="zh-TW" dirty="0">
                <a:solidFill>
                  <a:srgbClr val="C00000"/>
                </a:solidFill>
              </a:rPr>
              <a:t>the available spaces are not contiguous</a:t>
            </a:r>
            <a:r>
              <a:rPr kumimoji="1" lang="en-US" altLang="zh-TW" dirty="0">
                <a:solidFill>
                  <a:schemeClr val="tx1"/>
                </a:solidFill>
              </a:rPr>
              <a:t>. </a:t>
            </a:r>
            <a:r>
              <a:rPr kumimoji="1" lang="en-US" altLang="zh-TW" i="1" dirty="0">
                <a:solidFill>
                  <a:schemeClr val="tx1"/>
                </a:solidFill>
              </a:rPr>
              <a:t>(Paging can solve this!)</a:t>
            </a:r>
          </a:p>
          <a:p>
            <a:pPr lvl="1"/>
            <a:r>
              <a:rPr lang="en-US" altLang="zh-TW" dirty="0">
                <a:solidFill>
                  <a:schemeClr val="tx1"/>
                </a:solidFill>
              </a:rPr>
              <a:t>Internal Fragmentation: Occurs when systems split the continuous s</a:t>
            </a:r>
            <a:r>
              <a:rPr kumimoji="1" lang="en-US" altLang="zh-TW" dirty="0">
                <a:solidFill>
                  <a:schemeClr val="tx1"/>
                </a:solidFill>
              </a:rPr>
              <a:t>pace into </a:t>
            </a:r>
            <a:r>
              <a:rPr kumimoji="1" lang="en-US" altLang="zh-TW" dirty="0">
                <a:solidFill>
                  <a:srgbClr val="C00000"/>
                </a:solidFill>
              </a:rPr>
              <a:t>continuous chunks </a:t>
            </a:r>
            <a:r>
              <a:rPr kumimoji="1" lang="en-US" altLang="zh-TW" dirty="0">
                <a:solidFill>
                  <a:schemeClr val="tx1"/>
                </a:solidFill>
              </a:rPr>
              <a:t>(e.g., page)</a:t>
            </a:r>
            <a:endParaRPr kumimoji="1" lang="zh-TW" altLang="en-US" dirty="0">
              <a:solidFill>
                <a:schemeClr val="tx1"/>
              </a:solidFill>
            </a:endParaRPr>
          </a:p>
        </p:txBody>
      </p:sp>
      <p:sp>
        <p:nvSpPr>
          <p:cNvPr id="4" name="投影片編號版面配置區 3">
            <a:extLst>
              <a:ext uri="{FF2B5EF4-FFF2-40B4-BE49-F238E27FC236}">
                <a16:creationId xmlns:a16="http://schemas.microsoft.com/office/drawing/2014/main" id="{3CE4B0FD-5A5D-C10B-C970-905B65555A1C}"/>
              </a:ext>
            </a:extLst>
          </p:cNvPr>
          <p:cNvSpPr>
            <a:spLocks noGrp="1"/>
          </p:cNvSpPr>
          <p:nvPr>
            <p:ph type="sldNum" sz="quarter" idx="4"/>
          </p:nvPr>
        </p:nvSpPr>
        <p:spPr/>
        <p:txBody>
          <a:bodyPr/>
          <a:lstStyle/>
          <a:p>
            <a:fld id="{E24E6636-6BA5-4AAC-8485-BE8D914D288B}" type="slidenum">
              <a:rPr lang="zh-TW" altLang="en-US" smtClean="0"/>
              <a:pPr/>
              <a:t>14</a:t>
            </a:fld>
            <a:endParaRPr lang="zh-TW" altLang="en-US" dirty="0"/>
          </a:p>
        </p:txBody>
      </p:sp>
      <p:grpSp>
        <p:nvGrpSpPr>
          <p:cNvPr id="10" name="群組 9">
            <a:extLst>
              <a:ext uri="{FF2B5EF4-FFF2-40B4-BE49-F238E27FC236}">
                <a16:creationId xmlns:a16="http://schemas.microsoft.com/office/drawing/2014/main" id="{EDB5E31F-DFFE-93C3-4EA1-1E17993C80A6}"/>
              </a:ext>
            </a:extLst>
          </p:cNvPr>
          <p:cNvGrpSpPr/>
          <p:nvPr/>
        </p:nvGrpSpPr>
        <p:grpSpPr>
          <a:xfrm>
            <a:off x="9795939" y="5048998"/>
            <a:ext cx="1872185" cy="1441608"/>
            <a:chOff x="9795939" y="5048998"/>
            <a:chExt cx="1872185" cy="1441608"/>
          </a:xfrm>
        </p:grpSpPr>
        <p:sp>
          <p:nvSpPr>
            <p:cNvPr id="5" name="矩形 4">
              <a:extLst>
                <a:ext uri="{FF2B5EF4-FFF2-40B4-BE49-F238E27FC236}">
                  <a16:creationId xmlns:a16="http://schemas.microsoft.com/office/drawing/2014/main" id="{40091400-CC46-F73F-0E4E-9BE01CA20600}"/>
                </a:ext>
              </a:extLst>
            </p:cNvPr>
            <p:cNvSpPr/>
            <p:nvPr/>
          </p:nvSpPr>
          <p:spPr>
            <a:xfrm>
              <a:off x="9795939" y="5048998"/>
              <a:ext cx="881743" cy="1441608"/>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 name="矩形 5">
              <a:extLst>
                <a:ext uri="{FF2B5EF4-FFF2-40B4-BE49-F238E27FC236}">
                  <a16:creationId xmlns:a16="http://schemas.microsoft.com/office/drawing/2014/main" id="{82BF2BA0-BFE0-19D8-749E-6F91574CFB55}"/>
                </a:ext>
              </a:extLst>
            </p:cNvPr>
            <p:cNvSpPr/>
            <p:nvPr/>
          </p:nvSpPr>
          <p:spPr>
            <a:xfrm>
              <a:off x="9795939" y="5048999"/>
              <a:ext cx="881743" cy="570751"/>
            </a:xfrm>
            <a:prstGeom prst="rect">
              <a:avLst/>
            </a:prstGeom>
            <a:solidFill>
              <a:schemeClr val="bg1">
                <a:lumMod val="9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P1</a:t>
              </a:r>
              <a:endParaRPr kumimoji="1" lang="zh-TW" altLang="en-US" dirty="0">
                <a:solidFill>
                  <a:schemeClr val="tx1"/>
                </a:solidFill>
              </a:endParaRPr>
            </a:p>
          </p:txBody>
        </p:sp>
        <p:sp>
          <p:nvSpPr>
            <p:cNvPr id="7" name="矩形 6">
              <a:extLst>
                <a:ext uri="{FF2B5EF4-FFF2-40B4-BE49-F238E27FC236}">
                  <a16:creationId xmlns:a16="http://schemas.microsoft.com/office/drawing/2014/main" id="{E48CBE7F-4C8B-537C-3C1F-6184AC66E152}"/>
                </a:ext>
              </a:extLst>
            </p:cNvPr>
            <p:cNvSpPr/>
            <p:nvPr/>
          </p:nvSpPr>
          <p:spPr>
            <a:xfrm>
              <a:off x="9795939" y="5826578"/>
              <a:ext cx="881743" cy="381000"/>
            </a:xfrm>
            <a:prstGeom prst="rect">
              <a:avLst/>
            </a:prstGeom>
            <a:solidFill>
              <a:schemeClr val="bg1">
                <a:lumMod val="9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P2</a:t>
              </a:r>
              <a:endParaRPr kumimoji="1" lang="zh-TW" altLang="en-US" dirty="0">
                <a:solidFill>
                  <a:schemeClr val="tx1"/>
                </a:solidFill>
              </a:endParaRPr>
            </a:p>
          </p:txBody>
        </p:sp>
        <p:sp>
          <p:nvSpPr>
            <p:cNvPr id="9" name="矩形 8">
              <a:extLst>
                <a:ext uri="{FF2B5EF4-FFF2-40B4-BE49-F238E27FC236}">
                  <a16:creationId xmlns:a16="http://schemas.microsoft.com/office/drawing/2014/main" id="{31F9CAF1-A013-FC34-0FB2-9BB6977CEA9B}"/>
                </a:ext>
              </a:extLst>
            </p:cNvPr>
            <p:cNvSpPr/>
            <p:nvPr/>
          </p:nvSpPr>
          <p:spPr>
            <a:xfrm>
              <a:off x="10786381" y="6109606"/>
              <a:ext cx="881743" cy="381000"/>
            </a:xfrm>
            <a:prstGeom prst="rect">
              <a:avLst/>
            </a:prstGeom>
            <a:solidFill>
              <a:schemeClr val="bg1">
                <a:lumMod val="9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P3</a:t>
              </a:r>
              <a:endParaRPr kumimoji="1" lang="zh-TW" altLang="en-US" dirty="0">
                <a:solidFill>
                  <a:schemeClr val="tx1"/>
                </a:solidFill>
              </a:endParaRPr>
            </a:p>
          </p:txBody>
        </p:sp>
      </p:grpSp>
    </p:spTree>
    <p:extLst>
      <p:ext uri="{BB962C8B-B14F-4D97-AF65-F5344CB8AC3E}">
        <p14:creationId xmlns:p14="http://schemas.microsoft.com/office/powerpoint/2010/main" val="675912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par>
                                <p:cTn id="41" presetID="1" presetClass="exit" presetSubtype="0" fill="hold" nodeType="withEffect">
                                  <p:stCondLst>
                                    <p:cond delay="0"/>
                                  </p:stCondLst>
                                  <p:childTnLst>
                                    <p:set>
                                      <p:cBhvr>
                                        <p:cTn id="42"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742E633-59AC-31CB-BDCA-7995C41EA39C}"/>
              </a:ext>
            </a:extLst>
          </p:cNvPr>
          <p:cNvSpPr>
            <a:spLocks noGrp="1"/>
          </p:cNvSpPr>
          <p:nvPr>
            <p:ph type="title"/>
          </p:nvPr>
        </p:nvSpPr>
        <p:spPr/>
        <p:txBody>
          <a:bodyPr/>
          <a:lstStyle/>
          <a:p>
            <a:r>
              <a:rPr kumimoji="1" lang="en-US" altLang="zh-TW" dirty="0"/>
              <a:t>Linux Page Allocation</a:t>
            </a:r>
            <a:endParaRPr kumimoji="1" lang="zh-TW" altLang="en-US" dirty="0"/>
          </a:p>
        </p:txBody>
      </p:sp>
      <p:sp>
        <p:nvSpPr>
          <p:cNvPr id="3" name="內容版面配置區 2">
            <a:extLst>
              <a:ext uri="{FF2B5EF4-FFF2-40B4-BE49-F238E27FC236}">
                <a16:creationId xmlns:a16="http://schemas.microsoft.com/office/drawing/2014/main" id="{5AD4EA04-0C56-9288-DC46-5D41E903501D}"/>
              </a:ext>
            </a:extLst>
          </p:cNvPr>
          <p:cNvSpPr>
            <a:spLocks noGrp="1"/>
          </p:cNvSpPr>
          <p:nvPr>
            <p:ph idx="1"/>
          </p:nvPr>
        </p:nvSpPr>
        <p:spPr/>
        <p:txBody>
          <a:bodyPr/>
          <a:lstStyle/>
          <a:p>
            <a:r>
              <a:rPr lang="en-US" altLang="zh-TW" dirty="0" err="1">
                <a:latin typeface="+mj-lt"/>
              </a:rPr>
              <a:t>a</a:t>
            </a:r>
            <a:r>
              <a:rPr kumimoji="1" lang="en-US" altLang="zh-TW" dirty="0" err="1">
                <a:latin typeface="+mj-lt"/>
              </a:rPr>
              <a:t>lloc_pages</a:t>
            </a:r>
            <a:r>
              <a:rPr kumimoji="1" lang="en-US" altLang="zh-TW" dirty="0">
                <a:latin typeface="+mj-lt"/>
              </a:rPr>
              <a:t>()</a:t>
            </a:r>
            <a:r>
              <a:rPr lang="en-US" altLang="zh-TW" dirty="0"/>
              <a:t> function </a:t>
            </a:r>
            <a:r>
              <a:rPr kumimoji="1" lang="en-US" altLang="zh-TW" dirty="0"/>
              <a:t>allocates a </a:t>
            </a:r>
            <a:r>
              <a:rPr kumimoji="1" lang="en-US" altLang="zh-TW" dirty="0">
                <a:solidFill>
                  <a:srgbClr val="C00000"/>
                </a:solidFill>
              </a:rPr>
              <a:t>single page </a:t>
            </a:r>
            <a:r>
              <a:rPr kumimoji="1" lang="en-US" altLang="zh-TW" dirty="0"/>
              <a:t>or </a:t>
            </a:r>
            <a:r>
              <a:rPr kumimoji="1" lang="en-US" altLang="zh-TW" dirty="0">
                <a:solidFill>
                  <a:srgbClr val="C00000"/>
                </a:solidFill>
              </a:rPr>
              <a:t>2</a:t>
            </a:r>
            <a:r>
              <a:rPr kumimoji="1" lang="en-US" altLang="zh-TW" baseline="30000" dirty="0">
                <a:solidFill>
                  <a:srgbClr val="C00000"/>
                </a:solidFill>
              </a:rPr>
              <a:t>order</a:t>
            </a:r>
            <a:r>
              <a:rPr kumimoji="1" lang="en-US" altLang="zh-TW" dirty="0">
                <a:solidFill>
                  <a:srgbClr val="C00000"/>
                </a:solidFill>
              </a:rPr>
              <a:t> pages </a:t>
            </a:r>
            <a:r>
              <a:rPr kumimoji="1" lang="en-US" altLang="zh-TW" dirty="0"/>
              <a:t>and returns pointer to the first page’s </a:t>
            </a:r>
            <a:r>
              <a:rPr kumimoji="1" lang="en-US" altLang="zh-TW" dirty="0">
                <a:latin typeface="+mj-lt"/>
              </a:rPr>
              <a:t>page struct</a:t>
            </a:r>
            <a:r>
              <a:rPr kumimoji="1" lang="en-US" altLang="zh-TW" dirty="0"/>
              <a:t>. (Buddy System)</a:t>
            </a:r>
          </a:p>
          <a:p>
            <a:r>
              <a:rPr lang="en-US" altLang="zh-TW" dirty="0"/>
              <a:t>For more general </a:t>
            </a:r>
            <a:r>
              <a:rPr lang="en-US" altLang="zh-TW" dirty="0">
                <a:solidFill>
                  <a:srgbClr val="C00000"/>
                </a:solidFill>
              </a:rPr>
              <a:t>byte-sized allocations</a:t>
            </a:r>
            <a:r>
              <a:rPr lang="en-US" altLang="zh-TW" dirty="0"/>
              <a:t>, the kernel provides </a:t>
            </a:r>
            <a:r>
              <a:rPr lang="en-US" altLang="zh-TW" dirty="0" err="1">
                <a:latin typeface="+mj-lt"/>
              </a:rPr>
              <a:t>kmalloc</a:t>
            </a:r>
            <a:r>
              <a:rPr lang="en-US" altLang="zh-TW" dirty="0">
                <a:latin typeface="+mj-lt"/>
              </a:rPr>
              <a:t>()</a:t>
            </a:r>
            <a:r>
              <a:rPr lang="en-US" altLang="zh-TW" dirty="0"/>
              <a:t>.</a:t>
            </a:r>
            <a:endParaRPr kumimoji="1" lang="zh-TW" altLang="en-US" dirty="0"/>
          </a:p>
        </p:txBody>
      </p:sp>
      <p:sp>
        <p:nvSpPr>
          <p:cNvPr id="4" name="投影片編號版面配置區 3">
            <a:extLst>
              <a:ext uri="{FF2B5EF4-FFF2-40B4-BE49-F238E27FC236}">
                <a16:creationId xmlns:a16="http://schemas.microsoft.com/office/drawing/2014/main" id="{8F0F7236-1DB4-6EF3-275A-4B1C5248592E}"/>
              </a:ext>
            </a:extLst>
          </p:cNvPr>
          <p:cNvSpPr>
            <a:spLocks noGrp="1"/>
          </p:cNvSpPr>
          <p:nvPr>
            <p:ph type="sldNum" sz="quarter" idx="4"/>
          </p:nvPr>
        </p:nvSpPr>
        <p:spPr/>
        <p:txBody>
          <a:bodyPr/>
          <a:lstStyle/>
          <a:p>
            <a:fld id="{E24E6636-6BA5-4AAC-8485-BE8D914D288B}" type="slidenum">
              <a:rPr lang="zh-TW" altLang="en-US" smtClean="0"/>
              <a:pPr/>
              <a:t>15</a:t>
            </a:fld>
            <a:endParaRPr lang="zh-TW" altLang="en-US" dirty="0"/>
          </a:p>
        </p:txBody>
      </p:sp>
      <p:sp>
        <p:nvSpPr>
          <p:cNvPr id="8" name="文字方塊 7">
            <a:extLst>
              <a:ext uri="{FF2B5EF4-FFF2-40B4-BE49-F238E27FC236}">
                <a16:creationId xmlns:a16="http://schemas.microsoft.com/office/drawing/2014/main" id="{154BBE72-D927-86A9-D72C-2F63564CCD30}"/>
              </a:ext>
            </a:extLst>
          </p:cNvPr>
          <p:cNvSpPr txBox="1"/>
          <p:nvPr/>
        </p:nvSpPr>
        <p:spPr>
          <a:xfrm>
            <a:off x="0" y="6598099"/>
            <a:ext cx="9543446" cy="276999"/>
          </a:xfrm>
          <a:prstGeom prst="rect">
            <a:avLst/>
          </a:prstGeom>
          <a:noFill/>
        </p:spPr>
        <p:txBody>
          <a:bodyPr wrap="none" rtlCol="0">
            <a:spAutoFit/>
          </a:bodyPr>
          <a:lstStyle/>
          <a:p>
            <a:r>
              <a:rPr kumimoji="1" lang="en-US" altLang="zh-TW" sz="1200" dirty="0">
                <a:solidFill>
                  <a:schemeClr val="bg1">
                    <a:lumMod val="75000"/>
                  </a:schemeClr>
                </a:solidFill>
              </a:rPr>
              <a:t>Ref: Advanced Operating Systems, </a:t>
            </a:r>
            <a:r>
              <a:rPr kumimoji="1" lang="en-US" altLang="zh-TW" sz="1200" dirty="0" err="1">
                <a:solidFill>
                  <a:schemeClr val="bg1">
                    <a:lumMod val="75000"/>
                  </a:schemeClr>
                </a:solidFill>
              </a:rPr>
              <a:t>Shinpei</a:t>
            </a:r>
            <a:r>
              <a:rPr kumimoji="1" lang="en-US" altLang="zh-TW" sz="1200" dirty="0">
                <a:solidFill>
                  <a:schemeClr val="bg1">
                    <a:lumMod val="75000"/>
                  </a:schemeClr>
                </a:solidFill>
              </a:rPr>
              <a:t> Kato, 2018</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www.pf.is.s.u-tokyo.ac.jp</a:t>
            </a:r>
            <a:r>
              <a:rPr kumimoji="1" lang="en-US" altLang="zh-TW" sz="1200" dirty="0">
                <a:solidFill>
                  <a:schemeClr val="bg1">
                    <a:lumMod val="75000"/>
                  </a:schemeClr>
                </a:solidFill>
              </a:rPr>
              <a:t>/wp-content/uploads/2018/10/AdvancedOperatingSystems3.pdf</a:t>
            </a:r>
            <a:endParaRPr kumimoji="1" lang="zh-TW" altLang="en-US" sz="1200" dirty="0">
              <a:solidFill>
                <a:schemeClr val="bg1">
                  <a:lumMod val="75000"/>
                </a:schemeClr>
              </a:solidFill>
            </a:endParaRPr>
          </a:p>
        </p:txBody>
      </p:sp>
      <p:grpSp>
        <p:nvGrpSpPr>
          <p:cNvPr id="44" name="群組 43">
            <a:extLst>
              <a:ext uri="{FF2B5EF4-FFF2-40B4-BE49-F238E27FC236}">
                <a16:creationId xmlns:a16="http://schemas.microsoft.com/office/drawing/2014/main" id="{7DDB50AB-B196-934E-A241-45D89D0882A2}"/>
              </a:ext>
            </a:extLst>
          </p:cNvPr>
          <p:cNvGrpSpPr/>
          <p:nvPr/>
        </p:nvGrpSpPr>
        <p:grpSpPr>
          <a:xfrm>
            <a:off x="3794453" y="2707672"/>
            <a:ext cx="5397661" cy="3695529"/>
            <a:chOff x="3794453" y="2707672"/>
            <a:chExt cx="5397661" cy="3695529"/>
          </a:xfrm>
        </p:grpSpPr>
        <p:sp>
          <p:nvSpPr>
            <p:cNvPr id="5" name="矩形 4">
              <a:extLst>
                <a:ext uri="{FF2B5EF4-FFF2-40B4-BE49-F238E27FC236}">
                  <a16:creationId xmlns:a16="http://schemas.microsoft.com/office/drawing/2014/main" id="{904898FF-3448-AB69-9C5C-82D671B3FA8E}"/>
                </a:ext>
              </a:extLst>
            </p:cNvPr>
            <p:cNvSpPr/>
            <p:nvPr/>
          </p:nvSpPr>
          <p:spPr>
            <a:xfrm>
              <a:off x="3794453" y="5863201"/>
              <a:ext cx="5397661" cy="540000"/>
            </a:xfrm>
            <a:prstGeom prst="rect">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1"/>
                  </a:solidFill>
                </a:rPr>
                <a:t>Physical DRAM</a:t>
              </a:r>
              <a:endParaRPr kumimoji="1" lang="zh-TW" altLang="en-US" sz="1400" b="1" dirty="0">
                <a:solidFill>
                  <a:schemeClr val="tx1"/>
                </a:solidFill>
              </a:endParaRPr>
            </a:p>
          </p:txBody>
        </p:sp>
        <p:sp>
          <p:nvSpPr>
            <p:cNvPr id="9" name="矩形 8">
              <a:extLst>
                <a:ext uri="{FF2B5EF4-FFF2-40B4-BE49-F238E27FC236}">
                  <a16:creationId xmlns:a16="http://schemas.microsoft.com/office/drawing/2014/main" id="{7F95D455-84F3-0515-721D-AC32925C102A}"/>
                </a:ext>
              </a:extLst>
            </p:cNvPr>
            <p:cNvSpPr/>
            <p:nvPr/>
          </p:nvSpPr>
          <p:spPr>
            <a:xfrm>
              <a:off x="3794453" y="2707672"/>
              <a:ext cx="2301547" cy="540000"/>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1"/>
                  </a:solidFill>
                </a:rPr>
                <a:t>User-space Memory Allocation</a:t>
              </a:r>
              <a:endParaRPr kumimoji="1" lang="zh-TW" altLang="en-US" sz="1400" b="1" dirty="0">
                <a:solidFill>
                  <a:schemeClr val="tx1"/>
                </a:solidFill>
              </a:endParaRPr>
            </a:p>
          </p:txBody>
        </p:sp>
        <p:sp>
          <p:nvSpPr>
            <p:cNvPr id="10" name="矩形 9">
              <a:extLst>
                <a:ext uri="{FF2B5EF4-FFF2-40B4-BE49-F238E27FC236}">
                  <a16:creationId xmlns:a16="http://schemas.microsoft.com/office/drawing/2014/main" id="{D24300C1-39D7-ED91-65DD-B420610F4CD1}"/>
                </a:ext>
              </a:extLst>
            </p:cNvPr>
            <p:cNvSpPr/>
            <p:nvPr/>
          </p:nvSpPr>
          <p:spPr>
            <a:xfrm>
              <a:off x="6273800" y="2707672"/>
              <a:ext cx="2918314" cy="540000"/>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1"/>
                  </a:solidFill>
                </a:rPr>
                <a:t>Kernel-space Memory Allocation</a:t>
              </a:r>
              <a:endParaRPr kumimoji="1" lang="zh-TW" altLang="en-US" sz="1400" b="1" dirty="0">
                <a:solidFill>
                  <a:schemeClr val="tx1"/>
                </a:solidFill>
              </a:endParaRPr>
            </a:p>
          </p:txBody>
        </p:sp>
      </p:grpSp>
      <p:grpSp>
        <p:nvGrpSpPr>
          <p:cNvPr id="45" name="群組 44">
            <a:extLst>
              <a:ext uri="{FF2B5EF4-FFF2-40B4-BE49-F238E27FC236}">
                <a16:creationId xmlns:a16="http://schemas.microsoft.com/office/drawing/2014/main" id="{C98BFD19-53FF-B8BE-2725-13353B426711}"/>
              </a:ext>
            </a:extLst>
          </p:cNvPr>
          <p:cNvGrpSpPr/>
          <p:nvPr/>
        </p:nvGrpSpPr>
        <p:grpSpPr>
          <a:xfrm>
            <a:off x="3794453" y="5077448"/>
            <a:ext cx="5397661" cy="768874"/>
            <a:chOff x="3794453" y="5077448"/>
            <a:chExt cx="5397661" cy="768874"/>
          </a:xfrm>
        </p:grpSpPr>
        <p:sp>
          <p:nvSpPr>
            <p:cNvPr id="6" name="矩形 5">
              <a:extLst>
                <a:ext uri="{FF2B5EF4-FFF2-40B4-BE49-F238E27FC236}">
                  <a16:creationId xmlns:a16="http://schemas.microsoft.com/office/drawing/2014/main" id="{C17E7E5C-715C-56BA-2035-733AEA9E4440}"/>
                </a:ext>
              </a:extLst>
            </p:cNvPr>
            <p:cNvSpPr/>
            <p:nvPr/>
          </p:nvSpPr>
          <p:spPr>
            <a:xfrm>
              <a:off x="3794453" y="5077448"/>
              <a:ext cx="5397661" cy="540000"/>
            </a:xfrm>
            <a:prstGeom prst="rect">
              <a:avLst/>
            </a:prstGeom>
            <a:solidFill>
              <a:schemeClr val="accent2">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1"/>
                  </a:solidFill>
                </a:rPr>
                <a:t>Low-level Memory Allocator</a:t>
              </a:r>
            </a:p>
            <a:p>
              <a:pPr algn="ctr"/>
              <a:r>
                <a:rPr kumimoji="1" lang="en-US" altLang="zh-TW" sz="1400" b="1" dirty="0">
                  <a:solidFill>
                    <a:schemeClr val="tx1"/>
                  </a:solidFill>
                </a:rPr>
                <a:t>(</a:t>
              </a:r>
              <a:r>
                <a:rPr kumimoji="1" lang="en-US" altLang="zh-TW" sz="1400" b="1" dirty="0" err="1">
                  <a:solidFill>
                    <a:schemeClr val="tx1"/>
                  </a:solidFill>
                  <a:latin typeface="+mj-lt"/>
                </a:rPr>
                <a:t>alloc_pages</a:t>
              </a:r>
              <a:r>
                <a:rPr kumimoji="1" lang="en-US" altLang="zh-TW" sz="1400" b="1" dirty="0">
                  <a:solidFill>
                    <a:schemeClr val="tx1"/>
                  </a:solidFill>
                  <a:latin typeface="+mj-lt"/>
                </a:rPr>
                <a:t>() </a:t>
              </a:r>
              <a:r>
                <a:rPr kumimoji="1" lang="en-US" altLang="zh-TW" sz="1400" b="1" dirty="0">
                  <a:solidFill>
                    <a:schemeClr val="tx1"/>
                  </a:solidFill>
                </a:rPr>
                <a:t>– Buddy System)</a:t>
              </a:r>
              <a:endParaRPr kumimoji="1" lang="zh-TW" altLang="en-US" sz="1400" b="1" dirty="0">
                <a:solidFill>
                  <a:schemeClr val="tx1"/>
                </a:solidFill>
              </a:endParaRPr>
            </a:p>
          </p:txBody>
        </p:sp>
        <p:cxnSp>
          <p:nvCxnSpPr>
            <p:cNvPr id="32" name="直線箭頭接點 31">
              <a:extLst>
                <a:ext uri="{FF2B5EF4-FFF2-40B4-BE49-F238E27FC236}">
                  <a16:creationId xmlns:a16="http://schemas.microsoft.com/office/drawing/2014/main" id="{2619C978-A763-79C4-465B-2DC3011AC59D}"/>
                </a:ext>
              </a:extLst>
            </p:cNvPr>
            <p:cNvCxnSpPr>
              <a:cxnSpLocks/>
            </p:cNvCxnSpPr>
            <p:nvPr/>
          </p:nvCxnSpPr>
          <p:spPr>
            <a:xfrm>
              <a:off x="6462703" y="5617448"/>
              <a:ext cx="0" cy="228874"/>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4" name="群組 53">
            <a:extLst>
              <a:ext uri="{FF2B5EF4-FFF2-40B4-BE49-F238E27FC236}">
                <a16:creationId xmlns:a16="http://schemas.microsoft.com/office/drawing/2014/main" id="{03A04488-E3E0-A69A-3D3E-C8C8D3B68934}"/>
              </a:ext>
            </a:extLst>
          </p:cNvPr>
          <p:cNvGrpSpPr/>
          <p:nvPr/>
        </p:nvGrpSpPr>
        <p:grpSpPr>
          <a:xfrm>
            <a:off x="3794453" y="3249649"/>
            <a:ext cx="2301546" cy="771915"/>
            <a:chOff x="3794453" y="3249649"/>
            <a:chExt cx="2301546" cy="771915"/>
          </a:xfrm>
        </p:grpSpPr>
        <p:sp>
          <p:nvSpPr>
            <p:cNvPr id="17" name="矩形 16">
              <a:extLst>
                <a:ext uri="{FF2B5EF4-FFF2-40B4-BE49-F238E27FC236}">
                  <a16:creationId xmlns:a16="http://schemas.microsoft.com/office/drawing/2014/main" id="{C8A19608-DA12-67B1-7B18-343029EBB6E7}"/>
                </a:ext>
              </a:extLst>
            </p:cNvPr>
            <p:cNvSpPr/>
            <p:nvPr/>
          </p:nvSpPr>
          <p:spPr>
            <a:xfrm>
              <a:off x="3794453" y="3481564"/>
              <a:ext cx="2301546" cy="540000"/>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1"/>
                  </a:solidFill>
                </a:rPr>
                <a:t>malloc() – </a:t>
              </a:r>
              <a:br>
                <a:rPr kumimoji="1" lang="en-US" altLang="zh-TW" sz="1400" b="1" dirty="0">
                  <a:solidFill>
                    <a:schemeClr val="tx1"/>
                  </a:solidFill>
                </a:rPr>
              </a:br>
              <a:r>
                <a:rPr kumimoji="1" lang="en-US" altLang="zh-TW" sz="1400" b="1" dirty="0">
                  <a:solidFill>
                    <a:schemeClr val="tx1"/>
                  </a:solidFill>
                </a:rPr>
                <a:t>C Library</a:t>
              </a:r>
              <a:endParaRPr kumimoji="1" lang="zh-TW" altLang="en-US" sz="1400" b="1" dirty="0">
                <a:solidFill>
                  <a:schemeClr val="tx1"/>
                </a:solidFill>
              </a:endParaRPr>
            </a:p>
          </p:txBody>
        </p:sp>
        <p:cxnSp>
          <p:nvCxnSpPr>
            <p:cNvPr id="33" name="直線箭頭接點 32">
              <a:extLst>
                <a:ext uri="{FF2B5EF4-FFF2-40B4-BE49-F238E27FC236}">
                  <a16:creationId xmlns:a16="http://schemas.microsoft.com/office/drawing/2014/main" id="{5D32FC76-B11A-0107-AD23-9D530BF5157E}"/>
                </a:ext>
              </a:extLst>
            </p:cNvPr>
            <p:cNvCxnSpPr>
              <a:cxnSpLocks/>
            </p:cNvCxnSpPr>
            <p:nvPr/>
          </p:nvCxnSpPr>
          <p:spPr>
            <a:xfrm>
              <a:off x="4945226" y="3249649"/>
              <a:ext cx="0" cy="228874"/>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5" name="群組 54">
            <a:extLst>
              <a:ext uri="{FF2B5EF4-FFF2-40B4-BE49-F238E27FC236}">
                <a16:creationId xmlns:a16="http://schemas.microsoft.com/office/drawing/2014/main" id="{9A14B331-369F-105F-4575-4FB5382A8BD7}"/>
              </a:ext>
            </a:extLst>
          </p:cNvPr>
          <p:cNvGrpSpPr/>
          <p:nvPr/>
        </p:nvGrpSpPr>
        <p:grpSpPr>
          <a:xfrm>
            <a:off x="3794453" y="4002045"/>
            <a:ext cx="2301546" cy="1085248"/>
            <a:chOff x="3794453" y="4002045"/>
            <a:chExt cx="2301546" cy="1085248"/>
          </a:xfrm>
        </p:grpSpPr>
        <p:sp>
          <p:nvSpPr>
            <p:cNvPr id="15" name="矩形 14">
              <a:extLst>
                <a:ext uri="{FF2B5EF4-FFF2-40B4-BE49-F238E27FC236}">
                  <a16:creationId xmlns:a16="http://schemas.microsoft.com/office/drawing/2014/main" id="{795BDE37-3668-0397-B0D8-2255C8AFBC6E}"/>
                </a:ext>
              </a:extLst>
            </p:cNvPr>
            <p:cNvSpPr/>
            <p:nvPr/>
          </p:nvSpPr>
          <p:spPr>
            <a:xfrm>
              <a:off x="3794453" y="4267317"/>
              <a:ext cx="1076451" cy="540000"/>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err="1">
                  <a:solidFill>
                    <a:schemeClr val="tx1"/>
                  </a:solidFill>
                </a:rPr>
                <a:t>Brk</a:t>
              </a:r>
              <a:r>
                <a:rPr kumimoji="1" lang="en-US" altLang="zh-TW" sz="1400" b="1" dirty="0">
                  <a:solidFill>
                    <a:schemeClr val="tx1"/>
                  </a:solidFill>
                </a:rPr>
                <a:t>()</a:t>
              </a:r>
              <a:endParaRPr kumimoji="1" lang="zh-TW" altLang="en-US" sz="1400" b="1" dirty="0">
                <a:solidFill>
                  <a:schemeClr val="tx1"/>
                </a:solidFill>
              </a:endParaRPr>
            </a:p>
          </p:txBody>
        </p:sp>
        <p:sp>
          <p:nvSpPr>
            <p:cNvPr id="16" name="矩形 15">
              <a:extLst>
                <a:ext uri="{FF2B5EF4-FFF2-40B4-BE49-F238E27FC236}">
                  <a16:creationId xmlns:a16="http://schemas.microsoft.com/office/drawing/2014/main" id="{2B1658E0-893F-1BDF-297B-8AC318930ACC}"/>
                </a:ext>
              </a:extLst>
            </p:cNvPr>
            <p:cNvSpPr/>
            <p:nvPr/>
          </p:nvSpPr>
          <p:spPr>
            <a:xfrm>
              <a:off x="5019548" y="4267317"/>
              <a:ext cx="1076451" cy="540000"/>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err="1">
                  <a:solidFill>
                    <a:schemeClr val="tx1"/>
                  </a:solidFill>
                </a:rPr>
                <a:t>Mmap</a:t>
              </a:r>
              <a:r>
                <a:rPr kumimoji="1" lang="en-US" altLang="zh-TW" sz="1400" b="1" dirty="0">
                  <a:solidFill>
                    <a:schemeClr val="tx1"/>
                  </a:solidFill>
                </a:rPr>
                <a:t>()</a:t>
              </a:r>
              <a:endParaRPr kumimoji="1" lang="zh-TW" altLang="en-US" sz="1400" b="1" dirty="0">
                <a:solidFill>
                  <a:schemeClr val="tx1"/>
                </a:solidFill>
              </a:endParaRPr>
            </a:p>
          </p:txBody>
        </p:sp>
        <p:cxnSp>
          <p:nvCxnSpPr>
            <p:cNvPr id="34" name="直線箭頭接點 33">
              <a:extLst>
                <a:ext uri="{FF2B5EF4-FFF2-40B4-BE49-F238E27FC236}">
                  <a16:creationId xmlns:a16="http://schemas.microsoft.com/office/drawing/2014/main" id="{C51A3E98-D3F8-5E75-EA41-E4B168C9001F}"/>
                </a:ext>
              </a:extLst>
            </p:cNvPr>
            <p:cNvCxnSpPr>
              <a:cxnSpLocks/>
            </p:cNvCxnSpPr>
            <p:nvPr/>
          </p:nvCxnSpPr>
          <p:spPr>
            <a:xfrm>
              <a:off x="4278228" y="4021564"/>
              <a:ext cx="0" cy="228874"/>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箭頭接點 34">
              <a:extLst>
                <a:ext uri="{FF2B5EF4-FFF2-40B4-BE49-F238E27FC236}">
                  <a16:creationId xmlns:a16="http://schemas.microsoft.com/office/drawing/2014/main" id="{3724C3AE-EC29-22B0-BF41-EB91E52BA5E0}"/>
                </a:ext>
              </a:extLst>
            </p:cNvPr>
            <p:cNvCxnSpPr>
              <a:cxnSpLocks/>
            </p:cNvCxnSpPr>
            <p:nvPr/>
          </p:nvCxnSpPr>
          <p:spPr>
            <a:xfrm>
              <a:off x="5547390" y="4021564"/>
              <a:ext cx="0" cy="228874"/>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文字方塊 35">
              <a:extLst>
                <a:ext uri="{FF2B5EF4-FFF2-40B4-BE49-F238E27FC236}">
                  <a16:creationId xmlns:a16="http://schemas.microsoft.com/office/drawing/2014/main" id="{2D556D69-A386-AFC0-AE87-92019E74484F}"/>
                </a:ext>
              </a:extLst>
            </p:cNvPr>
            <p:cNvSpPr txBox="1"/>
            <p:nvPr/>
          </p:nvSpPr>
          <p:spPr>
            <a:xfrm>
              <a:off x="4202664" y="4002045"/>
              <a:ext cx="1465786" cy="523220"/>
            </a:xfrm>
            <a:prstGeom prst="rect">
              <a:avLst/>
            </a:prstGeom>
            <a:noFill/>
          </p:spPr>
          <p:txBody>
            <a:bodyPr wrap="none" rtlCol="0">
              <a:spAutoFit/>
            </a:bodyPr>
            <a:lstStyle/>
            <a:p>
              <a:pPr algn="ctr"/>
              <a:r>
                <a:rPr kumimoji="1" lang="en-US" altLang="zh-TW" sz="1400" dirty="0">
                  <a:solidFill>
                    <a:schemeClr val="accent5"/>
                  </a:solidFill>
                </a:rPr>
                <a:t>Request Size </a:t>
              </a:r>
            </a:p>
            <a:p>
              <a:pPr algn="ctr"/>
              <a:r>
                <a:rPr kumimoji="1" lang="en-US" altLang="zh-TW" sz="1400" dirty="0">
                  <a:solidFill>
                    <a:schemeClr val="accent5"/>
                  </a:solidFill>
                </a:rPr>
                <a:t>(Large for </a:t>
              </a:r>
              <a:r>
                <a:rPr kumimoji="1" lang="en-US" altLang="zh-TW" sz="1400" dirty="0" err="1">
                  <a:solidFill>
                    <a:schemeClr val="accent5"/>
                  </a:solidFill>
                </a:rPr>
                <a:t>MMap</a:t>
              </a:r>
              <a:r>
                <a:rPr kumimoji="1" lang="en-US" altLang="zh-TW" sz="1400" dirty="0">
                  <a:solidFill>
                    <a:schemeClr val="accent5"/>
                  </a:solidFill>
                </a:rPr>
                <a:t>)</a:t>
              </a:r>
              <a:endParaRPr kumimoji="1" lang="zh-TW" altLang="en-US" sz="1400" dirty="0">
                <a:solidFill>
                  <a:schemeClr val="accent5"/>
                </a:solidFill>
              </a:endParaRPr>
            </a:p>
          </p:txBody>
        </p:sp>
        <p:cxnSp>
          <p:nvCxnSpPr>
            <p:cNvPr id="40" name="直線箭頭接點 39">
              <a:extLst>
                <a:ext uri="{FF2B5EF4-FFF2-40B4-BE49-F238E27FC236}">
                  <a16:creationId xmlns:a16="http://schemas.microsoft.com/office/drawing/2014/main" id="{FC8E78E0-3474-EE88-DBEE-11F2338399DE}"/>
                </a:ext>
              </a:extLst>
            </p:cNvPr>
            <p:cNvCxnSpPr>
              <a:cxnSpLocks/>
            </p:cNvCxnSpPr>
            <p:nvPr/>
          </p:nvCxnSpPr>
          <p:spPr>
            <a:xfrm flipH="1">
              <a:off x="4278228" y="4800283"/>
              <a:ext cx="0" cy="28701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箭頭接點 41">
              <a:extLst>
                <a:ext uri="{FF2B5EF4-FFF2-40B4-BE49-F238E27FC236}">
                  <a16:creationId xmlns:a16="http://schemas.microsoft.com/office/drawing/2014/main" id="{9F8A9832-A928-1880-7DB8-EC8426577C13}"/>
                </a:ext>
              </a:extLst>
            </p:cNvPr>
            <p:cNvCxnSpPr>
              <a:cxnSpLocks/>
            </p:cNvCxnSpPr>
            <p:nvPr/>
          </p:nvCxnSpPr>
          <p:spPr>
            <a:xfrm flipH="1">
              <a:off x="5557773" y="4790438"/>
              <a:ext cx="0" cy="28701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3" name="群組 52">
            <a:extLst>
              <a:ext uri="{FF2B5EF4-FFF2-40B4-BE49-F238E27FC236}">
                <a16:creationId xmlns:a16="http://schemas.microsoft.com/office/drawing/2014/main" id="{0DD4CE18-724D-D8C1-A17C-31BA2B4A7BCA}"/>
              </a:ext>
            </a:extLst>
          </p:cNvPr>
          <p:cNvGrpSpPr/>
          <p:nvPr/>
        </p:nvGrpSpPr>
        <p:grpSpPr>
          <a:xfrm>
            <a:off x="6273800" y="3191233"/>
            <a:ext cx="1251068" cy="1886215"/>
            <a:chOff x="6273800" y="3191233"/>
            <a:chExt cx="1251068" cy="1886215"/>
          </a:xfrm>
        </p:grpSpPr>
        <p:grpSp>
          <p:nvGrpSpPr>
            <p:cNvPr id="47" name="群組 46">
              <a:extLst>
                <a:ext uri="{FF2B5EF4-FFF2-40B4-BE49-F238E27FC236}">
                  <a16:creationId xmlns:a16="http://schemas.microsoft.com/office/drawing/2014/main" id="{33E41498-53C9-B499-5A06-A5363F9CFE02}"/>
                </a:ext>
              </a:extLst>
            </p:cNvPr>
            <p:cNvGrpSpPr/>
            <p:nvPr/>
          </p:nvGrpSpPr>
          <p:grpSpPr>
            <a:xfrm>
              <a:off x="6273800" y="3247672"/>
              <a:ext cx="979668" cy="1829776"/>
              <a:chOff x="6273800" y="3247672"/>
              <a:chExt cx="979668" cy="1829776"/>
            </a:xfrm>
          </p:grpSpPr>
          <p:sp>
            <p:nvSpPr>
              <p:cNvPr id="14" name="矩形 13">
                <a:extLst>
                  <a:ext uri="{FF2B5EF4-FFF2-40B4-BE49-F238E27FC236}">
                    <a16:creationId xmlns:a16="http://schemas.microsoft.com/office/drawing/2014/main" id="{1B0BEA9C-FA3D-057A-48C9-A0A650647E63}"/>
                  </a:ext>
                </a:extLst>
              </p:cNvPr>
              <p:cNvSpPr/>
              <p:nvPr/>
            </p:nvSpPr>
            <p:spPr>
              <a:xfrm>
                <a:off x="6273800" y="3481564"/>
                <a:ext cx="979668" cy="540000"/>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err="1">
                    <a:solidFill>
                      <a:schemeClr val="tx1"/>
                    </a:solidFill>
                  </a:rPr>
                  <a:t>vmalloc</a:t>
                </a:r>
                <a:r>
                  <a:rPr kumimoji="1" lang="en-US" altLang="zh-TW" sz="1400" b="1" dirty="0">
                    <a:solidFill>
                      <a:schemeClr val="tx1"/>
                    </a:solidFill>
                  </a:rPr>
                  <a:t>()</a:t>
                </a:r>
                <a:endParaRPr kumimoji="1" lang="zh-TW" altLang="en-US" sz="1400" b="1" dirty="0">
                  <a:solidFill>
                    <a:schemeClr val="tx1"/>
                  </a:solidFill>
                </a:endParaRPr>
              </a:p>
            </p:txBody>
          </p:sp>
          <p:cxnSp>
            <p:nvCxnSpPr>
              <p:cNvPr id="23" name="直線箭頭接點 22">
                <a:extLst>
                  <a:ext uri="{FF2B5EF4-FFF2-40B4-BE49-F238E27FC236}">
                    <a16:creationId xmlns:a16="http://schemas.microsoft.com/office/drawing/2014/main" id="{285488AE-3793-2FFA-3533-6E5F761FDAFB}"/>
                  </a:ext>
                </a:extLst>
              </p:cNvPr>
              <p:cNvCxnSpPr>
                <a:cxnSpLocks/>
              </p:cNvCxnSpPr>
              <p:nvPr/>
            </p:nvCxnSpPr>
            <p:spPr>
              <a:xfrm>
                <a:off x="6763337" y="3247672"/>
                <a:ext cx="0" cy="228874"/>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箭頭接點 24">
                <a:extLst>
                  <a:ext uri="{FF2B5EF4-FFF2-40B4-BE49-F238E27FC236}">
                    <a16:creationId xmlns:a16="http://schemas.microsoft.com/office/drawing/2014/main" id="{2BA314C3-FE2E-145E-E758-D4CE49ACF854}"/>
                  </a:ext>
                </a:extLst>
              </p:cNvPr>
              <p:cNvCxnSpPr>
                <a:cxnSpLocks/>
                <a:stCxn id="14" idx="2"/>
              </p:cNvCxnSpPr>
              <p:nvPr/>
            </p:nvCxnSpPr>
            <p:spPr>
              <a:xfrm flipH="1">
                <a:off x="6763337" y="4021564"/>
                <a:ext cx="297" cy="1055884"/>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8" name="文字方塊 47">
              <a:extLst>
                <a:ext uri="{FF2B5EF4-FFF2-40B4-BE49-F238E27FC236}">
                  <a16:creationId xmlns:a16="http://schemas.microsoft.com/office/drawing/2014/main" id="{22E07D3D-D475-9DAD-90D8-E8D0603B4DED}"/>
                </a:ext>
              </a:extLst>
            </p:cNvPr>
            <p:cNvSpPr txBox="1"/>
            <p:nvPr/>
          </p:nvSpPr>
          <p:spPr>
            <a:xfrm>
              <a:off x="6796014" y="3191233"/>
              <a:ext cx="728854" cy="307777"/>
            </a:xfrm>
            <a:prstGeom prst="rect">
              <a:avLst/>
            </a:prstGeom>
            <a:noFill/>
          </p:spPr>
          <p:txBody>
            <a:bodyPr wrap="none" rtlCol="0">
              <a:spAutoFit/>
            </a:bodyPr>
            <a:lstStyle/>
            <a:p>
              <a:pPr algn="ctr"/>
              <a:r>
                <a:rPr kumimoji="1" lang="en-US" altLang="zh-TW" sz="1400" dirty="0">
                  <a:solidFill>
                    <a:schemeClr val="accent5"/>
                  </a:solidFill>
                </a:rPr>
                <a:t>Big Size</a:t>
              </a:r>
              <a:endParaRPr kumimoji="1" lang="zh-TW" altLang="en-US" sz="1400" dirty="0">
                <a:solidFill>
                  <a:schemeClr val="accent5"/>
                </a:solidFill>
              </a:endParaRPr>
            </a:p>
          </p:txBody>
        </p:sp>
      </p:grpSp>
      <p:grpSp>
        <p:nvGrpSpPr>
          <p:cNvPr id="52" name="群組 51">
            <a:extLst>
              <a:ext uri="{FF2B5EF4-FFF2-40B4-BE49-F238E27FC236}">
                <a16:creationId xmlns:a16="http://schemas.microsoft.com/office/drawing/2014/main" id="{4415C8EB-F97B-6D78-F707-3F3921A89BD6}"/>
              </a:ext>
            </a:extLst>
          </p:cNvPr>
          <p:cNvGrpSpPr/>
          <p:nvPr/>
        </p:nvGrpSpPr>
        <p:grpSpPr>
          <a:xfrm>
            <a:off x="7253468" y="3191232"/>
            <a:ext cx="1925984" cy="1893050"/>
            <a:chOff x="7253468" y="3191232"/>
            <a:chExt cx="1925984" cy="1893050"/>
          </a:xfrm>
        </p:grpSpPr>
        <p:grpSp>
          <p:nvGrpSpPr>
            <p:cNvPr id="46" name="群組 45">
              <a:extLst>
                <a:ext uri="{FF2B5EF4-FFF2-40B4-BE49-F238E27FC236}">
                  <a16:creationId xmlns:a16="http://schemas.microsoft.com/office/drawing/2014/main" id="{3B1D8F2B-81B4-76E3-4CB5-229C8528798F}"/>
                </a:ext>
              </a:extLst>
            </p:cNvPr>
            <p:cNvGrpSpPr/>
            <p:nvPr/>
          </p:nvGrpSpPr>
          <p:grpSpPr>
            <a:xfrm>
              <a:off x="7253468" y="3247672"/>
              <a:ext cx="1925984" cy="1836610"/>
              <a:chOff x="7253468" y="3247672"/>
              <a:chExt cx="1925984" cy="1836610"/>
            </a:xfrm>
          </p:grpSpPr>
          <p:sp>
            <p:nvSpPr>
              <p:cNvPr id="11" name="矩形 10">
                <a:extLst>
                  <a:ext uri="{FF2B5EF4-FFF2-40B4-BE49-F238E27FC236}">
                    <a16:creationId xmlns:a16="http://schemas.microsoft.com/office/drawing/2014/main" id="{F030401C-B86C-8682-AFBC-E8AF611E72F2}"/>
                  </a:ext>
                </a:extLst>
              </p:cNvPr>
              <p:cNvSpPr/>
              <p:nvPr/>
            </p:nvSpPr>
            <p:spPr>
              <a:xfrm>
                <a:off x="7253468" y="4267317"/>
                <a:ext cx="1909830" cy="540000"/>
              </a:xfrm>
              <a:prstGeom prst="rect">
                <a:avLst/>
              </a:prstGeom>
              <a:solidFill>
                <a:schemeClr val="accent2">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1"/>
                    </a:solidFill>
                  </a:rPr>
                  <a:t>Slab Layer</a:t>
                </a:r>
                <a:endParaRPr kumimoji="1" lang="zh-TW" altLang="en-US" sz="1400" b="1" dirty="0">
                  <a:solidFill>
                    <a:schemeClr val="tx1"/>
                  </a:solidFill>
                </a:endParaRPr>
              </a:p>
            </p:txBody>
          </p:sp>
          <p:sp>
            <p:nvSpPr>
              <p:cNvPr id="13" name="矩形 12">
                <a:extLst>
                  <a:ext uri="{FF2B5EF4-FFF2-40B4-BE49-F238E27FC236}">
                    <a16:creationId xmlns:a16="http://schemas.microsoft.com/office/drawing/2014/main" id="{490359E6-1767-CAC4-C9E3-FF7361EEE36E}"/>
                  </a:ext>
                </a:extLst>
              </p:cNvPr>
              <p:cNvSpPr/>
              <p:nvPr/>
            </p:nvSpPr>
            <p:spPr>
              <a:xfrm>
                <a:off x="8086845" y="3481564"/>
                <a:ext cx="1076451" cy="540000"/>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err="1">
                    <a:solidFill>
                      <a:schemeClr val="tx1"/>
                    </a:solidFill>
                  </a:rPr>
                  <a:t>kmalloc</a:t>
                </a:r>
                <a:r>
                  <a:rPr kumimoji="1" lang="en-US" altLang="zh-TW" sz="1400" b="1" dirty="0">
                    <a:solidFill>
                      <a:schemeClr val="tx1"/>
                    </a:solidFill>
                  </a:rPr>
                  <a:t>()</a:t>
                </a:r>
                <a:endParaRPr kumimoji="1" lang="zh-TW" altLang="en-US" sz="1400" b="1" dirty="0">
                  <a:solidFill>
                    <a:schemeClr val="tx1"/>
                  </a:solidFill>
                </a:endParaRPr>
              </a:p>
            </p:txBody>
          </p:sp>
          <p:cxnSp>
            <p:nvCxnSpPr>
              <p:cNvPr id="19" name="直線箭頭接點 18">
                <a:extLst>
                  <a:ext uri="{FF2B5EF4-FFF2-40B4-BE49-F238E27FC236}">
                    <a16:creationId xmlns:a16="http://schemas.microsoft.com/office/drawing/2014/main" id="{668E2E18-F53E-CFB0-1490-3EAC151D1E29}"/>
                  </a:ext>
                </a:extLst>
              </p:cNvPr>
              <p:cNvCxnSpPr>
                <a:cxnSpLocks/>
              </p:cNvCxnSpPr>
              <p:nvPr/>
            </p:nvCxnSpPr>
            <p:spPr>
              <a:xfrm flipH="1">
                <a:off x="7732957" y="3247672"/>
                <a:ext cx="1700" cy="1015983"/>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箭頭接點 27">
                <a:extLst>
                  <a:ext uri="{FF2B5EF4-FFF2-40B4-BE49-F238E27FC236}">
                    <a16:creationId xmlns:a16="http://schemas.microsoft.com/office/drawing/2014/main" id="{679203DD-C798-FC81-9A00-E0AD107964B4}"/>
                  </a:ext>
                </a:extLst>
              </p:cNvPr>
              <p:cNvCxnSpPr>
                <a:cxnSpLocks/>
              </p:cNvCxnSpPr>
              <p:nvPr/>
            </p:nvCxnSpPr>
            <p:spPr>
              <a:xfrm>
                <a:off x="8601318" y="3247672"/>
                <a:ext cx="0" cy="228874"/>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箭頭接點 28">
                <a:extLst>
                  <a:ext uri="{FF2B5EF4-FFF2-40B4-BE49-F238E27FC236}">
                    <a16:creationId xmlns:a16="http://schemas.microsoft.com/office/drawing/2014/main" id="{903F4CE9-E237-8988-EA9E-D09FF5BF15F9}"/>
                  </a:ext>
                </a:extLst>
              </p:cNvPr>
              <p:cNvCxnSpPr>
                <a:cxnSpLocks/>
              </p:cNvCxnSpPr>
              <p:nvPr/>
            </p:nvCxnSpPr>
            <p:spPr>
              <a:xfrm>
                <a:off x="8623352" y="4021564"/>
                <a:ext cx="0" cy="228874"/>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箭頭接點 29">
                <a:extLst>
                  <a:ext uri="{FF2B5EF4-FFF2-40B4-BE49-F238E27FC236}">
                    <a16:creationId xmlns:a16="http://schemas.microsoft.com/office/drawing/2014/main" id="{1547000D-3AD7-AACB-B6D5-2FA70410227E}"/>
                  </a:ext>
                </a:extLst>
              </p:cNvPr>
              <p:cNvCxnSpPr>
                <a:cxnSpLocks/>
              </p:cNvCxnSpPr>
              <p:nvPr/>
            </p:nvCxnSpPr>
            <p:spPr>
              <a:xfrm>
                <a:off x="8220669" y="4829351"/>
                <a:ext cx="0" cy="228874"/>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文字方塊 42">
                <a:extLst>
                  <a:ext uri="{FF2B5EF4-FFF2-40B4-BE49-F238E27FC236}">
                    <a16:creationId xmlns:a16="http://schemas.microsoft.com/office/drawing/2014/main" id="{6D64C706-290F-2A0F-5AD8-37A1A15A4995}"/>
                  </a:ext>
                </a:extLst>
              </p:cNvPr>
              <p:cNvSpPr txBox="1"/>
              <p:nvPr/>
            </p:nvSpPr>
            <p:spPr>
              <a:xfrm>
                <a:off x="8263111" y="4776505"/>
                <a:ext cx="916341" cy="307777"/>
              </a:xfrm>
              <a:prstGeom prst="rect">
                <a:avLst/>
              </a:prstGeom>
              <a:noFill/>
            </p:spPr>
            <p:txBody>
              <a:bodyPr wrap="none" rtlCol="0">
                <a:spAutoFit/>
              </a:bodyPr>
              <a:lstStyle/>
              <a:p>
                <a:pPr algn="ctr"/>
                <a:r>
                  <a:rPr kumimoji="1" lang="en-US" altLang="zh-TW" sz="1400" dirty="0">
                    <a:solidFill>
                      <a:schemeClr val="accent5"/>
                    </a:solidFill>
                  </a:rPr>
                  <a:t>If no slabs</a:t>
                </a:r>
                <a:endParaRPr kumimoji="1" lang="zh-TW" altLang="en-US" sz="1400" dirty="0">
                  <a:solidFill>
                    <a:schemeClr val="accent5"/>
                  </a:solidFill>
                </a:endParaRPr>
              </a:p>
            </p:txBody>
          </p:sp>
        </p:grpSp>
        <p:sp>
          <p:nvSpPr>
            <p:cNvPr id="49" name="文字方塊 48">
              <a:extLst>
                <a:ext uri="{FF2B5EF4-FFF2-40B4-BE49-F238E27FC236}">
                  <a16:creationId xmlns:a16="http://schemas.microsoft.com/office/drawing/2014/main" id="{5249D7CF-5324-9F54-D141-DC2BABD19A16}"/>
                </a:ext>
              </a:extLst>
            </p:cNvPr>
            <p:cNvSpPr txBox="1"/>
            <p:nvPr/>
          </p:nvSpPr>
          <p:spPr>
            <a:xfrm>
              <a:off x="7682676" y="3191232"/>
              <a:ext cx="898772" cy="307777"/>
            </a:xfrm>
            <a:prstGeom prst="rect">
              <a:avLst/>
            </a:prstGeom>
            <a:noFill/>
          </p:spPr>
          <p:txBody>
            <a:bodyPr wrap="none" rtlCol="0">
              <a:spAutoFit/>
            </a:bodyPr>
            <a:lstStyle/>
            <a:p>
              <a:pPr algn="ctr"/>
              <a:r>
                <a:rPr kumimoji="1" lang="en-US" altLang="zh-TW" sz="1400" dirty="0">
                  <a:solidFill>
                    <a:schemeClr val="accent5"/>
                  </a:solidFill>
                </a:rPr>
                <a:t>Small Size</a:t>
              </a:r>
              <a:endParaRPr kumimoji="1" lang="zh-TW" altLang="en-US" sz="1400" dirty="0">
                <a:solidFill>
                  <a:schemeClr val="accent5"/>
                </a:solidFill>
              </a:endParaRPr>
            </a:p>
          </p:txBody>
        </p:sp>
      </p:grpSp>
      <p:sp>
        <p:nvSpPr>
          <p:cNvPr id="50" name="文字方塊 49">
            <a:extLst>
              <a:ext uri="{FF2B5EF4-FFF2-40B4-BE49-F238E27FC236}">
                <a16:creationId xmlns:a16="http://schemas.microsoft.com/office/drawing/2014/main" id="{BAB98662-2E1B-E017-E034-35AB9ACD0118}"/>
              </a:ext>
            </a:extLst>
          </p:cNvPr>
          <p:cNvSpPr txBox="1"/>
          <p:nvPr/>
        </p:nvSpPr>
        <p:spPr>
          <a:xfrm>
            <a:off x="7597642" y="5302631"/>
            <a:ext cx="1422377" cy="307777"/>
          </a:xfrm>
          <a:prstGeom prst="rect">
            <a:avLst/>
          </a:prstGeom>
          <a:noFill/>
        </p:spPr>
        <p:txBody>
          <a:bodyPr wrap="none" rtlCol="0">
            <a:spAutoFit/>
          </a:bodyPr>
          <a:lstStyle/>
          <a:p>
            <a:pPr algn="ctr"/>
            <a:r>
              <a:rPr kumimoji="1" lang="en-US" altLang="zh-TW" sz="1400" b="1" dirty="0">
                <a:solidFill>
                  <a:schemeClr val="accent5"/>
                </a:solidFill>
              </a:rPr>
              <a:t>Page Granularity</a:t>
            </a:r>
            <a:endParaRPr kumimoji="1" lang="zh-TW" altLang="en-US" sz="1400" b="1" dirty="0">
              <a:solidFill>
                <a:schemeClr val="accent5"/>
              </a:solidFill>
            </a:endParaRPr>
          </a:p>
        </p:txBody>
      </p:sp>
    </p:spTree>
    <p:extLst>
      <p:ext uri="{BB962C8B-B14F-4D97-AF65-F5344CB8AC3E}">
        <p14:creationId xmlns:p14="http://schemas.microsoft.com/office/powerpoint/2010/main" val="2584249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wipe(up)">
                                      <p:cBhvr>
                                        <p:cTn id="12" dur="500"/>
                                        <p:tgtEl>
                                          <p:spTgt spid="4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fade">
                                      <p:cBhvr>
                                        <p:cTn id="17" dur="500"/>
                                        <p:tgtEl>
                                          <p:spTgt spid="5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wipe(up)">
                                      <p:cBhvr>
                                        <p:cTn id="22" dur="500"/>
                                        <p:tgtEl>
                                          <p:spTgt spid="5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wipe(up)">
                                      <p:cBhvr>
                                        <p:cTn id="27" dur="500"/>
                                        <p:tgtEl>
                                          <p:spTgt spid="5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mph" presetSubtype="0" nodeType="clickEffect">
                                  <p:stCondLst>
                                    <p:cond delay="0"/>
                                  </p:stCondLst>
                                  <p:childTnLst>
                                    <p:set>
                                      <p:cBhvr>
                                        <p:cTn id="31" dur="indefinite"/>
                                        <p:tgtEl>
                                          <p:spTgt spid="53"/>
                                        </p:tgtEl>
                                        <p:attrNameLst>
                                          <p:attrName>style.opacity</p:attrName>
                                        </p:attrNameLst>
                                      </p:cBhvr>
                                      <p:to>
                                        <p:strVal val="0.25"/>
                                      </p:to>
                                    </p:set>
                                    <p:animEffect filter="image" prLst="opacity: 0.25">
                                      <p:cBhvr rctx="IE">
                                        <p:cTn id="32" dur="indefinite"/>
                                        <p:tgtEl>
                                          <p:spTgt spid="53"/>
                                        </p:tgtEl>
                                      </p:cBhvr>
                                    </p:animEffect>
                                  </p:childTnLst>
                                </p:cTn>
                              </p:par>
                              <p:par>
                                <p:cTn id="33" presetID="9" presetClass="emph" presetSubtype="0" nodeType="withEffect">
                                  <p:stCondLst>
                                    <p:cond delay="0"/>
                                  </p:stCondLst>
                                  <p:childTnLst>
                                    <p:set>
                                      <p:cBhvr>
                                        <p:cTn id="34" dur="indefinite"/>
                                        <p:tgtEl>
                                          <p:spTgt spid="52"/>
                                        </p:tgtEl>
                                        <p:attrNameLst>
                                          <p:attrName>style.opacity</p:attrName>
                                        </p:attrNameLst>
                                      </p:cBhvr>
                                      <p:to>
                                        <p:strVal val="0.25"/>
                                      </p:to>
                                    </p:set>
                                    <p:animEffect filter="image" prLst="opacity: 0.25">
                                      <p:cBhvr rctx="IE">
                                        <p:cTn id="35" dur="indefinite"/>
                                        <p:tgtEl>
                                          <p:spTgt spid="5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54"/>
                                        </p:tgtEl>
                                        <p:attrNameLst>
                                          <p:attrName>style.visibility</p:attrName>
                                        </p:attrNameLst>
                                      </p:cBhvr>
                                      <p:to>
                                        <p:strVal val="visible"/>
                                      </p:to>
                                    </p:set>
                                    <p:animEffect transition="in" filter="wipe(up)">
                                      <p:cBhvr>
                                        <p:cTn id="40" dur="500"/>
                                        <p:tgtEl>
                                          <p:spTgt spid="5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55"/>
                                        </p:tgtEl>
                                        <p:attrNameLst>
                                          <p:attrName>style.visibility</p:attrName>
                                        </p:attrNameLst>
                                      </p:cBhvr>
                                      <p:to>
                                        <p:strVal val="visible"/>
                                      </p:to>
                                    </p:set>
                                    <p:animEffect transition="in" filter="wipe(up)">
                                      <p:cBhvr>
                                        <p:cTn id="45" dur="500"/>
                                        <p:tgtEl>
                                          <p:spTgt spid="55"/>
                                        </p:tgtEl>
                                      </p:cBhvr>
                                    </p:animEffect>
                                  </p:childTnLst>
                                </p:cTn>
                              </p:par>
                            </p:childTnLst>
                          </p:cTn>
                        </p:par>
                      </p:childTnLst>
                    </p:cTn>
                  </p:par>
                  <p:par>
                    <p:cTn id="46" fill="hold">
                      <p:stCondLst>
                        <p:cond delay="indefinite"/>
                      </p:stCondLst>
                      <p:childTnLst>
                        <p:par>
                          <p:cTn id="47" fill="hold">
                            <p:stCondLst>
                              <p:cond delay="0"/>
                            </p:stCondLst>
                            <p:childTnLst>
                              <p:par>
                                <p:cTn id="48" presetID="26" presetClass="emph" presetSubtype="0" fill="hold" nodeType="clickEffect">
                                  <p:stCondLst>
                                    <p:cond delay="0"/>
                                  </p:stCondLst>
                                  <p:childTnLst>
                                    <p:animEffect transition="out" filter="fade">
                                      <p:cBhvr>
                                        <p:cTn id="49" dur="500" tmFilter="0, 0; .2, .5; .8, .5; 1, 0"/>
                                        <p:tgtEl>
                                          <p:spTgt spid="45"/>
                                        </p:tgtEl>
                                      </p:cBhvr>
                                    </p:animEffect>
                                    <p:animScale>
                                      <p:cBhvr>
                                        <p:cTn id="50" dur="250" autoRev="1" fill="hold"/>
                                        <p:tgtEl>
                                          <p:spTgt spid="45"/>
                                        </p:tgtEl>
                                      </p:cBhvr>
                                      <p:by x="105000" y="105000"/>
                                    </p:animScale>
                                  </p:childTnLst>
                                </p:cTn>
                              </p:par>
                              <p:par>
                                <p:cTn id="51" presetID="9" presetClass="emph" presetSubtype="0" nodeType="withEffect">
                                  <p:stCondLst>
                                    <p:cond delay="0"/>
                                  </p:stCondLst>
                                  <p:childTnLst>
                                    <p:set>
                                      <p:cBhvr>
                                        <p:cTn id="52" dur="indefinite"/>
                                        <p:tgtEl>
                                          <p:spTgt spid="54"/>
                                        </p:tgtEl>
                                        <p:attrNameLst>
                                          <p:attrName>style.opacity</p:attrName>
                                        </p:attrNameLst>
                                      </p:cBhvr>
                                      <p:to>
                                        <p:strVal val="0.25"/>
                                      </p:to>
                                    </p:set>
                                    <p:animEffect filter="image" prLst="opacity: 0.25">
                                      <p:cBhvr rctx="IE">
                                        <p:cTn id="53" dur="indefinite"/>
                                        <p:tgtEl>
                                          <p:spTgt spid="54"/>
                                        </p:tgtEl>
                                      </p:cBhvr>
                                    </p:animEffect>
                                  </p:childTnLst>
                                </p:cTn>
                              </p:par>
                              <p:par>
                                <p:cTn id="54" presetID="9" presetClass="emph" presetSubtype="0" nodeType="withEffect">
                                  <p:stCondLst>
                                    <p:cond delay="0"/>
                                  </p:stCondLst>
                                  <p:childTnLst>
                                    <p:set>
                                      <p:cBhvr>
                                        <p:cTn id="55" dur="indefinite"/>
                                        <p:tgtEl>
                                          <p:spTgt spid="55"/>
                                        </p:tgtEl>
                                        <p:attrNameLst>
                                          <p:attrName>style.opacity</p:attrName>
                                        </p:attrNameLst>
                                      </p:cBhvr>
                                      <p:to>
                                        <p:strVal val="0.25"/>
                                      </p:to>
                                    </p:set>
                                    <p:animEffect filter="image" prLst="opacity: 0.25">
                                      <p:cBhvr rctx="IE">
                                        <p:cTn id="56" dur="indefinite"/>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E6895DE-1E04-5B7C-24BF-BD38564F8C6D}"/>
              </a:ext>
            </a:extLst>
          </p:cNvPr>
          <p:cNvSpPr>
            <a:spLocks noGrp="1"/>
          </p:cNvSpPr>
          <p:nvPr>
            <p:ph type="title"/>
          </p:nvPr>
        </p:nvSpPr>
        <p:spPr/>
        <p:txBody>
          <a:bodyPr/>
          <a:lstStyle/>
          <a:p>
            <a:r>
              <a:rPr kumimoji="1" lang="en-US" altLang="zh-TW" dirty="0"/>
              <a:t>Linux Page Allocation -- Buddy System</a:t>
            </a:r>
            <a:endParaRPr kumimoji="1" lang="zh-TW" altLang="en-US" dirty="0"/>
          </a:p>
        </p:txBody>
      </p:sp>
      <p:sp>
        <p:nvSpPr>
          <p:cNvPr id="3" name="內容版面配置區 2">
            <a:extLst>
              <a:ext uri="{FF2B5EF4-FFF2-40B4-BE49-F238E27FC236}">
                <a16:creationId xmlns:a16="http://schemas.microsoft.com/office/drawing/2014/main" id="{413E3C0B-4378-4100-DBBA-D7A1D3F73F07}"/>
              </a:ext>
            </a:extLst>
          </p:cNvPr>
          <p:cNvSpPr>
            <a:spLocks noGrp="1"/>
          </p:cNvSpPr>
          <p:nvPr>
            <p:ph idx="1"/>
          </p:nvPr>
        </p:nvSpPr>
        <p:spPr/>
        <p:txBody>
          <a:bodyPr/>
          <a:lstStyle/>
          <a:p>
            <a:r>
              <a:rPr lang="en-US" altLang="zh-TW" dirty="0" err="1">
                <a:latin typeface="+mj-lt"/>
              </a:rPr>
              <a:t>a</a:t>
            </a:r>
            <a:r>
              <a:rPr kumimoji="1" lang="en-US" altLang="zh-TW" dirty="0" err="1">
                <a:latin typeface="+mj-lt"/>
              </a:rPr>
              <a:t>lloc_pages</a:t>
            </a:r>
            <a:r>
              <a:rPr lang="en-US" altLang="zh-TW" dirty="0"/>
              <a:t> function</a:t>
            </a:r>
            <a:r>
              <a:rPr kumimoji="1" lang="en-US" altLang="zh-TW" dirty="0"/>
              <a:t> allocates a </a:t>
            </a:r>
            <a:r>
              <a:rPr kumimoji="1" lang="en-US" altLang="zh-TW" dirty="0">
                <a:solidFill>
                  <a:srgbClr val="C00000"/>
                </a:solidFill>
              </a:rPr>
              <a:t>single page </a:t>
            </a:r>
            <a:r>
              <a:rPr kumimoji="1" lang="en-US" altLang="zh-TW" dirty="0"/>
              <a:t>or </a:t>
            </a:r>
            <a:r>
              <a:rPr kumimoji="1" lang="en-US" altLang="zh-TW" dirty="0">
                <a:solidFill>
                  <a:srgbClr val="C00000"/>
                </a:solidFill>
              </a:rPr>
              <a:t>2</a:t>
            </a:r>
            <a:r>
              <a:rPr kumimoji="1" lang="en-US" altLang="zh-TW" baseline="30000" dirty="0">
                <a:solidFill>
                  <a:srgbClr val="C00000"/>
                </a:solidFill>
              </a:rPr>
              <a:t>order</a:t>
            </a:r>
            <a:r>
              <a:rPr kumimoji="1" lang="en-US" altLang="zh-TW" dirty="0">
                <a:solidFill>
                  <a:srgbClr val="C00000"/>
                </a:solidFill>
              </a:rPr>
              <a:t> contiguous physical pages </a:t>
            </a:r>
            <a:r>
              <a:rPr kumimoji="1" lang="en-US" altLang="zh-TW" dirty="0"/>
              <a:t>and returns pointer to the first page’s </a:t>
            </a:r>
            <a:r>
              <a:rPr kumimoji="1" lang="en-US" altLang="zh-TW" dirty="0">
                <a:latin typeface="+mj-lt"/>
              </a:rPr>
              <a:t>page struct</a:t>
            </a:r>
            <a:r>
              <a:rPr kumimoji="1" lang="en-US" altLang="zh-TW" dirty="0"/>
              <a:t>. (Buddy System)</a:t>
            </a:r>
          </a:p>
          <a:p>
            <a:pPr marL="0" indent="0">
              <a:buNone/>
            </a:pPr>
            <a:endParaRPr kumimoji="1" lang="zh-TW" altLang="en-US" dirty="0"/>
          </a:p>
        </p:txBody>
      </p:sp>
      <p:sp>
        <p:nvSpPr>
          <p:cNvPr id="4" name="投影片編號版面配置區 3">
            <a:extLst>
              <a:ext uri="{FF2B5EF4-FFF2-40B4-BE49-F238E27FC236}">
                <a16:creationId xmlns:a16="http://schemas.microsoft.com/office/drawing/2014/main" id="{12C9F4E9-11C2-F6AF-0ACA-7F0B180D9054}"/>
              </a:ext>
            </a:extLst>
          </p:cNvPr>
          <p:cNvSpPr>
            <a:spLocks noGrp="1"/>
          </p:cNvSpPr>
          <p:nvPr>
            <p:ph type="sldNum" sz="quarter" idx="4"/>
          </p:nvPr>
        </p:nvSpPr>
        <p:spPr/>
        <p:txBody>
          <a:bodyPr/>
          <a:lstStyle/>
          <a:p>
            <a:fld id="{E24E6636-6BA5-4AAC-8485-BE8D914D288B}" type="slidenum">
              <a:rPr lang="zh-TW" altLang="en-US" smtClean="0"/>
              <a:pPr/>
              <a:t>16</a:t>
            </a:fld>
            <a:endParaRPr lang="zh-TW" altLang="en-US" dirty="0"/>
          </a:p>
        </p:txBody>
      </p:sp>
      <p:pic>
        <p:nvPicPr>
          <p:cNvPr id="6" name="圖片 5">
            <a:extLst>
              <a:ext uri="{FF2B5EF4-FFF2-40B4-BE49-F238E27FC236}">
                <a16:creationId xmlns:a16="http://schemas.microsoft.com/office/drawing/2014/main" id="{FD93722B-D486-5131-1A2D-6D98212EB5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0170" y="2778105"/>
            <a:ext cx="6116709" cy="3698895"/>
          </a:xfrm>
          <a:prstGeom prst="rect">
            <a:avLst/>
          </a:prstGeom>
        </p:spPr>
      </p:pic>
      <p:sp>
        <p:nvSpPr>
          <p:cNvPr id="7" name="文字方塊 6">
            <a:extLst>
              <a:ext uri="{FF2B5EF4-FFF2-40B4-BE49-F238E27FC236}">
                <a16:creationId xmlns:a16="http://schemas.microsoft.com/office/drawing/2014/main" id="{49B8DED5-3500-13DB-51DF-48BFD3882D1A}"/>
              </a:ext>
            </a:extLst>
          </p:cNvPr>
          <p:cNvSpPr txBox="1"/>
          <p:nvPr/>
        </p:nvSpPr>
        <p:spPr>
          <a:xfrm>
            <a:off x="0" y="6598099"/>
            <a:ext cx="6979090" cy="276999"/>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rPr>
              <a:t>Gorman, Mel. Understanding the Linux virtual memory manager. Upper Saddle River: Prentice Hall, 2004</a:t>
            </a:r>
            <a:endParaRPr kumimoji="1" lang="zh-TW" altLang="en-US" sz="1200" dirty="0">
              <a:solidFill>
                <a:schemeClr val="bg1">
                  <a:lumMod val="75000"/>
                </a:schemeClr>
              </a:solidFill>
            </a:endParaRPr>
          </a:p>
        </p:txBody>
      </p:sp>
      <p:sp>
        <p:nvSpPr>
          <p:cNvPr id="9" name="矩形 8">
            <a:extLst>
              <a:ext uri="{FF2B5EF4-FFF2-40B4-BE49-F238E27FC236}">
                <a16:creationId xmlns:a16="http://schemas.microsoft.com/office/drawing/2014/main" id="{8BD20B20-22EE-B06B-7213-20AE2C302AC1}"/>
              </a:ext>
            </a:extLst>
          </p:cNvPr>
          <p:cNvSpPr/>
          <p:nvPr/>
        </p:nvSpPr>
        <p:spPr>
          <a:xfrm>
            <a:off x="4931229" y="3046649"/>
            <a:ext cx="3634764" cy="32888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文字方塊 7">
            <a:extLst>
              <a:ext uri="{FF2B5EF4-FFF2-40B4-BE49-F238E27FC236}">
                <a16:creationId xmlns:a16="http://schemas.microsoft.com/office/drawing/2014/main" id="{0AE1BF20-F284-BC45-065C-EA3A41AAF3A7}"/>
              </a:ext>
            </a:extLst>
          </p:cNvPr>
          <p:cNvSpPr txBox="1"/>
          <p:nvPr/>
        </p:nvSpPr>
        <p:spPr>
          <a:xfrm>
            <a:off x="5021297" y="2471754"/>
            <a:ext cx="4307718" cy="646331"/>
          </a:xfrm>
          <a:prstGeom prst="rect">
            <a:avLst/>
          </a:prstGeom>
          <a:noFill/>
        </p:spPr>
        <p:txBody>
          <a:bodyPr wrap="none" rtlCol="0">
            <a:spAutoFit/>
          </a:bodyPr>
          <a:lstStyle/>
          <a:p>
            <a:r>
              <a:rPr kumimoji="1" lang="en-US" altLang="zh-TW" dirty="0">
                <a:solidFill>
                  <a:srgbClr val="C00000"/>
                </a:solidFill>
              </a:rPr>
              <a:t>If a process requests a 2</a:t>
            </a:r>
            <a:r>
              <a:rPr kumimoji="1" lang="en-US" altLang="zh-TW" baseline="30000" dirty="0">
                <a:solidFill>
                  <a:srgbClr val="C00000"/>
                </a:solidFill>
              </a:rPr>
              <a:t>2</a:t>
            </a:r>
            <a:r>
              <a:rPr kumimoji="1" lang="en-US" altLang="zh-TW" dirty="0">
                <a:solidFill>
                  <a:srgbClr val="C00000"/>
                </a:solidFill>
              </a:rPr>
              <a:t> block.</a:t>
            </a:r>
            <a:br>
              <a:rPr kumimoji="1" lang="en-US" altLang="zh-TW" dirty="0">
                <a:solidFill>
                  <a:srgbClr val="C00000"/>
                </a:solidFill>
              </a:rPr>
            </a:br>
            <a:r>
              <a:rPr kumimoji="1" lang="en-US" altLang="zh-TW" dirty="0">
                <a:solidFill>
                  <a:srgbClr val="C00000"/>
                </a:solidFill>
              </a:rPr>
              <a:t>But there is no free pages in order 2 and 3.</a:t>
            </a:r>
            <a:endParaRPr kumimoji="1" lang="zh-TW" altLang="en-US" dirty="0">
              <a:solidFill>
                <a:srgbClr val="C00000"/>
              </a:solidFill>
            </a:endParaRPr>
          </a:p>
        </p:txBody>
      </p:sp>
    </p:spTree>
    <p:extLst>
      <p:ext uri="{BB962C8B-B14F-4D97-AF65-F5344CB8AC3E}">
        <p14:creationId xmlns:p14="http://schemas.microsoft.com/office/powerpoint/2010/main" val="1347358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A122110-833F-534E-16B1-D9AC02C507A9}"/>
              </a:ext>
            </a:extLst>
          </p:cNvPr>
          <p:cNvSpPr>
            <a:spLocks noGrp="1"/>
          </p:cNvSpPr>
          <p:nvPr>
            <p:ph type="title"/>
          </p:nvPr>
        </p:nvSpPr>
        <p:spPr/>
        <p:txBody>
          <a:bodyPr/>
          <a:lstStyle/>
          <a:p>
            <a:r>
              <a:rPr kumimoji="1" lang="en-US" altLang="zh-TW" dirty="0"/>
              <a:t>Why Slab Layer?</a:t>
            </a:r>
            <a:endParaRPr kumimoji="1" lang="zh-TW" altLang="en-US" dirty="0"/>
          </a:p>
        </p:txBody>
      </p:sp>
      <p:sp>
        <p:nvSpPr>
          <p:cNvPr id="3" name="內容版面配置區 2">
            <a:extLst>
              <a:ext uri="{FF2B5EF4-FFF2-40B4-BE49-F238E27FC236}">
                <a16:creationId xmlns:a16="http://schemas.microsoft.com/office/drawing/2014/main" id="{14FD60E8-53D8-1DD7-5899-42D8CC23C75C}"/>
              </a:ext>
            </a:extLst>
          </p:cNvPr>
          <p:cNvSpPr>
            <a:spLocks noGrp="1"/>
          </p:cNvSpPr>
          <p:nvPr>
            <p:ph idx="1"/>
          </p:nvPr>
        </p:nvSpPr>
        <p:spPr/>
        <p:txBody>
          <a:bodyPr/>
          <a:lstStyle/>
          <a:p>
            <a:r>
              <a:rPr kumimoji="1" lang="en-US" altLang="zh-TW" dirty="0">
                <a:solidFill>
                  <a:srgbClr val="C00000"/>
                </a:solidFill>
              </a:rPr>
              <a:t>Grouping kernel objects (i.e., data structure)</a:t>
            </a:r>
            <a:r>
              <a:rPr kumimoji="1" lang="en-US" altLang="zh-TW" dirty="0"/>
              <a:t> into slab caches. </a:t>
            </a:r>
            <a:r>
              <a:rPr kumimoji="1" lang="en-US" altLang="zh-TW" dirty="0">
                <a:solidFill>
                  <a:srgbClr val="C00000"/>
                </a:solidFill>
              </a:rPr>
              <a:t>Pre-allocating memory pages </a:t>
            </a:r>
            <a:r>
              <a:rPr kumimoji="1" lang="en-US" altLang="zh-TW" dirty="0"/>
              <a:t>in slabs leading to faster memory allocation.</a:t>
            </a:r>
          </a:p>
          <a:p>
            <a:r>
              <a:rPr kumimoji="1" lang="en-US" altLang="zh-TW" dirty="0"/>
              <a:t>When the data structure is no longer needed, it </a:t>
            </a:r>
            <a:r>
              <a:rPr kumimoji="1" lang="en-US" altLang="zh-TW" dirty="0">
                <a:solidFill>
                  <a:srgbClr val="C00000"/>
                </a:solidFill>
              </a:rPr>
              <a:t>is returned to the free list instead of deallocated</a:t>
            </a:r>
            <a:r>
              <a:rPr kumimoji="1" lang="en-US" altLang="zh-TW" dirty="0"/>
              <a:t>. </a:t>
            </a:r>
          </a:p>
          <a:p>
            <a:pPr lvl="1"/>
            <a:r>
              <a:rPr lang="en-US" altLang="zh-TW" dirty="0">
                <a:solidFill>
                  <a:schemeClr val="tx1"/>
                </a:solidFill>
              </a:rPr>
              <a:t>Example: process descriptors (a free list of </a:t>
            </a:r>
            <a:r>
              <a:rPr lang="en-US" altLang="zh-TW" dirty="0" err="1">
                <a:solidFill>
                  <a:schemeClr val="tx1"/>
                </a:solidFill>
              </a:rPr>
              <a:t>task_struct</a:t>
            </a:r>
            <a:r>
              <a:rPr lang="en-US" altLang="zh-TW" dirty="0">
                <a:solidFill>
                  <a:schemeClr val="tx1"/>
                </a:solidFill>
              </a:rPr>
              <a:t>), file objects (</a:t>
            </a:r>
            <a:r>
              <a:rPr lang="en-US" altLang="zh-TW" dirty="0" err="1">
                <a:solidFill>
                  <a:schemeClr val="tx1"/>
                </a:solidFill>
              </a:rPr>
              <a:t>inode</a:t>
            </a:r>
            <a:r>
              <a:rPr lang="en-US" altLang="zh-TW" dirty="0">
                <a:solidFill>
                  <a:schemeClr val="tx1"/>
                </a:solidFill>
              </a:rPr>
              <a:t>), semaphore</a:t>
            </a:r>
            <a:endParaRPr kumimoji="1" lang="en-US" altLang="zh-TW" dirty="0"/>
          </a:p>
        </p:txBody>
      </p:sp>
      <p:sp>
        <p:nvSpPr>
          <p:cNvPr id="4" name="投影片編號版面配置區 3">
            <a:extLst>
              <a:ext uri="{FF2B5EF4-FFF2-40B4-BE49-F238E27FC236}">
                <a16:creationId xmlns:a16="http://schemas.microsoft.com/office/drawing/2014/main" id="{7B650B14-EE43-2099-B907-54C9CD9BC1C7}"/>
              </a:ext>
            </a:extLst>
          </p:cNvPr>
          <p:cNvSpPr>
            <a:spLocks noGrp="1"/>
          </p:cNvSpPr>
          <p:nvPr>
            <p:ph type="sldNum" sz="quarter" idx="4"/>
          </p:nvPr>
        </p:nvSpPr>
        <p:spPr/>
        <p:txBody>
          <a:bodyPr/>
          <a:lstStyle/>
          <a:p>
            <a:fld id="{E24E6636-6BA5-4AAC-8485-BE8D914D288B}" type="slidenum">
              <a:rPr lang="zh-TW" altLang="en-US" smtClean="0"/>
              <a:pPr/>
              <a:t>17</a:t>
            </a:fld>
            <a:endParaRPr lang="zh-TW" altLang="en-US" dirty="0"/>
          </a:p>
        </p:txBody>
      </p:sp>
      <p:pic>
        <p:nvPicPr>
          <p:cNvPr id="5" name="圖片 4">
            <a:extLst>
              <a:ext uri="{FF2B5EF4-FFF2-40B4-BE49-F238E27FC236}">
                <a16:creationId xmlns:a16="http://schemas.microsoft.com/office/drawing/2014/main" id="{9E104486-4B04-D5A8-5CA1-CDCB4BB86B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8" y="3836986"/>
            <a:ext cx="3672766" cy="3009901"/>
          </a:xfrm>
          <a:prstGeom prst="rect">
            <a:avLst/>
          </a:prstGeom>
        </p:spPr>
      </p:pic>
      <p:pic>
        <p:nvPicPr>
          <p:cNvPr id="7" name="圖片 6" descr="一張含有 桌 的圖片&#10;&#10;自動產生的描述">
            <a:extLst>
              <a:ext uri="{FF2B5EF4-FFF2-40B4-BE49-F238E27FC236}">
                <a16:creationId xmlns:a16="http://schemas.microsoft.com/office/drawing/2014/main" id="{F8A54CA2-3398-E1F5-D5EB-90519A9CE1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5151" y="4035600"/>
            <a:ext cx="7899400" cy="2146300"/>
          </a:xfrm>
          <a:prstGeom prst="rect">
            <a:avLst/>
          </a:prstGeom>
        </p:spPr>
      </p:pic>
      <p:pic>
        <p:nvPicPr>
          <p:cNvPr id="12" name="圖片 11" descr="一張含有 桌 的圖片&#10;&#10;自動產生的描述">
            <a:extLst>
              <a:ext uri="{FF2B5EF4-FFF2-40B4-BE49-F238E27FC236}">
                <a16:creationId xmlns:a16="http://schemas.microsoft.com/office/drawing/2014/main" id="{4B3EDD63-FFFD-874F-B768-D82672588A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09885" y="3323962"/>
            <a:ext cx="5056540" cy="3439582"/>
          </a:xfrm>
          <a:prstGeom prst="rect">
            <a:avLst/>
          </a:prstGeom>
        </p:spPr>
      </p:pic>
    </p:spTree>
    <p:extLst>
      <p:ext uri="{BB962C8B-B14F-4D97-AF65-F5344CB8AC3E}">
        <p14:creationId xmlns:p14="http://schemas.microsoft.com/office/powerpoint/2010/main" val="737313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nodeType="clickEffect">
                                  <p:stCondLst>
                                    <p:cond delay="0"/>
                                  </p:stCondLst>
                                  <p:childTnLst>
                                    <p:set>
                                      <p:cBhvr>
                                        <p:cTn id="31" dur="1" fill="hold">
                                          <p:stCondLst>
                                            <p:cond delay="0"/>
                                          </p:stCondLst>
                                        </p:cTn>
                                        <p:tgtEl>
                                          <p:spTgt spid="5"/>
                                        </p:tgtEl>
                                        <p:attrNameLst>
                                          <p:attrName>style.visibility</p:attrName>
                                        </p:attrNameLst>
                                      </p:cBhvr>
                                      <p:to>
                                        <p:strVal val="hidden"/>
                                      </p:to>
                                    </p:set>
                                  </p:childTnLst>
                                </p:cTn>
                              </p:par>
                              <p:par>
                                <p:cTn id="32" presetID="1" presetClass="exit" presetSubtype="0" fill="hold" nodeType="withEffect">
                                  <p:stCondLst>
                                    <p:cond delay="0"/>
                                  </p:stCondLst>
                                  <p:childTnLst>
                                    <p:set>
                                      <p:cBhvr>
                                        <p:cTn id="33" dur="1" fill="hold">
                                          <p:stCondLst>
                                            <p:cond delay="0"/>
                                          </p:stCondLst>
                                        </p:cTn>
                                        <p:tgtEl>
                                          <p:spTgt spid="7"/>
                                        </p:tgtEl>
                                        <p:attrNameLst>
                                          <p:attrName>style.visibility</p:attrName>
                                        </p:attrNameLst>
                                      </p:cBhvr>
                                      <p:to>
                                        <p:strVal val="hidden"/>
                                      </p:to>
                                    </p:set>
                                  </p:childTnLst>
                                </p:cTn>
                              </p:par>
                              <p:par>
                                <p:cTn id="34" presetID="1" presetClass="exit" presetSubtype="0" fill="hold" nodeType="withEffect">
                                  <p:stCondLst>
                                    <p:cond delay="0"/>
                                  </p:stCondLst>
                                  <p:childTnLst>
                                    <p:set>
                                      <p:cBhvr>
                                        <p:cTn id="35"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A122110-833F-534E-16B1-D9AC02C507A9}"/>
              </a:ext>
            </a:extLst>
          </p:cNvPr>
          <p:cNvSpPr>
            <a:spLocks noGrp="1"/>
          </p:cNvSpPr>
          <p:nvPr>
            <p:ph type="title"/>
          </p:nvPr>
        </p:nvSpPr>
        <p:spPr/>
        <p:txBody>
          <a:bodyPr/>
          <a:lstStyle/>
          <a:p>
            <a:r>
              <a:rPr kumimoji="1" lang="en-US" altLang="zh-TW" dirty="0"/>
              <a:t>Why Slab Layer? </a:t>
            </a:r>
            <a:r>
              <a:rPr lang="en-US" altLang="zh-TW" dirty="0"/>
              <a:t>(Count.)</a:t>
            </a:r>
            <a:endParaRPr kumimoji="1" lang="zh-TW" altLang="en-US" dirty="0"/>
          </a:p>
        </p:txBody>
      </p:sp>
      <p:sp>
        <p:nvSpPr>
          <p:cNvPr id="3" name="內容版面配置區 2">
            <a:extLst>
              <a:ext uri="{FF2B5EF4-FFF2-40B4-BE49-F238E27FC236}">
                <a16:creationId xmlns:a16="http://schemas.microsoft.com/office/drawing/2014/main" id="{14FD60E8-53D8-1DD7-5899-42D8CC23C75C}"/>
              </a:ext>
            </a:extLst>
          </p:cNvPr>
          <p:cNvSpPr>
            <a:spLocks noGrp="1"/>
          </p:cNvSpPr>
          <p:nvPr>
            <p:ph idx="1"/>
          </p:nvPr>
        </p:nvSpPr>
        <p:spPr/>
        <p:txBody>
          <a:bodyPr/>
          <a:lstStyle/>
          <a:p>
            <a:r>
              <a:rPr lang="en-US" altLang="zh-TW" dirty="0">
                <a:solidFill>
                  <a:srgbClr val="C00000"/>
                </a:solidFill>
              </a:rPr>
              <a:t>Grouping kernel objects (i.e., data structure)</a:t>
            </a:r>
            <a:r>
              <a:rPr lang="en-US" altLang="zh-TW" dirty="0"/>
              <a:t> into slab caches. </a:t>
            </a:r>
            <a:r>
              <a:rPr lang="en-US" altLang="zh-TW" dirty="0">
                <a:solidFill>
                  <a:srgbClr val="C00000"/>
                </a:solidFill>
              </a:rPr>
              <a:t>Pre-allocating memory pages </a:t>
            </a:r>
            <a:r>
              <a:rPr lang="en-US" altLang="zh-TW" dirty="0"/>
              <a:t>in slabs leading to faster memory allocation.</a:t>
            </a:r>
          </a:p>
          <a:p>
            <a:r>
              <a:rPr lang="en-US" altLang="zh-TW" dirty="0"/>
              <a:t>When the data structure is no longer needed, it </a:t>
            </a:r>
            <a:r>
              <a:rPr lang="en-US" altLang="zh-TW" dirty="0">
                <a:solidFill>
                  <a:srgbClr val="C00000"/>
                </a:solidFill>
              </a:rPr>
              <a:t>is returned to the free list instead of deallocated</a:t>
            </a:r>
            <a:r>
              <a:rPr lang="en-US" altLang="zh-TW" dirty="0"/>
              <a:t>. </a:t>
            </a:r>
          </a:p>
          <a:p>
            <a:pPr lvl="1"/>
            <a:r>
              <a:rPr lang="en-US" altLang="zh-TW" dirty="0">
                <a:solidFill>
                  <a:schemeClr val="tx1"/>
                </a:solidFill>
              </a:rPr>
              <a:t>Example: process descriptors (a free list of </a:t>
            </a:r>
            <a:r>
              <a:rPr lang="en-US" altLang="zh-TW" dirty="0" err="1">
                <a:solidFill>
                  <a:schemeClr val="tx1"/>
                </a:solidFill>
              </a:rPr>
              <a:t>task_struct</a:t>
            </a:r>
            <a:r>
              <a:rPr lang="en-US" altLang="zh-TW" dirty="0">
                <a:solidFill>
                  <a:schemeClr val="tx1"/>
                </a:solidFill>
              </a:rPr>
              <a:t>), file objects (</a:t>
            </a:r>
            <a:r>
              <a:rPr lang="en-US" altLang="zh-TW" dirty="0" err="1">
                <a:solidFill>
                  <a:schemeClr val="tx1"/>
                </a:solidFill>
              </a:rPr>
              <a:t>inode</a:t>
            </a:r>
            <a:r>
              <a:rPr lang="en-US" altLang="zh-TW" dirty="0">
                <a:solidFill>
                  <a:schemeClr val="tx1"/>
                </a:solidFill>
              </a:rPr>
              <a:t>), semaphore</a:t>
            </a:r>
            <a:br>
              <a:rPr kumimoji="1" lang="en-US" altLang="zh-TW" dirty="0">
                <a:solidFill>
                  <a:schemeClr val="tx1"/>
                </a:solidFill>
              </a:rPr>
            </a:br>
            <a:endParaRPr kumimoji="1" lang="en-US" altLang="zh-TW" dirty="0"/>
          </a:p>
          <a:p>
            <a:pPr algn="l"/>
            <a:r>
              <a:rPr kumimoji="1" lang="en-US" altLang="zh-TW" dirty="0"/>
              <a:t>The slab layer acts as a </a:t>
            </a:r>
            <a:r>
              <a:rPr kumimoji="1" lang="en-US" altLang="zh-TW" dirty="0">
                <a:solidFill>
                  <a:srgbClr val="C00000"/>
                </a:solidFill>
              </a:rPr>
              <a:t>generic data structure-caching layer</a:t>
            </a:r>
          </a:p>
          <a:p>
            <a:pPr lvl="1" algn="l"/>
            <a:r>
              <a:rPr kumimoji="1" lang="en-US" altLang="zh-TW" dirty="0">
                <a:solidFill>
                  <a:srgbClr val="C00000"/>
                </a:solidFill>
              </a:rPr>
              <a:t>Frequently used data structures </a:t>
            </a:r>
            <a:r>
              <a:rPr kumimoji="1" lang="en-US" altLang="zh-TW" dirty="0"/>
              <a:t>tend to be allocated and freed often, so </a:t>
            </a:r>
            <a:r>
              <a:rPr kumimoji="1" lang="en-US" altLang="zh-TW" dirty="0">
                <a:solidFill>
                  <a:srgbClr val="C00000"/>
                </a:solidFill>
              </a:rPr>
              <a:t>cache them</a:t>
            </a:r>
            <a:r>
              <a:rPr kumimoji="1" lang="en-US" altLang="zh-TW" dirty="0"/>
              <a:t>.</a:t>
            </a:r>
          </a:p>
          <a:p>
            <a:pPr lvl="2" algn="l"/>
            <a:r>
              <a:rPr lang="en-US" altLang="zh-TW" dirty="0">
                <a:solidFill>
                  <a:srgbClr val="C00000"/>
                </a:solidFill>
              </a:rPr>
              <a:t>F</a:t>
            </a:r>
            <a:r>
              <a:rPr kumimoji="1" lang="en-US" altLang="zh-TW" dirty="0">
                <a:solidFill>
                  <a:srgbClr val="C00000"/>
                </a:solidFill>
              </a:rPr>
              <a:t>requent allocation and deallocation</a:t>
            </a:r>
            <a:r>
              <a:rPr kumimoji="1" lang="en-US" altLang="zh-TW" dirty="0"/>
              <a:t> can result in memory </a:t>
            </a:r>
            <a:r>
              <a:rPr kumimoji="1" lang="en-US" altLang="zh-TW" dirty="0">
                <a:solidFill>
                  <a:srgbClr val="C00000"/>
                </a:solidFill>
              </a:rPr>
              <a:t>fragmentation.</a:t>
            </a:r>
          </a:p>
          <a:p>
            <a:pPr lvl="1" algn="l"/>
            <a:r>
              <a:rPr lang="en-US" altLang="zh-TW" dirty="0">
                <a:solidFill>
                  <a:schemeClr val="tx1"/>
                </a:solidFill>
              </a:rPr>
              <a:t>Can be made </a:t>
            </a:r>
            <a:r>
              <a:rPr lang="en-US" altLang="zh-TW" dirty="0">
                <a:solidFill>
                  <a:srgbClr val="C00000"/>
                </a:solidFill>
              </a:rPr>
              <a:t>per-processor</a:t>
            </a:r>
            <a:r>
              <a:rPr lang="en-US" altLang="zh-TW" dirty="0">
                <a:solidFill>
                  <a:schemeClr val="tx1"/>
                </a:solidFill>
              </a:rPr>
              <a:t>, so that </a:t>
            </a:r>
            <a:r>
              <a:rPr lang="en-US" altLang="zh-TW" dirty="0">
                <a:solidFill>
                  <a:srgbClr val="C00000"/>
                </a:solidFill>
              </a:rPr>
              <a:t>no locks are required </a:t>
            </a:r>
            <a:r>
              <a:rPr lang="en-US" altLang="zh-TW" dirty="0">
                <a:solidFill>
                  <a:schemeClr val="tx1"/>
                </a:solidFill>
              </a:rPr>
              <a:t>for allocation and deallocation.</a:t>
            </a:r>
          </a:p>
          <a:p>
            <a:pPr lvl="1" algn="l"/>
            <a:r>
              <a:rPr lang="en-US" altLang="zh-TW" dirty="0">
                <a:solidFill>
                  <a:schemeClr val="tx1"/>
                </a:solidFill>
              </a:rPr>
              <a:t>Can be </a:t>
            </a:r>
            <a:r>
              <a:rPr lang="en-US" altLang="zh-TW" dirty="0">
                <a:solidFill>
                  <a:srgbClr val="C00000"/>
                </a:solidFill>
              </a:rPr>
              <a:t>NUMA-aware</a:t>
            </a:r>
            <a:endParaRPr kumimoji="1" lang="en-US" altLang="zh-TW" dirty="0">
              <a:solidFill>
                <a:srgbClr val="C00000"/>
              </a:solidFill>
            </a:endParaRPr>
          </a:p>
        </p:txBody>
      </p:sp>
      <p:sp>
        <p:nvSpPr>
          <p:cNvPr id="4" name="投影片編號版面配置區 3">
            <a:extLst>
              <a:ext uri="{FF2B5EF4-FFF2-40B4-BE49-F238E27FC236}">
                <a16:creationId xmlns:a16="http://schemas.microsoft.com/office/drawing/2014/main" id="{7B650B14-EE43-2099-B907-54C9CD9BC1C7}"/>
              </a:ext>
            </a:extLst>
          </p:cNvPr>
          <p:cNvSpPr>
            <a:spLocks noGrp="1"/>
          </p:cNvSpPr>
          <p:nvPr>
            <p:ph type="sldNum" sz="quarter" idx="4"/>
          </p:nvPr>
        </p:nvSpPr>
        <p:spPr/>
        <p:txBody>
          <a:bodyPr/>
          <a:lstStyle/>
          <a:p>
            <a:fld id="{E24E6636-6BA5-4AAC-8485-BE8D914D288B}" type="slidenum">
              <a:rPr lang="zh-TW" altLang="en-US" smtClean="0"/>
              <a:pPr/>
              <a:t>18</a:t>
            </a:fld>
            <a:endParaRPr lang="zh-TW" altLang="en-US" dirty="0"/>
          </a:p>
        </p:txBody>
      </p:sp>
    </p:spTree>
    <p:extLst>
      <p:ext uri="{BB962C8B-B14F-4D97-AF65-F5344CB8AC3E}">
        <p14:creationId xmlns:p14="http://schemas.microsoft.com/office/powerpoint/2010/main" val="2423137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p:cTn id="6" dur="indefinite"/>
                                        <p:tgtEl>
                                          <p:spTgt spid="3">
                                            <p:txEl>
                                              <p:pRg st="0" end="0"/>
                                            </p:txEl>
                                          </p:spTgt>
                                        </p:tgtEl>
                                        <p:attrNameLst>
                                          <p:attrName>style.opacity</p:attrName>
                                        </p:attrNameLst>
                                      </p:cBhvr>
                                      <p:to>
                                        <p:strVal val="0.5"/>
                                      </p:to>
                                    </p:set>
                                    <p:animEffect filter="image" prLst="opacity: 0.5">
                                      <p:cBhvr rctx="IE">
                                        <p:cTn id="7" dur="indefinite"/>
                                        <p:tgtEl>
                                          <p:spTgt spid="3">
                                            <p:txEl>
                                              <p:pRg st="0" end="0"/>
                                            </p:txEl>
                                          </p:spTgt>
                                        </p:tgtEl>
                                      </p:cBhvr>
                                    </p:animEffect>
                                  </p:childTnLst>
                                </p:cTn>
                              </p:par>
                              <p:par>
                                <p:cTn id="8" presetID="9" presetClass="emph" presetSubtype="0" nodeType="withEffect">
                                  <p:stCondLst>
                                    <p:cond delay="0"/>
                                  </p:stCondLst>
                                  <p:childTnLst>
                                    <p:set>
                                      <p:cBhvr>
                                        <p:cTn id="9" dur="indefinite"/>
                                        <p:tgtEl>
                                          <p:spTgt spid="3">
                                            <p:txEl>
                                              <p:pRg st="1" end="1"/>
                                            </p:txEl>
                                          </p:spTgt>
                                        </p:tgtEl>
                                        <p:attrNameLst>
                                          <p:attrName>style.opacity</p:attrName>
                                        </p:attrNameLst>
                                      </p:cBhvr>
                                      <p:to>
                                        <p:strVal val="0.5"/>
                                      </p:to>
                                    </p:set>
                                    <p:animEffect filter="image" prLst="opacity: 0.5">
                                      <p:cBhvr rctx="IE">
                                        <p:cTn id="10" dur="indefinite"/>
                                        <p:tgtEl>
                                          <p:spTgt spid="3">
                                            <p:txEl>
                                              <p:pRg st="1" end="1"/>
                                            </p:txEl>
                                          </p:spTgt>
                                        </p:tgtEl>
                                      </p:cBhvr>
                                    </p:animEffect>
                                  </p:childTnLst>
                                </p:cTn>
                              </p:par>
                              <p:par>
                                <p:cTn id="11" presetID="9" presetClass="emph" presetSubtype="0" nodeType="withEffect">
                                  <p:stCondLst>
                                    <p:cond delay="0"/>
                                  </p:stCondLst>
                                  <p:childTnLst>
                                    <p:set>
                                      <p:cBhvr>
                                        <p:cTn id="12" dur="indefinite"/>
                                        <p:tgtEl>
                                          <p:spTgt spid="3">
                                            <p:txEl>
                                              <p:pRg st="2" end="2"/>
                                            </p:txEl>
                                          </p:spTgt>
                                        </p:tgtEl>
                                        <p:attrNameLst>
                                          <p:attrName>style.opacity</p:attrName>
                                        </p:attrNameLst>
                                      </p:cBhvr>
                                      <p:to>
                                        <p:strVal val="0.5"/>
                                      </p:to>
                                    </p:set>
                                    <p:animEffect filter="image" prLst="opacity: 0.5">
                                      <p:cBhvr rctx="IE">
                                        <p:cTn id="13" dur="indefinite"/>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A122110-833F-534E-16B1-D9AC02C507A9}"/>
              </a:ext>
            </a:extLst>
          </p:cNvPr>
          <p:cNvSpPr>
            <a:spLocks noGrp="1"/>
          </p:cNvSpPr>
          <p:nvPr>
            <p:ph type="title"/>
          </p:nvPr>
        </p:nvSpPr>
        <p:spPr/>
        <p:txBody>
          <a:bodyPr/>
          <a:lstStyle/>
          <a:p>
            <a:r>
              <a:rPr kumimoji="1" lang="en-US" altLang="zh-TW" dirty="0"/>
              <a:t>How Slab Layer Works</a:t>
            </a:r>
            <a:endParaRPr kumimoji="1" lang="zh-TW" altLang="en-US" dirty="0"/>
          </a:p>
        </p:txBody>
      </p:sp>
      <p:sp>
        <p:nvSpPr>
          <p:cNvPr id="4" name="投影片編號版面配置區 3">
            <a:extLst>
              <a:ext uri="{FF2B5EF4-FFF2-40B4-BE49-F238E27FC236}">
                <a16:creationId xmlns:a16="http://schemas.microsoft.com/office/drawing/2014/main" id="{7B650B14-EE43-2099-B907-54C9CD9BC1C7}"/>
              </a:ext>
            </a:extLst>
          </p:cNvPr>
          <p:cNvSpPr>
            <a:spLocks noGrp="1"/>
          </p:cNvSpPr>
          <p:nvPr>
            <p:ph type="sldNum" sz="quarter" idx="4"/>
          </p:nvPr>
        </p:nvSpPr>
        <p:spPr/>
        <p:txBody>
          <a:bodyPr/>
          <a:lstStyle/>
          <a:p>
            <a:fld id="{E24E6636-6BA5-4AAC-8485-BE8D914D288B}" type="slidenum">
              <a:rPr lang="zh-TW" altLang="en-US" smtClean="0"/>
              <a:pPr/>
              <a:t>19</a:t>
            </a:fld>
            <a:endParaRPr lang="zh-TW" altLang="en-US" dirty="0"/>
          </a:p>
        </p:txBody>
      </p:sp>
      <p:pic>
        <p:nvPicPr>
          <p:cNvPr id="6" name="圖片 5">
            <a:extLst>
              <a:ext uri="{FF2B5EF4-FFF2-40B4-BE49-F238E27FC236}">
                <a16:creationId xmlns:a16="http://schemas.microsoft.com/office/drawing/2014/main" id="{65F6A764-08DB-A16F-B7FD-1F8FB5D1BF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6952" y="1320006"/>
            <a:ext cx="7360076" cy="5278438"/>
          </a:xfrm>
          <a:prstGeom prst="rect">
            <a:avLst/>
          </a:prstGeom>
        </p:spPr>
      </p:pic>
      <p:sp>
        <p:nvSpPr>
          <p:cNvPr id="3" name="內容版面配置區 2">
            <a:extLst>
              <a:ext uri="{FF2B5EF4-FFF2-40B4-BE49-F238E27FC236}">
                <a16:creationId xmlns:a16="http://schemas.microsoft.com/office/drawing/2014/main" id="{14FD60E8-53D8-1DD7-5899-42D8CC23C75C}"/>
              </a:ext>
            </a:extLst>
          </p:cNvPr>
          <p:cNvSpPr>
            <a:spLocks noGrp="1"/>
          </p:cNvSpPr>
          <p:nvPr>
            <p:ph idx="1"/>
          </p:nvPr>
        </p:nvSpPr>
        <p:spPr>
          <a:xfrm>
            <a:off x="177800" y="1238250"/>
            <a:ext cx="5297311" cy="5441950"/>
          </a:xfrm>
        </p:spPr>
        <p:txBody>
          <a:bodyPr>
            <a:normAutofit/>
          </a:bodyPr>
          <a:lstStyle/>
          <a:p>
            <a:pPr algn="l"/>
            <a:r>
              <a:rPr lang="en-US" altLang="zh-TW" dirty="0">
                <a:solidFill>
                  <a:schemeClr val="tx1"/>
                </a:solidFill>
              </a:rPr>
              <a:t>Main Idea: </a:t>
            </a:r>
            <a:r>
              <a:rPr lang="en-US" altLang="zh-TW" dirty="0">
                <a:solidFill>
                  <a:srgbClr val="C00000"/>
                </a:solidFill>
              </a:rPr>
              <a:t>Avoid</a:t>
            </a:r>
            <a:r>
              <a:rPr lang="en-US" altLang="zh-TW" dirty="0">
                <a:solidFill>
                  <a:schemeClr val="tx1"/>
                </a:solidFill>
              </a:rPr>
              <a:t> from </a:t>
            </a:r>
            <a:r>
              <a:rPr lang="en-US" altLang="zh-TW" dirty="0">
                <a:solidFill>
                  <a:srgbClr val="C00000"/>
                </a:solidFill>
              </a:rPr>
              <a:t>allocating </a:t>
            </a:r>
            <a:r>
              <a:rPr lang="en-US" altLang="zh-TW" dirty="0">
                <a:solidFill>
                  <a:schemeClr val="tx1"/>
                </a:solidFill>
              </a:rPr>
              <a:t>and</a:t>
            </a:r>
            <a:r>
              <a:rPr lang="en-US" altLang="zh-TW" dirty="0">
                <a:solidFill>
                  <a:srgbClr val="C00000"/>
                </a:solidFill>
              </a:rPr>
              <a:t> freeing physical address </a:t>
            </a:r>
            <a:r>
              <a:rPr lang="en-US" altLang="zh-TW" dirty="0">
                <a:solidFill>
                  <a:schemeClr val="tx1"/>
                </a:solidFill>
              </a:rPr>
              <a:t>as frequent as possible.</a:t>
            </a:r>
          </a:p>
          <a:p>
            <a:pPr algn="l"/>
            <a:r>
              <a:rPr lang="en-US" altLang="zh-TW" dirty="0">
                <a:solidFill>
                  <a:schemeClr val="tx1"/>
                </a:solidFill>
              </a:rPr>
              <a:t>Structure: Cache </a:t>
            </a:r>
            <a:r>
              <a:rPr lang="en-US" altLang="zh-TW" dirty="0">
                <a:solidFill>
                  <a:schemeClr val="tx1"/>
                </a:solidFill>
                <a:sym typeface="Wingdings" pitchFamily="2" charset="2"/>
              </a:rPr>
              <a:t> Slab  Page</a:t>
            </a:r>
          </a:p>
          <a:p>
            <a:pPr lvl="1" algn="l"/>
            <a:r>
              <a:rPr lang="en-US" altLang="zh-TW" dirty="0">
                <a:solidFill>
                  <a:schemeClr val="tx1"/>
                </a:solidFill>
                <a:sym typeface="Wingdings" pitchFamily="2" charset="2"/>
              </a:rPr>
              <a:t>Full Lists</a:t>
            </a:r>
          </a:p>
          <a:p>
            <a:pPr lvl="1" algn="l"/>
            <a:r>
              <a:rPr lang="en-US" altLang="zh-TW" dirty="0">
                <a:solidFill>
                  <a:schemeClr val="tx1"/>
                </a:solidFill>
                <a:sym typeface="Wingdings" pitchFamily="2" charset="2"/>
              </a:rPr>
              <a:t>Partial Lists</a:t>
            </a:r>
          </a:p>
          <a:p>
            <a:pPr lvl="1" algn="l"/>
            <a:r>
              <a:rPr lang="en-US" altLang="zh-TW" dirty="0">
                <a:solidFill>
                  <a:schemeClr val="tx1"/>
                </a:solidFill>
                <a:sym typeface="Wingdings" pitchFamily="2" charset="2"/>
              </a:rPr>
              <a:t>Empty Lists</a:t>
            </a:r>
            <a:endParaRPr lang="en-US" altLang="zh-TW" dirty="0">
              <a:solidFill>
                <a:schemeClr val="tx1"/>
              </a:solidFill>
            </a:endParaRPr>
          </a:p>
        </p:txBody>
      </p:sp>
      <p:sp>
        <p:nvSpPr>
          <p:cNvPr id="8" name="文字方塊 7">
            <a:extLst>
              <a:ext uri="{FF2B5EF4-FFF2-40B4-BE49-F238E27FC236}">
                <a16:creationId xmlns:a16="http://schemas.microsoft.com/office/drawing/2014/main" id="{BB0EB2F4-5136-DEDE-B535-456FFA7AC91F}"/>
              </a:ext>
            </a:extLst>
          </p:cNvPr>
          <p:cNvSpPr txBox="1"/>
          <p:nvPr/>
        </p:nvSpPr>
        <p:spPr>
          <a:xfrm>
            <a:off x="0" y="6598099"/>
            <a:ext cx="6979090" cy="276999"/>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rPr>
              <a:t>Gorman, Mel. Understanding the Linux virtual memory manager. Upper Saddle River: Prentice Hall, 2004</a:t>
            </a:r>
            <a:endParaRPr kumimoji="1" lang="zh-TW" altLang="en-US" sz="1200" dirty="0">
              <a:solidFill>
                <a:schemeClr val="bg1">
                  <a:lumMod val="75000"/>
                </a:schemeClr>
              </a:solidFill>
            </a:endParaRPr>
          </a:p>
        </p:txBody>
      </p:sp>
      <p:sp>
        <p:nvSpPr>
          <p:cNvPr id="9" name="矩形 8">
            <a:extLst>
              <a:ext uri="{FF2B5EF4-FFF2-40B4-BE49-F238E27FC236}">
                <a16:creationId xmlns:a16="http://schemas.microsoft.com/office/drawing/2014/main" id="{3D7D74E2-3A66-5629-DC0A-46762CD86962}"/>
              </a:ext>
            </a:extLst>
          </p:cNvPr>
          <p:cNvSpPr/>
          <p:nvPr/>
        </p:nvSpPr>
        <p:spPr>
          <a:xfrm>
            <a:off x="494552" y="4483925"/>
            <a:ext cx="1140178" cy="191686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sz="1400" b="1" dirty="0">
                <a:solidFill>
                  <a:schemeClr val="tx1"/>
                </a:solidFill>
              </a:rPr>
              <a:t>Slab 1 </a:t>
            </a:r>
            <a:endParaRPr kumimoji="1" lang="zh-TW" altLang="en-US" sz="1400" b="1" dirty="0">
              <a:solidFill>
                <a:schemeClr val="tx1"/>
              </a:solidFill>
            </a:endParaRPr>
          </a:p>
        </p:txBody>
      </p:sp>
      <p:sp>
        <p:nvSpPr>
          <p:cNvPr id="20" name="矩形 19">
            <a:extLst>
              <a:ext uri="{FF2B5EF4-FFF2-40B4-BE49-F238E27FC236}">
                <a16:creationId xmlns:a16="http://schemas.microsoft.com/office/drawing/2014/main" id="{DB9CEFB5-9778-A9DA-B4A8-7ACAA41DE6CD}"/>
              </a:ext>
            </a:extLst>
          </p:cNvPr>
          <p:cNvSpPr/>
          <p:nvPr/>
        </p:nvSpPr>
        <p:spPr>
          <a:xfrm>
            <a:off x="495279" y="4765007"/>
            <a:ext cx="1140178" cy="820845"/>
          </a:xfrm>
          <a:prstGeom prst="rect">
            <a:avLst/>
          </a:prstGeom>
          <a:solidFill>
            <a:schemeClr val="accent5">
              <a:lumMod val="20000"/>
              <a:lumOff val="8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sz="1400" dirty="0">
                <a:solidFill>
                  <a:schemeClr val="tx1"/>
                </a:solidFill>
              </a:rPr>
              <a:t>Page</a:t>
            </a:r>
            <a:endParaRPr kumimoji="1" lang="zh-TW" altLang="en-US" sz="1400" dirty="0">
              <a:solidFill>
                <a:schemeClr val="tx1"/>
              </a:solidFill>
            </a:endParaRPr>
          </a:p>
        </p:txBody>
      </p:sp>
      <p:sp>
        <p:nvSpPr>
          <p:cNvPr id="21" name="矩形 20">
            <a:extLst>
              <a:ext uri="{FF2B5EF4-FFF2-40B4-BE49-F238E27FC236}">
                <a16:creationId xmlns:a16="http://schemas.microsoft.com/office/drawing/2014/main" id="{E37C8BC4-F8D3-157E-D694-0E57B4F631DD}"/>
              </a:ext>
            </a:extLst>
          </p:cNvPr>
          <p:cNvSpPr/>
          <p:nvPr/>
        </p:nvSpPr>
        <p:spPr>
          <a:xfrm>
            <a:off x="493825" y="5026966"/>
            <a:ext cx="1140178" cy="277000"/>
          </a:xfrm>
          <a:prstGeom prst="rect">
            <a:avLst/>
          </a:prstGeom>
          <a:solidFill>
            <a:schemeClr val="accent5">
              <a:lumMod val="60000"/>
              <a:lumOff val="4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sz="1400" dirty="0">
                <a:solidFill>
                  <a:schemeClr val="tx1"/>
                </a:solidFill>
              </a:rPr>
              <a:t>task_struct</a:t>
            </a:r>
            <a:endParaRPr kumimoji="1" lang="zh-TW" altLang="en-US" sz="1400" dirty="0">
              <a:solidFill>
                <a:schemeClr val="tx1"/>
              </a:solidFill>
            </a:endParaRPr>
          </a:p>
        </p:txBody>
      </p:sp>
      <p:sp>
        <p:nvSpPr>
          <p:cNvPr id="22" name="矩形 21">
            <a:extLst>
              <a:ext uri="{FF2B5EF4-FFF2-40B4-BE49-F238E27FC236}">
                <a16:creationId xmlns:a16="http://schemas.microsoft.com/office/drawing/2014/main" id="{AD1A8C6B-D5BC-F829-C560-FA22BE6933C2}"/>
              </a:ext>
            </a:extLst>
          </p:cNvPr>
          <p:cNvSpPr/>
          <p:nvPr/>
        </p:nvSpPr>
        <p:spPr>
          <a:xfrm>
            <a:off x="493825" y="5303858"/>
            <a:ext cx="1140178" cy="277000"/>
          </a:xfrm>
          <a:prstGeom prst="rect">
            <a:avLst/>
          </a:prstGeom>
          <a:solidFill>
            <a:schemeClr val="accent5">
              <a:lumMod val="60000"/>
              <a:lumOff val="4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sz="1400" dirty="0">
                <a:solidFill>
                  <a:schemeClr val="tx1"/>
                </a:solidFill>
              </a:rPr>
              <a:t>task_struct</a:t>
            </a:r>
            <a:endParaRPr kumimoji="1" lang="zh-TW" altLang="en-US" sz="1400" dirty="0">
              <a:solidFill>
                <a:schemeClr val="tx1"/>
              </a:solidFill>
            </a:endParaRPr>
          </a:p>
        </p:txBody>
      </p:sp>
      <p:sp>
        <p:nvSpPr>
          <p:cNvPr id="23" name="矩形 22">
            <a:extLst>
              <a:ext uri="{FF2B5EF4-FFF2-40B4-BE49-F238E27FC236}">
                <a16:creationId xmlns:a16="http://schemas.microsoft.com/office/drawing/2014/main" id="{9953311B-C274-47D3-02E9-3D922EBA1E4E}"/>
              </a:ext>
            </a:extLst>
          </p:cNvPr>
          <p:cNvSpPr/>
          <p:nvPr/>
        </p:nvSpPr>
        <p:spPr>
          <a:xfrm>
            <a:off x="495279" y="5589965"/>
            <a:ext cx="1140178" cy="820845"/>
          </a:xfrm>
          <a:prstGeom prst="rect">
            <a:avLst/>
          </a:prstGeom>
          <a:solidFill>
            <a:schemeClr val="accent5">
              <a:lumMod val="20000"/>
              <a:lumOff val="8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sz="1400" dirty="0">
                <a:solidFill>
                  <a:schemeClr val="tx1"/>
                </a:solidFill>
              </a:rPr>
              <a:t>Page</a:t>
            </a:r>
            <a:endParaRPr kumimoji="1" lang="zh-TW" altLang="en-US" sz="1400" dirty="0">
              <a:solidFill>
                <a:schemeClr val="tx1"/>
              </a:solidFill>
            </a:endParaRPr>
          </a:p>
        </p:txBody>
      </p:sp>
      <p:sp>
        <p:nvSpPr>
          <p:cNvPr id="24" name="矩形 23">
            <a:extLst>
              <a:ext uri="{FF2B5EF4-FFF2-40B4-BE49-F238E27FC236}">
                <a16:creationId xmlns:a16="http://schemas.microsoft.com/office/drawing/2014/main" id="{47B6DED7-1300-A354-6825-E151314D7E46}"/>
              </a:ext>
            </a:extLst>
          </p:cNvPr>
          <p:cNvSpPr/>
          <p:nvPr/>
        </p:nvSpPr>
        <p:spPr>
          <a:xfrm>
            <a:off x="493825" y="5851924"/>
            <a:ext cx="1140178" cy="277000"/>
          </a:xfrm>
          <a:prstGeom prst="rect">
            <a:avLst/>
          </a:prstGeom>
          <a:solidFill>
            <a:schemeClr val="accent5">
              <a:lumMod val="60000"/>
              <a:lumOff val="4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sz="1400" dirty="0">
                <a:solidFill>
                  <a:schemeClr val="tx1"/>
                </a:solidFill>
              </a:rPr>
              <a:t>task_struct</a:t>
            </a:r>
            <a:endParaRPr kumimoji="1" lang="zh-TW" altLang="en-US" sz="1400" dirty="0">
              <a:solidFill>
                <a:schemeClr val="tx1"/>
              </a:solidFill>
            </a:endParaRPr>
          </a:p>
        </p:txBody>
      </p:sp>
      <p:sp>
        <p:nvSpPr>
          <p:cNvPr id="25" name="矩形 24">
            <a:extLst>
              <a:ext uri="{FF2B5EF4-FFF2-40B4-BE49-F238E27FC236}">
                <a16:creationId xmlns:a16="http://schemas.microsoft.com/office/drawing/2014/main" id="{40EBA445-1663-9E00-EED5-5448B4229368}"/>
              </a:ext>
            </a:extLst>
          </p:cNvPr>
          <p:cNvSpPr/>
          <p:nvPr/>
        </p:nvSpPr>
        <p:spPr>
          <a:xfrm>
            <a:off x="493825" y="6128816"/>
            <a:ext cx="1140178" cy="277000"/>
          </a:xfrm>
          <a:prstGeom prst="rect">
            <a:avLst/>
          </a:prstGeom>
          <a:solidFill>
            <a:schemeClr val="accent5">
              <a:lumMod val="60000"/>
              <a:lumOff val="4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sz="1400" dirty="0">
                <a:solidFill>
                  <a:schemeClr val="tx1"/>
                </a:solidFill>
              </a:rPr>
              <a:t>task_struct</a:t>
            </a:r>
            <a:endParaRPr kumimoji="1" lang="zh-TW" altLang="en-US" sz="1400" dirty="0">
              <a:solidFill>
                <a:schemeClr val="tx1"/>
              </a:solidFill>
            </a:endParaRPr>
          </a:p>
        </p:txBody>
      </p:sp>
      <p:grpSp>
        <p:nvGrpSpPr>
          <p:cNvPr id="69" name="群組 68">
            <a:extLst>
              <a:ext uri="{FF2B5EF4-FFF2-40B4-BE49-F238E27FC236}">
                <a16:creationId xmlns:a16="http://schemas.microsoft.com/office/drawing/2014/main" id="{C2A7DC22-4931-B3B5-A90D-21ADAB7C6A61}"/>
              </a:ext>
            </a:extLst>
          </p:cNvPr>
          <p:cNvGrpSpPr/>
          <p:nvPr/>
        </p:nvGrpSpPr>
        <p:grpSpPr>
          <a:xfrm>
            <a:off x="293490" y="4035607"/>
            <a:ext cx="1676293" cy="447896"/>
            <a:chOff x="293490" y="4035607"/>
            <a:chExt cx="1676293" cy="447896"/>
          </a:xfrm>
        </p:grpSpPr>
        <p:sp>
          <p:nvSpPr>
            <p:cNvPr id="16" name="文字方塊 15">
              <a:extLst>
                <a:ext uri="{FF2B5EF4-FFF2-40B4-BE49-F238E27FC236}">
                  <a16:creationId xmlns:a16="http://schemas.microsoft.com/office/drawing/2014/main" id="{39C3070E-F6F3-FC62-3E12-C7A72B172CBE}"/>
                </a:ext>
              </a:extLst>
            </p:cNvPr>
            <p:cNvSpPr txBox="1"/>
            <p:nvPr/>
          </p:nvSpPr>
          <p:spPr>
            <a:xfrm>
              <a:off x="293490" y="4035607"/>
              <a:ext cx="1676293" cy="307777"/>
            </a:xfrm>
            <a:prstGeom prst="rect">
              <a:avLst/>
            </a:prstGeom>
            <a:noFill/>
          </p:spPr>
          <p:txBody>
            <a:bodyPr wrap="none" rtlCol="0">
              <a:spAutoFit/>
            </a:bodyPr>
            <a:lstStyle/>
            <a:p>
              <a:r>
                <a:rPr kumimoji="1" lang="en-US" altLang="zh-TW" sz="1400" dirty="0"/>
                <a:t>Contiguous Memory</a:t>
              </a:r>
              <a:endParaRPr kumimoji="1" lang="zh-TW" altLang="en-US" sz="1400" dirty="0"/>
            </a:p>
          </p:txBody>
        </p:sp>
        <p:cxnSp>
          <p:nvCxnSpPr>
            <p:cNvPr id="27" name="曲線接點 26">
              <a:extLst>
                <a:ext uri="{FF2B5EF4-FFF2-40B4-BE49-F238E27FC236}">
                  <a16:creationId xmlns:a16="http://schemas.microsoft.com/office/drawing/2014/main" id="{57AA8DCB-DD35-6E0E-C6E3-ABB8E2981041}"/>
                </a:ext>
              </a:extLst>
            </p:cNvPr>
            <p:cNvCxnSpPr>
              <a:cxnSpLocks/>
            </p:cNvCxnSpPr>
            <p:nvPr/>
          </p:nvCxnSpPr>
          <p:spPr>
            <a:xfrm rot="16200000" flipH="1">
              <a:off x="969959" y="4321825"/>
              <a:ext cx="194476" cy="128880"/>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9" name="文字方塊 48">
            <a:extLst>
              <a:ext uri="{FF2B5EF4-FFF2-40B4-BE49-F238E27FC236}">
                <a16:creationId xmlns:a16="http://schemas.microsoft.com/office/drawing/2014/main" id="{D6B56422-BFCC-0650-73CE-81FC478E8D30}"/>
              </a:ext>
            </a:extLst>
          </p:cNvPr>
          <p:cNvSpPr txBox="1"/>
          <p:nvPr/>
        </p:nvSpPr>
        <p:spPr>
          <a:xfrm>
            <a:off x="547258" y="6363008"/>
            <a:ext cx="1054712" cy="307777"/>
          </a:xfrm>
          <a:prstGeom prst="rect">
            <a:avLst/>
          </a:prstGeom>
          <a:noFill/>
        </p:spPr>
        <p:txBody>
          <a:bodyPr wrap="none" rtlCol="0">
            <a:spAutoFit/>
          </a:bodyPr>
          <a:lstStyle/>
          <a:p>
            <a:r>
              <a:rPr kumimoji="1" lang="en-US" altLang="zh-TW" sz="1400" i="1" dirty="0"/>
              <a:t>On Full Lists</a:t>
            </a:r>
            <a:endParaRPr kumimoji="1" lang="zh-TW" altLang="en-US" sz="1400" i="1" dirty="0"/>
          </a:p>
        </p:txBody>
      </p:sp>
      <p:grpSp>
        <p:nvGrpSpPr>
          <p:cNvPr id="71" name="群組 70">
            <a:extLst>
              <a:ext uri="{FF2B5EF4-FFF2-40B4-BE49-F238E27FC236}">
                <a16:creationId xmlns:a16="http://schemas.microsoft.com/office/drawing/2014/main" id="{E5037392-5558-5814-50DB-62C4AAA6C563}"/>
              </a:ext>
            </a:extLst>
          </p:cNvPr>
          <p:cNvGrpSpPr/>
          <p:nvPr/>
        </p:nvGrpSpPr>
        <p:grpSpPr>
          <a:xfrm>
            <a:off x="2192170" y="4492841"/>
            <a:ext cx="1264064" cy="2195261"/>
            <a:chOff x="2192170" y="4492841"/>
            <a:chExt cx="1264064" cy="2195261"/>
          </a:xfrm>
        </p:grpSpPr>
        <p:sp>
          <p:nvSpPr>
            <p:cNvPr id="31" name="矩形 30">
              <a:extLst>
                <a:ext uri="{FF2B5EF4-FFF2-40B4-BE49-F238E27FC236}">
                  <a16:creationId xmlns:a16="http://schemas.microsoft.com/office/drawing/2014/main" id="{B499E72F-25EE-0B0E-29C5-8E6B3987393E}"/>
                </a:ext>
              </a:extLst>
            </p:cNvPr>
            <p:cNvSpPr/>
            <p:nvPr/>
          </p:nvSpPr>
          <p:spPr>
            <a:xfrm>
              <a:off x="2270673" y="4492841"/>
              <a:ext cx="1140178" cy="191686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sz="1400" b="1" dirty="0">
                  <a:solidFill>
                    <a:schemeClr val="tx1"/>
                  </a:solidFill>
                </a:rPr>
                <a:t>Slab 2</a:t>
              </a:r>
              <a:endParaRPr kumimoji="1" lang="zh-TW" altLang="en-US" sz="1400" b="1" dirty="0">
                <a:solidFill>
                  <a:schemeClr val="tx1"/>
                </a:solidFill>
              </a:endParaRPr>
            </a:p>
          </p:txBody>
        </p:sp>
        <p:sp>
          <p:nvSpPr>
            <p:cNvPr id="33" name="矩形 32">
              <a:extLst>
                <a:ext uri="{FF2B5EF4-FFF2-40B4-BE49-F238E27FC236}">
                  <a16:creationId xmlns:a16="http://schemas.microsoft.com/office/drawing/2014/main" id="{EB139053-511F-0FD1-F2A0-196F742BEB5E}"/>
                </a:ext>
              </a:extLst>
            </p:cNvPr>
            <p:cNvSpPr/>
            <p:nvPr/>
          </p:nvSpPr>
          <p:spPr>
            <a:xfrm>
              <a:off x="2271400" y="4773923"/>
              <a:ext cx="1140178" cy="820845"/>
            </a:xfrm>
            <a:prstGeom prst="rect">
              <a:avLst/>
            </a:prstGeom>
            <a:solidFill>
              <a:schemeClr val="accent5">
                <a:lumMod val="20000"/>
                <a:lumOff val="8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sz="1400" dirty="0">
                  <a:solidFill>
                    <a:schemeClr val="tx1"/>
                  </a:solidFill>
                </a:rPr>
                <a:t>Page</a:t>
              </a:r>
              <a:endParaRPr kumimoji="1" lang="zh-TW" altLang="en-US" sz="1400" dirty="0">
                <a:solidFill>
                  <a:schemeClr val="tx1"/>
                </a:solidFill>
              </a:endParaRPr>
            </a:p>
          </p:txBody>
        </p:sp>
        <p:sp>
          <p:nvSpPr>
            <p:cNvPr id="34" name="矩形 33">
              <a:extLst>
                <a:ext uri="{FF2B5EF4-FFF2-40B4-BE49-F238E27FC236}">
                  <a16:creationId xmlns:a16="http://schemas.microsoft.com/office/drawing/2014/main" id="{91C7520D-5A1F-824E-E434-A706B2BBD9C1}"/>
                </a:ext>
              </a:extLst>
            </p:cNvPr>
            <p:cNvSpPr/>
            <p:nvPr/>
          </p:nvSpPr>
          <p:spPr>
            <a:xfrm>
              <a:off x="2269946" y="5035882"/>
              <a:ext cx="1140178" cy="277000"/>
            </a:xfrm>
            <a:prstGeom prst="rect">
              <a:avLst/>
            </a:prstGeom>
            <a:solidFill>
              <a:schemeClr val="accent5">
                <a:lumMod val="60000"/>
                <a:lumOff val="4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sz="1400" dirty="0">
                  <a:solidFill>
                    <a:schemeClr val="tx1"/>
                  </a:solidFill>
                </a:rPr>
                <a:t>task_struct</a:t>
              </a:r>
              <a:endParaRPr kumimoji="1" lang="zh-TW" altLang="en-US" sz="1400" dirty="0">
                <a:solidFill>
                  <a:schemeClr val="tx1"/>
                </a:solidFill>
              </a:endParaRPr>
            </a:p>
          </p:txBody>
        </p:sp>
        <p:sp>
          <p:nvSpPr>
            <p:cNvPr id="35" name="矩形 34">
              <a:extLst>
                <a:ext uri="{FF2B5EF4-FFF2-40B4-BE49-F238E27FC236}">
                  <a16:creationId xmlns:a16="http://schemas.microsoft.com/office/drawing/2014/main" id="{C32634A7-5C33-76FA-29F0-91B52B072A9F}"/>
                </a:ext>
              </a:extLst>
            </p:cNvPr>
            <p:cNvSpPr/>
            <p:nvPr/>
          </p:nvSpPr>
          <p:spPr>
            <a:xfrm>
              <a:off x="2269946" y="5312774"/>
              <a:ext cx="1140178" cy="277000"/>
            </a:xfrm>
            <a:prstGeom prst="rect">
              <a:avLst/>
            </a:prstGeom>
            <a:solidFill>
              <a:schemeClr val="accent5">
                <a:lumMod val="60000"/>
                <a:lumOff val="4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sz="1400" dirty="0">
                  <a:solidFill>
                    <a:schemeClr val="tx1"/>
                  </a:solidFill>
                </a:rPr>
                <a:t>task_struct</a:t>
              </a:r>
              <a:endParaRPr kumimoji="1" lang="zh-TW" altLang="en-US" sz="1400" dirty="0">
                <a:solidFill>
                  <a:schemeClr val="tx1"/>
                </a:solidFill>
              </a:endParaRPr>
            </a:p>
          </p:txBody>
        </p:sp>
        <p:sp>
          <p:nvSpPr>
            <p:cNvPr id="36" name="矩形 35">
              <a:extLst>
                <a:ext uri="{FF2B5EF4-FFF2-40B4-BE49-F238E27FC236}">
                  <a16:creationId xmlns:a16="http://schemas.microsoft.com/office/drawing/2014/main" id="{B204E051-7EF7-AEC9-74E2-F291BB60F0EA}"/>
                </a:ext>
              </a:extLst>
            </p:cNvPr>
            <p:cNvSpPr/>
            <p:nvPr/>
          </p:nvSpPr>
          <p:spPr>
            <a:xfrm>
              <a:off x="2271400" y="5598881"/>
              <a:ext cx="1140178" cy="820845"/>
            </a:xfrm>
            <a:prstGeom prst="rect">
              <a:avLst/>
            </a:prstGeom>
            <a:solidFill>
              <a:schemeClr val="accent5">
                <a:lumMod val="20000"/>
                <a:lumOff val="8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sz="1400" dirty="0">
                  <a:solidFill>
                    <a:schemeClr val="tx1"/>
                  </a:solidFill>
                </a:rPr>
                <a:t>Page</a:t>
              </a:r>
              <a:endParaRPr kumimoji="1" lang="zh-TW" altLang="en-US" sz="1400" dirty="0">
                <a:solidFill>
                  <a:schemeClr val="tx1"/>
                </a:solidFill>
              </a:endParaRPr>
            </a:p>
          </p:txBody>
        </p:sp>
        <p:sp>
          <p:nvSpPr>
            <p:cNvPr id="37" name="矩形 36">
              <a:extLst>
                <a:ext uri="{FF2B5EF4-FFF2-40B4-BE49-F238E27FC236}">
                  <a16:creationId xmlns:a16="http://schemas.microsoft.com/office/drawing/2014/main" id="{C2F75812-3B3A-5106-015D-28DB3AB00C10}"/>
                </a:ext>
              </a:extLst>
            </p:cNvPr>
            <p:cNvSpPr/>
            <p:nvPr/>
          </p:nvSpPr>
          <p:spPr>
            <a:xfrm>
              <a:off x="2269946" y="5860840"/>
              <a:ext cx="1140178" cy="277000"/>
            </a:xfrm>
            <a:prstGeom prst="rect">
              <a:avLst/>
            </a:prstGeom>
            <a:solidFill>
              <a:schemeClr val="accent5">
                <a:lumMod val="60000"/>
                <a:lumOff val="4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sz="1400" dirty="0">
                  <a:solidFill>
                    <a:schemeClr val="tx1"/>
                  </a:solidFill>
                </a:rPr>
                <a:t>task_struct</a:t>
              </a:r>
              <a:endParaRPr kumimoji="1" lang="zh-TW" altLang="en-US" sz="1400" dirty="0">
                <a:solidFill>
                  <a:schemeClr val="tx1"/>
                </a:solidFill>
              </a:endParaRPr>
            </a:p>
          </p:txBody>
        </p:sp>
        <p:sp>
          <p:nvSpPr>
            <p:cNvPr id="38" name="矩形 37">
              <a:extLst>
                <a:ext uri="{FF2B5EF4-FFF2-40B4-BE49-F238E27FC236}">
                  <a16:creationId xmlns:a16="http://schemas.microsoft.com/office/drawing/2014/main" id="{0D5CABDE-B44A-95E8-3C6B-54A5744CB5AE}"/>
                </a:ext>
              </a:extLst>
            </p:cNvPr>
            <p:cNvSpPr/>
            <p:nvPr/>
          </p:nvSpPr>
          <p:spPr>
            <a:xfrm>
              <a:off x="2269946" y="6137732"/>
              <a:ext cx="1140178" cy="277000"/>
            </a:xfrm>
            <a:prstGeom prst="rect">
              <a:avLst/>
            </a:prstGeom>
            <a:solidFill>
              <a:schemeClr val="accent5">
                <a:lumMod val="60000"/>
                <a:lumOff val="4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sz="1400" dirty="0">
                  <a:solidFill>
                    <a:schemeClr val="tx1"/>
                  </a:solidFill>
                </a:rPr>
                <a:t>task_struct</a:t>
              </a:r>
              <a:endParaRPr kumimoji="1" lang="zh-TW" altLang="en-US" sz="1400" dirty="0">
                <a:solidFill>
                  <a:schemeClr val="tx1"/>
                </a:solidFill>
              </a:endParaRPr>
            </a:p>
          </p:txBody>
        </p:sp>
        <p:sp>
          <p:nvSpPr>
            <p:cNvPr id="50" name="文字方塊 49">
              <a:extLst>
                <a:ext uri="{FF2B5EF4-FFF2-40B4-BE49-F238E27FC236}">
                  <a16:creationId xmlns:a16="http://schemas.microsoft.com/office/drawing/2014/main" id="{E3ED8AAE-1418-010A-A050-2EAAA2BA2BFD}"/>
                </a:ext>
              </a:extLst>
            </p:cNvPr>
            <p:cNvSpPr txBox="1"/>
            <p:nvPr/>
          </p:nvSpPr>
          <p:spPr>
            <a:xfrm>
              <a:off x="2192170" y="6380325"/>
              <a:ext cx="1264064" cy="307777"/>
            </a:xfrm>
            <a:prstGeom prst="rect">
              <a:avLst/>
            </a:prstGeom>
            <a:noFill/>
          </p:spPr>
          <p:txBody>
            <a:bodyPr wrap="none" rtlCol="0">
              <a:spAutoFit/>
            </a:bodyPr>
            <a:lstStyle/>
            <a:p>
              <a:r>
                <a:rPr kumimoji="1" lang="en-US" altLang="zh-TW" sz="1400" i="1" dirty="0"/>
                <a:t>On Partial Lists</a:t>
              </a:r>
              <a:endParaRPr kumimoji="1" lang="zh-TW" altLang="en-US" sz="1400" i="1" dirty="0"/>
            </a:p>
          </p:txBody>
        </p:sp>
      </p:grpSp>
      <p:grpSp>
        <p:nvGrpSpPr>
          <p:cNvPr id="70" name="群組 69">
            <a:extLst>
              <a:ext uri="{FF2B5EF4-FFF2-40B4-BE49-F238E27FC236}">
                <a16:creationId xmlns:a16="http://schemas.microsoft.com/office/drawing/2014/main" id="{9DE7AE2B-6B32-F3FE-4816-E3A60344D420}"/>
              </a:ext>
            </a:extLst>
          </p:cNvPr>
          <p:cNvGrpSpPr/>
          <p:nvPr/>
        </p:nvGrpSpPr>
        <p:grpSpPr>
          <a:xfrm>
            <a:off x="-32658" y="5009429"/>
            <a:ext cx="554960" cy="1387796"/>
            <a:chOff x="-32658" y="5009429"/>
            <a:chExt cx="554960" cy="1387796"/>
          </a:xfrm>
        </p:grpSpPr>
        <p:sp>
          <p:nvSpPr>
            <p:cNvPr id="52" name="文字方塊 51">
              <a:extLst>
                <a:ext uri="{FF2B5EF4-FFF2-40B4-BE49-F238E27FC236}">
                  <a16:creationId xmlns:a16="http://schemas.microsoft.com/office/drawing/2014/main" id="{2BE945E8-9600-2402-CEDE-4C54D7905676}"/>
                </a:ext>
              </a:extLst>
            </p:cNvPr>
            <p:cNvSpPr txBox="1"/>
            <p:nvPr/>
          </p:nvSpPr>
          <p:spPr>
            <a:xfrm>
              <a:off x="-32658" y="5009429"/>
              <a:ext cx="554960" cy="307777"/>
            </a:xfrm>
            <a:prstGeom prst="rect">
              <a:avLst/>
            </a:prstGeom>
            <a:noFill/>
          </p:spPr>
          <p:txBody>
            <a:bodyPr wrap="none" rtlCol="0">
              <a:spAutoFit/>
            </a:bodyPr>
            <a:lstStyle/>
            <a:p>
              <a:r>
                <a:rPr kumimoji="1" lang="en-US" altLang="zh-TW" sz="1400" b="1" dirty="0">
                  <a:solidFill>
                    <a:srgbClr val="C00000"/>
                  </a:solidFill>
                </a:rPr>
                <a:t>Used</a:t>
              </a:r>
              <a:endParaRPr kumimoji="1" lang="zh-TW" altLang="en-US" sz="1400" b="1" dirty="0">
                <a:solidFill>
                  <a:srgbClr val="C00000"/>
                </a:solidFill>
              </a:endParaRPr>
            </a:p>
          </p:txBody>
        </p:sp>
        <p:sp>
          <p:nvSpPr>
            <p:cNvPr id="53" name="文字方塊 52">
              <a:extLst>
                <a:ext uri="{FF2B5EF4-FFF2-40B4-BE49-F238E27FC236}">
                  <a16:creationId xmlns:a16="http://schemas.microsoft.com/office/drawing/2014/main" id="{CA549A7D-87D6-1948-4BC3-5E4B93BB25B2}"/>
                </a:ext>
              </a:extLst>
            </p:cNvPr>
            <p:cNvSpPr txBox="1"/>
            <p:nvPr/>
          </p:nvSpPr>
          <p:spPr>
            <a:xfrm>
              <a:off x="-32658" y="5264913"/>
              <a:ext cx="554960" cy="307777"/>
            </a:xfrm>
            <a:prstGeom prst="rect">
              <a:avLst/>
            </a:prstGeom>
            <a:noFill/>
          </p:spPr>
          <p:txBody>
            <a:bodyPr wrap="none" rtlCol="0">
              <a:spAutoFit/>
            </a:bodyPr>
            <a:lstStyle/>
            <a:p>
              <a:r>
                <a:rPr kumimoji="1" lang="en-US" altLang="zh-TW" sz="1400" b="1" dirty="0">
                  <a:solidFill>
                    <a:srgbClr val="C00000"/>
                  </a:solidFill>
                </a:rPr>
                <a:t>Used</a:t>
              </a:r>
              <a:endParaRPr kumimoji="1" lang="zh-TW" altLang="en-US" sz="1400" b="1" dirty="0">
                <a:solidFill>
                  <a:srgbClr val="C00000"/>
                </a:solidFill>
              </a:endParaRPr>
            </a:p>
          </p:txBody>
        </p:sp>
        <p:sp>
          <p:nvSpPr>
            <p:cNvPr id="54" name="文字方塊 53">
              <a:extLst>
                <a:ext uri="{FF2B5EF4-FFF2-40B4-BE49-F238E27FC236}">
                  <a16:creationId xmlns:a16="http://schemas.microsoft.com/office/drawing/2014/main" id="{D04C6FEB-C811-2581-B441-46982B93961C}"/>
                </a:ext>
              </a:extLst>
            </p:cNvPr>
            <p:cNvSpPr txBox="1"/>
            <p:nvPr/>
          </p:nvSpPr>
          <p:spPr>
            <a:xfrm>
              <a:off x="-32658" y="5833964"/>
              <a:ext cx="554960" cy="307777"/>
            </a:xfrm>
            <a:prstGeom prst="rect">
              <a:avLst/>
            </a:prstGeom>
            <a:noFill/>
          </p:spPr>
          <p:txBody>
            <a:bodyPr wrap="none" rtlCol="0">
              <a:spAutoFit/>
            </a:bodyPr>
            <a:lstStyle/>
            <a:p>
              <a:r>
                <a:rPr kumimoji="1" lang="en-US" altLang="zh-TW" sz="1400" b="1" dirty="0">
                  <a:solidFill>
                    <a:srgbClr val="C00000"/>
                  </a:solidFill>
                </a:rPr>
                <a:t>Used</a:t>
              </a:r>
              <a:endParaRPr kumimoji="1" lang="zh-TW" altLang="en-US" sz="1400" b="1" dirty="0">
                <a:solidFill>
                  <a:srgbClr val="C00000"/>
                </a:solidFill>
              </a:endParaRPr>
            </a:p>
          </p:txBody>
        </p:sp>
        <p:sp>
          <p:nvSpPr>
            <p:cNvPr id="55" name="文字方塊 54">
              <a:extLst>
                <a:ext uri="{FF2B5EF4-FFF2-40B4-BE49-F238E27FC236}">
                  <a16:creationId xmlns:a16="http://schemas.microsoft.com/office/drawing/2014/main" id="{31486092-E855-F696-F18B-C20C34D2686A}"/>
                </a:ext>
              </a:extLst>
            </p:cNvPr>
            <p:cNvSpPr txBox="1"/>
            <p:nvPr/>
          </p:nvSpPr>
          <p:spPr>
            <a:xfrm>
              <a:off x="-32658" y="6089448"/>
              <a:ext cx="554960" cy="307777"/>
            </a:xfrm>
            <a:prstGeom prst="rect">
              <a:avLst/>
            </a:prstGeom>
            <a:noFill/>
          </p:spPr>
          <p:txBody>
            <a:bodyPr wrap="none" rtlCol="0">
              <a:spAutoFit/>
            </a:bodyPr>
            <a:lstStyle/>
            <a:p>
              <a:r>
                <a:rPr kumimoji="1" lang="en-US" altLang="zh-TW" sz="1400" b="1" dirty="0">
                  <a:solidFill>
                    <a:srgbClr val="C00000"/>
                  </a:solidFill>
                </a:rPr>
                <a:t>Used</a:t>
              </a:r>
              <a:endParaRPr kumimoji="1" lang="zh-TW" altLang="en-US" sz="1400" b="1" dirty="0">
                <a:solidFill>
                  <a:srgbClr val="C00000"/>
                </a:solidFill>
              </a:endParaRPr>
            </a:p>
          </p:txBody>
        </p:sp>
      </p:grpSp>
      <p:grpSp>
        <p:nvGrpSpPr>
          <p:cNvPr id="79" name="群組 78">
            <a:extLst>
              <a:ext uri="{FF2B5EF4-FFF2-40B4-BE49-F238E27FC236}">
                <a16:creationId xmlns:a16="http://schemas.microsoft.com/office/drawing/2014/main" id="{8995097D-AF5C-6144-1EAD-7A4750D914F3}"/>
              </a:ext>
            </a:extLst>
          </p:cNvPr>
          <p:cNvGrpSpPr/>
          <p:nvPr/>
        </p:nvGrpSpPr>
        <p:grpSpPr>
          <a:xfrm>
            <a:off x="3426453" y="4499771"/>
            <a:ext cx="1858353" cy="2184842"/>
            <a:chOff x="3426453" y="4499771"/>
            <a:chExt cx="1858353" cy="2184842"/>
          </a:xfrm>
        </p:grpSpPr>
        <p:sp>
          <p:nvSpPr>
            <p:cNvPr id="40" name="矩形 39">
              <a:extLst>
                <a:ext uri="{FF2B5EF4-FFF2-40B4-BE49-F238E27FC236}">
                  <a16:creationId xmlns:a16="http://schemas.microsoft.com/office/drawing/2014/main" id="{DDF03CEC-2E76-FD55-2574-11C487948299}"/>
                </a:ext>
              </a:extLst>
            </p:cNvPr>
            <p:cNvSpPr/>
            <p:nvPr/>
          </p:nvSpPr>
          <p:spPr>
            <a:xfrm>
              <a:off x="4100249" y="4499771"/>
              <a:ext cx="1140178" cy="191686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sz="1400" b="1" dirty="0">
                  <a:solidFill>
                    <a:schemeClr val="tx1"/>
                  </a:solidFill>
                </a:rPr>
                <a:t>Slab 3</a:t>
              </a:r>
              <a:endParaRPr kumimoji="1" lang="zh-TW" altLang="en-US" sz="1400" b="1" dirty="0">
                <a:solidFill>
                  <a:schemeClr val="tx1"/>
                </a:solidFill>
              </a:endParaRPr>
            </a:p>
          </p:txBody>
        </p:sp>
        <p:sp>
          <p:nvSpPr>
            <p:cNvPr id="42" name="矩形 41">
              <a:extLst>
                <a:ext uri="{FF2B5EF4-FFF2-40B4-BE49-F238E27FC236}">
                  <a16:creationId xmlns:a16="http://schemas.microsoft.com/office/drawing/2014/main" id="{4E7B4AAC-F920-32D7-EE3E-71A79C5B595F}"/>
                </a:ext>
              </a:extLst>
            </p:cNvPr>
            <p:cNvSpPr/>
            <p:nvPr/>
          </p:nvSpPr>
          <p:spPr>
            <a:xfrm>
              <a:off x="4100976" y="4780853"/>
              <a:ext cx="1140178" cy="820845"/>
            </a:xfrm>
            <a:prstGeom prst="rect">
              <a:avLst/>
            </a:prstGeom>
            <a:solidFill>
              <a:schemeClr val="accent5">
                <a:lumMod val="20000"/>
                <a:lumOff val="8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sz="1400" dirty="0">
                  <a:solidFill>
                    <a:schemeClr val="tx1"/>
                  </a:solidFill>
                </a:rPr>
                <a:t>Page</a:t>
              </a:r>
              <a:endParaRPr kumimoji="1" lang="zh-TW" altLang="en-US" sz="1400" dirty="0">
                <a:solidFill>
                  <a:schemeClr val="tx1"/>
                </a:solidFill>
              </a:endParaRPr>
            </a:p>
          </p:txBody>
        </p:sp>
        <p:sp>
          <p:nvSpPr>
            <p:cNvPr id="43" name="矩形 42">
              <a:extLst>
                <a:ext uri="{FF2B5EF4-FFF2-40B4-BE49-F238E27FC236}">
                  <a16:creationId xmlns:a16="http://schemas.microsoft.com/office/drawing/2014/main" id="{89834EFA-58F6-D476-4824-06897BA584B3}"/>
                </a:ext>
              </a:extLst>
            </p:cNvPr>
            <p:cNvSpPr/>
            <p:nvPr/>
          </p:nvSpPr>
          <p:spPr>
            <a:xfrm>
              <a:off x="4099522" y="5042812"/>
              <a:ext cx="1140178" cy="277000"/>
            </a:xfrm>
            <a:prstGeom prst="rect">
              <a:avLst/>
            </a:prstGeom>
            <a:solidFill>
              <a:schemeClr val="accent5">
                <a:lumMod val="60000"/>
                <a:lumOff val="4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sz="1400" dirty="0">
                  <a:solidFill>
                    <a:schemeClr val="tx1"/>
                  </a:solidFill>
                </a:rPr>
                <a:t>task_struct</a:t>
              </a:r>
              <a:endParaRPr kumimoji="1" lang="zh-TW" altLang="en-US" sz="1400" dirty="0">
                <a:solidFill>
                  <a:schemeClr val="tx1"/>
                </a:solidFill>
              </a:endParaRPr>
            </a:p>
          </p:txBody>
        </p:sp>
        <p:sp>
          <p:nvSpPr>
            <p:cNvPr id="44" name="矩形 43">
              <a:extLst>
                <a:ext uri="{FF2B5EF4-FFF2-40B4-BE49-F238E27FC236}">
                  <a16:creationId xmlns:a16="http://schemas.microsoft.com/office/drawing/2014/main" id="{021BAB02-36E0-2513-11FC-8BF576EE0614}"/>
                </a:ext>
              </a:extLst>
            </p:cNvPr>
            <p:cNvSpPr/>
            <p:nvPr/>
          </p:nvSpPr>
          <p:spPr>
            <a:xfrm>
              <a:off x="4099522" y="5319704"/>
              <a:ext cx="1140178" cy="277000"/>
            </a:xfrm>
            <a:prstGeom prst="rect">
              <a:avLst/>
            </a:prstGeom>
            <a:solidFill>
              <a:schemeClr val="accent5">
                <a:lumMod val="60000"/>
                <a:lumOff val="4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sz="1400" dirty="0">
                  <a:solidFill>
                    <a:schemeClr val="tx1"/>
                  </a:solidFill>
                </a:rPr>
                <a:t>task_struct</a:t>
              </a:r>
              <a:endParaRPr kumimoji="1" lang="zh-TW" altLang="en-US" sz="1400" dirty="0">
                <a:solidFill>
                  <a:schemeClr val="tx1"/>
                </a:solidFill>
              </a:endParaRPr>
            </a:p>
          </p:txBody>
        </p:sp>
        <p:sp>
          <p:nvSpPr>
            <p:cNvPr id="45" name="矩形 44">
              <a:extLst>
                <a:ext uri="{FF2B5EF4-FFF2-40B4-BE49-F238E27FC236}">
                  <a16:creationId xmlns:a16="http://schemas.microsoft.com/office/drawing/2014/main" id="{2B7A818B-8FD0-685E-CB14-7ED4A9EF10DF}"/>
                </a:ext>
              </a:extLst>
            </p:cNvPr>
            <p:cNvSpPr/>
            <p:nvPr/>
          </p:nvSpPr>
          <p:spPr>
            <a:xfrm>
              <a:off x="4100976" y="5605811"/>
              <a:ext cx="1140178" cy="820845"/>
            </a:xfrm>
            <a:prstGeom prst="rect">
              <a:avLst/>
            </a:prstGeom>
            <a:solidFill>
              <a:schemeClr val="accent5">
                <a:lumMod val="20000"/>
                <a:lumOff val="8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sz="1400" dirty="0">
                  <a:solidFill>
                    <a:schemeClr val="tx1"/>
                  </a:solidFill>
                </a:rPr>
                <a:t>Page</a:t>
              </a:r>
              <a:endParaRPr kumimoji="1" lang="zh-TW" altLang="en-US" sz="1400" dirty="0">
                <a:solidFill>
                  <a:schemeClr val="tx1"/>
                </a:solidFill>
              </a:endParaRPr>
            </a:p>
          </p:txBody>
        </p:sp>
        <p:sp>
          <p:nvSpPr>
            <p:cNvPr id="46" name="矩形 45">
              <a:extLst>
                <a:ext uri="{FF2B5EF4-FFF2-40B4-BE49-F238E27FC236}">
                  <a16:creationId xmlns:a16="http://schemas.microsoft.com/office/drawing/2014/main" id="{C9C6C8DC-5F25-C482-3C28-031E18CB03C1}"/>
                </a:ext>
              </a:extLst>
            </p:cNvPr>
            <p:cNvSpPr/>
            <p:nvPr/>
          </p:nvSpPr>
          <p:spPr>
            <a:xfrm>
              <a:off x="4099522" y="5867770"/>
              <a:ext cx="1140178" cy="277000"/>
            </a:xfrm>
            <a:prstGeom prst="rect">
              <a:avLst/>
            </a:prstGeom>
            <a:solidFill>
              <a:schemeClr val="accent5">
                <a:lumMod val="60000"/>
                <a:lumOff val="4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sz="1400" dirty="0">
                  <a:solidFill>
                    <a:schemeClr val="tx1"/>
                  </a:solidFill>
                </a:rPr>
                <a:t>task_struct</a:t>
              </a:r>
              <a:endParaRPr kumimoji="1" lang="zh-TW" altLang="en-US" sz="1400" dirty="0">
                <a:solidFill>
                  <a:schemeClr val="tx1"/>
                </a:solidFill>
              </a:endParaRPr>
            </a:p>
          </p:txBody>
        </p:sp>
        <p:sp>
          <p:nvSpPr>
            <p:cNvPr id="47" name="矩形 46">
              <a:extLst>
                <a:ext uri="{FF2B5EF4-FFF2-40B4-BE49-F238E27FC236}">
                  <a16:creationId xmlns:a16="http://schemas.microsoft.com/office/drawing/2014/main" id="{E29BBEF0-CA68-DCF5-F621-E0BCE60CF445}"/>
                </a:ext>
              </a:extLst>
            </p:cNvPr>
            <p:cNvSpPr/>
            <p:nvPr/>
          </p:nvSpPr>
          <p:spPr>
            <a:xfrm>
              <a:off x="4099522" y="6144662"/>
              <a:ext cx="1140178" cy="277000"/>
            </a:xfrm>
            <a:prstGeom prst="rect">
              <a:avLst/>
            </a:prstGeom>
            <a:solidFill>
              <a:schemeClr val="accent5">
                <a:lumMod val="60000"/>
                <a:lumOff val="4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sz="1400" dirty="0">
                  <a:solidFill>
                    <a:schemeClr val="tx1"/>
                  </a:solidFill>
                </a:rPr>
                <a:t>task_struct</a:t>
              </a:r>
              <a:endParaRPr kumimoji="1" lang="zh-TW" altLang="en-US" sz="1400" dirty="0">
                <a:solidFill>
                  <a:schemeClr val="tx1"/>
                </a:solidFill>
              </a:endParaRPr>
            </a:p>
          </p:txBody>
        </p:sp>
        <p:sp>
          <p:nvSpPr>
            <p:cNvPr id="51" name="文字方塊 50">
              <a:extLst>
                <a:ext uri="{FF2B5EF4-FFF2-40B4-BE49-F238E27FC236}">
                  <a16:creationId xmlns:a16="http://schemas.microsoft.com/office/drawing/2014/main" id="{1EF0E2C9-E9AF-0579-C664-6CCD7A187F12}"/>
                </a:ext>
              </a:extLst>
            </p:cNvPr>
            <p:cNvSpPr txBox="1"/>
            <p:nvPr/>
          </p:nvSpPr>
          <p:spPr>
            <a:xfrm>
              <a:off x="4022473" y="6376836"/>
              <a:ext cx="1262333" cy="307777"/>
            </a:xfrm>
            <a:prstGeom prst="rect">
              <a:avLst/>
            </a:prstGeom>
            <a:noFill/>
          </p:spPr>
          <p:txBody>
            <a:bodyPr wrap="none" rtlCol="0">
              <a:spAutoFit/>
            </a:bodyPr>
            <a:lstStyle/>
            <a:p>
              <a:r>
                <a:rPr kumimoji="1" lang="en-US" altLang="zh-TW" sz="1400" i="1" dirty="0"/>
                <a:t>On Empty Lists</a:t>
              </a:r>
              <a:endParaRPr kumimoji="1" lang="zh-TW" altLang="en-US" sz="1400" i="1" dirty="0"/>
            </a:p>
          </p:txBody>
        </p:sp>
        <p:sp>
          <p:nvSpPr>
            <p:cNvPr id="56" name="文字方塊 55">
              <a:extLst>
                <a:ext uri="{FF2B5EF4-FFF2-40B4-BE49-F238E27FC236}">
                  <a16:creationId xmlns:a16="http://schemas.microsoft.com/office/drawing/2014/main" id="{F61C278B-34CD-0E54-ABDA-5D5F8C81FE49}"/>
                </a:ext>
              </a:extLst>
            </p:cNvPr>
            <p:cNvSpPr txBox="1"/>
            <p:nvPr/>
          </p:nvSpPr>
          <p:spPr>
            <a:xfrm>
              <a:off x="3426453" y="5022672"/>
              <a:ext cx="752129" cy="307777"/>
            </a:xfrm>
            <a:prstGeom prst="rect">
              <a:avLst/>
            </a:prstGeom>
            <a:noFill/>
          </p:spPr>
          <p:txBody>
            <a:bodyPr wrap="none" rtlCol="0">
              <a:spAutoFit/>
            </a:bodyPr>
            <a:lstStyle/>
            <a:p>
              <a:r>
                <a:rPr kumimoji="1" lang="en-US" altLang="zh-TW" sz="1400" b="1" dirty="0">
                  <a:solidFill>
                    <a:srgbClr val="C00000"/>
                  </a:solidFill>
                </a:rPr>
                <a:t>Unused</a:t>
              </a:r>
              <a:endParaRPr kumimoji="1" lang="zh-TW" altLang="en-US" sz="1400" b="1" dirty="0">
                <a:solidFill>
                  <a:srgbClr val="C00000"/>
                </a:solidFill>
              </a:endParaRPr>
            </a:p>
          </p:txBody>
        </p:sp>
        <p:sp>
          <p:nvSpPr>
            <p:cNvPr id="57" name="文字方塊 56">
              <a:extLst>
                <a:ext uri="{FF2B5EF4-FFF2-40B4-BE49-F238E27FC236}">
                  <a16:creationId xmlns:a16="http://schemas.microsoft.com/office/drawing/2014/main" id="{30EFE36F-8721-EDF8-E902-D96536D84FD2}"/>
                </a:ext>
              </a:extLst>
            </p:cNvPr>
            <p:cNvSpPr txBox="1"/>
            <p:nvPr/>
          </p:nvSpPr>
          <p:spPr>
            <a:xfrm>
              <a:off x="3426453" y="5268984"/>
              <a:ext cx="752129" cy="307777"/>
            </a:xfrm>
            <a:prstGeom prst="rect">
              <a:avLst/>
            </a:prstGeom>
            <a:noFill/>
          </p:spPr>
          <p:txBody>
            <a:bodyPr wrap="none" rtlCol="0">
              <a:spAutoFit/>
            </a:bodyPr>
            <a:lstStyle/>
            <a:p>
              <a:r>
                <a:rPr kumimoji="1" lang="en-US" altLang="zh-TW" sz="1400" b="1" dirty="0">
                  <a:solidFill>
                    <a:srgbClr val="C00000"/>
                  </a:solidFill>
                </a:rPr>
                <a:t>Unused</a:t>
              </a:r>
              <a:endParaRPr kumimoji="1" lang="zh-TW" altLang="en-US" sz="1400" b="1" dirty="0">
                <a:solidFill>
                  <a:srgbClr val="C00000"/>
                </a:solidFill>
              </a:endParaRPr>
            </a:p>
          </p:txBody>
        </p:sp>
        <p:sp>
          <p:nvSpPr>
            <p:cNvPr id="60" name="文字方塊 59">
              <a:extLst>
                <a:ext uri="{FF2B5EF4-FFF2-40B4-BE49-F238E27FC236}">
                  <a16:creationId xmlns:a16="http://schemas.microsoft.com/office/drawing/2014/main" id="{6B2F6B80-4278-2AC4-74E8-B0BD7BB8FFAA}"/>
                </a:ext>
              </a:extLst>
            </p:cNvPr>
            <p:cNvSpPr txBox="1"/>
            <p:nvPr/>
          </p:nvSpPr>
          <p:spPr>
            <a:xfrm>
              <a:off x="3426453" y="5846703"/>
              <a:ext cx="752129" cy="307777"/>
            </a:xfrm>
            <a:prstGeom prst="rect">
              <a:avLst/>
            </a:prstGeom>
            <a:noFill/>
          </p:spPr>
          <p:txBody>
            <a:bodyPr wrap="none" rtlCol="0">
              <a:spAutoFit/>
            </a:bodyPr>
            <a:lstStyle/>
            <a:p>
              <a:r>
                <a:rPr kumimoji="1" lang="en-US" altLang="zh-TW" sz="1400" b="1" dirty="0">
                  <a:solidFill>
                    <a:srgbClr val="C00000"/>
                  </a:solidFill>
                </a:rPr>
                <a:t>Unused</a:t>
              </a:r>
              <a:endParaRPr kumimoji="1" lang="zh-TW" altLang="en-US" sz="1400" b="1" dirty="0">
                <a:solidFill>
                  <a:srgbClr val="C00000"/>
                </a:solidFill>
              </a:endParaRPr>
            </a:p>
          </p:txBody>
        </p:sp>
        <p:sp>
          <p:nvSpPr>
            <p:cNvPr id="61" name="文字方塊 60">
              <a:extLst>
                <a:ext uri="{FF2B5EF4-FFF2-40B4-BE49-F238E27FC236}">
                  <a16:creationId xmlns:a16="http://schemas.microsoft.com/office/drawing/2014/main" id="{BD36AB6D-ADC1-232B-91EE-F6D44C320B09}"/>
                </a:ext>
              </a:extLst>
            </p:cNvPr>
            <p:cNvSpPr txBox="1"/>
            <p:nvPr/>
          </p:nvSpPr>
          <p:spPr>
            <a:xfrm>
              <a:off x="3426453" y="6093015"/>
              <a:ext cx="752129" cy="307777"/>
            </a:xfrm>
            <a:prstGeom prst="rect">
              <a:avLst/>
            </a:prstGeom>
            <a:noFill/>
          </p:spPr>
          <p:txBody>
            <a:bodyPr wrap="none" rtlCol="0">
              <a:spAutoFit/>
            </a:bodyPr>
            <a:lstStyle/>
            <a:p>
              <a:r>
                <a:rPr kumimoji="1" lang="en-US" altLang="zh-TW" sz="1400" b="1" dirty="0">
                  <a:solidFill>
                    <a:srgbClr val="C00000"/>
                  </a:solidFill>
                </a:rPr>
                <a:t>Unused</a:t>
              </a:r>
              <a:endParaRPr kumimoji="1" lang="zh-TW" altLang="en-US" sz="1400" b="1" dirty="0">
                <a:solidFill>
                  <a:srgbClr val="C00000"/>
                </a:solidFill>
              </a:endParaRPr>
            </a:p>
          </p:txBody>
        </p:sp>
      </p:grpSp>
      <p:grpSp>
        <p:nvGrpSpPr>
          <p:cNvPr id="72" name="群組 71">
            <a:extLst>
              <a:ext uri="{FF2B5EF4-FFF2-40B4-BE49-F238E27FC236}">
                <a16:creationId xmlns:a16="http://schemas.microsoft.com/office/drawing/2014/main" id="{89AA02A7-156A-B5C8-6434-EE852D54F194}"/>
              </a:ext>
            </a:extLst>
          </p:cNvPr>
          <p:cNvGrpSpPr/>
          <p:nvPr/>
        </p:nvGrpSpPr>
        <p:grpSpPr>
          <a:xfrm>
            <a:off x="1602476" y="5013722"/>
            <a:ext cx="752129" cy="1420141"/>
            <a:chOff x="1602476" y="5013722"/>
            <a:chExt cx="752129" cy="1420141"/>
          </a:xfrm>
        </p:grpSpPr>
        <p:sp>
          <p:nvSpPr>
            <p:cNvPr id="64" name="文字方塊 63">
              <a:extLst>
                <a:ext uri="{FF2B5EF4-FFF2-40B4-BE49-F238E27FC236}">
                  <a16:creationId xmlns:a16="http://schemas.microsoft.com/office/drawing/2014/main" id="{0AA7DA9B-00CD-9A45-FFF5-4B9E79F88FB1}"/>
                </a:ext>
              </a:extLst>
            </p:cNvPr>
            <p:cNvSpPr txBox="1"/>
            <p:nvPr/>
          </p:nvSpPr>
          <p:spPr>
            <a:xfrm>
              <a:off x="1767612" y="6126086"/>
              <a:ext cx="554960" cy="307777"/>
            </a:xfrm>
            <a:prstGeom prst="rect">
              <a:avLst/>
            </a:prstGeom>
            <a:noFill/>
          </p:spPr>
          <p:txBody>
            <a:bodyPr wrap="none" rtlCol="0">
              <a:spAutoFit/>
            </a:bodyPr>
            <a:lstStyle/>
            <a:p>
              <a:r>
                <a:rPr kumimoji="1" lang="en-US" altLang="zh-TW" sz="1400" b="1" dirty="0">
                  <a:solidFill>
                    <a:srgbClr val="C00000"/>
                  </a:solidFill>
                </a:rPr>
                <a:t>Used</a:t>
              </a:r>
              <a:endParaRPr kumimoji="1" lang="zh-TW" altLang="en-US" sz="1400" b="1" dirty="0">
                <a:solidFill>
                  <a:srgbClr val="C00000"/>
                </a:solidFill>
              </a:endParaRPr>
            </a:p>
          </p:txBody>
        </p:sp>
        <p:sp>
          <p:nvSpPr>
            <p:cNvPr id="65" name="文字方塊 64">
              <a:extLst>
                <a:ext uri="{FF2B5EF4-FFF2-40B4-BE49-F238E27FC236}">
                  <a16:creationId xmlns:a16="http://schemas.microsoft.com/office/drawing/2014/main" id="{DA84878C-2233-6607-1797-D546A05BC37C}"/>
                </a:ext>
              </a:extLst>
            </p:cNvPr>
            <p:cNvSpPr txBox="1"/>
            <p:nvPr/>
          </p:nvSpPr>
          <p:spPr>
            <a:xfrm>
              <a:off x="1767612" y="5862344"/>
              <a:ext cx="554960" cy="307777"/>
            </a:xfrm>
            <a:prstGeom prst="rect">
              <a:avLst/>
            </a:prstGeom>
            <a:noFill/>
          </p:spPr>
          <p:txBody>
            <a:bodyPr wrap="none" rtlCol="0">
              <a:spAutoFit/>
            </a:bodyPr>
            <a:lstStyle/>
            <a:p>
              <a:r>
                <a:rPr kumimoji="1" lang="en-US" altLang="zh-TW" sz="1400" b="1" dirty="0">
                  <a:solidFill>
                    <a:srgbClr val="C00000"/>
                  </a:solidFill>
                </a:rPr>
                <a:t>Used</a:t>
              </a:r>
              <a:endParaRPr kumimoji="1" lang="zh-TW" altLang="en-US" sz="1400" b="1" dirty="0">
                <a:solidFill>
                  <a:srgbClr val="C00000"/>
                </a:solidFill>
              </a:endParaRPr>
            </a:p>
          </p:txBody>
        </p:sp>
        <p:sp>
          <p:nvSpPr>
            <p:cNvPr id="66" name="文字方塊 65">
              <a:extLst>
                <a:ext uri="{FF2B5EF4-FFF2-40B4-BE49-F238E27FC236}">
                  <a16:creationId xmlns:a16="http://schemas.microsoft.com/office/drawing/2014/main" id="{E2BCF173-715D-65DA-ED1C-17016C56A1E0}"/>
                </a:ext>
              </a:extLst>
            </p:cNvPr>
            <p:cNvSpPr txBox="1"/>
            <p:nvPr/>
          </p:nvSpPr>
          <p:spPr>
            <a:xfrm>
              <a:off x="1602476" y="5013722"/>
              <a:ext cx="752129" cy="307777"/>
            </a:xfrm>
            <a:prstGeom prst="rect">
              <a:avLst/>
            </a:prstGeom>
            <a:noFill/>
          </p:spPr>
          <p:txBody>
            <a:bodyPr wrap="none" rtlCol="0">
              <a:spAutoFit/>
            </a:bodyPr>
            <a:lstStyle/>
            <a:p>
              <a:r>
                <a:rPr kumimoji="1" lang="en-US" altLang="zh-TW" sz="1400" b="1" dirty="0">
                  <a:solidFill>
                    <a:srgbClr val="C00000"/>
                  </a:solidFill>
                </a:rPr>
                <a:t>Unused</a:t>
              </a:r>
              <a:endParaRPr kumimoji="1" lang="zh-TW" altLang="en-US" sz="1400" b="1" dirty="0">
                <a:solidFill>
                  <a:srgbClr val="C00000"/>
                </a:solidFill>
              </a:endParaRPr>
            </a:p>
          </p:txBody>
        </p:sp>
        <p:sp>
          <p:nvSpPr>
            <p:cNvPr id="67" name="文字方塊 66">
              <a:extLst>
                <a:ext uri="{FF2B5EF4-FFF2-40B4-BE49-F238E27FC236}">
                  <a16:creationId xmlns:a16="http://schemas.microsoft.com/office/drawing/2014/main" id="{0D1BB3AB-C32C-B6D7-F0BF-720886E41A3E}"/>
                </a:ext>
              </a:extLst>
            </p:cNvPr>
            <p:cNvSpPr txBox="1"/>
            <p:nvPr/>
          </p:nvSpPr>
          <p:spPr>
            <a:xfrm>
              <a:off x="1602476" y="5260034"/>
              <a:ext cx="752129" cy="307777"/>
            </a:xfrm>
            <a:prstGeom prst="rect">
              <a:avLst/>
            </a:prstGeom>
            <a:noFill/>
          </p:spPr>
          <p:txBody>
            <a:bodyPr wrap="none" rtlCol="0">
              <a:spAutoFit/>
            </a:bodyPr>
            <a:lstStyle/>
            <a:p>
              <a:r>
                <a:rPr kumimoji="1" lang="en-US" altLang="zh-TW" sz="1400" b="1" dirty="0">
                  <a:solidFill>
                    <a:srgbClr val="C00000"/>
                  </a:solidFill>
                </a:rPr>
                <a:t>Unused</a:t>
              </a:r>
              <a:endParaRPr kumimoji="1" lang="zh-TW" altLang="en-US" sz="1400" b="1" dirty="0">
                <a:solidFill>
                  <a:srgbClr val="C00000"/>
                </a:solidFill>
              </a:endParaRPr>
            </a:p>
          </p:txBody>
        </p:sp>
      </p:grpSp>
      <p:sp>
        <p:nvSpPr>
          <p:cNvPr id="68" name="矩形 67">
            <a:extLst>
              <a:ext uri="{FF2B5EF4-FFF2-40B4-BE49-F238E27FC236}">
                <a16:creationId xmlns:a16="http://schemas.microsoft.com/office/drawing/2014/main" id="{11CA33AB-038F-4438-E5D1-E955E1074816}"/>
              </a:ext>
            </a:extLst>
          </p:cNvPr>
          <p:cNvSpPr/>
          <p:nvPr/>
        </p:nvSpPr>
        <p:spPr>
          <a:xfrm>
            <a:off x="5332578" y="2415210"/>
            <a:ext cx="1919268" cy="4071316"/>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nvGrpSpPr>
          <p:cNvPr id="78" name="群組 77">
            <a:extLst>
              <a:ext uri="{FF2B5EF4-FFF2-40B4-BE49-F238E27FC236}">
                <a16:creationId xmlns:a16="http://schemas.microsoft.com/office/drawing/2014/main" id="{82EDE24E-C81E-7B90-B455-97013523AF9A}"/>
              </a:ext>
            </a:extLst>
          </p:cNvPr>
          <p:cNvGrpSpPr/>
          <p:nvPr/>
        </p:nvGrpSpPr>
        <p:grpSpPr>
          <a:xfrm>
            <a:off x="6031744" y="1032430"/>
            <a:ext cx="6192914" cy="553302"/>
            <a:chOff x="6031744" y="1032430"/>
            <a:chExt cx="6192914" cy="553302"/>
          </a:xfrm>
        </p:grpSpPr>
        <p:sp>
          <p:nvSpPr>
            <p:cNvPr id="73" name="文字方塊 72">
              <a:extLst>
                <a:ext uri="{FF2B5EF4-FFF2-40B4-BE49-F238E27FC236}">
                  <a16:creationId xmlns:a16="http://schemas.microsoft.com/office/drawing/2014/main" id="{E4975A8C-E9BF-8FAA-B461-7E365082B784}"/>
                </a:ext>
              </a:extLst>
            </p:cNvPr>
            <p:cNvSpPr txBox="1"/>
            <p:nvPr/>
          </p:nvSpPr>
          <p:spPr>
            <a:xfrm>
              <a:off x="6031744" y="1032430"/>
              <a:ext cx="6192914" cy="369332"/>
            </a:xfrm>
            <a:prstGeom prst="rect">
              <a:avLst/>
            </a:prstGeom>
            <a:noFill/>
          </p:spPr>
          <p:txBody>
            <a:bodyPr wrap="none" rtlCol="0">
              <a:spAutoFit/>
            </a:bodyPr>
            <a:lstStyle/>
            <a:p>
              <a:r>
                <a:rPr kumimoji="1" lang="en-US" altLang="zh-TW" dirty="0">
                  <a:solidFill>
                    <a:srgbClr val="C00000"/>
                  </a:solidFill>
                </a:rPr>
                <a:t>One cache per object (e.g., task_struct, </a:t>
              </a:r>
              <a:r>
                <a:rPr kumimoji="1" lang="en-US" altLang="zh-TW" dirty="0" err="1">
                  <a:solidFill>
                    <a:srgbClr val="C00000"/>
                  </a:solidFill>
                </a:rPr>
                <a:t>inode</a:t>
              </a:r>
              <a:r>
                <a:rPr kumimoji="1" lang="en-US" altLang="zh-TW" dirty="0">
                  <a:solidFill>
                    <a:srgbClr val="C00000"/>
                  </a:solidFill>
                </a:rPr>
                <a:t>, semaphore) type</a:t>
              </a:r>
              <a:endParaRPr kumimoji="1" lang="zh-TW" altLang="en-US" dirty="0">
                <a:solidFill>
                  <a:srgbClr val="C00000"/>
                </a:solidFill>
              </a:endParaRPr>
            </a:p>
          </p:txBody>
        </p:sp>
        <p:cxnSp>
          <p:nvCxnSpPr>
            <p:cNvPr id="74" name="曲線接點 73">
              <a:extLst>
                <a:ext uri="{FF2B5EF4-FFF2-40B4-BE49-F238E27FC236}">
                  <a16:creationId xmlns:a16="http://schemas.microsoft.com/office/drawing/2014/main" id="{98767882-AD7C-2674-F457-9A1C8EF6C605}"/>
                </a:ext>
              </a:extLst>
            </p:cNvPr>
            <p:cNvCxnSpPr>
              <a:cxnSpLocks/>
            </p:cNvCxnSpPr>
            <p:nvPr/>
          </p:nvCxnSpPr>
          <p:spPr>
            <a:xfrm>
              <a:off x="7916113" y="1330982"/>
              <a:ext cx="255614" cy="254750"/>
            </a:xfrm>
            <a:prstGeom prst="curved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85904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8"/>
                                        </p:tgtEl>
                                        <p:attrNameLst>
                                          <p:attrName>style.visibility</p:attrName>
                                        </p:attrNameLst>
                                      </p:cBhvr>
                                      <p:to>
                                        <p:strVal val="visible"/>
                                      </p:to>
                                    </p:set>
                                    <p:animEffect transition="in" filter="fade">
                                      <p:cBhvr>
                                        <p:cTn id="13" dur="500"/>
                                        <p:tgtEl>
                                          <p:spTgt spid="7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68"/>
                                        </p:tgtEl>
                                        <p:attrNameLst>
                                          <p:attrName>style.visibility</p:attrName>
                                        </p:attrNameLst>
                                      </p:cBhvr>
                                      <p:to>
                                        <p:strVal val="visible"/>
                                      </p:to>
                                    </p:set>
                                    <p:animEffect transition="in" filter="wipe(up)">
                                      <p:cBhvr>
                                        <p:cTn id="18" dur="500"/>
                                        <p:tgtEl>
                                          <p:spTgt spid="6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500"/>
                                        <p:tgtEl>
                                          <p:spTgt spid="3">
                                            <p:txEl>
                                              <p:pRg st="2" end="2"/>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69"/>
                                        </p:tgtEl>
                                        <p:attrNameLst>
                                          <p:attrName>style.visibility</p:attrName>
                                        </p:attrNameLst>
                                      </p:cBhvr>
                                      <p:to>
                                        <p:strVal val="visible"/>
                                      </p:to>
                                    </p:set>
                                    <p:animEffect transition="in" filter="fade">
                                      <p:cBhvr>
                                        <p:cTn id="29" dur="500"/>
                                        <p:tgtEl>
                                          <p:spTgt spid="6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wipe(up)">
                                      <p:cBhvr>
                                        <p:cTn id="34" dur="500"/>
                                        <p:tgtEl>
                                          <p:spTgt spid="20"/>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up)">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500"/>
                                        <p:tgtEl>
                                          <p:spTgt spid="2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childTnLst>
                          </p:cTn>
                        </p:par>
                        <p:par>
                          <p:cTn id="52" fill="hold">
                            <p:stCondLst>
                              <p:cond delay="500"/>
                            </p:stCondLst>
                            <p:childTnLst>
                              <p:par>
                                <p:cTn id="53" presetID="22" presetClass="entr" presetSubtype="4" fill="hold" grpId="0" nodeType="afterEffect">
                                  <p:stCondLst>
                                    <p:cond delay="0"/>
                                  </p:stCondLst>
                                  <p:childTnLst>
                                    <p:set>
                                      <p:cBhvr>
                                        <p:cTn id="54" dur="1" fill="hold">
                                          <p:stCondLst>
                                            <p:cond delay="0"/>
                                          </p:stCondLst>
                                        </p:cTn>
                                        <p:tgtEl>
                                          <p:spTgt spid="49"/>
                                        </p:tgtEl>
                                        <p:attrNameLst>
                                          <p:attrName>style.visibility</p:attrName>
                                        </p:attrNameLst>
                                      </p:cBhvr>
                                      <p:to>
                                        <p:strVal val="visible"/>
                                      </p:to>
                                    </p:set>
                                    <p:animEffect transition="in" filter="wipe(down)">
                                      <p:cBhvr>
                                        <p:cTn id="55" dur="500"/>
                                        <p:tgtEl>
                                          <p:spTgt spid="49"/>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70"/>
                                        </p:tgtEl>
                                        <p:attrNameLst>
                                          <p:attrName>style.visibility</p:attrName>
                                        </p:attrNameLst>
                                      </p:cBhvr>
                                      <p:to>
                                        <p:strVal val="visible"/>
                                      </p:to>
                                    </p:set>
                                    <p:animEffect transition="in" filter="fade">
                                      <p:cBhvr>
                                        <p:cTn id="60" dur="500"/>
                                        <p:tgtEl>
                                          <p:spTgt spid="70"/>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71"/>
                                        </p:tgtEl>
                                        <p:attrNameLst>
                                          <p:attrName>style.visibility</p:attrName>
                                        </p:attrNameLst>
                                      </p:cBhvr>
                                      <p:to>
                                        <p:strVal val="visible"/>
                                      </p:to>
                                    </p:set>
                                    <p:animEffect transition="in" filter="fade">
                                      <p:cBhvr>
                                        <p:cTn id="65" dur="500"/>
                                        <p:tgtEl>
                                          <p:spTgt spid="71"/>
                                        </p:tgtEl>
                                      </p:cBhvr>
                                    </p:animEffect>
                                  </p:childTnLst>
                                </p:cTn>
                              </p:par>
                              <p:par>
                                <p:cTn id="66" presetID="10" presetClass="entr" presetSubtype="0" fill="hold" nodeType="withEffect">
                                  <p:stCondLst>
                                    <p:cond delay="0"/>
                                  </p:stCondLst>
                                  <p:childTnLst>
                                    <p:set>
                                      <p:cBhvr>
                                        <p:cTn id="67" dur="1" fill="hold">
                                          <p:stCondLst>
                                            <p:cond delay="0"/>
                                          </p:stCondLst>
                                        </p:cTn>
                                        <p:tgtEl>
                                          <p:spTgt spid="72"/>
                                        </p:tgtEl>
                                        <p:attrNameLst>
                                          <p:attrName>style.visibility</p:attrName>
                                        </p:attrNameLst>
                                      </p:cBhvr>
                                      <p:to>
                                        <p:strVal val="visible"/>
                                      </p:to>
                                    </p:set>
                                    <p:animEffect transition="in" filter="fade">
                                      <p:cBhvr>
                                        <p:cTn id="68" dur="500"/>
                                        <p:tgtEl>
                                          <p:spTgt spid="72"/>
                                        </p:tgtEl>
                                      </p:cBhvr>
                                    </p:animEffect>
                                  </p:childTnLst>
                                </p:cTn>
                              </p:par>
                              <p:par>
                                <p:cTn id="69" presetID="10" presetClass="entr" presetSubtype="0" fill="hold" nodeType="withEffect">
                                  <p:stCondLst>
                                    <p:cond delay="0"/>
                                  </p:stCondLst>
                                  <p:childTnLst>
                                    <p:set>
                                      <p:cBhvr>
                                        <p:cTn id="70" dur="1" fill="hold">
                                          <p:stCondLst>
                                            <p:cond delay="0"/>
                                          </p:stCondLst>
                                        </p:cTn>
                                        <p:tgtEl>
                                          <p:spTgt spid="3">
                                            <p:txEl>
                                              <p:pRg st="3" end="3"/>
                                            </p:txEl>
                                          </p:spTgt>
                                        </p:tgtEl>
                                        <p:attrNameLst>
                                          <p:attrName>style.visibility</p:attrName>
                                        </p:attrNameLst>
                                      </p:cBhvr>
                                      <p:to>
                                        <p:strVal val="visible"/>
                                      </p:to>
                                    </p:set>
                                    <p:animEffect transition="in" filter="fade">
                                      <p:cBhvr>
                                        <p:cTn id="71" dur="500"/>
                                        <p:tgtEl>
                                          <p:spTgt spid="3">
                                            <p:txEl>
                                              <p:pRg st="3" end="3"/>
                                            </p:txEl>
                                          </p:spTgt>
                                        </p:tgtEl>
                                      </p:cBhvr>
                                    </p:animEffect>
                                  </p:childTnLst>
                                </p:cTn>
                              </p:par>
                              <p:par>
                                <p:cTn id="72" presetID="0" presetClass="path" presetSubtype="0" accel="50000" decel="50000" fill="hold" grpId="1" nodeType="withEffect">
                                  <p:stCondLst>
                                    <p:cond delay="0"/>
                                  </p:stCondLst>
                                  <p:childTnLst>
                                    <p:animMotion origin="layout" path="M 4.375E-6 -2.59259E-6 L 0.19205 0.00486 " pathEditMode="relative" rAng="0" ptsTypes="AA">
                                      <p:cBhvr>
                                        <p:cTn id="73" dur="2000" fill="hold"/>
                                        <p:tgtEl>
                                          <p:spTgt spid="68"/>
                                        </p:tgtEl>
                                        <p:attrNameLst>
                                          <p:attrName>ppt_x</p:attrName>
                                          <p:attrName>ppt_y</p:attrName>
                                        </p:attrNameLst>
                                      </p:cBhvr>
                                      <p:rCtr x="9596" y="231"/>
                                    </p:animMotion>
                                  </p:childTnLst>
                                </p:cTn>
                              </p:par>
                            </p:childTnLst>
                          </p:cTn>
                        </p:par>
                      </p:childTnLst>
                    </p:cTn>
                  </p:par>
                  <p:par>
                    <p:cTn id="74" fill="hold">
                      <p:stCondLst>
                        <p:cond delay="indefinite"/>
                      </p:stCondLst>
                      <p:childTnLst>
                        <p:par>
                          <p:cTn id="75" fill="hold">
                            <p:stCondLst>
                              <p:cond delay="0"/>
                            </p:stCondLst>
                            <p:childTnLst>
                              <p:par>
                                <p:cTn id="76" presetID="0" presetClass="path" presetSubtype="0" accel="50000" decel="50000" fill="hold" grpId="2" nodeType="clickEffect">
                                  <p:stCondLst>
                                    <p:cond delay="0"/>
                                  </p:stCondLst>
                                  <p:childTnLst>
                                    <p:animMotion origin="layout" path="M 0.19205 0.00486 L 0.38489 0.00486 " pathEditMode="relative" rAng="0" ptsTypes="AA">
                                      <p:cBhvr>
                                        <p:cTn id="77" dur="2000" fill="hold"/>
                                        <p:tgtEl>
                                          <p:spTgt spid="68"/>
                                        </p:tgtEl>
                                        <p:attrNameLst>
                                          <p:attrName>ppt_x</p:attrName>
                                          <p:attrName>ppt_y</p:attrName>
                                        </p:attrNameLst>
                                      </p:cBhvr>
                                      <p:rCtr x="9635" y="0"/>
                                    </p:animMotion>
                                  </p:childTnLst>
                                </p:cTn>
                              </p:par>
                              <p:par>
                                <p:cTn id="78" presetID="10" presetClass="entr" presetSubtype="0" fill="hold" nodeType="withEffect">
                                  <p:stCondLst>
                                    <p:cond delay="0"/>
                                  </p:stCondLst>
                                  <p:childTnLst>
                                    <p:set>
                                      <p:cBhvr>
                                        <p:cTn id="79" dur="1" fill="hold">
                                          <p:stCondLst>
                                            <p:cond delay="0"/>
                                          </p:stCondLst>
                                        </p:cTn>
                                        <p:tgtEl>
                                          <p:spTgt spid="79"/>
                                        </p:tgtEl>
                                        <p:attrNameLst>
                                          <p:attrName>style.visibility</p:attrName>
                                        </p:attrNameLst>
                                      </p:cBhvr>
                                      <p:to>
                                        <p:strVal val="visible"/>
                                      </p:to>
                                    </p:set>
                                    <p:animEffect transition="in" filter="fade">
                                      <p:cBhvr>
                                        <p:cTn id="80" dur="500"/>
                                        <p:tgtEl>
                                          <p:spTgt spid="79"/>
                                        </p:tgtEl>
                                      </p:cBhvr>
                                    </p:animEffect>
                                  </p:childTnLst>
                                </p:cTn>
                              </p:par>
                              <p:par>
                                <p:cTn id="81" presetID="10" presetClass="entr" presetSubtype="0" fill="hold" nodeType="withEffect">
                                  <p:stCondLst>
                                    <p:cond delay="0"/>
                                  </p:stCondLst>
                                  <p:childTnLst>
                                    <p:set>
                                      <p:cBhvr>
                                        <p:cTn id="82" dur="1" fill="hold">
                                          <p:stCondLst>
                                            <p:cond delay="0"/>
                                          </p:stCondLst>
                                        </p:cTn>
                                        <p:tgtEl>
                                          <p:spTgt spid="3">
                                            <p:txEl>
                                              <p:pRg st="4" end="4"/>
                                            </p:txEl>
                                          </p:spTgt>
                                        </p:tgtEl>
                                        <p:attrNameLst>
                                          <p:attrName>style.visibility</p:attrName>
                                        </p:attrNameLst>
                                      </p:cBhvr>
                                      <p:to>
                                        <p:strVal val="visible"/>
                                      </p:to>
                                    </p:set>
                                    <p:animEffect transition="in" filter="fade">
                                      <p:cBhvr>
                                        <p:cTn id="8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0" grpId="0" animBg="1"/>
      <p:bldP spid="21" grpId="0" animBg="1"/>
      <p:bldP spid="22" grpId="0" animBg="1"/>
      <p:bldP spid="23" grpId="0" animBg="1"/>
      <p:bldP spid="24" grpId="0" animBg="1"/>
      <p:bldP spid="25" grpId="0" animBg="1"/>
      <p:bldP spid="49" grpId="0"/>
      <p:bldP spid="68" grpId="0" animBg="1"/>
      <p:bldP spid="68" grpId="1" animBg="1"/>
      <p:bldP spid="68" grpId="2"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A122110-833F-534E-16B1-D9AC02C507A9}"/>
              </a:ext>
            </a:extLst>
          </p:cNvPr>
          <p:cNvSpPr>
            <a:spLocks noGrp="1"/>
          </p:cNvSpPr>
          <p:nvPr>
            <p:ph type="title"/>
          </p:nvPr>
        </p:nvSpPr>
        <p:spPr/>
        <p:txBody>
          <a:bodyPr/>
          <a:lstStyle/>
          <a:p>
            <a:r>
              <a:rPr kumimoji="1" lang="en-US" altLang="zh-TW" dirty="0"/>
              <a:t>How Slab Layer Works (Count.)</a:t>
            </a:r>
            <a:endParaRPr kumimoji="1" lang="zh-TW" altLang="en-US" dirty="0"/>
          </a:p>
        </p:txBody>
      </p:sp>
      <p:sp>
        <p:nvSpPr>
          <p:cNvPr id="4" name="投影片編號版面配置區 3">
            <a:extLst>
              <a:ext uri="{FF2B5EF4-FFF2-40B4-BE49-F238E27FC236}">
                <a16:creationId xmlns:a16="http://schemas.microsoft.com/office/drawing/2014/main" id="{7B650B14-EE43-2099-B907-54C9CD9BC1C7}"/>
              </a:ext>
            </a:extLst>
          </p:cNvPr>
          <p:cNvSpPr>
            <a:spLocks noGrp="1"/>
          </p:cNvSpPr>
          <p:nvPr>
            <p:ph type="sldNum" sz="quarter" idx="4"/>
          </p:nvPr>
        </p:nvSpPr>
        <p:spPr/>
        <p:txBody>
          <a:bodyPr/>
          <a:lstStyle/>
          <a:p>
            <a:fld id="{E24E6636-6BA5-4AAC-8485-BE8D914D288B}" type="slidenum">
              <a:rPr lang="zh-TW" altLang="en-US" smtClean="0"/>
              <a:pPr/>
              <a:t>20</a:t>
            </a:fld>
            <a:endParaRPr lang="zh-TW" altLang="en-US" dirty="0"/>
          </a:p>
        </p:txBody>
      </p:sp>
      <p:pic>
        <p:nvPicPr>
          <p:cNvPr id="6" name="圖片 5">
            <a:extLst>
              <a:ext uri="{FF2B5EF4-FFF2-40B4-BE49-F238E27FC236}">
                <a16:creationId xmlns:a16="http://schemas.microsoft.com/office/drawing/2014/main" id="{65F6A764-08DB-A16F-B7FD-1F8FB5D1BF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7196" y="1320006"/>
            <a:ext cx="7360076" cy="5278438"/>
          </a:xfrm>
          <a:prstGeom prst="rect">
            <a:avLst/>
          </a:prstGeom>
        </p:spPr>
      </p:pic>
      <p:sp>
        <p:nvSpPr>
          <p:cNvPr id="3" name="內容版面配置區 2">
            <a:extLst>
              <a:ext uri="{FF2B5EF4-FFF2-40B4-BE49-F238E27FC236}">
                <a16:creationId xmlns:a16="http://schemas.microsoft.com/office/drawing/2014/main" id="{14FD60E8-53D8-1DD7-5899-42D8CC23C75C}"/>
              </a:ext>
            </a:extLst>
          </p:cNvPr>
          <p:cNvSpPr>
            <a:spLocks noGrp="1"/>
          </p:cNvSpPr>
          <p:nvPr>
            <p:ph idx="1"/>
          </p:nvPr>
        </p:nvSpPr>
        <p:spPr>
          <a:xfrm>
            <a:off x="177800" y="1238250"/>
            <a:ext cx="5297311" cy="5441950"/>
          </a:xfrm>
        </p:spPr>
        <p:txBody>
          <a:bodyPr>
            <a:normAutofit/>
          </a:bodyPr>
          <a:lstStyle/>
          <a:p>
            <a:pPr algn="l"/>
            <a:r>
              <a:rPr lang="en-US" altLang="zh-TW" dirty="0">
                <a:solidFill>
                  <a:schemeClr val="tx1"/>
                </a:solidFill>
              </a:rPr>
              <a:t>Main Idea: </a:t>
            </a:r>
            <a:r>
              <a:rPr lang="en-US" altLang="zh-TW" dirty="0">
                <a:solidFill>
                  <a:srgbClr val="C00000"/>
                </a:solidFill>
              </a:rPr>
              <a:t>Avoid</a:t>
            </a:r>
            <a:r>
              <a:rPr lang="en-US" altLang="zh-TW" dirty="0">
                <a:solidFill>
                  <a:schemeClr val="tx1"/>
                </a:solidFill>
              </a:rPr>
              <a:t> from </a:t>
            </a:r>
            <a:r>
              <a:rPr lang="en-US" altLang="zh-TW" dirty="0">
                <a:solidFill>
                  <a:srgbClr val="C00000"/>
                </a:solidFill>
              </a:rPr>
              <a:t>allocating and freeing physical address</a:t>
            </a:r>
            <a:r>
              <a:rPr lang="en-US" altLang="zh-TW" dirty="0">
                <a:solidFill>
                  <a:schemeClr val="tx1"/>
                </a:solidFill>
              </a:rPr>
              <a:t> as frequent as possible.</a:t>
            </a:r>
          </a:p>
          <a:p>
            <a:pPr algn="l"/>
            <a:r>
              <a:rPr lang="en-US" altLang="zh-TW" dirty="0">
                <a:solidFill>
                  <a:schemeClr val="tx1"/>
                </a:solidFill>
              </a:rPr>
              <a:t>Structure: Cache </a:t>
            </a:r>
            <a:r>
              <a:rPr lang="en-US" altLang="zh-TW" dirty="0">
                <a:solidFill>
                  <a:schemeClr val="tx1"/>
                </a:solidFill>
                <a:sym typeface="Wingdings" pitchFamily="2" charset="2"/>
              </a:rPr>
              <a:t> Slab  Page</a:t>
            </a:r>
          </a:p>
          <a:p>
            <a:pPr algn="l"/>
            <a:r>
              <a:rPr lang="en-US" altLang="zh-TW" dirty="0">
                <a:solidFill>
                  <a:schemeClr val="tx1"/>
                </a:solidFill>
              </a:rPr>
              <a:t>Run Allocation: Only when there </a:t>
            </a:r>
            <a:r>
              <a:rPr lang="en-US" altLang="zh-TW" dirty="0">
                <a:solidFill>
                  <a:schemeClr val="accent5"/>
                </a:solidFill>
              </a:rPr>
              <a:t>does</a:t>
            </a:r>
            <a:r>
              <a:rPr lang="en-US" altLang="zh-TW" dirty="0">
                <a:solidFill>
                  <a:srgbClr val="C00000"/>
                </a:solidFill>
              </a:rPr>
              <a:t> </a:t>
            </a:r>
            <a:r>
              <a:rPr lang="en-US" altLang="zh-TW" dirty="0">
                <a:solidFill>
                  <a:schemeClr val="accent5"/>
                </a:solidFill>
              </a:rPr>
              <a:t>not exist </a:t>
            </a:r>
            <a:r>
              <a:rPr lang="en-US" altLang="zh-TW" dirty="0">
                <a:solidFill>
                  <a:schemeClr val="tx1"/>
                </a:solidFill>
              </a:rPr>
              <a:t>any</a:t>
            </a:r>
            <a:r>
              <a:rPr lang="en-US" altLang="zh-TW" dirty="0">
                <a:solidFill>
                  <a:schemeClr val="accent5"/>
                </a:solidFill>
              </a:rPr>
              <a:t> partial or empty slabs </a:t>
            </a:r>
            <a:r>
              <a:rPr lang="en-US" altLang="zh-TW" dirty="0">
                <a:solidFill>
                  <a:schemeClr val="tx1"/>
                </a:solidFill>
              </a:rPr>
              <a:t>in each</a:t>
            </a:r>
            <a:r>
              <a:rPr lang="en-US" altLang="zh-TW" dirty="0">
                <a:solidFill>
                  <a:srgbClr val="C00000"/>
                </a:solidFill>
              </a:rPr>
              <a:t> cache</a:t>
            </a:r>
            <a:r>
              <a:rPr lang="en-US" altLang="zh-TW" dirty="0">
                <a:solidFill>
                  <a:schemeClr val="tx1"/>
                </a:solidFill>
              </a:rPr>
              <a:t>.</a:t>
            </a:r>
          </a:p>
          <a:p>
            <a:pPr algn="l"/>
            <a:r>
              <a:rPr kumimoji="1" lang="en-US" altLang="zh-TW" dirty="0">
                <a:solidFill>
                  <a:schemeClr val="tx1"/>
                </a:solidFill>
              </a:rPr>
              <a:t>Run Free: </a:t>
            </a:r>
            <a:r>
              <a:rPr lang="en-US" altLang="zh-TW" dirty="0">
                <a:solidFill>
                  <a:schemeClr val="tx1"/>
                </a:solidFill>
              </a:rPr>
              <a:t>O</a:t>
            </a:r>
            <a:r>
              <a:rPr kumimoji="1" lang="en-US" altLang="zh-TW" dirty="0">
                <a:solidFill>
                  <a:schemeClr val="tx1"/>
                </a:solidFill>
              </a:rPr>
              <a:t>nly when available</a:t>
            </a:r>
            <a:r>
              <a:rPr kumimoji="1" lang="en-US" altLang="zh-TW" dirty="0">
                <a:solidFill>
                  <a:srgbClr val="C00000"/>
                </a:solidFill>
              </a:rPr>
              <a:t> </a:t>
            </a:r>
            <a:r>
              <a:rPr kumimoji="1" lang="en-US" altLang="zh-TW" dirty="0">
                <a:solidFill>
                  <a:schemeClr val="accent5"/>
                </a:solidFill>
              </a:rPr>
              <a:t>memory grows low</a:t>
            </a:r>
            <a:r>
              <a:rPr kumimoji="1" lang="en-US" altLang="zh-TW" dirty="0">
                <a:solidFill>
                  <a:schemeClr val="tx1"/>
                </a:solidFill>
              </a:rPr>
              <a:t>.</a:t>
            </a:r>
            <a:endParaRPr kumimoji="1" lang="zh-TW" altLang="en-US" dirty="0">
              <a:solidFill>
                <a:schemeClr val="tx1"/>
              </a:solidFill>
            </a:endParaRPr>
          </a:p>
        </p:txBody>
      </p:sp>
      <p:sp>
        <p:nvSpPr>
          <p:cNvPr id="8" name="文字方塊 7">
            <a:extLst>
              <a:ext uri="{FF2B5EF4-FFF2-40B4-BE49-F238E27FC236}">
                <a16:creationId xmlns:a16="http://schemas.microsoft.com/office/drawing/2014/main" id="{BB0EB2F4-5136-DEDE-B535-456FFA7AC91F}"/>
              </a:ext>
            </a:extLst>
          </p:cNvPr>
          <p:cNvSpPr txBox="1"/>
          <p:nvPr/>
        </p:nvSpPr>
        <p:spPr>
          <a:xfrm>
            <a:off x="0" y="6598099"/>
            <a:ext cx="6979090" cy="276999"/>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rPr>
              <a:t>Gorman, Mel. Understanding the Linux virtual memory manager. Upper Saddle River: Prentice Hall, 2004</a:t>
            </a:r>
            <a:endParaRPr kumimoji="1" lang="zh-TW" altLang="en-US" sz="1200" dirty="0">
              <a:solidFill>
                <a:schemeClr val="bg1">
                  <a:lumMod val="75000"/>
                </a:schemeClr>
              </a:solidFill>
            </a:endParaRPr>
          </a:p>
        </p:txBody>
      </p:sp>
    </p:spTree>
    <p:extLst>
      <p:ext uri="{BB962C8B-B14F-4D97-AF65-F5344CB8AC3E}">
        <p14:creationId xmlns:p14="http://schemas.microsoft.com/office/powerpoint/2010/main" val="1064651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p:cTn id="6" dur="indefinite"/>
                                        <p:tgtEl>
                                          <p:spTgt spid="3">
                                            <p:txEl>
                                              <p:pRg st="0" end="0"/>
                                            </p:txEl>
                                          </p:spTgt>
                                        </p:tgtEl>
                                        <p:attrNameLst>
                                          <p:attrName>style.opacity</p:attrName>
                                        </p:attrNameLst>
                                      </p:cBhvr>
                                      <p:to>
                                        <p:strVal val="0.5"/>
                                      </p:to>
                                    </p:set>
                                    <p:animEffect filter="image" prLst="opacity: 0.5">
                                      <p:cBhvr rctx="IE">
                                        <p:cTn id="7" dur="indefinite"/>
                                        <p:tgtEl>
                                          <p:spTgt spid="3">
                                            <p:txEl>
                                              <p:pRg st="0" end="0"/>
                                            </p:txEl>
                                          </p:spTgt>
                                        </p:tgtEl>
                                      </p:cBhvr>
                                    </p:animEffect>
                                  </p:childTnLst>
                                </p:cTn>
                              </p:par>
                              <p:par>
                                <p:cTn id="8" presetID="9" presetClass="emph" presetSubtype="0" nodeType="withEffect">
                                  <p:stCondLst>
                                    <p:cond delay="0"/>
                                  </p:stCondLst>
                                  <p:childTnLst>
                                    <p:set>
                                      <p:cBhvr>
                                        <p:cTn id="9" dur="indefinite"/>
                                        <p:tgtEl>
                                          <p:spTgt spid="3">
                                            <p:txEl>
                                              <p:pRg st="1" end="1"/>
                                            </p:txEl>
                                          </p:spTgt>
                                        </p:tgtEl>
                                        <p:attrNameLst>
                                          <p:attrName>style.opacity</p:attrName>
                                        </p:attrNameLst>
                                      </p:cBhvr>
                                      <p:to>
                                        <p:strVal val="0.5"/>
                                      </p:to>
                                    </p:set>
                                    <p:animEffect filter="image" prLst="opacity: 0.5">
                                      <p:cBhvr rctx="IE">
                                        <p:cTn id="10" dur="indefinite"/>
                                        <p:tgtEl>
                                          <p:spTgt spid="3">
                                            <p:txEl>
                                              <p:pRg st="1" end="1"/>
                                            </p:txEl>
                                          </p:spTgt>
                                        </p:tgtEl>
                                      </p:cBhvr>
                                    </p:animEffect>
                                  </p:childTnLst>
                                </p:cTn>
                              </p:par>
                              <p:par>
                                <p:cTn id="11" presetID="9" presetClass="emph" presetSubtype="0" nodeType="withEffect">
                                  <p:stCondLst>
                                    <p:cond delay="0"/>
                                  </p:stCondLst>
                                  <p:childTnLst>
                                    <p:set>
                                      <p:cBhvr>
                                        <p:cTn id="12" dur="indefinite"/>
                                        <p:tgtEl>
                                          <p:spTgt spid="6"/>
                                        </p:tgtEl>
                                        <p:attrNameLst>
                                          <p:attrName>style.opacity</p:attrName>
                                        </p:attrNameLst>
                                      </p:cBhvr>
                                      <p:to>
                                        <p:strVal val="0.5"/>
                                      </p:to>
                                    </p:set>
                                    <p:animEffect filter="image" prLst="opacity: 0.5">
                                      <p:cBhvr rctx="IE">
                                        <p:cTn id="13" dur="indefinite"/>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742E633-59AC-31CB-BDCA-7995C41EA39C}"/>
              </a:ext>
            </a:extLst>
          </p:cNvPr>
          <p:cNvSpPr>
            <a:spLocks noGrp="1"/>
          </p:cNvSpPr>
          <p:nvPr>
            <p:ph type="title"/>
          </p:nvPr>
        </p:nvSpPr>
        <p:spPr/>
        <p:txBody>
          <a:bodyPr/>
          <a:lstStyle/>
          <a:p>
            <a:r>
              <a:rPr kumimoji="1" lang="en-US" altLang="zh-TW" dirty="0"/>
              <a:t>Linux Page Allocation</a:t>
            </a:r>
            <a:endParaRPr kumimoji="1" lang="zh-TW" altLang="en-US" dirty="0"/>
          </a:p>
        </p:txBody>
      </p:sp>
      <p:sp>
        <p:nvSpPr>
          <p:cNvPr id="3" name="內容版面配置區 2">
            <a:extLst>
              <a:ext uri="{FF2B5EF4-FFF2-40B4-BE49-F238E27FC236}">
                <a16:creationId xmlns:a16="http://schemas.microsoft.com/office/drawing/2014/main" id="{5AD4EA04-0C56-9288-DC46-5D41E903501D}"/>
              </a:ext>
            </a:extLst>
          </p:cNvPr>
          <p:cNvSpPr>
            <a:spLocks noGrp="1"/>
          </p:cNvSpPr>
          <p:nvPr>
            <p:ph idx="1"/>
          </p:nvPr>
        </p:nvSpPr>
        <p:spPr/>
        <p:txBody>
          <a:bodyPr/>
          <a:lstStyle/>
          <a:p>
            <a:r>
              <a:rPr lang="en-US" altLang="zh-TW" dirty="0">
                <a:latin typeface="+mn-lt"/>
              </a:rPr>
              <a:t>Two common libraries to allocate kernel memory: </a:t>
            </a:r>
            <a:r>
              <a:rPr lang="en-US" altLang="zh-TW" dirty="0" err="1">
                <a:latin typeface="+mn-lt"/>
              </a:rPr>
              <a:t>kmalloc</a:t>
            </a:r>
            <a:r>
              <a:rPr lang="en-US" altLang="zh-TW" dirty="0">
                <a:latin typeface="+mn-lt"/>
              </a:rPr>
              <a:t>() and </a:t>
            </a:r>
            <a:r>
              <a:rPr lang="en-US" altLang="zh-TW" dirty="0" err="1">
                <a:latin typeface="+mn-lt"/>
              </a:rPr>
              <a:t>vmalloc</a:t>
            </a:r>
            <a:r>
              <a:rPr lang="en-US" altLang="zh-TW" dirty="0">
                <a:latin typeface="+mn-lt"/>
              </a:rPr>
              <a:t>().</a:t>
            </a:r>
            <a:endParaRPr kumimoji="1" lang="zh-TW" altLang="en-US" dirty="0">
              <a:latin typeface="+mn-lt"/>
            </a:endParaRPr>
          </a:p>
        </p:txBody>
      </p:sp>
      <p:sp>
        <p:nvSpPr>
          <p:cNvPr id="4" name="投影片編號版面配置區 3">
            <a:extLst>
              <a:ext uri="{FF2B5EF4-FFF2-40B4-BE49-F238E27FC236}">
                <a16:creationId xmlns:a16="http://schemas.microsoft.com/office/drawing/2014/main" id="{8F0F7236-1DB4-6EF3-275A-4B1C5248592E}"/>
              </a:ext>
            </a:extLst>
          </p:cNvPr>
          <p:cNvSpPr>
            <a:spLocks noGrp="1"/>
          </p:cNvSpPr>
          <p:nvPr>
            <p:ph type="sldNum" sz="quarter" idx="4"/>
          </p:nvPr>
        </p:nvSpPr>
        <p:spPr/>
        <p:txBody>
          <a:bodyPr/>
          <a:lstStyle/>
          <a:p>
            <a:fld id="{E24E6636-6BA5-4AAC-8485-BE8D914D288B}" type="slidenum">
              <a:rPr lang="zh-TW" altLang="en-US" smtClean="0"/>
              <a:pPr/>
              <a:t>21</a:t>
            </a:fld>
            <a:endParaRPr lang="zh-TW" altLang="en-US" dirty="0"/>
          </a:p>
        </p:txBody>
      </p:sp>
      <p:sp>
        <p:nvSpPr>
          <p:cNvPr id="8" name="文字方塊 7">
            <a:extLst>
              <a:ext uri="{FF2B5EF4-FFF2-40B4-BE49-F238E27FC236}">
                <a16:creationId xmlns:a16="http://schemas.microsoft.com/office/drawing/2014/main" id="{154BBE72-D927-86A9-D72C-2F63564CCD30}"/>
              </a:ext>
            </a:extLst>
          </p:cNvPr>
          <p:cNvSpPr txBox="1"/>
          <p:nvPr/>
        </p:nvSpPr>
        <p:spPr>
          <a:xfrm>
            <a:off x="0" y="6598099"/>
            <a:ext cx="9543446" cy="276999"/>
          </a:xfrm>
          <a:prstGeom prst="rect">
            <a:avLst/>
          </a:prstGeom>
          <a:noFill/>
        </p:spPr>
        <p:txBody>
          <a:bodyPr wrap="none" rtlCol="0">
            <a:spAutoFit/>
          </a:bodyPr>
          <a:lstStyle/>
          <a:p>
            <a:r>
              <a:rPr kumimoji="1" lang="en-US" altLang="zh-TW" sz="1200" dirty="0">
                <a:solidFill>
                  <a:schemeClr val="bg1">
                    <a:lumMod val="75000"/>
                  </a:schemeClr>
                </a:solidFill>
              </a:rPr>
              <a:t>Ref: Advanced Operating Systems, </a:t>
            </a:r>
            <a:r>
              <a:rPr kumimoji="1" lang="en-US" altLang="zh-TW" sz="1200" dirty="0" err="1">
                <a:solidFill>
                  <a:schemeClr val="bg1">
                    <a:lumMod val="75000"/>
                  </a:schemeClr>
                </a:solidFill>
              </a:rPr>
              <a:t>Shinpei</a:t>
            </a:r>
            <a:r>
              <a:rPr kumimoji="1" lang="en-US" altLang="zh-TW" sz="1200" dirty="0">
                <a:solidFill>
                  <a:schemeClr val="bg1">
                    <a:lumMod val="75000"/>
                  </a:schemeClr>
                </a:solidFill>
              </a:rPr>
              <a:t> Kato, 2018</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www.pf.is.s.u-tokyo.ac.jp</a:t>
            </a:r>
            <a:r>
              <a:rPr kumimoji="1" lang="en-US" altLang="zh-TW" sz="1200" dirty="0">
                <a:solidFill>
                  <a:schemeClr val="bg1">
                    <a:lumMod val="75000"/>
                  </a:schemeClr>
                </a:solidFill>
              </a:rPr>
              <a:t>/wp-content/uploads/2018/10/AdvancedOperatingSystems3.pdf</a:t>
            </a:r>
            <a:endParaRPr kumimoji="1" lang="zh-TW" altLang="en-US" sz="1200" dirty="0">
              <a:solidFill>
                <a:schemeClr val="bg1">
                  <a:lumMod val="75000"/>
                </a:schemeClr>
              </a:solidFill>
            </a:endParaRPr>
          </a:p>
        </p:txBody>
      </p:sp>
      <p:sp>
        <p:nvSpPr>
          <p:cNvPr id="10" name="矩形 9">
            <a:extLst>
              <a:ext uri="{FF2B5EF4-FFF2-40B4-BE49-F238E27FC236}">
                <a16:creationId xmlns:a16="http://schemas.microsoft.com/office/drawing/2014/main" id="{D24300C1-39D7-ED91-65DD-B420610F4CD1}"/>
              </a:ext>
            </a:extLst>
          </p:cNvPr>
          <p:cNvSpPr/>
          <p:nvPr/>
        </p:nvSpPr>
        <p:spPr>
          <a:xfrm>
            <a:off x="5876516" y="2301875"/>
            <a:ext cx="2918314" cy="540000"/>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1"/>
                </a:solidFill>
              </a:rPr>
              <a:t>Kernel-space Memory Allocation</a:t>
            </a:r>
            <a:endParaRPr kumimoji="1" lang="zh-TW" altLang="en-US" sz="1400" b="1" dirty="0">
              <a:solidFill>
                <a:schemeClr val="tx1"/>
              </a:solidFill>
            </a:endParaRPr>
          </a:p>
        </p:txBody>
      </p:sp>
      <p:grpSp>
        <p:nvGrpSpPr>
          <p:cNvPr id="7" name="群組 6">
            <a:extLst>
              <a:ext uri="{FF2B5EF4-FFF2-40B4-BE49-F238E27FC236}">
                <a16:creationId xmlns:a16="http://schemas.microsoft.com/office/drawing/2014/main" id="{E272F599-0C41-7690-5019-5D8D4521FEF1}"/>
              </a:ext>
            </a:extLst>
          </p:cNvPr>
          <p:cNvGrpSpPr/>
          <p:nvPr/>
        </p:nvGrpSpPr>
        <p:grpSpPr>
          <a:xfrm>
            <a:off x="3397169" y="2301875"/>
            <a:ext cx="5397661" cy="3695529"/>
            <a:chOff x="3397169" y="2301875"/>
            <a:chExt cx="5397661" cy="3695529"/>
          </a:xfrm>
        </p:grpSpPr>
        <p:sp>
          <p:nvSpPr>
            <p:cNvPr id="5" name="矩形 4">
              <a:extLst>
                <a:ext uri="{FF2B5EF4-FFF2-40B4-BE49-F238E27FC236}">
                  <a16:creationId xmlns:a16="http://schemas.microsoft.com/office/drawing/2014/main" id="{904898FF-3448-AB69-9C5C-82D671B3FA8E}"/>
                </a:ext>
              </a:extLst>
            </p:cNvPr>
            <p:cNvSpPr/>
            <p:nvPr/>
          </p:nvSpPr>
          <p:spPr>
            <a:xfrm>
              <a:off x="3397169" y="5457404"/>
              <a:ext cx="5397661" cy="540000"/>
            </a:xfrm>
            <a:prstGeom prst="rect">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1"/>
                  </a:solidFill>
                </a:rPr>
                <a:t>Physical DRAM</a:t>
              </a:r>
              <a:endParaRPr kumimoji="1" lang="zh-TW" altLang="en-US" sz="1400" b="1" dirty="0">
                <a:solidFill>
                  <a:schemeClr val="tx1"/>
                </a:solidFill>
              </a:endParaRPr>
            </a:p>
          </p:txBody>
        </p:sp>
        <p:sp>
          <p:nvSpPr>
            <p:cNvPr id="9" name="矩形 8">
              <a:extLst>
                <a:ext uri="{FF2B5EF4-FFF2-40B4-BE49-F238E27FC236}">
                  <a16:creationId xmlns:a16="http://schemas.microsoft.com/office/drawing/2014/main" id="{7F95D455-84F3-0515-721D-AC32925C102A}"/>
                </a:ext>
              </a:extLst>
            </p:cNvPr>
            <p:cNvSpPr/>
            <p:nvPr/>
          </p:nvSpPr>
          <p:spPr>
            <a:xfrm>
              <a:off x="3397169" y="2301875"/>
              <a:ext cx="2301547" cy="540000"/>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1"/>
                  </a:solidFill>
                </a:rPr>
                <a:t>User-space Memory Allocation</a:t>
              </a:r>
              <a:endParaRPr kumimoji="1" lang="zh-TW" altLang="en-US" sz="1400" b="1" dirty="0">
                <a:solidFill>
                  <a:schemeClr val="tx1"/>
                </a:solidFill>
              </a:endParaRPr>
            </a:p>
          </p:txBody>
        </p:sp>
        <p:grpSp>
          <p:nvGrpSpPr>
            <p:cNvPr id="45" name="群組 44">
              <a:extLst>
                <a:ext uri="{FF2B5EF4-FFF2-40B4-BE49-F238E27FC236}">
                  <a16:creationId xmlns:a16="http://schemas.microsoft.com/office/drawing/2014/main" id="{C98BFD19-53FF-B8BE-2725-13353B426711}"/>
                </a:ext>
              </a:extLst>
            </p:cNvPr>
            <p:cNvGrpSpPr/>
            <p:nvPr/>
          </p:nvGrpSpPr>
          <p:grpSpPr>
            <a:xfrm>
              <a:off x="3397169" y="4671651"/>
              <a:ext cx="5397661" cy="768874"/>
              <a:chOff x="3794453" y="5077448"/>
              <a:chExt cx="5397661" cy="768874"/>
            </a:xfrm>
          </p:grpSpPr>
          <p:sp>
            <p:nvSpPr>
              <p:cNvPr id="6" name="矩形 5">
                <a:extLst>
                  <a:ext uri="{FF2B5EF4-FFF2-40B4-BE49-F238E27FC236}">
                    <a16:creationId xmlns:a16="http://schemas.microsoft.com/office/drawing/2014/main" id="{C17E7E5C-715C-56BA-2035-733AEA9E4440}"/>
                  </a:ext>
                </a:extLst>
              </p:cNvPr>
              <p:cNvSpPr/>
              <p:nvPr/>
            </p:nvSpPr>
            <p:spPr>
              <a:xfrm>
                <a:off x="3794453" y="5077448"/>
                <a:ext cx="5397661" cy="540000"/>
              </a:xfrm>
              <a:prstGeom prst="rect">
                <a:avLst/>
              </a:prstGeom>
              <a:solidFill>
                <a:schemeClr val="accent2">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1"/>
                    </a:solidFill>
                  </a:rPr>
                  <a:t>Low-level Memory Allocator</a:t>
                </a:r>
              </a:p>
              <a:p>
                <a:pPr algn="ctr"/>
                <a:r>
                  <a:rPr kumimoji="1" lang="en-US" altLang="zh-TW" sz="1400" b="1" dirty="0">
                    <a:solidFill>
                      <a:schemeClr val="tx1"/>
                    </a:solidFill>
                  </a:rPr>
                  <a:t>(</a:t>
                </a:r>
                <a:r>
                  <a:rPr kumimoji="1" lang="en-US" altLang="zh-TW" sz="1400" b="1" dirty="0" err="1">
                    <a:solidFill>
                      <a:schemeClr val="tx1"/>
                    </a:solidFill>
                    <a:latin typeface="+mj-lt"/>
                  </a:rPr>
                  <a:t>alloc_pages</a:t>
                </a:r>
                <a:r>
                  <a:rPr kumimoji="1" lang="en-US" altLang="zh-TW" sz="1400" b="1" dirty="0">
                    <a:solidFill>
                      <a:schemeClr val="tx1"/>
                    </a:solidFill>
                    <a:latin typeface="+mj-lt"/>
                  </a:rPr>
                  <a:t>() </a:t>
                </a:r>
                <a:r>
                  <a:rPr kumimoji="1" lang="en-US" altLang="zh-TW" sz="1400" b="1" dirty="0">
                    <a:solidFill>
                      <a:schemeClr val="tx1"/>
                    </a:solidFill>
                  </a:rPr>
                  <a:t>– Buddy System)</a:t>
                </a:r>
                <a:endParaRPr kumimoji="1" lang="zh-TW" altLang="en-US" sz="1400" b="1" dirty="0">
                  <a:solidFill>
                    <a:schemeClr val="tx1"/>
                  </a:solidFill>
                </a:endParaRPr>
              </a:p>
            </p:txBody>
          </p:sp>
          <p:cxnSp>
            <p:nvCxnSpPr>
              <p:cNvPr id="32" name="直線箭頭接點 31">
                <a:extLst>
                  <a:ext uri="{FF2B5EF4-FFF2-40B4-BE49-F238E27FC236}">
                    <a16:creationId xmlns:a16="http://schemas.microsoft.com/office/drawing/2014/main" id="{2619C978-A763-79C4-465B-2DC3011AC59D}"/>
                  </a:ext>
                </a:extLst>
              </p:cNvPr>
              <p:cNvCxnSpPr>
                <a:cxnSpLocks/>
              </p:cNvCxnSpPr>
              <p:nvPr/>
            </p:nvCxnSpPr>
            <p:spPr>
              <a:xfrm>
                <a:off x="6462703" y="5617448"/>
                <a:ext cx="0" cy="228874"/>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7" name="矩形 16">
              <a:extLst>
                <a:ext uri="{FF2B5EF4-FFF2-40B4-BE49-F238E27FC236}">
                  <a16:creationId xmlns:a16="http://schemas.microsoft.com/office/drawing/2014/main" id="{C8A19608-DA12-67B1-7B18-343029EBB6E7}"/>
                </a:ext>
              </a:extLst>
            </p:cNvPr>
            <p:cNvSpPr/>
            <p:nvPr/>
          </p:nvSpPr>
          <p:spPr>
            <a:xfrm>
              <a:off x="3397169" y="3075767"/>
              <a:ext cx="2301546" cy="540000"/>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1"/>
                  </a:solidFill>
                </a:rPr>
                <a:t>malloc() – </a:t>
              </a:r>
              <a:br>
                <a:rPr kumimoji="1" lang="en-US" altLang="zh-TW" sz="1400" b="1" dirty="0">
                  <a:solidFill>
                    <a:schemeClr val="tx1"/>
                  </a:solidFill>
                </a:rPr>
              </a:br>
              <a:r>
                <a:rPr kumimoji="1" lang="en-US" altLang="zh-TW" sz="1400" b="1" dirty="0">
                  <a:solidFill>
                    <a:schemeClr val="tx1"/>
                  </a:solidFill>
                </a:rPr>
                <a:t>C Library</a:t>
              </a:r>
              <a:endParaRPr kumimoji="1" lang="zh-TW" altLang="en-US" sz="1400" b="1" dirty="0">
                <a:solidFill>
                  <a:schemeClr val="tx1"/>
                </a:solidFill>
              </a:endParaRPr>
            </a:p>
          </p:txBody>
        </p:sp>
        <p:cxnSp>
          <p:nvCxnSpPr>
            <p:cNvPr id="33" name="直線箭頭接點 32">
              <a:extLst>
                <a:ext uri="{FF2B5EF4-FFF2-40B4-BE49-F238E27FC236}">
                  <a16:creationId xmlns:a16="http://schemas.microsoft.com/office/drawing/2014/main" id="{5D32FC76-B11A-0107-AD23-9D530BF5157E}"/>
                </a:ext>
              </a:extLst>
            </p:cNvPr>
            <p:cNvCxnSpPr>
              <a:cxnSpLocks/>
            </p:cNvCxnSpPr>
            <p:nvPr/>
          </p:nvCxnSpPr>
          <p:spPr>
            <a:xfrm>
              <a:off x="4547942" y="2843852"/>
              <a:ext cx="0" cy="228874"/>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795BDE37-3668-0397-B0D8-2255C8AFBC6E}"/>
                </a:ext>
              </a:extLst>
            </p:cNvPr>
            <p:cNvSpPr/>
            <p:nvPr/>
          </p:nvSpPr>
          <p:spPr>
            <a:xfrm>
              <a:off x="3397169" y="3861520"/>
              <a:ext cx="1076451" cy="540000"/>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err="1">
                  <a:solidFill>
                    <a:schemeClr val="tx1"/>
                  </a:solidFill>
                </a:rPr>
                <a:t>Brk</a:t>
              </a:r>
              <a:r>
                <a:rPr kumimoji="1" lang="en-US" altLang="zh-TW" sz="1400" b="1" dirty="0">
                  <a:solidFill>
                    <a:schemeClr val="tx1"/>
                  </a:solidFill>
                </a:rPr>
                <a:t>()</a:t>
              </a:r>
              <a:endParaRPr kumimoji="1" lang="zh-TW" altLang="en-US" sz="1400" b="1" dirty="0">
                <a:solidFill>
                  <a:schemeClr val="tx1"/>
                </a:solidFill>
              </a:endParaRPr>
            </a:p>
          </p:txBody>
        </p:sp>
        <p:sp>
          <p:nvSpPr>
            <p:cNvPr id="16" name="矩形 15">
              <a:extLst>
                <a:ext uri="{FF2B5EF4-FFF2-40B4-BE49-F238E27FC236}">
                  <a16:creationId xmlns:a16="http://schemas.microsoft.com/office/drawing/2014/main" id="{2B1658E0-893F-1BDF-297B-8AC318930ACC}"/>
                </a:ext>
              </a:extLst>
            </p:cNvPr>
            <p:cNvSpPr/>
            <p:nvPr/>
          </p:nvSpPr>
          <p:spPr>
            <a:xfrm>
              <a:off x="4622264" y="3861520"/>
              <a:ext cx="1076451" cy="540000"/>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err="1">
                  <a:solidFill>
                    <a:schemeClr val="tx1"/>
                  </a:solidFill>
                </a:rPr>
                <a:t>Mmap</a:t>
              </a:r>
              <a:r>
                <a:rPr kumimoji="1" lang="en-US" altLang="zh-TW" sz="1400" b="1" dirty="0">
                  <a:solidFill>
                    <a:schemeClr val="tx1"/>
                  </a:solidFill>
                </a:rPr>
                <a:t>()</a:t>
              </a:r>
              <a:endParaRPr kumimoji="1" lang="zh-TW" altLang="en-US" sz="1400" b="1" dirty="0">
                <a:solidFill>
                  <a:schemeClr val="tx1"/>
                </a:solidFill>
              </a:endParaRPr>
            </a:p>
          </p:txBody>
        </p:sp>
        <p:cxnSp>
          <p:nvCxnSpPr>
            <p:cNvPr id="34" name="直線箭頭接點 33">
              <a:extLst>
                <a:ext uri="{FF2B5EF4-FFF2-40B4-BE49-F238E27FC236}">
                  <a16:creationId xmlns:a16="http://schemas.microsoft.com/office/drawing/2014/main" id="{C51A3E98-D3F8-5E75-EA41-E4B168C9001F}"/>
                </a:ext>
              </a:extLst>
            </p:cNvPr>
            <p:cNvCxnSpPr>
              <a:cxnSpLocks/>
            </p:cNvCxnSpPr>
            <p:nvPr/>
          </p:nvCxnSpPr>
          <p:spPr>
            <a:xfrm>
              <a:off x="3880944" y="3615767"/>
              <a:ext cx="0" cy="228874"/>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箭頭接點 34">
              <a:extLst>
                <a:ext uri="{FF2B5EF4-FFF2-40B4-BE49-F238E27FC236}">
                  <a16:creationId xmlns:a16="http://schemas.microsoft.com/office/drawing/2014/main" id="{3724C3AE-EC29-22B0-BF41-EB91E52BA5E0}"/>
                </a:ext>
              </a:extLst>
            </p:cNvPr>
            <p:cNvCxnSpPr>
              <a:cxnSpLocks/>
            </p:cNvCxnSpPr>
            <p:nvPr/>
          </p:nvCxnSpPr>
          <p:spPr>
            <a:xfrm>
              <a:off x="5150106" y="3615767"/>
              <a:ext cx="0" cy="228874"/>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文字方塊 35">
              <a:extLst>
                <a:ext uri="{FF2B5EF4-FFF2-40B4-BE49-F238E27FC236}">
                  <a16:creationId xmlns:a16="http://schemas.microsoft.com/office/drawing/2014/main" id="{2D556D69-A386-AFC0-AE87-92019E74484F}"/>
                </a:ext>
              </a:extLst>
            </p:cNvPr>
            <p:cNvSpPr txBox="1"/>
            <p:nvPr/>
          </p:nvSpPr>
          <p:spPr>
            <a:xfrm>
              <a:off x="3805380" y="3596248"/>
              <a:ext cx="1465786" cy="523220"/>
            </a:xfrm>
            <a:prstGeom prst="rect">
              <a:avLst/>
            </a:prstGeom>
            <a:noFill/>
          </p:spPr>
          <p:txBody>
            <a:bodyPr wrap="none" rtlCol="0">
              <a:spAutoFit/>
            </a:bodyPr>
            <a:lstStyle/>
            <a:p>
              <a:pPr algn="ctr"/>
              <a:r>
                <a:rPr kumimoji="1" lang="en-US" altLang="zh-TW" sz="1400" dirty="0">
                  <a:solidFill>
                    <a:schemeClr val="accent5"/>
                  </a:solidFill>
                </a:rPr>
                <a:t>Request Size </a:t>
              </a:r>
            </a:p>
            <a:p>
              <a:pPr algn="ctr"/>
              <a:r>
                <a:rPr kumimoji="1" lang="en-US" altLang="zh-TW" sz="1400" dirty="0">
                  <a:solidFill>
                    <a:schemeClr val="accent5"/>
                  </a:solidFill>
                </a:rPr>
                <a:t>(Large for </a:t>
              </a:r>
              <a:r>
                <a:rPr kumimoji="1" lang="en-US" altLang="zh-TW" sz="1400" dirty="0" err="1">
                  <a:solidFill>
                    <a:schemeClr val="accent5"/>
                  </a:solidFill>
                </a:rPr>
                <a:t>MMap</a:t>
              </a:r>
              <a:r>
                <a:rPr kumimoji="1" lang="en-US" altLang="zh-TW" sz="1400" dirty="0">
                  <a:solidFill>
                    <a:schemeClr val="accent5"/>
                  </a:solidFill>
                </a:rPr>
                <a:t>)</a:t>
              </a:r>
              <a:endParaRPr kumimoji="1" lang="zh-TW" altLang="en-US" sz="1400" dirty="0">
                <a:solidFill>
                  <a:schemeClr val="accent5"/>
                </a:solidFill>
              </a:endParaRPr>
            </a:p>
          </p:txBody>
        </p:sp>
        <p:cxnSp>
          <p:nvCxnSpPr>
            <p:cNvPr id="40" name="直線箭頭接點 39">
              <a:extLst>
                <a:ext uri="{FF2B5EF4-FFF2-40B4-BE49-F238E27FC236}">
                  <a16:creationId xmlns:a16="http://schemas.microsoft.com/office/drawing/2014/main" id="{FC8E78E0-3474-EE88-DBEE-11F2338399DE}"/>
                </a:ext>
              </a:extLst>
            </p:cNvPr>
            <p:cNvCxnSpPr>
              <a:cxnSpLocks/>
            </p:cNvCxnSpPr>
            <p:nvPr/>
          </p:nvCxnSpPr>
          <p:spPr>
            <a:xfrm flipH="1">
              <a:off x="3880944" y="4394486"/>
              <a:ext cx="0" cy="28701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箭頭接點 41">
              <a:extLst>
                <a:ext uri="{FF2B5EF4-FFF2-40B4-BE49-F238E27FC236}">
                  <a16:creationId xmlns:a16="http://schemas.microsoft.com/office/drawing/2014/main" id="{9F8A9832-A928-1880-7DB8-EC8426577C13}"/>
                </a:ext>
              </a:extLst>
            </p:cNvPr>
            <p:cNvCxnSpPr>
              <a:cxnSpLocks/>
            </p:cNvCxnSpPr>
            <p:nvPr/>
          </p:nvCxnSpPr>
          <p:spPr>
            <a:xfrm flipH="1">
              <a:off x="5160489" y="4384641"/>
              <a:ext cx="0" cy="28701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3" name="直線箭頭接點 22">
            <a:extLst>
              <a:ext uri="{FF2B5EF4-FFF2-40B4-BE49-F238E27FC236}">
                <a16:creationId xmlns:a16="http://schemas.microsoft.com/office/drawing/2014/main" id="{285488AE-3793-2FFA-3533-6E5F761FDAFB}"/>
              </a:ext>
            </a:extLst>
          </p:cNvPr>
          <p:cNvCxnSpPr>
            <a:cxnSpLocks/>
          </p:cNvCxnSpPr>
          <p:nvPr/>
        </p:nvCxnSpPr>
        <p:spPr>
          <a:xfrm>
            <a:off x="6366053" y="2841875"/>
            <a:ext cx="0" cy="228874"/>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箭頭接點 24">
            <a:extLst>
              <a:ext uri="{FF2B5EF4-FFF2-40B4-BE49-F238E27FC236}">
                <a16:creationId xmlns:a16="http://schemas.microsoft.com/office/drawing/2014/main" id="{2BA314C3-FE2E-145E-E758-D4CE49ACF854}"/>
              </a:ext>
            </a:extLst>
          </p:cNvPr>
          <p:cNvCxnSpPr>
            <a:cxnSpLocks/>
            <a:stCxn id="14" idx="2"/>
          </p:cNvCxnSpPr>
          <p:nvPr/>
        </p:nvCxnSpPr>
        <p:spPr>
          <a:xfrm flipH="1">
            <a:off x="6366053" y="3615767"/>
            <a:ext cx="297" cy="1055884"/>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文字方塊 47">
            <a:extLst>
              <a:ext uri="{FF2B5EF4-FFF2-40B4-BE49-F238E27FC236}">
                <a16:creationId xmlns:a16="http://schemas.microsoft.com/office/drawing/2014/main" id="{22E07D3D-D475-9DAD-90D8-E8D0603B4DED}"/>
              </a:ext>
            </a:extLst>
          </p:cNvPr>
          <p:cNvSpPr txBox="1"/>
          <p:nvPr/>
        </p:nvSpPr>
        <p:spPr>
          <a:xfrm>
            <a:off x="6398730" y="2785436"/>
            <a:ext cx="728854" cy="307777"/>
          </a:xfrm>
          <a:prstGeom prst="rect">
            <a:avLst/>
          </a:prstGeom>
          <a:noFill/>
        </p:spPr>
        <p:txBody>
          <a:bodyPr wrap="none" rtlCol="0">
            <a:spAutoFit/>
          </a:bodyPr>
          <a:lstStyle/>
          <a:p>
            <a:pPr algn="ctr"/>
            <a:r>
              <a:rPr kumimoji="1" lang="en-US" altLang="zh-TW" sz="1400" dirty="0">
                <a:solidFill>
                  <a:schemeClr val="accent5"/>
                </a:solidFill>
              </a:rPr>
              <a:t>Big Size</a:t>
            </a:r>
            <a:endParaRPr kumimoji="1" lang="zh-TW" altLang="en-US" sz="1400" dirty="0">
              <a:solidFill>
                <a:schemeClr val="accent5"/>
              </a:solidFill>
            </a:endParaRPr>
          </a:p>
        </p:txBody>
      </p:sp>
      <p:grpSp>
        <p:nvGrpSpPr>
          <p:cNvPr id="12" name="群組 11">
            <a:extLst>
              <a:ext uri="{FF2B5EF4-FFF2-40B4-BE49-F238E27FC236}">
                <a16:creationId xmlns:a16="http://schemas.microsoft.com/office/drawing/2014/main" id="{A06AE2C8-03A0-FEB1-3902-452DC3DB7F6E}"/>
              </a:ext>
            </a:extLst>
          </p:cNvPr>
          <p:cNvGrpSpPr/>
          <p:nvPr/>
        </p:nvGrpSpPr>
        <p:grpSpPr>
          <a:xfrm>
            <a:off x="5876516" y="3075767"/>
            <a:ext cx="2889496" cy="540000"/>
            <a:chOff x="5876516" y="3075767"/>
            <a:chExt cx="2889496" cy="540000"/>
          </a:xfrm>
        </p:grpSpPr>
        <p:sp>
          <p:nvSpPr>
            <p:cNvPr id="14" name="矩形 13">
              <a:extLst>
                <a:ext uri="{FF2B5EF4-FFF2-40B4-BE49-F238E27FC236}">
                  <a16:creationId xmlns:a16="http://schemas.microsoft.com/office/drawing/2014/main" id="{1B0BEA9C-FA3D-057A-48C9-A0A650647E63}"/>
                </a:ext>
              </a:extLst>
            </p:cNvPr>
            <p:cNvSpPr/>
            <p:nvPr/>
          </p:nvSpPr>
          <p:spPr>
            <a:xfrm>
              <a:off x="5876516" y="3075767"/>
              <a:ext cx="979668" cy="540000"/>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err="1">
                  <a:solidFill>
                    <a:schemeClr val="tx1"/>
                  </a:solidFill>
                </a:rPr>
                <a:t>vmalloc</a:t>
              </a:r>
              <a:r>
                <a:rPr kumimoji="1" lang="en-US" altLang="zh-TW" sz="1400" b="1" dirty="0">
                  <a:solidFill>
                    <a:schemeClr val="tx1"/>
                  </a:solidFill>
                </a:rPr>
                <a:t>()</a:t>
              </a:r>
              <a:endParaRPr kumimoji="1" lang="zh-TW" altLang="en-US" sz="1400" b="1" dirty="0">
                <a:solidFill>
                  <a:schemeClr val="tx1"/>
                </a:solidFill>
              </a:endParaRPr>
            </a:p>
          </p:txBody>
        </p:sp>
        <p:sp>
          <p:nvSpPr>
            <p:cNvPr id="13" name="矩形 12">
              <a:extLst>
                <a:ext uri="{FF2B5EF4-FFF2-40B4-BE49-F238E27FC236}">
                  <a16:creationId xmlns:a16="http://schemas.microsoft.com/office/drawing/2014/main" id="{490359E6-1767-CAC4-C9E3-FF7361EEE36E}"/>
                </a:ext>
              </a:extLst>
            </p:cNvPr>
            <p:cNvSpPr/>
            <p:nvPr/>
          </p:nvSpPr>
          <p:spPr>
            <a:xfrm>
              <a:off x="7689561" y="3075767"/>
              <a:ext cx="1076451" cy="540000"/>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err="1">
                  <a:solidFill>
                    <a:schemeClr val="tx1"/>
                  </a:solidFill>
                </a:rPr>
                <a:t>kmalloc</a:t>
              </a:r>
              <a:r>
                <a:rPr kumimoji="1" lang="en-US" altLang="zh-TW" sz="1400" b="1" dirty="0">
                  <a:solidFill>
                    <a:schemeClr val="tx1"/>
                  </a:solidFill>
                </a:rPr>
                <a:t>()</a:t>
              </a:r>
              <a:endParaRPr kumimoji="1" lang="zh-TW" altLang="en-US" sz="1400" b="1" dirty="0">
                <a:solidFill>
                  <a:schemeClr val="tx1"/>
                </a:solidFill>
              </a:endParaRPr>
            </a:p>
          </p:txBody>
        </p:sp>
      </p:grpSp>
      <p:cxnSp>
        <p:nvCxnSpPr>
          <p:cNvPr id="19" name="直線箭頭接點 18">
            <a:extLst>
              <a:ext uri="{FF2B5EF4-FFF2-40B4-BE49-F238E27FC236}">
                <a16:creationId xmlns:a16="http://schemas.microsoft.com/office/drawing/2014/main" id="{668E2E18-F53E-CFB0-1490-3EAC151D1E29}"/>
              </a:ext>
            </a:extLst>
          </p:cNvPr>
          <p:cNvCxnSpPr>
            <a:cxnSpLocks/>
          </p:cNvCxnSpPr>
          <p:nvPr/>
        </p:nvCxnSpPr>
        <p:spPr>
          <a:xfrm flipH="1">
            <a:off x="7335673" y="2841875"/>
            <a:ext cx="1700" cy="1015983"/>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箭頭接點 27">
            <a:extLst>
              <a:ext uri="{FF2B5EF4-FFF2-40B4-BE49-F238E27FC236}">
                <a16:creationId xmlns:a16="http://schemas.microsoft.com/office/drawing/2014/main" id="{679203DD-C798-FC81-9A00-E0AD107964B4}"/>
              </a:ext>
            </a:extLst>
          </p:cNvPr>
          <p:cNvCxnSpPr>
            <a:cxnSpLocks/>
          </p:cNvCxnSpPr>
          <p:nvPr/>
        </p:nvCxnSpPr>
        <p:spPr>
          <a:xfrm>
            <a:off x="8204034" y="2841875"/>
            <a:ext cx="0" cy="228874"/>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箭頭接點 28">
            <a:extLst>
              <a:ext uri="{FF2B5EF4-FFF2-40B4-BE49-F238E27FC236}">
                <a16:creationId xmlns:a16="http://schemas.microsoft.com/office/drawing/2014/main" id="{903F4CE9-E237-8988-EA9E-D09FF5BF15F9}"/>
              </a:ext>
            </a:extLst>
          </p:cNvPr>
          <p:cNvCxnSpPr>
            <a:cxnSpLocks/>
          </p:cNvCxnSpPr>
          <p:nvPr/>
        </p:nvCxnSpPr>
        <p:spPr>
          <a:xfrm>
            <a:off x="8226068" y="3615767"/>
            <a:ext cx="0" cy="228874"/>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8" name="群組 17">
            <a:extLst>
              <a:ext uri="{FF2B5EF4-FFF2-40B4-BE49-F238E27FC236}">
                <a16:creationId xmlns:a16="http://schemas.microsoft.com/office/drawing/2014/main" id="{167700B1-C227-7471-08D6-164D82A47C77}"/>
              </a:ext>
            </a:extLst>
          </p:cNvPr>
          <p:cNvGrpSpPr/>
          <p:nvPr/>
        </p:nvGrpSpPr>
        <p:grpSpPr>
          <a:xfrm>
            <a:off x="6856184" y="3861520"/>
            <a:ext cx="1925984" cy="816965"/>
            <a:chOff x="6856184" y="3861520"/>
            <a:chExt cx="1925984" cy="816965"/>
          </a:xfrm>
        </p:grpSpPr>
        <p:sp>
          <p:nvSpPr>
            <p:cNvPr id="11" name="矩形 10">
              <a:extLst>
                <a:ext uri="{FF2B5EF4-FFF2-40B4-BE49-F238E27FC236}">
                  <a16:creationId xmlns:a16="http://schemas.microsoft.com/office/drawing/2014/main" id="{F030401C-B86C-8682-AFBC-E8AF611E72F2}"/>
                </a:ext>
              </a:extLst>
            </p:cNvPr>
            <p:cNvSpPr/>
            <p:nvPr/>
          </p:nvSpPr>
          <p:spPr>
            <a:xfrm>
              <a:off x="6856184" y="3861520"/>
              <a:ext cx="1909830" cy="540000"/>
            </a:xfrm>
            <a:prstGeom prst="rect">
              <a:avLst/>
            </a:prstGeom>
            <a:solidFill>
              <a:schemeClr val="accent2">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1"/>
                  </a:solidFill>
                </a:rPr>
                <a:t>Slab Layer</a:t>
              </a:r>
              <a:endParaRPr kumimoji="1" lang="zh-TW" altLang="en-US" sz="1400" b="1" dirty="0">
                <a:solidFill>
                  <a:schemeClr val="tx1"/>
                </a:solidFill>
              </a:endParaRPr>
            </a:p>
          </p:txBody>
        </p:sp>
        <p:cxnSp>
          <p:nvCxnSpPr>
            <p:cNvPr id="30" name="直線箭頭接點 29">
              <a:extLst>
                <a:ext uri="{FF2B5EF4-FFF2-40B4-BE49-F238E27FC236}">
                  <a16:creationId xmlns:a16="http://schemas.microsoft.com/office/drawing/2014/main" id="{1547000D-3AD7-AACB-B6D5-2FA70410227E}"/>
                </a:ext>
              </a:extLst>
            </p:cNvPr>
            <p:cNvCxnSpPr>
              <a:cxnSpLocks/>
            </p:cNvCxnSpPr>
            <p:nvPr/>
          </p:nvCxnSpPr>
          <p:spPr>
            <a:xfrm>
              <a:off x="7823385" y="4423554"/>
              <a:ext cx="0" cy="228874"/>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文字方塊 42">
              <a:extLst>
                <a:ext uri="{FF2B5EF4-FFF2-40B4-BE49-F238E27FC236}">
                  <a16:creationId xmlns:a16="http://schemas.microsoft.com/office/drawing/2014/main" id="{6D64C706-290F-2A0F-5AD8-37A1A15A4995}"/>
                </a:ext>
              </a:extLst>
            </p:cNvPr>
            <p:cNvSpPr txBox="1"/>
            <p:nvPr/>
          </p:nvSpPr>
          <p:spPr>
            <a:xfrm>
              <a:off x="7865827" y="4370708"/>
              <a:ext cx="916341" cy="307777"/>
            </a:xfrm>
            <a:prstGeom prst="rect">
              <a:avLst/>
            </a:prstGeom>
            <a:noFill/>
          </p:spPr>
          <p:txBody>
            <a:bodyPr wrap="none" rtlCol="0">
              <a:spAutoFit/>
            </a:bodyPr>
            <a:lstStyle/>
            <a:p>
              <a:pPr algn="ctr"/>
              <a:r>
                <a:rPr kumimoji="1" lang="en-US" altLang="zh-TW" sz="1400" dirty="0">
                  <a:solidFill>
                    <a:schemeClr val="accent5"/>
                  </a:solidFill>
                </a:rPr>
                <a:t>If no slabs</a:t>
              </a:r>
              <a:endParaRPr kumimoji="1" lang="zh-TW" altLang="en-US" sz="1400" dirty="0">
                <a:solidFill>
                  <a:schemeClr val="accent5"/>
                </a:solidFill>
              </a:endParaRPr>
            </a:p>
          </p:txBody>
        </p:sp>
      </p:grpSp>
      <p:sp>
        <p:nvSpPr>
          <p:cNvPr id="49" name="文字方塊 48">
            <a:extLst>
              <a:ext uri="{FF2B5EF4-FFF2-40B4-BE49-F238E27FC236}">
                <a16:creationId xmlns:a16="http://schemas.microsoft.com/office/drawing/2014/main" id="{5249D7CF-5324-9F54-D141-DC2BABD19A16}"/>
              </a:ext>
            </a:extLst>
          </p:cNvPr>
          <p:cNvSpPr txBox="1"/>
          <p:nvPr/>
        </p:nvSpPr>
        <p:spPr>
          <a:xfrm>
            <a:off x="7285392" y="2785435"/>
            <a:ext cx="898772" cy="307777"/>
          </a:xfrm>
          <a:prstGeom prst="rect">
            <a:avLst/>
          </a:prstGeom>
          <a:noFill/>
        </p:spPr>
        <p:txBody>
          <a:bodyPr wrap="none" rtlCol="0">
            <a:spAutoFit/>
          </a:bodyPr>
          <a:lstStyle/>
          <a:p>
            <a:pPr algn="ctr"/>
            <a:r>
              <a:rPr kumimoji="1" lang="en-US" altLang="zh-TW" sz="1400" dirty="0">
                <a:solidFill>
                  <a:schemeClr val="accent5"/>
                </a:solidFill>
              </a:rPr>
              <a:t>Small Size</a:t>
            </a:r>
            <a:endParaRPr kumimoji="1" lang="zh-TW" altLang="en-US" sz="1400" dirty="0">
              <a:solidFill>
                <a:schemeClr val="accent5"/>
              </a:solidFill>
            </a:endParaRPr>
          </a:p>
        </p:txBody>
      </p:sp>
      <p:sp>
        <p:nvSpPr>
          <p:cNvPr id="50" name="文字方塊 49">
            <a:extLst>
              <a:ext uri="{FF2B5EF4-FFF2-40B4-BE49-F238E27FC236}">
                <a16:creationId xmlns:a16="http://schemas.microsoft.com/office/drawing/2014/main" id="{BAB98662-2E1B-E017-E034-35AB9ACD0118}"/>
              </a:ext>
            </a:extLst>
          </p:cNvPr>
          <p:cNvSpPr txBox="1"/>
          <p:nvPr/>
        </p:nvSpPr>
        <p:spPr>
          <a:xfrm>
            <a:off x="7200358" y="4896834"/>
            <a:ext cx="1422377" cy="307777"/>
          </a:xfrm>
          <a:prstGeom prst="rect">
            <a:avLst/>
          </a:prstGeom>
          <a:noFill/>
        </p:spPr>
        <p:txBody>
          <a:bodyPr wrap="none" rtlCol="0">
            <a:spAutoFit/>
          </a:bodyPr>
          <a:lstStyle/>
          <a:p>
            <a:pPr algn="ctr"/>
            <a:r>
              <a:rPr kumimoji="1" lang="en-US" altLang="zh-TW" sz="1400" b="1" dirty="0">
                <a:solidFill>
                  <a:schemeClr val="accent5"/>
                </a:solidFill>
              </a:rPr>
              <a:t>Page Granularity</a:t>
            </a:r>
            <a:endParaRPr kumimoji="1" lang="zh-TW" altLang="en-US" sz="1400" b="1" dirty="0">
              <a:solidFill>
                <a:schemeClr val="accent5"/>
              </a:solidFill>
            </a:endParaRPr>
          </a:p>
        </p:txBody>
      </p:sp>
    </p:spTree>
    <p:extLst>
      <p:ext uri="{BB962C8B-B14F-4D97-AF65-F5344CB8AC3E}">
        <p14:creationId xmlns:p14="http://schemas.microsoft.com/office/powerpoint/2010/main" val="2017162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p:cTn id="6" dur="indefinite"/>
                                        <p:tgtEl>
                                          <p:spTgt spid="7"/>
                                        </p:tgtEl>
                                        <p:attrNameLst>
                                          <p:attrName>style.opacity</p:attrName>
                                        </p:attrNameLst>
                                      </p:cBhvr>
                                      <p:to>
                                        <p:strVal val="0.25"/>
                                      </p:to>
                                    </p:set>
                                    <p:animEffect filter="image" prLst="opacity: 0.25">
                                      <p:cBhvr rctx="IE">
                                        <p:cTn id="7" dur="indefinite"/>
                                        <p:tgtEl>
                                          <p:spTgt spid="7"/>
                                        </p:tgtEl>
                                      </p:cBhvr>
                                    </p:animEffect>
                                  </p:childTnLst>
                                </p:cTn>
                              </p:par>
                              <p:par>
                                <p:cTn id="8" presetID="9" presetClass="emph" presetSubtype="0" grpId="0" nodeType="withEffect">
                                  <p:stCondLst>
                                    <p:cond delay="0"/>
                                  </p:stCondLst>
                                  <p:childTnLst>
                                    <p:set>
                                      <p:cBhvr>
                                        <p:cTn id="9" dur="indefinite"/>
                                        <p:tgtEl>
                                          <p:spTgt spid="50"/>
                                        </p:tgtEl>
                                        <p:attrNameLst>
                                          <p:attrName>style.opacity</p:attrName>
                                        </p:attrNameLst>
                                      </p:cBhvr>
                                      <p:to>
                                        <p:strVal val="0.25"/>
                                      </p:to>
                                    </p:set>
                                    <p:animEffect filter="image" prLst="opacity: 0.25">
                                      <p:cBhvr rctx="IE">
                                        <p:cTn id="10" dur="indefinite"/>
                                        <p:tgtEl>
                                          <p:spTgt spid="50"/>
                                        </p:tgtEl>
                                      </p:cBhvr>
                                    </p:animEffect>
                                  </p:childTnLst>
                                </p:cTn>
                              </p:par>
                            </p:childTnLst>
                          </p:cTn>
                        </p:par>
                      </p:childTnLst>
                    </p:cTn>
                  </p:par>
                  <p:par>
                    <p:cTn id="11" fill="hold">
                      <p:stCondLst>
                        <p:cond delay="indefinite"/>
                      </p:stCondLst>
                      <p:childTnLst>
                        <p:par>
                          <p:cTn id="12" fill="hold">
                            <p:stCondLst>
                              <p:cond delay="0"/>
                            </p:stCondLst>
                            <p:childTnLst>
                              <p:par>
                                <p:cTn id="13" presetID="26" presetClass="emph" presetSubtype="0" fill="hold" nodeType="clickEffect">
                                  <p:stCondLst>
                                    <p:cond delay="0"/>
                                  </p:stCondLst>
                                  <p:childTnLst>
                                    <p:animEffect transition="out" filter="fade">
                                      <p:cBhvr>
                                        <p:cTn id="14" dur="500" tmFilter="0, 0; .2, .5; .8, .5; 1, 0"/>
                                        <p:tgtEl>
                                          <p:spTgt spid="12"/>
                                        </p:tgtEl>
                                      </p:cBhvr>
                                    </p:animEffect>
                                    <p:animScale>
                                      <p:cBhvr>
                                        <p:cTn id="15" dur="250" autoRev="1" fill="hold"/>
                                        <p:tgtEl>
                                          <p:spTgt spid="1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7D0AA0-E40D-0CE7-E7F3-7D5D66683CE6}"/>
              </a:ext>
            </a:extLst>
          </p:cNvPr>
          <p:cNvSpPr>
            <a:spLocks noGrp="1"/>
          </p:cNvSpPr>
          <p:nvPr>
            <p:ph type="title"/>
          </p:nvPr>
        </p:nvSpPr>
        <p:spPr/>
        <p:txBody>
          <a:bodyPr/>
          <a:lstStyle/>
          <a:p>
            <a:r>
              <a:rPr lang="en-US" altLang="zh-TW" dirty="0" err="1"/>
              <a:t>kmalloc</a:t>
            </a:r>
            <a:r>
              <a:rPr lang="en-US" altLang="zh-TW" dirty="0"/>
              <a:t>() vs </a:t>
            </a:r>
            <a:r>
              <a:rPr lang="en-US" altLang="zh-TW" dirty="0" err="1"/>
              <a:t>vmalloc</a:t>
            </a:r>
            <a:r>
              <a:rPr lang="en-US" altLang="zh-TW" dirty="0"/>
              <a:t>()</a:t>
            </a:r>
            <a:endParaRPr kumimoji="1" lang="zh-TW" altLang="en-US" dirty="0"/>
          </a:p>
        </p:txBody>
      </p:sp>
      <p:sp>
        <p:nvSpPr>
          <p:cNvPr id="3" name="內容版面配置區 2">
            <a:extLst>
              <a:ext uri="{FF2B5EF4-FFF2-40B4-BE49-F238E27FC236}">
                <a16:creationId xmlns:a16="http://schemas.microsoft.com/office/drawing/2014/main" id="{D36EAE43-EDC4-FB66-FEEE-9B49AF40A6F1}"/>
              </a:ext>
            </a:extLst>
          </p:cNvPr>
          <p:cNvSpPr>
            <a:spLocks noGrp="1"/>
          </p:cNvSpPr>
          <p:nvPr>
            <p:ph idx="1"/>
          </p:nvPr>
        </p:nvSpPr>
        <p:spPr/>
        <p:txBody>
          <a:bodyPr/>
          <a:lstStyle/>
          <a:p>
            <a:pPr algn="l"/>
            <a:r>
              <a:rPr kumimoji="1" lang="en-US" altLang="zh-TW" dirty="0"/>
              <a:t>The </a:t>
            </a:r>
            <a:r>
              <a:rPr kumimoji="1" lang="en-US" altLang="zh-TW" dirty="0" err="1">
                <a:latin typeface="+mj-lt"/>
              </a:rPr>
              <a:t>kmalloc</a:t>
            </a:r>
            <a:r>
              <a:rPr kumimoji="1" lang="en-US" altLang="zh-TW" dirty="0">
                <a:latin typeface="+mj-lt"/>
              </a:rPr>
              <a:t>()</a:t>
            </a:r>
            <a:r>
              <a:rPr kumimoji="1" lang="en-US" altLang="zh-TW" dirty="0"/>
              <a:t> function obtains</a:t>
            </a:r>
            <a:r>
              <a:rPr kumimoji="1" lang="en-US" altLang="zh-TW" dirty="0">
                <a:solidFill>
                  <a:srgbClr val="C00000"/>
                </a:solidFill>
              </a:rPr>
              <a:t> kernel memory</a:t>
            </a:r>
            <a:r>
              <a:rPr kumimoji="1" lang="en-US" altLang="zh-TW" dirty="0"/>
              <a:t> in </a:t>
            </a:r>
            <a:r>
              <a:rPr kumimoji="1" lang="en-US" altLang="zh-TW" dirty="0">
                <a:solidFill>
                  <a:srgbClr val="C00000"/>
                </a:solidFill>
              </a:rPr>
              <a:t>byte-sized chunks</a:t>
            </a:r>
            <a:r>
              <a:rPr kumimoji="1" lang="en-US" altLang="zh-TW" dirty="0"/>
              <a:t>.</a:t>
            </a:r>
          </a:p>
          <a:p>
            <a:pPr lvl="1" algn="l"/>
            <a:r>
              <a:rPr lang="en-US" altLang="zh-TW" dirty="0"/>
              <a:t>Note, </a:t>
            </a:r>
            <a:r>
              <a:rPr lang="en-US" altLang="zh-TW" u="sng" dirty="0">
                <a:latin typeface="+mj-lt"/>
              </a:rPr>
              <a:t>malloc() </a:t>
            </a:r>
            <a:r>
              <a:rPr lang="en-US" altLang="zh-TW" u="sng" dirty="0"/>
              <a:t>in C library</a:t>
            </a:r>
            <a:r>
              <a:rPr lang="en-US" altLang="zh-TW" dirty="0"/>
              <a:t> is for allocating </a:t>
            </a:r>
            <a:r>
              <a:rPr lang="en-US" altLang="zh-TW" dirty="0">
                <a:solidFill>
                  <a:srgbClr val="C00000"/>
                </a:solidFill>
              </a:rPr>
              <a:t>user space memory</a:t>
            </a:r>
            <a:r>
              <a:rPr lang="en-US" altLang="zh-TW" dirty="0"/>
              <a:t>. </a:t>
            </a:r>
          </a:p>
          <a:p>
            <a:pPr lvl="1" algn="l"/>
            <a:r>
              <a:rPr kumimoji="1" lang="en-US" altLang="zh-TW" dirty="0"/>
              <a:t>If we need a </a:t>
            </a:r>
            <a:r>
              <a:rPr kumimoji="1" lang="en-US" altLang="zh-TW" dirty="0">
                <a:solidFill>
                  <a:srgbClr val="C00000"/>
                </a:solidFill>
              </a:rPr>
              <a:t>whole 4KB page</a:t>
            </a:r>
            <a:r>
              <a:rPr kumimoji="1" lang="en-US" altLang="zh-TW" dirty="0"/>
              <a:t>, </a:t>
            </a:r>
            <a:r>
              <a:rPr kumimoji="1" lang="en-US" altLang="zh-TW" dirty="0" err="1">
                <a:latin typeface="+mj-lt"/>
              </a:rPr>
              <a:t>alloc_pages</a:t>
            </a:r>
            <a:r>
              <a:rPr kumimoji="1" lang="en-US" altLang="zh-TW" dirty="0">
                <a:latin typeface="+mj-lt"/>
              </a:rPr>
              <a:t>()</a:t>
            </a:r>
            <a:r>
              <a:rPr kumimoji="1" lang="en-US" altLang="zh-TW" dirty="0"/>
              <a:t> in prior slides fits better.</a:t>
            </a:r>
          </a:p>
          <a:p>
            <a:pPr lvl="1" algn="l"/>
            <a:r>
              <a:rPr kumimoji="1" lang="en-US" altLang="zh-TW" dirty="0"/>
              <a:t>Return a </a:t>
            </a:r>
            <a:r>
              <a:rPr kumimoji="1" lang="en-US" altLang="zh-TW" dirty="0">
                <a:solidFill>
                  <a:srgbClr val="C00000"/>
                </a:solidFill>
              </a:rPr>
              <a:t>pointer points to a block of memory</a:t>
            </a:r>
            <a:r>
              <a:rPr kumimoji="1" lang="en-US" altLang="zh-TW" dirty="0"/>
              <a:t> that is at least the requested size.</a:t>
            </a:r>
            <a:br>
              <a:rPr kumimoji="1" lang="en-US" altLang="zh-TW" dirty="0"/>
            </a:br>
            <a:endParaRPr kumimoji="1" lang="en-US" altLang="zh-TW" dirty="0"/>
          </a:p>
          <a:p>
            <a:pPr algn="l"/>
            <a:r>
              <a:rPr lang="en-US" altLang="zh-TW" dirty="0"/>
              <a:t>The </a:t>
            </a:r>
            <a:r>
              <a:rPr lang="en-US" altLang="zh-TW" dirty="0" err="1">
                <a:latin typeface="+mj-lt"/>
              </a:rPr>
              <a:t>vmalloc</a:t>
            </a:r>
            <a:r>
              <a:rPr lang="en-US" altLang="zh-TW" dirty="0">
                <a:latin typeface="+mj-lt"/>
              </a:rPr>
              <a:t>() </a:t>
            </a:r>
            <a:r>
              <a:rPr lang="en-US" altLang="zh-TW" dirty="0"/>
              <a:t>function</a:t>
            </a:r>
            <a:r>
              <a:rPr lang="zh-TW" altLang="en-US" dirty="0"/>
              <a:t> </a:t>
            </a:r>
            <a:r>
              <a:rPr lang="en-US" altLang="zh-TW" dirty="0"/>
              <a:t>allocates memory that is </a:t>
            </a:r>
            <a:r>
              <a:rPr lang="en-US" altLang="zh-TW" dirty="0">
                <a:solidFill>
                  <a:srgbClr val="C00000"/>
                </a:solidFill>
              </a:rPr>
              <a:t>only virtually contiguous</a:t>
            </a:r>
            <a:r>
              <a:rPr lang="en-US" altLang="zh-TW" dirty="0"/>
              <a:t>.</a:t>
            </a:r>
          </a:p>
          <a:p>
            <a:pPr lvl="1" algn="l"/>
            <a:r>
              <a:rPr lang="en-US" altLang="zh-TW" dirty="0">
                <a:solidFill>
                  <a:srgbClr val="C00000"/>
                </a:solidFill>
              </a:rPr>
              <a:t>Requires page tables </a:t>
            </a:r>
            <a:r>
              <a:rPr lang="en-US" altLang="zh-TW" dirty="0"/>
              <a:t>to maintain the mapping between virtual and physical addresses.</a:t>
            </a:r>
          </a:p>
          <a:p>
            <a:pPr lvl="2" algn="l"/>
            <a:r>
              <a:rPr lang="en-US" altLang="zh-TW" dirty="0"/>
              <a:t>Allocate virtual memory initially, and then map to physical memory on-demand</a:t>
            </a:r>
          </a:p>
          <a:p>
            <a:pPr lvl="1" algn="l"/>
            <a:r>
              <a:rPr lang="en-US" altLang="zh-TW" dirty="0"/>
              <a:t>Regarding </a:t>
            </a:r>
            <a:r>
              <a:rPr lang="en-US" altLang="zh-TW" dirty="0">
                <a:solidFill>
                  <a:srgbClr val="C00000"/>
                </a:solidFill>
              </a:rPr>
              <a:t>performance</a:t>
            </a:r>
            <a:r>
              <a:rPr lang="en-US" altLang="zh-TW" dirty="0"/>
              <a:t>, memory allocation </a:t>
            </a:r>
            <a:r>
              <a:rPr lang="en-US" altLang="zh-TW" dirty="0">
                <a:solidFill>
                  <a:srgbClr val="C00000"/>
                </a:solidFill>
              </a:rPr>
              <a:t>inside kernel usually uses </a:t>
            </a:r>
            <a:r>
              <a:rPr lang="en-US" altLang="zh-TW" dirty="0" err="1">
                <a:solidFill>
                  <a:srgbClr val="C00000"/>
                </a:solidFill>
                <a:latin typeface="+mj-lt"/>
              </a:rPr>
              <a:t>kmalloc</a:t>
            </a:r>
            <a:r>
              <a:rPr lang="en-US" altLang="zh-TW" dirty="0">
                <a:solidFill>
                  <a:srgbClr val="C00000"/>
                </a:solidFill>
                <a:latin typeface="+mj-lt"/>
              </a:rPr>
              <a:t>()</a:t>
            </a:r>
            <a:r>
              <a:rPr lang="en-US" altLang="zh-TW" dirty="0">
                <a:solidFill>
                  <a:srgbClr val="C00000"/>
                </a:solidFill>
              </a:rPr>
              <a:t>.</a:t>
            </a:r>
          </a:p>
          <a:p>
            <a:pPr lvl="2" algn="l"/>
            <a:r>
              <a:rPr lang="en-US" altLang="zh-TW" sz="2400" dirty="0">
                <a:solidFill>
                  <a:schemeClr val="tx1"/>
                </a:solidFill>
              </a:rPr>
              <a:t>If systems can get enough </a:t>
            </a:r>
            <a:r>
              <a:rPr lang="en-US" altLang="zh-TW" sz="2400" dirty="0">
                <a:solidFill>
                  <a:srgbClr val="C00000"/>
                </a:solidFill>
              </a:rPr>
              <a:t>contiguous physical addresses </a:t>
            </a:r>
            <a:r>
              <a:rPr lang="en-US" altLang="zh-TW" sz="2400" dirty="0">
                <a:solidFill>
                  <a:schemeClr val="tx1"/>
                </a:solidFill>
              </a:rPr>
              <a:t>all the time, then </a:t>
            </a:r>
            <a:r>
              <a:rPr lang="en-US" altLang="zh-TW" sz="2400" dirty="0">
                <a:solidFill>
                  <a:srgbClr val="C00000"/>
                </a:solidFill>
              </a:rPr>
              <a:t>nearly no address translation overhead </a:t>
            </a:r>
            <a:r>
              <a:rPr lang="en-US" altLang="zh-TW" sz="2400" dirty="0">
                <a:solidFill>
                  <a:schemeClr val="tx1"/>
                </a:solidFill>
              </a:rPr>
              <a:t>(1:1 direct mapping), like </a:t>
            </a:r>
            <a:r>
              <a:rPr lang="en-US" altLang="zh-TW" sz="2400" dirty="0" err="1">
                <a:solidFill>
                  <a:schemeClr val="tx1"/>
                </a:solidFill>
                <a:latin typeface="+mj-lt"/>
              </a:rPr>
              <a:t>kmalloc</a:t>
            </a:r>
            <a:r>
              <a:rPr lang="en-US" altLang="zh-TW" sz="2400" dirty="0">
                <a:solidFill>
                  <a:schemeClr val="tx1"/>
                </a:solidFill>
                <a:latin typeface="+mj-lt"/>
              </a:rPr>
              <a:t>()</a:t>
            </a:r>
            <a:r>
              <a:rPr lang="en-US" altLang="zh-TW" sz="2400" dirty="0">
                <a:solidFill>
                  <a:schemeClr val="tx1"/>
                </a:solidFill>
              </a:rPr>
              <a:t>!</a:t>
            </a:r>
          </a:p>
          <a:p>
            <a:pPr lvl="2" algn="l"/>
            <a:r>
              <a:rPr lang="en-US" altLang="zh-TW" sz="2400" dirty="0" err="1">
                <a:solidFill>
                  <a:schemeClr val="tx1"/>
                </a:solidFill>
                <a:latin typeface="+mj-lt"/>
              </a:rPr>
              <a:t>vmalloc</a:t>
            </a:r>
            <a:r>
              <a:rPr lang="en-US" altLang="zh-TW" sz="2400" dirty="0">
                <a:solidFill>
                  <a:schemeClr val="tx1"/>
                </a:solidFill>
                <a:latin typeface="+mj-lt"/>
              </a:rPr>
              <a:t>() </a:t>
            </a:r>
            <a:r>
              <a:rPr lang="en-US" altLang="zh-TW" sz="2400" dirty="0">
                <a:solidFill>
                  <a:schemeClr val="tx1"/>
                </a:solidFill>
              </a:rPr>
              <a:t>is used only when systems require </a:t>
            </a:r>
            <a:r>
              <a:rPr lang="en-US" altLang="zh-TW" sz="2400" dirty="0">
                <a:solidFill>
                  <a:srgbClr val="C00000"/>
                </a:solidFill>
              </a:rPr>
              <a:t>large regions of memory.</a:t>
            </a:r>
          </a:p>
          <a:p>
            <a:pPr algn="l"/>
            <a:endParaRPr kumimoji="1" lang="zh-TW" altLang="en-US" dirty="0"/>
          </a:p>
        </p:txBody>
      </p:sp>
      <p:sp>
        <p:nvSpPr>
          <p:cNvPr id="4" name="投影片編號版面配置區 3">
            <a:extLst>
              <a:ext uri="{FF2B5EF4-FFF2-40B4-BE49-F238E27FC236}">
                <a16:creationId xmlns:a16="http://schemas.microsoft.com/office/drawing/2014/main" id="{E70BF560-BC91-631E-8CB4-6D4DB59ECF99}"/>
              </a:ext>
            </a:extLst>
          </p:cNvPr>
          <p:cNvSpPr>
            <a:spLocks noGrp="1"/>
          </p:cNvSpPr>
          <p:nvPr>
            <p:ph type="sldNum" sz="quarter" idx="4"/>
          </p:nvPr>
        </p:nvSpPr>
        <p:spPr/>
        <p:txBody>
          <a:bodyPr/>
          <a:lstStyle/>
          <a:p>
            <a:fld id="{E24E6636-6BA5-4AAC-8485-BE8D914D288B}" type="slidenum">
              <a:rPr lang="zh-TW" altLang="en-US" smtClean="0"/>
              <a:pPr/>
              <a:t>22</a:t>
            </a:fld>
            <a:endParaRPr lang="zh-TW" altLang="en-US" dirty="0"/>
          </a:p>
        </p:txBody>
      </p:sp>
    </p:spTree>
    <p:extLst>
      <p:ext uri="{BB962C8B-B14F-4D97-AF65-F5344CB8AC3E}">
        <p14:creationId xmlns:p14="http://schemas.microsoft.com/office/powerpoint/2010/main" val="1406782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4298C8-8A07-6A19-257A-FE07669C3517}"/>
              </a:ext>
            </a:extLst>
          </p:cNvPr>
          <p:cNvSpPr>
            <a:spLocks noGrp="1"/>
          </p:cNvSpPr>
          <p:nvPr>
            <p:ph type="title"/>
          </p:nvPr>
        </p:nvSpPr>
        <p:spPr/>
        <p:txBody>
          <a:bodyPr/>
          <a:lstStyle/>
          <a:p>
            <a:r>
              <a:rPr kumimoji="1" lang="en-US" altLang="zh-TW" dirty="0"/>
              <a:t>High Memory</a:t>
            </a:r>
            <a:endParaRPr kumimoji="1" lang="zh-TW" altLang="en-US" dirty="0"/>
          </a:p>
        </p:txBody>
      </p:sp>
      <p:sp>
        <p:nvSpPr>
          <p:cNvPr id="3" name="內容版面配置區 2">
            <a:extLst>
              <a:ext uri="{FF2B5EF4-FFF2-40B4-BE49-F238E27FC236}">
                <a16:creationId xmlns:a16="http://schemas.microsoft.com/office/drawing/2014/main" id="{97D902BD-DDAF-18BE-E679-B515C6D6F4D2}"/>
              </a:ext>
            </a:extLst>
          </p:cNvPr>
          <p:cNvSpPr>
            <a:spLocks noGrp="1"/>
          </p:cNvSpPr>
          <p:nvPr>
            <p:ph idx="1"/>
          </p:nvPr>
        </p:nvSpPr>
        <p:spPr>
          <a:xfrm>
            <a:off x="177800" y="1238250"/>
            <a:ext cx="6763711" cy="5441950"/>
          </a:xfrm>
        </p:spPr>
        <p:txBody>
          <a:bodyPr>
            <a:normAutofit/>
          </a:bodyPr>
          <a:lstStyle/>
          <a:p>
            <a:pPr algn="l"/>
            <a:r>
              <a:rPr kumimoji="1" lang="en-US" altLang="zh-TW" dirty="0"/>
              <a:t>On 32-bit system, kernel only has 1GB virtual memory. What if systems have 8GB memory space?</a:t>
            </a:r>
          </a:p>
          <a:p>
            <a:pPr lvl="1" algn="l"/>
            <a:r>
              <a:rPr lang="en-US" altLang="zh-TW" dirty="0"/>
              <a:t>Sol: Kernel address space </a:t>
            </a:r>
            <a:r>
              <a:rPr lang="en-US" altLang="zh-TW" dirty="0">
                <a:solidFill>
                  <a:srgbClr val="C00000"/>
                </a:solidFill>
              </a:rPr>
              <a:t>reserves a 128MB dynamic mapping area</a:t>
            </a:r>
            <a:r>
              <a:rPr lang="en-US" altLang="zh-TW" dirty="0"/>
              <a:t>, called High Memory (e.g., 896MB ~ 1GB) .</a:t>
            </a:r>
          </a:p>
          <a:p>
            <a:pPr lvl="1" algn="l"/>
            <a:r>
              <a:rPr lang="en-US" altLang="zh-TW" dirty="0"/>
              <a:t>High Memory: </a:t>
            </a:r>
            <a:r>
              <a:rPr lang="en-US" altLang="zh-TW" i="1" dirty="0">
                <a:solidFill>
                  <a:srgbClr val="282829"/>
                </a:solidFill>
                <a:latin typeface="-apple-system"/>
              </a:rPr>
              <a:t>High memory</a:t>
            </a:r>
            <a:r>
              <a:rPr lang="en-US" altLang="zh-TW" dirty="0">
                <a:solidFill>
                  <a:srgbClr val="282829"/>
                </a:solidFill>
                <a:latin typeface="-apple-system"/>
              </a:rPr>
              <a:t> is memory that is </a:t>
            </a:r>
            <a:r>
              <a:rPr lang="en-US" altLang="zh-TW" dirty="0">
                <a:solidFill>
                  <a:srgbClr val="C00000"/>
                </a:solidFill>
                <a:latin typeface="-apple-system"/>
              </a:rPr>
              <a:t>not permanently mapped into the kernel's address space</a:t>
            </a:r>
            <a:r>
              <a:rPr lang="en-US" altLang="zh-TW" dirty="0">
                <a:solidFill>
                  <a:srgbClr val="282829"/>
                </a:solidFill>
                <a:latin typeface="-apple-system"/>
              </a:rPr>
              <a:t>. (Temporarily Mapping)</a:t>
            </a:r>
            <a:endParaRPr lang="en-US" altLang="zh-TW" dirty="0"/>
          </a:p>
          <a:p>
            <a:pPr lvl="1" algn="l"/>
            <a:r>
              <a:rPr lang="en-US" altLang="zh-TW" dirty="0"/>
              <a:t>Usage: file caching, DMA &amp; networking buffers, </a:t>
            </a:r>
          </a:p>
          <a:p>
            <a:pPr lvl="1" algn="l"/>
            <a:r>
              <a:rPr kumimoji="1" lang="en-US" altLang="zh-TW" dirty="0"/>
              <a:t>High memory is a hack. </a:t>
            </a:r>
            <a:r>
              <a:rPr kumimoji="1" lang="en-US" altLang="zh-TW" dirty="0">
                <a:solidFill>
                  <a:srgbClr val="C00000"/>
                </a:solidFill>
              </a:rPr>
              <a:t>We don't need it on 64-bit systems.</a:t>
            </a:r>
          </a:p>
        </p:txBody>
      </p:sp>
      <p:sp>
        <p:nvSpPr>
          <p:cNvPr id="4" name="投影片編號版面配置區 3">
            <a:extLst>
              <a:ext uri="{FF2B5EF4-FFF2-40B4-BE49-F238E27FC236}">
                <a16:creationId xmlns:a16="http://schemas.microsoft.com/office/drawing/2014/main" id="{AF6290DB-7F85-FDE5-69C1-224F2EE138CA}"/>
              </a:ext>
            </a:extLst>
          </p:cNvPr>
          <p:cNvSpPr>
            <a:spLocks noGrp="1"/>
          </p:cNvSpPr>
          <p:nvPr>
            <p:ph type="sldNum" sz="quarter" idx="4"/>
          </p:nvPr>
        </p:nvSpPr>
        <p:spPr/>
        <p:txBody>
          <a:bodyPr/>
          <a:lstStyle/>
          <a:p>
            <a:fld id="{E24E6636-6BA5-4AAC-8485-BE8D914D288B}" type="slidenum">
              <a:rPr lang="zh-TW" altLang="en-US" smtClean="0"/>
              <a:pPr/>
              <a:t>23</a:t>
            </a:fld>
            <a:endParaRPr lang="zh-TW" altLang="en-US" dirty="0"/>
          </a:p>
        </p:txBody>
      </p:sp>
      <p:grpSp>
        <p:nvGrpSpPr>
          <p:cNvPr id="40" name="群組 39">
            <a:extLst>
              <a:ext uri="{FF2B5EF4-FFF2-40B4-BE49-F238E27FC236}">
                <a16:creationId xmlns:a16="http://schemas.microsoft.com/office/drawing/2014/main" id="{9D379CD5-C53D-C574-666A-E4F07C950010}"/>
              </a:ext>
            </a:extLst>
          </p:cNvPr>
          <p:cNvGrpSpPr/>
          <p:nvPr/>
        </p:nvGrpSpPr>
        <p:grpSpPr>
          <a:xfrm>
            <a:off x="6640165" y="1637519"/>
            <a:ext cx="843091" cy="1808329"/>
            <a:chOff x="6640165" y="1637519"/>
            <a:chExt cx="843091" cy="1808329"/>
          </a:xfrm>
        </p:grpSpPr>
        <p:sp>
          <p:nvSpPr>
            <p:cNvPr id="9" name="右大括弧 8">
              <a:extLst>
                <a:ext uri="{FF2B5EF4-FFF2-40B4-BE49-F238E27FC236}">
                  <a16:creationId xmlns:a16="http://schemas.microsoft.com/office/drawing/2014/main" id="{9FE0741D-D523-B732-5D91-7E0CA5CC578B}"/>
                </a:ext>
              </a:extLst>
            </p:cNvPr>
            <p:cNvSpPr/>
            <p:nvPr/>
          </p:nvSpPr>
          <p:spPr>
            <a:xfrm flipH="1">
              <a:off x="7351093" y="1637519"/>
              <a:ext cx="132163" cy="1808329"/>
            </a:xfrm>
            <a:prstGeom prst="righ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10" name="文字方塊 9">
              <a:extLst>
                <a:ext uri="{FF2B5EF4-FFF2-40B4-BE49-F238E27FC236}">
                  <a16:creationId xmlns:a16="http://schemas.microsoft.com/office/drawing/2014/main" id="{EEC0E7CB-78C0-74AE-14CA-973028DB13A2}"/>
                </a:ext>
              </a:extLst>
            </p:cNvPr>
            <p:cNvSpPr txBox="1"/>
            <p:nvPr/>
          </p:nvSpPr>
          <p:spPr>
            <a:xfrm>
              <a:off x="6640165" y="2041467"/>
              <a:ext cx="809068" cy="1169551"/>
            </a:xfrm>
            <a:prstGeom prst="rect">
              <a:avLst/>
            </a:prstGeom>
            <a:noFill/>
          </p:spPr>
          <p:txBody>
            <a:bodyPr wrap="none" rtlCol="0">
              <a:spAutoFit/>
            </a:bodyPr>
            <a:lstStyle/>
            <a:p>
              <a:pPr algn="ctr"/>
              <a:r>
                <a:rPr kumimoji="1" lang="en-US" altLang="zh-TW" sz="1400" b="1" dirty="0"/>
                <a:t>Kernel</a:t>
              </a:r>
              <a:br>
                <a:rPr kumimoji="1" lang="en-US" altLang="zh-TW" sz="1400" dirty="0"/>
              </a:br>
              <a:r>
                <a:rPr kumimoji="1" lang="en-US" altLang="zh-TW" sz="1400" dirty="0"/>
                <a:t>Virtual</a:t>
              </a:r>
            </a:p>
            <a:p>
              <a:pPr algn="ctr"/>
              <a:r>
                <a:rPr kumimoji="1" lang="en-US" altLang="zh-TW" sz="1400" dirty="0"/>
                <a:t>Address </a:t>
              </a:r>
              <a:br>
                <a:rPr kumimoji="1" lang="en-US" altLang="zh-TW" sz="1400" dirty="0"/>
              </a:br>
              <a:r>
                <a:rPr kumimoji="1" lang="en-US" altLang="zh-TW" sz="1400" dirty="0"/>
                <a:t>Space</a:t>
              </a:r>
              <a:br>
                <a:rPr kumimoji="1" lang="en-US" altLang="zh-TW" sz="1400" dirty="0"/>
              </a:br>
              <a:r>
                <a:rPr kumimoji="1" lang="en-US" altLang="zh-TW" sz="1400" dirty="0"/>
                <a:t>(</a:t>
              </a:r>
              <a:r>
                <a:rPr kumimoji="1" lang="en-US" altLang="zh-TW" sz="1400" b="1" dirty="0"/>
                <a:t>1G</a:t>
              </a:r>
              <a:r>
                <a:rPr kumimoji="1" lang="en-US" altLang="zh-TW" sz="1400" dirty="0"/>
                <a:t>)</a:t>
              </a:r>
              <a:endParaRPr kumimoji="1" lang="zh-TW" altLang="en-US" sz="1400" dirty="0"/>
            </a:p>
          </p:txBody>
        </p:sp>
      </p:grpSp>
      <p:grpSp>
        <p:nvGrpSpPr>
          <p:cNvPr id="43" name="群組 42">
            <a:extLst>
              <a:ext uri="{FF2B5EF4-FFF2-40B4-BE49-F238E27FC236}">
                <a16:creationId xmlns:a16="http://schemas.microsoft.com/office/drawing/2014/main" id="{82382DB0-62B9-B1C4-688F-DA9F45E4CD2E}"/>
              </a:ext>
            </a:extLst>
          </p:cNvPr>
          <p:cNvGrpSpPr/>
          <p:nvPr/>
        </p:nvGrpSpPr>
        <p:grpSpPr>
          <a:xfrm>
            <a:off x="7419505" y="1478475"/>
            <a:ext cx="2120082" cy="2112296"/>
            <a:chOff x="7419505" y="1478475"/>
            <a:chExt cx="2120082" cy="2112296"/>
          </a:xfrm>
        </p:grpSpPr>
        <p:grpSp>
          <p:nvGrpSpPr>
            <p:cNvPr id="41" name="群組 40">
              <a:extLst>
                <a:ext uri="{FF2B5EF4-FFF2-40B4-BE49-F238E27FC236}">
                  <a16:creationId xmlns:a16="http://schemas.microsoft.com/office/drawing/2014/main" id="{681D3F14-1945-AD37-594E-5EF339BDF81D}"/>
                </a:ext>
              </a:extLst>
            </p:cNvPr>
            <p:cNvGrpSpPr/>
            <p:nvPr/>
          </p:nvGrpSpPr>
          <p:grpSpPr>
            <a:xfrm>
              <a:off x="7964297" y="1628554"/>
              <a:ext cx="1575290" cy="1795574"/>
              <a:chOff x="7964297" y="1628554"/>
              <a:chExt cx="1575290" cy="1795574"/>
            </a:xfrm>
          </p:grpSpPr>
          <p:sp>
            <p:nvSpPr>
              <p:cNvPr id="6" name="矩形 57">
                <a:extLst>
                  <a:ext uri="{FF2B5EF4-FFF2-40B4-BE49-F238E27FC236}">
                    <a16:creationId xmlns:a16="http://schemas.microsoft.com/office/drawing/2014/main" id="{37D9DC11-70E5-3A35-9D2B-279362433332}"/>
                  </a:ext>
                </a:extLst>
              </p:cNvPr>
              <p:cNvSpPr/>
              <p:nvPr/>
            </p:nvSpPr>
            <p:spPr>
              <a:xfrm>
                <a:off x="7964297" y="3203037"/>
                <a:ext cx="1560081" cy="221091"/>
              </a:xfrm>
              <a:prstGeom prst="rect">
                <a:avLst/>
              </a:prstGeom>
              <a:solidFill>
                <a:schemeClr val="bg1">
                  <a:lumMod val="9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cs typeface="Arial" panose="020B0604020202020204" pitchFamily="34" charset="0"/>
                  </a:rPr>
                  <a:t>ZONE_DMA</a:t>
                </a:r>
                <a:endParaRPr kumimoji="1" lang="zh-TW" altLang="en-US" sz="1400" dirty="0">
                  <a:solidFill>
                    <a:schemeClr val="tx1"/>
                  </a:solidFill>
                  <a:latin typeface="+mj-lt"/>
                  <a:cs typeface="Arial" panose="020B0604020202020204" pitchFamily="34" charset="0"/>
                </a:endParaRPr>
              </a:p>
            </p:txBody>
          </p:sp>
          <p:sp>
            <p:nvSpPr>
              <p:cNvPr id="7" name="矩形 57">
                <a:extLst>
                  <a:ext uri="{FF2B5EF4-FFF2-40B4-BE49-F238E27FC236}">
                    <a16:creationId xmlns:a16="http://schemas.microsoft.com/office/drawing/2014/main" id="{D037C9F4-440B-1ED6-0E23-5ACB341E64FF}"/>
                  </a:ext>
                </a:extLst>
              </p:cNvPr>
              <p:cNvSpPr/>
              <p:nvPr/>
            </p:nvSpPr>
            <p:spPr>
              <a:xfrm>
                <a:off x="7969096" y="2101281"/>
                <a:ext cx="1555282" cy="1123790"/>
              </a:xfrm>
              <a:prstGeom prst="rect">
                <a:avLst/>
              </a:prstGeom>
              <a:solidFill>
                <a:schemeClr val="bg1">
                  <a:lumMod val="9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cs typeface="Arial" panose="020B0604020202020204" pitchFamily="34" charset="0"/>
                  </a:rPr>
                  <a:t>ZONE_NORMAL </a:t>
                </a:r>
              </a:p>
              <a:p>
                <a:pPr algn="ctr"/>
                <a:r>
                  <a:rPr kumimoji="1" lang="en-US" altLang="zh-TW" sz="1400" dirty="0" err="1">
                    <a:solidFill>
                      <a:schemeClr val="tx1"/>
                    </a:solidFill>
                    <a:latin typeface="+mj-lt"/>
                    <a:cs typeface="Arial" panose="020B0604020202020204" pitchFamily="34" charset="0"/>
                  </a:rPr>
                  <a:t>kmalloc</a:t>
                </a:r>
                <a:r>
                  <a:rPr kumimoji="1" lang="en-US" altLang="zh-TW" sz="1400" dirty="0">
                    <a:solidFill>
                      <a:schemeClr val="tx1"/>
                    </a:solidFill>
                    <a:latin typeface="+mj-lt"/>
                    <a:cs typeface="Arial" panose="020B0604020202020204" pitchFamily="34" charset="0"/>
                  </a:rPr>
                  <a:t>()</a:t>
                </a:r>
                <a:endParaRPr kumimoji="1" lang="zh-TW" altLang="en-US" sz="1400" dirty="0">
                  <a:solidFill>
                    <a:schemeClr val="tx1"/>
                  </a:solidFill>
                  <a:latin typeface="+mj-lt"/>
                  <a:cs typeface="Arial" panose="020B0604020202020204" pitchFamily="34" charset="0"/>
                </a:endParaRPr>
              </a:p>
            </p:txBody>
          </p:sp>
          <p:sp>
            <p:nvSpPr>
              <p:cNvPr id="8" name="矩形 57">
                <a:extLst>
                  <a:ext uri="{FF2B5EF4-FFF2-40B4-BE49-F238E27FC236}">
                    <a16:creationId xmlns:a16="http://schemas.microsoft.com/office/drawing/2014/main" id="{9BE796DD-C04C-BE8C-352B-70F69F7DFAF2}"/>
                  </a:ext>
                </a:extLst>
              </p:cNvPr>
              <p:cNvSpPr/>
              <p:nvPr/>
            </p:nvSpPr>
            <p:spPr>
              <a:xfrm>
                <a:off x="7979506" y="1628554"/>
                <a:ext cx="1560081" cy="461709"/>
              </a:xfrm>
              <a:prstGeom prst="rect">
                <a:avLst/>
              </a:prstGeom>
              <a:solidFill>
                <a:schemeClr val="bg1">
                  <a:lumMod val="7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cs typeface="Arial" panose="020B0604020202020204" pitchFamily="34" charset="0"/>
                  </a:rPr>
                  <a:t>ZONE_HIGHMEM </a:t>
                </a:r>
              </a:p>
              <a:p>
                <a:pPr algn="ctr"/>
                <a:r>
                  <a:rPr kumimoji="1" lang="en-US" altLang="zh-TW" sz="1400" dirty="0" err="1">
                    <a:solidFill>
                      <a:schemeClr val="tx1"/>
                    </a:solidFill>
                    <a:latin typeface="+mj-lt"/>
                    <a:cs typeface="Arial" panose="020B0604020202020204" pitchFamily="34" charset="0"/>
                  </a:rPr>
                  <a:t>vmalloc</a:t>
                </a:r>
                <a:r>
                  <a:rPr kumimoji="1" lang="en-US" altLang="zh-TW" sz="1400" dirty="0">
                    <a:solidFill>
                      <a:schemeClr val="tx1"/>
                    </a:solidFill>
                    <a:latin typeface="+mj-lt"/>
                    <a:cs typeface="Arial" panose="020B0604020202020204" pitchFamily="34" charset="0"/>
                  </a:rPr>
                  <a:t>()</a:t>
                </a:r>
                <a:endParaRPr kumimoji="1" lang="zh-TW" altLang="en-US" sz="1400" dirty="0">
                  <a:solidFill>
                    <a:schemeClr val="tx1"/>
                  </a:solidFill>
                  <a:latin typeface="+mj-lt"/>
                  <a:cs typeface="Arial" panose="020B0604020202020204" pitchFamily="34" charset="0"/>
                </a:endParaRPr>
              </a:p>
            </p:txBody>
          </p:sp>
        </p:grpSp>
        <p:grpSp>
          <p:nvGrpSpPr>
            <p:cNvPr id="42" name="群組 41">
              <a:extLst>
                <a:ext uri="{FF2B5EF4-FFF2-40B4-BE49-F238E27FC236}">
                  <a16:creationId xmlns:a16="http://schemas.microsoft.com/office/drawing/2014/main" id="{C6695099-6C3E-033F-B665-3F61992A8132}"/>
                </a:ext>
              </a:extLst>
            </p:cNvPr>
            <p:cNvGrpSpPr/>
            <p:nvPr/>
          </p:nvGrpSpPr>
          <p:grpSpPr>
            <a:xfrm>
              <a:off x="7419505" y="1478475"/>
              <a:ext cx="595035" cy="2112296"/>
              <a:chOff x="7419505" y="1478475"/>
              <a:chExt cx="595035" cy="2112296"/>
            </a:xfrm>
          </p:grpSpPr>
          <p:sp>
            <p:nvSpPr>
              <p:cNvPr id="13" name="文字方塊 12">
                <a:extLst>
                  <a:ext uri="{FF2B5EF4-FFF2-40B4-BE49-F238E27FC236}">
                    <a16:creationId xmlns:a16="http://schemas.microsoft.com/office/drawing/2014/main" id="{97E788AD-9165-A564-DF08-E6FC0B5DEDDF}"/>
                  </a:ext>
                </a:extLst>
              </p:cNvPr>
              <p:cNvSpPr txBox="1"/>
              <p:nvPr/>
            </p:nvSpPr>
            <p:spPr>
              <a:xfrm>
                <a:off x="7497263" y="3282994"/>
                <a:ext cx="487634" cy="307777"/>
              </a:xfrm>
              <a:prstGeom prst="rect">
                <a:avLst/>
              </a:prstGeom>
              <a:noFill/>
            </p:spPr>
            <p:txBody>
              <a:bodyPr wrap="none" rtlCol="0">
                <a:spAutoFit/>
              </a:bodyPr>
              <a:lstStyle/>
              <a:p>
                <a:r>
                  <a:rPr kumimoji="1" lang="en-US" altLang="zh-TW" sz="1400" dirty="0"/>
                  <a:t>3GB</a:t>
                </a:r>
                <a:endParaRPr kumimoji="1" lang="zh-TW" altLang="en-US" sz="1400" dirty="0"/>
              </a:p>
            </p:txBody>
          </p:sp>
          <p:sp>
            <p:nvSpPr>
              <p:cNvPr id="14" name="文字方塊 13">
                <a:extLst>
                  <a:ext uri="{FF2B5EF4-FFF2-40B4-BE49-F238E27FC236}">
                    <a16:creationId xmlns:a16="http://schemas.microsoft.com/office/drawing/2014/main" id="{B9BC6C38-2034-1DA8-3CD2-8F803B51A3B9}"/>
                  </a:ext>
                </a:extLst>
              </p:cNvPr>
              <p:cNvSpPr txBox="1"/>
              <p:nvPr/>
            </p:nvSpPr>
            <p:spPr>
              <a:xfrm>
                <a:off x="7487702" y="2876398"/>
                <a:ext cx="503664" cy="523220"/>
              </a:xfrm>
              <a:prstGeom prst="rect">
                <a:avLst/>
              </a:prstGeom>
              <a:noFill/>
            </p:spPr>
            <p:txBody>
              <a:bodyPr wrap="none" rtlCol="0">
                <a:spAutoFit/>
              </a:bodyPr>
              <a:lstStyle/>
              <a:p>
                <a:pPr algn="ctr"/>
                <a:r>
                  <a:rPr kumimoji="1" lang="en-US" altLang="zh-TW" sz="1400" dirty="0"/>
                  <a:t>3.16</a:t>
                </a:r>
              </a:p>
              <a:p>
                <a:pPr algn="ctr"/>
                <a:r>
                  <a:rPr kumimoji="1" lang="en-US" altLang="zh-TW" sz="1400" dirty="0"/>
                  <a:t>GB</a:t>
                </a:r>
                <a:endParaRPr kumimoji="1" lang="zh-TW" altLang="en-US" sz="1400" dirty="0"/>
              </a:p>
            </p:txBody>
          </p:sp>
          <p:sp>
            <p:nvSpPr>
              <p:cNvPr id="15" name="文字方塊 14">
                <a:extLst>
                  <a:ext uri="{FF2B5EF4-FFF2-40B4-BE49-F238E27FC236}">
                    <a16:creationId xmlns:a16="http://schemas.microsoft.com/office/drawing/2014/main" id="{84ADF9E5-BB05-04AD-45CC-7E9F70445B40}"/>
                  </a:ext>
                </a:extLst>
              </p:cNvPr>
              <p:cNvSpPr txBox="1"/>
              <p:nvPr/>
            </p:nvSpPr>
            <p:spPr>
              <a:xfrm>
                <a:off x="7419505" y="1857312"/>
                <a:ext cx="595035" cy="523220"/>
              </a:xfrm>
              <a:prstGeom prst="rect">
                <a:avLst/>
              </a:prstGeom>
              <a:noFill/>
            </p:spPr>
            <p:txBody>
              <a:bodyPr wrap="none" rtlCol="0">
                <a:spAutoFit/>
              </a:bodyPr>
              <a:lstStyle/>
              <a:p>
                <a:r>
                  <a:rPr kumimoji="1" lang="en-US" altLang="zh-TW" sz="1400" dirty="0"/>
                  <a:t>3.896</a:t>
                </a:r>
              </a:p>
              <a:p>
                <a:pPr algn="ctr"/>
                <a:r>
                  <a:rPr kumimoji="1" lang="en-US" altLang="zh-TW" sz="1400" dirty="0"/>
                  <a:t>GB</a:t>
                </a:r>
                <a:endParaRPr kumimoji="1" lang="zh-TW" altLang="en-US" sz="1400" dirty="0"/>
              </a:p>
            </p:txBody>
          </p:sp>
          <p:sp>
            <p:nvSpPr>
              <p:cNvPr id="16" name="文字方塊 15">
                <a:extLst>
                  <a:ext uri="{FF2B5EF4-FFF2-40B4-BE49-F238E27FC236}">
                    <a16:creationId xmlns:a16="http://schemas.microsoft.com/office/drawing/2014/main" id="{83CDA7A8-81CC-68D5-EAF9-873917B2F9FD}"/>
                  </a:ext>
                </a:extLst>
              </p:cNvPr>
              <p:cNvSpPr txBox="1"/>
              <p:nvPr/>
            </p:nvSpPr>
            <p:spPr>
              <a:xfrm>
                <a:off x="7449233" y="1478475"/>
                <a:ext cx="487634" cy="307777"/>
              </a:xfrm>
              <a:prstGeom prst="rect">
                <a:avLst/>
              </a:prstGeom>
              <a:noFill/>
            </p:spPr>
            <p:txBody>
              <a:bodyPr wrap="none" rtlCol="0">
                <a:spAutoFit/>
              </a:bodyPr>
              <a:lstStyle/>
              <a:p>
                <a:r>
                  <a:rPr kumimoji="1" lang="en-US" altLang="zh-TW" sz="1400" dirty="0"/>
                  <a:t>4GB</a:t>
                </a:r>
                <a:endParaRPr kumimoji="1" lang="zh-TW" altLang="en-US" sz="1400" dirty="0"/>
              </a:p>
            </p:txBody>
          </p:sp>
        </p:grpSp>
      </p:grpSp>
      <p:sp>
        <p:nvSpPr>
          <p:cNvPr id="19" name="文字方塊 18">
            <a:extLst>
              <a:ext uri="{FF2B5EF4-FFF2-40B4-BE49-F238E27FC236}">
                <a16:creationId xmlns:a16="http://schemas.microsoft.com/office/drawing/2014/main" id="{7A3952E2-935B-20A6-7C08-4D3CC8DF432F}"/>
              </a:ext>
            </a:extLst>
          </p:cNvPr>
          <p:cNvSpPr txBox="1"/>
          <p:nvPr/>
        </p:nvSpPr>
        <p:spPr>
          <a:xfrm>
            <a:off x="0" y="6262627"/>
            <a:ext cx="8055795" cy="646331"/>
          </a:xfrm>
          <a:prstGeom prst="rect">
            <a:avLst/>
          </a:prstGeom>
          <a:noFill/>
        </p:spPr>
        <p:txBody>
          <a:bodyPr wrap="none" rtlCol="0">
            <a:spAutoFit/>
          </a:bodyPr>
          <a:lstStyle/>
          <a:p>
            <a:r>
              <a:rPr kumimoji="1" lang="en-US" altLang="zh-TW" sz="1200" dirty="0">
                <a:solidFill>
                  <a:schemeClr val="bg1">
                    <a:lumMod val="75000"/>
                  </a:schemeClr>
                </a:solidFill>
              </a:rPr>
              <a:t>Ref: https://www.796t.com/content/1544392447.html</a:t>
            </a:r>
          </a:p>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hlinkClick r:id="rId3"/>
              </a:rPr>
              <a:t>https://www.quora.com/Why-is-there-ZONE_HIGHMEM-in-the-x86-32-Linux-kernel-but-not-in-the-x86-64-kernel</a:t>
            </a:r>
            <a:endParaRPr kumimoji="1" lang="en-US" altLang="zh-TW" sz="1200" dirty="0">
              <a:solidFill>
                <a:schemeClr val="bg1">
                  <a:lumMod val="75000"/>
                </a:schemeClr>
              </a:solidFill>
            </a:endParaRPr>
          </a:p>
          <a:p>
            <a:r>
              <a:rPr kumimoji="1" lang="en-US" altLang="zh-TW" sz="1200" dirty="0">
                <a:solidFill>
                  <a:schemeClr val="bg1">
                    <a:lumMod val="75000"/>
                  </a:schemeClr>
                </a:solidFill>
              </a:rPr>
              <a:t>Ref: https://</a:t>
            </a:r>
            <a:r>
              <a:rPr kumimoji="1" lang="en-US" altLang="zh-TW" sz="1200" dirty="0" err="1">
                <a:solidFill>
                  <a:schemeClr val="bg1">
                    <a:lumMod val="75000"/>
                  </a:schemeClr>
                </a:solidFill>
              </a:rPr>
              <a:t>www.quora.com</a:t>
            </a:r>
            <a:r>
              <a:rPr kumimoji="1" lang="en-US" altLang="zh-TW" sz="1200" dirty="0">
                <a:solidFill>
                  <a:schemeClr val="bg1">
                    <a:lumMod val="75000"/>
                  </a:schemeClr>
                </a:solidFill>
              </a:rPr>
              <a:t>/In-reference-to-Linux-Kernel-what-is-the-difference-between-high-memory-and-normal-memory</a:t>
            </a:r>
          </a:p>
        </p:txBody>
      </p:sp>
      <p:sp>
        <p:nvSpPr>
          <p:cNvPr id="23" name="矩形 57">
            <a:extLst>
              <a:ext uri="{FF2B5EF4-FFF2-40B4-BE49-F238E27FC236}">
                <a16:creationId xmlns:a16="http://schemas.microsoft.com/office/drawing/2014/main" id="{CA79BFE9-FB82-6E40-DECA-66070397430A}"/>
              </a:ext>
            </a:extLst>
          </p:cNvPr>
          <p:cNvSpPr/>
          <p:nvPr/>
        </p:nvSpPr>
        <p:spPr>
          <a:xfrm>
            <a:off x="10150696" y="1635830"/>
            <a:ext cx="1361930" cy="1344881"/>
          </a:xfrm>
          <a:prstGeom prst="rect">
            <a:avLst/>
          </a:prstGeom>
          <a:solidFill>
            <a:schemeClr val="bg1">
              <a:lumMod val="9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cs typeface="Arial" panose="020B0604020202020204" pitchFamily="34" charset="0"/>
              </a:rPr>
              <a:t>Kernel Code/Data</a:t>
            </a:r>
            <a:endParaRPr kumimoji="1" lang="zh-TW" altLang="en-US" sz="1400" dirty="0">
              <a:solidFill>
                <a:schemeClr val="tx1"/>
              </a:solidFill>
              <a:latin typeface="+mj-lt"/>
              <a:cs typeface="Arial" panose="020B0604020202020204" pitchFamily="34" charset="0"/>
            </a:endParaRPr>
          </a:p>
        </p:txBody>
      </p:sp>
      <p:grpSp>
        <p:nvGrpSpPr>
          <p:cNvPr id="37" name="群組 36">
            <a:extLst>
              <a:ext uri="{FF2B5EF4-FFF2-40B4-BE49-F238E27FC236}">
                <a16:creationId xmlns:a16="http://schemas.microsoft.com/office/drawing/2014/main" id="{14F1252E-F31E-AD24-223C-B96491617ED9}"/>
              </a:ext>
            </a:extLst>
          </p:cNvPr>
          <p:cNvGrpSpPr/>
          <p:nvPr/>
        </p:nvGrpSpPr>
        <p:grpSpPr>
          <a:xfrm>
            <a:off x="8717620" y="1311461"/>
            <a:ext cx="2568139" cy="2088157"/>
            <a:chOff x="8717620" y="1311461"/>
            <a:chExt cx="2568139" cy="2088157"/>
          </a:xfrm>
        </p:grpSpPr>
        <p:cxnSp>
          <p:nvCxnSpPr>
            <p:cNvPr id="30" name="直線箭頭接點 29">
              <a:extLst>
                <a:ext uri="{FF2B5EF4-FFF2-40B4-BE49-F238E27FC236}">
                  <a16:creationId xmlns:a16="http://schemas.microsoft.com/office/drawing/2014/main" id="{39B2AF0B-1549-7E05-6017-140047A0BE9E}"/>
                </a:ext>
              </a:extLst>
            </p:cNvPr>
            <p:cNvCxnSpPr>
              <a:cxnSpLocks/>
            </p:cNvCxnSpPr>
            <p:nvPr/>
          </p:nvCxnSpPr>
          <p:spPr>
            <a:xfrm flipV="1">
              <a:off x="9579196" y="2986837"/>
              <a:ext cx="536740" cy="41278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箭頭接點 31">
              <a:extLst>
                <a:ext uri="{FF2B5EF4-FFF2-40B4-BE49-F238E27FC236}">
                  <a16:creationId xmlns:a16="http://schemas.microsoft.com/office/drawing/2014/main" id="{EC4B0E5F-C409-6D27-C504-5827E0599C30}"/>
                </a:ext>
              </a:extLst>
            </p:cNvPr>
            <p:cNvCxnSpPr>
              <a:cxnSpLocks/>
            </p:cNvCxnSpPr>
            <p:nvPr/>
          </p:nvCxnSpPr>
          <p:spPr>
            <a:xfrm flipV="1">
              <a:off x="9584432" y="1650921"/>
              <a:ext cx="536740" cy="41278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箭頭接點 32">
              <a:extLst>
                <a:ext uri="{FF2B5EF4-FFF2-40B4-BE49-F238E27FC236}">
                  <a16:creationId xmlns:a16="http://schemas.microsoft.com/office/drawing/2014/main" id="{9974DE89-020E-2C0A-D95A-AC48CB4D004A}"/>
                </a:ext>
              </a:extLst>
            </p:cNvPr>
            <p:cNvCxnSpPr>
              <a:cxnSpLocks/>
            </p:cNvCxnSpPr>
            <p:nvPr/>
          </p:nvCxnSpPr>
          <p:spPr>
            <a:xfrm flipV="1">
              <a:off x="9571619" y="1975826"/>
              <a:ext cx="536740" cy="41278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箭頭接點 33">
              <a:extLst>
                <a:ext uri="{FF2B5EF4-FFF2-40B4-BE49-F238E27FC236}">
                  <a16:creationId xmlns:a16="http://schemas.microsoft.com/office/drawing/2014/main" id="{2586C2BE-C198-9202-5048-3D6033701F24}"/>
                </a:ext>
              </a:extLst>
            </p:cNvPr>
            <p:cNvCxnSpPr>
              <a:cxnSpLocks/>
            </p:cNvCxnSpPr>
            <p:nvPr/>
          </p:nvCxnSpPr>
          <p:spPr>
            <a:xfrm flipV="1">
              <a:off x="9584432" y="2322427"/>
              <a:ext cx="536740" cy="41278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箭頭接點 34">
              <a:extLst>
                <a:ext uri="{FF2B5EF4-FFF2-40B4-BE49-F238E27FC236}">
                  <a16:creationId xmlns:a16="http://schemas.microsoft.com/office/drawing/2014/main" id="{71A3C404-52BE-1D66-B83E-1082F88AABE0}"/>
                </a:ext>
              </a:extLst>
            </p:cNvPr>
            <p:cNvCxnSpPr>
              <a:cxnSpLocks/>
            </p:cNvCxnSpPr>
            <p:nvPr/>
          </p:nvCxnSpPr>
          <p:spPr>
            <a:xfrm flipV="1">
              <a:off x="9571619" y="2670007"/>
              <a:ext cx="536740" cy="41278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6" name="文字方塊 35">
              <a:extLst>
                <a:ext uri="{FF2B5EF4-FFF2-40B4-BE49-F238E27FC236}">
                  <a16:creationId xmlns:a16="http://schemas.microsoft.com/office/drawing/2014/main" id="{988BC770-B665-9D4F-C059-248B6CDF7C30}"/>
                </a:ext>
              </a:extLst>
            </p:cNvPr>
            <p:cNvSpPr txBox="1"/>
            <p:nvPr/>
          </p:nvSpPr>
          <p:spPr>
            <a:xfrm>
              <a:off x="8717620" y="1311461"/>
              <a:ext cx="2568139" cy="307777"/>
            </a:xfrm>
            <a:prstGeom prst="rect">
              <a:avLst/>
            </a:prstGeom>
            <a:noFill/>
          </p:spPr>
          <p:txBody>
            <a:bodyPr wrap="none" rtlCol="0">
              <a:spAutoFit/>
            </a:bodyPr>
            <a:lstStyle/>
            <a:p>
              <a:r>
                <a:rPr kumimoji="1" lang="en-US" altLang="zh-TW" sz="1400" dirty="0">
                  <a:solidFill>
                    <a:srgbClr val="C00000"/>
                  </a:solidFill>
                </a:rPr>
                <a:t>Direct Mapping: PA = VA + Offset</a:t>
              </a:r>
              <a:endParaRPr kumimoji="1" lang="zh-TW" altLang="en-US" sz="1400" dirty="0">
                <a:solidFill>
                  <a:srgbClr val="C00000"/>
                </a:solidFill>
              </a:endParaRPr>
            </a:p>
          </p:txBody>
        </p:sp>
      </p:grpSp>
      <p:grpSp>
        <p:nvGrpSpPr>
          <p:cNvPr id="48" name="群組 47">
            <a:extLst>
              <a:ext uri="{FF2B5EF4-FFF2-40B4-BE49-F238E27FC236}">
                <a16:creationId xmlns:a16="http://schemas.microsoft.com/office/drawing/2014/main" id="{958B7629-9B1D-3328-FCF2-F41E8F90EA49}"/>
              </a:ext>
            </a:extLst>
          </p:cNvPr>
          <p:cNvGrpSpPr/>
          <p:nvPr/>
        </p:nvGrpSpPr>
        <p:grpSpPr>
          <a:xfrm>
            <a:off x="11493737" y="1465349"/>
            <a:ext cx="745118" cy="4951166"/>
            <a:chOff x="11493737" y="1465349"/>
            <a:chExt cx="745118" cy="4951166"/>
          </a:xfrm>
        </p:grpSpPr>
        <p:sp>
          <p:nvSpPr>
            <p:cNvPr id="45" name="文字方塊 44">
              <a:extLst>
                <a:ext uri="{FF2B5EF4-FFF2-40B4-BE49-F238E27FC236}">
                  <a16:creationId xmlns:a16="http://schemas.microsoft.com/office/drawing/2014/main" id="{166A9A1B-B511-4DED-81BD-8946195F11A5}"/>
                </a:ext>
              </a:extLst>
            </p:cNvPr>
            <p:cNvSpPr txBox="1"/>
            <p:nvPr/>
          </p:nvSpPr>
          <p:spPr>
            <a:xfrm>
              <a:off x="11502986" y="1465349"/>
              <a:ext cx="487634" cy="307777"/>
            </a:xfrm>
            <a:prstGeom prst="rect">
              <a:avLst/>
            </a:prstGeom>
            <a:noFill/>
          </p:spPr>
          <p:txBody>
            <a:bodyPr wrap="none" rtlCol="0">
              <a:spAutoFit/>
            </a:bodyPr>
            <a:lstStyle/>
            <a:p>
              <a:r>
                <a:rPr kumimoji="1" lang="en-US" altLang="zh-TW" sz="1400" dirty="0"/>
                <a:t>0GB</a:t>
              </a:r>
              <a:endParaRPr kumimoji="1" lang="zh-TW" altLang="en-US" sz="1400" dirty="0"/>
            </a:p>
          </p:txBody>
        </p:sp>
        <p:sp>
          <p:nvSpPr>
            <p:cNvPr id="46" name="文字方塊 45">
              <a:extLst>
                <a:ext uri="{FF2B5EF4-FFF2-40B4-BE49-F238E27FC236}">
                  <a16:creationId xmlns:a16="http://schemas.microsoft.com/office/drawing/2014/main" id="{4225B6F7-1CA0-53E4-A894-2C4F04A15820}"/>
                </a:ext>
              </a:extLst>
            </p:cNvPr>
            <p:cNvSpPr txBox="1"/>
            <p:nvPr/>
          </p:nvSpPr>
          <p:spPr>
            <a:xfrm>
              <a:off x="11528404" y="2802888"/>
              <a:ext cx="710451" cy="307777"/>
            </a:xfrm>
            <a:prstGeom prst="rect">
              <a:avLst/>
            </a:prstGeom>
            <a:noFill/>
          </p:spPr>
          <p:txBody>
            <a:bodyPr wrap="none" rtlCol="0">
              <a:spAutoFit/>
            </a:bodyPr>
            <a:lstStyle/>
            <a:p>
              <a:r>
                <a:rPr kumimoji="1" lang="en-US" altLang="zh-TW" sz="1400" dirty="0"/>
                <a:t>896MB</a:t>
              </a:r>
              <a:endParaRPr kumimoji="1" lang="zh-TW" altLang="en-US" sz="1400" dirty="0"/>
            </a:p>
          </p:txBody>
        </p:sp>
        <p:sp>
          <p:nvSpPr>
            <p:cNvPr id="47" name="文字方塊 46">
              <a:extLst>
                <a:ext uri="{FF2B5EF4-FFF2-40B4-BE49-F238E27FC236}">
                  <a16:creationId xmlns:a16="http://schemas.microsoft.com/office/drawing/2014/main" id="{4D198330-D5E0-58E4-07D2-DC15C4E145B5}"/>
                </a:ext>
              </a:extLst>
            </p:cNvPr>
            <p:cNvSpPr txBox="1"/>
            <p:nvPr/>
          </p:nvSpPr>
          <p:spPr>
            <a:xfrm>
              <a:off x="11493737" y="6108738"/>
              <a:ext cx="487634" cy="307777"/>
            </a:xfrm>
            <a:prstGeom prst="rect">
              <a:avLst/>
            </a:prstGeom>
            <a:noFill/>
          </p:spPr>
          <p:txBody>
            <a:bodyPr wrap="none" rtlCol="0">
              <a:spAutoFit/>
            </a:bodyPr>
            <a:lstStyle/>
            <a:p>
              <a:r>
                <a:rPr kumimoji="1" lang="en-US" altLang="zh-TW" sz="1400" dirty="0"/>
                <a:t>4GB</a:t>
              </a:r>
              <a:endParaRPr kumimoji="1" lang="zh-TW" altLang="en-US" sz="1400" dirty="0"/>
            </a:p>
          </p:txBody>
        </p:sp>
      </p:grpSp>
      <p:grpSp>
        <p:nvGrpSpPr>
          <p:cNvPr id="70" name="群組 69">
            <a:extLst>
              <a:ext uri="{FF2B5EF4-FFF2-40B4-BE49-F238E27FC236}">
                <a16:creationId xmlns:a16="http://schemas.microsoft.com/office/drawing/2014/main" id="{EDAB301B-4B1C-5074-4B42-65F54C4828DF}"/>
              </a:ext>
            </a:extLst>
          </p:cNvPr>
          <p:cNvGrpSpPr/>
          <p:nvPr/>
        </p:nvGrpSpPr>
        <p:grpSpPr>
          <a:xfrm>
            <a:off x="9536682" y="1793478"/>
            <a:ext cx="1975944" cy="4540920"/>
            <a:chOff x="9536682" y="1793478"/>
            <a:chExt cx="1975944" cy="4540920"/>
          </a:xfrm>
        </p:grpSpPr>
        <p:sp>
          <p:nvSpPr>
            <p:cNvPr id="38" name="矩形 57">
              <a:extLst>
                <a:ext uri="{FF2B5EF4-FFF2-40B4-BE49-F238E27FC236}">
                  <a16:creationId xmlns:a16="http://schemas.microsoft.com/office/drawing/2014/main" id="{57AFD36C-3C75-5761-EA74-562DDDCE7F34}"/>
                </a:ext>
              </a:extLst>
            </p:cNvPr>
            <p:cNvSpPr/>
            <p:nvPr/>
          </p:nvSpPr>
          <p:spPr>
            <a:xfrm>
              <a:off x="10158985" y="2956777"/>
              <a:ext cx="1353641" cy="3377621"/>
            </a:xfrm>
            <a:prstGeom prst="rect">
              <a:avLst/>
            </a:prstGeom>
            <a:solidFill>
              <a:schemeClr val="bg1">
                <a:lumMod val="7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cs typeface="Arial" panose="020B0604020202020204" pitchFamily="34" charset="0"/>
                </a:rPr>
                <a:t>HIGHMEM</a:t>
              </a:r>
              <a:endParaRPr kumimoji="1" lang="zh-TW" altLang="en-US" sz="1400" dirty="0">
                <a:solidFill>
                  <a:schemeClr val="tx1"/>
                </a:solidFill>
                <a:cs typeface="Arial" panose="020B0604020202020204" pitchFamily="34" charset="0"/>
              </a:endParaRPr>
            </a:p>
          </p:txBody>
        </p:sp>
        <p:grpSp>
          <p:nvGrpSpPr>
            <p:cNvPr id="69" name="群組 68">
              <a:extLst>
                <a:ext uri="{FF2B5EF4-FFF2-40B4-BE49-F238E27FC236}">
                  <a16:creationId xmlns:a16="http://schemas.microsoft.com/office/drawing/2014/main" id="{354E990E-835F-21B1-9F34-F9E16042DB8A}"/>
                </a:ext>
              </a:extLst>
            </p:cNvPr>
            <p:cNvGrpSpPr/>
            <p:nvPr/>
          </p:nvGrpSpPr>
          <p:grpSpPr>
            <a:xfrm>
              <a:off x="9536682" y="1975826"/>
              <a:ext cx="579254" cy="3896056"/>
              <a:chOff x="9536682" y="1975826"/>
              <a:chExt cx="579254" cy="3896056"/>
            </a:xfrm>
          </p:grpSpPr>
          <p:cxnSp>
            <p:nvCxnSpPr>
              <p:cNvPr id="57" name="直線箭頭接點 56">
                <a:extLst>
                  <a:ext uri="{FF2B5EF4-FFF2-40B4-BE49-F238E27FC236}">
                    <a16:creationId xmlns:a16="http://schemas.microsoft.com/office/drawing/2014/main" id="{D1563150-A9E4-7552-6838-E431A9EFF4AC}"/>
                  </a:ext>
                </a:extLst>
              </p:cNvPr>
              <p:cNvCxnSpPr>
                <a:cxnSpLocks/>
              </p:cNvCxnSpPr>
              <p:nvPr/>
            </p:nvCxnSpPr>
            <p:spPr>
              <a:xfrm>
                <a:off x="9536682" y="1975826"/>
                <a:ext cx="234847" cy="0"/>
              </a:xfrm>
              <a:prstGeom prst="straightConnector1">
                <a:avLst/>
              </a:prstGeom>
              <a:ln w="38100">
                <a:solidFill>
                  <a:schemeClr val="accent5"/>
                </a:solidFill>
                <a:tailEnd type="none"/>
              </a:ln>
            </p:spPr>
            <p:style>
              <a:lnRef idx="1">
                <a:schemeClr val="accent1"/>
              </a:lnRef>
              <a:fillRef idx="0">
                <a:schemeClr val="accent1"/>
              </a:fillRef>
              <a:effectRef idx="0">
                <a:schemeClr val="accent1"/>
              </a:effectRef>
              <a:fontRef idx="minor">
                <a:schemeClr val="tx1"/>
              </a:fontRef>
            </p:style>
          </p:cxnSp>
          <p:cxnSp>
            <p:nvCxnSpPr>
              <p:cNvPr id="59" name="直線箭頭接點 58">
                <a:extLst>
                  <a:ext uri="{FF2B5EF4-FFF2-40B4-BE49-F238E27FC236}">
                    <a16:creationId xmlns:a16="http://schemas.microsoft.com/office/drawing/2014/main" id="{A109BE5C-22E1-6E3D-3B72-99772998FA8B}"/>
                  </a:ext>
                </a:extLst>
              </p:cNvPr>
              <p:cNvCxnSpPr>
                <a:cxnSpLocks/>
              </p:cNvCxnSpPr>
              <p:nvPr/>
            </p:nvCxnSpPr>
            <p:spPr>
              <a:xfrm>
                <a:off x="9744115" y="1975826"/>
                <a:ext cx="0" cy="3896056"/>
              </a:xfrm>
              <a:prstGeom prst="straightConnector1">
                <a:avLst/>
              </a:prstGeom>
              <a:ln w="38100">
                <a:solidFill>
                  <a:schemeClr val="accent5"/>
                </a:solidFill>
                <a:tailEnd type="none"/>
              </a:ln>
            </p:spPr>
            <p:style>
              <a:lnRef idx="1">
                <a:schemeClr val="accent1"/>
              </a:lnRef>
              <a:fillRef idx="0">
                <a:schemeClr val="accent1"/>
              </a:fillRef>
              <a:effectRef idx="0">
                <a:schemeClr val="accent1"/>
              </a:effectRef>
              <a:fontRef idx="minor">
                <a:schemeClr val="tx1"/>
              </a:fontRef>
            </p:style>
          </p:cxnSp>
          <p:cxnSp>
            <p:nvCxnSpPr>
              <p:cNvPr id="61" name="直線箭頭接點 60">
                <a:extLst>
                  <a:ext uri="{FF2B5EF4-FFF2-40B4-BE49-F238E27FC236}">
                    <a16:creationId xmlns:a16="http://schemas.microsoft.com/office/drawing/2014/main" id="{AF661D46-0871-203F-F330-212A705F5A43}"/>
                  </a:ext>
                </a:extLst>
              </p:cNvPr>
              <p:cNvCxnSpPr>
                <a:cxnSpLocks/>
              </p:cNvCxnSpPr>
              <p:nvPr/>
            </p:nvCxnSpPr>
            <p:spPr>
              <a:xfrm>
                <a:off x="9722565" y="5871882"/>
                <a:ext cx="393371"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8" name="群組 67">
              <a:extLst>
                <a:ext uri="{FF2B5EF4-FFF2-40B4-BE49-F238E27FC236}">
                  <a16:creationId xmlns:a16="http://schemas.microsoft.com/office/drawing/2014/main" id="{E0527E54-49CC-39BB-3D54-2AB6FC5957DB}"/>
                </a:ext>
              </a:extLst>
            </p:cNvPr>
            <p:cNvGrpSpPr/>
            <p:nvPr/>
          </p:nvGrpSpPr>
          <p:grpSpPr>
            <a:xfrm>
              <a:off x="9541383" y="1793478"/>
              <a:ext cx="617602" cy="2130376"/>
              <a:chOff x="9541383" y="1793478"/>
              <a:chExt cx="617602" cy="2130376"/>
            </a:xfrm>
          </p:grpSpPr>
          <p:cxnSp>
            <p:nvCxnSpPr>
              <p:cNvPr id="55" name="直線箭頭接點 54">
                <a:extLst>
                  <a:ext uri="{FF2B5EF4-FFF2-40B4-BE49-F238E27FC236}">
                    <a16:creationId xmlns:a16="http://schemas.microsoft.com/office/drawing/2014/main" id="{233AA306-6D2C-6C4B-345F-9692DF1A40C9}"/>
                  </a:ext>
                </a:extLst>
              </p:cNvPr>
              <p:cNvCxnSpPr>
                <a:cxnSpLocks/>
              </p:cNvCxnSpPr>
              <p:nvPr/>
            </p:nvCxnSpPr>
            <p:spPr>
              <a:xfrm>
                <a:off x="9541383" y="1793478"/>
                <a:ext cx="333745" cy="0"/>
              </a:xfrm>
              <a:prstGeom prst="straightConnector1">
                <a:avLst/>
              </a:prstGeom>
              <a:ln w="38100">
                <a:solidFill>
                  <a:schemeClr val="accent5"/>
                </a:solidFill>
                <a:tailEnd type="none"/>
              </a:ln>
            </p:spPr>
            <p:style>
              <a:lnRef idx="1">
                <a:schemeClr val="accent1"/>
              </a:lnRef>
              <a:fillRef idx="0">
                <a:schemeClr val="accent1"/>
              </a:fillRef>
              <a:effectRef idx="0">
                <a:schemeClr val="accent1"/>
              </a:effectRef>
              <a:fontRef idx="minor">
                <a:schemeClr val="tx1"/>
              </a:fontRef>
            </p:style>
          </p:cxnSp>
          <p:cxnSp>
            <p:nvCxnSpPr>
              <p:cNvPr id="63" name="直線箭頭接點 62">
                <a:extLst>
                  <a:ext uri="{FF2B5EF4-FFF2-40B4-BE49-F238E27FC236}">
                    <a16:creationId xmlns:a16="http://schemas.microsoft.com/office/drawing/2014/main" id="{53EF9752-4FB0-48E6-894D-E6957A94D33E}"/>
                  </a:ext>
                </a:extLst>
              </p:cNvPr>
              <p:cNvCxnSpPr>
                <a:cxnSpLocks/>
              </p:cNvCxnSpPr>
              <p:nvPr/>
            </p:nvCxnSpPr>
            <p:spPr>
              <a:xfrm>
                <a:off x="9864975" y="1793478"/>
                <a:ext cx="17439" cy="2130376"/>
              </a:xfrm>
              <a:prstGeom prst="straightConnector1">
                <a:avLst/>
              </a:prstGeom>
              <a:ln w="38100">
                <a:solidFill>
                  <a:schemeClr val="accent5"/>
                </a:solidFill>
                <a:tailEnd type="none"/>
              </a:ln>
            </p:spPr>
            <p:style>
              <a:lnRef idx="1">
                <a:schemeClr val="accent1"/>
              </a:lnRef>
              <a:fillRef idx="0">
                <a:schemeClr val="accent1"/>
              </a:fillRef>
              <a:effectRef idx="0">
                <a:schemeClr val="accent1"/>
              </a:effectRef>
              <a:fontRef idx="minor">
                <a:schemeClr val="tx1"/>
              </a:fontRef>
            </p:style>
          </p:cxnSp>
          <p:cxnSp>
            <p:nvCxnSpPr>
              <p:cNvPr id="64" name="直線箭頭接點 63">
                <a:extLst>
                  <a:ext uri="{FF2B5EF4-FFF2-40B4-BE49-F238E27FC236}">
                    <a16:creationId xmlns:a16="http://schemas.microsoft.com/office/drawing/2014/main" id="{09EF1AC0-B1BE-CB2F-261F-C9FBEEDCE057}"/>
                  </a:ext>
                </a:extLst>
              </p:cNvPr>
              <p:cNvCxnSpPr>
                <a:cxnSpLocks/>
              </p:cNvCxnSpPr>
              <p:nvPr/>
            </p:nvCxnSpPr>
            <p:spPr>
              <a:xfrm>
                <a:off x="9875128" y="3923854"/>
                <a:ext cx="283857"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39" name="群組 38">
            <a:extLst>
              <a:ext uri="{FF2B5EF4-FFF2-40B4-BE49-F238E27FC236}">
                <a16:creationId xmlns:a16="http://schemas.microsoft.com/office/drawing/2014/main" id="{36B70635-D04F-B9BD-B71C-967475AE889B}"/>
              </a:ext>
            </a:extLst>
          </p:cNvPr>
          <p:cNvGrpSpPr/>
          <p:nvPr/>
        </p:nvGrpSpPr>
        <p:grpSpPr>
          <a:xfrm>
            <a:off x="7645168" y="1620671"/>
            <a:ext cx="4546831" cy="5090335"/>
            <a:chOff x="7645168" y="1620671"/>
            <a:chExt cx="4546831" cy="5090335"/>
          </a:xfrm>
        </p:grpSpPr>
        <p:sp>
          <p:nvSpPr>
            <p:cNvPr id="11" name="矩形 57">
              <a:extLst>
                <a:ext uri="{FF2B5EF4-FFF2-40B4-BE49-F238E27FC236}">
                  <a16:creationId xmlns:a16="http://schemas.microsoft.com/office/drawing/2014/main" id="{F4617312-BACC-CAD6-4B53-B835B6C63800}"/>
                </a:ext>
              </a:extLst>
            </p:cNvPr>
            <p:cNvSpPr/>
            <p:nvPr/>
          </p:nvSpPr>
          <p:spPr>
            <a:xfrm>
              <a:off x="7970383" y="1620671"/>
              <a:ext cx="1558187" cy="1808329"/>
            </a:xfrm>
            <a:prstGeom prst="rect">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600" dirty="0">
                <a:solidFill>
                  <a:schemeClr val="tx1"/>
                </a:solidFill>
                <a:cs typeface="Arial" panose="020B0604020202020204" pitchFamily="34" charset="0"/>
              </a:endParaRPr>
            </a:p>
          </p:txBody>
        </p:sp>
        <p:sp>
          <p:nvSpPr>
            <p:cNvPr id="12" name="矩形 57">
              <a:extLst>
                <a:ext uri="{FF2B5EF4-FFF2-40B4-BE49-F238E27FC236}">
                  <a16:creationId xmlns:a16="http://schemas.microsoft.com/office/drawing/2014/main" id="{E92F8042-D9F8-015F-BC1C-8831F69B1C49}"/>
                </a:ext>
              </a:extLst>
            </p:cNvPr>
            <p:cNvSpPr/>
            <p:nvPr/>
          </p:nvSpPr>
          <p:spPr>
            <a:xfrm>
              <a:off x="10145897" y="1628554"/>
              <a:ext cx="1366729" cy="4705844"/>
            </a:xfrm>
            <a:prstGeom prst="rect">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600" dirty="0">
                <a:solidFill>
                  <a:schemeClr val="tx1"/>
                </a:solidFill>
                <a:cs typeface="Arial" panose="020B0604020202020204" pitchFamily="34" charset="0"/>
              </a:endParaRPr>
            </a:p>
          </p:txBody>
        </p:sp>
        <p:sp>
          <p:nvSpPr>
            <p:cNvPr id="20" name="矩形 57">
              <a:extLst>
                <a:ext uri="{FF2B5EF4-FFF2-40B4-BE49-F238E27FC236}">
                  <a16:creationId xmlns:a16="http://schemas.microsoft.com/office/drawing/2014/main" id="{C642FD5E-6462-7786-073B-80F5FB204413}"/>
                </a:ext>
              </a:extLst>
            </p:cNvPr>
            <p:cNvSpPr/>
            <p:nvPr/>
          </p:nvSpPr>
          <p:spPr>
            <a:xfrm>
              <a:off x="7971122" y="3431205"/>
              <a:ext cx="1565560" cy="2931675"/>
            </a:xfrm>
            <a:prstGeom prst="rect">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600" dirty="0">
                <a:solidFill>
                  <a:schemeClr val="tx1"/>
                </a:solidFill>
                <a:cs typeface="Arial" panose="020B0604020202020204" pitchFamily="34" charset="0"/>
              </a:endParaRPr>
            </a:p>
          </p:txBody>
        </p:sp>
        <p:sp>
          <p:nvSpPr>
            <p:cNvPr id="21" name="文字方塊 20">
              <a:extLst>
                <a:ext uri="{FF2B5EF4-FFF2-40B4-BE49-F238E27FC236}">
                  <a16:creationId xmlns:a16="http://schemas.microsoft.com/office/drawing/2014/main" id="{7E6ED8EA-8897-86E2-6215-91867F5F7E83}"/>
                </a:ext>
              </a:extLst>
            </p:cNvPr>
            <p:cNvSpPr txBox="1"/>
            <p:nvPr/>
          </p:nvSpPr>
          <p:spPr>
            <a:xfrm>
              <a:off x="7645168" y="6334398"/>
              <a:ext cx="2217467" cy="369332"/>
            </a:xfrm>
            <a:prstGeom prst="rect">
              <a:avLst/>
            </a:prstGeom>
            <a:noFill/>
          </p:spPr>
          <p:txBody>
            <a:bodyPr wrap="none" rtlCol="0">
              <a:spAutoFit/>
            </a:bodyPr>
            <a:lstStyle/>
            <a:p>
              <a:r>
                <a:rPr kumimoji="1" lang="en-US" altLang="zh-TW" dirty="0"/>
                <a:t>Virtual Address Space</a:t>
              </a:r>
              <a:endParaRPr kumimoji="1" lang="zh-TW" altLang="en-US" dirty="0"/>
            </a:p>
          </p:txBody>
        </p:sp>
        <p:sp>
          <p:nvSpPr>
            <p:cNvPr id="24" name="文字方塊 23">
              <a:extLst>
                <a:ext uri="{FF2B5EF4-FFF2-40B4-BE49-F238E27FC236}">
                  <a16:creationId xmlns:a16="http://schemas.microsoft.com/office/drawing/2014/main" id="{813B80AA-10C8-B0E0-AF6B-17AF73A16D9E}"/>
                </a:ext>
              </a:extLst>
            </p:cNvPr>
            <p:cNvSpPr txBox="1"/>
            <p:nvPr/>
          </p:nvSpPr>
          <p:spPr>
            <a:xfrm>
              <a:off x="9861040" y="6341674"/>
              <a:ext cx="2330959" cy="369332"/>
            </a:xfrm>
            <a:prstGeom prst="rect">
              <a:avLst/>
            </a:prstGeom>
            <a:noFill/>
          </p:spPr>
          <p:txBody>
            <a:bodyPr wrap="none" rtlCol="0">
              <a:spAutoFit/>
            </a:bodyPr>
            <a:lstStyle/>
            <a:p>
              <a:r>
                <a:rPr kumimoji="1" lang="en-US" altLang="zh-TW" dirty="0"/>
                <a:t>Physical Address Space</a:t>
              </a:r>
              <a:endParaRPr kumimoji="1" lang="zh-TW" altLang="en-US" dirty="0"/>
            </a:p>
          </p:txBody>
        </p:sp>
      </p:grpSp>
    </p:spTree>
    <p:extLst>
      <p:ext uri="{BB962C8B-B14F-4D97-AF65-F5344CB8AC3E}">
        <p14:creationId xmlns:p14="http://schemas.microsoft.com/office/powerpoint/2010/main" val="3311558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wipe(down)">
                                      <p:cBhvr>
                                        <p:cTn id="27" dur="500"/>
                                        <p:tgtEl>
                                          <p:spTgt spid="4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wipe(down)">
                                      <p:cBhvr>
                                        <p:cTn id="32" dur="500"/>
                                        <p:tgtEl>
                                          <p:spTgt spid="37"/>
                                        </p:tgtEl>
                                      </p:cBhvr>
                                    </p:animEffect>
                                  </p:childTnLst>
                                </p:cTn>
                              </p:par>
                              <p:par>
                                <p:cTn id="33" presetID="10" presetClass="entr" presetSubtype="0" fill="hold" nodeType="withEffect">
                                  <p:stCondLst>
                                    <p:cond delay="0"/>
                                  </p:stCondLst>
                                  <p:childTnLst>
                                    <p:set>
                                      <p:cBhvr>
                                        <p:cTn id="34" dur="1" fill="hold">
                                          <p:stCondLst>
                                            <p:cond delay="0"/>
                                          </p:stCondLst>
                                        </p:cTn>
                                        <p:tgtEl>
                                          <p:spTgt spid="48"/>
                                        </p:tgtEl>
                                        <p:attrNameLst>
                                          <p:attrName>style.visibility</p:attrName>
                                        </p:attrNameLst>
                                      </p:cBhvr>
                                      <p:to>
                                        <p:strVal val="visible"/>
                                      </p:to>
                                    </p:set>
                                    <p:animEffect transition="in" filter="fade">
                                      <p:cBhvr>
                                        <p:cTn id="35" dur="500"/>
                                        <p:tgtEl>
                                          <p:spTgt spid="48"/>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wipe(down)">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xit" presetSubtype="0" fill="hold" nodeType="clickEffect">
                                  <p:stCondLst>
                                    <p:cond delay="0"/>
                                  </p:stCondLst>
                                  <p:childTnLst>
                                    <p:animEffect transition="out" filter="fade">
                                      <p:cBhvr>
                                        <p:cTn id="42" dur="500"/>
                                        <p:tgtEl>
                                          <p:spTgt spid="37"/>
                                        </p:tgtEl>
                                      </p:cBhvr>
                                    </p:animEffect>
                                    <p:set>
                                      <p:cBhvr>
                                        <p:cTn id="43" dur="1" fill="hold">
                                          <p:stCondLst>
                                            <p:cond delay="499"/>
                                          </p:stCondLst>
                                        </p:cTn>
                                        <p:tgtEl>
                                          <p:spTgt spid="37"/>
                                        </p:tgtEl>
                                        <p:attrNameLst>
                                          <p:attrName>style.visibility</p:attrName>
                                        </p:attrNameLst>
                                      </p:cBhvr>
                                      <p:to>
                                        <p:strVal val="hidden"/>
                                      </p:to>
                                    </p:set>
                                  </p:childTnLst>
                                </p:cTn>
                              </p:par>
                              <p:par>
                                <p:cTn id="44" presetID="22" presetClass="entr" presetSubtype="8" fill="hold" nodeType="withEffect">
                                  <p:stCondLst>
                                    <p:cond delay="0"/>
                                  </p:stCondLst>
                                  <p:childTnLst>
                                    <p:set>
                                      <p:cBhvr>
                                        <p:cTn id="45" dur="1" fill="hold">
                                          <p:stCondLst>
                                            <p:cond delay="0"/>
                                          </p:stCondLst>
                                        </p:cTn>
                                        <p:tgtEl>
                                          <p:spTgt spid="70"/>
                                        </p:tgtEl>
                                        <p:attrNameLst>
                                          <p:attrName>style.visibility</p:attrName>
                                        </p:attrNameLst>
                                      </p:cBhvr>
                                      <p:to>
                                        <p:strVal val="visible"/>
                                      </p:to>
                                    </p:set>
                                    <p:animEffect transition="in" filter="wipe(left)">
                                      <p:cBhvr>
                                        <p:cTn id="46" dur="1000"/>
                                        <p:tgtEl>
                                          <p:spTgt spid="7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
                                            <p:txEl>
                                              <p:pRg st="2" end="2"/>
                                            </p:txEl>
                                          </p:spTgt>
                                        </p:tgtEl>
                                        <p:attrNameLst>
                                          <p:attrName>style.visibility</p:attrName>
                                        </p:attrNameLst>
                                      </p:cBhvr>
                                      <p:to>
                                        <p:strVal val="visible"/>
                                      </p:to>
                                    </p:set>
                                    <p:animEffect transition="in" filter="fade">
                                      <p:cBhvr>
                                        <p:cTn id="51" dur="500"/>
                                        <p:tgtEl>
                                          <p:spTgt spid="3">
                                            <p:txEl>
                                              <p:pRg st="2" end="2"/>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
                                            <p:txEl>
                                              <p:pRg st="3" end="3"/>
                                            </p:txEl>
                                          </p:spTgt>
                                        </p:tgtEl>
                                        <p:attrNameLst>
                                          <p:attrName>style.visibility</p:attrName>
                                        </p:attrNameLst>
                                      </p:cBhvr>
                                      <p:to>
                                        <p:strVal val="visible"/>
                                      </p:to>
                                    </p:set>
                                    <p:animEffect transition="in" filter="fade">
                                      <p:cBhvr>
                                        <p:cTn id="56" dur="500"/>
                                        <p:tgtEl>
                                          <p:spTgt spid="3">
                                            <p:txEl>
                                              <p:pRg st="3" end="3"/>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
                                            <p:txEl>
                                              <p:pRg st="4" end="4"/>
                                            </p:txEl>
                                          </p:spTgt>
                                        </p:tgtEl>
                                        <p:attrNameLst>
                                          <p:attrName>style.visibility</p:attrName>
                                        </p:attrNameLst>
                                      </p:cBhvr>
                                      <p:to>
                                        <p:strVal val="visible"/>
                                      </p:to>
                                    </p:set>
                                    <p:animEffect transition="in" filter="fade">
                                      <p:cBhvr>
                                        <p:cTn id="6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32691" y="2470860"/>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Process Address Space</a:t>
            </a:r>
            <a:br>
              <a:rPr lang="en-US" altLang="zh-TW" b="1" dirty="0">
                <a:latin typeface="Calibri" panose="020F0502020204030204" pitchFamily="34" charset="0"/>
                <a:ea typeface="Tahoma" panose="020B0604030504040204" pitchFamily="34" charset="0"/>
                <a:cs typeface="Calibri" panose="020F0502020204030204" pitchFamily="34" charset="0"/>
              </a:rPr>
            </a:br>
            <a:r>
              <a:rPr lang="en-US" altLang="zh-TW" b="1" dirty="0">
                <a:latin typeface="Calibri" panose="020F0502020204030204" pitchFamily="34" charset="0"/>
                <a:ea typeface="Tahoma" panose="020B0604030504040204" pitchFamily="34" charset="0"/>
                <a:cs typeface="Calibri" panose="020F0502020204030204" pitchFamily="34" charset="0"/>
              </a:rPr>
              <a:t>(Virtual Address)</a:t>
            </a:r>
          </a:p>
        </p:txBody>
      </p:sp>
    </p:spTree>
    <p:extLst>
      <p:ext uri="{BB962C8B-B14F-4D97-AF65-F5344CB8AC3E}">
        <p14:creationId xmlns:p14="http://schemas.microsoft.com/office/powerpoint/2010/main" val="41979631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66866BB-D8D6-F590-9E2C-0F78B5A44C29}"/>
              </a:ext>
            </a:extLst>
          </p:cNvPr>
          <p:cNvSpPr>
            <a:spLocks noGrp="1"/>
          </p:cNvSpPr>
          <p:nvPr>
            <p:ph type="title"/>
          </p:nvPr>
        </p:nvSpPr>
        <p:spPr/>
        <p:txBody>
          <a:bodyPr/>
          <a:lstStyle/>
          <a:p>
            <a:r>
              <a:rPr kumimoji="1" lang="en-US" altLang="zh-TW" dirty="0"/>
              <a:t>Virtual Address Spaces</a:t>
            </a:r>
            <a:endParaRPr kumimoji="1" lang="zh-TW" altLang="en-US" dirty="0"/>
          </a:p>
        </p:txBody>
      </p:sp>
      <p:sp>
        <p:nvSpPr>
          <p:cNvPr id="3" name="內容版面配置區 2">
            <a:extLst>
              <a:ext uri="{FF2B5EF4-FFF2-40B4-BE49-F238E27FC236}">
                <a16:creationId xmlns:a16="http://schemas.microsoft.com/office/drawing/2014/main" id="{02F82E98-BF24-48F9-997B-91DDB1EC4D95}"/>
              </a:ext>
            </a:extLst>
          </p:cNvPr>
          <p:cNvSpPr>
            <a:spLocks noGrp="1"/>
          </p:cNvSpPr>
          <p:nvPr>
            <p:ph idx="1"/>
          </p:nvPr>
        </p:nvSpPr>
        <p:spPr>
          <a:xfrm>
            <a:off x="177800" y="1238250"/>
            <a:ext cx="7536337" cy="5441950"/>
          </a:xfrm>
        </p:spPr>
        <p:txBody>
          <a:bodyPr>
            <a:normAutofit/>
          </a:bodyPr>
          <a:lstStyle/>
          <a:p>
            <a:pPr algn="l"/>
            <a:r>
              <a:rPr kumimoji="1" lang="en-US" altLang="zh-TW" dirty="0"/>
              <a:t>On </a:t>
            </a:r>
            <a:r>
              <a:rPr kumimoji="1" lang="en-US" altLang="zh-TW" dirty="0">
                <a:solidFill>
                  <a:srgbClr val="C00000"/>
                </a:solidFill>
              </a:rPr>
              <a:t>Linux</a:t>
            </a:r>
            <a:r>
              <a:rPr kumimoji="1" lang="en-US" altLang="zh-TW" dirty="0"/>
              <a:t>, </a:t>
            </a:r>
            <a:r>
              <a:rPr kumimoji="1" lang="en-US" altLang="zh-TW" dirty="0">
                <a:solidFill>
                  <a:srgbClr val="C00000"/>
                </a:solidFill>
              </a:rPr>
              <a:t>each process </a:t>
            </a:r>
            <a:r>
              <a:rPr kumimoji="1" lang="en-US" altLang="zh-TW" dirty="0"/>
              <a:t>is given a </a:t>
            </a:r>
            <a:r>
              <a:rPr kumimoji="1" lang="en-US" altLang="zh-TW" dirty="0">
                <a:solidFill>
                  <a:srgbClr val="C00000"/>
                </a:solidFill>
              </a:rPr>
              <a:t>unique and flat </a:t>
            </a:r>
            <a:r>
              <a:rPr kumimoji="1" lang="en-US" altLang="zh-TW" dirty="0"/>
              <a:t>32- or 64-bit address space.</a:t>
            </a:r>
          </a:p>
          <a:p>
            <a:pPr lvl="1" algn="l"/>
            <a:r>
              <a:rPr kumimoji="1" lang="en-US" altLang="zh-TW" dirty="0"/>
              <a:t>Unique: Processes can have </a:t>
            </a:r>
            <a:r>
              <a:rPr kumimoji="1" lang="en-US" altLang="zh-TW" dirty="0">
                <a:solidFill>
                  <a:srgbClr val="C00000"/>
                </a:solidFill>
              </a:rPr>
              <a:t>different data at the same address </a:t>
            </a:r>
            <a:r>
              <a:rPr kumimoji="1" lang="en-US" altLang="zh-TW" dirty="0"/>
              <a:t>in their </a:t>
            </a:r>
            <a:r>
              <a:rPr kumimoji="1" lang="en-US" altLang="zh-TW" dirty="0">
                <a:solidFill>
                  <a:srgbClr val="C00000"/>
                </a:solidFill>
              </a:rPr>
              <a:t>own address space</a:t>
            </a:r>
            <a:r>
              <a:rPr kumimoji="1" lang="en-US" altLang="zh-TW" dirty="0"/>
              <a:t>. (Note: Processes can also share address space, like threads)</a:t>
            </a:r>
            <a:endParaRPr lang="en-US" altLang="zh-TW" dirty="0"/>
          </a:p>
          <a:p>
            <a:pPr lvl="1" algn="l"/>
            <a:r>
              <a:rPr lang="en-US" altLang="zh-TW" dirty="0"/>
              <a:t>Flat: Modern Linux system </a:t>
            </a:r>
            <a:r>
              <a:rPr lang="en-US" altLang="zh-TW" dirty="0">
                <a:solidFill>
                  <a:srgbClr val="C00000"/>
                </a:solidFill>
              </a:rPr>
              <a:t>does not use segmentation</a:t>
            </a:r>
            <a:r>
              <a:rPr lang="en-US" altLang="zh-TW" dirty="0"/>
              <a:t>.</a:t>
            </a:r>
          </a:p>
          <a:p>
            <a:pPr algn="l"/>
            <a:r>
              <a:rPr lang="en-US" altLang="zh-TW" dirty="0"/>
              <a:t>Memory address is a particular value </a:t>
            </a:r>
            <a:r>
              <a:rPr lang="en-US" altLang="zh-TW" dirty="0">
                <a:solidFill>
                  <a:srgbClr val="C00000"/>
                </a:solidFill>
              </a:rPr>
              <a:t>identifying a specific byte</a:t>
            </a:r>
            <a:r>
              <a:rPr lang="en-US" altLang="zh-TW" dirty="0"/>
              <a:t> in a</a:t>
            </a:r>
            <a:r>
              <a:rPr lang="zh-TW" altLang="en-US" dirty="0"/>
              <a:t> </a:t>
            </a:r>
            <a:r>
              <a:rPr lang="en-US" altLang="zh-TW" dirty="0"/>
              <a:t>process’s address space </a:t>
            </a:r>
            <a:br>
              <a:rPr lang="en-US" altLang="zh-TW" dirty="0"/>
            </a:br>
            <a:r>
              <a:rPr lang="en-US" altLang="zh-TW" dirty="0"/>
              <a:t>(32-bit address space: 0 to 2</a:t>
            </a:r>
            <a:r>
              <a:rPr lang="en-US" altLang="zh-TW" baseline="30000" dirty="0"/>
              <a:t>32</a:t>
            </a:r>
            <a:r>
              <a:rPr lang="en-US" altLang="zh-TW" dirty="0"/>
              <a:t> or 4294967295)</a:t>
            </a:r>
          </a:p>
          <a:p>
            <a:pPr algn="l"/>
            <a:r>
              <a:rPr lang="en-US" altLang="zh-TW" dirty="0"/>
              <a:t>Not every address is legal, </a:t>
            </a:r>
            <a:r>
              <a:rPr lang="en-US" altLang="zh-TW" dirty="0">
                <a:solidFill>
                  <a:srgbClr val="C00000"/>
                </a:solidFill>
              </a:rPr>
              <a:t>intervals of legal addresses </a:t>
            </a:r>
            <a:r>
              <a:rPr lang="en-US" altLang="zh-TW" dirty="0">
                <a:solidFill>
                  <a:schemeClr val="tx1"/>
                </a:solidFill>
              </a:rPr>
              <a:t>are</a:t>
            </a:r>
            <a:r>
              <a:rPr lang="en-US" altLang="zh-TW" dirty="0">
                <a:solidFill>
                  <a:srgbClr val="C00000"/>
                </a:solidFill>
              </a:rPr>
              <a:t> memory areas</a:t>
            </a:r>
            <a:r>
              <a:rPr lang="en-US" altLang="zh-TW" dirty="0"/>
              <a:t>.</a:t>
            </a:r>
          </a:p>
          <a:p>
            <a:pPr lvl="1" algn="l"/>
            <a:r>
              <a:rPr lang="en-US" altLang="zh-TW" dirty="0"/>
              <a:t>Permission: readable, writeable, executable</a:t>
            </a:r>
          </a:p>
        </p:txBody>
      </p:sp>
      <p:sp>
        <p:nvSpPr>
          <p:cNvPr id="4" name="投影片編號版面配置區 3">
            <a:extLst>
              <a:ext uri="{FF2B5EF4-FFF2-40B4-BE49-F238E27FC236}">
                <a16:creationId xmlns:a16="http://schemas.microsoft.com/office/drawing/2014/main" id="{20E38388-5786-CBA2-6BA1-08219F7FA0BC}"/>
              </a:ext>
            </a:extLst>
          </p:cNvPr>
          <p:cNvSpPr>
            <a:spLocks noGrp="1"/>
          </p:cNvSpPr>
          <p:nvPr>
            <p:ph type="sldNum" sz="quarter" idx="4"/>
          </p:nvPr>
        </p:nvSpPr>
        <p:spPr/>
        <p:txBody>
          <a:bodyPr/>
          <a:lstStyle/>
          <a:p>
            <a:fld id="{E24E6636-6BA5-4AAC-8485-BE8D914D288B}" type="slidenum">
              <a:rPr lang="zh-TW" altLang="en-US" smtClean="0"/>
              <a:pPr/>
              <a:t>25</a:t>
            </a:fld>
            <a:endParaRPr lang="zh-TW" altLang="en-US" dirty="0"/>
          </a:p>
        </p:txBody>
      </p:sp>
      <p:sp>
        <p:nvSpPr>
          <p:cNvPr id="8" name="矩形 57">
            <a:extLst>
              <a:ext uri="{FF2B5EF4-FFF2-40B4-BE49-F238E27FC236}">
                <a16:creationId xmlns:a16="http://schemas.microsoft.com/office/drawing/2014/main" id="{0F9622BD-6008-818C-F2F3-7E08A606574D}"/>
              </a:ext>
            </a:extLst>
          </p:cNvPr>
          <p:cNvSpPr/>
          <p:nvPr/>
        </p:nvSpPr>
        <p:spPr>
          <a:xfrm>
            <a:off x="8365194" y="3540081"/>
            <a:ext cx="2631092" cy="461709"/>
          </a:xfrm>
          <a:prstGeom prst="rect">
            <a:avLst/>
          </a:prstGeom>
          <a:solidFill>
            <a:schemeClr val="accent2">
              <a:lumMod val="20000"/>
              <a:lumOff val="80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Memory-Mapping for Shared Library</a:t>
            </a:r>
            <a:endParaRPr kumimoji="1" lang="zh-TW" altLang="en-US" sz="1600" dirty="0">
              <a:solidFill>
                <a:schemeClr val="tx1"/>
              </a:solidFill>
              <a:cs typeface="Arial" panose="020B0604020202020204" pitchFamily="34" charset="0"/>
            </a:endParaRPr>
          </a:p>
        </p:txBody>
      </p:sp>
      <p:grpSp>
        <p:nvGrpSpPr>
          <p:cNvPr id="9" name="群組 8">
            <a:extLst>
              <a:ext uri="{FF2B5EF4-FFF2-40B4-BE49-F238E27FC236}">
                <a16:creationId xmlns:a16="http://schemas.microsoft.com/office/drawing/2014/main" id="{448212CB-33C9-5E7E-FDC5-112483C17425}"/>
              </a:ext>
            </a:extLst>
          </p:cNvPr>
          <p:cNvGrpSpPr/>
          <p:nvPr/>
        </p:nvGrpSpPr>
        <p:grpSpPr>
          <a:xfrm>
            <a:off x="6254900" y="9422556"/>
            <a:ext cx="1150776" cy="4053540"/>
            <a:chOff x="7517006" y="4584700"/>
            <a:chExt cx="1150776" cy="4053540"/>
          </a:xfrm>
        </p:grpSpPr>
        <p:sp>
          <p:nvSpPr>
            <p:cNvPr id="10" name="矩形 57">
              <a:extLst>
                <a:ext uri="{FF2B5EF4-FFF2-40B4-BE49-F238E27FC236}">
                  <a16:creationId xmlns:a16="http://schemas.microsoft.com/office/drawing/2014/main" id="{4E4A1A28-28F8-707A-7A9C-9830E5064788}"/>
                </a:ext>
              </a:extLst>
            </p:cNvPr>
            <p:cNvSpPr/>
            <p:nvPr/>
          </p:nvSpPr>
          <p:spPr>
            <a:xfrm>
              <a:off x="7517006" y="4584700"/>
              <a:ext cx="1150776" cy="289062"/>
            </a:xfrm>
            <a:prstGeom prst="rect">
              <a:avLst/>
            </a:prstGeom>
            <a:solidFill>
              <a:schemeClr val="bg1">
                <a:lumMod val="95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cs typeface="Arial" panose="020B0604020202020204" pitchFamily="34" charset="0"/>
                </a:rPr>
                <a:t>User Mode</a:t>
              </a:r>
              <a:endParaRPr kumimoji="1" lang="zh-TW" altLang="en-US" sz="1600" dirty="0">
                <a:solidFill>
                  <a:schemeClr val="tx1"/>
                </a:solidFill>
                <a:cs typeface="Arial" panose="020B0604020202020204" pitchFamily="34" charset="0"/>
              </a:endParaRPr>
            </a:p>
          </p:txBody>
        </p:sp>
        <p:cxnSp>
          <p:nvCxnSpPr>
            <p:cNvPr id="11" name="肘形接點 10">
              <a:extLst>
                <a:ext uri="{FF2B5EF4-FFF2-40B4-BE49-F238E27FC236}">
                  <a16:creationId xmlns:a16="http://schemas.microsoft.com/office/drawing/2014/main" id="{BCCE07B7-D00E-D0EC-994A-40FCBBDBBCC5}"/>
                </a:ext>
              </a:extLst>
            </p:cNvPr>
            <p:cNvCxnSpPr>
              <a:cxnSpLocks/>
            </p:cNvCxnSpPr>
            <p:nvPr/>
          </p:nvCxnSpPr>
          <p:spPr>
            <a:xfrm>
              <a:off x="7617051" y="7882404"/>
              <a:ext cx="842278" cy="755836"/>
            </a:xfrm>
            <a:prstGeom prst="bentConnector3">
              <a:avLst>
                <a:gd name="adj1" fmla="val 50000"/>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39" name="群組 38">
            <a:extLst>
              <a:ext uri="{FF2B5EF4-FFF2-40B4-BE49-F238E27FC236}">
                <a16:creationId xmlns:a16="http://schemas.microsoft.com/office/drawing/2014/main" id="{4A2495AD-9C70-FB1F-296D-1CD44BF085E7}"/>
              </a:ext>
            </a:extLst>
          </p:cNvPr>
          <p:cNvGrpSpPr/>
          <p:nvPr/>
        </p:nvGrpSpPr>
        <p:grpSpPr>
          <a:xfrm>
            <a:off x="8368937" y="1238289"/>
            <a:ext cx="2627351" cy="1525334"/>
            <a:chOff x="8368937" y="1238289"/>
            <a:chExt cx="2627351" cy="1525334"/>
          </a:xfrm>
        </p:grpSpPr>
        <p:sp>
          <p:nvSpPr>
            <p:cNvPr id="28" name="矩形 57">
              <a:extLst>
                <a:ext uri="{FF2B5EF4-FFF2-40B4-BE49-F238E27FC236}">
                  <a16:creationId xmlns:a16="http://schemas.microsoft.com/office/drawing/2014/main" id="{4A51994D-6C0E-2BA9-7B76-EA75054DE669}"/>
                </a:ext>
              </a:extLst>
            </p:cNvPr>
            <p:cNvSpPr/>
            <p:nvPr/>
          </p:nvSpPr>
          <p:spPr>
            <a:xfrm>
              <a:off x="8368937" y="1699999"/>
              <a:ext cx="2623185" cy="1063624"/>
            </a:xfrm>
            <a:prstGeom prst="rect">
              <a:avLst/>
            </a:prstGeom>
            <a:solidFill>
              <a:schemeClr val="bg1">
                <a:lumMod val="9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cs typeface="Arial" panose="020B0604020202020204" pitchFamily="34" charset="0"/>
                </a:rPr>
                <a:t>Kernel Code/Data</a:t>
              </a:r>
            </a:p>
            <a:p>
              <a:pPr algn="ctr"/>
              <a:r>
                <a:rPr kumimoji="1" lang="en-US" altLang="zh-TW" sz="1600" dirty="0">
                  <a:solidFill>
                    <a:schemeClr val="tx1"/>
                  </a:solidFill>
                  <a:cs typeface="Arial" panose="020B0604020202020204" pitchFamily="34" charset="0"/>
                </a:rPr>
                <a:t>Process-Specific Data Structures (e.g., Page Table, kernel stack, </a:t>
              </a:r>
              <a:r>
                <a:rPr kumimoji="1" lang="en-US" altLang="zh-TW" sz="1600" dirty="0" err="1">
                  <a:solidFill>
                    <a:schemeClr val="tx1"/>
                  </a:solidFill>
                  <a:cs typeface="Arial" panose="020B0604020202020204" pitchFamily="34" charset="0"/>
                </a:rPr>
                <a:t>mm_struct</a:t>
              </a:r>
              <a:r>
                <a:rPr kumimoji="1" lang="en-US" altLang="zh-TW" sz="1600" dirty="0">
                  <a:solidFill>
                    <a:schemeClr val="tx1"/>
                  </a:solidFill>
                  <a:cs typeface="Arial" panose="020B0604020202020204" pitchFamily="34" charset="0"/>
                </a:rPr>
                <a:t>) </a:t>
              </a:r>
              <a:endParaRPr kumimoji="1" lang="zh-TW" altLang="en-US" sz="1600" dirty="0">
                <a:solidFill>
                  <a:schemeClr val="tx1"/>
                </a:solidFill>
                <a:latin typeface="+mj-lt"/>
                <a:cs typeface="Arial" panose="020B0604020202020204" pitchFamily="34" charset="0"/>
              </a:endParaRPr>
            </a:p>
          </p:txBody>
        </p:sp>
        <p:sp>
          <p:nvSpPr>
            <p:cNvPr id="14" name="矩形 57">
              <a:extLst>
                <a:ext uri="{FF2B5EF4-FFF2-40B4-BE49-F238E27FC236}">
                  <a16:creationId xmlns:a16="http://schemas.microsoft.com/office/drawing/2014/main" id="{38820CE7-03EC-BAB1-CBCF-A08E293732F7}"/>
                </a:ext>
              </a:extLst>
            </p:cNvPr>
            <p:cNvSpPr/>
            <p:nvPr/>
          </p:nvSpPr>
          <p:spPr>
            <a:xfrm>
              <a:off x="8373101" y="1238289"/>
              <a:ext cx="2623187" cy="461709"/>
            </a:xfrm>
            <a:prstGeom prst="rect">
              <a:avLst/>
            </a:prstGeom>
            <a:solidFill>
              <a:schemeClr val="bg1">
                <a:lumMod val="9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cs typeface="Arial" panose="020B0604020202020204" pitchFamily="34" charset="0"/>
                </a:rPr>
                <a:t>Temporary Mapped</a:t>
              </a:r>
              <a:endParaRPr kumimoji="1" lang="zh-TW" altLang="en-US" sz="1600" dirty="0">
                <a:solidFill>
                  <a:schemeClr val="tx1"/>
                </a:solidFill>
                <a:latin typeface="+mj-lt"/>
                <a:cs typeface="Arial" panose="020B0604020202020204" pitchFamily="34" charset="0"/>
              </a:endParaRPr>
            </a:p>
          </p:txBody>
        </p:sp>
      </p:grpSp>
      <p:sp>
        <p:nvSpPr>
          <p:cNvPr id="33" name="文字方塊 32">
            <a:extLst>
              <a:ext uri="{FF2B5EF4-FFF2-40B4-BE49-F238E27FC236}">
                <a16:creationId xmlns:a16="http://schemas.microsoft.com/office/drawing/2014/main" id="{A2AFE839-2422-D8E4-BFFE-B711DB01EC10}"/>
              </a:ext>
            </a:extLst>
          </p:cNvPr>
          <p:cNvSpPr txBox="1"/>
          <p:nvPr/>
        </p:nvSpPr>
        <p:spPr>
          <a:xfrm>
            <a:off x="0" y="6598099"/>
            <a:ext cx="6979090" cy="276999"/>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rPr>
              <a:t>Gorman, Mel. Understanding the Linux virtual memory manager. Upper Saddle River: Prentice Hall, 2004</a:t>
            </a:r>
            <a:endParaRPr kumimoji="1" lang="zh-TW" altLang="en-US" sz="1200" dirty="0">
              <a:solidFill>
                <a:schemeClr val="bg1">
                  <a:lumMod val="75000"/>
                </a:schemeClr>
              </a:solidFill>
            </a:endParaRPr>
          </a:p>
        </p:txBody>
      </p:sp>
      <p:grpSp>
        <p:nvGrpSpPr>
          <p:cNvPr id="40" name="群組 39">
            <a:extLst>
              <a:ext uri="{FF2B5EF4-FFF2-40B4-BE49-F238E27FC236}">
                <a16:creationId xmlns:a16="http://schemas.microsoft.com/office/drawing/2014/main" id="{80B61ED0-3B0B-0CF5-5DBA-7851F7289BBC}"/>
              </a:ext>
            </a:extLst>
          </p:cNvPr>
          <p:cNvGrpSpPr/>
          <p:nvPr/>
        </p:nvGrpSpPr>
        <p:grpSpPr>
          <a:xfrm>
            <a:off x="8365196" y="4874904"/>
            <a:ext cx="2631092" cy="1359692"/>
            <a:chOff x="8365196" y="4874904"/>
            <a:chExt cx="2631092" cy="1359692"/>
          </a:xfrm>
        </p:grpSpPr>
        <p:sp>
          <p:nvSpPr>
            <p:cNvPr id="34" name="矩形 57">
              <a:extLst>
                <a:ext uri="{FF2B5EF4-FFF2-40B4-BE49-F238E27FC236}">
                  <a16:creationId xmlns:a16="http://schemas.microsoft.com/office/drawing/2014/main" id="{55E237E7-3274-A931-DEC8-D5A9AF0FA601}"/>
                </a:ext>
              </a:extLst>
            </p:cNvPr>
            <p:cNvSpPr/>
            <p:nvPr/>
          </p:nvSpPr>
          <p:spPr>
            <a:xfrm>
              <a:off x="8365196" y="5772887"/>
              <a:ext cx="2631092" cy="461709"/>
            </a:xfrm>
            <a:prstGeom prst="rect">
              <a:avLst/>
            </a:prstGeom>
            <a:solidFill>
              <a:schemeClr val="accent2">
                <a:lumMod val="20000"/>
                <a:lumOff val="80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Text Section (e.g., Code)</a:t>
              </a:r>
              <a:endParaRPr kumimoji="1" lang="zh-TW" altLang="en-US" sz="1600" dirty="0">
                <a:solidFill>
                  <a:schemeClr val="tx1"/>
                </a:solidFill>
                <a:cs typeface="Arial" panose="020B0604020202020204" pitchFamily="34" charset="0"/>
              </a:endParaRPr>
            </a:p>
          </p:txBody>
        </p:sp>
        <p:sp>
          <p:nvSpPr>
            <p:cNvPr id="35" name="矩形 57">
              <a:extLst>
                <a:ext uri="{FF2B5EF4-FFF2-40B4-BE49-F238E27FC236}">
                  <a16:creationId xmlns:a16="http://schemas.microsoft.com/office/drawing/2014/main" id="{77E46ECB-AE9B-E8D8-CA4F-56EF9707B644}"/>
                </a:ext>
              </a:extLst>
            </p:cNvPr>
            <p:cNvSpPr/>
            <p:nvPr/>
          </p:nvSpPr>
          <p:spPr>
            <a:xfrm>
              <a:off x="8373101" y="5324097"/>
              <a:ext cx="2615279" cy="461709"/>
            </a:xfrm>
            <a:prstGeom prst="rect">
              <a:avLst/>
            </a:prstGeom>
            <a:solidFill>
              <a:schemeClr val="accent2">
                <a:lumMod val="20000"/>
                <a:lumOff val="80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cs typeface="Arial" panose="020B0604020202020204" pitchFamily="34" charset="0"/>
                </a:rPr>
                <a:t>Data Section</a:t>
              </a:r>
            </a:p>
            <a:p>
              <a:pPr algn="ctr"/>
              <a:r>
                <a:rPr kumimoji="1" lang="en-US" altLang="zh-TW" sz="1600" dirty="0">
                  <a:solidFill>
                    <a:schemeClr val="tx1"/>
                  </a:solidFill>
                  <a:cs typeface="Arial" panose="020B0604020202020204" pitchFamily="34" charset="0"/>
                </a:rPr>
                <a:t>(Initialize Global Variable)</a:t>
              </a:r>
              <a:endParaRPr kumimoji="1" lang="zh-TW" altLang="en-US" sz="1600" dirty="0">
                <a:solidFill>
                  <a:schemeClr val="tx1"/>
                </a:solidFill>
                <a:cs typeface="Arial" panose="020B0604020202020204" pitchFamily="34" charset="0"/>
              </a:endParaRPr>
            </a:p>
          </p:txBody>
        </p:sp>
        <p:sp>
          <p:nvSpPr>
            <p:cNvPr id="36" name="矩形 57">
              <a:extLst>
                <a:ext uri="{FF2B5EF4-FFF2-40B4-BE49-F238E27FC236}">
                  <a16:creationId xmlns:a16="http://schemas.microsoft.com/office/drawing/2014/main" id="{3AAD25CE-584F-2829-E39B-9DF9EA614168}"/>
                </a:ext>
              </a:extLst>
            </p:cNvPr>
            <p:cNvSpPr/>
            <p:nvPr/>
          </p:nvSpPr>
          <p:spPr>
            <a:xfrm>
              <a:off x="8369359" y="4874904"/>
              <a:ext cx="2623185" cy="461709"/>
            </a:xfrm>
            <a:prstGeom prst="rect">
              <a:avLst/>
            </a:prstGeom>
            <a:solidFill>
              <a:schemeClr val="accent2">
                <a:lumMod val="20000"/>
                <a:lumOff val="80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cs typeface="Arial" panose="020B0604020202020204" pitchFamily="34" charset="0"/>
                </a:rPr>
                <a:t>BSS Section</a:t>
              </a:r>
            </a:p>
            <a:p>
              <a:pPr algn="ctr"/>
              <a:r>
                <a:rPr kumimoji="1" lang="en-US" altLang="zh-TW" sz="1600" dirty="0">
                  <a:solidFill>
                    <a:schemeClr val="tx1"/>
                  </a:solidFill>
                  <a:cs typeface="Arial" panose="020B0604020202020204" pitchFamily="34" charset="0"/>
                </a:rPr>
                <a:t>(Uninitialized Global Variable)</a:t>
              </a:r>
              <a:endParaRPr kumimoji="1" lang="zh-TW" altLang="en-US" sz="1600" dirty="0">
                <a:solidFill>
                  <a:schemeClr val="tx1"/>
                </a:solidFill>
                <a:cs typeface="Arial" panose="020B0604020202020204" pitchFamily="34" charset="0"/>
              </a:endParaRPr>
            </a:p>
          </p:txBody>
        </p:sp>
      </p:grpSp>
      <p:grpSp>
        <p:nvGrpSpPr>
          <p:cNvPr id="38" name="群組 37">
            <a:extLst>
              <a:ext uri="{FF2B5EF4-FFF2-40B4-BE49-F238E27FC236}">
                <a16:creationId xmlns:a16="http://schemas.microsoft.com/office/drawing/2014/main" id="{E307641D-9D55-429B-F30A-3827607EAC77}"/>
              </a:ext>
            </a:extLst>
          </p:cNvPr>
          <p:cNvGrpSpPr/>
          <p:nvPr/>
        </p:nvGrpSpPr>
        <p:grpSpPr>
          <a:xfrm>
            <a:off x="8008488" y="1230406"/>
            <a:ext cx="4005712" cy="5475442"/>
            <a:chOff x="8008488" y="1230406"/>
            <a:chExt cx="4005712" cy="5475442"/>
          </a:xfrm>
        </p:grpSpPr>
        <p:sp>
          <p:nvSpPr>
            <p:cNvPr id="18" name="右大括弧 17">
              <a:extLst>
                <a:ext uri="{FF2B5EF4-FFF2-40B4-BE49-F238E27FC236}">
                  <a16:creationId xmlns:a16="http://schemas.microsoft.com/office/drawing/2014/main" id="{ED21E4C8-2FA5-81D5-9750-540E112B4963}"/>
                </a:ext>
              </a:extLst>
            </p:cNvPr>
            <p:cNvSpPr/>
            <p:nvPr/>
          </p:nvSpPr>
          <p:spPr>
            <a:xfrm>
              <a:off x="11076249" y="1238290"/>
              <a:ext cx="90211" cy="1533218"/>
            </a:xfrm>
            <a:prstGeom prst="righ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19" name="右大括弧 18">
              <a:extLst>
                <a:ext uri="{FF2B5EF4-FFF2-40B4-BE49-F238E27FC236}">
                  <a16:creationId xmlns:a16="http://schemas.microsoft.com/office/drawing/2014/main" id="{8CC0B739-C174-B712-EB01-46E868C5BAA7}"/>
                </a:ext>
              </a:extLst>
            </p:cNvPr>
            <p:cNvSpPr/>
            <p:nvPr/>
          </p:nvSpPr>
          <p:spPr>
            <a:xfrm>
              <a:off x="11079329" y="2779393"/>
              <a:ext cx="95040" cy="3585186"/>
            </a:xfrm>
            <a:prstGeom prst="righ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20" name="文字方塊 19">
              <a:extLst>
                <a:ext uri="{FF2B5EF4-FFF2-40B4-BE49-F238E27FC236}">
                  <a16:creationId xmlns:a16="http://schemas.microsoft.com/office/drawing/2014/main" id="{96F24B35-CEC8-B88E-AEB4-4A33FF754273}"/>
                </a:ext>
              </a:extLst>
            </p:cNvPr>
            <p:cNvSpPr txBox="1"/>
            <p:nvPr/>
          </p:nvSpPr>
          <p:spPr>
            <a:xfrm>
              <a:off x="11121354" y="1483969"/>
              <a:ext cx="809068" cy="1169551"/>
            </a:xfrm>
            <a:prstGeom prst="rect">
              <a:avLst/>
            </a:prstGeom>
            <a:noFill/>
          </p:spPr>
          <p:txBody>
            <a:bodyPr wrap="none" rtlCol="0">
              <a:spAutoFit/>
            </a:bodyPr>
            <a:lstStyle/>
            <a:p>
              <a:pPr algn="ctr"/>
              <a:r>
                <a:rPr kumimoji="1" lang="en-US" altLang="zh-TW" sz="1400" b="1" dirty="0"/>
                <a:t>Kernel</a:t>
              </a:r>
              <a:br>
                <a:rPr kumimoji="1" lang="en-US" altLang="zh-TW" sz="1400" dirty="0"/>
              </a:br>
              <a:r>
                <a:rPr kumimoji="1" lang="en-US" altLang="zh-TW" sz="1400" dirty="0"/>
                <a:t>Virtual</a:t>
              </a:r>
            </a:p>
            <a:p>
              <a:pPr algn="ctr"/>
              <a:r>
                <a:rPr kumimoji="1" lang="en-US" altLang="zh-TW" sz="1400" dirty="0"/>
                <a:t>Address </a:t>
              </a:r>
              <a:br>
                <a:rPr kumimoji="1" lang="en-US" altLang="zh-TW" sz="1400" dirty="0"/>
              </a:br>
              <a:r>
                <a:rPr kumimoji="1" lang="en-US" altLang="zh-TW" sz="1400" dirty="0"/>
                <a:t>Space</a:t>
              </a:r>
              <a:br>
                <a:rPr kumimoji="1" lang="en-US" altLang="zh-TW" sz="1400" dirty="0"/>
              </a:br>
              <a:r>
                <a:rPr kumimoji="1" lang="en-US" altLang="zh-TW" sz="1400" dirty="0"/>
                <a:t>(</a:t>
              </a:r>
              <a:r>
                <a:rPr kumimoji="1" lang="en-US" altLang="zh-TW" sz="1400" b="1" dirty="0"/>
                <a:t>1G</a:t>
              </a:r>
              <a:r>
                <a:rPr kumimoji="1" lang="en-US" altLang="zh-TW" sz="1400" dirty="0"/>
                <a:t>)</a:t>
              </a:r>
              <a:endParaRPr kumimoji="1" lang="zh-TW" altLang="en-US" sz="1400" dirty="0"/>
            </a:p>
          </p:txBody>
        </p:sp>
        <p:sp>
          <p:nvSpPr>
            <p:cNvPr id="21" name="文字方塊 20">
              <a:extLst>
                <a:ext uri="{FF2B5EF4-FFF2-40B4-BE49-F238E27FC236}">
                  <a16:creationId xmlns:a16="http://schemas.microsoft.com/office/drawing/2014/main" id="{F735B1D0-8199-E13E-207B-207B77BB9A0D}"/>
                </a:ext>
              </a:extLst>
            </p:cNvPr>
            <p:cNvSpPr txBox="1"/>
            <p:nvPr/>
          </p:nvSpPr>
          <p:spPr>
            <a:xfrm>
              <a:off x="11166460" y="3994146"/>
              <a:ext cx="809068" cy="1169551"/>
            </a:xfrm>
            <a:prstGeom prst="rect">
              <a:avLst/>
            </a:prstGeom>
            <a:noFill/>
          </p:spPr>
          <p:txBody>
            <a:bodyPr wrap="none" rtlCol="0">
              <a:spAutoFit/>
            </a:bodyPr>
            <a:lstStyle/>
            <a:p>
              <a:pPr algn="ctr"/>
              <a:r>
                <a:rPr kumimoji="1" lang="en-US" altLang="zh-TW" sz="1400" b="1" dirty="0"/>
                <a:t>User</a:t>
              </a:r>
              <a:br>
                <a:rPr kumimoji="1" lang="en-US" altLang="zh-TW" sz="1400" dirty="0"/>
              </a:br>
              <a:r>
                <a:rPr kumimoji="1" lang="en-US" altLang="zh-TW" sz="1400" dirty="0"/>
                <a:t>Virtual</a:t>
              </a:r>
            </a:p>
            <a:p>
              <a:pPr algn="ctr"/>
              <a:r>
                <a:rPr kumimoji="1" lang="en-US" altLang="zh-TW" sz="1400" dirty="0"/>
                <a:t>Address </a:t>
              </a:r>
              <a:br>
                <a:rPr kumimoji="1" lang="en-US" altLang="zh-TW" sz="1400" dirty="0"/>
              </a:br>
              <a:r>
                <a:rPr kumimoji="1" lang="en-US" altLang="zh-TW" sz="1400" dirty="0"/>
                <a:t>Space</a:t>
              </a:r>
              <a:br>
                <a:rPr kumimoji="1" lang="en-US" altLang="zh-TW" sz="1400" dirty="0"/>
              </a:br>
              <a:r>
                <a:rPr kumimoji="1" lang="en-US" altLang="zh-TW" sz="1400" dirty="0"/>
                <a:t>(</a:t>
              </a:r>
              <a:r>
                <a:rPr kumimoji="1" lang="en-US" altLang="zh-TW" sz="1400" b="1" dirty="0"/>
                <a:t>3G</a:t>
              </a:r>
              <a:r>
                <a:rPr kumimoji="1" lang="en-US" altLang="zh-TW" sz="1400" dirty="0"/>
                <a:t>)</a:t>
              </a:r>
              <a:endParaRPr kumimoji="1" lang="zh-TW" altLang="en-US" sz="1400" dirty="0"/>
            </a:p>
          </p:txBody>
        </p:sp>
        <p:sp>
          <p:nvSpPr>
            <p:cNvPr id="25" name="矩形 57">
              <a:extLst>
                <a:ext uri="{FF2B5EF4-FFF2-40B4-BE49-F238E27FC236}">
                  <a16:creationId xmlns:a16="http://schemas.microsoft.com/office/drawing/2014/main" id="{8EBA42B7-9BBF-5625-96FF-3B4AE00CBA67}"/>
                </a:ext>
              </a:extLst>
            </p:cNvPr>
            <p:cNvSpPr/>
            <p:nvPr/>
          </p:nvSpPr>
          <p:spPr>
            <a:xfrm>
              <a:off x="8368937" y="1230406"/>
              <a:ext cx="2623185" cy="1533217"/>
            </a:xfrm>
            <a:prstGeom prst="rect">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600" dirty="0">
                <a:solidFill>
                  <a:schemeClr val="tx1"/>
                </a:solidFill>
                <a:cs typeface="Arial" panose="020B0604020202020204" pitchFamily="34" charset="0"/>
              </a:endParaRPr>
            </a:p>
          </p:txBody>
        </p:sp>
        <p:sp>
          <p:nvSpPr>
            <p:cNvPr id="27" name="文字方塊 26">
              <a:extLst>
                <a:ext uri="{FF2B5EF4-FFF2-40B4-BE49-F238E27FC236}">
                  <a16:creationId xmlns:a16="http://schemas.microsoft.com/office/drawing/2014/main" id="{CE9F7319-EFBD-66B4-2B56-D47AF1F3E9AA}"/>
                </a:ext>
              </a:extLst>
            </p:cNvPr>
            <p:cNvSpPr txBox="1"/>
            <p:nvPr/>
          </p:nvSpPr>
          <p:spPr>
            <a:xfrm>
              <a:off x="8008488" y="6398071"/>
              <a:ext cx="4005712" cy="307777"/>
            </a:xfrm>
            <a:prstGeom prst="rect">
              <a:avLst/>
            </a:prstGeom>
            <a:noFill/>
          </p:spPr>
          <p:txBody>
            <a:bodyPr wrap="none" rtlCol="0">
              <a:spAutoFit/>
            </a:bodyPr>
            <a:lstStyle/>
            <a:p>
              <a:r>
                <a:rPr kumimoji="1" lang="en-US" altLang="zh-TW" sz="1400" b="1" u="sng" dirty="0">
                  <a:solidFill>
                    <a:srgbClr val="C00000"/>
                  </a:solidFill>
                </a:rPr>
                <a:t>Per Process </a:t>
              </a:r>
              <a:r>
                <a:rPr kumimoji="1" lang="en-US" altLang="zh-TW" sz="1400" b="1" u="sng" dirty="0"/>
                <a:t>Virtual</a:t>
              </a:r>
              <a:r>
                <a:rPr kumimoji="1" lang="en-US" altLang="zh-TW" sz="1400" b="1" u="sng" dirty="0">
                  <a:solidFill>
                    <a:srgbClr val="C00000"/>
                  </a:solidFill>
                </a:rPr>
                <a:t> </a:t>
              </a:r>
              <a:r>
                <a:rPr kumimoji="1" lang="en-US" altLang="zh-TW" sz="1400" b="1" u="sng" dirty="0"/>
                <a:t>Address Space On 32-bit System</a:t>
              </a:r>
              <a:endParaRPr kumimoji="1" lang="zh-TW" altLang="en-US" sz="1400" b="1" u="sng" dirty="0"/>
            </a:p>
          </p:txBody>
        </p:sp>
        <p:sp>
          <p:nvSpPr>
            <p:cNvPr id="24" name="矩形 57">
              <a:extLst>
                <a:ext uri="{FF2B5EF4-FFF2-40B4-BE49-F238E27FC236}">
                  <a16:creationId xmlns:a16="http://schemas.microsoft.com/office/drawing/2014/main" id="{05B0AE52-52FE-E160-703B-390866F9823F}"/>
                </a:ext>
              </a:extLst>
            </p:cNvPr>
            <p:cNvSpPr/>
            <p:nvPr/>
          </p:nvSpPr>
          <p:spPr>
            <a:xfrm>
              <a:off x="8365195" y="2763623"/>
              <a:ext cx="2623185" cy="3600956"/>
            </a:xfrm>
            <a:prstGeom prst="rect">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600" dirty="0">
                <a:solidFill>
                  <a:schemeClr val="tx1"/>
                </a:solidFill>
                <a:cs typeface="Arial" panose="020B0604020202020204" pitchFamily="34" charset="0"/>
              </a:endParaRPr>
            </a:p>
          </p:txBody>
        </p:sp>
      </p:grpSp>
      <p:grpSp>
        <p:nvGrpSpPr>
          <p:cNvPr id="48" name="群組 47">
            <a:extLst>
              <a:ext uri="{FF2B5EF4-FFF2-40B4-BE49-F238E27FC236}">
                <a16:creationId xmlns:a16="http://schemas.microsoft.com/office/drawing/2014/main" id="{BC6712BD-992A-51CC-99F8-6DDA713D7D96}"/>
              </a:ext>
            </a:extLst>
          </p:cNvPr>
          <p:cNvGrpSpPr/>
          <p:nvPr/>
        </p:nvGrpSpPr>
        <p:grpSpPr>
          <a:xfrm>
            <a:off x="8373101" y="2752652"/>
            <a:ext cx="2623185" cy="665197"/>
            <a:chOff x="8373101" y="2752652"/>
            <a:chExt cx="2623185" cy="665197"/>
          </a:xfrm>
        </p:grpSpPr>
        <p:sp>
          <p:nvSpPr>
            <p:cNvPr id="7" name="矩形 57">
              <a:extLst>
                <a:ext uri="{FF2B5EF4-FFF2-40B4-BE49-F238E27FC236}">
                  <a16:creationId xmlns:a16="http://schemas.microsoft.com/office/drawing/2014/main" id="{DB421150-F15E-C18E-018F-6B01E05B7DE1}"/>
                </a:ext>
              </a:extLst>
            </p:cNvPr>
            <p:cNvSpPr/>
            <p:nvPr/>
          </p:nvSpPr>
          <p:spPr>
            <a:xfrm>
              <a:off x="8373101" y="2752652"/>
              <a:ext cx="2623185" cy="368236"/>
            </a:xfrm>
            <a:prstGeom prst="rect">
              <a:avLst/>
            </a:prstGeom>
            <a:solidFill>
              <a:schemeClr val="accent2">
                <a:lumMod val="20000"/>
                <a:lumOff val="80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User Stack</a:t>
              </a:r>
              <a:endParaRPr kumimoji="1" lang="zh-TW" altLang="en-US" sz="1600" dirty="0">
                <a:solidFill>
                  <a:schemeClr val="tx1"/>
                </a:solidFill>
                <a:cs typeface="Arial" panose="020B0604020202020204" pitchFamily="34" charset="0"/>
              </a:endParaRPr>
            </a:p>
          </p:txBody>
        </p:sp>
        <p:cxnSp>
          <p:nvCxnSpPr>
            <p:cNvPr id="42" name="直線箭頭接點 41">
              <a:extLst>
                <a:ext uri="{FF2B5EF4-FFF2-40B4-BE49-F238E27FC236}">
                  <a16:creationId xmlns:a16="http://schemas.microsoft.com/office/drawing/2014/main" id="{FEC30AB2-F308-4AB1-AAB2-8A01D1B6DC21}"/>
                </a:ext>
              </a:extLst>
            </p:cNvPr>
            <p:cNvCxnSpPr>
              <a:cxnSpLocks/>
            </p:cNvCxnSpPr>
            <p:nvPr/>
          </p:nvCxnSpPr>
          <p:spPr>
            <a:xfrm>
              <a:off x="9662391" y="3133097"/>
              <a:ext cx="0" cy="284752"/>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9" name="群組 48">
            <a:extLst>
              <a:ext uri="{FF2B5EF4-FFF2-40B4-BE49-F238E27FC236}">
                <a16:creationId xmlns:a16="http://schemas.microsoft.com/office/drawing/2014/main" id="{FC9A7853-4707-972E-E63D-721F0B76CF23}"/>
              </a:ext>
            </a:extLst>
          </p:cNvPr>
          <p:cNvGrpSpPr/>
          <p:nvPr/>
        </p:nvGrpSpPr>
        <p:grpSpPr>
          <a:xfrm>
            <a:off x="8369359" y="4114800"/>
            <a:ext cx="2623185" cy="755682"/>
            <a:chOff x="8369359" y="4114800"/>
            <a:chExt cx="2623185" cy="755682"/>
          </a:xfrm>
        </p:grpSpPr>
        <p:sp>
          <p:nvSpPr>
            <p:cNvPr id="37" name="矩形 57">
              <a:extLst>
                <a:ext uri="{FF2B5EF4-FFF2-40B4-BE49-F238E27FC236}">
                  <a16:creationId xmlns:a16="http://schemas.microsoft.com/office/drawing/2014/main" id="{602F0CE9-9C8E-4E41-756D-3427E62D1ACA}"/>
                </a:ext>
              </a:extLst>
            </p:cNvPr>
            <p:cNvSpPr/>
            <p:nvPr/>
          </p:nvSpPr>
          <p:spPr>
            <a:xfrm>
              <a:off x="8369359" y="4438630"/>
              <a:ext cx="2623185" cy="431852"/>
            </a:xfrm>
            <a:prstGeom prst="rect">
              <a:avLst/>
            </a:prstGeom>
            <a:solidFill>
              <a:schemeClr val="accent2">
                <a:lumMod val="20000"/>
                <a:lumOff val="80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Heap (via </a:t>
              </a:r>
              <a:r>
                <a:rPr kumimoji="1" lang="en-US" altLang="zh-TW" sz="1600" dirty="0">
                  <a:solidFill>
                    <a:schemeClr val="tx1"/>
                  </a:solidFill>
                  <a:latin typeface="+mj-lt"/>
                  <a:cs typeface="Arial" panose="020B0604020202020204" pitchFamily="34" charset="0"/>
                </a:rPr>
                <a:t>malloc()</a:t>
              </a:r>
              <a:r>
                <a:rPr kumimoji="1" lang="en-US" altLang="zh-TW" sz="1600" dirty="0">
                  <a:solidFill>
                    <a:schemeClr val="tx1"/>
                  </a:solidFill>
                  <a:cs typeface="Arial" panose="020B0604020202020204" pitchFamily="34" charset="0"/>
                </a:rPr>
                <a:t>)</a:t>
              </a:r>
              <a:endParaRPr kumimoji="1" lang="zh-TW" altLang="en-US" sz="1600" dirty="0">
                <a:solidFill>
                  <a:schemeClr val="tx1"/>
                </a:solidFill>
                <a:cs typeface="Arial" panose="020B0604020202020204" pitchFamily="34" charset="0"/>
              </a:endParaRPr>
            </a:p>
          </p:txBody>
        </p:sp>
        <p:cxnSp>
          <p:nvCxnSpPr>
            <p:cNvPr id="46" name="直線箭頭接點 45">
              <a:extLst>
                <a:ext uri="{FF2B5EF4-FFF2-40B4-BE49-F238E27FC236}">
                  <a16:creationId xmlns:a16="http://schemas.microsoft.com/office/drawing/2014/main" id="{356DC450-C25C-80E9-E30A-F2C0B95E578A}"/>
                </a:ext>
              </a:extLst>
            </p:cNvPr>
            <p:cNvCxnSpPr>
              <a:cxnSpLocks/>
            </p:cNvCxnSpPr>
            <p:nvPr/>
          </p:nvCxnSpPr>
          <p:spPr>
            <a:xfrm flipV="1">
              <a:off x="9684693" y="4114800"/>
              <a:ext cx="0" cy="306925"/>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2795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5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wipe(up)">
                                      <p:cBhvr>
                                        <p:cTn id="27" dur="500"/>
                                        <p:tgtEl>
                                          <p:spTgt spid="3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wipe(down)">
                                      <p:cBhvr>
                                        <p:cTn id="32" dur="500"/>
                                        <p:tgtEl>
                                          <p:spTgt spid="4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wipe(up)">
                                      <p:cBhvr>
                                        <p:cTn id="37" dur="500"/>
                                        <p:tgtEl>
                                          <p:spTgt spid="4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49"/>
                                        </p:tgtEl>
                                        <p:attrNameLst>
                                          <p:attrName>style.visibility</p:attrName>
                                        </p:attrNameLst>
                                      </p:cBhvr>
                                      <p:to>
                                        <p:strVal val="visible"/>
                                      </p:to>
                                    </p:set>
                                    <p:animEffect transition="in" filter="wipe(down)">
                                      <p:cBhvr>
                                        <p:cTn id="42" dur="500"/>
                                        <p:tgtEl>
                                          <p:spTgt spid="4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5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4" end="4"/>
                                            </p:txEl>
                                          </p:spTgt>
                                        </p:tgtEl>
                                        <p:attrNameLst>
                                          <p:attrName>style.visibility</p:attrName>
                                        </p:attrNameLst>
                                      </p:cBhvr>
                                      <p:to>
                                        <p:strVal val="visible"/>
                                      </p:to>
                                    </p:set>
                                    <p:animEffect transition="in" filter="fade">
                                      <p:cBhvr>
                                        <p:cTn id="52" dur="500"/>
                                        <p:tgtEl>
                                          <p:spTgt spid="3">
                                            <p:txEl>
                                              <p:pRg st="4" end="4"/>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3">
                                            <p:txEl>
                                              <p:pRg st="5" end="5"/>
                                            </p:txEl>
                                          </p:spTgt>
                                        </p:tgtEl>
                                        <p:attrNameLst>
                                          <p:attrName>style.visibility</p:attrName>
                                        </p:attrNameLst>
                                      </p:cBhvr>
                                      <p:to>
                                        <p:strVal val="visible"/>
                                      </p:to>
                                    </p:set>
                                    <p:animEffect transition="in" filter="fade">
                                      <p:cBhvr>
                                        <p:cTn id="5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66866BB-D8D6-F590-9E2C-0F78B5A44C29}"/>
              </a:ext>
            </a:extLst>
          </p:cNvPr>
          <p:cNvSpPr>
            <a:spLocks noGrp="1"/>
          </p:cNvSpPr>
          <p:nvPr>
            <p:ph type="title"/>
          </p:nvPr>
        </p:nvSpPr>
        <p:spPr/>
        <p:txBody>
          <a:bodyPr/>
          <a:lstStyle/>
          <a:p>
            <a:r>
              <a:rPr kumimoji="1" lang="en-US" altLang="zh-TW" dirty="0"/>
              <a:t>The Memory Descriptor</a:t>
            </a:r>
            <a:endParaRPr kumimoji="1" lang="zh-TW" altLang="en-US" dirty="0"/>
          </a:p>
        </p:txBody>
      </p:sp>
      <p:sp>
        <p:nvSpPr>
          <p:cNvPr id="3" name="內容版面配置區 2">
            <a:extLst>
              <a:ext uri="{FF2B5EF4-FFF2-40B4-BE49-F238E27FC236}">
                <a16:creationId xmlns:a16="http://schemas.microsoft.com/office/drawing/2014/main" id="{02F82E98-BF24-48F9-997B-91DDB1EC4D95}"/>
              </a:ext>
            </a:extLst>
          </p:cNvPr>
          <p:cNvSpPr>
            <a:spLocks noGrp="1"/>
          </p:cNvSpPr>
          <p:nvPr>
            <p:ph idx="1"/>
          </p:nvPr>
        </p:nvSpPr>
        <p:spPr/>
        <p:txBody>
          <a:bodyPr/>
          <a:lstStyle/>
          <a:p>
            <a:pPr algn="l"/>
            <a:r>
              <a:rPr kumimoji="1" lang="en-US" altLang="zh-TW" dirty="0"/>
              <a:t>Memory descriptor (</a:t>
            </a:r>
            <a:r>
              <a:rPr kumimoji="1" lang="en-US" altLang="zh-TW" dirty="0">
                <a:latin typeface="+mj-lt"/>
              </a:rPr>
              <a:t>struct </a:t>
            </a:r>
            <a:r>
              <a:rPr kumimoji="1" lang="en-US" altLang="zh-TW" dirty="0" err="1">
                <a:latin typeface="+mj-lt"/>
              </a:rPr>
              <a:t>mm_struct</a:t>
            </a:r>
            <a:r>
              <a:rPr kumimoji="1" lang="en-US" altLang="zh-TW" dirty="0"/>
              <a:t>) is a </a:t>
            </a:r>
            <a:r>
              <a:rPr kumimoji="1" lang="en-US" altLang="zh-TW" dirty="0">
                <a:solidFill>
                  <a:srgbClr val="C00000"/>
                </a:solidFill>
              </a:rPr>
              <a:t>kernel data structure </a:t>
            </a:r>
            <a:r>
              <a:rPr kumimoji="1" lang="en-US" altLang="zh-TW" dirty="0"/>
              <a:t>contains all information related to the </a:t>
            </a:r>
            <a:r>
              <a:rPr kumimoji="1" lang="en-US" altLang="zh-TW" dirty="0">
                <a:solidFill>
                  <a:srgbClr val="C00000"/>
                </a:solidFill>
              </a:rPr>
              <a:t>process’s address space.</a:t>
            </a:r>
          </a:p>
          <a:p>
            <a:pPr algn="l"/>
            <a:r>
              <a:rPr lang="en-US" altLang="zh-TW" dirty="0"/>
              <a:t>The memory descriptor associated with a given task is stored in the </a:t>
            </a:r>
            <a:r>
              <a:rPr lang="en-US" altLang="zh-TW" dirty="0">
                <a:solidFill>
                  <a:srgbClr val="C00000"/>
                </a:solidFill>
                <a:latin typeface="+mj-lt"/>
              </a:rPr>
              <a:t>mm</a:t>
            </a:r>
            <a:r>
              <a:rPr lang="en-US" altLang="zh-TW" dirty="0">
                <a:solidFill>
                  <a:srgbClr val="C00000"/>
                </a:solidFill>
              </a:rPr>
              <a:t> field </a:t>
            </a:r>
            <a:r>
              <a:rPr lang="en-US" altLang="zh-TW" dirty="0"/>
              <a:t>of the </a:t>
            </a:r>
            <a:r>
              <a:rPr lang="en-US" altLang="zh-TW" dirty="0">
                <a:solidFill>
                  <a:srgbClr val="C00000"/>
                </a:solidFill>
              </a:rPr>
              <a:t>task’s process descriptor</a:t>
            </a:r>
            <a:r>
              <a:rPr lang="en-US" altLang="zh-TW" dirty="0"/>
              <a:t>. </a:t>
            </a:r>
          </a:p>
          <a:p>
            <a:pPr algn="l"/>
            <a:endParaRPr kumimoji="1" lang="zh-TW" altLang="en-US" dirty="0"/>
          </a:p>
        </p:txBody>
      </p:sp>
      <p:sp>
        <p:nvSpPr>
          <p:cNvPr id="4" name="投影片編號版面配置區 3">
            <a:extLst>
              <a:ext uri="{FF2B5EF4-FFF2-40B4-BE49-F238E27FC236}">
                <a16:creationId xmlns:a16="http://schemas.microsoft.com/office/drawing/2014/main" id="{20E38388-5786-CBA2-6BA1-08219F7FA0BC}"/>
              </a:ext>
            </a:extLst>
          </p:cNvPr>
          <p:cNvSpPr>
            <a:spLocks noGrp="1"/>
          </p:cNvSpPr>
          <p:nvPr>
            <p:ph type="sldNum" sz="quarter" idx="4"/>
          </p:nvPr>
        </p:nvSpPr>
        <p:spPr/>
        <p:txBody>
          <a:bodyPr/>
          <a:lstStyle/>
          <a:p>
            <a:fld id="{E24E6636-6BA5-4AAC-8485-BE8D914D288B}" type="slidenum">
              <a:rPr lang="zh-TW" altLang="en-US" smtClean="0"/>
              <a:pPr/>
              <a:t>26</a:t>
            </a:fld>
            <a:endParaRPr lang="zh-TW" altLang="en-US" dirty="0"/>
          </a:p>
        </p:txBody>
      </p:sp>
      <p:pic>
        <p:nvPicPr>
          <p:cNvPr id="8" name="圖片 7" descr="一張含有 文字 的圖片&#10;&#10;自動產生的描述">
            <a:extLst>
              <a:ext uri="{FF2B5EF4-FFF2-40B4-BE49-F238E27FC236}">
                <a16:creationId xmlns:a16="http://schemas.microsoft.com/office/drawing/2014/main" id="{8EA1BA5C-4C9E-1383-B285-5515AB1462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9096" y="3050322"/>
            <a:ext cx="10153807" cy="3807678"/>
          </a:xfrm>
          <a:prstGeom prst="rect">
            <a:avLst/>
          </a:prstGeom>
        </p:spPr>
      </p:pic>
      <p:grpSp>
        <p:nvGrpSpPr>
          <p:cNvPr id="17" name="群組 16">
            <a:extLst>
              <a:ext uri="{FF2B5EF4-FFF2-40B4-BE49-F238E27FC236}">
                <a16:creationId xmlns:a16="http://schemas.microsoft.com/office/drawing/2014/main" id="{F8AEFFBA-7A1B-1ED0-ADC2-9B7EB0262AE3}"/>
              </a:ext>
            </a:extLst>
          </p:cNvPr>
          <p:cNvGrpSpPr/>
          <p:nvPr/>
        </p:nvGrpSpPr>
        <p:grpSpPr>
          <a:xfrm>
            <a:off x="4795024" y="2582335"/>
            <a:ext cx="6289288" cy="1387500"/>
            <a:chOff x="4795024" y="2370461"/>
            <a:chExt cx="6289288" cy="1387500"/>
          </a:xfrm>
        </p:grpSpPr>
        <p:sp>
          <p:nvSpPr>
            <p:cNvPr id="13" name="矩形 12">
              <a:extLst>
                <a:ext uri="{FF2B5EF4-FFF2-40B4-BE49-F238E27FC236}">
                  <a16:creationId xmlns:a16="http://schemas.microsoft.com/office/drawing/2014/main" id="{FAC37486-E7AC-240E-0AD6-7B93865E0641}"/>
                </a:ext>
              </a:extLst>
            </p:cNvPr>
            <p:cNvSpPr/>
            <p:nvPr/>
          </p:nvSpPr>
          <p:spPr>
            <a:xfrm>
              <a:off x="4795024" y="3139068"/>
              <a:ext cx="6289288" cy="61889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 name="文字方塊 13">
              <a:extLst>
                <a:ext uri="{FF2B5EF4-FFF2-40B4-BE49-F238E27FC236}">
                  <a16:creationId xmlns:a16="http://schemas.microsoft.com/office/drawing/2014/main" id="{7A444071-40C1-1582-C85B-CACF8D5C3AF1}"/>
                </a:ext>
              </a:extLst>
            </p:cNvPr>
            <p:cNvSpPr txBox="1"/>
            <p:nvPr/>
          </p:nvSpPr>
          <p:spPr>
            <a:xfrm>
              <a:off x="5415620" y="2370461"/>
              <a:ext cx="4679486" cy="738664"/>
            </a:xfrm>
            <a:prstGeom prst="rect">
              <a:avLst/>
            </a:prstGeom>
            <a:noFill/>
          </p:spPr>
          <p:txBody>
            <a:bodyPr wrap="none" rtlCol="0">
              <a:spAutoFit/>
            </a:bodyPr>
            <a:lstStyle/>
            <a:p>
              <a:r>
                <a:rPr kumimoji="1" lang="en-US" altLang="zh-TW" sz="1400" dirty="0">
                  <a:solidFill>
                    <a:srgbClr val="C00000"/>
                  </a:solidFill>
                </a:rPr>
                <a:t>Different data structures that contain the same thing: </a:t>
              </a:r>
            </a:p>
            <a:p>
              <a:r>
                <a:rPr kumimoji="1" lang="en-US" altLang="zh-TW" sz="1400" dirty="0">
                  <a:solidFill>
                    <a:srgbClr val="C00000"/>
                  </a:solidFill>
                </a:rPr>
                <a:t>all the memory areas in this address space.</a:t>
              </a:r>
            </a:p>
            <a:p>
              <a:r>
                <a:rPr kumimoji="1" lang="en-US" altLang="zh-TW" sz="1400" dirty="0">
                  <a:solidFill>
                    <a:srgbClr val="C00000"/>
                  </a:solidFill>
                </a:rPr>
                <a:t>Linked List </a:t>
              </a:r>
              <a:r>
                <a:rPr kumimoji="1" lang="en-US" altLang="zh-TW" sz="1400" dirty="0">
                  <a:solidFill>
                    <a:srgbClr val="C00000"/>
                  </a:solidFill>
                  <a:sym typeface="Wingdings" pitchFamily="2" charset="2"/>
                </a:rPr>
                <a:t> Fast for traversing, RB Tree  Fast for searching</a:t>
              </a:r>
              <a:endParaRPr kumimoji="1" lang="zh-TW" altLang="en-US" sz="1400" dirty="0">
                <a:solidFill>
                  <a:srgbClr val="C00000"/>
                </a:solidFill>
              </a:endParaRPr>
            </a:p>
          </p:txBody>
        </p:sp>
      </p:grpSp>
      <p:grpSp>
        <p:nvGrpSpPr>
          <p:cNvPr id="18" name="群組 17">
            <a:extLst>
              <a:ext uri="{FF2B5EF4-FFF2-40B4-BE49-F238E27FC236}">
                <a16:creationId xmlns:a16="http://schemas.microsoft.com/office/drawing/2014/main" id="{75E95B9A-CEA7-266D-82E2-3CD8AA7380BD}"/>
              </a:ext>
            </a:extLst>
          </p:cNvPr>
          <p:cNvGrpSpPr/>
          <p:nvPr/>
        </p:nvGrpSpPr>
        <p:grpSpPr>
          <a:xfrm>
            <a:off x="4795024" y="4707395"/>
            <a:ext cx="6289288" cy="865659"/>
            <a:chOff x="4795024" y="4495521"/>
            <a:chExt cx="6289288" cy="865659"/>
          </a:xfrm>
        </p:grpSpPr>
        <p:sp>
          <p:nvSpPr>
            <p:cNvPr id="15" name="矩形 14">
              <a:extLst>
                <a:ext uri="{FF2B5EF4-FFF2-40B4-BE49-F238E27FC236}">
                  <a16:creationId xmlns:a16="http://schemas.microsoft.com/office/drawing/2014/main" id="{68B698CE-7446-565C-71CC-89F95408453A}"/>
                </a:ext>
              </a:extLst>
            </p:cNvPr>
            <p:cNvSpPr/>
            <p:nvPr/>
          </p:nvSpPr>
          <p:spPr>
            <a:xfrm>
              <a:off x="4795024" y="4742287"/>
              <a:ext cx="6289288" cy="61889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 name="文字方塊 15">
              <a:extLst>
                <a:ext uri="{FF2B5EF4-FFF2-40B4-BE49-F238E27FC236}">
                  <a16:creationId xmlns:a16="http://schemas.microsoft.com/office/drawing/2014/main" id="{C29F2314-FDD9-F6CC-8452-7F073B470D3E}"/>
                </a:ext>
              </a:extLst>
            </p:cNvPr>
            <p:cNvSpPr txBox="1"/>
            <p:nvPr/>
          </p:nvSpPr>
          <p:spPr>
            <a:xfrm>
              <a:off x="5924918" y="4495521"/>
              <a:ext cx="1809663" cy="738664"/>
            </a:xfrm>
            <a:prstGeom prst="rect">
              <a:avLst/>
            </a:prstGeom>
            <a:noFill/>
          </p:spPr>
          <p:txBody>
            <a:bodyPr wrap="none" rtlCol="0">
              <a:spAutoFit/>
            </a:bodyPr>
            <a:lstStyle/>
            <a:p>
              <a:r>
                <a:rPr kumimoji="1" lang="en-US" altLang="zh-TW" sz="1400" dirty="0">
                  <a:solidFill>
                    <a:srgbClr val="C00000"/>
                  </a:solidFill>
                </a:rPr>
                <a:t>2 </a:t>
              </a:r>
              <a:r>
                <a:rPr kumimoji="1" lang="en-US" altLang="zh-TW" sz="1400" dirty="0" err="1">
                  <a:solidFill>
                    <a:srgbClr val="C00000"/>
                  </a:solidFill>
                </a:rPr>
                <a:t>proceses</a:t>
              </a:r>
              <a:r>
                <a:rPr kumimoji="1" lang="en-US" altLang="zh-TW" sz="1400" dirty="0">
                  <a:solidFill>
                    <a:srgbClr val="C00000"/>
                  </a:solidFill>
                </a:rPr>
                <a:t>, 5 Threads:</a:t>
              </a:r>
            </a:p>
            <a:p>
              <a:r>
                <a:rPr kumimoji="1" lang="en-US" altLang="zh-TW" sz="1400" dirty="0" err="1">
                  <a:solidFill>
                    <a:srgbClr val="C00000"/>
                  </a:solidFill>
                </a:rPr>
                <a:t>mm_users</a:t>
              </a:r>
              <a:r>
                <a:rPr kumimoji="1" lang="en-US" altLang="zh-TW" sz="1400" dirty="0">
                  <a:solidFill>
                    <a:srgbClr val="C00000"/>
                  </a:solidFill>
                </a:rPr>
                <a:t> = 6</a:t>
              </a:r>
            </a:p>
            <a:p>
              <a:r>
                <a:rPr kumimoji="1" lang="en-US" altLang="zh-TW" sz="1400" dirty="0" err="1">
                  <a:solidFill>
                    <a:srgbClr val="C00000"/>
                  </a:solidFill>
                </a:rPr>
                <a:t>mm_count</a:t>
              </a:r>
              <a:r>
                <a:rPr kumimoji="1" lang="en-US" altLang="zh-TW" sz="1400" dirty="0">
                  <a:solidFill>
                    <a:srgbClr val="C00000"/>
                  </a:solidFill>
                </a:rPr>
                <a:t> = 7</a:t>
              </a:r>
              <a:endParaRPr kumimoji="1" lang="zh-TW" altLang="en-US" sz="1400" dirty="0">
                <a:solidFill>
                  <a:srgbClr val="C00000"/>
                </a:solidFill>
              </a:endParaRPr>
            </a:p>
          </p:txBody>
        </p:sp>
      </p:grpSp>
    </p:spTree>
    <p:extLst>
      <p:ext uri="{BB962C8B-B14F-4D97-AF65-F5344CB8AC3E}">
        <p14:creationId xmlns:p14="http://schemas.microsoft.com/office/powerpoint/2010/main" val="1681401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par>
                                <p:cTn id="13" presetID="10" presetClass="exit" presetSubtype="0" fill="hold" nodeType="withEffect">
                                  <p:stCondLst>
                                    <p:cond delay="0"/>
                                  </p:stCondLst>
                                  <p:childTnLst>
                                    <p:animEffect transition="out" filter="fade">
                                      <p:cBhvr>
                                        <p:cTn id="14" dur="500"/>
                                        <p:tgtEl>
                                          <p:spTgt spid="17"/>
                                        </p:tgtEl>
                                      </p:cBhvr>
                                    </p:animEffect>
                                    <p:set>
                                      <p:cBhvr>
                                        <p:cTn id="15"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7" name="群組 156">
            <a:extLst>
              <a:ext uri="{FF2B5EF4-FFF2-40B4-BE49-F238E27FC236}">
                <a16:creationId xmlns:a16="http://schemas.microsoft.com/office/drawing/2014/main" id="{6121ED52-2B0F-3563-F273-19C5D7A07570}"/>
              </a:ext>
            </a:extLst>
          </p:cNvPr>
          <p:cNvGrpSpPr/>
          <p:nvPr/>
        </p:nvGrpSpPr>
        <p:grpSpPr>
          <a:xfrm>
            <a:off x="7394902" y="3916959"/>
            <a:ext cx="3248221" cy="683606"/>
            <a:chOff x="7394902" y="3916959"/>
            <a:chExt cx="3248221" cy="683606"/>
          </a:xfrm>
        </p:grpSpPr>
        <p:sp>
          <p:nvSpPr>
            <p:cNvPr id="128" name="文字方塊 127">
              <a:extLst>
                <a:ext uri="{FF2B5EF4-FFF2-40B4-BE49-F238E27FC236}">
                  <a16:creationId xmlns:a16="http://schemas.microsoft.com/office/drawing/2014/main" id="{50CBA99A-5D9B-8C9B-DDAE-3BFC1718F6BA}"/>
                </a:ext>
              </a:extLst>
            </p:cNvPr>
            <p:cNvSpPr txBox="1"/>
            <p:nvPr/>
          </p:nvSpPr>
          <p:spPr>
            <a:xfrm>
              <a:off x="8053468" y="3916959"/>
              <a:ext cx="740074" cy="276999"/>
            </a:xfrm>
            <a:prstGeom prst="rect">
              <a:avLst/>
            </a:prstGeom>
            <a:noFill/>
          </p:spPr>
          <p:txBody>
            <a:bodyPr wrap="none" rtlCol="0">
              <a:spAutoFit/>
            </a:bodyPr>
            <a:lstStyle/>
            <a:p>
              <a:r>
                <a:rPr kumimoji="1" lang="en-US" altLang="zh-TW" sz="1200" b="1" dirty="0" err="1">
                  <a:solidFill>
                    <a:srgbClr val="0070C0"/>
                  </a:solidFill>
                </a:rPr>
                <a:t>vm_next</a:t>
              </a:r>
              <a:endParaRPr kumimoji="1" lang="zh-TW" altLang="en-US" sz="1200" b="1" dirty="0">
                <a:solidFill>
                  <a:srgbClr val="0070C0"/>
                </a:solidFill>
              </a:endParaRPr>
            </a:p>
          </p:txBody>
        </p:sp>
        <p:sp>
          <p:nvSpPr>
            <p:cNvPr id="21" name="矩形 20">
              <a:extLst>
                <a:ext uri="{FF2B5EF4-FFF2-40B4-BE49-F238E27FC236}">
                  <a16:creationId xmlns:a16="http://schemas.microsoft.com/office/drawing/2014/main" id="{755A6492-903F-BE53-1ECC-73002902B719}"/>
                </a:ext>
              </a:extLst>
            </p:cNvPr>
            <p:cNvSpPr/>
            <p:nvPr/>
          </p:nvSpPr>
          <p:spPr>
            <a:xfrm>
              <a:off x="7394902" y="3923646"/>
              <a:ext cx="178045"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27" name="矩形 26">
              <a:extLst>
                <a:ext uri="{FF2B5EF4-FFF2-40B4-BE49-F238E27FC236}">
                  <a16:creationId xmlns:a16="http://schemas.microsoft.com/office/drawing/2014/main" id="{A0F39D99-4ABA-ED35-A3EB-CAF179763AD5}"/>
                </a:ext>
              </a:extLst>
            </p:cNvPr>
            <p:cNvSpPr/>
            <p:nvPr/>
          </p:nvSpPr>
          <p:spPr>
            <a:xfrm>
              <a:off x="7570256" y="3923646"/>
              <a:ext cx="178045"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37" name="矩形 36">
              <a:extLst>
                <a:ext uri="{FF2B5EF4-FFF2-40B4-BE49-F238E27FC236}">
                  <a16:creationId xmlns:a16="http://schemas.microsoft.com/office/drawing/2014/main" id="{B2C67818-E7F9-AFDE-37C3-9843B338FB8F}"/>
                </a:ext>
              </a:extLst>
            </p:cNvPr>
            <p:cNvSpPr/>
            <p:nvPr/>
          </p:nvSpPr>
          <p:spPr>
            <a:xfrm>
              <a:off x="7748301" y="3923646"/>
              <a:ext cx="178045"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39" name="矩形 38">
              <a:extLst>
                <a:ext uri="{FF2B5EF4-FFF2-40B4-BE49-F238E27FC236}">
                  <a16:creationId xmlns:a16="http://schemas.microsoft.com/office/drawing/2014/main" id="{F8C72FC2-C367-3D1A-F95C-A2897840474B}"/>
                </a:ext>
              </a:extLst>
            </p:cNvPr>
            <p:cNvSpPr/>
            <p:nvPr/>
          </p:nvSpPr>
          <p:spPr>
            <a:xfrm>
              <a:off x="7923655" y="3923646"/>
              <a:ext cx="178045"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46" name="矩形 45">
              <a:extLst>
                <a:ext uri="{FF2B5EF4-FFF2-40B4-BE49-F238E27FC236}">
                  <a16:creationId xmlns:a16="http://schemas.microsoft.com/office/drawing/2014/main" id="{7F5C7E76-81EC-A6AF-52C3-F1E911D853B9}"/>
                </a:ext>
              </a:extLst>
            </p:cNvPr>
            <p:cNvSpPr/>
            <p:nvPr/>
          </p:nvSpPr>
          <p:spPr>
            <a:xfrm>
              <a:off x="8749196" y="3923646"/>
              <a:ext cx="178045"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50" name="矩形 49">
              <a:extLst>
                <a:ext uri="{FF2B5EF4-FFF2-40B4-BE49-F238E27FC236}">
                  <a16:creationId xmlns:a16="http://schemas.microsoft.com/office/drawing/2014/main" id="{5934645C-12E2-E7D3-B449-5752B464F509}"/>
                </a:ext>
              </a:extLst>
            </p:cNvPr>
            <p:cNvSpPr/>
            <p:nvPr/>
          </p:nvSpPr>
          <p:spPr>
            <a:xfrm>
              <a:off x="8924550" y="3923646"/>
              <a:ext cx="178045"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51" name="矩形 50">
              <a:extLst>
                <a:ext uri="{FF2B5EF4-FFF2-40B4-BE49-F238E27FC236}">
                  <a16:creationId xmlns:a16="http://schemas.microsoft.com/office/drawing/2014/main" id="{FDF58C35-E2E5-0C2B-4DDB-60EC18A49398}"/>
                </a:ext>
              </a:extLst>
            </p:cNvPr>
            <p:cNvSpPr/>
            <p:nvPr/>
          </p:nvSpPr>
          <p:spPr>
            <a:xfrm>
              <a:off x="9102595" y="3923646"/>
              <a:ext cx="178045"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53" name="矩形 52">
              <a:extLst>
                <a:ext uri="{FF2B5EF4-FFF2-40B4-BE49-F238E27FC236}">
                  <a16:creationId xmlns:a16="http://schemas.microsoft.com/office/drawing/2014/main" id="{FDFE319A-9CAE-035F-DEA8-E5ECBF8C6554}"/>
                </a:ext>
              </a:extLst>
            </p:cNvPr>
            <p:cNvSpPr/>
            <p:nvPr/>
          </p:nvSpPr>
          <p:spPr>
            <a:xfrm>
              <a:off x="9277949" y="3923646"/>
              <a:ext cx="178045"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54" name="矩形 53">
              <a:extLst>
                <a:ext uri="{FF2B5EF4-FFF2-40B4-BE49-F238E27FC236}">
                  <a16:creationId xmlns:a16="http://schemas.microsoft.com/office/drawing/2014/main" id="{6544A4B5-19CF-D078-5137-B3465D8AED92}"/>
                </a:ext>
              </a:extLst>
            </p:cNvPr>
            <p:cNvSpPr/>
            <p:nvPr/>
          </p:nvSpPr>
          <p:spPr>
            <a:xfrm>
              <a:off x="10111679" y="3923646"/>
              <a:ext cx="178045"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57" name="矩形 56">
              <a:extLst>
                <a:ext uri="{FF2B5EF4-FFF2-40B4-BE49-F238E27FC236}">
                  <a16:creationId xmlns:a16="http://schemas.microsoft.com/office/drawing/2014/main" id="{0B513758-D200-842D-6669-2CEAC6A44F01}"/>
                </a:ext>
              </a:extLst>
            </p:cNvPr>
            <p:cNvSpPr/>
            <p:nvPr/>
          </p:nvSpPr>
          <p:spPr>
            <a:xfrm>
              <a:off x="10287033" y="3923646"/>
              <a:ext cx="178045"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60" name="矩形 59">
              <a:extLst>
                <a:ext uri="{FF2B5EF4-FFF2-40B4-BE49-F238E27FC236}">
                  <a16:creationId xmlns:a16="http://schemas.microsoft.com/office/drawing/2014/main" id="{A36D8D78-5FB9-CCC0-EDDF-3F233102C7BE}"/>
                </a:ext>
              </a:extLst>
            </p:cNvPr>
            <p:cNvSpPr/>
            <p:nvPr/>
          </p:nvSpPr>
          <p:spPr>
            <a:xfrm>
              <a:off x="10465078" y="3923646"/>
              <a:ext cx="178045"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104" name="文字方塊 103">
              <a:extLst>
                <a:ext uri="{FF2B5EF4-FFF2-40B4-BE49-F238E27FC236}">
                  <a16:creationId xmlns:a16="http://schemas.microsoft.com/office/drawing/2014/main" id="{06FF1EED-C7DE-353F-E1BA-C7E2ACC8725D}"/>
                </a:ext>
              </a:extLst>
            </p:cNvPr>
            <p:cNvSpPr txBox="1"/>
            <p:nvPr/>
          </p:nvSpPr>
          <p:spPr>
            <a:xfrm>
              <a:off x="8359558" y="4292788"/>
              <a:ext cx="1354089" cy="307777"/>
            </a:xfrm>
            <a:prstGeom prst="rect">
              <a:avLst/>
            </a:prstGeom>
            <a:noFill/>
          </p:spPr>
          <p:txBody>
            <a:bodyPr wrap="none" rtlCol="0">
              <a:spAutoFit/>
            </a:bodyPr>
            <a:lstStyle/>
            <a:p>
              <a:r>
                <a:rPr kumimoji="1" lang="en-US" altLang="zh-TW" sz="1400" b="1" dirty="0" err="1"/>
                <a:t>vm_area_struct</a:t>
              </a:r>
              <a:endParaRPr kumimoji="1" lang="zh-TW" altLang="en-US" sz="1400" b="1" dirty="0"/>
            </a:p>
          </p:txBody>
        </p:sp>
        <p:cxnSp>
          <p:nvCxnSpPr>
            <p:cNvPr id="108" name="直線箭頭接點 107">
              <a:extLst>
                <a:ext uri="{FF2B5EF4-FFF2-40B4-BE49-F238E27FC236}">
                  <a16:creationId xmlns:a16="http://schemas.microsoft.com/office/drawing/2014/main" id="{03641FD9-1137-D707-D785-CAB0B517488B}"/>
                </a:ext>
              </a:extLst>
            </p:cNvPr>
            <p:cNvCxnSpPr>
              <a:cxnSpLocks/>
              <a:stCxn id="39" idx="3"/>
              <a:endCxn id="46" idx="1"/>
            </p:cNvCxnSpPr>
            <p:nvPr/>
          </p:nvCxnSpPr>
          <p:spPr>
            <a:xfrm>
              <a:off x="8101700" y="4146671"/>
              <a:ext cx="647496" cy="0"/>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35" name="直線箭頭接點 134">
              <a:extLst>
                <a:ext uri="{FF2B5EF4-FFF2-40B4-BE49-F238E27FC236}">
                  <a16:creationId xmlns:a16="http://schemas.microsoft.com/office/drawing/2014/main" id="{ECE4B247-BC49-0768-6135-F2A7EB2A57DB}"/>
                </a:ext>
              </a:extLst>
            </p:cNvPr>
            <p:cNvCxnSpPr>
              <a:cxnSpLocks/>
            </p:cNvCxnSpPr>
            <p:nvPr/>
          </p:nvCxnSpPr>
          <p:spPr>
            <a:xfrm>
              <a:off x="9467408" y="4146670"/>
              <a:ext cx="647496" cy="0"/>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136" name="文字方塊 135">
              <a:extLst>
                <a:ext uri="{FF2B5EF4-FFF2-40B4-BE49-F238E27FC236}">
                  <a16:creationId xmlns:a16="http://schemas.microsoft.com/office/drawing/2014/main" id="{233A7F6C-2501-250B-52FA-A1BBEB38818D}"/>
                </a:ext>
              </a:extLst>
            </p:cNvPr>
            <p:cNvSpPr txBox="1"/>
            <p:nvPr/>
          </p:nvSpPr>
          <p:spPr>
            <a:xfrm>
              <a:off x="9418914" y="3921808"/>
              <a:ext cx="740074" cy="276999"/>
            </a:xfrm>
            <a:prstGeom prst="rect">
              <a:avLst/>
            </a:prstGeom>
            <a:noFill/>
          </p:spPr>
          <p:txBody>
            <a:bodyPr wrap="none" rtlCol="0">
              <a:spAutoFit/>
            </a:bodyPr>
            <a:lstStyle/>
            <a:p>
              <a:r>
                <a:rPr kumimoji="1" lang="en-US" altLang="zh-TW" sz="1200" b="1" dirty="0" err="1">
                  <a:solidFill>
                    <a:srgbClr val="0070C0"/>
                  </a:solidFill>
                </a:rPr>
                <a:t>vm_next</a:t>
              </a:r>
              <a:endParaRPr kumimoji="1" lang="zh-TW" altLang="en-US" sz="1200" b="1" dirty="0">
                <a:solidFill>
                  <a:srgbClr val="0070C0"/>
                </a:solidFill>
              </a:endParaRPr>
            </a:p>
          </p:txBody>
        </p:sp>
      </p:grpSp>
      <p:grpSp>
        <p:nvGrpSpPr>
          <p:cNvPr id="173" name="群組 172">
            <a:extLst>
              <a:ext uri="{FF2B5EF4-FFF2-40B4-BE49-F238E27FC236}">
                <a16:creationId xmlns:a16="http://schemas.microsoft.com/office/drawing/2014/main" id="{9C633E0E-A897-B541-88C2-BC826E6D796C}"/>
              </a:ext>
            </a:extLst>
          </p:cNvPr>
          <p:cNvGrpSpPr/>
          <p:nvPr/>
        </p:nvGrpSpPr>
        <p:grpSpPr>
          <a:xfrm>
            <a:off x="7188651" y="2772378"/>
            <a:ext cx="3706301" cy="1151268"/>
            <a:chOff x="7188651" y="2772378"/>
            <a:chExt cx="3706301" cy="1151268"/>
          </a:xfrm>
        </p:grpSpPr>
        <p:grpSp>
          <p:nvGrpSpPr>
            <p:cNvPr id="161" name="群組 160">
              <a:extLst>
                <a:ext uri="{FF2B5EF4-FFF2-40B4-BE49-F238E27FC236}">
                  <a16:creationId xmlns:a16="http://schemas.microsoft.com/office/drawing/2014/main" id="{BF232323-85BD-9BA6-2A3B-6F83EA7A2C8A}"/>
                </a:ext>
              </a:extLst>
            </p:cNvPr>
            <p:cNvGrpSpPr/>
            <p:nvPr/>
          </p:nvGrpSpPr>
          <p:grpSpPr>
            <a:xfrm>
              <a:off x="7188651" y="2772378"/>
              <a:ext cx="3706301" cy="1151268"/>
              <a:chOff x="7188651" y="2772378"/>
              <a:chExt cx="3706301" cy="1151268"/>
            </a:xfrm>
          </p:grpSpPr>
          <p:sp>
            <p:nvSpPr>
              <p:cNvPr id="19" name="矩形 18">
                <a:extLst>
                  <a:ext uri="{FF2B5EF4-FFF2-40B4-BE49-F238E27FC236}">
                    <a16:creationId xmlns:a16="http://schemas.microsoft.com/office/drawing/2014/main" id="{2F04E4BF-0590-02B9-A74F-420AB737E348}"/>
                  </a:ext>
                </a:extLst>
              </p:cNvPr>
              <p:cNvSpPr/>
              <p:nvPr/>
            </p:nvSpPr>
            <p:spPr>
              <a:xfrm>
                <a:off x="7393366" y="3141146"/>
                <a:ext cx="3493294" cy="4460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600" dirty="0">
                  <a:solidFill>
                    <a:schemeClr val="bg1"/>
                  </a:solidFill>
                </a:endParaRPr>
              </a:p>
            </p:txBody>
          </p:sp>
          <p:sp>
            <p:nvSpPr>
              <p:cNvPr id="83" name="矩形 82">
                <a:extLst>
                  <a:ext uri="{FF2B5EF4-FFF2-40B4-BE49-F238E27FC236}">
                    <a16:creationId xmlns:a16="http://schemas.microsoft.com/office/drawing/2014/main" id="{8031190E-DFDB-93F0-7F12-172022E9F115}"/>
                  </a:ext>
                </a:extLst>
              </p:cNvPr>
              <p:cNvSpPr/>
              <p:nvPr/>
            </p:nvSpPr>
            <p:spPr>
              <a:xfrm>
                <a:off x="7540502" y="3141146"/>
                <a:ext cx="255385" cy="446049"/>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85" name="矩形 84">
                <a:extLst>
                  <a:ext uri="{FF2B5EF4-FFF2-40B4-BE49-F238E27FC236}">
                    <a16:creationId xmlns:a16="http://schemas.microsoft.com/office/drawing/2014/main" id="{A074D91B-9C10-C627-59A9-162E12BC49D2}"/>
                  </a:ext>
                </a:extLst>
              </p:cNvPr>
              <p:cNvSpPr/>
              <p:nvPr/>
            </p:nvSpPr>
            <p:spPr>
              <a:xfrm>
                <a:off x="7797839" y="3141146"/>
                <a:ext cx="255385" cy="446049"/>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86" name="矩形 85">
                <a:extLst>
                  <a:ext uri="{FF2B5EF4-FFF2-40B4-BE49-F238E27FC236}">
                    <a16:creationId xmlns:a16="http://schemas.microsoft.com/office/drawing/2014/main" id="{6BD291B5-7F47-AA2C-B1F1-B7D47266DEB3}"/>
                  </a:ext>
                </a:extLst>
              </p:cNvPr>
              <p:cNvSpPr/>
              <p:nvPr/>
            </p:nvSpPr>
            <p:spPr>
              <a:xfrm>
                <a:off x="8053224" y="3141146"/>
                <a:ext cx="255385" cy="446049"/>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87" name="矩形 86">
                <a:extLst>
                  <a:ext uri="{FF2B5EF4-FFF2-40B4-BE49-F238E27FC236}">
                    <a16:creationId xmlns:a16="http://schemas.microsoft.com/office/drawing/2014/main" id="{E5F64725-6A2D-FCE8-18E9-BC1F2DBBEEBE}"/>
                  </a:ext>
                </a:extLst>
              </p:cNvPr>
              <p:cNvSpPr/>
              <p:nvPr/>
            </p:nvSpPr>
            <p:spPr>
              <a:xfrm>
                <a:off x="8308609" y="3141146"/>
                <a:ext cx="255385" cy="446049"/>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88" name="矩形 87">
                <a:extLst>
                  <a:ext uri="{FF2B5EF4-FFF2-40B4-BE49-F238E27FC236}">
                    <a16:creationId xmlns:a16="http://schemas.microsoft.com/office/drawing/2014/main" id="{34B2CAEA-82B1-07A8-DAC3-EAAB4279CB5E}"/>
                  </a:ext>
                </a:extLst>
              </p:cNvPr>
              <p:cNvSpPr/>
              <p:nvPr/>
            </p:nvSpPr>
            <p:spPr>
              <a:xfrm>
                <a:off x="8913095" y="3141146"/>
                <a:ext cx="255385" cy="446049"/>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89" name="矩形 88">
                <a:extLst>
                  <a:ext uri="{FF2B5EF4-FFF2-40B4-BE49-F238E27FC236}">
                    <a16:creationId xmlns:a16="http://schemas.microsoft.com/office/drawing/2014/main" id="{60CEEDB2-D423-5261-37E9-4DDD6E2FFF50}"/>
                  </a:ext>
                </a:extLst>
              </p:cNvPr>
              <p:cNvSpPr/>
              <p:nvPr/>
            </p:nvSpPr>
            <p:spPr>
              <a:xfrm>
                <a:off x="9168480" y="3141146"/>
                <a:ext cx="255385" cy="446049"/>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90" name="矩形 89">
                <a:extLst>
                  <a:ext uri="{FF2B5EF4-FFF2-40B4-BE49-F238E27FC236}">
                    <a16:creationId xmlns:a16="http://schemas.microsoft.com/office/drawing/2014/main" id="{4BDB817A-43FD-553E-7700-1725C624F149}"/>
                  </a:ext>
                </a:extLst>
              </p:cNvPr>
              <p:cNvSpPr/>
              <p:nvPr/>
            </p:nvSpPr>
            <p:spPr>
              <a:xfrm>
                <a:off x="10114904" y="3141146"/>
                <a:ext cx="255385" cy="446049"/>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91" name="矩形 90">
                <a:extLst>
                  <a:ext uri="{FF2B5EF4-FFF2-40B4-BE49-F238E27FC236}">
                    <a16:creationId xmlns:a16="http://schemas.microsoft.com/office/drawing/2014/main" id="{505F2DDA-AA34-9CFC-B505-B478BECFE4BA}"/>
                  </a:ext>
                </a:extLst>
              </p:cNvPr>
              <p:cNvSpPr/>
              <p:nvPr/>
            </p:nvSpPr>
            <p:spPr>
              <a:xfrm>
                <a:off x="10370289" y="3141146"/>
                <a:ext cx="255385" cy="446049"/>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106" name="文字方塊 105">
                <a:extLst>
                  <a:ext uri="{FF2B5EF4-FFF2-40B4-BE49-F238E27FC236}">
                    <a16:creationId xmlns:a16="http://schemas.microsoft.com/office/drawing/2014/main" id="{5B4B8FB0-40C0-2BF1-F1BB-B1256C722F68}"/>
                  </a:ext>
                </a:extLst>
              </p:cNvPr>
              <p:cNvSpPr txBox="1"/>
              <p:nvPr/>
            </p:nvSpPr>
            <p:spPr>
              <a:xfrm>
                <a:off x="7852383" y="2772378"/>
                <a:ext cx="2515625" cy="307777"/>
              </a:xfrm>
              <a:prstGeom prst="rect">
                <a:avLst/>
              </a:prstGeom>
              <a:noFill/>
            </p:spPr>
            <p:txBody>
              <a:bodyPr wrap="none" rtlCol="0">
                <a:spAutoFit/>
              </a:bodyPr>
              <a:lstStyle/>
              <a:p>
                <a:r>
                  <a:rPr kumimoji="1" lang="en-US" altLang="zh-TW" sz="1400" b="1" dirty="0"/>
                  <a:t>Process’s Virtual Address Space</a:t>
                </a:r>
                <a:endParaRPr kumimoji="1" lang="zh-TW" altLang="en-US" sz="1400" b="1" dirty="0"/>
              </a:p>
            </p:txBody>
          </p:sp>
          <p:cxnSp>
            <p:nvCxnSpPr>
              <p:cNvPr id="121" name="直線箭頭接點 120">
                <a:extLst>
                  <a:ext uri="{FF2B5EF4-FFF2-40B4-BE49-F238E27FC236}">
                    <a16:creationId xmlns:a16="http://schemas.microsoft.com/office/drawing/2014/main" id="{BFB64828-7B15-60E8-3E67-23E143DB5886}"/>
                  </a:ext>
                </a:extLst>
              </p:cNvPr>
              <p:cNvCxnSpPr>
                <a:cxnSpLocks/>
                <a:stCxn id="21" idx="0"/>
              </p:cNvCxnSpPr>
              <p:nvPr/>
            </p:nvCxnSpPr>
            <p:spPr>
              <a:xfrm flipV="1">
                <a:off x="7483925" y="3595108"/>
                <a:ext cx="49097" cy="32853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24" name="直線箭頭接點 123">
                <a:extLst>
                  <a:ext uri="{FF2B5EF4-FFF2-40B4-BE49-F238E27FC236}">
                    <a16:creationId xmlns:a16="http://schemas.microsoft.com/office/drawing/2014/main" id="{8875E9F4-2C52-CEA7-944C-791D9E5BAFFF}"/>
                  </a:ext>
                </a:extLst>
              </p:cNvPr>
              <p:cNvCxnSpPr>
                <a:cxnSpLocks/>
                <a:stCxn id="27" idx="0"/>
              </p:cNvCxnSpPr>
              <p:nvPr/>
            </p:nvCxnSpPr>
            <p:spPr>
              <a:xfrm flipV="1">
                <a:off x="7659279" y="3595108"/>
                <a:ext cx="912762" cy="32853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129" name="文字方塊 128">
                <a:extLst>
                  <a:ext uri="{FF2B5EF4-FFF2-40B4-BE49-F238E27FC236}">
                    <a16:creationId xmlns:a16="http://schemas.microsoft.com/office/drawing/2014/main" id="{6F6CFF8E-3293-B7C1-2B22-650480C7CA77}"/>
                  </a:ext>
                </a:extLst>
              </p:cNvPr>
              <p:cNvSpPr txBox="1"/>
              <p:nvPr/>
            </p:nvSpPr>
            <p:spPr>
              <a:xfrm>
                <a:off x="7188651" y="3601419"/>
                <a:ext cx="752129" cy="276999"/>
              </a:xfrm>
              <a:prstGeom prst="rect">
                <a:avLst/>
              </a:prstGeom>
              <a:noFill/>
            </p:spPr>
            <p:txBody>
              <a:bodyPr wrap="none" rtlCol="0">
                <a:spAutoFit/>
              </a:bodyPr>
              <a:lstStyle/>
              <a:p>
                <a:r>
                  <a:rPr kumimoji="1" lang="en-US" altLang="zh-TW" sz="1200" b="1" dirty="0" err="1">
                    <a:solidFill>
                      <a:srgbClr val="0070C0"/>
                    </a:solidFill>
                  </a:rPr>
                  <a:t>vm_start</a:t>
                </a:r>
                <a:endParaRPr kumimoji="1" lang="zh-TW" altLang="en-US" sz="1200" b="1" dirty="0">
                  <a:solidFill>
                    <a:srgbClr val="0070C0"/>
                  </a:solidFill>
                </a:endParaRPr>
              </a:p>
            </p:txBody>
          </p:sp>
          <p:sp>
            <p:nvSpPr>
              <p:cNvPr id="130" name="文字方塊 129">
                <a:extLst>
                  <a:ext uri="{FF2B5EF4-FFF2-40B4-BE49-F238E27FC236}">
                    <a16:creationId xmlns:a16="http://schemas.microsoft.com/office/drawing/2014/main" id="{5D21541F-D0D7-3EA8-FF57-676E850A3FE0}"/>
                  </a:ext>
                </a:extLst>
              </p:cNvPr>
              <p:cNvSpPr txBox="1"/>
              <p:nvPr/>
            </p:nvSpPr>
            <p:spPr>
              <a:xfrm>
                <a:off x="7867436" y="3601796"/>
                <a:ext cx="702436" cy="276999"/>
              </a:xfrm>
              <a:prstGeom prst="rect">
                <a:avLst/>
              </a:prstGeom>
              <a:noFill/>
            </p:spPr>
            <p:txBody>
              <a:bodyPr wrap="none" rtlCol="0">
                <a:spAutoFit/>
              </a:bodyPr>
              <a:lstStyle/>
              <a:p>
                <a:r>
                  <a:rPr kumimoji="1" lang="en-US" altLang="zh-TW" sz="1200" b="1" dirty="0" err="1">
                    <a:solidFill>
                      <a:srgbClr val="0070C0"/>
                    </a:solidFill>
                  </a:rPr>
                  <a:t>vm_end</a:t>
                </a:r>
                <a:endParaRPr kumimoji="1" lang="zh-TW" altLang="en-US" sz="1200" b="1" dirty="0">
                  <a:solidFill>
                    <a:srgbClr val="0070C0"/>
                  </a:solidFill>
                </a:endParaRPr>
              </a:p>
            </p:txBody>
          </p:sp>
          <p:cxnSp>
            <p:nvCxnSpPr>
              <p:cNvPr id="137" name="直線箭頭接點 136">
                <a:extLst>
                  <a:ext uri="{FF2B5EF4-FFF2-40B4-BE49-F238E27FC236}">
                    <a16:creationId xmlns:a16="http://schemas.microsoft.com/office/drawing/2014/main" id="{9FBBF334-82E8-4674-865B-178BAC2A9F6E}"/>
                  </a:ext>
                </a:extLst>
              </p:cNvPr>
              <p:cNvCxnSpPr>
                <a:cxnSpLocks/>
              </p:cNvCxnSpPr>
              <p:nvPr/>
            </p:nvCxnSpPr>
            <p:spPr>
              <a:xfrm flipV="1">
                <a:off x="8834938" y="3595108"/>
                <a:ext cx="81320" cy="32221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39" name="直線箭頭接點 138">
                <a:extLst>
                  <a:ext uri="{FF2B5EF4-FFF2-40B4-BE49-F238E27FC236}">
                    <a16:creationId xmlns:a16="http://schemas.microsoft.com/office/drawing/2014/main" id="{B052059B-B3A1-8DDC-5795-783648A93AC0}"/>
                  </a:ext>
                </a:extLst>
              </p:cNvPr>
              <p:cNvCxnSpPr>
                <a:cxnSpLocks/>
              </p:cNvCxnSpPr>
              <p:nvPr/>
            </p:nvCxnSpPr>
            <p:spPr>
              <a:xfrm flipV="1">
                <a:off x="9013572" y="3587195"/>
                <a:ext cx="423147" cy="333291"/>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42" name="直線箭頭接點 141">
                <a:extLst>
                  <a:ext uri="{FF2B5EF4-FFF2-40B4-BE49-F238E27FC236}">
                    <a16:creationId xmlns:a16="http://schemas.microsoft.com/office/drawing/2014/main" id="{F4880F1D-58BD-9477-0258-22313329EAC0}"/>
                  </a:ext>
                </a:extLst>
              </p:cNvPr>
              <p:cNvCxnSpPr>
                <a:cxnSpLocks/>
              </p:cNvCxnSpPr>
              <p:nvPr/>
            </p:nvCxnSpPr>
            <p:spPr>
              <a:xfrm flipH="1" flipV="1">
                <a:off x="10126114" y="3595108"/>
                <a:ext cx="72794" cy="319841"/>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45" name="直線箭頭接點 144">
                <a:extLst>
                  <a:ext uri="{FF2B5EF4-FFF2-40B4-BE49-F238E27FC236}">
                    <a16:creationId xmlns:a16="http://schemas.microsoft.com/office/drawing/2014/main" id="{7A3C88FD-E6EE-D2C0-2421-963799DA263D}"/>
                  </a:ext>
                </a:extLst>
              </p:cNvPr>
              <p:cNvCxnSpPr>
                <a:cxnSpLocks/>
              </p:cNvCxnSpPr>
              <p:nvPr/>
            </p:nvCxnSpPr>
            <p:spPr>
              <a:xfrm flipV="1">
                <a:off x="10372859" y="3601796"/>
                <a:ext cx="522093" cy="317856"/>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grpSp>
        <p:sp>
          <p:nvSpPr>
            <p:cNvPr id="172" name="矩形 171">
              <a:extLst>
                <a:ext uri="{FF2B5EF4-FFF2-40B4-BE49-F238E27FC236}">
                  <a16:creationId xmlns:a16="http://schemas.microsoft.com/office/drawing/2014/main" id="{8379090D-07B7-AEFB-7BF8-95978218FCE0}"/>
                </a:ext>
              </a:extLst>
            </p:cNvPr>
            <p:cNvSpPr/>
            <p:nvPr/>
          </p:nvSpPr>
          <p:spPr>
            <a:xfrm>
              <a:off x="10625796" y="3142816"/>
              <a:ext cx="255385" cy="446049"/>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grpSp>
      <p:sp>
        <p:nvSpPr>
          <p:cNvPr id="2" name="標題 1">
            <a:extLst>
              <a:ext uri="{FF2B5EF4-FFF2-40B4-BE49-F238E27FC236}">
                <a16:creationId xmlns:a16="http://schemas.microsoft.com/office/drawing/2014/main" id="{ABB30BEC-B07E-A80C-F7AD-25A692DCF364}"/>
              </a:ext>
            </a:extLst>
          </p:cNvPr>
          <p:cNvSpPr>
            <a:spLocks noGrp="1"/>
          </p:cNvSpPr>
          <p:nvPr>
            <p:ph type="title"/>
          </p:nvPr>
        </p:nvSpPr>
        <p:spPr/>
        <p:txBody>
          <a:bodyPr/>
          <a:lstStyle/>
          <a:p>
            <a:r>
              <a:rPr kumimoji="1" lang="en-US" altLang="zh-TW" dirty="0"/>
              <a:t>Virtual Memory Areas (VMA)</a:t>
            </a:r>
            <a:endParaRPr kumimoji="1" lang="zh-TW" altLang="en-US" dirty="0"/>
          </a:p>
        </p:txBody>
      </p:sp>
      <p:sp>
        <p:nvSpPr>
          <p:cNvPr id="3" name="內容版面配置區 2">
            <a:extLst>
              <a:ext uri="{FF2B5EF4-FFF2-40B4-BE49-F238E27FC236}">
                <a16:creationId xmlns:a16="http://schemas.microsoft.com/office/drawing/2014/main" id="{4793B544-3455-D0F7-21E9-AE1F60D76AD9}"/>
              </a:ext>
            </a:extLst>
          </p:cNvPr>
          <p:cNvSpPr>
            <a:spLocks noGrp="1"/>
          </p:cNvSpPr>
          <p:nvPr>
            <p:ph idx="1"/>
          </p:nvPr>
        </p:nvSpPr>
        <p:spPr>
          <a:xfrm>
            <a:off x="177800" y="1081513"/>
            <a:ext cx="11836400" cy="5441950"/>
          </a:xfrm>
        </p:spPr>
        <p:txBody>
          <a:bodyPr/>
          <a:lstStyle/>
          <a:p>
            <a:r>
              <a:rPr kumimoji="1" lang="en-US" altLang="zh-TW" dirty="0"/>
              <a:t>The memory area (or VMA) structure (</a:t>
            </a:r>
            <a:r>
              <a:rPr kumimoji="1" lang="en-US" altLang="zh-TW" dirty="0" err="1">
                <a:latin typeface="+mj-lt"/>
              </a:rPr>
              <a:t>vm_area_struct</a:t>
            </a:r>
            <a:r>
              <a:rPr lang="en-US" altLang="zh-TW" dirty="0"/>
              <a:t>) </a:t>
            </a:r>
            <a:r>
              <a:rPr kumimoji="1" lang="en-US" altLang="zh-TW" dirty="0"/>
              <a:t>describes a single memory area over a </a:t>
            </a:r>
            <a:r>
              <a:rPr kumimoji="1" lang="en-US" altLang="zh-TW" dirty="0">
                <a:solidFill>
                  <a:srgbClr val="C00000"/>
                </a:solidFill>
              </a:rPr>
              <a:t>contiguous interval in a given virtual address space</a:t>
            </a:r>
            <a:r>
              <a:rPr kumimoji="1" lang="en-US" altLang="zh-TW" dirty="0"/>
              <a:t>.</a:t>
            </a:r>
            <a:endParaRPr kumimoji="1" lang="zh-TW" altLang="en-US" dirty="0"/>
          </a:p>
        </p:txBody>
      </p:sp>
      <p:sp>
        <p:nvSpPr>
          <p:cNvPr id="4" name="投影片編號版面配置區 3">
            <a:extLst>
              <a:ext uri="{FF2B5EF4-FFF2-40B4-BE49-F238E27FC236}">
                <a16:creationId xmlns:a16="http://schemas.microsoft.com/office/drawing/2014/main" id="{FB106D4B-4FF4-A35D-1F2C-3EE26EB77AC8}"/>
              </a:ext>
            </a:extLst>
          </p:cNvPr>
          <p:cNvSpPr>
            <a:spLocks noGrp="1"/>
          </p:cNvSpPr>
          <p:nvPr>
            <p:ph type="sldNum" sz="quarter" idx="4"/>
          </p:nvPr>
        </p:nvSpPr>
        <p:spPr/>
        <p:txBody>
          <a:bodyPr/>
          <a:lstStyle/>
          <a:p>
            <a:fld id="{E24E6636-6BA5-4AAC-8485-BE8D914D288B}" type="slidenum">
              <a:rPr lang="zh-TW" altLang="en-US" smtClean="0"/>
              <a:pPr/>
              <a:t>27</a:t>
            </a:fld>
            <a:endParaRPr lang="zh-TW" altLang="en-US" dirty="0"/>
          </a:p>
        </p:txBody>
      </p:sp>
      <p:pic>
        <p:nvPicPr>
          <p:cNvPr id="22" name="圖片 21" descr="一張含有 文字 的圖片&#10;&#10;自動產生的描述">
            <a:extLst>
              <a:ext uri="{FF2B5EF4-FFF2-40B4-BE49-F238E27FC236}">
                <a16:creationId xmlns:a16="http://schemas.microsoft.com/office/drawing/2014/main" id="{61C2E3FA-DC9A-4A9D-1FBF-66B59E38EE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300" y="4126829"/>
            <a:ext cx="5903395" cy="2334251"/>
          </a:xfrm>
          <a:prstGeom prst="rect">
            <a:avLst/>
          </a:prstGeom>
          <a:noFill/>
          <a:ln w="19050">
            <a:solidFill>
              <a:schemeClr val="tx1"/>
            </a:solidFill>
          </a:ln>
        </p:spPr>
      </p:pic>
      <p:sp>
        <p:nvSpPr>
          <p:cNvPr id="105" name="文字方塊 104">
            <a:extLst>
              <a:ext uri="{FF2B5EF4-FFF2-40B4-BE49-F238E27FC236}">
                <a16:creationId xmlns:a16="http://schemas.microsoft.com/office/drawing/2014/main" id="{2DFF8BA4-E5EC-306A-BE78-DB8756798223}"/>
              </a:ext>
            </a:extLst>
          </p:cNvPr>
          <p:cNvSpPr txBox="1"/>
          <p:nvPr/>
        </p:nvSpPr>
        <p:spPr>
          <a:xfrm>
            <a:off x="0" y="6442560"/>
            <a:ext cx="3744252" cy="830997"/>
          </a:xfrm>
          <a:prstGeom prst="rect">
            <a:avLst/>
          </a:prstGeom>
          <a:noFill/>
        </p:spPr>
        <p:txBody>
          <a:bodyPr wrap="squar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manybutfinite.com</a:t>
            </a:r>
            <a:r>
              <a:rPr kumimoji="1" lang="en-US" altLang="zh-TW" sz="1200" dirty="0">
                <a:solidFill>
                  <a:schemeClr val="bg1">
                    <a:lumMod val="75000"/>
                  </a:schemeClr>
                </a:solidFill>
              </a:rPr>
              <a:t>/post/how-the-kernel-manages-your-memory/</a:t>
            </a:r>
          </a:p>
          <a:p>
            <a:endParaRPr kumimoji="1" lang="en-US" altLang="zh-TW" sz="1200" dirty="0">
              <a:solidFill>
                <a:schemeClr val="bg1">
                  <a:lumMod val="75000"/>
                </a:schemeClr>
              </a:solidFill>
            </a:endParaRPr>
          </a:p>
          <a:p>
            <a:endParaRPr kumimoji="1" lang="zh-TW" altLang="en-US" sz="1200" dirty="0">
              <a:solidFill>
                <a:schemeClr val="bg1">
                  <a:lumMod val="75000"/>
                </a:schemeClr>
              </a:solidFill>
            </a:endParaRPr>
          </a:p>
        </p:txBody>
      </p:sp>
      <p:grpSp>
        <p:nvGrpSpPr>
          <p:cNvPr id="152" name="群組 151">
            <a:extLst>
              <a:ext uri="{FF2B5EF4-FFF2-40B4-BE49-F238E27FC236}">
                <a16:creationId xmlns:a16="http://schemas.microsoft.com/office/drawing/2014/main" id="{5E991733-6A00-4841-5896-2864A0C7721E}"/>
              </a:ext>
            </a:extLst>
          </p:cNvPr>
          <p:cNvGrpSpPr/>
          <p:nvPr/>
        </p:nvGrpSpPr>
        <p:grpSpPr>
          <a:xfrm>
            <a:off x="8181348" y="4847906"/>
            <a:ext cx="1752339" cy="928581"/>
            <a:chOff x="8181348" y="4847906"/>
            <a:chExt cx="1752339" cy="928581"/>
          </a:xfrm>
        </p:grpSpPr>
        <p:sp>
          <p:nvSpPr>
            <p:cNvPr id="62" name="矩形 61">
              <a:extLst>
                <a:ext uri="{FF2B5EF4-FFF2-40B4-BE49-F238E27FC236}">
                  <a16:creationId xmlns:a16="http://schemas.microsoft.com/office/drawing/2014/main" id="{67A492FF-EDD5-02C7-D0AE-5C518836ADA3}"/>
                </a:ext>
              </a:extLst>
            </p:cNvPr>
            <p:cNvSpPr/>
            <p:nvPr/>
          </p:nvSpPr>
          <p:spPr>
            <a:xfrm>
              <a:off x="8578752" y="4847906"/>
              <a:ext cx="178045" cy="4460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63" name="矩形 62">
              <a:extLst>
                <a:ext uri="{FF2B5EF4-FFF2-40B4-BE49-F238E27FC236}">
                  <a16:creationId xmlns:a16="http://schemas.microsoft.com/office/drawing/2014/main" id="{0B120A1C-AD1F-662F-E5B0-2E3D51A2EE45}"/>
                </a:ext>
              </a:extLst>
            </p:cNvPr>
            <p:cNvSpPr/>
            <p:nvPr/>
          </p:nvSpPr>
          <p:spPr>
            <a:xfrm>
              <a:off x="8754106" y="4847906"/>
              <a:ext cx="178045" cy="4460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66" name="矩形 65">
              <a:extLst>
                <a:ext uri="{FF2B5EF4-FFF2-40B4-BE49-F238E27FC236}">
                  <a16:creationId xmlns:a16="http://schemas.microsoft.com/office/drawing/2014/main" id="{382A523F-7A86-402C-E691-DE4582246F0B}"/>
                </a:ext>
              </a:extLst>
            </p:cNvPr>
            <p:cNvSpPr/>
            <p:nvPr/>
          </p:nvSpPr>
          <p:spPr>
            <a:xfrm>
              <a:off x="8932151" y="4847906"/>
              <a:ext cx="178045" cy="4460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69" name="矩形 68">
              <a:extLst>
                <a:ext uri="{FF2B5EF4-FFF2-40B4-BE49-F238E27FC236}">
                  <a16:creationId xmlns:a16="http://schemas.microsoft.com/office/drawing/2014/main" id="{41A96674-58DA-2A44-CDC3-6D47329B24FC}"/>
                </a:ext>
              </a:extLst>
            </p:cNvPr>
            <p:cNvSpPr/>
            <p:nvPr/>
          </p:nvSpPr>
          <p:spPr>
            <a:xfrm>
              <a:off x="9107505" y="4847906"/>
              <a:ext cx="178045" cy="4460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70" name="矩形 69">
              <a:extLst>
                <a:ext uri="{FF2B5EF4-FFF2-40B4-BE49-F238E27FC236}">
                  <a16:creationId xmlns:a16="http://schemas.microsoft.com/office/drawing/2014/main" id="{8DB514E3-FF64-AB17-9AA7-498091D18852}"/>
                </a:ext>
              </a:extLst>
            </p:cNvPr>
            <p:cNvSpPr/>
            <p:nvPr/>
          </p:nvSpPr>
          <p:spPr>
            <a:xfrm>
              <a:off x="9287086" y="4847906"/>
              <a:ext cx="178045" cy="4460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78" name="文字方塊 77">
              <a:extLst>
                <a:ext uri="{FF2B5EF4-FFF2-40B4-BE49-F238E27FC236}">
                  <a16:creationId xmlns:a16="http://schemas.microsoft.com/office/drawing/2014/main" id="{8C2518AD-4A6E-35EA-1C2E-BAB877EA06D3}"/>
                </a:ext>
              </a:extLst>
            </p:cNvPr>
            <p:cNvSpPr txBox="1"/>
            <p:nvPr/>
          </p:nvSpPr>
          <p:spPr>
            <a:xfrm>
              <a:off x="8181348" y="5253267"/>
              <a:ext cx="1752339" cy="523220"/>
            </a:xfrm>
            <a:prstGeom prst="rect">
              <a:avLst/>
            </a:prstGeom>
            <a:noFill/>
          </p:spPr>
          <p:txBody>
            <a:bodyPr wrap="none" rtlCol="0">
              <a:spAutoFit/>
            </a:bodyPr>
            <a:lstStyle/>
            <a:p>
              <a:pPr algn="ctr"/>
              <a:r>
                <a:rPr kumimoji="1" lang="en-US" altLang="zh-TW" sz="1400" b="1" dirty="0" err="1"/>
                <a:t>mm_struct</a:t>
              </a:r>
              <a:br>
                <a:rPr kumimoji="1" lang="en-US" altLang="zh-TW" sz="1400" b="1" dirty="0"/>
              </a:br>
              <a:r>
                <a:rPr kumimoji="1" lang="en-US" altLang="zh-TW" sz="1400" b="1" dirty="0"/>
                <a:t>(Memory Descriptor)</a:t>
              </a:r>
              <a:endParaRPr kumimoji="1" lang="zh-TW" altLang="en-US" sz="1400" b="1" dirty="0"/>
            </a:p>
          </p:txBody>
        </p:sp>
      </p:grpSp>
      <p:grpSp>
        <p:nvGrpSpPr>
          <p:cNvPr id="156" name="群組 155">
            <a:extLst>
              <a:ext uri="{FF2B5EF4-FFF2-40B4-BE49-F238E27FC236}">
                <a16:creationId xmlns:a16="http://schemas.microsoft.com/office/drawing/2014/main" id="{9144A2B2-AB4C-210E-BBCB-5760D60D29CE}"/>
              </a:ext>
            </a:extLst>
          </p:cNvPr>
          <p:cNvGrpSpPr/>
          <p:nvPr/>
        </p:nvGrpSpPr>
        <p:grpSpPr>
          <a:xfrm>
            <a:off x="7709555" y="4377608"/>
            <a:ext cx="1207039" cy="495582"/>
            <a:chOff x="7709555" y="4377608"/>
            <a:chExt cx="1207039" cy="495582"/>
          </a:xfrm>
        </p:grpSpPr>
        <p:grpSp>
          <p:nvGrpSpPr>
            <p:cNvPr id="119" name="群組 118">
              <a:extLst>
                <a:ext uri="{FF2B5EF4-FFF2-40B4-BE49-F238E27FC236}">
                  <a16:creationId xmlns:a16="http://schemas.microsoft.com/office/drawing/2014/main" id="{0F6D97D2-457B-F276-BB6A-2F6696CCFAF3}"/>
                </a:ext>
              </a:extLst>
            </p:cNvPr>
            <p:cNvGrpSpPr/>
            <p:nvPr/>
          </p:nvGrpSpPr>
          <p:grpSpPr>
            <a:xfrm>
              <a:off x="7709555" y="4377608"/>
              <a:ext cx="1150550" cy="470298"/>
              <a:chOff x="446013" y="5109980"/>
              <a:chExt cx="1150550" cy="470298"/>
            </a:xfrm>
          </p:grpSpPr>
          <p:cxnSp>
            <p:nvCxnSpPr>
              <p:cNvPr id="111" name="直線箭頭接點 110">
                <a:extLst>
                  <a:ext uri="{FF2B5EF4-FFF2-40B4-BE49-F238E27FC236}">
                    <a16:creationId xmlns:a16="http://schemas.microsoft.com/office/drawing/2014/main" id="{C0152E5D-90E2-9CD4-7FCD-4A09D7F80908}"/>
                  </a:ext>
                </a:extLst>
              </p:cNvPr>
              <p:cNvCxnSpPr>
                <a:cxnSpLocks/>
              </p:cNvCxnSpPr>
              <p:nvPr/>
            </p:nvCxnSpPr>
            <p:spPr>
              <a:xfrm flipV="1">
                <a:off x="446013" y="5109980"/>
                <a:ext cx="0" cy="292585"/>
              </a:xfrm>
              <a:prstGeom prst="straightConnector1">
                <a:avLst/>
              </a:prstGeom>
              <a:ln w="19050">
                <a:solidFill>
                  <a:schemeClr val="tx1"/>
                </a:solidFill>
                <a:prstDash val="sysDot"/>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14" name="直線箭頭接點 113">
                <a:extLst>
                  <a:ext uri="{FF2B5EF4-FFF2-40B4-BE49-F238E27FC236}">
                    <a16:creationId xmlns:a16="http://schemas.microsoft.com/office/drawing/2014/main" id="{77BD286A-BDC9-3098-12EC-5AF67D2C237A}"/>
                  </a:ext>
                </a:extLst>
              </p:cNvPr>
              <p:cNvCxnSpPr>
                <a:cxnSpLocks/>
              </p:cNvCxnSpPr>
              <p:nvPr/>
            </p:nvCxnSpPr>
            <p:spPr>
              <a:xfrm>
                <a:off x="456370" y="5399425"/>
                <a:ext cx="1140193" cy="0"/>
              </a:xfrm>
              <a:prstGeom prst="straightConnector1">
                <a:avLst/>
              </a:prstGeom>
              <a:ln w="19050">
                <a:solidFill>
                  <a:schemeClr val="tx1"/>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cxnSp>
            <p:nvCxnSpPr>
              <p:cNvPr id="117" name="直線箭頭接點 116">
                <a:extLst>
                  <a:ext uri="{FF2B5EF4-FFF2-40B4-BE49-F238E27FC236}">
                    <a16:creationId xmlns:a16="http://schemas.microsoft.com/office/drawing/2014/main" id="{E7F0DDEC-6690-BA9F-642B-895EE097C476}"/>
                  </a:ext>
                </a:extLst>
              </p:cNvPr>
              <p:cNvCxnSpPr>
                <a:cxnSpLocks/>
              </p:cNvCxnSpPr>
              <p:nvPr/>
            </p:nvCxnSpPr>
            <p:spPr>
              <a:xfrm>
                <a:off x="1579096" y="5399425"/>
                <a:ext cx="0" cy="180853"/>
              </a:xfrm>
              <a:prstGeom prst="straightConnector1">
                <a:avLst/>
              </a:prstGeom>
              <a:ln w="19050">
                <a:solidFill>
                  <a:schemeClr val="tx1"/>
                </a:solidFill>
                <a:prstDash val="sysDot"/>
                <a:headEnd type="none"/>
                <a:tailEnd type="oval"/>
              </a:ln>
            </p:spPr>
            <p:style>
              <a:lnRef idx="1">
                <a:schemeClr val="accent1"/>
              </a:lnRef>
              <a:fillRef idx="0">
                <a:schemeClr val="accent1"/>
              </a:fillRef>
              <a:effectRef idx="0">
                <a:schemeClr val="accent1"/>
              </a:effectRef>
              <a:fontRef idx="minor">
                <a:schemeClr val="tx1"/>
              </a:fontRef>
            </p:style>
          </p:cxnSp>
        </p:grpSp>
        <p:sp>
          <p:nvSpPr>
            <p:cNvPr id="120" name="文字方塊 119">
              <a:extLst>
                <a:ext uri="{FF2B5EF4-FFF2-40B4-BE49-F238E27FC236}">
                  <a16:creationId xmlns:a16="http://schemas.microsoft.com/office/drawing/2014/main" id="{41A03F2C-566C-92DC-3D64-9FD4D49D9D37}"/>
                </a:ext>
              </a:extLst>
            </p:cNvPr>
            <p:cNvSpPr txBox="1"/>
            <p:nvPr/>
          </p:nvSpPr>
          <p:spPr>
            <a:xfrm>
              <a:off x="8323162" y="4596191"/>
              <a:ext cx="593432" cy="276999"/>
            </a:xfrm>
            <a:prstGeom prst="rect">
              <a:avLst/>
            </a:prstGeom>
            <a:noFill/>
          </p:spPr>
          <p:txBody>
            <a:bodyPr wrap="none" rtlCol="0">
              <a:spAutoFit/>
            </a:bodyPr>
            <a:lstStyle/>
            <a:p>
              <a:r>
                <a:rPr kumimoji="1" lang="en-US" altLang="zh-TW" sz="1200" b="1" dirty="0" err="1">
                  <a:solidFill>
                    <a:srgbClr val="0070C0"/>
                  </a:solidFill>
                </a:rPr>
                <a:t>mmap</a:t>
              </a:r>
              <a:endParaRPr kumimoji="1" lang="zh-TW" altLang="en-US" sz="1200" b="1" dirty="0">
                <a:solidFill>
                  <a:srgbClr val="0070C0"/>
                </a:solidFill>
              </a:endParaRPr>
            </a:p>
          </p:txBody>
        </p:sp>
      </p:grpSp>
      <p:pic>
        <p:nvPicPr>
          <p:cNvPr id="151" name="圖片 150" descr="一張含有 文字 的圖片&#10;&#10;自動產生的描述">
            <a:extLst>
              <a:ext uri="{FF2B5EF4-FFF2-40B4-BE49-F238E27FC236}">
                <a16:creationId xmlns:a16="http://schemas.microsoft.com/office/drawing/2014/main" id="{CFE9DEAF-D62B-D32E-37F9-BE1504972D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1396" y="2019136"/>
            <a:ext cx="5931334" cy="1902672"/>
          </a:xfrm>
          <a:prstGeom prst="rect">
            <a:avLst/>
          </a:prstGeom>
          <a:ln w="19050">
            <a:solidFill>
              <a:schemeClr val="tx1"/>
            </a:solidFill>
          </a:ln>
        </p:spPr>
      </p:pic>
      <p:cxnSp>
        <p:nvCxnSpPr>
          <p:cNvPr id="154" name="直線接點 153">
            <a:extLst>
              <a:ext uri="{FF2B5EF4-FFF2-40B4-BE49-F238E27FC236}">
                <a16:creationId xmlns:a16="http://schemas.microsoft.com/office/drawing/2014/main" id="{CD9CA5EE-5B0D-3C89-21DD-3355829BC134}"/>
              </a:ext>
            </a:extLst>
          </p:cNvPr>
          <p:cNvCxnSpPr>
            <a:cxnSpLocks/>
          </p:cNvCxnSpPr>
          <p:nvPr/>
        </p:nvCxnSpPr>
        <p:spPr>
          <a:xfrm>
            <a:off x="1414926" y="2651305"/>
            <a:ext cx="3627337" cy="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8" name="直線接點 157">
            <a:extLst>
              <a:ext uri="{FF2B5EF4-FFF2-40B4-BE49-F238E27FC236}">
                <a16:creationId xmlns:a16="http://schemas.microsoft.com/office/drawing/2014/main" id="{F308CF3F-556C-A569-7708-7B6440F2D932}"/>
              </a:ext>
            </a:extLst>
          </p:cNvPr>
          <p:cNvCxnSpPr>
            <a:cxnSpLocks/>
          </p:cNvCxnSpPr>
          <p:nvPr/>
        </p:nvCxnSpPr>
        <p:spPr>
          <a:xfrm>
            <a:off x="1414926" y="5625282"/>
            <a:ext cx="4345794" cy="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2" name="直線接點 161">
            <a:extLst>
              <a:ext uri="{FF2B5EF4-FFF2-40B4-BE49-F238E27FC236}">
                <a16:creationId xmlns:a16="http://schemas.microsoft.com/office/drawing/2014/main" id="{4F71EB2A-19FA-9FDA-9D3A-5E63C697516D}"/>
              </a:ext>
            </a:extLst>
          </p:cNvPr>
          <p:cNvCxnSpPr>
            <a:cxnSpLocks/>
          </p:cNvCxnSpPr>
          <p:nvPr/>
        </p:nvCxnSpPr>
        <p:spPr>
          <a:xfrm>
            <a:off x="1414926" y="5022578"/>
            <a:ext cx="4345794" cy="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3" name="直線接點 162">
            <a:extLst>
              <a:ext uri="{FF2B5EF4-FFF2-40B4-BE49-F238E27FC236}">
                <a16:creationId xmlns:a16="http://schemas.microsoft.com/office/drawing/2014/main" id="{2336346F-61B5-76C6-638F-84C49D3DD40B}"/>
              </a:ext>
            </a:extLst>
          </p:cNvPr>
          <p:cNvCxnSpPr>
            <a:cxnSpLocks/>
          </p:cNvCxnSpPr>
          <p:nvPr/>
        </p:nvCxnSpPr>
        <p:spPr>
          <a:xfrm>
            <a:off x="1414926" y="5293954"/>
            <a:ext cx="4345794" cy="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167" name="群組 166">
            <a:extLst>
              <a:ext uri="{FF2B5EF4-FFF2-40B4-BE49-F238E27FC236}">
                <a16:creationId xmlns:a16="http://schemas.microsoft.com/office/drawing/2014/main" id="{48FE430F-21CE-668F-BF26-BA53816C605C}"/>
              </a:ext>
            </a:extLst>
          </p:cNvPr>
          <p:cNvGrpSpPr/>
          <p:nvPr/>
        </p:nvGrpSpPr>
        <p:grpSpPr>
          <a:xfrm>
            <a:off x="7102995" y="2751460"/>
            <a:ext cx="738315" cy="389686"/>
            <a:chOff x="7102995" y="2751460"/>
            <a:chExt cx="738315" cy="389686"/>
          </a:xfrm>
        </p:grpSpPr>
        <p:sp>
          <p:nvSpPr>
            <p:cNvPr id="160" name="文字方塊 159">
              <a:extLst>
                <a:ext uri="{FF2B5EF4-FFF2-40B4-BE49-F238E27FC236}">
                  <a16:creationId xmlns:a16="http://schemas.microsoft.com/office/drawing/2014/main" id="{B2D7441E-6722-3D4D-6DF7-7881CCBAFBA4}"/>
                </a:ext>
              </a:extLst>
            </p:cNvPr>
            <p:cNvSpPr txBox="1"/>
            <p:nvPr/>
          </p:nvSpPr>
          <p:spPr>
            <a:xfrm>
              <a:off x="7102995" y="2751460"/>
              <a:ext cx="738315" cy="276999"/>
            </a:xfrm>
            <a:prstGeom prst="rect">
              <a:avLst/>
            </a:prstGeom>
            <a:noFill/>
          </p:spPr>
          <p:txBody>
            <a:bodyPr wrap="square" rtlCol="0">
              <a:spAutoFit/>
            </a:bodyPr>
            <a:lstStyle/>
            <a:p>
              <a:r>
                <a:rPr kumimoji="1" lang="en-US" altLang="zh-TW" sz="1200" b="1" dirty="0"/>
                <a:t>page</a:t>
              </a:r>
              <a:endParaRPr kumimoji="1" lang="zh-TW" altLang="en-US" sz="1200" b="1" dirty="0"/>
            </a:p>
          </p:txBody>
        </p:sp>
        <p:cxnSp>
          <p:nvCxnSpPr>
            <p:cNvPr id="165" name="曲線接點 164">
              <a:extLst>
                <a:ext uri="{FF2B5EF4-FFF2-40B4-BE49-F238E27FC236}">
                  <a16:creationId xmlns:a16="http://schemas.microsoft.com/office/drawing/2014/main" id="{3DBDC023-989A-9A27-459E-14DC4802126C}"/>
                </a:ext>
              </a:extLst>
            </p:cNvPr>
            <p:cNvCxnSpPr>
              <a:cxnSpLocks/>
              <a:endCxn id="83" idx="0"/>
            </p:cNvCxnSpPr>
            <p:nvPr/>
          </p:nvCxnSpPr>
          <p:spPr>
            <a:xfrm rot="16200000" flipH="1">
              <a:off x="7488519" y="2961470"/>
              <a:ext cx="215612" cy="143740"/>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5" name="群組 174">
            <a:extLst>
              <a:ext uri="{FF2B5EF4-FFF2-40B4-BE49-F238E27FC236}">
                <a16:creationId xmlns:a16="http://schemas.microsoft.com/office/drawing/2014/main" id="{D4038FFD-2C87-B31F-8A35-0F58EDD0A229}"/>
              </a:ext>
            </a:extLst>
          </p:cNvPr>
          <p:cNvGrpSpPr/>
          <p:nvPr/>
        </p:nvGrpSpPr>
        <p:grpSpPr>
          <a:xfrm>
            <a:off x="7539218" y="3140227"/>
            <a:ext cx="3341963" cy="447629"/>
            <a:chOff x="7539218" y="3140227"/>
            <a:chExt cx="3341963" cy="447629"/>
          </a:xfrm>
        </p:grpSpPr>
        <p:sp>
          <p:nvSpPr>
            <p:cNvPr id="169" name="矩形 168">
              <a:extLst>
                <a:ext uri="{FF2B5EF4-FFF2-40B4-BE49-F238E27FC236}">
                  <a16:creationId xmlns:a16="http://schemas.microsoft.com/office/drawing/2014/main" id="{66521CEF-2830-6C65-AC3F-0F959BE1CC54}"/>
                </a:ext>
              </a:extLst>
            </p:cNvPr>
            <p:cNvSpPr/>
            <p:nvPr/>
          </p:nvSpPr>
          <p:spPr>
            <a:xfrm>
              <a:off x="7539218" y="3141807"/>
              <a:ext cx="1024776" cy="446049"/>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1"/>
                  </a:solidFill>
                </a:rPr>
                <a:t>VMA</a:t>
              </a:r>
            </a:p>
          </p:txBody>
        </p:sp>
        <p:sp>
          <p:nvSpPr>
            <p:cNvPr id="170" name="矩形 169">
              <a:extLst>
                <a:ext uri="{FF2B5EF4-FFF2-40B4-BE49-F238E27FC236}">
                  <a16:creationId xmlns:a16="http://schemas.microsoft.com/office/drawing/2014/main" id="{651C2B40-818F-546F-37F5-776BCEC9D4B4}"/>
                </a:ext>
              </a:extLst>
            </p:cNvPr>
            <p:cNvSpPr/>
            <p:nvPr/>
          </p:nvSpPr>
          <p:spPr>
            <a:xfrm>
              <a:off x="8915786" y="3140227"/>
              <a:ext cx="510003" cy="446049"/>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b="1" dirty="0">
                  <a:solidFill>
                    <a:schemeClr val="tx1"/>
                  </a:solidFill>
                </a:rPr>
                <a:t>VMA</a:t>
              </a:r>
            </a:p>
          </p:txBody>
        </p:sp>
        <p:sp>
          <p:nvSpPr>
            <p:cNvPr id="174" name="矩形 173">
              <a:extLst>
                <a:ext uri="{FF2B5EF4-FFF2-40B4-BE49-F238E27FC236}">
                  <a16:creationId xmlns:a16="http://schemas.microsoft.com/office/drawing/2014/main" id="{408458D4-89A1-67FF-13DD-7B7443ED41C7}"/>
                </a:ext>
              </a:extLst>
            </p:cNvPr>
            <p:cNvSpPr/>
            <p:nvPr/>
          </p:nvSpPr>
          <p:spPr>
            <a:xfrm>
              <a:off x="10110314" y="3140227"/>
              <a:ext cx="770867" cy="446049"/>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b="1" dirty="0">
                  <a:solidFill>
                    <a:schemeClr val="tx1"/>
                  </a:solidFill>
                </a:rPr>
                <a:t>VMA</a:t>
              </a:r>
            </a:p>
          </p:txBody>
        </p:sp>
      </p:grpSp>
    </p:spTree>
    <p:extLst>
      <p:ext uri="{BB962C8B-B14F-4D97-AF65-F5344CB8AC3E}">
        <p14:creationId xmlns:p14="http://schemas.microsoft.com/office/powerpoint/2010/main" val="859463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2"/>
                                        </p:tgtEl>
                                        <p:attrNameLst>
                                          <p:attrName>style.visibility</p:attrName>
                                        </p:attrNameLst>
                                      </p:cBhvr>
                                      <p:to>
                                        <p:strVal val="visible"/>
                                      </p:to>
                                    </p:set>
                                    <p:animEffect transition="in" filter="fade">
                                      <p:cBhvr>
                                        <p:cTn id="7" dur="500"/>
                                        <p:tgtEl>
                                          <p:spTgt spid="152"/>
                                        </p:tgtEl>
                                      </p:cBhvr>
                                    </p:animEffect>
                                  </p:childTnLst>
                                </p:cTn>
                              </p:par>
                              <p:par>
                                <p:cTn id="8" presetID="10" presetClass="entr" presetSubtype="0" fill="hold" nodeType="withEffect">
                                  <p:stCondLst>
                                    <p:cond delay="0"/>
                                  </p:stCondLst>
                                  <p:childTnLst>
                                    <p:set>
                                      <p:cBhvr>
                                        <p:cTn id="9" dur="1" fill="hold">
                                          <p:stCondLst>
                                            <p:cond delay="0"/>
                                          </p:stCondLst>
                                        </p:cTn>
                                        <p:tgtEl>
                                          <p:spTgt spid="151"/>
                                        </p:tgtEl>
                                        <p:attrNameLst>
                                          <p:attrName>style.visibility</p:attrName>
                                        </p:attrNameLst>
                                      </p:cBhvr>
                                      <p:to>
                                        <p:strVal val="visible"/>
                                      </p:to>
                                    </p:set>
                                    <p:animEffect transition="in" filter="fade">
                                      <p:cBhvr>
                                        <p:cTn id="10" dur="500"/>
                                        <p:tgtEl>
                                          <p:spTgt spid="15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156"/>
                                        </p:tgtEl>
                                        <p:attrNameLst>
                                          <p:attrName>style.visibility</p:attrName>
                                        </p:attrNameLst>
                                      </p:cBhvr>
                                      <p:to>
                                        <p:strVal val="visible"/>
                                      </p:to>
                                    </p:set>
                                    <p:animEffect transition="in" filter="wipe(down)">
                                      <p:cBhvr>
                                        <p:cTn id="15" dur="500"/>
                                        <p:tgtEl>
                                          <p:spTgt spid="156"/>
                                        </p:tgtEl>
                                      </p:cBhvr>
                                    </p:animEffect>
                                  </p:childTnLst>
                                </p:cTn>
                              </p:par>
                              <p:par>
                                <p:cTn id="16" presetID="10" presetClass="entr" presetSubtype="0" fill="hold" nodeType="withEffect">
                                  <p:stCondLst>
                                    <p:cond delay="0"/>
                                  </p:stCondLst>
                                  <p:childTnLst>
                                    <p:set>
                                      <p:cBhvr>
                                        <p:cTn id="17" dur="1" fill="hold">
                                          <p:stCondLst>
                                            <p:cond delay="0"/>
                                          </p:stCondLst>
                                        </p:cTn>
                                        <p:tgtEl>
                                          <p:spTgt spid="154"/>
                                        </p:tgtEl>
                                        <p:attrNameLst>
                                          <p:attrName>style.visibility</p:attrName>
                                        </p:attrNameLst>
                                      </p:cBhvr>
                                      <p:to>
                                        <p:strVal val="visible"/>
                                      </p:to>
                                    </p:set>
                                    <p:animEffect transition="in" filter="fade">
                                      <p:cBhvr>
                                        <p:cTn id="18" dur="500"/>
                                        <p:tgtEl>
                                          <p:spTgt spid="154"/>
                                        </p:tgtEl>
                                      </p:cBhvr>
                                    </p:animEffect>
                                  </p:childTnLst>
                                </p:cTn>
                              </p:par>
                            </p:childTnLst>
                          </p:cTn>
                        </p:par>
                        <p:par>
                          <p:cTn id="19" fill="hold">
                            <p:stCondLst>
                              <p:cond delay="500"/>
                            </p:stCondLst>
                            <p:childTnLst>
                              <p:par>
                                <p:cTn id="20" presetID="22" presetClass="entr" presetSubtype="1" fill="hold" nodeType="after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up)">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57"/>
                                        </p:tgtEl>
                                        <p:attrNameLst>
                                          <p:attrName>style.visibility</p:attrName>
                                        </p:attrNameLst>
                                      </p:cBhvr>
                                      <p:to>
                                        <p:strVal val="visible"/>
                                      </p:to>
                                    </p:set>
                                    <p:animEffect transition="in" filter="wipe(left)">
                                      <p:cBhvr>
                                        <p:cTn id="27" dur="500"/>
                                        <p:tgtEl>
                                          <p:spTgt spid="157"/>
                                        </p:tgtEl>
                                      </p:cBhvr>
                                    </p:animEffect>
                                  </p:childTnLst>
                                </p:cTn>
                              </p:par>
                              <p:par>
                                <p:cTn id="28" presetID="10" presetClass="entr" presetSubtype="0" fill="hold" nodeType="withEffect">
                                  <p:stCondLst>
                                    <p:cond delay="0"/>
                                  </p:stCondLst>
                                  <p:childTnLst>
                                    <p:set>
                                      <p:cBhvr>
                                        <p:cTn id="29" dur="1" fill="hold">
                                          <p:stCondLst>
                                            <p:cond delay="0"/>
                                          </p:stCondLst>
                                        </p:cTn>
                                        <p:tgtEl>
                                          <p:spTgt spid="158"/>
                                        </p:tgtEl>
                                        <p:attrNameLst>
                                          <p:attrName>style.visibility</p:attrName>
                                        </p:attrNameLst>
                                      </p:cBhvr>
                                      <p:to>
                                        <p:strVal val="visible"/>
                                      </p:to>
                                    </p:set>
                                    <p:animEffect transition="in" filter="fade">
                                      <p:cBhvr>
                                        <p:cTn id="30" dur="500"/>
                                        <p:tgtEl>
                                          <p:spTgt spid="158"/>
                                        </p:tgtEl>
                                      </p:cBhvr>
                                    </p:animEffect>
                                  </p:childTnLst>
                                </p:cTn>
                              </p:par>
                              <p:par>
                                <p:cTn id="31" presetID="10" presetClass="entr" presetSubtype="0" fill="hold" nodeType="withEffect">
                                  <p:stCondLst>
                                    <p:cond delay="0"/>
                                  </p:stCondLst>
                                  <p:childTnLst>
                                    <p:set>
                                      <p:cBhvr>
                                        <p:cTn id="32" dur="1" fill="hold">
                                          <p:stCondLst>
                                            <p:cond delay="0"/>
                                          </p:stCondLst>
                                        </p:cTn>
                                        <p:tgtEl>
                                          <p:spTgt spid="162"/>
                                        </p:tgtEl>
                                        <p:attrNameLst>
                                          <p:attrName>style.visibility</p:attrName>
                                        </p:attrNameLst>
                                      </p:cBhvr>
                                      <p:to>
                                        <p:strVal val="visible"/>
                                      </p:to>
                                    </p:set>
                                    <p:animEffect transition="in" filter="fade">
                                      <p:cBhvr>
                                        <p:cTn id="33" dur="500"/>
                                        <p:tgtEl>
                                          <p:spTgt spid="162"/>
                                        </p:tgtEl>
                                      </p:cBhvr>
                                    </p:animEffect>
                                  </p:childTnLst>
                                </p:cTn>
                              </p:par>
                              <p:par>
                                <p:cTn id="34" presetID="10" presetClass="entr" presetSubtype="0" fill="hold" nodeType="withEffect">
                                  <p:stCondLst>
                                    <p:cond delay="0"/>
                                  </p:stCondLst>
                                  <p:childTnLst>
                                    <p:set>
                                      <p:cBhvr>
                                        <p:cTn id="35" dur="1" fill="hold">
                                          <p:stCondLst>
                                            <p:cond delay="0"/>
                                          </p:stCondLst>
                                        </p:cTn>
                                        <p:tgtEl>
                                          <p:spTgt spid="163"/>
                                        </p:tgtEl>
                                        <p:attrNameLst>
                                          <p:attrName>style.visibility</p:attrName>
                                        </p:attrNameLst>
                                      </p:cBhvr>
                                      <p:to>
                                        <p:strVal val="visible"/>
                                      </p:to>
                                    </p:set>
                                    <p:animEffect transition="in" filter="fade">
                                      <p:cBhvr>
                                        <p:cTn id="36" dur="500"/>
                                        <p:tgtEl>
                                          <p:spTgt spid="163"/>
                                        </p:tgtEl>
                                      </p:cBhvr>
                                    </p:animEffect>
                                  </p:childTnLst>
                                </p:cTn>
                              </p:par>
                              <p:par>
                                <p:cTn id="37" presetID="10" presetClass="entr" presetSubtype="0" fill="hold" nodeType="withEffect">
                                  <p:stCondLst>
                                    <p:cond delay="0"/>
                                  </p:stCondLst>
                                  <p:childTnLst>
                                    <p:set>
                                      <p:cBhvr>
                                        <p:cTn id="38" dur="1" fill="hold">
                                          <p:stCondLst>
                                            <p:cond delay="0"/>
                                          </p:stCondLst>
                                        </p:cTn>
                                        <p:tgtEl>
                                          <p:spTgt spid="163"/>
                                        </p:tgtEl>
                                        <p:attrNameLst>
                                          <p:attrName>style.visibility</p:attrName>
                                        </p:attrNameLst>
                                      </p:cBhvr>
                                      <p:to>
                                        <p:strVal val="visible"/>
                                      </p:to>
                                    </p:set>
                                    <p:animEffect transition="in" filter="fade">
                                      <p:cBhvr>
                                        <p:cTn id="39" dur="500"/>
                                        <p:tgtEl>
                                          <p:spTgt spid="163"/>
                                        </p:tgtEl>
                                      </p:cBhvr>
                                    </p:animEffect>
                                  </p:childTnLst>
                                </p:cTn>
                              </p:par>
                              <p:par>
                                <p:cTn id="40" presetID="10" presetClass="entr" presetSubtype="0" fill="hold" nodeType="withEffect">
                                  <p:stCondLst>
                                    <p:cond delay="0"/>
                                  </p:stCondLst>
                                  <p:childTnLst>
                                    <p:set>
                                      <p:cBhvr>
                                        <p:cTn id="41" dur="1" fill="hold">
                                          <p:stCondLst>
                                            <p:cond delay="0"/>
                                          </p:stCondLst>
                                        </p:cTn>
                                        <p:tgtEl>
                                          <p:spTgt spid="162"/>
                                        </p:tgtEl>
                                        <p:attrNameLst>
                                          <p:attrName>style.visibility</p:attrName>
                                        </p:attrNameLst>
                                      </p:cBhvr>
                                      <p:to>
                                        <p:strVal val="visible"/>
                                      </p:to>
                                    </p:set>
                                    <p:animEffect transition="in" filter="fade">
                                      <p:cBhvr>
                                        <p:cTn id="42" dur="500"/>
                                        <p:tgtEl>
                                          <p:spTgt spid="16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73"/>
                                        </p:tgtEl>
                                        <p:attrNameLst>
                                          <p:attrName>style.visibility</p:attrName>
                                        </p:attrNameLst>
                                      </p:cBhvr>
                                      <p:to>
                                        <p:strVal val="visible"/>
                                      </p:to>
                                    </p:set>
                                    <p:animEffect transition="in" filter="wipe(left)">
                                      <p:cBhvr>
                                        <p:cTn id="47" dur="500"/>
                                        <p:tgtEl>
                                          <p:spTgt spid="17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67"/>
                                        </p:tgtEl>
                                        <p:attrNameLst>
                                          <p:attrName>style.visibility</p:attrName>
                                        </p:attrNameLst>
                                      </p:cBhvr>
                                      <p:to>
                                        <p:strVal val="visible"/>
                                      </p:to>
                                    </p:set>
                                    <p:animEffect transition="in" filter="fade">
                                      <p:cBhvr>
                                        <p:cTn id="52" dur="500"/>
                                        <p:tgtEl>
                                          <p:spTgt spid="16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75"/>
                                        </p:tgtEl>
                                        <p:attrNameLst>
                                          <p:attrName>style.visibility</p:attrName>
                                        </p:attrNameLst>
                                      </p:cBhvr>
                                      <p:to>
                                        <p:strVal val="visible"/>
                                      </p:to>
                                    </p:set>
                                    <p:animEffect transition="in" filter="fade">
                                      <p:cBhvr>
                                        <p:cTn id="57" dur="500"/>
                                        <p:tgtEl>
                                          <p:spTgt spid="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B30BEC-B07E-A80C-F7AD-25A692DCF364}"/>
              </a:ext>
            </a:extLst>
          </p:cNvPr>
          <p:cNvSpPr>
            <a:spLocks noGrp="1"/>
          </p:cNvSpPr>
          <p:nvPr>
            <p:ph type="title"/>
          </p:nvPr>
        </p:nvSpPr>
        <p:spPr/>
        <p:txBody>
          <a:bodyPr/>
          <a:lstStyle/>
          <a:p>
            <a:r>
              <a:rPr kumimoji="1" lang="en-US" altLang="zh-TW" dirty="0"/>
              <a:t>Virtual Memory Areas (VMA) (Count.)</a:t>
            </a:r>
            <a:endParaRPr kumimoji="1" lang="zh-TW" altLang="en-US" dirty="0"/>
          </a:p>
        </p:txBody>
      </p:sp>
      <p:sp>
        <p:nvSpPr>
          <p:cNvPr id="3" name="內容版面配置區 2">
            <a:extLst>
              <a:ext uri="{FF2B5EF4-FFF2-40B4-BE49-F238E27FC236}">
                <a16:creationId xmlns:a16="http://schemas.microsoft.com/office/drawing/2014/main" id="{4793B544-3455-D0F7-21E9-AE1F60D76AD9}"/>
              </a:ext>
            </a:extLst>
          </p:cNvPr>
          <p:cNvSpPr>
            <a:spLocks noGrp="1"/>
          </p:cNvSpPr>
          <p:nvPr>
            <p:ph idx="1"/>
          </p:nvPr>
        </p:nvSpPr>
        <p:spPr>
          <a:xfrm>
            <a:off x="177800" y="1081513"/>
            <a:ext cx="11836400" cy="5441950"/>
          </a:xfrm>
        </p:spPr>
        <p:txBody>
          <a:bodyPr/>
          <a:lstStyle/>
          <a:p>
            <a:r>
              <a:rPr kumimoji="1" lang="en-US" altLang="zh-TW" dirty="0"/>
              <a:t>The memory area (or VMA) structure (</a:t>
            </a:r>
            <a:r>
              <a:rPr kumimoji="1" lang="en-US" altLang="zh-TW" dirty="0" err="1">
                <a:latin typeface="+mj-lt"/>
              </a:rPr>
              <a:t>vm_area_struct</a:t>
            </a:r>
            <a:r>
              <a:rPr lang="en-US" altLang="zh-TW" dirty="0"/>
              <a:t>) </a:t>
            </a:r>
            <a:r>
              <a:rPr kumimoji="1" lang="en-US" altLang="zh-TW" dirty="0"/>
              <a:t>describes a single memory area over a </a:t>
            </a:r>
            <a:r>
              <a:rPr kumimoji="1" lang="en-US" altLang="zh-TW" dirty="0">
                <a:solidFill>
                  <a:srgbClr val="C00000"/>
                </a:solidFill>
              </a:rPr>
              <a:t>contiguous interval in a given virtual address space</a:t>
            </a:r>
            <a:r>
              <a:rPr kumimoji="1" lang="en-US" altLang="zh-TW" dirty="0"/>
              <a:t>.</a:t>
            </a:r>
            <a:endParaRPr kumimoji="1" lang="zh-TW" altLang="en-US" dirty="0"/>
          </a:p>
        </p:txBody>
      </p:sp>
      <p:sp>
        <p:nvSpPr>
          <p:cNvPr id="4" name="投影片編號版面配置區 3">
            <a:extLst>
              <a:ext uri="{FF2B5EF4-FFF2-40B4-BE49-F238E27FC236}">
                <a16:creationId xmlns:a16="http://schemas.microsoft.com/office/drawing/2014/main" id="{FB106D4B-4FF4-A35D-1F2C-3EE26EB77AC8}"/>
              </a:ext>
            </a:extLst>
          </p:cNvPr>
          <p:cNvSpPr>
            <a:spLocks noGrp="1"/>
          </p:cNvSpPr>
          <p:nvPr>
            <p:ph type="sldNum" sz="quarter" idx="4"/>
          </p:nvPr>
        </p:nvSpPr>
        <p:spPr/>
        <p:txBody>
          <a:bodyPr/>
          <a:lstStyle/>
          <a:p>
            <a:fld id="{E24E6636-6BA5-4AAC-8485-BE8D914D288B}" type="slidenum">
              <a:rPr lang="zh-TW" altLang="en-US" smtClean="0"/>
              <a:pPr/>
              <a:t>28</a:t>
            </a:fld>
            <a:endParaRPr lang="zh-TW" altLang="en-US" dirty="0"/>
          </a:p>
        </p:txBody>
      </p:sp>
      <p:pic>
        <p:nvPicPr>
          <p:cNvPr id="22" name="圖片 21" descr="一張含有 文字 的圖片&#10;&#10;自動產生的描述">
            <a:extLst>
              <a:ext uri="{FF2B5EF4-FFF2-40B4-BE49-F238E27FC236}">
                <a16:creationId xmlns:a16="http://schemas.microsoft.com/office/drawing/2014/main" id="{61C2E3FA-DC9A-4A9D-1FBF-66B59E38EE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133" y="2176619"/>
            <a:ext cx="3379692" cy="1336358"/>
          </a:xfrm>
          <a:prstGeom prst="rect">
            <a:avLst/>
          </a:prstGeom>
        </p:spPr>
      </p:pic>
      <p:grpSp>
        <p:nvGrpSpPr>
          <p:cNvPr id="92" name="群組 91">
            <a:extLst>
              <a:ext uri="{FF2B5EF4-FFF2-40B4-BE49-F238E27FC236}">
                <a16:creationId xmlns:a16="http://schemas.microsoft.com/office/drawing/2014/main" id="{FB0E783E-6CE6-686D-D179-571FFFF16870}"/>
              </a:ext>
            </a:extLst>
          </p:cNvPr>
          <p:cNvGrpSpPr/>
          <p:nvPr/>
        </p:nvGrpSpPr>
        <p:grpSpPr>
          <a:xfrm>
            <a:off x="4306179" y="5931433"/>
            <a:ext cx="3191108" cy="868692"/>
            <a:chOff x="3867020" y="5948967"/>
            <a:chExt cx="3191108" cy="868692"/>
          </a:xfrm>
        </p:grpSpPr>
        <p:sp>
          <p:nvSpPr>
            <p:cNvPr id="5" name="矩形 4">
              <a:extLst>
                <a:ext uri="{FF2B5EF4-FFF2-40B4-BE49-F238E27FC236}">
                  <a16:creationId xmlns:a16="http://schemas.microsoft.com/office/drawing/2014/main" id="{DF0BEF70-A975-F8F8-5E7A-9ADB00739337}"/>
                </a:ext>
              </a:extLst>
            </p:cNvPr>
            <p:cNvSpPr/>
            <p:nvPr/>
          </p:nvSpPr>
          <p:spPr>
            <a:xfrm>
              <a:off x="3867020" y="6371609"/>
              <a:ext cx="1237786" cy="4460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task_struct</a:t>
              </a:r>
              <a:endParaRPr kumimoji="1" lang="zh-TW" altLang="en-US" sz="1600" dirty="0">
                <a:solidFill>
                  <a:schemeClr val="tx1"/>
                </a:solidFill>
              </a:endParaRPr>
            </a:p>
          </p:txBody>
        </p:sp>
        <p:sp>
          <p:nvSpPr>
            <p:cNvPr id="6" name="矩形 5">
              <a:extLst>
                <a:ext uri="{FF2B5EF4-FFF2-40B4-BE49-F238E27FC236}">
                  <a16:creationId xmlns:a16="http://schemas.microsoft.com/office/drawing/2014/main" id="{2FEC5A41-C99B-91F0-ECEA-359B44FCA79D}"/>
                </a:ext>
              </a:extLst>
            </p:cNvPr>
            <p:cNvSpPr/>
            <p:nvPr/>
          </p:nvSpPr>
          <p:spPr>
            <a:xfrm>
              <a:off x="5820342" y="6371610"/>
              <a:ext cx="1237786" cy="4460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err="1">
                  <a:solidFill>
                    <a:schemeClr val="tx1"/>
                  </a:solidFill>
                </a:rPr>
                <a:t>mm_struct</a:t>
              </a:r>
              <a:endParaRPr kumimoji="1" lang="zh-TW" altLang="en-US" sz="1600" dirty="0">
                <a:solidFill>
                  <a:schemeClr val="tx1"/>
                </a:solidFill>
              </a:endParaRPr>
            </a:p>
          </p:txBody>
        </p:sp>
        <p:cxnSp>
          <p:nvCxnSpPr>
            <p:cNvPr id="36" name="直線箭頭接點 35">
              <a:extLst>
                <a:ext uri="{FF2B5EF4-FFF2-40B4-BE49-F238E27FC236}">
                  <a16:creationId xmlns:a16="http://schemas.microsoft.com/office/drawing/2014/main" id="{2B3DCEDE-333E-888A-2DAB-222FA907CC8E}"/>
                </a:ext>
              </a:extLst>
            </p:cNvPr>
            <p:cNvCxnSpPr>
              <a:cxnSpLocks/>
              <a:endCxn id="6" idx="1"/>
            </p:cNvCxnSpPr>
            <p:nvPr/>
          </p:nvCxnSpPr>
          <p:spPr>
            <a:xfrm flipV="1">
              <a:off x="5109724" y="6594635"/>
              <a:ext cx="710618" cy="0"/>
            </a:xfrm>
            <a:prstGeom prst="straightConnector1">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8" name="直線箭頭接點 37">
              <a:extLst>
                <a:ext uri="{FF2B5EF4-FFF2-40B4-BE49-F238E27FC236}">
                  <a16:creationId xmlns:a16="http://schemas.microsoft.com/office/drawing/2014/main" id="{FCFE0645-B4BD-8310-36C7-D526FBBCF4D2}"/>
                </a:ext>
              </a:extLst>
            </p:cNvPr>
            <p:cNvCxnSpPr>
              <a:cxnSpLocks/>
              <a:endCxn id="7" idx="2"/>
            </p:cNvCxnSpPr>
            <p:nvPr/>
          </p:nvCxnSpPr>
          <p:spPr>
            <a:xfrm flipV="1">
              <a:off x="6878394" y="5948967"/>
              <a:ext cx="0" cy="397455"/>
            </a:xfrm>
            <a:prstGeom prst="straightConnector1">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0" name="文字方塊 39">
              <a:extLst>
                <a:ext uri="{FF2B5EF4-FFF2-40B4-BE49-F238E27FC236}">
                  <a16:creationId xmlns:a16="http://schemas.microsoft.com/office/drawing/2014/main" id="{CE367CD4-EF63-7A69-23E6-8E0C8045FE82}"/>
                </a:ext>
              </a:extLst>
            </p:cNvPr>
            <p:cNvSpPr txBox="1"/>
            <p:nvPr/>
          </p:nvSpPr>
          <p:spPr>
            <a:xfrm>
              <a:off x="5227574" y="6286856"/>
              <a:ext cx="470000" cy="307777"/>
            </a:xfrm>
            <a:prstGeom prst="rect">
              <a:avLst/>
            </a:prstGeom>
            <a:noFill/>
          </p:spPr>
          <p:txBody>
            <a:bodyPr wrap="none" rtlCol="0">
              <a:spAutoFit/>
            </a:bodyPr>
            <a:lstStyle/>
            <a:p>
              <a:r>
                <a:rPr kumimoji="1" lang="en-US" altLang="zh-TW" sz="1400" dirty="0"/>
                <a:t>mm</a:t>
              </a:r>
              <a:endParaRPr kumimoji="1" lang="zh-TW" altLang="en-US" sz="1400" dirty="0"/>
            </a:p>
          </p:txBody>
        </p:sp>
        <p:sp>
          <p:nvSpPr>
            <p:cNvPr id="41" name="文字方塊 40">
              <a:extLst>
                <a:ext uri="{FF2B5EF4-FFF2-40B4-BE49-F238E27FC236}">
                  <a16:creationId xmlns:a16="http://schemas.microsoft.com/office/drawing/2014/main" id="{0647BCA8-1438-789A-AD31-0CDB8E322A1C}"/>
                </a:ext>
              </a:extLst>
            </p:cNvPr>
            <p:cNvSpPr txBox="1"/>
            <p:nvPr/>
          </p:nvSpPr>
          <p:spPr>
            <a:xfrm>
              <a:off x="6406988" y="5987146"/>
              <a:ext cx="651140" cy="307777"/>
            </a:xfrm>
            <a:prstGeom prst="rect">
              <a:avLst/>
            </a:prstGeom>
            <a:noFill/>
          </p:spPr>
          <p:txBody>
            <a:bodyPr wrap="none" rtlCol="0">
              <a:spAutoFit/>
            </a:bodyPr>
            <a:lstStyle/>
            <a:p>
              <a:r>
                <a:rPr kumimoji="1" lang="en-US" altLang="zh-TW" sz="1400" dirty="0" err="1"/>
                <a:t>mmap</a:t>
              </a:r>
              <a:endParaRPr kumimoji="1" lang="zh-TW" altLang="en-US" sz="1400" dirty="0"/>
            </a:p>
          </p:txBody>
        </p:sp>
      </p:grpSp>
      <p:grpSp>
        <p:nvGrpSpPr>
          <p:cNvPr id="95" name="群組 94">
            <a:extLst>
              <a:ext uri="{FF2B5EF4-FFF2-40B4-BE49-F238E27FC236}">
                <a16:creationId xmlns:a16="http://schemas.microsoft.com/office/drawing/2014/main" id="{A8DDE983-103D-1AFD-F26B-614DF6CC2691}"/>
              </a:ext>
            </a:extLst>
          </p:cNvPr>
          <p:cNvGrpSpPr/>
          <p:nvPr/>
        </p:nvGrpSpPr>
        <p:grpSpPr>
          <a:xfrm>
            <a:off x="3817832" y="5075672"/>
            <a:ext cx="5395871" cy="1006538"/>
            <a:chOff x="3378673" y="5093206"/>
            <a:chExt cx="5395871" cy="1006538"/>
          </a:xfrm>
        </p:grpSpPr>
        <p:sp>
          <p:nvSpPr>
            <p:cNvPr id="7" name="矩形 6">
              <a:extLst>
                <a:ext uri="{FF2B5EF4-FFF2-40B4-BE49-F238E27FC236}">
                  <a16:creationId xmlns:a16="http://schemas.microsoft.com/office/drawing/2014/main" id="{46BA6340-EB45-3CEB-6817-2DBA27DCA2AD}"/>
                </a:ext>
              </a:extLst>
            </p:cNvPr>
            <p:cNvSpPr/>
            <p:nvPr/>
          </p:nvSpPr>
          <p:spPr>
            <a:xfrm>
              <a:off x="5288686" y="5520452"/>
              <a:ext cx="2301098"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err="1">
                  <a:solidFill>
                    <a:schemeClr val="tx1"/>
                  </a:solidFill>
                </a:rPr>
                <a:t>vm_area_struct</a:t>
              </a:r>
              <a:endParaRPr kumimoji="1" lang="en-US" altLang="zh-TW" sz="1600" dirty="0">
                <a:solidFill>
                  <a:schemeClr val="tx1"/>
                </a:solidFill>
              </a:endParaRPr>
            </a:p>
            <a:p>
              <a:pPr algn="ctr"/>
              <a:r>
                <a:rPr kumimoji="1" lang="en-US" altLang="zh-TW" sz="1400" dirty="0">
                  <a:solidFill>
                    <a:schemeClr val="tx1"/>
                  </a:solidFill>
                </a:rPr>
                <a:t>VM_READ | VM_EXEC</a:t>
              </a:r>
              <a:endParaRPr kumimoji="1" lang="zh-TW" altLang="en-US" sz="1400" dirty="0">
                <a:solidFill>
                  <a:schemeClr val="tx1"/>
                </a:solidFill>
              </a:endParaRPr>
            </a:p>
          </p:txBody>
        </p:sp>
        <p:cxnSp>
          <p:nvCxnSpPr>
            <p:cNvPr id="26" name="直線箭頭接點 25">
              <a:extLst>
                <a:ext uri="{FF2B5EF4-FFF2-40B4-BE49-F238E27FC236}">
                  <a16:creationId xmlns:a16="http://schemas.microsoft.com/office/drawing/2014/main" id="{5EBE4F6E-3076-214C-B6A6-425F203D8F02}"/>
                </a:ext>
              </a:extLst>
            </p:cNvPr>
            <p:cNvCxnSpPr>
              <a:cxnSpLocks/>
            </p:cNvCxnSpPr>
            <p:nvPr/>
          </p:nvCxnSpPr>
          <p:spPr>
            <a:xfrm>
              <a:off x="7589784" y="5957368"/>
              <a:ext cx="1184760" cy="142376"/>
            </a:xfrm>
            <a:prstGeom prst="straightConnector1">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8" name="直線箭頭接點 27">
              <a:extLst>
                <a:ext uri="{FF2B5EF4-FFF2-40B4-BE49-F238E27FC236}">
                  <a16:creationId xmlns:a16="http://schemas.microsoft.com/office/drawing/2014/main" id="{F330F00C-2F93-2016-EA7F-9E202C31AB24}"/>
                </a:ext>
              </a:extLst>
            </p:cNvPr>
            <p:cNvCxnSpPr>
              <a:cxnSpLocks/>
            </p:cNvCxnSpPr>
            <p:nvPr/>
          </p:nvCxnSpPr>
          <p:spPr>
            <a:xfrm>
              <a:off x="7585080" y="5519409"/>
              <a:ext cx="1184760" cy="142376"/>
            </a:xfrm>
            <a:prstGeom prst="straightConnector1">
              <a:avLst/>
            </a:prstGeom>
            <a:ln w="1905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9" name="文字方塊 28">
              <a:extLst>
                <a:ext uri="{FF2B5EF4-FFF2-40B4-BE49-F238E27FC236}">
                  <a16:creationId xmlns:a16="http://schemas.microsoft.com/office/drawing/2014/main" id="{BEBB1B07-C249-ABB2-B4C0-0A349204CA7C}"/>
                </a:ext>
              </a:extLst>
            </p:cNvPr>
            <p:cNvSpPr txBox="1"/>
            <p:nvPr/>
          </p:nvSpPr>
          <p:spPr>
            <a:xfrm>
              <a:off x="7771472" y="5530579"/>
              <a:ext cx="777777" cy="307777"/>
            </a:xfrm>
            <a:prstGeom prst="rect">
              <a:avLst/>
            </a:prstGeom>
            <a:noFill/>
          </p:spPr>
          <p:txBody>
            <a:bodyPr wrap="none" rtlCol="0">
              <a:spAutoFit/>
            </a:bodyPr>
            <a:lstStyle/>
            <a:p>
              <a:r>
                <a:rPr kumimoji="1" lang="en-US" altLang="zh-TW" sz="1400" dirty="0" err="1"/>
                <a:t>vm_end</a:t>
              </a:r>
              <a:endParaRPr kumimoji="1" lang="zh-TW" altLang="en-US" sz="1400" dirty="0"/>
            </a:p>
          </p:txBody>
        </p:sp>
        <p:sp>
          <p:nvSpPr>
            <p:cNvPr id="30" name="文字方塊 29">
              <a:extLst>
                <a:ext uri="{FF2B5EF4-FFF2-40B4-BE49-F238E27FC236}">
                  <a16:creationId xmlns:a16="http://schemas.microsoft.com/office/drawing/2014/main" id="{D3BDF4A3-158D-C211-B25A-B3389FED3740}"/>
                </a:ext>
              </a:extLst>
            </p:cNvPr>
            <p:cNvSpPr txBox="1"/>
            <p:nvPr/>
          </p:nvSpPr>
          <p:spPr>
            <a:xfrm>
              <a:off x="7887093" y="5729061"/>
              <a:ext cx="836126" cy="307777"/>
            </a:xfrm>
            <a:prstGeom prst="rect">
              <a:avLst/>
            </a:prstGeom>
            <a:noFill/>
          </p:spPr>
          <p:txBody>
            <a:bodyPr wrap="none" rtlCol="0">
              <a:spAutoFit/>
            </a:bodyPr>
            <a:lstStyle/>
            <a:p>
              <a:r>
                <a:rPr kumimoji="1" lang="en-US" altLang="zh-TW" sz="1400" dirty="0" err="1"/>
                <a:t>vm_start</a:t>
              </a:r>
              <a:endParaRPr kumimoji="1" lang="zh-TW" altLang="en-US" sz="1400" dirty="0"/>
            </a:p>
          </p:txBody>
        </p:sp>
        <p:sp>
          <p:nvSpPr>
            <p:cNvPr id="35" name="矩形 34">
              <a:extLst>
                <a:ext uri="{FF2B5EF4-FFF2-40B4-BE49-F238E27FC236}">
                  <a16:creationId xmlns:a16="http://schemas.microsoft.com/office/drawing/2014/main" id="{E58411AC-FE78-8529-AA21-AEBD70FCC45C}"/>
                </a:ext>
              </a:extLst>
            </p:cNvPr>
            <p:cNvSpPr/>
            <p:nvPr/>
          </p:nvSpPr>
          <p:spPr>
            <a:xfrm>
              <a:off x="3378673" y="5093206"/>
              <a:ext cx="1237786" cy="621257"/>
            </a:xfrm>
            <a:prstGeom prst="rect">
              <a:avLst/>
            </a:prstGeom>
            <a:solidFill>
              <a:schemeClr val="bg1">
                <a:lumMod val="8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struct file</a:t>
              </a:r>
            </a:p>
            <a:p>
              <a:pPr algn="ctr"/>
              <a:r>
                <a:rPr kumimoji="1" lang="en-US" altLang="zh-TW" sz="1600" dirty="0">
                  <a:solidFill>
                    <a:schemeClr val="tx1"/>
                  </a:solidFill>
                </a:rPr>
                <a:t>/bin/execute</a:t>
              </a:r>
              <a:endParaRPr kumimoji="1" lang="zh-TW" altLang="en-US" sz="1600" dirty="0">
                <a:solidFill>
                  <a:schemeClr val="tx1"/>
                </a:solidFill>
              </a:endParaRPr>
            </a:p>
          </p:txBody>
        </p:sp>
        <p:cxnSp>
          <p:nvCxnSpPr>
            <p:cNvPr id="42" name="直線箭頭接點 41">
              <a:extLst>
                <a:ext uri="{FF2B5EF4-FFF2-40B4-BE49-F238E27FC236}">
                  <a16:creationId xmlns:a16="http://schemas.microsoft.com/office/drawing/2014/main" id="{C9417291-830F-CBEC-8357-3DBD3EA6DBFF}"/>
                </a:ext>
              </a:extLst>
            </p:cNvPr>
            <p:cNvCxnSpPr>
              <a:cxnSpLocks/>
            </p:cNvCxnSpPr>
            <p:nvPr/>
          </p:nvCxnSpPr>
          <p:spPr>
            <a:xfrm flipH="1" flipV="1">
              <a:off x="4627612" y="5543022"/>
              <a:ext cx="657829" cy="220308"/>
            </a:xfrm>
            <a:prstGeom prst="straightConnector1">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4" name="文字方塊 43">
              <a:extLst>
                <a:ext uri="{FF2B5EF4-FFF2-40B4-BE49-F238E27FC236}">
                  <a16:creationId xmlns:a16="http://schemas.microsoft.com/office/drawing/2014/main" id="{50DD468C-E2CF-B273-3C05-894B9CE18C30}"/>
                </a:ext>
              </a:extLst>
            </p:cNvPr>
            <p:cNvSpPr txBox="1"/>
            <p:nvPr/>
          </p:nvSpPr>
          <p:spPr>
            <a:xfrm>
              <a:off x="4504394" y="5671660"/>
              <a:ext cx="726481" cy="307777"/>
            </a:xfrm>
            <a:prstGeom prst="rect">
              <a:avLst/>
            </a:prstGeom>
            <a:noFill/>
          </p:spPr>
          <p:txBody>
            <a:bodyPr wrap="none" rtlCol="0">
              <a:spAutoFit/>
            </a:bodyPr>
            <a:lstStyle/>
            <a:p>
              <a:r>
                <a:rPr kumimoji="1" lang="en-US" altLang="zh-TW" sz="1400" dirty="0" err="1"/>
                <a:t>vm_file</a:t>
              </a:r>
              <a:endParaRPr kumimoji="1" lang="zh-TW" altLang="en-US" sz="1400" dirty="0"/>
            </a:p>
          </p:txBody>
        </p:sp>
      </p:grpSp>
      <p:grpSp>
        <p:nvGrpSpPr>
          <p:cNvPr id="96" name="群組 95">
            <a:extLst>
              <a:ext uri="{FF2B5EF4-FFF2-40B4-BE49-F238E27FC236}">
                <a16:creationId xmlns:a16="http://schemas.microsoft.com/office/drawing/2014/main" id="{3B6D13FD-CF9E-F22C-BC76-29CDAC57CF3E}"/>
              </a:ext>
            </a:extLst>
          </p:cNvPr>
          <p:cNvGrpSpPr/>
          <p:nvPr/>
        </p:nvGrpSpPr>
        <p:grpSpPr>
          <a:xfrm>
            <a:off x="4993184" y="4767895"/>
            <a:ext cx="4222940" cy="861779"/>
            <a:chOff x="4554025" y="4785429"/>
            <a:chExt cx="4222940" cy="861779"/>
          </a:xfrm>
        </p:grpSpPr>
        <p:sp>
          <p:nvSpPr>
            <p:cNvPr id="31" name="矩形 30">
              <a:extLst>
                <a:ext uri="{FF2B5EF4-FFF2-40B4-BE49-F238E27FC236}">
                  <a16:creationId xmlns:a16="http://schemas.microsoft.com/office/drawing/2014/main" id="{640B0ABB-29CF-EA1B-3C4A-679A5124D733}"/>
                </a:ext>
              </a:extLst>
            </p:cNvPr>
            <p:cNvSpPr/>
            <p:nvPr/>
          </p:nvSpPr>
          <p:spPr>
            <a:xfrm>
              <a:off x="5291659" y="4825618"/>
              <a:ext cx="2301098"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err="1">
                  <a:solidFill>
                    <a:schemeClr val="tx1"/>
                  </a:solidFill>
                </a:rPr>
                <a:t>vm_area_struct</a:t>
              </a:r>
              <a:endParaRPr kumimoji="1" lang="en-US" altLang="zh-TW" sz="1600" dirty="0">
                <a:solidFill>
                  <a:schemeClr val="tx1"/>
                </a:solidFill>
              </a:endParaRPr>
            </a:p>
            <a:p>
              <a:pPr algn="ctr"/>
              <a:r>
                <a:rPr kumimoji="1" lang="en-US" altLang="zh-TW" sz="1400" dirty="0">
                  <a:solidFill>
                    <a:schemeClr val="tx1"/>
                  </a:solidFill>
                </a:rPr>
                <a:t>VM_READ | VM_WRITE</a:t>
              </a:r>
              <a:endParaRPr kumimoji="1" lang="zh-TW" altLang="en-US" sz="1400" dirty="0">
                <a:solidFill>
                  <a:schemeClr val="tx1"/>
                </a:solidFill>
              </a:endParaRPr>
            </a:p>
          </p:txBody>
        </p:sp>
        <p:cxnSp>
          <p:nvCxnSpPr>
            <p:cNvPr id="32" name="直線箭頭接點 31">
              <a:extLst>
                <a:ext uri="{FF2B5EF4-FFF2-40B4-BE49-F238E27FC236}">
                  <a16:creationId xmlns:a16="http://schemas.microsoft.com/office/drawing/2014/main" id="{6D37DE7F-72CA-4885-ABCE-CF3F97A3E2E1}"/>
                </a:ext>
              </a:extLst>
            </p:cNvPr>
            <p:cNvCxnSpPr>
              <a:cxnSpLocks/>
            </p:cNvCxnSpPr>
            <p:nvPr/>
          </p:nvCxnSpPr>
          <p:spPr>
            <a:xfrm flipH="1" flipV="1">
              <a:off x="6442208" y="5271667"/>
              <a:ext cx="4918" cy="246860"/>
            </a:xfrm>
            <a:prstGeom prst="straightConnector1">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4" name="文字方塊 33">
              <a:extLst>
                <a:ext uri="{FF2B5EF4-FFF2-40B4-BE49-F238E27FC236}">
                  <a16:creationId xmlns:a16="http://schemas.microsoft.com/office/drawing/2014/main" id="{AC2811B8-48F1-1D51-BFFA-CF7DAF8C77B9}"/>
                </a:ext>
              </a:extLst>
            </p:cNvPr>
            <p:cNvSpPr txBox="1"/>
            <p:nvPr/>
          </p:nvSpPr>
          <p:spPr>
            <a:xfrm>
              <a:off x="6458277" y="5233320"/>
              <a:ext cx="820481" cy="307777"/>
            </a:xfrm>
            <a:prstGeom prst="rect">
              <a:avLst/>
            </a:prstGeom>
            <a:noFill/>
          </p:spPr>
          <p:txBody>
            <a:bodyPr wrap="none" rtlCol="0">
              <a:spAutoFit/>
            </a:bodyPr>
            <a:lstStyle/>
            <a:p>
              <a:r>
                <a:rPr kumimoji="1" lang="en-US" altLang="zh-TW" sz="1400" dirty="0" err="1"/>
                <a:t>vm_next</a:t>
              </a:r>
              <a:endParaRPr kumimoji="1" lang="zh-TW" altLang="en-US" sz="1400" dirty="0"/>
            </a:p>
          </p:txBody>
        </p:sp>
        <p:cxnSp>
          <p:nvCxnSpPr>
            <p:cNvPr id="45" name="直線箭頭接點 44">
              <a:extLst>
                <a:ext uri="{FF2B5EF4-FFF2-40B4-BE49-F238E27FC236}">
                  <a16:creationId xmlns:a16="http://schemas.microsoft.com/office/drawing/2014/main" id="{3E5AFB0B-CB0D-A4C6-E30A-77D2589B1ED8}"/>
                </a:ext>
              </a:extLst>
            </p:cNvPr>
            <p:cNvCxnSpPr>
              <a:cxnSpLocks/>
              <a:stCxn id="31" idx="1"/>
            </p:cNvCxnSpPr>
            <p:nvPr/>
          </p:nvCxnSpPr>
          <p:spPr>
            <a:xfrm flipH="1">
              <a:off x="4623658" y="5048643"/>
              <a:ext cx="668001" cy="167764"/>
            </a:xfrm>
            <a:prstGeom prst="straightConnector1">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7" name="文字方塊 46">
              <a:extLst>
                <a:ext uri="{FF2B5EF4-FFF2-40B4-BE49-F238E27FC236}">
                  <a16:creationId xmlns:a16="http://schemas.microsoft.com/office/drawing/2014/main" id="{C4AD70B9-862A-CBBA-6062-15471DB93122}"/>
                </a:ext>
              </a:extLst>
            </p:cNvPr>
            <p:cNvSpPr txBox="1"/>
            <p:nvPr/>
          </p:nvSpPr>
          <p:spPr>
            <a:xfrm>
              <a:off x="4554025" y="4785429"/>
              <a:ext cx="726481" cy="307777"/>
            </a:xfrm>
            <a:prstGeom prst="rect">
              <a:avLst/>
            </a:prstGeom>
            <a:noFill/>
          </p:spPr>
          <p:txBody>
            <a:bodyPr wrap="none" rtlCol="0">
              <a:spAutoFit/>
            </a:bodyPr>
            <a:lstStyle/>
            <a:p>
              <a:r>
                <a:rPr kumimoji="1" lang="en-US" altLang="zh-TW" sz="1400" dirty="0" err="1"/>
                <a:t>vm_file</a:t>
              </a:r>
              <a:endParaRPr kumimoji="1" lang="zh-TW" altLang="en-US" sz="1400" dirty="0"/>
            </a:p>
          </p:txBody>
        </p:sp>
        <p:cxnSp>
          <p:nvCxnSpPr>
            <p:cNvPr id="48" name="直線箭頭接點 47">
              <a:extLst>
                <a:ext uri="{FF2B5EF4-FFF2-40B4-BE49-F238E27FC236}">
                  <a16:creationId xmlns:a16="http://schemas.microsoft.com/office/drawing/2014/main" id="{4A85B884-DA2A-B58C-4D85-BF541693DBAF}"/>
                </a:ext>
              </a:extLst>
            </p:cNvPr>
            <p:cNvCxnSpPr>
              <a:cxnSpLocks/>
            </p:cNvCxnSpPr>
            <p:nvPr/>
          </p:nvCxnSpPr>
          <p:spPr>
            <a:xfrm>
              <a:off x="7600140" y="5261324"/>
              <a:ext cx="1152100" cy="385884"/>
            </a:xfrm>
            <a:prstGeom prst="straightConnector1">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9" name="直線箭頭接點 48">
              <a:extLst>
                <a:ext uri="{FF2B5EF4-FFF2-40B4-BE49-F238E27FC236}">
                  <a16:creationId xmlns:a16="http://schemas.microsoft.com/office/drawing/2014/main" id="{DE77414F-CF8B-3118-F718-04A7FBE6B735}"/>
                </a:ext>
              </a:extLst>
            </p:cNvPr>
            <p:cNvCxnSpPr>
              <a:cxnSpLocks/>
            </p:cNvCxnSpPr>
            <p:nvPr/>
          </p:nvCxnSpPr>
          <p:spPr>
            <a:xfrm>
              <a:off x="7595436" y="4823365"/>
              <a:ext cx="1181529" cy="378396"/>
            </a:xfrm>
            <a:prstGeom prst="straightConnector1">
              <a:avLst/>
            </a:prstGeom>
            <a:ln w="1905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grpSp>
        <p:nvGrpSpPr>
          <p:cNvPr id="97" name="群組 96">
            <a:extLst>
              <a:ext uri="{FF2B5EF4-FFF2-40B4-BE49-F238E27FC236}">
                <a16:creationId xmlns:a16="http://schemas.microsoft.com/office/drawing/2014/main" id="{39FC8BB1-FB00-C62F-1492-0AAEA3550647}"/>
              </a:ext>
            </a:extLst>
          </p:cNvPr>
          <p:cNvGrpSpPr/>
          <p:nvPr/>
        </p:nvGrpSpPr>
        <p:grpSpPr>
          <a:xfrm>
            <a:off x="5716585" y="4088270"/>
            <a:ext cx="3485967" cy="1083441"/>
            <a:chOff x="5277426" y="4105804"/>
            <a:chExt cx="3485967" cy="1083441"/>
          </a:xfrm>
        </p:grpSpPr>
        <p:sp>
          <p:nvSpPr>
            <p:cNvPr id="55" name="矩形 54">
              <a:extLst>
                <a:ext uri="{FF2B5EF4-FFF2-40B4-BE49-F238E27FC236}">
                  <a16:creationId xmlns:a16="http://schemas.microsoft.com/office/drawing/2014/main" id="{B09C3932-8F79-EB0E-B96E-471BEEF7A557}"/>
                </a:ext>
              </a:extLst>
            </p:cNvPr>
            <p:cNvSpPr/>
            <p:nvPr/>
          </p:nvSpPr>
          <p:spPr>
            <a:xfrm>
              <a:off x="5277426" y="4108057"/>
              <a:ext cx="2301098"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err="1">
                  <a:solidFill>
                    <a:schemeClr val="tx1"/>
                  </a:solidFill>
                </a:rPr>
                <a:t>vm_area_struct</a:t>
              </a:r>
              <a:endParaRPr kumimoji="1" lang="en-US" altLang="zh-TW" sz="1600" dirty="0">
                <a:solidFill>
                  <a:schemeClr val="tx1"/>
                </a:solidFill>
              </a:endParaRPr>
            </a:p>
            <a:p>
              <a:pPr algn="ctr"/>
              <a:r>
                <a:rPr kumimoji="1" lang="en-US" altLang="zh-TW" sz="1400" dirty="0">
                  <a:solidFill>
                    <a:schemeClr val="tx1"/>
                  </a:solidFill>
                </a:rPr>
                <a:t>VM_READ | VM_WRITE</a:t>
              </a:r>
              <a:endParaRPr kumimoji="1" lang="zh-TW" altLang="en-US" sz="1400" dirty="0">
                <a:solidFill>
                  <a:schemeClr val="tx1"/>
                </a:solidFill>
              </a:endParaRPr>
            </a:p>
          </p:txBody>
        </p:sp>
        <p:cxnSp>
          <p:nvCxnSpPr>
            <p:cNvPr id="56" name="直線箭頭接點 55">
              <a:extLst>
                <a:ext uri="{FF2B5EF4-FFF2-40B4-BE49-F238E27FC236}">
                  <a16:creationId xmlns:a16="http://schemas.microsoft.com/office/drawing/2014/main" id="{D24F58A4-C9F9-20C6-3072-8CE1D6788CAF}"/>
                </a:ext>
              </a:extLst>
            </p:cNvPr>
            <p:cNvCxnSpPr>
              <a:cxnSpLocks/>
            </p:cNvCxnSpPr>
            <p:nvPr/>
          </p:nvCxnSpPr>
          <p:spPr>
            <a:xfrm flipH="1" flipV="1">
              <a:off x="6442208" y="4554106"/>
              <a:ext cx="4918" cy="246860"/>
            </a:xfrm>
            <a:prstGeom prst="straightConnector1">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8" name="直線箭頭接點 57">
              <a:extLst>
                <a:ext uri="{FF2B5EF4-FFF2-40B4-BE49-F238E27FC236}">
                  <a16:creationId xmlns:a16="http://schemas.microsoft.com/office/drawing/2014/main" id="{74506965-24BA-8448-0CCE-C38ACC7D3A80}"/>
                </a:ext>
              </a:extLst>
            </p:cNvPr>
            <p:cNvCxnSpPr>
              <a:cxnSpLocks/>
            </p:cNvCxnSpPr>
            <p:nvPr/>
          </p:nvCxnSpPr>
          <p:spPr>
            <a:xfrm>
              <a:off x="7585907" y="4543763"/>
              <a:ext cx="1177486" cy="645482"/>
            </a:xfrm>
            <a:prstGeom prst="straightConnector1">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9" name="直線箭頭接點 58">
              <a:extLst>
                <a:ext uri="{FF2B5EF4-FFF2-40B4-BE49-F238E27FC236}">
                  <a16:creationId xmlns:a16="http://schemas.microsoft.com/office/drawing/2014/main" id="{03C5AD17-2D84-E5A0-F3F6-D97C2FDB1792}"/>
                </a:ext>
              </a:extLst>
            </p:cNvPr>
            <p:cNvCxnSpPr>
              <a:cxnSpLocks/>
            </p:cNvCxnSpPr>
            <p:nvPr/>
          </p:nvCxnSpPr>
          <p:spPr>
            <a:xfrm>
              <a:off x="7581203" y="4105804"/>
              <a:ext cx="1182190" cy="603269"/>
            </a:xfrm>
            <a:prstGeom prst="straightConnector1">
              <a:avLst/>
            </a:prstGeom>
            <a:ln w="1905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grpSp>
        <p:nvGrpSpPr>
          <p:cNvPr id="98" name="群組 97">
            <a:extLst>
              <a:ext uri="{FF2B5EF4-FFF2-40B4-BE49-F238E27FC236}">
                <a16:creationId xmlns:a16="http://schemas.microsoft.com/office/drawing/2014/main" id="{9123CE87-5144-972C-B1B1-80C709FE22CF}"/>
              </a:ext>
            </a:extLst>
          </p:cNvPr>
          <p:cNvGrpSpPr/>
          <p:nvPr/>
        </p:nvGrpSpPr>
        <p:grpSpPr>
          <a:xfrm>
            <a:off x="5711776" y="3369024"/>
            <a:ext cx="3501927" cy="1296958"/>
            <a:chOff x="5272617" y="3386558"/>
            <a:chExt cx="3501927" cy="1296958"/>
          </a:xfrm>
        </p:grpSpPr>
        <p:sp>
          <p:nvSpPr>
            <p:cNvPr id="64" name="矩形 63">
              <a:extLst>
                <a:ext uri="{FF2B5EF4-FFF2-40B4-BE49-F238E27FC236}">
                  <a16:creationId xmlns:a16="http://schemas.microsoft.com/office/drawing/2014/main" id="{8B21853F-0493-0A43-A6AE-BAC56CA3D84D}"/>
                </a:ext>
              </a:extLst>
            </p:cNvPr>
            <p:cNvSpPr/>
            <p:nvPr/>
          </p:nvSpPr>
          <p:spPr>
            <a:xfrm>
              <a:off x="5272617" y="3388811"/>
              <a:ext cx="2301098"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err="1">
                  <a:solidFill>
                    <a:schemeClr val="tx1"/>
                  </a:solidFill>
                </a:rPr>
                <a:t>vm_area_struct</a:t>
              </a:r>
              <a:endParaRPr kumimoji="1" lang="en-US" altLang="zh-TW" sz="1600" dirty="0">
                <a:solidFill>
                  <a:schemeClr val="tx1"/>
                </a:solidFill>
              </a:endParaRPr>
            </a:p>
            <a:p>
              <a:pPr algn="ctr"/>
              <a:r>
                <a:rPr kumimoji="1" lang="en-US" altLang="zh-TW" sz="1400" dirty="0">
                  <a:solidFill>
                    <a:schemeClr val="tx1"/>
                  </a:solidFill>
                </a:rPr>
                <a:t>VM_READ | VM_WRITE</a:t>
              </a:r>
              <a:endParaRPr kumimoji="1" lang="zh-TW" altLang="en-US" sz="1400" dirty="0">
                <a:solidFill>
                  <a:schemeClr val="tx1"/>
                </a:solidFill>
              </a:endParaRPr>
            </a:p>
          </p:txBody>
        </p:sp>
        <p:cxnSp>
          <p:nvCxnSpPr>
            <p:cNvPr id="65" name="直線箭頭接點 64">
              <a:extLst>
                <a:ext uri="{FF2B5EF4-FFF2-40B4-BE49-F238E27FC236}">
                  <a16:creationId xmlns:a16="http://schemas.microsoft.com/office/drawing/2014/main" id="{767C46B2-F77C-CDD9-528D-6C0DE2462061}"/>
                </a:ext>
              </a:extLst>
            </p:cNvPr>
            <p:cNvCxnSpPr>
              <a:cxnSpLocks/>
            </p:cNvCxnSpPr>
            <p:nvPr/>
          </p:nvCxnSpPr>
          <p:spPr>
            <a:xfrm flipH="1" flipV="1">
              <a:off x="6442208" y="3834860"/>
              <a:ext cx="4918" cy="246860"/>
            </a:xfrm>
            <a:prstGeom prst="straightConnector1">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7" name="直線箭頭接點 66">
              <a:extLst>
                <a:ext uri="{FF2B5EF4-FFF2-40B4-BE49-F238E27FC236}">
                  <a16:creationId xmlns:a16="http://schemas.microsoft.com/office/drawing/2014/main" id="{B67CD16C-7DD0-AC10-EE5E-7893CD67D010}"/>
                </a:ext>
              </a:extLst>
            </p:cNvPr>
            <p:cNvCxnSpPr>
              <a:cxnSpLocks/>
            </p:cNvCxnSpPr>
            <p:nvPr/>
          </p:nvCxnSpPr>
          <p:spPr>
            <a:xfrm>
              <a:off x="7581098" y="3824517"/>
              <a:ext cx="1159235" cy="858999"/>
            </a:xfrm>
            <a:prstGeom prst="straightConnector1">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8" name="直線箭頭接點 67">
              <a:extLst>
                <a:ext uri="{FF2B5EF4-FFF2-40B4-BE49-F238E27FC236}">
                  <a16:creationId xmlns:a16="http://schemas.microsoft.com/office/drawing/2014/main" id="{09FC87F0-E63C-251F-D01B-3F0C45E4A9A7}"/>
                </a:ext>
              </a:extLst>
            </p:cNvPr>
            <p:cNvCxnSpPr>
              <a:cxnSpLocks/>
            </p:cNvCxnSpPr>
            <p:nvPr/>
          </p:nvCxnSpPr>
          <p:spPr>
            <a:xfrm>
              <a:off x="7576394" y="3386558"/>
              <a:ext cx="1198150" cy="890832"/>
            </a:xfrm>
            <a:prstGeom prst="straightConnector1">
              <a:avLst/>
            </a:prstGeom>
            <a:ln w="1905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grpSp>
        <p:nvGrpSpPr>
          <p:cNvPr id="102" name="群組 101">
            <a:extLst>
              <a:ext uri="{FF2B5EF4-FFF2-40B4-BE49-F238E27FC236}">
                <a16:creationId xmlns:a16="http://schemas.microsoft.com/office/drawing/2014/main" id="{F2EB60E9-43FD-4F62-629A-A4CA6499EF83}"/>
              </a:ext>
            </a:extLst>
          </p:cNvPr>
          <p:cNvGrpSpPr/>
          <p:nvPr/>
        </p:nvGrpSpPr>
        <p:grpSpPr>
          <a:xfrm>
            <a:off x="4306179" y="1970225"/>
            <a:ext cx="4909945" cy="998277"/>
            <a:chOff x="3867020" y="1987759"/>
            <a:chExt cx="4909945" cy="998277"/>
          </a:xfrm>
        </p:grpSpPr>
        <p:sp>
          <p:nvSpPr>
            <p:cNvPr id="76" name="矩形 75">
              <a:extLst>
                <a:ext uri="{FF2B5EF4-FFF2-40B4-BE49-F238E27FC236}">
                  <a16:creationId xmlns:a16="http://schemas.microsoft.com/office/drawing/2014/main" id="{187557BF-9A4F-5992-56BF-553C8911421C}"/>
                </a:ext>
              </a:extLst>
            </p:cNvPr>
            <p:cNvSpPr/>
            <p:nvPr/>
          </p:nvSpPr>
          <p:spPr>
            <a:xfrm>
              <a:off x="3867020" y="1990012"/>
              <a:ext cx="3714078"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err="1">
                  <a:solidFill>
                    <a:schemeClr val="tx1"/>
                  </a:solidFill>
                </a:rPr>
                <a:t>vm_area_struct</a:t>
              </a:r>
              <a:endParaRPr kumimoji="1" lang="en-US" altLang="zh-TW" sz="1600" dirty="0">
                <a:solidFill>
                  <a:schemeClr val="tx1"/>
                </a:solidFill>
              </a:endParaRPr>
            </a:p>
            <a:p>
              <a:pPr algn="ctr"/>
              <a:r>
                <a:rPr kumimoji="1" lang="en-US" altLang="zh-TW" sz="1400" dirty="0">
                  <a:solidFill>
                    <a:schemeClr val="tx1"/>
                  </a:solidFill>
                </a:rPr>
                <a:t>VM_READ | VM_WRITE | VM_GROWS_DOWN</a:t>
              </a:r>
              <a:endParaRPr kumimoji="1" lang="zh-TW" altLang="en-US" sz="1400" dirty="0">
                <a:solidFill>
                  <a:schemeClr val="tx1"/>
                </a:solidFill>
              </a:endParaRPr>
            </a:p>
          </p:txBody>
        </p:sp>
        <p:cxnSp>
          <p:nvCxnSpPr>
            <p:cNvPr id="77" name="直線箭頭接點 76">
              <a:extLst>
                <a:ext uri="{FF2B5EF4-FFF2-40B4-BE49-F238E27FC236}">
                  <a16:creationId xmlns:a16="http://schemas.microsoft.com/office/drawing/2014/main" id="{6A51DEE9-1AEA-4D39-DD2B-22F653CF88C1}"/>
                </a:ext>
              </a:extLst>
            </p:cNvPr>
            <p:cNvCxnSpPr>
              <a:cxnSpLocks/>
            </p:cNvCxnSpPr>
            <p:nvPr/>
          </p:nvCxnSpPr>
          <p:spPr>
            <a:xfrm flipH="1" flipV="1">
              <a:off x="6447126" y="2397714"/>
              <a:ext cx="0" cy="284400"/>
            </a:xfrm>
            <a:prstGeom prst="straightConnector1">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9" name="直線箭頭接點 78">
              <a:extLst>
                <a:ext uri="{FF2B5EF4-FFF2-40B4-BE49-F238E27FC236}">
                  <a16:creationId xmlns:a16="http://schemas.microsoft.com/office/drawing/2014/main" id="{DC76CFC5-08AD-746B-0A3B-3909DF22FF33}"/>
                </a:ext>
              </a:extLst>
            </p:cNvPr>
            <p:cNvCxnSpPr>
              <a:cxnSpLocks/>
            </p:cNvCxnSpPr>
            <p:nvPr/>
          </p:nvCxnSpPr>
          <p:spPr>
            <a:xfrm>
              <a:off x="7588481" y="2425718"/>
              <a:ext cx="1188484" cy="560318"/>
            </a:xfrm>
            <a:prstGeom prst="straightConnector1">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0" name="直線箭頭接點 79">
              <a:extLst>
                <a:ext uri="{FF2B5EF4-FFF2-40B4-BE49-F238E27FC236}">
                  <a16:creationId xmlns:a16="http://schemas.microsoft.com/office/drawing/2014/main" id="{D2C047E9-1948-2B3C-6D0A-17218AEAA98C}"/>
                </a:ext>
              </a:extLst>
            </p:cNvPr>
            <p:cNvCxnSpPr>
              <a:cxnSpLocks/>
            </p:cNvCxnSpPr>
            <p:nvPr/>
          </p:nvCxnSpPr>
          <p:spPr>
            <a:xfrm>
              <a:off x="7583777" y="1987759"/>
              <a:ext cx="1182860" cy="630041"/>
            </a:xfrm>
            <a:prstGeom prst="straightConnector1">
              <a:avLst/>
            </a:prstGeom>
            <a:ln w="1905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grpSp>
        <p:nvGrpSpPr>
          <p:cNvPr id="100" name="群組 99">
            <a:extLst>
              <a:ext uri="{FF2B5EF4-FFF2-40B4-BE49-F238E27FC236}">
                <a16:creationId xmlns:a16="http://schemas.microsoft.com/office/drawing/2014/main" id="{F3BD27F4-67F0-D6FB-D76D-DE75445CBFF3}"/>
              </a:ext>
            </a:extLst>
          </p:cNvPr>
          <p:cNvGrpSpPr/>
          <p:nvPr/>
        </p:nvGrpSpPr>
        <p:grpSpPr>
          <a:xfrm>
            <a:off x="3825031" y="2649850"/>
            <a:ext cx="5388672" cy="1167476"/>
            <a:chOff x="3385872" y="2667384"/>
            <a:chExt cx="5388672" cy="1167476"/>
          </a:xfrm>
        </p:grpSpPr>
        <p:sp>
          <p:nvSpPr>
            <p:cNvPr id="71" name="矩形 70">
              <a:extLst>
                <a:ext uri="{FF2B5EF4-FFF2-40B4-BE49-F238E27FC236}">
                  <a16:creationId xmlns:a16="http://schemas.microsoft.com/office/drawing/2014/main" id="{394DECB2-0511-ED47-7B26-35D49545A328}"/>
                </a:ext>
              </a:extLst>
            </p:cNvPr>
            <p:cNvSpPr/>
            <p:nvPr/>
          </p:nvSpPr>
          <p:spPr>
            <a:xfrm>
              <a:off x="5277426" y="2682009"/>
              <a:ext cx="2301098"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err="1">
                  <a:solidFill>
                    <a:schemeClr val="tx1"/>
                  </a:solidFill>
                </a:rPr>
                <a:t>vm_area_struct</a:t>
              </a:r>
              <a:endParaRPr kumimoji="1" lang="en-US" altLang="zh-TW" sz="1600" dirty="0">
                <a:solidFill>
                  <a:schemeClr val="tx1"/>
                </a:solidFill>
              </a:endParaRPr>
            </a:p>
            <a:p>
              <a:pPr algn="ctr"/>
              <a:r>
                <a:rPr kumimoji="1" lang="en-US" altLang="zh-TW" sz="1400" dirty="0">
                  <a:solidFill>
                    <a:schemeClr val="tx1"/>
                  </a:solidFill>
                </a:rPr>
                <a:t>VM_READ | VM_EXEC</a:t>
              </a:r>
              <a:endParaRPr kumimoji="1" lang="zh-TW" altLang="en-US" sz="1400" dirty="0">
                <a:solidFill>
                  <a:schemeClr val="tx1"/>
                </a:solidFill>
              </a:endParaRPr>
            </a:p>
          </p:txBody>
        </p:sp>
        <p:cxnSp>
          <p:nvCxnSpPr>
            <p:cNvPr id="72" name="直線箭頭接點 71">
              <a:extLst>
                <a:ext uri="{FF2B5EF4-FFF2-40B4-BE49-F238E27FC236}">
                  <a16:creationId xmlns:a16="http://schemas.microsoft.com/office/drawing/2014/main" id="{D2D824C7-C9C1-F772-E78C-D4B7C944D8B8}"/>
                </a:ext>
              </a:extLst>
            </p:cNvPr>
            <p:cNvCxnSpPr>
              <a:cxnSpLocks/>
            </p:cNvCxnSpPr>
            <p:nvPr/>
          </p:nvCxnSpPr>
          <p:spPr>
            <a:xfrm flipH="1" flipV="1">
              <a:off x="6442208" y="3128058"/>
              <a:ext cx="4918" cy="246860"/>
            </a:xfrm>
            <a:prstGeom prst="straightConnector1">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4" name="直線箭頭接點 73">
              <a:extLst>
                <a:ext uri="{FF2B5EF4-FFF2-40B4-BE49-F238E27FC236}">
                  <a16:creationId xmlns:a16="http://schemas.microsoft.com/office/drawing/2014/main" id="{EB3B636A-DDF3-4316-80A7-624D213F0B15}"/>
                </a:ext>
              </a:extLst>
            </p:cNvPr>
            <p:cNvCxnSpPr>
              <a:cxnSpLocks/>
            </p:cNvCxnSpPr>
            <p:nvPr/>
          </p:nvCxnSpPr>
          <p:spPr>
            <a:xfrm>
              <a:off x="7585907" y="3117715"/>
              <a:ext cx="1161417" cy="717145"/>
            </a:xfrm>
            <a:prstGeom prst="straightConnector1">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5" name="直線箭頭接點 74">
              <a:extLst>
                <a:ext uri="{FF2B5EF4-FFF2-40B4-BE49-F238E27FC236}">
                  <a16:creationId xmlns:a16="http://schemas.microsoft.com/office/drawing/2014/main" id="{1DB4C460-F3E0-782F-E787-4FDEA5334DFA}"/>
                </a:ext>
              </a:extLst>
            </p:cNvPr>
            <p:cNvCxnSpPr>
              <a:cxnSpLocks/>
            </p:cNvCxnSpPr>
            <p:nvPr/>
          </p:nvCxnSpPr>
          <p:spPr>
            <a:xfrm>
              <a:off x="7581203" y="2679756"/>
              <a:ext cx="1193341" cy="725473"/>
            </a:xfrm>
            <a:prstGeom prst="straightConnector1">
              <a:avLst/>
            </a:prstGeom>
            <a:ln w="1905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1" name="矩形 80">
              <a:extLst>
                <a:ext uri="{FF2B5EF4-FFF2-40B4-BE49-F238E27FC236}">
                  <a16:creationId xmlns:a16="http://schemas.microsoft.com/office/drawing/2014/main" id="{03901624-39A7-5303-F15D-37200A621367}"/>
                </a:ext>
              </a:extLst>
            </p:cNvPr>
            <p:cNvSpPr/>
            <p:nvPr/>
          </p:nvSpPr>
          <p:spPr>
            <a:xfrm>
              <a:off x="3385872" y="2667384"/>
              <a:ext cx="1237786" cy="610342"/>
            </a:xfrm>
            <a:prstGeom prst="rect">
              <a:avLst/>
            </a:prstGeom>
            <a:solidFill>
              <a:schemeClr val="bg1">
                <a:lumMod val="8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struct file</a:t>
              </a:r>
            </a:p>
            <a:p>
              <a:pPr algn="ctr"/>
              <a:r>
                <a:rPr kumimoji="1" lang="en-US" altLang="zh-TW" sz="1600" dirty="0">
                  <a:solidFill>
                    <a:schemeClr val="tx1"/>
                  </a:solidFill>
                </a:rPr>
                <a:t>/lib/</a:t>
              </a:r>
              <a:r>
                <a:rPr kumimoji="1" lang="en-US" altLang="zh-TW" sz="1600" dirty="0" err="1">
                  <a:solidFill>
                    <a:schemeClr val="tx1"/>
                  </a:solidFill>
                </a:rPr>
                <a:t>libc.so</a:t>
              </a:r>
              <a:endParaRPr kumimoji="1" lang="zh-TW" altLang="en-US" sz="1600" dirty="0">
                <a:solidFill>
                  <a:schemeClr val="tx1"/>
                </a:solidFill>
              </a:endParaRPr>
            </a:p>
          </p:txBody>
        </p:sp>
        <p:cxnSp>
          <p:nvCxnSpPr>
            <p:cNvPr id="82" name="直線箭頭接點 81">
              <a:extLst>
                <a:ext uri="{FF2B5EF4-FFF2-40B4-BE49-F238E27FC236}">
                  <a16:creationId xmlns:a16="http://schemas.microsoft.com/office/drawing/2014/main" id="{1C7C6DB5-CFC6-7E94-DA3E-D4437382227C}"/>
                </a:ext>
              </a:extLst>
            </p:cNvPr>
            <p:cNvCxnSpPr>
              <a:cxnSpLocks/>
              <a:stCxn id="71" idx="1"/>
            </p:cNvCxnSpPr>
            <p:nvPr/>
          </p:nvCxnSpPr>
          <p:spPr>
            <a:xfrm flipH="1">
              <a:off x="4607268" y="2905034"/>
              <a:ext cx="670158" cy="12203"/>
            </a:xfrm>
            <a:prstGeom prst="straightConnector1">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grpSp>
      <p:grpSp>
        <p:nvGrpSpPr>
          <p:cNvPr id="94" name="群組 93">
            <a:extLst>
              <a:ext uri="{FF2B5EF4-FFF2-40B4-BE49-F238E27FC236}">
                <a16:creationId xmlns:a16="http://schemas.microsoft.com/office/drawing/2014/main" id="{2FA0023A-121F-34F6-68CB-CC8F505326BB}"/>
              </a:ext>
            </a:extLst>
          </p:cNvPr>
          <p:cNvGrpSpPr/>
          <p:nvPr/>
        </p:nvGrpSpPr>
        <p:grpSpPr>
          <a:xfrm>
            <a:off x="9198810" y="2600266"/>
            <a:ext cx="2788451" cy="3965898"/>
            <a:chOff x="8759651" y="2617800"/>
            <a:chExt cx="2788451" cy="3965898"/>
          </a:xfrm>
        </p:grpSpPr>
        <p:sp>
          <p:nvSpPr>
            <p:cNvPr id="8" name="矩形 57">
              <a:extLst>
                <a:ext uri="{FF2B5EF4-FFF2-40B4-BE49-F238E27FC236}">
                  <a16:creationId xmlns:a16="http://schemas.microsoft.com/office/drawing/2014/main" id="{EC291D34-5B33-3AE5-592D-5D71649898CD}"/>
                </a:ext>
              </a:extLst>
            </p:cNvPr>
            <p:cNvSpPr/>
            <p:nvPr/>
          </p:nvSpPr>
          <p:spPr>
            <a:xfrm>
              <a:off x="8766637" y="3405229"/>
              <a:ext cx="2631092" cy="461709"/>
            </a:xfrm>
            <a:prstGeom prst="rect">
              <a:avLst/>
            </a:prstGeom>
            <a:solidFill>
              <a:schemeClr val="accent2">
                <a:lumMod val="20000"/>
                <a:lumOff val="8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Memory-Mapping for Shared Library</a:t>
              </a:r>
              <a:endParaRPr kumimoji="1" lang="zh-TW" altLang="en-US" sz="1600" dirty="0">
                <a:solidFill>
                  <a:schemeClr val="tx1"/>
                </a:solidFill>
                <a:cs typeface="Arial" panose="020B0604020202020204" pitchFamily="34" charset="0"/>
              </a:endParaRPr>
            </a:p>
          </p:txBody>
        </p:sp>
        <p:grpSp>
          <p:nvGrpSpPr>
            <p:cNvPr id="9" name="群組 8">
              <a:extLst>
                <a:ext uri="{FF2B5EF4-FFF2-40B4-BE49-F238E27FC236}">
                  <a16:creationId xmlns:a16="http://schemas.microsoft.com/office/drawing/2014/main" id="{B127520F-7CC0-98C9-ACA3-7B743C6479A8}"/>
                </a:ext>
              </a:extLst>
            </p:cNvPr>
            <p:cNvGrpSpPr/>
            <p:nvPr/>
          </p:nvGrpSpPr>
          <p:grpSpPr>
            <a:xfrm>
              <a:off x="8759651" y="4740052"/>
              <a:ext cx="2638080" cy="1359692"/>
              <a:chOff x="8369359" y="4874904"/>
              <a:chExt cx="2638080" cy="1359692"/>
            </a:xfrm>
          </p:grpSpPr>
          <p:sp>
            <p:nvSpPr>
              <p:cNvPr id="10" name="矩形 57">
                <a:extLst>
                  <a:ext uri="{FF2B5EF4-FFF2-40B4-BE49-F238E27FC236}">
                    <a16:creationId xmlns:a16="http://schemas.microsoft.com/office/drawing/2014/main" id="{0FDE63E4-48F3-E46B-A4EF-E155258E15C0}"/>
                  </a:ext>
                </a:extLst>
              </p:cNvPr>
              <p:cNvSpPr/>
              <p:nvPr/>
            </p:nvSpPr>
            <p:spPr>
              <a:xfrm>
                <a:off x="8376347" y="5772887"/>
                <a:ext cx="2631092" cy="461709"/>
              </a:xfrm>
              <a:prstGeom prst="rect">
                <a:avLst/>
              </a:prstGeom>
              <a:solidFill>
                <a:schemeClr val="accent2">
                  <a:lumMod val="20000"/>
                  <a:lumOff val="8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Text Section (e.g., Code)</a:t>
                </a:r>
                <a:endParaRPr kumimoji="1" lang="zh-TW" altLang="en-US" sz="1600" dirty="0">
                  <a:solidFill>
                    <a:schemeClr val="tx1"/>
                  </a:solidFill>
                  <a:cs typeface="Arial" panose="020B0604020202020204" pitchFamily="34" charset="0"/>
                </a:endParaRPr>
              </a:p>
            </p:txBody>
          </p:sp>
          <p:sp>
            <p:nvSpPr>
              <p:cNvPr id="11" name="矩形 57">
                <a:extLst>
                  <a:ext uri="{FF2B5EF4-FFF2-40B4-BE49-F238E27FC236}">
                    <a16:creationId xmlns:a16="http://schemas.microsoft.com/office/drawing/2014/main" id="{CD7C989E-100B-5E3F-D5F1-F4DA8596CD8A}"/>
                  </a:ext>
                </a:extLst>
              </p:cNvPr>
              <p:cNvSpPr/>
              <p:nvPr/>
            </p:nvSpPr>
            <p:spPr>
              <a:xfrm>
                <a:off x="8384252" y="5324097"/>
                <a:ext cx="2615279" cy="461709"/>
              </a:xfrm>
              <a:prstGeom prst="rect">
                <a:avLst/>
              </a:prstGeom>
              <a:solidFill>
                <a:schemeClr val="accent2">
                  <a:lumMod val="20000"/>
                  <a:lumOff val="8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cs typeface="Arial" panose="020B0604020202020204" pitchFamily="34" charset="0"/>
                  </a:rPr>
                  <a:t>Data Section</a:t>
                </a:r>
              </a:p>
              <a:p>
                <a:pPr algn="ctr"/>
                <a:r>
                  <a:rPr kumimoji="1" lang="en-US" altLang="zh-TW" sz="1600" dirty="0">
                    <a:solidFill>
                      <a:schemeClr val="tx1"/>
                    </a:solidFill>
                    <a:cs typeface="Arial" panose="020B0604020202020204" pitchFamily="34" charset="0"/>
                  </a:rPr>
                  <a:t>(File-backed)</a:t>
                </a:r>
                <a:endParaRPr kumimoji="1" lang="zh-TW" altLang="en-US" sz="1600" dirty="0">
                  <a:solidFill>
                    <a:schemeClr val="tx1"/>
                  </a:solidFill>
                  <a:cs typeface="Arial" panose="020B0604020202020204" pitchFamily="34" charset="0"/>
                </a:endParaRPr>
              </a:p>
            </p:txBody>
          </p:sp>
          <p:sp>
            <p:nvSpPr>
              <p:cNvPr id="12" name="矩形 57">
                <a:extLst>
                  <a:ext uri="{FF2B5EF4-FFF2-40B4-BE49-F238E27FC236}">
                    <a16:creationId xmlns:a16="http://schemas.microsoft.com/office/drawing/2014/main" id="{47577B9D-9235-49BA-0BEE-A353AFD7D966}"/>
                  </a:ext>
                </a:extLst>
              </p:cNvPr>
              <p:cNvSpPr/>
              <p:nvPr/>
            </p:nvSpPr>
            <p:spPr>
              <a:xfrm>
                <a:off x="8369359" y="4874904"/>
                <a:ext cx="2623185" cy="461709"/>
              </a:xfrm>
              <a:prstGeom prst="rect">
                <a:avLst/>
              </a:prstGeom>
              <a:solidFill>
                <a:schemeClr val="accent2">
                  <a:lumMod val="20000"/>
                  <a:lumOff val="8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cs typeface="Arial" panose="020B0604020202020204" pitchFamily="34" charset="0"/>
                  </a:rPr>
                  <a:t>BSS Section</a:t>
                </a:r>
              </a:p>
              <a:p>
                <a:pPr algn="ctr"/>
                <a:r>
                  <a:rPr kumimoji="1" lang="en-US" altLang="zh-TW" sz="1600" dirty="0">
                    <a:solidFill>
                      <a:schemeClr val="tx1"/>
                    </a:solidFill>
                    <a:cs typeface="Arial" panose="020B0604020202020204" pitchFamily="34" charset="0"/>
                  </a:rPr>
                  <a:t>(Anonymous)</a:t>
                </a:r>
                <a:endParaRPr kumimoji="1" lang="zh-TW" altLang="en-US" sz="1600" dirty="0">
                  <a:solidFill>
                    <a:schemeClr val="tx1"/>
                  </a:solidFill>
                  <a:cs typeface="Arial" panose="020B0604020202020204" pitchFamily="34" charset="0"/>
                </a:endParaRPr>
              </a:p>
            </p:txBody>
          </p:sp>
        </p:grpSp>
        <p:grpSp>
          <p:nvGrpSpPr>
            <p:cNvPr id="13" name="群組 12">
              <a:extLst>
                <a:ext uri="{FF2B5EF4-FFF2-40B4-BE49-F238E27FC236}">
                  <a16:creationId xmlns:a16="http://schemas.microsoft.com/office/drawing/2014/main" id="{895C910D-F663-DCE4-9FCE-1829469DE2E6}"/>
                </a:ext>
              </a:extLst>
            </p:cNvPr>
            <p:cNvGrpSpPr/>
            <p:nvPr/>
          </p:nvGrpSpPr>
          <p:grpSpPr>
            <a:xfrm>
              <a:off x="8763393" y="2617800"/>
              <a:ext cx="2623185" cy="665197"/>
              <a:chOff x="8373101" y="2752652"/>
              <a:chExt cx="2623185" cy="665197"/>
            </a:xfrm>
          </p:grpSpPr>
          <p:sp>
            <p:nvSpPr>
              <p:cNvPr id="14" name="矩形 57">
                <a:extLst>
                  <a:ext uri="{FF2B5EF4-FFF2-40B4-BE49-F238E27FC236}">
                    <a16:creationId xmlns:a16="http://schemas.microsoft.com/office/drawing/2014/main" id="{B5D4BEEE-18A6-F51B-70FA-D9302174ABD2}"/>
                  </a:ext>
                </a:extLst>
              </p:cNvPr>
              <p:cNvSpPr/>
              <p:nvPr/>
            </p:nvSpPr>
            <p:spPr>
              <a:xfrm>
                <a:off x="8373101" y="2752652"/>
                <a:ext cx="2623185" cy="368236"/>
              </a:xfrm>
              <a:prstGeom prst="rect">
                <a:avLst/>
              </a:prstGeom>
              <a:solidFill>
                <a:schemeClr val="accent2">
                  <a:lumMod val="20000"/>
                  <a:lumOff val="8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User Stack (Anonymous)</a:t>
                </a:r>
                <a:endParaRPr kumimoji="1" lang="zh-TW" altLang="en-US" sz="1600" dirty="0">
                  <a:solidFill>
                    <a:schemeClr val="tx1"/>
                  </a:solidFill>
                  <a:cs typeface="Arial" panose="020B0604020202020204" pitchFamily="34" charset="0"/>
                </a:endParaRPr>
              </a:p>
            </p:txBody>
          </p:sp>
          <p:cxnSp>
            <p:nvCxnSpPr>
              <p:cNvPr id="15" name="直線箭頭接點 14">
                <a:extLst>
                  <a:ext uri="{FF2B5EF4-FFF2-40B4-BE49-F238E27FC236}">
                    <a16:creationId xmlns:a16="http://schemas.microsoft.com/office/drawing/2014/main" id="{495645BB-B584-FD29-0E9D-155344736D90}"/>
                  </a:ext>
                </a:extLst>
              </p:cNvPr>
              <p:cNvCxnSpPr>
                <a:cxnSpLocks/>
              </p:cNvCxnSpPr>
              <p:nvPr/>
            </p:nvCxnSpPr>
            <p:spPr>
              <a:xfrm>
                <a:off x="9662391" y="3133097"/>
                <a:ext cx="0" cy="284752"/>
              </a:xfrm>
              <a:prstGeom prst="straightConnector1">
                <a:avLst/>
              </a:prstGeom>
              <a:ln w="19050">
                <a:solidFill>
                  <a:schemeClr val="accent2">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grpSp>
        <p:grpSp>
          <p:nvGrpSpPr>
            <p:cNvPr id="16" name="群組 15">
              <a:extLst>
                <a:ext uri="{FF2B5EF4-FFF2-40B4-BE49-F238E27FC236}">
                  <a16:creationId xmlns:a16="http://schemas.microsoft.com/office/drawing/2014/main" id="{887E6A14-2CDC-AE35-F20B-B54571A6191D}"/>
                </a:ext>
              </a:extLst>
            </p:cNvPr>
            <p:cNvGrpSpPr/>
            <p:nvPr/>
          </p:nvGrpSpPr>
          <p:grpSpPr>
            <a:xfrm>
              <a:off x="8759651" y="3979948"/>
              <a:ext cx="2623185" cy="755682"/>
              <a:chOff x="8369359" y="4114800"/>
              <a:chExt cx="2623185" cy="755682"/>
            </a:xfrm>
          </p:grpSpPr>
          <p:sp>
            <p:nvSpPr>
              <p:cNvPr id="17" name="矩形 57">
                <a:extLst>
                  <a:ext uri="{FF2B5EF4-FFF2-40B4-BE49-F238E27FC236}">
                    <a16:creationId xmlns:a16="http://schemas.microsoft.com/office/drawing/2014/main" id="{1DC41440-6646-5235-1173-625C061E945F}"/>
                  </a:ext>
                </a:extLst>
              </p:cNvPr>
              <p:cNvSpPr/>
              <p:nvPr/>
            </p:nvSpPr>
            <p:spPr>
              <a:xfrm>
                <a:off x="8369359" y="4438630"/>
                <a:ext cx="2623185" cy="431852"/>
              </a:xfrm>
              <a:prstGeom prst="rect">
                <a:avLst/>
              </a:prstGeom>
              <a:solidFill>
                <a:schemeClr val="accent2">
                  <a:lumMod val="20000"/>
                  <a:lumOff val="8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Heap (Anonymous)</a:t>
                </a:r>
                <a:endParaRPr kumimoji="1" lang="zh-TW" altLang="en-US" sz="1600" dirty="0">
                  <a:solidFill>
                    <a:schemeClr val="tx1"/>
                  </a:solidFill>
                  <a:cs typeface="Arial" panose="020B0604020202020204" pitchFamily="34" charset="0"/>
                </a:endParaRPr>
              </a:p>
            </p:txBody>
          </p:sp>
          <p:cxnSp>
            <p:nvCxnSpPr>
              <p:cNvPr id="18" name="直線箭頭接點 17">
                <a:extLst>
                  <a:ext uri="{FF2B5EF4-FFF2-40B4-BE49-F238E27FC236}">
                    <a16:creationId xmlns:a16="http://schemas.microsoft.com/office/drawing/2014/main" id="{CAEB5FB0-15F2-60AA-0805-30B30C85D6C4}"/>
                  </a:ext>
                </a:extLst>
              </p:cNvPr>
              <p:cNvCxnSpPr>
                <a:cxnSpLocks/>
              </p:cNvCxnSpPr>
              <p:nvPr/>
            </p:nvCxnSpPr>
            <p:spPr>
              <a:xfrm flipV="1">
                <a:off x="9684693" y="4114800"/>
                <a:ext cx="0" cy="306925"/>
              </a:xfrm>
              <a:prstGeom prst="straightConnector1">
                <a:avLst/>
              </a:prstGeom>
              <a:ln w="19050">
                <a:solidFill>
                  <a:schemeClr val="accent2">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grpSp>
        <p:sp>
          <p:nvSpPr>
            <p:cNvPr id="23" name="矩形 57">
              <a:extLst>
                <a:ext uri="{FF2B5EF4-FFF2-40B4-BE49-F238E27FC236}">
                  <a16:creationId xmlns:a16="http://schemas.microsoft.com/office/drawing/2014/main" id="{10879142-C79F-12A0-A5A5-015ADEBDC39A}"/>
                </a:ext>
              </a:extLst>
            </p:cNvPr>
            <p:cNvSpPr/>
            <p:nvPr/>
          </p:nvSpPr>
          <p:spPr>
            <a:xfrm>
              <a:off x="8763393" y="2617800"/>
              <a:ext cx="2623185" cy="3600956"/>
            </a:xfrm>
            <a:prstGeom prst="rect">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600" dirty="0">
                <a:solidFill>
                  <a:schemeClr val="tx1"/>
                </a:solidFill>
                <a:cs typeface="Arial" panose="020B0604020202020204" pitchFamily="34" charset="0"/>
              </a:endParaRPr>
            </a:p>
          </p:txBody>
        </p:sp>
        <p:sp>
          <p:nvSpPr>
            <p:cNvPr id="93" name="文字方塊 92">
              <a:extLst>
                <a:ext uri="{FF2B5EF4-FFF2-40B4-BE49-F238E27FC236}">
                  <a16:creationId xmlns:a16="http://schemas.microsoft.com/office/drawing/2014/main" id="{77E02750-D04F-57CC-AE62-54D1B0BCFE36}"/>
                </a:ext>
              </a:extLst>
            </p:cNvPr>
            <p:cNvSpPr txBox="1"/>
            <p:nvPr/>
          </p:nvSpPr>
          <p:spPr>
            <a:xfrm>
              <a:off x="8761057" y="6245144"/>
              <a:ext cx="2787045" cy="338554"/>
            </a:xfrm>
            <a:prstGeom prst="rect">
              <a:avLst/>
            </a:prstGeom>
            <a:noFill/>
          </p:spPr>
          <p:txBody>
            <a:bodyPr wrap="none" rtlCol="0">
              <a:spAutoFit/>
            </a:bodyPr>
            <a:lstStyle/>
            <a:p>
              <a:r>
                <a:rPr kumimoji="1" lang="en-US" altLang="zh-TW" sz="1600" dirty="0"/>
                <a:t>Process’s Virtual Address Space</a:t>
              </a:r>
              <a:endParaRPr kumimoji="1" lang="zh-TW" altLang="en-US" sz="1600" dirty="0"/>
            </a:p>
          </p:txBody>
        </p:sp>
      </p:grpSp>
      <p:sp>
        <p:nvSpPr>
          <p:cNvPr id="99" name="文字方塊 98">
            <a:extLst>
              <a:ext uri="{FF2B5EF4-FFF2-40B4-BE49-F238E27FC236}">
                <a16:creationId xmlns:a16="http://schemas.microsoft.com/office/drawing/2014/main" id="{CAC5282D-DD54-5F61-7ACB-BB1EB35D36FC}"/>
              </a:ext>
            </a:extLst>
          </p:cNvPr>
          <p:cNvSpPr txBox="1"/>
          <p:nvPr/>
        </p:nvSpPr>
        <p:spPr>
          <a:xfrm>
            <a:off x="4766690" y="3257552"/>
            <a:ext cx="1257990" cy="738664"/>
          </a:xfrm>
          <a:prstGeom prst="rect">
            <a:avLst/>
          </a:prstGeom>
          <a:noFill/>
        </p:spPr>
        <p:txBody>
          <a:bodyPr wrap="square" rtlCol="0">
            <a:spAutoFit/>
          </a:bodyPr>
          <a:lstStyle/>
          <a:p>
            <a:r>
              <a:rPr kumimoji="1" lang="en-US" altLang="zh-TW" sz="1400" dirty="0">
                <a:solidFill>
                  <a:srgbClr val="C00000"/>
                </a:solidFill>
              </a:rPr>
              <a:t>Chaining if heap is not contiguous</a:t>
            </a:r>
            <a:endParaRPr kumimoji="1" lang="zh-TW" altLang="en-US" sz="1400" dirty="0">
              <a:solidFill>
                <a:srgbClr val="C00000"/>
              </a:solidFill>
            </a:endParaRPr>
          </a:p>
        </p:txBody>
      </p:sp>
      <p:sp>
        <p:nvSpPr>
          <p:cNvPr id="101" name="文字方塊 100">
            <a:extLst>
              <a:ext uri="{FF2B5EF4-FFF2-40B4-BE49-F238E27FC236}">
                <a16:creationId xmlns:a16="http://schemas.microsoft.com/office/drawing/2014/main" id="{F08E104E-4ADC-DBB4-97DE-AE0D1C249C39}"/>
              </a:ext>
            </a:extLst>
          </p:cNvPr>
          <p:cNvSpPr txBox="1"/>
          <p:nvPr/>
        </p:nvSpPr>
        <p:spPr>
          <a:xfrm>
            <a:off x="3798579" y="2388615"/>
            <a:ext cx="3555080" cy="307777"/>
          </a:xfrm>
          <a:prstGeom prst="rect">
            <a:avLst/>
          </a:prstGeom>
          <a:noFill/>
        </p:spPr>
        <p:txBody>
          <a:bodyPr wrap="square" rtlCol="0">
            <a:spAutoFit/>
          </a:bodyPr>
          <a:lstStyle/>
          <a:p>
            <a:r>
              <a:rPr kumimoji="1" lang="en-US" altLang="zh-TW" sz="1400" dirty="0">
                <a:solidFill>
                  <a:srgbClr val="C00000"/>
                </a:solidFill>
              </a:rPr>
              <a:t>Maintains a </a:t>
            </a:r>
            <a:r>
              <a:rPr kumimoji="1" lang="en-US" altLang="zh-TW" sz="1400" dirty="0" err="1">
                <a:solidFill>
                  <a:srgbClr val="C00000"/>
                </a:solidFill>
              </a:rPr>
              <a:t>vm_area_struct</a:t>
            </a:r>
            <a:r>
              <a:rPr kumimoji="1" lang="en-US" altLang="zh-TW" sz="1400" dirty="0">
                <a:solidFill>
                  <a:srgbClr val="C00000"/>
                </a:solidFill>
              </a:rPr>
              <a:t> for each file</a:t>
            </a:r>
            <a:endParaRPr kumimoji="1" lang="zh-TW" altLang="en-US" sz="1400" dirty="0">
              <a:solidFill>
                <a:srgbClr val="C00000"/>
              </a:solidFill>
            </a:endParaRPr>
          </a:p>
        </p:txBody>
      </p:sp>
      <p:sp>
        <p:nvSpPr>
          <p:cNvPr id="105" name="文字方塊 104">
            <a:extLst>
              <a:ext uri="{FF2B5EF4-FFF2-40B4-BE49-F238E27FC236}">
                <a16:creationId xmlns:a16="http://schemas.microsoft.com/office/drawing/2014/main" id="{2DFF8BA4-E5EC-306A-BE78-DB8756798223}"/>
              </a:ext>
            </a:extLst>
          </p:cNvPr>
          <p:cNvSpPr txBox="1"/>
          <p:nvPr/>
        </p:nvSpPr>
        <p:spPr>
          <a:xfrm>
            <a:off x="0" y="6442560"/>
            <a:ext cx="3744252" cy="461665"/>
          </a:xfrm>
          <a:prstGeom prst="rect">
            <a:avLst/>
          </a:prstGeom>
          <a:noFill/>
        </p:spPr>
        <p:txBody>
          <a:bodyPr wrap="squar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manybutfinite.com</a:t>
            </a:r>
            <a:r>
              <a:rPr kumimoji="1" lang="en-US" altLang="zh-TW" sz="1200" dirty="0">
                <a:solidFill>
                  <a:schemeClr val="bg1">
                    <a:lumMod val="75000"/>
                  </a:schemeClr>
                </a:solidFill>
              </a:rPr>
              <a:t>/post/how-the-kernel-manages-your-memory/</a:t>
            </a:r>
          </a:p>
        </p:txBody>
      </p:sp>
      <p:grpSp>
        <p:nvGrpSpPr>
          <p:cNvPr id="52" name="群組 51">
            <a:extLst>
              <a:ext uri="{FF2B5EF4-FFF2-40B4-BE49-F238E27FC236}">
                <a16:creationId xmlns:a16="http://schemas.microsoft.com/office/drawing/2014/main" id="{2E621ACF-EE5B-F0BD-8899-1BD89BF9D6D8}"/>
              </a:ext>
            </a:extLst>
          </p:cNvPr>
          <p:cNvGrpSpPr/>
          <p:nvPr/>
        </p:nvGrpSpPr>
        <p:grpSpPr>
          <a:xfrm>
            <a:off x="11076894" y="4546393"/>
            <a:ext cx="1240706" cy="630109"/>
            <a:chOff x="10637735" y="4563927"/>
            <a:chExt cx="1240706" cy="630109"/>
          </a:xfrm>
        </p:grpSpPr>
        <p:cxnSp>
          <p:nvCxnSpPr>
            <p:cNvPr id="20" name="直線接點 19">
              <a:extLst>
                <a:ext uri="{FF2B5EF4-FFF2-40B4-BE49-F238E27FC236}">
                  <a16:creationId xmlns:a16="http://schemas.microsoft.com/office/drawing/2014/main" id="{8B3685C2-72FD-68BA-3C1A-0B2891A4E168}"/>
                </a:ext>
              </a:extLst>
            </p:cNvPr>
            <p:cNvCxnSpPr>
              <a:cxnSpLocks/>
            </p:cNvCxnSpPr>
            <p:nvPr/>
          </p:nvCxnSpPr>
          <p:spPr>
            <a:xfrm>
              <a:off x="10637735" y="5106711"/>
              <a:ext cx="389907"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CEE68662-F195-992E-E5DA-0F0773B5BE12}"/>
                </a:ext>
              </a:extLst>
            </p:cNvPr>
            <p:cNvCxnSpPr>
              <a:cxnSpLocks/>
            </p:cNvCxnSpPr>
            <p:nvPr/>
          </p:nvCxnSpPr>
          <p:spPr>
            <a:xfrm>
              <a:off x="10869229" y="4571123"/>
              <a:ext cx="15841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FF2AA2DA-598F-099E-2B02-5921842F10A0}"/>
                </a:ext>
              </a:extLst>
            </p:cNvPr>
            <p:cNvCxnSpPr>
              <a:cxnSpLocks/>
            </p:cNvCxnSpPr>
            <p:nvPr/>
          </p:nvCxnSpPr>
          <p:spPr>
            <a:xfrm flipV="1">
              <a:off x="11027642" y="4563927"/>
              <a:ext cx="0" cy="542784"/>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1C08FD50-A1C8-E992-9F6B-1739D0E7DE04}"/>
                </a:ext>
              </a:extLst>
            </p:cNvPr>
            <p:cNvCxnSpPr>
              <a:cxnSpLocks/>
            </p:cNvCxnSpPr>
            <p:nvPr/>
          </p:nvCxnSpPr>
          <p:spPr>
            <a:xfrm>
              <a:off x="11027642" y="4899273"/>
              <a:ext cx="180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43" name="文字方塊 42">
              <a:extLst>
                <a:ext uri="{FF2B5EF4-FFF2-40B4-BE49-F238E27FC236}">
                  <a16:creationId xmlns:a16="http://schemas.microsoft.com/office/drawing/2014/main" id="{37B64934-8207-6957-A733-2785E02F1B61}"/>
                </a:ext>
              </a:extLst>
            </p:cNvPr>
            <p:cNvSpPr txBox="1"/>
            <p:nvPr/>
          </p:nvSpPr>
          <p:spPr>
            <a:xfrm>
              <a:off x="11088664" y="4670816"/>
              <a:ext cx="789777" cy="523220"/>
            </a:xfrm>
            <a:prstGeom prst="rect">
              <a:avLst/>
            </a:prstGeom>
            <a:noFill/>
          </p:spPr>
          <p:txBody>
            <a:bodyPr wrap="square" rtlCol="0">
              <a:spAutoFit/>
            </a:bodyPr>
            <a:lstStyle/>
            <a:p>
              <a:r>
                <a:rPr kumimoji="1" lang="en-US" altLang="zh-TW" sz="1400" b="1" dirty="0">
                  <a:solidFill>
                    <a:srgbClr val="C00000"/>
                  </a:solidFill>
                </a:rPr>
                <a:t>No File-Backed</a:t>
              </a:r>
              <a:endParaRPr kumimoji="1" lang="zh-TW" altLang="en-US" sz="1400" b="1" dirty="0">
                <a:solidFill>
                  <a:srgbClr val="C00000"/>
                </a:solidFill>
              </a:endParaRPr>
            </a:p>
          </p:txBody>
        </p:sp>
      </p:grpSp>
      <p:grpSp>
        <p:nvGrpSpPr>
          <p:cNvPr id="73" name="群組 72">
            <a:extLst>
              <a:ext uri="{FF2B5EF4-FFF2-40B4-BE49-F238E27FC236}">
                <a16:creationId xmlns:a16="http://schemas.microsoft.com/office/drawing/2014/main" id="{A1F2C05D-38A0-084B-1290-36FC573C5247}"/>
              </a:ext>
            </a:extLst>
          </p:cNvPr>
          <p:cNvGrpSpPr/>
          <p:nvPr/>
        </p:nvGrpSpPr>
        <p:grpSpPr>
          <a:xfrm>
            <a:off x="-22639" y="3571512"/>
            <a:ext cx="3654049" cy="2937347"/>
            <a:chOff x="-22639" y="3571512"/>
            <a:chExt cx="3654049" cy="2937347"/>
          </a:xfrm>
        </p:grpSpPr>
        <p:sp>
          <p:nvSpPr>
            <p:cNvPr id="128" name="文字方塊 127">
              <a:extLst>
                <a:ext uri="{FF2B5EF4-FFF2-40B4-BE49-F238E27FC236}">
                  <a16:creationId xmlns:a16="http://schemas.microsoft.com/office/drawing/2014/main" id="{50CBA99A-5D9B-8C9B-DDAE-3BFC1718F6BA}"/>
                </a:ext>
              </a:extLst>
            </p:cNvPr>
            <p:cNvSpPr txBox="1"/>
            <p:nvPr/>
          </p:nvSpPr>
          <p:spPr>
            <a:xfrm>
              <a:off x="801078" y="4649331"/>
              <a:ext cx="727828" cy="276999"/>
            </a:xfrm>
            <a:prstGeom prst="rect">
              <a:avLst/>
            </a:prstGeom>
            <a:noFill/>
          </p:spPr>
          <p:txBody>
            <a:bodyPr wrap="none" rtlCol="0">
              <a:spAutoFit/>
            </a:bodyPr>
            <a:lstStyle/>
            <a:p>
              <a:r>
                <a:rPr kumimoji="1" lang="en-US" altLang="zh-TW" sz="1200" dirty="0" err="1"/>
                <a:t>vm_next</a:t>
              </a:r>
              <a:endParaRPr kumimoji="1" lang="zh-TW" altLang="en-US" sz="1200" dirty="0"/>
            </a:p>
          </p:txBody>
        </p:sp>
        <p:sp>
          <p:nvSpPr>
            <p:cNvPr id="19" name="矩形 18">
              <a:extLst>
                <a:ext uri="{FF2B5EF4-FFF2-40B4-BE49-F238E27FC236}">
                  <a16:creationId xmlns:a16="http://schemas.microsoft.com/office/drawing/2014/main" id="{2F04E4BF-0590-02B9-A74F-420AB737E348}"/>
                </a:ext>
              </a:extLst>
            </p:cNvPr>
            <p:cNvSpPr/>
            <p:nvPr/>
          </p:nvSpPr>
          <p:spPr>
            <a:xfrm>
              <a:off x="129824" y="3873518"/>
              <a:ext cx="3493294" cy="4460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600" dirty="0">
                <a:solidFill>
                  <a:schemeClr val="bg1"/>
                </a:solidFill>
              </a:endParaRPr>
            </a:p>
          </p:txBody>
        </p:sp>
        <p:sp>
          <p:nvSpPr>
            <p:cNvPr id="21" name="矩形 20">
              <a:extLst>
                <a:ext uri="{FF2B5EF4-FFF2-40B4-BE49-F238E27FC236}">
                  <a16:creationId xmlns:a16="http://schemas.microsoft.com/office/drawing/2014/main" id="{755A6492-903F-BE53-1ECC-73002902B719}"/>
                </a:ext>
              </a:extLst>
            </p:cNvPr>
            <p:cNvSpPr/>
            <p:nvPr/>
          </p:nvSpPr>
          <p:spPr>
            <a:xfrm>
              <a:off x="131360" y="4656018"/>
              <a:ext cx="178045"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27" name="矩形 26">
              <a:extLst>
                <a:ext uri="{FF2B5EF4-FFF2-40B4-BE49-F238E27FC236}">
                  <a16:creationId xmlns:a16="http://schemas.microsoft.com/office/drawing/2014/main" id="{A0F39D99-4ABA-ED35-A3EB-CAF179763AD5}"/>
                </a:ext>
              </a:extLst>
            </p:cNvPr>
            <p:cNvSpPr/>
            <p:nvPr/>
          </p:nvSpPr>
          <p:spPr>
            <a:xfrm>
              <a:off x="306714" y="4656018"/>
              <a:ext cx="178045"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37" name="矩形 36">
              <a:extLst>
                <a:ext uri="{FF2B5EF4-FFF2-40B4-BE49-F238E27FC236}">
                  <a16:creationId xmlns:a16="http://schemas.microsoft.com/office/drawing/2014/main" id="{B2C67818-E7F9-AFDE-37C3-9843B338FB8F}"/>
                </a:ext>
              </a:extLst>
            </p:cNvPr>
            <p:cNvSpPr/>
            <p:nvPr/>
          </p:nvSpPr>
          <p:spPr>
            <a:xfrm>
              <a:off x="484759" y="4656018"/>
              <a:ext cx="178045"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39" name="矩形 38">
              <a:extLst>
                <a:ext uri="{FF2B5EF4-FFF2-40B4-BE49-F238E27FC236}">
                  <a16:creationId xmlns:a16="http://schemas.microsoft.com/office/drawing/2014/main" id="{F8C72FC2-C367-3D1A-F95C-A2897840474B}"/>
                </a:ext>
              </a:extLst>
            </p:cNvPr>
            <p:cNvSpPr/>
            <p:nvPr/>
          </p:nvSpPr>
          <p:spPr>
            <a:xfrm>
              <a:off x="660113" y="4656018"/>
              <a:ext cx="178045"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46" name="矩形 45">
              <a:extLst>
                <a:ext uri="{FF2B5EF4-FFF2-40B4-BE49-F238E27FC236}">
                  <a16:creationId xmlns:a16="http://schemas.microsoft.com/office/drawing/2014/main" id="{7F5C7E76-81EC-A6AF-52C3-F1E911D853B9}"/>
                </a:ext>
              </a:extLst>
            </p:cNvPr>
            <p:cNvSpPr/>
            <p:nvPr/>
          </p:nvSpPr>
          <p:spPr>
            <a:xfrm>
              <a:off x="1485654" y="4656018"/>
              <a:ext cx="178045"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50" name="矩形 49">
              <a:extLst>
                <a:ext uri="{FF2B5EF4-FFF2-40B4-BE49-F238E27FC236}">
                  <a16:creationId xmlns:a16="http://schemas.microsoft.com/office/drawing/2014/main" id="{5934645C-12E2-E7D3-B449-5752B464F509}"/>
                </a:ext>
              </a:extLst>
            </p:cNvPr>
            <p:cNvSpPr/>
            <p:nvPr/>
          </p:nvSpPr>
          <p:spPr>
            <a:xfrm>
              <a:off x="1661008" y="4656018"/>
              <a:ext cx="178045"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51" name="矩形 50">
              <a:extLst>
                <a:ext uri="{FF2B5EF4-FFF2-40B4-BE49-F238E27FC236}">
                  <a16:creationId xmlns:a16="http://schemas.microsoft.com/office/drawing/2014/main" id="{FDF58C35-E2E5-0C2B-4DDB-60EC18A49398}"/>
                </a:ext>
              </a:extLst>
            </p:cNvPr>
            <p:cNvSpPr/>
            <p:nvPr/>
          </p:nvSpPr>
          <p:spPr>
            <a:xfrm>
              <a:off x="1839053" y="4656018"/>
              <a:ext cx="178045"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53" name="矩形 52">
              <a:extLst>
                <a:ext uri="{FF2B5EF4-FFF2-40B4-BE49-F238E27FC236}">
                  <a16:creationId xmlns:a16="http://schemas.microsoft.com/office/drawing/2014/main" id="{FDFE319A-9CAE-035F-DEA8-E5ECBF8C6554}"/>
                </a:ext>
              </a:extLst>
            </p:cNvPr>
            <p:cNvSpPr/>
            <p:nvPr/>
          </p:nvSpPr>
          <p:spPr>
            <a:xfrm>
              <a:off x="2014407" y="4656018"/>
              <a:ext cx="178045"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54" name="矩形 53">
              <a:extLst>
                <a:ext uri="{FF2B5EF4-FFF2-40B4-BE49-F238E27FC236}">
                  <a16:creationId xmlns:a16="http://schemas.microsoft.com/office/drawing/2014/main" id="{6544A4B5-19CF-D078-5137-B3465D8AED92}"/>
                </a:ext>
              </a:extLst>
            </p:cNvPr>
            <p:cNvSpPr/>
            <p:nvPr/>
          </p:nvSpPr>
          <p:spPr>
            <a:xfrm>
              <a:off x="2848137" y="4656018"/>
              <a:ext cx="178045"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57" name="矩形 56">
              <a:extLst>
                <a:ext uri="{FF2B5EF4-FFF2-40B4-BE49-F238E27FC236}">
                  <a16:creationId xmlns:a16="http://schemas.microsoft.com/office/drawing/2014/main" id="{0B513758-D200-842D-6669-2CEAC6A44F01}"/>
                </a:ext>
              </a:extLst>
            </p:cNvPr>
            <p:cNvSpPr/>
            <p:nvPr/>
          </p:nvSpPr>
          <p:spPr>
            <a:xfrm>
              <a:off x="3023491" y="4656018"/>
              <a:ext cx="178045"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60" name="矩形 59">
              <a:extLst>
                <a:ext uri="{FF2B5EF4-FFF2-40B4-BE49-F238E27FC236}">
                  <a16:creationId xmlns:a16="http://schemas.microsoft.com/office/drawing/2014/main" id="{A36D8D78-5FB9-CCC0-EDDF-3F233102C7BE}"/>
                </a:ext>
              </a:extLst>
            </p:cNvPr>
            <p:cNvSpPr/>
            <p:nvPr/>
          </p:nvSpPr>
          <p:spPr>
            <a:xfrm>
              <a:off x="3201536" y="4656018"/>
              <a:ext cx="178045"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61" name="矩形 60">
              <a:extLst>
                <a:ext uri="{FF2B5EF4-FFF2-40B4-BE49-F238E27FC236}">
                  <a16:creationId xmlns:a16="http://schemas.microsoft.com/office/drawing/2014/main" id="{AA9D2880-0F16-914D-FB82-878DEC1A132D}"/>
                </a:ext>
              </a:extLst>
            </p:cNvPr>
            <p:cNvSpPr/>
            <p:nvPr/>
          </p:nvSpPr>
          <p:spPr>
            <a:xfrm>
              <a:off x="3376890" y="4656018"/>
              <a:ext cx="178045" cy="446049"/>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62" name="矩形 61">
              <a:extLst>
                <a:ext uri="{FF2B5EF4-FFF2-40B4-BE49-F238E27FC236}">
                  <a16:creationId xmlns:a16="http://schemas.microsoft.com/office/drawing/2014/main" id="{67A492FF-EDD5-02C7-D0AE-5C518836ADA3}"/>
                </a:ext>
              </a:extLst>
            </p:cNvPr>
            <p:cNvSpPr/>
            <p:nvPr/>
          </p:nvSpPr>
          <p:spPr>
            <a:xfrm>
              <a:off x="1315210" y="5580278"/>
              <a:ext cx="178045" cy="4460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63" name="矩形 62">
              <a:extLst>
                <a:ext uri="{FF2B5EF4-FFF2-40B4-BE49-F238E27FC236}">
                  <a16:creationId xmlns:a16="http://schemas.microsoft.com/office/drawing/2014/main" id="{0B120A1C-AD1F-662F-E5B0-2E3D51A2EE45}"/>
                </a:ext>
              </a:extLst>
            </p:cNvPr>
            <p:cNvSpPr/>
            <p:nvPr/>
          </p:nvSpPr>
          <p:spPr>
            <a:xfrm>
              <a:off x="1490564" y="5580278"/>
              <a:ext cx="178045" cy="4460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66" name="矩形 65">
              <a:extLst>
                <a:ext uri="{FF2B5EF4-FFF2-40B4-BE49-F238E27FC236}">
                  <a16:creationId xmlns:a16="http://schemas.microsoft.com/office/drawing/2014/main" id="{382A523F-7A86-402C-E691-DE4582246F0B}"/>
                </a:ext>
              </a:extLst>
            </p:cNvPr>
            <p:cNvSpPr/>
            <p:nvPr/>
          </p:nvSpPr>
          <p:spPr>
            <a:xfrm>
              <a:off x="1668609" y="5580278"/>
              <a:ext cx="178045" cy="4460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69" name="矩形 68">
              <a:extLst>
                <a:ext uri="{FF2B5EF4-FFF2-40B4-BE49-F238E27FC236}">
                  <a16:creationId xmlns:a16="http://schemas.microsoft.com/office/drawing/2014/main" id="{41A96674-58DA-2A44-CDC3-6D47329B24FC}"/>
                </a:ext>
              </a:extLst>
            </p:cNvPr>
            <p:cNvSpPr/>
            <p:nvPr/>
          </p:nvSpPr>
          <p:spPr>
            <a:xfrm>
              <a:off x="1843963" y="5580278"/>
              <a:ext cx="178045" cy="4460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70" name="矩形 69">
              <a:extLst>
                <a:ext uri="{FF2B5EF4-FFF2-40B4-BE49-F238E27FC236}">
                  <a16:creationId xmlns:a16="http://schemas.microsoft.com/office/drawing/2014/main" id="{8DB514E3-FF64-AB17-9AA7-498091D18852}"/>
                </a:ext>
              </a:extLst>
            </p:cNvPr>
            <p:cNvSpPr/>
            <p:nvPr/>
          </p:nvSpPr>
          <p:spPr>
            <a:xfrm>
              <a:off x="2023544" y="5580278"/>
              <a:ext cx="178045" cy="4460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78" name="文字方塊 77">
              <a:extLst>
                <a:ext uri="{FF2B5EF4-FFF2-40B4-BE49-F238E27FC236}">
                  <a16:creationId xmlns:a16="http://schemas.microsoft.com/office/drawing/2014/main" id="{8C2518AD-4A6E-35EA-1C2E-BAB877EA06D3}"/>
                </a:ext>
              </a:extLst>
            </p:cNvPr>
            <p:cNvSpPr txBox="1"/>
            <p:nvPr/>
          </p:nvSpPr>
          <p:spPr>
            <a:xfrm>
              <a:off x="917806" y="5985639"/>
              <a:ext cx="1752339" cy="523220"/>
            </a:xfrm>
            <a:prstGeom prst="rect">
              <a:avLst/>
            </a:prstGeom>
            <a:noFill/>
          </p:spPr>
          <p:txBody>
            <a:bodyPr wrap="none" rtlCol="0">
              <a:spAutoFit/>
            </a:bodyPr>
            <a:lstStyle/>
            <a:p>
              <a:pPr algn="ctr"/>
              <a:r>
                <a:rPr kumimoji="1" lang="en-US" altLang="zh-TW" sz="1400" b="1" dirty="0" err="1"/>
                <a:t>mm_struct</a:t>
              </a:r>
              <a:br>
                <a:rPr kumimoji="1" lang="en-US" altLang="zh-TW" sz="1400" b="1" dirty="0"/>
              </a:br>
              <a:r>
                <a:rPr kumimoji="1" lang="en-US" altLang="zh-TW" sz="1400" b="1" dirty="0"/>
                <a:t>(Memory Descriptor)</a:t>
              </a:r>
              <a:endParaRPr kumimoji="1" lang="zh-TW" altLang="en-US" sz="1400" b="1" dirty="0"/>
            </a:p>
          </p:txBody>
        </p:sp>
        <p:sp>
          <p:nvSpPr>
            <p:cNvPr id="83" name="矩形 82">
              <a:extLst>
                <a:ext uri="{FF2B5EF4-FFF2-40B4-BE49-F238E27FC236}">
                  <a16:creationId xmlns:a16="http://schemas.microsoft.com/office/drawing/2014/main" id="{8031190E-DFDB-93F0-7F12-172022E9F115}"/>
                </a:ext>
              </a:extLst>
            </p:cNvPr>
            <p:cNvSpPr/>
            <p:nvPr/>
          </p:nvSpPr>
          <p:spPr>
            <a:xfrm>
              <a:off x="276960" y="3873518"/>
              <a:ext cx="255385" cy="446049"/>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85" name="矩形 84">
              <a:extLst>
                <a:ext uri="{FF2B5EF4-FFF2-40B4-BE49-F238E27FC236}">
                  <a16:creationId xmlns:a16="http://schemas.microsoft.com/office/drawing/2014/main" id="{A074D91B-9C10-C627-59A9-162E12BC49D2}"/>
                </a:ext>
              </a:extLst>
            </p:cNvPr>
            <p:cNvSpPr/>
            <p:nvPr/>
          </p:nvSpPr>
          <p:spPr>
            <a:xfrm>
              <a:off x="534297" y="3873518"/>
              <a:ext cx="255385" cy="446049"/>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86" name="矩形 85">
              <a:extLst>
                <a:ext uri="{FF2B5EF4-FFF2-40B4-BE49-F238E27FC236}">
                  <a16:creationId xmlns:a16="http://schemas.microsoft.com/office/drawing/2014/main" id="{6BD291B5-7F47-AA2C-B1F1-B7D47266DEB3}"/>
                </a:ext>
              </a:extLst>
            </p:cNvPr>
            <p:cNvSpPr/>
            <p:nvPr/>
          </p:nvSpPr>
          <p:spPr>
            <a:xfrm>
              <a:off x="789682" y="3873518"/>
              <a:ext cx="255385" cy="446049"/>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87" name="矩形 86">
              <a:extLst>
                <a:ext uri="{FF2B5EF4-FFF2-40B4-BE49-F238E27FC236}">
                  <a16:creationId xmlns:a16="http://schemas.microsoft.com/office/drawing/2014/main" id="{E5F64725-6A2D-FCE8-18E9-BC1F2DBBEEBE}"/>
                </a:ext>
              </a:extLst>
            </p:cNvPr>
            <p:cNvSpPr/>
            <p:nvPr/>
          </p:nvSpPr>
          <p:spPr>
            <a:xfrm>
              <a:off x="1045067" y="3873518"/>
              <a:ext cx="255385" cy="446049"/>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88" name="矩形 87">
              <a:extLst>
                <a:ext uri="{FF2B5EF4-FFF2-40B4-BE49-F238E27FC236}">
                  <a16:creationId xmlns:a16="http://schemas.microsoft.com/office/drawing/2014/main" id="{34B2CAEA-82B1-07A8-DAC3-EAAB4279CB5E}"/>
                </a:ext>
              </a:extLst>
            </p:cNvPr>
            <p:cNvSpPr/>
            <p:nvPr/>
          </p:nvSpPr>
          <p:spPr>
            <a:xfrm>
              <a:off x="1649553" y="3873518"/>
              <a:ext cx="255385" cy="446049"/>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89" name="矩形 88">
              <a:extLst>
                <a:ext uri="{FF2B5EF4-FFF2-40B4-BE49-F238E27FC236}">
                  <a16:creationId xmlns:a16="http://schemas.microsoft.com/office/drawing/2014/main" id="{60CEEDB2-D423-5261-37E9-4DDD6E2FFF50}"/>
                </a:ext>
              </a:extLst>
            </p:cNvPr>
            <p:cNvSpPr/>
            <p:nvPr/>
          </p:nvSpPr>
          <p:spPr>
            <a:xfrm>
              <a:off x="1904938" y="3873518"/>
              <a:ext cx="255385" cy="446049"/>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90" name="矩形 89">
              <a:extLst>
                <a:ext uri="{FF2B5EF4-FFF2-40B4-BE49-F238E27FC236}">
                  <a16:creationId xmlns:a16="http://schemas.microsoft.com/office/drawing/2014/main" id="{4BDB817A-43FD-553E-7700-1725C624F149}"/>
                </a:ext>
              </a:extLst>
            </p:cNvPr>
            <p:cNvSpPr/>
            <p:nvPr/>
          </p:nvSpPr>
          <p:spPr>
            <a:xfrm>
              <a:off x="2851362" y="3873518"/>
              <a:ext cx="255385" cy="446049"/>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91" name="矩形 90">
              <a:extLst>
                <a:ext uri="{FF2B5EF4-FFF2-40B4-BE49-F238E27FC236}">
                  <a16:creationId xmlns:a16="http://schemas.microsoft.com/office/drawing/2014/main" id="{505F2DDA-AA34-9CFC-B505-B478BECFE4BA}"/>
                </a:ext>
              </a:extLst>
            </p:cNvPr>
            <p:cNvSpPr/>
            <p:nvPr/>
          </p:nvSpPr>
          <p:spPr>
            <a:xfrm>
              <a:off x="3106747" y="3873518"/>
              <a:ext cx="255385" cy="446049"/>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103" name="矩形 102">
              <a:extLst>
                <a:ext uri="{FF2B5EF4-FFF2-40B4-BE49-F238E27FC236}">
                  <a16:creationId xmlns:a16="http://schemas.microsoft.com/office/drawing/2014/main" id="{A401658D-87AE-19EE-A3F4-365FABB18FFC}"/>
                </a:ext>
              </a:extLst>
            </p:cNvPr>
            <p:cNvSpPr/>
            <p:nvPr/>
          </p:nvSpPr>
          <p:spPr>
            <a:xfrm>
              <a:off x="3362132" y="3873518"/>
              <a:ext cx="255385" cy="446049"/>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TW" sz="1600" dirty="0">
                <a:solidFill>
                  <a:schemeClr val="tx1"/>
                </a:solidFill>
              </a:endParaRPr>
            </a:p>
          </p:txBody>
        </p:sp>
        <p:sp>
          <p:nvSpPr>
            <p:cNvPr id="104" name="文字方塊 103">
              <a:extLst>
                <a:ext uri="{FF2B5EF4-FFF2-40B4-BE49-F238E27FC236}">
                  <a16:creationId xmlns:a16="http://schemas.microsoft.com/office/drawing/2014/main" id="{06FF1EED-C7DE-353F-E1BA-C7E2ACC8725D}"/>
                </a:ext>
              </a:extLst>
            </p:cNvPr>
            <p:cNvSpPr txBox="1"/>
            <p:nvPr/>
          </p:nvSpPr>
          <p:spPr>
            <a:xfrm>
              <a:off x="1096016" y="5025160"/>
              <a:ext cx="1354089" cy="307777"/>
            </a:xfrm>
            <a:prstGeom prst="rect">
              <a:avLst/>
            </a:prstGeom>
            <a:noFill/>
          </p:spPr>
          <p:txBody>
            <a:bodyPr wrap="none" rtlCol="0">
              <a:spAutoFit/>
            </a:bodyPr>
            <a:lstStyle/>
            <a:p>
              <a:r>
                <a:rPr kumimoji="1" lang="en-US" altLang="zh-TW" sz="1400" b="1" dirty="0" err="1"/>
                <a:t>vm_area_struct</a:t>
              </a:r>
              <a:endParaRPr kumimoji="1" lang="zh-TW" altLang="en-US" sz="1400" b="1" dirty="0"/>
            </a:p>
          </p:txBody>
        </p:sp>
        <p:sp>
          <p:nvSpPr>
            <p:cNvPr id="106" name="文字方塊 105">
              <a:extLst>
                <a:ext uri="{FF2B5EF4-FFF2-40B4-BE49-F238E27FC236}">
                  <a16:creationId xmlns:a16="http://schemas.microsoft.com/office/drawing/2014/main" id="{5B4B8FB0-40C0-2BF1-F1BB-B1256C722F68}"/>
                </a:ext>
              </a:extLst>
            </p:cNvPr>
            <p:cNvSpPr txBox="1"/>
            <p:nvPr/>
          </p:nvSpPr>
          <p:spPr>
            <a:xfrm>
              <a:off x="870686" y="3571512"/>
              <a:ext cx="2515625" cy="307777"/>
            </a:xfrm>
            <a:prstGeom prst="rect">
              <a:avLst/>
            </a:prstGeom>
            <a:noFill/>
          </p:spPr>
          <p:txBody>
            <a:bodyPr wrap="none" rtlCol="0">
              <a:spAutoFit/>
            </a:bodyPr>
            <a:lstStyle/>
            <a:p>
              <a:r>
                <a:rPr kumimoji="1" lang="en-US" altLang="zh-TW" sz="1400" b="1" dirty="0"/>
                <a:t>Process’s Virtual Address Space</a:t>
              </a:r>
              <a:endParaRPr kumimoji="1" lang="zh-TW" altLang="en-US" sz="1400" b="1" dirty="0"/>
            </a:p>
          </p:txBody>
        </p:sp>
        <p:cxnSp>
          <p:nvCxnSpPr>
            <p:cNvPr id="108" name="直線箭頭接點 107">
              <a:extLst>
                <a:ext uri="{FF2B5EF4-FFF2-40B4-BE49-F238E27FC236}">
                  <a16:creationId xmlns:a16="http://schemas.microsoft.com/office/drawing/2014/main" id="{03641FD9-1137-D707-D785-CAB0B517488B}"/>
                </a:ext>
              </a:extLst>
            </p:cNvPr>
            <p:cNvCxnSpPr>
              <a:cxnSpLocks/>
              <a:stCxn id="39" idx="3"/>
              <a:endCxn id="46" idx="1"/>
            </p:cNvCxnSpPr>
            <p:nvPr/>
          </p:nvCxnSpPr>
          <p:spPr>
            <a:xfrm>
              <a:off x="838158" y="4879043"/>
              <a:ext cx="647496" cy="0"/>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grpSp>
          <p:nvGrpSpPr>
            <p:cNvPr id="119" name="群組 118">
              <a:extLst>
                <a:ext uri="{FF2B5EF4-FFF2-40B4-BE49-F238E27FC236}">
                  <a16:creationId xmlns:a16="http://schemas.microsoft.com/office/drawing/2014/main" id="{0F6D97D2-457B-F276-BB6A-2F6696CCFAF3}"/>
                </a:ext>
              </a:extLst>
            </p:cNvPr>
            <p:cNvGrpSpPr/>
            <p:nvPr/>
          </p:nvGrpSpPr>
          <p:grpSpPr>
            <a:xfrm>
              <a:off x="446013" y="5109980"/>
              <a:ext cx="1150550" cy="470298"/>
              <a:chOff x="446013" y="5109980"/>
              <a:chExt cx="1150550" cy="470298"/>
            </a:xfrm>
          </p:grpSpPr>
          <p:cxnSp>
            <p:nvCxnSpPr>
              <p:cNvPr id="111" name="直線箭頭接點 110">
                <a:extLst>
                  <a:ext uri="{FF2B5EF4-FFF2-40B4-BE49-F238E27FC236}">
                    <a16:creationId xmlns:a16="http://schemas.microsoft.com/office/drawing/2014/main" id="{C0152E5D-90E2-9CD4-7FCD-4A09D7F80908}"/>
                  </a:ext>
                </a:extLst>
              </p:cNvPr>
              <p:cNvCxnSpPr>
                <a:cxnSpLocks/>
              </p:cNvCxnSpPr>
              <p:nvPr/>
            </p:nvCxnSpPr>
            <p:spPr>
              <a:xfrm flipV="1">
                <a:off x="446013" y="5109980"/>
                <a:ext cx="0" cy="292585"/>
              </a:xfrm>
              <a:prstGeom prst="straightConnector1">
                <a:avLst/>
              </a:prstGeom>
              <a:ln w="19050">
                <a:solidFill>
                  <a:schemeClr val="tx1"/>
                </a:solidFill>
                <a:prstDash val="sysDot"/>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14" name="直線箭頭接點 113">
                <a:extLst>
                  <a:ext uri="{FF2B5EF4-FFF2-40B4-BE49-F238E27FC236}">
                    <a16:creationId xmlns:a16="http://schemas.microsoft.com/office/drawing/2014/main" id="{77BD286A-BDC9-3098-12EC-5AF67D2C237A}"/>
                  </a:ext>
                </a:extLst>
              </p:cNvPr>
              <p:cNvCxnSpPr>
                <a:cxnSpLocks/>
              </p:cNvCxnSpPr>
              <p:nvPr/>
            </p:nvCxnSpPr>
            <p:spPr>
              <a:xfrm>
                <a:off x="456370" y="5399425"/>
                <a:ext cx="1140193" cy="0"/>
              </a:xfrm>
              <a:prstGeom prst="straightConnector1">
                <a:avLst/>
              </a:prstGeom>
              <a:ln w="19050">
                <a:solidFill>
                  <a:schemeClr val="tx1"/>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cxnSp>
            <p:nvCxnSpPr>
              <p:cNvPr id="117" name="直線箭頭接點 116">
                <a:extLst>
                  <a:ext uri="{FF2B5EF4-FFF2-40B4-BE49-F238E27FC236}">
                    <a16:creationId xmlns:a16="http://schemas.microsoft.com/office/drawing/2014/main" id="{E7F0DDEC-6690-BA9F-642B-895EE097C476}"/>
                  </a:ext>
                </a:extLst>
              </p:cNvPr>
              <p:cNvCxnSpPr>
                <a:cxnSpLocks/>
              </p:cNvCxnSpPr>
              <p:nvPr/>
            </p:nvCxnSpPr>
            <p:spPr>
              <a:xfrm>
                <a:off x="1579096" y="5399425"/>
                <a:ext cx="0" cy="180853"/>
              </a:xfrm>
              <a:prstGeom prst="straightConnector1">
                <a:avLst/>
              </a:prstGeom>
              <a:ln w="19050">
                <a:solidFill>
                  <a:schemeClr val="tx1"/>
                </a:solidFill>
                <a:prstDash val="sysDot"/>
                <a:headEnd type="none"/>
                <a:tailEnd type="oval"/>
              </a:ln>
            </p:spPr>
            <p:style>
              <a:lnRef idx="1">
                <a:schemeClr val="accent1"/>
              </a:lnRef>
              <a:fillRef idx="0">
                <a:schemeClr val="accent1"/>
              </a:fillRef>
              <a:effectRef idx="0">
                <a:schemeClr val="accent1"/>
              </a:effectRef>
              <a:fontRef idx="minor">
                <a:schemeClr val="tx1"/>
              </a:fontRef>
            </p:style>
          </p:cxnSp>
        </p:grpSp>
        <p:sp>
          <p:nvSpPr>
            <p:cNvPr id="120" name="文字方塊 119">
              <a:extLst>
                <a:ext uri="{FF2B5EF4-FFF2-40B4-BE49-F238E27FC236}">
                  <a16:creationId xmlns:a16="http://schemas.microsoft.com/office/drawing/2014/main" id="{41A03F2C-566C-92DC-3D64-9FD4D49D9D37}"/>
                </a:ext>
              </a:extLst>
            </p:cNvPr>
            <p:cNvSpPr txBox="1"/>
            <p:nvPr/>
          </p:nvSpPr>
          <p:spPr>
            <a:xfrm>
              <a:off x="1059620" y="5344747"/>
              <a:ext cx="585417" cy="276999"/>
            </a:xfrm>
            <a:prstGeom prst="rect">
              <a:avLst/>
            </a:prstGeom>
            <a:noFill/>
          </p:spPr>
          <p:txBody>
            <a:bodyPr wrap="none" rtlCol="0">
              <a:spAutoFit/>
            </a:bodyPr>
            <a:lstStyle/>
            <a:p>
              <a:r>
                <a:rPr kumimoji="1" lang="en-US" altLang="zh-TW" sz="1200" dirty="0" err="1"/>
                <a:t>mmap</a:t>
              </a:r>
              <a:endParaRPr kumimoji="1" lang="zh-TW" altLang="en-US" sz="1200" dirty="0"/>
            </a:p>
          </p:txBody>
        </p:sp>
        <p:cxnSp>
          <p:nvCxnSpPr>
            <p:cNvPr id="121" name="直線箭頭接點 120">
              <a:extLst>
                <a:ext uri="{FF2B5EF4-FFF2-40B4-BE49-F238E27FC236}">
                  <a16:creationId xmlns:a16="http://schemas.microsoft.com/office/drawing/2014/main" id="{BFB64828-7B15-60E8-3E67-23E143DB5886}"/>
                </a:ext>
              </a:extLst>
            </p:cNvPr>
            <p:cNvCxnSpPr>
              <a:cxnSpLocks/>
              <a:stCxn id="21" idx="0"/>
            </p:cNvCxnSpPr>
            <p:nvPr/>
          </p:nvCxnSpPr>
          <p:spPr>
            <a:xfrm flipV="1">
              <a:off x="220383" y="4327480"/>
              <a:ext cx="49097" cy="32853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24" name="直線箭頭接點 123">
              <a:extLst>
                <a:ext uri="{FF2B5EF4-FFF2-40B4-BE49-F238E27FC236}">
                  <a16:creationId xmlns:a16="http://schemas.microsoft.com/office/drawing/2014/main" id="{8875E9F4-2C52-CEA7-944C-791D9E5BAFFF}"/>
                </a:ext>
              </a:extLst>
            </p:cNvPr>
            <p:cNvCxnSpPr>
              <a:cxnSpLocks/>
              <a:stCxn id="27" idx="0"/>
            </p:cNvCxnSpPr>
            <p:nvPr/>
          </p:nvCxnSpPr>
          <p:spPr>
            <a:xfrm flipV="1">
              <a:off x="395737" y="4327480"/>
              <a:ext cx="912762" cy="32853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129" name="文字方塊 128">
              <a:extLst>
                <a:ext uri="{FF2B5EF4-FFF2-40B4-BE49-F238E27FC236}">
                  <a16:creationId xmlns:a16="http://schemas.microsoft.com/office/drawing/2014/main" id="{6F6CFF8E-3293-B7C1-2B22-650480C7CA77}"/>
                </a:ext>
              </a:extLst>
            </p:cNvPr>
            <p:cNvSpPr txBox="1"/>
            <p:nvPr/>
          </p:nvSpPr>
          <p:spPr>
            <a:xfrm>
              <a:off x="-22639" y="4333791"/>
              <a:ext cx="740524" cy="276999"/>
            </a:xfrm>
            <a:prstGeom prst="rect">
              <a:avLst/>
            </a:prstGeom>
            <a:noFill/>
          </p:spPr>
          <p:txBody>
            <a:bodyPr wrap="none" rtlCol="0">
              <a:spAutoFit/>
            </a:bodyPr>
            <a:lstStyle/>
            <a:p>
              <a:r>
                <a:rPr kumimoji="1" lang="en-US" altLang="zh-TW" sz="1200" dirty="0" err="1"/>
                <a:t>vm_start</a:t>
              </a:r>
              <a:endParaRPr kumimoji="1" lang="zh-TW" altLang="en-US" sz="1200" dirty="0"/>
            </a:p>
          </p:txBody>
        </p:sp>
        <p:sp>
          <p:nvSpPr>
            <p:cNvPr id="130" name="文字方塊 129">
              <a:extLst>
                <a:ext uri="{FF2B5EF4-FFF2-40B4-BE49-F238E27FC236}">
                  <a16:creationId xmlns:a16="http://schemas.microsoft.com/office/drawing/2014/main" id="{5D21541F-D0D7-3EA8-FF57-676E850A3FE0}"/>
                </a:ext>
              </a:extLst>
            </p:cNvPr>
            <p:cNvSpPr txBox="1"/>
            <p:nvPr/>
          </p:nvSpPr>
          <p:spPr>
            <a:xfrm>
              <a:off x="603894" y="4334168"/>
              <a:ext cx="691215" cy="276999"/>
            </a:xfrm>
            <a:prstGeom prst="rect">
              <a:avLst/>
            </a:prstGeom>
            <a:noFill/>
          </p:spPr>
          <p:txBody>
            <a:bodyPr wrap="none" rtlCol="0">
              <a:spAutoFit/>
            </a:bodyPr>
            <a:lstStyle/>
            <a:p>
              <a:r>
                <a:rPr kumimoji="1" lang="en-US" altLang="zh-TW" sz="1200" dirty="0" err="1"/>
                <a:t>vm_end</a:t>
              </a:r>
              <a:endParaRPr kumimoji="1" lang="zh-TW" altLang="en-US" sz="1200" dirty="0"/>
            </a:p>
          </p:txBody>
        </p:sp>
        <p:cxnSp>
          <p:nvCxnSpPr>
            <p:cNvPr id="135" name="直線箭頭接點 134">
              <a:extLst>
                <a:ext uri="{FF2B5EF4-FFF2-40B4-BE49-F238E27FC236}">
                  <a16:creationId xmlns:a16="http://schemas.microsoft.com/office/drawing/2014/main" id="{ECE4B247-BC49-0768-6135-F2A7EB2A57DB}"/>
                </a:ext>
              </a:extLst>
            </p:cNvPr>
            <p:cNvCxnSpPr>
              <a:cxnSpLocks/>
            </p:cNvCxnSpPr>
            <p:nvPr/>
          </p:nvCxnSpPr>
          <p:spPr>
            <a:xfrm>
              <a:off x="2203866" y="4879042"/>
              <a:ext cx="647496" cy="0"/>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136" name="文字方塊 135">
              <a:extLst>
                <a:ext uri="{FF2B5EF4-FFF2-40B4-BE49-F238E27FC236}">
                  <a16:creationId xmlns:a16="http://schemas.microsoft.com/office/drawing/2014/main" id="{233A7F6C-2501-250B-52FA-A1BBEB38818D}"/>
                </a:ext>
              </a:extLst>
            </p:cNvPr>
            <p:cNvSpPr txBox="1"/>
            <p:nvPr/>
          </p:nvSpPr>
          <p:spPr>
            <a:xfrm>
              <a:off x="2155372" y="4654180"/>
              <a:ext cx="727828" cy="276999"/>
            </a:xfrm>
            <a:prstGeom prst="rect">
              <a:avLst/>
            </a:prstGeom>
            <a:noFill/>
          </p:spPr>
          <p:txBody>
            <a:bodyPr wrap="none" rtlCol="0">
              <a:spAutoFit/>
            </a:bodyPr>
            <a:lstStyle/>
            <a:p>
              <a:r>
                <a:rPr kumimoji="1" lang="en-US" altLang="zh-TW" sz="1200" dirty="0" err="1"/>
                <a:t>vm_next</a:t>
              </a:r>
              <a:endParaRPr kumimoji="1" lang="zh-TW" altLang="en-US" sz="1200" dirty="0"/>
            </a:p>
          </p:txBody>
        </p:sp>
        <p:cxnSp>
          <p:nvCxnSpPr>
            <p:cNvPr id="137" name="直線箭頭接點 136">
              <a:extLst>
                <a:ext uri="{FF2B5EF4-FFF2-40B4-BE49-F238E27FC236}">
                  <a16:creationId xmlns:a16="http://schemas.microsoft.com/office/drawing/2014/main" id="{9FBBF334-82E8-4674-865B-178BAC2A9F6E}"/>
                </a:ext>
              </a:extLst>
            </p:cNvPr>
            <p:cNvCxnSpPr>
              <a:cxnSpLocks/>
            </p:cNvCxnSpPr>
            <p:nvPr/>
          </p:nvCxnSpPr>
          <p:spPr>
            <a:xfrm flipV="1">
              <a:off x="1571396" y="4327480"/>
              <a:ext cx="81320" cy="32221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39" name="直線箭頭接點 138">
              <a:extLst>
                <a:ext uri="{FF2B5EF4-FFF2-40B4-BE49-F238E27FC236}">
                  <a16:creationId xmlns:a16="http://schemas.microsoft.com/office/drawing/2014/main" id="{B052059B-B3A1-8DDC-5795-783648A93AC0}"/>
                </a:ext>
              </a:extLst>
            </p:cNvPr>
            <p:cNvCxnSpPr>
              <a:cxnSpLocks/>
            </p:cNvCxnSpPr>
            <p:nvPr/>
          </p:nvCxnSpPr>
          <p:spPr>
            <a:xfrm flipV="1">
              <a:off x="1750030" y="4319567"/>
              <a:ext cx="423147" cy="333291"/>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42" name="直線箭頭接點 141">
              <a:extLst>
                <a:ext uri="{FF2B5EF4-FFF2-40B4-BE49-F238E27FC236}">
                  <a16:creationId xmlns:a16="http://schemas.microsoft.com/office/drawing/2014/main" id="{F4880F1D-58BD-9477-0258-22313329EAC0}"/>
                </a:ext>
              </a:extLst>
            </p:cNvPr>
            <p:cNvCxnSpPr>
              <a:cxnSpLocks/>
            </p:cNvCxnSpPr>
            <p:nvPr/>
          </p:nvCxnSpPr>
          <p:spPr>
            <a:xfrm flipH="1" flipV="1">
              <a:off x="2862572" y="4327480"/>
              <a:ext cx="72794" cy="319841"/>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45" name="直線箭頭接點 144">
              <a:extLst>
                <a:ext uri="{FF2B5EF4-FFF2-40B4-BE49-F238E27FC236}">
                  <a16:creationId xmlns:a16="http://schemas.microsoft.com/office/drawing/2014/main" id="{7A3C88FD-E6EE-D2C0-2421-963799DA263D}"/>
                </a:ext>
              </a:extLst>
            </p:cNvPr>
            <p:cNvCxnSpPr>
              <a:cxnSpLocks/>
            </p:cNvCxnSpPr>
            <p:nvPr/>
          </p:nvCxnSpPr>
          <p:spPr>
            <a:xfrm flipV="1">
              <a:off x="3109317" y="4334168"/>
              <a:ext cx="522093" cy="317856"/>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71853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p:cTn id="6" dur="indefinite"/>
                                        <p:tgtEl>
                                          <p:spTgt spid="73"/>
                                        </p:tgtEl>
                                        <p:attrNameLst>
                                          <p:attrName>style.opacity</p:attrName>
                                        </p:attrNameLst>
                                      </p:cBhvr>
                                      <p:to>
                                        <p:strVal val="0.5"/>
                                      </p:to>
                                    </p:set>
                                    <p:animEffect filter="image" prLst="opacity: 0.5">
                                      <p:cBhvr rctx="IE">
                                        <p:cTn id="7" dur="indefinite"/>
                                        <p:tgtEl>
                                          <p:spTgt spid="73"/>
                                        </p:tgtEl>
                                      </p:cBhvr>
                                    </p:animEffect>
                                  </p:childTnLst>
                                </p:cTn>
                              </p:par>
                              <p:par>
                                <p:cTn id="8" presetID="9" presetClass="emph" presetSubtype="0" nodeType="withEffect">
                                  <p:stCondLst>
                                    <p:cond delay="0"/>
                                  </p:stCondLst>
                                  <p:childTnLst>
                                    <p:set>
                                      <p:cBhvr>
                                        <p:cTn id="9" dur="indefinite"/>
                                        <p:tgtEl>
                                          <p:spTgt spid="22"/>
                                        </p:tgtEl>
                                        <p:attrNameLst>
                                          <p:attrName>style.opacity</p:attrName>
                                        </p:attrNameLst>
                                      </p:cBhvr>
                                      <p:to>
                                        <p:strVal val="0.5"/>
                                      </p:to>
                                    </p:set>
                                    <p:animEffect filter="image" prLst="opacity: 0.5">
                                      <p:cBhvr rctx="IE">
                                        <p:cTn id="10" dur="indefinite"/>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4"/>
                                        </p:tgtEl>
                                        <p:attrNameLst>
                                          <p:attrName>style.visibility</p:attrName>
                                        </p:attrNameLst>
                                      </p:cBhvr>
                                      <p:to>
                                        <p:strVal val="visible"/>
                                      </p:to>
                                    </p:set>
                                    <p:animEffect transition="in" filter="fade">
                                      <p:cBhvr>
                                        <p:cTn id="15" dur="500"/>
                                        <p:tgtEl>
                                          <p:spTgt spid="9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52"/>
                                        </p:tgtEl>
                                        <p:attrNameLst>
                                          <p:attrName>style.visibility</p:attrName>
                                        </p:attrNameLst>
                                      </p:cBhvr>
                                      <p:to>
                                        <p:strVal val="visible"/>
                                      </p:to>
                                    </p:set>
                                    <p:animEffect transition="in" filter="wipe(left)">
                                      <p:cBhvr>
                                        <p:cTn id="20" dur="500"/>
                                        <p:tgtEl>
                                          <p:spTgt spid="5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92"/>
                                        </p:tgtEl>
                                        <p:attrNameLst>
                                          <p:attrName>style.visibility</p:attrName>
                                        </p:attrNameLst>
                                      </p:cBhvr>
                                      <p:to>
                                        <p:strVal val="visible"/>
                                      </p:to>
                                    </p:set>
                                    <p:animEffect transition="in" filter="wipe(left)">
                                      <p:cBhvr>
                                        <p:cTn id="25" dur="500"/>
                                        <p:tgtEl>
                                          <p:spTgt spid="9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95"/>
                                        </p:tgtEl>
                                        <p:attrNameLst>
                                          <p:attrName>style.visibility</p:attrName>
                                        </p:attrNameLst>
                                      </p:cBhvr>
                                      <p:to>
                                        <p:strVal val="visible"/>
                                      </p:to>
                                    </p:set>
                                    <p:animEffect transition="in" filter="fade">
                                      <p:cBhvr>
                                        <p:cTn id="30" dur="500"/>
                                        <p:tgtEl>
                                          <p:spTgt spid="9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96"/>
                                        </p:tgtEl>
                                        <p:attrNameLst>
                                          <p:attrName>style.visibility</p:attrName>
                                        </p:attrNameLst>
                                      </p:cBhvr>
                                      <p:to>
                                        <p:strVal val="visible"/>
                                      </p:to>
                                    </p:set>
                                    <p:animEffect transition="in" filter="fade">
                                      <p:cBhvr>
                                        <p:cTn id="35" dur="500"/>
                                        <p:tgtEl>
                                          <p:spTgt spid="9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7"/>
                                        </p:tgtEl>
                                        <p:attrNameLst>
                                          <p:attrName>style.visibility</p:attrName>
                                        </p:attrNameLst>
                                      </p:cBhvr>
                                      <p:to>
                                        <p:strVal val="visible"/>
                                      </p:to>
                                    </p:set>
                                    <p:animEffect transition="in" filter="fade">
                                      <p:cBhvr>
                                        <p:cTn id="40" dur="500"/>
                                        <p:tgtEl>
                                          <p:spTgt spid="97"/>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98"/>
                                        </p:tgtEl>
                                        <p:attrNameLst>
                                          <p:attrName>style.visibility</p:attrName>
                                        </p:attrNameLst>
                                      </p:cBhvr>
                                      <p:to>
                                        <p:strVal val="visible"/>
                                      </p:to>
                                    </p:set>
                                    <p:animEffect transition="in" filter="fade">
                                      <p:cBhvr>
                                        <p:cTn id="45" dur="500"/>
                                        <p:tgtEl>
                                          <p:spTgt spid="9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99"/>
                                        </p:tgtEl>
                                        <p:attrNameLst>
                                          <p:attrName>style.visibility</p:attrName>
                                        </p:attrNameLst>
                                      </p:cBhvr>
                                      <p:to>
                                        <p:strVal val="visible"/>
                                      </p:to>
                                    </p:set>
                                    <p:animEffect transition="in" filter="fade">
                                      <p:cBhvr>
                                        <p:cTn id="50" dur="500"/>
                                        <p:tgtEl>
                                          <p:spTgt spid="9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00"/>
                                        </p:tgtEl>
                                        <p:attrNameLst>
                                          <p:attrName>style.visibility</p:attrName>
                                        </p:attrNameLst>
                                      </p:cBhvr>
                                      <p:to>
                                        <p:strVal val="visible"/>
                                      </p:to>
                                    </p:set>
                                    <p:animEffect transition="in" filter="fade">
                                      <p:cBhvr>
                                        <p:cTn id="55" dur="500"/>
                                        <p:tgtEl>
                                          <p:spTgt spid="10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01"/>
                                        </p:tgtEl>
                                        <p:attrNameLst>
                                          <p:attrName>style.visibility</p:attrName>
                                        </p:attrNameLst>
                                      </p:cBhvr>
                                      <p:to>
                                        <p:strVal val="visible"/>
                                      </p:to>
                                    </p:set>
                                    <p:animEffect transition="in" filter="fade">
                                      <p:cBhvr>
                                        <p:cTn id="60" dur="500"/>
                                        <p:tgtEl>
                                          <p:spTgt spid="101"/>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02"/>
                                        </p:tgtEl>
                                        <p:attrNameLst>
                                          <p:attrName>style.visibility</p:attrName>
                                        </p:attrNameLst>
                                      </p:cBhvr>
                                      <p:to>
                                        <p:strVal val="visible"/>
                                      </p:to>
                                    </p:set>
                                    <p:animEffect transition="in" filter="fade">
                                      <p:cBhvr>
                                        <p:cTn id="65"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P spid="10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428D7E-FE83-23C9-4ACB-C2DEDEAF8273}"/>
              </a:ext>
            </a:extLst>
          </p:cNvPr>
          <p:cNvSpPr>
            <a:spLocks noGrp="1"/>
          </p:cNvSpPr>
          <p:nvPr>
            <p:ph type="title"/>
          </p:nvPr>
        </p:nvSpPr>
        <p:spPr/>
        <p:txBody>
          <a:bodyPr/>
          <a:lstStyle/>
          <a:p>
            <a:r>
              <a:rPr kumimoji="1" lang="en-US" altLang="zh-TW" dirty="0"/>
              <a:t>Virtual Memory Areas (VMA) (Count.)</a:t>
            </a:r>
            <a:endParaRPr kumimoji="1" lang="zh-TW" altLang="en-US" dirty="0"/>
          </a:p>
        </p:txBody>
      </p:sp>
      <p:sp>
        <p:nvSpPr>
          <p:cNvPr id="3" name="內容版面配置區 2">
            <a:extLst>
              <a:ext uri="{FF2B5EF4-FFF2-40B4-BE49-F238E27FC236}">
                <a16:creationId xmlns:a16="http://schemas.microsoft.com/office/drawing/2014/main" id="{FF97296C-0AB1-34EB-35A2-4E4BF0C2A682}"/>
              </a:ext>
            </a:extLst>
          </p:cNvPr>
          <p:cNvSpPr>
            <a:spLocks noGrp="1"/>
          </p:cNvSpPr>
          <p:nvPr>
            <p:ph idx="1"/>
          </p:nvPr>
        </p:nvSpPr>
        <p:spPr/>
        <p:txBody>
          <a:bodyPr/>
          <a:lstStyle/>
          <a:p>
            <a:r>
              <a:rPr kumimoji="1" lang="en-US" altLang="zh-TW" dirty="0"/>
              <a:t>The memory area (or VMA) structure (</a:t>
            </a:r>
            <a:r>
              <a:rPr kumimoji="1" lang="en-US" altLang="zh-TW" dirty="0" err="1">
                <a:latin typeface="+mj-lt"/>
              </a:rPr>
              <a:t>vm_area_struct</a:t>
            </a:r>
            <a:r>
              <a:rPr lang="en-US" altLang="zh-TW" dirty="0"/>
              <a:t>) </a:t>
            </a:r>
            <a:r>
              <a:rPr kumimoji="1" lang="en-US" altLang="zh-TW" dirty="0"/>
              <a:t>describes a single memory area over a </a:t>
            </a:r>
            <a:r>
              <a:rPr kumimoji="1" lang="en-US" altLang="zh-TW" dirty="0">
                <a:solidFill>
                  <a:srgbClr val="C00000"/>
                </a:solidFill>
              </a:rPr>
              <a:t>contiguous interval in a given virtual address space</a:t>
            </a:r>
            <a:r>
              <a:rPr kumimoji="1" lang="en-US" altLang="zh-TW" dirty="0"/>
              <a:t>.</a:t>
            </a:r>
          </a:p>
          <a:p>
            <a:r>
              <a:rPr kumimoji="1" lang="en-US" altLang="zh-TW" dirty="0"/>
              <a:t>Any </a:t>
            </a:r>
            <a:r>
              <a:rPr kumimoji="1" lang="en-US" altLang="zh-TW" dirty="0">
                <a:solidFill>
                  <a:srgbClr val="C00000"/>
                </a:solidFill>
              </a:rPr>
              <a:t>two VMAs cannot overlap </a:t>
            </a:r>
            <a:r>
              <a:rPr kumimoji="1" lang="en-US" altLang="zh-TW" dirty="0"/>
              <a:t>with each other. (Could call </a:t>
            </a:r>
            <a:r>
              <a:rPr lang="en-US" altLang="zh-TW" dirty="0"/>
              <a:t>the</a:t>
            </a:r>
            <a:r>
              <a:rPr kumimoji="1" lang="en-US" altLang="zh-TW" dirty="0"/>
              <a:t> </a:t>
            </a:r>
            <a:r>
              <a:rPr kumimoji="1" lang="en-US" altLang="zh-TW" dirty="0" err="1">
                <a:latin typeface="+mj-lt"/>
              </a:rPr>
              <a:t>find_VMA</a:t>
            </a:r>
            <a:r>
              <a:rPr kumimoji="1" lang="en-US" altLang="zh-TW" dirty="0">
                <a:latin typeface="+mj-lt"/>
              </a:rPr>
              <a:t>()</a:t>
            </a:r>
            <a:r>
              <a:rPr kumimoji="1" lang="en-US" altLang="zh-TW" dirty="0"/>
              <a:t> to </a:t>
            </a:r>
            <a:r>
              <a:rPr lang="en-US" altLang="zh-TW" dirty="0"/>
              <a:t>get the nearby VMAs. Checking the </a:t>
            </a:r>
            <a:r>
              <a:rPr kumimoji="1" lang="en-US" altLang="zh-TW" dirty="0" err="1">
                <a:latin typeface="+mj-lt"/>
              </a:rPr>
              <a:t>vm_end</a:t>
            </a:r>
            <a:r>
              <a:rPr kumimoji="1" lang="en-US" altLang="zh-TW" dirty="0">
                <a:latin typeface="+mj-lt"/>
              </a:rPr>
              <a:t> </a:t>
            </a:r>
            <a:r>
              <a:rPr kumimoji="1" lang="en-US" altLang="zh-TW" dirty="0"/>
              <a:t>field.)</a:t>
            </a:r>
          </a:p>
          <a:p>
            <a:pPr lvl="1"/>
            <a:r>
              <a:rPr lang="en-US" altLang="zh-TW" dirty="0">
                <a:solidFill>
                  <a:srgbClr val="C00000"/>
                </a:solidFill>
              </a:rPr>
              <a:t>Merge two VMAs </a:t>
            </a:r>
            <a:r>
              <a:rPr lang="en-US" altLang="zh-TW" dirty="0"/>
              <a:t>if they overlap with each others.</a:t>
            </a:r>
          </a:p>
          <a:p>
            <a:r>
              <a:rPr lang="en-US" altLang="zh-TW" dirty="0"/>
              <a:t>How to create or expand a VMA: </a:t>
            </a:r>
            <a:r>
              <a:rPr lang="en-US" altLang="zh-TW" dirty="0" err="1">
                <a:latin typeface="+mj-lt"/>
              </a:rPr>
              <a:t>do_mmap</a:t>
            </a:r>
            <a:r>
              <a:rPr lang="en-US" altLang="zh-TW" dirty="0">
                <a:latin typeface="+mj-lt"/>
              </a:rPr>
              <a:t>() </a:t>
            </a:r>
            <a:r>
              <a:rPr lang="en-US" altLang="zh-TW" dirty="0"/>
              <a:t>is the function used to </a:t>
            </a:r>
            <a:r>
              <a:rPr lang="en-US" altLang="zh-TW" dirty="0">
                <a:solidFill>
                  <a:srgbClr val="C00000"/>
                </a:solidFill>
              </a:rPr>
              <a:t>add an address interval to a process’s address space</a:t>
            </a:r>
            <a:r>
              <a:rPr lang="en-US" altLang="zh-TW" dirty="0"/>
              <a:t>—whether that means </a:t>
            </a:r>
            <a:r>
              <a:rPr lang="en-US" altLang="zh-TW" dirty="0">
                <a:solidFill>
                  <a:srgbClr val="C00000"/>
                </a:solidFill>
              </a:rPr>
              <a:t>expanding </a:t>
            </a:r>
            <a:r>
              <a:rPr lang="en-US" altLang="zh-TW" dirty="0"/>
              <a:t>an existing memory area </a:t>
            </a:r>
            <a:r>
              <a:rPr lang="en-US" altLang="zh-TW" dirty="0">
                <a:solidFill>
                  <a:srgbClr val="C00000"/>
                </a:solidFill>
              </a:rPr>
              <a:t>or creating </a:t>
            </a:r>
            <a:r>
              <a:rPr lang="en-US" altLang="zh-TW" dirty="0"/>
              <a:t>a new one.</a:t>
            </a:r>
            <a:endParaRPr kumimoji="1" lang="zh-TW" altLang="en-US" dirty="0"/>
          </a:p>
        </p:txBody>
      </p:sp>
      <p:sp>
        <p:nvSpPr>
          <p:cNvPr id="4" name="投影片編號版面配置區 3">
            <a:extLst>
              <a:ext uri="{FF2B5EF4-FFF2-40B4-BE49-F238E27FC236}">
                <a16:creationId xmlns:a16="http://schemas.microsoft.com/office/drawing/2014/main" id="{21869C81-76C6-C0E6-E701-8D727517B833}"/>
              </a:ext>
            </a:extLst>
          </p:cNvPr>
          <p:cNvSpPr>
            <a:spLocks noGrp="1"/>
          </p:cNvSpPr>
          <p:nvPr>
            <p:ph type="sldNum" sz="quarter" idx="4"/>
          </p:nvPr>
        </p:nvSpPr>
        <p:spPr/>
        <p:txBody>
          <a:bodyPr/>
          <a:lstStyle/>
          <a:p>
            <a:fld id="{E24E6636-6BA5-4AAC-8485-BE8D914D288B}" type="slidenum">
              <a:rPr lang="zh-TW" altLang="en-US" smtClean="0"/>
              <a:pPr/>
              <a:t>29</a:t>
            </a:fld>
            <a:endParaRPr lang="zh-TW" altLang="en-US" dirty="0"/>
          </a:p>
        </p:txBody>
      </p:sp>
      <p:grpSp>
        <p:nvGrpSpPr>
          <p:cNvPr id="19" name="群組 18">
            <a:extLst>
              <a:ext uri="{FF2B5EF4-FFF2-40B4-BE49-F238E27FC236}">
                <a16:creationId xmlns:a16="http://schemas.microsoft.com/office/drawing/2014/main" id="{938A596C-64EB-A85F-8F51-5B7799621BBF}"/>
              </a:ext>
            </a:extLst>
          </p:cNvPr>
          <p:cNvGrpSpPr/>
          <p:nvPr/>
        </p:nvGrpSpPr>
        <p:grpSpPr>
          <a:xfrm>
            <a:off x="700037" y="4714982"/>
            <a:ext cx="11314163" cy="1965218"/>
            <a:chOff x="615898" y="4698724"/>
            <a:chExt cx="11314163" cy="1965218"/>
          </a:xfrm>
        </p:grpSpPr>
        <p:sp>
          <p:nvSpPr>
            <p:cNvPr id="6" name="文字方塊 5">
              <a:extLst>
                <a:ext uri="{FF2B5EF4-FFF2-40B4-BE49-F238E27FC236}">
                  <a16:creationId xmlns:a16="http://schemas.microsoft.com/office/drawing/2014/main" id="{E4E0F161-35C9-06E0-314D-229390E6B764}"/>
                </a:ext>
              </a:extLst>
            </p:cNvPr>
            <p:cNvSpPr txBox="1"/>
            <p:nvPr/>
          </p:nvSpPr>
          <p:spPr>
            <a:xfrm>
              <a:off x="615898" y="5296584"/>
              <a:ext cx="11314163" cy="646331"/>
            </a:xfrm>
            <a:prstGeom prst="rect">
              <a:avLst/>
            </a:prstGeom>
            <a:noFill/>
          </p:spPr>
          <p:txBody>
            <a:bodyPr wrap="square">
              <a:spAutoFit/>
            </a:bodyPr>
            <a:lstStyle/>
            <a:p>
              <a:r>
                <a:rPr lang="en-US" altLang="zh-TW" sz="1800" dirty="0">
                  <a:effectLst/>
                  <a:latin typeface="Courier" pitchFamily="2" charset="0"/>
                </a:rPr>
                <a:t>unsigned long </a:t>
              </a:r>
              <a:r>
                <a:rPr lang="en-US" altLang="zh-TW" sz="1800" dirty="0" err="1">
                  <a:effectLst/>
                  <a:latin typeface="Courier" pitchFamily="2" charset="0"/>
                </a:rPr>
                <a:t>do_mmap</a:t>
              </a:r>
              <a:r>
                <a:rPr lang="en-US" altLang="zh-TW" sz="1800" dirty="0">
                  <a:effectLst/>
                  <a:latin typeface="Courier" pitchFamily="2" charset="0"/>
                </a:rPr>
                <a:t>(struct file *file, unsigned long </a:t>
              </a:r>
              <a:r>
                <a:rPr lang="en-US" altLang="zh-TW" sz="1800" dirty="0" err="1">
                  <a:effectLst/>
                  <a:latin typeface="Courier" pitchFamily="2" charset="0"/>
                </a:rPr>
                <a:t>addr</a:t>
              </a:r>
              <a:r>
                <a:rPr lang="en-US" altLang="zh-TW" sz="1800" dirty="0">
                  <a:effectLst/>
                  <a:latin typeface="Courier" pitchFamily="2" charset="0"/>
                </a:rPr>
                <a:t>, unsigned long </a:t>
              </a:r>
              <a:r>
                <a:rPr lang="en-US" altLang="zh-TW" sz="1800" dirty="0" err="1">
                  <a:effectLst/>
                  <a:latin typeface="Courier" pitchFamily="2" charset="0"/>
                </a:rPr>
                <a:t>len</a:t>
              </a:r>
              <a:r>
                <a:rPr lang="en-US" altLang="zh-TW" sz="1800" dirty="0">
                  <a:effectLst/>
                  <a:latin typeface="Courier" pitchFamily="2" charset="0"/>
                </a:rPr>
                <a:t>, unsigned long </a:t>
              </a:r>
              <a:r>
                <a:rPr lang="en-US" altLang="zh-TW" sz="1800" dirty="0" err="1">
                  <a:effectLst/>
                  <a:latin typeface="Courier" pitchFamily="2" charset="0"/>
                </a:rPr>
                <a:t>prot</a:t>
              </a:r>
              <a:r>
                <a:rPr lang="en-US" altLang="zh-TW" sz="1800" dirty="0">
                  <a:effectLst/>
                  <a:latin typeface="Courier" pitchFamily="2" charset="0"/>
                </a:rPr>
                <a:t>, unsigned long flag, unsigned long offset) </a:t>
              </a:r>
              <a:endParaRPr lang="en-US" altLang="zh-TW" dirty="0"/>
            </a:p>
          </p:txBody>
        </p:sp>
        <p:sp>
          <p:nvSpPr>
            <p:cNvPr id="7" name="文字方塊 6">
              <a:extLst>
                <a:ext uri="{FF2B5EF4-FFF2-40B4-BE49-F238E27FC236}">
                  <a16:creationId xmlns:a16="http://schemas.microsoft.com/office/drawing/2014/main" id="{F6B0BFEF-6748-A43F-A22B-3A2C60901901}"/>
                </a:ext>
              </a:extLst>
            </p:cNvPr>
            <p:cNvSpPr txBox="1"/>
            <p:nvPr/>
          </p:nvSpPr>
          <p:spPr>
            <a:xfrm>
              <a:off x="2451602" y="4698724"/>
              <a:ext cx="3108543" cy="369332"/>
            </a:xfrm>
            <a:prstGeom prst="rect">
              <a:avLst/>
            </a:prstGeom>
            <a:noFill/>
          </p:spPr>
          <p:txBody>
            <a:bodyPr wrap="none" rtlCol="0">
              <a:spAutoFit/>
            </a:bodyPr>
            <a:lstStyle/>
            <a:p>
              <a:r>
                <a:rPr kumimoji="1" lang="en-US" altLang="zh-TW" b="1" dirty="0">
                  <a:solidFill>
                    <a:srgbClr val="0070C0"/>
                  </a:solidFill>
                </a:rPr>
                <a:t>No file &amp; offset </a:t>
              </a:r>
              <a:r>
                <a:rPr kumimoji="1" lang="en-US" altLang="zh-TW" b="1" dirty="0">
                  <a:solidFill>
                    <a:srgbClr val="0070C0"/>
                  </a:solidFill>
                  <a:sym typeface="Wingdings" pitchFamily="2" charset="2"/>
                </a:rPr>
                <a:t> Anonymous</a:t>
              </a:r>
              <a:endParaRPr kumimoji="1" lang="zh-TW" altLang="en-US" b="1" dirty="0">
                <a:solidFill>
                  <a:srgbClr val="0070C0"/>
                </a:solidFill>
              </a:endParaRPr>
            </a:p>
          </p:txBody>
        </p:sp>
        <p:cxnSp>
          <p:nvCxnSpPr>
            <p:cNvPr id="9" name="曲線接點 8">
              <a:extLst>
                <a:ext uri="{FF2B5EF4-FFF2-40B4-BE49-F238E27FC236}">
                  <a16:creationId xmlns:a16="http://schemas.microsoft.com/office/drawing/2014/main" id="{70AD1B25-D967-C20C-C4A2-7FC11B0BBCB7}"/>
                </a:ext>
              </a:extLst>
            </p:cNvPr>
            <p:cNvCxnSpPr>
              <a:cxnSpLocks/>
            </p:cNvCxnSpPr>
            <p:nvPr/>
          </p:nvCxnSpPr>
          <p:spPr>
            <a:xfrm>
              <a:off x="5220043" y="5043626"/>
              <a:ext cx="340102" cy="330467"/>
            </a:xfrm>
            <a:prstGeom prst="curvedConnector3">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31A46261-B801-B935-4AF1-0CE2EF35F7BA}"/>
                </a:ext>
              </a:extLst>
            </p:cNvPr>
            <p:cNvSpPr txBox="1"/>
            <p:nvPr/>
          </p:nvSpPr>
          <p:spPr>
            <a:xfrm>
              <a:off x="5763135" y="4698724"/>
              <a:ext cx="4164282" cy="369332"/>
            </a:xfrm>
            <a:prstGeom prst="rect">
              <a:avLst/>
            </a:prstGeom>
            <a:noFill/>
          </p:spPr>
          <p:txBody>
            <a:bodyPr wrap="none" rtlCol="0">
              <a:spAutoFit/>
            </a:bodyPr>
            <a:lstStyle/>
            <a:p>
              <a:r>
                <a:rPr kumimoji="1" lang="en-US" altLang="zh-TW" b="1" dirty="0">
                  <a:solidFill>
                    <a:srgbClr val="0070C0"/>
                  </a:solidFill>
                </a:rPr>
                <a:t>Initial Address for Finding Available Space</a:t>
              </a:r>
              <a:endParaRPr kumimoji="1" lang="zh-TW" altLang="en-US" b="1" dirty="0">
                <a:solidFill>
                  <a:srgbClr val="0070C0"/>
                </a:solidFill>
              </a:endParaRPr>
            </a:p>
          </p:txBody>
        </p:sp>
        <p:cxnSp>
          <p:nvCxnSpPr>
            <p:cNvPr id="13" name="曲線接點 12">
              <a:extLst>
                <a:ext uri="{FF2B5EF4-FFF2-40B4-BE49-F238E27FC236}">
                  <a16:creationId xmlns:a16="http://schemas.microsoft.com/office/drawing/2014/main" id="{9C037BED-01A0-D7F3-1F28-202103E745EB}"/>
                </a:ext>
              </a:extLst>
            </p:cNvPr>
            <p:cNvCxnSpPr>
              <a:cxnSpLocks/>
            </p:cNvCxnSpPr>
            <p:nvPr/>
          </p:nvCxnSpPr>
          <p:spPr>
            <a:xfrm>
              <a:off x="8115381" y="5043626"/>
              <a:ext cx="340102" cy="330467"/>
            </a:xfrm>
            <a:prstGeom prst="curvedConnector3">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曲線接點 13">
              <a:extLst>
                <a:ext uri="{FF2B5EF4-FFF2-40B4-BE49-F238E27FC236}">
                  <a16:creationId xmlns:a16="http://schemas.microsoft.com/office/drawing/2014/main" id="{CEC34007-96FF-69C4-0332-79AACFB57866}"/>
                </a:ext>
              </a:extLst>
            </p:cNvPr>
            <p:cNvCxnSpPr>
              <a:cxnSpLocks/>
            </p:cNvCxnSpPr>
            <p:nvPr/>
          </p:nvCxnSpPr>
          <p:spPr>
            <a:xfrm rot="5400000" flipH="1" flipV="1">
              <a:off x="2555662" y="5942120"/>
              <a:ext cx="416422" cy="322451"/>
            </a:xfrm>
            <a:prstGeom prst="curvedConnector3">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6" name="文字方塊 15">
              <a:extLst>
                <a:ext uri="{FF2B5EF4-FFF2-40B4-BE49-F238E27FC236}">
                  <a16:creationId xmlns:a16="http://schemas.microsoft.com/office/drawing/2014/main" id="{14611D95-0560-51B6-ABD6-C9032F574178}"/>
                </a:ext>
              </a:extLst>
            </p:cNvPr>
            <p:cNvSpPr txBox="1"/>
            <p:nvPr/>
          </p:nvSpPr>
          <p:spPr>
            <a:xfrm>
              <a:off x="1987190" y="6294610"/>
              <a:ext cx="1230914" cy="369332"/>
            </a:xfrm>
            <a:prstGeom prst="rect">
              <a:avLst/>
            </a:prstGeom>
            <a:noFill/>
          </p:spPr>
          <p:txBody>
            <a:bodyPr wrap="none" rtlCol="0">
              <a:spAutoFit/>
            </a:bodyPr>
            <a:lstStyle/>
            <a:p>
              <a:r>
                <a:rPr kumimoji="1" lang="en-US" altLang="zh-TW" b="1" dirty="0">
                  <a:solidFill>
                    <a:srgbClr val="0070C0"/>
                  </a:solidFill>
                </a:rPr>
                <a:t>Permission</a:t>
              </a:r>
              <a:endParaRPr kumimoji="1" lang="zh-TW" altLang="en-US" b="1" dirty="0">
                <a:solidFill>
                  <a:srgbClr val="0070C0"/>
                </a:solidFill>
              </a:endParaRPr>
            </a:p>
          </p:txBody>
        </p:sp>
        <p:cxnSp>
          <p:nvCxnSpPr>
            <p:cNvPr id="17" name="曲線接點 16">
              <a:extLst>
                <a:ext uri="{FF2B5EF4-FFF2-40B4-BE49-F238E27FC236}">
                  <a16:creationId xmlns:a16="http://schemas.microsoft.com/office/drawing/2014/main" id="{84E83743-254D-A3C9-244B-652754123552}"/>
                </a:ext>
              </a:extLst>
            </p:cNvPr>
            <p:cNvCxnSpPr>
              <a:cxnSpLocks/>
            </p:cNvCxnSpPr>
            <p:nvPr/>
          </p:nvCxnSpPr>
          <p:spPr>
            <a:xfrm rot="5400000" flipH="1" flipV="1">
              <a:off x="8068396" y="5934488"/>
              <a:ext cx="416422" cy="322451"/>
            </a:xfrm>
            <a:prstGeom prst="curvedConnector3">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8" name="文字方塊 17">
              <a:extLst>
                <a:ext uri="{FF2B5EF4-FFF2-40B4-BE49-F238E27FC236}">
                  <a16:creationId xmlns:a16="http://schemas.microsoft.com/office/drawing/2014/main" id="{3B16A492-BCC5-8CD3-AAF4-C7CE4FB99988}"/>
                </a:ext>
              </a:extLst>
            </p:cNvPr>
            <p:cNvSpPr txBox="1"/>
            <p:nvPr/>
          </p:nvSpPr>
          <p:spPr>
            <a:xfrm>
              <a:off x="7536857" y="6253052"/>
              <a:ext cx="1157048" cy="369332"/>
            </a:xfrm>
            <a:prstGeom prst="rect">
              <a:avLst/>
            </a:prstGeom>
            <a:noFill/>
          </p:spPr>
          <p:txBody>
            <a:bodyPr wrap="none" rtlCol="0">
              <a:spAutoFit/>
            </a:bodyPr>
            <a:lstStyle/>
            <a:p>
              <a:r>
                <a:rPr kumimoji="1" lang="en-US" altLang="zh-TW" b="1" dirty="0">
                  <a:solidFill>
                    <a:srgbClr val="0070C0"/>
                  </a:solidFill>
                </a:rPr>
                <a:t>File Offset</a:t>
              </a:r>
              <a:endParaRPr kumimoji="1" lang="zh-TW" altLang="en-US" b="1" dirty="0">
                <a:solidFill>
                  <a:srgbClr val="0070C0"/>
                </a:solidFill>
              </a:endParaRPr>
            </a:p>
          </p:txBody>
        </p:sp>
      </p:grpSp>
    </p:spTree>
    <p:extLst>
      <p:ext uri="{BB962C8B-B14F-4D97-AF65-F5344CB8AC3E}">
        <p14:creationId xmlns:p14="http://schemas.microsoft.com/office/powerpoint/2010/main" val="2984694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p:cTn id="6" dur="indefinite"/>
                                        <p:tgtEl>
                                          <p:spTgt spid="3">
                                            <p:txEl>
                                              <p:pRg st="0" end="0"/>
                                            </p:txEl>
                                          </p:spTgt>
                                        </p:tgtEl>
                                        <p:attrNameLst>
                                          <p:attrName>style.opacity</p:attrName>
                                        </p:attrNameLst>
                                      </p:cBhvr>
                                      <p:to>
                                        <p:strVal val="0.5"/>
                                      </p:to>
                                    </p:set>
                                    <p:animEffect filter="image" prLst="opacity: 0.5">
                                      <p:cBhvr rctx="IE">
                                        <p:cTn id="7" dur="indefinite"/>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left)">
                                      <p:cBhvr>
                                        <p:cTn id="2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428D7E-FE83-23C9-4ACB-C2DEDEAF8273}"/>
              </a:ext>
            </a:extLst>
          </p:cNvPr>
          <p:cNvSpPr>
            <a:spLocks noGrp="1"/>
          </p:cNvSpPr>
          <p:nvPr>
            <p:ph type="title"/>
          </p:nvPr>
        </p:nvSpPr>
        <p:spPr/>
        <p:txBody>
          <a:bodyPr/>
          <a:lstStyle/>
          <a:p>
            <a:r>
              <a:rPr lang="en-US" altLang="zh-TW" dirty="0"/>
              <a:t>Page Tables</a:t>
            </a:r>
            <a:endParaRPr kumimoji="1" lang="zh-TW" altLang="en-US" dirty="0"/>
          </a:p>
        </p:txBody>
      </p:sp>
      <p:sp>
        <p:nvSpPr>
          <p:cNvPr id="3" name="內容版面配置區 2">
            <a:extLst>
              <a:ext uri="{FF2B5EF4-FFF2-40B4-BE49-F238E27FC236}">
                <a16:creationId xmlns:a16="http://schemas.microsoft.com/office/drawing/2014/main" id="{FF97296C-0AB1-34EB-35A2-4E4BF0C2A682}"/>
              </a:ext>
            </a:extLst>
          </p:cNvPr>
          <p:cNvSpPr>
            <a:spLocks noGrp="1"/>
          </p:cNvSpPr>
          <p:nvPr>
            <p:ph idx="1"/>
          </p:nvPr>
        </p:nvSpPr>
        <p:spPr/>
        <p:txBody>
          <a:bodyPr>
            <a:normAutofit/>
          </a:bodyPr>
          <a:lstStyle/>
          <a:p>
            <a:pPr algn="l"/>
            <a:r>
              <a:rPr kumimoji="1" lang="en-US" altLang="zh-TW" dirty="0"/>
              <a:t>For </a:t>
            </a:r>
            <a:r>
              <a:rPr lang="en-US" altLang="zh-TW" dirty="0"/>
              <a:t>systems with</a:t>
            </a:r>
            <a:r>
              <a:rPr kumimoji="1" lang="en-US" altLang="zh-TW" dirty="0"/>
              <a:t> virtual memory management (or MMU), </a:t>
            </a:r>
            <a:r>
              <a:rPr kumimoji="1" lang="en-US" altLang="zh-TW" dirty="0">
                <a:solidFill>
                  <a:srgbClr val="C00000"/>
                </a:solidFill>
              </a:rPr>
              <a:t>all virtual addresses shall be converted to physical addresses</a:t>
            </a:r>
            <a:r>
              <a:rPr kumimoji="1" lang="en-US" altLang="zh-TW" dirty="0"/>
              <a:t> before being accessed.</a:t>
            </a:r>
          </a:p>
          <a:p>
            <a:pPr algn="l"/>
            <a:r>
              <a:rPr lang="en-US" altLang="zh-TW" dirty="0"/>
              <a:t>Page Tables take the responsibility for address translations.</a:t>
            </a:r>
          </a:p>
          <a:p>
            <a:pPr lvl="1" algn="l"/>
            <a:r>
              <a:rPr lang="en-US" altLang="zh-TW" dirty="0"/>
              <a:t>E</a:t>
            </a:r>
            <a:r>
              <a:rPr kumimoji="1" lang="en-US" altLang="zh-TW" dirty="0"/>
              <a:t>ach page </a:t>
            </a:r>
            <a:r>
              <a:rPr lang="en-US" altLang="zh-TW" dirty="0"/>
              <a:t>t</a:t>
            </a:r>
            <a:r>
              <a:rPr kumimoji="1" lang="en-US" altLang="zh-TW" dirty="0"/>
              <a:t>able comprises a bunch </a:t>
            </a:r>
            <a:r>
              <a:rPr kumimoji="1" lang="en-US" altLang="zh-TW" dirty="0">
                <a:solidFill>
                  <a:srgbClr val="C00000"/>
                </a:solidFill>
              </a:rPr>
              <a:t>of 8B page table entries (PTE) </a:t>
            </a:r>
            <a:r>
              <a:rPr kumimoji="1" lang="en-US" altLang="zh-TW" dirty="0"/>
              <a:t>on 64-bit systems.</a:t>
            </a:r>
          </a:p>
          <a:p>
            <a:pPr lvl="1" algn="l"/>
            <a:r>
              <a:rPr lang="en-US" altLang="zh-TW" dirty="0"/>
              <a:t>Size of page table is proportional to the memory size. (</a:t>
            </a:r>
            <a:r>
              <a:rPr lang="en-US" altLang="zh-TW" dirty="0">
                <a:solidFill>
                  <a:srgbClr val="C00000"/>
                </a:solidFill>
              </a:rPr>
              <a:t>Larger Memory, More PTEs</a:t>
            </a:r>
            <a:r>
              <a:rPr lang="en-US" altLang="zh-TW" dirty="0"/>
              <a:t>)</a:t>
            </a:r>
          </a:p>
          <a:p>
            <a:pPr lvl="1" algn="l"/>
            <a:r>
              <a:rPr kumimoji="1" lang="en-US" altLang="zh-TW" dirty="0"/>
              <a:t>Linux uses </a:t>
            </a:r>
            <a:r>
              <a:rPr kumimoji="1" lang="en-US" altLang="zh-TW" dirty="0">
                <a:solidFill>
                  <a:srgbClr val="C00000"/>
                </a:solidFill>
              </a:rPr>
              <a:t>multi-level page tables</a:t>
            </a:r>
            <a:r>
              <a:rPr kumimoji="1" lang="en-US" altLang="zh-TW" dirty="0"/>
              <a:t>. (4-level for 64-bit systems)</a:t>
            </a:r>
          </a:p>
          <a:p>
            <a:pPr lvl="1" algn="l"/>
            <a:r>
              <a:rPr lang="en-US" altLang="zh-TW" dirty="0"/>
              <a:t>Without optimization, CPU shall access memory for looking up a page table each time.</a:t>
            </a:r>
          </a:p>
          <a:p>
            <a:pPr lvl="1" algn="l"/>
            <a:r>
              <a:rPr lang="en-US" altLang="zh-TW" dirty="0"/>
              <a:t>TLB is a hardware cache </a:t>
            </a:r>
            <a:r>
              <a:rPr lang="en-US" altLang="zh-TW" dirty="0">
                <a:solidFill>
                  <a:srgbClr val="C00000"/>
                </a:solidFill>
              </a:rPr>
              <a:t>to keep the mapping</a:t>
            </a:r>
            <a:r>
              <a:rPr lang="en-US" altLang="zh-TW" dirty="0"/>
              <a:t> between the VA/PA in the CPU.</a:t>
            </a:r>
          </a:p>
          <a:p>
            <a:pPr algn="l"/>
            <a:r>
              <a:rPr kumimoji="1" lang="en-US" altLang="zh-TW" dirty="0"/>
              <a:t>CPU raises a page fault when a process </a:t>
            </a:r>
            <a:r>
              <a:rPr kumimoji="1" lang="en-US" altLang="zh-TW" dirty="0">
                <a:solidFill>
                  <a:srgbClr val="C00000"/>
                </a:solidFill>
              </a:rPr>
              <a:t>accesses a memory page without proper preparations</a:t>
            </a:r>
            <a:r>
              <a:rPr kumimoji="1" lang="en-US" altLang="zh-TW" dirty="0"/>
              <a:t>.</a:t>
            </a:r>
          </a:p>
          <a:p>
            <a:pPr lvl="1" algn="l"/>
            <a:r>
              <a:rPr lang="en-US" altLang="zh-TW" dirty="0"/>
              <a:t>Minor Page Fault: </a:t>
            </a:r>
            <a:r>
              <a:rPr lang="en-US" altLang="zh-TW" dirty="0">
                <a:solidFill>
                  <a:srgbClr val="C00000"/>
                </a:solidFill>
              </a:rPr>
              <a:t>Page is already in the memory </a:t>
            </a:r>
            <a:r>
              <a:rPr lang="en-US" altLang="zh-TW" dirty="0"/>
              <a:t>but is not marked in the MMU as being loaded in memory. (e.g., malloc() allocates physical addresses once being touched)</a:t>
            </a:r>
          </a:p>
          <a:p>
            <a:pPr lvl="1" algn="l"/>
            <a:r>
              <a:rPr kumimoji="1" lang="en-US" altLang="zh-TW" dirty="0"/>
              <a:t>Major Page Fault: Page is not in the memory. (May cause </a:t>
            </a:r>
            <a:r>
              <a:rPr kumimoji="1" lang="en-US" altLang="zh-TW" dirty="0">
                <a:solidFill>
                  <a:srgbClr val="C00000"/>
                </a:solidFill>
              </a:rPr>
              <a:t>expensive I/O movement costs</a:t>
            </a:r>
            <a:r>
              <a:rPr kumimoji="1" lang="en-US" altLang="zh-TW" dirty="0"/>
              <a:t>)</a:t>
            </a:r>
          </a:p>
        </p:txBody>
      </p:sp>
      <p:sp>
        <p:nvSpPr>
          <p:cNvPr id="4" name="投影片編號版面配置區 3">
            <a:extLst>
              <a:ext uri="{FF2B5EF4-FFF2-40B4-BE49-F238E27FC236}">
                <a16:creationId xmlns:a16="http://schemas.microsoft.com/office/drawing/2014/main" id="{21869C81-76C6-C0E6-E701-8D727517B833}"/>
              </a:ext>
            </a:extLst>
          </p:cNvPr>
          <p:cNvSpPr>
            <a:spLocks noGrp="1"/>
          </p:cNvSpPr>
          <p:nvPr>
            <p:ph type="sldNum" sz="quarter" idx="4"/>
          </p:nvPr>
        </p:nvSpPr>
        <p:spPr/>
        <p:txBody>
          <a:bodyPr/>
          <a:lstStyle/>
          <a:p>
            <a:fld id="{E24E6636-6BA5-4AAC-8485-BE8D914D288B}" type="slidenum">
              <a:rPr lang="zh-TW" altLang="en-US" smtClean="0"/>
              <a:pPr/>
              <a:t>30</a:t>
            </a:fld>
            <a:endParaRPr lang="zh-TW" altLang="en-US" dirty="0"/>
          </a:p>
        </p:txBody>
      </p:sp>
    </p:spTree>
    <p:extLst>
      <p:ext uri="{BB962C8B-B14F-4D97-AF65-F5344CB8AC3E}">
        <p14:creationId xmlns:p14="http://schemas.microsoft.com/office/powerpoint/2010/main" val="430884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fade">
                                      <p:cBhvr>
                                        <p:cTn id="33" dur="500"/>
                                        <p:tgtEl>
                                          <p:spTgt spid="3">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fade">
                                      <p:cBhvr>
                                        <p:cTn id="38" dur="500"/>
                                        <p:tgtEl>
                                          <p:spTgt spid="3">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fade">
                                      <p:cBhvr>
                                        <p:cTn id="43"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17F03B74-9ED7-5240-1161-035EF324D4E2}"/>
              </a:ext>
            </a:extLst>
          </p:cNvPr>
          <p:cNvSpPr>
            <a:spLocks noGrp="1"/>
          </p:cNvSpPr>
          <p:nvPr>
            <p:ph idx="1"/>
          </p:nvPr>
        </p:nvSpPr>
        <p:spPr>
          <a:xfrm>
            <a:off x="177800" y="1238250"/>
            <a:ext cx="11836400" cy="5441950"/>
          </a:xfrm>
        </p:spPr>
        <p:txBody>
          <a:bodyPr/>
          <a:lstStyle/>
          <a:p>
            <a:pPr algn="l"/>
            <a:r>
              <a:rPr lang="en-US" altLang="zh-TW" dirty="0"/>
              <a:t>Let’s take</a:t>
            </a:r>
            <a:r>
              <a:rPr kumimoji="1" lang="en-US" altLang="zh-TW" dirty="0"/>
              <a:t> </a:t>
            </a:r>
            <a:r>
              <a:rPr kumimoji="1" lang="en-US" altLang="zh-TW" dirty="0">
                <a:solidFill>
                  <a:srgbClr val="C00000"/>
                </a:solidFill>
              </a:rPr>
              <a:t>64-bit systems </a:t>
            </a:r>
            <a:r>
              <a:rPr kumimoji="1" lang="en-US" altLang="zh-TW" dirty="0"/>
              <a:t>as an example. (Actually, </a:t>
            </a:r>
            <a:r>
              <a:rPr kumimoji="1" lang="en-US" altLang="zh-TW" dirty="0">
                <a:solidFill>
                  <a:srgbClr val="C00000"/>
                </a:solidFill>
              </a:rPr>
              <a:t>only use 48bits</a:t>
            </a:r>
            <a:r>
              <a:rPr kumimoji="1" lang="en-US" altLang="zh-TW" dirty="0"/>
              <a:t>)</a:t>
            </a:r>
          </a:p>
          <a:p>
            <a:pPr algn="l"/>
            <a:r>
              <a:rPr lang="en-US" altLang="zh-TW" dirty="0"/>
              <a:t>The base address of PGD is maintained in </a:t>
            </a:r>
            <a:r>
              <a:rPr lang="en-US" altLang="zh-TW" dirty="0">
                <a:solidFill>
                  <a:srgbClr val="C00000"/>
                </a:solidFill>
              </a:rPr>
              <a:t>CPU’s CR3 register</a:t>
            </a:r>
            <a:r>
              <a:rPr lang="en-US" altLang="zh-TW" dirty="0"/>
              <a:t>. </a:t>
            </a:r>
          </a:p>
          <a:p>
            <a:pPr lvl="1" algn="l"/>
            <a:r>
              <a:rPr lang="en-US" altLang="zh-TW" dirty="0"/>
              <a:t>CPU can walk automatically. Or kernel code can also walk it.</a:t>
            </a:r>
            <a:endParaRPr kumimoji="1" lang="zh-TW" altLang="en-US" dirty="0"/>
          </a:p>
        </p:txBody>
      </p:sp>
      <p:sp>
        <p:nvSpPr>
          <p:cNvPr id="2" name="標題 1">
            <a:extLst>
              <a:ext uri="{FF2B5EF4-FFF2-40B4-BE49-F238E27FC236}">
                <a16:creationId xmlns:a16="http://schemas.microsoft.com/office/drawing/2014/main" id="{4E19E1CB-1213-D371-FCE5-A9F0D10F8B7E}"/>
              </a:ext>
            </a:extLst>
          </p:cNvPr>
          <p:cNvSpPr>
            <a:spLocks noGrp="1"/>
          </p:cNvSpPr>
          <p:nvPr>
            <p:ph type="title"/>
          </p:nvPr>
        </p:nvSpPr>
        <p:spPr/>
        <p:txBody>
          <a:bodyPr/>
          <a:lstStyle/>
          <a:p>
            <a:r>
              <a:rPr kumimoji="1" lang="en-US" altLang="zh-TW" dirty="0"/>
              <a:t>How the CPU Walks Page Tables</a:t>
            </a:r>
            <a:endParaRPr kumimoji="1" lang="zh-TW" altLang="en-US" dirty="0"/>
          </a:p>
        </p:txBody>
      </p:sp>
      <p:sp>
        <p:nvSpPr>
          <p:cNvPr id="4" name="投影片編號版面配置區 3">
            <a:extLst>
              <a:ext uri="{FF2B5EF4-FFF2-40B4-BE49-F238E27FC236}">
                <a16:creationId xmlns:a16="http://schemas.microsoft.com/office/drawing/2014/main" id="{E00D9097-0EC0-2D60-9546-23E8A59EEB16}"/>
              </a:ext>
            </a:extLst>
          </p:cNvPr>
          <p:cNvSpPr>
            <a:spLocks noGrp="1"/>
          </p:cNvSpPr>
          <p:nvPr>
            <p:ph type="sldNum" sz="quarter" idx="4"/>
          </p:nvPr>
        </p:nvSpPr>
        <p:spPr/>
        <p:txBody>
          <a:bodyPr/>
          <a:lstStyle/>
          <a:p>
            <a:fld id="{E24E6636-6BA5-4AAC-8485-BE8D914D288B}" type="slidenum">
              <a:rPr lang="zh-TW" altLang="en-US" smtClean="0"/>
              <a:pPr/>
              <a:t>31</a:t>
            </a:fld>
            <a:endParaRPr lang="zh-TW" altLang="en-US" dirty="0"/>
          </a:p>
        </p:txBody>
      </p:sp>
      <p:grpSp>
        <p:nvGrpSpPr>
          <p:cNvPr id="112" name="群組 111">
            <a:extLst>
              <a:ext uri="{FF2B5EF4-FFF2-40B4-BE49-F238E27FC236}">
                <a16:creationId xmlns:a16="http://schemas.microsoft.com/office/drawing/2014/main" id="{F1218901-DDCE-7B5C-F842-4A568042E413}"/>
              </a:ext>
            </a:extLst>
          </p:cNvPr>
          <p:cNvGrpSpPr/>
          <p:nvPr/>
        </p:nvGrpSpPr>
        <p:grpSpPr>
          <a:xfrm>
            <a:off x="3933677" y="4213790"/>
            <a:ext cx="2535637" cy="2452265"/>
            <a:chOff x="3933677" y="4213790"/>
            <a:chExt cx="2535637" cy="2452265"/>
          </a:xfrm>
        </p:grpSpPr>
        <p:grpSp>
          <p:nvGrpSpPr>
            <p:cNvPr id="111" name="群組 110">
              <a:extLst>
                <a:ext uri="{FF2B5EF4-FFF2-40B4-BE49-F238E27FC236}">
                  <a16:creationId xmlns:a16="http://schemas.microsoft.com/office/drawing/2014/main" id="{61B999EE-D612-32C6-C98A-B7119B14964B}"/>
                </a:ext>
              </a:extLst>
            </p:cNvPr>
            <p:cNvGrpSpPr/>
            <p:nvPr/>
          </p:nvGrpSpPr>
          <p:grpSpPr>
            <a:xfrm>
              <a:off x="3933677" y="4213790"/>
              <a:ext cx="2535637" cy="2452265"/>
              <a:chOff x="3933677" y="4213790"/>
              <a:chExt cx="2535637" cy="2452265"/>
            </a:xfrm>
          </p:grpSpPr>
          <p:sp>
            <p:nvSpPr>
              <p:cNvPr id="5" name="摺角紙張 4">
                <a:extLst>
                  <a:ext uri="{FF2B5EF4-FFF2-40B4-BE49-F238E27FC236}">
                    <a16:creationId xmlns:a16="http://schemas.microsoft.com/office/drawing/2014/main" id="{7338EA79-C421-E4DA-3DA6-CC5E62A08273}"/>
                  </a:ext>
                </a:extLst>
              </p:cNvPr>
              <p:cNvSpPr/>
              <p:nvPr/>
            </p:nvSpPr>
            <p:spPr>
              <a:xfrm rot="10800000" flipH="1">
                <a:off x="4865211" y="4850916"/>
                <a:ext cx="1057163" cy="1813703"/>
              </a:xfrm>
              <a:prstGeom prst="foldedCorner">
                <a:avLst>
                  <a:gd name="adj" fmla="val 2562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200" dirty="0"/>
                  <a:t>P</a:t>
                </a:r>
                <a:endParaRPr kumimoji="1" lang="zh-TW" altLang="en-US" sz="1200" dirty="0"/>
              </a:p>
            </p:txBody>
          </p:sp>
          <p:sp>
            <p:nvSpPr>
              <p:cNvPr id="52" name="矩形 51">
                <a:extLst>
                  <a:ext uri="{FF2B5EF4-FFF2-40B4-BE49-F238E27FC236}">
                    <a16:creationId xmlns:a16="http://schemas.microsoft.com/office/drawing/2014/main" id="{3F660E5C-B577-8F28-59BA-333AAA837FC1}"/>
                  </a:ext>
                </a:extLst>
              </p:cNvPr>
              <p:cNvSpPr/>
              <p:nvPr/>
            </p:nvSpPr>
            <p:spPr>
              <a:xfrm>
                <a:off x="4910522" y="5207093"/>
                <a:ext cx="937358" cy="25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200" dirty="0">
                    <a:solidFill>
                      <a:schemeClr val="tx1"/>
                    </a:solidFill>
                    <a:latin typeface="Arial" panose="020B0604020202020204" pitchFamily="34" charset="0"/>
                    <a:cs typeface="Arial" panose="020B0604020202020204" pitchFamily="34" charset="0"/>
                  </a:rPr>
                  <a:t>PUD Entry</a:t>
                </a:r>
              </a:p>
            </p:txBody>
          </p:sp>
          <p:grpSp>
            <p:nvGrpSpPr>
              <p:cNvPr id="107" name="群組 106">
                <a:extLst>
                  <a:ext uri="{FF2B5EF4-FFF2-40B4-BE49-F238E27FC236}">
                    <a16:creationId xmlns:a16="http://schemas.microsoft.com/office/drawing/2014/main" id="{C5052706-1B5D-DA32-7727-03F50F032EC0}"/>
                  </a:ext>
                </a:extLst>
              </p:cNvPr>
              <p:cNvGrpSpPr/>
              <p:nvPr/>
            </p:nvGrpSpPr>
            <p:grpSpPr>
              <a:xfrm>
                <a:off x="3933677" y="4213790"/>
                <a:ext cx="2535637" cy="2452265"/>
                <a:chOff x="3933677" y="4213790"/>
                <a:chExt cx="2535637" cy="2452265"/>
              </a:xfrm>
            </p:grpSpPr>
            <p:sp>
              <p:nvSpPr>
                <p:cNvPr id="30" name="文字方塊 29">
                  <a:extLst>
                    <a:ext uri="{FF2B5EF4-FFF2-40B4-BE49-F238E27FC236}">
                      <a16:creationId xmlns:a16="http://schemas.microsoft.com/office/drawing/2014/main" id="{76A28361-C192-0D3C-2ED3-E5942B352B71}"/>
                    </a:ext>
                  </a:extLst>
                </p:cNvPr>
                <p:cNvSpPr txBox="1"/>
                <p:nvPr/>
              </p:nvSpPr>
              <p:spPr>
                <a:xfrm>
                  <a:off x="4378678" y="4213790"/>
                  <a:ext cx="2090636" cy="553998"/>
                </a:xfrm>
                <a:prstGeom prst="rect">
                  <a:avLst/>
                </a:prstGeom>
                <a:noFill/>
              </p:spPr>
              <p:txBody>
                <a:bodyPr wrap="none" rtlCol="0">
                  <a:spAutoFit/>
                </a:bodyPr>
                <a:lstStyle/>
                <a:p>
                  <a:pPr algn="ctr"/>
                  <a:r>
                    <a:rPr kumimoji="1" lang="en-US" altLang="zh-TW" sz="1500" dirty="0">
                      <a:latin typeface="Arial" panose="020B0604020202020204" pitchFamily="34" charset="0"/>
                      <a:cs typeface="Arial" panose="020B0604020202020204" pitchFamily="34" charset="0"/>
                    </a:rPr>
                    <a:t>Page Upper Directory </a:t>
                  </a:r>
                </a:p>
                <a:p>
                  <a:pPr algn="ctr"/>
                  <a:r>
                    <a:rPr kumimoji="1" lang="en-US" altLang="zh-TW" sz="1500" dirty="0">
                      <a:latin typeface="Arial" panose="020B0604020202020204" pitchFamily="34" charset="0"/>
                      <a:cs typeface="Arial" panose="020B0604020202020204" pitchFamily="34" charset="0"/>
                    </a:rPr>
                    <a:t>(PUD) Table</a:t>
                  </a:r>
                  <a:endParaRPr kumimoji="1" lang="zh-TW" altLang="en-US" sz="1500" dirty="0">
                    <a:latin typeface="Arial" panose="020B0604020202020204" pitchFamily="34" charset="0"/>
                    <a:cs typeface="Arial" panose="020B0604020202020204" pitchFamily="34" charset="0"/>
                  </a:endParaRPr>
                </a:p>
              </p:txBody>
            </p:sp>
            <p:cxnSp>
              <p:nvCxnSpPr>
                <p:cNvPr id="31" name="直線接點 30">
                  <a:extLst>
                    <a:ext uri="{FF2B5EF4-FFF2-40B4-BE49-F238E27FC236}">
                      <a16:creationId xmlns:a16="http://schemas.microsoft.com/office/drawing/2014/main" id="{4F349719-8461-313D-CE8E-C79407E2D07D}"/>
                    </a:ext>
                  </a:extLst>
                </p:cNvPr>
                <p:cNvCxnSpPr>
                  <a:cxnSpLocks/>
                </p:cNvCxnSpPr>
                <p:nvPr/>
              </p:nvCxnSpPr>
              <p:spPr>
                <a:xfrm>
                  <a:off x="4150072" y="6661966"/>
                  <a:ext cx="72257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接點 46">
                  <a:extLst>
                    <a:ext uri="{FF2B5EF4-FFF2-40B4-BE49-F238E27FC236}">
                      <a16:creationId xmlns:a16="http://schemas.microsoft.com/office/drawing/2014/main" id="{95EEF0D0-84F6-9DA3-715D-39496F3D4DBC}"/>
                    </a:ext>
                  </a:extLst>
                </p:cNvPr>
                <p:cNvCxnSpPr>
                  <a:cxnSpLocks/>
                </p:cNvCxnSpPr>
                <p:nvPr/>
              </p:nvCxnSpPr>
              <p:spPr>
                <a:xfrm>
                  <a:off x="3933677" y="6209513"/>
                  <a:ext cx="218586" cy="951"/>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8" name="直線接點 47">
                  <a:extLst>
                    <a:ext uri="{FF2B5EF4-FFF2-40B4-BE49-F238E27FC236}">
                      <a16:creationId xmlns:a16="http://schemas.microsoft.com/office/drawing/2014/main" id="{B2DFDCDD-5890-7F09-0CF2-5168E6EFB6ED}"/>
                    </a:ext>
                  </a:extLst>
                </p:cNvPr>
                <p:cNvCxnSpPr>
                  <a:cxnSpLocks/>
                </p:cNvCxnSpPr>
                <p:nvPr/>
              </p:nvCxnSpPr>
              <p:spPr>
                <a:xfrm>
                  <a:off x="4150072" y="6204791"/>
                  <a:ext cx="0" cy="461264"/>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53" name="文字方塊 52">
                  <a:extLst>
                    <a:ext uri="{FF2B5EF4-FFF2-40B4-BE49-F238E27FC236}">
                      <a16:creationId xmlns:a16="http://schemas.microsoft.com/office/drawing/2014/main" id="{8E800A5C-5A64-C112-8877-4B133F32D637}"/>
                    </a:ext>
                  </a:extLst>
                </p:cNvPr>
                <p:cNvSpPr txBox="1"/>
                <p:nvPr/>
              </p:nvSpPr>
              <p:spPr>
                <a:xfrm rot="5400000">
                  <a:off x="5245666" y="5603880"/>
                  <a:ext cx="364202"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a:t>
                  </a:r>
                  <a:endParaRPr kumimoji="1" lang="zh-TW" altLang="en-US" sz="1400" dirty="0">
                    <a:latin typeface="Arial" panose="020B0604020202020204" pitchFamily="34" charset="0"/>
                    <a:cs typeface="Arial" panose="020B0604020202020204" pitchFamily="34" charset="0"/>
                  </a:endParaRPr>
                </a:p>
              </p:txBody>
            </p:sp>
          </p:grpSp>
        </p:grpSp>
        <p:sp>
          <p:nvSpPr>
            <p:cNvPr id="50" name="矩形 49">
              <a:extLst>
                <a:ext uri="{FF2B5EF4-FFF2-40B4-BE49-F238E27FC236}">
                  <a16:creationId xmlns:a16="http://schemas.microsoft.com/office/drawing/2014/main" id="{FA74434B-98DF-77BC-B455-FE5EDAEB54D8}"/>
                </a:ext>
              </a:extLst>
            </p:cNvPr>
            <p:cNvSpPr/>
            <p:nvPr/>
          </p:nvSpPr>
          <p:spPr>
            <a:xfrm>
              <a:off x="4910522" y="6371541"/>
              <a:ext cx="937358" cy="25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200" dirty="0">
                  <a:solidFill>
                    <a:schemeClr val="tx1"/>
                  </a:solidFill>
                  <a:latin typeface="Arial" panose="020B0604020202020204" pitchFamily="34" charset="0"/>
                  <a:cs typeface="Arial" panose="020B0604020202020204" pitchFamily="34" charset="0"/>
                </a:rPr>
                <a:t>PUD Entry</a:t>
              </a:r>
            </a:p>
          </p:txBody>
        </p:sp>
        <p:sp>
          <p:nvSpPr>
            <p:cNvPr id="51" name="矩形 50">
              <a:extLst>
                <a:ext uri="{FF2B5EF4-FFF2-40B4-BE49-F238E27FC236}">
                  <a16:creationId xmlns:a16="http://schemas.microsoft.com/office/drawing/2014/main" id="{30248361-A021-676F-9D06-4D440B9527D8}"/>
                </a:ext>
              </a:extLst>
            </p:cNvPr>
            <p:cNvSpPr/>
            <p:nvPr/>
          </p:nvSpPr>
          <p:spPr>
            <a:xfrm>
              <a:off x="4910522" y="6075284"/>
              <a:ext cx="937358" cy="25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200" dirty="0">
                  <a:solidFill>
                    <a:schemeClr val="tx1"/>
                  </a:solidFill>
                  <a:latin typeface="Arial" panose="020B0604020202020204" pitchFamily="34" charset="0"/>
                  <a:cs typeface="Arial" panose="020B0604020202020204" pitchFamily="34" charset="0"/>
                </a:rPr>
                <a:t>PUD Entry</a:t>
              </a:r>
            </a:p>
          </p:txBody>
        </p:sp>
      </p:grpSp>
      <p:grpSp>
        <p:nvGrpSpPr>
          <p:cNvPr id="113" name="群組 112">
            <a:extLst>
              <a:ext uri="{FF2B5EF4-FFF2-40B4-BE49-F238E27FC236}">
                <a16:creationId xmlns:a16="http://schemas.microsoft.com/office/drawing/2014/main" id="{90687BF3-E971-9A14-9E3C-9F6ED36C08C6}"/>
              </a:ext>
            </a:extLst>
          </p:cNvPr>
          <p:cNvGrpSpPr/>
          <p:nvPr/>
        </p:nvGrpSpPr>
        <p:grpSpPr>
          <a:xfrm>
            <a:off x="5847880" y="4213790"/>
            <a:ext cx="2614852" cy="2452264"/>
            <a:chOff x="5847880" y="4213790"/>
            <a:chExt cx="2614852" cy="2452264"/>
          </a:xfrm>
        </p:grpSpPr>
        <p:sp>
          <p:nvSpPr>
            <p:cNvPr id="35" name="摺角紙張 34">
              <a:extLst>
                <a:ext uri="{FF2B5EF4-FFF2-40B4-BE49-F238E27FC236}">
                  <a16:creationId xmlns:a16="http://schemas.microsoft.com/office/drawing/2014/main" id="{C7AF12A4-E140-D6B6-CDFF-AFE4AA38DA5D}"/>
                </a:ext>
              </a:extLst>
            </p:cNvPr>
            <p:cNvSpPr/>
            <p:nvPr/>
          </p:nvSpPr>
          <p:spPr>
            <a:xfrm rot="10800000" flipH="1">
              <a:off x="6790104" y="4850917"/>
              <a:ext cx="1057163" cy="1815137"/>
            </a:xfrm>
            <a:prstGeom prst="foldedCorner">
              <a:avLst>
                <a:gd name="adj" fmla="val 2562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200" dirty="0"/>
                <a:t>P</a:t>
              </a:r>
              <a:endParaRPr kumimoji="1" lang="zh-TW" altLang="en-US" sz="1200" dirty="0"/>
            </a:p>
          </p:txBody>
        </p:sp>
        <p:sp>
          <p:nvSpPr>
            <p:cNvPr id="36" name="文字方塊 35">
              <a:extLst>
                <a:ext uri="{FF2B5EF4-FFF2-40B4-BE49-F238E27FC236}">
                  <a16:creationId xmlns:a16="http://schemas.microsoft.com/office/drawing/2014/main" id="{D5A5F324-05BE-3E6C-4E53-A387E98E931F}"/>
                </a:ext>
              </a:extLst>
            </p:cNvPr>
            <p:cNvSpPr txBox="1"/>
            <p:nvPr/>
          </p:nvSpPr>
          <p:spPr>
            <a:xfrm>
              <a:off x="6328814" y="4213790"/>
              <a:ext cx="2133918" cy="553998"/>
            </a:xfrm>
            <a:prstGeom prst="rect">
              <a:avLst/>
            </a:prstGeom>
            <a:noFill/>
          </p:spPr>
          <p:txBody>
            <a:bodyPr wrap="none" rtlCol="0">
              <a:spAutoFit/>
            </a:bodyPr>
            <a:lstStyle/>
            <a:p>
              <a:pPr algn="ctr"/>
              <a:r>
                <a:rPr kumimoji="1" lang="en-US" altLang="zh-TW" sz="1500" dirty="0">
                  <a:latin typeface="Arial" panose="020B0604020202020204" pitchFamily="34" charset="0"/>
                  <a:cs typeface="Arial" panose="020B0604020202020204" pitchFamily="34" charset="0"/>
                </a:rPr>
                <a:t>Page Middle Directory </a:t>
              </a:r>
            </a:p>
            <a:p>
              <a:pPr algn="ctr"/>
              <a:r>
                <a:rPr kumimoji="1" lang="en-US" altLang="zh-TW" sz="1500" dirty="0">
                  <a:latin typeface="Arial" panose="020B0604020202020204" pitchFamily="34" charset="0"/>
                  <a:cs typeface="Arial" panose="020B0604020202020204" pitchFamily="34" charset="0"/>
                </a:rPr>
                <a:t>(PMD) Table</a:t>
              </a:r>
              <a:endParaRPr kumimoji="1" lang="zh-TW" altLang="en-US" sz="1500" dirty="0">
                <a:latin typeface="Arial" panose="020B0604020202020204" pitchFamily="34" charset="0"/>
                <a:cs typeface="Arial" panose="020B0604020202020204" pitchFamily="34" charset="0"/>
              </a:endParaRPr>
            </a:p>
          </p:txBody>
        </p:sp>
        <p:cxnSp>
          <p:nvCxnSpPr>
            <p:cNvPr id="37" name="直線接點 36">
              <a:extLst>
                <a:ext uri="{FF2B5EF4-FFF2-40B4-BE49-F238E27FC236}">
                  <a16:creationId xmlns:a16="http://schemas.microsoft.com/office/drawing/2014/main" id="{F3FD0C7C-2844-9547-676C-4B9F3FD84053}"/>
                </a:ext>
              </a:extLst>
            </p:cNvPr>
            <p:cNvCxnSpPr>
              <a:cxnSpLocks/>
            </p:cNvCxnSpPr>
            <p:nvPr/>
          </p:nvCxnSpPr>
          <p:spPr>
            <a:xfrm flipV="1">
              <a:off x="6012282" y="6661966"/>
              <a:ext cx="77782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3AF09D09-115D-95C8-1C9F-E62686DE82CB}"/>
                </a:ext>
              </a:extLst>
            </p:cNvPr>
            <p:cNvSpPr/>
            <p:nvPr/>
          </p:nvSpPr>
          <p:spPr>
            <a:xfrm>
              <a:off x="6835415" y="6369832"/>
              <a:ext cx="937358" cy="25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200" dirty="0">
                  <a:solidFill>
                    <a:schemeClr val="tx1"/>
                  </a:solidFill>
                  <a:latin typeface="Arial" panose="020B0604020202020204" pitchFamily="34" charset="0"/>
                  <a:cs typeface="Arial" panose="020B0604020202020204" pitchFamily="34" charset="0"/>
                </a:rPr>
                <a:t>PMD Entry</a:t>
              </a:r>
            </a:p>
          </p:txBody>
        </p:sp>
        <p:sp>
          <p:nvSpPr>
            <p:cNvPr id="41" name="矩形 40">
              <a:extLst>
                <a:ext uri="{FF2B5EF4-FFF2-40B4-BE49-F238E27FC236}">
                  <a16:creationId xmlns:a16="http://schemas.microsoft.com/office/drawing/2014/main" id="{CCFA6B78-DA52-5EC8-85DD-7872223E5A40}"/>
                </a:ext>
              </a:extLst>
            </p:cNvPr>
            <p:cNvSpPr/>
            <p:nvPr/>
          </p:nvSpPr>
          <p:spPr>
            <a:xfrm>
              <a:off x="6835415" y="6075284"/>
              <a:ext cx="937358" cy="25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200" dirty="0">
                  <a:solidFill>
                    <a:schemeClr val="tx1"/>
                  </a:solidFill>
                  <a:latin typeface="Arial" panose="020B0604020202020204" pitchFamily="34" charset="0"/>
                  <a:cs typeface="Arial" panose="020B0604020202020204" pitchFamily="34" charset="0"/>
                </a:rPr>
                <a:t>PMD Entry</a:t>
              </a:r>
            </a:p>
          </p:txBody>
        </p:sp>
        <p:sp>
          <p:nvSpPr>
            <p:cNvPr id="42" name="矩形 41">
              <a:extLst>
                <a:ext uri="{FF2B5EF4-FFF2-40B4-BE49-F238E27FC236}">
                  <a16:creationId xmlns:a16="http://schemas.microsoft.com/office/drawing/2014/main" id="{55DDE319-9742-38D3-D6ED-ED3100799546}"/>
                </a:ext>
              </a:extLst>
            </p:cNvPr>
            <p:cNvSpPr/>
            <p:nvPr/>
          </p:nvSpPr>
          <p:spPr>
            <a:xfrm>
              <a:off x="6835415" y="5207093"/>
              <a:ext cx="937358" cy="25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200" dirty="0">
                  <a:solidFill>
                    <a:schemeClr val="tx1"/>
                  </a:solidFill>
                  <a:latin typeface="Arial" panose="020B0604020202020204" pitchFamily="34" charset="0"/>
                  <a:cs typeface="Arial" panose="020B0604020202020204" pitchFamily="34" charset="0"/>
                </a:rPr>
                <a:t>PMD Entry</a:t>
              </a:r>
            </a:p>
          </p:txBody>
        </p:sp>
        <p:sp>
          <p:nvSpPr>
            <p:cNvPr id="54" name="矩形 53">
              <a:extLst>
                <a:ext uri="{FF2B5EF4-FFF2-40B4-BE49-F238E27FC236}">
                  <a16:creationId xmlns:a16="http://schemas.microsoft.com/office/drawing/2014/main" id="{6D083733-ED20-C6FA-0CBC-C49F9477D2A8}"/>
                </a:ext>
              </a:extLst>
            </p:cNvPr>
            <p:cNvSpPr/>
            <p:nvPr/>
          </p:nvSpPr>
          <p:spPr>
            <a:xfrm>
              <a:off x="6834162" y="5523397"/>
              <a:ext cx="937358" cy="25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200" dirty="0">
                  <a:solidFill>
                    <a:schemeClr val="tx1"/>
                  </a:solidFill>
                  <a:latin typeface="Arial" panose="020B0604020202020204" pitchFamily="34" charset="0"/>
                  <a:cs typeface="Arial" panose="020B0604020202020204" pitchFamily="34" charset="0"/>
                </a:rPr>
                <a:t>PMD Entry</a:t>
              </a:r>
            </a:p>
          </p:txBody>
        </p:sp>
        <p:sp>
          <p:nvSpPr>
            <p:cNvPr id="55" name="文字方塊 54">
              <a:extLst>
                <a:ext uri="{FF2B5EF4-FFF2-40B4-BE49-F238E27FC236}">
                  <a16:creationId xmlns:a16="http://schemas.microsoft.com/office/drawing/2014/main" id="{5169CBC0-B954-ACA0-CBB6-50AAD06C9FAF}"/>
                </a:ext>
              </a:extLst>
            </p:cNvPr>
            <p:cNvSpPr txBox="1"/>
            <p:nvPr/>
          </p:nvSpPr>
          <p:spPr>
            <a:xfrm rot="5400000">
              <a:off x="7165029" y="5766742"/>
              <a:ext cx="364202"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a:t>
              </a:r>
              <a:endParaRPr kumimoji="1" lang="zh-TW" altLang="en-US" sz="1400" dirty="0">
                <a:latin typeface="Arial" panose="020B0604020202020204" pitchFamily="34" charset="0"/>
                <a:cs typeface="Arial" panose="020B0604020202020204" pitchFamily="34" charset="0"/>
              </a:endParaRPr>
            </a:p>
          </p:txBody>
        </p:sp>
        <p:cxnSp>
          <p:nvCxnSpPr>
            <p:cNvPr id="56" name="直線接點 55">
              <a:extLst>
                <a:ext uri="{FF2B5EF4-FFF2-40B4-BE49-F238E27FC236}">
                  <a16:creationId xmlns:a16="http://schemas.microsoft.com/office/drawing/2014/main" id="{1C5EF3C3-6F82-869C-DCCD-C34FA3557D55}"/>
                </a:ext>
              </a:extLst>
            </p:cNvPr>
            <p:cNvCxnSpPr>
              <a:cxnSpLocks/>
              <a:stCxn id="52" idx="3"/>
            </p:cNvCxnSpPr>
            <p:nvPr/>
          </p:nvCxnSpPr>
          <p:spPr>
            <a:xfrm>
              <a:off x="5847880" y="5333093"/>
              <a:ext cx="164402" cy="567"/>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7" name="直線接點 56">
              <a:extLst>
                <a:ext uri="{FF2B5EF4-FFF2-40B4-BE49-F238E27FC236}">
                  <a16:creationId xmlns:a16="http://schemas.microsoft.com/office/drawing/2014/main" id="{ED7BD8D8-6497-D0B1-CAFD-BE5AFBD1C7CA}"/>
                </a:ext>
              </a:extLst>
            </p:cNvPr>
            <p:cNvCxnSpPr>
              <a:cxnSpLocks/>
            </p:cNvCxnSpPr>
            <p:nvPr/>
          </p:nvCxnSpPr>
          <p:spPr>
            <a:xfrm>
              <a:off x="6012282" y="5324399"/>
              <a:ext cx="0" cy="1334644"/>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grpSp>
        <p:nvGrpSpPr>
          <p:cNvPr id="115" name="群組 114">
            <a:extLst>
              <a:ext uri="{FF2B5EF4-FFF2-40B4-BE49-F238E27FC236}">
                <a16:creationId xmlns:a16="http://schemas.microsoft.com/office/drawing/2014/main" id="{9C342C89-4679-F795-912E-F3AC9690F343}"/>
              </a:ext>
            </a:extLst>
          </p:cNvPr>
          <p:cNvGrpSpPr/>
          <p:nvPr/>
        </p:nvGrpSpPr>
        <p:grpSpPr>
          <a:xfrm>
            <a:off x="7771520" y="4213790"/>
            <a:ext cx="1973496" cy="2449449"/>
            <a:chOff x="7771520" y="4213790"/>
            <a:chExt cx="1973496" cy="2449449"/>
          </a:xfrm>
        </p:grpSpPr>
        <p:sp>
          <p:nvSpPr>
            <p:cNvPr id="44" name="文字方塊 43">
              <a:extLst>
                <a:ext uri="{FF2B5EF4-FFF2-40B4-BE49-F238E27FC236}">
                  <a16:creationId xmlns:a16="http://schemas.microsoft.com/office/drawing/2014/main" id="{69E5EC8C-BF97-C217-29BC-F56490DEE2C6}"/>
                </a:ext>
              </a:extLst>
            </p:cNvPr>
            <p:cNvSpPr txBox="1"/>
            <p:nvPr/>
          </p:nvSpPr>
          <p:spPr>
            <a:xfrm>
              <a:off x="8516905" y="4213790"/>
              <a:ext cx="1198597" cy="553998"/>
            </a:xfrm>
            <a:prstGeom prst="rect">
              <a:avLst/>
            </a:prstGeom>
            <a:noFill/>
          </p:spPr>
          <p:txBody>
            <a:bodyPr wrap="none" rtlCol="0">
              <a:spAutoFit/>
            </a:bodyPr>
            <a:lstStyle/>
            <a:p>
              <a:pPr algn="ctr"/>
              <a:r>
                <a:rPr kumimoji="1" lang="en-US" altLang="zh-TW" sz="1500" dirty="0">
                  <a:latin typeface="Arial" panose="020B0604020202020204" pitchFamily="34" charset="0"/>
                  <a:cs typeface="Arial" panose="020B0604020202020204" pitchFamily="34" charset="0"/>
                </a:rPr>
                <a:t>Page Table </a:t>
              </a:r>
              <a:br>
                <a:rPr kumimoji="1" lang="en-US" altLang="zh-TW" sz="1500" dirty="0">
                  <a:latin typeface="Arial" panose="020B0604020202020204" pitchFamily="34" charset="0"/>
                  <a:cs typeface="Arial" panose="020B0604020202020204" pitchFamily="34" charset="0"/>
                </a:rPr>
              </a:br>
              <a:r>
                <a:rPr kumimoji="1" lang="en-US" altLang="zh-TW" sz="1500" dirty="0">
                  <a:latin typeface="Arial" panose="020B0604020202020204" pitchFamily="34" charset="0"/>
                  <a:cs typeface="Arial" panose="020B0604020202020204" pitchFamily="34" charset="0"/>
                </a:rPr>
                <a:t>(PT) </a:t>
              </a:r>
            </a:p>
          </p:txBody>
        </p:sp>
        <p:cxnSp>
          <p:nvCxnSpPr>
            <p:cNvPr id="45" name="直線接點 44">
              <a:extLst>
                <a:ext uri="{FF2B5EF4-FFF2-40B4-BE49-F238E27FC236}">
                  <a16:creationId xmlns:a16="http://schemas.microsoft.com/office/drawing/2014/main" id="{4B72AA2C-57EA-510D-2F2C-4E856F7220BF}"/>
                </a:ext>
              </a:extLst>
            </p:cNvPr>
            <p:cNvCxnSpPr>
              <a:cxnSpLocks/>
            </p:cNvCxnSpPr>
            <p:nvPr/>
          </p:nvCxnSpPr>
          <p:spPr>
            <a:xfrm flipV="1">
              <a:off x="7957914" y="6655962"/>
              <a:ext cx="729939"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線接點 57">
              <a:extLst>
                <a:ext uri="{FF2B5EF4-FFF2-40B4-BE49-F238E27FC236}">
                  <a16:creationId xmlns:a16="http://schemas.microsoft.com/office/drawing/2014/main" id="{78AD7416-8D22-BB7F-60E3-B99577A69FF1}"/>
                </a:ext>
              </a:extLst>
            </p:cNvPr>
            <p:cNvCxnSpPr>
              <a:cxnSpLocks/>
              <a:stCxn id="54" idx="3"/>
            </p:cNvCxnSpPr>
            <p:nvPr/>
          </p:nvCxnSpPr>
          <p:spPr>
            <a:xfrm>
              <a:off x="7771520" y="5649397"/>
              <a:ext cx="185142" cy="476"/>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9" name="直線接點 58">
              <a:extLst>
                <a:ext uri="{FF2B5EF4-FFF2-40B4-BE49-F238E27FC236}">
                  <a16:creationId xmlns:a16="http://schemas.microsoft.com/office/drawing/2014/main" id="{94368A70-B1A7-EE15-6FE0-8431C30D3396}"/>
                </a:ext>
              </a:extLst>
            </p:cNvPr>
            <p:cNvCxnSpPr>
              <a:cxnSpLocks/>
            </p:cNvCxnSpPr>
            <p:nvPr/>
          </p:nvCxnSpPr>
          <p:spPr>
            <a:xfrm>
              <a:off x="7957914" y="5649397"/>
              <a:ext cx="0" cy="1013842"/>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60" name="摺角紙張 59">
              <a:extLst>
                <a:ext uri="{FF2B5EF4-FFF2-40B4-BE49-F238E27FC236}">
                  <a16:creationId xmlns:a16="http://schemas.microsoft.com/office/drawing/2014/main" id="{288460B0-2F36-A50C-8E74-2726A1067639}"/>
                </a:ext>
              </a:extLst>
            </p:cNvPr>
            <p:cNvSpPr/>
            <p:nvPr/>
          </p:nvSpPr>
          <p:spPr>
            <a:xfrm rot="10800000" flipH="1">
              <a:off x="8687853" y="4850918"/>
              <a:ext cx="1057163" cy="1800904"/>
            </a:xfrm>
            <a:prstGeom prst="foldedCorner">
              <a:avLst>
                <a:gd name="adj" fmla="val 2562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200" dirty="0"/>
                <a:t>  P</a:t>
              </a:r>
              <a:endParaRPr kumimoji="1" lang="zh-TW" altLang="en-US" sz="1200" dirty="0"/>
            </a:p>
          </p:txBody>
        </p:sp>
        <p:sp>
          <p:nvSpPr>
            <p:cNvPr id="61" name="矩形 60">
              <a:extLst>
                <a:ext uri="{FF2B5EF4-FFF2-40B4-BE49-F238E27FC236}">
                  <a16:creationId xmlns:a16="http://schemas.microsoft.com/office/drawing/2014/main" id="{8729A28F-2476-9E7C-BF3E-DAE8FDAB03B0}"/>
                </a:ext>
              </a:extLst>
            </p:cNvPr>
            <p:cNvSpPr/>
            <p:nvPr/>
          </p:nvSpPr>
          <p:spPr>
            <a:xfrm>
              <a:off x="8733164" y="6358743"/>
              <a:ext cx="937358" cy="25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200" dirty="0">
                  <a:solidFill>
                    <a:schemeClr val="tx1"/>
                  </a:solidFill>
                  <a:latin typeface="Arial" panose="020B0604020202020204" pitchFamily="34" charset="0"/>
                  <a:cs typeface="Arial" panose="020B0604020202020204" pitchFamily="34" charset="0"/>
                </a:rPr>
                <a:t>PT Entry</a:t>
              </a:r>
            </a:p>
          </p:txBody>
        </p:sp>
        <p:sp>
          <p:nvSpPr>
            <p:cNvPr id="62" name="矩形 61">
              <a:extLst>
                <a:ext uri="{FF2B5EF4-FFF2-40B4-BE49-F238E27FC236}">
                  <a16:creationId xmlns:a16="http://schemas.microsoft.com/office/drawing/2014/main" id="{B88F734E-F9E1-3FD0-B63C-1CBEDEB0144D}"/>
                </a:ext>
              </a:extLst>
            </p:cNvPr>
            <p:cNvSpPr/>
            <p:nvPr/>
          </p:nvSpPr>
          <p:spPr>
            <a:xfrm>
              <a:off x="8733164" y="5782918"/>
              <a:ext cx="937358" cy="25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200" dirty="0">
                  <a:solidFill>
                    <a:schemeClr val="tx1"/>
                  </a:solidFill>
                  <a:latin typeface="Arial" panose="020B0604020202020204" pitchFamily="34" charset="0"/>
                  <a:cs typeface="Arial" panose="020B0604020202020204" pitchFamily="34" charset="0"/>
                </a:rPr>
                <a:t>PT Entry</a:t>
              </a:r>
            </a:p>
          </p:txBody>
        </p:sp>
        <p:sp>
          <p:nvSpPr>
            <p:cNvPr id="63" name="矩形 62">
              <a:extLst>
                <a:ext uri="{FF2B5EF4-FFF2-40B4-BE49-F238E27FC236}">
                  <a16:creationId xmlns:a16="http://schemas.microsoft.com/office/drawing/2014/main" id="{C096B292-C064-9FF5-F811-3DDA95DAB256}"/>
                </a:ext>
              </a:extLst>
            </p:cNvPr>
            <p:cNvSpPr/>
            <p:nvPr/>
          </p:nvSpPr>
          <p:spPr>
            <a:xfrm>
              <a:off x="8733164" y="5207093"/>
              <a:ext cx="937358" cy="25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200" dirty="0">
                  <a:solidFill>
                    <a:schemeClr val="tx1"/>
                  </a:solidFill>
                  <a:latin typeface="Arial" panose="020B0604020202020204" pitchFamily="34" charset="0"/>
                  <a:cs typeface="Arial" panose="020B0604020202020204" pitchFamily="34" charset="0"/>
                </a:rPr>
                <a:t>PT Entry</a:t>
              </a:r>
            </a:p>
          </p:txBody>
        </p:sp>
        <p:sp>
          <p:nvSpPr>
            <p:cNvPr id="64" name="文字方塊 63">
              <a:extLst>
                <a:ext uri="{FF2B5EF4-FFF2-40B4-BE49-F238E27FC236}">
                  <a16:creationId xmlns:a16="http://schemas.microsoft.com/office/drawing/2014/main" id="{41B5A6BE-6DAD-7B64-7EF6-B7A913C6512C}"/>
                </a:ext>
              </a:extLst>
            </p:cNvPr>
            <p:cNvSpPr txBox="1"/>
            <p:nvPr/>
          </p:nvSpPr>
          <p:spPr>
            <a:xfrm rot="5400000">
              <a:off x="9081690" y="5477593"/>
              <a:ext cx="364202"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a:t>
              </a:r>
              <a:endParaRPr kumimoji="1" lang="zh-TW" altLang="en-US" sz="1400" dirty="0">
                <a:latin typeface="Arial" panose="020B0604020202020204" pitchFamily="34" charset="0"/>
                <a:cs typeface="Arial" panose="020B0604020202020204" pitchFamily="34" charset="0"/>
              </a:endParaRPr>
            </a:p>
          </p:txBody>
        </p:sp>
        <p:sp>
          <p:nvSpPr>
            <p:cNvPr id="65" name="文字方塊 64">
              <a:extLst>
                <a:ext uri="{FF2B5EF4-FFF2-40B4-BE49-F238E27FC236}">
                  <a16:creationId xmlns:a16="http://schemas.microsoft.com/office/drawing/2014/main" id="{9390B661-761C-319C-33BC-11E84D5DFE56}"/>
                </a:ext>
              </a:extLst>
            </p:cNvPr>
            <p:cNvSpPr txBox="1"/>
            <p:nvPr/>
          </p:nvSpPr>
          <p:spPr>
            <a:xfrm rot="5400000">
              <a:off x="9084497" y="6049367"/>
              <a:ext cx="364202"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a:t>
              </a:r>
              <a:endParaRPr kumimoji="1" lang="zh-TW" altLang="en-US" sz="1400" dirty="0">
                <a:latin typeface="Arial" panose="020B0604020202020204" pitchFamily="34" charset="0"/>
                <a:cs typeface="Arial" panose="020B0604020202020204" pitchFamily="34" charset="0"/>
              </a:endParaRPr>
            </a:p>
          </p:txBody>
        </p:sp>
      </p:grpSp>
      <p:grpSp>
        <p:nvGrpSpPr>
          <p:cNvPr id="103" name="群組 102">
            <a:extLst>
              <a:ext uri="{FF2B5EF4-FFF2-40B4-BE49-F238E27FC236}">
                <a16:creationId xmlns:a16="http://schemas.microsoft.com/office/drawing/2014/main" id="{8855D8DB-84E8-E6DA-D762-2AC8555EAFC1}"/>
              </a:ext>
            </a:extLst>
          </p:cNvPr>
          <p:cNvGrpSpPr/>
          <p:nvPr/>
        </p:nvGrpSpPr>
        <p:grpSpPr>
          <a:xfrm>
            <a:off x="177800" y="2767797"/>
            <a:ext cx="9536498" cy="1043803"/>
            <a:chOff x="177800" y="2767797"/>
            <a:chExt cx="9536498" cy="1043803"/>
          </a:xfrm>
        </p:grpSpPr>
        <p:sp>
          <p:nvSpPr>
            <p:cNvPr id="6" name="矩形 5">
              <a:extLst>
                <a:ext uri="{FF2B5EF4-FFF2-40B4-BE49-F238E27FC236}">
                  <a16:creationId xmlns:a16="http://schemas.microsoft.com/office/drawing/2014/main" id="{7B4DDA5B-CBCD-87A4-8CA0-68BFD9BFC58D}"/>
                </a:ext>
              </a:extLst>
            </p:cNvPr>
            <p:cNvSpPr/>
            <p:nvPr/>
          </p:nvSpPr>
          <p:spPr>
            <a:xfrm>
              <a:off x="2406905" y="3286083"/>
              <a:ext cx="1440000" cy="52551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500" dirty="0">
                  <a:solidFill>
                    <a:schemeClr val="tx1"/>
                  </a:solidFill>
                  <a:latin typeface="Arial" panose="020B0604020202020204" pitchFamily="34" charset="0"/>
                  <a:cs typeface="Arial" panose="020B0604020202020204" pitchFamily="34" charset="0"/>
                </a:rPr>
                <a:t>PGD Offset</a:t>
              </a:r>
            </a:p>
            <a:p>
              <a:pPr algn="ctr"/>
              <a:r>
                <a:rPr kumimoji="1" lang="en-US" altLang="zh-TW" sz="1500" dirty="0">
                  <a:solidFill>
                    <a:schemeClr val="tx1"/>
                  </a:solidFill>
                  <a:latin typeface="Arial" panose="020B0604020202020204" pitchFamily="34" charset="0"/>
                  <a:cs typeface="Arial" panose="020B0604020202020204" pitchFamily="34" charset="0"/>
                </a:rPr>
                <a:t>(9bits)</a:t>
              </a:r>
              <a:endParaRPr kumimoji="1" lang="zh-TW" altLang="en-US" sz="1500" dirty="0">
                <a:solidFill>
                  <a:schemeClr val="tx1"/>
                </a:solidFill>
                <a:latin typeface="Arial" panose="020B0604020202020204" pitchFamily="34" charset="0"/>
                <a:cs typeface="Arial" panose="020B0604020202020204" pitchFamily="34" charset="0"/>
              </a:endParaRPr>
            </a:p>
          </p:txBody>
        </p:sp>
        <p:sp>
          <p:nvSpPr>
            <p:cNvPr id="7" name="矩形 6">
              <a:extLst>
                <a:ext uri="{FF2B5EF4-FFF2-40B4-BE49-F238E27FC236}">
                  <a16:creationId xmlns:a16="http://schemas.microsoft.com/office/drawing/2014/main" id="{3EAA68FE-E166-BB43-178E-9695704CEC24}"/>
                </a:ext>
              </a:extLst>
            </p:cNvPr>
            <p:cNvSpPr/>
            <p:nvPr/>
          </p:nvSpPr>
          <p:spPr>
            <a:xfrm>
              <a:off x="3846905" y="3286081"/>
              <a:ext cx="1440000" cy="52551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500" dirty="0">
                  <a:solidFill>
                    <a:schemeClr val="tx1"/>
                  </a:solidFill>
                  <a:latin typeface="Arial" panose="020B0604020202020204" pitchFamily="34" charset="0"/>
                  <a:cs typeface="Arial" panose="020B0604020202020204" pitchFamily="34" charset="0"/>
                </a:rPr>
                <a:t>PUD Offset</a:t>
              </a:r>
            </a:p>
            <a:p>
              <a:pPr algn="ctr"/>
              <a:r>
                <a:rPr kumimoji="1" lang="en-US" altLang="zh-TW" sz="1500" dirty="0">
                  <a:solidFill>
                    <a:schemeClr val="tx1"/>
                  </a:solidFill>
                  <a:latin typeface="Arial" panose="020B0604020202020204" pitchFamily="34" charset="0"/>
                  <a:cs typeface="Arial" panose="020B0604020202020204" pitchFamily="34" charset="0"/>
                </a:rPr>
                <a:t>(9bits)</a:t>
              </a:r>
              <a:endParaRPr kumimoji="1" lang="zh-TW" altLang="en-US" sz="1500" dirty="0">
                <a:solidFill>
                  <a:schemeClr val="tx1"/>
                </a:solidFill>
                <a:latin typeface="Arial" panose="020B0604020202020204" pitchFamily="34" charset="0"/>
                <a:cs typeface="Arial" panose="020B0604020202020204" pitchFamily="34" charset="0"/>
              </a:endParaRPr>
            </a:p>
          </p:txBody>
        </p:sp>
        <p:sp>
          <p:nvSpPr>
            <p:cNvPr id="8" name="矩形 7">
              <a:extLst>
                <a:ext uri="{FF2B5EF4-FFF2-40B4-BE49-F238E27FC236}">
                  <a16:creationId xmlns:a16="http://schemas.microsoft.com/office/drawing/2014/main" id="{7B89CAE6-C5AD-2AAB-739A-5F638D8C3BD3}"/>
                </a:ext>
              </a:extLst>
            </p:cNvPr>
            <p:cNvSpPr/>
            <p:nvPr/>
          </p:nvSpPr>
          <p:spPr>
            <a:xfrm>
              <a:off x="5286905" y="3286081"/>
              <a:ext cx="1440000" cy="52551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500" dirty="0">
                  <a:solidFill>
                    <a:schemeClr val="tx1"/>
                  </a:solidFill>
                  <a:latin typeface="Arial" panose="020B0604020202020204" pitchFamily="34" charset="0"/>
                  <a:cs typeface="Arial" panose="020B0604020202020204" pitchFamily="34" charset="0"/>
                </a:rPr>
                <a:t>PMD Offset</a:t>
              </a:r>
            </a:p>
            <a:p>
              <a:pPr algn="ctr"/>
              <a:r>
                <a:rPr kumimoji="1" lang="en-US" altLang="zh-TW" sz="1500" dirty="0">
                  <a:solidFill>
                    <a:schemeClr val="tx1"/>
                  </a:solidFill>
                  <a:latin typeface="Arial" panose="020B0604020202020204" pitchFamily="34" charset="0"/>
                  <a:cs typeface="Arial" panose="020B0604020202020204" pitchFamily="34" charset="0"/>
                </a:rPr>
                <a:t>(9bits)</a:t>
              </a:r>
              <a:endParaRPr kumimoji="1" lang="zh-TW" altLang="en-US" sz="1500" dirty="0">
                <a:solidFill>
                  <a:schemeClr val="tx1"/>
                </a:solidFill>
                <a:latin typeface="Arial" panose="020B0604020202020204" pitchFamily="34" charset="0"/>
                <a:cs typeface="Arial" panose="020B0604020202020204" pitchFamily="34" charset="0"/>
              </a:endParaRPr>
            </a:p>
          </p:txBody>
        </p:sp>
        <p:sp>
          <p:nvSpPr>
            <p:cNvPr id="9" name="矩形 8">
              <a:extLst>
                <a:ext uri="{FF2B5EF4-FFF2-40B4-BE49-F238E27FC236}">
                  <a16:creationId xmlns:a16="http://schemas.microsoft.com/office/drawing/2014/main" id="{59EAA2A0-1E62-D85D-2D8A-E86321E68FFB}"/>
                </a:ext>
              </a:extLst>
            </p:cNvPr>
            <p:cNvSpPr/>
            <p:nvPr/>
          </p:nvSpPr>
          <p:spPr>
            <a:xfrm>
              <a:off x="277693" y="3286082"/>
              <a:ext cx="2129212" cy="52551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500" dirty="0">
                  <a:solidFill>
                    <a:schemeClr val="tx1"/>
                  </a:solidFill>
                  <a:latin typeface="Arial" panose="020B0604020202020204" pitchFamily="34" charset="0"/>
                  <a:cs typeface="Arial" panose="020B0604020202020204" pitchFamily="34" charset="0"/>
                </a:rPr>
                <a:t>Unused Bits</a:t>
              </a:r>
            </a:p>
            <a:p>
              <a:pPr algn="ctr"/>
              <a:r>
                <a:rPr kumimoji="1" lang="en-US" altLang="zh-TW" sz="1500" dirty="0">
                  <a:solidFill>
                    <a:schemeClr val="tx1"/>
                  </a:solidFill>
                  <a:latin typeface="Arial" panose="020B0604020202020204" pitchFamily="34" charset="0"/>
                  <a:cs typeface="Arial" panose="020B0604020202020204" pitchFamily="34" charset="0"/>
                </a:rPr>
                <a:t>(16bits)</a:t>
              </a:r>
              <a:endParaRPr kumimoji="1" lang="zh-TW" altLang="en-US" sz="1500" dirty="0">
                <a:solidFill>
                  <a:schemeClr val="tx1"/>
                </a:solidFill>
                <a:latin typeface="Arial" panose="020B0604020202020204" pitchFamily="34" charset="0"/>
                <a:cs typeface="Arial" panose="020B0604020202020204" pitchFamily="34" charset="0"/>
              </a:endParaRPr>
            </a:p>
          </p:txBody>
        </p:sp>
        <p:sp>
          <p:nvSpPr>
            <p:cNvPr id="10" name="矩形 9">
              <a:extLst>
                <a:ext uri="{FF2B5EF4-FFF2-40B4-BE49-F238E27FC236}">
                  <a16:creationId xmlns:a16="http://schemas.microsoft.com/office/drawing/2014/main" id="{8005FF7E-6A89-A57D-040E-F25127ADC014}"/>
                </a:ext>
              </a:extLst>
            </p:cNvPr>
            <p:cNvSpPr/>
            <p:nvPr/>
          </p:nvSpPr>
          <p:spPr>
            <a:xfrm>
              <a:off x="6726905" y="3286080"/>
              <a:ext cx="1440000" cy="52551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500" dirty="0">
                  <a:solidFill>
                    <a:schemeClr val="tx1"/>
                  </a:solidFill>
                  <a:latin typeface="Arial" panose="020B0604020202020204" pitchFamily="34" charset="0"/>
                  <a:cs typeface="Arial" panose="020B0604020202020204" pitchFamily="34" charset="0"/>
                </a:rPr>
                <a:t>Page Table Offset (9bits)</a:t>
              </a:r>
              <a:endParaRPr kumimoji="1" lang="zh-TW" altLang="en-US" sz="1500" dirty="0">
                <a:solidFill>
                  <a:schemeClr val="tx1"/>
                </a:solidFill>
                <a:latin typeface="Arial" panose="020B0604020202020204" pitchFamily="34" charset="0"/>
                <a:cs typeface="Arial" panose="020B0604020202020204" pitchFamily="34" charset="0"/>
              </a:endParaRPr>
            </a:p>
          </p:txBody>
        </p:sp>
        <p:sp>
          <p:nvSpPr>
            <p:cNvPr id="11" name="矩形 10">
              <a:extLst>
                <a:ext uri="{FF2B5EF4-FFF2-40B4-BE49-F238E27FC236}">
                  <a16:creationId xmlns:a16="http://schemas.microsoft.com/office/drawing/2014/main" id="{09B662BF-9468-102F-DC12-2BF97965AB78}"/>
                </a:ext>
              </a:extLst>
            </p:cNvPr>
            <p:cNvSpPr/>
            <p:nvPr/>
          </p:nvSpPr>
          <p:spPr>
            <a:xfrm>
              <a:off x="8166905" y="3286080"/>
              <a:ext cx="1440000" cy="52551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500" dirty="0">
                  <a:solidFill>
                    <a:schemeClr val="tx1"/>
                  </a:solidFill>
                  <a:latin typeface="Arial" panose="020B0604020202020204" pitchFamily="34" charset="0"/>
                  <a:cs typeface="Arial" panose="020B0604020202020204" pitchFamily="34" charset="0"/>
                </a:rPr>
                <a:t>Page Offset</a:t>
              </a:r>
              <a:br>
                <a:rPr kumimoji="1" lang="en-US" altLang="zh-TW" sz="1500" dirty="0">
                  <a:solidFill>
                    <a:schemeClr val="tx1"/>
                  </a:solidFill>
                  <a:latin typeface="Arial" panose="020B0604020202020204" pitchFamily="34" charset="0"/>
                  <a:cs typeface="Arial" panose="020B0604020202020204" pitchFamily="34" charset="0"/>
                </a:rPr>
              </a:br>
              <a:r>
                <a:rPr kumimoji="1" lang="en-US" altLang="zh-TW" sz="1500" dirty="0">
                  <a:solidFill>
                    <a:schemeClr val="tx1"/>
                  </a:solidFill>
                  <a:latin typeface="Arial" panose="020B0604020202020204" pitchFamily="34" charset="0"/>
                  <a:cs typeface="Arial" panose="020B0604020202020204" pitchFamily="34" charset="0"/>
                </a:rPr>
                <a:t>(12bits)</a:t>
              </a:r>
              <a:endParaRPr kumimoji="1" lang="zh-TW" altLang="en-US" sz="1500" dirty="0">
                <a:solidFill>
                  <a:schemeClr val="tx1"/>
                </a:solidFill>
                <a:latin typeface="Arial" panose="020B0604020202020204" pitchFamily="34" charset="0"/>
                <a:cs typeface="Arial" panose="020B0604020202020204" pitchFamily="34" charset="0"/>
              </a:endParaRPr>
            </a:p>
          </p:txBody>
        </p:sp>
        <p:sp>
          <p:nvSpPr>
            <p:cNvPr id="12" name="文字方塊 11">
              <a:extLst>
                <a:ext uri="{FF2B5EF4-FFF2-40B4-BE49-F238E27FC236}">
                  <a16:creationId xmlns:a16="http://schemas.microsoft.com/office/drawing/2014/main" id="{59855FD9-5D0C-05A1-48EC-E5AD77D4999A}"/>
                </a:ext>
              </a:extLst>
            </p:cNvPr>
            <p:cNvSpPr txBox="1"/>
            <p:nvPr/>
          </p:nvSpPr>
          <p:spPr>
            <a:xfrm>
              <a:off x="7866181" y="3034744"/>
              <a:ext cx="603050" cy="323165"/>
            </a:xfrm>
            <a:prstGeom prst="rect">
              <a:avLst/>
            </a:prstGeom>
            <a:noFill/>
          </p:spPr>
          <p:txBody>
            <a:bodyPr wrap="none" rtlCol="0">
              <a:spAutoFit/>
            </a:bodyPr>
            <a:lstStyle/>
            <a:p>
              <a:r>
                <a:rPr kumimoji="1" lang="en-US" altLang="zh-TW" sz="1500" dirty="0">
                  <a:latin typeface="Arial" panose="020B0604020202020204" pitchFamily="34" charset="0"/>
                  <a:cs typeface="Arial" panose="020B0604020202020204" pitchFamily="34" charset="0"/>
                </a:rPr>
                <a:t>12bit</a:t>
              </a:r>
              <a:endParaRPr kumimoji="1" lang="zh-TW" altLang="en-US" sz="1500" dirty="0">
                <a:latin typeface="Arial" panose="020B0604020202020204" pitchFamily="34" charset="0"/>
                <a:cs typeface="Arial" panose="020B0604020202020204" pitchFamily="34" charset="0"/>
              </a:endParaRPr>
            </a:p>
          </p:txBody>
        </p:sp>
        <p:sp>
          <p:nvSpPr>
            <p:cNvPr id="13" name="文字方塊 12">
              <a:extLst>
                <a:ext uri="{FF2B5EF4-FFF2-40B4-BE49-F238E27FC236}">
                  <a16:creationId xmlns:a16="http://schemas.microsoft.com/office/drawing/2014/main" id="{C97BE91D-E9B0-E505-4890-5DFD79CA9DD9}"/>
                </a:ext>
              </a:extLst>
            </p:cNvPr>
            <p:cNvSpPr txBox="1"/>
            <p:nvPr/>
          </p:nvSpPr>
          <p:spPr>
            <a:xfrm>
              <a:off x="9218649" y="3034744"/>
              <a:ext cx="495649" cy="323165"/>
            </a:xfrm>
            <a:prstGeom prst="rect">
              <a:avLst/>
            </a:prstGeom>
            <a:noFill/>
          </p:spPr>
          <p:txBody>
            <a:bodyPr wrap="none" rtlCol="0">
              <a:spAutoFit/>
            </a:bodyPr>
            <a:lstStyle/>
            <a:p>
              <a:r>
                <a:rPr kumimoji="1" lang="en-US" altLang="zh-TW" sz="1500" dirty="0">
                  <a:latin typeface="Arial" panose="020B0604020202020204" pitchFamily="34" charset="0"/>
                  <a:cs typeface="Arial" panose="020B0604020202020204" pitchFamily="34" charset="0"/>
                </a:rPr>
                <a:t>0bit</a:t>
              </a:r>
              <a:endParaRPr kumimoji="1" lang="zh-TW" altLang="en-US" sz="1500" dirty="0">
                <a:latin typeface="Arial" panose="020B0604020202020204" pitchFamily="34" charset="0"/>
                <a:cs typeface="Arial" panose="020B0604020202020204" pitchFamily="34" charset="0"/>
              </a:endParaRPr>
            </a:p>
          </p:txBody>
        </p:sp>
        <p:sp>
          <p:nvSpPr>
            <p:cNvPr id="14" name="文字方塊 13">
              <a:extLst>
                <a:ext uri="{FF2B5EF4-FFF2-40B4-BE49-F238E27FC236}">
                  <a16:creationId xmlns:a16="http://schemas.microsoft.com/office/drawing/2014/main" id="{CEECF783-AFFA-CB1C-9F3D-E99BFCCE695D}"/>
                </a:ext>
              </a:extLst>
            </p:cNvPr>
            <p:cNvSpPr txBox="1"/>
            <p:nvPr/>
          </p:nvSpPr>
          <p:spPr>
            <a:xfrm>
              <a:off x="6441680" y="3034744"/>
              <a:ext cx="603050" cy="323165"/>
            </a:xfrm>
            <a:prstGeom prst="rect">
              <a:avLst/>
            </a:prstGeom>
            <a:noFill/>
          </p:spPr>
          <p:txBody>
            <a:bodyPr wrap="none" rtlCol="0">
              <a:spAutoFit/>
            </a:bodyPr>
            <a:lstStyle/>
            <a:p>
              <a:r>
                <a:rPr kumimoji="1" lang="en-US" altLang="zh-TW" sz="1500" dirty="0">
                  <a:latin typeface="Arial" panose="020B0604020202020204" pitchFamily="34" charset="0"/>
                  <a:cs typeface="Arial" panose="020B0604020202020204" pitchFamily="34" charset="0"/>
                </a:rPr>
                <a:t>21bit</a:t>
              </a:r>
              <a:endParaRPr kumimoji="1" lang="zh-TW" altLang="en-US" sz="1500" dirty="0">
                <a:latin typeface="Arial" panose="020B0604020202020204" pitchFamily="34" charset="0"/>
                <a:cs typeface="Arial" panose="020B0604020202020204" pitchFamily="34" charset="0"/>
              </a:endParaRPr>
            </a:p>
          </p:txBody>
        </p:sp>
        <p:sp>
          <p:nvSpPr>
            <p:cNvPr id="15" name="文字方塊 14">
              <a:extLst>
                <a:ext uri="{FF2B5EF4-FFF2-40B4-BE49-F238E27FC236}">
                  <a16:creationId xmlns:a16="http://schemas.microsoft.com/office/drawing/2014/main" id="{A772221F-BF8E-305D-992D-67AE4660D134}"/>
                </a:ext>
              </a:extLst>
            </p:cNvPr>
            <p:cNvSpPr txBox="1"/>
            <p:nvPr/>
          </p:nvSpPr>
          <p:spPr>
            <a:xfrm>
              <a:off x="5047990" y="3034744"/>
              <a:ext cx="603050" cy="323165"/>
            </a:xfrm>
            <a:prstGeom prst="rect">
              <a:avLst/>
            </a:prstGeom>
            <a:noFill/>
          </p:spPr>
          <p:txBody>
            <a:bodyPr wrap="none" rtlCol="0">
              <a:spAutoFit/>
            </a:bodyPr>
            <a:lstStyle/>
            <a:p>
              <a:r>
                <a:rPr kumimoji="1" lang="en-US" altLang="zh-TW" sz="1500" dirty="0">
                  <a:latin typeface="Arial" panose="020B0604020202020204" pitchFamily="34" charset="0"/>
                  <a:cs typeface="Arial" panose="020B0604020202020204" pitchFamily="34" charset="0"/>
                </a:rPr>
                <a:t>30bit</a:t>
              </a:r>
              <a:endParaRPr kumimoji="1" lang="zh-TW" altLang="en-US" sz="1500" dirty="0">
                <a:latin typeface="Arial" panose="020B0604020202020204" pitchFamily="34" charset="0"/>
                <a:cs typeface="Arial" panose="020B0604020202020204" pitchFamily="34" charset="0"/>
              </a:endParaRPr>
            </a:p>
          </p:txBody>
        </p:sp>
        <p:sp>
          <p:nvSpPr>
            <p:cNvPr id="16" name="文字方塊 15">
              <a:extLst>
                <a:ext uri="{FF2B5EF4-FFF2-40B4-BE49-F238E27FC236}">
                  <a16:creationId xmlns:a16="http://schemas.microsoft.com/office/drawing/2014/main" id="{1E0F0889-8A34-CEB9-6590-69CC41167768}"/>
                </a:ext>
              </a:extLst>
            </p:cNvPr>
            <p:cNvSpPr txBox="1"/>
            <p:nvPr/>
          </p:nvSpPr>
          <p:spPr>
            <a:xfrm>
              <a:off x="3603084" y="3034744"/>
              <a:ext cx="603050" cy="323165"/>
            </a:xfrm>
            <a:prstGeom prst="rect">
              <a:avLst/>
            </a:prstGeom>
            <a:noFill/>
          </p:spPr>
          <p:txBody>
            <a:bodyPr wrap="none" rtlCol="0">
              <a:spAutoFit/>
            </a:bodyPr>
            <a:lstStyle/>
            <a:p>
              <a:r>
                <a:rPr kumimoji="1" lang="en-US" altLang="zh-TW" sz="1500" dirty="0">
                  <a:latin typeface="Arial" panose="020B0604020202020204" pitchFamily="34" charset="0"/>
                  <a:cs typeface="Arial" panose="020B0604020202020204" pitchFamily="34" charset="0"/>
                </a:rPr>
                <a:t>39bit</a:t>
              </a:r>
              <a:endParaRPr kumimoji="1" lang="zh-TW" altLang="en-US" sz="1500" dirty="0">
                <a:latin typeface="Arial" panose="020B0604020202020204" pitchFamily="34" charset="0"/>
                <a:cs typeface="Arial" panose="020B0604020202020204" pitchFamily="34" charset="0"/>
              </a:endParaRPr>
            </a:p>
          </p:txBody>
        </p:sp>
        <p:sp>
          <p:nvSpPr>
            <p:cNvPr id="17" name="文字方塊 16">
              <a:extLst>
                <a:ext uri="{FF2B5EF4-FFF2-40B4-BE49-F238E27FC236}">
                  <a16:creationId xmlns:a16="http://schemas.microsoft.com/office/drawing/2014/main" id="{BE5BF683-CFFA-D2A0-69B6-DF9B6F3362CD}"/>
                </a:ext>
              </a:extLst>
            </p:cNvPr>
            <p:cNvSpPr txBox="1"/>
            <p:nvPr/>
          </p:nvSpPr>
          <p:spPr>
            <a:xfrm>
              <a:off x="2167062" y="3034744"/>
              <a:ext cx="603050" cy="323165"/>
            </a:xfrm>
            <a:prstGeom prst="rect">
              <a:avLst/>
            </a:prstGeom>
            <a:noFill/>
          </p:spPr>
          <p:txBody>
            <a:bodyPr wrap="none" rtlCol="0">
              <a:spAutoFit/>
            </a:bodyPr>
            <a:lstStyle/>
            <a:p>
              <a:r>
                <a:rPr kumimoji="1" lang="en-US" altLang="zh-TW" sz="1500" dirty="0">
                  <a:latin typeface="Arial" panose="020B0604020202020204" pitchFamily="34" charset="0"/>
                  <a:cs typeface="Arial" panose="020B0604020202020204" pitchFamily="34" charset="0"/>
                </a:rPr>
                <a:t>48bit</a:t>
              </a:r>
              <a:endParaRPr kumimoji="1" lang="zh-TW" altLang="en-US" sz="1500" dirty="0">
                <a:latin typeface="Arial" panose="020B0604020202020204" pitchFamily="34" charset="0"/>
                <a:cs typeface="Arial" panose="020B0604020202020204" pitchFamily="34" charset="0"/>
              </a:endParaRPr>
            </a:p>
          </p:txBody>
        </p:sp>
        <p:sp>
          <p:nvSpPr>
            <p:cNvPr id="67" name="文字方塊 66">
              <a:extLst>
                <a:ext uri="{FF2B5EF4-FFF2-40B4-BE49-F238E27FC236}">
                  <a16:creationId xmlns:a16="http://schemas.microsoft.com/office/drawing/2014/main" id="{19BB486C-2071-B06A-F6F9-162B3E6DC4D5}"/>
                </a:ext>
              </a:extLst>
            </p:cNvPr>
            <p:cNvSpPr txBox="1"/>
            <p:nvPr/>
          </p:nvSpPr>
          <p:spPr>
            <a:xfrm>
              <a:off x="177800" y="3008962"/>
              <a:ext cx="603050" cy="323165"/>
            </a:xfrm>
            <a:prstGeom prst="rect">
              <a:avLst/>
            </a:prstGeom>
            <a:noFill/>
          </p:spPr>
          <p:txBody>
            <a:bodyPr wrap="none" rtlCol="0">
              <a:spAutoFit/>
            </a:bodyPr>
            <a:lstStyle/>
            <a:p>
              <a:r>
                <a:rPr kumimoji="1" lang="en-US" altLang="zh-TW" sz="1500" dirty="0">
                  <a:latin typeface="Arial" panose="020B0604020202020204" pitchFamily="34" charset="0"/>
                  <a:cs typeface="Arial" panose="020B0604020202020204" pitchFamily="34" charset="0"/>
                </a:rPr>
                <a:t>64bit</a:t>
              </a:r>
              <a:endParaRPr kumimoji="1" lang="zh-TW" altLang="en-US" sz="1500" dirty="0">
                <a:latin typeface="Arial" panose="020B0604020202020204" pitchFamily="34" charset="0"/>
                <a:cs typeface="Arial" panose="020B0604020202020204" pitchFamily="34" charset="0"/>
              </a:endParaRPr>
            </a:p>
          </p:txBody>
        </p:sp>
        <p:sp>
          <p:nvSpPr>
            <p:cNvPr id="68" name="文字方塊 67">
              <a:extLst>
                <a:ext uri="{FF2B5EF4-FFF2-40B4-BE49-F238E27FC236}">
                  <a16:creationId xmlns:a16="http://schemas.microsoft.com/office/drawing/2014/main" id="{3F458294-7F68-507A-DBB8-97BBB67868CB}"/>
                </a:ext>
              </a:extLst>
            </p:cNvPr>
            <p:cNvSpPr txBox="1"/>
            <p:nvPr/>
          </p:nvSpPr>
          <p:spPr>
            <a:xfrm>
              <a:off x="189427" y="2767797"/>
              <a:ext cx="2831609" cy="323165"/>
            </a:xfrm>
            <a:prstGeom prst="rect">
              <a:avLst/>
            </a:prstGeom>
            <a:noFill/>
          </p:spPr>
          <p:txBody>
            <a:bodyPr wrap="none" rtlCol="0">
              <a:spAutoFit/>
            </a:bodyPr>
            <a:lstStyle/>
            <a:p>
              <a:r>
                <a:rPr kumimoji="1" lang="en-US" altLang="zh-TW" sz="1500" b="1" dirty="0">
                  <a:latin typeface="Arial" panose="020B0604020202020204" pitchFamily="34" charset="0"/>
                  <a:cs typeface="Arial" panose="020B0604020202020204" pitchFamily="34" charset="0"/>
                </a:rPr>
                <a:t>64bits Victim Virtual Address</a:t>
              </a:r>
              <a:endParaRPr kumimoji="1" lang="zh-TW" altLang="en-US" sz="1500" b="1" dirty="0">
                <a:latin typeface="Arial" panose="020B0604020202020204" pitchFamily="34" charset="0"/>
                <a:cs typeface="Arial" panose="020B0604020202020204" pitchFamily="34" charset="0"/>
              </a:endParaRPr>
            </a:p>
          </p:txBody>
        </p:sp>
      </p:grpSp>
      <p:grpSp>
        <p:nvGrpSpPr>
          <p:cNvPr id="75" name="群組 74">
            <a:extLst>
              <a:ext uri="{FF2B5EF4-FFF2-40B4-BE49-F238E27FC236}">
                <a16:creationId xmlns:a16="http://schemas.microsoft.com/office/drawing/2014/main" id="{34DDDAD3-C6A1-AF50-C517-D0CF5F6FEAF1}"/>
              </a:ext>
            </a:extLst>
          </p:cNvPr>
          <p:cNvGrpSpPr/>
          <p:nvPr/>
        </p:nvGrpSpPr>
        <p:grpSpPr>
          <a:xfrm>
            <a:off x="3243490" y="2636880"/>
            <a:ext cx="1583563" cy="338554"/>
            <a:chOff x="2918343" y="808985"/>
            <a:chExt cx="1583563" cy="338554"/>
          </a:xfrm>
        </p:grpSpPr>
        <p:sp>
          <p:nvSpPr>
            <p:cNvPr id="76" name="文字方塊 75">
              <a:extLst>
                <a:ext uri="{FF2B5EF4-FFF2-40B4-BE49-F238E27FC236}">
                  <a16:creationId xmlns:a16="http://schemas.microsoft.com/office/drawing/2014/main" id="{9B3F5015-6CAC-9553-63CE-EB52EDE88CBD}"/>
                </a:ext>
              </a:extLst>
            </p:cNvPr>
            <p:cNvSpPr txBox="1"/>
            <p:nvPr/>
          </p:nvSpPr>
          <p:spPr>
            <a:xfrm>
              <a:off x="3224505" y="808985"/>
              <a:ext cx="1277401" cy="338554"/>
            </a:xfrm>
            <a:prstGeom prst="rect">
              <a:avLst/>
            </a:prstGeom>
            <a:noFill/>
          </p:spPr>
          <p:txBody>
            <a:bodyPr wrap="none" rtlCol="0">
              <a:spAutoFit/>
            </a:bodyPr>
            <a:lstStyle/>
            <a:p>
              <a:r>
                <a:rPr kumimoji="1" lang="en-US" altLang="zh-TW" sz="1600" dirty="0">
                  <a:latin typeface="Arial" panose="020B0604020202020204" pitchFamily="34" charset="0"/>
                  <a:cs typeface="Arial" panose="020B0604020202020204" pitchFamily="34" charset="0"/>
                </a:rPr>
                <a:t>pgd_offset()</a:t>
              </a:r>
              <a:endParaRPr kumimoji="1" lang="zh-TW" altLang="en-US" sz="1600" dirty="0">
                <a:latin typeface="Arial" panose="020B0604020202020204" pitchFamily="34" charset="0"/>
                <a:cs typeface="Arial" panose="020B0604020202020204" pitchFamily="34" charset="0"/>
              </a:endParaRPr>
            </a:p>
          </p:txBody>
        </p:sp>
        <p:sp>
          <p:nvSpPr>
            <p:cNvPr id="77" name="橢圓 76">
              <a:extLst>
                <a:ext uri="{FF2B5EF4-FFF2-40B4-BE49-F238E27FC236}">
                  <a16:creationId xmlns:a16="http://schemas.microsoft.com/office/drawing/2014/main" id="{144F4E3B-4975-67AD-7275-695F603111E9}"/>
                </a:ext>
              </a:extLst>
            </p:cNvPr>
            <p:cNvSpPr/>
            <p:nvPr/>
          </p:nvSpPr>
          <p:spPr>
            <a:xfrm>
              <a:off x="2918343" y="811673"/>
              <a:ext cx="303397" cy="3024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eaLnBrk="0" hangingPunct="0"/>
              <a:r>
                <a:rPr kumimoji="1" lang="en-US" altLang="zh-TW" sz="2400" dirty="0">
                  <a:solidFill>
                    <a:schemeClr val="tx1"/>
                  </a:solidFill>
                  <a:latin typeface="Arial" panose="020B0604020202020204" pitchFamily="34" charset="0"/>
                  <a:cs typeface="Arial" panose="020B0604020202020204" pitchFamily="34" charset="0"/>
                </a:rPr>
                <a:t>+</a:t>
              </a:r>
              <a:endParaRPr kumimoji="1" lang="zh-TW" altLang="en-US" sz="2400" dirty="0">
                <a:solidFill>
                  <a:schemeClr val="tx1"/>
                </a:solidFill>
                <a:latin typeface="Arial" panose="020B0604020202020204" pitchFamily="34" charset="0"/>
                <a:cs typeface="Arial" panose="020B0604020202020204" pitchFamily="34" charset="0"/>
              </a:endParaRPr>
            </a:p>
          </p:txBody>
        </p:sp>
      </p:grpSp>
      <p:grpSp>
        <p:nvGrpSpPr>
          <p:cNvPr id="106" name="群組 105">
            <a:extLst>
              <a:ext uri="{FF2B5EF4-FFF2-40B4-BE49-F238E27FC236}">
                <a16:creationId xmlns:a16="http://schemas.microsoft.com/office/drawing/2014/main" id="{F63E3EE4-F306-8B7A-2B96-55582F899157}"/>
              </a:ext>
            </a:extLst>
          </p:cNvPr>
          <p:cNvGrpSpPr/>
          <p:nvPr/>
        </p:nvGrpSpPr>
        <p:grpSpPr>
          <a:xfrm>
            <a:off x="2103781" y="3811600"/>
            <a:ext cx="1023125" cy="2863179"/>
            <a:chOff x="2103781" y="3811600"/>
            <a:chExt cx="1023125" cy="2863179"/>
          </a:xfrm>
        </p:grpSpPr>
        <p:cxnSp>
          <p:nvCxnSpPr>
            <p:cNvPr id="24" name="直線接點 23">
              <a:extLst>
                <a:ext uri="{FF2B5EF4-FFF2-40B4-BE49-F238E27FC236}">
                  <a16:creationId xmlns:a16="http://schemas.microsoft.com/office/drawing/2014/main" id="{48C01CAC-CDFD-A3D8-3D68-84CDBE956935}"/>
                </a:ext>
              </a:extLst>
            </p:cNvPr>
            <p:cNvCxnSpPr>
              <a:cxnSpLocks/>
              <a:endCxn id="19" idx="4"/>
            </p:cNvCxnSpPr>
            <p:nvPr/>
          </p:nvCxnSpPr>
          <p:spPr>
            <a:xfrm flipV="1">
              <a:off x="2459769" y="6352787"/>
              <a:ext cx="1" cy="321992"/>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05" name="群組 104">
              <a:extLst>
                <a:ext uri="{FF2B5EF4-FFF2-40B4-BE49-F238E27FC236}">
                  <a16:creationId xmlns:a16="http://schemas.microsoft.com/office/drawing/2014/main" id="{3655458A-6314-90F6-5B5D-DD423CDC7A6B}"/>
                </a:ext>
              </a:extLst>
            </p:cNvPr>
            <p:cNvGrpSpPr/>
            <p:nvPr/>
          </p:nvGrpSpPr>
          <p:grpSpPr>
            <a:xfrm>
              <a:off x="2103781" y="3811600"/>
              <a:ext cx="1023125" cy="2541187"/>
              <a:chOff x="2103781" y="3811600"/>
              <a:chExt cx="1023125" cy="2541187"/>
            </a:xfrm>
          </p:grpSpPr>
          <p:cxnSp>
            <p:nvCxnSpPr>
              <p:cNvPr id="18" name="直線箭頭接點 17">
                <a:extLst>
                  <a:ext uri="{FF2B5EF4-FFF2-40B4-BE49-F238E27FC236}">
                    <a16:creationId xmlns:a16="http://schemas.microsoft.com/office/drawing/2014/main" id="{4F6EA94F-971A-2FDF-FBFE-B194679BCDFC}"/>
                  </a:ext>
                </a:extLst>
              </p:cNvPr>
              <p:cNvCxnSpPr>
                <a:cxnSpLocks/>
                <a:stCxn id="6" idx="2"/>
                <a:endCxn id="19" idx="0"/>
              </p:cNvCxnSpPr>
              <p:nvPr/>
            </p:nvCxnSpPr>
            <p:spPr>
              <a:xfrm rot="5400000">
                <a:off x="1673945" y="4597426"/>
                <a:ext cx="2238787" cy="667135"/>
              </a:xfrm>
              <a:prstGeom prst="bentConnector3">
                <a:avLst>
                  <a:gd name="adj1" fmla="val 1256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橢圓 18">
                <a:extLst>
                  <a:ext uri="{FF2B5EF4-FFF2-40B4-BE49-F238E27FC236}">
                    <a16:creationId xmlns:a16="http://schemas.microsoft.com/office/drawing/2014/main" id="{0415C2A7-A303-A108-8E2F-C2A54C6BB58C}"/>
                  </a:ext>
                </a:extLst>
              </p:cNvPr>
              <p:cNvSpPr/>
              <p:nvPr/>
            </p:nvSpPr>
            <p:spPr>
              <a:xfrm>
                <a:off x="2308071" y="6050387"/>
                <a:ext cx="303397" cy="3024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eaLnBrk="0" hangingPunct="0"/>
                <a:r>
                  <a:rPr kumimoji="1" lang="en-US" altLang="zh-TW" sz="2400" dirty="0">
                    <a:solidFill>
                      <a:schemeClr val="tx1"/>
                    </a:solidFill>
                    <a:latin typeface="Arial" panose="020B0604020202020204" pitchFamily="34" charset="0"/>
                    <a:cs typeface="Arial" panose="020B0604020202020204" pitchFamily="34" charset="0"/>
                  </a:rPr>
                  <a:t>+</a:t>
                </a:r>
                <a:endParaRPr kumimoji="1" lang="zh-TW" altLang="en-US" sz="2400" dirty="0">
                  <a:solidFill>
                    <a:schemeClr val="tx1"/>
                  </a:solidFill>
                  <a:latin typeface="Arial" panose="020B0604020202020204" pitchFamily="34" charset="0"/>
                  <a:cs typeface="Arial" panose="020B0604020202020204" pitchFamily="34" charset="0"/>
                </a:endParaRPr>
              </a:p>
            </p:txBody>
          </p:sp>
          <p:cxnSp>
            <p:nvCxnSpPr>
              <p:cNvPr id="25" name="直線接點 24">
                <a:extLst>
                  <a:ext uri="{FF2B5EF4-FFF2-40B4-BE49-F238E27FC236}">
                    <a16:creationId xmlns:a16="http://schemas.microsoft.com/office/drawing/2014/main" id="{8A51CBD1-3958-9B33-7314-656C614CB989}"/>
                  </a:ext>
                </a:extLst>
              </p:cNvPr>
              <p:cNvCxnSpPr>
                <a:cxnSpLocks/>
                <a:stCxn id="19" idx="6"/>
                <a:endCxn id="27" idx="1"/>
              </p:cNvCxnSpPr>
              <p:nvPr/>
            </p:nvCxnSpPr>
            <p:spPr>
              <a:xfrm flipV="1">
                <a:off x="2611468" y="6201284"/>
                <a:ext cx="378799" cy="303"/>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橢圓 85">
                <a:extLst>
                  <a:ext uri="{FF2B5EF4-FFF2-40B4-BE49-F238E27FC236}">
                    <a16:creationId xmlns:a16="http://schemas.microsoft.com/office/drawing/2014/main" id="{ABDF1BB0-9732-9F7E-2805-CA032547980E}"/>
                  </a:ext>
                </a:extLst>
              </p:cNvPr>
              <p:cNvSpPr/>
              <p:nvPr/>
            </p:nvSpPr>
            <p:spPr>
              <a:xfrm>
                <a:off x="2103781" y="5892594"/>
                <a:ext cx="246580" cy="23238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bg1"/>
                    </a:solidFill>
                    <a:latin typeface="Arial" panose="020B0604020202020204" pitchFamily="34" charset="0"/>
                    <a:cs typeface="Arial" panose="020B0604020202020204" pitchFamily="34" charset="0"/>
                  </a:rPr>
                  <a:t>2</a:t>
                </a:r>
                <a:endParaRPr kumimoji="1" lang="zh-TW" altLang="en-US" sz="1400" b="1" dirty="0">
                  <a:solidFill>
                    <a:schemeClr val="bg1"/>
                  </a:solidFill>
                  <a:latin typeface="Arial" panose="020B0604020202020204" pitchFamily="34" charset="0"/>
                  <a:cs typeface="Arial" panose="020B0604020202020204" pitchFamily="34" charset="0"/>
                </a:endParaRPr>
              </a:p>
            </p:txBody>
          </p:sp>
        </p:grpSp>
      </p:grpSp>
      <p:grpSp>
        <p:nvGrpSpPr>
          <p:cNvPr id="117" name="群組 116">
            <a:extLst>
              <a:ext uri="{FF2B5EF4-FFF2-40B4-BE49-F238E27FC236}">
                <a16:creationId xmlns:a16="http://schemas.microsoft.com/office/drawing/2014/main" id="{E29BE4CE-CD12-47E2-2BCC-B8B2F226DE80}"/>
              </a:ext>
            </a:extLst>
          </p:cNvPr>
          <p:cNvGrpSpPr/>
          <p:nvPr/>
        </p:nvGrpSpPr>
        <p:grpSpPr>
          <a:xfrm>
            <a:off x="4080311" y="2636880"/>
            <a:ext cx="2339278" cy="4034347"/>
            <a:chOff x="4080311" y="2636880"/>
            <a:chExt cx="2339278" cy="4034347"/>
          </a:xfrm>
        </p:grpSpPr>
        <p:grpSp>
          <p:nvGrpSpPr>
            <p:cNvPr id="72" name="群組 71">
              <a:extLst>
                <a:ext uri="{FF2B5EF4-FFF2-40B4-BE49-F238E27FC236}">
                  <a16:creationId xmlns:a16="http://schemas.microsoft.com/office/drawing/2014/main" id="{6029E164-9BFC-4FA6-0031-CF0AABBC0508}"/>
                </a:ext>
              </a:extLst>
            </p:cNvPr>
            <p:cNvGrpSpPr/>
            <p:nvPr/>
          </p:nvGrpSpPr>
          <p:grpSpPr>
            <a:xfrm>
              <a:off x="4823321" y="2636880"/>
              <a:ext cx="1596268" cy="338554"/>
              <a:chOff x="4511650" y="808985"/>
              <a:chExt cx="1596268" cy="338554"/>
            </a:xfrm>
          </p:grpSpPr>
          <p:sp>
            <p:nvSpPr>
              <p:cNvPr id="73" name="文字方塊 72">
                <a:extLst>
                  <a:ext uri="{FF2B5EF4-FFF2-40B4-BE49-F238E27FC236}">
                    <a16:creationId xmlns:a16="http://schemas.microsoft.com/office/drawing/2014/main" id="{D8C595D7-2A6B-F635-1945-090F536A913D}"/>
                  </a:ext>
                </a:extLst>
              </p:cNvPr>
              <p:cNvSpPr txBox="1"/>
              <p:nvPr/>
            </p:nvSpPr>
            <p:spPr>
              <a:xfrm>
                <a:off x="4830517" y="808985"/>
                <a:ext cx="1277401" cy="338554"/>
              </a:xfrm>
              <a:prstGeom prst="rect">
                <a:avLst/>
              </a:prstGeom>
              <a:noFill/>
            </p:spPr>
            <p:txBody>
              <a:bodyPr wrap="none" rtlCol="0">
                <a:spAutoFit/>
              </a:bodyPr>
              <a:lstStyle/>
              <a:p>
                <a:r>
                  <a:rPr kumimoji="1" lang="en-US" altLang="zh-TW" sz="1600" dirty="0">
                    <a:latin typeface="Arial" panose="020B0604020202020204" pitchFamily="34" charset="0"/>
                    <a:cs typeface="Arial" panose="020B0604020202020204" pitchFamily="34" charset="0"/>
                  </a:rPr>
                  <a:t>pud_offset()</a:t>
                </a:r>
                <a:endParaRPr kumimoji="1" lang="zh-TW" altLang="en-US" sz="1600" dirty="0">
                  <a:latin typeface="Arial" panose="020B0604020202020204" pitchFamily="34" charset="0"/>
                  <a:cs typeface="Arial" panose="020B0604020202020204" pitchFamily="34" charset="0"/>
                </a:endParaRPr>
              </a:p>
            </p:txBody>
          </p:sp>
          <p:sp>
            <p:nvSpPr>
              <p:cNvPr id="74" name="橢圓 73">
                <a:extLst>
                  <a:ext uri="{FF2B5EF4-FFF2-40B4-BE49-F238E27FC236}">
                    <a16:creationId xmlns:a16="http://schemas.microsoft.com/office/drawing/2014/main" id="{C7C99101-DEC8-7C0C-09A4-4C505188DFF0}"/>
                  </a:ext>
                </a:extLst>
              </p:cNvPr>
              <p:cNvSpPr/>
              <p:nvPr/>
            </p:nvSpPr>
            <p:spPr>
              <a:xfrm>
                <a:off x="4511650" y="811673"/>
                <a:ext cx="303397" cy="302400"/>
              </a:xfrm>
              <a:prstGeom prst="ellipse">
                <a:avLst/>
              </a:prstGeom>
              <a:solidFill>
                <a:schemeClr val="bg1">
                  <a:lumMod val="8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eaLnBrk="0" hangingPunct="0"/>
                <a:r>
                  <a:rPr kumimoji="1" lang="en-US" altLang="zh-TW" sz="2400" dirty="0">
                    <a:solidFill>
                      <a:schemeClr val="tx1"/>
                    </a:solidFill>
                    <a:latin typeface="Arial" panose="020B0604020202020204" pitchFamily="34" charset="0"/>
                    <a:cs typeface="Arial" panose="020B0604020202020204" pitchFamily="34" charset="0"/>
                  </a:rPr>
                  <a:t>+</a:t>
                </a:r>
                <a:endParaRPr kumimoji="1" lang="zh-TW" altLang="en-US" sz="2400" dirty="0">
                  <a:solidFill>
                    <a:schemeClr val="tx1"/>
                  </a:solidFill>
                  <a:latin typeface="Arial" panose="020B0604020202020204" pitchFamily="34" charset="0"/>
                  <a:cs typeface="Arial" panose="020B0604020202020204" pitchFamily="34" charset="0"/>
                </a:endParaRPr>
              </a:p>
            </p:txBody>
          </p:sp>
        </p:grpSp>
        <p:grpSp>
          <p:nvGrpSpPr>
            <p:cNvPr id="108" name="群組 107">
              <a:extLst>
                <a:ext uri="{FF2B5EF4-FFF2-40B4-BE49-F238E27FC236}">
                  <a16:creationId xmlns:a16="http://schemas.microsoft.com/office/drawing/2014/main" id="{9038E439-EDF2-1C06-A041-B86E2C2C424D}"/>
                </a:ext>
              </a:extLst>
            </p:cNvPr>
            <p:cNvGrpSpPr/>
            <p:nvPr/>
          </p:nvGrpSpPr>
          <p:grpSpPr>
            <a:xfrm>
              <a:off x="4080311" y="3820857"/>
              <a:ext cx="830211" cy="2850370"/>
              <a:chOff x="4080311" y="3820857"/>
              <a:chExt cx="830211" cy="2850370"/>
            </a:xfrm>
          </p:grpSpPr>
          <p:cxnSp>
            <p:nvCxnSpPr>
              <p:cNvPr id="29" name="直線箭頭接點 28">
                <a:extLst>
                  <a:ext uri="{FF2B5EF4-FFF2-40B4-BE49-F238E27FC236}">
                    <a16:creationId xmlns:a16="http://schemas.microsoft.com/office/drawing/2014/main" id="{3E57699C-C8EC-CC54-C6F1-9C6E5D68B523}"/>
                  </a:ext>
                </a:extLst>
              </p:cNvPr>
              <p:cNvCxnSpPr>
                <a:cxnSpLocks/>
                <a:endCxn id="71" idx="0"/>
              </p:cNvCxnSpPr>
              <p:nvPr/>
            </p:nvCxnSpPr>
            <p:spPr>
              <a:xfrm>
                <a:off x="4412169" y="3820857"/>
                <a:ext cx="0" cy="136160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68EBDAB1-196F-9661-0854-769DD0EBBA53}"/>
                  </a:ext>
                </a:extLst>
              </p:cNvPr>
              <p:cNvCxnSpPr>
                <a:cxnSpLocks/>
                <a:endCxn id="71" idx="4"/>
              </p:cNvCxnSpPr>
              <p:nvPr/>
            </p:nvCxnSpPr>
            <p:spPr>
              <a:xfrm flipV="1">
                <a:off x="4412169" y="5484860"/>
                <a:ext cx="0" cy="118636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53D97332-D40A-B524-78B5-AD6F410829CC}"/>
                  </a:ext>
                </a:extLst>
              </p:cNvPr>
              <p:cNvCxnSpPr>
                <a:cxnSpLocks/>
                <a:stCxn id="71" idx="6"/>
                <a:endCxn id="52" idx="1"/>
              </p:cNvCxnSpPr>
              <p:nvPr/>
            </p:nvCxnSpPr>
            <p:spPr>
              <a:xfrm flipV="1">
                <a:off x="4563867" y="5333093"/>
                <a:ext cx="346655" cy="56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橢圓 70">
                <a:extLst>
                  <a:ext uri="{FF2B5EF4-FFF2-40B4-BE49-F238E27FC236}">
                    <a16:creationId xmlns:a16="http://schemas.microsoft.com/office/drawing/2014/main" id="{928921E1-4A1D-B938-E13E-2B77A6711029}"/>
                  </a:ext>
                </a:extLst>
              </p:cNvPr>
              <p:cNvSpPr/>
              <p:nvPr/>
            </p:nvSpPr>
            <p:spPr>
              <a:xfrm>
                <a:off x="4260470" y="5182460"/>
                <a:ext cx="303397" cy="302400"/>
              </a:xfrm>
              <a:prstGeom prst="ellipse">
                <a:avLst/>
              </a:prstGeom>
              <a:solidFill>
                <a:schemeClr val="bg1">
                  <a:lumMod val="8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eaLnBrk="0" hangingPunct="0"/>
                <a:r>
                  <a:rPr kumimoji="1" lang="en-US" altLang="zh-TW" sz="2400" dirty="0">
                    <a:solidFill>
                      <a:schemeClr val="tx1"/>
                    </a:solidFill>
                    <a:latin typeface="Arial" panose="020B0604020202020204" pitchFamily="34" charset="0"/>
                    <a:cs typeface="Arial" panose="020B0604020202020204" pitchFamily="34" charset="0"/>
                  </a:rPr>
                  <a:t>+</a:t>
                </a:r>
                <a:endParaRPr kumimoji="1" lang="zh-TW" altLang="en-US" sz="2400" dirty="0">
                  <a:solidFill>
                    <a:schemeClr val="tx1"/>
                  </a:solidFill>
                  <a:latin typeface="Arial" panose="020B0604020202020204" pitchFamily="34" charset="0"/>
                  <a:cs typeface="Arial" panose="020B0604020202020204" pitchFamily="34" charset="0"/>
                </a:endParaRPr>
              </a:p>
            </p:txBody>
          </p:sp>
          <p:sp>
            <p:nvSpPr>
              <p:cNvPr id="87" name="橢圓 86">
                <a:extLst>
                  <a:ext uri="{FF2B5EF4-FFF2-40B4-BE49-F238E27FC236}">
                    <a16:creationId xmlns:a16="http://schemas.microsoft.com/office/drawing/2014/main" id="{BA7D12AE-7D59-A1C8-9B42-FB340430B31E}"/>
                  </a:ext>
                </a:extLst>
              </p:cNvPr>
              <p:cNvSpPr/>
              <p:nvPr/>
            </p:nvSpPr>
            <p:spPr>
              <a:xfrm>
                <a:off x="4080311" y="4979169"/>
                <a:ext cx="246580" cy="23238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bg1"/>
                    </a:solidFill>
                    <a:latin typeface="Arial" panose="020B0604020202020204" pitchFamily="34" charset="0"/>
                    <a:cs typeface="Arial" panose="020B0604020202020204" pitchFamily="34" charset="0"/>
                  </a:rPr>
                  <a:t>3</a:t>
                </a:r>
                <a:endParaRPr kumimoji="1" lang="zh-TW" altLang="en-US" sz="1400" b="1" dirty="0">
                  <a:solidFill>
                    <a:schemeClr val="bg1"/>
                  </a:solidFill>
                  <a:latin typeface="Arial" panose="020B0604020202020204" pitchFamily="34" charset="0"/>
                  <a:cs typeface="Arial" panose="020B0604020202020204" pitchFamily="34" charset="0"/>
                </a:endParaRPr>
              </a:p>
            </p:txBody>
          </p:sp>
        </p:grpSp>
      </p:grpSp>
      <p:grpSp>
        <p:nvGrpSpPr>
          <p:cNvPr id="114" name="群組 113">
            <a:extLst>
              <a:ext uri="{FF2B5EF4-FFF2-40B4-BE49-F238E27FC236}">
                <a16:creationId xmlns:a16="http://schemas.microsoft.com/office/drawing/2014/main" id="{C9700EC9-55D5-1239-DA9A-E08517C2547D}"/>
              </a:ext>
            </a:extLst>
          </p:cNvPr>
          <p:cNvGrpSpPr/>
          <p:nvPr/>
        </p:nvGrpSpPr>
        <p:grpSpPr>
          <a:xfrm>
            <a:off x="6082271" y="2636880"/>
            <a:ext cx="1973370" cy="4025086"/>
            <a:chOff x="6082271" y="2636880"/>
            <a:chExt cx="1973370" cy="4025086"/>
          </a:xfrm>
        </p:grpSpPr>
        <p:cxnSp>
          <p:nvCxnSpPr>
            <p:cNvPr id="34" name="直線箭頭接點 33">
              <a:extLst>
                <a:ext uri="{FF2B5EF4-FFF2-40B4-BE49-F238E27FC236}">
                  <a16:creationId xmlns:a16="http://schemas.microsoft.com/office/drawing/2014/main" id="{02C3F9EB-5FAF-9652-4EE7-E340BFFC0824}"/>
                </a:ext>
              </a:extLst>
            </p:cNvPr>
            <p:cNvCxnSpPr>
              <a:cxnSpLocks/>
              <a:endCxn id="78" idx="0"/>
            </p:cNvCxnSpPr>
            <p:nvPr/>
          </p:nvCxnSpPr>
          <p:spPr>
            <a:xfrm>
              <a:off x="6393111" y="3811596"/>
              <a:ext cx="0" cy="168660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id="{52AF8AF2-CFDC-2B95-D57F-0CCE1C262A30}"/>
                </a:ext>
              </a:extLst>
            </p:cNvPr>
            <p:cNvCxnSpPr>
              <a:cxnSpLocks/>
              <a:endCxn id="78" idx="4"/>
            </p:cNvCxnSpPr>
            <p:nvPr/>
          </p:nvCxnSpPr>
          <p:spPr>
            <a:xfrm flipV="1">
              <a:off x="6393111" y="5800597"/>
              <a:ext cx="0" cy="861369"/>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接點 38">
              <a:extLst>
                <a:ext uri="{FF2B5EF4-FFF2-40B4-BE49-F238E27FC236}">
                  <a16:creationId xmlns:a16="http://schemas.microsoft.com/office/drawing/2014/main" id="{14A57174-BCD7-7CD8-68CE-2043C281EB4F}"/>
                </a:ext>
              </a:extLst>
            </p:cNvPr>
            <p:cNvCxnSpPr>
              <a:cxnSpLocks/>
              <a:stCxn id="78" idx="6"/>
              <a:endCxn id="54" idx="1"/>
            </p:cNvCxnSpPr>
            <p:nvPr/>
          </p:nvCxnSpPr>
          <p:spPr>
            <a:xfrm>
              <a:off x="6544809" y="5649397"/>
              <a:ext cx="28935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橢圓 77">
              <a:extLst>
                <a:ext uri="{FF2B5EF4-FFF2-40B4-BE49-F238E27FC236}">
                  <a16:creationId xmlns:a16="http://schemas.microsoft.com/office/drawing/2014/main" id="{81F1BF88-F9F0-673E-AFDF-E5ECB0D5F32B}"/>
                </a:ext>
              </a:extLst>
            </p:cNvPr>
            <p:cNvSpPr/>
            <p:nvPr/>
          </p:nvSpPr>
          <p:spPr>
            <a:xfrm>
              <a:off x="6241412" y="5498197"/>
              <a:ext cx="303397" cy="302400"/>
            </a:xfrm>
            <a:prstGeom prst="ellipse">
              <a:avLst/>
            </a:prstGeom>
            <a:solidFill>
              <a:schemeClr val="bg1">
                <a:lumMod val="6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eaLnBrk="0" hangingPunct="0"/>
              <a:r>
                <a:rPr kumimoji="1" lang="en-US" altLang="zh-TW" sz="2400" dirty="0">
                  <a:solidFill>
                    <a:schemeClr val="tx1"/>
                  </a:solidFill>
                  <a:latin typeface="Arial" panose="020B0604020202020204" pitchFamily="34" charset="0"/>
                  <a:cs typeface="Arial" panose="020B0604020202020204" pitchFamily="34" charset="0"/>
                </a:rPr>
                <a:t>+</a:t>
              </a:r>
              <a:endParaRPr kumimoji="1" lang="zh-TW" altLang="en-US" sz="2400" dirty="0">
                <a:solidFill>
                  <a:schemeClr val="tx1"/>
                </a:solidFill>
                <a:latin typeface="Arial" panose="020B0604020202020204" pitchFamily="34" charset="0"/>
                <a:cs typeface="Arial" panose="020B0604020202020204" pitchFamily="34" charset="0"/>
              </a:endParaRPr>
            </a:p>
          </p:txBody>
        </p:sp>
        <p:grpSp>
          <p:nvGrpSpPr>
            <p:cNvPr id="79" name="群組 78">
              <a:extLst>
                <a:ext uri="{FF2B5EF4-FFF2-40B4-BE49-F238E27FC236}">
                  <a16:creationId xmlns:a16="http://schemas.microsoft.com/office/drawing/2014/main" id="{E32AF9D5-7DE6-9DD5-CC0E-2A10EEF2E53E}"/>
                </a:ext>
              </a:extLst>
            </p:cNvPr>
            <p:cNvGrpSpPr/>
            <p:nvPr/>
          </p:nvGrpSpPr>
          <p:grpSpPr>
            <a:xfrm>
              <a:off x="6415857" y="2636880"/>
              <a:ext cx="1639784" cy="338554"/>
              <a:chOff x="6100817" y="808985"/>
              <a:chExt cx="1639784" cy="338554"/>
            </a:xfrm>
          </p:grpSpPr>
          <p:sp>
            <p:nvSpPr>
              <p:cNvPr id="80" name="文字方塊 79">
                <a:extLst>
                  <a:ext uri="{FF2B5EF4-FFF2-40B4-BE49-F238E27FC236}">
                    <a16:creationId xmlns:a16="http://schemas.microsoft.com/office/drawing/2014/main" id="{934DCA90-967B-36A4-D44E-810929C5E450}"/>
                  </a:ext>
                </a:extLst>
              </p:cNvPr>
              <p:cNvSpPr txBox="1"/>
              <p:nvPr/>
            </p:nvSpPr>
            <p:spPr>
              <a:xfrm>
                <a:off x="6405492" y="808985"/>
                <a:ext cx="1335109" cy="338554"/>
              </a:xfrm>
              <a:prstGeom prst="rect">
                <a:avLst/>
              </a:prstGeom>
              <a:noFill/>
            </p:spPr>
            <p:txBody>
              <a:bodyPr wrap="none" rtlCol="0">
                <a:spAutoFit/>
              </a:bodyPr>
              <a:lstStyle/>
              <a:p>
                <a:r>
                  <a:rPr kumimoji="1" lang="en-US" altLang="zh-TW" sz="1600" dirty="0">
                    <a:latin typeface="Arial" panose="020B0604020202020204" pitchFamily="34" charset="0"/>
                    <a:cs typeface="Arial" panose="020B0604020202020204" pitchFamily="34" charset="0"/>
                  </a:rPr>
                  <a:t>pmd_offset()</a:t>
                </a:r>
                <a:endParaRPr kumimoji="1" lang="zh-TW" altLang="en-US" sz="1600" dirty="0">
                  <a:latin typeface="Arial" panose="020B0604020202020204" pitchFamily="34" charset="0"/>
                  <a:cs typeface="Arial" panose="020B0604020202020204" pitchFamily="34" charset="0"/>
                </a:endParaRPr>
              </a:p>
            </p:txBody>
          </p:sp>
          <p:sp>
            <p:nvSpPr>
              <p:cNvPr id="81" name="橢圓 80">
                <a:extLst>
                  <a:ext uri="{FF2B5EF4-FFF2-40B4-BE49-F238E27FC236}">
                    <a16:creationId xmlns:a16="http://schemas.microsoft.com/office/drawing/2014/main" id="{BE42632E-65A3-B63A-7736-99314953F79F}"/>
                  </a:ext>
                </a:extLst>
              </p:cNvPr>
              <p:cNvSpPr/>
              <p:nvPr/>
            </p:nvSpPr>
            <p:spPr>
              <a:xfrm>
                <a:off x="6100817" y="811673"/>
                <a:ext cx="303397" cy="302400"/>
              </a:xfrm>
              <a:prstGeom prst="ellipse">
                <a:avLst/>
              </a:prstGeom>
              <a:solidFill>
                <a:schemeClr val="bg1">
                  <a:lumMod val="6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eaLnBrk="0" hangingPunct="0"/>
                <a:r>
                  <a:rPr kumimoji="1" lang="en-US" altLang="zh-TW" sz="2400" dirty="0">
                    <a:solidFill>
                      <a:schemeClr val="tx1"/>
                    </a:solidFill>
                    <a:latin typeface="Arial" panose="020B0604020202020204" pitchFamily="34" charset="0"/>
                    <a:cs typeface="Arial" panose="020B0604020202020204" pitchFamily="34" charset="0"/>
                  </a:rPr>
                  <a:t>+</a:t>
                </a:r>
                <a:endParaRPr kumimoji="1" lang="zh-TW" altLang="en-US" sz="2400" dirty="0">
                  <a:solidFill>
                    <a:schemeClr val="tx1"/>
                  </a:solidFill>
                  <a:latin typeface="Arial" panose="020B0604020202020204" pitchFamily="34" charset="0"/>
                  <a:cs typeface="Arial" panose="020B0604020202020204" pitchFamily="34" charset="0"/>
                </a:endParaRPr>
              </a:p>
            </p:txBody>
          </p:sp>
        </p:grpSp>
        <p:sp>
          <p:nvSpPr>
            <p:cNvPr id="88" name="橢圓 87">
              <a:extLst>
                <a:ext uri="{FF2B5EF4-FFF2-40B4-BE49-F238E27FC236}">
                  <a16:creationId xmlns:a16="http://schemas.microsoft.com/office/drawing/2014/main" id="{EE4A3F90-0834-61C4-4BDF-A84BEA7BD19F}"/>
                </a:ext>
              </a:extLst>
            </p:cNvPr>
            <p:cNvSpPr/>
            <p:nvPr/>
          </p:nvSpPr>
          <p:spPr>
            <a:xfrm>
              <a:off x="6082271" y="5291647"/>
              <a:ext cx="246580" cy="23238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bg1"/>
                  </a:solidFill>
                  <a:latin typeface="Arial" panose="020B0604020202020204" pitchFamily="34" charset="0"/>
                  <a:cs typeface="Arial" panose="020B0604020202020204" pitchFamily="34" charset="0"/>
                </a:rPr>
                <a:t>4</a:t>
              </a:r>
              <a:endParaRPr kumimoji="1" lang="zh-TW" altLang="en-US" sz="1400" b="1" dirty="0">
                <a:solidFill>
                  <a:schemeClr val="bg1"/>
                </a:solidFill>
                <a:latin typeface="Arial" panose="020B0604020202020204" pitchFamily="34" charset="0"/>
                <a:cs typeface="Arial" panose="020B0604020202020204" pitchFamily="34" charset="0"/>
              </a:endParaRPr>
            </a:p>
          </p:txBody>
        </p:sp>
      </p:grpSp>
      <p:grpSp>
        <p:nvGrpSpPr>
          <p:cNvPr id="116" name="群組 115">
            <a:extLst>
              <a:ext uri="{FF2B5EF4-FFF2-40B4-BE49-F238E27FC236}">
                <a16:creationId xmlns:a16="http://schemas.microsoft.com/office/drawing/2014/main" id="{37508152-B090-D8BE-7D11-8778D80B5AB3}"/>
              </a:ext>
            </a:extLst>
          </p:cNvPr>
          <p:cNvGrpSpPr/>
          <p:nvPr/>
        </p:nvGrpSpPr>
        <p:grpSpPr>
          <a:xfrm>
            <a:off x="7446906" y="2636880"/>
            <a:ext cx="2134628" cy="4008917"/>
            <a:chOff x="7446906" y="2636880"/>
            <a:chExt cx="2134628" cy="4008917"/>
          </a:xfrm>
        </p:grpSpPr>
        <p:cxnSp>
          <p:nvCxnSpPr>
            <p:cNvPr id="43" name="直線箭頭接點 81">
              <a:extLst>
                <a:ext uri="{FF2B5EF4-FFF2-40B4-BE49-F238E27FC236}">
                  <a16:creationId xmlns:a16="http://schemas.microsoft.com/office/drawing/2014/main" id="{1DAC767E-9B0B-8179-A3E1-B65D3A5B488D}"/>
                </a:ext>
              </a:extLst>
            </p:cNvPr>
            <p:cNvCxnSpPr>
              <a:cxnSpLocks/>
              <a:stCxn id="10" idx="2"/>
              <a:endCxn id="82" idx="0"/>
            </p:cNvCxnSpPr>
            <p:nvPr/>
          </p:nvCxnSpPr>
          <p:spPr>
            <a:xfrm rot="16200000" flipH="1">
              <a:off x="6947696" y="4310806"/>
              <a:ext cx="1946121" cy="947702"/>
            </a:xfrm>
            <a:prstGeom prst="bentConnector3">
              <a:avLst>
                <a:gd name="adj1" fmla="val 13714"/>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id="{C8C43A20-31A8-6A56-86FC-EAD16F8D3FD8}"/>
                </a:ext>
              </a:extLst>
            </p:cNvPr>
            <p:cNvCxnSpPr>
              <a:cxnSpLocks/>
              <a:endCxn id="82" idx="4"/>
            </p:cNvCxnSpPr>
            <p:nvPr/>
          </p:nvCxnSpPr>
          <p:spPr>
            <a:xfrm flipV="1">
              <a:off x="8394607" y="6060118"/>
              <a:ext cx="0" cy="585679"/>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接點 65">
              <a:extLst>
                <a:ext uri="{FF2B5EF4-FFF2-40B4-BE49-F238E27FC236}">
                  <a16:creationId xmlns:a16="http://schemas.microsoft.com/office/drawing/2014/main" id="{0722C3DA-D689-64D1-1BA2-62F138B7CB11}"/>
                </a:ext>
              </a:extLst>
            </p:cNvPr>
            <p:cNvCxnSpPr>
              <a:cxnSpLocks/>
              <a:stCxn id="82" idx="6"/>
              <a:endCxn id="62" idx="1"/>
            </p:cNvCxnSpPr>
            <p:nvPr/>
          </p:nvCxnSpPr>
          <p:spPr>
            <a:xfrm>
              <a:off x="8546305" y="5908918"/>
              <a:ext cx="186859"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橢圓 81">
              <a:extLst>
                <a:ext uri="{FF2B5EF4-FFF2-40B4-BE49-F238E27FC236}">
                  <a16:creationId xmlns:a16="http://schemas.microsoft.com/office/drawing/2014/main" id="{833E2B94-6735-93BC-FB34-4B94309EF32E}"/>
                </a:ext>
              </a:extLst>
            </p:cNvPr>
            <p:cNvSpPr/>
            <p:nvPr/>
          </p:nvSpPr>
          <p:spPr>
            <a:xfrm>
              <a:off x="8242908" y="5757718"/>
              <a:ext cx="303397" cy="302400"/>
            </a:xfrm>
            <a:prstGeom prst="ellipse">
              <a:avLst/>
            </a:prstGeom>
            <a:solidFill>
              <a:schemeClr val="bg2">
                <a:lumMod val="2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eaLnBrk="0" hangingPunct="0"/>
              <a:r>
                <a:rPr kumimoji="1" lang="en-US" altLang="zh-TW" sz="2400" dirty="0">
                  <a:solidFill>
                    <a:schemeClr val="bg1"/>
                  </a:solidFill>
                  <a:latin typeface="Arial" panose="020B0604020202020204" pitchFamily="34" charset="0"/>
                  <a:cs typeface="Arial" panose="020B0604020202020204" pitchFamily="34" charset="0"/>
                </a:rPr>
                <a:t>+</a:t>
              </a:r>
              <a:endParaRPr kumimoji="1" lang="zh-TW" altLang="en-US" sz="2400" dirty="0">
                <a:solidFill>
                  <a:schemeClr val="bg1"/>
                </a:solidFill>
                <a:latin typeface="Arial" panose="020B0604020202020204" pitchFamily="34" charset="0"/>
                <a:cs typeface="Arial" panose="020B0604020202020204" pitchFamily="34" charset="0"/>
              </a:endParaRPr>
            </a:p>
          </p:txBody>
        </p:sp>
        <p:grpSp>
          <p:nvGrpSpPr>
            <p:cNvPr id="83" name="群組 82">
              <a:extLst>
                <a:ext uri="{FF2B5EF4-FFF2-40B4-BE49-F238E27FC236}">
                  <a16:creationId xmlns:a16="http://schemas.microsoft.com/office/drawing/2014/main" id="{F3754E51-C472-D508-2587-F9A8842A8B76}"/>
                </a:ext>
              </a:extLst>
            </p:cNvPr>
            <p:cNvGrpSpPr/>
            <p:nvPr/>
          </p:nvGrpSpPr>
          <p:grpSpPr>
            <a:xfrm>
              <a:off x="8051910" y="2636880"/>
              <a:ext cx="1529624" cy="338554"/>
              <a:chOff x="7726763" y="808985"/>
              <a:chExt cx="1529624" cy="338554"/>
            </a:xfrm>
          </p:grpSpPr>
          <p:sp>
            <p:nvSpPr>
              <p:cNvPr id="84" name="文字方塊 83">
                <a:extLst>
                  <a:ext uri="{FF2B5EF4-FFF2-40B4-BE49-F238E27FC236}">
                    <a16:creationId xmlns:a16="http://schemas.microsoft.com/office/drawing/2014/main" id="{E803769A-82B4-E4A2-59DA-EEC155710E80}"/>
                  </a:ext>
                </a:extLst>
              </p:cNvPr>
              <p:cNvSpPr txBox="1"/>
              <p:nvPr/>
            </p:nvSpPr>
            <p:spPr>
              <a:xfrm>
                <a:off x="8035091" y="808985"/>
                <a:ext cx="1221296" cy="338554"/>
              </a:xfrm>
              <a:prstGeom prst="rect">
                <a:avLst/>
              </a:prstGeom>
              <a:noFill/>
            </p:spPr>
            <p:txBody>
              <a:bodyPr wrap="none" rtlCol="0">
                <a:spAutoFit/>
              </a:bodyPr>
              <a:lstStyle/>
              <a:p>
                <a:r>
                  <a:rPr kumimoji="1" lang="en-US" altLang="zh-TW" sz="1600" dirty="0">
                    <a:latin typeface="Arial" panose="020B0604020202020204" pitchFamily="34" charset="0"/>
                    <a:cs typeface="Arial" panose="020B0604020202020204" pitchFamily="34" charset="0"/>
                  </a:rPr>
                  <a:t>pte_offset()</a:t>
                </a:r>
                <a:endParaRPr kumimoji="1" lang="zh-TW" altLang="en-US" sz="1600" dirty="0">
                  <a:latin typeface="Arial" panose="020B0604020202020204" pitchFamily="34" charset="0"/>
                  <a:cs typeface="Arial" panose="020B0604020202020204" pitchFamily="34" charset="0"/>
                </a:endParaRPr>
              </a:p>
            </p:txBody>
          </p:sp>
          <p:sp>
            <p:nvSpPr>
              <p:cNvPr id="85" name="橢圓 84">
                <a:extLst>
                  <a:ext uri="{FF2B5EF4-FFF2-40B4-BE49-F238E27FC236}">
                    <a16:creationId xmlns:a16="http://schemas.microsoft.com/office/drawing/2014/main" id="{3DEAA3D7-76C8-C5E6-5229-7E12087574E7}"/>
                  </a:ext>
                </a:extLst>
              </p:cNvPr>
              <p:cNvSpPr/>
              <p:nvPr/>
            </p:nvSpPr>
            <p:spPr>
              <a:xfrm>
                <a:off x="7726763" y="811673"/>
                <a:ext cx="303397" cy="302400"/>
              </a:xfrm>
              <a:prstGeom prst="ellipse">
                <a:avLst/>
              </a:prstGeom>
              <a:solidFill>
                <a:schemeClr val="bg2">
                  <a:lumMod val="2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eaLnBrk="0" hangingPunct="0"/>
                <a:r>
                  <a:rPr kumimoji="1" lang="en-US" altLang="zh-TW" sz="2400" dirty="0">
                    <a:solidFill>
                      <a:schemeClr val="bg1"/>
                    </a:solidFill>
                    <a:latin typeface="Arial" panose="020B0604020202020204" pitchFamily="34" charset="0"/>
                    <a:cs typeface="Arial" panose="020B0604020202020204" pitchFamily="34" charset="0"/>
                  </a:rPr>
                  <a:t>+</a:t>
                </a:r>
                <a:endParaRPr kumimoji="1" lang="zh-TW" altLang="en-US" sz="2400" dirty="0">
                  <a:solidFill>
                    <a:schemeClr val="bg1"/>
                  </a:solidFill>
                  <a:latin typeface="Arial" panose="020B0604020202020204" pitchFamily="34" charset="0"/>
                  <a:cs typeface="Arial" panose="020B0604020202020204" pitchFamily="34" charset="0"/>
                </a:endParaRPr>
              </a:p>
            </p:txBody>
          </p:sp>
        </p:grpSp>
        <p:sp>
          <p:nvSpPr>
            <p:cNvPr id="89" name="橢圓 88">
              <a:extLst>
                <a:ext uri="{FF2B5EF4-FFF2-40B4-BE49-F238E27FC236}">
                  <a16:creationId xmlns:a16="http://schemas.microsoft.com/office/drawing/2014/main" id="{7C0B616F-C472-EBBF-A05E-A37AEBCD48AB}"/>
                </a:ext>
              </a:extLst>
            </p:cNvPr>
            <p:cNvSpPr/>
            <p:nvPr/>
          </p:nvSpPr>
          <p:spPr>
            <a:xfrm>
              <a:off x="8040258" y="5586363"/>
              <a:ext cx="246580" cy="23238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bg1"/>
                  </a:solidFill>
                  <a:latin typeface="Arial" panose="020B0604020202020204" pitchFamily="34" charset="0"/>
                  <a:cs typeface="Arial" panose="020B0604020202020204" pitchFamily="34" charset="0"/>
                </a:rPr>
                <a:t>5</a:t>
              </a:r>
              <a:endParaRPr kumimoji="1" lang="zh-TW" altLang="en-US" sz="1400" b="1" dirty="0">
                <a:solidFill>
                  <a:schemeClr val="bg1"/>
                </a:solidFill>
                <a:latin typeface="Arial" panose="020B0604020202020204" pitchFamily="34" charset="0"/>
                <a:cs typeface="Arial" panose="020B0604020202020204" pitchFamily="34" charset="0"/>
              </a:endParaRPr>
            </a:p>
          </p:txBody>
        </p:sp>
      </p:grpSp>
      <p:sp>
        <p:nvSpPr>
          <p:cNvPr id="93" name="矩形 92">
            <a:extLst>
              <a:ext uri="{FF2B5EF4-FFF2-40B4-BE49-F238E27FC236}">
                <a16:creationId xmlns:a16="http://schemas.microsoft.com/office/drawing/2014/main" id="{13FEF21A-E969-4293-F641-C40EE0968408}"/>
              </a:ext>
            </a:extLst>
          </p:cNvPr>
          <p:cNvSpPr/>
          <p:nvPr/>
        </p:nvSpPr>
        <p:spPr>
          <a:xfrm>
            <a:off x="10670277" y="2695374"/>
            <a:ext cx="1500198" cy="3922866"/>
          </a:xfrm>
          <a:prstGeom prst="rect">
            <a:avLst/>
          </a:prstGeom>
          <a:gradFill flip="none" rotWithShape="1">
            <a:gsLst>
              <a:gs pos="0">
                <a:schemeClr val="bg1">
                  <a:lumMod val="95000"/>
                </a:schemeClr>
              </a:gs>
              <a:gs pos="35000">
                <a:schemeClr val="bg1">
                  <a:lumMod val="95000"/>
                  <a:alpha val="31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94" name="文字方塊 93">
            <a:extLst>
              <a:ext uri="{FF2B5EF4-FFF2-40B4-BE49-F238E27FC236}">
                <a16:creationId xmlns:a16="http://schemas.microsoft.com/office/drawing/2014/main" id="{53EE9CAA-EC39-8C6B-3DB8-BC14015783B5}"/>
              </a:ext>
            </a:extLst>
          </p:cNvPr>
          <p:cNvSpPr txBox="1"/>
          <p:nvPr/>
        </p:nvSpPr>
        <p:spPr>
          <a:xfrm>
            <a:off x="10719939" y="6347213"/>
            <a:ext cx="473206"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0bit</a:t>
            </a:r>
            <a:endParaRPr kumimoji="1" lang="zh-TW" altLang="en-US" sz="1400" dirty="0">
              <a:latin typeface="Arial" panose="020B0604020202020204" pitchFamily="34" charset="0"/>
              <a:cs typeface="Arial" panose="020B0604020202020204" pitchFamily="34" charset="0"/>
            </a:endParaRPr>
          </a:p>
        </p:txBody>
      </p:sp>
      <p:sp>
        <p:nvSpPr>
          <p:cNvPr id="95" name="矩形 94">
            <a:extLst>
              <a:ext uri="{FF2B5EF4-FFF2-40B4-BE49-F238E27FC236}">
                <a16:creationId xmlns:a16="http://schemas.microsoft.com/office/drawing/2014/main" id="{3CCE7013-93FF-DF7E-50B6-6A8A8765CFFE}"/>
              </a:ext>
            </a:extLst>
          </p:cNvPr>
          <p:cNvSpPr/>
          <p:nvPr/>
        </p:nvSpPr>
        <p:spPr>
          <a:xfrm>
            <a:off x="11133359" y="2836935"/>
            <a:ext cx="900000" cy="1117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500" dirty="0">
                <a:solidFill>
                  <a:schemeClr val="tx1"/>
                </a:solidFill>
                <a:latin typeface="Arial" panose="020B0604020202020204" pitchFamily="34" charset="0"/>
                <a:cs typeface="Arial" panose="020B0604020202020204" pitchFamily="34" charset="0"/>
              </a:rPr>
              <a:t>Reserved</a:t>
            </a:r>
          </a:p>
        </p:txBody>
      </p:sp>
      <p:sp>
        <p:nvSpPr>
          <p:cNvPr id="96" name="矩形 95">
            <a:extLst>
              <a:ext uri="{FF2B5EF4-FFF2-40B4-BE49-F238E27FC236}">
                <a16:creationId xmlns:a16="http://schemas.microsoft.com/office/drawing/2014/main" id="{2019A184-94FA-C921-3361-C3C89CF86972}"/>
              </a:ext>
            </a:extLst>
          </p:cNvPr>
          <p:cNvSpPr/>
          <p:nvPr/>
        </p:nvSpPr>
        <p:spPr>
          <a:xfrm>
            <a:off x="11133359" y="5417696"/>
            <a:ext cx="900000" cy="11249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500" dirty="0">
                <a:solidFill>
                  <a:schemeClr val="tx1"/>
                </a:solidFill>
                <a:latin typeface="Arial" panose="020B0604020202020204" pitchFamily="34" charset="0"/>
                <a:cs typeface="Arial" panose="020B0604020202020204" pitchFamily="34" charset="0"/>
              </a:rPr>
              <a:t>Control Bits</a:t>
            </a:r>
            <a:br>
              <a:rPr kumimoji="1" lang="en-US" altLang="zh-TW" sz="1500" dirty="0">
                <a:solidFill>
                  <a:schemeClr val="tx1"/>
                </a:solidFill>
                <a:latin typeface="Arial" panose="020B0604020202020204" pitchFamily="34" charset="0"/>
                <a:cs typeface="Arial" panose="020B0604020202020204" pitchFamily="34" charset="0"/>
              </a:rPr>
            </a:br>
            <a:r>
              <a:rPr kumimoji="1" lang="en-US" altLang="zh-TW" sz="1200" dirty="0">
                <a:solidFill>
                  <a:schemeClr val="tx1"/>
                </a:solidFill>
                <a:latin typeface="Arial" panose="020B0604020202020204" pitchFamily="34" charset="0"/>
                <a:cs typeface="Arial" panose="020B0604020202020204" pitchFamily="34" charset="0"/>
              </a:rPr>
              <a:t>(e.g., Present bit)</a:t>
            </a:r>
          </a:p>
        </p:txBody>
      </p:sp>
      <p:sp>
        <p:nvSpPr>
          <p:cNvPr id="97" name="文字方塊 96">
            <a:extLst>
              <a:ext uri="{FF2B5EF4-FFF2-40B4-BE49-F238E27FC236}">
                <a16:creationId xmlns:a16="http://schemas.microsoft.com/office/drawing/2014/main" id="{AF45E9FA-449B-0518-7519-3CFE7B90C835}"/>
              </a:ext>
            </a:extLst>
          </p:cNvPr>
          <p:cNvSpPr txBox="1"/>
          <p:nvPr/>
        </p:nvSpPr>
        <p:spPr>
          <a:xfrm>
            <a:off x="10620552" y="5232730"/>
            <a:ext cx="572593"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12bit</a:t>
            </a:r>
            <a:endParaRPr kumimoji="1" lang="zh-TW" altLang="en-US" sz="1400" dirty="0">
              <a:latin typeface="Arial" panose="020B0604020202020204" pitchFamily="34" charset="0"/>
              <a:cs typeface="Arial" panose="020B0604020202020204" pitchFamily="34" charset="0"/>
            </a:endParaRPr>
          </a:p>
        </p:txBody>
      </p:sp>
      <p:sp>
        <p:nvSpPr>
          <p:cNvPr id="98" name="文字方塊 97">
            <a:extLst>
              <a:ext uri="{FF2B5EF4-FFF2-40B4-BE49-F238E27FC236}">
                <a16:creationId xmlns:a16="http://schemas.microsoft.com/office/drawing/2014/main" id="{E646BB50-EAA0-30A9-0AA4-C7A587E74566}"/>
              </a:ext>
            </a:extLst>
          </p:cNvPr>
          <p:cNvSpPr txBox="1"/>
          <p:nvPr/>
        </p:nvSpPr>
        <p:spPr>
          <a:xfrm>
            <a:off x="10620552" y="3782580"/>
            <a:ext cx="572593"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48bit</a:t>
            </a:r>
            <a:endParaRPr kumimoji="1" lang="zh-TW" altLang="en-US" sz="1400" dirty="0">
              <a:latin typeface="Arial" panose="020B0604020202020204" pitchFamily="34" charset="0"/>
              <a:cs typeface="Arial" panose="020B0604020202020204" pitchFamily="34" charset="0"/>
            </a:endParaRPr>
          </a:p>
        </p:txBody>
      </p:sp>
      <p:sp>
        <p:nvSpPr>
          <p:cNvPr id="99" name="文字方塊 98">
            <a:extLst>
              <a:ext uri="{FF2B5EF4-FFF2-40B4-BE49-F238E27FC236}">
                <a16:creationId xmlns:a16="http://schemas.microsoft.com/office/drawing/2014/main" id="{66AF9FD1-168B-D364-A37D-595A7D01BE2A}"/>
              </a:ext>
            </a:extLst>
          </p:cNvPr>
          <p:cNvSpPr txBox="1"/>
          <p:nvPr/>
        </p:nvSpPr>
        <p:spPr>
          <a:xfrm>
            <a:off x="10620552" y="2695375"/>
            <a:ext cx="572593"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64bit</a:t>
            </a:r>
            <a:endParaRPr kumimoji="1" lang="zh-TW" altLang="en-US" sz="1400" dirty="0">
              <a:latin typeface="Arial" panose="020B0604020202020204" pitchFamily="34" charset="0"/>
              <a:cs typeface="Arial" panose="020B0604020202020204" pitchFamily="34" charset="0"/>
            </a:endParaRPr>
          </a:p>
        </p:txBody>
      </p:sp>
      <p:grpSp>
        <p:nvGrpSpPr>
          <p:cNvPr id="104" name="群組 103">
            <a:extLst>
              <a:ext uri="{FF2B5EF4-FFF2-40B4-BE49-F238E27FC236}">
                <a16:creationId xmlns:a16="http://schemas.microsoft.com/office/drawing/2014/main" id="{86749D49-8003-6979-5538-AA274F63C2A4}"/>
              </a:ext>
            </a:extLst>
          </p:cNvPr>
          <p:cNvGrpSpPr/>
          <p:nvPr/>
        </p:nvGrpSpPr>
        <p:grpSpPr>
          <a:xfrm>
            <a:off x="291152" y="4213790"/>
            <a:ext cx="4231093" cy="2466410"/>
            <a:chOff x="291152" y="4213790"/>
            <a:chExt cx="4231093" cy="2466410"/>
          </a:xfrm>
        </p:grpSpPr>
        <p:sp>
          <p:nvSpPr>
            <p:cNvPr id="20" name="矩形 19">
              <a:extLst>
                <a:ext uri="{FF2B5EF4-FFF2-40B4-BE49-F238E27FC236}">
                  <a16:creationId xmlns:a16="http://schemas.microsoft.com/office/drawing/2014/main" id="{85AD0DA4-ADD3-C0BB-2856-66854884F751}"/>
                </a:ext>
              </a:extLst>
            </p:cNvPr>
            <p:cNvSpPr/>
            <p:nvPr/>
          </p:nvSpPr>
          <p:spPr>
            <a:xfrm>
              <a:off x="291152" y="6154683"/>
              <a:ext cx="1408136" cy="52551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500" dirty="0">
                  <a:solidFill>
                    <a:schemeClr val="tx1"/>
                  </a:solidFill>
                  <a:latin typeface="Arial" panose="020B0604020202020204" pitchFamily="34" charset="0"/>
                  <a:cs typeface="Arial" panose="020B0604020202020204" pitchFamily="34" charset="0"/>
                </a:rPr>
                <a:t>PGD </a:t>
              </a:r>
              <a:br>
                <a:rPr kumimoji="1" lang="en-US" altLang="zh-TW" sz="1500" dirty="0">
                  <a:solidFill>
                    <a:schemeClr val="tx1"/>
                  </a:solidFill>
                  <a:latin typeface="Arial" panose="020B0604020202020204" pitchFamily="34" charset="0"/>
                  <a:cs typeface="Arial" panose="020B0604020202020204" pitchFamily="34" charset="0"/>
                </a:rPr>
              </a:br>
              <a:r>
                <a:rPr kumimoji="1" lang="en-US" altLang="zh-TW" sz="1500" dirty="0">
                  <a:solidFill>
                    <a:schemeClr val="tx1"/>
                  </a:solidFill>
                  <a:latin typeface="Arial" panose="020B0604020202020204" pitchFamily="34" charset="0"/>
                  <a:cs typeface="Arial" panose="020B0604020202020204" pitchFamily="34" charset="0"/>
                </a:rPr>
                <a:t>Base Address</a:t>
              </a:r>
            </a:p>
          </p:txBody>
        </p:sp>
        <p:sp>
          <p:nvSpPr>
            <p:cNvPr id="21" name="摺角紙張 20">
              <a:extLst>
                <a:ext uri="{FF2B5EF4-FFF2-40B4-BE49-F238E27FC236}">
                  <a16:creationId xmlns:a16="http://schemas.microsoft.com/office/drawing/2014/main" id="{2F0B1E0A-9939-5705-AAE6-BB9A00889D3E}"/>
                </a:ext>
              </a:extLst>
            </p:cNvPr>
            <p:cNvSpPr/>
            <p:nvPr/>
          </p:nvSpPr>
          <p:spPr>
            <a:xfrm rot="10800000" flipH="1">
              <a:off x="2944956" y="4850916"/>
              <a:ext cx="1057163" cy="1827252"/>
            </a:xfrm>
            <a:prstGeom prst="foldedCorner">
              <a:avLst>
                <a:gd name="adj" fmla="val 2562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200" dirty="0"/>
                <a:t>P</a:t>
              </a:r>
              <a:endParaRPr kumimoji="1" lang="zh-TW" altLang="en-US" sz="1200" dirty="0"/>
            </a:p>
          </p:txBody>
        </p:sp>
        <p:sp>
          <p:nvSpPr>
            <p:cNvPr id="22" name="文字方塊 21">
              <a:extLst>
                <a:ext uri="{FF2B5EF4-FFF2-40B4-BE49-F238E27FC236}">
                  <a16:creationId xmlns:a16="http://schemas.microsoft.com/office/drawing/2014/main" id="{037B4FF3-B75B-EA1D-4C34-239A3A48F6D4}"/>
                </a:ext>
              </a:extLst>
            </p:cNvPr>
            <p:cNvSpPr txBox="1"/>
            <p:nvPr/>
          </p:nvSpPr>
          <p:spPr>
            <a:xfrm>
              <a:off x="2399549" y="4213790"/>
              <a:ext cx="2122696" cy="553998"/>
            </a:xfrm>
            <a:prstGeom prst="rect">
              <a:avLst/>
            </a:prstGeom>
            <a:noFill/>
          </p:spPr>
          <p:txBody>
            <a:bodyPr wrap="none" rtlCol="0">
              <a:spAutoFit/>
            </a:bodyPr>
            <a:lstStyle/>
            <a:p>
              <a:pPr algn="ctr"/>
              <a:r>
                <a:rPr kumimoji="1" lang="en-US" altLang="zh-TW" sz="1500" dirty="0">
                  <a:latin typeface="Arial" panose="020B0604020202020204" pitchFamily="34" charset="0"/>
                  <a:cs typeface="Arial" panose="020B0604020202020204" pitchFamily="34" charset="0"/>
                </a:rPr>
                <a:t>Page Global Directory </a:t>
              </a:r>
            </a:p>
            <a:p>
              <a:pPr algn="ctr"/>
              <a:r>
                <a:rPr kumimoji="1" lang="en-US" altLang="zh-TW" sz="1500" dirty="0">
                  <a:latin typeface="Arial" panose="020B0604020202020204" pitchFamily="34" charset="0"/>
                  <a:cs typeface="Arial" panose="020B0604020202020204" pitchFamily="34" charset="0"/>
                </a:rPr>
                <a:t>(PGD) Table</a:t>
              </a:r>
              <a:endParaRPr kumimoji="1" lang="zh-TW" altLang="en-US" sz="1500" dirty="0">
                <a:latin typeface="Arial" panose="020B0604020202020204" pitchFamily="34" charset="0"/>
                <a:cs typeface="Arial" panose="020B0604020202020204" pitchFamily="34" charset="0"/>
              </a:endParaRPr>
            </a:p>
          </p:txBody>
        </p:sp>
        <p:cxnSp>
          <p:nvCxnSpPr>
            <p:cNvPr id="23" name="直線接點 30">
              <a:extLst>
                <a:ext uri="{FF2B5EF4-FFF2-40B4-BE49-F238E27FC236}">
                  <a16:creationId xmlns:a16="http://schemas.microsoft.com/office/drawing/2014/main" id="{0C5C9FEA-E5C7-4AEA-B169-32AB8330B28A}"/>
                </a:ext>
              </a:extLst>
            </p:cNvPr>
            <p:cNvCxnSpPr>
              <a:cxnSpLocks/>
            </p:cNvCxnSpPr>
            <p:nvPr/>
          </p:nvCxnSpPr>
          <p:spPr>
            <a:xfrm>
              <a:off x="1699128" y="6377987"/>
              <a:ext cx="1248121" cy="291869"/>
            </a:xfrm>
            <a:prstGeom prst="bentConnector3">
              <a:avLst>
                <a:gd name="adj1" fmla="val 2157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矩形 25">
              <a:extLst>
                <a:ext uri="{FF2B5EF4-FFF2-40B4-BE49-F238E27FC236}">
                  <a16:creationId xmlns:a16="http://schemas.microsoft.com/office/drawing/2014/main" id="{14BAD205-6941-F4CF-7222-03C98D554A57}"/>
                </a:ext>
              </a:extLst>
            </p:cNvPr>
            <p:cNvSpPr/>
            <p:nvPr/>
          </p:nvSpPr>
          <p:spPr>
            <a:xfrm>
              <a:off x="2990267" y="6385089"/>
              <a:ext cx="937358" cy="25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200" dirty="0">
                  <a:solidFill>
                    <a:schemeClr val="tx1"/>
                  </a:solidFill>
                  <a:latin typeface="Arial" panose="020B0604020202020204" pitchFamily="34" charset="0"/>
                  <a:cs typeface="Arial" panose="020B0604020202020204" pitchFamily="34" charset="0"/>
                </a:rPr>
                <a:t>PGD Entry</a:t>
              </a:r>
            </a:p>
          </p:txBody>
        </p:sp>
        <p:sp>
          <p:nvSpPr>
            <p:cNvPr id="27" name="矩形 26">
              <a:extLst>
                <a:ext uri="{FF2B5EF4-FFF2-40B4-BE49-F238E27FC236}">
                  <a16:creationId xmlns:a16="http://schemas.microsoft.com/office/drawing/2014/main" id="{1C2001B0-A5E2-4218-A2C0-E9E8F9C7BC43}"/>
                </a:ext>
              </a:extLst>
            </p:cNvPr>
            <p:cNvSpPr/>
            <p:nvPr/>
          </p:nvSpPr>
          <p:spPr>
            <a:xfrm>
              <a:off x="2990267" y="6075284"/>
              <a:ext cx="937358" cy="25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200" dirty="0">
                  <a:solidFill>
                    <a:schemeClr val="tx1"/>
                  </a:solidFill>
                  <a:latin typeface="Arial" panose="020B0604020202020204" pitchFamily="34" charset="0"/>
                  <a:cs typeface="Arial" panose="020B0604020202020204" pitchFamily="34" charset="0"/>
                </a:rPr>
                <a:t>PGD Entry</a:t>
              </a:r>
            </a:p>
          </p:txBody>
        </p:sp>
        <p:sp>
          <p:nvSpPr>
            <p:cNvPr id="28" name="矩形 27">
              <a:extLst>
                <a:ext uri="{FF2B5EF4-FFF2-40B4-BE49-F238E27FC236}">
                  <a16:creationId xmlns:a16="http://schemas.microsoft.com/office/drawing/2014/main" id="{4BBECF87-74A7-99D1-D24A-06F28ACCF35C}"/>
                </a:ext>
              </a:extLst>
            </p:cNvPr>
            <p:cNvSpPr/>
            <p:nvPr/>
          </p:nvSpPr>
          <p:spPr>
            <a:xfrm>
              <a:off x="2990267" y="5207093"/>
              <a:ext cx="936000" cy="25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200" dirty="0">
                  <a:solidFill>
                    <a:schemeClr val="tx1"/>
                  </a:solidFill>
                  <a:latin typeface="Arial" panose="020B0604020202020204" pitchFamily="34" charset="0"/>
                  <a:cs typeface="Arial" panose="020B0604020202020204" pitchFamily="34" charset="0"/>
                </a:rPr>
                <a:t>PGD Entry</a:t>
              </a:r>
            </a:p>
          </p:txBody>
        </p:sp>
        <p:sp>
          <p:nvSpPr>
            <p:cNvPr id="49" name="文字方塊 48">
              <a:extLst>
                <a:ext uri="{FF2B5EF4-FFF2-40B4-BE49-F238E27FC236}">
                  <a16:creationId xmlns:a16="http://schemas.microsoft.com/office/drawing/2014/main" id="{2D159CF3-2910-50BF-6E9D-EEEABA0AB79D}"/>
                </a:ext>
              </a:extLst>
            </p:cNvPr>
            <p:cNvSpPr txBox="1"/>
            <p:nvPr/>
          </p:nvSpPr>
          <p:spPr>
            <a:xfrm rot="5400000">
              <a:off x="3308359" y="5610654"/>
              <a:ext cx="364202"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a:t>
              </a:r>
              <a:endParaRPr kumimoji="1" lang="zh-TW" altLang="en-US" sz="1400" dirty="0">
                <a:latin typeface="Arial" panose="020B0604020202020204" pitchFamily="34" charset="0"/>
                <a:cs typeface="Arial" panose="020B0604020202020204" pitchFamily="34" charset="0"/>
              </a:endParaRPr>
            </a:p>
          </p:txBody>
        </p:sp>
        <p:sp>
          <p:nvSpPr>
            <p:cNvPr id="100" name="橢圓 99">
              <a:extLst>
                <a:ext uri="{FF2B5EF4-FFF2-40B4-BE49-F238E27FC236}">
                  <a16:creationId xmlns:a16="http://schemas.microsoft.com/office/drawing/2014/main" id="{C3CCFCD4-6A3D-BCB3-E430-BD8E39BBF887}"/>
                </a:ext>
              </a:extLst>
            </p:cNvPr>
            <p:cNvSpPr/>
            <p:nvPr/>
          </p:nvSpPr>
          <p:spPr>
            <a:xfrm>
              <a:off x="867916" y="5897208"/>
              <a:ext cx="246580" cy="23238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bg1"/>
                  </a:solidFill>
                  <a:latin typeface="Arial" panose="020B0604020202020204" pitchFamily="34" charset="0"/>
                  <a:cs typeface="Arial" panose="020B0604020202020204" pitchFamily="34" charset="0"/>
                </a:rPr>
                <a:t>1</a:t>
              </a:r>
              <a:endParaRPr kumimoji="1" lang="zh-TW" altLang="en-US" sz="1400" b="1" dirty="0">
                <a:solidFill>
                  <a:schemeClr val="bg1"/>
                </a:solidFill>
                <a:latin typeface="Arial" panose="020B0604020202020204" pitchFamily="34" charset="0"/>
                <a:cs typeface="Arial" panose="020B0604020202020204" pitchFamily="34" charset="0"/>
              </a:endParaRPr>
            </a:p>
          </p:txBody>
        </p:sp>
      </p:grpSp>
      <p:sp>
        <p:nvSpPr>
          <p:cNvPr id="101" name="矩形 100">
            <a:extLst>
              <a:ext uri="{FF2B5EF4-FFF2-40B4-BE49-F238E27FC236}">
                <a16:creationId xmlns:a16="http://schemas.microsoft.com/office/drawing/2014/main" id="{56753A9C-E344-F880-9403-857CFCE32093}"/>
              </a:ext>
            </a:extLst>
          </p:cNvPr>
          <p:cNvSpPr/>
          <p:nvPr/>
        </p:nvSpPr>
        <p:spPr>
          <a:xfrm>
            <a:off x="11133360" y="3954904"/>
            <a:ext cx="900000" cy="146279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500" dirty="0">
                <a:solidFill>
                  <a:schemeClr val="tx1"/>
                </a:solidFill>
                <a:latin typeface="Arial" panose="020B0604020202020204" pitchFamily="34" charset="0"/>
                <a:cs typeface="Arial" panose="020B0604020202020204" pitchFamily="34" charset="0"/>
              </a:rPr>
              <a:t>Physical</a:t>
            </a:r>
            <a:r>
              <a:rPr kumimoji="1" lang="zh-TW" altLang="en-US" sz="1500" dirty="0">
                <a:solidFill>
                  <a:schemeClr val="tx1"/>
                </a:solidFill>
                <a:latin typeface="Arial" panose="020B0604020202020204" pitchFamily="34" charset="0"/>
                <a:cs typeface="Arial" panose="020B0604020202020204" pitchFamily="34" charset="0"/>
              </a:rPr>
              <a:t> </a:t>
            </a:r>
            <a:endParaRPr kumimoji="1" lang="en-US" altLang="zh-TW" sz="1500" dirty="0">
              <a:solidFill>
                <a:schemeClr val="tx1"/>
              </a:solidFill>
              <a:latin typeface="Arial" panose="020B0604020202020204" pitchFamily="34" charset="0"/>
              <a:cs typeface="Arial" panose="020B0604020202020204" pitchFamily="34" charset="0"/>
            </a:endParaRPr>
          </a:p>
          <a:p>
            <a:pPr algn="ctr"/>
            <a:r>
              <a:rPr kumimoji="1" lang="en-US" altLang="zh-TW" sz="1500" dirty="0">
                <a:solidFill>
                  <a:schemeClr val="tx1"/>
                </a:solidFill>
                <a:latin typeface="Arial" panose="020B0604020202020204" pitchFamily="34" charset="0"/>
                <a:cs typeface="Arial" panose="020B0604020202020204" pitchFamily="34" charset="0"/>
              </a:rPr>
              <a:t>Address </a:t>
            </a:r>
          </a:p>
        </p:txBody>
      </p:sp>
      <p:sp>
        <p:nvSpPr>
          <p:cNvPr id="102" name="不規則四邊形 347">
            <a:extLst>
              <a:ext uri="{FF2B5EF4-FFF2-40B4-BE49-F238E27FC236}">
                <a16:creationId xmlns:a16="http://schemas.microsoft.com/office/drawing/2014/main" id="{E0E988C9-62FB-4886-02F1-EA3BBDA522C6}"/>
              </a:ext>
            </a:extLst>
          </p:cNvPr>
          <p:cNvSpPr/>
          <p:nvPr/>
        </p:nvSpPr>
        <p:spPr>
          <a:xfrm rot="16200000">
            <a:off x="9876129" y="5790829"/>
            <a:ext cx="624179" cy="1036992"/>
          </a:xfrm>
          <a:custGeom>
            <a:avLst/>
            <a:gdLst>
              <a:gd name="connsiteX0" fmla="*/ 0 w 683153"/>
              <a:gd name="connsiteY0" fmla="*/ 1216152 h 1216152"/>
              <a:gd name="connsiteX1" fmla="*/ 214332 w 683153"/>
              <a:gd name="connsiteY1" fmla="*/ 0 h 1216152"/>
              <a:gd name="connsiteX2" fmla="*/ 468821 w 683153"/>
              <a:gd name="connsiteY2" fmla="*/ 0 h 1216152"/>
              <a:gd name="connsiteX3" fmla="*/ 683153 w 683153"/>
              <a:gd name="connsiteY3" fmla="*/ 1216152 h 1216152"/>
              <a:gd name="connsiteX4" fmla="*/ 0 w 683153"/>
              <a:gd name="connsiteY4" fmla="*/ 1216152 h 1216152"/>
              <a:gd name="connsiteX0" fmla="*/ 3383 w 468821"/>
              <a:gd name="connsiteY0" fmla="*/ 1027469 h 1216152"/>
              <a:gd name="connsiteX1" fmla="*/ 0 w 468821"/>
              <a:gd name="connsiteY1" fmla="*/ 0 h 1216152"/>
              <a:gd name="connsiteX2" fmla="*/ 254489 w 468821"/>
              <a:gd name="connsiteY2" fmla="*/ 0 h 1216152"/>
              <a:gd name="connsiteX3" fmla="*/ 468821 w 468821"/>
              <a:gd name="connsiteY3" fmla="*/ 1216152 h 1216152"/>
              <a:gd name="connsiteX4" fmla="*/ 3383 w 468821"/>
              <a:gd name="connsiteY4" fmla="*/ 1027469 h 1216152"/>
              <a:gd name="connsiteX0" fmla="*/ 3383 w 628478"/>
              <a:gd name="connsiteY0" fmla="*/ 1027469 h 1027469"/>
              <a:gd name="connsiteX1" fmla="*/ 0 w 628478"/>
              <a:gd name="connsiteY1" fmla="*/ 0 h 1027469"/>
              <a:gd name="connsiteX2" fmla="*/ 254489 w 628478"/>
              <a:gd name="connsiteY2" fmla="*/ 0 h 1027469"/>
              <a:gd name="connsiteX3" fmla="*/ 628478 w 628478"/>
              <a:gd name="connsiteY3" fmla="*/ 1020212 h 1027469"/>
              <a:gd name="connsiteX4" fmla="*/ 3383 w 628478"/>
              <a:gd name="connsiteY4" fmla="*/ 1027469 h 1027469"/>
              <a:gd name="connsiteX0" fmla="*/ 3383 w 628478"/>
              <a:gd name="connsiteY0" fmla="*/ 1036992 h 1036992"/>
              <a:gd name="connsiteX1" fmla="*/ 0 w 628478"/>
              <a:gd name="connsiteY1" fmla="*/ 9523 h 1036992"/>
              <a:gd name="connsiteX2" fmla="*/ 260839 w 628478"/>
              <a:gd name="connsiteY2" fmla="*/ 0 h 1036992"/>
              <a:gd name="connsiteX3" fmla="*/ 628478 w 628478"/>
              <a:gd name="connsiteY3" fmla="*/ 1029735 h 1036992"/>
              <a:gd name="connsiteX4" fmla="*/ 3383 w 628478"/>
              <a:gd name="connsiteY4" fmla="*/ 1036992 h 10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478" h="1036992">
                <a:moveTo>
                  <a:pt x="3383" y="1036992"/>
                </a:moveTo>
                <a:cubicBezTo>
                  <a:pt x="2255" y="694502"/>
                  <a:pt x="1128" y="352013"/>
                  <a:pt x="0" y="9523"/>
                </a:cubicBezTo>
                <a:lnTo>
                  <a:pt x="260839" y="0"/>
                </a:lnTo>
                <a:lnTo>
                  <a:pt x="628478" y="1029735"/>
                </a:lnTo>
                <a:lnTo>
                  <a:pt x="3383" y="1036992"/>
                </a:lnTo>
                <a:close/>
              </a:path>
            </a:pathLst>
          </a:custGeom>
          <a:gradFill flip="none" rotWithShape="1">
            <a:gsLst>
              <a:gs pos="24000">
                <a:schemeClr val="bg1">
                  <a:lumMod val="75000"/>
                </a:schemeClr>
              </a:gs>
              <a:gs pos="65000">
                <a:schemeClr val="bg1">
                  <a:lumMod val="95000"/>
                </a:schemeClr>
              </a:gs>
              <a:gs pos="0">
                <a:schemeClr val="bg1">
                  <a:lumMod val="50000"/>
                  <a:alpha val="64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1348826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3"/>
                                        </p:tgtEl>
                                        <p:attrNameLst>
                                          <p:attrName>style.visibility</p:attrName>
                                        </p:attrNameLst>
                                      </p:cBhvr>
                                      <p:to>
                                        <p:strVal val="visible"/>
                                      </p:to>
                                    </p:set>
                                    <p:animEffect transition="in" filter="fade">
                                      <p:cBhvr>
                                        <p:cTn id="10" dur="500"/>
                                        <p:tgtEl>
                                          <p:spTgt spid="1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04"/>
                                        </p:tgtEl>
                                        <p:attrNameLst>
                                          <p:attrName>style.visibility</p:attrName>
                                        </p:attrNameLst>
                                      </p:cBhvr>
                                      <p:to>
                                        <p:strVal val="visible"/>
                                      </p:to>
                                    </p:set>
                                    <p:animEffect transition="in" filter="fade">
                                      <p:cBhvr>
                                        <p:cTn id="23" dur="500"/>
                                        <p:tgtEl>
                                          <p:spTgt spid="10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06"/>
                                        </p:tgtEl>
                                        <p:attrNameLst>
                                          <p:attrName>style.visibility</p:attrName>
                                        </p:attrNameLst>
                                      </p:cBhvr>
                                      <p:to>
                                        <p:strVal val="visible"/>
                                      </p:to>
                                    </p:set>
                                    <p:animEffect transition="in" filter="fade">
                                      <p:cBhvr>
                                        <p:cTn id="28" dur="500"/>
                                        <p:tgtEl>
                                          <p:spTgt spid="106"/>
                                        </p:tgtEl>
                                      </p:cBhvr>
                                    </p:animEffect>
                                  </p:childTnLst>
                                </p:cTn>
                              </p:par>
                              <p:par>
                                <p:cTn id="29" presetID="10" presetClass="entr" presetSubtype="0" fill="hold" nodeType="withEffect">
                                  <p:stCondLst>
                                    <p:cond delay="0"/>
                                  </p:stCondLst>
                                  <p:childTnLst>
                                    <p:set>
                                      <p:cBhvr>
                                        <p:cTn id="30" dur="1" fill="hold">
                                          <p:stCondLst>
                                            <p:cond delay="0"/>
                                          </p:stCondLst>
                                        </p:cTn>
                                        <p:tgtEl>
                                          <p:spTgt spid="75"/>
                                        </p:tgtEl>
                                        <p:attrNameLst>
                                          <p:attrName>style.visibility</p:attrName>
                                        </p:attrNameLst>
                                      </p:cBhvr>
                                      <p:to>
                                        <p:strVal val="visible"/>
                                      </p:to>
                                    </p:set>
                                    <p:animEffect transition="in" filter="fade">
                                      <p:cBhvr>
                                        <p:cTn id="31" dur="500"/>
                                        <p:tgtEl>
                                          <p:spTgt spid="7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12"/>
                                        </p:tgtEl>
                                        <p:attrNameLst>
                                          <p:attrName>style.visibility</p:attrName>
                                        </p:attrNameLst>
                                      </p:cBhvr>
                                      <p:to>
                                        <p:strVal val="visible"/>
                                      </p:to>
                                    </p:set>
                                    <p:animEffect transition="in" filter="fade">
                                      <p:cBhvr>
                                        <p:cTn id="36" dur="500"/>
                                        <p:tgtEl>
                                          <p:spTgt spid="1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17"/>
                                        </p:tgtEl>
                                        <p:attrNameLst>
                                          <p:attrName>style.visibility</p:attrName>
                                        </p:attrNameLst>
                                      </p:cBhvr>
                                      <p:to>
                                        <p:strVal val="visible"/>
                                      </p:to>
                                    </p:set>
                                    <p:animEffect transition="in" filter="fade">
                                      <p:cBhvr>
                                        <p:cTn id="41" dur="500"/>
                                        <p:tgtEl>
                                          <p:spTgt spid="11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13"/>
                                        </p:tgtEl>
                                        <p:attrNameLst>
                                          <p:attrName>style.visibility</p:attrName>
                                        </p:attrNameLst>
                                      </p:cBhvr>
                                      <p:to>
                                        <p:strVal val="visible"/>
                                      </p:to>
                                    </p:set>
                                    <p:animEffect transition="in" filter="fade">
                                      <p:cBhvr>
                                        <p:cTn id="46" dur="500"/>
                                        <p:tgtEl>
                                          <p:spTgt spid="11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14"/>
                                        </p:tgtEl>
                                        <p:attrNameLst>
                                          <p:attrName>style.visibility</p:attrName>
                                        </p:attrNameLst>
                                      </p:cBhvr>
                                      <p:to>
                                        <p:strVal val="visible"/>
                                      </p:to>
                                    </p:set>
                                    <p:animEffect transition="in" filter="fade">
                                      <p:cBhvr>
                                        <p:cTn id="51" dur="500"/>
                                        <p:tgtEl>
                                          <p:spTgt spid="114"/>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15"/>
                                        </p:tgtEl>
                                        <p:attrNameLst>
                                          <p:attrName>style.visibility</p:attrName>
                                        </p:attrNameLst>
                                      </p:cBhvr>
                                      <p:to>
                                        <p:strVal val="visible"/>
                                      </p:to>
                                    </p:set>
                                    <p:animEffect transition="in" filter="fade">
                                      <p:cBhvr>
                                        <p:cTn id="56" dur="500"/>
                                        <p:tgtEl>
                                          <p:spTgt spid="11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16"/>
                                        </p:tgtEl>
                                        <p:attrNameLst>
                                          <p:attrName>style.visibility</p:attrName>
                                        </p:attrNameLst>
                                      </p:cBhvr>
                                      <p:to>
                                        <p:strVal val="visible"/>
                                      </p:to>
                                    </p:set>
                                    <p:animEffect transition="in" filter="fade">
                                      <p:cBhvr>
                                        <p:cTn id="61" dur="500"/>
                                        <p:tgtEl>
                                          <p:spTgt spid="116"/>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93"/>
                                        </p:tgtEl>
                                        <p:attrNameLst>
                                          <p:attrName>style.visibility</p:attrName>
                                        </p:attrNameLst>
                                      </p:cBhvr>
                                      <p:to>
                                        <p:strVal val="visible"/>
                                      </p:to>
                                    </p:set>
                                    <p:animEffect transition="in" filter="wipe(left)">
                                      <p:cBhvr>
                                        <p:cTn id="66" dur="500"/>
                                        <p:tgtEl>
                                          <p:spTgt spid="9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94"/>
                                        </p:tgtEl>
                                        <p:attrNameLst>
                                          <p:attrName>style.visibility</p:attrName>
                                        </p:attrNameLst>
                                      </p:cBhvr>
                                      <p:to>
                                        <p:strVal val="visible"/>
                                      </p:to>
                                    </p:set>
                                    <p:animEffect transition="in" filter="wipe(left)">
                                      <p:cBhvr>
                                        <p:cTn id="69" dur="500"/>
                                        <p:tgtEl>
                                          <p:spTgt spid="94"/>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95"/>
                                        </p:tgtEl>
                                        <p:attrNameLst>
                                          <p:attrName>style.visibility</p:attrName>
                                        </p:attrNameLst>
                                      </p:cBhvr>
                                      <p:to>
                                        <p:strVal val="visible"/>
                                      </p:to>
                                    </p:set>
                                    <p:animEffect transition="in" filter="wipe(left)">
                                      <p:cBhvr>
                                        <p:cTn id="72" dur="500"/>
                                        <p:tgtEl>
                                          <p:spTgt spid="95"/>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96"/>
                                        </p:tgtEl>
                                        <p:attrNameLst>
                                          <p:attrName>style.visibility</p:attrName>
                                        </p:attrNameLst>
                                      </p:cBhvr>
                                      <p:to>
                                        <p:strVal val="visible"/>
                                      </p:to>
                                    </p:set>
                                    <p:animEffect transition="in" filter="wipe(left)">
                                      <p:cBhvr>
                                        <p:cTn id="75" dur="500"/>
                                        <p:tgtEl>
                                          <p:spTgt spid="96"/>
                                        </p:tgtEl>
                                      </p:cBhvr>
                                    </p:animEffect>
                                  </p:childTnLst>
                                </p:cTn>
                              </p:par>
                              <p:par>
                                <p:cTn id="76" presetID="22" presetClass="entr" presetSubtype="8" fill="hold" grpId="0" nodeType="withEffect">
                                  <p:stCondLst>
                                    <p:cond delay="0"/>
                                  </p:stCondLst>
                                  <p:childTnLst>
                                    <p:set>
                                      <p:cBhvr>
                                        <p:cTn id="77" dur="1" fill="hold">
                                          <p:stCondLst>
                                            <p:cond delay="0"/>
                                          </p:stCondLst>
                                        </p:cTn>
                                        <p:tgtEl>
                                          <p:spTgt spid="97"/>
                                        </p:tgtEl>
                                        <p:attrNameLst>
                                          <p:attrName>style.visibility</p:attrName>
                                        </p:attrNameLst>
                                      </p:cBhvr>
                                      <p:to>
                                        <p:strVal val="visible"/>
                                      </p:to>
                                    </p:set>
                                    <p:animEffect transition="in" filter="wipe(left)">
                                      <p:cBhvr>
                                        <p:cTn id="78" dur="500"/>
                                        <p:tgtEl>
                                          <p:spTgt spid="97"/>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98"/>
                                        </p:tgtEl>
                                        <p:attrNameLst>
                                          <p:attrName>style.visibility</p:attrName>
                                        </p:attrNameLst>
                                      </p:cBhvr>
                                      <p:to>
                                        <p:strVal val="visible"/>
                                      </p:to>
                                    </p:set>
                                    <p:animEffect transition="in" filter="wipe(left)">
                                      <p:cBhvr>
                                        <p:cTn id="81" dur="500"/>
                                        <p:tgtEl>
                                          <p:spTgt spid="98"/>
                                        </p:tgtEl>
                                      </p:cBhvr>
                                    </p:animEffect>
                                  </p:childTnLst>
                                </p:cTn>
                              </p:par>
                              <p:par>
                                <p:cTn id="82" presetID="22" presetClass="entr" presetSubtype="8" fill="hold" grpId="0" nodeType="withEffect">
                                  <p:stCondLst>
                                    <p:cond delay="0"/>
                                  </p:stCondLst>
                                  <p:childTnLst>
                                    <p:set>
                                      <p:cBhvr>
                                        <p:cTn id="83" dur="1" fill="hold">
                                          <p:stCondLst>
                                            <p:cond delay="0"/>
                                          </p:stCondLst>
                                        </p:cTn>
                                        <p:tgtEl>
                                          <p:spTgt spid="99"/>
                                        </p:tgtEl>
                                        <p:attrNameLst>
                                          <p:attrName>style.visibility</p:attrName>
                                        </p:attrNameLst>
                                      </p:cBhvr>
                                      <p:to>
                                        <p:strVal val="visible"/>
                                      </p:to>
                                    </p:set>
                                    <p:animEffect transition="in" filter="wipe(left)">
                                      <p:cBhvr>
                                        <p:cTn id="84" dur="500"/>
                                        <p:tgtEl>
                                          <p:spTgt spid="99"/>
                                        </p:tgtEl>
                                      </p:cBhvr>
                                    </p:animEffect>
                                  </p:childTnLst>
                                </p:cTn>
                              </p:par>
                              <p:par>
                                <p:cTn id="85" presetID="22" presetClass="entr" presetSubtype="8" fill="hold" grpId="0" nodeType="withEffect">
                                  <p:stCondLst>
                                    <p:cond delay="0"/>
                                  </p:stCondLst>
                                  <p:childTnLst>
                                    <p:set>
                                      <p:cBhvr>
                                        <p:cTn id="86" dur="1" fill="hold">
                                          <p:stCondLst>
                                            <p:cond delay="0"/>
                                          </p:stCondLst>
                                        </p:cTn>
                                        <p:tgtEl>
                                          <p:spTgt spid="101"/>
                                        </p:tgtEl>
                                        <p:attrNameLst>
                                          <p:attrName>style.visibility</p:attrName>
                                        </p:attrNameLst>
                                      </p:cBhvr>
                                      <p:to>
                                        <p:strVal val="visible"/>
                                      </p:to>
                                    </p:set>
                                    <p:animEffect transition="in" filter="wipe(left)">
                                      <p:cBhvr>
                                        <p:cTn id="87" dur="500"/>
                                        <p:tgtEl>
                                          <p:spTgt spid="101"/>
                                        </p:tgtEl>
                                      </p:cBhvr>
                                    </p:animEffect>
                                  </p:childTnLst>
                                </p:cTn>
                              </p:par>
                              <p:par>
                                <p:cTn id="88" presetID="22" presetClass="entr" presetSubtype="8" fill="hold" grpId="0" nodeType="withEffect">
                                  <p:stCondLst>
                                    <p:cond delay="0"/>
                                  </p:stCondLst>
                                  <p:childTnLst>
                                    <p:set>
                                      <p:cBhvr>
                                        <p:cTn id="89" dur="1" fill="hold">
                                          <p:stCondLst>
                                            <p:cond delay="0"/>
                                          </p:stCondLst>
                                        </p:cTn>
                                        <p:tgtEl>
                                          <p:spTgt spid="102"/>
                                        </p:tgtEl>
                                        <p:attrNameLst>
                                          <p:attrName>style.visibility</p:attrName>
                                        </p:attrNameLst>
                                      </p:cBhvr>
                                      <p:to>
                                        <p:strVal val="visible"/>
                                      </p:to>
                                    </p:set>
                                    <p:animEffect transition="in" filter="wipe(left)">
                                      <p:cBhvr>
                                        <p:cTn id="90" dur="500"/>
                                        <p:tgtEl>
                                          <p:spTgt spid="102"/>
                                        </p:tgtEl>
                                      </p:cBhvr>
                                    </p:animEffect>
                                  </p:childTnLst>
                                </p:cTn>
                              </p:par>
                            </p:childTnLst>
                          </p:cTn>
                        </p:par>
                      </p:childTnLst>
                    </p:cTn>
                  </p:par>
                  <p:par>
                    <p:cTn id="91" fill="hold">
                      <p:stCondLst>
                        <p:cond delay="indefinite"/>
                      </p:stCondLst>
                      <p:childTnLst>
                        <p:par>
                          <p:cTn id="92" fill="hold">
                            <p:stCondLst>
                              <p:cond delay="0"/>
                            </p:stCondLst>
                            <p:childTnLst>
                              <p:par>
                                <p:cTn id="93" presetID="26" presetClass="emph" presetSubtype="0" fill="hold" grpId="1" nodeType="clickEffect">
                                  <p:stCondLst>
                                    <p:cond delay="0"/>
                                  </p:stCondLst>
                                  <p:childTnLst>
                                    <p:animEffect transition="out" filter="fade">
                                      <p:cBhvr>
                                        <p:cTn id="94" dur="500" tmFilter="0, 0; .2, .5; .8, .5; 1, 0"/>
                                        <p:tgtEl>
                                          <p:spTgt spid="101"/>
                                        </p:tgtEl>
                                      </p:cBhvr>
                                    </p:animEffect>
                                    <p:animScale>
                                      <p:cBhvr>
                                        <p:cTn id="95" dur="250" autoRev="1" fill="hold"/>
                                        <p:tgtEl>
                                          <p:spTgt spid="101"/>
                                        </p:tgtEl>
                                      </p:cBhvr>
                                      <p:by x="105000" y="105000"/>
                                    </p:animScale>
                                  </p:childTnLst>
                                </p:cTn>
                              </p:par>
                            </p:childTnLst>
                          </p:cTn>
                        </p:par>
                      </p:childTnLst>
                    </p:cTn>
                  </p:par>
                  <p:par>
                    <p:cTn id="96" fill="hold">
                      <p:stCondLst>
                        <p:cond delay="indefinite"/>
                      </p:stCondLst>
                      <p:childTnLst>
                        <p:par>
                          <p:cTn id="97" fill="hold">
                            <p:stCondLst>
                              <p:cond delay="0"/>
                            </p:stCondLst>
                            <p:childTnLst>
                              <p:par>
                                <p:cTn id="98" presetID="26" presetClass="emph" presetSubtype="0" fill="hold" grpId="1" nodeType="clickEffect">
                                  <p:stCondLst>
                                    <p:cond delay="0"/>
                                  </p:stCondLst>
                                  <p:childTnLst>
                                    <p:animEffect transition="out" filter="fade">
                                      <p:cBhvr>
                                        <p:cTn id="99" dur="500" tmFilter="0, 0; .2, .5; .8, .5; 1, 0"/>
                                        <p:tgtEl>
                                          <p:spTgt spid="96"/>
                                        </p:tgtEl>
                                      </p:cBhvr>
                                    </p:animEffect>
                                    <p:animScale>
                                      <p:cBhvr>
                                        <p:cTn id="100" dur="250" autoRev="1" fill="hold"/>
                                        <p:tgtEl>
                                          <p:spTgt spid="9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94" grpId="0"/>
      <p:bldP spid="95" grpId="0" animBg="1"/>
      <p:bldP spid="96" grpId="0" animBg="1"/>
      <p:bldP spid="96" grpId="1" animBg="1"/>
      <p:bldP spid="97" grpId="0"/>
      <p:bldP spid="98" grpId="0"/>
      <p:bldP spid="99" grpId="0"/>
      <p:bldP spid="101" grpId="0" animBg="1"/>
      <p:bldP spid="101" grpId="1" animBg="1"/>
      <p:bldP spid="10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1E57E11-B72A-4A81-FEF6-78747C3F2298}"/>
              </a:ext>
            </a:extLst>
          </p:cNvPr>
          <p:cNvSpPr>
            <a:spLocks noGrp="1"/>
          </p:cNvSpPr>
          <p:nvPr>
            <p:ph type="title"/>
          </p:nvPr>
        </p:nvSpPr>
        <p:spPr/>
        <p:txBody>
          <a:bodyPr/>
          <a:lstStyle/>
          <a:p>
            <a:r>
              <a:rPr kumimoji="1" lang="en-US" altLang="zh-TW" dirty="0"/>
              <a:t>Why 4-Level Page Tables for 64-bit System</a:t>
            </a:r>
            <a:endParaRPr kumimoji="1" lang="zh-TW" altLang="en-US" dirty="0"/>
          </a:p>
        </p:txBody>
      </p:sp>
      <p:sp>
        <p:nvSpPr>
          <p:cNvPr id="3" name="內容版面配置區 2">
            <a:extLst>
              <a:ext uri="{FF2B5EF4-FFF2-40B4-BE49-F238E27FC236}">
                <a16:creationId xmlns:a16="http://schemas.microsoft.com/office/drawing/2014/main" id="{E747B279-0377-E641-FDFF-30A2047C5C61}"/>
              </a:ext>
            </a:extLst>
          </p:cNvPr>
          <p:cNvSpPr>
            <a:spLocks noGrp="1"/>
          </p:cNvSpPr>
          <p:nvPr>
            <p:ph idx="1"/>
          </p:nvPr>
        </p:nvSpPr>
        <p:spPr>
          <a:xfrm>
            <a:off x="177800" y="1238250"/>
            <a:ext cx="7218423" cy="5441950"/>
          </a:xfrm>
        </p:spPr>
        <p:txBody>
          <a:bodyPr>
            <a:normAutofit/>
          </a:bodyPr>
          <a:lstStyle/>
          <a:p>
            <a:pPr algn="l"/>
            <a:r>
              <a:rPr lang="en-US" altLang="zh-TW" dirty="0"/>
              <a:t>Page Size = 4KB (</a:t>
            </a:r>
            <a:r>
              <a:rPr lang="en-US" altLang="zh-TW" b="1" dirty="0"/>
              <a:t>2</a:t>
            </a:r>
            <a:r>
              <a:rPr lang="en-US" altLang="zh-TW" b="1" baseline="30000" dirty="0"/>
              <a:t>12</a:t>
            </a:r>
            <a:r>
              <a:rPr lang="en-US" altLang="zh-TW" b="1" dirty="0"/>
              <a:t>B</a:t>
            </a:r>
            <a:r>
              <a:rPr lang="en-US" altLang="zh-TW" dirty="0"/>
              <a:t>)</a:t>
            </a:r>
          </a:p>
          <a:p>
            <a:pPr algn="l"/>
            <a:r>
              <a:rPr kumimoji="1" lang="en-US" altLang="zh-TW" dirty="0"/>
              <a:t>Virtual Address Space Size = </a:t>
            </a:r>
            <a:r>
              <a:rPr kumimoji="1" lang="en-US" altLang="zh-TW" b="1" dirty="0"/>
              <a:t>2</a:t>
            </a:r>
            <a:r>
              <a:rPr kumimoji="1" lang="en-US" altLang="zh-TW" b="1" baseline="30000" dirty="0"/>
              <a:t>48</a:t>
            </a:r>
            <a:r>
              <a:rPr lang="en-US" altLang="zh-TW" b="1" dirty="0"/>
              <a:t> B</a:t>
            </a:r>
            <a:r>
              <a:rPr lang="en-US" altLang="zh-TW" dirty="0"/>
              <a:t> </a:t>
            </a:r>
            <a:br>
              <a:rPr lang="en-US" altLang="zh-TW" dirty="0"/>
            </a:br>
            <a:r>
              <a:rPr lang="en-US" altLang="zh-TW" dirty="0"/>
              <a:t>(48-bit virtual address)</a:t>
            </a:r>
          </a:p>
          <a:p>
            <a:pPr algn="l"/>
            <a:r>
              <a:rPr kumimoji="1" lang="en-US" altLang="zh-TW" dirty="0"/>
              <a:t>Page Table Entry Size is </a:t>
            </a:r>
            <a:r>
              <a:rPr kumimoji="1" lang="en-US" altLang="zh-TW" b="1" dirty="0"/>
              <a:t>8B</a:t>
            </a:r>
          </a:p>
          <a:p>
            <a:pPr algn="l"/>
            <a:r>
              <a:rPr lang="en-US" altLang="zh-TW" dirty="0"/>
              <a:t>How many levels:</a:t>
            </a:r>
          </a:p>
          <a:p>
            <a:pPr lvl="1" algn="l"/>
            <a:r>
              <a:rPr lang="en-US" altLang="zh-TW" dirty="0"/>
              <a:t>Last-Level: (2</a:t>
            </a:r>
            <a:r>
              <a:rPr lang="en-US" altLang="zh-TW" baseline="30000" dirty="0"/>
              <a:t>48</a:t>
            </a:r>
            <a:r>
              <a:rPr lang="en-US" altLang="zh-TW" dirty="0"/>
              <a:t>/2</a:t>
            </a:r>
            <a:r>
              <a:rPr lang="en-US" altLang="zh-TW" baseline="30000" dirty="0"/>
              <a:t>12</a:t>
            </a:r>
            <a:r>
              <a:rPr lang="en-US" altLang="zh-TW" dirty="0"/>
              <a:t>)*8 = 2</a:t>
            </a:r>
            <a:r>
              <a:rPr lang="en-US" altLang="zh-TW" baseline="30000" dirty="0"/>
              <a:t>39 </a:t>
            </a:r>
            <a:r>
              <a:rPr lang="en-US" altLang="zh-TW" dirty="0"/>
              <a:t>B ( &gt; 2</a:t>
            </a:r>
            <a:r>
              <a:rPr lang="en-US" altLang="zh-TW" baseline="30000" dirty="0"/>
              <a:t>12</a:t>
            </a:r>
            <a:r>
              <a:rPr lang="en-US" altLang="zh-TW" dirty="0"/>
              <a:t>B)</a:t>
            </a:r>
          </a:p>
          <a:p>
            <a:pPr lvl="1" algn="l"/>
            <a:r>
              <a:rPr lang="en-US" altLang="zh-TW" dirty="0"/>
              <a:t>Last 2 Level: (2</a:t>
            </a:r>
            <a:r>
              <a:rPr lang="en-US" altLang="zh-TW" baseline="30000" dirty="0"/>
              <a:t>39</a:t>
            </a:r>
            <a:r>
              <a:rPr lang="en-US" altLang="zh-TW" dirty="0"/>
              <a:t>/2</a:t>
            </a:r>
            <a:r>
              <a:rPr lang="en-US" altLang="zh-TW" baseline="30000" dirty="0"/>
              <a:t>12</a:t>
            </a:r>
            <a:r>
              <a:rPr lang="en-US" altLang="zh-TW" dirty="0"/>
              <a:t>)*8 = 2</a:t>
            </a:r>
            <a:r>
              <a:rPr lang="en-US" altLang="zh-TW" baseline="30000" dirty="0"/>
              <a:t>30</a:t>
            </a:r>
            <a:r>
              <a:rPr lang="en-US" altLang="zh-TW" dirty="0"/>
              <a:t> B ( &gt; 2</a:t>
            </a:r>
            <a:r>
              <a:rPr lang="en-US" altLang="zh-TW" baseline="30000" dirty="0"/>
              <a:t>12</a:t>
            </a:r>
            <a:r>
              <a:rPr lang="en-US" altLang="zh-TW" dirty="0"/>
              <a:t>B)</a:t>
            </a:r>
          </a:p>
          <a:p>
            <a:pPr lvl="1" algn="l"/>
            <a:r>
              <a:rPr lang="en-US" altLang="zh-TW" dirty="0"/>
              <a:t>La</a:t>
            </a:r>
            <a:r>
              <a:rPr kumimoji="1" lang="en-US" altLang="zh-TW" dirty="0"/>
              <a:t>st 3 Level: </a:t>
            </a:r>
            <a:r>
              <a:rPr lang="en-US" altLang="zh-TW" dirty="0"/>
              <a:t>(2</a:t>
            </a:r>
            <a:r>
              <a:rPr lang="en-US" altLang="zh-TW" baseline="30000" dirty="0"/>
              <a:t>30</a:t>
            </a:r>
            <a:r>
              <a:rPr lang="en-US" altLang="zh-TW" dirty="0"/>
              <a:t>/2</a:t>
            </a:r>
            <a:r>
              <a:rPr lang="en-US" altLang="zh-TW" baseline="30000" dirty="0"/>
              <a:t>12</a:t>
            </a:r>
            <a:r>
              <a:rPr lang="en-US" altLang="zh-TW" dirty="0"/>
              <a:t>)*8 = 2</a:t>
            </a:r>
            <a:r>
              <a:rPr lang="en-US" altLang="zh-TW" baseline="30000" dirty="0"/>
              <a:t>21</a:t>
            </a:r>
            <a:r>
              <a:rPr lang="en-US" altLang="zh-TW" dirty="0"/>
              <a:t> B ( &gt; 2</a:t>
            </a:r>
            <a:r>
              <a:rPr lang="en-US" altLang="zh-TW" baseline="30000" dirty="0"/>
              <a:t>12</a:t>
            </a:r>
            <a:r>
              <a:rPr lang="en-US" altLang="zh-TW" dirty="0"/>
              <a:t>B)</a:t>
            </a:r>
          </a:p>
          <a:p>
            <a:pPr lvl="1" algn="l"/>
            <a:r>
              <a:rPr kumimoji="1" lang="en-US" altLang="zh-TW" dirty="0"/>
              <a:t>Last 4 Level: </a:t>
            </a:r>
            <a:r>
              <a:rPr lang="en-US" altLang="zh-TW" dirty="0"/>
              <a:t>(2</a:t>
            </a:r>
            <a:r>
              <a:rPr lang="en-US" altLang="zh-TW" baseline="30000" dirty="0"/>
              <a:t>21</a:t>
            </a:r>
            <a:r>
              <a:rPr lang="en-US" altLang="zh-TW" dirty="0"/>
              <a:t>/2</a:t>
            </a:r>
            <a:r>
              <a:rPr lang="en-US" altLang="zh-TW" baseline="30000" dirty="0"/>
              <a:t>12</a:t>
            </a:r>
            <a:r>
              <a:rPr lang="en-US" altLang="zh-TW" dirty="0"/>
              <a:t>)*8 = 2</a:t>
            </a:r>
            <a:r>
              <a:rPr lang="en-US" altLang="zh-TW" baseline="30000" dirty="0"/>
              <a:t>12</a:t>
            </a:r>
            <a:r>
              <a:rPr lang="en-US" altLang="zh-TW" dirty="0"/>
              <a:t> B ( &lt;= 2</a:t>
            </a:r>
            <a:r>
              <a:rPr lang="en-US" altLang="zh-TW" baseline="30000" dirty="0"/>
              <a:t>12</a:t>
            </a:r>
            <a:r>
              <a:rPr lang="en-US" altLang="zh-TW" dirty="0"/>
              <a:t>B)</a:t>
            </a:r>
          </a:p>
          <a:p>
            <a:pPr lvl="1" algn="l"/>
            <a:endParaRPr lang="en-US" altLang="zh-TW" dirty="0"/>
          </a:p>
        </p:txBody>
      </p:sp>
      <p:sp>
        <p:nvSpPr>
          <p:cNvPr id="4" name="投影片編號版面配置區 3">
            <a:extLst>
              <a:ext uri="{FF2B5EF4-FFF2-40B4-BE49-F238E27FC236}">
                <a16:creationId xmlns:a16="http://schemas.microsoft.com/office/drawing/2014/main" id="{AA30102A-5779-0379-D034-36A782D3A123}"/>
              </a:ext>
            </a:extLst>
          </p:cNvPr>
          <p:cNvSpPr>
            <a:spLocks noGrp="1"/>
          </p:cNvSpPr>
          <p:nvPr>
            <p:ph type="sldNum" sz="quarter" idx="4"/>
          </p:nvPr>
        </p:nvSpPr>
        <p:spPr/>
        <p:txBody>
          <a:bodyPr/>
          <a:lstStyle/>
          <a:p>
            <a:fld id="{E24E6636-6BA5-4AAC-8485-BE8D914D288B}" type="slidenum">
              <a:rPr lang="zh-TW" altLang="en-US" smtClean="0"/>
              <a:pPr/>
              <a:t>32</a:t>
            </a:fld>
            <a:endParaRPr lang="zh-TW" altLang="en-US" dirty="0"/>
          </a:p>
        </p:txBody>
      </p:sp>
      <p:sp>
        <p:nvSpPr>
          <p:cNvPr id="14" name="文字方塊 13">
            <a:extLst>
              <a:ext uri="{FF2B5EF4-FFF2-40B4-BE49-F238E27FC236}">
                <a16:creationId xmlns:a16="http://schemas.microsoft.com/office/drawing/2014/main" id="{01619F43-39CA-23A4-0D23-20428B75FF84}"/>
              </a:ext>
            </a:extLst>
          </p:cNvPr>
          <p:cNvSpPr txBox="1"/>
          <p:nvPr/>
        </p:nvSpPr>
        <p:spPr>
          <a:xfrm>
            <a:off x="0" y="6541700"/>
            <a:ext cx="5081286" cy="276999"/>
          </a:xfrm>
          <a:prstGeom prst="rect">
            <a:avLst/>
          </a:prstGeom>
          <a:noFill/>
        </p:spPr>
        <p:txBody>
          <a:bodyPr wrap="squar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www.geeksforgeeks.org</a:t>
            </a:r>
            <a:r>
              <a:rPr kumimoji="1" lang="en-US" altLang="zh-TW" sz="1200" dirty="0">
                <a:solidFill>
                  <a:schemeClr val="bg1">
                    <a:lumMod val="75000"/>
                  </a:schemeClr>
                </a:solidFill>
              </a:rPr>
              <a:t>/multilevel-paging-in-operating-system/</a:t>
            </a:r>
          </a:p>
        </p:txBody>
      </p:sp>
      <p:grpSp>
        <p:nvGrpSpPr>
          <p:cNvPr id="96" name="群組 95">
            <a:extLst>
              <a:ext uri="{FF2B5EF4-FFF2-40B4-BE49-F238E27FC236}">
                <a16:creationId xmlns:a16="http://schemas.microsoft.com/office/drawing/2014/main" id="{97252250-10B7-E545-64E9-12338D8C4180}"/>
              </a:ext>
            </a:extLst>
          </p:cNvPr>
          <p:cNvGrpSpPr/>
          <p:nvPr/>
        </p:nvGrpSpPr>
        <p:grpSpPr>
          <a:xfrm>
            <a:off x="7397024" y="1804169"/>
            <a:ext cx="4440050" cy="608351"/>
            <a:chOff x="7397024" y="1804169"/>
            <a:chExt cx="4440050" cy="608351"/>
          </a:xfrm>
        </p:grpSpPr>
        <p:sp>
          <p:nvSpPr>
            <p:cNvPr id="19" name="文字方塊 18">
              <a:extLst>
                <a:ext uri="{FF2B5EF4-FFF2-40B4-BE49-F238E27FC236}">
                  <a16:creationId xmlns:a16="http://schemas.microsoft.com/office/drawing/2014/main" id="{AFEF7DB0-B098-B091-46D5-DD7F8E607200}"/>
                </a:ext>
              </a:extLst>
            </p:cNvPr>
            <p:cNvSpPr txBox="1"/>
            <p:nvPr/>
          </p:nvSpPr>
          <p:spPr>
            <a:xfrm>
              <a:off x="10886686" y="1827745"/>
              <a:ext cx="950388" cy="584775"/>
            </a:xfrm>
            <a:prstGeom prst="rect">
              <a:avLst/>
            </a:prstGeom>
            <a:noFill/>
          </p:spPr>
          <p:txBody>
            <a:bodyPr wrap="none" rtlCol="0">
              <a:spAutoFit/>
            </a:bodyPr>
            <a:lstStyle/>
            <a:p>
              <a:pPr algn="ctr"/>
              <a:r>
                <a:rPr kumimoji="1" lang="en-US" altLang="zh-TW" sz="1600" dirty="0">
                  <a:solidFill>
                    <a:srgbClr val="C00000"/>
                  </a:solidFill>
                </a:rPr>
                <a:t>Last level</a:t>
              </a:r>
            </a:p>
            <a:p>
              <a:pPr algn="ctr"/>
              <a:r>
                <a:rPr kumimoji="1" lang="en-US" altLang="zh-TW" sz="1600" dirty="0">
                  <a:solidFill>
                    <a:srgbClr val="C00000"/>
                  </a:solidFill>
                </a:rPr>
                <a:t>2</a:t>
              </a:r>
              <a:r>
                <a:rPr kumimoji="1" lang="en-US" altLang="zh-TW" sz="1600" baseline="30000" dirty="0">
                  <a:solidFill>
                    <a:srgbClr val="C00000"/>
                  </a:solidFill>
                </a:rPr>
                <a:t>39 </a:t>
              </a:r>
              <a:r>
                <a:rPr kumimoji="1" lang="en-US" altLang="zh-TW" sz="1600" dirty="0">
                  <a:solidFill>
                    <a:srgbClr val="C00000"/>
                  </a:solidFill>
                </a:rPr>
                <a:t>B PTE</a:t>
              </a:r>
              <a:endParaRPr kumimoji="1" lang="zh-TW" altLang="en-US" sz="1600" dirty="0">
                <a:solidFill>
                  <a:srgbClr val="C00000"/>
                </a:solidFill>
              </a:endParaRPr>
            </a:p>
          </p:txBody>
        </p:sp>
        <p:grpSp>
          <p:nvGrpSpPr>
            <p:cNvPr id="95" name="群組 94">
              <a:extLst>
                <a:ext uri="{FF2B5EF4-FFF2-40B4-BE49-F238E27FC236}">
                  <a16:creationId xmlns:a16="http://schemas.microsoft.com/office/drawing/2014/main" id="{0409043F-316A-AE00-2F23-2794795401C4}"/>
                </a:ext>
              </a:extLst>
            </p:cNvPr>
            <p:cNvGrpSpPr/>
            <p:nvPr/>
          </p:nvGrpSpPr>
          <p:grpSpPr>
            <a:xfrm>
              <a:off x="7397024" y="1804169"/>
              <a:ext cx="3245247" cy="529702"/>
              <a:chOff x="7397024" y="1804169"/>
              <a:chExt cx="3245247" cy="529702"/>
            </a:xfrm>
          </p:grpSpPr>
          <p:sp>
            <p:nvSpPr>
              <p:cNvPr id="15" name="矩形 14">
                <a:extLst>
                  <a:ext uri="{FF2B5EF4-FFF2-40B4-BE49-F238E27FC236}">
                    <a16:creationId xmlns:a16="http://schemas.microsoft.com/office/drawing/2014/main" id="{39F75635-D10D-F0C6-32AB-96A4F5032F44}"/>
                  </a:ext>
                </a:extLst>
              </p:cNvPr>
              <p:cNvSpPr/>
              <p:nvPr/>
            </p:nvSpPr>
            <p:spPr>
              <a:xfrm>
                <a:off x="7397024" y="2056872"/>
                <a:ext cx="457200" cy="2769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rPr>
                  <a:t>PTE</a:t>
                </a:r>
                <a:endParaRPr kumimoji="1" lang="zh-TW" altLang="en-US" sz="1600" dirty="0">
                  <a:solidFill>
                    <a:schemeClr val="tx1"/>
                  </a:solidFill>
                </a:endParaRPr>
              </a:p>
            </p:txBody>
          </p:sp>
          <p:sp>
            <p:nvSpPr>
              <p:cNvPr id="17" name="矩形 16">
                <a:extLst>
                  <a:ext uri="{FF2B5EF4-FFF2-40B4-BE49-F238E27FC236}">
                    <a16:creationId xmlns:a16="http://schemas.microsoft.com/office/drawing/2014/main" id="{16849D97-FF6E-F6CC-22D7-52C976D6580D}"/>
                  </a:ext>
                </a:extLst>
              </p:cNvPr>
              <p:cNvSpPr/>
              <p:nvPr/>
            </p:nvSpPr>
            <p:spPr>
              <a:xfrm>
                <a:off x="8799489" y="2056872"/>
                <a:ext cx="457200" cy="2769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rPr>
                  <a:t>PTE</a:t>
                </a:r>
                <a:endParaRPr kumimoji="1" lang="zh-TW" altLang="en-US" sz="1600" dirty="0">
                  <a:solidFill>
                    <a:schemeClr val="tx1"/>
                  </a:solidFill>
                </a:endParaRPr>
              </a:p>
            </p:txBody>
          </p:sp>
          <p:sp>
            <p:nvSpPr>
              <p:cNvPr id="18" name="矩形 17">
                <a:extLst>
                  <a:ext uri="{FF2B5EF4-FFF2-40B4-BE49-F238E27FC236}">
                    <a16:creationId xmlns:a16="http://schemas.microsoft.com/office/drawing/2014/main" id="{C3FA9BEB-486E-9167-3839-68C52647E18C}"/>
                  </a:ext>
                </a:extLst>
              </p:cNvPr>
              <p:cNvSpPr/>
              <p:nvPr/>
            </p:nvSpPr>
            <p:spPr>
              <a:xfrm>
                <a:off x="10185071" y="2056872"/>
                <a:ext cx="457200" cy="2769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rPr>
                  <a:t>PTE</a:t>
                </a:r>
                <a:endParaRPr kumimoji="1" lang="zh-TW" altLang="en-US" sz="1600" dirty="0">
                  <a:solidFill>
                    <a:schemeClr val="tx1"/>
                  </a:solidFill>
                </a:endParaRPr>
              </a:p>
            </p:txBody>
          </p:sp>
          <p:cxnSp>
            <p:nvCxnSpPr>
              <p:cNvPr id="21" name="直線箭頭接點 20">
                <a:extLst>
                  <a:ext uri="{FF2B5EF4-FFF2-40B4-BE49-F238E27FC236}">
                    <a16:creationId xmlns:a16="http://schemas.microsoft.com/office/drawing/2014/main" id="{3234DDD0-08A8-2954-74D2-820046406284}"/>
                  </a:ext>
                </a:extLst>
              </p:cNvPr>
              <p:cNvCxnSpPr>
                <a:cxnSpLocks/>
                <a:endCxn id="5" idx="0"/>
              </p:cNvCxnSpPr>
              <p:nvPr/>
            </p:nvCxnSpPr>
            <p:spPr>
              <a:xfrm flipV="1">
                <a:off x="7625224" y="1804169"/>
                <a:ext cx="0" cy="252703"/>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5" name="直線箭頭接點 24">
                <a:extLst>
                  <a:ext uri="{FF2B5EF4-FFF2-40B4-BE49-F238E27FC236}">
                    <a16:creationId xmlns:a16="http://schemas.microsoft.com/office/drawing/2014/main" id="{43CFFEE7-73B5-3A9E-5E22-838097066A9D}"/>
                  </a:ext>
                </a:extLst>
              </p:cNvPr>
              <p:cNvCxnSpPr>
                <a:cxnSpLocks/>
              </p:cNvCxnSpPr>
              <p:nvPr/>
            </p:nvCxnSpPr>
            <p:spPr>
              <a:xfrm flipH="1" flipV="1">
                <a:off x="9039265" y="1804169"/>
                <a:ext cx="0" cy="252703"/>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6" name="直線箭頭接點 25">
                <a:extLst>
                  <a:ext uri="{FF2B5EF4-FFF2-40B4-BE49-F238E27FC236}">
                    <a16:creationId xmlns:a16="http://schemas.microsoft.com/office/drawing/2014/main" id="{DC8821AC-8CF7-FC98-2C5D-415D606424F5}"/>
                  </a:ext>
                </a:extLst>
              </p:cNvPr>
              <p:cNvCxnSpPr>
                <a:cxnSpLocks/>
              </p:cNvCxnSpPr>
              <p:nvPr/>
            </p:nvCxnSpPr>
            <p:spPr>
              <a:xfrm flipH="1" flipV="1">
                <a:off x="10428227" y="1811921"/>
                <a:ext cx="0" cy="252703"/>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41" name="文字方塊 40">
                <a:extLst>
                  <a:ext uri="{FF2B5EF4-FFF2-40B4-BE49-F238E27FC236}">
                    <a16:creationId xmlns:a16="http://schemas.microsoft.com/office/drawing/2014/main" id="{FE406F6B-71FD-3314-4765-86D15AD3CD53}"/>
                  </a:ext>
                </a:extLst>
              </p:cNvPr>
              <p:cNvSpPr txBox="1"/>
              <p:nvPr/>
            </p:nvSpPr>
            <p:spPr>
              <a:xfrm>
                <a:off x="8118566" y="1915885"/>
                <a:ext cx="466794" cy="338554"/>
              </a:xfrm>
              <a:prstGeom prst="rect">
                <a:avLst/>
              </a:prstGeom>
              <a:noFill/>
            </p:spPr>
            <p:txBody>
              <a:bodyPr wrap="none" rtlCol="0">
                <a:spAutoFit/>
              </a:bodyPr>
              <a:lstStyle/>
              <a:p>
                <a:r>
                  <a:rPr kumimoji="1" lang="en-US" altLang="zh-TW" sz="1600" dirty="0"/>
                  <a:t>……</a:t>
                </a:r>
                <a:endParaRPr kumimoji="1" lang="zh-TW" altLang="en-US" sz="1600" dirty="0"/>
              </a:p>
            </p:txBody>
          </p:sp>
          <p:sp>
            <p:nvSpPr>
              <p:cNvPr id="42" name="文字方塊 41">
                <a:extLst>
                  <a:ext uri="{FF2B5EF4-FFF2-40B4-BE49-F238E27FC236}">
                    <a16:creationId xmlns:a16="http://schemas.microsoft.com/office/drawing/2014/main" id="{7C779031-9033-85A9-9E6F-4FF41E3B11E5}"/>
                  </a:ext>
                </a:extLst>
              </p:cNvPr>
              <p:cNvSpPr txBox="1"/>
              <p:nvPr/>
            </p:nvSpPr>
            <p:spPr>
              <a:xfrm>
                <a:off x="9504234" y="1915885"/>
                <a:ext cx="466794" cy="338554"/>
              </a:xfrm>
              <a:prstGeom prst="rect">
                <a:avLst/>
              </a:prstGeom>
              <a:noFill/>
            </p:spPr>
            <p:txBody>
              <a:bodyPr wrap="none" rtlCol="0">
                <a:spAutoFit/>
              </a:bodyPr>
              <a:lstStyle/>
              <a:p>
                <a:r>
                  <a:rPr kumimoji="1" lang="en-US" altLang="zh-TW" sz="1600" dirty="0"/>
                  <a:t>……</a:t>
                </a:r>
                <a:endParaRPr kumimoji="1" lang="zh-TW" altLang="en-US" sz="1600" dirty="0"/>
              </a:p>
            </p:txBody>
          </p:sp>
        </p:grpSp>
      </p:grpSp>
      <p:grpSp>
        <p:nvGrpSpPr>
          <p:cNvPr id="97" name="群組 96">
            <a:extLst>
              <a:ext uri="{FF2B5EF4-FFF2-40B4-BE49-F238E27FC236}">
                <a16:creationId xmlns:a16="http://schemas.microsoft.com/office/drawing/2014/main" id="{4F0A3AD9-5BCD-A94A-7E6C-28D38DE5D7BB}"/>
              </a:ext>
            </a:extLst>
          </p:cNvPr>
          <p:cNvGrpSpPr/>
          <p:nvPr/>
        </p:nvGrpSpPr>
        <p:grpSpPr>
          <a:xfrm>
            <a:off x="5904094" y="1767999"/>
            <a:ext cx="4805598" cy="830997"/>
            <a:chOff x="5904094" y="1767999"/>
            <a:chExt cx="4805598" cy="830997"/>
          </a:xfrm>
        </p:grpSpPr>
        <p:sp>
          <p:nvSpPr>
            <p:cNvPr id="40" name="摺角紙張 39">
              <a:extLst>
                <a:ext uri="{FF2B5EF4-FFF2-40B4-BE49-F238E27FC236}">
                  <a16:creationId xmlns:a16="http://schemas.microsoft.com/office/drawing/2014/main" id="{7A13AA2B-6E0B-13DE-0979-DB898547D876}"/>
                </a:ext>
              </a:extLst>
            </p:cNvPr>
            <p:cNvSpPr/>
            <p:nvPr/>
          </p:nvSpPr>
          <p:spPr>
            <a:xfrm rot="10800000" flipH="1">
              <a:off x="7290487" y="1991198"/>
              <a:ext cx="3419205" cy="384600"/>
            </a:xfrm>
            <a:prstGeom prst="foldedCorner">
              <a:avLst>
                <a:gd name="adj" fmla="val 0"/>
              </a:avLst>
            </a:prstGeom>
            <a:noFill/>
            <a:ln w="190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200" dirty="0"/>
            </a:p>
          </p:txBody>
        </p:sp>
        <p:sp>
          <p:nvSpPr>
            <p:cNvPr id="43" name="文字方塊 42">
              <a:extLst>
                <a:ext uri="{FF2B5EF4-FFF2-40B4-BE49-F238E27FC236}">
                  <a16:creationId xmlns:a16="http://schemas.microsoft.com/office/drawing/2014/main" id="{4648E435-8C84-FB9F-D9F7-446031DD6DE9}"/>
                </a:ext>
              </a:extLst>
            </p:cNvPr>
            <p:cNvSpPr txBox="1"/>
            <p:nvPr/>
          </p:nvSpPr>
          <p:spPr>
            <a:xfrm>
              <a:off x="5904094" y="1767999"/>
              <a:ext cx="1419834" cy="830997"/>
            </a:xfrm>
            <a:prstGeom prst="rect">
              <a:avLst/>
            </a:prstGeom>
            <a:noFill/>
          </p:spPr>
          <p:txBody>
            <a:bodyPr wrap="square" rtlCol="0">
              <a:spAutoFit/>
            </a:bodyPr>
            <a:lstStyle/>
            <a:p>
              <a:r>
                <a:rPr kumimoji="1" lang="en-US" altLang="zh-TW" sz="1600" dirty="0">
                  <a:solidFill>
                    <a:srgbClr val="0070C0"/>
                  </a:solidFill>
                </a:rPr>
                <a:t>Can’t fit in one page (or one page table)</a:t>
              </a:r>
              <a:endParaRPr kumimoji="1" lang="zh-TW" altLang="en-US" sz="1600" dirty="0">
                <a:solidFill>
                  <a:srgbClr val="0070C0"/>
                </a:solidFill>
              </a:endParaRPr>
            </a:p>
          </p:txBody>
        </p:sp>
      </p:grpSp>
      <p:sp>
        <p:nvSpPr>
          <p:cNvPr id="53" name="文字方塊 52">
            <a:extLst>
              <a:ext uri="{FF2B5EF4-FFF2-40B4-BE49-F238E27FC236}">
                <a16:creationId xmlns:a16="http://schemas.microsoft.com/office/drawing/2014/main" id="{E26283B3-39AC-8D58-F89D-6AAE50EE59A4}"/>
              </a:ext>
            </a:extLst>
          </p:cNvPr>
          <p:cNvSpPr txBox="1"/>
          <p:nvPr/>
        </p:nvSpPr>
        <p:spPr>
          <a:xfrm>
            <a:off x="10628936" y="4034546"/>
            <a:ext cx="1353511" cy="584775"/>
          </a:xfrm>
          <a:prstGeom prst="rect">
            <a:avLst/>
          </a:prstGeom>
          <a:noFill/>
        </p:spPr>
        <p:txBody>
          <a:bodyPr wrap="none" rtlCol="0">
            <a:spAutoFit/>
          </a:bodyPr>
          <a:lstStyle/>
          <a:p>
            <a:pPr algn="ctr"/>
            <a:r>
              <a:rPr kumimoji="1" lang="en-US" altLang="zh-TW" sz="1600" dirty="0">
                <a:solidFill>
                  <a:srgbClr val="C00000"/>
                </a:solidFill>
              </a:rPr>
              <a:t>Last 3 level</a:t>
            </a:r>
          </a:p>
          <a:p>
            <a:pPr algn="ctr"/>
            <a:r>
              <a:rPr kumimoji="1" lang="en-US" altLang="zh-TW" sz="1600" dirty="0">
                <a:solidFill>
                  <a:srgbClr val="C00000"/>
                </a:solidFill>
              </a:rPr>
              <a:t>2</a:t>
            </a:r>
            <a:r>
              <a:rPr kumimoji="1" lang="en-US" altLang="zh-TW" sz="1600" baseline="30000" dirty="0">
                <a:solidFill>
                  <a:srgbClr val="C00000"/>
                </a:solidFill>
              </a:rPr>
              <a:t>18</a:t>
            </a:r>
            <a:r>
              <a:rPr kumimoji="1" lang="en-US" altLang="zh-TW" sz="1600" dirty="0">
                <a:solidFill>
                  <a:srgbClr val="C00000"/>
                </a:solidFill>
              </a:rPr>
              <a:t> Page Table</a:t>
            </a:r>
            <a:endParaRPr kumimoji="1" lang="zh-TW" altLang="en-US" sz="1600" dirty="0">
              <a:solidFill>
                <a:srgbClr val="C00000"/>
              </a:solidFill>
            </a:endParaRPr>
          </a:p>
        </p:txBody>
      </p:sp>
      <p:grpSp>
        <p:nvGrpSpPr>
          <p:cNvPr id="99" name="群組 98">
            <a:extLst>
              <a:ext uri="{FF2B5EF4-FFF2-40B4-BE49-F238E27FC236}">
                <a16:creationId xmlns:a16="http://schemas.microsoft.com/office/drawing/2014/main" id="{26013CEF-CD54-B232-037D-B8F241F1F46E}"/>
              </a:ext>
            </a:extLst>
          </p:cNvPr>
          <p:cNvGrpSpPr/>
          <p:nvPr/>
        </p:nvGrpSpPr>
        <p:grpSpPr>
          <a:xfrm>
            <a:off x="7794362" y="3222315"/>
            <a:ext cx="4114515" cy="606853"/>
            <a:chOff x="7794362" y="3222315"/>
            <a:chExt cx="4114515" cy="606853"/>
          </a:xfrm>
        </p:grpSpPr>
        <p:sp>
          <p:nvSpPr>
            <p:cNvPr id="46" name="矩形 45">
              <a:extLst>
                <a:ext uri="{FF2B5EF4-FFF2-40B4-BE49-F238E27FC236}">
                  <a16:creationId xmlns:a16="http://schemas.microsoft.com/office/drawing/2014/main" id="{CB5FA524-F43F-47B7-2567-16C08AECF7F8}"/>
                </a:ext>
              </a:extLst>
            </p:cNvPr>
            <p:cNvSpPr/>
            <p:nvPr/>
          </p:nvSpPr>
          <p:spPr>
            <a:xfrm>
              <a:off x="7794362" y="3466908"/>
              <a:ext cx="457200" cy="2769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rPr>
                <a:t>PTE</a:t>
              </a:r>
              <a:endParaRPr kumimoji="1" lang="zh-TW" altLang="en-US" sz="1600" dirty="0">
                <a:solidFill>
                  <a:schemeClr val="tx1"/>
                </a:solidFill>
              </a:endParaRPr>
            </a:p>
          </p:txBody>
        </p:sp>
        <p:sp>
          <p:nvSpPr>
            <p:cNvPr id="48" name="矩形 47">
              <a:extLst>
                <a:ext uri="{FF2B5EF4-FFF2-40B4-BE49-F238E27FC236}">
                  <a16:creationId xmlns:a16="http://schemas.microsoft.com/office/drawing/2014/main" id="{B2CDC11E-C6C4-6909-D7ED-0AB1990373E2}"/>
                </a:ext>
              </a:extLst>
            </p:cNvPr>
            <p:cNvSpPr/>
            <p:nvPr/>
          </p:nvSpPr>
          <p:spPr>
            <a:xfrm>
              <a:off x="9820920" y="3466908"/>
              <a:ext cx="457200" cy="2769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rPr>
                <a:t>PTE</a:t>
              </a:r>
              <a:endParaRPr kumimoji="1" lang="zh-TW" altLang="en-US" sz="1600" dirty="0">
                <a:solidFill>
                  <a:schemeClr val="tx1"/>
                </a:solidFill>
              </a:endParaRPr>
            </a:p>
          </p:txBody>
        </p:sp>
        <p:sp>
          <p:nvSpPr>
            <p:cNvPr id="49" name="文字方塊 48">
              <a:extLst>
                <a:ext uri="{FF2B5EF4-FFF2-40B4-BE49-F238E27FC236}">
                  <a16:creationId xmlns:a16="http://schemas.microsoft.com/office/drawing/2014/main" id="{1232E5D1-898D-3FC8-F491-BD8E1FD765B7}"/>
                </a:ext>
              </a:extLst>
            </p:cNvPr>
            <p:cNvSpPr txBox="1"/>
            <p:nvPr/>
          </p:nvSpPr>
          <p:spPr>
            <a:xfrm>
              <a:off x="10807806" y="3244393"/>
              <a:ext cx="1101071" cy="584775"/>
            </a:xfrm>
            <a:prstGeom prst="rect">
              <a:avLst/>
            </a:prstGeom>
            <a:noFill/>
          </p:spPr>
          <p:txBody>
            <a:bodyPr wrap="none" rtlCol="0">
              <a:spAutoFit/>
            </a:bodyPr>
            <a:lstStyle/>
            <a:p>
              <a:pPr algn="ctr"/>
              <a:r>
                <a:rPr kumimoji="1" lang="en-US" altLang="zh-TW" sz="1600" dirty="0">
                  <a:solidFill>
                    <a:srgbClr val="C00000"/>
                  </a:solidFill>
                </a:rPr>
                <a:t>Last 2 level</a:t>
              </a:r>
            </a:p>
            <a:p>
              <a:pPr algn="ctr"/>
              <a:r>
                <a:rPr kumimoji="1" lang="en-US" altLang="zh-TW" sz="1600" dirty="0">
                  <a:solidFill>
                    <a:srgbClr val="C00000"/>
                  </a:solidFill>
                </a:rPr>
                <a:t>2</a:t>
              </a:r>
              <a:r>
                <a:rPr kumimoji="1" lang="en-US" altLang="zh-TW" sz="1600" baseline="30000" dirty="0">
                  <a:solidFill>
                    <a:srgbClr val="C00000"/>
                  </a:solidFill>
                </a:rPr>
                <a:t>30 </a:t>
              </a:r>
              <a:r>
                <a:rPr kumimoji="1" lang="en-US" altLang="zh-TW" sz="1600" dirty="0">
                  <a:solidFill>
                    <a:srgbClr val="C00000"/>
                  </a:solidFill>
                </a:rPr>
                <a:t>B PTE</a:t>
              </a:r>
              <a:endParaRPr kumimoji="1" lang="zh-TW" altLang="en-US" sz="1600" dirty="0">
                <a:solidFill>
                  <a:srgbClr val="C00000"/>
                </a:solidFill>
              </a:endParaRPr>
            </a:p>
          </p:txBody>
        </p:sp>
        <p:cxnSp>
          <p:nvCxnSpPr>
            <p:cNvPr id="50" name="直線箭頭接點 49">
              <a:extLst>
                <a:ext uri="{FF2B5EF4-FFF2-40B4-BE49-F238E27FC236}">
                  <a16:creationId xmlns:a16="http://schemas.microsoft.com/office/drawing/2014/main" id="{1D70D272-95BB-05DE-CE6F-A942C0CDAF12}"/>
                </a:ext>
              </a:extLst>
            </p:cNvPr>
            <p:cNvCxnSpPr>
              <a:cxnSpLocks/>
            </p:cNvCxnSpPr>
            <p:nvPr/>
          </p:nvCxnSpPr>
          <p:spPr>
            <a:xfrm flipV="1">
              <a:off x="8022562" y="3222315"/>
              <a:ext cx="0" cy="252703"/>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52" name="直線箭頭接點 51">
              <a:extLst>
                <a:ext uri="{FF2B5EF4-FFF2-40B4-BE49-F238E27FC236}">
                  <a16:creationId xmlns:a16="http://schemas.microsoft.com/office/drawing/2014/main" id="{D82EC727-7289-10AE-5317-F9CE69E710DE}"/>
                </a:ext>
              </a:extLst>
            </p:cNvPr>
            <p:cNvCxnSpPr>
              <a:cxnSpLocks/>
            </p:cNvCxnSpPr>
            <p:nvPr/>
          </p:nvCxnSpPr>
          <p:spPr>
            <a:xfrm flipH="1" flipV="1">
              <a:off x="10064076" y="3222315"/>
              <a:ext cx="0" cy="252703"/>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60" name="文字方塊 59">
              <a:extLst>
                <a:ext uri="{FF2B5EF4-FFF2-40B4-BE49-F238E27FC236}">
                  <a16:creationId xmlns:a16="http://schemas.microsoft.com/office/drawing/2014/main" id="{92E64B09-6DE8-807B-6B15-CBEA56B027FA}"/>
                </a:ext>
              </a:extLst>
            </p:cNvPr>
            <p:cNvSpPr txBox="1"/>
            <p:nvPr/>
          </p:nvSpPr>
          <p:spPr>
            <a:xfrm>
              <a:off x="8844806" y="3376123"/>
              <a:ext cx="466794" cy="338554"/>
            </a:xfrm>
            <a:prstGeom prst="rect">
              <a:avLst/>
            </a:prstGeom>
            <a:noFill/>
          </p:spPr>
          <p:txBody>
            <a:bodyPr wrap="none" rtlCol="0">
              <a:spAutoFit/>
            </a:bodyPr>
            <a:lstStyle/>
            <a:p>
              <a:r>
                <a:rPr kumimoji="1" lang="en-US" altLang="zh-TW" sz="1600" dirty="0"/>
                <a:t>……</a:t>
              </a:r>
              <a:endParaRPr kumimoji="1" lang="zh-TW" altLang="en-US" sz="1600" dirty="0"/>
            </a:p>
          </p:txBody>
        </p:sp>
      </p:grpSp>
      <p:grpSp>
        <p:nvGrpSpPr>
          <p:cNvPr id="67" name="群組 66">
            <a:extLst>
              <a:ext uri="{FF2B5EF4-FFF2-40B4-BE49-F238E27FC236}">
                <a16:creationId xmlns:a16="http://schemas.microsoft.com/office/drawing/2014/main" id="{259E8CCB-9EB8-1B20-A004-AB6F5ADCD145}"/>
              </a:ext>
            </a:extLst>
          </p:cNvPr>
          <p:cNvGrpSpPr/>
          <p:nvPr/>
        </p:nvGrpSpPr>
        <p:grpSpPr>
          <a:xfrm>
            <a:off x="7862825" y="3782063"/>
            <a:ext cx="2407228" cy="884781"/>
            <a:chOff x="7894764" y="3815212"/>
            <a:chExt cx="2407228" cy="884781"/>
          </a:xfrm>
        </p:grpSpPr>
        <p:grpSp>
          <p:nvGrpSpPr>
            <p:cNvPr id="54" name="群組 53">
              <a:extLst>
                <a:ext uri="{FF2B5EF4-FFF2-40B4-BE49-F238E27FC236}">
                  <a16:creationId xmlns:a16="http://schemas.microsoft.com/office/drawing/2014/main" id="{DE5D6E6F-B02E-B3A3-B60B-8DC2407BF185}"/>
                </a:ext>
              </a:extLst>
            </p:cNvPr>
            <p:cNvGrpSpPr/>
            <p:nvPr/>
          </p:nvGrpSpPr>
          <p:grpSpPr>
            <a:xfrm>
              <a:off x="8118566" y="4066060"/>
              <a:ext cx="1992239" cy="633933"/>
              <a:chOff x="7694022" y="3536348"/>
              <a:chExt cx="1992239" cy="633933"/>
            </a:xfrm>
          </p:grpSpPr>
          <p:sp>
            <p:nvSpPr>
              <p:cNvPr id="55" name="摺角紙張 54">
                <a:extLst>
                  <a:ext uri="{FF2B5EF4-FFF2-40B4-BE49-F238E27FC236}">
                    <a16:creationId xmlns:a16="http://schemas.microsoft.com/office/drawing/2014/main" id="{72D13F8C-E651-F9C0-9F83-60976F2D169D}"/>
                  </a:ext>
                </a:extLst>
              </p:cNvPr>
              <p:cNvSpPr/>
              <p:nvPr/>
            </p:nvSpPr>
            <p:spPr>
              <a:xfrm rot="10800000" flipH="1">
                <a:off x="7719259" y="3558281"/>
                <a:ext cx="458001" cy="612000"/>
              </a:xfrm>
              <a:prstGeom prst="foldedCorner">
                <a:avLst>
                  <a:gd name="adj" fmla="val 2562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200" dirty="0">
                  <a:solidFill>
                    <a:schemeClr val="tx1"/>
                  </a:solidFill>
                </a:endParaRPr>
              </a:p>
            </p:txBody>
          </p:sp>
          <p:sp>
            <p:nvSpPr>
              <p:cNvPr id="56" name="摺角紙張 55">
                <a:extLst>
                  <a:ext uri="{FF2B5EF4-FFF2-40B4-BE49-F238E27FC236}">
                    <a16:creationId xmlns:a16="http://schemas.microsoft.com/office/drawing/2014/main" id="{00E46F53-D9DC-9D21-898D-4337E2A7CBEA}"/>
                  </a:ext>
                </a:extLst>
              </p:cNvPr>
              <p:cNvSpPr/>
              <p:nvPr/>
            </p:nvSpPr>
            <p:spPr>
              <a:xfrm rot="10800000" flipH="1">
                <a:off x="9194006" y="3558281"/>
                <a:ext cx="458001" cy="612000"/>
              </a:xfrm>
              <a:prstGeom prst="foldedCorner">
                <a:avLst>
                  <a:gd name="adj" fmla="val 2562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200" dirty="0">
                  <a:solidFill>
                    <a:schemeClr val="tx1"/>
                  </a:solidFill>
                </a:endParaRPr>
              </a:p>
            </p:txBody>
          </p:sp>
          <p:sp>
            <p:nvSpPr>
              <p:cNvPr id="57" name="文字方塊 56">
                <a:extLst>
                  <a:ext uri="{FF2B5EF4-FFF2-40B4-BE49-F238E27FC236}">
                    <a16:creationId xmlns:a16="http://schemas.microsoft.com/office/drawing/2014/main" id="{29E88BB0-3CFB-6AF8-4C29-D0B113CBA87B}"/>
                  </a:ext>
                </a:extLst>
              </p:cNvPr>
              <p:cNvSpPr txBox="1"/>
              <p:nvPr/>
            </p:nvSpPr>
            <p:spPr>
              <a:xfrm>
                <a:off x="8459346" y="3676262"/>
                <a:ext cx="466794" cy="338554"/>
              </a:xfrm>
              <a:prstGeom prst="rect">
                <a:avLst/>
              </a:prstGeom>
              <a:noFill/>
            </p:spPr>
            <p:txBody>
              <a:bodyPr wrap="none" rtlCol="0">
                <a:spAutoFit/>
              </a:bodyPr>
              <a:lstStyle/>
              <a:p>
                <a:r>
                  <a:rPr kumimoji="1" lang="en-US" altLang="zh-TW" sz="1600" dirty="0"/>
                  <a:t>……</a:t>
                </a:r>
                <a:endParaRPr kumimoji="1" lang="zh-TW" altLang="en-US" sz="1600" dirty="0"/>
              </a:p>
            </p:txBody>
          </p:sp>
          <p:sp>
            <p:nvSpPr>
              <p:cNvPr id="58" name="文字方塊 57">
                <a:extLst>
                  <a:ext uri="{FF2B5EF4-FFF2-40B4-BE49-F238E27FC236}">
                    <a16:creationId xmlns:a16="http://schemas.microsoft.com/office/drawing/2014/main" id="{1F4C18B0-1B65-EC59-D787-2F533D87108B}"/>
                  </a:ext>
                </a:extLst>
              </p:cNvPr>
              <p:cNvSpPr txBox="1"/>
              <p:nvPr/>
            </p:nvSpPr>
            <p:spPr>
              <a:xfrm>
                <a:off x="7694022" y="3536348"/>
                <a:ext cx="508473" cy="584775"/>
              </a:xfrm>
              <a:prstGeom prst="rect">
                <a:avLst/>
              </a:prstGeom>
              <a:noFill/>
            </p:spPr>
            <p:txBody>
              <a:bodyPr wrap="none" rtlCol="0">
                <a:spAutoFit/>
              </a:bodyPr>
              <a:lstStyle/>
              <a:p>
                <a:pPr algn="ctr"/>
                <a:r>
                  <a:rPr kumimoji="1" lang="en-US" altLang="zh-TW" sz="1600" dirty="0"/>
                  <a:t>4KB</a:t>
                </a:r>
                <a:br>
                  <a:rPr kumimoji="1" lang="en-US" altLang="zh-TW" sz="1600" dirty="0"/>
                </a:br>
                <a:r>
                  <a:rPr kumimoji="1" lang="en-US" altLang="zh-TW" sz="1600" dirty="0"/>
                  <a:t>PT</a:t>
                </a:r>
                <a:endParaRPr kumimoji="1" lang="zh-TW" altLang="en-US" sz="1600" dirty="0"/>
              </a:p>
            </p:txBody>
          </p:sp>
          <p:sp>
            <p:nvSpPr>
              <p:cNvPr id="59" name="文字方塊 58">
                <a:extLst>
                  <a:ext uri="{FF2B5EF4-FFF2-40B4-BE49-F238E27FC236}">
                    <a16:creationId xmlns:a16="http://schemas.microsoft.com/office/drawing/2014/main" id="{FCE1A727-30DB-4F92-E33F-7155EAA3867F}"/>
                  </a:ext>
                </a:extLst>
              </p:cNvPr>
              <p:cNvSpPr txBox="1"/>
              <p:nvPr/>
            </p:nvSpPr>
            <p:spPr>
              <a:xfrm>
                <a:off x="9177788" y="3553152"/>
                <a:ext cx="508473" cy="584775"/>
              </a:xfrm>
              <a:prstGeom prst="rect">
                <a:avLst/>
              </a:prstGeom>
              <a:noFill/>
            </p:spPr>
            <p:txBody>
              <a:bodyPr wrap="none" rtlCol="0">
                <a:spAutoFit/>
              </a:bodyPr>
              <a:lstStyle/>
              <a:p>
                <a:pPr algn="ctr"/>
                <a:r>
                  <a:rPr kumimoji="1" lang="en-US" altLang="zh-TW" sz="1600" dirty="0"/>
                  <a:t>4KB</a:t>
                </a:r>
                <a:br>
                  <a:rPr kumimoji="1" lang="en-US" altLang="zh-TW" sz="1600" dirty="0"/>
                </a:br>
                <a:r>
                  <a:rPr kumimoji="1" lang="en-US" altLang="zh-TW" sz="1600" dirty="0"/>
                  <a:t>PT</a:t>
                </a:r>
                <a:endParaRPr kumimoji="1" lang="zh-TW" altLang="en-US" sz="1600" dirty="0"/>
              </a:p>
            </p:txBody>
          </p:sp>
        </p:grpSp>
        <p:sp>
          <p:nvSpPr>
            <p:cNvPr id="62" name="左大括弧 61">
              <a:extLst>
                <a:ext uri="{FF2B5EF4-FFF2-40B4-BE49-F238E27FC236}">
                  <a16:creationId xmlns:a16="http://schemas.microsoft.com/office/drawing/2014/main" id="{2C01227B-6F7A-1214-83C1-347073EEA54D}"/>
                </a:ext>
              </a:extLst>
            </p:cNvPr>
            <p:cNvSpPr/>
            <p:nvPr/>
          </p:nvSpPr>
          <p:spPr>
            <a:xfrm rot="16200000">
              <a:off x="8223398" y="3486578"/>
              <a:ext cx="257131" cy="914400"/>
            </a:xfrm>
            <a:prstGeom prst="leftBrace">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63" name="左大括弧 62">
              <a:extLst>
                <a:ext uri="{FF2B5EF4-FFF2-40B4-BE49-F238E27FC236}">
                  <a16:creationId xmlns:a16="http://schemas.microsoft.com/office/drawing/2014/main" id="{B7445323-C337-FBBA-AF74-5BA8389118D8}"/>
                </a:ext>
              </a:extLst>
            </p:cNvPr>
            <p:cNvSpPr/>
            <p:nvPr/>
          </p:nvSpPr>
          <p:spPr>
            <a:xfrm rot="16200000">
              <a:off x="9716226" y="3499170"/>
              <a:ext cx="257131" cy="914400"/>
            </a:xfrm>
            <a:prstGeom prst="leftBrace">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grpSp>
      <p:grpSp>
        <p:nvGrpSpPr>
          <p:cNvPr id="98" name="群組 97">
            <a:extLst>
              <a:ext uri="{FF2B5EF4-FFF2-40B4-BE49-F238E27FC236}">
                <a16:creationId xmlns:a16="http://schemas.microsoft.com/office/drawing/2014/main" id="{4AED71D0-CD4E-C45B-79D3-31B6BCAEDA90}"/>
              </a:ext>
            </a:extLst>
          </p:cNvPr>
          <p:cNvGrpSpPr/>
          <p:nvPr/>
        </p:nvGrpSpPr>
        <p:grpSpPr>
          <a:xfrm>
            <a:off x="7537361" y="2357636"/>
            <a:ext cx="4497604" cy="873402"/>
            <a:chOff x="7537361" y="2357636"/>
            <a:chExt cx="4497604" cy="873402"/>
          </a:xfrm>
        </p:grpSpPr>
        <p:sp>
          <p:nvSpPr>
            <p:cNvPr id="34" name="文字方塊 33">
              <a:extLst>
                <a:ext uri="{FF2B5EF4-FFF2-40B4-BE49-F238E27FC236}">
                  <a16:creationId xmlns:a16="http://schemas.microsoft.com/office/drawing/2014/main" id="{2ACA448E-EDC3-7443-D9A9-3C3287A7957A}"/>
                </a:ext>
              </a:extLst>
            </p:cNvPr>
            <p:cNvSpPr txBox="1"/>
            <p:nvPr/>
          </p:nvSpPr>
          <p:spPr>
            <a:xfrm>
              <a:off x="10681454" y="2608394"/>
              <a:ext cx="1353511" cy="584775"/>
            </a:xfrm>
            <a:prstGeom prst="rect">
              <a:avLst/>
            </a:prstGeom>
            <a:noFill/>
          </p:spPr>
          <p:txBody>
            <a:bodyPr wrap="none" rtlCol="0">
              <a:spAutoFit/>
            </a:bodyPr>
            <a:lstStyle/>
            <a:p>
              <a:pPr algn="ctr"/>
              <a:r>
                <a:rPr kumimoji="1" lang="en-US" altLang="zh-TW" sz="1600" dirty="0">
                  <a:solidFill>
                    <a:srgbClr val="C00000"/>
                  </a:solidFill>
                </a:rPr>
                <a:t>Last 2 level</a:t>
              </a:r>
            </a:p>
            <a:p>
              <a:pPr algn="ctr"/>
              <a:r>
                <a:rPr kumimoji="1" lang="en-US" altLang="zh-TW" sz="1600" dirty="0">
                  <a:solidFill>
                    <a:srgbClr val="C00000"/>
                  </a:solidFill>
                </a:rPr>
                <a:t>2</a:t>
              </a:r>
              <a:r>
                <a:rPr kumimoji="1" lang="en-US" altLang="zh-TW" sz="1600" baseline="30000" dirty="0">
                  <a:solidFill>
                    <a:srgbClr val="C00000"/>
                  </a:solidFill>
                </a:rPr>
                <a:t>27</a:t>
              </a:r>
              <a:r>
                <a:rPr kumimoji="1" lang="en-US" altLang="zh-TW" sz="1600" dirty="0">
                  <a:solidFill>
                    <a:srgbClr val="C00000"/>
                  </a:solidFill>
                </a:rPr>
                <a:t> Page Table</a:t>
              </a:r>
              <a:endParaRPr kumimoji="1" lang="zh-TW" altLang="en-US" sz="1600" dirty="0">
                <a:solidFill>
                  <a:srgbClr val="C00000"/>
                </a:solidFill>
              </a:endParaRPr>
            </a:p>
          </p:txBody>
        </p:sp>
        <p:grpSp>
          <p:nvGrpSpPr>
            <p:cNvPr id="65" name="群組 64">
              <a:extLst>
                <a:ext uri="{FF2B5EF4-FFF2-40B4-BE49-F238E27FC236}">
                  <a16:creationId xmlns:a16="http://schemas.microsoft.com/office/drawing/2014/main" id="{AE427E67-597A-F1FC-FAC2-6D70B7DF70BD}"/>
                </a:ext>
              </a:extLst>
            </p:cNvPr>
            <p:cNvGrpSpPr/>
            <p:nvPr/>
          </p:nvGrpSpPr>
          <p:grpSpPr>
            <a:xfrm>
              <a:off x="7537361" y="2357636"/>
              <a:ext cx="2960915" cy="873402"/>
              <a:chOff x="7537361" y="2357636"/>
              <a:chExt cx="2960915" cy="873402"/>
            </a:xfrm>
          </p:grpSpPr>
          <p:sp>
            <p:nvSpPr>
              <p:cNvPr id="44" name="左大括弧 43">
                <a:extLst>
                  <a:ext uri="{FF2B5EF4-FFF2-40B4-BE49-F238E27FC236}">
                    <a16:creationId xmlns:a16="http://schemas.microsoft.com/office/drawing/2014/main" id="{D8F76762-2837-D3F7-0612-868D9C90A03C}"/>
                  </a:ext>
                </a:extLst>
              </p:cNvPr>
              <p:cNvSpPr/>
              <p:nvPr/>
            </p:nvSpPr>
            <p:spPr>
              <a:xfrm rot="16200000">
                <a:off x="7865995" y="2029002"/>
                <a:ext cx="257131" cy="914400"/>
              </a:xfrm>
              <a:prstGeom prst="leftBrace">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grpSp>
            <p:nvGrpSpPr>
              <p:cNvPr id="64" name="群組 63">
                <a:extLst>
                  <a:ext uri="{FF2B5EF4-FFF2-40B4-BE49-F238E27FC236}">
                    <a16:creationId xmlns:a16="http://schemas.microsoft.com/office/drawing/2014/main" id="{E15AA25E-51D5-064A-E7C2-7FD12B50E8CE}"/>
                  </a:ext>
                </a:extLst>
              </p:cNvPr>
              <p:cNvGrpSpPr/>
              <p:nvPr/>
            </p:nvGrpSpPr>
            <p:grpSpPr>
              <a:xfrm>
                <a:off x="7751105" y="2359306"/>
                <a:ext cx="2747171" cy="871732"/>
                <a:chOff x="7751105" y="2359306"/>
                <a:chExt cx="2747171" cy="871732"/>
              </a:xfrm>
            </p:grpSpPr>
            <p:sp>
              <p:nvSpPr>
                <p:cNvPr id="45" name="左大括弧 44">
                  <a:extLst>
                    <a:ext uri="{FF2B5EF4-FFF2-40B4-BE49-F238E27FC236}">
                      <a16:creationId xmlns:a16="http://schemas.microsoft.com/office/drawing/2014/main" id="{844D701A-417D-58B5-D2AF-3216D73F1F30}"/>
                    </a:ext>
                  </a:extLst>
                </p:cNvPr>
                <p:cNvSpPr/>
                <p:nvPr/>
              </p:nvSpPr>
              <p:spPr>
                <a:xfrm rot="16200000">
                  <a:off x="9912510" y="2030672"/>
                  <a:ext cx="257131" cy="914400"/>
                </a:xfrm>
                <a:prstGeom prst="leftBrace">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dirty="0"/>
                </a:p>
              </p:txBody>
            </p:sp>
            <p:grpSp>
              <p:nvGrpSpPr>
                <p:cNvPr id="39" name="群組 38">
                  <a:extLst>
                    <a:ext uri="{FF2B5EF4-FFF2-40B4-BE49-F238E27FC236}">
                      <a16:creationId xmlns:a16="http://schemas.microsoft.com/office/drawing/2014/main" id="{1A306C1C-6F6B-03C2-3AD2-D30A29B5C185}"/>
                    </a:ext>
                  </a:extLst>
                </p:cNvPr>
                <p:cNvGrpSpPr/>
                <p:nvPr/>
              </p:nvGrpSpPr>
              <p:grpSpPr>
                <a:xfrm>
                  <a:off x="7751105" y="2608680"/>
                  <a:ext cx="2558399" cy="622358"/>
                  <a:chOff x="7694022" y="3547923"/>
                  <a:chExt cx="2558399" cy="622358"/>
                </a:xfrm>
              </p:grpSpPr>
              <p:sp>
                <p:nvSpPr>
                  <p:cNvPr id="27" name="摺角紙張 26">
                    <a:extLst>
                      <a:ext uri="{FF2B5EF4-FFF2-40B4-BE49-F238E27FC236}">
                        <a16:creationId xmlns:a16="http://schemas.microsoft.com/office/drawing/2014/main" id="{27F7E85E-AC83-C3A0-A7A2-C8C067DDAD36}"/>
                      </a:ext>
                    </a:extLst>
                  </p:cNvPr>
                  <p:cNvSpPr/>
                  <p:nvPr/>
                </p:nvSpPr>
                <p:spPr>
                  <a:xfrm rot="10800000" flipH="1">
                    <a:off x="7719259" y="3558281"/>
                    <a:ext cx="458001" cy="612000"/>
                  </a:xfrm>
                  <a:prstGeom prst="foldedCorner">
                    <a:avLst>
                      <a:gd name="adj" fmla="val 2562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200" dirty="0">
                      <a:solidFill>
                        <a:schemeClr val="tx1"/>
                      </a:solidFill>
                    </a:endParaRPr>
                  </a:p>
                </p:txBody>
              </p:sp>
              <p:sp>
                <p:nvSpPr>
                  <p:cNvPr id="30" name="摺角紙張 29">
                    <a:extLst>
                      <a:ext uri="{FF2B5EF4-FFF2-40B4-BE49-F238E27FC236}">
                        <a16:creationId xmlns:a16="http://schemas.microsoft.com/office/drawing/2014/main" id="{05276936-5ECA-95FD-2C63-A67A7031023F}"/>
                      </a:ext>
                    </a:extLst>
                  </p:cNvPr>
                  <p:cNvSpPr/>
                  <p:nvPr/>
                </p:nvSpPr>
                <p:spPr>
                  <a:xfrm rot="10800000" flipH="1">
                    <a:off x="9771052" y="3558281"/>
                    <a:ext cx="458001" cy="612000"/>
                  </a:xfrm>
                  <a:prstGeom prst="foldedCorner">
                    <a:avLst>
                      <a:gd name="adj" fmla="val 2562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200" dirty="0">
                      <a:solidFill>
                        <a:schemeClr val="tx1"/>
                      </a:solidFill>
                    </a:endParaRPr>
                  </a:p>
                </p:txBody>
              </p:sp>
              <p:sp>
                <p:nvSpPr>
                  <p:cNvPr id="36" name="文字方塊 35">
                    <a:extLst>
                      <a:ext uri="{FF2B5EF4-FFF2-40B4-BE49-F238E27FC236}">
                        <a16:creationId xmlns:a16="http://schemas.microsoft.com/office/drawing/2014/main" id="{51452D59-DCAF-C437-8CE8-1716D83174C8}"/>
                      </a:ext>
                    </a:extLst>
                  </p:cNvPr>
                  <p:cNvSpPr txBox="1"/>
                  <p:nvPr/>
                </p:nvSpPr>
                <p:spPr>
                  <a:xfrm>
                    <a:off x="8752442" y="3635965"/>
                    <a:ext cx="466794" cy="338554"/>
                  </a:xfrm>
                  <a:prstGeom prst="rect">
                    <a:avLst/>
                  </a:prstGeom>
                  <a:noFill/>
                </p:spPr>
                <p:txBody>
                  <a:bodyPr wrap="none" rtlCol="0">
                    <a:spAutoFit/>
                  </a:bodyPr>
                  <a:lstStyle/>
                  <a:p>
                    <a:r>
                      <a:rPr kumimoji="1" lang="en-US" altLang="zh-TW" sz="1600" dirty="0"/>
                      <a:t>……</a:t>
                    </a:r>
                    <a:endParaRPr kumimoji="1" lang="zh-TW" altLang="en-US" sz="1600" dirty="0"/>
                  </a:p>
                </p:txBody>
              </p:sp>
              <p:sp>
                <p:nvSpPr>
                  <p:cNvPr id="37" name="文字方塊 36">
                    <a:extLst>
                      <a:ext uri="{FF2B5EF4-FFF2-40B4-BE49-F238E27FC236}">
                        <a16:creationId xmlns:a16="http://schemas.microsoft.com/office/drawing/2014/main" id="{6B3261C4-DC84-F8DC-4415-4760AAD2A2F0}"/>
                      </a:ext>
                    </a:extLst>
                  </p:cNvPr>
                  <p:cNvSpPr txBox="1"/>
                  <p:nvPr/>
                </p:nvSpPr>
                <p:spPr>
                  <a:xfrm>
                    <a:off x="7694022" y="3547923"/>
                    <a:ext cx="508473" cy="584775"/>
                  </a:xfrm>
                  <a:prstGeom prst="rect">
                    <a:avLst/>
                  </a:prstGeom>
                  <a:noFill/>
                </p:spPr>
                <p:txBody>
                  <a:bodyPr wrap="none" rtlCol="0">
                    <a:spAutoFit/>
                  </a:bodyPr>
                  <a:lstStyle/>
                  <a:p>
                    <a:pPr algn="ctr"/>
                    <a:r>
                      <a:rPr kumimoji="1" lang="en-US" altLang="zh-TW" sz="1600" dirty="0"/>
                      <a:t>4KB</a:t>
                    </a:r>
                    <a:br>
                      <a:rPr kumimoji="1" lang="en-US" altLang="zh-TW" sz="1600" dirty="0"/>
                    </a:br>
                    <a:r>
                      <a:rPr kumimoji="1" lang="en-US" altLang="zh-TW" sz="1600" dirty="0"/>
                      <a:t>PT</a:t>
                    </a:r>
                    <a:endParaRPr kumimoji="1" lang="zh-TW" altLang="en-US" sz="1600" dirty="0"/>
                  </a:p>
                </p:txBody>
              </p:sp>
              <p:sp>
                <p:nvSpPr>
                  <p:cNvPr id="38" name="文字方塊 37">
                    <a:extLst>
                      <a:ext uri="{FF2B5EF4-FFF2-40B4-BE49-F238E27FC236}">
                        <a16:creationId xmlns:a16="http://schemas.microsoft.com/office/drawing/2014/main" id="{81406B21-2C25-86C9-FFA4-27D1CF62CDEE}"/>
                      </a:ext>
                    </a:extLst>
                  </p:cNvPr>
                  <p:cNvSpPr txBox="1"/>
                  <p:nvPr/>
                </p:nvSpPr>
                <p:spPr>
                  <a:xfrm>
                    <a:off x="9743948" y="3550911"/>
                    <a:ext cx="508473" cy="584775"/>
                  </a:xfrm>
                  <a:prstGeom prst="rect">
                    <a:avLst/>
                  </a:prstGeom>
                  <a:noFill/>
                </p:spPr>
                <p:txBody>
                  <a:bodyPr wrap="none" rtlCol="0">
                    <a:spAutoFit/>
                  </a:bodyPr>
                  <a:lstStyle/>
                  <a:p>
                    <a:pPr algn="ctr"/>
                    <a:r>
                      <a:rPr kumimoji="1" lang="en-US" altLang="zh-TW" sz="1600" dirty="0"/>
                      <a:t>4KB</a:t>
                    </a:r>
                    <a:br>
                      <a:rPr kumimoji="1" lang="en-US" altLang="zh-TW" sz="1600" dirty="0"/>
                    </a:br>
                    <a:r>
                      <a:rPr kumimoji="1" lang="en-US" altLang="zh-TW" sz="1600" dirty="0"/>
                      <a:t>PT</a:t>
                    </a:r>
                    <a:endParaRPr kumimoji="1" lang="zh-TW" altLang="en-US" sz="1600" dirty="0"/>
                  </a:p>
                </p:txBody>
              </p:sp>
            </p:grpSp>
          </p:grpSp>
        </p:grpSp>
      </p:grpSp>
      <p:grpSp>
        <p:nvGrpSpPr>
          <p:cNvPr id="103" name="群組 102">
            <a:extLst>
              <a:ext uri="{FF2B5EF4-FFF2-40B4-BE49-F238E27FC236}">
                <a16:creationId xmlns:a16="http://schemas.microsoft.com/office/drawing/2014/main" id="{FCE68CB8-28F8-E66A-E340-76ADC3BB43F5}"/>
              </a:ext>
            </a:extLst>
          </p:cNvPr>
          <p:cNvGrpSpPr/>
          <p:nvPr/>
        </p:nvGrpSpPr>
        <p:grpSpPr>
          <a:xfrm>
            <a:off x="8101582" y="4661041"/>
            <a:ext cx="3784707" cy="584775"/>
            <a:chOff x="8101582" y="4661041"/>
            <a:chExt cx="3784707" cy="584775"/>
          </a:xfrm>
        </p:grpSpPr>
        <p:sp>
          <p:nvSpPr>
            <p:cNvPr id="68" name="矩形 67">
              <a:extLst>
                <a:ext uri="{FF2B5EF4-FFF2-40B4-BE49-F238E27FC236}">
                  <a16:creationId xmlns:a16="http://schemas.microsoft.com/office/drawing/2014/main" id="{0A760D8C-3DA2-29B3-98EC-0D8325E2D9F8}"/>
                </a:ext>
              </a:extLst>
            </p:cNvPr>
            <p:cNvSpPr/>
            <p:nvPr/>
          </p:nvSpPr>
          <p:spPr>
            <a:xfrm>
              <a:off x="8101582" y="4907253"/>
              <a:ext cx="457200" cy="2769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rPr>
                <a:t>PTE</a:t>
              </a:r>
              <a:endParaRPr kumimoji="1" lang="zh-TW" altLang="en-US" sz="1600" dirty="0">
                <a:solidFill>
                  <a:schemeClr val="tx1"/>
                </a:solidFill>
              </a:endParaRPr>
            </a:p>
          </p:txBody>
        </p:sp>
        <p:sp>
          <p:nvSpPr>
            <p:cNvPr id="69" name="矩形 68">
              <a:extLst>
                <a:ext uri="{FF2B5EF4-FFF2-40B4-BE49-F238E27FC236}">
                  <a16:creationId xmlns:a16="http://schemas.microsoft.com/office/drawing/2014/main" id="{20A7C38A-4C14-CDDD-FDA4-4F786CAE4A22}"/>
                </a:ext>
              </a:extLst>
            </p:cNvPr>
            <p:cNvSpPr/>
            <p:nvPr/>
          </p:nvSpPr>
          <p:spPr>
            <a:xfrm>
              <a:off x="9592320" y="4915363"/>
              <a:ext cx="457200" cy="2769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rPr>
                <a:t>PTE</a:t>
              </a:r>
              <a:endParaRPr kumimoji="1" lang="zh-TW" altLang="en-US" sz="1600" dirty="0">
                <a:solidFill>
                  <a:schemeClr val="tx1"/>
                </a:solidFill>
              </a:endParaRPr>
            </a:p>
          </p:txBody>
        </p:sp>
        <p:cxnSp>
          <p:nvCxnSpPr>
            <p:cNvPr id="70" name="直線箭頭接點 69">
              <a:extLst>
                <a:ext uri="{FF2B5EF4-FFF2-40B4-BE49-F238E27FC236}">
                  <a16:creationId xmlns:a16="http://schemas.microsoft.com/office/drawing/2014/main" id="{178B4389-426A-209D-4ACF-22D49AAE2708}"/>
                </a:ext>
              </a:extLst>
            </p:cNvPr>
            <p:cNvCxnSpPr>
              <a:cxnSpLocks/>
            </p:cNvCxnSpPr>
            <p:nvPr/>
          </p:nvCxnSpPr>
          <p:spPr>
            <a:xfrm flipV="1">
              <a:off x="8329782" y="4662660"/>
              <a:ext cx="0" cy="252703"/>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71" name="直線箭頭接點 70">
              <a:extLst>
                <a:ext uri="{FF2B5EF4-FFF2-40B4-BE49-F238E27FC236}">
                  <a16:creationId xmlns:a16="http://schemas.microsoft.com/office/drawing/2014/main" id="{F33A3670-1605-99F5-AC44-F5C3D280B57A}"/>
                </a:ext>
              </a:extLst>
            </p:cNvPr>
            <p:cNvCxnSpPr>
              <a:cxnSpLocks/>
            </p:cNvCxnSpPr>
            <p:nvPr/>
          </p:nvCxnSpPr>
          <p:spPr>
            <a:xfrm flipH="1" flipV="1">
              <a:off x="9827031" y="4662660"/>
              <a:ext cx="0" cy="252703"/>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72" name="文字方塊 71">
              <a:extLst>
                <a:ext uri="{FF2B5EF4-FFF2-40B4-BE49-F238E27FC236}">
                  <a16:creationId xmlns:a16="http://schemas.microsoft.com/office/drawing/2014/main" id="{FA51FE22-5900-3E82-F6CB-639DF0B317C0}"/>
                </a:ext>
              </a:extLst>
            </p:cNvPr>
            <p:cNvSpPr txBox="1"/>
            <p:nvPr/>
          </p:nvSpPr>
          <p:spPr>
            <a:xfrm>
              <a:off x="8851951" y="4815599"/>
              <a:ext cx="466794" cy="338554"/>
            </a:xfrm>
            <a:prstGeom prst="rect">
              <a:avLst/>
            </a:prstGeom>
            <a:noFill/>
          </p:spPr>
          <p:txBody>
            <a:bodyPr wrap="none" rtlCol="0">
              <a:spAutoFit/>
            </a:bodyPr>
            <a:lstStyle/>
            <a:p>
              <a:r>
                <a:rPr kumimoji="1" lang="en-US" altLang="zh-TW" sz="1600" dirty="0"/>
                <a:t>……</a:t>
              </a:r>
              <a:endParaRPr kumimoji="1" lang="zh-TW" altLang="en-US" sz="1600" dirty="0"/>
            </a:p>
          </p:txBody>
        </p:sp>
        <p:sp>
          <p:nvSpPr>
            <p:cNvPr id="74" name="文字方塊 73">
              <a:extLst>
                <a:ext uri="{FF2B5EF4-FFF2-40B4-BE49-F238E27FC236}">
                  <a16:creationId xmlns:a16="http://schemas.microsoft.com/office/drawing/2014/main" id="{0406BA6A-5A48-5E84-A9A3-0162ED4BBF04}"/>
                </a:ext>
              </a:extLst>
            </p:cNvPr>
            <p:cNvSpPr txBox="1"/>
            <p:nvPr/>
          </p:nvSpPr>
          <p:spPr>
            <a:xfrm>
              <a:off x="10785218" y="4661041"/>
              <a:ext cx="1101071" cy="584775"/>
            </a:xfrm>
            <a:prstGeom prst="rect">
              <a:avLst/>
            </a:prstGeom>
            <a:noFill/>
          </p:spPr>
          <p:txBody>
            <a:bodyPr wrap="none" rtlCol="0">
              <a:spAutoFit/>
            </a:bodyPr>
            <a:lstStyle/>
            <a:p>
              <a:pPr algn="ctr"/>
              <a:r>
                <a:rPr kumimoji="1" lang="en-US" altLang="zh-TW" sz="1600" dirty="0">
                  <a:solidFill>
                    <a:srgbClr val="C00000"/>
                  </a:solidFill>
                </a:rPr>
                <a:t>Last 3 level</a:t>
              </a:r>
            </a:p>
            <a:p>
              <a:pPr algn="ctr"/>
              <a:r>
                <a:rPr kumimoji="1" lang="en-US" altLang="zh-TW" sz="1600" dirty="0">
                  <a:solidFill>
                    <a:srgbClr val="C00000"/>
                  </a:solidFill>
                </a:rPr>
                <a:t>2</a:t>
              </a:r>
              <a:r>
                <a:rPr kumimoji="1" lang="en-US" altLang="zh-TW" sz="1600" baseline="30000" dirty="0">
                  <a:solidFill>
                    <a:srgbClr val="C00000"/>
                  </a:solidFill>
                </a:rPr>
                <a:t>21 </a:t>
              </a:r>
              <a:r>
                <a:rPr kumimoji="1" lang="en-US" altLang="zh-TW" sz="1600" dirty="0">
                  <a:solidFill>
                    <a:srgbClr val="C00000"/>
                  </a:solidFill>
                </a:rPr>
                <a:t>B PTE</a:t>
              </a:r>
              <a:endParaRPr kumimoji="1" lang="zh-TW" altLang="en-US" sz="1600" dirty="0">
                <a:solidFill>
                  <a:srgbClr val="C00000"/>
                </a:solidFill>
              </a:endParaRPr>
            </a:p>
          </p:txBody>
        </p:sp>
      </p:grpSp>
      <p:grpSp>
        <p:nvGrpSpPr>
          <p:cNvPr id="107" name="群組 106">
            <a:extLst>
              <a:ext uri="{FF2B5EF4-FFF2-40B4-BE49-F238E27FC236}">
                <a16:creationId xmlns:a16="http://schemas.microsoft.com/office/drawing/2014/main" id="{9C543C8F-11B4-CB65-88FA-6062E12E7D16}"/>
              </a:ext>
            </a:extLst>
          </p:cNvPr>
          <p:cNvGrpSpPr/>
          <p:nvPr/>
        </p:nvGrpSpPr>
        <p:grpSpPr>
          <a:xfrm>
            <a:off x="8104315" y="5207451"/>
            <a:ext cx="3843667" cy="884781"/>
            <a:chOff x="8104315" y="5207451"/>
            <a:chExt cx="3843667" cy="884781"/>
          </a:xfrm>
        </p:grpSpPr>
        <p:grpSp>
          <p:nvGrpSpPr>
            <p:cNvPr id="75" name="群組 74">
              <a:extLst>
                <a:ext uri="{FF2B5EF4-FFF2-40B4-BE49-F238E27FC236}">
                  <a16:creationId xmlns:a16="http://schemas.microsoft.com/office/drawing/2014/main" id="{011E8174-8AD6-6732-9B41-1EBE80F377CA}"/>
                </a:ext>
              </a:extLst>
            </p:cNvPr>
            <p:cNvGrpSpPr/>
            <p:nvPr/>
          </p:nvGrpSpPr>
          <p:grpSpPr>
            <a:xfrm>
              <a:off x="8104315" y="5207451"/>
              <a:ext cx="1939142" cy="884781"/>
              <a:chOff x="8156021" y="3815212"/>
              <a:chExt cx="1939142" cy="884781"/>
            </a:xfrm>
          </p:grpSpPr>
          <p:grpSp>
            <p:nvGrpSpPr>
              <p:cNvPr id="76" name="群組 75">
                <a:extLst>
                  <a:ext uri="{FF2B5EF4-FFF2-40B4-BE49-F238E27FC236}">
                    <a16:creationId xmlns:a16="http://schemas.microsoft.com/office/drawing/2014/main" id="{C97F290D-E467-5EE4-B3DC-F0843C0CCD27}"/>
                  </a:ext>
                </a:extLst>
              </p:cNvPr>
              <p:cNvGrpSpPr/>
              <p:nvPr/>
            </p:nvGrpSpPr>
            <p:grpSpPr>
              <a:xfrm>
                <a:off x="8379823" y="4066060"/>
                <a:ext cx="1524153" cy="633933"/>
                <a:chOff x="7955279" y="3536348"/>
                <a:chExt cx="1524153" cy="633933"/>
              </a:xfrm>
            </p:grpSpPr>
            <p:sp>
              <p:nvSpPr>
                <p:cNvPr id="79" name="摺角紙張 78">
                  <a:extLst>
                    <a:ext uri="{FF2B5EF4-FFF2-40B4-BE49-F238E27FC236}">
                      <a16:creationId xmlns:a16="http://schemas.microsoft.com/office/drawing/2014/main" id="{5BAC56DB-8AD5-9F57-5906-E33A7C1AB2FC}"/>
                    </a:ext>
                  </a:extLst>
                </p:cNvPr>
                <p:cNvSpPr/>
                <p:nvPr/>
              </p:nvSpPr>
              <p:spPr>
                <a:xfrm rot="10800000" flipH="1">
                  <a:off x="7980516" y="3558281"/>
                  <a:ext cx="458001" cy="612000"/>
                </a:xfrm>
                <a:prstGeom prst="foldedCorner">
                  <a:avLst>
                    <a:gd name="adj" fmla="val 2562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200" dirty="0">
                    <a:solidFill>
                      <a:schemeClr val="tx1"/>
                    </a:solidFill>
                  </a:endParaRPr>
                </a:p>
              </p:txBody>
            </p:sp>
            <p:sp>
              <p:nvSpPr>
                <p:cNvPr id="80" name="摺角紙張 79">
                  <a:extLst>
                    <a:ext uri="{FF2B5EF4-FFF2-40B4-BE49-F238E27FC236}">
                      <a16:creationId xmlns:a16="http://schemas.microsoft.com/office/drawing/2014/main" id="{FA69FCD0-404E-BCAB-FC04-2C16DA098C36}"/>
                    </a:ext>
                  </a:extLst>
                </p:cNvPr>
                <p:cNvSpPr/>
                <p:nvPr/>
              </p:nvSpPr>
              <p:spPr>
                <a:xfrm rot="10800000" flipH="1">
                  <a:off x="8987177" y="3547395"/>
                  <a:ext cx="458001" cy="612000"/>
                </a:xfrm>
                <a:prstGeom prst="foldedCorner">
                  <a:avLst>
                    <a:gd name="adj" fmla="val 2562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200" dirty="0">
                    <a:solidFill>
                      <a:schemeClr val="tx1"/>
                    </a:solidFill>
                  </a:endParaRPr>
                </a:p>
              </p:txBody>
            </p:sp>
            <p:sp>
              <p:nvSpPr>
                <p:cNvPr id="81" name="文字方塊 80">
                  <a:extLst>
                    <a:ext uri="{FF2B5EF4-FFF2-40B4-BE49-F238E27FC236}">
                      <a16:creationId xmlns:a16="http://schemas.microsoft.com/office/drawing/2014/main" id="{48F98A71-64A7-5EE3-5537-22C33D1DE635}"/>
                    </a:ext>
                  </a:extLst>
                </p:cNvPr>
                <p:cNvSpPr txBox="1"/>
                <p:nvPr/>
              </p:nvSpPr>
              <p:spPr>
                <a:xfrm>
                  <a:off x="8459346" y="3676262"/>
                  <a:ext cx="466794" cy="338554"/>
                </a:xfrm>
                <a:prstGeom prst="rect">
                  <a:avLst/>
                </a:prstGeom>
                <a:noFill/>
              </p:spPr>
              <p:txBody>
                <a:bodyPr wrap="none" rtlCol="0">
                  <a:spAutoFit/>
                </a:bodyPr>
                <a:lstStyle/>
                <a:p>
                  <a:r>
                    <a:rPr kumimoji="1" lang="en-US" altLang="zh-TW" sz="1600" dirty="0"/>
                    <a:t>……</a:t>
                  </a:r>
                  <a:endParaRPr kumimoji="1" lang="zh-TW" altLang="en-US" sz="1600" dirty="0"/>
                </a:p>
              </p:txBody>
            </p:sp>
            <p:sp>
              <p:nvSpPr>
                <p:cNvPr id="82" name="文字方塊 81">
                  <a:extLst>
                    <a:ext uri="{FF2B5EF4-FFF2-40B4-BE49-F238E27FC236}">
                      <a16:creationId xmlns:a16="http://schemas.microsoft.com/office/drawing/2014/main" id="{66EA3086-3BAA-1083-B006-0EC45483D3B1}"/>
                    </a:ext>
                  </a:extLst>
                </p:cNvPr>
                <p:cNvSpPr txBox="1"/>
                <p:nvPr/>
              </p:nvSpPr>
              <p:spPr>
                <a:xfrm>
                  <a:off x="7955279" y="3536348"/>
                  <a:ext cx="508473" cy="584775"/>
                </a:xfrm>
                <a:prstGeom prst="rect">
                  <a:avLst/>
                </a:prstGeom>
                <a:noFill/>
              </p:spPr>
              <p:txBody>
                <a:bodyPr wrap="none" rtlCol="0">
                  <a:spAutoFit/>
                </a:bodyPr>
                <a:lstStyle/>
                <a:p>
                  <a:pPr algn="ctr"/>
                  <a:r>
                    <a:rPr kumimoji="1" lang="en-US" altLang="zh-TW" sz="1600" dirty="0"/>
                    <a:t>4KB</a:t>
                  </a:r>
                  <a:br>
                    <a:rPr kumimoji="1" lang="en-US" altLang="zh-TW" sz="1600" dirty="0"/>
                  </a:br>
                  <a:r>
                    <a:rPr kumimoji="1" lang="en-US" altLang="zh-TW" sz="1600" dirty="0"/>
                    <a:t>PT</a:t>
                  </a:r>
                  <a:endParaRPr kumimoji="1" lang="zh-TW" altLang="en-US" sz="1600" dirty="0"/>
                </a:p>
              </p:txBody>
            </p:sp>
            <p:sp>
              <p:nvSpPr>
                <p:cNvPr id="83" name="文字方塊 82">
                  <a:extLst>
                    <a:ext uri="{FF2B5EF4-FFF2-40B4-BE49-F238E27FC236}">
                      <a16:creationId xmlns:a16="http://schemas.microsoft.com/office/drawing/2014/main" id="{6B379ECF-1B98-A366-4ED3-F54348440F9A}"/>
                    </a:ext>
                  </a:extLst>
                </p:cNvPr>
                <p:cNvSpPr txBox="1"/>
                <p:nvPr/>
              </p:nvSpPr>
              <p:spPr>
                <a:xfrm>
                  <a:off x="8970959" y="3542266"/>
                  <a:ext cx="508473" cy="584775"/>
                </a:xfrm>
                <a:prstGeom prst="rect">
                  <a:avLst/>
                </a:prstGeom>
                <a:noFill/>
              </p:spPr>
              <p:txBody>
                <a:bodyPr wrap="none" rtlCol="0">
                  <a:spAutoFit/>
                </a:bodyPr>
                <a:lstStyle/>
                <a:p>
                  <a:pPr algn="ctr"/>
                  <a:r>
                    <a:rPr kumimoji="1" lang="en-US" altLang="zh-TW" sz="1600" dirty="0"/>
                    <a:t>4KB</a:t>
                  </a:r>
                  <a:br>
                    <a:rPr kumimoji="1" lang="en-US" altLang="zh-TW" sz="1600" dirty="0"/>
                  </a:br>
                  <a:r>
                    <a:rPr kumimoji="1" lang="en-US" altLang="zh-TW" sz="1600" dirty="0"/>
                    <a:t>PT</a:t>
                  </a:r>
                  <a:endParaRPr kumimoji="1" lang="zh-TW" altLang="en-US" sz="1600" dirty="0"/>
                </a:p>
              </p:txBody>
            </p:sp>
          </p:grpSp>
          <p:sp>
            <p:nvSpPr>
              <p:cNvPr id="77" name="左大括弧 76">
                <a:extLst>
                  <a:ext uri="{FF2B5EF4-FFF2-40B4-BE49-F238E27FC236}">
                    <a16:creationId xmlns:a16="http://schemas.microsoft.com/office/drawing/2014/main" id="{F6A2FE88-19CF-ADED-5AEF-7A40C8741172}"/>
                  </a:ext>
                </a:extLst>
              </p:cNvPr>
              <p:cNvSpPr/>
              <p:nvPr/>
            </p:nvSpPr>
            <p:spPr>
              <a:xfrm rot="16200000">
                <a:off x="8484655" y="3486578"/>
                <a:ext cx="257131" cy="914400"/>
              </a:xfrm>
              <a:prstGeom prst="leftBrace">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78" name="左大括弧 77">
                <a:extLst>
                  <a:ext uri="{FF2B5EF4-FFF2-40B4-BE49-F238E27FC236}">
                    <a16:creationId xmlns:a16="http://schemas.microsoft.com/office/drawing/2014/main" id="{312EE754-B4C0-C951-9570-E304279A7D20}"/>
                  </a:ext>
                </a:extLst>
              </p:cNvPr>
              <p:cNvSpPr/>
              <p:nvPr/>
            </p:nvSpPr>
            <p:spPr>
              <a:xfrm rot="16200000">
                <a:off x="9509397" y="3488284"/>
                <a:ext cx="257131" cy="914400"/>
              </a:xfrm>
              <a:prstGeom prst="leftBrace">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grpSp>
        <p:sp>
          <p:nvSpPr>
            <p:cNvPr id="84" name="文字方塊 83">
              <a:extLst>
                <a:ext uri="{FF2B5EF4-FFF2-40B4-BE49-F238E27FC236}">
                  <a16:creationId xmlns:a16="http://schemas.microsoft.com/office/drawing/2014/main" id="{E142B3B2-74D8-1D96-DD35-B49DDBFA673F}"/>
                </a:ext>
              </a:extLst>
            </p:cNvPr>
            <p:cNvSpPr txBox="1"/>
            <p:nvPr/>
          </p:nvSpPr>
          <p:spPr>
            <a:xfrm>
              <a:off x="10663400" y="5452001"/>
              <a:ext cx="1284582" cy="584775"/>
            </a:xfrm>
            <a:prstGeom prst="rect">
              <a:avLst/>
            </a:prstGeom>
            <a:noFill/>
          </p:spPr>
          <p:txBody>
            <a:bodyPr wrap="none" rtlCol="0">
              <a:spAutoFit/>
            </a:bodyPr>
            <a:lstStyle/>
            <a:p>
              <a:pPr algn="ctr"/>
              <a:r>
                <a:rPr kumimoji="1" lang="en-US" altLang="zh-TW" sz="1600" dirty="0">
                  <a:solidFill>
                    <a:srgbClr val="C00000"/>
                  </a:solidFill>
                </a:rPr>
                <a:t>Last 4 level</a:t>
              </a:r>
            </a:p>
            <a:p>
              <a:pPr algn="ctr"/>
              <a:r>
                <a:rPr kumimoji="1" lang="en-US" altLang="zh-TW" sz="1600" dirty="0">
                  <a:solidFill>
                    <a:srgbClr val="C00000"/>
                  </a:solidFill>
                </a:rPr>
                <a:t>2</a:t>
              </a:r>
              <a:r>
                <a:rPr kumimoji="1" lang="en-US" altLang="zh-TW" sz="1600" baseline="30000" dirty="0">
                  <a:solidFill>
                    <a:srgbClr val="C00000"/>
                  </a:solidFill>
                </a:rPr>
                <a:t>9</a:t>
              </a:r>
              <a:r>
                <a:rPr kumimoji="1" lang="en-US" altLang="zh-TW" sz="1600" dirty="0">
                  <a:solidFill>
                    <a:srgbClr val="C00000"/>
                  </a:solidFill>
                </a:rPr>
                <a:t> Page Table</a:t>
              </a:r>
              <a:endParaRPr kumimoji="1" lang="zh-TW" altLang="en-US" sz="1600" dirty="0">
                <a:solidFill>
                  <a:srgbClr val="C00000"/>
                </a:solidFill>
              </a:endParaRPr>
            </a:p>
          </p:txBody>
        </p:sp>
      </p:grpSp>
      <p:grpSp>
        <p:nvGrpSpPr>
          <p:cNvPr id="109" name="群組 108">
            <a:extLst>
              <a:ext uri="{FF2B5EF4-FFF2-40B4-BE49-F238E27FC236}">
                <a16:creationId xmlns:a16="http://schemas.microsoft.com/office/drawing/2014/main" id="{3879D687-721B-F18B-44DC-9C379FAE2563}"/>
              </a:ext>
            </a:extLst>
          </p:cNvPr>
          <p:cNvGrpSpPr/>
          <p:nvPr/>
        </p:nvGrpSpPr>
        <p:grpSpPr>
          <a:xfrm>
            <a:off x="8339169" y="6063402"/>
            <a:ext cx="3787958" cy="830997"/>
            <a:chOff x="8339169" y="6063402"/>
            <a:chExt cx="3787958" cy="830997"/>
          </a:xfrm>
        </p:grpSpPr>
        <p:sp>
          <p:nvSpPr>
            <p:cNvPr id="85" name="文字方塊 84">
              <a:extLst>
                <a:ext uri="{FF2B5EF4-FFF2-40B4-BE49-F238E27FC236}">
                  <a16:creationId xmlns:a16="http://schemas.microsoft.com/office/drawing/2014/main" id="{40E56CA4-7AE8-21CA-E91E-9600FC4577A8}"/>
                </a:ext>
              </a:extLst>
            </p:cNvPr>
            <p:cNvSpPr txBox="1"/>
            <p:nvPr/>
          </p:nvSpPr>
          <p:spPr>
            <a:xfrm>
              <a:off x="10544385" y="6063402"/>
              <a:ext cx="1582742" cy="830997"/>
            </a:xfrm>
            <a:prstGeom prst="rect">
              <a:avLst/>
            </a:prstGeom>
            <a:noFill/>
          </p:spPr>
          <p:txBody>
            <a:bodyPr wrap="none" rtlCol="0">
              <a:spAutoFit/>
            </a:bodyPr>
            <a:lstStyle/>
            <a:p>
              <a:pPr algn="ctr"/>
              <a:r>
                <a:rPr kumimoji="1" lang="en-US" altLang="zh-TW" sz="1600" dirty="0">
                  <a:solidFill>
                    <a:srgbClr val="C00000"/>
                  </a:solidFill>
                </a:rPr>
                <a:t>Last 4 level</a:t>
              </a:r>
            </a:p>
            <a:p>
              <a:pPr algn="ctr"/>
              <a:r>
                <a:rPr kumimoji="1" lang="en-US" altLang="zh-TW" sz="1600" dirty="0">
                  <a:solidFill>
                    <a:srgbClr val="C00000"/>
                  </a:solidFill>
                </a:rPr>
                <a:t>2</a:t>
              </a:r>
              <a:r>
                <a:rPr kumimoji="1" lang="en-US" altLang="zh-TW" sz="1600" baseline="30000" dirty="0">
                  <a:solidFill>
                    <a:srgbClr val="C00000"/>
                  </a:solidFill>
                </a:rPr>
                <a:t>12 </a:t>
              </a:r>
              <a:r>
                <a:rPr kumimoji="1" lang="en-US" altLang="zh-TW" sz="1600" dirty="0">
                  <a:solidFill>
                    <a:srgbClr val="C00000"/>
                  </a:solidFill>
                </a:rPr>
                <a:t>B PTE</a:t>
              </a:r>
              <a:br>
                <a:rPr kumimoji="1" lang="en-US" altLang="zh-TW" sz="1600" dirty="0">
                  <a:solidFill>
                    <a:srgbClr val="C00000"/>
                  </a:solidFill>
                </a:rPr>
              </a:br>
              <a:r>
                <a:rPr kumimoji="1" lang="en-US" altLang="zh-TW" sz="1600" dirty="0">
                  <a:solidFill>
                    <a:srgbClr val="C00000"/>
                  </a:solidFill>
                </a:rPr>
                <a:t>(One Page Table)</a:t>
              </a:r>
              <a:endParaRPr kumimoji="1" lang="zh-TW" altLang="en-US" sz="1600" dirty="0">
                <a:solidFill>
                  <a:srgbClr val="C00000"/>
                </a:solidFill>
              </a:endParaRPr>
            </a:p>
          </p:txBody>
        </p:sp>
        <p:sp>
          <p:nvSpPr>
            <p:cNvPr id="86" name="矩形 85">
              <a:extLst>
                <a:ext uri="{FF2B5EF4-FFF2-40B4-BE49-F238E27FC236}">
                  <a16:creationId xmlns:a16="http://schemas.microsoft.com/office/drawing/2014/main" id="{E533A37E-A4E4-7D9F-503C-15829F825E3C}"/>
                </a:ext>
              </a:extLst>
            </p:cNvPr>
            <p:cNvSpPr/>
            <p:nvPr/>
          </p:nvSpPr>
          <p:spPr>
            <a:xfrm>
              <a:off x="8339169" y="6333362"/>
              <a:ext cx="457200" cy="2769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rPr>
                <a:t>PTE</a:t>
              </a:r>
              <a:endParaRPr kumimoji="1" lang="zh-TW" altLang="en-US" sz="1600" dirty="0">
                <a:solidFill>
                  <a:schemeClr val="tx1"/>
                </a:solidFill>
              </a:endParaRPr>
            </a:p>
          </p:txBody>
        </p:sp>
        <p:sp>
          <p:nvSpPr>
            <p:cNvPr id="87" name="矩形 86">
              <a:extLst>
                <a:ext uri="{FF2B5EF4-FFF2-40B4-BE49-F238E27FC236}">
                  <a16:creationId xmlns:a16="http://schemas.microsoft.com/office/drawing/2014/main" id="{46F15C12-69FF-0AAB-A6A6-9F798BD606D1}"/>
                </a:ext>
              </a:extLst>
            </p:cNvPr>
            <p:cNvSpPr/>
            <p:nvPr/>
          </p:nvSpPr>
          <p:spPr>
            <a:xfrm>
              <a:off x="9371609" y="6341472"/>
              <a:ext cx="457200" cy="2769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rPr>
                <a:t>PTE</a:t>
              </a:r>
              <a:endParaRPr kumimoji="1" lang="zh-TW" altLang="en-US" sz="1600" dirty="0">
                <a:solidFill>
                  <a:schemeClr val="tx1"/>
                </a:solidFill>
              </a:endParaRPr>
            </a:p>
          </p:txBody>
        </p:sp>
        <p:cxnSp>
          <p:nvCxnSpPr>
            <p:cNvPr id="88" name="直線箭頭接點 87">
              <a:extLst>
                <a:ext uri="{FF2B5EF4-FFF2-40B4-BE49-F238E27FC236}">
                  <a16:creationId xmlns:a16="http://schemas.microsoft.com/office/drawing/2014/main" id="{5E8FF9C3-0BE4-F7FD-7B87-F1C882A8CE1A}"/>
                </a:ext>
              </a:extLst>
            </p:cNvPr>
            <p:cNvCxnSpPr>
              <a:cxnSpLocks/>
            </p:cNvCxnSpPr>
            <p:nvPr/>
          </p:nvCxnSpPr>
          <p:spPr>
            <a:xfrm flipV="1">
              <a:off x="8567369" y="6088769"/>
              <a:ext cx="0" cy="252703"/>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89" name="直線箭頭接點 88">
              <a:extLst>
                <a:ext uri="{FF2B5EF4-FFF2-40B4-BE49-F238E27FC236}">
                  <a16:creationId xmlns:a16="http://schemas.microsoft.com/office/drawing/2014/main" id="{69C96C68-3904-BD9C-C772-C8B87CB0DC59}"/>
                </a:ext>
              </a:extLst>
            </p:cNvPr>
            <p:cNvCxnSpPr>
              <a:cxnSpLocks/>
            </p:cNvCxnSpPr>
            <p:nvPr/>
          </p:nvCxnSpPr>
          <p:spPr>
            <a:xfrm flipH="1" flipV="1">
              <a:off x="9606320" y="6088769"/>
              <a:ext cx="0" cy="252703"/>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90" name="文字方塊 89">
              <a:extLst>
                <a:ext uri="{FF2B5EF4-FFF2-40B4-BE49-F238E27FC236}">
                  <a16:creationId xmlns:a16="http://schemas.microsoft.com/office/drawing/2014/main" id="{FD279129-0665-4D1C-736B-05923A0B1B3A}"/>
                </a:ext>
              </a:extLst>
            </p:cNvPr>
            <p:cNvSpPr txBox="1"/>
            <p:nvPr/>
          </p:nvSpPr>
          <p:spPr>
            <a:xfrm>
              <a:off x="8851951" y="6224656"/>
              <a:ext cx="466794" cy="338554"/>
            </a:xfrm>
            <a:prstGeom prst="rect">
              <a:avLst/>
            </a:prstGeom>
            <a:noFill/>
          </p:spPr>
          <p:txBody>
            <a:bodyPr wrap="none" rtlCol="0">
              <a:spAutoFit/>
            </a:bodyPr>
            <a:lstStyle/>
            <a:p>
              <a:r>
                <a:rPr kumimoji="1" lang="en-US" altLang="zh-TW" sz="1600" dirty="0"/>
                <a:t>……</a:t>
              </a:r>
              <a:endParaRPr kumimoji="1" lang="zh-TW" altLang="en-US" sz="1600" dirty="0"/>
            </a:p>
          </p:txBody>
        </p:sp>
      </p:grpSp>
      <p:grpSp>
        <p:nvGrpSpPr>
          <p:cNvPr id="110" name="群組 109">
            <a:extLst>
              <a:ext uri="{FF2B5EF4-FFF2-40B4-BE49-F238E27FC236}">
                <a16:creationId xmlns:a16="http://schemas.microsoft.com/office/drawing/2014/main" id="{979A432E-B81D-336D-F0F7-A3232CBFD846}"/>
              </a:ext>
            </a:extLst>
          </p:cNvPr>
          <p:cNvGrpSpPr/>
          <p:nvPr/>
        </p:nvGrpSpPr>
        <p:grpSpPr>
          <a:xfrm>
            <a:off x="7043828" y="5987702"/>
            <a:ext cx="2911481" cy="830997"/>
            <a:chOff x="7043828" y="5987702"/>
            <a:chExt cx="2911481" cy="830997"/>
          </a:xfrm>
        </p:grpSpPr>
        <p:sp>
          <p:nvSpPr>
            <p:cNvPr id="91" name="摺角紙張 90">
              <a:extLst>
                <a:ext uri="{FF2B5EF4-FFF2-40B4-BE49-F238E27FC236}">
                  <a16:creationId xmlns:a16="http://schemas.microsoft.com/office/drawing/2014/main" id="{DDD63AB4-6B95-518A-C8CD-AA47AF9890D4}"/>
                </a:ext>
              </a:extLst>
            </p:cNvPr>
            <p:cNvSpPr/>
            <p:nvPr/>
          </p:nvSpPr>
          <p:spPr>
            <a:xfrm rot="10800000" flipH="1">
              <a:off x="8234346" y="6286600"/>
              <a:ext cx="1720963" cy="384600"/>
            </a:xfrm>
            <a:prstGeom prst="foldedCorner">
              <a:avLst>
                <a:gd name="adj" fmla="val 0"/>
              </a:avLst>
            </a:prstGeom>
            <a:noFill/>
            <a:ln w="190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200" dirty="0"/>
                <a:t>P</a:t>
              </a:r>
              <a:endParaRPr kumimoji="1" lang="zh-TW" altLang="en-US" sz="1200" dirty="0"/>
            </a:p>
          </p:txBody>
        </p:sp>
        <p:sp>
          <p:nvSpPr>
            <p:cNvPr id="92" name="文字方塊 91">
              <a:extLst>
                <a:ext uri="{FF2B5EF4-FFF2-40B4-BE49-F238E27FC236}">
                  <a16:creationId xmlns:a16="http://schemas.microsoft.com/office/drawing/2014/main" id="{76EB2FA0-510D-FC69-A9F6-B8B6EB24FE5E}"/>
                </a:ext>
              </a:extLst>
            </p:cNvPr>
            <p:cNvSpPr txBox="1"/>
            <p:nvPr/>
          </p:nvSpPr>
          <p:spPr>
            <a:xfrm>
              <a:off x="7043828" y="5987702"/>
              <a:ext cx="1365224" cy="830997"/>
            </a:xfrm>
            <a:prstGeom prst="rect">
              <a:avLst/>
            </a:prstGeom>
            <a:noFill/>
          </p:spPr>
          <p:txBody>
            <a:bodyPr wrap="square" rtlCol="0">
              <a:spAutoFit/>
            </a:bodyPr>
            <a:lstStyle/>
            <a:p>
              <a:r>
                <a:rPr kumimoji="1" lang="en-US" altLang="zh-TW" sz="1600" dirty="0">
                  <a:solidFill>
                    <a:srgbClr val="0070C0"/>
                  </a:solidFill>
                </a:rPr>
                <a:t>Fit in one page (or one page table)</a:t>
              </a:r>
              <a:endParaRPr kumimoji="1" lang="zh-TW" altLang="en-US" sz="1600" dirty="0">
                <a:solidFill>
                  <a:srgbClr val="0070C0"/>
                </a:solidFill>
              </a:endParaRPr>
            </a:p>
          </p:txBody>
        </p:sp>
      </p:grpSp>
      <p:grpSp>
        <p:nvGrpSpPr>
          <p:cNvPr id="94" name="群組 93">
            <a:extLst>
              <a:ext uri="{FF2B5EF4-FFF2-40B4-BE49-F238E27FC236}">
                <a16:creationId xmlns:a16="http://schemas.microsoft.com/office/drawing/2014/main" id="{3C254863-7F07-FD46-7AB4-2285004CF227}"/>
              </a:ext>
            </a:extLst>
          </p:cNvPr>
          <p:cNvGrpSpPr/>
          <p:nvPr/>
        </p:nvGrpSpPr>
        <p:grpSpPr>
          <a:xfrm>
            <a:off x="7355820" y="1119421"/>
            <a:ext cx="4501291" cy="684748"/>
            <a:chOff x="7355820" y="1119421"/>
            <a:chExt cx="4501291" cy="684748"/>
          </a:xfrm>
        </p:grpSpPr>
        <p:grpSp>
          <p:nvGrpSpPr>
            <p:cNvPr id="93" name="群組 92">
              <a:extLst>
                <a:ext uri="{FF2B5EF4-FFF2-40B4-BE49-F238E27FC236}">
                  <a16:creationId xmlns:a16="http://schemas.microsoft.com/office/drawing/2014/main" id="{8EB5ED15-0576-323F-F14B-CBEE0D42FB8D}"/>
                </a:ext>
              </a:extLst>
            </p:cNvPr>
            <p:cNvGrpSpPr/>
            <p:nvPr/>
          </p:nvGrpSpPr>
          <p:grpSpPr>
            <a:xfrm>
              <a:off x="7355820" y="1119421"/>
              <a:ext cx="4501291" cy="661601"/>
              <a:chOff x="7355820" y="1119421"/>
              <a:chExt cx="4501291" cy="661601"/>
            </a:xfrm>
          </p:grpSpPr>
          <p:sp>
            <p:nvSpPr>
              <p:cNvPr id="8" name="文字方塊 7">
                <a:extLst>
                  <a:ext uri="{FF2B5EF4-FFF2-40B4-BE49-F238E27FC236}">
                    <a16:creationId xmlns:a16="http://schemas.microsoft.com/office/drawing/2014/main" id="{12CD8AD2-B94F-4B90-B39D-FE9E25B80862}"/>
                  </a:ext>
                </a:extLst>
              </p:cNvPr>
              <p:cNvSpPr txBox="1"/>
              <p:nvPr/>
            </p:nvSpPr>
            <p:spPr>
              <a:xfrm>
                <a:off x="10128844" y="1196247"/>
                <a:ext cx="580865" cy="584775"/>
              </a:xfrm>
              <a:prstGeom prst="rect">
                <a:avLst/>
              </a:prstGeom>
              <a:noFill/>
            </p:spPr>
            <p:txBody>
              <a:bodyPr wrap="none" rtlCol="0">
                <a:spAutoFit/>
              </a:bodyPr>
              <a:lstStyle/>
              <a:p>
                <a:pPr algn="ctr"/>
                <a:r>
                  <a:rPr kumimoji="1" lang="en-US" altLang="zh-TW" sz="1600" dirty="0"/>
                  <a:t>4KB</a:t>
                </a:r>
                <a:br>
                  <a:rPr kumimoji="1" lang="en-US" altLang="zh-TW" sz="1600" dirty="0"/>
                </a:br>
                <a:r>
                  <a:rPr kumimoji="1" lang="en-US" altLang="zh-TW" sz="1600" dirty="0"/>
                  <a:t>Page</a:t>
                </a:r>
                <a:endParaRPr kumimoji="1" lang="zh-TW" altLang="en-US" sz="1600" dirty="0"/>
              </a:p>
            </p:txBody>
          </p:sp>
          <p:sp>
            <p:nvSpPr>
              <p:cNvPr id="9" name="文字方塊 8">
                <a:extLst>
                  <a:ext uri="{FF2B5EF4-FFF2-40B4-BE49-F238E27FC236}">
                    <a16:creationId xmlns:a16="http://schemas.microsoft.com/office/drawing/2014/main" id="{5608A04E-2352-FB19-53AB-B83E2D405C2C}"/>
                  </a:ext>
                </a:extLst>
              </p:cNvPr>
              <p:cNvSpPr txBox="1"/>
              <p:nvPr/>
            </p:nvSpPr>
            <p:spPr>
              <a:xfrm>
                <a:off x="8102847" y="1266134"/>
                <a:ext cx="466794" cy="338554"/>
              </a:xfrm>
              <a:prstGeom prst="rect">
                <a:avLst/>
              </a:prstGeom>
              <a:noFill/>
            </p:spPr>
            <p:txBody>
              <a:bodyPr wrap="none" rtlCol="0">
                <a:spAutoFit/>
              </a:bodyPr>
              <a:lstStyle/>
              <a:p>
                <a:r>
                  <a:rPr kumimoji="1" lang="en-US" altLang="zh-TW" sz="1600" dirty="0"/>
                  <a:t>……</a:t>
                </a:r>
                <a:endParaRPr kumimoji="1" lang="zh-TW" altLang="en-US" sz="1600" dirty="0"/>
              </a:p>
            </p:txBody>
          </p:sp>
          <p:sp>
            <p:nvSpPr>
              <p:cNvPr id="10" name="文字方塊 9">
                <a:extLst>
                  <a:ext uri="{FF2B5EF4-FFF2-40B4-BE49-F238E27FC236}">
                    <a16:creationId xmlns:a16="http://schemas.microsoft.com/office/drawing/2014/main" id="{404C0839-5291-0451-B5D1-CA7278AAD2A5}"/>
                  </a:ext>
                </a:extLst>
              </p:cNvPr>
              <p:cNvSpPr txBox="1"/>
              <p:nvPr/>
            </p:nvSpPr>
            <p:spPr>
              <a:xfrm>
                <a:off x="9488515" y="1266134"/>
                <a:ext cx="466794" cy="338554"/>
              </a:xfrm>
              <a:prstGeom prst="rect">
                <a:avLst/>
              </a:prstGeom>
              <a:noFill/>
            </p:spPr>
            <p:txBody>
              <a:bodyPr wrap="none" rtlCol="0">
                <a:spAutoFit/>
              </a:bodyPr>
              <a:lstStyle/>
              <a:p>
                <a:r>
                  <a:rPr kumimoji="1" lang="en-US" altLang="zh-TW" sz="1600" dirty="0"/>
                  <a:t>……</a:t>
                </a:r>
                <a:endParaRPr kumimoji="1" lang="zh-TW" altLang="en-US" sz="1600" dirty="0"/>
              </a:p>
            </p:txBody>
          </p:sp>
          <p:sp>
            <p:nvSpPr>
              <p:cNvPr id="11" name="文字方塊 10">
                <a:extLst>
                  <a:ext uri="{FF2B5EF4-FFF2-40B4-BE49-F238E27FC236}">
                    <a16:creationId xmlns:a16="http://schemas.microsoft.com/office/drawing/2014/main" id="{B26BDAF7-2F4A-618E-782A-06F591F0C4C5}"/>
                  </a:ext>
                </a:extLst>
              </p:cNvPr>
              <p:cNvSpPr txBox="1"/>
              <p:nvPr/>
            </p:nvSpPr>
            <p:spPr>
              <a:xfrm>
                <a:off x="10866648" y="1119421"/>
                <a:ext cx="990463" cy="584775"/>
              </a:xfrm>
              <a:prstGeom prst="rect">
                <a:avLst/>
              </a:prstGeom>
              <a:noFill/>
            </p:spPr>
            <p:txBody>
              <a:bodyPr wrap="none" rtlCol="0">
                <a:spAutoFit/>
              </a:bodyPr>
              <a:lstStyle/>
              <a:p>
                <a:pPr algn="ctr"/>
                <a:r>
                  <a:rPr kumimoji="1" lang="en-US" altLang="zh-TW" sz="1600" dirty="0">
                    <a:solidFill>
                      <a:srgbClr val="C00000"/>
                    </a:solidFill>
                  </a:rPr>
                  <a:t>Last Level</a:t>
                </a:r>
                <a:br>
                  <a:rPr kumimoji="1" lang="en-US" altLang="zh-TW" sz="1600" dirty="0">
                    <a:solidFill>
                      <a:srgbClr val="C00000"/>
                    </a:solidFill>
                  </a:rPr>
                </a:br>
                <a:r>
                  <a:rPr kumimoji="1" lang="en-US" altLang="zh-TW" sz="1600" dirty="0">
                    <a:solidFill>
                      <a:srgbClr val="C00000"/>
                    </a:solidFill>
                  </a:rPr>
                  <a:t>2</a:t>
                </a:r>
                <a:r>
                  <a:rPr kumimoji="1" lang="en-US" altLang="zh-TW" sz="1600" baseline="30000" dirty="0">
                    <a:solidFill>
                      <a:srgbClr val="C00000"/>
                    </a:solidFill>
                  </a:rPr>
                  <a:t>36 </a:t>
                </a:r>
                <a:r>
                  <a:rPr kumimoji="1" lang="en-US" altLang="zh-TW" sz="1600" dirty="0">
                    <a:solidFill>
                      <a:srgbClr val="C00000"/>
                    </a:solidFill>
                  </a:rPr>
                  <a:t>Pages</a:t>
                </a:r>
                <a:endParaRPr kumimoji="1" lang="zh-TW" altLang="en-US" sz="1600" dirty="0">
                  <a:solidFill>
                    <a:srgbClr val="C00000"/>
                  </a:solidFill>
                </a:endParaRPr>
              </a:p>
            </p:txBody>
          </p:sp>
          <p:sp>
            <p:nvSpPr>
              <p:cNvPr id="32" name="文字方塊 31">
                <a:extLst>
                  <a:ext uri="{FF2B5EF4-FFF2-40B4-BE49-F238E27FC236}">
                    <a16:creationId xmlns:a16="http://schemas.microsoft.com/office/drawing/2014/main" id="{E36973A8-7EA5-E36E-F0C7-39AECAA04E83}"/>
                  </a:ext>
                </a:extLst>
              </p:cNvPr>
              <p:cNvSpPr txBox="1"/>
              <p:nvPr/>
            </p:nvSpPr>
            <p:spPr>
              <a:xfrm>
                <a:off x="8740759" y="1196247"/>
                <a:ext cx="580865" cy="584775"/>
              </a:xfrm>
              <a:prstGeom prst="rect">
                <a:avLst/>
              </a:prstGeom>
              <a:noFill/>
            </p:spPr>
            <p:txBody>
              <a:bodyPr wrap="none" rtlCol="0">
                <a:spAutoFit/>
              </a:bodyPr>
              <a:lstStyle/>
              <a:p>
                <a:pPr algn="ctr"/>
                <a:r>
                  <a:rPr kumimoji="1" lang="en-US" altLang="zh-TW" sz="1600" dirty="0"/>
                  <a:t>4KB</a:t>
                </a:r>
                <a:br>
                  <a:rPr kumimoji="1" lang="en-US" altLang="zh-TW" sz="1600" dirty="0"/>
                </a:br>
                <a:r>
                  <a:rPr kumimoji="1" lang="en-US" altLang="zh-TW" sz="1600" dirty="0"/>
                  <a:t>Page</a:t>
                </a:r>
                <a:endParaRPr kumimoji="1" lang="zh-TW" altLang="en-US" sz="1600" dirty="0"/>
              </a:p>
            </p:txBody>
          </p:sp>
          <p:sp>
            <p:nvSpPr>
              <p:cNvPr id="33" name="文字方塊 32">
                <a:extLst>
                  <a:ext uri="{FF2B5EF4-FFF2-40B4-BE49-F238E27FC236}">
                    <a16:creationId xmlns:a16="http://schemas.microsoft.com/office/drawing/2014/main" id="{5C7F2F31-FB9B-88AD-AC95-40F6DF572E57}"/>
                  </a:ext>
                </a:extLst>
              </p:cNvPr>
              <p:cNvSpPr txBox="1"/>
              <p:nvPr/>
            </p:nvSpPr>
            <p:spPr>
              <a:xfrm>
                <a:off x="7355820" y="1196247"/>
                <a:ext cx="580865" cy="584775"/>
              </a:xfrm>
              <a:prstGeom prst="rect">
                <a:avLst/>
              </a:prstGeom>
              <a:noFill/>
            </p:spPr>
            <p:txBody>
              <a:bodyPr wrap="none" rtlCol="0">
                <a:spAutoFit/>
              </a:bodyPr>
              <a:lstStyle/>
              <a:p>
                <a:pPr algn="ctr"/>
                <a:r>
                  <a:rPr kumimoji="1" lang="en-US" altLang="zh-TW" sz="1600" dirty="0"/>
                  <a:t>4KB</a:t>
                </a:r>
                <a:br>
                  <a:rPr kumimoji="1" lang="en-US" altLang="zh-TW" sz="1600" dirty="0"/>
                </a:br>
                <a:r>
                  <a:rPr kumimoji="1" lang="en-US" altLang="zh-TW" sz="1600" dirty="0"/>
                  <a:t>Page</a:t>
                </a:r>
                <a:endParaRPr kumimoji="1" lang="zh-TW" altLang="en-US" sz="1600" dirty="0"/>
              </a:p>
            </p:txBody>
          </p:sp>
        </p:grpSp>
        <p:sp>
          <p:nvSpPr>
            <p:cNvPr id="5" name="摺角紙張 4">
              <a:extLst>
                <a:ext uri="{FF2B5EF4-FFF2-40B4-BE49-F238E27FC236}">
                  <a16:creationId xmlns:a16="http://schemas.microsoft.com/office/drawing/2014/main" id="{57047982-578E-2D09-CE7A-A556C1C42B63}"/>
                </a:ext>
              </a:extLst>
            </p:cNvPr>
            <p:cNvSpPr/>
            <p:nvPr/>
          </p:nvSpPr>
          <p:spPr>
            <a:xfrm rot="10800000" flipH="1">
              <a:off x="7396223" y="1192169"/>
              <a:ext cx="458001" cy="612000"/>
            </a:xfrm>
            <a:prstGeom prst="foldedCorner">
              <a:avLst>
                <a:gd name="adj" fmla="val 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kumimoji="1" lang="zh-TW" altLang="en-US" sz="1200" dirty="0">
                <a:solidFill>
                  <a:schemeClr val="tx1"/>
                </a:solidFill>
              </a:endParaRPr>
            </a:p>
          </p:txBody>
        </p:sp>
        <p:sp>
          <p:nvSpPr>
            <p:cNvPr id="6" name="摺角紙張 5">
              <a:extLst>
                <a:ext uri="{FF2B5EF4-FFF2-40B4-BE49-F238E27FC236}">
                  <a16:creationId xmlns:a16="http://schemas.microsoft.com/office/drawing/2014/main" id="{DD6E7A30-ED9B-8073-9707-AEB6BD042B9C}"/>
                </a:ext>
              </a:extLst>
            </p:cNvPr>
            <p:cNvSpPr/>
            <p:nvPr/>
          </p:nvSpPr>
          <p:spPr>
            <a:xfrm rot="10800000" flipH="1">
              <a:off x="8798688" y="1192169"/>
              <a:ext cx="458001" cy="612000"/>
            </a:xfrm>
            <a:prstGeom prst="foldedCorner">
              <a:avLst>
                <a:gd name="adj" fmla="val 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200" dirty="0"/>
                <a:t>P</a:t>
              </a:r>
              <a:endParaRPr kumimoji="1" lang="zh-TW" altLang="en-US" sz="1200" dirty="0"/>
            </a:p>
          </p:txBody>
        </p:sp>
        <p:sp>
          <p:nvSpPr>
            <p:cNvPr id="7" name="摺角紙張 6">
              <a:extLst>
                <a:ext uri="{FF2B5EF4-FFF2-40B4-BE49-F238E27FC236}">
                  <a16:creationId xmlns:a16="http://schemas.microsoft.com/office/drawing/2014/main" id="{898C46EC-F56F-AC49-DC50-4F3F129635F9}"/>
                </a:ext>
              </a:extLst>
            </p:cNvPr>
            <p:cNvSpPr/>
            <p:nvPr/>
          </p:nvSpPr>
          <p:spPr>
            <a:xfrm rot="10800000" flipH="1">
              <a:off x="10184270" y="1192169"/>
              <a:ext cx="458001" cy="612000"/>
            </a:xfrm>
            <a:prstGeom prst="foldedCorner">
              <a:avLst>
                <a:gd name="adj" fmla="val 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200" dirty="0"/>
                <a:t>P</a:t>
              </a:r>
              <a:endParaRPr kumimoji="1" lang="zh-TW" altLang="en-US" sz="1200" dirty="0"/>
            </a:p>
          </p:txBody>
        </p:sp>
      </p:grpSp>
      <p:grpSp>
        <p:nvGrpSpPr>
          <p:cNvPr id="100" name="群組 99">
            <a:extLst>
              <a:ext uri="{FF2B5EF4-FFF2-40B4-BE49-F238E27FC236}">
                <a16:creationId xmlns:a16="http://schemas.microsoft.com/office/drawing/2014/main" id="{D801BAC4-23FC-D725-88F3-28C4C74CA4E9}"/>
              </a:ext>
            </a:extLst>
          </p:cNvPr>
          <p:cNvGrpSpPr/>
          <p:nvPr/>
        </p:nvGrpSpPr>
        <p:grpSpPr>
          <a:xfrm>
            <a:off x="6327486" y="3120497"/>
            <a:ext cx="4100741" cy="830997"/>
            <a:chOff x="6170530" y="1711440"/>
            <a:chExt cx="4100741" cy="830997"/>
          </a:xfrm>
        </p:grpSpPr>
        <p:sp>
          <p:nvSpPr>
            <p:cNvPr id="101" name="摺角紙張 100">
              <a:extLst>
                <a:ext uri="{FF2B5EF4-FFF2-40B4-BE49-F238E27FC236}">
                  <a16:creationId xmlns:a16="http://schemas.microsoft.com/office/drawing/2014/main" id="{39AD27D0-21B6-CFF9-ED25-094E9687A6D0}"/>
                </a:ext>
              </a:extLst>
            </p:cNvPr>
            <p:cNvSpPr/>
            <p:nvPr/>
          </p:nvSpPr>
          <p:spPr>
            <a:xfrm rot="10800000" flipH="1">
              <a:off x="7468268" y="1991198"/>
              <a:ext cx="2803003" cy="384600"/>
            </a:xfrm>
            <a:prstGeom prst="foldedCorner">
              <a:avLst>
                <a:gd name="adj" fmla="val 0"/>
              </a:avLst>
            </a:prstGeom>
            <a:noFill/>
            <a:ln w="190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200" dirty="0"/>
                <a:t>P</a:t>
              </a:r>
              <a:endParaRPr kumimoji="1" lang="zh-TW" altLang="en-US" sz="1200" dirty="0"/>
            </a:p>
          </p:txBody>
        </p:sp>
        <p:sp>
          <p:nvSpPr>
            <p:cNvPr id="102" name="文字方塊 101">
              <a:extLst>
                <a:ext uri="{FF2B5EF4-FFF2-40B4-BE49-F238E27FC236}">
                  <a16:creationId xmlns:a16="http://schemas.microsoft.com/office/drawing/2014/main" id="{0E702087-482C-F36F-62DE-678CA2D1FC8F}"/>
                </a:ext>
              </a:extLst>
            </p:cNvPr>
            <p:cNvSpPr txBox="1"/>
            <p:nvPr/>
          </p:nvSpPr>
          <p:spPr>
            <a:xfrm>
              <a:off x="6170530" y="1711440"/>
              <a:ext cx="1419834" cy="830997"/>
            </a:xfrm>
            <a:prstGeom prst="rect">
              <a:avLst/>
            </a:prstGeom>
            <a:noFill/>
          </p:spPr>
          <p:txBody>
            <a:bodyPr wrap="square" rtlCol="0">
              <a:spAutoFit/>
            </a:bodyPr>
            <a:lstStyle/>
            <a:p>
              <a:r>
                <a:rPr kumimoji="1" lang="en-US" altLang="zh-TW" sz="1600" dirty="0">
                  <a:solidFill>
                    <a:srgbClr val="0070C0"/>
                  </a:solidFill>
                </a:rPr>
                <a:t>Can’t fit in one page (or one page table)</a:t>
              </a:r>
              <a:endParaRPr kumimoji="1" lang="zh-TW" altLang="en-US" sz="1600" dirty="0">
                <a:solidFill>
                  <a:srgbClr val="0070C0"/>
                </a:solidFill>
              </a:endParaRPr>
            </a:p>
          </p:txBody>
        </p:sp>
      </p:grpSp>
      <p:grpSp>
        <p:nvGrpSpPr>
          <p:cNvPr id="104" name="群組 103">
            <a:extLst>
              <a:ext uri="{FF2B5EF4-FFF2-40B4-BE49-F238E27FC236}">
                <a16:creationId xmlns:a16="http://schemas.microsoft.com/office/drawing/2014/main" id="{A92CFED0-4E42-4DC7-4F8F-CDF184D83A8B}"/>
              </a:ext>
            </a:extLst>
          </p:cNvPr>
          <p:cNvGrpSpPr/>
          <p:nvPr/>
        </p:nvGrpSpPr>
        <p:grpSpPr>
          <a:xfrm>
            <a:off x="6689417" y="4573949"/>
            <a:ext cx="3494853" cy="830997"/>
            <a:chOff x="6446229" y="1712159"/>
            <a:chExt cx="3494853" cy="830997"/>
          </a:xfrm>
        </p:grpSpPr>
        <p:sp>
          <p:nvSpPr>
            <p:cNvPr id="105" name="摺角紙張 104">
              <a:extLst>
                <a:ext uri="{FF2B5EF4-FFF2-40B4-BE49-F238E27FC236}">
                  <a16:creationId xmlns:a16="http://schemas.microsoft.com/office/drawing/2014/main" id="{B2C3EC5C-FEAD-CE07-BDB3-6448498C43F0}"/>
                </a:ext>
              </a:extLst>
            </p:cNvPr>
            <p:cNvSpPr/>
            <p:nvPr/>
          </p:nvSpPr>
          <p:spPr>
            <a:xfrm rot="10800000" flipH="1">
              <a:off x="7779373" y="1991198"/>
              <a:ext cx="2161709" cy="384600"/>
            </a:xfrm>
            <a:prstGeom prst="foldedCorner">
              <a:avLst>
                <a:gd name="adj" fmla="val 0"/>
              </a:avLst>
            </a:prstGeom>
            <a:noFill/>
            <a:ln w="190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200" dirty="0"/>
                <a:t>P</a:t>
              </a:r>
              <a:endParaRPr kumimoji="1" lang="zh-TW" altLang="en-US" sz="1200" dirty="0"/>
            </a:p>
          </p:txBody>
        </p:sp>
        <p:sp>
          <p:nvSpPr>
            <p:cNvPr id="106" name="文字方塊 105">
              <a:extLst>
                <a:ext uri="{FF2B5EF4-FFF2-40B4-BE49-F238E27FC236}">
                  <a16:creationId xmlns:a16="http://schemas.microsoft.com/office/drawing/2014/main" id="{6974CF42-40C9-4107-25F0-7B095C9CD889}"/>
                </a:ext>
              </a:extLst>
            </p:cNvPr>
            <p:cNvSpPr txBox="1"/>
            <p:nvPr/>
          </p:nvSpPr>
          <p:spPr>
            <a:xfrm>
              <a:off x="6446229" y="1712159"/>
              <a:ext cx="1419834" cy="830997"/>
            </a:xfrm>
            <a:prstGeom prst="rect">
              <a:avLst/>
            </a:prstGeom>
            <a:noFill/>
          </p:spPr>
          <p:txBody>
            <a:bodyPr wrap="square" rtlCol="0">
              <a:spAutoFit/>
            </a:bodyPr>
            <a:lstStyle/>
            <a:p>
              <a:r>
                <a:rPr kumimoji="1" lang="en-US" altLang="zh-TW" sz="1600" dirty="0">
                  <a:solidFill>
                    <a:srgbClr val="0070C0"/>
                  </a:solidFill>
                </a:rPr>
                <a:t>Can’t fit in one page (or one page table)</a:t>
              </a:r>
              <a:endParaRPr kumimoji="1" lang="zh-TW" altLang="en-US" sz="1600" dirty="0">
                <a:solidFill>
                  <a:srgbClr val="0070C0"/>
                </a:solidFill>
              </a:endParaRPr>
            </a:p>
          </p:txBody>
        </p:sp>
      </p:grpSp>
    </p:spTree>
    <p:extLst>
      <p:ext uri="{BB962C8B-B14F-4D97-AF65-F5344CB8AC3E}">
        <p14:creationId xmlns:p14="http://schemas.microsoft.com/office/powerpoint/2010/main" val="1060957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4"/>
                                        </p:tgtEl>
                                        <p:attrNameLst>
                                          <p:attrName>style.visibility</p:attrName>
                                        </p:attrNameLst>
                                      </p:cBhvr>
                                      <p:to>
                                        <p:strVal val="visible"/>
                                      </p:to>
                                    </p:set>
                                    <p:animEffect transition="in" filter="wipe(down)">
                                      <p:cBhvr>
                                        <p:cTn id="12" dur="500"/>
                                        <p:tgtEl>
                                          <p:spTgt spid="9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96"/>
                                        </p:tgtEl>
                                        <p:attrNameLst>
                                          <p:attrName>style.visibility</p:attrName>
                                        </p:attrNameLst>
                                      </p:cBhvr>
                                      <p:to>
                                        <p:strVal val="visible"/>
                                      </p:to>
                                    </p:set>
                                    <p:animEffect transition="in" filter="wipe(down)">
                                      <p:cBhvr>
                                        <p:cTn id="17" dur="500"/>
                                        <p:tgtEl>
                                          <p:spTgt spid="9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7"/>
                                        </p:tgtEl>
                                        <p:attrNameLst>
                                          <p:attrName>style.visibility</p:attrName>
                                        </p:attrNameLst>
                                      </p:cBhvr>
                                      <p:to>
                                        <p:strVal val="visible"/>
                                      </p:to>
                                    </p:set>
                                    <p:animEffect transition="in" filter="fade">
                                      <p:cBhvr>
                                        <p:cTn id="22" dur="500"/>
                                        <p:tgtEl>
                                          <p:spTgt spid="9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par>
                                <p:cTn id="28" presetID="22" presetClass="entr" presetSubtype="4" fill="hold" nodeType="withEffect">
                                  <p:stCondLst>
                                    <p:cond delay="0"/>
                                  </p:stCondLst>
                                  <p:childTnLst>
                                    <p:set>
                                      <p:cBhvr>
                                        <p:cTn id="29" dur="1" fill="hold">
                                          <p:stCondLst>
                                            <p:cond delay="0"/>
                                          </p:stCondLst>
                                        </p:cTn>
                                        <p:tgtEl>
                                          <p:spTgt spid="98"/>
                                        </p:tgtEl>
                                        <p:attrNameLst>
                                          <p:attrName>style.visibility</p:attrName>
                                        </p:attrNameLst>
                                      </p:cBhvr>
                                      <p:to>
                                        <p:strVal val="visible"/>
                                      </p:to>
                                    </p:set>
                                    <p:animEffect transition="in" filter="wipe(down)">
                                      <p:cBhvr>
                                        <p:cTn id="30" dur="500"/>
                                        <p:tgtEl>
                                          <p:spTgt spid="9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99"/>
                                        </p:tgtEl>
                                        <p:attrNameLst>
                                          <p:attrName>style.visibility</p:attrName>
                                        </p:attrNameLst>
                                      </p:cBhvr>
                                      <p:to>
                                        <p:strVal val="visible"/>
                                      </p:to>
                                    </p:set>
                                    <p:animEffect transition="in" filter="wipe(down)">
                                      <p:cBhvr>
                                        <p:cTn id="35" dur="500"/>
                                        <p:tgtEl>
                                          <p:spTgt spid="9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00"/>
                                        </p:tgtEl>
                                        <p:attrNameLst>
                                          <p:attrName>style.visibility</p:attrName>
                                        </p:attrNameLst>
                                      </p:cBhvr>
                                      <p:to>
                                        <p:strVal val="visible"/>
                                      </p:to>
                                    </p:set>
                                    <p:animEffect transition="in" filter="fade">
                                      <p:cBhvr>
                                        <p:cTn id="40" dur="500"/>
                                        <p:tgtEl>
                                          <p:spTgt spid="100"/>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Effect transition="in" filter="fade">
                                      <p:cBhvr>
                                        <p:cTn id="45" dur="500"/>
                                        <p:tgtEl>
                                          <p:spTgt spid="3">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67"/>
                                        </p:tgtEl>
                                        <p:attrNameLst>
                                          <p:attrName>style.visibility</p:attrName>
                                        </p:attrNameLst>
                                      </p:cBhvr>
                                      <p:to>
                                        <p:strVal val="visible"/>
                                      </p:to>
                                    </p:set>
                                    <p:animEffect transition="in" filter="wipe(down)">
                                      <p:cBhvr>
                                        <p:cTn id="50" dur="500"/>
                                        <p:tgtEl>
                                          <p:spTgt spid="67"/>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53"/>
                                        </p:tgtEl>
                                        <p:attrNameLst>
                                          <p:attrName>style.visibility</p:attrName>
                                        </p:attrNameLst>
                                      </p:cBhvr>
                                      <p:to>
                                        <p:strVal val="visible"/>
                                      </p:to>
                                    </p:set>
                                    <p:animEffect transition="in" filter="wipe(down)">
                                      <p:cBhvr>
                                        <p:cTn id="53" dur="500"/>
                                        <p:tgtEl>
                                          <p:spTgt spid="53"/>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103"/>
                                        </p:tgtEl>
                                        <p:attrNameLst>
                                          <p:attrName>style.visibility</p:attrName>
                                        </p:attrNameLst>
                                      </p:cBhvr>
                                      <p:to>
                                        <p:strVal val="visible"/>
                                      </p:to>
                                    </p:set>
                                    <p:animEffect transition="in" filter="wipe(down)">
                                      <p:cBhvr>
                                        <p:cTn id="58" dur="500"/>
                                        <p:tgtEl>
                                          <p:spTgt spid="10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04"/>
                                        </p:tgtEl>
                                        <p:attrNameLst>
                                          <p:attrName>style.visibility</p:attrName>
                                        </p:attrNameLst>
                                      </p:cBhvr>
                                      <p:to>
                                        <p:strVal val="visible"/>
                                      </p:to>
                                    </p:set>
                                    <p:animEffect transition="in" filter="fade">
                                      <p:cBhvr>
                                        <p:cTn id="63" dur="500"/>
                                        <p:tgtEl>
                                          <p:spTgt spid="104"/>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3">
                                            <p:txEl>
                                              <p:pRg st="7" end="7"/>
                                            </p:txEl>
                                          </p:spTgt>
                                        </p:tgtEl>
                                        <p:attrNameLst>
                                          <p:attrName>style.visibility</p:attrName>
                                        </p:attrNameLst>
                                      </p:cBhvr>
                                      <p:to>
                                        <p:strVal val="visible"/>
                                      </p:to>
                                    </p:set>
                                    <p:animEffect transition="in" filter="fade">
                                      <p:cBhvr>
                                        <p:cTn id="68" dur="500"/>
                                        <p:tgtEl>
                                          <p:spTgt spid="3">
                                            <p:txEl>
                                              <p:pRg st="7" end="7"/>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nodeType="clickEffect">
                                  <p:stCondLst>
                                    <p:cond delay="0"/>
                                  </p:stCondLst>
                                  <p:childTnLst>
                                    <p:set>
                                      <p:cBhvr>
                                        <p:cTn id="72" dur="1" fill="hold">
                                          <p:stCondLst>
                                            <p:cond delay="0"/>
                                          </p:stCondLst>
                                        </p:cTn>
                                        <p:tgtEl>
                                          <p:spTgt spid="107"/>
                                        </p:tgtEl>
                                        <p:attrNameLst>
                                          <p:attrName>style.visibility</p:attrName>
                                        </p:attrNameLst>
                                      </p:cBhvr>
                                      <p:to>
                                        <p:strVal val="visible"/>
                                      </p:to>
                                    </p:set>
                                    <p:animEffect transition="in" filter="wipe(down)">
                                      <p:cBhvr>
                                        <p:cTn id="73" dur="500"/>
                                        <p:tgtEl>
                                          <p:spTgt spid="107"/>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4" fill="hold" nodeType="clickEffect">
                                  <p:stCondLst>
                                    <p:cond delay="0"/>
                                  </p:stCondLst>
                                  <p:childTnLst>
                                    <p:set>
                                      <p:cBhvr>
                                        <p:cTn id="77" dur="1" fill="hold">
                                          <p:stCondLst>
                                            <p:cond delay="0"/>
                                          </p:stCondLst>
                                        </p:cTn>
                                        <p:tgtEl>
                                          <p:spTgt spid="109"/>
                                        </p:tgtEl>
                                        <p:attrNameLst>
                                          <p:attrName>style.visibility</p:attrName>
                                        </p:attrNameLst>
                                      </p:cBhvr>
                                      <p:to>
                                        <p:strVal val="visible"/>
                                      </p:to>
                                    </p:set>
                                    <p:animEffect transition="in" filter="wipe(down)">
                                      <p:cBhvr>
                                        <p:cTn id="78" dur="500"/>
                                        <p:tgtEl>
                                          <p:spTgt spid="109"/>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110"/>
                                        </p:tgtEl>
                                        <p:attrNameLst>
                                          <p:attrName>style.visibility</p:attrName>
                                        </p:attrNameLst>
                                      </p:cBhvr>
                                      <p:to>
                                        <p:strVal val="visible"/>
                                      </p:to>
                                    </p:set>
                                    <p:animEffect transition="in" filter="fade">
                                      <p:cBhvr>
                                        <p:cTn id="83" dur="5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32691" y="2470860"/>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Advance Topics for Memory Management</a:t>
            </a:r>
          </a:p>
        </p:txBody>
      </p:sp>
    </p:spTree>
    <p:extLst>
      <p:ext uri="{BB962C8B-B14F-4D97-AF65-F5344CB8AC3E}">
        <p14:creationId xmlns:p14="http://schemas.microsoft.com/office/powerpoint/2010/main" val="33763576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428D7E-FE83-23C9-4ACB-C2DEDEAF8273}"/>
              </a:ext>
            </a:extLst>
          </p:cNvPr>
          <p:cNvSpPr>
            <a:spLocks noGrp="1"/>
          </p:cNvSpPr>
          <p:nvPr>
            <p:ph type="title"/>
          </p:nvPr>
        </p:nvSpPr>
        <p:spPr/>
        <p:txBody>
          <a:bodyPr/>
          <a:lstStyle/>
          <a:p>
            <a:r>
              <a:rPr kumimoji="1" lang="en-US" altLang="zh-TW" dirty="0"/>
              <a:t>How to enable MMU</a:t>
            </a:r>
            <a:endParaRPr kumimoji="1" lang="zh-TW" altLang="en-US" dirty="0"/>
          </a:p>
        </p:txBody>
      </p:sp>
      <p:sp>
        <p:nvSpPr>
          <p:cNvPr id="3" name="內容版面配置區 2">
            <a:extLst>
              <a:ext uri="{FF2B5EF4-FFF2-40B4-BE49-F238E27FC236}">
                <a16:creationId xmlns:a16="http://schemas.microsoft.com/office/drawing/2014/main" id="{FF97296C-0AB1-34EB-35A2-4E4BF0C2A682}"/>
              </a:ext>
            </a:extLst>
          </p:cNvPr>
          <p:cNvSpPr>
            <a:spLocks noGrp="1"/>
          </p:cNvSpPr>
          <p:nvPr>
            <p:ph idx="1"/>
          </p:nvPr>
        </p:nvSpPr>
        <p:spPr/>
        <p:txBody>
          <a:bodyPr/>
          <a:lstStyle/>
          <a:p>
            <a:pPr algn="l"/>
            <a:endParaRPr kumimoji="1" lang="en-US" altLang="zh-TW" dirty="0"/>
          </a:p>
          <a:p>
            <a:pPr algn="l"/>
            <a:r>
              <a:rPr kumimoji="1" lang="en-US" altLang="zh-TW" dirty="0"/>
              <a:t>The </a:t>
            </a:r>
            <a:r>
              <a:rPr kumimoji="1" lang="en-US" altLang="zh-TW" dirty="0">
                <a:solidFill>
                  <a:srgbClr val="C00000"/>
                </a:solidFill>
              </a:rPr>
              <a:t>MMU is inactive</a:t>
            </a:r>
            <a:r>
              <a:rPr kumimoji="1" lang="en-US" altLang="zh-TW" dirty="0"/>
              <a:t> while systems boot.</a:t>
            </a:r>
          </a:p>
          <a:p>
            <a:pPr algn="l"/>
            <a:r>
              <a:rPr kumimoji="1" lang="en-US" altLang="zh-TW" dirty="0"/>
              <a:t>The </a:t>
            </a:r>
            <a:r>
              <a:rPr kumimoji="1" lang="en-US" altLang="zh-TW" dirty="0">
                <a:solidFill>
                  <a:srgbClr val="C00000"/>
                </a:solidFill>
              </a:rPr>
              <a:t>MMU is active </a:t>
            </a:r>
            <a:r>
              <a:rPr kumimoji="1" lang="en-US" altLang="zh-TW" dirty="0"/>
              <a:t>until CPU runs the MMU-enabled command</a:t>
            </a:r>
            <a:r>
              <a:rPr kumimoji="1" lang="zh-TW" altLang="en-US" dirty="0"/>
              <a:t> </a:t>
            </a:r>
            <a:r>
              <a:rPr kumimoji="1" lang="en-US" altLang="zh-TW" dirty="0">
                <a:solidFill>
                  <a:srgbClr val="C00000"/>
                </a:solidFill>
              </a:rPr>
              <a:t>(by setting CP15)</a:t>
            </a:r>
            <a:r>
              <a:rPr kumimoji="1" lang="en-US" altLang="zh-TW" dirty="0"/>
              <a:t>.</a:t>
            </a:r>
            <a:r>
              <a:rPr lang="en-US" altLang="zh-TW" dirty="0"/>
              <a:t> After running it, e</a:t>
            </a:r>
            <a:r>
              <a:rPr kumimoji="1" lang="en-US" altLang="zh-TW" dirty="0"/>
              <a:t>ach memory address shall be transferred by MMU.</a:t>
            </a:r>
          </a:p>
          <a:p>
            <a:pPr algn="l"/>
            <a:r>
              <a:rPr kumimoji="1" lang="en-US" altLang="zh-TW" dirty="0"/>
              <a:t>How to run </a:t>
            </a:r>
            <a:r>
              <a:rPr lang="en-US" altLang="zh-TW" dirty="0"/>
              <a:t>a </a:t>
            </a:r>
            <a:r>
              <a:rPr kumimoji="1" lang="en-US" altLang="zh-TW" dirty="0"/>
              <a:t>user process right after enabling the MMU:</a:t>
            </a:r>
          </a:p>
          <a:p>
            <a:pPr lvl="1" algn="l"/>
            <a:r>
              <a:rPr lang="en-US" altLang="zh-TW" dirty="0"/>
              <a:t>CPU runs </a:t>
            </a:r>
            <a:r>
              <a:rPr kumimoji="1" lang="en-US" altLang="zh-TW" dirty="0"/>
              <a:t>a </a:t>
            </a:r>
            <a:r>
              <a:rPr kumimoji="1" lang="en-US" altLang="zh-TW" dirty="0">
                <a:solidFill>
                  <a:srgbClr val="C00000"/>
                </a:solidFill>
                <a:latin typeface="+mj-lt"/>
              </a:rPr>
              <a:t>jump</a:t>
            </a:r>
            <a:r>
              <a:rPr kumimoji="1" lang="en-US" altLang="zh-TW" dirty="0">
                <a:solidFill>
                  <a:srgbClr val="C00000"/>
                </a:solidFill>
              </a:rPr>
              <a:t> command</a:t>
            </a:r>
            <a:r>
              <a:rPr kumimoji="1" lang="en-US" altLang="zh-TW" dirty="0"/>
              <a:t> to execute the virtual address, which points to the start of the next process.</a:t>
            </a:r>
            <a:endParaRPr kumimoji="1" lang="zh-TW" altLang="en-US" dirty="0"/>
          </a:p>
        </p:txBody>
      </p:sp>
      <p:sp>
        <p:nvSpPr>
          <p:cNvPr id="4" name="投影片編號版面配置區 3">
            <a:extLst>
              <a:ext uri="{FF2B5EF4-FFF2-40B4-BE49-F238E27FC236}">
                <a16:creationId xmlns:a16="http://schemas.microsoft.com/office/drawing/2014/main" id="{21869C81-76C6-C0E6-E701-8D727517B833}"/>
              </a:ext>
            </a:extLst>
          </p:cNvPr>
          <p:cNvSpPr>
            <a:spLocks noGrp="1"/>
          </p:cNvSpPr>
          <p:nvPr>
            <p:ph type="sldNum" sz="quarter" idx="4"/>
          </p:nvPr>
        </p:nvSpPr>
        <p:spPr/>
        <p:txBody>
          <a:bodyPr/>
          <a:lstStyle/>
          <a:p>
            <a:fld id="{E24E6636-6BA5-4AAC-8485-BE8D914D288B}" type="slidenum">
              <a:rPr lang="zh-TW" altLang="en-US" smtClean="0"/>
              <a:pPr/>
              <a:t>34</a:t>
            </a:fld>
            <a:endParaRPr lang="zh-TW" altLang="en-US" dirty="0"/>
          </a:p>
        </p:txBody>
      </p:sp>
      <p:grpSp>
        <p:nvGrpSpPr>
          <p:cNvPr id="44" name="群組 43">
            <a:extLst>
              <a:ext uri="{FF2B5EF4-FFF2-40B4-BE49-F238E27FC236}">
                <a16:creationId xmlns:a16="http://schemas.microsoft.com/office/drawing/2014/main" id="{51D17A1C-E920-B81A-FB23-A8F9FB0CBDAA}"/>
              </a:ext>
            </a:extLst>
          </p:cNvPr>
          <p:cNvGrpSpPr/>
          <p:nvPr/>
        </p:nvGrpSpPr>
        <p:grpSpPr>
          <a:xfrm>
            <a:off x="3795182" y="5297585"/>
            <a:ext cx="1901318" cy="849588"/>
            <a:chOff x="3795182" y="5297585"/>
            <a:chExt cx="1901318" cy="849588"/>
          </a:xfrm>
        </p:grpSpPr>
        <p:sp>
          <p:nvSpPr>
            <p:cNvPr id="11" name="Rectangle 21">
              <a:extLst>
                <a:ext uri="{FF2B5EF4-FFF2-40B4-BE49-F238E27FC236}">
                  <a16:creationId xmlns:a16="http://schemas.microsoft.com/office/drawing/2014/main" id="{2F292B23-A614-FC8A-6AAC-6B3DC4A75112}"/>
                </a:ext>
              </a:extLst>
            </p:cNvPr>
            <p:cNvSpPr/>
            <p:nvPr/>
          </p:nvSpPr>
          <p:spPr>
            <a:xfrm>
              <a:off x="4154767" y="5912914"/>
              <a:ext cx="1154384" cy="23425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TW" sz="1100" b="1" dirty="0">
                  <a:solidFill>
                    <a:schemeClr val="tx1"/>
                  </a:solidFill>
                  <a:latin typeface="Arial" charset="0"/>
                  <a:ea typeface="Arial" charset="0"/>
                  <a:cs typeface="Arial" charset="0"/>
                </a:rPr>
                <a:t>Next Proc</a:t>
              </a:r>
              <a:endParaRPr lang="en-US" sz="1100" b="1" dirty="0">
                <a:solidFill>
                  <a:schemeClr val="tx1"/>
                </a:solidFill>
                <a:latin typeface="Arial" charset="0"/>
                <a:ea typeface="Arial" charset="0"/>
                <a:cs typeface="Arial" charset="0"/>
              </a:endParaRPr>
            </a:p>
          </p:txBody>
        </p:sp>
        <p:sp>
          <p:nvSpPr>
            <p:cNvPr id="12" name="Arc 22">
              <a:extLst>
                <a:ext uri="{FF2B5EF4-FFF2-40B4-BE49-F238E27FC236}">
                  <a16:creationId xmlns:a16="http://schemas.microsoft.com/office/drawing/2014/main" id="{995BEA44-453D-0C8D-5D09-72072AD4ADEA}"/>
                </a:ext>
              </a:extLst>
            </p:cNvPr>
            <p:cNvSpPr/>
            <p:nvPr/>
          </p:nvSpPr>
          <p:spPr>
            <a:xfrm>
              <a:off x="5009942" y="5297585"/>
              <a:ext cx="686558" cy="729857"/>
            </a:xfrm>
            <a:prstGeom prst="arc">
              <a:avLst>
                <a:gd name="adj1" fmla="val 15779224"/>
                <a:gd name="adj2" fmla="val 5717073"/>
              </a:avLst>
            </a:prstGeom>
            <a:ln w="19050">
              <a:solidFill>
                <a:schemeClr val="tx1"/>
              </a:solidFill>
              <a:prstDash val="sysDash"/>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27">
              <a:extLst>
                <a:ext uri="{FF2B5EF4-FFF2-40B4-BE49-F238E27FC236}">
                  <a16:creationId xmlns:a16="http://schemas.microsoft.com/office/drawing/2014/main" id="{A226AFBB-1A6A-8960-314C-124A2DA54128}"/>
                </a:ext>
              </a:extLst>
            </p:cNvPr>
            <p:cNvSpPr txBox="1"/>
            <p:nvPr/>
          </p:nvSpPr>
          <p:spPr>
            <a:xfrm>
              <a:off x="3795182" y="5930658"/>
              <a:ext cx="331822" cy="184666"/>
            </a:xfrm>
            <a:prstGeom prst="rect">
              <a:avLst/>
            </a:prstGeom>
            <a:solidFill>
              <a:schemeClr val="bg1">
                <a:lumMod val="85000"/>
              </a:schemeClr>
            </a:solidFill>
            <a:ln>
              <a:noFill/>
            </a:ln>
          </p:spPr>
          <p:txBody>
            <a:bodyPr wrap="none" lIns="0" tIns="0" rIns="0" bIns="0" rtlCol="0">
              <a:spAutoFit/>
            </a:bodyPr>
            <a:lstStyle/>
            <a:p>
              <a:r>
                <a:rPr lang="en-US" altLang="zh-TW" sz="1200" dirty="0">
                  <a:solidFill>
                    <a:srgbClr val="C00000"/>
                  </a:solidFill>
                  <a:latin typeface="Arial" charset="0"/>
                  <a:ea typeface="Arial" charset="0"/>
                  <a:cs typeface="Arial" charset="0"/>
                </a:rPr>
                <a:t>0x84</a:t>
              </a:r>
              <a:endParaRPr lang="en-US" sz="1200" dirty="0">
                <a:solidFill>
                  <a:srgbClr val="C00000"/>
                </a:solidFill>
                <a:latin typeface="Arial" charset="0"/>
                <a:ea typeface="Arial" charset="0"/>
                <a:cs typeface="Arial" charset="0"/>
              </a:endParaRPr>
            </a:p>
          </p:txBody>
        </p:sp>
      </p:grpSp>
      <p:grpSp>
        <p:nvGrpSpPr>
          <p:cNvPr id="38" name="群組 37">
            <a:extLst>
              <a:ext uri="{FF2B5EF4-FFF2-40B4-BE49-F238E27FC236}">
                <a16:creationId xmlns:a16="http://schemas.microsoft.com/office/drawing/2014/main" id="{DD7CC0FB-5A89-60C6-818C-DFF8E63A0480}"/>
              </a:ext>
            </a:extLst>
          </p:cNvPr>
          <p:cNvGrpSpPr/>
          <p:nvPr/>
        </p:nvGrpSpPr>
        <p:grpSpPr>
          <a:xfrm>
            <a:off x="1226852" y="4783560"/>
            <a:ext cx="4085003" cy="738664"/>
            <a:chOff x="1226852" y="4783560"/>
            <a:chExt cx="4085003" cy="738664"/>
          </a:xfrm>
        </p:grpSpPr>
        <p:sp>
          <p:nvSpPr>
            <p:cNvPr id="6" name="Rectangle 7">
              <a:extLst>
                <a:ext uri="{FF2B5EF4-FFF2-40B4-BE49-F238E27FC236}">
                  <a16:creationId xmlns:a16="http://schemas.microsoft.com/office/drawing/2014/main" id="{FC73C4FD-68E3-927E-2900-DECB8F417D87}"/>
                </a:ext>
              </a:extLst>
            </p:cNvPr>
            <p:cNvSpPr/>
            <p:nvPr/>
          </p:nvSpPr>
          <p:spPr>
            <a:xfrm>
              <a:off x="4157471" y="4930102"/>
              <a:ext cx="1154384" cy="23425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TW" sz="1100" b="1" dirty="0">
                  <a:solidFill>
                    <a:schemeClr val="tx1"/>
                  </a:solidFill>
                  <a:latin typeface="Arial" charset="0"/>
                  <a:ea typeface="Arial" charset="0"/>
                  <a:cs typeface="Arial" charset="0"/>
                </a:rPr>
                <a:t>ST,</a:t>
              </a:r>
              <a:r>
                <a:rPr lang="zh-TW" altLang="en-US" sz="1100" b="1" dirty="0">
                  <a:solidFill>
                    <a:schemeClr val="tx1"/>
                  </a:solidFill>
                  <a:latin typeface="Arial" charset="0"/>
                  <a:ea typeface="Arial" charset="0"/>
                  <a:cs typeface="Arial" charset="0"/>
                </a:rPr>
                <a:t> </a:t>
              </a:r>
              <a:r>
                <a:rPr lang="en-US" altLang="zh-TW" sz="1100" b="1" dirty="0">
                  <a:solidFill>
                    <a:schemeClr val="tx1"/>
                  </a:solidFill>
                  <a:latin typeface="Arial" charset="0"/>
                  <a:ea typeface="Arial" charset="0"/>
                  <a:cs typeface="Arial" charset="0"/>
                </a:rPr>
                <a:t>CP15,</a:t>
              </a:r>
              <a:r>
                <a:rPr lang="zh-TW" altLang="en-US" sz="1100" b="1" dirty="0">
                  <a:solidFill>
                    <a:schemeClr val="tx1"/>
                  </a:solidFill>
                  <a:latin typeface="Arial" charset="0"/>
                  <a:ea typeface="Arial" charset="0"/>
                  <a:cs typeface="Arial" charset="0"/>
                </a:rPr>
                <a:t> </a:t>
              </a:r>
              <a:r>
                <a:rPr lang="en-US" altLang="zh-TW" sz="1100" b="1" dirty="0">
                  <a:solidFill>
                    <a:schemeClr val="tx1"/>
                  </a:solidFill>
                  <a:latin typeface="Arial" charset="0"/>
                  <a:ea typeface="Arial" charset="0"/>
                  <a:cs typeface="Arial" charset="0"/>
                </a:rPr>
                <a:t>1</a:t>
              </a:r>
              <a:endParaRPr lang="en-US" sz="1100" b="1" dirty="0">
                <a:solidFill>
                  <a:schemeClr val="tx1"/>
                </a:solidFill>
                <a:latin typeface="Arial" charset="0"/>
                <a:ea typeface="Arial" charset="0"/>
                <a:cs typeface="Arial" charset="0"/>
              </a:endParaRPr>
            </a:p>
          </p:txBody>
        </p:sp>
        <p:sp>
          <p:nvSpPr>
            <p:cNvPr id="7" name="TextBox 9">
              <a:extLst>
                <a:ext uri="{FF2B5EF4-FFF2-40B4-BE49-F238E27FC236}">
                  <a16:creationId xmlns:a16="http://schemas.microsoft.com/office/drawing/2014/main" id="{B9E6410B-F297-F2B1-64D7-417E0A1DF78C}"/>
                </a:ext>
              </a:extLst>
            </p:cNvPr>
            <p:cNvSpPr txBox="1"/>
            <p:nvPr/>
          </p:nvSpPr>
          <p:spPr>
            <a:xfrm>
              <a:off x="3797886" y="4962592"/>
              <a:ext cx="331822" cy="184666"/>
            </a:xfrm>
            <a:prstGeom prst="rect">
              <a:avLst/>
            </a:prstGeom>
            <a:solidFill>
              <a:schemeClr val="bg1">
                <a:lumMod val="85000"/>
              </a:schemeClr>
            </a:solidFill>
            <a:ln>
              <a:noFill/>
            </a:ln>
          </p:spPr>
          <p:txBody>
            <a:bodyPr wrap="none" lIns="0" tIns="0" rIns="0" bIns="0" rtlCol="0">
              <a:spAutoFit/>
            </a:bodyPr>
            <a:lstStyle/>
            <a:p>
              <a:r>
                <a:rPr lang="en-US" altLang="zh-TW" sz="1200" dirty="0">
                  <a:solidFill>
                    <a:srgbClr val="C00000"/>
                  </a:solidFill>
                  <a:latin typeface="Arial" charset="0"/>
                  <a:ea typeface="Arial" charset="0"/>
                  <a:cs typeface="Arial" charset="0"/>
                </a:rPr>
                <a:t>0x40</a:t>
              </a:r>
              <a:endParaRPr lang="en-US" sz="1200" dirty="0">
                <a:solidFill>
                  <a:srgbClr val="C00000"/>
                </a:solidFill>
                <a:latin typeface="Arial" charset="0"/>
                <a:ea typeface="Arial" charset="0"/>
                <a:cs typeface="Arial" charset="0"/>
              </a:endParaRPr>
            </a:p>
          </p:txBody>
        </p:sp>
        <p:sp>
          <p:nvSpPr>
            <p:cNvPr id="14" name="文字方塊 13">
              <a:extLst>
                <a:ext uri="{FF2B5EF4-FFF2-40B4-BE49-F238E27FC236}">
                  <a16:creationId xmlns:a16="http://schemas.microsoft.com/office/drawing/2014/main" id="{0AF9FB25-E793-0BD8-1033-EE66BB300542}"/>
                </a:ext>
              </a:extLst>
            </p:cNvPr>
            <p:cNvSpPr txBox="1"/>
            <p:nvPr/>
          </p:nvSpPr>
          <p:spPr>
            <a:xfrm>
              <a:off x="1226852" y="4783560"/>
              <a:ext cx="2511874" cy="738664"/>
            </a:xfrm>
            <a:prstGeom prst="rect">
              <a:avLst/>
            </a:prstGeom>
            <a:noFill/>
          </p:spPr>
          <p:txBody>
            <a:bodyPr wrap="square" rtlCol="0">
              <a:spAutoFit/>
            </a:bodyPr>
            <a:lstStyle/>
            <a:p>
              <a:r>
                <a:rPr kumimoji="1" lang="en-US" altLang="zh-TW" sz="1400" u="sng" dirty="0">
                  <a:solidFill>
                    <a:srgbClr val="0070C0"/>
                  </a:solidFill>
                </a:rPr>
                <a:t>MMU Enabled Command</a:t>
              </a:r>
            </a:p>
            <a:p>
              <a:r>
                <a:rPr kumimoji="1" lang="en-US" altLang="zh-TW" sz="1400" dirty="0">
                  <a:solidFill>
                    <a:srgbClr val="0070C0"/>
                  </a:solidFill>
                </a:rPr>
                <a:t>CP15 </a:t>
              </a:r>
              <a:r>
                <a:rPr kumimoji="1" lang="en-US" altLang="zh-TW" sz="1400" dirty="0">
                  <a:solidFill>
                    <a:srgbClr val="0070C0"/>
                  </a:solidFill>
                  <a:sym typeface="Wingdings" pitchFamily="2" charset="2"/>
                </a:rPr>
                <a:t> The 15</a:t>
              </a:r>
              <a:r>
                <a:rPr kumimoji="1" lang="en-US" altLang="zh-TW" sz="1400" baseline="30000" dirty="0">
                  <a:solidFill>
                    <a:srgbClr val="0070C0"/>
                  </a:solidFill>
                  <a:sym typeface="Wingdings" pitchFamily="2" charset="2"/>
                </a:rPr>
                <a:t>th</a:t>
              </a:r>
              <a:r>
                <a:rPr kumimoji="1" lang="en-US" altLang="zh-TW" sz="1400" dirty="0">
                  <a:solidFill>
                    <a:srgbClr val="0070C0"/>
                  </a:solidFill>
                  <a:sym typeface="Wingdings" pitchFamily="2" charset="2"/>
                </a:rPr>
                <a:t> coprocessor is reserved for managing MMU.</a:t>
              </a:r>
              <a:endParaRPr kumimoji="1" lang="zh-TW" altLang="en-US" sz="1400" dirty="0">
                <a:solidFill>
                  <a:srgbClr val="0070C0"/>
                </a:solidFill>
              </a:endParaRPr>
            </a:p>
          </p:txBody>
        </p:sp>
      </p:grpSp>
      <p:grpSp>
        <p:nvGrpSpPr>
          <p:cNvPr id="37" name="群組 36">
            <a:extLst>
              <a:ext uri="{FF2B5EF4-FFF2-40B4-BE49-F238E27FC236}">
                <a16:creationId xmlns:a16="http://schemas.microsoft.com/office/drawing/2014/main" id="{B4985F0A-AFB6-80E2-3AF6-71F590B65159}"/>
              </a:ext>
            </a:extLst>
          </p:cNvPr>
          <p:cNvGrpSpPr/>
          <p:nvPr/>
        </p:nvGrpSpPr>
        <p:grpSpPr>
          <a:xfrm>
            <a:off x="3803044" y="4536969"/>
            <a:ext cx="2299279" cy="2051205"/>
            <a:chOff x="3803044" y="4536969"/>
            <a:chExt cx="2299279" cy="2051205"/>
          </a:xfrm>
        </p:grpSpPr>
        <p:sp>
          <p:nvSpPr>
            <p:cNvPr id="5" name="Rectangle 5">
              <a:extLst>
                <a:ext uri="{FF2B5EF4-FFF2-40B4-BE49-F238E27FC236}">
                  <a16:creationId xmlns:a16="http://schemas.microsoft.com/office/drawing/2014/main" id="{F8085F28-C74B-E11E-FDAA-489A2EC8AD71}"/>
                </a:ext>
              </a:extLst>
            </p:cNvPr>
            <p:cNvSpPr/>
            <p:nvPr/>
          </p:nvSpPr>
          <p:spPr>
            <a:xfrm>
              <a:off x="4157471" y="4536969"/>
              <a:ext cx="1154384" cy="173520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dirty="0">
                <a:solidFill>
                  <a:schemeClr val="tx1"/>
                </a:solidFill>
                <a:latin typeface="Arial" charset="0"/>
                <a:ea typeface="Arial" charset="0"/>
                <a:cs typeface="Arial" charset="0"/>
              </a:endParaRPr>
            </a:p>
          </p:txBody>
        </p:sp>
        <p:sp>
          <p:nvSpPr>
            <p:cNvPr id="15" name="文字方塊 14">
              <a:extLst>
                <a:ext uri="{FF2B5EF4-FFF2-40B4-BE49-F238E27FC236}">
                  <a16:creationId xmlns:a16="http://schemas.microsoft.com/office/drawing/2014/main" id="{88E96E72-A27B-067C-DAB3-722C9D771144}"/>
                </a:ext>
              </a:extLst>
            </p:cNvPr>
            <p:cNvSpPr txBox="1"/>
            <p:nvPr/>
          </p:nvSpPr>
          <p:spPr>
            <a:xfrm>
              <a:off x="3803044" y="6280397"/>
              <a:ext cx="2299279" cy="307777"/>
            </a:xfrm>
            <a:prstGeom prst="rect">
              <a:avLst/>
            </a:prstGeom>
            <a:noFill/>
          </p:spPr>
          <p:txBody>
            <a:bodyPr wrap="square" rtlCol="0">
              <a:spAutoFit/>
            </a:bodyPr>
            <a:lstStyle/>
            <a:p>
              <a:r>
                <a:rPr kumimoji="1" lang="en-US" altLang="zh-TW" sz="1400" dirty="0"/>
                <a:t>Physical Address Space</a:t>
              </a:r>
              <a:endParaRPr kumimoji="1" lang="zh-TW" altLang="en-US" sz="1400" dirty="0"/>
            </a:p>
          </p:txBody>
        </p:sp>
      </p:grpSp>
      <p:grpSp>
        <p:nvGrpSpPr>
          <p:cNvPr id="42" name="群組 41">
            <a:extLst>
              <a:ext uri="{FF2B5EF4-FFF2-40B4-BE49-F238E27FC236}">
                <a16:creationId xmlns:a16="http://schemas.microsoft.com/office/drawing/2014/main" id="{3BC68692-19BF-3BA6-6B44-E39C046EE969}"/>
              </a:ext>
            </a:extLst>
          </p:cNvPr>
          <p:cNvGrpSpPr/>
          <p:nvPr/>
        </p:nvGrpSpPr>
        <p:grpSpPr>
          <a:xfrm>
            <a:off x="7699870" y="4333734"/>
            <a:ext cx="306174" cy="1481380"/>
            <a:chOff x="7699870" y="4333734"/>
            <a:chExt cx="306174" cy="1481380"/>
          </a:xfrm>
        </p:grpSpPr>
        <p:sp>
          <p:nvSpPr>
            <p:cNvPr id="22" name="TextBox 23">
              <a:extLst>
                <a:ext uri="{FF2B5EF4-FFF2-40B4-BE49-F238E27FC236}">
                  <a16:creationId xmlns:a16="http://schemas.microsoft.com/office/drawing/2014/main" id="{8AF2618B-5783-B2C6-BF0D-FB9DBA03459D}"/>
                </a:ext>
              </a:extLst>
            </p:cNvPr>
            <p:cNvSpPr txBox="1"/>
            <p:nvPr/>
          </p:nvSpPr>
          <p:spPr>
            <a:xfrm>
              <a:off x="7699870" y="4756138"/>
              <a:ext cx="306174" cy="169277"/>
            </a:xfrm>
            <a:prstGeom prst="rect">
              <a:avLst/>
            </a:prstGeom>
            <a:solidFill>
              <a:schemeClr val="bg1">
                <a:lumMod val="85000"/>
              </a:schemeClr>
            </a:solidFill>
            <a:ln>
              <a:noFill/>
            </a:ln>
          </p:spPr>
          <p:txBody>
            <a:bodyPr wrap="none" lIns="0" tIns="0" rIns="0" bIns="0" rtlCol="0">
              <a:spAutoFit/>
            </a:bodyPr>
            <a:lstStyle/>
            <a:p>
              <a:r>
                <a:rPr lang="en-US" altLang="zh-TW" sz="1100" dirty="0">
                  <a:solidFill>
                    <a:srgbClr val="C00000"/>
                  </a:solidFill>
                  <a:latin typeface="Arial" charset="0"/>
                  <a:ea typeface="Arial" charset="0"/>
                  <a:cs typeface="Arial" charset="0"/>
                </a:rPr>
                <a:t>0x44</a:t>
              </a:r>
              <a:endParaRPr lang="en-US" sz="1100" dirty="0">
                <a:solidFill>
                  <a:srgbClr val="C00000"/>
                </a:solidFill>
                <a:latin typeface="Arial" charset="0"/>
                <a:ea typeface="Arial" charset="0"/>
                <a:cs typeface="Arial" charset="0"/>
              </a:endParaRPr>
            </a:p>
          </p:txBody>
        </p:sp>
        <p:cxnSp>
          <p:nvCxnSpPr>
            <p:cNvPr id="23" name="Straight Arrow Connector 24">
              <a:extLst>
                <a:ext uri="{FF2B5EF4-FFF2-40B4-BE49-F238E27FC236}">
                  <a16:creationId xmlns:a16="http://schemas.microsoft.com/office/drawing/2014/main" id="{FB826356-8EE3-9456-4D50-83213EBF884B}"/>
                </a:ext>
              </a:extLst>
            </p:cNvPr>
            <p:cNvCxnSpPr/>
            <p:nvPr/>
          </p:nvCxnSpPr>
          <p:spPr>
            <a:xfrm>
              <a:off x="7851493" y="4333734"/>
              <a:ext cx="0" cy="3960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5">
              <a:extLst>
                <a:ext uri="{FF2B5EF4-FFF2-40B4-BE49-F238E27FC236}">
                  <a16:creationId xmlns:a16="http://schemas.microsoft.com/office/drawing/2014/main" id="{16240DF8-E8EA-ECBE-2395-E45796FFBDDF}"/>
                </a:ext>
              </a:extLst>
            </p:cNvPr>
            <p:cNvCxnSpPr/>
            <p:nvPr/>
          </p:nvCxnSpPr>
          <p:spPr>
            <a:xfrm>
              <a:off x="7851493" y="4987114"/>
              <a:ext cx="0" cy="8280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3" name="群組 42">
            <a:extLst>
              <a:ext uri="{FF2B5EF4-FFF2-40B4-BE49-F238E27FC236}">
                <a16:creationId xmlns:a16="http://schemas.microsoft.com/office/drawing/2014/main" id="{292C5114-99B0-6920-3661-7AA364FBD6A0}"/>
              </a:ext>
            </a:extLst>
          </p:cNvPr>
          <p:cNvGrpSpPr/>
          <p:nvPr/>
        </p:nvGrpSpPr>
        <p:grpSpPr>
          <a:xfrm>
            <a:off x="8167760" y="4333734"/>
            <a:ext cx="384721" cy="1461570"/>
            <a:chOff x="8167760" y="4333734"/>
            <a:chExt cx="384721" cy="1461570"/>
          </a:xfrm>
        </p:grpSpPr>
        <p:cxnSp>
          <p:nvCxnSpPr>
            <p:cNvPr id="21" name="Straight Arrow Connector 18">
              <a:extLst>
                <a:ext uri="{FF2B5EF4-FFF2-40B4-BE49-F238E27FC236}">
                  <a16:creationId xmlns:a16="http://schemas.microsoft.com/office/drawing/2014/main" id="{870D1373-3116-D605-02E8-F75E363F2A34}"/>
                </a:ext>
              </a:extLst>
            </p:cNvPr>
            <p:cNvCxnSpPr/>
            <p:nvPr/>
          </p:nvCxnSpPr>
          <p:spPr>
            <a:xfrm>
              <a:off x="8355350" y="4333734"/>
              <a:ext cx="0" cy="3960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8">
              <a:extLst>
                <a:ext uri="{FF2B5EF4-FFF2-40B4-BE49-F238E27FC236}">
                  <a16:creationId xmlns:a16="http://schemas.microsoft.com/office/drawing/2014/main" id="{BAB13F58-FEE4-954F-E088-2A2051996F3D}"/>
                </a:ext>
              </a:extLst>
            </p:cNvPr>
            <p:cNvSpPr txBox="1"/>
            <p:nvPr/>
          </p:nvSpPr>
          <p:spPr>
            <a:xfrm>
              <a:off x="8167760" y="4756138"/>
              <a:ext cx="384721" cy="169277"/>
            </a:xfrm>
            <a:prstGeom prst="rect">
              <a:avLst/>
            </a:prstGeom>
            <a:solidFill>
              <a:schemeClr val="bg2">
                <a:lumMod val="75000"/>
              </a:schemeClr>
            </a:solidFill>
            <a:ln>
              <a:noFill/>
            </a:ln>
          </p:spPr>
          <p:txBody>
            <a:bodyPr wrap="none" lIns="0" tIns="0" rIns="0" bIns="0" rtlCol="0">
              <a:spAutoFit/>
            </a:bodyPr>
            <a:lstStyle/>
            <a:p>
              <a:r>
                <a:rPr lang="en-US" altLang="zh-TW" sz="1100" dirty="0">
                  <a:solidFill>
                    <a:srgbClr val="C00000"/>
                  </a:solidFill>
                  <a:latin typeface="Arial" charset="0"/>
                  <a:ea typeface="Arial" charset="0"/>
                  <a:cs typeface="Arial" charset="0"/>
                </a:rPr>
                <a:t>0x100</a:t>
              </a:r>
              <a:endParaRPr lang="en-US" sz="1100" dirty="0">
                <a:solidFill>
                  <a:srgbClr val="C00000"/>
                </a:solidFill>
                <a:latin typeface="Arial" charset="0"/>
                <a:ea typeface="Arial" charset="0"/>
                <a:cs typeface="Arial" charset="0"/>
              </a:endParaRPr>
            </a:p>
          </p:txBody>
        </p:sp>
        <p:cxnSp>
          <p:nvCxnSpPr>
            <p:cNvPr id="27" name="Straight Arrow Connector 30">
              <a:extLst>
                <a:ext uri="{FF2B5EF4-FFF2-40B4-BE49-F238E27FC236}">
                  <a16:creationId xmlns:a16="http://schemas.microsoft.com/office/drawing/2014/main" id="{9E6DF56A-46AB-3A99-3D10-CF455AC8A4FB}"/>
                </a:ext>
              </a:extLst>
            </p:cNvPr>
            <p:cNvCxnSpPr/>
            <p:nvPr/>
          </p:nvCxnSpPr>
          <p:spPr>
            <a:xfrm>
              <a:off x="8355350" y="4965683"/>
              <a:ext cx="0" cy="3960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32">
              <a:extLst>
                <a:ext uri="{FF2B5EF4-FFF2-40B4-BE49-F238E27FC236}">
                  <a16:creationId xmlns:a16="http://schemas.microsoft.com/office/drawing/2014/main" id="{A407DAE5-7CEF-671B-595E-61DAA51D769E}"/>
                </a:ext>
              </a:extLst>
            </p:cNvPr>
            <p:cNvSpPr txBox="1"/>
            <p:nvPr/>
          </p:nvSpPr>
          <p:spPr>
            <a:xfrm>
              <a:off x="8203727" y="5351018"/>
              <a:ext cx="306174" cy="169277"/>
            </a:xfrm>
            <a:prstGeom prst="rect">
              <a:avLst/>
            </a:prstGeom>
            <a:solidFill>
              <a:schemeClr val="bg1">
                <a:lumMod val="85000"/>
              </a:schemeClr>
            </a:solidFill>
            <a:ln>
              <a:noFill/>
            </a:ln>
          </p:spPr>
          <p:txBody>
            <a:bodyPr wrap="none" lIns="0" tIns="0" rIns="0" bIns="0" rtlCol="0">
              <a:spAutoFit/>
            </a:bodyPr>
            <a:lstStyle/>
            <a:p>
              <a:r>
                <a:rPr lang="en-US" altLang="zh-TW" sz="1100" dirty="0">
                  <a:solidFill>
                    <a:srgbClr val="C00000"/>
                  </a:solidFill>
                  <a:latin typeface="Arial" charset="0"/>
                  <a:ea typeface="Arial" charset="0"/>
                  <a:cs typeface="Arial" charset="0"/>
                </a:rPr>
                <a:t>0x84</a:t>
              </a:r>
              <a:endParaRPr lang="en-US" sz="1100" dirty="0">
                <a:solidFill>
                  <a:srgbClr val="C00000"/>
                </a:solidFill>
                <a:latin typeface="Arial" charset="0"/>
                <a:ea typeface="Arial" charset="0"/>
                <a:cs typeface="Arial" charset="0"/>
              </a:endParaRPr>
            </a:p>
          </p:txBody>
        </p:sp>
        <p:cxnSp>
          <p:nvCxnSpPr>
            <p:cNvPr id="29" name="Straight Arrow Connector 33">
              <a:extLst>
                <a:ext uri="{FF2B5EF4-FFF2-40B4-BE49-F238E27FC236}">
                  <a16:creationId xmlns:a16="http://schemas.microsoft.com/office/drawing/2014/main" id="{2500561E-98C8-33BD-D260-2ABB53D54687}"/>
                </a:ext>
              </a:extLst>
            </p:cNvPr>
            <p:cNvCxnSpPr/>
            <p:nvPr/>
          </p:nvCxnSpPr>
          <p:spPr>
            <a:xfrm>
              <a:off x="8355350" y="5543304"/>
              <a:ext cx="0" cy="2520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 name="群組 38">
            <a:extLst>
              <a:ext uri="{FF2B5EF4-FFF2-40B4-BE49-F238E27FC236}">
                <a16:creationId xmlns:a16="http://schemas.microsoft.com/office/drawing/2014/main" id="{94C5D2F1-321F-D621-2DC3-39C29FD9420A}"/>
              </a:ext>
            </a:extLst>
          </p:cNvPr>
          <p:cNvGrpSpPr/>
          <p:nvPr/>
        </p:nvGrpSpPr>
        <p:grpSpPr>
          <a:xfrm>
            <a:off x="7173455" y="4531734"/>
            <a:ext cx="2977317" cy="2046860"/>
            <a:chOff x="7173455" y="4531734"/>
            <a:chExt cx="2977317" cy="2046860"/>
          </a:xfrm>
        </p:grpSpPr>
        <p:sp>
          <p:nvSpPr>
            <p:cNvPr id="16" name="Rectangle 4">
              <a:extLst>
                <a:ext uri="{FF2B5EF4-FFF2-40B4-BE49-F238E27FC236}">
                  <a16:creationId xmlns:a16="http://schemas.microsoft.com/office/drawing/2014/main" id="{8014837D-F03D-F5F6-13A4-12521BDD68C8}"/>
                </a:ext>
              </a:extLst>
            </p:cNvPr>
            <p:cNvSpPr/>
            <p:nvPr/>
          </p:nvSpPr>
          <p:spPr>
            <a:xfrm>
              <a:off x="7173455" y="4531734"/>
              <a:ext cx="2699816" cy="173520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altLang="zh-TW" dirty="0">
                  <a:solidFill>
                    <a:schemeClr val="tx1"/>
                  </a:solidFill>
                  <a:latin typeface="Arial" charset="0"/>
                  <a:ea typeface="Arial" charset="0"/>
                  <a:cs typeface="Arial" charset="0"/>
                </a:rPr>
                <a:t>CPU</a:t>
              </a:r>
              <a:endParaRPr lang="en-US" dirty="0">
                <a:solidFill>
                  <a:schemeClr val="tx1"/>
                </a:solidFill>
                <a:latin typeface="Arial" charset="0"/>
                <a:ea typeface="Arial" charset="0"/>
                <a:cs typeface="Arial" charset="0"/>
              </a:endParaRPr>
            </a:p>
          </p:txBody>
        </p:sp>
        <p:sp>
          <p:nvSpPr>
            <p:cNvPr id="17" name="Rectangle 6">
              <a:extLst>
                <a:ext uri="{FF2B5EF4-FFF2-40B4-BE49-F238E27FC236}">
                  <a16:creationId xmlns:a16="http://schemas.microsoft.com/office/drawing/2014/main" id="{6295E6D2-AE44-5F22-28D4-51B9312BF08E}"/>
                </a:ext>
              </a:extLst>
            </p:cNvPr>
            <p:cNvSpPr/>
            <p:nvPr/>
          </p:nvSpPr>
          <p:spPr>
            <a:xfrm>
              <a:off x="8126349" y="5036769"/>
              <a:ext cx="1645364" cy="6401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TW" dirty="0">
                  <a:solidFill>
                    <a:schemeClr val="tx1"/>
                  </a:solidFill>
                  <a:latin typeface="Arial" charset="0"/>
                  <a:ea typeface="Arial" charset="0"/>
                  <a:cs typeface="Arial" charset="0"/>
                </a:rPr>
                <a:t>MMU</a:t>
              </a:r>
              <a:endParaRPr lang="en-US" dirty="0">
                <a:solidFill>
                  <a:schemeClr val="tx1"/>
                </a:solidFill>
                <a:latin typeface="Arial" charset="0"/>
                <a:ea typeface="Arial" charset="0"/>
                <a:cs typeface="Arial" charset="0"/>
              </a:endParaRPr>
            </a:p>
          </p:txBody>
        </p:sp>
        <p:sp>
          <p:nvSpPr>
            <p:cNvPr id="26" name="Rectangle 29">
              <a:extLst>
                <a:ext uri="{FF2B5EF4-FFF2-40B4-BE49-F238E27FC236}">
                  <a16:creationId xmlns:a16="http://schemas.microsoft.com/office/drawing/2014/main" id="{2D6F5332-9277-F435-FC75-73B8612024C3}"/>
                </a:ext>
              </a:extLst>
            </p:cNvPr>
            <p:cNvSpPr/>
            <p:nvPr/>
          </p:nvSpPr>
          <p:spPr>
            <a:xfrm>
              <a:off x="7234556" y="5834699"/>
              <a:ext cx="2543821" cy="3306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TW">
                  <a:solidFill>
                    <a:schemeClr val="tx1"/>
                  </a:solidFill>
                  <a:latin typeface="Arial" charset="0"/>
                  <a:ea typeface="Arial" charset="0"/>
                  <a:cs typeface="Arial" charset="0"/>
                </a:rPr>
                <a:t>Cache</a:t>
              </a:r>
              <a:endParaRPr lang="en-US" dirty="0">
                <a:solidFill>
                  <a:schemeClr val="tx1"/>
                </a:solidFill>
                <a:latin typeface="Arial" charset="0"/>
                <a:ea typeface="Arial" charset="0"/>
                <a:cs typeface="Arial" charset="0"/>
              </a:endParaRPr>
            </a:p>
          </p:txBody>
        </p:sp>
        <p:sp>
          <p:nvSpPr>
            <p:cNvPr id="31" name="文字方塊 30">
              <a:extLst>
                <a:ext uri="{FF2B5EF4-FFF2-40B4-BE49-F238E27FC236}">
                  <a16:creationId xmlns:a16="http://schemas.microsoft.com/office/drawing/2014/main" id="{2EF5329D-AA4D-EE2A-9CB1-38E12E61F20D}"/>
                </a:ext>
              </a:extLst>
            </p:cNvPr>
            <p:cNvSpPr txBox="1"/>
            <p:nvPr/>
          </p:nvSpPr>
          <p:spPr>
            <a:xfrm>
              <a:off x="7851493" y="6270817"/>
              <a:ext cx="2299279" cy="307777"/>
            </a:xfrm>
            <a:prstGeom prst="rect">
              <a:avLst/>
            </a:prstGeom>
            <a:noFill/>
          </p:spPr>
          <p:txBody>
            <a:bodyPr wrap="square" rtlCol="0">
              <a:spAutoFit/>
            </a:bodyPr>
            <a:lstStyle/>
            <a:p>
              <a:r>
                <a:rPr kumimoji="1" lang="en-US" altLang="zh-TW" sz="1400" dirty="0"/>
                <a:t>Abstract of CPU</a:t>
              </a:r>
              <a:endParaRPr kumimoji="1" lang="zh-TW" altLang="en-US" sz="1400" dirty="0"/>
            </a:p>
          </p:txBody>
        </p:sp>
      </p:grpSp>
      <p:grpSp>
        <p:nvGrpSpPr>
          <p:cNvPr id="40" name="群組 39">
            <a:extLst>
              <a:ext uri="{FF2B5EF4-FFF2-40B4-BE49-F238E27FC236}">
                <a16:creationId xmlns:a16="http://schemas.microsoft.com/office/drawing/2014/main" id="{581D0C00-E78D-DDA4-28BB-DABB14FAE106}"/>
              </a:ext>
            </a:extLst>
          </p:cNvPr>
          <p:cNvGrpSpPr/>
          <p:nvPr/>
        </p:nvGrpSpPr>
        <p:grpSpPr>
          <a:xfrm>
            <a:off x="5963552" y="4333734"/>
            <a:ext cx="1591467" cy="1481380"/>
            <a:chOff x="5963552" y="4333734"/>
            <a:chExt cx="1591467" cy="1481380"/>
          </a:xfrm>
        </p:grpSpPr>
        <p:sp>
          <p:nvSpPr>
            <p:cNvPr id="18" name="TextBox 10">
              <a:extLst>
                <a:ext uri="{FF2B5EF4-FFF2-40B4-BE49-F238E27FC236}">
                  <a16:creationId xmlns:a16="http://schemas.microsoft.com/office/drawing/2014/main" id="{F2A81A6C-036F-6592-A49C-8974D9BF94AA}"/>
                </a:ext>
              </a:extLst>
            </p:cNvPr>
            <p:cNvSpPr txBox="1"/>
            <p:nvPr/>
          </p:nvSpPr>
          <p:spPr>
            <a:xfrm>
              <a:off x="7248845" y="4756138"/>
              <a:ext cx="306174" cy="169277"/>
            </a:xfrm>
            <a:prstGeom prst="rect">
              <a:avLst/>
            </a:prstGeom>
            <a:solidFill>
              <a:schemeClr val="bg1">
                <a:lumMod val="85000"/>
              </a:schemeClr>
            </a:solidFill>
            <a:ln>
              <a:noFill/>
            </a:ln>
          </p:spPr>
          <p:txBody>
            <a:bodyPr wrap="none" lIns="0" tIns="0" rIns="0" bIns="0" rtlCol="0">
              <a:spAutoFit/>
            </a:bodyPr>
            <a:lstStyle/>
            <a:p>
              <a:r>
                <a:rPr lang="en-US" altLang="zh-TW" sz="1100" dirty="0">
                  <a:solidFill>
                    <a:srgbClr val="C00000"/>
                  </a:solidFill>
                  <a:latin typeface="Arial" charset="0"/>
                  <a:ea typeface="Arial" charset="0"/>
                  <a:cs typeface="Arial" charset="0"/>
                </a:rPr>
                <a:t>0x40</a:t>
              </a:r>
              <a:endParaRPr lang="en-US" sz="1100" dirty="0">
                <a:solidFill>
                  <a:srgbClr val="C00000"/>
                </a:solidFill>
                <a:latin typeface="Arial" charset="0"/>
                <a:ea typeface="Arial" charset="0"/>
                <a:cs typeface="Arial" charset="0"/>
              </a:endParaRPr>
            </a:p>
          </p:txBody>
        </p:sp>
        <p:cxnSp>
          <p:nvCxnSpPr>
            <p:cNvPr id="19" name="Straight Arrow Connector 12">
              <a:extLst>
                <a:ext uri="{FF2B5EF4-FFF2-40B4-BE49-F238E27FC236}">
                  <a16:creationId xmlns:a16="http://schemas.microsoft.com/office/drawing/2014/main" id="{F23B8255-EE9A-8446-8AD6-66C1D68830AD}"/>
                </a:ext>
              </a:extLst>
            </p:cNvPr>
            <p:cNvCxnSpPr/>
            <p:nvPr/>
          </p:nvCxnSpPr>
          <p:spPr>
            <a:xfrm>
              <a:off x="7411191" y="4333734"/>
              <a:ext cx="0" cy="3960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5">
              <a:extLst>
                <a:ext uri="{FF2B5EF4-FFF2-40B4-BE49-F238E27FC236}">
                  <a16:creationId xmlns:a16="http://schemas.microsoft.com/office/drawing/2014/main" id="{6FBF7364-B361-9C17-717D-DF30A41DED2B}"/>
                </a:ext>
              </a:extLst>
            </p:cNvPr>
            <p:cNvCxnSpPr/>
            <p:nvPr/>
          </p:nvCxnSpPr>
          <p:spPr>
            <a:xfrm>
              <a:off x="7411191" y="4987114"/>
              <a:ext cx="0" cy="8280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文字方塊 29">
              <a:extLst>
                <a:ext uri="{FF2B5EF4-FFF2-40B4-BE49-F238E27FC236}">
                  <a16:creationId xmlns:a16="http://schemas.microsoft.com/office/drawing/2014/main" id="{16DE353B-1EDB-F633-AA91-AA16EF8E717A}"/>
                </a:ext>
              </a:extLst>
            </p:cNvPr>
            <p:cNvSpPr txBox="1"/>
            <p:nvPr/>
          </p:nvSpPr>
          <p:spPr>
            <a:xfrm>
              <a:off x="5963552" y="4442760"/>
              <a:ext cx="1154384" cy="307777"/>
            </a:xfrm>
            <a:prstGeom prst="rect">
              <a:avLst/>
            </a:prstGeom>
            <a:noFill/>
          </p:spPr>
          <p:txBody>
            <a:bodyPr wrap="square" rtlCol="0">
              <a:spAutoFit/>
            </a:bodyPr>
            <a:lstStyle/>
            <a:p>
              <a:r>
                <a:rPr kumimoji="1" lang="en-US" altLang="zh-TW" sz="1400" dirty="0">
                  <a:solidFill>
                    <a:srgbClr val="0070C0"/>
                  </a:solidFill>
                </a:rPr>
                <a:t>Enable MMU</a:t>
              </a:r>
              <a:endParaRPr kumimoji="1" lang="zh-TW" altLang="en-US" sz="1400" dirty="0">
                <a:solidFill>
                  <a:srgbClr val="0070C0"/>
                </a:solidFill>
              </a:endParaRPr>
            </a:p>
          </p:txBody>
        </p:sp>
        <p:cxnSp>
          <p:nvCxnSpPr>
            <p:cNvPr id="35" name="曲線接點 34">
              <a:extLst>
                <a:ext uri="{FF2B5EF4-FFF2-40B4-BE49-F238E27FC236}">
                  <a16:creationId xmlns:a16="http://schemas.microsoft.com/office/drawing/2014/main" id="{B6C2070A-B4E5-4300-EF68-C0AF20EBAC10}"/>
                </a:ext>
              </a:extLst>
            </p:cNvPr>
            <p:cNvCxnSpPr>
              <a:cxnSpLocks/>
              <a:endCxn id="18" idx="1"/>
            </p:cNvCxnSpPr>
            <p:nvPr/>
          </p:nvCxnSpPr>
          <p:spPr>
            <a:xfrm>
              <a:off x="6649840" y="4674796"/>
              <a:ext cx="599005" cy="165981"/>
            </a:xfrm>
            <a:prstGeom prst="curvedConnector3">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 name="群組 40">
            <a:extLst>
              <a:ext uri="{FF2B5EF4-FFF2-40B4-BE49-F238E27FC236}">
                <a16:creationId xmlns:a16="http://schemas.microsoft.com/office/drawing/2014/main" id="{FABBE32F-FB85-B1FA-E94E-531A9663A9DE}"/>
              </a:ext>
            </a:extLst>
          </p:cNvPr>
          <p:cNvGrpSpPr/>
          <p:nvPr/>
        </p:nvGrpSpPr>
        <p:grpSpPr>
          <a:xfrm>
            <a:off x="3803044" y="4745078"/>
            <a:ext cx="2906942" cy="654257"/>
            <a:chOff x="3803044" y="4745078"/>
            <a:chExt cx="2906942" cy="654257"/>
          </a:xfrm>
        </p:grpSpPr>
        <p:sp>
          <p:nvSpPr>
            <p:cNvPr id="9" name="Rectangle 19">
              <a:extLst>
                <a:ext uri="{FF2B5EF4-FFF2-40B4-BE49-F238E27FC236}">
                  <a16:creationId xmlns:a16="http://schemas.microsoft.com/office/drawing/2014/main" id="{693BD457-3537-D056-F901-D5F9670E378E}"/>
                </a:ext>
              </a:extLst>
            </p:cNvPr>
            <p:cNvSpPr/>
            <p:nvPr/>
          </p:nvSpPr>
          <p:spPr>
            <a:xfrm>
              <a:off x="4161540" y="5165076"/>
              <a:ext cx="1154384" cy="23425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zh-TW" sz="1100" b="1" dirty="0">
                  <a:solidFill>
                    <a:schemeClr val="tx1"/>
                  </a:solidFill>
                  <a:latin typeface="Arial" charset="0"/>
                  <a:ea typeface="Arial" charset="0"/>
                  <a:cs typeface="Arial" charset="0"/>
                </a:rPr>
                <a:t>    JMP,</a:t>
              </a:r>
              <a:r>
                <a:rPr lang="zh-TW" altLang="en-US" sz="1100" b="1" dirty="0">
                  <a:solidFill>
                    <a:schemeClr val="tx1"/>
                  </a:solidFill>
                  <a:latin typeface="Arial" charset="0"/>
                  <a:ea typeface="Arial" charset="0"/>
                  <a:cs typeface="Arial" charset="0"/>
                </a:rPr>
                <a:t> </a:t>
              </a:r>
              <a:r>
                <a:rPr lang="en-US" altLang="zh-TW" sz="1100" b="1" dirty="0">
                  <a:solidFill>
                    <a:schemeClr val="tx1"/>
                  </a:solidFill>
                  <a:latin typeface="Arial" charset="0"/>
                  <a:ea typeface="Arial" charset="0"/>
                  <a:cs typeface="Arial" charset="0"/>
                </a:rPr>
                <a:t>    </a:t>
              </a:r>
              <a:endParaRPr lang="en-US" sz="1100" b="1" dirty="0">
                <a:solidFill>
                  <a:schemeClr val="tx1"/>
                </a:solidFill>
                <a:latin typeface="Arial" charset="0"/>
                <a:ea typeface="Arial" charset="0"/>
                <a:cs typeface="Arial" charset="0"/>
              </a:endParaRPr>
            </a:p>
          </p:txBody>
        </p:sp>
        <p:sp>
          <p:nvSpPr>
            <p:cNvPr id="10" name="TextBox 20">
              <a:extLst>
                <a:ext uri="{FF2B5EF4-FFF2-40B4-BE49-F238E27FC236}">
                  <a16:creationId xmlns:a16="http://schemas.microsoft.com/office/drawing/2014/main" id="{0D149494-0C68-F6DE-134F-2CA4A644AE97}"/>
                </a:ext>
              </a:extLst>
            </p:cNvPr>
            <p:cNvSpPr txBox="1"/>
            <p:nvPr/>
          </p:nvSpPr>
          <p:spPr>
            <a:xfrm>
              <a:off x="3803044" y="5198165"/>
              <a:ext cx="331822" cy="184666"/>
            </a:xfrm>
            <a:prstGeom prst="rect">
              <a:avLst/>
            </a:prstGeom>
            <a:solidFill>
              <a:schemeClr val="bg1">
                <a:lumMod val="85000"/>
              </a:schemeClr>
            </a:solidFill>
            <a:ln>
              <a:noFill/>
            </a:ln>
          </p:spPr>
          <p:txBody>
            <a:bodyPr wrap="none" lIns="0" tIns="0" rIns="0" bIns="0" rtlCol="0">
              <a:spAutoFit/>
            </a:bodyPr>
            <a:lstStyle/>
            <a:p>
              <a:r>
                <a:rPr lang="en-US" altLang="zh-TW" sz="1200" dirty="0">
                  <a:solidFill>
                    <a:srgbClr val="C00000"/>
                  </a:solidFill>
                  <a:latin typeface="Arial" charset="0"/>
                  <a:ea typeface="Arial" charset="0"/>
                  <a:cs typeface="Arial" charset="0"/>
                </a:rPr>
                <a:t>0x44</a:t>
              </a:r>
              <a:endParaRPr lang="en-US" sz="1200" dirty="0">
                <a:solidFill>
                  <a:srgbClr val="C00000"/>
                </a:solidFill>
                <a:latin typeface="Arial" charset="0"/>
                <a:ea typeface="Arial" charset="0"/>
                <a:cs typeface="Arial" charset="0"/>
              </a:endParaRPr>
            </a:p>
          </p:txBody>
        </p:sp>
        <p:sp>
          <p:nvSpPr>
            <p:cNvPr id="33" name="TextBox 28">
              <a:extLst>
                <a:ext uri="{FF2B5EF4-FFF2-40B4-BE49-F238E27FC236}">
                  <a16:creationId xmlns:a16="http://schemas.microsoft.com/office/drawing/2014/main" id="{7869BBB1-8716-098E-1E21-2D3515DABA8B}"/>
                </a:ext>
              </a:extLst>
            </p:cNvPr>
            <p:cNvSpPr txBox="1"/>
            <p:nvPr/>
          </p:nvSpPr>
          <p:spPr>
            <a:xfrm>
              <a:off x="4790907" y="5203353"/>
              <a:ext cx="384721" cy="169277"/>
            </a:xfrm>
            <a:prstGeom prst="rect">
              <a:avLst/>
            </a:prstGeom>
            <a:solidFill>
              <a:schemeClr val="bg2">
                <a:lumMod val="75000"/>
              </a:schemeClr>
            </a:solidFill>
            <a:ln>
              <a:noFill/>
            </a:ln>
          </p:spPr>
          <p:txBody>
            <a:bodyPr wrap="none" lIns="0" tIns="0" rIns="0" bIns="0" rtlCol="0">
              <a:spAutoFit/>
            </a:bodyPr>
            <a:lstStyle/>
            <a:p>
              <a:r>
                <a:rPr lang="en-US" altLang="zh-TW" sz="1100" dirty="0">
                  <a:solidFill>
                    <a:srgbClr val="C00000"/>
                  </a:solidFill>
                  <a:latin typeface="Arial" charset="0"/>
                  <a:ea typeface="Arial" charset="0"/>
                  <a:cs typeface="Arial" charset="0"/>
                </a:rPr>
                <a:t>0x100</a:t>
              </a:r>
              <a:endParaRPr lang="en-US" sz="1100" dirty="0">
                <a:solidFill>
                  <a:srgbClr val="C00000"/>
                </a:solidFill>
                <a:latin typeface="Arial" charset="0"/>
                <a:ea typeface="Arial" charset="0"/>
                <a:cs typeface="Arial" charset="0"/>
              </a:endParaRPr>
            </a:p>
          </p:txBody>
        </p:sp>
        <p:cxnSp>
          <p:nvCxnSpPr>
            <p:cNvPr id="8" name="曲線接點 7">
              <a:extLst>
                <a:ext uri="{FF2B5EF4-FFF2-40B4-BE49-F238E27FC236}">
                  <a16:creationId xmlns:a16="http://schemas.microsoft.com/office/drawing/2014/main" id="{96139FA4-3302-FD97-4B55-1642750EB1A0}"/>
                </a:ext>
              </a:extLst>
            </p:cNvPr>
            <p:cNvCxnSpPr>
              <a:cxnSpLocks/>
            </p:cNvCxnSpPr>
            <p:nvPr/>
          </p:nvCxnSpPr>
          <p:spPr>
            <a:xfrm rot="10800000" flipV="1">
              <a:off x="5186929" y="5047231"/>
              <a:ext cx="551911" cy="209573"/>
            </a:xfrm>
            <a:prstGeom prst="curvedConnector3">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6" name="文字方塊 35">
              <a:extLst>
                <a:ext uri="{FF2B5EF4-FFF2-40B4-BE49-F238E27FC236}">
                  <a16:creationId xmlns:a16="http://schemas.microsoft.com/office/drawing/2014/main" id="{B22147B5-85E4-4646-E6E2-E20A2C279BBD}"/>
                </a:ext>
              </a:extLst>
            </p:cNvPr>
            <p:cNvSpPr txBox="1"/>
            <p:nvPr/>
          </p:nvSpPr>
          <p:spPr>
            <a:xfrm>
              <a:off x="5386359" y="4745078"/>
              <a:ext cx="1323627" cy="307777"/>
            </a:xfrm>
            <a:prstGeom prst="rect">
              <a:avLst/>
            </a:prstGeom>
            <a:noFill/>
          </p:spPr>
          <p:txBody>
            <a:bodyPr wrap="square" rtlCol="0">
              <a:spAutoFit/>
            </a:bodyPr>
            <a:lstStyle/>
            <a:p>
              <a:r>
                <a:rPr kumimoji="1" lang="en-US" altLang="zh-TW" sz="1400" dirty="0">
                  <a:solidFill>
                    <a:srgbClr val="0070C0"/>
                  </a:solidFill>
                </a:rPr>
                <a:t>Virtual Address</a:t>
              </a:r>
              <a:endParaRPr kumimoji="1" lang="zh-TW" altLang="en-US" sz="1400" dirty="0">
                <a:solidFill>
                  <a:srgbClr val="0070C0"/>
                </a:solidFill>
              </a:endParaRPr>
            </a:p>
          </p:txBody>
        </p:sp>
      </p:grpSp>
    </p:spTree>
    <p:extLst>
      <p:ext uri="{BB962C8B-B14F-4D97-AF65-F5344CB8AC3E}">
        <p14:creationId xmlns:p14="http://schemas.microsoft.com/office/powerpoint/2010/main" val="3810509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500"/>
                                        <p:tgtEl>
                                          <p:spTgt spid="37"/>
                                        </p:tgtEl>
                                      </p:cBhvr>
                                    </p:animEffect>
                                  </p:childTnLst>
                                </p:cTn>
                              </p:par>
                              <p:par>
                                <p:cTn id="13" presetID="10" presetClass="entr" presetSubtype="0"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fade">
                                      <p:cBhvr>
                                        <p:cTn id="15" dur="500"/>
                                        <p:tgtEl>
                                          <p:spTgt spid="3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fade">
                                      <p:cBhvr>
                                        <p:cTn id="20" dur="500"/>
                                        <p:tgtEl>
                                          <p:spTgt spid="39"/>
                                        </p:tgtEl>
                                      </p:cBhvr>
                                    </p:animEffect>
                                  </p:childTnLst>
                                </p:cTn>
                              </p:par>
                              <p:par>
                                <p:cTn id="21" presetID="22" presetClass="entr" presetSubtype="1" fill="hold"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wipe(up)">
                                      <p:cBhvr>
                                        <p:cTn id="23" dur="500"/>
                                        <p:tgtEl>
                                          <p:spTgt spid="4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500"/>
                                        <p:tgtEl>
                                          <p:spTgt spid="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500"/>
                                        <p:tgtEl>
                                          <p:spTgt spid="3">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41"/>
                                        </p:tgtEl>
                                        <p:attrNameLst>
                                          <p:attrName>style.visibility</p:attrName>
                                        </p:attrNameLst>
                                      </p:cBhvr>
                                      <p:to>
                                        <p:strVal val="visible"/>
                                      </p:to>
                                    </p:set>
                                    <p:animEffect transition="in" filter="fade">
                                      <p:cBhvr>
                                        <p:cTn id="38" dur="500"/>
                                        <p:tgtEl>
                                          <p:spTgt spid="41"/>
                                        </p:tgtEl>
                                      </p:cBhvr>
                                    </p:animEffect>
                                  </p:childTnLst>
                                </p:cTn>
                              </p:par>
                              <p:par>
                                <p:cTn id="39" presetID="10" presetClass="entr" presetSubtype="0" fill="hold" nodeType="withEffect">
                                  <p:stCondLst>
                                    <p:cond delay="0"/>
                                  </p:stCondLst>
                                  <p:childTnLst>
                                    <p:set>
                                      <p:cBhvr>
                                        <p:cTn id="40" dur="1" fill="hold">
                                          <p:stCondLst>
                                            <p:cond delay="0"/>
                                          </p:stCondLst>
                                        </p:cTn>
                                        <p:tgtEl>
                                          <p:spTgt spid="42"/>
                                        </p:tgtEl>
                                        <p:attrNameLst>
                                          <p:attrName>style.visibility</p:attrName>
                                        </p:attrNameLst>
                                      </p:cBhvr>
                                      <p:to>
                                        <p:strVal val="visible"/>
                                      </p:to>
                                    </p:set>
                                    <p:animEffect transition="in" filter="fade">
                                      <p:cBhvr>
                                        <p:cTn id="41" dur="500"/>
                                        <p:tgtEl>
                                          <p:spTgt spid="4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43"/>
                                        </p:tgtEl>
                                        <p:attrNameLst>
                                          <p:attrName>style.visibility</p:attrName>
                                        </p:attrNameLst>
                                      </p:cBhvr>
                                      <p:to>
                                        <p:strVal val="visible"/>
                                      </p:to>
                                    </p:set>
                                    <p:animEffect transition="in" filter="wipe(up)">
                                      <p:cBhvr>
                                        <p:cTn id="46" dur="500"/>
                                        <p:tgtEl>
                                          <p:spTgt spid="4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44"/>
                                        </p:tgtEl>
                                        <p:attrNameLst>
                                          <p:attrName>style.visibility</p:attrName>
                                        </p:attrNameLst>
                                      </p:cBhvr>
                                      <p:to>
                                        <p:strVal val="visible"/>
                                      </p:to>
                                    </p:set>
                                    <p:animEffect transition="in" filter="fade">
                                      <p:cBhvr>
                                        <p:cTn id="51"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2F98DB-071B-6D69-3736-4C912C4A8E75}"/>
              </a:ext>
            </a:extLst>
          </p:cNvPr>
          <p:cNvSpPr>
            <a:spLocks noGrp="1"/>
          </p:cNvSpPr>
          <p:nvPr>
            <p:ph type="title"/>
          </p:nvPr>
        </p:nvSpPr>
        <p:spPr/>
        <p:txBody>
          <a:bodyPr/>
          <a:lstStyle/>
          <a:p>
            <a:r>
              <a:rPr lang="en-US" altLang="zh-TW" dirty="0"/>
              <a:t>Out-dated: Inverted Page Table</a:t>
            </a:r>
            <a:endParaRPr kumimoji="1" lang="zh-TW" altLang="en-US" dirty="0"/>
          </a:p>
        </p:txBody>
      </p:sp>
      <p:sp>
        <p:nvSpPr>
          <p:cNvPr id="3" name="內容版面配置區 2">
            <a:extLst>
              <a:ext uri="{FF2B5EF4-FFF2-40B4-BE49-F238E27FC236}">
                <a16:creationId xmlns:a16="http://schemas.microsoft.com/office/drawing/2014/main" id="{1CF184DB-9B73-6459-DD80-21935970F65E}"/>
              </a:ext>
            </a:extLst>
          </p:cNvPr>
          <p:cNvSpPr>
            <a:spLocks noGrp="1"/>
          </p:cNvSpPr>
          <p:nvPr>
            <p:ph idx="1"/>
          </p:nvPr>
        </p:nvSpPr>
        <p:spPr>
          <a:xfrm>
            <a:off x="177800" y="1238250"/>
            <a:ext cx="12014199" cy="5441950"/>
          </a:xfrm>
        </p:spPr>
        <p:txBody>
          <a:bodyPr>
            <a:normAutofit/>
          </a:bodyPr>
          <a:lstStyle/>
          <a:p>
            <a:pPr algn="l"/>
            <a:r>
              <a:rPr lang="en-US" altLang="zh-TW" dirty="0"/>
              <a:t>Issue 1:Systems </a:t>
            </a:r>
            <a:r>
              <a:rPr lang="en-US" altLang="zh-TW" dirty="0">
                <a:solidFill>
                  <a:srgbClr val="C00000"/>
                </a:solidFill>
              </a:rPr>
              <a:t>consume large memory space </a:t>
            </a:r>
            <a:r>
              <a:rPr lang="en-US" altLang="zh-TW" dirty="0"/>
              <a:t>to store multi-level page tables.</a:t>
            </a:r>
          </a:p>
          <a:p>
            <a:pPr algn="l"/>
            <a:r>
              <a:rPr kumimoji="1" lang="en-US" altLang="zh-TW" dirty="0"/>
              <a:t>Idea: Single-level page table, PTE = &lt;process-id, page-number, offset&gt;.</a:t>
            </a:r>
          </a:p>
          <a:p>
            <a:pPr lvl="1" algn="l"/>
            <a:r>
              <a:rPr lang="en-US" altLang="zh-TW" dirty="0"/>
              <a:t>&lt;process-id, page-number&gt; equals to the function of multi-level tables.</a:t>
            </a:r>
          </a:p>
          <a:p>
            <a:pPr lvl="1" algn="l"/>
            <a:r>
              <a:rPr lang="en-US" altLang="zh-TW" dirty="0"/>
              <a:t>If a match is found, &lt;process-id, page-number&gt; = </a:t>
            </a:r>
            <a:r>
              <a:rPr lang="en-US" altLang="zh-TW" dirty="0" err="1"/>
              <a:t>i</a:t>
            </a:r>
            <a:r>
              <a:rPr lang="en-US" altLang="zh-TW" dirty="0"/>
              <a:t>, get physical page (frame) by &lt;I, offset&gt;.</a:t>
            </a:r>
            <a:br>
              <a:rPr lang="en-US" altLang="zh-TW" dirty="0"/>
            </a:br>
            <a:r>
              <a:rPr lang="en-US" altLang="zh-TW" dirty="0">
                <a:solidFill>
                  <a:srgbClr val="C00000"/>
                </a:solidFill>
              </a:rPr>
              <a:t>(Sorted by the physical addresses)</a:t>
            </a:r>
          </a:p>
          <a:p>
            <a:pPr algn="l"/>
            <a:r>
              <a:rPr kumimoji="1" lang="en-US" altLang="zh-TW" dirty="0"/>
              <a:t>Disadvantages:</a:t>
            </a:r>
          </a:p>
          <a:p>
            <a:pPr lvl="1" algn="l"/>
            <a:r>
              <a:rPr lang="en-US" altLang="zh-TW" dirty="0"/>
              <a:t>Shall </a:t>
            </a:r>
            <a:r>
              <a:rPr lang="en-US" altLang="zh-TW" dirty="0">
                <a:solidFill>
                  <a:srgbClr val="C00000"/>
                </a:solidFill>
              </a:rPr>
              <a:t>walk through the whole table </a:t>
            </a:r>
            <a:br>
              <a:rPr lang="en-US" altLang="zh-TW" dirty="0"/>
            </a:br>
            <a:r>
              <a:rPr lang="en-US" altLang="zh-TW" dirty="0"/>
              <a:t>if there is no matched.</a:t>
            </a:r>
          </a:p>
          <a:p>
            <a:pPr lvl="1" algn="l"/>
            <a:r>
              <a:rPr lang="en-US" altLang="zh-TW" dirty="0"/>
              <a:t>One physical page </a:t>
            </a:r>
            <a:r>
              <a:rPr lang="en-US" altLang="zh-TW" dirty="0">
                <a:solidFill>
                  <a:srgbClr val="C00000"/>
                </a:solidFill>
              </a:rPr>
              <a:t>cannot have </a:t>
            </a:r>
            <a:br>
              <a:rPr lang="en-US" altLang="zh-TW" dirty="0">
                <a:solidFill>
                  <a:srgbClr val="C00000"/>
                </a:solidFill>
              </a:rPr>
            </a:br>
            <a:r>
              <a:rPr lang="en-US" altLang="zh-TW" dirty="0">
                <a:solidFill>
                  <a:srgbClr val="C00000"/>
                </a:solidFill>
              </a:rPr>
              <a:t>two shared virtual addresses</a:t>
            </a:r>
            <a:r>
              <a:rPr lang="en-US" altLang="zh-TW" dirty="0"/>
              <a:t>.</a:t>
            </a:r>
            <a:endParaRPr kumimoji="1" lang="en-US" altLang="zh-TW" dirty="0"/>
          </a:p>
          <a:p>
            <a:pPr lvl="1" algn="l"/>
            <a:endParaRPr kumimoji="1" lang="zh-TW" altLang="en-US" dirty="0"/>
          </a:p>
        </p:txBody>
      </p:sp>
      <p:sp>
        <p:nvSpPr>
          <p:cNvPr id="4" name="投影片編號版面配置區 3">
            <a:extLst>
              <a:ext uri="{FF2B5EF4-FFF2-40B4-BE49-F238E27FC236}">
                <a16:creationId xmlns:a16="http://schemas.microsoft.com/office/drawing/2014/main" id="{C3AAA7F6-D30F-0DD5-CA1C-055E5D31D2DB}"/>
              </a:ext>
            </a:extLst>
          </p:cNvPr>
          <p:cNvSpPr>
            <a:spLocks noGrp="1"/>
          </p:cNvSpPr>
          <p:nvPr>
            <p:ph type="sldNum" sz="quarter" idx="4"/>
          </p:nvPr>
        </p:nvSpPr>
        <p:spPr/>
        <p:txBody>
          <a:bodyPr/>
          <a:lstStyle/>
          <a:p>
            <a:fld id="{E24E6636-6BA5-4AAC-8485-BE8D914D288B}" type="slidenum">
              <a:rPr lang="zh-TW" altLang="en-US" smtClean="0"/>
              <a:pPr/>
              <a:t>35</a:t>
            </a:fld>
            <a:endParaRPr lang="zh-TW" altLang="en-US" dirty="0"/>
          </a:p>
        </p:txBody>
      </p:sp>
      <p:pic>
        <p:nvPicPr>
          <p:cNvPr id="6" name="圖片 5">
            <a:extLst>
              <a:ext uri="{FF2B5EF4-FFF2-40B4-BE49-F238E27FC236}">
                <a16:creationId xmlns:a16="http://schemas.microsoft.com/office/drawing/2014/main" id="{96C99946-B119-B1D4-6967-801637C67B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5999" y="3051259"/>
            <a:ext cx="5081286" cy="3490441"/>
          </a:xfrm>
          <a:prstGeom prst="rect">
            <a:avLst/>
          </a:prstGeom>
        </p:spPr>
      </p:pic>
      <p:sp>
        <p:nvSpPr>
          <p:cNvPr id="7" name="文字方塊 6">
            <a:extLst>
              <a:ext uri="{FF2B5EF4-FFF2-40B4-BE49-F238E27FC236}">
                <a16:creationId xmlns:a16="http://schemas.microsoft.com/office/drawing/2014/main" id="{BB3A26CA-6F96-B5AF-4EF0-60B921A456EB}"/>
              </a:ext>
            </a:extLst>
          </p:cNvPr>
          <p:cNvSpPr txBox="1"/>
          <p:nvPr/>
        </p:nvSpPr>
        <p:spPr>
          <a:xfrm>
            <a:off x="0" y="6541700"/>
            <a:ext cx="5081286" cy="276999"/>
          </a:xfrm>
          <a:prstGeom prst="rect">
            <a:avLst/>
          </a:prstGeom>
          <a:noFill/>
        </p:spPr>
        <p:txBody>
          <a:bodyPr wrap="squar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rPr>
              <a:t>Operating System Concepts (Tenth Edition)</a:t>
            </a:r>
          </a:p>
        </p:txBody>
      </p:sp>
      <p:sp>
        <p:nvSpPr>
          <p:cNvPr id="8" name="矩形 7">
            <a:extLst>
              <a:ext uri="{FF2B5EF4-FFF2-40B4-BE49-F238E27FC236}">
                <a16:creationId xmlns:a16="http://schemas.microsoft.com/office/drawing/2014/main" id="{0D5B239A-1BD8-70D5-F1CF-2A23B15B880F}"/>
              </a:ext>
            </a:extLst>
          </p:cNvPr>
          <p:cNvSpPr/>
          <p:nvPr/>
        </p:nvSpPr>
        <p:spPr>
          <a:xfrm>
            <a:off x="7005483" y="4796478"/>
            <a:ext cx="2020529" cy="1745221"/>
          </a:xfrm>
          <a:prstGeom prst="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Tree>
    <p:extLst>
      <p:ext uri="{BB962C8B-B14F-4D97-AF65-F5344CB8AC3E}">
        <p14:creationId xmlns:p14="http://schemas.microsoft.com/office/powerpoint/2010/main" val="2267050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4" name="群組 133">
            <a:extLst>
              <a:ext uri="{FF2B5EF4-FFF2-40B4-BE49-F238E27FC236}">
                <a16:creationId xmlns:a16="http://schemas.microsoft.com/office/drawing/2014/main" id="{5B3420BF-FBCF-436F-15E7-28F941AB2788}"/>
              </a:ext>
            </a:extLst>
          </p:cNvPr>
          <p:cNvGrpSpPr/>
          <p:nvPr/>
        </p:nvGrpSpPr>
        <p:grpSpPr>
          <a:xfrm>
            <a:off x="8309728" y="2042842"/>
            <a:ext cx="3692269" cy="1791357"/>
            <a:chOff x="8309728" y="2042842"/>
            <a:chExt cx="3692269" cy="1791357"/>
          </a:xfrm>
        </p:grpSpPr>
        <p:sp>
          <p:nvSpPr>
            <p:cNvPr id="118" name="Rectangle 825">
              <a:extLst>
                <a:ext uri="{FF2B5EF4-FFF2-40B4-BE49-F238E27FC236}">
                  <a16:creationId xmlns:a16="http://schemas.microsoft.com/office/drawing/2014/main" id="{76B446E6-CB43-79FA-8AE4-E5CBE8236C1E}"/>
                </a:ext>
              </a:extLst>
            </p:cNvPr>
            <p:cNvSpPr/>
            <p:nvPr/>
          </p:nvSpPr>
          <p:spPr>
            <a:xfrm>
              <a:off x="8309728" y="2042842"/>
              <a:ext cx="3692269" cy="1791357"/>
            </a:xfrm>
            <a:prstGeom prst="rect">
              <a:avLst/>
            </a:prstGeom>
            <a:solidFill>
              <a:schemeClr val="accent2">
                <a:lumMod val="20000"/>
                <a:lumOff val="80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Arial" charset="0"/>
                  <a:ea typeface="Arial" charset="0"/>
                  <a:cs typeface="Arial" charset="0"/>
                </a:rPr>
                <a:t>Operating System</a:t>
              </a:r>
            </a:p>
          </p:txBody>
        </p:sp>
        <p:sp>
          <p:nvSpPr>
            <p:cNvPr id="119" name="Rectangle 827">
              <a:extLst>
                <a:ext uri="{FF2B5EF4-FFF2-40B4-BE49-F238E27FC236}">
                  <a16:creationId xmlns:a16="http://schemas.microsoft.com/office/drawing/2014/main" id="{961479E2-6806-1B9C-243F-D761DE0B81AE}"/>
                </a:ext>
              </a:extLst>
            </p:cNvPr>
            <p:cNvSpPr/>
            <p:nvPr/>
          </p:nvSpPr>
          <p:spPr>
            <a:xfrm>
              <a:off x="8439017" y="2853518"/>
              <a:ext cx="3420000" cy="881025"/>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TW" dirty="0">
                  <a:solidFill>
                    <a:schemeClr val="tx1"/>
                  </a:solidFill>
                  <a:latin typeface="Arial" charset="0"/>
                  <a:ea typeface="Arial" charset="0"/>
                  <a:cs typeface="Arial" charset="0"/>
                </a:rPr>
                <a:t>Memory</a:t>
              </a:r>
              <a:r>
                <a:rPr lang="zh-TW" altLang="en-US" dirty="0">
                  <a:solidFill>
                    <a:schemeClr val="tx1"/>
                  </a:solidFill>
                  <a:latin typeface="Arial" charset="0"/>
                  <a:ea typeface="Arial" charset="0"/>
                  <a:cs typeface="Arial" charset="0"/>
                </a:rPr>
                <a:t> </a:t>
              </a:r>
              <a:r>
                <a:rPr lang="en-US" altLang="zh-TW" dirty="0">
                  <a:solidFill>
                    <a:schemeClr val="tx1"/>
                  </a:solidFill>
                  <a:latin typeface="Arial" charset="0"/>
                  <a:ea typeface="Arial" charset="0"/>
                  <a:cs typeface="Arial" charset="0"/>
                </a:rPr>
                <a:t>Management</a:t>
              </a:r>
              <a:endParaRPr lang="en-US" dirty="0">
                <a:solidFill>
                  <a:schemeClr val="tx1"/>
                </a:solidFill>
                <a:latin typeface="Arial" charset="0"/>
                <a:ea typeface="Arial" charset="0"/>
                <a:cs typeface="Arial" charset="0"/>
              </a:endParaRPr>
            </a:p>
          </p:txBody>
        </p:sp>
        <p:sp>
          <p:nvSpPr>
            <p:cNvPr id="122" name="Rectangle 140">
              <a:extLst>
                <a:ext uri="{FF2B5EF4-FFF2-40B4-BE49-F238E27FC236}">
                  <a16:creationId xmlns:a16="http://schemas.microsoft.com/office/drawing/2014/main" id="{2554931C-344D-1B91-A385-2E530CBD4725}"/>
                </a:ext>
              </a:extLst>
            </p:cNvPr>
            <p:cNvSpPr/>
            <p:nvPr/>
          </p:nvSpPr>
          <p:spPr>
            <a:xfrm>
              <a:off x="8679369" y="3224127"/>
              <a:ext cx="2921209" cy="409543"/>
            </a:xfrm>
            <a:prstGeom prst="rect">
              <a:avLst/>
            </a:prstGeom>
            <a:solidFill>
              <a:schemeClr val="accent2">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TW" dirty="0">
                  <a:solidFill>
                    <a:schemeClr val="tx1"/>
                  </a:solidFill>
                  <a:latin typeface="Arial" charset="0"/>
                  <a:ea typeface="Arial" charset="0"/>
                  <a:cs typeface="Arial" charset="0"/>
                </a:rPr>
                <a:t>Huge</a:t>
              </a:r>
              <a:r>
                <a:rPr lang="zh-TW" altLang="en-US" dirty="0">
                  <a:solidFill>
                    <a:schemeClr val="tx1"/>
                  </a:solidFill>
                  <a:latin typeface="Arial" charset="0"/>
                  <a:ea typeface="Arial" charset="0"/>
                  <a:cs typeface="Arial" charset="0"/>
                </a:rPr>
                <a:t> </a:t>
              </a:r>
              <a:r>
                <a:rPr lang="en-US" altLang="zh-TW" dirty="0">
                  <a:solidFill>
                    <a:schemeClr val="tx1"/>
                  </a:solidFill>
                  <a:latin typeface="Arial" charset="0"/>
                  <a:ea typeface="Arial" charset="0"/>
                  <a:cs typeface="Arial" charset="0"/>
                </a:rPr>
                <a:t>Page</a:t>
              </a:r>
              <a:r>
                <a:rPr lang="zh-TW" altLang="en-US" dirty="0">
                  <a:solidFill>
                    <a:schemeClr val="tx1"/>
                  </a:solidFill>
                  <a:latin typeface="Arial" charset="0"/>
                  <a:ea typeface="Arial" charset="0"/>
                  <a:cs typeface="Arial" charset="0"/>
                </a:rPr>
                <a:t> </a:t>
              </a:r>
              <a:r>
                <a:rPr lang="en-US" altLang="zh-TW" dirty="0">
                  <a:solidFill>
                    <a:schemeClr val="tx1"/>
                  </a:solidFill>
                  <a:latin typeface="Arial" charset="0"/>
                  <a:ea typeface="Arial" charset="0"/>
                  <a:cs typeface="Arial" charset="0"/>
                </a:rPr>
                <a:t>Management</a:t>
              </a:r>
              <a:endParaRPr lang="en-US" dirty="0">
                <a:solidFill>
                  <a:schemeClr val="tx1"/>
                </a:solidFill>
                <a:latin typeface="Arial" charset="0"/>
                <a:ea typeface="Arial" charset="0"/>
                <a:cs typeface="Arial" charset="0"/>
              </a:endParaRPr>
            </a:p>
          </p:txBody>
        </p:sp>
      </p:grpSp>
      <p:grpSp>
        <p:nvGrpSpPr>
          <p:cNvPr id="129" name="群組 128">
            <a:extLst>
              <a:ext uri="{FF2B5EF4-FFF2-40B4-BE49-F238E27FC236}">
                <a16:creationId xmlns:a16="http://schemas.microsoft.com/office/drawing/2014/main" id="{55047A94-1EBD-77A4-9994-D6D1E72289DD}"/>
              </a:ext>
            </a:extLst>
          </p:cNvPr>
          <p:cNvGrpSpPr/>
          <p:nvPr/>
        </p:nvGrpSpPr>
        <p:grpSpPr>
          <a:xfrm>
            <a:off x="5555660" y="4014599"/>
            <a:ext cx="6458540" cy="1154550"/>
            <a:chOff x="5555660" y="4014599"/>
            <a:chExt cx="6458540" cy="1154550"/>
          </a:xfrm>
        </p:grpSpPr>
        <p:sp>
          <p:nvSpPr>
            <p:cNvPr id="6" name="Rectangle 828">
              <a:extLst>
                <a:ext uri="{FF2B5EF4-FFF2-40B4-BE49-F238E27FC236}">
                  <a16:creationId xmlns:a16="http://schemas.microsoft.com/office/drawing/2014/main" id="{B8336F82-FE5A-597D-8401-9E19EEEC45F4}"/>
                </a:ext>
              </a:extLst>
            </p:cNvPr>
            <p:cNvSpPr/>
            <p:nvPr/>
          </p:nvSpPr>
          <p:spPr>
            <a:xfrm>
              <a:off x="5661116" y="4014599"/>
              <a:ext cx="6353084" cy="1154550"/>
            </a:xfrm>
            <a:prstGeom prst="rect">
              <a:avLst/>
            </a:prstGeom>
            <a:solidFill>
              <a:schemeClr val="accent6">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latin typeface="Arial" charset="0"/>
                  <a:ea typeface="Arial" charset="0"/>
                  <a:cs typeface="Arial" charset="0"/>
                </a:rPr>
                <a:t>Main Memory (e.g., DRAM)</a:t>
              </a:r>
            </a:p>
          </p:txBody>
        </p:sp>
        <p:sp>
          <p:nvSpPr>
            <p:cNvPr id="19" name="Snip Single Corner Rectangle 844">
              <a:extLst>
                <a:ext uri="{FF2B5EF4-FFF2-40B4-BE49-F238E27FC236}">
                  <a16:creationId xmlns:a16="http://schemas.microsoft.com/office/drawing/2014/main" id="{6A6CB29C-9A0E-1694-3F01-9A3A79AB7E3D}"/>
                </a:ext>
              </a:extLst>
            </p:cNvPr>
            <p:cNvSpPr/>
            <p:nvPr/>
          </p:nvSpPr>
          <p:spPr>
            <a:xfrm>
              <a:off x="5726167" y="4149160"/>
              <a:ext cx="502251" cy="629794"/>
            </a:xfrm>
            <a:prstGeom prst="snip1Rect">
              <a:avLst>
                <a:gd name="adj" fmla="val 30271"/>
              </a:avLst>
            </a:prstGeom>
            <a:solidFill>
              <a:schemeClr val="bg2">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dirty="0">
                <a:solidFill>
                  <a:schemeClr val="tx1"/>
                </a:solidFill>
                <a:latin typeface="Arial" charset="0"/>
                <a:ea typeface="Arial" charset="0"/>
                <a:cs typeface="Arial" charset="0"/>
              </a:endParaRPr>
            </a:p>
          </p:txBody>
        </p:sp>
        <p:sp>
          <p:nvSpPr>
            <p:cNvPr id="21" name="TextBox 846">
              <a:extLst>
                <a:ext uri="{FF2B5EF4-FFF2-40B4-BE49-F238E27FC236}">
                  <a16:creationId xmlns:a16="http://schemas.microsoft.com/office/drawing/2014/main" id="{B685A256-E441-553E-6B86-394273F54016}"/>
                </a:ext>
              </a:extLst>
            </p:cNvPr>
            <p:cNvSpPr txBox="1"/>
            <p:nvPr/>
          </p:nvSpPr>
          <p:spPr>
            <a:xfrm>
              <a:off x="10143741" y="4123689"/>
              <a:ext cx="492443" cy="461665"/>
            </a:xfrm>
            <a:prstGeom prst="rect">
              <a:avLst/>
            </a:prstGeom>
            <a:noFill/>
          </p:spPr>
          <p:txBody>
            <a:bodyPr wrap="none" rtlCol="0">
              <a:spAutoFit/>
            </a:bodyPr>
            <a:lstStyle/>
            <a:p>
              <a:r>
                <a:rPr lang="mr-IN" sz="2400" b="1" dirty="0">
                  <a:latin typeface="Arial" charset="0"/>
                  <a:ea typeface="Arial" charset="0"/>
                  <a:cs typeface="Arial" charset="0"/>
                </a:rPr>
                <a:t>…</a:t>
              </a:r>
              <a:endParaRPr lang="en-US" sz="2400" b="1" dirty="0">
                <a:latin typeface="Arial" charset="0"/>
                <a:ea typeface="Arial" charset="0"/>
                <a:cs typeface="Arial" charset="0"/>
              </a:endParaRPr>
            </a:p>
          </p:txBody>
        </p:sp>
        <p:grpSp>
          <p:nvGrpSpPr>
            <p:cNvPr id="89" name="Group 922">
              <a:extLst>
                <a:ext uri="{FF2B5EF4-FFF2-40B4-BE49-F238E27FC236}">
                  <a16:creationId xmlns:a16="http://schemas.microsoft.com/office/drawing/2014/main" id="{59ADBF4E-4145-ED3D-A2F8-0C99707BF967}"/>
                </a:ext>
              </a:extLst>
            </p:cNvPr>
            <p:cNvGrpSpPr/>
            <p:nvPr/>
          </p:nvGrpSpPr>
          <p:grpSpPr>
            <a:xfrm>
              <a:off x="9153933" y="4142069"/>
              <a:ext cx="1080249" cy="586800"/>
              <a:chOff x="2962551" y="5644013"/>
              <a:chExt cx="1080249" cy="586800"/>
            </a:xfrm>
          </p:grpSpPr>
          <p:sp>
            <p:nvSpPr>
              <p:cNvPr id="90" name="Rounded Rectangle 923">
                <a:extLst>
                  <a:ext uri="{FF2B5EF4-FFF2-40B4-BE49-F238E27FC236}">
                    <a16:creationId xmlns:a16="http://schemas.microsoft.com/office/drawing/2014/main" id="{08C0440E-B2D2-9711-093F-EE4F965233C3}"/>
                  </a:ext>
                </a:extLst>
              </p:cNvPr>
              <p:cNvSpPr/>
              <p:nvPr/>
            </p:nvSpPr>
            <p:spPr>
              <a:xfrm>
                <a:off x="3682237" y="5644013"/>
                <a:ext cx="180000" cy="586800"/>
              </a:xfrm>
              <a:prstGeom prst="roundRect">
                <a:avLst>
                  <a:gd name="adj" fmla="val 40165"/>
                </a:avLst>
              </a:prstGeom>
              <a:solidFill>
                <a:schemeClr val="accent4">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grpSp>
            <p:nvGrpSpPr>
              <p:cNvPr id="91" name="Group 924">
                <a:extLst>
                  <a:ext uri="{FF2B5EF4-FFF2-40B4-BE49-F238E27FC236}">
                    <a16:creationId xmlns:a16="http://schemas.microsoft.com/office/drawing/2014/main" id="{BAA5A575-53BA-5418-42BD-443D08A3F594}"/>
                  </a:ext>
                </a:extLst>
              </p:cNvPr>
              <p:cNvGrpSpPr/>
              <p:nvPr/>
            </p:nvGrpSpPr>
            <p:grpSpPr>
              <a:xfrm>
                <a:off x="2962551" y="5644013"/>
                <a:ext cx="1080249" cy="586800"/>
                <a:chOff x="2962551" y="5644013"/>
                <a:chExt cx="1080249" cy="586800"/>
              </a:xfrm>
            </p:grpSpPr>
            <p:sp>
              <p:nvSpPr>
                <p:cNvPr id="92" name="Rounded Rectangle 925">
                  <a:extLst>
                    <a:ext uri="{FF2B5EF4-FFF2-40B4-BE49-F238E27FC236}">
                      <a16:creationId xmlns:a16="http://schemas.microsoft.com/office/drawing/2014/main" id="{A13BDC20-3449-934C-92F1-307AD624B920}"/>
                    </a:ext>
                  </a:extLst>
                </p:cNvPr>
                <p:cNvSpPr/>
                <p:nvPr/>
              </p:nvSpPr>
              <p:spPr>
                <a:xfrm>
                  <a:off x="2962551" y="5644013"/>
                  <a:ext cx="180000" cy="586800"/>
                </a:xfrm>
                <a:prstGeom prst="roundRect">
                  <a:avLst>
                    <a:gd name="adj" fmla="val 40165"/>
                  </a:avLst>
                </a:prstGeom>
                <a:solidFill>
                  <a:schemeClr val="accent4">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sp>
              <p:nvSpPr>
                <p:cNvPr id="93" name="Rounded Rectangle 926">
                  <a:extLst>
                    <a:ext uri="{FF2B5EF4-FFF2-40B4-BE49-F238E27FC236}">
                      <a16:creationId xmlns:a16="http://schemas.microsoft.com/office/drawing/2014/main" id="{BCDCD31C-DE36-F75B-5A95-27153BE770A5}"/>
                    </a:ext>
                  </a:extLst>
                </p:cNvPr>
                <p:cNvSpPr/>
                <p:nvPr/>
              </p:nvSpPr>
              <p:spPr>
                <a:xfrm>
                  <a:off x="3142237" y="5644013"/>
                  <a:ext cx="180000" cy="586800"/>
                </a:xfrm>
                <a:prstGeom prst="roundRect">
                  <a:avLst>
                    <a:gd name="adj" fmla="val 40165"/>
                  </a:avLst>
                </a:prstGeom>
                <a:solidFill>
                  <a:schemeClr val="accent4">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sp>
              <p:nvSpPr>
                <p:cNvPr id="94" name="Rounded Rectangle 927">
                  <a:extLst>
                    <a:ext uri="{FF2B5EF4-FFF2-40B4-BE49-F238E27FC236}">
                      <a16:creationId xmlns:a16="http://schemas.microsoft.com/office/drawing/2014/main" id="{289486A3-2B68-FBAD-1CC1-F230621C373D}"/>
                    </a:ext>
                  </a:extLst>
                </p:cNvPr>
                <p:cNvSpPr/>
                <p:nvPr/>
              </p:nvSpPr>
              <p:spPr>
                <a:xfrm>
                  <a:off x="3322237" y="5644013"/>
                  <a:ext cx="180000" cy="586800"/>
                </a:xfrm>
                <a:prstGeom prst="roundRect">
                  <a:avLst>
                    <a:gd name="adj" fmla="val 40165"/>
                  </a:avLst>
                </a:prstGeom>
                <a:solidFill>
                  <a:schemeClr val="accent4">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sp>
              <p:nvSpPr>
                <p:cNvPr id="95" name="Rounded Rectangle 928">
                  <a:extLst>
                    <a:ext uri="{FF2B5EF4-FFF2-40B4-BE49-F238E27FC236}">
                      <a16:creationId xmlns:a16="http://schemas.microsoft.com/office/drawing/2014/main" id="{702B046C-BB8E-AC67-1C3E-3CF8E3EE8044}"/>
                    </a:ext>
                  </a:extLst>
                </p:cNvPr>
                <p:cNvSpPr/>
                <p:nvPr/>
              </p:nvSpPr>
              <p:spPr>
                <a:xfrm>
                  <a:off x="3502237" y="5644013"/>
                  <a:ext cx="180000" cy="586800"/>
                </a:xfrm>
                <a:prstGeom prst="roundRect">
                  <a:avLst>
                    <a:gd name="adj" fmla="val 40165"/>
                  </a:avLst>
                </a:prstGeom>
                <a:solidFill>
                  <a:schemeClr val="accent4">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sp>
              <p:nvSpPr>
                <p:cNvPr id="96" name="Rounded Rectangle 929">
                  <a:extLst>
                    <a:ext uri="{FF2B5EF4-FFF2-40B4-BE49-F238E27FC236}">
                      <a16:creationId xmlns:a16="http://schemas.microsoft.com/office/drawing/2014/main" id="{5B7DB905-F99E-2CF1-B9D3-7710DD53D7E6}"/>
                    </a:ext>
                  </a:extLst>
                </p:cNvPr>
                <p:cNvSpPr/>
                <p:nvPr/>
              </p:nvSpPr>
              <p:spPr>
                <a:xfrm>
                  <a:off x="3862800" y="5644013"/>
                  <a:ext cx="180000" cy="586800"/>
                </a:xfrm>
                <a:prstGeom prst="roundRect">
                  <a:avLst>
                    <a:gd name="adj" fmla="val 40165"/>
                  </a:avLst>
                </a:prstGeom>
                <a:solidFill>
                  <a:schemeClr val="accent4">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grpSp>
        </p:grpSp>
        <p:sp>
          <p:nvSpPr>
            <p:cNvPr id="97" name="TextBox 930">
              <a:extLst>
                <a:ext uri="{FF2B5EF4-FFF2-40B4-BE49-F238E27FC236}">
                  <a16:creationId xmlns:a16="http://schemas.microsoft.com/office/drawing/2014/main" id="{C840D4EC-8F62-9512-4BE4-15862941A623}"/>
                </a:ext>
              </a:extLst>
            </p:cNvPr>
            <p:cNvSpPr txBox="1"/>
            <p:nvPr/>
          </p:nvSpPr>
          <p:spPr>
            <a:xfrm>
              <a:off x="9288254" y="4136260"/>
              <a:ext cx="864000" cy="553998"/>
            </a:xfrm>
            <a:prstGeom prst="rect">
              <a:avLst/>
            </a:prstGeom>
            <a:noFill/>
          </p:spPr>
          <p:txBody>
            <a:bodyPr wrap="square" lIns="0" tIns="0" rIns="0" bIns="0" rtlCol="0">
              <a:spAutoFit/>
            </a:bodyPr>
            <a:lstStyle/>
            <a:p>
              <a:pPr algn="ctr"/>
              <a:r>
                <a:rPr lang="en-US" dirty="0">
                  <a:latin typeface="Arial" charset="0"/>
                  <a:ea typeface="Arial" charset="0"/>
                  <a:cs typeface="Arial" charset="0"/>
                </a:rPr>
                <a:t>Regular Pages</a:t>
              </a:r>
            </a:p>
          </p:txBody>
        </p:sp>
        <p:grpSp>
          <p:nvGrpSpPr>
            <p:cNvPr id="100" name="Group 933">
              <a:extLst>
                <a:ext uri="{FF2B5EF4-FFF2-40B4-BE49-F238E27FC236}">
                  <a16:creationId xmlns:a16="http://schemas.microsoft.com/office/drawing/2014/main" id="{56907FE8-7C3B-77AC-7F3E-AA8A4E21BEE0}"/>
                </a:ext>
              </a:extLst>
            </p:cNvPr>
            <p:cNvGrpSpPr/>
            <p:nvPr/>
          </p:nvGrpSpPr>
          <p:grpSpPr>
            <a:xfrm>
              <a:off x="7950043" y="4166865"/>
              <a:ext cx="899686" cy="586800"/>
              <a:chOff x="5239900" y="3999596"/>
              <a:chExt cx="899686" cy="586800"/>
            </a:xfrm>
          </p:grpSpPr>
          <p:sp>
            <p:nvSpPr>
              <p:cNvPr id="101" name="Rounded Rectangle 934">
                <a:extLst>
                  <a:ext uri="{FF2B5EF4-FFF2-40B4-BE49-F238E27FC236}">
                    <a16:creationId xmlns:a16="http://schemas.microsoft.com/office/drawing/2014/main" id="{B7E61889-6669-BE30-0672-E03895DC1958}"/>
                  </a:ext>
                </a:extLst>
              </p:cNvPr>
              <p:cNvSpPr/>
              <p:nvPr/>
            </p:nvSpPr>
            <p:spPr>
              <a:xfrm>
                <a:off x="5959586" y="3999596"/>
                <a:ext cx="180000" cy="586800"/>
              </a:xfrm>
              <a:prstGeom prst="roundRect">
                <a:avLst>
                  <a:gd name="adj" fmla="val 40165"/>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sp>
            <p:nvSpPr>
              <p:cNvPr id="102" name="Rounded Rectangle 935">
                <a:extLst>
                  <a:ext uri="{FF2B5EF4-FFF2-40B4-BE49-F238E27FC236}">
                    <a16:creationId xmlns:a16="http://schemas.microsoft.com/office/drawing/2014/main" id="{AEDFB306-DC2F-080E-9538-227AD6936180}"/>
                  </a:ext>
                </a:extLst>
              </p:cNvPr>
              <p:cNvSpPr/>
              <p:nvPr/>
            </p:nvSpPr>
            <p:spPr>
              <a:xfrm>
                <a:off x="5239900" y="3999596"/>
                <a:ext cx="180000" cy="586800"/>
              </a:xfrm>
              <a:prstGeom prst="roundRect">
                <a:avLst>
                  <a:gd name="adj" fmla="val 40165"/>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sp>
            <p:nvSpPr>
              <p:cNvPr id="103" name="Rounded Rectangle 936">
                <a:extLst>
                  <a:ext uri="{FF2B5EF4-FFF2-40B4-BE49-F238E27FC236}">
                    <a16:creationId xmlns:a16="http://schemas.microsoft.com/office/drawing/2014/main" id="{ADC23868-C97A-B38E-936B-22E64548DD8B}"/>
                  </a:ext>
                </a:extLst>
              </p:cNvPr>
              <p:cNvSpPr/>
              <p:nvPr/>
            </p:nvSpPr>
            <p:spPr>
              <a:xfrm>
                <a:off x="5419586" y="3999596"/>
                <a:ext cx="180000" cy="586800"/>
              </a:xfrm>
              <a:prstGeom prst="roundRect">
                <a:avLst>
                  <a:gd name="adj" fmla="val 40165"/>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sp>
            <p:nvSpPr>
              <p:cNvPr id="104" name="Rounded Rectangle 937">
                <a:extLst>
                  <a:ext uri="{FF2B5EF4-FFF2-40B4-BE49-F238E27FC236}">
                    <a16:creationId xmlns:a16="http://schemas.microsoft.com/office/drawing/2014/main" id="{4DE793F4-E72F-4FD7-061A-902382270262}"/>
                  </a:ext>
                </a:extLst>
              </p:cNvPr>
              <p:cNvSpPr/>
              <p:nvPr/>
            </p:nvSpPr>
            <p:spPr>
              <a:xfrm>
                <a:off x="5599586" y="3999596"/>
                <a:ext cx="180000" cy="586800"/>
              </a:xfrm>
              <a:prstGeom prst="roundRect">
                <a:avLst>
                  <a:gd name="adj" fmla="val 40165"/>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sp>
            <p:nvSpPr>
              <p:cNvPr id="105" name="Rounded Rectangle 938">
                <a:extLst>
                  <a:ext uri="{FF2B5EF4-FFF2-40B4-BE49-F238E27FC236}">
                    <a16:creationId xmlns:a16="http://schemas.microsoft.com/office/drawing/2014/main" id="{2691DC0C-F608-0E64-8C0C-0BF8D0A51805}"/>
                  </a:ext>
                </a:extLst>
              </p:cNvPr>
              <p:cNvSpPr/>
              <p:nvPr/>
            </p:nvSpPr>
            <p:spPr>
              <a:xfrm>
                <a:off x="5779586" y="3999596"/>
                <a:ext cx="180000" cy="586800"/>
              </a:xfrm>
              <a:prstGeom prst="roundRect">
                <a:avLst>
                  <a:gd name="adj" fmla="val 40165"/>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grpSp>
        <p:sp>
          <p:nvSpPr>
            <p:cNvPr id="106" name="Snip Single Corner Rectangle 940">
              <a:extLst>
                <a:ext uri="{FF2B5EF4-FFF2-40B4-BE49-F238E27FC236}">
                  <a16:creationId xmlns:a16="http://schemas.microsoft.com/office/drawing/2014/main" id="{E494E953-53EB-354A-705D-5B1BF682AA10}"/>
                </a:ext>
              </a:extLst>
            </p:cNvPr>
            <p:cNvSpPr/>
            <p:nvPr/>
          </p:nvSpPr>
          <p:spPr>
            <a:xfrm>
              <a:off x="7367710" y="4149057"/>
              <a:ext cx="503999" cy="630000"/>
            </a:xfrm>
            <a:prstGeom prst="snip1Rect">
              <a:avLst>
                <a:gd name="adj" fmla="val 30271"/>
              </a:avLst>
            </a:prstGeom>
            <a:solidFill>
              <a:schemeClr val="bg2">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dirty="0">
                <a:solidFill>
                  <a:schemeClr val="tx1"/>
                </a:solidFill>
                <a:latin typeface="Arial" charset="0"/>
                <a:ea typeface="Arial" charset="0"/>
                <a:cs typeface="Arial" charset="0"/>
              </a:endParaRPr>
            </a:p>
          </p:txBody>
        </p:sp>
        <p:sp>
          <p:nvSpPr>
            <p:cNvPr id="107" name="TextBox 941">
              <a:extLst>
                <a:ext uri="{FF2B5EF4-FFF2-40B4-BE49-F238E27FC236}">
                  <a16:creationId xmlns:a16="http://schemas.microsoft.com/office/drawing/2014/main" id="{D554E1A5-127F-AAB2-7EC5-C5E80692E68A}"/>
                </a:ext>
              </a:extLst>
            </p:cNvPr>
            <p:cNvSpPr txBox="1"/>
            <p:nvPr/>
          </p:nvSpPr>
          <p:spPr>
            <a:xfrm>
              <a:off x="5555660" y="4591380"/>
              <a:ext cx="864000" cy="184666"/>
            </a:xfrm>
            <a:prstGeom prst="rect">
              <a:avLst/>
            </a:prstGeom>
            <a:noFill/>
          </p:spPr>
          <p:txBody>
            <a:bodyPr wrap="square" lIns="0" tIns="0" rIns="0" bIns="0" rtlCol="0">
              <a:spAutoFit/>
            </a:bodyPr>
            <a:lstStyle/>
            <a:p>
              <a:pPr algn="ctr"/>
              <a:r>
                <a:rPr lang="en-US" sz="1200" dirty="0">
                  <a:latin typeface="Arial" charset="0"/>
                  <a:ea typeface="Arial" charset="0"/>
                  <a:cs typeface="Arial" charset="0"/>
                </a:rPr>
                <a:t>PML4T</a:t>
              </a:r>
            </a:p>
          </p:txBody>
        </p:sp>
        <p:sp>
          <p:nvSpPr>
            <p:cNvPr id="112" name="TextBox 947">
              <a:extLst>
                <a:ext uri="{FF2B5EF4-FFF2-40B4-BE49-F238E27FC236}">
                  <a16:creationId xmlns:a16="http://schemas.microsoft.com/office/drawing/2014/main" id="{313ED590-BFE5-9935-7E71-24BC7A98FE32}"/>
                </a:ext>
              </a:extLst>
            </p:cNvPr>
            <p:cNvSpPr txBox="1"/>
            <p:nvPr/>
          </p:nvSpPr>
          <p:spPr>
            <a:xfrm>
              <a:off x="7193099" y="4582148"/>
              <a:ext cx="864000" cy="200055"/>
            </a:xfrm>
            <a:prstGeom prst="rect">
              <a:avLst/>
            </a:prstGeom>
            <a:noFill/>
          </p:spPr>
          <p:txBody>
            <a:bodyPr wrap="square" lIns="0" tIns="0" rIns="0" bIns="0" rtlCol="0">
              <a:spAutoFit/>
            </a:bodyPr>
            <a:lstStyle/>
            <a:p>
              <a:pPr algn="ctr"/>
              <a:r>
                <a:rPr lang="en-US" sz="1300" dirty="0">
                  <a:latin typeface="Arial" charset="0"/>
                  <a:ea typeface="Arial" charset="0"/>
                  <a:cs typeface="Arial" charset="0"/>
                </a:rPr>
                <a:t>PT</a:t>
              </a:r>
            </a:p>
          </p:txBody>
        </p:sp>
        <p:sp>
          <p:nvSpPr>
            <p:cNvPr id="114" name="TextBox 949">
              <a:extLst>
                <a:ext uri="{FF2B5EF4-FFF2-40B4-BE49-F238E27FC236}">
                  <a16:creationId xmlns:a16="http://schemas.microsoft.com/office/drawing/2014/main" id="{33B6E082-6FAE-80BB-1B1E-499B2E932DE0}"/>
                </a:ext>
              </a:extLst>
            </p:cNvPr>
            <p:cNvSpPr txBox="1"/>
            <p:nvPr/>
          </p:nvSpPr>
          <p:spPr>
            <a:xfrm>
              <a:off x="8769868" y="4147528"/>
              <a:ext cx="492443" cy="461665"/>
            </a:xfrm>
            <a:prstGeom prst="rect">
              <a:avLst/>
            </a:prstGeom>
            <a:noFill/>
          </p:spPr>
          <p:txBody>
            <a:bodyPr wrap="none" rtlCol="0">
              <a:spAutoFit/>
            </a:bodyPr>
            <a:lstStyle/>
            <a:p>
              <a:r>
                <a:rPr lang="mr-IN" sz="2400" b="1" dirty="0">
                  <a:latin typeface="Arial" charset="0"/>
                  <a:ea typeface="Arial" charset="0"/>
                  <a:cs typeface="Arial" charset="0"/>
                </a:rPr>
                <a:t>…</a:t>
              </a:r>
              <a:endParaRPr lang="en-US" sz="2400" b="1" dirty="0">
                <a:latin typeface="Arial" charset="0"/>
                <a:ea typeface="Arial" charset="0"/>
                <a:cs typeface="Arial" charset="0"/>
              </a:endParaRPr>
            </a:p>
          </p:txBody>
        </p:sp>
        <p:grpSp>
          <p:nvGrpSpPr>
            <p:cNvPr id="115" name="Group 950">
              <a:extLst>
                <a:ext uri="{FF2B5EF4-FFF2-40B4-BE49-F238E27FC236}">
                  <a16:creationId xmlns:a16="http://schemas.microsoft.com/office/drawing/2014/main" id="{90258F4C-9BF6-7FC3-901D-63F361668F3B}"/>
                </a:ext>
              </a:extLst>
            </p:cNvPr>
            <p:cNvGrpSpPr/>
            <p:nvPr/>
          </p:nvGrpSpPr>
          <p:grpSpPr>
            <a:xfrm>
              <a:off x="6639979" y="4149057"/>
              <a:ext cx="864000" cy="630000"/>
              <a:chOff x="3923458" y="3986851"/>
              <a:chExt cx="864000" cy="630000"/>
            </a:xfrm>
          </p:grpSpPr>
          <p:sp>
            <p:nvSpPr>
              <p:cNvPr id="116" name="Snip Single Corner Rectangle 951">
                <a:extLst>
                  <a:ext uri="{FF2B5EF4-FFF2-40B4-BE49-F238E27FC236}">
                    <a16:creationId xmlns:a16="http://schemas.microsoft.com/office/drawing/2014/main" id="{9E933BB1-6CDC-1010-2C02-0BA1AF451F0F}"/>
                  </a:ext>
                </a:extLst>
              </p:cNvPr>
              <p:cNvSpPr/>
              <p:nvPr/>
            </p:nvSpPr>
            <p:spPr>
              <a:xfrm>
                <a:off x="4098822" y="3986851"/>
                <a:ext cx="503999" cy="630000"/>
              </a:xfrm>
              <a:prstGeom prst="snip1Rect">
                <a:avLst>
                  <a:gd name="adj" fmla="val 30271"/>
                </a:avLst>
              </a:prstGeom>
              <a:solidFill>
                <a:schemeClr val="bg2">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dirty="0">
                  <a:solidFill>
                    <a:schemeClr val="tx1"/>
                  </a:solidFill>
                  <a:latin typeface="Arial" charset="0"/>
                  <a:ea typeface="Arial" charset="0"/>
                  <a:cs typeface="Arial" charset="0"/>
                </a:endParaRPr>
              </a:p>
            </p:txBody>
          </p:sp>
          <p:sp>
            <p:nvSpPr>
              <p:cNvPr id="117" name="TextBox 952">
                <a:extLst>
                  <a:ext uri="{FF2B5EF4-FFF2-40B4-BE49-F238E27FC236}">
                    <a16:creationId xmlns:a16="http://schemas.microsoft.com/office/drawing/2014/main" id="{5E914D88-B45B-9366-8553-3ECEA2537E1B}"/>
                  </a:ext>
                </a:extLst>
              </p:cNvPr>
              <p:cNvSpPr txBox="1"/>
              <p:nvPr/>
            </p:nvSpPr>
            <p:spPr>
              <a:xfrm>
                <a:off x="3923458" y="4414875"/>
                <a:ext cx="864000" cy="200055"/>
              </a:xfrm>
              <a:prstGeom prst="rect">
                <a:avLst/>
              </a:prstGeom>
              <a:noFill/>
            </p:spPr>
            <p:txBody>
              <a:bodyPr wrap="square" lIns="0" tIns="0" rIns="0" bIns="0" rtlCol="0">
                <a:spAutoFit/>
              </a:bodyPr>
              <a:lstStyle/>
              <a:p>
                <a:pPr algn="ctr"/>
                <a:r>
                  <a:rPr lang="en-US" sz="1300" dirty="0">
                    <a:latin typeface="Arial" charset="0"/>
                    <a:ea typeface="Arial" charset="0"/>
                    <a:cs typeface="Arial" charset="0"/>
                  </a:rPr>
                  <a:t>PDT</a:t>
                </a:r>
              </a:p>
            </p:txBody>
          </p:sp>
        </p:grpSp>
        <p:sp>
          <p:nvSpPr>
            <p:cNvPr id="125" name="Snip Single Corner Rectangle 939">
              <a:extLst>
                <a:ext uri="{FF2B5EF4-FFF2-40B4-BE49-F238E27FC236}">
                  <a16:creationId xmlns:a16="http://schemas.microsoft.com/office/drawing/2014/main" id="{E1541171-8DDB-6000-1B5A-4011B61ADC82}"/>
                </a:ext>
              </a:extLst>
            </p:cNvPr>
            <p:cNvSpPr/>
            <p:nvPr/>
          </p:nvSpPr>
          <p:spPr>
            <a:xfrm>
              <a:off x="6267636" y="4149057"/>
              <a:ext cx="503999" cy="630000"/>
            </a:xfrm>
            <a:prstGeom prst="snip1Rect">
              <a:avLst>
                <a:gd name="adj" fmla="val 30271"/>
              </a:avLst>
            </a:prstGeom>
            <a:solidFill>
              <a:schemeClr val="bg2">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dirty="0">
                <a:solidFill>
                  <a:schemeClr val="tx1"/>
                </a:solidFill>
                <a:latin typeface="Arial" charset="0"/>
                <a:ea typeface="Arial" charset="0"/>
                <a:cs typeface="Arial" charset="0"/>
              </a:endParaRPr>
            </a:p>
          </p:txBody>
        </p:sp>
        <p:sp>
          <p:nvSpPr>
            <p:cNvPr id="126" name="TextBox 944">
              <a:extLst>
                <a:ext uri="{FF2B5EF4-FFF2-40B4-BE49-F238E27FC236}">
                  <a16:creationId xmlns:a16="http://schemas.microsoft.com/office/drawing/2014/main" id="{86150117-BC40-EF2F-7BAB-9178EF882911}"/>
                </a:ext>
              </a:extLst>
            </p:cNvPr>
            <p:cNvSpPr txBox="1"/>
            <p:nvPr/>
          </p:nvSpPr>
          <p:spPr>
            <a:xfrm>
              <a:off x="6102970" y="4577795"/>
              <a:ext cx="864000" cy="200055"/>
            </a:xfrm>
            <a:prstGeom prst="rect">
              <a:avLst/>
            </a:prstGeom>
            <a:noFill/>
          </p:spPr>
          <p:txBody>
            <a:bodyPr wrap="square" lIns="0" tIns="0" rIns="0" bIns="0" rtlCol="0">
              <a:spAutoFit/>
            </a:bodyPr>
            <a:lstStyle/>
            <a:p>
              <a:pPr algn="ctr"/>
              <a:r>
                <a:rPr lang="en-US" sz="1300" dirty="0">
                  <a:latin typeface="Arial" charset="0"/>
                  <a:ea typeface="Arial" charset="0"/>
                  <a:cs typeface="Arial" charset="0"/>
                </a:rPr>
                <a:t>PDPT</a:t>
              </a:r>
            </a:p>
          </p:txBody>
        </p:sp>
      </p:grpSp>
      <p:sp>
        <p:nvSpPr>
          <p:cNvPr id="2" name="標題 1">
            <a:extLst>
              <a:ext uri="{FF2B5EF4-FFF2-40B4-BE49-F238E27FC236}">
                <a16:creationId xmlns:a16="http://schemas.microsoft.com/office/drawing/2014/main" id="{66428D7E-FE83-23C9-4ACB-C2DEDEAF8273}"/>
              </a:ext>
            </a:extLst>
          </p:cNvPr>
          <p:cNvSpPr>
            <a:spLocks noGrp="1"/>
          </p:cNvSpPr>
          <p:nvPr>
            <p:ph type="title"/>
          </p:nvPr>
        </p:nvSpPr>
        <p:spPr>
          <a:xfrm>
            <a:off x="89328" y="174625"/>
            <a:ext cx="5407814" cy="1063625"/>
          </a:xfrm>
        </p:spPr>
        <p:txBody>
          <a:bodyPr>
            <a:normAutofit fontScale="90000"/>
          </a:bodyPr>
          <a:lstStyle/>
          <a:p>
            <a:r>
              <a:rPr lang="en-US" altLang="zh-TW" dirty="0"/>
              <a:t>Huge Page Management</a:t>
            </a:r>
            <a:endParaRPr kumimoji="1" lang="zh-TW" altLang="en-US" dirty="0"/>
          </a:p>
        </p:txBody>
      </p:sp>
      <p:sp>
        <p:nvSpPr>
          <p:cNvPr id="3" name="內容版面配置區 2">
            <a:extLst>
              <a:ext uri="{FF2B5EF4-FFF2-40B4-BE49-F238E27FC236}">
                <a16:creationId xmlns:a16="http://schemas.microsoft.com/office/drawing/2014/main" id="{FF97296C-0AB1-34EB-35A2-4E4BF0C2A682}"/>
              </a:ext>
            </a:extLst>
          </p:cNvPr>
          <p:cNvSpPr>
            <a:spLocks noGrp="1"/>
          </p:cNvSpPr>
          <p:nvPr>
            <p:ph idx="1"/>
          </p:nvPr>
        </p:nvSpPr>
        <p:spPr>
          <a:xfrm>
            <a:off x="88765" y="1238250"/>
            <a:ext cx="5339163" cy="5441950"/>
          </a:xfrm>
        </p:spPr>
        <p:txBody>
          <a:bodyPr>
            <a:normAutofit fontScale="92500" lnSpcReduction="10000"/>
          </a:bodyPr>
          <a:lstStyle/>
          <a:p>
            <a:pPr algn="l"/>
            <a:r>
              <a:rPr kumimoji="1" lang="en-US" altLang="zh-TW" dirty="0"/>
              <a:t>Challenge of using 4KB page size.</a:t>
            </a:r>
          </a:p>
          <a:p>
            <a:pPr lvl="1" algn="l"/>
            <a:r>
              <a:rPr lang="en-US" altLang="zh-TW" dirty="0" err="1"/>
              <a:t>TLB_Reach</a:t>
            </a:r>
            <a:r>
              <a:rPr lang="en-US" altLang="zh-TW" dirty="0"/>
              <a:t> (</a:t>
            </a:r>
            <a:r>
              <a:rPr lang="en-US" altLang="zh-TW" dirty="0" err="1">
                <a:solidFill>
                  <a:srgbClr val="C00000"/>
                </a:solidFill>
              </a:rPr>
              <a:t>TLB_Size</a:t>
            </a:r>
            <a:r>
              <a:rPr lang="en-US" altLang="zh-TW" dirty="0">
                <a:solidFill>
                  <a:srgbClr val="C00000"/>
                </a:solidFill>
              </a:rPr>
              <a:t> X </a:t>
            </a:r>
            <a:r>
              <a:rPr lang="en-US" altLang="zh-TW" dirty="0" err="1">
                <a:solidFill>
                  <a:srgbClr val="C00000"/>
                </a:solidFill>
              </a:rPr>
              <a:t>Page_Size</a:t>
            </a:r>
            <a:r>
              <a:rPr lang="en-US" altLang="zh-TW" dirty="0"/>
              <a:t>): The amount of memory accessible from the TLB. </a:t>
            </a:r>
            <a:r>
              <a:rPr lang="en-US" altLang="zh-TW" dirty="0">
                <a:solidFill>
                  <a:srgbClr val="C00000"/>
                </a:solidFill>
              </a:rPr>
              <a:t>(High TLB Misses)</a:t>
            </a:r>
          </a:p>
          <a:p>
            <a:pPr lvl="1" algn="l"/>
            <a:r>
              <a:rPr lang="en-US" altLang="zh-TW" dirty="0"/>
              <a:t>Page Table Walk: </a:t>
            </a:r>
            <a:r>
              <a:rPr lang="en-US" altLang="zh-TW" dirty="0">
                <a:solidFill>
                  <a:srgbClr val="C00000"/>
                </a:solidFill>
              </a:rPr>
              <a:t>Up to 4 DRAM accesses </a:t>
            </a:r>
            <a:r>
              <a:rPr lang="en-US" altLang="zh-TW" dirty="0"/>
              <a:t>for translating a virtual address.</a:t>
            </a:r>
          </a:p>
          <a:p>
            <a:pPr algn="l"/>
            <a:r>
              <a:rPr kumimoji="1" lang="en-US" altLang="zh-TW" dirty="0"/>
              <a:t>Huge Page: </a:t>
            </a:r>
            <a:r>
              <a:rPr kumimoji="1" lang="en-US" altLang="zh-TW" dirty="0">
                <a:solidFill>
                  <a:srgbClr val="C00000"/>
                </a:solidFill>
              </a:rPr>
              <a:t>Large contiguous </a:t>
            </a:r>
            <a:r>
              <a:rPr kumimoji="1" lang="en-US" altLang="zh-TW" dirty="0"/>
              <a:t>(both virtual and physical) memory chunk.</a:t>
            </a:r>
          </a:p>
          <a:p>
            <a:pPr algn="l"/>
            <a:r>
              <a:rPr lang="en-US" altLang="zh-TW" dirty="0" err="1">
                <a:solidFill>
                  <a:srgbClr val="4D5156"/>
                </a:solidFill>
              </a:rPr>
              <a:t>Libhugetlbfs</a:t>
            </a:r>
            <a:r>
              <a:rPr lang="en-US" altLang="zh-TW" dirty="0">
                <a:solidFill>
                  <a:srgbClr val="4D5156"/>
                </a:solidFill>
              </a:rPr>
              <a:t>: A</a:t>
            </a:r>
            <a:r>
              <a:rPr lang="en-US" altLang="zh-TW" b="0" i="0" dirty="0">
                <a:solidFill>
                  <a:srgbClr val="4D5156"/>
                </a:solidFill>
                <a:effectLst/>
              </a:rPr>
              <a:t> library that </a:t>
            </a:r>
            <a:r>
              <a:rPr lang="en-US" altLang="zh-TW" b="0" i="0" dirty="0">
                <a:solidFill>
                  <a:srgbClr val="C00000"/>
                </a:solidFill>
                <a:effectLst/>
              </a:rPr>
              <a:t>can back </a:t>
            </a:r>
            <a:r>
              <a:rPr lang="en-US" altLang="zh-TW" b="0" i="0" dirty="0">
                <a:solidFill>
                  <a:srgbClr val="4D5156"/>
                </a:solidFill>
                <a:effectLst/>
              </a:rPr>
              <a:t>application text, data, malloc() and shared memory </a:t>
            </a:r>
            <a:r>
              <a:rPr lang="en-US" altLang="zh-TW" b="0" i="0" dirty="0">
                <a:solidFill>
                  <a:srgbClr val="C00000"/>
                </a:solidFill>
                <a:effectLst/>
              </a:rPr>
              <a:t>with huge pages</a:t>
            </a:r>
            <a:r>
              <a:rPr lang="en-US" altLang="zh-TW" b="0" i="0" dirty="0">
                <a:solidFill>
                  <a:srgbClr val="4D5156"/>
                </a:solidFill>
                <a:effectLst/>
              </a:rPr>
              <a:t>.</a:t>
            </a:r>
            <a:endParaRPr lang="en-US" altLang="zh-TW" dirty="0"/>
          </a:p>
          <a:p>
            <a:pPr algn="l"/>
            <a:r>
              <a:rPr lang="en-US" altLang="zh-TW" dirty="0"/>
              <a:t>Transparent Huge Page (THP)</a:t>
            </a:r>
          </a:p>
          <a:p>
            <a:pPr lvl="1" algn="l"/>
            <a:r>
              <a:rPr lang="en-US" altLang="zh-TW" dirty="0"/>
              <a:t>Huge Page Promotion</a:t>
            </a:r>
          </a:p>
          <a:p>
            <a:pPr lvl="1" algn="l"/>
            <a:r>
              <a:rPr kumimoji="1" lang="en-US" altLang="zh-TW" dirty="0"/>
              <a:t>Huge Page Demotion</a:t>
            </a:r>
            <a:endParaRPr kumimoji="1" lang="zh-TW" altLang="en-US" dirty="0"/>
          </a:p>
        </p:txBody>
      </p:sp>
      <p:sp>
        <p:nvSpPr>
          <p:cNvPr id="4" name="投影片編號版面配置區 3">
            <a:extLst>
              <a:ext uri="{FF2B5EF4-FFF2-40B4-BE49-F238E27FC236}">
                <a16:creationId xmlns:a16="http://schemas.microsoft.com/office/drawing/2014/main" id="{21869C81-76C6-C0E6-E701-8D727517B833}"/>
              </a:ext>
            </a:extLst>
          </p:cNvPr>
          <p:cNvSpPr>
            <a:spLocks noGrp="1"/>
          </p:cNvSpPr>
          <p:nvPr>
            <p:ph type="sldNum" sz="quarter" idx="4"/>
          </p:nvPr>
        </p:nvSpPr>
        <p:spPr/>
        <p:txBody>
          <a:bodyPr/>
          <a:lstStyle/>
          <a:p>
            <a:fld id="{E24E6636-6BA5-4AAC-8485-BE8D914D288B}" type="slidenum">
              <a:rPr lang="zh-TW" altLang="en-US" smtClean="0"/>
              <a:pPr/>
              <a:t>36</a:t>
            </a:fld>
            <a:endParaRPr lang="zh-TW" altLang="en-US" dirty="0"/>
          </a:p>
        </p:txBody>
      </p:sp>
      <p:sp>
        <p:nvSpPr>
          <p:cNvPr id="5" name="Rectangle 826">
            <a:extLst>
              <a:ext uri="{FF2B5EF4-FFF2-40B4-BE49-F238E27FC236}">
                <a16:creationId xmlns:a16="http://schemas.microsoft.com/office/drawing/2014/main" id="{51C5F2E6-023E-22C7-1F24-E5E738A1196D}"/>
              </a:ext>
            </a:extLst>
          </p:cNvPr>
          <p:cNvSpPr/>
          <p:nvPr/>
        </p:nvSpPr>
        <p:spPr>
          <a:xfrm>
            <a:off x="5661116" y="318940"/>
            <a:ext cx="6353084" cy="155106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r>
              <a:rPr lang="en-US" dirty="0">
                <a:solidFill>
                  <a:schemeClr val="tx1"/>
                </a:solidFill>
                <a:latin typeface="Arial" charset="0"/>
                <a:ea typeface="Arial" charset="0"/>
                <a:cs typeface="Arial" charset="0"/>
              </a:rPr>
              <a:t>CPU</a:t>
            </a:r>
          </a:p>
        </p:txBody>
      </p:sp>
      <p:sp>
        <p:nvSpPr>
          <p:cNvPr id="7" name="Rectangle 829">
            <a:extLst>
              <a:ext uri="{FF2B5EF4-FFF2-40B4-BE49-F238E27FC236}">
                <a16:creationId xmlns:a16="http://schemas.microsoft.com/office/drawing/2014/main" id="{7BE5C1DA-7067-B059-CDB8-E5A4F1629E60}"/>
              </a:ext>
            </a:extLst>
          </p:cNvPr>
          <p:cNvSpPr/>
          <p:nvPr/>
        </p:nvSpPr>
        <p:spPr>
          <a:xfrm>
            <a:off x="5661116" y="5531800"/>
            <a:ext cx="6353084" cy="1148400"/>
          </a:xfrm>
          <a:prstGeom prst="rect">
            <a:avLst/>
          </a:prstGeom>
          <a:solidFill>
            <a:srgbClr val="E6968A"/>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latin typeface="Arial" charset="0"/>
                <a:ea typeface="Arial" charset="0"/>
                <a:cs typeface="Arial" charset="0"/>
              </a:rPr>
              <a:t>Swap Area (e.g., Storage Devices)</a:t>
            </a:r>
          </a:p>
        </p:txBody>
      </p:sp>
      <p:sp>
        <p:nvSpPr>
          <p:cNvPr id="8" name="Rectangle 830">
            <a:extLst>
              <a:ext uri="{FF2B5EF4-FFF2-40B4-BE49-F238E27FC236}">
                <a16:creationId xmlns:a16="http://schemas.microsoft.com/office/drawing/2014/main" id="{5DA25F51-4C55-792B-09E5-EBCF143B719E}"/>
              </a:ext>
            </a:extLst>
          </p:cNvPr>
          <p:cNvSpPr/>
          <p:nvPr/>
        </p:nvSpPr>
        <p:spPr>
          <a:xfrm>
            <a:off x="7996269" y="663953"/>
            <a:ext cx="3957852" cy="1117234"/>
          </a:xfrm>
          <a:prstGeom prst="rect">
            <a:avLst/>
          </a:prstGeom>
          <a:solidFill>
            <a:schemeClr val="bg2">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dirty="0">
              <a:solidFill>
                <a:schemeClr val="tx1"/>
              </a:solidFill>
              <a:latin typeface="Arial" charset="0"/>
              <a:ea typeface="Arial" charset="0"/>
              <a:cs typeface="Arial" charset="0"/>
            </a:endParaRPr>
          </a:p>
        </p:txBody>
      </p:sp>
      <p:sp>
        <p:nvSpPr>
          <p:cNvPr id="9" name="Rectangle 834">
            <a:extLst>
              <a:ext uri="{FF2B5EF4-FFF2-40B4-BE49-F238E27FC236}">
                <a16:creationId xmlns:a16="http://schemas.microsoft.com/office/drawing/2014/main" id="{99FF26CD-A3E8-9C80-4415-9AB8F51063D6}"/>
              </a:ext>
            </a:extLst>
          </p:cNvPr>
          <p:cNvSpPr/>
          <p:nvPr/>
        </p:nvSpPr>
        <p:spPr>
          <a:xfrm>
            <a:off x="5735878" y="663955"/>
            <a:ext cx="1817964" cy="1116789"/>
          </a:xfrm>
          <a:prstGeom prst="rect">
            <a:avLst/>
          </a:prstGeom>
          <a:solidFill>
            <a:schemeClr val="bg2">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Arial" charset="0"/>
                <a:ea typeface="Arial" charset="0"/>
                <a:cs typeface="Arial" charset="0"/>
              </a:rPr>
              <a:t>MMU</a:t>
            </a:r>
            <a:endParaRPr lang="en-US" dirty="0">
              <a:solidFill>
                <a:schemeClr val="tx1"/>
              </a:solidFill>
              <a:latin typeface="Arial" charset="0"/>
              <a:ea typeface="Arial" charset="0"/>
              <a:cs typeface="Arial" charset="0"/>
            </a:endParaRPr>
          </a:p>
        </p:txBody>
      </p:sp>
      <p:cxnSp>
        <p:nvCxnSpPr>
          <p:cNvPr id="11" name="Straight Arrow Connector 836">
            <a:extLst>
              <a:ext uri="{FF2B5EF4-FFF2-40B4-BE49-F238E27FC236}">
                <a16:creationId xmlns:a16="http://schemas.microsoft.com/office/drawing/2014/main" id="{B04A7A5F-07FC-F317-6B24-451D6E71F38C}"/>
              </a:ext>
            </a:extLst>
          </p:cNvPr>
          <p:cNvCxnSpPr/>
          <p:nvPr/>
        </p:nvCxnSpPr>
        <p:spPr>
          <a:xfrm flipH="1">
            <a:off x="7577055" y="1257178"/>
            <a:ext cx="396000" cy="0"/>
          </a:xfrm>
          <a:prstGeom prst="straightConnector1">
            <a:avLst/>
          </a:prstGeom>
          <a:ln w="69850">
            <a:solidFill>
              <a:schemeClr val="bg2">
                <a:lumMod val="75000"/>
              </a:schemeClr>
            </a:solidFill>
            <a:prstDash val="sysDot"/>
            <a:headEnd type="triangle"/>
            <a:tailEnd type="none"/>
          </a:ln>
        </p:spPr>
        <p:style>
          <a:lnRef idx="1">
            <a:schemeClr val="accent1"/>
          </a:lnRef>
          <a:fillRef idx="0">
            <a:schemeClr val="accent1"/>
          </a:fillRef>
          <a:effectRef idx="0">
            <a:schemeClr val="accent1"/>
          </a:effectRef>
          <a:fontRef idx="minor">
            <a:schemeClr val="tx1"/>
          </a:fontRef>
        </p:style>
      </p:cxnSp>
      <p:sp>
        <p:nvSpPr>
          <p:cNvPr id="18" name="Rounded Rectangle 843">
            <a:extLst>
              <a:ext uri="{FF2B5EF4-FFF2-40B4-BE49-F238E27FC236}">
                <a16:creationId xmlns:a16="http://schemas.microsoft.com/office/drawing/2014/main" id="{9ACA6D6E-943A-E5B0-1305-6C84899141BB}"/>
              </a:ext>
            </a:extLst>
          </p:cNvPr>
          <p:cNvSpPr/>
          <p:nvPr/>
        </p:nvSpPr>
        <p:spPr>
          <a:xfrm>
            <a:off x="10545182" y="4121517"/>
            <a:ext cx="1395589" cy="586800"/>
          </a:xfrm>
          <a:prstGeom prst="roundRect">
            <a:avLst>
              <a:gd name="adj" fmla="val 40165"/>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charset="0"/>
                <a:ea typeface="Arial" charset="0"/>
                <a:cs typeface="Arial" charset="0"/>
              </a:rPr>
              <a:t>Huge Page</a:t>
            </a:r>
          </a:p>
        </p:txBody>
      </p:sp>
      <p:sp>
        <p:nvSpPr>
          <p:cNvPr id="20" name="TextBox 845">
            <a:extLst>
              <a:ext uri="{FF2B5EF4-FFF2-40B4-BE49-F238E27FC236}">
                <a16:creationId xmlns:a16="http://schemas.microsoft.com/office/drawing/2014/main" id="{93E9271C-D71A-3449-9B46-51271B8E0D83}"/>
              </a:ext>
            </a:extLst>
          </p:cNvPr>
          <p:cNvSpPr txBox="1"/>
          <p:nvPr/>
        </p:nvSpPr>
        <p:spPr>
          <a:xfrm>
            <a:off x="6916023" y="5675618"/>
            <a:ext cx="492443" cy="461665"/>
          </a:xfrm>
          <a:prstGeom prst="rect">
            <a:avLst/>
          </a:prstGeom>
          <a:noFill/>
        </p:spPr>
        <p:txBody>
          <a:bodyPr wrap="none" rtlCol="0">
            <a:spAutoFit/>
          </a:bodyPr>
          <a:lstStyle/>
          <a:p>
            <a:r>
              <a:rPr lang="mr-IN" sz="2400" b="1" dirty="0">
                <a:latin typeface="Arial" charset="0"/>
                <a:ea typeface="Arial" charset="0"/>
                <a:cs typeface="Arial" charset="0"/>
              </a:rPr>
              <a:t>…</a:t>
            </a:r>
            <a:endParaRPr lang="en-US" sz="2400" b="1" dirty="0">
              <a:latin typeface="Arial" charset="0"/>
              <a:ea typeface="Arial" charset="0"/>
              <a:cs typeface="Arial" charset="0"/>
            </a:endParaRPr>
          </a:p>
        </p:txBody>
      </p:sp>
      <p:sp>
        <p:nvSpPr>
          <p:cNvPr id="22" name="TextBox 847">
            <a:extLst>
              <a:ext uri="{FF2B5EF4-FFF2-40B4-BE49-F238E27FC236}">
                <a16:creationId xmlns:a16="http://schemas.microsoft.com/office/drawing/2014/main" id="{BB4F1163-7AD7-C273-C2AD-F84DB0A8837C}"/>
              </a:ext>
            </a:extLst>
          </p:cNvPr>
          <p:cNvSpPr txBox="1"/>
          <p:nvPr/>
        </p:nvSpPr>
        <p:spPr>
          <a:xfrm>
            <a:off x="8609033" y="5644339"/>
            <a:ext cx="492443" cy="461665"/>
          </a:xfrm>
          <a:prstGeom prst="rect">
            <a:avLst/>
          </a:prstGeom>
          <a:noFill/>
        </p:spPr>
        <p:txBody>
          <a:bodyPr wrap="none" rtlCol="0">
            <a:spAutoFit/>
          </a:bodyPr>
          <a:lstStyle/>
          <a:p>
            <a:r>
              <a:rPr lang="mr-IN" sz="2400" b="1" dirty="0">
                <a:latin typeface="Arial" charset="0"/>
                <a:ea typeface="Arial" charset="0"/>
                <a:cs typeface="Arial" charset="0"/>
              </a:rPr>
              <a:t>…</a:t>
            </a:r>
            <a:endParaRPr lang="en-US" sz="2400" b="1" dirty="0">
              <a:latin typeface="Arial" charset="0"/>
              <a:ea typeface="Arial" charset="0"/>
              <a:cs typeface="Arial" charset="0"/>
            </a:endParaRPr>
          </a:p>
        </p:txBody>
      </p:sp>
      <p:sp>
        <p:nvSpPr>
          <p:cNvPr id="23" name="TextBox 848">
            <a:extLst>
              <a:ext uri="{FF2B5EF4-FFF2-40B4-BE49-F238E27FC236}">
                <a16:creationId xmlns:a16="http://schemas.microsoft.com/office/drawing/2014/main" id="{28095975-909C-5C40-01AD-AB544AFE6E00}"/>
              </a:ext>
            </a:extLst>
          </p:cNvPr>
          <p:cNvSpPr txBox="1"/>
          <p:nvPr/>
        </p:nvSpPr>
        <p:spPr>
          <a:xfrm>
            <a:off x="10266997" y="5661105"/>
            <a:ext cx="492443" cy="461665"/>
          </a:xfrm>
          <a:prstGeom prst="rect">
            <a:avLst/>
          </a:prstGeom>
          <a:noFill/>
        </p:spPr>
        <p:txBody>
          <a:bodyPr wrap="none" rtlCol="0">
            <a:spAutoFit/>
          </a:bodyPr>
          <a:lstStyle/>
          <a:p>
            <a:r>
              <a:rPr lang="mr-IN" sz="2400" b="1" dirty="0">
                <a:latin typeface="Arial" charset="0"/>
                <a:ea typeface="Arial" charset="0"/>
                <a:cs typeface="Arial" charset="0"/>
              </a:rPr>
              <a:t>…</a:t>
            </a:r>
            <a:endParaRPr lang="en-US" sz="2400" b="1" dirty="0">
              <a:latin typeface="Arial" charset="0"/>
              <a:ea typeface="Arial" charset="0"/>
              <a:cs typeface="Arial" charset="0"/>
            </a:endParaRPr>
          </a:p>
        </p:txBody>
      </p:sp>
      <p:grpSp>
        <p:nvGrpSpPr>
          <p:cNvPr id="40" name="Group 867">
            <a:extLst>
              <a:ext uri="{FF2B5EF4-FFF2-40B4-BE49-F238E27FC236}">
                <a16:creationId xmlns:a16="http://schemas.microsoft.com/office/drawing/2014/main" id="{B48A2713-50D7-59D6-AA85-7BBA4BF3EAC1}"/>
              </a:ext>
            </a:extLst>
          </p:cNvPr>
          <p:cNvGrpSpPr/>
          <p:nvPr/>
        </p:nvGrpSpPr>
        <p:grpSpPr>
          <a:xfrm>
            <a:off x="5740191" y="5692387"/>
            <a:ext cx="1080249" cy="586800"/>
            <a:chOff x="2962551" y="5644013"/>
            <a:chExt cx="1080249" cy="586800"/>
          </a:xfrm>
        </p:grpSpPr>
        <p:sp>
          <p:nvSpPr>
            <p:cNvPr id="41" name="Rounded Rectangle 868">
              <a:extLst>
                <a:ext uri="{FF2B5EF4-FFF2-40B4-BE49-F238E27FC236}">
                  <a16:creationId xmlns:a16="http://schemas.microsoft.com/office/drawing/2014/main" id="{1F27F8B1-CFA7-89F6-8FB1-6E2FC41DC1F4}"/>
                </a:ext>
              </a:extLst>
            </p:cNvPr>
            <p:cNvSpPr/>
            <p:nvPr/>
          </p:nvSpPr>
          <p:spPr>
            <a:xfrm>
              <a:off x="3682237" y="5644013"/>
              <a:ext cx="180000" cy="586800"/>
            </a:xfrm>
            <a:prstGeom prst="roundRect">
              <a:avLst>
                <a:gd name="adj" fmla="val 40165"/>
              </a:avLst>
            </a:prstGeom>
            <a:solidFill>
              <a:schemeClr val="accent4">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grpSp>
          <p:nvGrpSpPr>
            <p:cNvPr id="42" name="Group 869">
              <a:extLst>
                <a:ext uri="{FF2B5EF4-FFF2-40B4-BE49-F238E27FC236}">
                  <a16:creationId xmlns:a16="http://schemas.microsoft.com/office/drawing/2014/main" id="{D4C6823E-73D6-4947-6CEF-564B2167E4F5}"/>
                </a:ext>
              </a:extLst>
            </p:cNvPr>
            <p:cNvGrpSpPr/>
            <p:nvPr/>
          </p:nvGrpSpPr>
          <p:grpSpPr>
            <a:xfrm>
              <a:off x="2962551" y="5644013"/>
              <a:ext cx="1080249" cy="586800"/>
              <a:chOff x="2962551" y="5644013"/>
              <a:chExt cx="1080249" cy="586800"/>
            </a:xfrm>
          </p:grpSpPr>
          <p:sp>
            <p:nvSpPr>
              <p:cNvPr id="43" name="Rounded Rectangle 870">
                <a:extLst>
                  <a:ext uri="{FF2B5EF4-FFF2-40B4-BE49-F238E27FC236}">
                    <a16:creationId xmlns:a16="http://schemas.microsoft.com/office/drawing/2014/main" id="{C7C2B696-D0BC-3CF8-A269-90BD88061984}"/>
                  </a:ext>
                </a:extLst>
              </p:cNvPr>
              <p:cNvSpPr/>
              <p:nvPr/>
            </p:nvSpPr>
            <p:spPr>
              <a:xfrm>
                <a:off x="2962551" y="5644013"/>
                <a:ext cx="180000" cy="586800"/>
              </a:xfrm>
              <a:prstGeom prst="roundRect">
                <a:avLst>
                  <a:gd name="adj" fmla="val 40165"/>
                </a:avLst>
              </a:prstGeom>
              <a:solidFill>
                <a:schemeClr val="accent4">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sp>
            <p:nvSpPr>
              <p:cNvPr id="44" name="Rounded Rectangle 871">
                <a:extLst>
                  <a:ext uri="{FF2B5EF4-FFF2-40B4-BE49-F238E27FC236}">
                    <a16:creationId xmlns:a16="http://schemas.microsoft.com/office/drawing/2014/main" id="{6F2F402F-3D75-AF72-316A-3BCB659894FC}"/>
                  </a:ext>
                </a:extLst>
              </p:cNvPr>
              <p:cNvSpPr/>
              <p:nvPr/>
            </p:nvSpPr>
            <p:spPr>
              <a:xfrm>
                <a:off x="3142237" y="5644013"/>
                <a:ext cx="180000" cy="586800"/>
              </a:xfrm>
              <a:prstGeom prst="roundRect">
                <a:avLst>
                  <a:gd name="adj" fmla="val 40165"/>
                </a:avLst>
              </a:prstGeom>
              <a:solidFill>
                <a:schemeClr val="accent4">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sp>
            <p:nvSpPr>
              <p:cNvPr id="45" name="Rounded Rectangle 872">
                <a:extLst>
                  <a:ext uri="{FF2B5EF4-FFF2-40B4-BE49-F238E27FC236}">
                    <a16:creationId xmlns:a16="http://schemas.microsoft.com/office/drawing/2014/main" id="{B056CE76-3D75-4C1D-27D1-92E63CD1435F}"/>
                  </a:ext>
                </a:extLst>
              </p:cNvPr>
              <p:cNvSpPr/>
              <p:nvPr/>
            </p:nvSpPr>
            <p:spPr>
              <a:xfrm>
                <a:off x="3322237" y="5644013"/>
                <a:ext cx="180000" cy="586800"/>
              </a:xfrm>
              <a:prstGeom prst="roundRect">
                <a:avLst>
                  <a:gd name="adj" fmla="val 40165"/>
                </a:avLst>
              </a:prstGeom>
              <a:solidFill>
                <a:schemeClr val="accent4">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sp>
            <p:nvSpPr>
              <p:cNvPr id="46" name="Rounded Rectangle 873">
                <a:extLst>
                  <a:ext uri="{FF2B5EF4-FFF2-40B4-BE49-F238E27FC236}">
                    <a16:creationId xmlns:a16="http://schemas.microsoft.com/office/drawing/2014/main" id="{0ABE0062-847B-30CC-0C04-462016F229A9}"/>
                  </a:ext>
                </a:extLst>
              </p:cNvPr>
              <p:cNvSpPr/>
              <p:nvPr/>
            </p:nvSpPr>
            <p:spPr>
              <a:xfrm>
                <a:off x="3502237" y="5644013"/>
                <a:ext cx="180000" cy="586800"/>
              </a:xfrm>
              <a:prstGeom prst="roundRect">
                <a:avLst>
                  <a:gd name="adj" fmla="val 40165"/>
                </a:avLst>
              </a:prstGeom>
              <a:solidFill>
                <a:schemeClr val="accent4">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sp>
            <p:nvSpPr>
              <p:cNvPr id="47" name="Rounded Rectangle 874">
                <a:extLst>
                  <a:ext uri="{FF2B5EF4-FFF2-40B4-BE49-F238E27FC236}">
                    <a16:creationId xmlns:a16="http://schemas.microsoft.com/office/drawing/2014/main" id="{B42F3981-0EC6-4A6B-F9ED-E6F8857FE6D0}"/>
                  </a:ext>
                </a:extLst>
              </p:cNvPr>
              <p:cNvSpPr/>
              <p:nvPr/>
            </p:nvSpPr>
            <p:spPr>
              <a:xfrm>
                <a:off x="3862800" y="5644013"/>
                <a:ext cx="180000" cy="586800"/>
              </a:xfrm>
              <a:prstGeom prst="roundRect">
                <a:avLst>
                  <a:gd name="adj" fmla="val 40165"/>
                </a:avLst>
              </a:prstGeom>
              <a:solidFill>
                <a:schemeClr val="accent4">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grpSp>
      </p:grpSp>
      <p:sp>
        <p:nvSpPr>
          <p:cNvPr id="48" name="TextBox 875">
            <a:extLst>
              <a:ext uri="{FF2B5EF4-FFF2-40B4-BE49-F238E27FC236}">
                <a16:creationId xmlns:a16="http://schemas.microsoft.com/office/drawing/2014/main" id="{7253B92D-47E7-3C76-9C02-F84E39BCD90F}"/>
              </a:ext>
            </a:extLst>
          </p:cNvPr>
          <p:cNvSpPr txBox="1"/>
          <p:nvPr/>
        </p:nvSpPr>
        <p:spPr>
          <a:xfrm>
            <a:off x="5837545" y="5694150"/>
            <a:ext cx="864000" cy="553998"/>
          </a:xfrm>
          <a:prstGeom prst="rect">
            <a:avLst/>
          </a:prstGeom>
          <a:noFill/>
        </p:spPr>
        <p:txBody>
          <a:bodyPr wrap="square" lIns="0" tIns="0" rIns="0" bIns="0" rtlCol="0">
            <a:spAutoFit/>
          </a:bodyPr>
          <a:lstStyle/>
          <a:p>
            <a:pPr algn="ctr"/>
            <a:r>
              <a:rPr lang="en-US" dirty="0">
                <a:latin typeface="Arial" charset="0"/>
                <a:ea typeface="Arial" charset="0"/>
                <a:cs typeface="Arial" charset="0"/>
              </a:rPr>
              <a:t>Regular Pages</a:t>
            </a:r>
          </a:p>
        </p:txBody>
      </p:sp>
      <p:grpSp>
        <p:nvGrpSpPr>
          <p:cNvPr id="49" name="Group 876">
            <a:extLst>
              <a:ext uri="{FF2B5EF4-FFF2-40B4-BE49-F238E27FC236}">
                <a16:creationId xmlns:a16="http://schemas.microsoft.com/office/drawing/2014/main" id="{9143A021-DB1E-9936-92D5-BA36989D6E72}"/>
              </a:ext>
            </a:extLst>
          </p:cNvPr>
          <p:cNvGrpSpPr/>
          <p:nvPr/>
        </p:nvGrpSpPr>
        <p:grpSpPr>
          <a:xfrm>
            <a:off x="7553846" y="5683345"/>
            <a:ext cx="1080249" cy="586800"/>
            <a:chOff x="2962551" y="5644013"/>
            <a:chExt cx="1080249" cy="586800"/>
          </a:xfrm>
        </p:grpSpPr>
        <p:sp>
          <p:nvSpPr>
            <p:cNvPr id="50" name="Rounded Rectangle 877">
              <a:extLst>
                <a:ext uri="{FF2B5EF4-FFF2-40B4-BE49-F238E27FC236}">
                  <a16:creationId xmlns:a16="http://schemas.microsoft.com/office/drawing/2014/main" id="{1BA15B1D-95D5-F7C1-EDE0-E95F20E585F5}"/>
                </a:ext>
              </a:extLst>
            </p:cNvPr>
            <p:cNvSpPr/>
            <p:nvPr/>
          </p:nvSpPr>
          <p:spPr>
            <a:xfrm>
              <a:off x="3682237" y="5644013"/>
              <a:ext cx="180000" cy="586800"/>
            </a:xfrm>
            <a:prstGeom prst="roundRect">
              <a:avLst>
                <a:gd name="adj" fmla="val 40165"/>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grpSp>
          <p:nvGrpSpPr>
            <p:cNvPr id="51" name="Group 878">
              <a:extLst>
                <a:ext uri="{FF2B5EF4-FFF2-40B4-BE49-F238E27FC236}">
                  <a16:creationId xmlns:a16="http://schemas.microsoft.com/office/drawing/2014/main" id="{6B329188-A53D-0127-14E3-68137A8A0E15}"/>
                </a:ext>
              </a:extLst>
            </p:cNvPr>
            <p:cNvGrpSpPr/>
            <p:nvPr/>
          </p:nvGrpSpPr>
          <p:grpSpPr>
            <a:xfrm>
              <a:off x="2962551" y="5644013"/>
              <a:ext cx="1080249" cy="586800"/>
              <a:chOff x="2962551" y="5644013"/>
              <a:chExt cx="1080249" cy="586800"/>
            </a:xfrm>
          </p:grpSpPr>
          <p:sp>
            <p:nvSpPr>
              <p:cNvPr id="52" name="Rounded Rectangle 879">
                <a:extLst>
                  <a:ext uri="{FF2B5EF4-FFF2-40B4-BE49-F238E27FC236}">
                    <a16:creationId xmlns:a16="http://schemas.microsoft.com/office/drawing/2014/main" id="{4386AA4D-DD1E-DAC8-AC0A-B3EEBFA9F80E}"/>
                  </a:ext>
                </a:extLst>
              </p:cNvPr>
              <p:cNvSpPr/>
              <p:nvPr/>
            </p:nvSpPr>
            <p:spPr>
              <a:xfrm>
                <a:off x="2962551" y="5644013"/>
                <a:ext cx="180000" cy="586800"/>
              </a:xfrm>
              <a:prstGeom prst="roundRect">
                <a:avLst>
                  <a:gd name="adj" fmla="val 40165"/>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sp>
            <p:nvSpPr>
              <p:cNvPr id="53" name="Rounded Rectangle 880">
                <a:extLst>
                  <a:ext uri="{FF2B5EF4-FFF2-40B4-BE49-F238E27FC236}">
                    <a16:creationId xmlns:a16="http://schemas.microsoft.com/office/drawing/2014/main" id="{F65F9535-1674-610A-0A33-E67B17F70FC3}"/>
                  </a:ext>
                </a:extLst>
              </p:cNvPr>
              <p:cNvSpPr/>
              <p:nvPr/>
            </p:nvSpPr>
            <p:spPr>
              <a:xfrm>
                <a:off x="3142237" y="5644013"/>
                <a:ext cx="180000" cy="586800"/>
              </a:xfrm>
              <a:prstGeom prst="roundRect">
                <a:avLst>
                  <a:gd name="adj" fmla="val 40165"/>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sp>
            <p:nvSpPr>
              <p:cNvPr id="54" name="Rounded Rectangle 881">
                <a:extLst>
                  <a:ext uri="{FF2B5EF4-FFF2-40B4-BE49-F238E27FC236}">
                    <a16:creationId xmlns:a16="http://schemas.microsoft.com/office/drawing/2014/main" id="{E5AB91C6-7335-9443-208D-4E6DC7C66228}"/>
                  </a:ext>
                </a:extLst>
              </p:cNvPr>
              <p:cNvSpPr/>
              <p:nvPr/>
            </p:nvSpPr>
            <p:spPr>
              <a:xfrm>
                <a:off x="3322237" y="5644013"/>
                <a:ext cx="180000" cy="586800"/>
              </a:xfrm>
              <a:prstGeom prst="roundRect">
                <a:avLst>
                  <a:gd name="adj" fmla="val 40165"/>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sp>
            <p:nvSpPr>
              <p:cNvPr id="55" name="Rounded Rectangle 882">
                <a:extLst>
                  <a:ext uri="{FF2B5EF4-FFF2-40B4-BE49-F238E27FC236}">
                    <a16:creationId xmlns:a16="http://schemas.microsoft.com/office/drawing/2014/main" id="{9FD89415-59ED-AE55-4F4B-743DC74288B4}"/>
                  </a:ext>
                </a:extLst>
              </p:cNvPr>
              <p:cNvSpPr/>
              <p:nvPr/>
            </p:nvSpPr>
            <p:spPr>
              <a:xfrm>
                <a:off x="3502237" y="5644013"/>
                <a:ext cx="180000" cy="586800"/>
              </a:xfrm>
              <a:prstGeom prst="roundRect">
                <a:avLst>
                  <a:gd name="adj" fmla="val 40165"/>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sp>
            <p:nvSpPr>
              <p:cNvPr id="56" name="Rounded Rectangle 883">
                <a:extLst>
                  <a:ext uri="{FF2B5EF4-FFF2-40B4-BE49-F238E27FC236}">
                    <a16:creationId xmlns:a16="http://schemas.microsoft.com/office/drawing/2014/main" id="{848733F8-6EDB-8BA9-4123-5680F44CE5CB}"/>
                  </a:ext>
                </a:extLst>
              </p:cNvPr>
              <p:cNvSpPr/>
              <p:nvPr/>
            </p:nvSpPr>
            <p:spPr>
              <a:xfrm>
                <a:off x="3862800" y="5644013"/>
                <a:ext cx="180000" cy="586800"/>
              </a:xfrm>
              <a:prstGeom prst="roundRect">
                <a:avLst>
                  <a:gd name="adj" fmla="val 40165"/>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grpSp>
      </p:grpSp>
      <p:grpSp>
        <p:nvGrpSpPr>
          <p:cNvPr id="57" name="Group 884">
            <a:extLst>
              <a:ext uri="{FF2B5EF4-FFF2-40B4-BE49-F238E27FC236}">
                <a16:creationId xmlns:a16="http://schemas.microsoft.com/office/drawing/2014/main" id="{B45915BE-D18E-59CE-D5E4-C82C4977E367}"/>
              </a:ext>
            </a:extLst>
          </p:cNvPr>
          <p:cNvGrpSpPr/>
          <p:nvPr/>
        </p:nvGrpSpPr>
        <p:grpSpPr>
          <a:xfrm>
            <a:off x="9204300" y="5692387"/>
            <a:ext cx="1080249" cy="586800"/>
            <a:chOff x="2962551" y="5644013"/>
            <a:chExt cx="1080249" cy="586800"/>
          </a:xfrm>
        </p:grpSpPr>
        <p:sp>
          <p:nvSpPr>
            <p:cNvPr id="58" name="Rounded Rectangle 885">
              <a:extLst>
                <a:ext uri="{FF2B5EF4-FFF2-40B4-BE49-F238E27FC236}">
                  <a16:creationId xmlns:a16="http://schemas.microsoft.com/office/drawing/2014/main" id="{A4E60C9A-5C88-2FF5-4794-5D684ACE566D}"/>
                </a:ext>
              </a:extLst>
            </p:cNvPr>
            <p:cNvSpPr/>
            <p:nvPr/>
          </p:nvSpPr>
          <p:spPr>
            <a:xfrm>
              <a:off x="3682237" y="5644013"/>
              <a:ext cx="180000" cy="586800"/>
            </a:xfrm>
            <a:prstGeom prst="roundRect">
              <a:avLst>
                <a:gd name="adj" fmla="val 40165"/>
              </a:avLst>
            </a:prstGeom>
            <a:solidFill>
              <a:schemeClr val="accent4">
                <a:lumMod val="40000"/>
                <a:lumOff val="60000"/>
              </a:schemeClr>
            </a:solidFill>
            <a:ln>
              <a:solidFill>
                <a:schemeClr val="tx1"/>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grpSp>
          <p:nvGrpSpPr>
            <p:cNvPr id="59" name="Group 886">
              <a:extLst>
                <a:ext uri="{FF2B5EF4-FFF2-40B4-BE49-F238E27FC236}">
                  <a16:creationId xmlns:a16="http://schemas.microsoft.com/office/drawing/2014/main" id="{116E0F88-E815-7155-1476-8A490379AE46}"/>
                </a:ext>
              </a:extLst>
            </p:cNvPr>
            <p:cNvGrpSpPr/>
            <p:nvPr/>
          </p:nvGrpSpPr>
          <p:grpSpPr>
            <a:xfrm>
              <a:off x="2962551" y="5644013"/>
              <a:ext cx="1080249" cy="586800"/>
              <a:chOff x="2962551" y="5644013"/>
              <a:chExt cx="1080249" cy="586800"/>
            </a:xfrm>
          </p:grpSpPr>
          <p:sp>
            <p:nvSpPr>
              <p:cNvPr id="60" name="Rounded Rectangle 887">
                <a:extLst>
                  <a:ext uri="{FF2B5EF4-FFF2-40B4-BE49-F238E27FC236}">
                    <a16:creationId xmlns:a16="http://schemas.microsoft.com/office/drawing/2014/main" id="{AB755D4C-9AF9-581A-F94D-FC8680CD7B3B}"/>
                  </a:ext>
                </a:extLst>
              </p:cNvPr>
              <p:cNvSpPr/>
              <p:nvPr/>
            </p:nvSpPr>
            <p:spPr>
              <a:xfrm>
                <a:off x="2962551" y="5644013"/>
                <a:ext cx="180000" cy="586800"/>
              </a:xfrm>
              <a:prstGeom prst="roundRect">
                <a:avLst>
                  <a:gd name="adj" fmla="val 40165"/>
                </a:avLst>
              </a:prstGeom>
              <a:solidFill>
                <a:schemeClr val="accent4">
                  <a:lumMod val="40000"/>
                  <a:lumOff val="60000"/>
                </a:schemeClr>
              </a:solidFill>
              <a:ln>
                <a:solidFill>
                  <a:schemeClr val="tx1"/>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sp>
            <p:nvSpPr>
              <p:cNvPr id="61" name="Rounded Rectangle 888">
                <a:extLst>
                  <a:ext uri="{FF2B5EF4-FFF2-40B4-BE49-F238E27FC236}">
                    <a16:creationId xmlns:a16="http://schemas.microsoft.com/office/drawing/2014/main" id="{18C3A312-ABD0-E43B-A7CF-C68F056B8F5F}"/>
                  </a:ext>
                </a:extLst>
              </p:cNvPr>
              <p:cNvSpPr/>
              <p:nvPr/>
            </p:nvSpPr>
            <p:spPr>
              <a:xfrm>
                <a:off x="3142237" y="5644013"/>
                <a:ext cx="180000" cy="586800"/>
              </a:xfrm>
              <a:prstGeom prst="roundRect">
                <a:avLst>
                  <a:gd name="adj" fmla="val 40165"/>
                </a:avLst>
              </a:prstGeom>
              <a:solidFill>
                <a:schemeClr val="accent4">
                  <a:lumMod val="40000"/>
                  <a:lumOff val="60000"/>
                </a:schemeClr>
              </a:solidFill>
              <a:ln>
                <a:solidFill>
                  <a:schemeClr val="tx1"/>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sp>
            <p:nvSpPr>
              <p:cNvPr id="62" name="Rounded Rectangle 889">
                <a:extLst>
                  <a:ext uri="{FF2B5EF4-FFF2-40B4-BE49-F238E27FC236}">
                    <a16:creationId xmlns:a16="http://schemas.microsoft.com/office/drawing/2014/main" id="{CAC92788-40AD-D68B-288B-ABDF7092E8FD}"/>
                  </a:ext>
                </a:extLst>
              </p:cNvPr>
              <p:cNvSpPr/>
              <p:nvPr/>
            </p:nvSpPr>
            <p:spPr>
              <a:xfrm>
                <a:off x="3322237" y="5644013"/>
                <a:ext cx="180000" cy="586800"/>
              </a:xfrm>
              <a:prstGeom prst="roundRect">
                <a:avLst>
                  <a:gd name="adj" fmla="val 40165"/>
                </a:avLst>
              </a:prstGeom>
              <a:solidFill>
                <a:schemeClr val="accent4">
                  <a:lumMod val="40000"/>
                  <a:lumOff val="60000"/>
                </a:schemeClr>
              </a:solidFill>
              <a:ln>
                <a:solidFill>
                  <a:schemeClr val="tx1"/>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sp>
            <p:nvSpPr>
              <p:cNvPr id="63" name="Rounded Rectangle 890">
                <a:extLst>
                  <a:ext uri="{FF2B5EF4-FFF2-40B4-BE49-F238E27FC236}">
                    <a16:creationId xmlns:a16="http://schemas.microsoft.com/office/drawing/2014/main" id="{65D6EAA6-0F09-7395-508C-18BF16DD0E79}"/>
                  </a:ext>
                </a:extLst>
              </p:cNvPr>
              <p:cNvSpPr/>
              <p:nvPr/>
            </p:nvSpPr>
            <p:spPr>
              <a:xfrm>
                <a:off x="3502237" y="5644013"/>
                <a:ext cx="180000" cy="586800"/>
              </a:xfrm>
              <a:prstGeom prst="roundRect">
                <a:avLst>
                  <a:gd name="adj" fmla="val 40165"/>
                </a:avLst>
              </a:prstGeom>
              <a:solidFill>
                <a:schemeClr val="accent4">
                  <a:lumMod val="40000"/>
                  <a:lumOff val="60000"/>
                </a:schemeClr>
              </a:solidFill>
              <a:ln>
                <a:solidFill>
                  <a:schemeClr val="tx1"/>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sp>
            <p:nvSpPr>
              <p:cNvPr id="64" name="Rounded Rectangle 891">
                <a:extLst>
                  <a:ext uri="{FF2B5EF4-FFF2-40B4-BE49-F238E27FC236}">
                    <a16:creationId xmlns:a16="http://schemas.microsoft.com/office/drawing/2014/main" id="{34B1B40A-DFC9-025A-1800-D75759CF652E}"/>
                  </a:ext>
                </a:extLst>
              </p:cNvPr>
              <p:cNvSpPr/>
              <p:nvPr/>
            </p:nvSpPr>
            <p:spPr>
              <a:xfrm>
                <a:off x="3862800" y="5644013"/>
                <a:ext cx="180000" cy="586800"/>
              </a:xfrm>
              <a:prstGeom prst="roundRect">
                <a:avLst>
                  <a:gd name="adj" fmla="val 40165"/>
                </a:avLst>
              </a:prstGeom>
              <a:solidFill>
                <a:schemeClr val="accent4">
                  <a:lumMod val="40000"/>
                  <a:lumOff val="60000"/>
                </a:schemeClr>
              </a:solidFill>
              <a:ln>
                <a:solidFill>
                  <a:schemeClr val="tx1"/>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grpSp>
      </p:grpSp>
      <p:grpSp>
        <p:nvGrpSpPr>
          <p:cNvPr id="65" name="Group 892">
            <a:extLst>
              <a:ext uri="{FF2B5EF4-FFF2-40B4-BE49-F238E27FC236}">
                <a16:creationId xmlns:a16="http://schemas.microsoft.com/office/drawing/2014/main" id="{C8D1A36A-4169-D87D-2B3E-BBDFA1AC8F1E}"/>
              </a:ext>
            </a:extLst>
          </p:cNvPr>
          <p:cNvGrpSpPr/>
          <p:nvPr/>
        </p:nvGrpSpPr>
        <p:grpSpPr>
          <a:xfrm>
            <a:off x="10779837" y="5692387"/>
            <a:ext cx="1080249" cy="586800"/>
            <a:chOff x="2962551" y="5644013"/>
            <a:chExt cx="1080249" cy="586800"/>
          </a:xfrm>
        </p:grpSpPr>
        <p:sp>
          <p:nvSpPr>
            <p:cNvPr id="66" name="Rounded Rectangle 893">
              <a:extLst>
                <a:ext uri="{FF2B5EF4-FFF2-40B4-BE49-F238E27FC236}">
                  <a16:creationId xmlns:a16="http://schemas.microsoft.com/office/drawing/2014/main" id="{D1A8320A-297D-6C2F-D14C-0BB0FAEB3EE3}"/>
                </a:ext>
              </a:extLst>
            </p:cNvPr>
            <p:cNvSpPr/>
            <p:nvPr/>
          </p:nvSpPr>
          <p:spPr>
            <a:xfrm>
              <a:off x="3682237" y="5644013"/>
              <a:ext cx="180000" cy="586800"/>
            </a:xfrm>
            <a:prstGeom prst="roundRect">
              <a:avLst>
                <a:gd name="adj" fmla="val 40165"/>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grpSp>
          <p:nvGrpSpPr>
            <p:cNvPr id="67" name="Group 894">
              <a:extLst>
                <a:ext uri="{FF2B5EF4-FFF2-40B4-BE49-F238E27FC236}">
                  <a16:creationId xmlns:a16="http://schemas.microsoft.com/office/drawing/2014/main" id="{F9FD63D8-8796-7573-57D3-699FF023B03A}"/>
                </a:ext>
              </a:extLst>
            </p:cNvPr>
            <p:cNvGrpSpPr/>
            <p:nvPr/>
          </p:nvGrpSpPr>
          <p:grpSpPr>
            <a:xfrm>
              <a:off x="2962551" y="5644013"/>
              <a:ext cx="1080249" cy="586800"/>
              <a:chOff x="2962551" y="5644013"/>
              <a:chExt cx="1080249" cy="586800"/>
            </a:xfrm>
          </p:grpSpPr>
          <p:sp>
            <p:nvSpPr>
              <p:cNvPr id="68" name="Rounded Rectangle 895">
                <a:extLst>
                  <a:ext uri="{FF2B5EF4-FFF2-40B4-BE49-F238E27FC236}">
                    <a16:creationId xmlns:a16="http://schemas.microsoft.com/office/drawing/2014/main" id="{072C40C7-4EE9-5239-8C1C-6FE7ED698AAE}"/>
                  </a:ext>
                </a:extLst>
              </p:cNvPr>
              <p:cNvSpPr/>
              <p:nvPr/>
            </p:nvSpPr>
            <p:spPr>
              <a:xfrm>
                <a:off x="2962551" y="5644013"/>
                <a:ext cx="180000" cy="586800"/>
              </a:xfrm>
              <a:prstGeom prst="roundRect">
                <a:avLst>
                  <a:gd name="adj" fmla="val 40165"/>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sp>
            <p:nvSpPr>
              <p:cNvPr id="69" name="Rounded Rectangle 896">
                <a:extLst>
                  <a:ext uri="{FF2B5EF4-FFF2-40B4-BE49-F238E27FC236}">
                    <a16:creationId xmlns:a16="http://schemas.microsoft.com/office/drawing/2014/main" id="{8769A164-96B0-DEC2-C9BC-582DD210C0BC}"/>
                  </a:ext>
                </a:extLst>
              </p:cNvPr>
              <p:cNvSpPr/>
              <p:nvPr/>
            </p:nvSpPr>
            <p:spPr>
              <a:xfrm>
                <a:off x="3142237" y="5644013"/>
                <a:ext cx="180000" cy="586800"/>
              </a:xfrm>
              <a:prstGeom prst="roundRect">
                <a:avLst>
                  <a:gd name="adj" fmla="val 40165"/>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sp>
            <p:nvSpPr>
              <p:cNvPr id="70" name="Rounded Rectangle 897">
                <a:extLst>
                  <a:ext uri="{FF2B5EF4-FFF2-40B4-BE49-F238E27FC236}">
                    <a16:creationId xmlns:a16="http://schemas.microsoft.com/office/drawing/2014/main" id="{DA34C8EC-E4DF-9183-03B6-054B5D82CDAA}"/>
                  </a:ext>
                </a:extLst>
              </p:cNvPr>
              <p:cNvSpPr/>
              <p:nvPr/>
            </p:nvSpPr>
            <p:spPr>
              <a:xfrm>
                <a:off x="3322237" y="5644013"/>
                <a:ext cx="180000" cy="586800"/>
              </a:xfrm>
              <a:prstGeom prst="roundRect">
                <a:avLst>
                  <a:gd name="adj" fmla="val 40165"/>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sp>
            <p:nvSpPr>
              <p:cNvPr id="71" name="Rounded Rectangle 898">
                <a:extLst>
                  <a:ext uri="{FF2B5EF4-FFF2-40B4-BE49-F238E27FC236}">
                    <a16:creationId xmlns:a16="http://schemas.microsoft.com/office/drawing/2014/main" id="{DA147AFE-7015-4845-5E6C-F61D3123BB04}"/>
                  </a:ext>
                </a:extLst>
              </p:cNvPr>
              <p:cNvSpPr/>
              <p:nvPr/>
            </p:nvSpPr>
            <p:spPr>
              <a:xfrm>
                <a:off x="3502237" y="5644013"/>
                <a:ext cx="180000" cy="586800"/>
              </a:xfrm>
              <a:prstGeom prst="roundRect">
                <a:avLst>
                  <a:gd name="adj" fmla="val 40165"/>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sp>
            <p:nvSpPr>
              <p:cNvPr id="72" name="Rounded Rectangle 899">
                <a:extLst>
                  <a:ext uri="{FF2B5EF4-FFF2-40B4-BE49-F238E27FC236}">
                    <a16:creationId xmlns:a16="http://schemas.microsoft.com/office/drawing/2014/main" id="{79E86ED7-CC7A-24FF-F1F5-C82A9348CFA0}"/>
                  </a:ext>
                </a:extLst>
              </p:cNvPr>
              <p:cNvSpPr/>
              <p:nvPr/>
            </p:nvSpPr>
            <p:spPr>
              <a:xfrm>
                <a:off x="3862800" y="5644013"/>
                <a:ext cx="180000" cy="586800"/>
              </a:xfrm>
              <a:prstGeom prst="roundRect">
                <a:avLst>
                  <a:gd name="adj" fmla="val 40165"/>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charset="0"/>
                  <a:ea typeface="Arial" charset="0"/>
                  <a:cs typeface="Arial" charset="0"/>
                </a:endParaRPr>
              </a:p>
            </p:txBody>
          </p:sp>
        </p:grpSp>
      </p:grpSp>
      <p:sp>
        <p:nvSpPr>
          <p:cNvPr id="73" name="TextBox 900">
            <a:extLst>
              <a:ext uri="{FF2B5EF4-FFF2-40B4-BE49-F238E27FC236}">
                <a16:creationId xmlns:a16="http://schemas.microsoft.com/office/drawing/2014/main" id="{0890FE63-75BC-D1D0-E985-C91AD2D421ED}"/>
              </a:ext>
            </a:extLst>
          </p:cNvPr>
          <p:cNvSpPr txBox="1"/>
          <p:nvPr/>
        </p:nvSpPr>
        <p:spPr>
          <a:xfrm>
            <a:off x="8132345" y="1018508"/>
            <a:ext cx="313547" cy="184666"/>
          </a:xfrm>
          <a:prstGeom prst="rect">
            <a:avLst/>
          </a:prstGeom>
          <a:noFill/>
        </p:spPr>
        <p:txBody>
          <a:bodyPr wrap="none" lIns="0" tIns="0" rIns="0" bIns="0" rtlCol="0">
            <a:spAutoFit/>
          </a:bodyPr>
          <a:lstStyle/>
          <a:p>
            <a:r>
              <a:rPr lang="en-US" sz="1200" dirty="0">
                <a:latin typeface="Arial" charset="0"/>
                <a:ea typeface="Arial" charset="0"/>
                <a:cs typeface="Arial" charset="0"/>
              </a:rPr>
              <a:t>VA 0</a:t>
            </a:r>
          </a:p>
        </p:txBody>
      </p:sp>
      <p:sp>
        <p:nvSpPr>
          <p:cNvPr id="74" name="TextBox 901">
            <a:extLst>
              <a:ext uri="{FF2B5EF4-FFF2-40B4-BE49-F238E27FC236}">
                <a16:creationId xmlns:a16="http://schemas.microsoft.com/office/drawing/2014/main" id="{329412EB-5783-62FE-622A-117E0EDD3289}"/>
              </a:ext>
            </a:extLst>
          </p:cNvPr>
          <p:cNvSpPr txBox="1"/>
          <p:nvPr/>
        </p:nvSpPr>
        <p:spPr>
          <a:xfrm>
            <a:off x="9433513" y="1014863"/>
            <a:ext cx="313547" cy="184666"/>
          </a:xfrm>
          <a:prstGeom prst="rect">
            <a:avLst/>
          </a:prstGeom>
          <a:noFill/>
        </p:spPr>
        <p:txBody>
          <a:bodyPr wrap="none" lIns="0" tIns="0" rIns="0" bIns="0" rtlCol="0">
            <a:spAutoFit/>
          </a:bodyPr>
          <a:lstStyle/>
          <a:p>
            <a:r>
              <a:rPr lang="en-US" sz="1200" dirty="0">
                <a:latin typeface="Arial" charset="0"/>
                <a:ea typeface="Arial" charset="0"/>
                <a:cs typeface="Arial" charset="0"/>
              </a:rPr>
              <a:t>PA 3</a:t>
            </a:r>
          </a:p>
        </p:txBody>
      </p:sp>
      <p:sp>
        <p:nvSpPr>
          <p:cNvPr id="75" name="TextBox 902">
            <a:extLst>
              <a:ext uri="{FF2B5EF4-FFF2-40B4-BE49-F238E27FC236}">
                <a16:creationId xmlns:a16="http://schemas.microsoft.com/office/drawing/2014/main" id="{D474E7ED-06F5-BC18-8282-CCDF6F35DD37}"/>
              </a:ext>
            </a:extLst>
          </p:cNvPr>
          <p:cNvSpPr txBox="1"/>
          <p:nvPr/>
        </p:nvSpPr>
        <p:spPr>
          <a:xfrm>
            <a:off x="8132345" y="1171792"/>
            <a:ext cx="313547" cy="184666"/>
          </a:xfrm>
          <a:prstGeom prst="rect">
            <a:avLst/>
          </a:prstGeom>
          <a:noFill/>
        </p:spPr>
        <p:txBody>
          <a:bodyPr wrap="none" lIns="0" tIns="0" rIns="0" bIns="0" rtlCol="0">
            <a:spAutoFit/>
          </a:bodyPr>
          <a:lstStyle/>
          <a:p>
            <a:r>
              <a:rPr lang="en-US" altLang="zh-TW" sz="1200" dirty="0">
                <a:latin typeface="Arial" charset="0"/>
                <a:ea typeface="Arial" charset="0"/>
                <a:cs typeface="Arial" charset="0"/>
              </a:rPr>
              <a:t>VA 1</a:t>
            </a:r>
            <a:endParaRPr lang="en-US" sz="1200" dirty="0">
              <a:latin typeface="Arial" charset="0"/>
              <a:ea typeface="Arial" charset="0"/>
              <a:cs typeface="Arial" charset="0"/>
            </a:endParaRPr>
          </a:p>
        </p:txBody>
      </p:sp>
      <p:sp>
        <p:nvSpPr>
          <p:cNvPr id="76" name="TextBox 903">
            <a:extLst>
              <a:ext uri="{FF2B5EF4-FFF2-40B4-BE49-F238E27FC236}">
                <a16:creationId xmlns:a16="http://schemas.microsoft.com/office/drawing/2014/main" id="{282AA225-6706-5DA8-0866-A200D69C979D}"/>
              </a:ext>
            </a:extLst>
          </p:cNvPr>
          <p:cNvSpPr txBox="1"/>
          <p:nvPr/>
        </p:nvSpPr>
        <p:spPr>
          <a:xfrm>
            <a:off x="8132345" y="1332056"/>
            <a:ext cx="313547" cy="184666"/>
          </a:xfrm>
          <a:prstGeom prst="rect">
            <a:avLst/>
          </a:prstGeom>
          <a:noFill/>
        </p:spPr>
        <p:txBody>
          <a:bodyPr wrap="none" lIns="0" tIns="0" rIns="0" bIns="0" rtlCol="0">
            <a:spAutoFit/>
          </a:bodyPr>
          <a:lstStyle/>
          <a:p>
            <a:r>
              <a:rPr lang="en-US" sz="1200" dirty="0">
                <a:latin typeface="Arial" charset="0"/>
                <a:ea typeface="Arial" charset="0"/>
                <a:cs typeface="Arial" charset="0"/>
              </a:rPr>
              <a:t>VA 2</a:t>
            </a:r>
          </a:p>
        </p:txBody>
      </p:sp>
      <p:sp>
        <p:nvSpPr>
          <p:cNvPr id="77" name="TextBox 905">
            <a:extLst>
              <a:ext uri="{FF2B5EF4-FFF2-40B4-BE49-F238E27FC236}">
                <a16:creationId xmlns:a16="http://schemas.microsoft.com/office/drawing/2014/main" id="{B3A971F7-64B5-2B00-31F6-04EBA50EC1CB}"/>
              </a:ext>
            </a:extLst>
          </p:cNvPr>
          <p:cNvSpPr txBox="1"/>
          <p:nvPr/>
        </p:nvSpPr>
        <p:spPr>
          <a:xfrm>
            <a:off x="9433185" y="1169807"/>
            <a:ext cx="313547" cy="184666"/>
          </a:xfrm>
          <a:prstGeom prst="rect">
            <a:avLst/>
          </a:prstGeom>
          <a:noFill/>
        </p:spPr>
        <p:txBody>
          <a:bodyPr wrap="none" lIns="0" tIns="0" rIns="0" bIns="0" rtlCol="0">
            <a:spAutoFit/>
          </a:bodyPr>
          <a:lstStyle/>
          <a:p>
            <a:r>
              <a:rPr lang="en-US" sz="1200" dirty="0">
                <a:latin typeface="Arial" charset="0"/>
                <a:ea typeface="Arial" charset="0"/>
                <a:cs typeface="Arial" charset="0"/>
              </a:rPr>
              <a:t>PA 8</a:t>
            </a:r>
          </a:p>
        </p:txBody>
      </p:sp>
      <p:sp>
        <p:nvSpPr>
          <p:cNvPr id="78" name="TextBox 906">
            <a:extLst>
              <a:ext uri="{FF2B5EF4-FFF2-40B4-BE49-F238E27FC236}">
                <a16:creationId xmlns:a16="http://schemas.microsoft.com/office/drawing/2014/main" id="{C3AB2996-7AA1-01D1-54AE-48D4F9DDD8A4}"/>
              </a:ext>
            </a:extLst>
          </p:cNvPr>
          <p:cNvSpPr txBox="1"/>
          <p:nvPr/>
        </p:nvSpPr>
        <p:spPr>
          <a:xfrm>
            <a:off x="9432857" y="1343257"/>
            <a:ext cx="313547" cy="184666"/>
          </a:xfrm>
          <a:prstGeom prst="rect">
            <a:avLst/>
          </a:prstGeom>
          <a:noFill/>
        </p:spPr>
        <p:txBody>
          <a:bodyPr wrap="none" lIns="0" tIns="0" rIns="0" bIns="0" rtlCol="0">
            <a:spAutoFit/>
          </a:bodyPr>
          <a:lstStyle/>
          <a:p>
            <a:r>
              <a:rPr lang="en-US" sz="1200" dirty="0">
                <a:latin typeface="Arial" charset="0"/>
                <a:ea typeface="Arial" charset="0"/>
                <a:cs typeface="Arial" charset="0"/>
              </a:rPr>
              <a:t>PA 1</a:t>
            </a:r>
          </a:p>
        </p:txBody>
      </p:sp>
      <p:sp>
        <p:nvSpPr>
          <p:cNvPr id="81" name="TextBox 910">
            <a:extLst>
              <a:ext uri="{FF2B5EF4-FFF2-40B4-BE49-F238E27FC236}">
                <a16:creationId xmlns:a16="http://schemas.microsoft.com/office/drawing/2014/main" id="{F6959444-7316-E99D-C557-1D7212683091}"/>
              </a:ext>
            </a:extLst>
          </p:cNvPr>
          <p:cNvSpPr txBox="1"/>
          <p:nvPr/>
        </p:nvSpPr>
        <p:spPr>
          <a:xfrm>
            <a:off x="7949522" y="636426"/>
            <a:ext cx="2129750" cy="369332"/>
          </a:xfrm>
          <a:prstGeom prst="rect">
            <a:avLst/>
          </a:prstGeom>
          <a:noFill/>
        </p:spPr>
        <p:txBody>
          <a:bodyPr wrap="none" rtlCol="0">
            <a:spAutoFit/>
          </a:bodyPr>
          <a:lstStyle/>
          <a:p>
            <a:r>
              <a:rPr lang="en-US">
                <a:latin typeface="Arial" charset="0"/>
                <a:ea typeface="Arial" charset="0"/>
                <a:cs typeface="Arial" charset="0"/>
              </a:rPr>
              <a:t>Regular TLB (4KB)</a:t>
            </a:r>
            <a:endParaRPr lang="en-US" dirty="0">
              <a:latin typeface="Arial" charset="0"/>
              <a:ea typeface="Arial" charset="0"/>
              <a:cs typeface="Arial" charset="0"/>
            </a:endParaRPr>
          </a:p>
        </p:txBody>
      </p:sp>
      <p:sp>
        <p:nvSpPr>
          <p:cNvPr id="84" name="Rectangle 913">
            <a:extLst>
              <a:ext uri="{FF2B5EF4-FFF2-40B4-BE49-F238E27FC236}">
                <a16:creationId xmlns:a16="http://schemas.microsoft.com/office/drawing/2014/main" id="{F30BDBB4-1AFB-2918-35A9-2A2D66DFB78C}"/>
              </a:ext>
            </a:extLst>
          </p:cNvPr>
          <p:cNvSpPr/>
          <p:nvPr/>
        </p:nvSpPr>
        <p:spPr>
          <a:xfrm>
            <a:off x="8074218" y="969234"/>
            <a:ext cx="1799401" cy="60761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solidFill>
                <a:schemeClr val="tx1"/>
              </a:solidFill>
              <a:latin typeface="Arial" charset="0"/>
              <a:ea typeface="Arial" charset="0"/>
              <a:cs typeface="Arial" charset="0"/>
            </a:endParaRPr>
          </a:p>
        </p:txBody>
      </p:sp>
      <p:cxnSp>
        <p:nvCxnSpPr>
          <p:cNvPr id="85" name="Straight Arrow Connector 916">
            <a:extLst>
              <a:ext uri="{FF2B5EF4-FFF2-40B4-BE49-F238E27FC236}">
                <a16:creationId xmlns:a16="http://schemas.microsoft.com/office/drawing/2014/main" id="{43D812DA-205C-B970-7393-DAD7D46DBB56}"/>
              </a:ext>
            </a:extLst>
          </p:cNvPr>
          <p:cNvCxnSpPr/>
          <p:nvPr/>
        </p:nvCxnSpPr>
        <p:spPr>
          <a:xfrm>
            <a:off x="8609867" y="1101172"/>
            <a:ext cx="684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917">
            <a:extLst>
              <a:ext uri="{FF2B5EF4-FFF2-40B4-BE49-F238E27FC236}">
                <a16:creationId xmlns:a16="http://schemas.microsoft.com/office/drawing/2014/main" id="{F544C988-A5A2-CA47-EEBB-C881A8997C43}"/>
              </a:ext>
            </a:extLst>
          </p:cNvPr>
          <p:cNvCxnSpPr/>
          <p:nvPr/>
        </p:nvCxnSpPr>
        <p:spPr>
          <a:xfrm>
            <a:off x="8609867" y="1267768"/>
            <a:ext cx="684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918">
            <a:extLst>
              <a:ext uri="{FF2B5EF4-FFF2-40B4-BE49-F238E27FC236}">
                <a16:creationId xmlns:a16="http://schemas.microsoft.com/office/drawing/2014/main" id="{7C8C6581-9F64-52DC-5BC2-275FBA727BCD}"/>
              </a:ext>
            </a:extLst>
          </p:cNvPr>
          <p:cNvCxnSpPr/>
          <p:nvPr/>
        </p:nvCxnSpPr>
        <p:spPr>
          <a:xfrm>
            <a:off x="8609867" y="1438027"/>
            <a:ext cx="684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2" name="群組 131">
            <a:extLst>
              <a:ext uri="{FF2B5EF4-FFF2-40B4-BE49-F238E27FC236}">
                <a16:creationId xmlns:a16="http://schemas.microsoft.com/office/drawing/2014/main" id="{2736376B-DBD4-6717-A0CA-B965A66F6E8E}"/>
              </a:ext>
            </a:extLst>
          </p:cNvPr>
          <p:cNvGrpSpPr/>
          <p:nvPr/>
        </p:nvGrpSpPr>
        <p:grpSpPr>
          <a:xfrm>
            <a:off x="9923986" y="636146"/>
            <a:ext cx="2001742" cy="940707"/>
            <a:chOff x="9923986" y="636146"/>
            <a:chExt cx="2001742" cy="940707"/>
          </a:xfrm>
        </p:grpSpPr>
        <p:sp>
          <p:nvSpPr>
            <p:cNvPr id="79" name="TextBox 908">
              <a:extLst>
                <a:ext uri="{FF2B5EF4-FFF2-40B4-BE49-F238E27FC236}">
                  <a16:creationId xmlns:a16="http://schemas.microsoft.com/office/drawing/2014/main" id="{8107B24F-7F57-24BE-A88B-6C325976389D}"/>
                </a:ext>
              </a:extLst>
            </p:cNvPr>
            <p:cNvSpPr txBox="1"/>
            <p:nvPr/>
          </p:nvSpPr>
          <p:spPr>
            <a:xfrm>
              <a:off x="9966321" y="1013770"/>
              <a:ext cx="669863" cy="184666"/>
            </a:xfrm>
            <a:prstGeom prst="rect">
              <a:avLst/>
            </a:prstGeom>
            <a:noFill/>
          </p:spPr>
          <p:txBody>
            <a:bodyPr wrap="none" lIns="0" tIns="0" rIns="0" bIns="0" rtlCol="0">
              <a:spAutoFit/>
            </a:bodyPr>
            <a:lstStyle/>
            <a:p>
              <a:r>
                <a:rPr lang="en-US" sz="1200" dirty="0">
                  <a:latin typeface="Arial" charset="0"/>
                  <a:ea typeface="Arial" charset="0"/>
                  <a:cs typeface="Arial" charset="0"/>
                </a:rPr>
                <a:t>VA10-522</a:t>
              </a:r>
            </a:p>
          </p:txBody>
        </p:sp>
        <p:sp>
          <p:nvSpPr>
            <p:cNvPr id="80" name="TextBox 909">
              <a:extLst>
                <a:ext uri="{FF2B5EF4-FFF2-40B4-BE49-F238E27FC236}">
                  <a16:creationId xmlns:a16="http://schemas.microsoft.com/office/drawing/2014/main" id="{01015952-48CF-1FF4-35B5-3108BA057124}"/>
                </a:ext>
              </a:extLst>
            </p:cNvPr>
            <p:cNvSpPr txBox="1"/>
            <p:nvPr/>
          </p:nvSpPr>
          <p:spPr>
            <a:xfrm>
              <a:off x="11168533" y="1010125"/>
              <a:ext cx="704680" cy="184666"/>
            </a:xfrm>
            <a:prstGeom prst="rect">
              <a:avLst/>
            </a:prstGeom>
            <a:noFill/>
          </p:spPr>
          <p:txBody>
            <a:bodyPr wrap="none" lIns="0" tIns="0" rIns="0" bIns="0" rtlCol="0">
              <a:spAutoFit/>
            </a:bodyPr>
            <a:lstStyle/>
            <a:p>
              <a:r>
                <a:rPr lang="en-US" altLang="zh-TW" sz="1200" dirty="0">
                  <a:latin typeface="Arial" charset="0"/>
                  <a:ea typeface="Arial" charset="0"/>
                  <a:cs typeface="Arial" charset="0"/>
                </a:rPr>
                <a:t>PA 8</a:t>
              </a:r>
              <a:r>
                <a:rPr lang="en-US" sz="1200" dirty="0">
                  <a:latin typeface="Arial" charset="0"/>
                  <a:ea typeface="Arial" charset="0"/>
                  <a:cs typeface="Arial" charset="0"/>
                </a:rPr>
                <a:t>0-592</a:t>
              </a:r>
            </a:p>
          </p:txBody>
        </p:sp>
        <p:grpSp>
          <p:nvGrpSpPr>
            <p:cNvPr id="130" name="群組 129">
              <a:extLst>
                <a:ext uri="{FF2B5EF4-FFF2-40B4-BE49-F238E27FC236}">
                  <a16:creationId xmlns:a16="http://schemas.microsoft.com/office/drawing/2014/main" id="{C4B58FD8-DC86-297B-C497-FCA08BB6BE46}"/>
                </a:ext>
              </a:extLst>
            </p:cNvPr>
            <p:cNvGrpSpPr/>
            <p:nvPr/>
          </p:nvGrpSpPr>
          <p:grpSpPr>
            <a:xfrm>
              <a:off x="9923986" y="636146"/>
              <a:ext cx="2001742" cy="940707"/>
              <a:chOff x="9923986" y="636146"/>
              <a:chExt cx="2001742" cy="940707"/>
            </a:xfrm>
          </p:grpSpPr>
          <p:sp>
            <p:nvSpPr>
              <p:cNvPr id="82" name="TextBox 911">
                <a:extLst>
                  <a:ext uri="{FF2B5EF4-FFF2-40B4-BE49-F238E27FC236}">
                    <a16:creationId xmlns:a16="http://schemas.microsoft.com/office/drawing/2014/main" id="{30A1D8B8-BC53-20C1-DEC3-BA50846817A5}"/>
                  </a:ext>
                </a:extLst>
              </p:cNvPr>
              <p:cNvSpPr txBox="1"/>
              <p:nvPr/>
            </p:nvSpPr>
            <p:spPr>
              <a:xfrm>
                <a:off x="10013986" y="636146"/>
                <a:ext cx="1911742" cy="369332"/>
              </a:xfrm>
              <a:prstGeom prst="rect">
                <a:avLst/>
              </a:prstGeom>
              <a:noFill/>
            </p:spPr>
            <p:txBody>
              <a:bodyPr wrap="none" rtlCol="0">
                <a:spAutoFit/>
              </a:bodyPr>
              <a:lstStyle/>
              <a:p>
                <a:r>
                  <a:rPr lang="en-US" dirty="0">
                    <a:latin typeface="Arial" charset="0"/>
                    <a:ea typeface="Arial" charset="0"/>
                    <a:cs typeface="Arial" charset="0"/>
                  </a:rPr>
                  <a:t>Huge TLB (2MB)</a:t>
                </a:r>
              </a:p>
            </p:txBody>
          </p:sp>
          <p:sp>
            <p:nvSpPr>
              <p:cNvPr id="83" name="Rectangle 912">
                <a:extLst>
                  <a:ext uri="{FF2B5EF4-FFF2-40B4-BE49-F238E27FC236}">
                    <a16:creationId xmlns:a16="http://schemas.microsoft.com/office/drawing/2014/main" id="{79C2FF87-CF77-61BD-14A4-E36D3E5DC7E7}"/>
                  </a:ext>
                </a:extLst>
              </p:cNvPr>
              <p:cNvSpPr/>
              <p:nvPr/>
            </p:nvSpPr>
            <p:spPr>
              <a:xfrm>
                <a:off x="9923986" y="970595"/>
                <a:ext cx="1983549" cy="60625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solidFill>
                    <a:schemeClr val="tx1"/>
                  </a:solidFill>
                  <a:latin typeface="Arial" charset="0"/>
                  <a:ea typeface="Arial" charset="0"/>
                  <a:cs typeface="Arial" charset="0"/>
                </a:endParaRPr>
              </a:p>
            </p:txBody>
          </p:sp>
        </p:grpSp>
        <p:cxnSp>
          <p:nvCxnSpPr>
            <p:cNvPr id="88" name="Straight Arrow Connector 920">
              <a:extLst>
                <a:ext uri="{FF2B5EF4-FFF2-40B4-BE49-F238E27FC236}">
                  <a16:creationId xmlns:a16="http://schemas.microsoft.com/office/drawing/2014/main" id="{FB118684-9A2A-CA41-F008-AB1DF9B98FE4}"/>
                </a:ext>
              </a:extLst>
            </p:cNvPr>
            <p:cNvCxnSpPr/>
            <p:nvPr/>
          </p:nvCxnSpPr>
          <p:spPr>
            <a:xfrm>
              <a:off x="10675189" y="1101216"/>
              <a:ext cx="468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1" name="群組 130">
            <a:extLst>
              <a:ext uri="{FF2B5EF4-FFF2-40B4-BE49-F238E27FC236}">
                <a16:creationId xmlns:a16="http://schemas.microsoft.com/office/drawing/2014/main" id="{1E2F4AE2-682B-67DB-AA66-AD17C617DFB2}"/>
              </a:ext>
            </a:extLst>
          </p:cNvPr>
          <p:cNvGrpSpPr/>
          <p:nvPr/>
        </p:nvGrpSpPr>
        <p:grpSpPr>
          <a:xfrm>
            <a:off x="5531730" y="1757014"/>
            <a:ext cx="2022469" cy="2614222"/>
            <a:chOff x="5531730" y="1757014"/>
            <a:chExt cx="2022469" cy="2614222"/>
          </a:xfrm>
        </p:grpSpPr>
        <p:cxnSp>
          <p:nvCxnSpPr>
            <p:cNvPr id="12" name="Straight Arrow Connector 837">
              <a:extLst>
                <a:ext uri="{FF2B5EF4-FFF2-40B4-BE49-F238E27FC236}">
                  <a16:creationId xmlns:a16="http://schemas.microsoft.com/office/drawing/2014/main" id="{41BD9027-9EB8-1CF8-281C-EAF60ECAD0B2}"/>
                </a:ext>
              </a:extLst>
            </p:cNvPr>
            <p:cNvCxnSpPr/>
            <p:nvPr/>
          </p:nvCxnSpPr>
          <p:spPr>
            <a:xfrm>
              <a:off x="7533438" y="2889106"/>
              <a:ext cx="0" cy="1440000"/>
            </a:xfrm>
            <a:prstGeom prst="straightConnector1">
              <a:avLst/>
            </a:prstGeom>
            <a:ln w="69850">
              <a:solidFill>
                <a:schemeClr val="bg2">
                  <a:lumMod val="75000"/>
                </a:schemeClr>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Arrow Connector 838">
              <a:extLst>
                <a:ext uri="{FF2B5EF4-FFF2-40B4-BE49-F238E27FC236}">
                  <a16:creationId xmlns:a16="http://schemas.microsoft.com/office/drawing/2014/main" id="{FBA1F437-6455-ED9D-1497-C812C84EF89C}"/>
                </a:ext>
              </a:extLst>
            </p:cNvPr>
            <p:cNvCxnSpPr/>
            <p:nvPr/>
          </p:nvCxnSpPr>
          <p:spPr>
            <a:xfrm flipH="1">
              <a:off x="6906199" y="2924408"/>
              <a:ext cx="648000" cy="0"/>
            </a:xfrm>
            <a:prstGeom prst="straightConnector1">
              <a:avLst/>
            </a:prstGeom>
            <a:ln w="69850">
              <a:solidFill>
                <a:schemeClr val="bg2">
                  <a:lumMod val="75000"/>
                </a:schemeClr>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Arrow Connector 839">
              <a:extLst>
                <a:ext uri="{FF2B5EF4-FFF2-40B4-BE49-F238E27FC236}">
                  <a16:creationId xmlns:a16="http://schemas.microsoft.com/office/drawing/2014/main" id="{673B8D08-5697-BFD2-4DB5-2B821F670861}"/>
                </a:ext>
              </a:extLst>
            </p:cNvPr>
            <p:cNvCxnSpPr/>
            <p:nvPr/>
          </p:nvCxnSpPr>
          <p:spPr>
            <a:xfrm>
              <a:off x="5957514" y="2896726"/>
              <a:ext cx="0" cy="1440000"/>
            </a:xfrm>
            <a:prstGeom prst="straightConnector1">
              <a:avLst/>
            </a:prstGeom>
            <a:ln w="69850">
              <a:solidFill>
                <a:schemeClr val="bg2">
                  <a:lumMod val="75000"/>
                </a:schemeClr>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840">
              <a:extLst>
                <a:ext uri="{FF2B5EF4-FFF2-40B4-BE49-F238E27FC236}">
                  <a16:creationId xmlns:a16="http://schemas.microsoft.com/office/drawing/2014/main" id="{D52A63DC-D8B2-4E86-61D9-86C12898CD78}"/>
                </a:ext>
              </a:extLst>
            </p:cNvPr>
            <p:cNvCxnSpPr/>
            <p:nvPr/>
          </p:nvCxnSpPr>
          <p:spPr>
            <a:xfrm flipH="1">
              <a:off x="6013571" y="2928935"/>
              <a:ext cx="527937" cy="0"/>
            </a:xfrm>
            <a:prstGeom prst="straightConnector1">
              <a:avLst/>
            </a:prstGeom>
            <a:ln w="69850">
              <a:solidFill>
                <a:schemeClr val="bg2">
                  <a:lumMod val="75000"/>
                </a:schemeClr>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sp>
          <p:nvSpPr>
            <p:cNvPr id="16" name="Oval 841">
              <a:extLst>
                <a:ext uri="{FF2B5EF4-FFF2-40B4-BE49-F238E27FC236}">
                  <a16:creationId xmlns:a16="http://schemas.microsoft.com/office/drawing/2014/main" id="{6C4F5D86-E4F6-8A20-0DE6-CDAB9E69C1C2}"/>
                </a:ext>
              </a:extLst>
            </p:cNvPr>
            <p:cNvSpPr/>
            <p:nvPr/>
          </p:nvSpPr>
          <p:spPr>
            <a:xfrm>
              <a:off x="6528649" y="2611267"/>
              <a:ext cx="536787" cy="51244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Arial" charset="0"/>
                  <a:ea typeface="Arial" charset="0"/>
                  <a:cs typeface="Arial" charset="0"/>
                </a:rPr>
                <a:t>+</a:t>
              </a:r>
            </a:p>
          </p:txBody>
        </p:sp>
        <p:cxnSp>
          <p:nvCxnSpPr>
            <p:cNvPr id="17" name="Straight Arrow Connector 842">
              <a:extLst>
                <a:ext uri="{FF2B5EF4-FFF2-40B4-BE49-F238E27FC236}">
                  <a16:creationId xmlns:a16="http://schemas.microsoft.com/office/drawing/2014/main" id="{4BEB2EF5-FF79-C017-71C3-EF5CDB1BC696}"/>
                </a:ext>
              </a:extLst>
            </p:cNvPr>
            <p:cNvCxnSpPr/>
            <p:nvPr/>
          </p:nvCxnSpPr>
          <p:spPr>
            <a:xfrm>
              <a:off x="6789196" y="1757014"/>
              <a:ext cx="0" cy="864000"/>
            </a:xfrm>
            <a:prstGeom prst="straightConnector1">
              <a:avLst/>
            </a:prstGeom>
            <a:ln w="69850">
              <a:solidFill>
                <a:schemeClr val="bg2">
                  <a:lumMod val="75000"/>
                </a:schemeClr>
              </a:solidFill>
              <a:prstDash val="sysDot"/>
              <a:headEnd type="triangle"/>
              <a:tailEnd type="none"/>
            </a:ln>
          </p:spPr>
          <p:style>
            <a:lnRef idx="1">
              <a:schemeClr val="accent1"/>
            </a:lnRef>
            <a:fillRef idx="0">
              <a:schemeClr val="accent1"/>
            </a:fillRef>
            <a:effectRef idx="0">
              <a:schemeClr val="accent1"/>
            </a:effectRef>
            <a:fontRef idx="minor">
              <a:schemeClr val="tx1"/>
            </a:fontRef>
          </p:style>
        </p:cxnSp>
        <p:sp>
          <p:nvSpPr>
            <p:cNvPr id="26" name="TextBox 851">
              <a:extLst>
                <a:ext uri="{FF2B5EF4-FFF2-40B4-BE49-F238E27FC236}">
                  <a16:creationId xmlns:a16="http://schemas.microsoft.com/office/drawing/2014/main" id="{50A48355-5121-66F9-D849-75B6C64D8AE4}"/>
                </a:ext>
              </a:extLst>
            </p:cNvPr>
            <p:cNvSpPr txBox="1"/>
            <p:nvPr/>
          </p:nvSpPr>
          <p:spPr>
            <a:xfrm>
              <a:off x="5531730" y="1928828"/>
              <a:ext cx="1251496" cy="584775"/>
            </a:xfrm>
            <a:prstGeom prst="rect">
              <a:avLst/>
            </a:prstGeom>
            <a:noFill/>
          </p:spPr>
          <p:txBody>
            <a:bodyPr wrap="none" rtlCol="0">
              <a:spAutoFit/>
            </a:bodyPr>
            <a:lstStyle/>
            <a:p>
              <a:pPr algn="ctr"/>
              <a:r>
                <a:rPr lang="en-US" sz="1600" b="1" dirty="0">
                  <a:solidFill>
                    <a:schemeClr val="bg2">
                      <a:lumMod val="75000"/>
                    </a:schemeClr>
                  </a:solidFill>
                  <a:latin typeface="Arial" charset="0"/>
                  <a:ea typeface="Arial" charset="0"/>
                  <a:cs typeface="Arial" charset="0"/>
                </a:rPr>
                <a:t>Page Table</a:t>
              </a:r>
              <a:br>
                <a:rPr lang="en-US" sz="1600" b="1" dirty="0">
                  <a:solidFill>
                    <a:schemeClr val="bg2">
                      <a:lumMod val="75000"/>
                    </a:schemeClr>
                  </a:solidFill>
                  <a:latin typeface="Arial" charset="0"/>
                  <a:ea typeface="Arial" charset="0"/>
                  <a:cs typeface="Arial" charset="0"/>
                </a:rPr>
              </a:br>
              <a:r>
                <a:rPr lang="en-US" sz="1600" b="1" dirty="0">
                  <a:solidFill>
                    <a:schemeClr val="bg2">
                      <a:lumMod val="75000"/>
                    </a:schemeClr>
                  </a:solidFill>
                  <a:latin typeface="Arial" charset="0"/>
                  <a:ea typeface="Arial" charset="0"/>
                  <a:cs typeface="Arial" charset="0"/>
                </a:rPr>
                <a:t>Walk</a:t>
              </a:r>
            </a:p>
          </p:txBody>
        </p:sp>
        <p:cxnSp>
          <p:nvCxnSpPr>
            <p:cNvPr id="110" name="Straight Arrow Connector 945">
              <a:extLst>
                <a:ext uri="{FF2B5EF4-FFF2-40B4-BE49-F238E27FC236}">
                  <a16:creationId xmlns:a16="http://schemas.microsoft.com/office/drawing/2014/main" id="{0BD36905-3EDA-2AAA-AEAC-313FBF501FBB}"/>
                </a:ext>
              </a:extLst>
            </p:cNvPr>
            <p:cNvCxnSpPr/>
            <p:nvPr/>
          </p:nvCxnSpPr>
          <p:spPr>
            <a:xfrm>
              <a:off x="6514609" y="2895760"/>
              <a:ext cx="0" cy="1440000"/>
            </a:xfrm>
            <a:prstGeom prst="straightConnector1">
              <a:avLst/>
            </a:prstGeom>
            <a:ln w="69850">
              <a:solidFill>
                <a:schemeClr val="bg2">
                  <a:lumMod val="75000"/>
                </a:schemeClr>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cxnSp>
          <p:nvCxnSpPr>
            <p:cNvPr id="111" name="Straight Arrow Connector 946">
              <a:extLst>
                <a:ext uri="{FF2B5EF4-FFF2-40B4-BE49-F238E27FC236}">
                  <a16:creationId xmlns:a16="http://schemas.microsoft.com/office/drawing/2014/main" id="{8EF588A0-8723-1652-1B5A-E200A717FBD4}"/>
                </a:ext>
              </a:extLst>
            </p:cNvPr>
            <p:cNvCxnSpPr/>
            <p:nvPr/>
          </p:nvCxnSpPr>
          <p:spPr>
            <a:xfrm>
              <a:off x="7011390" y="2895237"/>
              <a:ext cx="0" cy="1475999"/>
            </a:xfrm>
            <a:prstGeom prst="straightConnector1">
              <a:avLst/>
            </a:prstGeom>
            <a:ln w="69850">
              <a:solidFill>
                <a:schemeClr val="bg2">
                  <a:lumMod val="75000"/>
                </a:schemeClr>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136" name="群組 135">
            <a:extLst>
              <a:ext uri="{FF2B5EF4-FFF2-40B4-BE49-F238E27FC236}">
                <a16:creationId xmlns:a16="http://schemas.microsoft.com/office/drawing/2014/main" id="{DE5D1D37-D0D6-DFE4-A364-8DAA94FDB87B}"/>
              </a:ext>
            </a:extLst>
          </p:cNvPr>
          <p:cNvGrpSpPr/>
          <p:nvPr/>
        </p:nvGrpSpPr>
        <p:grpSpPr>
          <a:xfrm>
            <a:off x="6945840" y="1799281"/>
            <a:ext cx="4923416" cy="975128"/>
            <a:chOff x="6945840" y="1799281"/>
            <a:chExt cx="4923416" cy="975128"/>
          </a:xfrm>
        </p:grpSpPr>
        <p:sp>
          <p:nvSpPr>
            <p:cNvPr id="10" name="TextBox 835">
              <a:extLst>
                <a:ext uri="{FF2B5EF4-FFF2-40B4-BE49-F238E27FC236}">
                  <a16:creationId xmlns:a16="http://schemas.microsoft.com/office/drawing/2014/main" id="{59AC1B66-F6BA-8549-2B9F-750EE5AB465D}"/>
                </a:ext>
              </a:extLst>
            </p:cNvPr>
            <p:cNvSpPr txBox="1"/>
            <p:nvPr/>
          </p:nvSpPr>
          <p:spPr>
            <a:xfrm>
              <a:off x="7002771" y="1811635"/>
              <a:ext cx="1359668" cy="830997"/>
            </a:xfrm>
            <a:prstGeom prst="rect">
              <a:avLst/>
            </a:prstGeom>
            <a:noFill/>
          </p:spPr>
          <p:txBody>
            <a:bodyPr wrap="none" rtlCol="0">
              <a:spAutoFit/>
            </a:bodyPr>
            <a:lstStyle/>
            <a:p>
              <a:pPr algn="ctr"/>
              <a:r>
                <a:rPr lang="en-US" altLang="zh-TW" sz="1600" b="1" dirty="0">
                  <a:solidFill>
                    <a:schemeClr val="accent2"/>
                  </a:solidFill>
                  <a:latin typeface="Arial" charset="0"/>
                  <a:ea typeface="Arial" charset="0"/>
                  <a:cs typeface="Arial" charset="0"/>
                </a:rPr>
                <a:t>Pages in </a:t>
              </a:r>
              <a:br>
                <a:rPr lang="en-US" altLang="zh-TW" sz="1600" b="1" dirty="0">
                  <a:solidFill>
                    <a:schemeClr val="accent2"/>
                  </a:solidFill>
                  <a:latin typeface="Arial" charset="0"/>
                  <a:ea typeface="Arial" charset="0"/>
                  <a:cs typeface="Arial" charset="0"/>
                </a:rPr>
              </a:br>
              <a:r>
                <a:rPr lang="en-US" altLang="zh-TW" sz="1600" b="1" dirty="0">
                  <a:solidFill>
                    <a:schemeClr val="accent2"/>
                  </a:solidFill>
                  <a:latin typeface="Arial" charset="0"/>
                  <a:ea typeface="Arial" charset="0"/>
                  <a:cs typeface="Arial" charset="0"/>
                </a:rPr>
                <a:t>Swap Area</a:t>
              </a:r>
            </a:p>
            <a:p>
              <a:pPr algn="ctr"/>
              <a:r>
                <a:rPr lang="en-US" sz="1600" b="1" dirty="0">
                  <a:solidFill>
                    <a:schemeClr val="accent2"/>
                  </a:solidFill>
                  <a:latin typeface="Arial" charset="0"/>
                  <a:ea typeface="Arial" charset="0"/>
                  <a:cs typeface="Arial" charset="0"/>
                </a:rPr>
                <a:t>(Page Fault)</a:t>
              </a:r>
            </a:p>
          </p:txBody>
        </p:sp>
        <p:cxnSp>
          <p:nvCxnSpPr>
            <p:cNvPr id="25" name="Straight Arrow Connector 850">
              <a:extLst>
                <a:ext uri="{FF2B5EF4-FFF2-40B4-BE49-F238E27FC236}">
                  <a16:creationId xmlns:a16="http://schemas.microsoft.com/office/drawing/2014/main" id="{2404931F-C86B-C82D-7FEE-87A03C2E3566}"/>
                </a:ext>
              </a:extLst>
            </p:cNvPr>
            <p:cNvCxnSpPr/>
            <p:nvPr/>
          </p:nvCxnSpPr>
          <p:spPr>
            <a:xfrm rot="5400000" flipH="1">
              <a:off x="6577124" y="2234881"/>
              <a:ext cx="871200" cy="0"/>
            </a:xfrm>
            <a:prstGeom prst="straightConnector1">
              <a:avLst/>
            </a:prstGeom>
            <a:ln w="69850">
              <a:solidFill>
                <a:schemeClr val="accent2"/>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sp>
          <p:nvSpPr>
            <p:cNvPr id="120" name="Rectangle 131">
              <a:extLst>
                <a:ext uri="{FF2B5EF4-FFF2-40B4-BE49-F238E27FC236}">
                  <a16:creationId xmlns:a16="http://schemas.microsoft.com/office/drawing/2014/main" id="{D8CCF876-9220-37B7-7725-4AA0E7F180FE}"/>
                </a:ext>
              </a:extLst>
            </p:cNvPr>
            <p:cNvSpPr/>
            <p:nvPr/>
          </p:nvSpPr>
          <p:spPr>
            <a:xfrm>
              <a:off x="8449256" y="2389209"/>
              <a:ext cx="3420000" cy="385200"/>
            </a:xfrm>
            <a:prstGeom prst="rect">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TW" dirty="0">
                  <a:solidFill>
                    <a:schemeClr val="tx1"/>
                  </a:solidFill>
                  <a:latin typeface="Arial" charset="0"/>
                  <a:ea typeface="Arial" charset="0"/>
                  <a:cs typeface="Arial" charset="0"/>
                </a:rPr>
                <a:t>Context Switching</a:t>
              </a:r>
              <a:endParaRPr lang="en-US" dirty="0">
                <a:solidFill>
                  <a:schemeClr val="tx1"/>
                </a:solidFill>
                <a:latin typeface="Arial" charset="0"/>
                <a:ea typeface="Arial" charset="0"/>
                <a:cs typeface="Arial" charset="0"/>
              </a:endParaRPr>
            </a:p>
          </p:txBody>
        </p:sp>
        <p:cxnSp>
          <p:nvCxnSpPr>
            <p:cNvPr id="121" name="Straight Arrow Connector 831">
              <a:extLst>
                <a:ext uri="{FF2B5EF4-FFF2-40B4-BE49-F238E27FC236}">
                  <a16:creationId xmlns:a16="http://schemas.microsoft.com/office/drawing/2014/main" id="{CB47F5A7-8F70-269F-3EF7-27B3C63E84A9}"/>
                </a:ext>
              </a:extLst>
            </p:cNvPr>
            <p:cNvCxnSpPr/>
            <p:nvPr/>
          </p:nvCxnSpPr>
          <p:spPr>
            <a:xfrm flipH="1">
              <a:off x="6945840" y="2637189"/>
              <a:ext cx="1512000" cy="0"/>
            </a:xfrm>
            <a:prstGeom prst="straightConnector1">
              <a:avLst/>
            </a:prstGeom>
            <a:ln w="69850">
              <a:solidFill>
                <a:schemeClr val="accent2"/>
              </a:solidFill>
              <a:prstDash val="sysDot"/>
              <a:headEnd type="triangle"/>
              <a:tailEnd type="none"/>
            </a:ln>
          </p:spPr>
          <p:style>
            <a:lnRef idx="1">
              <a:schemeClr val="accent1"/>
            </a:lnRef>
            <a:fillRef idx="0">
              <a:schemeClr val="accent1"/>
            </a:fillRef>
            <a:effectRef idx="0">
              <a:schemeClr val="accent1"/>
            </a:effectRef>
            <a:fontRef idx="minor">
              <a:schemeClr val="tx1"/>
            </a:fontRef>
          </p:style>
        </p:cxnSp>
      </p:grpSp>
      <p:sp>
        <p:nvSpPr>
          <p:cNvPr id="123" name="TextBox 136">
            <a:extLst>
              <a:ext uri="{FF2B5EF4-FFF2-40B4-BE49-F238E27FC236}">
                <a16:creationId xmlns:a16="http://schemas.microsoft.com/office/drawing/2014/main" id="{420B8043-EB05-57E3-5AEB-2650B6E8FC10}"/>
              </a:ext>
            </a:extLst>
          </p:cNvPr>
          <p:cNvSpPr txBox="1"/>
          <p:nvPr/>
        </p:nvSpPr>
        <p:spPr>
          <a:xfrm>
            <a:off x="9945067" y="1603618"/>
            <a:ext cx="1431482" cy="169277"/>
          </a:xfrm>
          <a:prstGeom prst="rect">
            <a:avLst/>
          </a:prstGeom>
          <a:noFill/>
        </p:spPr>
        <p:txBody>
          <a:bodyPr wrap="none" lIns="0" tIns="0" rIns="0" bIns="0" rtlCol="0">
            <a:spAutoFit/>
          </a:bodyPr>
          <a:lstStyle/>
          <a:p>
            <a:pPr algn="ctr"/>
            <a:r>
              <a:rPr lang="en-US" sz="1100" dirty="0">
                <a:solidFill>
                  <a:schemeClr val="tx1">
                    <a:lumMod val="85000"/>
                    <a:lumOff val="15000"/>
                  </a:schemeClr>
                </a:solidFill>
                <a:latin typeface="Arial" charset="0"/>
                <a:ea typeface="Arial" charset="0"/>
                <a:cs typeface="Arial" charset="0"/>
              </a:rPr>
              <a:t>Physical Address = PA</a:t>
            </a:r>
          </a:p>
        </p:txBody>
      </p:sp>
      <p:sp>
        <p:nvSpPr>
          <p:cNvPr id="124" name="TextBox 137">
            <a:extLst>
              <a:ext uri="{FF2B5EF4-FFF2-40B4-BE49-F238E27FC236}">
                <a16:creationId xmlns:a16="http://schemas.microsoft.com/office/drawing/2014/main" id="{AAC6D0D8-45A3-1F24-EC52-64344307AF9C}"/>
              </a:ext>
            </a:extLst>
          </p:cNvPr>
          <p:cNvSpPr txBox="1"/>
          <p:nvPr/>
        </p:nvSpPr>
        <p:spPr>
          <a:xfrm>
            <a:off x="8093532" y="1608271"/>
            <a:ext cx="1679947" cy="169277"/>
          </a:xfrm>
          <a:prstGeom prst="rect">
            <a:avLst/>
          </a:prstGeom>
          <a:noFill/>
        </p:spPr>
        <p:txBody>
          <a:bodyPr wrap="none" lIns="0" tIns="0" rIns="0" bIns="0" rtlCol="0">
            <a:spAutoFit/>
          </a:bodyPr>
          <a:lstStyle/>
          <a:p>
            <a:pPr algn="ctr"/>
            <a:r>
              <a:rPr lang="en-US" sz="1100" dirty="0">
                <a:solidFill>
                  <a:schemeClr val="tx1">
                    <a:lumMod val="85000"/>
                    <a:lumOff val="15000"/>
                  </a:schemeClr>
                </a:solidFill>
                <a:latin typeface="Arial" charset="0"/>
                <a:ea typeface="Arial" charset="0"/>
                <a:cs typeface="Arial" charset="0"/>
              </a:rPr>
              <a:t>Virtual Address (Tag) = VA</a:t>
            </a:r>
          </a:p>
        </p:txBody>
      </p:sp>
      <p:grpSp>
        <p:nvGrpSpPr>
          <p:cNvPr id="135" name="群組 134">
            <a:extLst>
              <a:ext uri="{FF2B5EF4-FFF2-40B4-BE49-F238E27FC236}">
                <a16:creationId xmlns:a16="http://schemas.microsoft.com/office/drawing/2014/main" id="{236CF652-ADE5-0555-2AC6-C21E4AFA7045}"/>
              </a:ext>
            </a:extLst>
          </p:cNvPr>
          <p:cNvGrpSpPr/>
          <p:nvPr/>
        </p:nvGrpSpPr>
        <p:grpSpPr>
          <a:xfrm>
            <a:off x="6014453" y="4700420"/>
            <a:ext cx="5763600" cy="1017214"/>
            <a:chOff x="6014453" y="4700420"/>
            <a:chExt cx="5763600" cy="1017214"/>
          </a:xfrm>
        </p:grpSpPr>
        <p:cxnSp>
          <p:nvCxnSpPr>
            <p:cNvPr id="24" name="Straight Connector 849">
              <a:extLst>
                <a:ext uri="{FF2B5EF4-FFF2-40B4-BE49-F238E27FC236}">
                  <a16:creationId xmlns:a16="http://schemas.microsoft.com/office/drawing/2014/main" id="{75D09C81-B2F1-9D2E-F130-83E81B16690E}"/>
                </a:ext>
              </a:extLst>
            </p:cNvPr>
            <p:cNvCxnSpPr/>
            <p:nvPr/>
          </p:nvCxnSpPr>
          <p:spPr>
            <a:xfrm flipV="1">
              <a:off x="6024445" y="5384065"/>
              <a:ext cx="0" cy="32400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852">
              <a:extLst>
                <a:ext uri="{FF2B5EF4-FFF2-40B4-BE49-F238E27FC236}">
                  <a16:creationId xmlns:a16="http://schemas.microsoft.com/office/drawing/2014/main" id="{6C1A252F-1E47-CA81-D420-B2D35A78CD80}"/>
                </a:ext>
              </a:extLst>
            </p:cNvPr>
            <p:cNvCxnSpPr/>
            <p:nvPr/>
          </p:nvCxnSpPr>
          <p:spPr>
            <a:xfrm flipH="1">
              <a:off x="6014453" y="5396435"/>
              <a:ext cx="5763600" cy="0"/>
            </a:xfrm>
            <a:prstGeom prst="line">
              <a:avLst/>
            </a:prstGeom>
            <a:ln w="38100">
              <a:solidFill>
                <a:srgbClr val="8FAADC"/>
              </a:solidFill>
            </a:ln>
          </p:spPr>
          <p:style>
            <a:lnRef idx="1">
              <a:schemeClr val="accent1"/>
            </a:lnRef>
            <a:fillRef idx="0">
              <a:schemeClr val="accent1"/>
            </a:fillRef>
            <a:effectRef idx="0">
              <a:schemeClr val="accent1"/>
            </a:effectRef>
            <a:fontRef idx="minor">
              <a:schemeClr val="tx1"/>
            </a:fontRef>
          </p:style>
        </p:cxnSp>
        <p:cxnSp>
          <p:nvCxnSpPr>
            <p:cNvPr id="28" name="Straight Connector 853">
              <a:extLst>
                <a:ext uri="{FF2B5EF4-FFF2-40B4-BE49-F238E27FC236}">
                  <a16:creationId xmlns:a16="http://schemas.microsoft.com/office/drawing/2014/main" id="{5BAD2BD0-C02B-61FF-6E42-D4579E81EFA9}"/>
                </a:ext>
              </a:extLst>
            </p:cNvPr>
            <p:cNvCxnSpPr/>
            <p:nvPr/>
          </p:nvCxnSpPr>
          <p:spPr>
            <a:xfrm flipV="1">
              <a:off x="6548962" y="5393078"/>
              <a:ext cx="0" cy="32400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854">
              <a:extLst>
                <a:ext uri="{FF2B5EF4-FFF2-40B4-BE49-F238E27FC236}">
                  <a16:creationId xmlns:a16="http://schemas.microsoft.com/office/drawing/2014/main" id="{636D20A3-BA0B-58EA-5859-88CB403A4A79}"/>
                </a:ext>
              </a:extLst>
            </p:cNvPr>
            <p:cNvCxnSpPr/>
            <p:nvPr/>
          </p:nvCxnSpPr>
          <p:spPr>
            <a:xfrm flipV="1">
              <a:off x="7844688" y="5386280"/>
              <a:ext cx="0" cy="32400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856">
              <a:extLst>
                <a:ext uri="{FF2B5EF4-FFF2-40B4-BE49-F238E27FC236}">
                  <a16:creationId xmlns:a16="http://schemas.microsoft.com/office/drawing/2014/main" id="{AF80A823-5A0D-DB2D-2609-538EEB2AC16B}"/>
                </a:ext>
              </a:extLst>
            </p:cNvPr>
            <p:cNvCxnSpPr/>
            <p:nvPr/>
          </p:nvCxnSpPr>
          <p:spPr>
            <a:xfrm flipV="1">
              <a:off x="9296071" y="5386394"/>
              <a:ext cx="0" cy="32400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857">
              <a:extLst>
                <a:ext uri="{FF2B5EF4-FFF2-40B4-BE49-F238E27FC236}">
                  <a16:creationId xmlns:a16="http://schemas.microsoft.com/office/drawing/2014/main" id="{8D0B55B1-6252-EA3D-74FF-6110AE92BC43}"/>
                </a:ext>
              </a:extLst>
            </p:cNvPr>
            <p:cNvCxnSpPr/>
            <p:nvPr/>
          </p:nvCxnSpPr>
          <p:spPr>
            <a:xfrm flipV="1">
              <a:off x="11051530" y="5393634"/>
              <a:ext cx="0" cy="32400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858">
              <a:extLst>
                <a:ext uri="{FF2B5EF4-FFF2-40B4-BE49-F238E27FC236}">
                  <a16:creationId xmlns:a16="http://schemas.microsoft.com/office/drawing/2014/main" id="{14502800-F8FD-A465-7A01-EE9E6143DEA6}"/>
                </a:ext>
              </a:extLst>
            </p:cNvPr>
            <p:cNvCxnSpPr/>
            <p:nvPr/>
          </p:nvCxnSpPr>
          <p:spPr>
            <a:xfrm flipV="1">
              <a:off x="11764552" y="5381277"/>
              <a:ext cx="0" cy="32400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859">
              <a:extLst>
                <a:ext uri="{FF2B5EF4-FFF2-40B4-BE49-F238E27FC236}">
                  <a16:creationId xmlns:a16="http://schemas.microsoft.com/office/drawing/2014/main" id="{B2DBF5F1-B678-551F-D90C-DE6A6B5F67FC}"/>
                </a:ext>
              </a:extLst>
            </p:cNvPr>
            <p:cNvCxnSpPr/>
            <p:nvPr/>
          </p:nvCxnSpPr>
          <p:spPr>
            <a:xfrm flipH="1" flipV="1">
              <a:off x="10847362" y="4701200"/>
              <a:ext cx="0" cy="144000"/>
            </a:xfrm>
            <a:prstGeom prst="line">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Connector 861">
              <a:extLst>
                <a:ext uri="{FF2B5EF4-FFF2-40B4-BE49-F238E27FC236}">
                  <a16:creationId xmlns:a16="http://schemas.microsoft.com/office/drawing/2014/main" id="{AB13930B-ADDF-3960-2081-A6F81503D933}"/>
                </a:ext>
              </a:extLst>
            </p:cNvPr>
            <p:cNvCxnSpPr/>
            <p:nvPr/>
          </p:nvCxnSpPr>
          <p:spPr>
            <a:xfrm flipV="1">
              <a:off x="11124661" y="4715768"/>
              <a:ext cx="0" cy="666000"/>
            </a:xfrm>
            <a:prstGeom prst="line">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Connector 862">
              <a:extLst>
                <a:ext uri="{FF2B5EF4-FFF2-40B4-BE49-F238E27FC236}">
                  <a16:creationId xmlns:a16="http://schemas.microsoft.com/office/drawing/2014/main" id="{975C4ED2-DCED-5F77-6C06-784927C1333A}"/>
                </a:ext>
              </a:extLst>
            </p:cNvPr>
            <p:cNvCxnSpPr/>
            <p:nvPr/>
          </p:nvCxnSpPr>
          <p:spPr>
            <a:xfrm flipV="1">
              <a:off x="11250605" y="4715768"/>
              <a:ext cx="0" cy="666000"/>
            </a:xfrm>
            <a:prstGeom prst="line">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Connector 863">
              <a:extLst>
                <a:ext uri="{FF2B5EF4-FFF2-40B4-BE49-F238E27FC236}">
                  <a16:creationId xmlns:a16="http://schemas.microsoft.com/office/drawing/2014/main" id="{679E03FC-DECB-07A6-8A2C-944EC81C4E4C}"/>
                </a:ext>
              </a:extLst>
            </p:cNvPr>
            <p:cNvCxnSpPr/>
            <p:nvPr/>
          </p:nvCxnSpPr>
          <p:spPr>
            <a:xfrm flipV="1">
              <a:off x="11376549" y="4715768"/>
              <a:ext cx="0" cy="666000"/>
            </a:xfrm>
            <a:prstGeom prst="line">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Connector 864">
              <a:extLst>
                <a:ext uri="{FF2B5EF4-FFF2-40B4-BE49-F238E27FC236}">
                  <a16:creationId xmlns:a16="http://schemas.microsoft.com/office/drawing/2014/main" id="{541B71A6-10FA-06DE-E2A7-EC7078007A97}"/>
                </a:ext>
              </a:extLst>
            </p:cNvPr>
            <p:cNvCxnSpPr/>
            <p:nvPr/>
          </p:nvCxnSpPr>
          <p:spPr>
            <a:xfrm flipV="1">
              <a:off x="11502493" y="4715768"/>
              <a:ext cx="0" cy="666000"/>
            </a:xfrm>
            <a:prstGeom prst="line">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865">
              <a:extLst>
                <a:ext uri="{FF2B5EF4-FFF2-40B4-BE49-F238E27FC236}">
                  <a16:creationId xmlns:a16="http://schemas.microsoft.com/office/drawing/2014/main" id="{A7567BE6-FBC3-33FD-EC61-A75E735C52D1}"/>
                </a:ext>
              </a:extLst>
            </p:cNvPr>
            <p:cNvCxnSpPr/>
            <p:nvPr/>
          </p:nvCxnSpPr>
          <p:spPr>
            <a:xfrm flipV="1">
              <a:off x="11628437" y="4715768"/>
              <a:ext cx="0" cy="666000"/>
            </a:xfrm>
            <a:prstGeom prst="line">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Connector 866">
              <a:extLst>
                <a:ext uri="{FF2B5EF4-FFF2-40B4-BE49-F238E27FC236}">
                  <a16:creationId xmlns:a16="http://schemas.microsoft.com/office/drawing/2014/main" id="{38FCDB78-98F5-5A13-4211-A9FF522840AC}"/>
                </a:ext>
              </a:extLst>
            </p:cNvPr>
            <p:cNvCxnSpPr/>
            <p:nvPr/>
          </p:nvCxnSpPr>
          <p:spPr>
            <a:xfrm flipV="1">
              <a:off x="11754380" y="4715768"/>
              <a:ext cx="0" cy="666000"/>
            </a:xfrm>
            <a:prstGeom prst="line">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Connector 931">
              <a:extLst>
                <a:ext uri="{FF2B5EF4-FFF2-40B4-BE49-F238E27FC236}">
                  <a16:creationId xmlns:a16="http://schemas.microsoft.com/office/drawing/2014/main" id="{7FB19397-5ACE-7720-6227-F8286B26C967}"/>
                </a:ext>
              </a:extLst>
            </p:cNvPr>
            <p:cNvCxnSpPr/>
            <p:nvPr/>
          </p:nvCxnSpPr>
          <p:spPr>
            <a:xfrm flipV="1">
              <a:off x="9226786" y="4728869"/>
              <a:ext cx="0" cy="14400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32">
              <a:extLst>
                <a:ext uri="{FF2B5EF4-FFF2-40B4-BE49-F238E27FC236}">
                  <a16:creationId xmlns:a16="http://schemas.microsoft.com/office/drawing/2014/main" id="{803C014A-D69A-5D5B-09AF-3AA9AA406759}"/>
                </a:ext>
              </a:extLst>
            </p:cNvPr>
            <p:cNvCxnSpPr/>
            <p:nvPr/>
          </p:nvCxnSpPr>
          <p:spPr>
            <a:xfrm flipV="1">
              <a:off x="9784581" y="4728869"/>
              <a:ext cx="0" cy="14400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942">
              <a:extLst>
                <a:ext uri="{FF2B5EF4-FFF2-40B4-BE49-F238E27FC236}">
                  <a16:creationId xmlns:a16="http://schemas.microsoft.com/office/drawing/2014/main" id="{97D97694-556D-7AFE-FCAD-AA39FE670A05}"/>
                </a:ext>
              </a:extLst>
            </p:cNvPr>
            <p:cNvCxnSpPr/>
            <p:nvPr/>
          </p:nvCxnSpPr>
          <p:spPr>
            <a:xfrm flipH="1" flipV="1">
              <a:off x="9211675" y="4863104"/>
              <a:ext cx="1771200" cy="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943">
              <a:extLst>
                <a:ext uri="{FF2B5EF4-FFF2-40B4-BE49-F238E27FC236}">
                  <a16:creationId xmlns:a16="http://schemas.microsoft.com/office/drawing/2014/main" id="{7E480691-0284-F5D8-DAC4-0623D664133C}"/>
                </a:ext>
              </a:extLst>
            </p:cNvPr>
            <p:cNvCxnSpPr/>
            <p:nvPr/>
          </p:nvCxnSpPr>
          <p:spPr>
            <a:xfrm flipH="1" flipV="1">
              <a:off x="10748750" y="4701200"/>
              <a:ext cx="0" cy="144000"/>
            </a:xfrm>
            <a:prstGeom prst="line">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3" name="TextBox 948">
              <a:extLst>
                <a:ext uri="{FF2B5EF4-FFF2-40B4-BE49-F238E27FC236}">
                  <a16:creationId xmlns:a16="http://schemas.microsoft.com/office/drawing/2014/main" id="{68378E42-BC5F-0D66-5181-15054AEE0A38}"/>
                </a:ext>
              </a:extLst>
            </p:cNvPr>
            <p:cNvSpPr txBox="1"/>
            <p:nvPr/>
          </p:nvSpPr>
          <p:spPr>
            <a:xfrm>
              <a:off x="7641275" y="5090000"/>
              <a:ext cx="2326278" cy="338554"/>
            </a:xfrm>
            <a:prstGeom prst="rect">
              <a:avLst/>
            </a:prstGeom>
            <a:noFill/>
          </p:spPr>
          <p:txBody>
            <a:bodyPr wrap="none" rtlCol="0">
              <a:spAutoFit/>
            </a:bodyPr>
            <a:lstStyle/>
            <a:p>
              <a:pPr algn="ctr"/>
              <a:r>
                <a:rPr lang="en-US" altLang="zh-TW" sz="1600" b="1" dirty="0">
                  <a:solidFill>
                    <a:schemeClr val="accent5"/>
                  </a:solidFill>
                  <a:latin typeface="Arial" charset="0"/>
                  <a:ea typeface="Arial" charset="0"/>
                  <a:cs typeface="Arial" charset="0"/>
                </a:rPr>
                <a:t>Huge Page Promotion</a:t>
              </a:r>
              <a:endParaRPr lang="en-US" sz="1600" b="1" dirty="0">
                <a:solidFill>
                  <a:schemeClr val="accent5"/>
                </a:solidFill>
                <a:latin typeface="Arial" charset="0"/>
                <a:ea typeface="Arial" charset="0"/>
                <a:cs typeface="Arial" charset="0"/>
              </a:endParaRPr>
            </a:p>
          </p:txBody>
        </p:sp>
        <p:cxnSp>
          <p:nvCxnSpPr>
            <p:cNvPr id="127" name="Straight Connector 138">
              <a:extLst>
                <a:ext uri="{FF2B5EF4-FFF2-40B4-BE49-F238E27FC236}">
                  <a16:creationId xmlns:a16="http://schemas.microsoft.com/office/drawing/2014/main" id="{C5A7F0E7-D2E9-F677-3923-374DAF31665A}"/>
                </a:ext>
              </a:extLst>
            </p:cNvPr>
            <p:cNvCxnSpPr/>
            <p:nvPr/>
          </p:nvCxnSpPr>
          <p:spPr>
            <a:xfrm flipH="1" flipV="1">
              <a:off x="10962080" y="4700420"/>
              <a:ext cx="0" cy="162000"/>
            </a:xfrm>
            <a:prstGeom prst="line">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Connector 139">
              <a:extLst>
                <a:ext uri="{FF2B5EF4-FFF2-40B4-BE49-F238E27FC236}">
                  <a16:creationId xmlns:a16="http://schemas.microsoft.com/office/drawing/2014/main" id="{E5D1D08F-2A29-1750-C70C-2244F812CDB2}"/>
                </a:ext>
              </a:extLst>
            </p:cNvPr>
            <p:cNvCxnSpPr/>
            <p:nvPr/>
          </p:nvCxnSpPr>
          <p:spPr>
            <a:xfrm flipV="1">
              <a:off x="10140979" y="4728869"/>
              <a:ext cx="0" cy="14400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52253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1000" tmFilter="0, 0; .2, .5; .8, .5; 1, 0"/>
                                        <p:tgtEl>
                                          <p:spTgt spid="84"/>
                                        </p:tgtEl>
                                      </p:cBhvr>
                                    </p:animEffect>
                                    <p:animScale>
                                      <p:cBhvr>
                                        <p:cTn id="12" dur="500" autoRev="1" fill="hold"/>
                                        <p:tgtEl>
                                          <p:spTgt spid="84"/>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31"/>
                                        </p:tgtEl>
                                        <p:attrNameLst>
                                          <p:attrName>style.visibility</p:attrName>
                                        </p:attrNameLst>
                                      </p:cBhvr>
                                      <p:to>
                                        <p:strVal val="visible"/>
                                      </p:to>
                                    </p:set>
                                    <p:animEffect transition="in" filter="wipe(down)">
                                      <p:cBhvr>
                                        <p:cTn id="21" dur="500"/>
                                        <p:tgtEl>
                                          <p:spTgt spid="13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32"/>
                                        </p:tgtEl>
                                        <p:attrNameLst>
                                          <p:attrName>style.visibility</p:attrName>
                                        </p:attrNameLst>
                                      </p:cBhvr>
                                      <p:to>
                                        <p:strVal val="visible"/>
                                      </p:to>
                                    </p:set>
                                    <p:animEffect transition="in" filter="fade">
                                      <p:cBhvr>
                                        <p:cTn id="31" dur="500"/>
                                        <p:tgtEl>
                                          <p:spTgt spid="13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Effect transition="in" filter="fade">
                                      <p:cBhvr>
                                        <p:cTn id="36" dur="500"/>
                                        <p:tgtEl>
                                          <p:spTgt spid="3">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Effect transition="in" filter="wipe(down)">
                                      <p:cBhvr>
                                        <p:cTn id="41" dur="500"/>
                                        <p:tgtEl>
                                          <p:spTgt spid="3">
                                            <p:txEl>
                                              <p:pRg st="5" end="5"/>
                                            </p:txEl>
                                          </p:spTgt>
                                        </p:tgtEl>
                                      </p:cBhvr>
                                    </p:animEffect>
                                  </p:childTnLst>
                                </p:cTn>
                              </p:par>
                              <p:par>
                                <p:cTn id="42" presetID="22" presetClass="entr" presetSubtype="4" fill="hold" nodeType="withEffect">
                                  <p:stCondLst>
                                    <p:cond delay="0"/>
                                  </p:stCondLst>
                                  <p:childTnLst>
                                    <p:set>
                                      <p:cBhvr>
                                        <p:cTn id="43" dur="1" fill="hold">
                                          <p:stCondLst>
                                            <p:cond delay="0"/>
                                          </p:stCondLst>
                                        </p:cTn>
                                        <p:tgtEl>
                                          <p:spTgt spid="3">
                                            <p:txEl>
                                              <p:pRg st="6" end="6"/>
                                            </p:txEl>
                                          </p:spTgt>
                                        </p:tgtEl>
                                        <p:attrNameLst>
                                          <p:attrName>style.visibility</p:attrName>
                                        </p:attrNameLst>
                                      </p:cBhvr>
                                      <p:to>
                                        <p:strVal val="visible"/>
                                      </p:to>
                                    </p:set>
                                    <p:animEffect transition="in" filter="wipe(down)">
                                      <p:cBhvr>
                                        <p:cTn id="44" dur="500"/>
                                        <p:tgtEl>
                                          <p:spTgt spid="3">
                                            <p:txEl>
                                              <p:pRg st="6" end="6"/>
                                            </p:txEl>
                                          </p:spTgt>
                                        </p:tgtEl>
                                      </p:cBhvr>
                                    </p:animEffect>
                                  </p:childTnLst>
                                </p:cTn>
                              </p:par>
                              <p:par>
                                <p:cTn id="45" presetID="22" presetClass="entr" presetSubtype="4" fill="hold" nodeType="with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wipe(down)">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34"/>
                                        </p:tgtEl>
                                        <p:attrNameLst>
                                          <p:attrName>style.visibility</p:attrName>
                                        </p:attrNameLst>
                                      </p:cBhvr>
                                      <p:to>
                                        <p:strVal val="visible"/>
                                      </p:to>
                                    </p:set>
                                    <p:animEffect transition="in" filter="fade">
                                      <p:cBhvr>
                                        <p:cTn id="52" dur="500"/>
                                        <p:tgtEl>
                                          <p:spTgt spid="13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135"/>
                                        </p:tgtEl>
                                        <p:attrNameLst>
                                          <p:attrName>style.visibility</p:attrName>
                                        </p:attrNameLst>
                                      </p:cBhvr>
                                      <p:to>
                                        <p:strVal val="visible"/>
                                      </p:to>
                                    </p:set>
                                    <p:animEffect transition="in" filter="wipe(down)">
                                      <p:cBhvr>
                                        <p:cTn id="57" dur="500"/>
                                        <p:tgtEl>
                                          <p:spTgt spid="13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36"/>
                                        </p:tgtEl>
                                        <p:attrNameLst>
                                          <p:attrName>style.visibility</p:attrName>
                                        </p:attrNameLst>
                                      </p:cBhvr>
                                      <p:to>
                                        <p:strVal val="visible"/>
                                      </p:to>
                                    </p:set>
                                    <p:animEffect transition="in" filter="fade">
                                      <p:cBhvr>
                                        <p:cTn id="62" dur="500"/>
                                        <p:tgtEl>
                                          <p:spTgt spid="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185053</TotalTime>
  <Words>5399</Words>
  <Application>Microsoft Macintosh PowerPoint</Application>
  <PresentationFormat>寬螢幕</PresentationFormat>
  <Paragraphs>824</Paragraphs>
  <Slides>36</Slides>
  <Notes>20</Notes>
  <HiddenSlides>0</HiddenSlides>
  <MMClips>0</MMClips>
  <ScaleCrop>false</ScaleCrop>
  <HeadingPairs>
    <vt:vector size="6" baseType="variant">
      <vt:variant>
        <vt:lpstr>使用字型</vt:lpstr>
      </vt:variant>
      <vt:variant>
        <vt:i4>10</vt:i4>
      </vt:variant>
      <vt:variant>
        <vt:lpstr>佈景主題</vt:lpstr>
      </vt:variant>
      <vt:variant>
        <vt:i4>1</vt:i4>
      </vt:variant>
      <vt:variant>
        <vt:lpstr>投影片標題</vt:lpstr>
      </vt:variant>
      <vt:variant>
        <vt:i4>36</vt:i4>
      </vt:variant>
    </vt:vector>
  </HeadingPairs>
  <TitlesOfParts>
    <vt:vector size="47" baseType="lpstr">
      <vt:lpstr>-apple-system</vt:lpstr>
      <vt:lpstr>Kaiti TC</vt:lpstr>
      <vt:lpstr>Söhne</vt:lpstr>
      <vt:lpstr>Arial</vt:lpstr>
      <vt:lpstr>Bradley Hand</vt:lpstr>
      <vt:lpstr>Calibri</vt:lpstr>
      <vt:lpstr>Calibri Light</vt:lpstr>
      <vt:lpstr>Courier</vt:lpstr>
      <vt:lpstr>Palatino Linotype</vt:lpstr>
      <vt:lpstr>Wingdings</vt:lpstr>
      <vt:lpstr>Office Theme</vt:lpstr>
      <vt:lpstr>Q &amp; A</vt:lpstr>
      <vt:lpstr>Recap: Handling Hardware Events</vt:lpstr>
      <vt:lpstr>Recap: Handling Hardware Events (Count.)</vt:lpstr>
      <vt:lpstr>Recap: How an Interrupt Works</vt:lpstr>
      <vt:lpstr>Interrupt Handler</vt:lpstr>
      <vt:lpstr>PowerPoint 簡報</vt:lpstr>
      <vt:lpstr>Agenda</vt:lpstr>
      <vt:lpstr>Recall: Basic Concepts of Memory Management</vt:lpstr>
      <vt:lpstr>Recall: Basic Concepts of Memory Management</vt:lpstr>
      <vt:lpstr>Recall: Basic Concepts of Memory Management</vt:lpstr>
      <vt:lpstr>Manage Physical Address (Page Frame)</vt:lpstr>
      <vt:lpstr>Manage Kernel Physical Address (Zone)</vt:lpstr>
      <vt:lpstr>Manage Kernel Physical Address (Nodes)</vt:lpstr>
      <vt:lpstr>Basic Concepts of Memory Allocation</vt:lpstr>
      <vt:lpstr>Linux Page Allocation</vt:lpstr>
      <vt:lpstr>Linux Page Allocation -- Buddy System</vt:lpstr>
      <vt:lpstr>Why Slab Layer?</vt:lpstr>
      <vt:lpstr>Why Slab Layer? (Count.)</vt:lpstr>
      <vt:lpstr>How Slab Layer Works</vt:lpstr>
      <vt:lpstr>How Slab Layer Works (Count.)</vt:lpstr>
      <vt:lpstr>Linux Page Allocation</vt:lpstr>
      <vt:lpstr>kmalloc() vs vmalloc()</vt:lpstr>
      <vt:lpstr>High Memory</vt:lpstr>
      <vt:lpstr>PowerPoint 簡報</vt:lpstr>
      <vt:lpstr>Virtual Address Spaces</vt:lpstr>
      <vt:lpstr>The Memory Descriptor</vt:lpstr>
      <vt:lpstr>Virtual Memory Areas (VMA)</vt:lpstr>
      <vt:lpstr>Virtual Memory Areas (VMA) (Count.)</vt:lpstr>
      <vt:lpstr>Virtual Memory Areas (VMA) (Count.)</vt:lpstr>
      <vt:lpstr>Page Tables</vt:lpstr>
      <vt:lpstr>How the CPU Walks Page Tables</vt:lpstr>
      <vt:lpstr>Why 4-Level Page Tables for 64-bit System</vt:lpstr>
      <vt:lpstr>PowerPoint 簡報</vt:lpstr>
      <vt:lpstr>How to enable MMU</vt:lpstr>
      <vt:lpstr>Out-dated: Inverted Page Table</vt:lpstr>
      <vt:lpstr>Huge Page Management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YANG Ming-Chang</dc:creator>
  <cp:lastModifiedBy>吳俊峯</cp:lastModifiedBy>
  <cp:revision>1412</cp:revision>
  <dcterms:created xsi:type="dcterms:W3CDTF">2017-10-03T14:18:54Z</dcterms:created>
  <dcterms:modified xsi:type="dcterms:W3CDTF">2025-10-14T19:30:41Z</dcterms:modified>
</cp:coreProperties>
</file>