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1311" r:id="rId2"/>
    <p:sldId id="1234" r:id="rId3"/>
    <p:sldId id="1223" r:id="rId4"/>
    <p:sldId id="1185" r:id="rId5"/>
    <p:sldId id="1190" r:id="rId6"/>
    <p:sldId id="1236" r:id="rId7"/>
    <p:sldId id="1192" r:id="rId8"/>
    <p:sldId id="1187" r:id="rId9"/>
    <p:sldId id="1196" r:id="rId10"/>
    <p:sldId id="1200" r:id="rId11"/>
    <p:sldId id="1228" r:id="rId12"/>
    <p:sldId id="1231" r:id="rId13"/>
    <p:sldId id="1202" r:id="rId14"/>
    <p:sldId id="1203" r:id="rId15"/>
    <p:sldId id="1219" r:id="rId16"/>
    <p:sldId id="1204" r:id="rId17"/>
    <p:sldId id="1237" r:id="rId18"/>
    <p:sldId id="1207" r:id="rId19"/>
    <p:sldId id="1184" r:id="rId20"/>
    <p:sldId id="1220" r:id="rId21"/>
    <p:sldId id="1225" r:id="rId22"/>
    <p:sldId id="1216" r:id="rId23"/>
    <p:sldId id="1218" r:id="rId24"/>
    <p:sldId id="1208" r:id="rId25"/>
    <p:sldId id="1232" r:id="rId26"/>
    <p:sldId id="1233" r:id="rId27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4A1A42E-9635-48ED-A31C-3B34D71B1AD6}">
          <p14:sldIdLst>
            <p14:sldId id="1311"/>
            <p14:sldId id="1234"/>
            <p14:sldId id="1223"/>
            <p14:sldId id="1185"/>
            <p14:sldId id="1190"/>
            <p14:sldId id="1236"/>
            <p14:sldId id="1192"/>
            <p14:sldId id="1187"/>
            <p14:sldId id="1196"/>
            <p14:sldId id="1200"/>
            <p14:sldId id="1228"/>
            <p14:sldId id="1231"/>
            <p14:sldId id="1202"/>
            <p14:sldId id="1203"/>
            <p14:sldId id="1219"/>
            <p14:sldId id="1204"/>
            <p14:sldId id="1237"/>
            <p14:sldId id="1207"/>
            <p14:sldId id="1184"/>
            <p14:sldId id="1220"/>
            <p14:sldId id="1225"/>
            <p14:sldId id="1216"/>
            <p14:sldId id="1218"/>
            <p14:sldId id="1208"/>
            <p14:sldId id="1232"/>
            <p14:sldId id="12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A8"/>
    <a:srgbClr val="FBBFC8"/>
    <a:srgbClr val="F6DF98"/>
    <a:srgbClr val="800080"/>
    <a:srgbClr val="F3CF64"/>
    <a:srgbClr val="FFFD99"/>
    <a:srgbClr val="F2F2F2"/>
    <a:srgbClr val="EAEB01"/>
    <a:srgbClr val="800300"/>
    <a:srgbClr val="EB7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00" autoAdjust="0"/>
    <p:restoredTop sz="85146" autoAdjust="0"/>
  </p:normalViewPr>
  <p:slideViewPr>
    <p:cSldViewPr snapToGrid="0">
      <p:cViewPr varScale="1">
        <p:scale>
          <a:sx n="143" d="100"/>
          <a:sy n="143" d="100"/>
        </p:scale>
        <p:origin x="2112" y="200"/>
      </p:cViewPr>
      <p:guideLst/>
    </p:cSldViewPr>
  </p:slideViewPr>
  <p:notesTextViewPr>
    <p:cViewPr>
      <p:scale>
        <a:sx n="120" d="100"/>
        <a:sy n="120" d="100"/>
      </p:scale>
      <p:origin x="0" y="0"/>
    </p:cViewPr>
  </p:notesTextViewPr>
  <p:sorterViewPr>
    <p:cViewPr>
      <p:scale>
        <a:sx n="200" d="100"/>
        <a:sy n="200" d="100"/>
      </p:scale>
      <p:origin x="0" y="-23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9" y="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AB553-F76C-4E9E-A6A8-687C6D4F2678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9" y="972185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29E38-24E5-4270-86F6-0CA4D49E06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3679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2CF7E20-0940-468E-AEA3-3A81AFC8423F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8"/>
            <a:ext cx="5679440" cy="402987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EE20D91-FCA7-443A-BB7B-86FCD89A57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02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108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>
                <a:solidFill>
                  <a:schemeClr val="tx1"/>
                </a:solidFill>
              </a:rPr>
              <a:t>The slab layer divides different objects into groups called caches, each of which stores a different type of object.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dirty="0">
              <a:solidFill>
                <a:schemeClr val="tx1"/>
              </a:solidFill>
            </a:endParaRP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Full Lists: All objects on a slab marked as used</a:t>
            </a: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Partial Lists: Slab comprises both used and free objects</a:t>
            </a: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Empty Lists: All objects on a slab marked as free</a:t>
            </a:r>
            <a:endParaRPr lang="en-US" altLang="zh-TW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solidFill>
                <a:srgbClr val="C00000"/>
              </a:solidFill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62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Good Morning, My name is Chun-Feng Wu.</a:t>
            </a:r>
            <a:br>
              <a:rPr lang="en-US" altLang="zh-CN"/>
            </a:br>
            <a:r>
              <a:rPr lang="en-US" altLang="zh-CN"/>
              <a:t>In this presentation, I will briefly introduce myself and </a:t>
            </a:r>
            <a:r>
              <a:rPr lang="en-US" altLang="zh-TW"/>
              <a:t>share</a:t>
            </a:r>
            <a:r>
              <a:rPr lang="en-US" altLang="zh-CN"/>
              <a:t> some key idea of my researches.</a:t>
            </a:r>
          </a:p>
          <a:p>
            <a:endParaRPr lang="en-US" altLang="zh-CN"/>
          </a:p>
          <a:p>
            <a:r>
              <a:rPr lang="en-US" altLang="zh-CN"/>
              <a:t>Intensive data movement is one of the critical issue when Von-Neumann machines enter the big data era.</a:t>
            </a:r>
          </a:p>
          <a:p>
            <a:r>
              <a:rPr lang="en-US" altLang="zh-CN"/>
              <a:t>To deal with this issue, my research is to enable a fast, large and device-friendly next-generation computing system.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23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918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15D5-9DD0-BBAF-BBC7-267ABBA7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29158C-C06B-6EAC-5A9C-AF804709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217899-1753-27FC-17E5-06B305980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B359A-E06C-EEB5-9906-498249B9B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692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The key difference between the two is that </a:t>
            </a:r>
            <a:r>
              <a:rPr lang="en-US" altLang="zh-TW" dirty="0" err="1"/>
              <a:t>mm_count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tracks references to the memory map, which can come from multiple processes, threads, or sources, while </a:t>
            </a:r>
            <a:r>
              <a:rPr lang="en-US" altLang="zh-TW" dirty="0" err="1"/>
              <a:t>mm_users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specifically counts the number of users within the same process that are sharing the memory map. In many cases, </a:t>
            </a:r>
            <a:r>
              <a:rPr lang="en-US" altLang="zh-TW" dirty="0" err="1"/>
              <a:t>mm_users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will be equal to or less than </a:t>
            </a:r>
            <a:r>
              <a:rPr lang="en-US" altLang="zh-TW" dirty="0" err="1"/>
              <a:t>mm_count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because it's focused on the per-process reference count.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803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2DFF-EF1B-8340-F510-C18C99AA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EFA865-7B04-ACC1-8D13-D7C167CA2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EDC0B8-8A30-F9AE-8264-8DB304417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7312F9-82D6-571C-7523-DA7FD31D5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711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Memory is byte addressable, so one bit can address one byte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316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Good Morning, My name is Chun-Feng Wu.</a:t>
            </a:r>
            <a:br>
              <a:rPr lang="en-US" altLang="zh-CN"/>
            </a:br>
            <a:r>
              <a:rPr lang="en-US" altLang="zh-CN"/>
              <a:t>In this presentation, I will briefly introduce myself and </a:t>
            </a:r>
            <a:r>
              <a:rPr lang="en-US" altLang="zh-TW"/>
              <a:t>share</a:t>
            </a:r>
            <a:r>
              <a:rPr lang="en-US" altLang="zh-CN"/>
              <a:t> some key idea of my researches.</a:t>
            </a:r>
          </a:p>
          <a:p>
            <a:endParaRPr lang="en-US" altLang="zh-CN"/>
          </a:p>
          <a:p>
            <a:r>
              <a:rPr lang="en-US" altLang="zh-CN"/>
              <a:t>Intensive data movement is one of the critical issue when Von-Neumann machines enter the big data era.</a:t>
            </a:r>
          </a:p>
          <a:p>
            <a:r>
              <a:rPr lang="en-US" altLang="zh-CN"/>
              <a:t>To deal with this issue, my research is to enable a fast, large and device-friendly next-generation computing system.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388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2C23-59EC-400F-3698-EBCA0558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D709CD-C8C1-3735-A93F-EF7AD476B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E6943A1-96CB-A9C8-0D22-E834D455C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355BA-D389-8696-0B59-4DC7E1D0F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43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符號, 標誌, 圖形, 圓形 的圖片&#10;&#10;自動產生的描述">
            <a:extLst>
              <a:ext uri="{FF2B5EF4-FFF2-40B4-BE49-F238E27FC236}">
                <a16:creationId xmlns:a16="http://schemas.microsoft.com/office/drawing/2014/main" id="{B56F5430-B8B8-5B49-D020-4366AEE73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050" y="-256485"/>
            <a:ext cx="1906380" cy="190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174625"/>
            <a:ext cx="11836400" cy="1063625"/>
          </a:xfr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1238250"/>
            <a:ext cx="11836400" cy="5441950"/>
          </a:xfrm>
        </p:spPr>
        <p:txBody>
          <a:bodyPr/>
          <a:lstStyle>
            <a:lvl1pPr algn="just">
              <a:spcBef>
                <a:spcPts val="0"/>
              </a:spcBef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algn="just"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just">
              <a:spcBef>
                <a:spcPts val="0"/>
              </a:spcBef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just">
              <a:spcBef>
                <a:spcPts val="0"/>
              </a:spcBef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just">
              <a:spcBef>
                <a:spcPts val="0"/>
              </a:spcBef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668124" y="11113"/>
            <a:ext cx="523875" cy="484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24E6636-6BA5-4AAC-8485-BE8D914D288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B048F7-DAB4-F1CA-94CE-9FBF17A495C6}"/>
              </a:ext>
            </a:extLst>
          </p:cNvPr>
          <p:cNvSpPr txBox="1"/>
          <p:nvPr userDrawn="1"/>
        </p:nvSpPr>
        <p:spPr>
          <a:xfrm>
            <a:off x="0" y="-37131"/>
            <a:ext cx="47500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b="1" i="0" dirty="0">
                <a:solidFill>
                  <a:schemeClr val="bg1">
                    <a:lumMod val="85000"/>
                  </a:schemeClr>
                </a:solidFill>
                <a:latin typeface="Bradley Hand" pitchFamily="2" charset="0"/>
                <a:ea typeface="Brush Script MT" panose="03060802040406070304" pitchFamily="66" charset="-122"/>
                <a:cs typeface="Brush Script MT" panose="03060802040406070304" pitchFamily="66" charset="-122"/>
              </a:rPr>
              <a:t>National Yang Ming Chiao Tung University, Prof. Chun-Feng Wu</a:t>
            </a:r>
            <a:endParaRPr kumimoji="1" lang="zh-TW" altLang="en-US" sz="1200" b="1" i="0" dirty="0">
              <a:solidFill>
                <a:schemeClr val="bg1">
                  <a:lumMod val="85000"/>
                </a:schemeClr>
              </a:solidFill>
              <a:latin typeface="Bradley Hand" pitchFamily="2" charset="0"/>
              <a:ea typeface="STXingkai" panose="02010800040101010101" pitchFamily="2" charset="-122"/>
              <a:cs typeface="Brush Script MT" panose="03060802040406070304" pitchFamily="66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856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2307BF4-857F-4354-B3C4-3040B9A2E51B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60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10EEA130-8DE6-4C11-A9CB-C786C33DE380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34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9D1323E2-54AF-4A4F-968B-FCF5A3DE404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01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51747F57-0BE0-4E55-AF02-7E0C58AC5A0B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00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3BBAC840-47DB-4C07-9D45-73E1CD955F46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86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8C0969B-135B-4FC6-B762-AA1CE3881354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21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24AF6340-6F1C-4989-B134-2CA68BC9EAFF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08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60D8C7A9-0C67-4424-9979-8CFF97287F2E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70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AD10B1A8-9302-408C-B76D-C3FA78E2A799}" type="datetime1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33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343" y="365125"/>
            <a:ext cx="114953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rgbClr val="750F6D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Click to edit Master title style</a:t>
            </a:r>
            <a:endParaRPr lang="zh-TW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343" y="1825625"/>
            <a:ext cx="114953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Click to edit Master text styles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0" y="6477000"/>
            <a:ext cx="1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3A5E517-2EE9-4B06-A2F1-C885ADB8BF5D}" type="datetime1">
              <a:rPr lang="zh-TW" altLang="en-US" smtClean="0"/>
              <a:t>2025/10/22</a:t>
            </a:fld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0392000" y="6476999"/>
            <a:ext cx="1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24E6636-6BA5-4AAC-8485-BE8D914D288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48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kumimoji="1" lang="zh-TW" alt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kumimoji="1" lang="zh-TW" altLang="en-US" sz="3200" kern="1200" dirty="0" smtClean="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1F6B2-4FCA-67FF-1F24-A05ED8D7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Heads Up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314D27-626D-BA8A-0940-0D4D983C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Midterm: Oct 29 (10/29), 10:10 ~ </a:t>
            </a:r>
            <a:r>
              <a:rPr lang="en-US" altLang="zh-TW" dirty="0"/>
              <a:t>12</a:t>
            </a:r>
            <a:r>
              <a:rPr kumimoji="1" lang="en-US" altLang="zh-TW" dirty="0"/>
              <a:t>:00</a:t>
            </a:r>
          </a:p>
          <a:p>
            <a:pPr lvl="1"/>
            <a:r>
              <a:rPr kumimoji="1" lang="en-US" altLang="zh-TW" dirty="0"/>
              <a:t>Close Book</a:t>
            </a:r>
          </a:p>
          <a:p>
            <a:pPr lvl="1"/>
            <a:r>
              <a:rPr kumimoji="1" lang="en-US" altLang="zh-TW" dirty="0"/>
              <a:t>Coverage: L1 ~ L3 (without advanced topics)</a:t>
            </a:r>
          </a:p>
          <a:p>
            <a:pPr lvl="1"/>
            <a:r>
              <a:rPr kumimoji="1" lang="en-US" altLang="zh-TW" dirty="0"/>
              <a:t>Split folks into several rooms (EC122, ED102, …), will announc</a:t>
            </a:r>
            <a:r>
              <a:rPr lang="en-US" altLang="zh-TW" dirty="0"/>
              <a:t>e the seat table this week.</a:t>
            </a:r>
          </a:p>
          <a:p>
            <a:r>
              <a:rPr kumimoji="1" lang="en-US" altLang="zh-TW" dirty="0"/>
              <a:t>Announce our 2</a:t>
            </a:r>
            <a:r>
              <a:rPr kumimoji="1" lang="en-US" altLang="zh-TW" baseline="30000" dirty="0"/>
              <a:t>nd</a:t>
            </a:r>
            <a:r>
              <a:rPr kumimoji="1" lang="en-US" altLang="zh-TW" dirty="0"/>
              <a:t> hands-on later today.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069E89-8177-D6E2-D6B5-AB286FE2C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259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A7F0E-73BD-74FB-C1E9-A25B88F6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 &amp; 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B5B8DF-0750-3017-548C-7526CE40C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IOMMU can greatly reduce the need for ZONE_DMA. However, Linux maintains these memory zones to ensure broad hardware support and backward compatibility.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F72147-F2F8-5B83-5F71-CED13E814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723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BF106409-5FB6-17A2-3074-81368DA5E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11836400" cy="544195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solidFill>
                  <a:schemeClr val="tx1"/>
                </a:solidFill>
              </a:rPr>
              <a:t>Page Frame: Partition </a:t>
            </a:r>
            <a:r>
              <a:rPr lang="en-US" altLang="zh-TW" dirty="0">
                <a:solidFill>
                  <a:srgbClr val="C00000"/>
                </a:solidFill>
              </a:rPr>
              <a:t>physical address space</a:t>
            </a:r>
            <a:r>
              <a:rPr lang="en-US" altLang="zh-TW" dirty="0">
                <a:solidFill>
                  <a:schemeClr val="tx1"/>
                </a:solidFill>
              </a:rPr>
              <a:t> to chunks with the same size</a:t>
            </a:r>
          </a:p>
          <a:p>
            <a:pPr algn="l"/>
            <a:r>
              <a:rPr lang="en-US" altLang="zh-TW" dirty="0">
                <a:solidFill>
                  <a:schemeClr val="tx1"/>
                </a:solidFill>
              </a:rPr>
              <a:t>Page (Virtual): Partition </a:t>
            </a:r>
            <a:r>
              <a:rPr lang="en-US" altLang="zh-TW" dirty="0">
                <a:solidFill>
                  <a:srgbClr val="C00000"/>
                </a:solidFill>
              </a:rPr>
              <a:t>virtual address space </a:t>
            </a:r>
            <a:r>
              <a:rPr lang="en-US" altLang="zh-TW" dirty="0">
                <a:solidFill>
                  <a:schemeClr val="tx1"/>
                </a:solidFill>
              </a:rPr>
              <a:t>to chunks with the same size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1F3AAD-527D-3021-3075-824148F76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6265D2-8D3F-17E2-AF78-E4953EA92989}"/>
              </a:ext>
            </a:extLst>
          </p:cNvPr>
          <p:cNvSpPr txBox="1"/>
          <p:nvPr/>
        </p:nvSpPr>
        <p:spPr>
          <a:xfrm>
            <a:off x="1367480" y="3451393"/>
            <a:ext cx="8593455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C00000"/>
                </a:solidFill>
              </a:rPr>
              <a:t>Physical vs Virtual Addresses</a:t>
            </a:r>
          </a:p>
          <a:p>
            <a:pPr algn="ctr"/>
            <a:r>
              <a:rPr kumimoji="1" lang="en-US" altLang="zh-TW" sz="2000" dirty="0"/>
              <a:t>Physical: The location where the data </a:t>
            </a:r>
            <a:r>
              <a:rPr kumimoji="1" lang="en-US" altLang="zh-TW" sz="2000" dirty="0">
                <a:solidFill>
                  <a:srgbClr val="C00000"/>
                </a:solidFill>
              </a:rPr>
              <a:t>actually stored </a:t>
            </a:r>
            <a:r>
              <a:rPr kumimoji="1" lang="en-US" altLang="zh-TW" sz="2000" dirty="0"/>
              <a:t>on the device. (Page Frame)</a:t>
            </a:r>
          </a:p>
          <a:p>
            <a:pPr algn="ctr"/>
            <a:r>
              <a:rPr kumimoji="1" lang="en-US" altLang="zh-TW" sz="2000" dirty="0"/>
              <a:t>Virtual: The location where the </a:t>
            </a:r>
            <a:r>
              <a:rPr kumimoji="1" lang="en-US" altLang="zh-TW" sz="2000" dirty="0">
                <a:solidFill>
                  <a:srgbClr val="C00000"/>
                </a:solidFill>
              </a:rPr>
              <a:t>programmers think </a:t>
            </a:r>
            <a:r>
              <a:rPr kumimoji="1" lang="en-US" altLang="zh-TW" sz="2000" dirty="0"/>
              <a:t>the data is. (Page)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15F70FC-F4AF-8CBF-50C4-618A478D0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74625"/>
            <a:ext cx="11836400" cy="1063625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000" dirty="0">
                <a:latin typeface="+mn-lt"/>
              </a:rPr>
              <a:t> Basic Concepts of Memory Management</a:t>
            </a:r>
            <a:endParaRPr kumimoji="1" lang="zh-TW" alt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436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F17210-4894-6094-D97D-9F900E25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Manage Physical Address (Page Frame)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4DD704-CCC1-6CAA-B9E0-14F83FD4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en-US" altLang="zh-TW" dirty="0"/>
              <a:t>Although the processor’s smallest addressable unit is a byte, the </a:t>
            </a:r>
            <a:r>
              <a:rPr kumimoji="1" lang="en-US" altLang="zh-TW" dirty="0">
                <a:solidFill>
                  <a:srgbClr val="C00000"/>
                </a:solidFill>
              </a:rPr>
              <a:t>memory management unit (MMU) typically deals in pages</a:t>
            </a:r>
            <a:r>
              <a:rPr kumimoji="1" lang="en-US" altLang="zh-TW" dirty="0"/>
              <a:t> (e.g., 4KB or 8KB).</a:t>
            </a:r>
          </a:p>
          <a:p>
            <a:pPr algn="l"/>
            <a:r>
              <a:rPr kumimoji="1" lang="en-US" altLang="zh-TW" dirty="0">
                <a:solidFill>
                  <a:srgbClr val="C00000"/>
                </a:solidFill>
              </a:rPr>
              <a:t>Each page frame</a:t>
            </a:r>
            <a:r>
              <a:rPr kumimoji="1" lang="en-US" altLang="zh-TW" dirty="0"/>
              <a:t> is managed by </a:t>
            </a:r>
            <a:r>
              <a:rPr lang="en-US" altLang="zh-TW" dirty="0">
                <a:solidFill>
                  <a:srgbClr val="C00000"/>
                </a:solidFill>
              </a:rPr>
              <a:t>a </a:t>
            </a:r>
            <a:r>
              <a:rPr lang="en-US" altLang="zh-TW" dirty="0">
                <a:solidFill>
                  <a:srgbClr val="C00000"/>
                </a:solidFill>
                <a:latin typeface="+mj-lt"/>
              </a:rPr>
              <a:t>struct page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structure </a:t>
            </a:r>
            <a:br>
              <a:rPr lang="en-US" altLang="zh-TW" dirty="0"/>
            </a:br>
            <a:r>
              <a:rPr lang="en-US" altLang="zh-TW" i="1" dirty="0"/>
              <a:t>(</a:t>
            </a:r>
            <a:r>
              <a:rPr kumimoji="1" lang="en-US" altLang="zh-TW" i="1" dirty="0">
                <a:latin typeface="+mj-lt"/>
              </a:rPr>
              <a:t>struct page </a:t>
            </a:r>
            <a:r>
              <a:rPr kumimoji="1" lang="en-US" altLang="zh-TW" i="1" dirty="0"/>
              <a:t>is associated with physical pages, not virtual pages</a:t>
            </a:r>
            <a:r>
              <a:rPr lang="en-US" altLang="zh-TW" i="1" dirty="0"/>
              <a:t>)</a:t>
            </a:r>
          </a:p>
          <a:p>
            <a:pPr algn="l"/>
            <a:r>
              <a:rPr kumimoji="1" lang="en-US" altLang="zh-TW" dirty="0"/>
              <a:t>Overhead: 40B for each </a:t>
            </a:r>
            <a:r>
              <a:rPr kumimoji="1" lang="en-US" altLang="zh-TW" dirty="0">
                <a:latin typeface="+mj-lt"/>
              </a:rPr>
              <a:t>struct page</a:t>
            </a:r>
            <a:r>
              <a:rPr kumimoji="1" lang="en-US" altLang="zh-TW" dirty="0"/>
              <a:t>, 4KB for each page frame, 4GB DRAM   </a:t>
            </a:r>
            <a:br>
              <a:rPr kumimoji="1" lang="en-US" altLang="zh-TW" dirty="0"/>
            </a:br>
            <a:r>
              <a:rPr kumimoji="1" lang="en-US" altLang="zh-TW" b="1" dirty="0">
                <a:solidFill>
                  <a:srgbClr val="C00000"/>
                </a:solidFill>
              </a:rPr>
              <a:t>Require </a:t>
            </a:r>
            <a:r>
              <a:rPr kumimoji="1" lang="en-US" altLang="zh-TW" b="1">
                <a:solidFill>
                  <a:srgbClr val="C00000"/>
                </a:solidFill>
              </a:rPr>
              <a:t>Only 40MB</a:t>
            </a:r>
            <a:r>
              <a:rPr kumimoji="1" lang="en-US" altLang="zh-TW">
                <a:solidFill>
                  <a:srgbClr val="C00000"/>
                </a:solidFill>
              </a:rPr>
              <a:t> 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297A69-424A-5E02-6B78-FC61E498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7AD4D4-B26D-CEE2-65B3-6F4E0D764BCD}"/>
              </a:ext>
            </a:extLst>
          </p:cNvPr>
          <p:cNvSpPr txBox="1"/>
          <p:nvPr/>
        </p:nvSpPr>
        <p:spPr>
          <a:xfrm>
            <a:off x="4031638" y="3768132"/>
            <a:ext cx="3916608" cy="291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+mj-lt"/>
              </a:rPr>
              <a:t>struct page {</a:t>
            </a:r>
          </a:p>
          <a:p>
            <a:r>
              <a:rPr kumimoji="1" lang="en-US" altLang="zh-TW" dirty="0">
                <a:latin typeface="+mj-lt"/>
              </a:rPr>
              <a:t>unsigned long                    flags;</a:t>
            </a:r>
          </a:p>
          <a:p>
            <a:r>
              <a:rPr kumimoji="1" lang="en-US" altLang="zh-TW" dirty="0" err="1">
                <a:latin typeface="+mj-lt"/>
              </a:rPr>
              <a:t>atomic_t</a:t>
            </a:r>
            <a:r>
              <a:rPr kumimoji="1" lang="en-US" altLang="zh-TW" dirty="0">
                <a:latin typeface="+mj-lt"/>
              </a:rPr>
              <a:t>                              _count;</a:t>
            </a:r>
          </a:p>
          <a:p>
            <a:r>
              <a:rPr kumimoji="1" lang="en-US" altLang="zh-TW" dirty="0" err="1">
                <a:latin typeface="+mj-lt"/>
              </a:rPr>
              <a:t>atomic_t</a:t>
            </a:r>
            <a:r>
              <a:rPr kumimoji="1" lang="en-US" altLang="zh-TW" dirty="0">
                <a:latin typeface="+mj-lt"/>
              </a:rPr>
              <a:t>                              _</a:t>
            </a:r>
            <a:r>
              <a:rPr kumimoji="1" lang="en-US" altLang="zh-TW" dirty="0" err="1">
                <a:latin typeface="+mj-lt"/>
              </a:rPr>
              <a:t>mapcount</a:t>
            </a:r>
            <a:r>
              <a:rPr kumimoji="1" lang="en-US" altLang="zh-TW" dirty="0">
                <a:latin typeface="+mj-lt"/>
              </a:rPr>
              <a:t>;</a:t>
            </a:r>
          </a:p>
          <a:p>
            <a:r>
              <a:rPr kumimoji="1" lang="en-US" altLang="zh-TW" dirty="0">
                <a:latin typeface="+mj-lt"/>
              </a:rPr>
              <a:t>unsigned long                    private;</a:t>
            </a:r>
          </a:p>
          <a:p>
            <a:r>
              <a:rPr kumimoji="1" lang="en-US" altLang="zh-TW" dirty="0">
                <a:latin typeface="+mj-lt"/>
              </a:rPr>
              <a:t>struct </a:t>
            </a:r>
            <a:r>
              <a:rPr kumimoji="1" lang="en-US" altLang="zh-TW" dirty="0" err="1">
                <a:latin typeface="+mj-lt"/>
              </a:rPr>
              <a:t>address_space</a:t>
            </a:r>
            <a:r>
              <a:rPr kumimoji="1" lang="en-US" altLang="zh-TW" dirty="0">
                <a:latin typeface="+mj-lt"/>
              </a:rPr>
              <a:t>        *mapping;</a:t>
            </a:r>
          </a:p>
          <a:p>
            <a:r>
              <a:rPr kumimoji="1" lang="en-US" altLang="zh-TW" dirty="0" err="1">
                <a:latin typeface="+mj-lt"/>
              </a:rPr>
              <a:t>pgoff_t</a:t>
            </a:r>
            <a:r>
              <a:rPr kumimoji="1" lang="en-US" altLang="zh-TW" dirty="0">
                <a:latin typeface="+mj-lt"/>
              </a:rPr>
              <a:t>                                 index;</a:t>
            </a:r>
          </a:p>
          <a:p>
            <a:r>
              <a:rPr kumimoji="1" lang="en-US" altLang="zh-TW" dirty="0">
                <a:latin typeface="+mj-lt"/>
              </a:rPr>
              <a:t>struct </a:t>
            </a:r>
            <a:r>
              <a:rPr kumimoji="1" lang="en-US" altLang="zh-TW" dirty="0" err="1">
                <a:latin typeface="+mj-lt"/>
              </a:rPr>
              <a:t>list_head</a:t>
            </a:r>
            <a:r>
              <a:rPr kumimoji="1" lang="en-US" altLang="zh-TW" dirty="0">
                <a:latin typeface="+mj-lt"/>
              </a:rPr>
              <a:t>                   </a:t>
            </a:r>
            <a:r>
              <a:rPr kumimoji="1" lang="en-US" altLang="zh-TW" dirty="0" err="1">
                <a:latin typeface="+mj-lt"/>
              </a:rPr>
              <a:t>lru</a:t>
            </a:r>
            <a:r>
              <a:rPr kumimoji="1" lang="en-US" altLang="zh-TW" dirty="0">
                <a:latin typeface="+mj-lt"/>
              </a:rPr>
              <a:t>;</a:t>
            </a:r>
          </a:p>
          <a:p>
            <a:r>
              <a:rPr kumimoji="1" lang="en-US" altLang="zh-TW" dirty="0">
                <a:latin typeface="+mj-lt"/>
              </a:rPr>
              <a:t>Void                                       *virtual;</a:t>
            </a:r>
          </a:p>
          <a:p>
            <a:r>
              <a:rPr kumimoji="1" lang="en-US" altLang="zh-TW" dirty="0">
                <a:latin typeface="+mj-lt"/>
              </a:rPr>
              <a:t>};</a:t>
            </a:r>
            <a:endParaRPr kumimoji="1" lang="zh-TW" altLang="en-US" dirty="0">
              <a:latin typeface="+mj-lt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5B4C0F-5CAF-0F66-4B4E-223F3AFECF1B}"/>
              </a:ext>
            </a:extLst>
          </p:cNvPr>
          <p:cNvSpPr txBox="1"/>
          <p:nvPr/>
        </p:nvSpPr>
        <p:spPr>
          <a:xfrm>
            <a:off x="7565636" y="5967693"/>
            <a:ext cx="288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kumimoji="1" lang="en-US" altLang="zh-TW" dirty="0">
                <a:solidFill>
                  <a:srgbClr val="C00000"/>
                </a:solidFill>
              </a:rPr>
              <a:t>Page’s virtual address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6967448-B85B-964D-D7D4-B74AE577F007}"/>
              </a:ext>
            </a:extLst>
          </p:cNvPr>
          <p:cNvSpPr txBox="1"/>
          <p:nvPr/>
        </p:nvSpPr>
        <p:spPr>
          <a:xfrm>
            <a:off x="7565635" y="4023494"/>
            <a:ext cx="288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kumimoji="1" lang="en-US" altLang="zh-TW" dirty="0">
                <a:solidFill>
                  <a:srgbClr val="C00000"/>
                </a:solidFill>
              </a:rPr>
              <a:t>status, e.g., dirty, lock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3079FFD-0CFF-50B3-0719-3A5946E7C03D}"/>
              </a:ext>
            </a:extLst>
          </p:cNvPr>
          <p:cNvSpPr txBox="1"/>
          <p:nvPr/>
        </p:nvSpPr>
        <p:spPr>
          <a:xfrm>
            <a:off x="7565635" y="5167181"/>
            <a:ext cx="371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If the page is used by page cache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679321-A803-3B3C-487B-B50BAF187901}"/>
              </a:ext>
            </a:extLst>
          </p:cNvPr>
          <p:cNvSpPr txBox="1"/>
          <p:nvPr/>
        </p:nvSpPr>
        <p:spPr>
          <a:xfrm>
            <a:off x="7565634" y="4320686"/>
            <a:ext cx="288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kumimoji="1" lang="en-US" altLang="zh-TW" dirty="0">
                <a:solidFill>
                  <a:srgbClr val="C00000"/>
                </a:solidFill>
              </a:rPr>
              <a:t>How many references.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C52A5F-019F-388E-DFA3-4D3B60BA6B30}"/>
              </a:ext>
            </a:extLst>
          </p:cNvPr>
          <p:cNvSpPr txBox="1"/>
          <p:nvPr/>
        </p:nvSpPr>
        <p:spPr>
          <a:xfrm>
            <a:off x="7565633" y="5679963"/>
            <a:ext cx="35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kumimoji="1" lang="en-US" altLang="zh-TW" dirty="0">
                <a:solidFill>
                  <a:srgbClr val="C00000"/>
                </a:solidFill>
              </a:rPr>
              <a:t>For the page replacement policy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1F7FFFE-8BC2-9FE6-13F6-7D22E9331977}"/>
              </a:ext>
            </a:extLst>
          </p:cNvPr>
          <p:cNvSpPr txBox="1"/>
          <p:nvPr/>
        </p:nvSpPr>
        <p:spPr>
          <a:xfrm>
            <a:off x="7565633" y="5421999"/>
            <a:ext cx="35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  <a:sym typeface="Wingdings" pitchFamily="2" charset="2"/>
              </a:rPr>
              <a:t> Offset of a file or a swap file</a:t>
            </a:r>
            <a:r>
              <a:rPr kumimoji="1" lang="en-US" altLang="zh-TW" dirty="0">
                <a:solidFill>
                  <a:srgbClr val="C00000"/>
                </a:solidFill>
              </a:rPr>
              <a:t>.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99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F17210-4894-6094-D97D-9F900E25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Manage Kernel Physical Address (Nodes)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297A69-424A-5E02-6B78-FC61E498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BD8BB1C-DB4F-11FA-6F29-2DC55EB38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86" y="3593491"/>
            <a:ext cx="5511714" cy="297420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A3FB7A-0756-D500-AB84-6C4D21AE4E02}"/>
              </a:ext>
            </a:extLst>
          </p:cNvPr>
          <p:cNvSpPr txBox="1"/>
          <p:nvPr/>
        </p:nvSpPr>
        <p:spPr>
          <a:xfrm>
            <a:off x="0" y="6598099"/>
            <a:ext cx="697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Gorman, Mel. Understanding the Linux virtual memory manager. Upper Saddle River: Prentice Hall, 2004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B2251190-782C-BBC6-FF2D-8461FFA601B7}"/>
              </a:ext>
            </a:extLst>
          </p:cNvPr>
          <p:cNvGrpSpPr/>
          <p:nvPr/>
        </p:nvGrpSpPr>
        <p:grpSpPr>
          <a:xfrm>
            <a:off x="1038297" y="2041724"/>
            <a:ext cx="2379003" cy="1549276"/>
            <a:chOff x="1038297" y="2041724"/>
            <a:chExt cx="2379003" cy="154927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F86643-ADB0-B7B2-3D43-C49067B7CE32}"/>
                </a:ext>
              </a:extLst>
            </p:cNvPr>
            <p:cNvSpPr/>
            <p:nvPr/>
          </p:nvSpPr>
          <p:spPr>
            <a:xfrm>
              <a:off x="1038297" y="2041724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CPU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B0AC739-1DBF-AF0E-3441-8AF999AC0EAD}"/>
                </a:ext>
              </a:extLst>
            </p:cNvPr>
            <p:cNvSpPr/>
            <p:nvPr/>
          </p:nvSpPr>
          <p:spPr>
            <a:xfrm>
              <a:off x="2697300" y="2049039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CPU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A64881B-4070-162F-8511-32BECBD26A9B}"/>
                </a:ext>
              </a:extLst>
            </p:cNvPr>
            <p:cNvSpPr/>
            <p:nvPr/>
          </p:nvSpPr>
          <p:spPr>
            <a:xfrm>
              <a:off x="1038297" y="3267000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DRAM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755CD03-E06F-B4A4-FCCD-833737C3595D}"/>
                </a:ext>
              </a:extLst>
            </p:cNvPr>
            <p:cNvSpPr/>
            <p:nvPr/>
          </p:nvSpPr>
          <p:spPr>
            <a:xfrm>
              <a:off x="2653013" y="3267000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DRAM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5B49AD9-A5D4-BCB3-5936-B579CD3B025F}"/>
                </a:ext>
              </a:extLst>
            </p:cNvPr>
            <p:cNvSpPr/>
            <p:nvPr/>
          </p:nvSpPr>
          <p:spPr>
            <a:xfrm>
              <a:off x="1775211" y="2582121"/>
              <a:ext cx="922089" cy="4668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Controller 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A027527C-5F5C-ACEF-F455-979FE4990B30}"/>
                </a:ext>
              </a:extLst>
            </p:cNvPr>
            <p:cNvCxnSpPr>
              <a:cxnSpLocks/>
            </p:cNvCxnSpPr>
            <p:nvPr/>
          </p:nvCxnSpPr>
          <p:spPr>
            <a:xfrm>
              <a:off x="1398297" y="2365724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D75B0123-EA77-5E97-751D-61A5049B379D}"/>
                </a:ext>
              </a:extLst>
            </p:cNvPr>
            <p:cNvCxnSpPr>
              <a:cxnSpLocks/>
            </p:cNvCxnSpPr>
            <p:nvPr/>
          </p:nvCxnSpPr>
          <p:spPr>
            <a:xfrm>
              <a:off x="3058976" y="2373039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C6903A75-E63D-DC8A-DFBE-4B61976FE1D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255" y="2465329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79813F24-8F4A-F681-B55C-EC48826C88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8297" y="2475377"/>
              <a:ext cx="165900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F81EBE0-62EE-F5E7-BF50-1ED517270A08}"/>
                </a:ext>
              </a:extLst>
            </p:cNvPr>
            <p:cNvCxnSpPr>
              <a:cxnSpLocks/>
            </p:cNvCxnSpPr>
            <p:nvPr/>
          </p:nvCxnSpPr>
          <p:spPr>
            <a:xfrm>
              <a:off x="1412785" y="3157347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E9EB5BCA-7002-A397-880F-F7BF10E1B407}"/>
                </a:ext>
              </a:extLst>
            </p:cNvPr>
            <p:cNvCxnSpPr>
              <a:cxnSpLocks/>
            </p:cNvCxnSpPr>
            <p:nvPr/>
          </p:nvCxnSpPr>
          <p:spPr>
            <a:xfrm>
              <a:off x="3073464" y="3164662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760C7432-FB30-5980-0E2F-05AC7ECA5E5A}"/>
                </a:ext>
              </a:extLst>
            </p:cNvPr>
            <p:cNvCxnSpPr>
              <a:cxnSpLocks/>
            </p:cNvCxnSpPr>
            <p:nvPr/>
          </p:nvCxnSpPr>
          <p:spPr>
            <a:xfrm>
              <a:off x="2250743" y="3055987"/>
              <a:ext cx="0" cy="10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CA63779C-E0EC-EA8B-24B5-725BC521E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2785" y="3166518"/>
              <a:ext cx="165900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E70E5867-B455-E1DE-A871-ED599C3FC932}"/>
              </a:ext>
            </a:extLst>
          </p:cNvPr>
          <p:cNvGrpSpPr/>
          <p:nvPr/>
        </p:nvGrpSpPr>
        <p:grpSpPr>
          <a:xfrm>
            <a:off x="4407803" y="2602525"/>
            <a:ext cx="5379634" cy="554299"/>
            <a:chOff x="4428167" y="2711048"/>
            <a:chExt cx="5379634" cy="554299"/>
          </a:xfrm>
        </p:grpSpPr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8458E952-31E4-0BEC-042E-57F04BB0889A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 flipV="1">
              <a:off x="5148167" y="2988964"/>
              <a:ext cx="393963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8E7E9B9-3FCD-A579-2C4A-7FCE1A9682CA}"/>
                </a:ext>
              </a:extLst>
            </p:cNvPr>
            <p:cNvSpPr/>
            <p:nvPr/>
          </p:nvSpPr>
          <p:spPr>
            <a:xfrm>
              <a:off x="5549454" y="2711048"/>
              <a:ext cx="1404000" cy="5542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zh-TW" sz="1400" dirty="0">
                  <a:solidFill>
                    <a:schemeClr val="tx1"/>
                  </a:solidFill>
                </a:rPr>
                <a:t>CPU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04A12DE-F2CF-9ABF-FEF7-70942008778A}"/>
                </a:ext>
              </a:extLst>
            </p:cNvPr>
            <p:cNvSpPr/>
            <p:nvPr/>
          </p:nvSpPr>
          <p:spPr>
            <a:xfrm>
              <a:off x="7341876" y="2711394"/>
              <a:ext cx="1404724" cy="55395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TW" sz="1400" dirty="0">
                  <a:solidFill>
                    <a:schemeClr val="tx1"/>
                  </a:solidFill>
                </a:rPr>
                <a:t>CPU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282C410-E27A-94B4-B32A-0F1BDAA9B054}"/>
                </a:ext>
              </a:extLst>
            </p:cNvPr>
            <p:cNvSpPr/>
            <p:nvPr/>
          </p:nvSpPr>
          <p:spPr>
            <a:xfrm>
              <a:off x="4428167" y="2830997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DRAM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79EE2BD-0151-7610-6451-6D48E5258AB9}"/>
                </a:ext>
              </a:extLst>
            </p:cNvPr>
            <p:cNvSpPr/>
            <p:nvPr/>
          </p:nvSpPr>
          <p:spPr>
            <a:xfrm>
              <a:off x="9087801" y="2838969"/>
              <a:ext cx="720000" cy="32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DRAM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A2F4473-6C9E-8CBF-277A-AEA096CF18FD}"/>
                </a:ext>
              </a:extLst>
            </p:cNvPr>
            <p:cNvSpPr/>
            <p:nvPr/>
          </p:nvSpPr>
          <p:spPr>
            <a:xfrm>
              <a:off x="5597067" y="2759590"/>
              <a:ext cx="922089" cy="4668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Controller 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35C38B0-B407-ACB5-91CB-E905BEA623FD}"/>
                </a:ext>
              </a:extLst>
            </p:cNvPr>
            <p:cNvSpPr/>
            <p:nvPr/>
          </p:nvSpPr>
          <p:spPr>
            <a:xfrm>
              <a:off x="7773989" y="2759590"/>
              <a:ext cx="922089" cy="4668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Controller 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ADE0BEE4-AED0-1A52-B0B1-008A0279FE10}"/>
              </a:ext>
            </a:extLst>
          </p:cNvPr>
          <p:cNvGrpSpPr/>
          <p:nvPr/>
        </p:nvGrpSpPr>
        <p:grpSpPr>
          <a:xfrm>
            <a:off x="4747200" y="2035499"/>
            <a:ext cx="1383324" cy="686975"/>
            <a:chOff x="4767564" y="2144022"/>
            <a:chExt cx="1383324" cy="686975"/>
          </a:xfrm>
        </p:grpSpPr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52D61D24-15E7-80FA-39A0-83B0909BB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7565" y="2497047"/>
              <a:ext cx="138332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00D6E2F1-484E-50B7-B42A-5338AE23EE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7565" y="2491180"/>
              <a:ext cx="0" cy="339817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0732A79-4D4C-63B8-8699-F6DF11A15881}"/>
                </a:ext>
              </a:extLst>
            </p:cNvPr>
            <p:cNvCxnSpPr>
              <a:cxnSpLocks/>
            </p:cNvCxnSpPr>
            <p:nvPr/>
          </p:nvCxnSpPr>
          <p:spPr>
            <a:xfrm>
              <a:off x="6150888" y="2496709"/>
              <a:ext cx="0" cy="210251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5432C94F-A5CD-8FD2-77F0-E397FB674DC6}"/>
                </a:ext>
              </a:extLst>
            </p:cNvPr>
            <p:cNvSpPr txBox="1"/>
            <p:nvPr/>
          </p:nvSpPr>
          <p:spPr>
            <a:xfrm>
              <a:off x="4767564" y="2144022"/>
              <a:ext cx="1340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Local Access</a:t>
              </a:r>
              <a:endParaRPr kumimoji="1" lang="zh-TW" altLang="en-US" dirty="0"/>
            </a:p>
          </p:txBody>
        </p:sp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E05F129A-A483-6D87-B26C-9CADD68CD6A0}"/>
              </a:ext>
            </a:extLst>
          </p:cNvPr>
          <p:cNvGrpSpPr/>
          <p:nvPr/>
        </p:nvGrpSpPr>
        <p:grpSpPr>
          <a:xfrm>
            <a:off x="6364165" y="2032933"/>
            <a:ext cx="3070051" cy="709149"/>
            <a:chOff x="6384529" y="2141456"/>
            <a:chExt cx="3070051" cy="709149"/>
          </a:xfrm>
        </p:grpSpPr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073932C7-752A-5701-EFE4-99F71491BCB3}"/>
                </a:ext>
              </a:extLst>
            </p:cNvPr>
            <p:cNvCxnSpPr>
              <a:cxnSpLocks/>
            </p:cNvCxnSpPr>
            <p:nvPr/>
          </p:nvCxnSpPr>
          <p:spPr>
            <a:xfrm>
              <a:off x="9454580" y="2510788"/>
              <a:ext cx="0" cy="339817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FF16BC12-B00E-BA46-2941-DA844D1D23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529" y="2479305"/>
              <a:ext cx="306391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5366270E-BB91-6284-F33D-4A44863658C1}"/>
                </a:ext>
              </a:extLst>
            </p:cNvPr>
            <p:cNvCxnSpPr>
              <a:cxnSpLocks/>
            </p:cNvCxnSpPr>
            <p:nvPr/>
          </p:nvCxnSpPr>
          <p:spPr>
            <a:xfrm>
              <a:off x="6390666" y="2498685"/>
              <a:ext cx="0" cy="210251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532F0926-8C30-A6AA-BF60-84E372A99F53}"/>
                </a:ext>
              </a:extLst>
            </p:cNvPr>
            <p:cNvSpPr txBox="1"/>
            <p:nvPr/>
          </p:nvSpPr>
          <p:spPr>
            <a:xfrm>
              <a:off x="6577831" y="2141456"/>
              <a:ext cx="281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Remote Access (~2x Slower)</a:t>
              </a:r>
              <a:endParaRPr kumimoji="1" lang="zh-TW" altLang="en-US" dirty="0"/>
            </a:p>
          </p:txBody>
        </p:sp>
      </p:grp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DF27C79-D65B-02F4-F7CF-773AAB1FBBD2}"/>
              </a:ext>
            </a:extLst>
          </p:cNvPr>
          <p:cNvSpPr txBox="1"/>
          <p:nvPr/>
        </p:nvSpPr>
        <p:spPr>
          <a:xfrm>
            <a:off x="9904374" y="2337102"/>
            <a:ext cx="2260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TW" dirty="0"/>
              <a:t>Fast local access</a:t>
            </a:r>
          </a:p>
          <a:p>
            <a:pPr marL="342900" indent="-342900">
              <a:buAutoNum type="arabicPeriod"/>
            </a:pPr>
            <a:r>
              <a:rPr kumimoji="1" lang="en-US" altLang="zh-TW" dirty="0"/>
              <a:t>Higher bandwidth</a:t>
            </a:r>
          </a:p>
          <a:p>
            <a:pPr marL="342900" indent="-342900">
              <a:buAutoNum type="arabicPeriod"/>
            </a:pPr>
            <a:r>
              <a:rPr kumimoji="1" lang="en-US" altLang="zh-TW" dirty="0"/>
              <a:t>Easy to scale out</a:t>
            </a:r>
            <a:endParaRPr kumimoji="1"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28977B0B-AE95-C9A0-164A-F0EAFFE9893C}"/>
              </a:ext>
            </a:extLst>
          </p:cNvPr>
          <p:cNvSpPr txBox="1"/>
          <p:nvPr/>
        </p:nvSpPr>
        <p:spPr>
          <a:xfrm>
            <a:off x="9828935" y="2032933"/>
            <a:ext cx="22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Why NUMA?</a:t>
            </a: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7B1B205F-65BA-6A87-0259-69923E62D782}"/>
              </a:ext>
            </a:extLst>
          </p:cNvPr>
          <p:cNvGrpSpPr/>
          <p:nvPr/>
        </p:nvGrpSpPr>
        <p:grpSpPr>
          <a:xfrm>
            <a:off x="3923138" y="3269982"/>
            <a:ext cx="2575654" cy="494022"/>
            <a:chOff x="3923138" y="3269982"/>
            <a:chExt cx="2575654" cy="494022"/>
          </a:xfrm>
        </p:grpSpPr>
        <p:sp>
          <p:nvSpPr>
            <p:cNvPr id="77" name="左大括弧 76">
              <a:extLst>
                <a:ext uri="{FF2B5EF4-FFF2-40B4-BE49-F238E27FC236}">
                  <a16:creationId xmlns:a16="http://schemas.microsoft.com/office/drawing/2014/main" id="{E0D6CD97-819F-356B-B5B1-BA363BC983F2}"/>
                </a:ext>
              </a:extLst>
            </p:cNvPr>
            <p:cNvSpPr/>
            <p:nvPr/>
          </p:nvSpPr>
          <p:spPr>
            <a:xfrm rot="16200000">
              <a:off x="4912744" y="2765041"/>
              <a:ext cx="159017" cy="1168900"/>
            </a:xfrm>
            <a:prstGeom prst="leftBrac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36D9A387-D224-6E9D-2120-1C0D8DC7C5FE}"/>
                </a:ext>
              </a:extLst>
            </p:cNvPr>
            <p:cNvSpPr txBox="1"/>
            <p:nvPr/>
          </p:nvSpPr>
          <p:spPr>
            <a:xfrm>
              <a:off x="3923138" y="3394672"/>
              <a:ext cx="257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A memory </a:t>
              </a:r>
              <a:r>
                <a:rPr kumimoji="1" lang="en-US" altLang="zh-TW" u="sng" dirty="0">
                  <a:solidFill>
                    <a:srgbClr val="C00000"/>
                  </a:solidFill>
                </a:rPr>
                <a:t>node</a:t>
              </a:r>
              <a:r>
                <a:rPr kumimoji="1" lang="en-US" altLang="zh-TW" dirty="0">
                  <a:solidFill>
                    <a:srgbClr val="C00000"/>
                  </a:solidFill>
                </a:rPr>
                <a:t> (or bank)</a:t>
              </a:r>
            </a:p>
          </p:txBody>
        </p:sp>
      </p:grp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4DD704-CCC1-6CAA-B9E0-14F83FD4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TW" u="sng" dirty="0"/>
              <a:t>U</a:t>
            </a:r>
            <a:r>
              <a:rPr lang="en-US" altLang="zh-TW" dirty="0"/>
              <a:t>niform </a:t>
            </a:r>
            <a:r>
              <a:rPr lang="en-US" altLang="zh-TW" u="sng" dirty="0"/>
              <a:t>M</a:t>
            </a:r>
            <a:r>
              <a:rPr lang="en-US" altLang="zh-TW" dirty="0"/>
              <a:t>emory </a:t>
            </a:r>
            <a:r>
              <a:rPr lang="en-US" altLang="zh-TW" u="sng" dirty="0"/>
              <a:t>A</a:t>
            </a:r>
            <a:r>
              <a:rPr lang="en-US" altLang="zh-TW" dirty="0"/>
              <a:t>ccess vs </a:t>
            </a:r>
            <a:r>
              <a:rPr lang="en-US" altLang="zh-TW" u="sng" dirty="0"/>
              <a:t>N</a:t>
            </a:r>
            <a:r>
              <a:rPr lang="en-US" altLang="zh-TW" dirty="0"/>
              <a:t>on-</a:t>
            </a:r>
            <a:r>
              <a:rPr lang="en-US" altLang="zh-TW" u="sng" dirty="0"/>
              <a:t>U</a:t>
            </a:r>
            <a:r>
              <a:rPr lang="en-US" altLang="zh-TW" dirty="0"/>
              <a:t>niform </a:t>
            </a:r>
            <a:r>
              <a:rPr lang="en-US" altLang="zh-TW" u="sng" dirty="0"/>
              <a:t>M</a:t>
            </a:r>
            <a:r>
              <a:rPr lang="en-US" altLang="zh-TW" dirty="0"/>
              <a:t>emory </a:t>
            </a:r>
            <a:r>
              <a:rPr lang="en-US" altLang="zh-TW" u="sng" dirty="0"/>
              <a:t>A</a:t>
            </a:r>
            <a:r>
              <a:rPr lang="en-US" altLang="zh-TW" dirty="0"/>
              <a:t>ccess</a:t>
            </a:r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Nodes</a:t>
            </a:r>
          </a:p>
          <a:p>
            <a:pPr lvl="1" algn="l"/>
            <a:r>
              <a:rPr lang="en-US" altLang="zh-TW" dirty="0"/>
              <a:t>Maintains a data structure (</a:t>
            </a:r>
            <a:r>
              <a:rPr lang="en-US" altLang="zh-TW" dirty="0" err="1">
                <a:latin typeface="+mj-lt"/>
              </a:rPr>
              <a:t>pg_data_t</a:t>
            </a:r>
            <a:r>
              <a:rPr lang="en-US" altLang="zh-TW" dirty="0"/>
              <a:t>) for </a:t>
            </a:r>
            <a:br>
              <a:rPr lang="en-US" altLang="zh-TW" dirty="0"/>
            </a:br>
            <a:r>
              <a:rPr lang="en-US" altLang="zh-TW" dirty="0">
                <a:solidFill>
                  <a:srgbClr val="C00000"/>
                </a:solidFill>
              </a:rPr>
              <a:t>each NUMA node. </a:t>
            </a:r>
          </a:p>
          <a:p>
            <a:pPr lvl="1" algn="l"/>
            <a:r>
              <a:rPr lang="en-US" altLang="zh-TW" dirty="0"/>
              <a:t>Allocate memory from the </a:t>
            </a:r>
            <a:r>
              <a:rPr lang="en-US" altLang="zh-TW" dirty="0">
                <a:solidFill>
                  <a:srgbClr val="C00000"/>
                </a:solidFill>
              </a:rPr>
              <a:t>node closest 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en-US" altLang="zh-TW" dirty="0">
                <a:solidFill>
                  <a:srgbClr val="C00000"/>
                </a:solidFill>
              </a:rPr>
              <a:t>to the running CPU</a:t>
            </a:r>
            <a:r>
              <a:rPr lang="en-US" altLang="zh-TW" dirty="0"/>
              <a:t>.</a:t>
            </a:r>
          </a:p>
          <a:p>
            <a:pPr lvl="1" algn="l"/>
            <a:r>
              <a:rPr kumimoji="1" lang="en-US" altLang="zh-TW" dirty="0"/>
              <a:t>Granularity: Nodes </a:t>
            </a:r>
            <a:r>
              <a:rPr kumimoji="1" lang="en-US" altLang="zh-TW" dirty="0">
                <a:sym typeface="Wingdings" pitchFamily="2" charset="2"/>
              </a:rPr>
              <a:t></a:t>
            </a:r>
            <a:r>
              <a:rPr kumimoji="1" lang="en-US" altLang="zh-TW" dirty="0"/>
              <a:t> Zones </a:t>
            </a:r>
            <a:r>
              <a:rPr kumimoji="1" lang="en-US" altLang="zh-TW" dirty="0">
                <a:sym typeface="Wingdings" pitchFamily="2" charset="2"/>
              </a:rPr>
              <a:t> Page Frames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430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2E633-59AC-31CB-BDCA-7995C41E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Linux Page Allocation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D4EA04-0C56-9288-DC46-5D41E903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+mj-lt"/>
              </a:rPr>
              <a:t>a</a:t>
            </a:r>
            <a:r>
              <a:rPr kumimoji="1" lang="en-US" altLang="zh-TW" dirty="0" err="1">
                <a:latin typeface="+mj-lt"/>
              </a:rPr>
              <a:t>lloc_pages</a:t>
            </a:r>
            <a:r>
              <a:rPr kumimoji="1" lang="en-US" altLang="zh-TW" dirty="0">
                <a:latin typeface="+mj-lt"/>
              </a:rPr>
              <a:t>()</a:t>
            </a:r>
            <a:r>
              <a:rPr lang="en-US" altLang="zh-TW" dirty="0"/>
              <a:t> function </a:t>
            </a:r>
            <a:r>
              <a:rPr kumimoji="1" lang="en-US" altLang="zh-TW" dirty="0"/>
              <a:t>allocates a </a:t>
            </a:r>
            <a:r>
              <a:rPr kumimoji="1" lang="en-US" altLang="zh-TW" dirty="0">
                <a:solidFill>
                  <a:srgbClr val="C00000"/>
                </a:solidFill>
              </a:rPr>
              <a:t>single page </a:t>
            </a:r>
            <a:r>
              <a:rPr kumimoji="1" lang="en-US" altLang="zh-TW" dirty="0"/>
              <a:t>or </a:t>
            </a:r>
            <a:r>
              <a:rPr kumimoji="1" lang="en-US" altLang="zh-TW" dirty="0">
                <a:solidFill>
                  <a:srgbClr val="C00000"/>
                </a:solidFill>
              </a:rPr>
              <a:t>2</a:t>
            </a:r>
            <a:r>
              <a:rPr kumimoji="1" lang="en-US" altLang="zh-TW" baseline="30000" dirty="0">
                <a:solidFill>
                  <a:srgbClr val="C00000"/>
                </a:solidFill>
              </a:rPr>
              <a:t>order</a:t>
            </a:r>
            <a:r>
              <a:rPr kumimoji="1" lang="en-US" altLang="zh-TW" dirty="0">
                <a:solidFill>
                  <a:srgbClr val="C00000"/>
                </a:solidFill>
              </a:rPr>
              <a:t> pages </a:t>
            </a:r>
            <a:r>
              <a:rPr kumimoji="1" lang="en-US" altLang="zh-TW" dirty="0"/>
              <a:t>and returns pointer to the first page’s </a:t>
            </a:r>
            <a:r>
              <a:rPr kumimoji="1" lang="en-US" altLang="zh-TW" dirty="0">
                <a:latin typeface="+mj-lt"/>
              </a:rPr>
              <a:t>page struct</a:t>
            </a:r>
            <a:r>
              <a:rPr kumimoji="1" lang="en-US" altLang="zh-TW" dirty="0"/>
              <a:t>. (Buddy System)</a:t>
            </a:r>
          </a:p>
          <a:p>
            <a:r>
              <a:rPr lang="en-US" altLang="zh-TW" dirty="0"/>
              <a:t>For more general </a:t>
            </a:r>
            <a:r>
              <a:rPr lang="en-US" altLang="zh-TW" dirty="0">
                <a:solidFill>
                  <a:srgbClr val="C00000"/>
                </a:solidFill>
              </a:rPr>
              <a:t>byte-sized allocations</a:t>
            </a:r>
            <a:r>
              <a:rPr lang="en-US" altLang="zh-TW" dirty="0"/>
              <a:t>, the kernel provides </a:t>
            </a:r>
            <a:r>
              <a:rPr lang="en-US" altLang="zh-TW" dirty="0" err="1">
                <a:latin typeface="+mj-lt"/>
              </a:rPr>
              <a:t>kmalloc</a:t>
            </a:r>
            <a:r>
              <a:rPr lang="en-US" altLang="zh-TW" dirty="0">
                <a:latin typeface="+mj-lt"/>
              </a:rPr>
              <a:t>()</a:t>
            </a:r>
            <a:r>
              <a:rPr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0F7236-1DB4-6EF3-275A-4B1C52485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54BBE72-D927-86A9-D72C-2F63564CCD30}"/>
              </a:ext>
            </a:extLst>
          </p:cNvPr>
          <p:cNvSpPr txBox="1"/>
          <p:nvPr/>
        </p:nvSpPr>
        <p:spPr>
          <a:xfrm>
            <a:off x="0" y="6598099"/>
            <a:ext cx="9543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 Advanced Operating Systems,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Shinpei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 Kato, 2018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www.pf.is.s.u-tokyo.ac.jp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/wp-content/uploads/2018/10/AdvancedOperatingSystems3.pdf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7DDB50AB-B196-934E-A241-45D89D0882A2}"/>
              </a:ext>
            </a:extLst>
          </p:cNvPr>
          <p:cNvGrpSpPr/>
          <p:nvPr/>
        </p:nvGrpSpPr>
        <p:grpSpPr>
          <a:xfrm>
            <a:off x="3794453" y="2707672"/>
            <a:ext cx="5397661" cy="3695529"/>
            <a:chOff x="3794453" y="2707672"/>
            <a:chExt cx="5397661" cy="36955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04898FF-3448-AB69-9C5C-82D671B3FA8E}"/>
                </a:ext>
              </a:extLst>
            </p:cNvPr>
            <p:cNvSpPr/>
            <p:nvPr/>
          </p:nvSpPr>
          <p:spPr>
            <a:xfrm>
              <a:off x="3794453" y="5863201"/>
              <a:ext cx="5397661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Physical DRAM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F95D455-84F3-0515-721D-AC32925C102A}"/>
                </a:ext>
              </a:extLst>
            </p:cNvPr>
            <p:cNvSpPr/>
            <p:nvPr/>
          </p:nvSpPr>
          <p:spPr>
            <a:xfrm>
              <a:off x="3794453" y="2707672"/>
              <a:ext cx="2301547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User-space Memory Allocation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24300C1-39D7-ED91-65DD-B420610F4CD1}"/>
                </a:ext>
              </a:extLst>
            </p:cNvPr>
            <p:cNvSpPr/>
            <p:nvPr/>
          </p:nvSpPr>
          <p:spPr>
            <a:xfrm>
              <a:off x="6273800" y="2707672"/>
              <a:ext cx="2918314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Kernel-space Memory Allocation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C98BFD19-53FF-B8BE-2725-13353B426711}"/>
              </a:ext>
            </a:extLst>
          </p:cNvPr>
          <p:cNvGrpSpPr/>
          <p:nvPr/>
        </p:nvGrpSpPr>
        <p:grpSpPr>
          <a:xfrm>
            <a:off x="3794453" y="5077448"/>
            <a:ext cx="5397661" cy="768874"/>
            <a:chOff x="3794453" y="5077448"/>
            <a:chExt cx="5397661" cy="76887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17E7E5C-715C-56BA-2035-733AEA9E4440}"/>
                </a:ext>
              </a:extLst>
            </p:cNvPr>
            <p:cNvSpPr/>
            <p:nvPr/>
          </p:nvSpPr>
          <p:spPr>
            <a:xfrm>
              <a:off x="3794453" y="5077448"/>
              <a:ext cx="5397661" cy="5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Low-level Memory Allocator</a:t>
              </a:r>
            </a:p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(</a:t>
              </a:r>
              <a:r>
                <a:rPr kumimoji="1" lang="en-US" altLang="zh-TW" sz="1400" b="1" dirty="0" err="1">
                  <a:solidFill>
                    <a:schemeClr val="tx1"/>
                  </a:solidFill>
                  <a:latin typeface="+mj-lt"/>
                </a:rPr>
                <a:t>alloc_pages</a:t>
              </a:r>
              <a:r>
                <a:rPr kumimoji="1" lang="en-US" altLang="zh-TW" sz="1400" b="1" dirty="0">
                  <a:solidFill>
                    <a:schemeClr val="tx1"/>
                  </a:solidFill>
                  <a:latin typeface="+mj-lt"/>
                </a:rPr>
                <a:t>() </a:t>
              </a:r>
              <a:r>
                <a:rPr kumimoji="1" lang="en-US" altLang="zh-TW" sz="1400" b="1" dirty="0">
                  <a:solidFill>
                    <a:schemeClr val="tx1"/>
                  </a:solidFill>
                </a:rPr>
                <a:t>– Buddy System)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直線箭頭接點 31">
              <a:extLst>
                <a:ext uri="{FF2B5EF4-FFF2-40B4-BE49-F238E27FC236}">
                  <a16:creationId xmlns:a16="http://schemas.microsoft.com/office/drawing/2014/main" id="{2619C978-A763-79C4-465B-2DC3011AC59D}"/>
                </a:ext>
              </a:extLst>
            </p:cNvPr>
            <p:cNvCxnSpPr>
              <a:cxnSpLocks/>
            </p:cNvCxnSpPr>
            <p:nvPr/>
          </p:nvCxnSpPr>
          <p:spPr>
            <a:xfrm>
              <a:off x="6462703" y="5617448"/>
              <a:ext cx="0" cy="228874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03A04488-E3E0-A69A-3D3E-C8C8D3B68934}"/>
              </a:ext>
            </a:extLst>
          </p:cNvPr>
          <p:cNvGrpSpPr/>
          <p:nvPr/>
        </p:nvGrpSpPr>
        <p:grpSpPr>
          <a:xfrm>
            <a:off x="3794453" y="3249649"/>
            <a:ext cx="2301546" cy="771915"/>
            <a:chOff x="3794453" y="3249649"/>
            <a:chExt cx="2301546" cy="77191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8A19608-DA12-67B1-7B18-343029EBB6E7}"/>
                </a:ext>
              </a:extLst>
            </p:cNvPr>
            <p:cNvSpPr/>
            <p:nvPr/>
          </p:nvSpPr>
          <p:spPr>
            <a:xfrm>
              <a:off x="3794453" y="3481564"/>
              <a:ext cx="2301546" cy="5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malloc() – </a:t>
              </a:r>
              <a:br>
                <a:rPr kumimoji="1" lang="en-US" altLang="zh-TW" sz="1400" b="1" dirty="0">
                  <a:solidFill>
                    <a:schemeClr val="tx1"/>
                  </a:solidFill>
                </a:rPr>
              </a:br>
              <a:r>
                <a:rPr kumimoji="1" lang="en-US" altLang="zh-TW" sz="1400" b="1" dirty="0">
                  <a:solidFill>
                    <a:schemeClr val="tx1"/>
                  </a:solidFill>
                </a:rPr>
                <a:t>C Library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線箭頭接點 32">
              <a:extLst>
                <a:ext uri="{FF2B5EF4-FFF2-40B4-BE49-F238E27FC236}">
                  <a16:creationId xmlns:a16="http://schemas.microsoft.com/office/drawing/2014/main" id="{5D32FC76-B11A-0107-AD23-9D530BF5157E}"/>
                </a:ext>
              </a:extLst>
            </p:cNvPr>
            <p:cNvCxnSpPr>
              <a:cxnSpLocks/>
            </p:cNvCxnSpPr>
            <p:nvPr/>
          </p:nvCxnSpPr>
          <p:spPr>
            <a:xfrm>
              <a:off x="4945226" y="3249649"/>
              <a:ext cx="0" cy="228874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A14B331-369F-105F-4575-4FB5382A8BD7}"/>
              </a:ext>
            </a:extLst>
          </p:cNvPr>
          <p:cNvGrpSpPr/>
          <p:nvPr/>
        </p:nvGrpSpPr>
        <p:grpSpPr>
          <a:xfrm>
            <a:off x="3794453" y="4002045"/>
            <a:ext cx="2301546" cy="1085248"/>
            <a:chOff x="3794453" y="4002045"/>
            <a:chExt cx="2301546" cy="108524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95BDE37-3668-0397-B0D8-2255C8AFBC6E}"/>
                </a:ext>
              </a:extLst>
            </p:cNvPr>
            <p:cNvSpPr/>
            <p:nvPr/>
          </p:nvSpPr>
          <p:spPr>
            <a:xfrm>
              <a:off x="3794453" y="4267317"/>
              <a:ext cx="1076451" cy="54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 err="1">
                  <a:solidFill>
                    <a:schemeClr val="tx1"/>
                  </a:solidFill>
                </a:rPr>
                <a:t>Brk</a:t>
              </a:r>
              <a:r>
                <a:rPr kumimoji="1" lang="en-US" altLang="zh-TW" sz="1400" b="1" dirty="0">
                  <a:solidFill>
                    <a:schemeClr val="tx1"/>
                  </a:solidFill>
                </a:rPr>
                <a:t>()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B1658E0-893F-1BDF-297B-8AC318930ACC}"/>
                </a:ext>
              </a:extLst>
            </p:cNvPr>
            <p:cNvSpPr/>
            <p:nvPr/>
          </p:nvSpPr>
          <p:spPr>
            <a:xfrm>
              <a:off x="5019548" y="4267317"/>
              <a:ext cx="1076451" cy="54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 err="1">
                  <a:solidFill>
                    <a:schemeClr val="tx1"/>
                  </a:solidFill>
                </a:rPr>
                <a:t>Mmap</a:t>
              </a:r>
              <a:r>
                <a:rPr kumimoji="1" lang="en-US" altLang="zh-TW" sz="1400" b="1" dirty="0">
                  <a:solidFill>
                    <a:schemeClr val="tx1"/>
                  </a:solidFill>
                </a:rPr>
                <a:t>()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線箭頭接點 33">
              <a:extLst>
                <a:ext uri="{FF2B5EF4-FFF2-40B4-BE49-F238E27FC236}">
                  <a16:creationId xmlns:a16="http://schemas.microsoft.com/office/drawing/2014/main" id="{C51A3E98-D3F8-5E75-EA41-E4B168C9001F}"/>
                </a:ext>
              </a:extLst>
            </p:cNvPr>
            <p:cNvCxnSpPr>
              <a:cxnSpLocks/>
            </p:cNvCxnSpPr>
            <p:nvPr/>
          </p:nvCxnSpPr>
          <p:spPr>
            <a:xfrm>
              <a:off x="4278228" y="4021564"/>
              <a:ext cx="0" cy="228874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箭頭接點 34">
              <a:extLst>
                <a:ext uri="{FF2B5EF4-FFF2-40B4-BE49-F238E27FC236}">
                  <a16:creationId xmlns:a16="http://schemas.microsoft.com/office/drawing/2014/main" id="{3724C3AE-EC29-22B0-BF41-EB91E52BA5E0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90" y="4021564"/>
              <a:ext cx="0" cy="228874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2D556D69-A386-AFC0-AE87-92019E74484F}"/>
                </a:ext>
              </a:extLst>
            </p:cNvPr>
            <p:cNvSpPr txBox="1"/>
            <p:nvPr/>
          </p:nvSpPr>
          <p:spPr>
            <a:xfrm>
              <a:off x="4202664" y="4002045"/>
              <a:ext cx="14657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accent5"/>
                  </a:solidFill>
                </a:rPr>
                <a:t>Request Size </a:t>
              </a:r>
            </a:p>
            <a:p>
              <a:pPr algn="ctr"/>
              <a:r>
                <a:rPr kumimoji="1" lang="en-US" altLang="zh-TW" sz="1400" dirty="0">
                  <a:solidFill>
                    <a:schemeClr val="accent5"/>
                  </a:solidFill>
                </a:rPr>
                <a:t>(Large for </a:t>
              </a:r>
              <a:r>
                <a:rPr kumimoji="1" lang="en-US" altLang="zh-TW" sz="1400" dirty="0" err="1">
                  <a:solidFill>
                    <a:schemeClr val="accent5"/>
                  </a:solidFill>
                </a:rPr>
                <a:t>MMap</a:t>
              </a:r>
              <a:r>
                <a:rPr kumimoji="1" lang="en-US" altLang="zh-TW" sz="1400" dirty="0">
                  <a:solidFill>
                    <a:schemeClr val="accent5"/>
                  </a:solidFill>
                </a:rPr>
                <a:t>)</a:t>
              </a:r>
              <a:endParaRPr kumimoji="1" lang="zh-TW" altLang="en-US" sz="1400" dirty="0">
                <a:solidFill>
                  <a:schemeClr val="accent5"/>
                </a:solidFill>
              </a:endParaRPr>
            </a:p>
          </p:txBody>
        </p:sp>
        <p:cxnSp>
          <p:nvCxnSpPr>
            <p:cNvPr id="40" name="直線箭頭接點 39">
              <a:extLst>
                <a:ext uri="{FF2B5EF4-FFF2-40B4-BE49-F238E27FC236}">
                  <a16:creationId xmlns:a16="http://schemas.microsoft.com/office/drawing/2014/main" id="{FC8E78E0-3474-EE88-DBEE-11F233839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8228" y="4800283"/>
              <a:ext cx="0" cy="28701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箭頭接點 41">
              <a:extLst>
                <a:ext uri="{FF2B5EF4-FFF2-40B4-BE49-F238E27FC236}">
                  <a16:creationId xmlns:a16="http://schemas.microsoft.com/office/drawing/2014/main" id="{9F8A9832-A928-1880-7DB8-EC8426577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7773" y="4790438"/>
              <a:ext cx="0" cy="28701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0DD4CE18-724D-D8C1-A17C-31BA2B4A7BCA}"/>
              </a:ext>
            </a:extLst>
          </p:cNvPr>
          <p:cNvGrpSpPr/>
          <p:nvPr/>
        </p:nvGrpSpPr>
        <p:grpSpPr>
          <a:xfrm>
            <a:off x="6273800" y="3191233"/>
            <a:ext cx="1251068" cy="1886215"/>
            <a:chOff x="6273800" y="3191233"/>
            <a:chExt cx="1251068" cy="1886215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33E41498-53C9-B499-5A06-A5363F9CFE02}"/>
                </a:ext>
              </a:extLst>
            </p:cNvPr>
            <p:cNvGrpSpPr/>
            <p:nvPr/>
          </p:nvGrpSpPr>
          <p:grpSpPr>
            <a:xfrm>
              <a:off x="6273800" y="3247672"/>
              <a:ext cx="979668" cy="1829776"/>
              <a:chOff x="6273800" y="3247672"/>
              <a:chExt cx="979668" cy="1829776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B0BEA9C-FA3D-057A-48C9-A0A650647E63}"/>
                  </a:ext>
                </a:extLst>
              </p:cNvPr>
              <p:cNvSpPr/>
              <p:nvPr/>
            </p:nvSpPr>
            <p:spPr>
              <a:xfrm>
                <a:off x="6273800" y="3481564"/>
                <a:ext cx="979668" cy="540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400" b="1" dirty="0" err="1">
                    <a:solidFill>
                      <a:schemeClr val="tx1"/>
                    </a:solidFill>
                  </a:rPr>
                  <a:t>vmalloc</a:t>
                </a:r>
                <a:r>
                  <a:rPr kumimoji="1" lang="en-US" altLang="zh-TW" sz="1400" b="1" dirty="0">
                    <a:solidFill>
                      <a:schemeClr val="tx1"/>
                    </a:solidFill>
                  </a:rPr>
                  <a:t>()</a:t>
                </a:r>
                <a:endParaRPr kumimoji="1" lang="zh-TW" altLang="en-US" sz="14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直線箭頭接點 22">
                <a:extLst>
                  <a:ext uri="{FF2B5EF4-FFF2-40B4-BE49-F238E27FC236}">
                    <a16:creationId xmlns:a16="http://schemas.microsoft.com/office/drawing/2014/main" id="{285488AE-3793-2FFA-3533-6E5F761FDA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3337" y="3247672"/>
                <a:ext cx="0" cy="228874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箭頭接點 24">
                <a:extLst>
                  <a:ext uri="{FF2B5EF4-FFF2-40B4-BE49-F238E27FC236}">
                    <a16:creationId xmlns:a16="http://schemas.microsoft.com/office/drawing/2014/main" id="{2BA314C3-FE2E-145E-E758-D4CE49ACF854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 flipH="1">
                <a:off x="6763337" y="4021564"/>
                <a:ext cx="297" cy="1055884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22E07D3D-D475-9DAD-90D8-E8D0603B4DED}"/>
                </a:ext>
              </a:extLst>
            </p:cNvPr>
            <p:cNvSpPr txBox="1"/>
            <p:nvPr/>
          </p:nvSpPr>
          <p:spPr>
            <a:xfrm>
              <a:off x="6796014" y="3191233"/>
              <a:ext cx="7288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accent5"/>
                  </a:solidFill>
                </a:rPr>
                <a:t>Big Size</a:t>
              </a:r>
              <a:endParaRPr kumimoji="1" lang="zh-TW" altLang="en-US" sz="1400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4415C8EB-F97B-6D78-F707-3F3921A89BD6}"/>
              </a:ext>
            </a:extLst>
          </p:cNvPr>
          <p:cNvGrpSpPr/>
          <p:nvPr/>
        </p:nvGrpSpPr>
        <p:grpSpPr>
          <a:xfrm>
            <a:off x="7253468" y="3191232"/>
            <a:ext cx="1925984" cy="1893050"/>
            <a:chOff x="7253468" y="3191232"/>
            <a:chExt cx="1925984" cy="1893050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3B1D8F2B-81B4-76E3-4CB5-229C8528798F}"/>
                </a:ext>
              </a:extLst>
            </p:cNvPr>
            <p:cNvGrpSpPr/>
            <p:nvPr/>
          </p:nvGrpSpPr>
          <p:grpSpPr>
            <a:xfrm>
              <a:off x="7253468" y="3247672"/>
              <a:ext cx="1925984" cy="1836610"/>
              <a:chOff x="7253468" y="3247672"/>
              <a:chExt cx="1925984" cy="183661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030401C-B86C-8682-AFBC-E8AF611E72F2}"/>
                  </a:ext>
                </a:extLst>
              </p:cNvPr>
              <p:cNvSpPr/>
              <p:nvPr/>
            </p:nvSpPr>
            <p:spPr>
              <a:xfrm>
                <a:off x="7253468" y="4267317"/>
                <a:ext cx="1909830" cy="5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400" b="1" dirty="0">
                    <a:solidFill>
                      <a:schemeClr val="tx1"/>
                    </a:solidFill>
                  </a:rPr>
                  <a:t>Slab Layer</a:t>
                </a:r>
                <a:endParaRPr kumimoji="1" lang="zh-TW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90359E6-1767-CAC4-C9E3-FF7361EEE36E}"/>
                  </a:ext>
                </a:extLst>
              </p:cNvPr>
              <p:cNvSpPr/>
              <p:nvPr/>
            </p:nvSpPr>
            <p:spPr>
              <a:xfrm>
                <a:off x="8086845" y="3481564"/>
                <a:ext cx="1076451" cy="540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400" b="1" dirty="0" err="1">
                    <a:solidFill>
                      <a:schemeClr val="tx1"/>
                    </a:solidFill>
                  </a:rPr>
                  <a:t>kmalloc</a:t>
                </a:r>
                <a:r>
                  <a:rPr kumimoji="1" lang="en-US" altLang="zh-TW" sz="1400" b="1" dirty="0">
                    <a:solidFill>
                      <a:schemeClr val="tx1"/>
                    </a:solidFill>
                  </a:rPr>
                  <a:t>()</a:t>
                </a:r>
                <a:endParaRPr kumimoji="1" lang="zh-TW" altLang="en-US" sz="14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直線箭頭接點 18">
                <a:extLst>
                  <a:ext uri="{FF2B5EF4-FFF2-40B4-BE49-F238E27FC236}">
                    <a16:creationId xmlns:a16="http://schemas.microsoft.com/office/drawing/2014/main" id="{668E2E18-F53E-CFB0-1490-3EAC151D1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32957" y="3247672"/>
                <a:ext cx="1700" cy="1015983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箭頭接點 27">
                <a:extLst>
                  <a:ext uri="{FF2B5EF4-FFF2-40B4-BE49-F238E27FC236}">
                    <a16:creationId xmlns:a16="http://schemas.microsoft.com/office/drawing/2014/main" id="{679203DD-C798-FC81-9A00-E0AD10796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1318" y="3247672"/>
                <a:ext cx="0" cy="228874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箭頭接點 28">
                <a:extLst>
                  <a:ext uri="{FF2B5EF4-FFF2-40B4-BE49-F238E27FC236}">
                    <a16:creationId xmlns:a16="http://schemas.microsoft.com/office/drawing/2014/main" id="{903F4CE9-E237-8988-EA9E-D09FF5BF1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3352" y="4021564"/>
                <a:ext cx="0" cy="228874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箭頭接點 29">
                <a:extLst>
                  <a:ext uri="{FF2B5EF4-FFF2-40B4-BE49-F238E27FC236}">
                    <a16:creationId xmlns:a16="http://schemas.microsoft.com/office/drawing/2014/main" id="{1547000D-3AD7-AACB-B6D5-2FA7041022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20669" y="4829351"/>
                <a:ext cx="0" cy="228874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D64C706-290F-2A0F-5AD8-37A1A15A4995}"/>
                  </a:ext>
                </a:extLst>
              </p:cNvPr>
              <p:cNvSpPr txBox="1"/>
              <p:nvPr/>
            </p:nvSpPr>
            <p:spPr>
              <a:xfrm>
                <a:off x="8263111" y="4776505"/>
                <a:ext cx="9163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400" dirty="0">
                    <a:solidFill>
                      <a:schemeClr val="accent5"/>
                    </a:solidFill>
                  </a:rPr>
                  <a:t>If no slabs</a:t>
                </a:r>
                <a:endParaRPr kumimoji="1" lang="zh-TW" altLang="en-US" sz="1400" dirty="0"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5249D7CF-5324-9F54-D141-DC2BABD19A16}"/>
                </a:ext>
              </a:extLst>
            </p:cNvPr>
            <p:cNvSpPr txBox="1"/>
            <p:nvPr/>
          </p:nvSpPr>
          <p:spPr>
            <a:xfrm>
              <a:off x="7682676" y="3191232"/>
              <a:ext cx="8987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accent5"/>
                  </a:solidFill>
                </a:rPr>
                <a:t>Small Size</a:t>
              </a:r>
              <a:endParaRPr kumimoji="1" lang="zh-TW" altLang="en-US" sz="1400" dirty="0">
                <a:solidFill>
                  <a:schemeClr val="accent5"/>
                </a:solidFill>
              </a:endParaRPr>
            </a:p>
          </p:txBody>
        </p: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AB98662-2E1B-E017-E034-35AB9ACD0118}"/>
              </a:ext>
            </a:extLst>
          </p:cNvPr>
          <p:cNvSpPr txBox="1"/>
          <p:nvPr/>
        </p:nvSpPr>
        <p:spPr>
          <a:xfrm>
            <a:off x="7597642" y="5302631"/>
            <a:ext cx="1422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b="1" dirty="0">
                <a:solidFill>
                  <a:schemeClr val="accent5"/>
                </a:solidFill>
              </a:rPr>
              <a:t>Page Granularity</a:t>
            </a:r>
            <a:endParaRPr kumimoji="1" lang="zh-TW" altLang="en-US" sz="1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4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2" dur="indefinite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5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3" dur="indefinite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6" dur="indefinite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895DE-1E04-5B7C-24BF-BD38564F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Linux Page Allocation -- Buddy System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3E3C0B-4378-4100-DBBA-D7A1D3F7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+mj-lt"/>
              </a:rPr>
              <a:t>a</a:t>
            </a:r>
            <a:r>
              <a:rPr kumimoji="1" lang="en-US" altLang="zh-TW" dirty="0" err="1">
                <a:latin typeface="+mj-lt"/>
              </a:rPr>
              <a:t>lloc_pages</a:t>
            </a:r>
            <a:r>
              <a:rPr lang="en-US" altLang="zh-TW" dirty="0"/>
              <a:t> function</a:t>
            </a:r>
            <a:r>
              <a:rPr kumimoji="1" lang="en-US" altLang="zh-TW" dirty="0"/>
              <a:t> allocates a </a:t>
            </a:r>
            <a:r>
              <a:rPr kumimoji="1" lang="en-US" altLang="zh-TW" dirty="0">
                <a:solidFill>
                  <a:srgbClr val="C00000"/>
                </a:solidFill>
              </a:rPr>
              <a:t>single page </a:t>
            </a:r>
            <a:r>
              <a:rPr kumimoji="1" lang="en-US" altLang="zh-TW" dirty="0"/>
              <a:t>or </a:t>
            </a:r>
            <a:r>
              <a:rPr kumimoji="1" lang="en-US" altLang="zh-TW" dirty="0">
                <a:solidFill>
                  <a:srgbClr val="C00000"/>
                </a:solidFill>
              </a:rPr>
              <a:t>2</a:t>
            </a:r>
            <a:r>
              <a:rPr kumimoji="1" lang="en-US" altLang="zh-TW" baseline="30000" dirty="0">
                <a:solidFill>
                  <a:srgbClr val="C00000"/>
                </a:solidFill>
              </a:rPr>
              <a:t>order</a:t>
            </a:r>
            <a:r>
              <a:rPr kumimoji="1" lang="en-US" altLang="zh-TW" dirty="0">
                <a:solidFill>
                  <a:srgbClr val="C00000"/>
                </a:solidFill>
              </a:rPr>
              <a:t> contiguous physical pages </a:t>
            </a:r>
            <a:r>
              <a:rPr kumimoji="1" lang="en-US" altLang="zh-TW" dirty="0"/>
              <a:t>and returns pointer to the first page’s </a:t>
            </a:r>
            <a:r>
              <a:rPr kumimoji="1" lang="en-US" altLang="zh-TW" dirty="0">
                <a:latin typeface="+mj-lt"/>
              </a:rPr>
              <a:t>page struct</a:t>
            </a:r>
            <a:r>
              <a:rPr kumimoji="1" lang="en-US" altLang="zh-TW" dirty="0"/>
              <a:t>. (Buddy System)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C9F4E9-11C2-F6AF-0ACA-7F0B180D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D93722B-D486-5131-1A2D-6D98212EB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70" y="2778105"/>
            <a:ext cx="6116709" cy="369889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9B8DED5-3500-13DB-51DF-48BFD3882D1A}"/>
              </a:ext>
            </a:extLst>
          </p:cNvPr>
          <p:cNvSpPr txBox="1"/>
          <p:nvPr/>
        </p:nvSpPr>
        <p:spPr>
          <a:xfrm>
            <a:off x="0" y="6598099"/>
            <a:ext cx="697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Gorman, Mel. Understanding the Linux virtual memory manager. Upper Saddle River: Prentice Hall, 2004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D20B20-22EE-B06B-7213-20AE2C302AC1}"/>
              </a:ext>
            </a:extLst>
          </p:cNvPr>
          <p:cNvSpPr/>
          <p:nvPr/>
        </p:nvSpPr>
        <p:spPr>
          <a:xfrm>
            <a:off x="4931229" y="3046649"/>
            <a:ext cx="3634764" cy="3288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AE1BF20-F284-BC45-065C-EA3A41AAF3A7}"/>
              </a:ext>
            </a:extLst>
          </p:cNvPr>
          <p:cNvSpPr txBox="1"/>
          <p:nvPr/>
        </p:nvSpPr>
        <p:spPr>
          <a:xfrm>
            <a:off x="5021297" y="2471754"/>
            <a:ext cx="4307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If a process requests a 2</a:t>
            </a:r>
            <a:r>
              <a:rPr kumimoji="1" lang="en-US" altLang="zh-TW" baseline="30000" dirty="0">
                <a:solidFill>
                  <a:srgbClr val="C00000"/>
                </a:solidFill>
              </a:rPr>
              <a:t>2</a:t>
            </a:r>
            <a:r>
              <a:rPr kumimoji="1" lang="en-US" altLang="zh-TW" dirty="0">
                <a:solidFill>
                  <a:srgbClr val="C00000"/>
                </a:solidFill>
              </a:rPr>
              <a:t> block.</a:t>
            </a:r>
            <a:br>
              <a:rPr kumimoji="1" lang="en-US" altLang="zh-TW" dirty="0">
                <a:solidFill>
                  <a:srgbClr val="C00000"/>
                </a:solidFill>
              </a:rPr>
            </a:br>
            <a:r>
              <a:rPr kumimoji="1" lang="en-US" altLang="zh-TW" dirty="0">
                <a:solidFill>
                  <a:srgbClr val="C00000"/>
                </a:solidFill>
              </a:rPr>
              <a:t>But there is no free pages in order 2 and 3.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35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22110-833F-534E-16B1-D9AC02C5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Why Slab Layer?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FD60E8-53D8-1DD7-5899-42D8CC23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Grouping kernel objects (i.e., data structure)</a:t>
            </a:r>
            <a:r>
              <a:rPr kumimoji="1" lang="en-US" altLang="zh-TW" dirty="0"/>
              <a:t> into slab caches. </a:t>
            </a:r>
            <a:r>
              <a:rPr kumimoji="1" lang="en-US" altLang="zh-TW" dirty="0">
                <a:solidFill>
                  <a:srgbClr val="C00000"/>
                </a:solidFill>
              </a:rPr>
              <a:t>Pre-allocating memory pages </a:t>
            </a:r>
            <a:r>
              <a:rPr kumimoji="1" lang="en-US" altLang="zh-TW" dirty="0"/>
              <a:t>in slabs leading to faster memory allocation.</a:t>
            </a:r>
          </a:p>
          <a:p>
            <a:r>
              <a:rPr kumimoji="1" lang="en-US" altLang="zh-TW" dirty="0"/>
              <a:t>When the data structure is no longer needed, it </a:t>
            </a:r>
            <a:r>
              <a:rPr kumimoji="1" lang="en-US" altLang="zh-TW" dirty="0">
                <a:solidFill>
                  <a:srgbClr val="C00000"/>
                </a:solidFill>
              </a:rPr>
              <a:t>is returned to the free list instead of deallocated</a:t>
            </a:r>
            <a:r>
              <a:rPr kumimoji="1" lang="en-US" altLang="zh-TW" dirty="0"/>
              <a:t>. </a:t>
            </a:r>
          </a:p>
          <a:p>
            <a:pPr lvl="1"/>
            <a:r>
              <a:rPr lang="en-US" altLang="zh-TW" dirty="0">
                <a:solidFill>
                  <a:schemeClr val="tx1"/>
                </a:solidFill>
              </a:rPr>
              <a:t>Example: process descriptors (a free list of </a:t>
            </a:r>
            <a:r>
              <a:rPr lang="en-US" altLang="zh-TW" dirty="0" err="1">
                <a:solidFill>
                  <a:schemeClr val="tx1"/>
                </a:solidFill>
              </a:rPr>
              <a:t>task_struct</a:t>
            </a:r>
            <a:r>
              <a:rPr lang="en-US" altLang="zh-TW" dirty="0">
                <a:solidFill>
                  <a:schemeClr val="tx1"/>
                </a:solidFill>
              </a:rPr>
              <a:t>), file objects (</a:t>
            </a:r>
            <a:r>
              <a:rPr lang="en-US" altLang="zh-TW" dirty="0" err="1">
                <a:solidFill>
                  <a:schemeClr val="tx1"/>
                </a:solidFill>
              </a:rPr>
              <a:t>inode</a:t>
            </a:r>
            <a:r>
              <a:rPr lang="en-US" altLang="zh-TW" dirty="0">
                <a:solidFill>
                  <a:schemeClr val="tx1"/>
                </a:solidFill>
              </a:rPr>
              <a:t>), semaphore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650B14-EE43-2099-B907-54C9CD9BC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104486-4B04-D5A8-5CA1-CDCB4BB86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8" y="3836986"/>
            <a:ext cx="3672766" cy="3009901"/>
          </a:xfrm>
          <a:prstGeom prst="rect">
            <a:avLst/>
          </a:prstGeom>
        </p:spPr>
      </p:pic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F8A54CA2-3398-E1F5-D5EB-90519A9CE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151" y="4035600"/>
            <a:ext cx="7899400" cy="2146300"/>
          </a:xfrm>
          <a:prstGeom prst="rect">
            <a:avLst/>
          </a:prstGeom>
        </p:spPr>
      </p:pic>
      <p:pic>
        <p:nvPicPr>
          <p:cNvPr id="12" name="圖片 11" descr="一張含有 桌 的圖片&#10;&#10;自動產生的描述">
            <a:extLst>
              <a:ext uri="{FF2B5EF4-FFF2-40B4-BE49-F238E27FC236}">
                <a16:creationId xmlns:a16="http://schemas.microsoft.com/office/drawing/2014/main" id="{4B3EDD63-FFFD-874F-B768-D82672588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885" y="3323962"/>
            <a:ext cx="5056540" cy="343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1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22110-833F-534E-16B1-D9AC02C5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400" dirty="0">
                <a:latin typeface="+mn-lt"/>
              </a:rPr>
              <a:t> </a:t>
            </a:r>
            <a:r>
              <a:rPr kumimoji="1" lang="en-US" altLang="zh-TW" dirty="0"/>
              <a:t>How Slab Layer Works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650B14-EE43-2099-B907-54C9CD9BC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5F6A764-08DB-A16F-B7FD-1F8FB5D1B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952" y="1320006"/>
            <a:ext cx="7360076" cy="5278438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FD60E8-53D8-1DD7-5899-42D8CC23C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5297311" cy="544195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solidFill>
                  <a:schemeClr val="tx1"/>
                </a:solidFill>
              </a:rPr>
              <a:t>Main Idea: </a:t>
            </a:r>
            <a:r>
              <a:rPr lang="en-US" altLang="zh-TW" dirty="0">
                <a:solidFill>
                  <a:srgbClr val="C00000"/>
                </a:solidFill>
              </a:rPr>
              <a:t>Avoid</a:t>
            </a:r>
            <a:r>
              <a:rPr lang="en-US" altLang="zh-TW" dirty="0">
                <a:solidFill>
                  <a:schemeClr val="tx1"/>
                </a:solidFill>
              </a:rPr>
              <a:t> from </a:t>
            </a:r>
            <a:r>
              <a:rPr lang="en-US" altLang="zh-TW" dirty="0">
                <a:solidFill>
                  <a:srgbClr val="C00000"/>
                </a:solidFill>
              </a:rPr>
              <a:t>allocating </a:t>
            </a:r>
            <a:r>
              <a:rPr lang="en-US" altLang="zh-TW" dirty="0">
                <a:solidFill>
                  <a:schemeClr val="tx1"/>
                </a:solidFill>
              </a:rPr>
              <a:t>and</a:t>
            </a:r>
            <a:r>
              <a:rPr lang="en-US" altLang="zh-TW" dirty="0">
                <a:solidFill>
                  <a:srgbClr val="C00000"/>
                </a:solidFill>
              </a:rPr>
              <a:t> freeing physical address </a:t>
            </a:r>
            <a:r>
              <a:rPr lang="en-US" altLang="zh-TW" dirty="0">
                <a:solidFill>
                  <a:schemeClr val="tx1"/>
                </a:solidFill>
              </a:rPr>
              <a:t>as frequent as possible.</a:t>
            </a:r>
          </a:p>
          <a:p>
            <a:pPr algn="l"/>
            <a:r>
              <a:rPr lang="en-US" altLang="zh-TW" dirty="0">
                <a:solidFill>
                  <a:schemeClr val="tx1"/>
                </a:solidFill>
              </a:rPr>
              <a:t>Structure: Cache </a:t>
            </a:r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 Slab  Page</a:t>
            </a: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Full Lists</a:t>
            </a: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Partial Lists</a:t>
            </a:r>
          </a:p>
          <a:p>
            <a:pPr lvl="1" algn="l"/>
            <a:r>
              <a:rPr lang="en-US" altLang="zh-TW" dirty="0">
                <a:solidFill>
                  <a:schemeClr val="tx1"/>
                </a:solidFill>
                <a:sym typeface="Wingdings" pitchFamily="2" charset="2"/>
              </a:rPr>
              <a:t>Empty Lists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B0EB2F4-5136-DEDE-B535-456FFA7AC91F}"/>
              </a:ext>
            </a:extLst>
          </p:cNvPr>
          <p:cNvSpPr txBox="1"/>
          <p:nvPr/>
        </p:nvSpPr>
        <p:spPr>
          <a:xfrm>
            <a:off x="0" y="6598099"/>
            <a:ext cx="697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Gorman, Mel. Understanding the Linux virtual memory manager. Upper Saddle River: Prentice Hall, 2004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7D74E2-3A66-5629-DC0A-46762CD86962}"/>
              </a:ext>
            </a:extLst>
          </p:cNvPr>
          <p:cNvSpPr/>
          <p:nvPr/>
        </p:nvSpPr>
        <p:spPr>
          <a:xfrm>
            <a:off x="494552" y="4483925"/>
            <a:ext cx="1140178" cy="19168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b="1" dirty="0">
                <a:solidFill>
                  <a:schemeClr val="tx1"/>
                </a:solidFill>
              </a:rPr>
              <a:t>Slab 1 </a:t>
            </a:r>
            <a:endParaRPr kumimoji="1" lang="zh-TW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9CEFB5-9778-A9DA-B4A8-7ACAA41DE6CD}"/>
              </a:ext>
            </a:extLst>
          </p:cNvPr>
          <p:cNvSpPr/>
          <p:nvPr/>
        </p:nvSpPr>
        <p:spPr>
          <a:xfrm>
            <a:off x="495279" y="4765007"/>
            <a:ext cx="1140178" cy="8208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7C8BC4-F8D3-157E-D694-0E57B4F631DD}"/>
              </a:ext>
            </a:extLst>
          </p:cNvPr>
          <p:cNvSpPr/>
          <p:nvPr/>
        </p:nvSpPr>
        <p:spPr>
          <a:xfrm>
            <a:off x="493825" y="5026966"/>
            <a:ext cx="1140178" cy="277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task_struct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1A8C6B-D5BC-F829-C560-FA22BE6933C2}"/>
              </a:ext>
            </a:extLst>
          </p:cNvPr>
          <p:cNvSpPr/>
          <p:nvPr/>
        </p:nvSpPr>
        <p:spPr>
          <a:xfrm>
            <a:off x="493825" y="5303858"/>
            <a:ext cx="1140178" cy="277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task_struct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53311B-C274-47D3-02E9-3D922EBA1E4E}"/>
              </a:ext>
            </a:extLst>
          </p:cNvPr>
          <p:cNvSpPr/>
          <p:nvPr/>
        </p:nvSpPr>
        <p:spPr>
          <a:xfrm>
            <a:off x="495279" y="5589965"/>
            <a:ext cx="1140178" cy="8208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B6DED7-1300-A354-6825-E151314D7E46}"/>
              </a:ext>
            </a:extLst>
          </p:cNvPr>
          <p:cNvSpPr/>
          <p:nvPr/>
        </p:nvSpPr>
        <p:spPr>
          <a:xfrm>
            <a:off x="493825" y="5851924"/>
            <a:ext cx="1140178" cy="277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task_struct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EBA445-1663-9E00-EED5-5448B4229368}"/>
              </a:ext>
            </a:extLst>
          </p:cNvPr>
          <p:cNvSpPr/>
          <p:nvPr/>
        </p:nvSpPr>
        <p:spPr>
          <a:xfrm>
            <a:off x="493825" y="6128816"/>
            <a:ext cx="1140178" cy="277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task_struct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C2A7DC22-4931-B3B5-A90D-21ADAB7C6A61}"/>
              </a:ext>
            </a:extLst>
          </p:cNvPr>
          <p:cNvGrpSpPr/>
          <p:nvPr/>
        </p:nvGrpSpPr>
        <p:grpSpPr>
          <a:xfrm>
            <a:off x="293490" y="4035607"/>
            <a:ext cx="1676293" cy="447896"/>
            <a:chOff x="293490" y="4035607"/>
            <a:chExt cx="1676293" cy="447896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39C3070E-F6F3-FC62-3E12-C7A72B172CBE}"/>
                </a:ext>
              </a:extLst>
            </p:cNvPr>
            <p:cNvSpPr txBox="1"/>
            <p:nvPr/>
          </p:nvSpPr>
          <p:spPr>
            <a:xfrm>
              <a:off x="293490" y="4035607"/>
              <a:ext cx="16762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/>
                <a:t>Contiguous Memory</a:t>
              </a:r>
              <a:endParaRPr kumimoji="1" lang="zh-TW" altLang="en-US" sz="1400" dirty="0"/>
            </a:p>
          </p:txBody>
        </p:sp>
        <p:cxnSp>
          <p:nvCxnSpPr>
            <p:cNvPr id="27" name="曲線接點 26">
              <a:extLst>
                <a:ext uri="{FF2B5EF4-FFF2-40B4-BE49-F238E27FC236}">
                  <a16:creationId xmlns:a16="http://schemas.microsoft.com/office/drawing/2014/main" id="{57AA8DCB-DD35-6E0E-C6E3-ABB8E298104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69959" y="4321825"/>
              <a:ext cx="194476" cy="128880"/>
            </a:xfrm>
            <a:prstGeom prst="curved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6B56422-BFCC-0650-73CE-81FC478E8D30}"/>
              </a:ext>
            </a:extLst>
          </p:cNvPr>
          <p:cNvSpPr txBox="1"/>
          <p:nvPr/>
        </p:nvSpPr>
        <p:spPr>
          <a:xfrm>
            <a:off x="547258" y="6363008"/>
            <a:ext cx="1054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i="1" dirty="0"/>
              <a:t>On Full Lists</a:t>
            </a:r>
            <a:endParaRPr kumimoji="1" lang="zh-TW" altLang="en-US" sz="1400" i="1" dirty="0"/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E5037392-5558-5814-50DB-62C4AAA6C563}"/>
              </a:ext>
            </a:extLst>
          </p:cNvPr>
          <p:cNvGrpSpPr/>
          <p:nvPr/>
        </p:nvGrpSpPr>
        <p:grpSpPr>
          <a:xfrm>
            <a:off x="2192170" y="4492841"/>
            <a:ext cx="1264064" cy="2195261"/>
            <a:chOff x="2192170" y="4492841"/>
            <a:chExt cx="1264064" cy="219526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499E72F-25EE-0B0E-29C5-8E6B3987393E}"/>
                </a:ext>
              </a:extLst>
            </p:cNvPr>
            <p:cNvSpPr/>
            <p:nvPr/>
          </p:nvSpPr>
          <p:spPr>
            <a:xfrm>
              <a:off x="2270673" y="4492841"/>
              <a:ext cx="1140178" cy="191686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Slab 2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B139053-511F-0FD1-F2A0-196F742BEB5E}"/>
                </a:ext>
              </a:extLst>
            </p:cNvPr>
            <p:cNvSpPr/>
            <p:nvPr/>
          </p:nvSpPr>
          <p:spPr>
            <a:xfrm>
              <a:off x="2271400" y="4773923"/>
              <a:ext cx="1140178" cy="820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Page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1C7520D-5A1F-824E-E434-A706B2BBD9C1}"/>
                </a:ext>
              </a:extLst>
            </p:cNvPr>
            <p:cNvSpPr/>
            <p:nvPr/>
          </p:nvSpPr>
          <p:spPr>
            <a:xfrm>
              <a:off x="2269946" y="5035882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32634A7-5C33-76FA-29F0-91B52B072A9F}"/>
                </a:ext>
              </a:extLst>
            </p:cNvPr>
            <p:cNvSpPr/>
            <p:nvPr/>
          </p:nvSpPr>
          <p:spPr>
            <a:xfrm>
              <a:off x="2269946" y="5312774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204E051-7EF7-AEC9-74E2-F291BB60F0EA}"/>
                </a:ext>
              </a:extLst>
            </p:cNvPr>
            <p:cNvSpPr/>
            <p:nvPr/>
          </p:nvSpPr>
          <p:spPr>
            <a:xfrm>
              <a:off x="2271400" y="5598881"/>
              <a:ext cx="1140178" cy="820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Page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2F75812-3B3A-5106-015D-28DB3AB00C10}"/>
                </a:ext>
              </a:extLst>
            </p:cNvPr>
            <p:cNvSpPr/>
            <p:nvPr/>
          </p:nvSpPr>
          <p:spPr>
            <a:xfrm>
              <a:off x="2269946" y="5860840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D5CABDE-B44A-95E8-3C6B-54A5744CB5AE}"/>
                </a:ext>
              </a:extLst>
            </p:cNvPr>
            <p:cNvSpPr/>
            <p:nvPr/>
          </p:nvSpPr>
          <p:spPr>
            <a:xfrm>
              <a:off x="2269946" y="6137732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3ED8AAE-1418-010A-A050-2EAAA2BA2BFD}"/>
                </a:ext>
              </a:extLst>
            </p:cNvPr>
            <p:cNvSpPr txBox="1"/>
            <p:nvPr/>
          </p:nvSpPr>
          <p:spPr>
            <a:xfrm>
              <a:off x="2192170" y="6380325"/>
              <a:ext cx="12640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On Partial Lists</a:t>
              </a:r>
              <a:endParaRPr kumimoji="1" lang="zh-TW" altLang="en-US" sz="1400" i="1" dirty="0"/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9DE7AE2B-6B32-F3FE-4816-E3A60344D420}"/>
              </a:ext>
            </a:extLst>
          </p:cNvPr>
          <p:cNvGrpSpPr/>
          <p:nvPr/>
        </p:nvGrpSpPr>
        <p:grpSpPr>
          <a:xfrm>
            <a:off x="-32658" y="5009429"/>
            <a:ext cx="554960" cy="1387796"/>
            <a:chOff x="-32658" y="5009429"/>
            <a:chExt cx="554960" cy="1387796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2BE945E8-9600-2402-CEDE-4C54D7905676}"/>
                </a:ext>
              </a:extLst>
            </p:cNvPr>
            <p:cNvSpPr txBox="1"/>
            <p:nvPr/>
          </p:nvSpPr>
          <p:spPr>
            <a:xfrm>
              <a:off x="-32658" y="5009429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CA549A7D-87D6-1948-4BC3-5E4B93BB25B2}"/>
                </a:ext>
              </a:extLst>
            </p:cNvPr>
            <p:cNvSpPr txBox="1"/>
            <p:nvPr/>
          </p:nvSpPr>
          <p:spPr>
            <a:xfrm>
              <a:off x="-32658" y="5264913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D04C6FEB-C811-2581-B441-46982B93961C}"/>
                </a:ext>
              </a:extLst>
            </p:cNvPr>
            <p:cNvSpPr txBox="1"/>
            <p:nvPr/>
          </p:nvSpPr>
          <p:spPr>
            <a:xfrm>
              <a:off x="-32658" y="5833964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31486092-E855-F696-F18B-C20C34D2686A}"/>
                </a:ext>
              </a:extLst>
            </p:cNvPr>
            <p:cNvSpPr txBox="1"/>
            <p:nvPr/>
          </p:nvSpPr>
          <p:spPr>
            <a:xfrm>
              <a:off x="-32658" y="6089448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8995097D-AF5C-6144-1EAD-7A4750D914F3}"/>
              </a:ext>
            </a:extLst>
          </p:cNvPr>
          <p:cNvGrpSpPr/>
          <p:nvPr/>
        </p:nvGrpSpPr>
        <p:grpSpPr>
          <a:xfrm>
            <a:off x="3426453" y="4499771"/>
            <a:ext cx="1858353" cy="2184842"/>
            <a:chOff x="3426453" y="4499771"/>
            <a:chExt cx="1858353" cy="2184842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DF03CEC-2E76-FD55-2574-11C487948299}"/>
                </a:ext>
              </a:extLst>
            </p:cNvPr>
            <p:cNvSpPr/>
            <p:nvPr/>
          </p:nvSpPr>
          <p:spPr>
            <a:xfrm>
              <a:off x="4100249" y="4499771"/>
              <a:ext cx="1140178" cy="191686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Slab 3</a:t>
              </a:r>
              <a:endParaRPr kumimoji="1" lang="zh-TW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E7B4AAC-F920-32D7-EE3E-71A79C5B595F}"/>
                </a:ext>
              </a:extLst>
            </p:cNvPr>
            <p:cNvSpPr/>
            <p:nvPr/>
          </p:nvSpPr>
          <p:spPr>
            <a:xfrm>
              <a:off x="4100976" y="4780853"/>
              <a:ext cx="1140178" cy="820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Page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9834EFA-58F6-D476-4824-06897BA584B3}"/>
                </a:ext>
              </a:extLst>
            </p:cNvPr>
            <p:cNvSpPr/>
            <p:nvPr/>
          </p:nvSpPr>
          <p:spPr>
            <a:xfrm>
              <a:off x="4099522" y="5042812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21BAB02-36E0-2513-11FC-8BF576EE0614}"/>
                </a:ext>
              </a:extLst>
            </p:cNvPr>
            <p:cNvSpPr/>
            <p:nvPr/>
          </p:nvSpPr>
          <p:spPr>
            <a:xfrm>
              <a:off x="4099522" y="5319704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B7A818B-8FD0-685E-CB14-7ED4A9EF10DF}"/>
                </a:ext>
              </a:extLst>
            </p:cNvPr>
            <p:cNvSpPr/>
            <p:nvPr/>
          </p:nvSpPr>
          <p:spPr>
            <a:xfrm>
              <a:off x="4100976" y="5605811"/>
              <a:ext cx="1140178" cy="820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Page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9C6C8DC-5F25-C482-3C28-031E18CB03C1}"/>
                </a:ext>
              </a:extLst>
            </p:cNvPr>
            <p:cNvSpPr/>
            <p:nvPr/>
          </p:nvSpPr>
          <p:spPr>
            <a:xfrm>
              <a:off x="4099522" y="5867770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29BBEF0-CA68-DCF5-F621-E0BCE60CF445}"/>
                </a:ext>
              </a:extLst>
            </p:cNvPr>
            <p:cNvSpPr/>
            <p:nvPr/>
          </p:nvSpPr>
          <p:spPr>
            <a:xfrm>
              <a:off x="4099522" y="6144662"/>
              <a:ext cx="1140178" cy="277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1EF0E2C9-E9AF-0579-C664-6CCD7A187F12}"/>
                </a:ext>
              </a:extLst>
            </p:cNvPr>
            <p:cNvSpPr txBox="1"/>
            <p:nvPr/>
          </p:nvSpPr>
          <p:spPr>
            <a:xfrm>
              <a:off x="4022473" y="6376836"/>
              <a:ext cx="12623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On Empty Lists</a:t>
              </a:r>
              <a:endParaRPr kumimoji="1" lang="zh-TW" altLang="en-US" sz="1400" i="1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F61C278B-34CD-0E54-ABDA-5D5F8C81FE49}"/>
                </a:ext>
              </a:extLst>
            </p:cNvPr>
            <p:cNvSpPr txBox="1"/>
            <p:nvPr/>
          </p:nvSpPr>
          <p:spPr>
            <a:xfrm>
              <a:off x="3426453" y="5022672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30EFE36F-8721-EDF8-E902-D96536D84FD2}"/>
                </a:ext>
              </a:extLst>
            </p:cNvPr>
            <p:cNvSpPr txBox="1"/>
            <p:nvPr/>
          </p:nvSpPr>
          <p:spPr>
            <a:xfrm>
              <a:off x="3426453" y="5268984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6B2F6B80-4278-2AC4-74E8-B0BD7BB8FFAA}"/>
                </a:ext>
              </a:extLst>
            </p:cNvPr>
            <p:cNvSpPr txBox="1"/>
            <p:nvPr/>
          </p:nvSpPr>
          <p:spPr>
            <a:xfrm>
              <a:off x="3426453" y="5846703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BD36AB6D-ADC1-232B-91EE-F6D44C320B09}"/>
                </a:ext>
              </a:extLst>
            </p:cNvPr>
            <p:cNvSpPr txBox="1"/>
            <p:nvPr/>
          </p:nvSpPr>
          <p:spPr>
            <a:xfrm>
              <a:off x="3426453" y="6093015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89AA02A7-156A-B5C8-6434-EE852D54F194}"/>
              </a:ext>
            </a:extLst>
          </p:cNvPr>
          <p:cNvGrpSpPr/>
          <p:nvPr/>
        </p:nvGrpSpPr>
        <p:grpSpPr>
          <a:xfrm>
            <a:off x="1602476" y="5013722"/>
            <a:ext cx="752129" cy="1420141"/>
            <a:chOff x="1602476" y="5013722"/>
            <a:chExt cx="752129" cy="1420141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AA7DA9B-00CD-9A45-FFF5-4B9E79F88FB1}"/>
                </a:ext>
              </a:extLst>
            </p:cNvPr>
            <p:cNvSpPr txBox="1"/>
            <p:nvPr/>
          </p:nvSpPr>
          <p:spPr>
            <a:xfrm>
              <a:off x="1767612" y="6126086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DA84878C-2233-6607-1797-D546A05BC37C}"/>
                </a:ext>
              </a:extLst>
            </p:cNvPr>
            <p:cNvSpPr txBox="1"/>
            <p:nvPr/>
          </p:nvSpPr>
          <p:spPr>
            <a:xfrm>
              <a:off x="1767612" y="5862344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E2BCF173-715D-65DA-ED1C-17016C56A1E0}"/>
                </a:ext>
              </a:extLst>
            </p:cNvPr>
            <p:cNvSpPr txBox="1"/>
            <p:nvPr/>
          </p:nvSpPr>
          <p:spPr>
            <a:xfrm>
              <a:off x="1602476" y="5013722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0D1BB3AB-C32C-B6D7-F0BF-720886E41A3E}"/>
                </a:ext>
              </a:extLst>
            </p:cNvPr>
            <p:cNvSpPr txBox="1"/>
            <p:nvPr/>
          </p:nvSpPr>
          <p:spPr>
            <a:xfrm>
              <a:off x="1602476" y="5260034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Unused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68" name="矩形 67">
            <a:extLst>
              <a:ext uri="{FF2B5EF4-FFF2-40B4-BE49-F238E27FC236}">
                <a16:creationId xmlns:a16="http://schemas.microsoft.com/office/drawing/2014/main" id="{11CA33AB-038F-4438-E5D1-E955E1074816}"/>
              </a:ext>
            </a:extLst>
          </p:cNvPr>
          <p:cNvSpPr/>
          <p:nvPr/>
        </p:nvSpPr>
        <p:spPr>
          <a:xfrm>
            <a:off x="5332578" y="2415210"/>
            <a:ext cx="1919268" cy="407131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2EDE24E-C81E-7B90-B455-97013523AF9A}"/>
              </a:ext>
            </a:extLst>
          </p:cNvPr>
          <p:cNvGrpSpPr/>
          <p:nvPr/>
        </p:nvGrpSpPr>
        <p:grpSpPr>
          <a:xfrm>
            <a:off x="6031744" y="1032430"/>
            <a:ext cx="6192914" cy="553302"/>
            <a:chOff x="6031744" y="1032430"/>
            <a:chExt cx="6192914" cy="553302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E4975A8C-E9BF-8FAA-B461-7E365082B784}"/>
                </a:ext>
              </a:extLst>
            </p:cNvPr>
            <p:cNvSpPr txBox="1"/>
            <p:nvPr/>
          </p:nvSpPr>
          <p:spPr>
            <a:xfrm>
              <a:off x="6031744" y="1032430"/>
              <a:ext cx="6192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One cache per object (e.g., task_struct, </a:t>
              </a:r>
              <a:r>
                <a:rPr kumimoji="1" lang="en-US" altLang="zh-TW" dirty="0" err="1">
                  <a:solidFill>
                    <a:srgbClr val="C00000"/>
                  </a:solidFill>
                </a:rPr>
                <a:t>inode</a:t>
              </a:r>
              <a:r>
                <a:rPr kumimoji="1" lang="en-US" altLang="zh-TW" dirty="0">
                  <a:solidFill>
                    <a:srgbClr val="C00000"/>
                  </a:solidFill>
                </a:rPr>
                <a:t>, semaphore) type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74" name="曲線接點 73">
              <a:extLst>
                <a:ext uri="{FF2B5EF4-FFF2-40B4-BE49-F238E27FC236}">
                  <a16:creationId xmlns:a16="http://schemas.microsoft.com/office/drawing/2014/main" id="{98767882-AD7C-2674-F457-9A1C8EF6C605}"/>
                </a:ext>
              </a:extLst>
            </p:cNvPr>
            <p:cNvCxnSpPr>
              <a:cxnSpLocks/>
            </p:cNvCxnSpPr>
            <p:nvPr/>
          </p:nvCxnSpPr>
          <p:spPr>
            <a:xfrm>
              <a:off x="7916113" y="1330982"/>
              <a:ext cx="255614" cy="254750"/>
            </a:xfrm>
            <a:prstGeom prst="curved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90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0.19205 0.0048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96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05 0.00486 L 0.38489 0.0048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9" grpId="0"/>
      <p:bldP spid="68" grpId="0" animBg="1"/>
      <p:bldP spid="68" grpId="1" animBg="1"/>
      <p:bldP spid="68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2691" y="2470860"/>
            <a:ext cx="10926618" cy="191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750F6D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Process Address Space</a:t>
            </a:r>
            <a:b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(Virtual Address)</a:t>
            </a:r>
          </a:p>
        </p:txBody>
      </p:sp>
    </p:spTree>
    <p:extLst>
      <p:ext uri="{BB962C8B-B14F-4D97-AF65-F5344CB8AC3E}">
        <p14:creationId xmlns:p14="http://schemas.microsoft.com/office/powerpoint/2010/main" val="419796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66BB-D8D6-F590-9E2C-0F78B5A4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Virtual Address Spaces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F82E98-BF24-48F9-997B-91DDB1EC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7739739" cy="544195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TW" dirty="0"/>
              <a:t>On </a:t>
            </a:r>
            <a:r>
              <a:rPr kumimoji="1" lang="en-US" altLang="zh-TW" dirty="0">
                <a:solidFill>
                  <a:srgbClr val="C00000"/>
                </a:solidFill>
              </a:rPr>
              <a:t>Linux</a:t>
            </a:r>
            <a:r>
              <a:rPr kumimoji="1" lang="en-US" altLang="zh-TW" dirty="0"/>
              <a:t>, </a:t>
            </a:r>
            <a:r>
              <a:rPr kumimoji="1" lang="en-US" altLang="zh-TW" dirty="0">
                <a:solidFill>
                  <a:srgbClr val="C00000"/>
                </a:solidFill>
              </a:rPr>
              <a:t>each process </a:t>
            </a:r>
            <a:r>
              <a:rPr kumimoji="1" lang="en-US" altLang="zh-TW" dirty="0"/>
              <a:t>is given a </a:t>
            </a:r>
            <a:r>
              <a:rPr kumimoji="1" lang="en-US" altLang="zh-TW" dirty="0">
                <a:solidFill>
                  <a:srgbClr val="C00000"/>
                </a:solidFill>
              </a:rPr>
              <a:t>unique and flat </a:t>
            </a:r>
            <a:r>
              <a:rPr kumimoji="1" lang="en-US" altLang="zh-TW" dirty="0"/>
              <a:t>32- or 64-bit address space.</a:t>
            </a:r>
          </a:p>
          <a:p>
            <a:pPr lvl="1" algn="l"/>
            <a:r>
              <a:rPr kumimoji="1" lang="en-US" altLang="zh-TW" dirty="0"/>
              <a:t>Unique: Processes can have </a:t>
            </a:r>
            <a:r>
              <a:rPr kumimoji="1" lang="en-US" altLang="zh-TW" dirty="0">
                <a:solidFill>
                  <a:srgbClr val="C00000"/>
                </a:solidFill>
              </a:rPr>
              <a:t>different data at the same address </a:t>
            </a:r>
            <a:r>
              <a:rPr kumimoji="1" lang="en-US" altLang="zh-TW" dirty="0"/>
              <a:t>in their </a:t>
            </a:r>
            <a:r>
              <a:rPr kumimoji="1" lang="en-US" altLang="zh-TW" dirty="0">
                <a:solidFill>
                  <a:srgbClr val="C00000"/>
                </a:solidFill>
              </a:rPr>
              <a:t>own address space</a:t>
            </a:r>
            <a:r>
              <a:rPr kumimoji="1" lang="en-US" altLang="zh-TW" dirty="0"/>
              <a:t>. (Note: Processes can also share address space, like threads)</a:t>
            </a:r>
            <a:endParaRPr lang="en-US" altLang="zh-TW" dirty="0"/>
          </a:p>
          <a:p>
            <a:pPr lvl="1" algn="l"/>
            <a:r>
              <a:rPr lang="en-US" altLang="zh-TW" dirty="0"/>
              <a:t>Flat: Modern Linux system </a:t>
            </a:r>
            <a:r>
              <a:rPr lang="en-US" altLang="zh-TW" dirty="0">
                <a:solidFill>
                  <a:srgbClr val="C00000"/>
                </a:solidFill>
              </a:rPr>
              <a:t>does not use segmentation</a:t>
            </a:r>
            <a:r>
              <a:rPr lang="en-US" altLang="zh-TW" dirty="0"/>
              <a:t>.</a:t>
            </a:r>
          </a:p>
          <a:p>
            <a:pPr algn="l"/>
            <a:r>
              <a:rPr lang="en-US" altLang="zh-TW" dirty="0"/>
              <a:t>Memory address is a particular value </a:t>
            </a:r>
            <a:r>
              <a:rPr lang="en-US" altLang="zh-TW" dirty="0">
                <a:solidFill>
                  <a:srgbClr val="C00000"/>
                </a:solidFill>
              </a:rPr>
              <a:t>identifying a specific byte</a:t>
            </a:r>
            <a:r>
              <a:rPr lang="en-US" altLang="zh-TW" dirty="0"/>
              <a:t> in a</a:t>
            </a:r>
            <a:r>
              <a:rPr lang="zh-TW" altLang="en-US" dirty="0"/>
              <a:t> </a:t>
            </a:r>
            <a:r>
              <a:rPr lang="en-US" altLang="zh-TW" dirty="0"/>
              <a:t>process’s address space </a:t>
            </a:r>
            <a:br>
              <a:rPr lang="en-US" altLang="zh-TW" dirty="0"/>
            </a:br>
            <a:r>
              <a:rPr lang="en-US" altLang="zh-TW" dirty="0"/>
              <a:t>(32-bit address space: 2</a:t>
            </a:r>
            <a:r>
              <a:rPr lang="en-US" altLang="zh-TW" baseline="30000" dirty="0"/>
              <a:t>32</a:t>
            </a:r>
            <a:r>
              <a:rPr lang="en-US" altLang="zh-TW" dirty="0"/>
              <a:t> B)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E38388-5786-CBA2-6BA1-08219F7FA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8" name="矩形 57">
            <a:extLst>
              <a:ext uri="{FF2B5EF4-FFF2-40B4-BE49-F238E27FC236}">
                <a16:creationId xmlns:a16="http://schemas.microsoft.com/office/drawing/2014/main" id="{0F9622BD-6008-818C-F2F3-7E08A606574D}"/>
              </a:ext>
            </a:extLst>
          </p:cNvPr>
          <p:cNvSpPr/>
          <p:nvPr/>
        </p:nvSpPr>
        <p:spPr>
          <a:xfrm>
            <a:off x="8613391" y="3682321"/>
            <a:ext cx="2631092" cy="461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Memory-Mapping for Shared Library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448212CB-33C9-5E7E-FDC5-112483C17425}"/>
              </a:ext>
            </a:extLst>
          </p:cNvPr>
          <p:cNvGrpSpPr/>
          <p:nvPr/>
        </p:nvGrpSpPr>
        <p:grpSpPr>
          <a:xfrm>
            <a:off x="6254900" y="9422556"/>
            <a:ext cx="1150776" cy="4053540"/>
            <a:chOff x="7517006" y="4584700"/>
            <a:chExt cx="1150776" cy="4053540"/>
          </a:xfrm>
        </p:grpSpPr>
        <p:sp>
          <p:nvSpPr>
            <p:cNvPr id="10" name="矩形 57">
              <a:extLst>
                <a:ext uri="{FF2B5EF4-FFF2-40B4-BE49-F238E27FC236}">
                  <a16:creationId xmlns:a16="http://schemas.microsoft.com/office/drawing/2014/main" id="{4E4A1A28-28F8-707A-7A9C-9830E5064788}"/>
                </a:ext>
              </a:extLst>
            </p:cNvPr>
            <p:cNvSpPr/>
            <p:nvPr/>
          </p:nvSpPr>
          <p:spPr>
            <a:xfrm>
              <a:off x="7517006" y="4584700"/>
              <a:ext cx="1150776" cy="2890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 Mode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1" name="肘形接點 10">
              <a:extLst>
                <a:ext uri="{FF2B5EF4-FFF2-40B4-BE49-F238E27FC236}">
                  <a16:creationId xmlns:a16="http://schemas.microsoft.com/office/drawing/2014/main" id="{BCCE07B7-D00E-D0EC-994A-40FCBBDBBCC5}"/>
                </a:ext>
              </a:extLst>
            </p:cNvPr>
            <p:cNvCxnSpPr>
              <a:cxnSpLocks/>
            </p:cNvCxnSpPr>
            <p:nvPr/>
          </p:nvCxnSpPr>
          <p:spPr>
            <a:xfrm>
              <a:off x="7617051" y="7882404"/>
              <a:ext cx="842278" cy="755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4A2495AD-9C70-FB1F-296D-1CD44BF085E7}"/>
              </a:ext>
            </a:extLst>
          </p:cNvPr>
          <p:cNvGrpSpPr/>
          <p:nvPr/>
        </p:nvGrpSpPr>
        <p:grpSpPr>
          <a:xfrm>
            <a:off x="8617134" y="1380529"/>
            <a:ext cx="2627351" cy="1525334"/>
            <a:chOff x="8368937" y="1238289"/>
            <a:chExt cx="2627351" cy="1525334"/>
          </a:xfrm>
        </p:grpSpPr>
        <p:sp>
          <p:nvSpPr>
            <p:cNvPr id="28" name="矩形 57">
              <a:extLst>
                <a:ext uri="{FF2B5EF4-FFF2-40B4-BE49-F238E27FC236}">
                  <a16:creationId xmlns:a16="http://schemas.microsoft.com/office/drawing/2014/main" id="{4A51994D-6C0E-2BA9-7B76-EA75054DE669}"/>
                </a:ext>
              </a:extLst>
            </p:cNvPr>
            <p:cNvSpPr/>
            <p:nvPr/>
          </p:nvSpPr>
          <p:spPr>
            <a:xfrm>
              <a:off x="8368937" y="1699999"/>
              <a:ext cx="2623185" cy="10636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 Code/Data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Process-Specific Data Structures (e.g., Page Table, kernel stack, </a:t>
              </a:r>
              <a:r>
                <a:rPr kumimoji="1" lang="en-US" altLang="zh-TW" sz="1600" dirty="0" err="1">
                  <a:solidFill>
                    <a:schemeClr val="tx1"/>
                  </a:solidFill>
                  <a:cs typeface="Arial" panose="020B0604020202020204" pitchFamily="34" charset="0"/>
                </a:rPr>
                <a:t>mm_struct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) </a:t>
              </a:r>
              <a:endParaRPr kumimoji="1" lang="zh-TW" altLang="en-US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矩形 57">
              <a:extLst>
                <a:ext uri="{FF2B5EF4-FFF2-40B4-BE49-F238E27FC236}">
                  <a16:creationId xmlns:a16="http://schemas.microsoft.com/office/drawing/2014/main" id="{38820CE7-03EC-BAB1-CBCF-A08E293732F7}"/>
                </a:ext>
              </a:extLst>
            </p:cNvPr>
            <p:cNvSpPr/>
            <p:nvPr/>
          </p:nvSpPr>
          <p:spPr>
            <a:xfrm>
              <a:off x="8373101" y="1238289"/>
              <a:ext cx="2623187" cy="4617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Temporary Mapped</a:t>
              </a:r>
              <a:endParaRPr kumimoji="1" lang="zh-TW" altLang="en-US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2AFE839-2422-D8E4-BFFE-B711DB01EC10}"/>
              </a:ext>
            </a:extLst>
          </p:cNvPr>
          <p:cNvSpPr txBox="1"/>
          <p:nvPr/>
        </p:nvSpPr>
        <p:spPr>
          <a:xfrm>
            <a:off x="0" y="6598099"/>
            <a:ext cx="697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Gorman, Mel. Understanding the Linux virtual memory manager. Upper Saddle River: Prentice Hall, 2004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80B61ED0-3B0B-0CF5-5DBA-7851F7289BBC}"/>
              </a:ext>
            </a:extLst>
          </p:cNvPr>
          <p:cNvGrpSpPr/>
          <p:nvPr/>
        </p:nvGrpSpPr>
        <p:grpSpPr>
          <a:xfrm>
            <a:off x="8613393" y="5017144"/>
            <a:ext cx="2631092" cy="1359692"/>
            <a:chOff x="8365196" y="4874904"/>
            <a:chExt cx="2631092" cy="1359692"/>
          </a:xfrm>
        </p:grpSpPr>
        <p:sp>
          <p:nvSpPr>
            <p:cNvPr id="34" name="矩形 57">
              <a:extLst>
                <a:ext uri="{FF2B5EF4-FFF2-40B4-BE49-F238E27FC236}">
                  <a16:creationId xmlns:a16="http://schemas.microsoft.com/office/drawing/2014/main" id="{55E237E7-3274-A931-DEC8-D5A9AF0FA601}"/>
                </a:ext>
              </a:extLst>
            </p:cNvPr>
            <p:cNvSpPr/>
            <p:nvPr/>
          </p:nvSpPr>
          <p:spPr>
            <a:xfrm>
              <a:off x="8365196" y="5772887"/>
              <a:ext cx="2631092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Text Section (e.g., Code)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矩形 57">
              <a:extLst>
                <a:ext uri="{FF2B5EF4-FFF2-40B4-BE49-F238E27FC236}">
                  <a16:creationId xmlns:a16="http://schemas.microsoft.com/office/drawing/2014/main" id="{77E46ECB-AE9B-E8D8-CA4F-56EF9707B644}"/>
                </a:ext>
              </a:extLst>
            </p:cNvPr>
            <p:cNvSpPr/>
            <p:nvPr/>
          </p:nvSpPr>
          <p:spPr>
            <a:xfrm>
              <a:off x="8373101" y="5324097"/>
              <a:ext cx="2615279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Data Section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(Initialize Global Variable)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矩形 57">
              <a:extLst>
                <a:ext uri="{FF2B5EF4-FFF2-40B4-BE49-F238E27FC236}">
                  <a16:creationId xmlns:a16="http://schemas.microsoft.com/office/drawing/2014/main" id="{3AAD25CE-584F-2829-E39B-9DF9EA614168}"/>
                </a:ext>
              </a:extLst>
            </p:cNvPr>
            <p:cNvSpPr/>
            <p:nvPr/>
          </p:nvSpPr>
          <p:spPr>
            <a:xfrm>
              <a:off x="8369359" y="4874904"/>
              <a:ext cx="2623185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BSS Section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(Uninitialized Global Variable)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E307641D-9D55-429B-F30A-3827607EAC77}"/>
              </a:ext>
            </a:extLst>
          </p:cNvPr>
          <p:cNvGrpSpPr/>
          <p:nvPr/>
        </p:nvGrpSpPr>
        <p:grpSpPr>
          <a:xfrm>
            <a:off x="8256685" y="1372646"/>
            <a:ext cx="4005712" cy="5475442"/>
            <a:chOff x="8008488" y="1230406"/>
            <a:chExt cx="4005712" cy="5475442"/>
          </a:xfrm>
        </p:grpSpPr>
        <p:sp>
          <p:nvSpPr>
            <p:cNvPr id="18" name="右大括弧 17">
              <a:extLst>
                <a:ext uri="{FF2B5EF4-FFF2-40B4-BE49-F238E27FC236}">
                  <a16:creationId xmlns:a16="http://schemas.microsoft.com/office/drawing/2014/main" id="{ED21E4C8-2FA5-81D5-9750-540E112B4963}"/>
                </a:ext>
              </a:extLst>
            </p:cNvPr>
            <p:cNvSpPr/>
            <p:nvPr/>
          </p:nvSpPr>
          <p:spPr>
            <a:xfrm>
              <a:off x="11076249" y="1238290"/>
              <a:ext cx="90211" cy="1533218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" name="右大括弧 18">
              <a:extLst>
                <a:ext uri="{FF2B5EF4-FFF2-40B4-BE49-F238E27FC236}">
                  <a16:creationId xmlns:a16="http://schemas.microsoft.com/office/drawing/2014/main" id="{8CC0B739-C174-B712-EB01-46E868C5BAA7}"/>
                </a:ext>
              </a:extLst>
            </p:cNvPr>
            <p:cNvSpPr/>
            <p:nvPr/>
          </p:nvSpPr>
          <p:spPr>
            <a:xfrm>
              <a:off x="11079329" y="2779393"/>
              <a:ext cx="95040" cy="3585186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6F24B35-CEC8-B88E-AEB4-4A33FF754273}"/>
                </a:ext>
              </a:extLst>
            </p:cNvPr>
            <p:cNvSpPr txBox="1"/>
            <p:nvPr/>
          </p:nvSpPr>
          <p:spPr>
            <a:xfrm>
              <a:off x="11121354" y="1483969"/>
              <a:ext cx="809068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/>
                <a:t>Kernel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Virtual</a:t>
              </a:r>
            </a:p>
            <a:p>
              <a:pPr algn="ctr"/>
              <a:r>
                <a:rPr kumimoji="1" lang="en-US" altLang="zh-TW" sz="1400" dirty="0"/>
                <a:t>Address 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Space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(</a:t>
              </a:r>
              <a:r>
                <a:rPr kumimoji="1" lang="en-US" altLang="zh-TW" sz="1400" b="1" dirty="0"/>
                <a:t>1G</a:t>
              </a:r>
              <a:r>
                <a:rPr kumimoji="1" lang="en-US" altLang="zh-TW" sz="1400" dirty="0"/>
                <a:t>)</a:t>
              </a:r>
              <a:endParaRPr kumimoji="1" lang="zh-TW" altLang="en-US" sz="1400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735B1D0-8199-E13E-207B-207B77BB9A0D}"/>
                </a:ext>
              </a:extLst>
            </p:cNvPr>
            <p:cNvSpPr txBox="1"/>
            <p:nvPr/>
          </p:nvSpPr>
          <p:spPr>
            <a:xfrm>
              <a:off x="11166460" y="3994146"/>
              <a:ext cx="809068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/>
                <a:t>User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Virtual</a:t>
              </a:r>
            </a:p>
            <a:p>
              <a:pPr algn="ctr"/>
              <a:r>
                <a:rPr kumimoji="1" lang="en-US" altLang="zh-TW" sz="1400" dirty="0"/>
                <a:t>Address 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Space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(</a:t>
              </a:r>
              <a:r>
                <a:rPr kumimoji="1" lang="en-US" altLang="zh-TW" sz="1400" b="1" dirty="0"/>
                <a:t>3G</a:t>
              </a:r>
              <a:r>
                <a:rPr kumimoji="1" lang="en-US" altLang="zh-TW" sz="1400" dirty="0"/>
                <a:t>)</a:t>
              </a:r>
              <a:endParaRPr kumimoji="1" lang="zh-TW" altLang="en-US" sz="1400" dirty="0"/>
            </a:p>
          </p:txBody>
        </p:sp>
        <p:sp>
          <p:nvSpPr>
            <p:cNvPr id="25" name="矩形 57">
              <a:extLst>
                <a:ext uri="{FF2B5EF4-FFF2-40B4-BE49-F238E27FC236}">
                  <a16:creationId xmlns:a16="http://schemas.microsoft.com/office/drawing/2014/main" id="{8EBA42B7-9BBF-5625-96FF-3B4AE00CBA67}"/>
                </a:ext>
              </a:extLst>
            </p:cNvPr>
            <p:cNvSpPr/>
            <p:nvPr/>
          </p:nvSpPr>
          <p:spPr>
            <a:xfrm>
              <a:off x="8368937" y="1230406"/>
              <a:ext cx="2623185" cy="1533217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E9F7319-EFBD-66B4-2B56-D47AF1F3E9AA}"/>
                </a:ext>
              </a:extLst>
            </p:cNvPr>
            <p:cNvSpPr txBox="1"/>
            <p:nvPr/>
          </p:nvSpPr>
          <p:spPr>
            <a:xfrm>
              <a:off x="8008488" y="6398071"/>
              <a:ext cx="40057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u="sng" dirty="0">
                  <a:solidFill>
                    <a:srgbClr val="C00000"/>
                  </a:solidFill>
                </a:rPr>
                <a:t>Per Process </a:t>
              </a:r>
              <a:r>
                <a:rPr kumimoji="1" lang="en-US" altLang="zh-TW" sz="1400" b="1" u="sng" dirty="0"/>
                <a:t>Virtual</a:t>
              </a:r>
              <a:r>
                <a:rPr kumimoji="1" lang="en-US" altLang="zh-TW" sz="1400" b="1" u="sng" dirty="0">
                  <a:solidFill>
                    <a:srgbClr val="C00000"/>
                  </a:solidFill>
                </a:rPr>
                <a:t> </a:t>
              </a:r>
              <a:r>
                <a:rPr kumimoji="1" lang="en-US" altLang="zh-TW" sz="1400" b="1" u="sng" dirty="0"/>
                <a:t>Address Space On 32-bit System</a:t>
              </a:r>
              <a:endParaRPr kumimoji="1" lang="zh-TW" altLang="en-US" sz="1400" b="1" u="sng" dirty="0"/>
            </a:p>
          </p:txBody>
        </p:sp>
        <p:sp>
          <p:nvSpPr>
            <p:cNvPr id="24" name="矩形 57">
              <a:extLst>
                <a:ext uri="{FF2B5EF4-FFF2-40B4-BE49-F238E27FC236}">
                  <a16:creationId xmlns:a16="http://schemas.microsoft.com/office/drawing/2014/main" id="{05B0AE52-52FE-E160-703B-390866F9823F}"/>
                </a:ext>
              </a:extLst>
            </p:cNvPr>
            <p:cNvSpPr/>
            <p:nvPr/>
          </p:nvSpPr>
          <p:spPr>
            <a:xfrm>
              <a:off x="8365195" y="2763623"/>
              <a:ext cx="2623185" cy="3600956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BC6712BD-992A-51CC-99F8-6DDA713D7D96}"/>
              </a:ext>
            </a:extLst>
          </p:cNvPr>
          <p:cNvGrpSpPr/>
          <p:nvPr/>
        </p:nvGrpSpPr>
        <p:grpSpPr>
          <a:xfrm>
            <a:off x="8621298" y="2894892"/>
            <a:ext cx="2623185" cy="665197"/>
            <a:chOff x="8373101" y="2752652"/>
            <a:chExt cx="2623185" cy="665197"/>
          </a:xfrm>
        </p:grpSpPr>
        <p:sp>
          <p:nvSpPr>
            <p:cNvPr id="7" name="矩形 57">
              <a:extLst>
                <a:ext uri="{FF2B5EF4-FFF2-40B4-BE49-F238E27FC236}">
                  <a16:creationId xmlns:a16="http://schemas.microsoft.com/office/drawing/2014/main" id="{DB421150-F15E-C18E-018F-6B01E05B7DE1}"/>
                </a:ext>
              </a:extLst>
            </p:cNvPr>
            <p:cNvSpPr/>
            <p:nvPr/>
          </p:nvSpPr>
          <p:spPr>
            <a:xfrm>
              <a:off x="8373101" y="2752652"/>
              <a:ext cx="2623185" cy="3682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 Stack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42" name="直線箭頭接點 41">
              <a:extLst>
                <a:ext uri="{FF2B5EF4-FFF2-40B4-BE49-F238E27FC236}">
                  <a16:creationId xmlns:a16="http://schemas.microsoft.com/office/drawing/2014/main" id="{FEC30AB2-F308-4AB1-AAB2-8A01D1B6DC21}"/>
                </a:ext>
              </a:extLst>
            </p:cNvPr>
            <p:cNvCxnSpPr>
              <a:cxnSpLocks/>
            </p:cNvCxnSpPr>
            <p:nvPr/>
          </p:nvCxnSpPr>
          <p:spPr>
            <a:xfrm>
              <a:off x="9662391" y="3133097"/>
              <a:ext cx="0" cy="28475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FC9A7853-4707-972E-E63D-721F0B76CF23}"/>
              </a:ext>
            </a:extLst>
          </p:cNvPr>
          <p:cNvGrpSpPr/>
          <p:nvPr/>
        </p:nvGrpSpPr>
        <p:grpSpPr>
          <a:xfrm>
            <a:off x="8617556" y="4257040"/>
            <a:ext cx="2623185" cy="755682"/>
            <a:chOff x="8369359" y="4114800"/>
            <a:chExt cx="2623185" cy="755682"/>
          </a:xfrm>
        </p:grpSpPr>
        <p:sp>
          <p:nvSpPr>
            <p:cNvPr id="37" name="矩形 57">
              <a:extLst>
                <a:ext uri="{FF2B5EF4-FFF2-40B4-BE49-F238E27FC236}">
                  <a16:creationId xmlns:a16="http://schemas.microsoft.com/office/drawing/2014/main" id="{602F0CE9-9C8E-4E41-756D-3427E62D1ACA}"/>
                </a:ext>
              </a:extLst>
            </p:cNvPr>
            <p:cNvSpPr/>
            <p:nvPr/>
          </p:nvSpPr>
          <p:spPr>
            <a:xfrm>
              <a:off x="8369359" y="4438630"/>
              <a:ext cx="2623185" cy="4318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Heap (via </a:t>
              </a:r>
              <a:r>
                <a:rPr kumimoji="1" lang="en-US" altLang="zh-TW" sz="16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malloc()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46" name="直線箭頭接點 45">
              <a:extLst>
                <a:ext uri="{FF2B5EF4-FFF2-40B4-BE49-F238E27FC236}">
                  <a16:creationId xmlns:a16="http://schemas.microsoft.com/office/drawing/2014/main" id="{356DC450-C25C-80E9-E30A-F2C0B95E5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693" y="4114800"/>
              <a:ext cx="0" cy="306925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1A1FCC-1AE3-2E22-02F4-67031E0ACEB9}"/>
              </a:ext>
            </a:extLst>
          </p:cNvPr>
          <p:cNvSpPr txBox="1"/>
          <p:nvPr/>
        </p:nvSpPr>
        <p:spPr>
          <a:xfrm>
            <a:off x="12943919" y="35517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3CE3F-EA9D-555A-CEA8-B42557C4C5C8}"/>
              </a:ext>
            </a:extLst>
          </p:cNvPr>
          <p:cNvSpPr txBox="1"/>
          <p:nvPr/>
        </p:nvSpPr>
        <p:spPr>
          <a:xfrm>
            <a:off x="4764015" y="4440643"/>
            <a:ext cx="3447196" cy="23083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//This is a C code</a:t>
            </a:r>
          </a:p>
          <a:p>
            <a:r>
              <a:rPr kumimoji="1" lang="en-US" altLang="zh-TW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kumimoji="1" lang="en-US" altLang="zh-TW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kumimoji="1" lang="en-US" altLang="zh-TW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kumimoji="1" lang="en-US" altLang="zh-TW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global_x;</a:t>
            </a:r>
          </a:p>
          <a:p>
            <a:r>
              <a:rPr kumimoji="1" lang="en-US" altLang="zh-TW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global_y=10;</a:t>
            </a:r>
          </a:p>
          <a:p>
            <a:r>
              <a:rPr kumimoji="1" lang="en-US" altLang="zh-TW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TW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TW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local_x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TW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TW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local_y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p=(</a:t>
            </a:r>
            <a:r>
              <a:rPr kumimoji="1" lang="en-US" altLang="zh-TW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kumimoji="1" lang="en-US" altLang="zh-TW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kumimoji="1"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(20);}</a:t>
            </a:r>
            <a:endParaRPr kumimoji="1" lang="zh-TW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36E23F64-5029-C529-E85A-11CBE027E283}"/>
              </a:ext>
            </a:extLst>
          </p:cNvPr>
          <p:cNvGrpSpPr/>
          <p:nvPr/>
        </p:nvGrpSpPr>
        <p:grpSpPr>
          <a:xfrm>
            <a:off x="6776595" y="5166011"/>
            <a:ext cx="2032125" cy="1005840"/>
            <a:chOff x="6776595" y="5166011"/>
            <a:chExt cx="2032125" cy="1005840"/>
          </a:xfrm>
        </p:grpSpPr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A9281A9A-AFB5-B8DD-4528-12FA0D4C87B6}"/>
                </a:ext>
              </a:extLst>
            </p:cNvPr>
            <p:cNvCxnSpPr>
              <a:cxnSpLocks/>
            </p:cNvCxnSpPr>
            <p:nvPr/>
          </p:nvCxnSpPr>
          <p:spPr>
            <a:xfrm>
              <a:off x="8211211" y="6171851"/>
              <a:ext cx="597509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曲線接點 25">
              <a:extLst>
                <a:ext uri="{FF2B5EF4-FFF2-40B4-BE49-F238E27FC236}">
                  <a16:creationId xmlns:a16="http://schemas.microsoft.com/office/drawing/2014/main" id="{2E02CF90-D453-9BD9-989B-BC75A77B98A5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>
              <a:off x="7132428" y="5448622"/>
              <a:ext cx="1488870" cy="248570"/>
            </a:xfrm>
            <a:prstGeom prst="curvedConnector3">
              <a:avLst/>
            </a:prstGeom>
            <a:ln w="38100">
              <a:solidFill>
                <a:schemeClr val="accent5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曲線接點 31">
              <a:extLst>
                <a:ext uri="{FF2B5EF4-FFF2-40B4-BE49-F238E27FC236}">
                  <a16:creationId xmlns:a16="http://schemas.microsoft.com/office/drawing/2014/main" id="{570D2E00-18DC-2898-8C49-A6BCD9182944}"/>
                </a:ext>
              </a:extLst>
            </p:cNvPr>
            <p:cNvCxnSpPr>
              <a:cxnSpLocks/>
            </p:cNvCxnSpPr>
            <p:nvPr/>
          </p:nvCxnSpPr>
          <p:spPr>
            <a:xfrm>
              <a:off x="6776595" y="5166011"/>
              <a:ext cx="1853037" cy="113045"/>
            </a:xfrm>
            <a:prstGeom prst="curvedConnector3">
              <a:avLst>
                <a:gd name="adj1" fmla="val 44517"/>
              </a:avLst>
            </a:prstGeom>
            <a:ln w="38100">
              <a:solidFill>
                <a:schemeClr val="accent5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曲線接點 43">
            <a:extLst>
              <a:ext uri="{FF2B5EF4-FFF2-40B4-BE49-F238E27FC236}">
                <a16:creationId xmlns:a16="http://schemas.microsoft.com/office/drawing/2014/main" id="{5BF5AD2E-978C-3789-2BC8-22827609A037}"/>
              </a:ext>
            </a:extLst>
          </p:cNvPr>
          <p:cNvCxnSpPr>
            <a:cxnSpLocks/>
          </p:cNvCxnSpPr>
          <p:nvPr/>
        </p:nvCxnSpPr>
        <p:spPr>
          <a:xfrm flipV="1">
            <a:off x="7393201" y="3941374"/>
            <a:ext cx="1212283" cy="97049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67FCB9F-A2B3-6119-E833-F5499A8B9922}"/>
              </a:ext>
            </a:extLst>
          </p:cNvPr>
          <p:cNvGrpSpPr/>
          <p:nvPr/>
        </p:nvGrpSpPr>
        <p:grpSpPr>
          <a:xfrm>
            <a:off x="7124520" y="3079010"/>
            <a:ext cx="1496778" cy="3200358"/>
            <a:chOff x="7124520" y="3079010"/>
            <a:chExt cx="1496778" cy="3200358"/>
          </a:xfrm>
        </p:grpSpPr>
        <p:cxnSp>
          <p:nvCxnSpPr>
            <p:cNvPr id="47" name="曲線接點 46">
              <a:extLst>
                <a:ext uri="{FF2B5EF4-FFF2-40B4-BE49-F238E27FC236}">
                  <a16:creationId xmlns:a16="http://schemas.microsoft.com/office/drawing/2014/main" id="{16AE672D-463D-D104-D2AC-2ABBCE287702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rot="5400000" flipH="1" flipV="1">
              <a:off x="6418603" y="3784927"/>
              <a:ext cx="2908612" cy="1496778"/>
            </a:xfrm>
            <a:prstGeom prst="curvedConnector2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曲線接點 50">
              <a:extLst>
                <a:ext uri="{FF2B5EF4-FFF2-40B4-BE49-F238E27FC236}">
                  <a16:creationId xmlns:a16="http://schemas.microsoft.com/office/drawing/2014/main" id="{0DFB87E8-457B-8BF2-5352-197BA2AA0A5B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rot="5400000" flipH="1" flipV="1">
              <a:off x="6322515" y="3980585"/>
              <a:ext cx="3200358" cy="1397208"/>
            </a:xfrm>
            <a:prstGeom prst="curvedConnector2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曲線接點 52">
            <a:extLst>
              <a:ext uri="{FF2B5EF4-FFF2-40B4-BE49-F238E27FC236}">
                <a16:creationId xmlns:a16="http://schemas.microsoft.com/office/drawing/2014/main" id="{9663F62F-3A0F-8FA4-629E-D4B5FD50CFF3}"/>
              </a:ext>
            </a:extLst>
          </p:cNvPr>
          <p:cNvCxnSpPr>
            <a:cxnSpLocks/>
            <a:endCxn id="37" idx="1"/>
          </p:cNvCxnSpPr>
          <p:nvPr/>
        </p:nvCxnSpPr>
        <p:spPr>
          <a:xfrm rot="5400000" flipH="1" flipV="1">
            <a:off x="7349512" y="5320924"/>
            <a:ext cx="1792172" cy="743916"/>
          </a:xfrm>
          <a:prstGeom prst="curvedConnector2">
            <a:avLst/>
          </a:prstGeom>
          <a:ln w="38100">
            <a:solidFill>
              <a:schemeClr val="accent6">
                <a:lumMod val="75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9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3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CC100-BD4F-CD6C-589F-1588D46E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10225-08F1-D91F-30D9-A056DE85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Virtual Address Spaces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05A45-4940-58F7-6466-ED510FF2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7739739" cy="544195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TW" dirty="0"/>
              <a:t>On </a:t>
            </a:r>
            <a:r>
              <a:rPr kumimoji="1" lang="en-US" altLang="zh-TW" dirty="0">
                <a:solidFill>
                  <a:srgbClr val="C00000"/>
                </a:solidFill>
              </a:rPr>
              <a:t>Linux</a:t>
            </a:r>
            <a:r>
              <a:rPr kumimoji="1" lang="en-US" altLang="zh-TW" dirty="0"/>
              <a:t>, </a:t>
            </a:r>
            <a:r>
              <a:rPr kumimoji="1" lang="en-US" altLang="zh-TW" dirty="0">
                <a:solidFill>
                  <a:srgbClr val="C00000"/>
                </a:solidFill>
              </a:rPr>
              <a:t>each process </a:t>
            </a:r>
            <a:r>
              <a:rPr kumimoji="1" lang="en-US" altLang="zh-TW" dirty="0"/>
              <a:t>is given a </a:t>
            </a:r>
            <a:r>
              <a:rPr kumimoji="1" lang="en-US" altLang="zh-TW" dirty="0">
                <a:solidFill>
                  <a:srgbClr val="C00000"/>
                </a:solidFill>
              </a:rPr>
              <a:t>unique and flat </a:t>
            </a:r>
            <a:r>
              <a:rPr kumimoji="1" lang="en-US" altLang="zh-TW" dirty="0"/>
              <a:t>32- or 64-bit address space.</a:t>
            </a:r>
          </a:p>
          <a:p>
            <a:pPr lvl="1" algn="l"/>
            <a:r>
              <a:rPr kumimoji="1" lang="en-US" altLang="zh-TW" dirty="0"/>
              <a:t>Unique: Processes can have </a:t>
            </a:r>
            <a:r>
              <a:rPr kumimoji="1" lang="en-US" altLang="zh-TW" dirty="0">
                <a:solidFill>
                  <a:srgbClr val="C00000"/>
                </a:solidFill>
              </a:rPr>
              <a:t>different data at the same address </a:t>
            </a:r>
            <a:r>
              <a:rPr kumimoji="1" lang="en-US" altLang="zh-TW" dirty="0"/>
              <a:t>in their </a:t>
            </a:r>
            <a:r>
              <a:rPr kumimoji="1" lang="en-US" altLang="zh-TW" dirty="0">
                <a:solidFill>
                  <a:srgbClr val="C00000"/>
                </a:solidFill>
              </a:rPr>
              <a:t>own address space</a:t>
            </a:r>
            <a:r>
              <a:rPr kumimoji="1" lang="en-US" altLang="zh-TW" dirty="0"/>
              <a:t>. (Note: Processes can also share address space, like threads)</a:t>
            </a:r>
            <a:endParaRPr lang="en-US" altLang="zh-TW" dirty="0"/>
          </a:p>
          <a:p>
            <a:pPr lvl="1" algn="l"/>
            <a:r>
              <a:rPr lang="en-US" altLang="zh-TW" dirty="0"/>
              <a:t>Flat: Modern Linux system </a:t>
            </a:r>
            <a:r>
              <a:rPr lang="en-US" altLang="zh-TW" dirty="0">
                <a:solidFill>
                  <a:srgbClr val="C00000"/>
                </a:solidFill>
              </a:rPr>
              <a:t>does not use segmentation</a:t>
            </a:r>
            <a:r>
              <a:rPr lang="en-US" altLang="zh-TW" dirty="0"/>
              <a:t>.</a:t>
            </a:r>
          </a:p>
          <a:p>
            <a:pPr algn="l"/>
            <a:r>
              <a:rPr lang="en-US" altLang="zh-TW" dirty="0"/>
              <a:t>Memory address is a particular value </a:t>
            </a:r>
            <a:r>
              <a:rPr lang="en-US" altLang="zh-TW" dirty="0">
                <a:solidFill>
                  <a:srgbClr val="C00000"/>
                </a:solidFill>
              </a:rPr>
              <a:t>identifying a specific byte</a:t>
            </a:r>
            <a:r>
              <a:rPr lang="en-US" altLang="zh-TW" dirty="0"/>
              <a:t> in a</a:t>
            </a:r>
            <a:r>
              <a:rPr lang="zh-TW" altLang="en-US" dirty="0"/>
              <a:t> </a:t>
            </a:r>
            <a:r>
              <a:rPr lang="en-US" altLang="zh-TW" dirty="0"/>
              <a:t>process’s address space </a:t>
            </a:r>
            <a:br>
              <a:rPr lang="en-US" altLang="zh-TW" dirty="0"/>
            </a:br>
            <a:r>
              <a:rPr lang="en-US" altLang="zh-TW" dirty="0"/>
              <a:t>(32-bit address space: 2</a:t>
            </a:r>
            <a:r>
              <a:rPr lang="en-US" altLang="zh-TW" baseline="30000" dirty="0"/>
              <a:t>32</a:t>
            </a:r>
            <a:r>
              <a:rPr lang="en-US" altLang="zh-TW" dirty="0"/>
              <a:t>)</a:t>
            </a:r>
          </a:p>
          <a:p>
            <a:pPr algn="l"/>
            <a:r>
              <a:rPr lang="en-US" altLang="zh-TW" dirty="0"/>
              <a:t>Not every address is legal, </a:t>
            </a:r>
            <a:r>
              <a:rPr lang="en-US" altLang="zh-TW" dirty="0">
                <a:solidFill>
                  <a:srgbClr val="C00000"/>
                </a:solidFill>
              </a:rPr>
              <a:t>intervals of legal addresses </a:t>
            </a:r>
            <a:r>
              <a:rPr lang="en-US" altLang="zh-TW" dirty="0">
                <a:solidFill>
                  <a:schemeClr val="tx1"/>
                </a:solidFill>
              </a:rPr>
              <a:t>are</a:t>
            </a:r>
            <a:r>
              <a:rPr lang="en-US" altLang="zh-TW" dirty="0">
                <a:solidFill>
                  <a:srgbClr val="C00000"/>
                </a:solidFill>
              </a:rPr>
              <a:t> memory areas</a:t>
            </a:r>
            <a:r>
              <a:rPr lang="en-US" altLang="zh-TW" dirty="0"/>
              <a:t>.</a:t>
            </a:r>
          </a:p>
          <a:p>
            <a:pPr lvl="1" algn="l"/>
            <a:r>
              <a:rPr lang="en-US" altLang="zh-TW" dirty="0"/>
              <a:t>Permission: readable, writeable, executable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1AE581-191D-CB97-D2EC-1618C4CC4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8" name="矩形 57">
            <a:extLst>
              <a:ext uri="{FF2B5EF4-FFF2-40B4-BE49-F238E27FC236}">
                <a16:creationId xmlns:a16="http://schemas.microsoft.com/office/drawing/2014/main" id="{9A16E54C-B444-5EC7-3D67-723F56B63FCF}"/>
              </a:ext>
            </a:extLst>
          </p:cNvPr>
          <p:cNvSpPr/>
          <p:nvPr/>
        </p:nvSpPr>
        <p:spPr>
          <a:xfrm>
            <a:off x="8613391" y="3682321"/>
            <a:ext cx="2631092" cy="461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Memory-Mapping for Shared Library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4CD9616-CA00-7D79-3DCB-819FC355B4D4}"/>
              </a:ext>
            </a:extLst>
          </p:cNvPr>
          <p:cNvGrpSpPr/>
          <p:nvPr/>
        </p:nvGrpSpPr>
        <p:grpSpPr>
          <a:xfrm>
            <a:off x="6254900" y="9422556"/>
            <a:ext cx="1150776" cy="4053540"/>
            <a:chOff x="7517006" y="4584700"/>
            <a:chExt cx="1150776" cy="4053540"/>
          </a:xfrm>
        </p:grpSpPr>
        <p:sp>
          <p:nvSpPr>
            <p:cNvPr id="10" name="矩形 57">
              <a:extLst>
                <a:ext uri="{FF2B5EF4-FFF2-40B4-BE49-F238E27FC236}">
                  <a16:creationId xmlns:a16="http://schemas.microsoft.com/office/drawing/2014/main" id="{67FE0208-6F56-7762-3055-7AC4C78BE7B0}"/>
                </a:ext>
              </a:extLst>
            </p:cNvPr>
            <p:cNvSpPr/>
            <p:nvPr/>
          </p:nvSpPr>
          <p:spPr>
            <a:xfrm>
              <a:off x="7517006" y="4584700"/>
              <a:ext cx="1150776" cy="2890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 Mode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1" name="肘形接點 10">
              <a:extLst>
                <a:ext uri="{FF2B5EF4-FFF2-40B4-BE49-F238E27FC236}">
                  <a16:creationId xmlns:a16="http://schemas.microsoft.com/office/drawing/2014/main" id="{2CF7CD40-A650-A35E-01C9-6A9A7EF09BEA}"/>
                </a:ext>
              </a:extLst>
            </p:cNvPr>
            <p:cNvCxnSpPr>
              <a:cxnSpLocks/>
            </p:cNvCxnSpPr>
            <p:nvPr/>
          </p:nvCxnSpPr>
          <p:spPr>
            <a:xfrm>
              <a:off x="7617051" y="7882404"/>
              <a:ext cx="842278" cy="755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C4383E85-D0B3-7FEF-1619-2BCD4C578944}"/>
              </a:ext>
            </a:extLst>
          </p:cNvPr>
          <p:cNvGrpSpPr/>
          <p:nvPr/>
        </p:nvGrpSpPr>
        <p:grpSpPr>
          <a:xfrm>
            <a:off x="8617134" y="1380529"/>
            <a:ext cx="2627351" cy="1525334"/>
            <a:chOff x="8368937" y="1238289"/>
            <a:chExt cx="2627351" cy="1525334"/>
          </a:xfrm>
        </p:grpSpPr>
        <p:sp>
          <p:nvSpPr>
            <p:cNvPr id="28" name="矩形 57">
              <a:extLst>
                <a:ext uri="{FF2B5EF4-FFF2-40B4-BE49-F238E27FC236}">
                  <a16:creationId xmlns:a16="http://schemas.microsoft.com/office/drawing/2014/main" id="{7548EDE5-95FF-9E68-F6DD-A05B7E175927}"/>
                </a:ext>
              </a:extLst>
            </p:cNvPr>
            <p:cNvSpPr/>
            <p:nvPr/>
          </p:nvSpPr>
          <p:spPr>
            <a:xfrm>
              <a:off x="8368937" y="1699999"/>
              <a:ext cx="2623185" cy="10636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 Code/Data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Process-Specific Data Structures (e.g., Page Table, kernel stack, </a:t>
              </a:r>
              <a:r>
                <a:rPr kumimoji="1" lang="en-US" altLang="zh-TW" sz="1600" dirty="0" err="1">
                  <a:solidFill>
                    <a:schemeClr val="tx1"/>
                  </a:solidFill>
                  <a:cs typeface="Arial" panose="020B0604020202020204" pitchFamily="34" charset="0"/>
                </a:rPr>
                <a:t>mm_struct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) </a:t>
              </a:r>
              <a:endParaRPr kumimoji="1" lang="zh-TW" altLang="en-US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矩形 57">
              <a:extLst>
                <a:ext uri="{FF2B5EF4-FFF2-40B4-BE49-F238E27FC236}">
                  <a16:creationId xmlns:a16="http://schemas.microsoft.com/office/drawing/2014/main" id="{955209F4-FEF5-34D9-C63F-DAC809C9EB59}"/>
                </a:ext>
              </a:extLst>
            </p:cNvPr>
            <p:cNvSpPr/>
            <p:nvPr/>
          </p:nvSpPr>
          <p:spPr>
            <a:xfrm>
              <a:off x="8373101" y="1238289"/>
              <a:ext cx="2623187" cy="4617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Temporary Mapped</a:t>
              </a:r>
              <a:endParaRPr kumimoji="1" lang="zh-TW" altLang="en-US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F4DE7EB-9171-7815-0C0A-835B984E44AB}"/>
              </a:ext>
            </a:extLst>
          </p:cNvPr>
          <p:cNvSpPr txBox="1"/>
          <p:nvPr/>
        </p:nvSpPr>
        <p:spPr>
          <a:xfrm>
            <a:off x="0" y="6598099"/>
            <a:ext cx="697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Gorman, Mel. Understanding the Linux virtual memory manager. Upper Saddle River: Prentice Hall, 2004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4375A29-3736-6C22-7D10-BA9C89ACA541}"/>
              </a:ext>
            </a:extLst>
          </p:cNvPr>
          <p:cNvGrpSpPr/>
          <p:nvPr/>
        </p:nvGrpSpPr>
        <p:grpSpPr>
          <a:xfrm>
            <a:off x="8613393" y="5017144"/>
            <a:ext cx="2631092" cy="1359692"/>
            <a:chOff x="8365196" y="4874904"/>
            <a:chExt cx="2631092" cy="1359692"/>
          </a:xfrm>
        </p:grpSpPr>
        <p:sp>
          <p:nvSpPr>
            <p:cNvPr id="34" name="矩形 57">
              <a:extLst>
                <a:ext uri="{FF2B5EF4-FFF2-40B4-BE49-F238E27FC236}">
                  <a16:creationId xmlns:a16="http://schemas.microsoft.com/office/drawing/2014/main" id="{8C2150CD-B0B1-1FE4-A067-8F29CAC60552}"/>
                </a:ext>
              </a:extLst>
            </p:cNvPr>
            <p:cNvSpPr/>
            <p:nvPr/>
          </p:nvSpPr>
          <p:spPr>
            <a:xfrm>
              <a:off x="8365196" y="5772887"/>
              <a:ext cx="2631092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Text Section (e.g., Code)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矩形 57">
              <a:extLst>
                <a:ext uri="{FF2B5EF4-FFF2-40B4-BE49-F238E27FC236}">
                  <a16:creationId xmlns:a16="http://schemas.microsoft.com/office/drawing/2014/main" id="{0012B98B-4E2E-7B87-C925-C06A1CAEAA63}"/>
                </a:ext>
              </a:extLst>
            </p:cNvPr>
            <p:cNvSpPr/>
            <p:nvPr/>
          </p:nvSpPr>
          <p:spPr>
            <a:xfrm>
              <a:off x="8373101" y="5324097"/>
              <a:ext cx="2615279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Data Section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(Initialize Global Variable)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矩形 57">
              <a:extLst>
                <a:ext uri="{FF2B5EF4-FFF2-40B4-BE49-F238E27FC236}">
                  <a16:creationId xmlns:a16="http://schemas.microsoft.com/office/drawing/2014/main" id="{9D8A2346-FC3D-770A-7E4E-33A3477BDC66}"/>
                </a:ext>
              </a:extLst>
            </p:cNvPr>
            <p:cNvSpPr/>
            <p:nvPr/>
          </p:nvSpPr>
          <p:spPr>
            <a:xfrm>
              <a:off x="8369359" y="4874904"/>
              <a:ext cx="2623185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BSS Section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(Uninitialized Global Variable)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97FC956-922D-14B7-18EE-CD0D00F9AA03}"/>
              </a:ext>
            </a:extLst>
          </p:cNvPr>
          <p:cNvGrpSpPr/>
          <p:nvPr/>
        </p:nvGrpSpPr>
        <p:grpSpPr>
          <a:xfrm>
            <a:off x="8256685" y="1372646"/>
            <a:ext cx="4005712" cy="5475442"/>
            <a:chOff x="8008488" y="1230406"/>
            <a:chExt cx="4005712" cy="5475442"/>
          </a:xfrm>
        </p:grpSpPr>
        <p:sp>
          <p:nvSpPr>
            <p:cNvPr id="18" name="右大括弧 17">
              <a:extLst>
                <a:ext uri="{FF2B5EF4-FFF2-40B4-BE49-F238E27FC236}">
                  <a16:creationId xmlns:a16="http://schemas.microsoft.com/office/drawing/2014/main" id="{C41620B0-7823-A451-ED4E-5C5F33629161}"/>
                </a:ext>
              </a:extLst>
            </p:cNvPr>
            <p:cNvSpPr/>
            <p:nvPr/>
          </p:nvSpPr>
          <p:spPr>
            <a:xfrm>
              <a:off x="11076249" y="1238290"/>
              <a:ext cx="90211" cy="1533218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" name="右大括弧 18">
              <a:extLst>
                <a:ext uri="{FF2B5EF4-FFF2-40B4-BE49-F238E27FC236}">
                  <a16:creationId xmlns:a16="http://schemas.microsoft.com/office/drawing/2014/main" id="{EB53CF78-779F-FB66-AD71-FB2317AE19F1}"/>
                </a:ext>
              </a:extLst>
            </p:cNvPr>
            <p:cNvSpPr/>
            <p:nvPr/>
          </p:nvSpPr>
          <p:spPr>
            <a:xfrm>
              <a:off x="11079329" y="2779393"/>
              <a:ext cx="95040" cy="3585186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777EE22D-4E84-28F8-2D2D-3F9EA41078E2}"/>
                </a:ext>
              </a:extLst>
            </p:cNvPr>
            <p:cNvSpPr txBox="1"/>
            <p:nvPr/>
          </p:nvSpPr>
          <p:spPr>
            <a:xfrm>
              <a:off x="11121354" y="1483969"/>
              <a:ext cx="809068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/>
                <a:t>Kernel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Virtual</a:t>
              </a:r>
            </a:p>
            <a:p>
              <a:pPr algn="ctr"/>
              <a:r>
                <a:rPr kumimoji="1" lang="en-US" altLang="zh-TW" sz="1400" dirty="0"/>
                <a:t>Address 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Space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(</a:t>
              </a:r>
              <a:r>
                <a:rPr kumimoji="1" lang="en-US" altLang="zh-TW" sz="1400" b="1" dirty="0"/>
                <a:t>1G</a:t>
              </a:r>
              <a:r>
                <a:rPr kumimoji="1" lang="en-US" altLang="zh-TW" sz="1400" dirty="0"/>
                <a:t>)</a:t>
              </a:r>
              <a:endParaRPr kumimoji="1" lang="zh-TW" altLang="en-US" sz="1400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B8A9E7E0-A2EC-E1D4-45B7-087C06BB7319}"/>
                </a:ext>
              </a:extLst>
            </p:cNvPr>
            <p:cNvSpPr txBox="1"/>
            <p:nvPr/>
          </p:nvSpPr>
          <p:spPr>
            <a:xfrm>
              <a:off x="11166460" y="3994146"/>
              <a:ext cx="809068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/>
                <a:t>User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Virtual</a:t>
              </a:r>
            </a:p>
            <a:p>
              <a:pPr algn="ctr"/>
              <a:r>
                <a:rPr kumimoji="1" lang="en-US" altLang="zh-TW" sz="1400" dirty="0"/>
                <a:t>Address 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Space</a:t>
              </a:r>
              <a:br>
                <a:rPr kumimoji="1" lang="en-US" altLang="zh-TW" sz="1400" dirty="0"/>
              </a:br>
              <a:r>
                <a:rPr kumimoji="1" lang="en-US" altLang="zh-TW" sz="1400" dirty="0"/>
                <a:t>(</a:t>
              </a:r>
              <a:r>
                <a:rPr kumimoji="1" lang="en-US" altLang="zh-TW" sz="1400" b="1" dirty="0"/>
                <a:t>3G</a:t>
              </a:r>
              <a:r>
                <a:rPr kumimoji="1" lang="en-US" altLang="zh-TW" sz="1400" dirty="0"/>
                <a:t>)</a:t>
              </a:r>
              <a:endParaRPr kumimoji="1" lang="zh-TW" altLang="en-US" sz="1400" dirty="0"/>
            </a:p>
          </p:txBody>
        </p:sp>
        <p:sp>
          <p:nvSpPr>
            <p:cNvPr id="25" name="矩形 57">
              <a:extLst>
                <a:ext uri="{FF2B5EF4-FFF2-40B4-BE49-F238E27FC236}">
                  <a16:creationId xmlns:a16="http://schemas.microsoft.com/office/drawing/2014/main" id="{575C64BB-9456-1FAC-6971-7E12373AA906}"/>
                </a:ext>
              </a:extLst>
            </p:cNvPr>
            <p:cNvSpPr/>
            <p:nvPr/>
          </p:nvSpPr>
          <p:spPr>
            <a:xfrm>
              <a:off x="8368937" y="1230406"/>
              <a:ext cx="2623185" cy="1533217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F79C0A31-BA9B-3B4C-97CF-EE463F049E24}"/>
                </a:ext>
              </a:extLst>
            </p:cNvPr>
            <p:cNvSpPr txBox="1"/>
            <p:nvPr/>
          </p:nvSpPr>
          <p:spPr>
            <a:xfrm>
              <a:off x="8008488" y="6398071"/>
              <a:ext cx="40057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u="sng" dirty="0">
                  <a:solidFill>
                    <a:srgbClr val="C00000"/>
                  </a:solidFill>
                </a:rPr>
                <a:t>Per Process </a:t>
              </a:r>
              <a:r>
                <a:rPr kumimoji="1" lang="en-US" altLang="zh-TW" sz="1400" b="1" u="sng" dirty="0"/>
                <a:t>Virtual</a:t>
              </a:r>
              <a:r>
                <a:rPr kumimoji="1" lang="en-US" altLang="zh-TW" sz="1400" b="1" u="sng" dirty="0">
                  <a:solidFill>
                    <a:srgbClr val="C00000"/>
                  </a:solidFill>
                </a:rPr>
                <a:t> </a:t>
              </a:r>
              <a:r>
                <a:rPr kumimoji="1" lang="en-US" altLang="zh-TW" sz="1400" b="1" u="sng" dirty="0"/>
                <a:t>Address Space On 32-bit System</a:t>
              </a:r>
              <a:endParaRPr kumimoji="1" lang="zh-TW" altLang="en-US" sz="1400" b="1" u="sng" dirty="0"/>
            </a:p>
          </p:txBody>
        </p:sp>
        <p:sp>
          <p:nvSpPr>
            <p:cNvPr id="24" name="矩形 57">
              <a:extLst>
                <a:ext uri="{FF2B5EF4-FFF2-40B4-BE49-F238E27FC236}">
                  <a16:creationId xmlns:a16="http://schemas.microsoft.com/office/drawing/2014/main" id="{97778A82-21E6-5E50-3100-436411DDAB7A}"/>
                </a:ext>
              </a:extLst>
            </p:cNvPr>
            <p:cNvSpPr/>
            <p:nvPr/>
          </p:nvSpPr>
          <p:spPr>
            <a:xfrm>
              <a:off x="8365195" y="2763623"/>
              <a:ext cx="2623185" cy="3600956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A694B6C7-871C-82C7-49EA-5960E0415AF3}"/>
              </a:ext>
            </a:extLst>
          </p:cNvPr>
          <p:cNvGrpSpPr/>
          <p:nvPr/>
        </p:nvGrpSpPr>
        <p:grpSpPr>
          <a:xfrm>
            <a:off x="8621298" y="2894892"/>
            <a:ext cx="2623185" cy="665197"/>
            <a:chOff x="8373101" y="2752652"/>
            <a:chExt cx="2623185" cy="665197"/>
          </a:xfrm>
        </p:grpSpPr>
        <p:sp>
          <p:nvSpPr>
            <p:cNvPr id="7" name="矩形 57">
              <a:extLst>
                <a:ext uri="{FF2B5EF4-FFF2-40B4-BE49-F238E27FC236}">
                  <a16:creationId xmlns:a16="http://schemas.microsoft.com/office/drawing/2014/main" id="{3E7F2AEE-2DE1-1C22-5C41-D6583CDCC2BD}"/>
                </a:ext>
              </a:extLst>
            </p:cNvPr>
            <p:cNvSpPr/>
            <p:nvPr/>
          </p:nvSpPr>
          <p:spPr>
            <a:xfrm>
              <a:off x="8373101" y="2752652"/>
              <a:ext cx="2623185" cy="3682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 Stack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42" name="直線箭頭接點 41">
              <a:extLst>
                <a:ext uri="{FF2B5EF4-FFF2-40B4-BE49-F238E27FC236}">
                  <a16:creationId xmlns:a16="http://schemas.microsoft.com/office/drawing/2014/main" id="{4E2A215D-A5A5-6910-0B7B-D133740A8A28}"/>
                </a:ext>
              </a:extLst>
            </p:cNvPr>
            <p:cNvCxnSpPr>
              <a:cxnSpLocks/>
            </p:cNvCxnSpPr>
            <p:nvPr/>
          </p:nvCxnSpPr>
          <p:spPr>
            <a:xfrm>
              <a:off x="9662391" y="3133097"/>
              <a:ext cx="0" cy="28475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EC3D96FD-DFA2-8166-0BC9-D27FF5A0CDF7}"/>
              </a:ext>
            </a:extLst>
          </p:cNvPr>
          <p:cNvGrpSpPr/>
          <p:nvPr/>
        </p:nvGrpSpPr>
        <p:grpSpPr>
          <a:xfrm>
            <a:off x="8617556" y="4257040"/>
            <a:ext cx="2623185" cy="755682"/>
            <a:chOff x="8369359" y="4114800"/>
            <a:chExt cx="2623185" cy="755682"/>
          </a:xfrm>
        </p:grpSpPr>
        <p:sp>
          <p:nvSpPr>
            <p:cNvPr id="37" name="矩形 57">
              <a:extLst>
                <a:ext uri="{FF2B5EF4-FFF2-40B4-BE49-F238E27FC236}">
                  <a16:creationId xmlns:a16="http://schemas.microsoft.com/office/drawing/2014/main" id="{7BF8EBD7-BF35-F10E-A501-ADE98D03D008}"/>
                </a:ext>
              </a:extLst>
            </p:cNvPr>
            <p:cNvSpPr/>
            <p:nvPr/>
          </p:nvSpPr>
          <p:spPr>
            <a:xfrm>
              <a:off x="8369359" y="4438630"/>
              <a:ext cx="2623185" cy="4318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Heap (via </a:t>
              </a:r>
              <a:r>
                <a:rPr kumimoji="1" lang="en-US" altLang="zh-TW" sz="16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malloc()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46" name="直線箭頭接點 45">
              <a:extLst>
                <a:ext uri="{FF2B5EF4-FFF2-40B4-BE49-F238E27FC236}">
                  <a16:creationId xmlns:a16="http://schemas.microsoft.com/office/drawing/2014/main" id="{F1F58638-5168-BE00-8D4E-36B6D2FA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693" y="4114800"/>
              <a:ext cx="0" cy="306925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52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66BB-D8D6-F590-9E2C-0F78B5A4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Memory Descriptor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F82E98-BF24-48F9-997B-91DDB1EC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en-US" altLang="zh-TW" dirty="0"/>
              <a:t>Memory descriptor (</a:t>
            </a:r>
            <a:r>
              <a:rPr kumimoji="1" lang="en-US" altLang="zh-TW" dirty="0">
                <a:latin typeface="+mj-lt"/>
              </a:rPr>
              <a:t>struct </a:t>
            </a:r>
            <a:r>
              <a:rPr kumimoji="1" lang="en-US" altLang="zh-TW" dirty="0" err="1">
                <a:latin typeface="+mj-lt"/>
              </a:rPr>
              <a:t>mm_struct</a:t>
            </a:r>
            <a:r>
              <a:rPr kumimoji="1" lang="en-US" altLang="zh-TW" dirty="0"/>
              <a:t>) is a </a:t>
            </a:r>
            <a:r>
              <a:rPr kumimoji="1" lang="en-US" altLang="zh-TW" dirty="0">
                <a:solidFill>
                  <a:srgbClr val="C00000"/>
                </a:solidFill>
              </a:rPr>
              <a:t>kernel data structure </a:t>
            </a:r>
            <a:r>
              <a:rPr kumimoji="1" lang="en-US" altLang="zh-TW" dirty="0"/>
              <a:t>contains all information related to the </a:t>
            </a:r>
            <a:r>
              <a:rPr kumimoji="1" lang="en-US" altLang="zh-TW" dirty="0">
                <a:solidFill>
                  <a:srgbClr val="C00000"/>
                </a:solidFill>
              </a:rPr>
              <a:t>process’s address space.</a:t>
            </a:r>
          </a:p>
          <a:p>
            <a:pPr algn="l"/>
            <a:r>
              <a:rPr lang="en-US" altLang="zh-TW" dirty="0"/>
              <a:t>The memory descriptor associated with a given task is stored in the </a:t>
            </a:r>
            <a:r>
              <a:rPr lang="en-US" altLang="zh-TW" dirty="0">
                <a:solidFill>
                  <a:srgbClr val="C00000"/>
                </a:solidFill>
                <a:latin typeface="+mj-lt"/>
              </a:rPr>
              <a:t>mm</a:t>
            </a:r>
            <a:r>
              <a:rPr lang="en-US" altLang="zh-TW" dirty="0">
                <a:solidFill>
                  <a:srgbClr val="C00000"/>
                </a:solidFill>
              </a:rPr>
              <a:t> field </a:t>
            </a:r>
            <a:r>
              <a:rPr lang="en-US" altLang="zh-TW" dirty="0"/>
              <a:t>of the </a:t>
            </a:r>
            <a:r>
              <a:rPr lang="en-US" altLang="zh-TW" dirty="0">
                <a:solidFill>
                  <a:srgbClr val="C00000"/>
                </a:solidFill>
              </a:rPr>
              <a:t>task’s process descriptor</a:t>
            </a:r>
            <a:r>
              <a:rPr lang="en-US" altLang="zh-TW" dirty="0"/>
              <a:t>. </a:t>
            </a:r>
          </a:p>
          <a:p>
            <a:pPr algn="l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E38388-5786-CBA2-6BA1-08219F7FA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8EA1BA5C-4C9E-1383-B285-5515AB146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6" y="3050322"/>
            <a:ext cx="10153807" cy="380767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F8AEFFBA-7A1B-1ED0-ADC2-9B7EB0262AE3}"/>
              </a:ext>
            </a:extLst>
          </p:cNvPr>
          <p:cNvGrpSpPr/>
          <p:nvPr/>
        </p:nvGrpSpPr>
        <p:grpSpPr>
          <a:xfrm>
            <a:off x="4795024" y="2582335"/>
            <a:ext cx="6289288" cy="1387500"/>
            <a:chOff x="4795024" y="2370461"/>
            <a:chExt cx="6289288" cy="13875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AC37486-E7AC-240E-0AD6-7B93865E0641}"/>
                </a:ext>
              </a:extLst>
            </p:cNvPr>
            <p:cNvSpPr/>
            <p:nvPr/>
          </p:nvSpPr>
          <p:spPr>
            <a:xfrm>
              <a:off x="4795024" y="3139068"/>
              <a:ext cx="6289288" cy="6188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A444071-40C1-1582-C85B-CACF8D5C3AF1}"/>
                </a:ext>
              </a:extLst>
            </p:cNvPr>
            <p:cNvSpPr txBox="1"/>
            <p:nvPr/>
          </p:nvSpPr>
          <p:spPr>
            <a:xfrm>
              <a:off x="5415620" y="2370461"/>
              <a:ext cx="46794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solidFill>
                    <a:srgbClr val="C00000"/>
                  </a:solidFill>
                </a:rPr>
                <a:t>Different data structures with the same content: </a:t>
              </a:r>
            </a:p>
            <a:p>
              <a:r>
                <a:rPr kumimoji="1" lang="en-US" altLang="zh-TW" sz="1400" dirty="0">
                  <a:solidFill>
                    <a:srgbClr val="C00000"/>
                  </a:solidFill>
                </a:rPr>
                <a:t>all the memory areas in this address space.</a:t>
              </a:r>
            </a:p>
            <a:p>
              <a:r>
                <a:rPr kumimoji="1" lang="en-US" altLang="zh-TW" sz="1400" dirty="0">
                  <a:solidFill>
                    <a:srgbClr val="C00000"/>
                  </a:solidFill>
                </a:rPr>
                <a:t>Linked List </a:t>
              </a:r>
              <a:r>
                <a:rPr kumimoji="1" lang="en-US" altLang="zh-TW" sz="1400" dirty="0">
                  <a:solidFill>
                    <a:srgbClr val="C00000"/>
                  </a:solidFill>
                  <a:sym typeface="Wingdings" pitchFamily="2" charset="2"/>
                </a:rPr>
                <a:t> Fast for traversing, RB Tree  Fast for searching</a:t>
              </a:r>
              <a:endParaRPr kumimoji="1" lang="zh-TW" altLang="en-US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140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6121ED52-2B0F-3563-F273-19C5D7A07570}"/>
              </a:ext>
            </a:extLst>
          </p:cNvPr>
          <p:cNvGrpSpPr/>
          <p:nvPr/>
        </p:nvGrpSpPr>
        <p:grpSpPr>
          <a:xfrm>
            <a:off x="7394902" y="3916959"/>
            <a:ext cx="3248221" cy="683606"/>
            <a:chOff x="7394902" y="3916959"/>
            <a:chExt cx="3248221" cy="683606"/>
          </a:xfrm>
        </p:grpSpPr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50CBA99A-5D9B-8C9B-DDAE-3BFC1718F6BA}"/>
                </a:ext>
              </a:extLst>
            </p:cNvPr>
            <p:cNvSpPr txBox="1"/>
            <p:nvPr/>
          </p:nvSpPr>
          <p:spPr>
            <a:xfrm>
              <a:off x="8053468" y="3916959"/>
              <a:ext cx="7400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 err="1">
                  <a:solidFill>
                    <a:srgbClr val="0070C0"/>
                  </a:solidFill>
                </a:rPr>
                <a:t>vm_next</a:t>
              </a:r>
              <a:endParaRPr kumimoji="1" lang="zh-TW" altLang="en-US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55A6492-903F-BE53-1ECC-73002902B719}"/>
                </a:ext>
              </a:extLst>
            </p:cNvPr>
            <p:cNvSpPr/>
            <p:nvPr/>
          </p:nvSpPr>
          <p:spPr>
            <a:xfrm>
              <a:off x="7394902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0F39D99-4ABA-ED35-A3EB-CAF179763AD5}"/>
                </a:ext>
              </a:extLst>
            </p:cNvPr>
            <p:cNvSpPr/>
            <p:nvPr/>
          </p:nvSpPr>
          <p:spPr>
            <a:xfrm>
              <a:off x="7570256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2C67818-E7F9-AFDE-37C3-9843B338FB8F}"/>
                </a:ext>
              </a:extLst>
            </p:cNvPr>
            <p:cNvSpPr/>
            <p:nvPr/>
          </p:nvSpPr>
          <p:spPr>
            <a:xfrm>
              <a:off x="7748301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8C72FC2-C367-3D1A-F95C-A2897840474B}"/>
                </a:ext>
              </a:extLst>
            </p:cNvPr>
            <p:cNvSpPr/>
            <p:nvPr/>
          </p:nvSpPr>
          <p:spPr>
            <a:xfrm>
              <a:off x="7923655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F5C7E76-81EC-A6AF-52C3-F1E911D853B9}"/>
                </a:ext>
              </a:extLst>
            </p:cNvPr>
            <p:cNvSpPr/>
            <p:nvPr/>
          </p:nvSpPr>
          <p:spPr>
            <a:xfrm>
              <a:off x="8749196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934645C-12E2-E7D3-B449-5752B464F509}"/>
                </a:ext>
              </a:extLst>
            </p:cNvPr>
            <p:cNvSpPr/>
            <p:nvPr/>
          </p:nvSpPr>
          <p:spPr>
            <a:xfrm>
              <a:off x="8924550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DF58C35-E2E5-0C2B-4DDB-60EC18A49398}"/>
                </a:ext>
              </a:extLst>
            </p:cNvPr>
            <p:cNvSpPr/>
            <p:nvPr/>
          </p:nvSpPr>
          <p:spPr>
            <a:xfrm>
              <a:off x="9102595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DFE319A-9CAE-035F-DEA8-E5ECBF8C6554}"/>
                </a:ext>
              </a:extLst>
            </p:cNvPr>
            <p:cNvSpPr/>
            <p:nvPr/>
          </p:nvSpPr>
          <p:spPr>
            <a:xfrm>
              <a:off x="9277949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544A4B5-19CF-D078-5137-B3465D8AED92}"/>
                </a:ext>
              </a:extLst>
            </p:cNvPr>
            <p:cNvSpPr/>
            <p:nvPr/>
          </p:nvSpPr>
          <p:spPr>
            <a:xfrm>
              <a:off x="10111679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B513758-D200-842D-6669-2CEAC6A44F01}"/>
                </a:ext>
              </a:extLst>
            </p:cNvPr>
            <p:cNvSpPr/>
            <p:nvPr/>
          </p:nvSpPr>
          <p:spPr>
            <a:xfrm>
              <a:off x="10287033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36D8D78-5FB9-CCC0-EDDF-3F233102C7BE}"/>
                </a:ext>
              </a:extLst>
            </p:cNvPr>
            <p:cNvSpPr/>
            <p:nvPr/>
          </p:nvSpPr>
          <p:spPr>
            <a:xfrm>
              <a:off x="10465078" y="3923646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06FF1EED-C7DE-353F-E1BA-C7E2ACC8725D}"/>
                </a:ext>
              </a:extLst>
            </p:cNvPr>
            <p:cNvSpPr txBox="1"/>
            <p:nvPr/>
          </p:nvSpPr>
          <p:spPr>
            <a:xfrm>
              <a:off x="8359558" y="4292788"/>
              <a:ext cx="13540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 err="1"/>
                <a:t>vm_area_struct</a:t>
              </a:r>
              <a:endParaRPr kumimoji="1" lang="zh-TW" altLang="en-US" sz="1400" b="1" dirty="0"/>
            </a:p>
          </p:txBody>
        </p:sp>
        <p:cxnSp>
          <p:nvCxnSpPr>
            <p:cNvPr id="108" name="直線箭頭接點 107">
              <a:extLst>
                <a:ext uri="{FF2B5EF4-FFF2-40B4-BE49-F238E27FC236}">
                  <a16:creationId xmlns:a16="http://schemas.microsoft.com/office/drawing/2014/main" id="{03641FD9-1137-D707-D785-CAB0B517488B}"/>
                </a:ext>
              </a:extLst>
            </p:cNvPr>
            <p:cNvCxnSpPr>
              <a:cxnSpLocks/>
              <a:stCxn id="39" idx="3"/>
              <a:endCxn id="46" idx="1"/>
            </p:cNvCxnSpPr>
            <p:nvPr/>
          </p:nvCxnSpPr>
          <p:spPr>
            <a:xfrm>
              <a:off x="8101700" y="4146671"/>
              <a:ext cx="6474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箭頭接點 134">
              <a:extLst>
                <a:ext uri="{FF2B5EF4-FFF2-40B4-BE49-F238E27FC236}">
                  <a16:creationId xmlns:a16="http://schemas.microsoft.com/office/drawing/2014/main" id="{ECE4B247-BC49-0768-6135-F2A7EB2A57DB}"/>
                </a:ext>
              </a:extLst>
            </p:cNvPr>
            <p:cNvCxnSpPr>
              <a:cxnSpLocks/>
            </p:cNvCxnSpPr>
            <p:nvPr/>
          </p:nvCxnSpPr>
          <p:spPr>
            <a:xfrm>
              <a:off x="9467408" y="4146670"/>
              <a:ext cx="6474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233A7F6C-2501-250B-52FA-A1BBEB38818D}"/>
                </a:ext>
              </a:extLst>
            </p:cNvPr>
            <p:cNvSpPr txBox="1"/>
            <p:nvPr/>
          </p:nvSpPr>
          <p:spPr>
            <a:xfrm>
              <a:off x="9418914" y="3921808"/>
              <a:ext cx="7400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 err="1">
                  <a:solidFill>
                    <a:srgbClr val="0070C0"/>
                  </a:solidFill>
                </a:rPr>
                <a:t>vm_next</a:t>
              </a:r>
              <a:endParaRPr kumimoji="1" lang="zh-TW" altLang="en-US" sz="12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9C633E0E-A897-B541-88C2-BC826E6D796C}"/>
              </a:ext>
            </a:extLst>
          </p:cNvPr>
          <p:cNvGrpSpPr/>
          <p:nvPr/>
        </p:nvGrpSpPr>
        <p:grpSpPr>
          <a:xfrm>
            <a:off x="7188651" y="2772378"/>
            <a:ext cx="3706301" cy="1151268"/>
            <a:chOff x="7188651" y="2772378"/>
            <a:chExt cx="3706301" cy="1151268"/>
          </a:xfrm>
        </p:grpSpPr>
        <p:grpSp>
          <p:nvGrpSpPr>
            <p:cNvPr id="161" name="群組 160">
              <a:extLst>
                <a:ext uri="{FF2B5EF4-FFF2-40B4-BE49-F238E27FC236}">
                  <a16:creationId xmlns:a16="http://schemas.microsoft.com/office/drawing/2014/main" id="{BF232323-85BD-9BA6-2A3B-6F83EA7A2C8A}"/>
                </a:ext>
              </a:extLst>
            </p:cNvPr>
            <p:cNvGrpSpPr/>
            <p:nvPr/>
          </p:nvGrpSpPr>
          <p:grpSpPr>
            <a:xfrm>
              <a:off x="7188651" y="2772378"/>
              <a:ext cx="3706301" cy="1151268"/>
              <a:chOff x="7188651" y="2772378"/>
              <a:chExt cx="3706301" cy="115126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F04E4BF-0590-02B9-A74F-420AB737E348}"/>
                  </a:ext>
                </a:extLst>
              </p:cNvPr>
              <p:cNvSpPr/>
              <p:nvPr/>
            </p:nvSpPr>
            <p:spPr>
              <a:xfrm>
                <a:off x="7393366" y="3141146"/>
                <a:ext cx="3493294" cy="44604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8031190E-DFDB-93F0-7F12-172022E9F115}"/>
                  </a:ext>
                </a:extLst>
              </p:cNvPr>
              <p:cNvSpPr/>
              <p:nvPr/>
            </p:nvSpPr>
            <p:spPr>
              <a:xfrm>
                <a:off x="7540502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A074D91B-9C10-C627-59A9-162E12BC49D2}"/>
                  </a:ext>
                </a:extLst>
              </p:cNvPr>
              <p:cNvSpPr/>
              <p:nvPr/>
            </p:nvSpPr>
            <p:spPr>
              <a:xfrm>
                <a:off x="7797839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BD291B5-7F47-AA2C-B1F1-B7D47266DEB3}"/>
                  </a:ext>
                </a:extLst>
              </p:cNvPr>
              <p:cNvSpPr/>
              <p:nvPr/>
            </p:nvSpPr>
            <p:spPr>
              <a:xfrm>
                <a:off x="8053224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E5F64725-6A2D-FCE8-18E9-BC1F2DBBEEBE}"/>
                  </a:ext>
                </a:extLst>
              </p:cNvPr>
              <p:cNvSpPr/>
              <p:nvPr/>
            </p:nvSpPr>
            <p:spPr>
              <a:xfrm>
                <a:off x="8308609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34B2CAEA-82B1-07A8-DAC3-EAAB4279CB5E}"/>
                  </a:ext>
                </a:extLst>
              </p:cNvPr>
              <p:cNvSpPr/>
              <p:nvPr/>
            </p:nvSpPr>
            <p:spPr>
              <a:xfrm>
                <a:off x="8913095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60CEEDB2-D423-5261-37E9-4DDD6E2FFF50}"/>
                  </a:ext>
                </a:extLst>
              </p:cNvPr>
              <p:cNvSpPr/>
              <p:nvPr/>
            </p:nvSpPr>
            <p:spPr>
              <a:xfrm>
                <a:off x="9168480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BDB817A-43FD-553E-7700-1725C624F149}"/>
                  </a:ext>
                </a:extLst>
              </p:cNvPr>
              <p:cNvSpPr/>
              <p:nvPr/>
            </p:nvSpPr>
            <p:spPr>
              <a:xfrm>
                <a:off x="10114904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505F2DDA-AA34-9CFC-B505-B478BECFE4BA}"/>
                  </a:ext>
                </a:extLst>
              </p:cNvPr>
              <p:cNvSpPr/>
              <p:nvPr/>
            </p:nvSpPr>
            <p:spPr>
              <a:xfrm>
                <a:off x="10370289" y="3141146"/>
                <a:ext cx="255385" cy="4460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TW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5B4B8FB0-40C0-2BF1-F1BB-B1256C722F68}"/>
                  </a:ext>
                </a:extLst>
              </p:cNvPr>
              <p:cNvSpPr txBox="1"/>
              <p:nvPr/>
            </p:nvSpPr>
            <p:spPr>
              <a:xfrm>
                <a:off x="7852383" y="2772378"/>
                <a:ext cx="25156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400" b="1" dirty="0"/>
                  <a:t>Process’s Virtual Address Space</a:t>
                </a:r>
                <a:endParaRPr kumimoji="1" lang="zh-TW" altLang="en-US" sz="1400" b="1" dirty="0"/>
              </a:p>
            </p:txBody>
          </p:sp>
          <p:cxnSp>
            <p:nvCxnSpPr>
              <p:cNvPr id="121" name="直線箭頭接點 120">
                <a:extLst>
                  <a:ext uri="{FF2B5EF4-FFF2-40B4-BE49-F238E27FC236}">
                    <a16:creationId xmlns:a16="http://schemas.microsoft.com/office/drawing/2014/main" id="{BFB64828-7B15-60E8-3E67-23E143DB5886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7483925" y="3595108"/>
                <a:ext cx="49097" cy="3285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箭頭接點 123">
                <a:extLst>
                  <a:ext uri="{FF2B5EF4-FFF2-40B4-BE49-F238E27FC236}">
                    <a16:creationId xmlns:a16="http://schemas.microsoft.com/office/drawing/2014/main" id="{8875E9F4-2C52-CEA7-944C-791D9E5BAFFF}"/>
                  </a:ext>
                </a:extLst>
              </p:cNvPr>
              <p:cNvCxnSpPr>
                <a:cxnSpLocks/>
                <a:stCxn id="27" idx="0"/>
              </p:cNvCxnSpPr>
              <p:nvPr/>
            </p:nvCxnSpPr>
            <p:spPr>
              <a:xfrm flipV="1">
                <a:off x="7659279" y="3595108"/>
                <a:ext cx="912762" cy="3285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F6CFF8E-3293-B7C1-2B22-650480C7CA77}"/>
                  </a:ext>
                </a:extLst>
              </p:cNvPr>
              <p:cNvSpPr txBox="1"/>
              <p:nvPr/>
            </p:nvSpPr>
            <p:spPr>
              <a:xfrm>
                <a:off x="7188651" y="3601419"/>
                <a:ext cx="7521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200" b="1" dirty="0" err="1">
                    <a:solidFill>
                      <a:srgbClr val="0070C0"/>
                    </a:solidFill>
                  </a:rPr>
                  <a:t>vm_start</a:t>
                </a:r>
                <a:endParaRPr kumimoji="1" lang="zh-TW" altLang="en-US" sz="1200" b="1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5D21541F-D0D7-3EA8-FF57-676E850A3FE0}"/>
                  </a:ext>
                </a:extLst>
              </p:cNvPr>
              <p:cNvSpPr txBox="1"/>
              <p:nvPr/>
            </p:nvSpPr>
            <p:spPr>
              <a:xfrm>
                <a:off x="7867436" y="3601796"/>
                <a:ext cx="7024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200" b="1" dirty="0" err="1">
                    <a:solidFill>
                      <a:srgbClr val="0070C0"/>
                    </a:solidFill>
                  </a:rPr>
                  <a:t>vm_end</a:t>
                </a:r>
                <a:endParaRPr kumimoji="1" lang="zh-TW" altLang="en-US" sz="1200" b="1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137" name="直線箭頭接點 136">
                <a:extLst>
                  <a:ext uri="{FF2B5EF4-FFF2-40B4-BE49-F238E27FC236}">
                    <a16:creationId xmlns:a16="http://schemas.microsoft.com/office/drawing/2014/main" id="{9FBBF334-82E8-4674-865B-178BAC2A9F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34938" y="3595108"/>
                <a:ext cx="81320" cy="3222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箭頭接點 138">
                <a:extLst>
                  <a:ext uri="{FF2B5EF4-FFF2-40B4-BE49-F238E27FC236}">
                    <a16:creationId xmlns:a16="http://schemas.microsoft.com/office/drawing/2014/main" id="{B052059B-B3A1-8DDC-5795-783648A93A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13572" y="3587195"/>
                <a:ext cx="423147" cy="3332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箭頭接點 141">
                <a:extLst>
                  <a:ext uri="{FF2B5EF4-FFF2-40B4-BE49-F238E27FC236}">
                    <a16:creationId xmlns:a16="http://schemas.microsoft.com/office/drawing/2014/main" id="{F4880F1D-58BD-9477-0258-22313329EA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126114" y="3595108"/>
                <a:ext cx="72794" cy="31984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線箭頭接點 144">
                <a:extLst>
                  <a:ext uri="{FF2B5EF4-FFF2-40B4-BE49-F238E27FC236}">
                    <a16:creationId xmlns:a16="http://schemas.microsoft.com/office/drawing/2014/main" id="{7A3C88FD-E6EE-D2C0-2421-963799DA26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2859" y="3601796"/>
                <a:ext cx="522093" cy="31785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8379090D-07B7-AEFB-7BF8-95978218FCE0}"/>
                </a:ext>
              </a:extLst>
            </p:cNvPr>
            <p:cNvSpPr/>
            <p:nvPr/>
          </p:nvSpPr>
          <p:spPr>
            <a:xfrm>
              <a:off x="10625796" y="3142816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ABB30BEC-B07E-A80C-F7AD-25A692DC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Virtual Memory Areas (VMA)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3B544-3455-D0F7-21E9-AE1F60D76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81513"/>
            <a:ext cx="11836400" cy="5441950"/>
          </a:xfrm>
        </p:spPr>
        <p:txBody>
          <a:bodyPr/>
          <a:lstStyle/>
          <a:p>
            <a:r>
              <a:rPr kumimoji="1" lang="en-US" altLang="zh-TW" dirty="0"/>
              <a:t>The memory area (or VMA) structure (</a:t>
            </a:r>
            <a:r>
              <a:rPr kumimoji="1" lang="en-US" altLang="zh-TW" dirty="0" err="1">
                <a:latin typeface="+mj-lt"/>
              </a:rPr>
              <a:t>vm_area_struct</a:t>
            </a:r>
            <a:r>
              <a:rPr lang="en-US" altLang="zh-TW" dirty="0"/>
              <a:t>) </a:t>
            </a:r>
            <a:r>
              <a:rPr kumimoji="1" lang="en-US" altLang="zh-TW" dirty="0"/>
              <a:t>describes a single memory area over a </a:t>
            </a:r>
            <a:r>
              <a:rPr kumimoji="1" lang="en-US" altLang="zh-TW" dirty="0">
                <a:solidFill>
                  <a:srgbClr val="C00000"/>
                </a:solidFill>
              </a:rPr>
              <a:t>contiguous interval in a given virtual address space</a:t>
            </a:r>
            <a:r>
              <a:rPr kumimoji="1"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106D4B-4FF4-A35D-1F2C-3EE26EB77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22" name="圖片 21" descr="一張含有 文字 的圖片&#10;&#10;自動產生的描述">
            <a:extLst>
              <a:ext uri="{FF2B5EF4-FFF2-40B4-BE49-F238E27FC236}">
                <a16:creationId xmlns:a16="http://schemas.microsoft.com/office/drawing/2014/main" id="{61C2E3FA-DC9A-4A9D-1FBF-66B59E38E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00" y="4126829"/>
            <a:ext cx="5903395" cy="23342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2DFF8BA4-E5EC-306A-BE78-DB8756798223}"/>
              </a:ext>
            </a:extLst>
          </p:cNvPr>
          <p:cNvSpPr txBox="1"/>
          <p:nvPr/>
        </p:nvSpPr>
        <p:spPr>
          <a:xfrm>
            <a:off x="0" y="6442560"/>
            <a:ext cx="3744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manybutfinite.com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/post/how-the-kernel-manages-your-memory/</a:t>
            </a:r>
          </a:p>
          <a:p>
            <a:endParaRPr kumimoji="1" lang="en-US" altLang="zh-TW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5E991733-6A00-4841-5896-2864A0C7721E}"/>
              </a:ext>
            </a:extLst>
          </p:cNvPr>
          <p:cNvGrpSpPr/>
          <p:nvPr/>
        </p:nvGrpSpPr>
        <p:grpSpPr>
          <a:xfrm>
            <a:off x="8181348" y="4847906"/>
            <a:ext cx="1752339" cy="928581"/>
            <a:chOff x="8181348" y="4847906"/>
            <a:chExt cx="1752339" cy="928581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7A492FF-EDD5-02C7-D0AE-5C518836ADA3}"/>
                </a:ext>
              </a:extLst>
            </p:cNvPr>
            <p:cNvSpPr/>
            <p:nvPr/>
          </p:nvSpPr>
          <p:spPr>
            <a:xfrm>
              <a:off x="8578752" y="4847906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B120A1C-AD1F-662F-E5B0-2E3D51A2EE45}"/>
                </a:ext>
              </a:extLst>
            </p:cNvPr>
            <p:cNvSpPr/>
            <p:nvPr/>
          </p:nvSpPr>
          <p:spPr>
            <a:xfrm>
              <a:off x="8754106" y="4847906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382A523F-7A86-402C-E691-DE4582246F0B}"/>
                </a:ext>
              </a:extLst>
            </p:cNvPr>
            <p:cNvSpPr/>
            <p:nvPr/>
          </p:nvSpPr>
          <p:spPr>
            <a:xfrm>
              <a:off x="8932151" y="4847906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41A96674-58DA-2A44-CDC3-6D47329B24FC}"/>
                </a:ext>
              </a:extLst>
            </p:cNvPr>
            <p:cNvSpPr/>
            <p:nvPr/>
          </p:nvSpPr>
          <p:spPr>
            <a:xfrm>
              <a:off x="9107505" y="4847906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DB514E3-FF64-AB17-9AA7-498091D18852}"/>
                </a:ext>
              </a:extLst>
            </p:cNvPr>
            <p:cNvSpPr/>
            <p:nvPr/>
          </p:nvSpPr>
          <p:spPr>
            <a:xfrm>
              <a:off x="9287086" y="4847906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8C2518AD-4A6E-35EA-1C2E-BAB877EA06D3}"/>
                </a:ext>
              </a:extLst>
            </p:cNvPr>
            <p:cNvSpPr txBox="1"/>
            <p:nvPr/>
          </p:nvSpPr>
          <p:spPr>
            <a:xfrm>
              <a:off x="8181348" y="5253267"/>
              <a:ext cx="17523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 err="1"/>
                <a:t>mm_struct</a:t>
              </a:r>
              <a:br>
                <a:rPr kumimoji="1" lang="en-US" altLang="zh-TW" sz="1400" b="1" dirty="0"/>
              </a:br>
              <a:r>
                <a:rPr kumimoji="1" lang="en-US" altLang="zh-TW" sz="1400" b="1" dirty="0"/>
                <a:t>(Memory Descriptor)</a:t>
              </a:r>
              <a:endParaRPr kumimoji="1" lang="zh-TW" altLang="en-US" sz="1400" b="1" dirty="0"/>
            </a:p>
          </p:txBody>
        </p:sp>
      </p:grp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9144A2B2-AB4C-210E-BBCB-5760D60D29CE}"/>
              </a:ext>
            </a:extLst>
          </p:cNvPr>
          <p:cNvGrpSpPr/>
          <p:nvPr/>
        </p:nvGrpSpPr>
        <p:grpSpPr>
          <a:xfrm>
            <a:off x="7709555" y="4377608"/>
            <a:ext cx="1207039" cy="495582"/>
            <a:chOff x="7709555" y="4377608"/>
            <a:chExt cx="1207039" cy="495582"/>
          </a:xfrm>
        </p:grpSpPr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0F6D97D2-457B-F276-BB6A-2F6696CCFAF3}"/>
                </a:ext>
              </a:extLst>
            </p:cNvPr>
            <p:cNvGrpSpPr/>
            <p:nvPr/>
          </p:nvGrpSpPr>
          <p:grpSpPr>
            <a:xfrm>
              <a:off x="7709555" y="4377608"/>
              <a:ext cx="1150550" cy="470298"/>
              <a:chOff x="446013" y="5109980"/>
              <a:chExt cx="1150550" cy="470298"/>
            </a:xfrm>
          </p:grpSpPr>
          <p:cxnSp>
            <p:nvCxnSpPr>
              <p:cNvPr id="111" name="直線箭頭接點 110">
                <a:extLst>
                  <a:ext uri="{FF2B5EF4-FFF2-40B4-BE49-F238E27FC236}">
                    <a16:creationId xmlns:a16="http://schemas.microsoft.com/office/drawing/2014/main" id="{C0152E5D-90E2-9CD4-7FCD-4A09D7F809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013" y="5109980"/>
                <a:ext cx="0" cy="2925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箭頭接點 113">
                <a:extLst>
                  <a:ext uri="{FF2B5EF4-FFF2-40B4-BE49-F238E27FC236}">
                    <a16:creationId xmlns:a16="http://schemas.microsoft.com/office/drawing/2014/main" id="{77BD286A-BDC9-3098-12EC-5AF67D2C2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370" y="5399425"/>
                <a:ext cx="114019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箭頭接點 116">
                <a:extLst>
                  <a:ext uri="{FF2B5EF4-FFF2-40B4-BE49-F238E27FC236}">
                    <a16:creationId xmlns:a16="http://schemas.microsoft.com/office/drawing/2014/main" id="{E7F0DDEC-6690-BA9F-642B-895EE097C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9096" y="5399425"/>
                <a:ext cx="0" cy="1808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41A03F2C-566C-92DC-3D64-9FD4D49D9D37}"/>
                </a:ext>
              </a:extLst>
            </p:cNvPr>
            <p:cNvSpPr txBox="1"/>
            <p:nvPr/>
          </p:nvSpPr>
          <p:spPr>
            <a:xfrm>
              <a:off x="8323162" y="4596191"/>
              <a:ext cx="5934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 err="1">
                  <a:solidFill>
                    <a:srgbClr val="0070C0"/>
                  </a:solidFill>
                </a:rPr>
                <a:t>mmap</a:t>
              </a:r>
              <a:endParaRPr kumimoji="1" lang="zh-TW" altLang="en-US" sz="1200" b="1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51" name="圖片 150" descr="一張含有 文字 的圖片&#10;&#10;自動產生的描述">
            <a:extLst>
              <a:ext uri="{FF2B5EF4-FFF2-40B4-BE49-F238E27FC236}">
                <a16:creationId xmlns:a16="http://schemas.microsoft.com/office/drawing/2014/main" id="{CFE9DEAF-D62B-D32E-37F9-BE1504972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96" y="2019136"/>
            <a:ext cx="5931334" cy="19026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CD9CA5EE-5B0D-3C89-21DD-3355829BC134}"/>
              </a:ext>
            </a:extLst>
          </p:cNvPr>
          <p:cNvCxnSpPr>
            <a:cxnSpLocks/>
          </p:cNvCxnSpPr>
          <p:nvPr/>
        </p:nvCxnSpPr>
        <p:spPr>
          <a:xfrm>
            <a:off x="1414926" y="2651305"/>
            <a:ext cx="3627337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308CF3F-556C-A569-7708-7B6440F2D932}"/>
              </a:ext>
            </a:extLst>
          </p:cNvPr>
          <p:cNvCxnSpPr>
            <a:cxnSpLocks/>
          </p:cNvCxnSpPr>
          <p:nvPr/>
        </p:nvCxnSpPr>
        <p:spPr>
          <a:xfrm>
            <a:off x="1414926" y="5625282"/>
            <a:ext cx="4345794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F71EB2A-19FA-9FDA-9D3A-5E63C697516D}"/>
              </a:ext>
            </a:extLst>
          </p:cNvPr>
          <p:cNvCxnSpPr>
            <a:cxnSpLocks/>
          </p:cNvCxnSpPr>
          <p:nvPr/>
        </p:nvCxnSpPr>
        <p:spPr>
          <a:xfrm>
            <a:off x="1414926" y="5022578"/>
            <a:ext cx="4345794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2336346F-61B5-76C6-638F-84C49D3DD40B}"/>
              </a:ext>
            </a:extLst>
          </p:cNvPr>
          <p:cNvCxnSpPr>
            <a:cxnSpLocks/>
          </p:cNvCxnSpPr>
          <p:nvPr/>
        </p:nvCxnSpPr>
        <p:spPr>
          <a:xfrm>
            <a:off x="1414926" y="5293954"/>
            <a:ext cx="4345794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48FE430F-21CE-668F-BF26-BA53816C605C}"/>
              </a:ext>
            </a:extLst>
          </p:cNvPr>
          <p:cNvGrpSpPr/>
          <p:nvPr/>
        </p:nvGrpSpPr>
        <p:grpSpPr>
          <a:xfrm>
            <a:off x="7102995" y="2751460"/>
            <a:ext cx="738315" cy="389686"/>
            <a:chOff x="7102995" y="2751460"/>
            <a:chExt cx="738315" cy="389686"/>
          </a:xfrm>
        </p:grpSpPr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B2D7441E-6722-3D4D-6DF7-7881CCBAFBA4}"/>
                </a:ext>
              </a:extLst>
            </p:cNvPr>
            <p:cNvSpPr txBox="1"/>
            <p:nvPr/>
          </p:nvSpPr>
          <p:spPr>
            <a:xfrm>
              <a:off x="7102995" y="2751460"/>
              <a:ext cx="738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b="1" dirty="0"/>
                <a:t>page</a:t>
              </a:r>
              <a:endParaRPr kumimoji="1" lang="zh-TW" altLang="en-US" sz="1200" b="1" dirty="0"/>
            </a:p>
          </p:txBody>
        </p:sp>
        <p:cxnSp>
          <p:nvCxnSpPr>
            <p:cNvPr id="165" name="曲線接點 164">
              <a:extLst>
                <a:ext uri="{FF2B5EF4-FFF2-40B4-BE49-F238E27FC236}">
                  <a16:creationId xmlns:a16="http://schemas.microsoft.com/office/drawing/2014/main" id="{3DBDC023-989A-9A27-459E-14DC4802126C}"/>
                </a:ext>
              </a:extLst>
            </p:cNvPr>
            <p:cNvCxnSpPr>
              <a:cxnSpLocks/>
              <a:endCxn id="83" idx="0"/>
            </p:cNvCxnSpPr>
            <p:nvPr/>
          </p:nvCxnSpPr>
          <p:spPr>
            <a:xfrm rot="16200000" flipH="1">
              <a:off x="7488519" y="2961470"/>
              <a:ext cx="215612" cy="143740"/>
            </a:xfrm>
            <a:prstGeom prst="curved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D4038FFD-2C87-B31F-8A35-0F58EDD0A229}"/>
              </a:ext>
            </a:extLst>
          </p:cNvPr>
          <p:cNvGrpSpPr/>
          <p:nvPr/>
        </p:nvGrpSpPr>
        <p:grpSpPr>
          <a:xfrm>
            <a:off x="7539218" y="3140227"/>
            <a:ext cx="3341963" cy="447629"/>
            <a:chOff x="7539218" y="3140227"/>
            <a:chExt cx="3341963" cy="447629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66521CEF-2830-6C65-AC3F-0F959BE1CC54}"/>
                </a:ext>
              </a:extLst>
            </p:cNvPr>
            <p:cNvSpPr/>
            <p:nvPr/>
          </p:nvSpPr>
          <p:spPr>
            <a:xfrm>
              <a:off x="7539218" y="3141807"/>
              <a:ext cx="1024776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VMA</a:t>
              </a: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651C2B40-818F-546F-37F5-776BCEC9D4B4}"/>
                </a:ext>
              </a:extLst>
            </p:cNvPr>
            <p:cNvSpPr/>
            <p:nvPr/>
          </p:nvSpPr>
          <p:spPr>
            <a:xfrm>
              <a:off x="8915786" y="3140227"/>
              <a:ext cx="510003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VMA</a:t>
              </a: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408458D4-89A1-67FF-13DD-7B7443ED41C7}"/>
                </a:ext>
              </a:extLst>
            </p:cNvPr>
            <p:cNvSpPr/>
            <p:nvPr/>
          </p:nvSpPr>
          <p:spPr>
            <a:xfrm>
              <a:off x="10110314" y="3140227"/>
              <a:ext cx="770867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tx1"/>
                  </a:solidFill>
                </a:rPr>
                <a:t>VMA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94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30BEC-B07E-A80C-F7AD-25A692DC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Virtual Memory Areas (VMA) (Count.)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3B544-3455-D0F7-21E9-AE1F60D76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81513"/>
            <a:ext cx="11836400" cy="5441950"/>
          </a:xfrm>
        </p:spPr>
        <p:txBody>
          <a:bodyPr/>
          <a:lstStyle/>
          <a:p>
            <a:r>
              <a:rPr kumimoji="1" lang="en-US" altLang="zh-TW" dirty="0"/>
              <a:t>The memory area (or VMA) structure (</a:t>
            </a:r>
            <a:r>
              <a:rPr kumimoji="1" lang="en-US" altLang="zh-TW" dirty="0" err="1">
                <a:latin typeface="+mj-lt"/>
              </a:rPr>
              <a:t>vm_area_struct</a:t>
            </a:r>
            <a:r>
              <a:rPr lang="en-US" altLang="zh-TW" dirty="0"/>
              <a:t>) </a:t>
            </a:r>
            <a:r>
              <a:rPr kumimoji="1" lang="en-US" altLang="zh-TW" dirty="0"/>
              <a:t>describes a single memory area over a </a:t>
            </a:r>
            <a:r>
              <a:rPr kumimoji="1" lang="en-US" altLang="zh-TW" dirty="0">
                <a:solidFill>
                  <a:srgbClr val="C00000"/>
                </a:solidFill>
              </a:rPr>
              <a:t>contiguous interval in a given virtual address space</a:t>
            </a:r>
            <a:r>
              <a:rPr kumimoji="1"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106D4B-4FF4-A35D-1F2C-3EE26EB77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pic>
        <p:nvPicPr>
          <p:cNvPr id="22" name="圖片 21" descr="一張含有 文字 的圖片&#10;&#10;自動產生的描述">
            <a:extLst>
              <a:ext uri="{FF2B5EF4-FFF2-40B4-BE49-F238E27FC236}">
                <a16:creationId xmlns:a16="http://schemas.microsoft.com/office/drawing/2014/main" id="{61C2E3FA-DC9A-4A9D-1FBF-66B59E38E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3" y="2176619"/>
            <a:ext cx="3379692" cy="1336358"/>
          </a:xfrm>
          <a:prstGeom prst="rect">
            <a:avLst/>
          </a:prstGeom>
        </p:spPr>
      </p:pic>
      <p:grpSp>
        <p:nvGrpSpPr>
          <p:cNvPr id="92" name="群組 91">
            <a:extLst>
              <a:ext uri="{FF2B5EF4-FFF2-40B4-BE49-F238E27FC236}">
                <a16:creationId xmlns:a16="http://schemas.microsoft.com/office/drawing/2014/main" id="{FB0E783E-6CE6-686D-D179-571FFFF16870}"/>
              </a:ext>
            </a:extLst>
          </p:cNvPr>
          <p:cNvGrpSpPr/>
          <p:nvPr/>
        </p:nvGrpSpPr>
        <p:grpSpPr>
          <a:xfrm>
            <a:off x="4306179" y="5931433"/>
            <a:ext cx="3191108" cy="868692"/>
            <a:chOff x="3867020" y="5948967"/>
            <a:chExt cx="3191108" cy="86869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0BEF70-A975-F8F8-5E7A-9ADB00739337}"/>
                </a:ext>
              </a:extLst>
            </p:cNvPr>
            <p:cNvSpPr/>
            <p:nvPr/>
          </p:nvSpPr>
          <p:spPr>
            <a:xfrm>
              <a:off x="3867020" y="6371609"/>
              <a:ext cx="1237786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task_struct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FEC5A41-C99B-91F0-ECEA-359B44FCA79D}"/>
                </a:ext>
              </a:extLst>
            </p:cNvPr>
            <p:cNvSpPr/>
            <p:nvPr/>
          </p:nvSpPr>
          <p:spPr>
            <a:xfrm>
              <a:off x="5820342" y="6371610"/>
              <a:ext cx="1237786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mm_struct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箭頭接點 35">
              <a:extLst>
                <a:ext uri="{FF2B5EF4-FFF2-40B4-BE49-F238E27FC236}">
                  <a16:creationId xmlns:a16="http://schemas.microsoft.com/office/drawing/2014/main" id="{2B3DCEDE-333E-888A-2DAB-222FA907CC8E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5109724" y="6594635"/>
              <a:ext cx="71061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箭頭接點 37">
              <a:extLst>
                <a:ext uri="{FF2B5EF4-FFF2-40B4-BE49-F238E27FC236}">
                  <a16:creationId xmlns:a16="http://schemas.microsoft.com/office/drawing/2014/main" id="{FCFE0645-B4BD-8310-36C7-D526FBBCF4D2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6878394" y="5948967"/>
              <a:ext cx="0" cy="397455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E367CD4-EF63-7A69-23E6-8E0C8045FE82}"/>
                </a:ext>
              </a:extLst>
            </p:cNvPr>
            <p:cNvSpPr txBox="1"/>
            <p:nvPr/>
          </p:nvSpPr>
          <p:spPr>
            <a:xfrm>
              <a:off x="5227574" y="6286856"/>
              <a:ext cx="4700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/>
                <a:t>mm</a:t>
              </a:r>
              <a:endParaRPr kumimoji="1" lang="zh-TW" altLang="en-US" sz="14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0647BCA8-1438-789A-AD31-0CDB8E322A1C}"/>
                </a:ext>
              </a:extLst>
            </p:cNvPr>
            <p:cNvSpPr txBox="1"/>
            <p:nvPr/>
          </p:nvSpPr>
          <p:spPr>
            <a:xfrm>
              <a:off x="6406988" y="5987146"/>
              <a:ext cx="651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mmap</a:t>
              </a:r>
              <a:endParaRPr kumimoji="1" lang="zh-TW" altLang="en-US" sz="1400" dirty="0"/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A8DDE983-103D-1AFD-F26B-614DF6CC2691}"/>
              </a:ext>
            </a:extLst>
          </p:cNvPr>
          <p:cNvGrpSpPr/>
          <p:nvPr/>
        </p:nvGrpSpPr>
        <p:grpSpPr>
          <a:xfrm>
            <a:off x="3817832" y="5075672"/>
            <a:ext cx="5395871" cy="1006538"/>
            <a:chOff x="3378673" y="5093206"/>
            <a:chExt cx="5395871" cy="100653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6BA6340-EB45-3CEB-6817-2DBA27DCA2AD}"/>
                </a:ext>
              </a:extLst>
            </p:cNvPr>
            <p:cNvSpPr/>
            <p:nvPr/>
          </p:nvSpPr>
          <p:spPr>
            <a:xfrm>
              <a:off x="5288686" y="5520452"/>
              <a:ext cx="230109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VM_EXEC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線箭頭接點 25">
              <a:extLst>
                <a:ext uri="{FF2B5EF4-FFF2-40B4-BE49-F238E27FC236}">
                  <a16:creationId xmlns:a16="http://schemas.microsoft.com/office/drawing/2014/main" id="{5EBE4F6E-3076-214C-B6A6-425F203D8F02}"/>
                </a:ext>
              </a:extLst>
            </p:cNvPr>
            <p:cNvCxnSpPr>
              <a:cxnSpLocks/>
            </p:cNvCxnSpPr>
            <p:nvPr/>
          </p:nvCxnSpPr>
          <p:spPr>
            <a:xfrm>
              <a:off x="7589784" y="5957368"/>
              <a:ext cx="1184760" cy="14237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F330F00C-2F93-2016-EA7F-9E202C31AB24}"/>
                </a:ext>
              </a:extLst>
            </p:cNvPr>
            <p:cNvCxnSpPr>
              <a:cxnSpLocks/>
            </p:cNvCxnSpPr>
            <p:nvPr/>
          </p:nvCxnSpPr>
          <p:spPr>
            <a:xfrm>
              <a:off x="7585080" y="5519409"/>
              <a:ext cx="1184760" cy="14237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BEBB1B07-C249-ABB2-B4C0-0A349204CA7C}"/>
                </a:ext>
              </a:extLst>
            </p:cNvPr>
            <p:cNvSpPr txBox="1"/>
            <p:nvPr/>
          </p:nvSpPr>
          <p:spPr>
            <a:xfrm>
              <a:off x="7771472" y="5530579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vm_end</a:t>
              </a:r>
              <a:endParaRPr kumimoji="1" lang="zh-TW" altLang="en-US" sz="1400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D3BDF4A3-158D-C211-B25A-B3389FED3740}"/>
                </a:ext>
              </a:extLst>
            </p:cNvPr>
            <p:cNvSpPr txBox="1"/>
            <p:nvPr/>
          </p:nvSpPr>
          <p:spPr>
            <a:xfrm>
              <a:off x="7887093" y="5729061"/>
              <a:ext cx="8361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vm_start</a:t>
              </a:r>
              <a:endParaRPr kumimoji="1" lang="zh-TW" altLang="en-US" sz="14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58411AC-FE78-8529-AA21-AEBD70FCC45C}"/>
                </a:ext>
              </a:extLst>
            </p:cNvPr>
            <p:cNvSpPr/>
            <p:nvPr/>
          </p:nvSpPr>
          <p:spPr>
            <a:xfrm>
              <a:off x="3378673" y="5093206"/>
              <a:ext cx="1237786" cy="6212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struct file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/bin/execute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箭頭接點 41">
              <a:extLst>
                <a:ext uri="{FF2B5EF4-FFF2-40B4-BE49-F238E27FC236}">
                  <a16:creationId xmlns:a16="http://schemas.microsoft.com/office/drawing/2014/main" id="{C9417291-830F-CBEC-8357-3DBD3EA6DB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7612" y="5543022"/>
              <a:ext cx="657829" cy="2203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0DD468C-E2CF-B273-3C05-894B9CE18C30}"/>
                </a:ext>
              </a:extLst>
            </p:cNvPr>
            <p:cNvSpPr txBox="1"/>
            <p:nvPr/>
          </p:nvSpPr>
          <p:spPr>
            <a:xfrm>
              <a:off x="4504394" y="5671660"/>
              <a:ext cx="726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vm_file</a:t>
              </a:r>
              <a:endParaRPr kumimoji="1" lang="zh-TW" altLang="en-US" sz="1400" dirty="0"/>
            </a:p>
          </p:txBody>
        </p: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3B6D13FD-CF9E-F22C-BC76-29CDAC57CF3E}"/>
              </a:ext>
            </a:extLst>
          </p:cNvPr>
          <p:cNvGrpSpPr/>
          <p:nvPr/>
        </p:nvGrpSpPr>
        <p:grpSpPr>
          <a:xfrm>
            <a:off x="4993184" y="4767895"/>
            <a:ext cx="4222940" cy="861779"/>
            <a:chOff x="4554025" y="4785429"/>
            <a:chExt cx="4222940" cy="861779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40B0ABB-29CF-EA1B-3C4A-679A5124D733}"/>
                </a:ext>
              </a:extLst>
            </p:cNvPr>
            <p:cNvSpPr/>
            <p:nvPr/>
          </p:nvSpPr>
          <p:spPr>
            <a:xfrm>
              <a:off x="5291659" y="4825618"/>
              <a:ext cx="230109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VM_WRITE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直線箭頭接點 31">
              <a:extLst>
                <a:ext uri="{FF2B5EF4-FFF2-40B4-BE49-F238E27FC236}">
                  <a16:creationId xmlns:a16="http://schemas.microsoft.com/office/drawing/2014/main" id="{6D37DE7F-72CA-4885-ABCE-CF3F97A3E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2208" y="5271667"/>
              <a:ext cx="4918" cy="2468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AC2811B8-48F1-1D51-BFFA-CF7DAF8C77B9}"/>
                </a:ext>
              </a:extLst>
            </p:cNvPr>
            <p:cNvSpPr txBox="1"/>
            <p:nvPr/>
          </p:nvSpPr>
          <p:spPr>
            <a:xfrm>
              <a:off x="6458277" y="5233320"/>
              <a:ext cx="820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vm_next</a:t>
              </a:r>
              <a:endParaRPr kumimoji="1" lang="zh-TW" altLang="en-US" sz="1400" dirty="0"/>
            </a:p>
          </p:txBody>
        </p:sp>
        <p:cxnSp>
          <p:nvCxnSpPr>
            <p:cNvPr id="45" name="直線箭頭接點 44">
              <a:extLst>
                <a:ext uri="{FF2B5EF4-FFF2-40B4-BE49-F238E27FC236}">
                  <a16:creationId xmlns:a16="http://schemas.microsoft.com/office/drawing/2014/main" id="{3E5AFB0B-CB0D-A4C6-E30A-77D2589B1ED8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>
              <a:off x="4623658" y="5048643"/>
              <a:ext cx="668001" cy="16776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C4AD70B9-862A-CBBA-6062-15471DB93122}"/>
                </a:ext>
              </a:extLst>
            </p:cNvPr>
            <p:cNvSpPr txBox="1"/>
            <p:nvPr/>
          </p:nvSpPr>
          <p:spPr>
            <a:xfrm>
              <a:off x="4554025" y="4785429"/>
              <a:ext cx="726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 err="1"/>
                <a:t>vm_file</a:t>
              </a:r>
              <a:endParaRPr kumimoji="1" lang="zh-TW" altLang="en-US" sz="1400" dirty="0"/>
            </a:p>
          </p:txBody>
        </p:sp>
        <p:cxnSp>
          <p:nvCxnSpPr>
            <p:cNvPr id="48" name="直線箭頭接點 47">
              <a:extLst>
                <a:ext uri="{FF2B5EF4-FFF2-40B4-BE49-F238E27FC236}">
                  <a16:creationId xmlns:a16="http://schemas.microsoft.com/office/drawing/2014/main" id="{4A85B884-DA2A-B58C-4D85-BF541693DBAF}"/>
                </a:ext>
              </a:extLst>
            </p:cNvPr>
            <p:cNvCxnSpPr>
              <a:cxnSpLocks/>
            </p:cNvCxnSpPr>
            <p:nvPr/>
          </p:nvCxnSpPr>
          <p:spPr>
            <a:xfrm>
              <a:off x="7600140" y="5261324"/>
              <a:ext cx="1152100" cy="38588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箭頭接點 48">
              <a:extLst>
                <a:ext uri="{FF2B5EF4-FFF2-40B4-BE49-F238E27FC236}">
                  <a16:creationId xmlns:a16="http://schemas.microsoft.com/office/drawing/2014/main" id="{DE77414F-CF8B-3118-F718-04A7FBE6B735}"/>
                </a:ext>
              </a:extLst>
            </p:cNvPr>
            <p:cNvCxnSpPr>
              <a:cxnSpLocks/>
            </p:cNvCxnSpPr>
            <p:nvPr/>
          </p:nvCxnSpPr>
          <p:spPr>
            <a:xfrm>
              <a:off x="7595436" y="4823365"/>
              <a:ext cx="1181529" cy="37839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39FC8BB1-FB00-C62F-1492-0AAEA3550647}"/>
              </a:ext>
            </a:extLst>
          </p:cNvPr>
          <p:cNvGrpSpPr/>
          <p:nvPr/>
        </p:nvGrpSpPr>
        <p:grpSpPr>
          <a:xfrm>
            <a:off x="5716585" y="4088270"/>
            <a:ext cx="3485967" cy="1083441"/>
            <a:chOff x="5277426" y="4105804"/>
            <a:chExt cx="3485967" cy="1083441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09C3932-8F79-EB0E-B96E-471BEEF7A557}"/>
                </a:ext>
              </a:extLst>
            </p:cNvPr>
            <p:cNvSpPr/>
            <p:nvPr/>
          </p:nvSpPr>
          <p:spPr>
            <a:xfrm>
              <a:off x="5277426" y="4108057"/>
              <a:ext cx="230109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VM_WRITE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箭頭接點 55">
              <a:extLst>
                <a:ext uri="{FF2B5EF4-FFF2-40B4-BE49-F238E27FC236}">
                  <a16:creationId xmlns:a16="http://schemas.microsoft.com/office/drawing/2014/main" id="{D24F58A4-C9F9-20C6-3072-8CE1D6788C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2208" y="4554106"/>
              <a:ext cx="4918" cy="2468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箭頭接點 57">
              <a:extLst>
                <a:ext uri="{FF2B5EF4-FFF2-40B4-BE49-F238E27FC236}">
                  <a16:creationId xmlns:a16="http://schemas.microsoft.com/office/drawing/2014/main" id="{74506965-24BA-8448-0CCE-C38ACC7D3A80}"/>
                </a:ext>
              </a:extLst>
            </p:cNvPr>
            <p:cNvCxnSpPr>
              <a:cxnSpLocks/>
            </p:cNvCxnSpPr>
            <p:nvPr/>
          </p:nvCxnSpPr>
          <p:spPr>
            <a:xfrm>
              <a:off x="7585907" y="4543763"/>
              <a:ext cx="1177486" cy="64548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箭頭接點 58">
              <a:extLst>
                <a:ext uri="{FF2B5EF4-FFF2-40B4-BE49-F238E27FC236}">
                  <a16:creationId xmlns:a16="http://schemas.microsoft.com/office/drawing/2014/main" id="{03C5AD17-2D84-E5A0-F3F6-D97C2FDB1792}"/>
                </a:ext>
              </a:extLst>
            </p:cNvPr>
            <p:cNvCxnSpPr>
              <a:cxnSpLocks/>
            </p:cNvCxnSpPr>
            <p:nvPr/>
          </p:nvCxnSpPr>
          <p:spPr>
            <a:xfrm>
              <a:off x="7581203" y="4105804"/>
              <a:ext cx="1182190" cy="60326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9123CE87-5144-972C-B1B1-80C709FE22CF}"/>
              </a:ext>
            </a:extLst>
          </p:cNvPr>
          <p:cNvGrpSpPr/>
          <p:nvPr/>
        </p:nvGrpSpPr>
        <p:grpSpPr>
          <a:xfrm>
            <a:off x="5711776" y="3369024"/>
            <a:ext cx="3501927" cy="1296958"/>
            <a:chOff x="5272617" y="3386558"/>
            <a:chExt cx="3501927" cy="1296958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B21853F-0493-0A43-A6AE-BAC56CA3D84D}"/>
                </a:ext>
              </a:extLst>
            </p:cNvPr>
            <p:cNvSpPr/>
            <p:nvPr/>
          </p:nvSpPr>
          <p:spPr>
            <a:xfrm>
              <a:off x="5272617" y="3388811"/>
              <a:ext cx="230109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VM_WRITE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箭頭接點 64">
              <a:extLst>
                <a:ext uri="{FF2B5EF4-FFF2-40B4-BE49-F238E27FC236}">
                  <a16:creationId xmlns:a16="http://schemas.microsoft.com/office/drawing/2014/main" id="{767C46B2-F77C-CDD9-528D-6C0DE2462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2208" y="3834860"/>
              <a:ext cx="4918" cy="2468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箭頭接點 66">
              <a:extLst>
                <a:ext uri="{FF2B5EF4-FFF2-40B4-BE49-F238E27FC236}">
                  <a16:creationId xmlns:a16="http://schemas.microsoft.com/office/drawing/2014/main" id="{B67CD16C-7DD0-AC10-EE5E-7893CD67D010}"/>
                </a:ext>
              </a:extLst>
            </p:cNvPr>
            <p:cNvCxnSpPr>
              <a:cxnSpLocks/>
            </p:cNvCxnSpPr>
            <p:nvPr/>
          </p:nvCxnSpPr>
          <p:spPr>
            <a:xfrm>
              <a:off x="7581098" y="3824517"/>
              <a:ext cx="1159235" cy="85899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箭頭接點 67">
              <a:extLst>
                <a:ext uri="{FF2B5EF4-FFF2-40B4-BE49-F238E27FC236}">
                  <a16:creationId xmlns:a16="http://schemas.microsoft.com/office/drawing/2014/main" id="{09FC87F0-E63C-251F-D01B-3F0C45E4A9A7}"/>
                </a:ext>
              </a:extLst>
            </p:cNvPr>
            <p:cNvCxnSpPr>
              <a:cxnSpLocks/>
            </p:cNvCxnSpPr>
            <p:nvPr/>
          </p:nvCxnSpPr>
          <p:spPr>
            <a:xfrm>
              <a:off x="7576394" y="3386558"/>
              <a:ext cx="1198150" cy="89083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F2EB60E9-43FD-4F62-629A-A4CA6499EF83}"/>
              </a:ext>
            </a:extLst>
          </p:cNvPr>
          <p:cNvGrpSpPr/>
          <p:nvPr/>
        </p:nvGrpSpPr>
        <p:grpSpPr>
          <a:xfrm>
            <a:off x="4306179" y="1970225"/>
            <a:ext cx="4909945" cy="998277"/>
            <a:chOff x="3867020" y="1987759"/>
            <a:chExt cx="4909945" cy="998277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87557BF-9A4F-5992-56BF-553C8911421C}"/>
                </a:ext>
              </a:extLst>
            </p:cNvPr>
            <p:cNvSpPr/>
            <p:nvPr/>
          </p:nvSpPr>
          <p:spPr>
            <a:xfrm>
              <a:off x="3867020" y="1990012"/>
              <a:ext cx="371407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VM_WRITE | VM_GROWS_DOWN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線箭頭接點 76">
              <a:extLst>
                <a:ext uri="{FF2B5EF4-FFF2-40B4-BE49-F238E27FC236}">
                  <a16:creationId xmlns:a16="http://schemas.microsoft.com/office/drawing/2014/main" id="{6A51DEE9-1AEA-4D39-DD2B-22F653CF8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126" y="2397714"/>
              <a:ext cx="0" cy="2844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箭頭接點 78">
              <a:extLst>
                <a:ext uri="{FF2B5EF4-FFF2-40B4-BE49-F238E27FC236}">
                  <a16:creationId xmlns:a16="http://schemas.microsoft.com/office/drawing/2014/main" id="{DC76CFC5-08AD-746B-0A3B-3909DF22FF33}"/>
                </a:ext>
              </a:extLst>
            </p:cNvPr>
            <p:cNvCxnSpPr>
              <a:cxnSpLocks/>
            </p:cNvCxnSpPr>
            <p:nvPr/>
          </p:nvCxnSpPr>
          <p:spPr>
            <a:xfrm>
              <a:off x="7588481" y="2425718"/>
              <a:ext cx="1188484" cy="56031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箭頭接點 79">
              <a:extLst>
                <a:ext uri="{FF2B5EF4-FFF2-40B4-BE49-F238E27FC236}">
                  <a16:creationId xmlns:a16="http://schemas.microsoft.com/office/drawing/2014/main" id="{D2C047E9-1948-2B3C-6D0A-17218AEAA98C}"/>
                </a:ext>
              </a:extLst>
            </p:cNvPr>
            <p:cNvCxnSpPr>
              <a:cxnSpLocks/>
            </p:cNvCxnSpPr>
            <p:nvPr/>
          </p:nvCxnSpPr>
          <p:spPr>
            <a:xfrm>
              <a:off x="7583777" y="1987759"/>
              <a:ext cx="1182860" cy="63004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F3BD27F4-67F0-D6FB-D76D-DE75445CBFF3}"/>
              </a:ext>
            </a:extLst>
          </p:cNvPr>
          <p:cNvGrpSpPr/>
          <p:nvPr/>
        </p:nvGrpSpPr>
        <p:grpSpPr>
          <a:xfrm>
            <a:off x="3825031" y="2649850"/>
            <a:ext cx="5388672" cy="1167476"/>
            <a:chOff x="3385872" y="2667384"/>
            <a:chExt cx="5388672" cy="1167476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394DECB2-0511-ED47-7B26-35D49545A328}"/>
                </a:ext>
              </a:extLst>
            </p:cNvPr>
            <p:cNvSpPr/>
            <p:nvPr/>
          </p:nvSpPr>
          <p:spPr>
            <a:xfrm>
              <a:off x="5277426" y="2682009"/>
              <a:ext cx="2301098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 err="1">
                  <a:solidFill>
                    <a:schemeClr val="tx1"/>
                  </a:solidFill>
                </a:rPr>
                <a:t>vm_area_struct</a:t>
              </a:r>
              <a:endParaRPr kumimoji="1" lang="en-US" altLang="zh-TW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VM_READ | VM_EXEC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直線箭頭接點 71">
              <a:extLst>
                <a:ext uri="{FF2B5EF4-FFF2-40B4-BE49-F238E27FC236}">
                  <a16:creationId xmlns:a16="http://schemas.microsoft.com/office/drawing/2014/main" id="{D2D824C7-C9C1-F772-E78C-D4B7C944D8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2208" y="3128058"/>
              <a:ext cx="4918" cy="2468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箭頭接點 73">
              <a:extLst>
                <a:ext uri="{FF2B5EF4-FFF2-40B4-BE49-F238E27FC236}">
                  <a16:creationId xmlns:a16="http://schemas.microsoft.com/office/drawing/2014/main" id="{EB3B636A-DDF3-4316-80A7-624D213F0B15}"/>
                </a:ext>
              </a:extLst>
            </p:cNvPr>
            <p:cNvCxnSpPr>
              <a:cxnSpLocks/>
            </p:cNvCxnSpPr>
            <p:nvPr/>
          </p:nvCxnSpPr>
          <p:spPr>
            <a:xfrm>
              <a:off x="7585907" y="3117715"/>
              <a:ext cx="1161417" cy="717145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箭頭接點 74">
              <a:extLst>
                <a:ext uri="{FF2B5EF4-FFF2-40B4-BE49-F238E27FC236}">
                  <a16:creationId xmlns:a16="http://schemas.microsoft.com/office/drawing/2014/main" id="{1DB4C460-F3E0-782F-E787-4FDEA5334DFA}"/>
                </a:ext>
              </a:extLst>
            </p:cNvPr>
            <p:cNvCxnSpPr>
              <a:cxnSpLocks/>
            </p:cNvCxnSpPr>
            <p:nvPr/>
          </p:nvCxnSpPr>
          <p:spPr>
            <a:xfrm>
              <a:off x="7581203" y="2679756"/>
              <a:ext cx="1193341" cy="72547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3901624-39A7-5303-F15D-37200A621367}"/>
                </a:ext>
              </a:extLst>
            </p:cNvPr>
            <p:cNvSpPr/>
            <p:nvPr/>
          </p:nvSpPr>
          <p:spPr>
            <a:xfrm>
              <a:off x="3385872" y="2667384"/>
              <a:ext cx="1237786" cy="6103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struct file</a:t>
              </a: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/lib/</a:t>
              </a:r>
              <a:r>
                <a:rPr kumimoji="1" lang="en-US" altLang="zh-TW" sz="1600" dirty="0" err="1">
                  <a:solidFill>
                    <a:schemeClr val="tx1"/>
                  </a:solidFill>
                </a:rPr>
                <a:t>libc.so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線箭頭接點 81">
              <a:extLst>
                <a:ext uri="{FF2B5EF4-FFF2-40B4-BE49-F238E27FC236}">
                  <a16:creationId xmlns:a16="http://schemas.microsoft.com/office/drawing/2014/main" id="{1C7C6DB5-CFC6-7E94-DA3E-D4437382227C}"/>
                </a:ext>
              </a:extLst>
            </p:cNvPr>
            <p:cNvCxnSpPr>
              <a:cxnSpLocks/>
              <a:stCxn id="71" idx="1"/>
            </p:cNvCxnSpPr>
            <p:nvPr/>
          </p:nvCxnSpPr>
          <p:spPr>
            <a:xfrm flipH="1">
              <a:off x="4607268" y="2905034"/>
              <a:ext cx="670158" cy="1220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2FA0023A-121F-34F6-68CB-CC8F505326BB}"/>
              </a:ext>
            </a:extLst>
          </p:cNvPr>
          <p:cNvGrpSpPr/>
          <p:nvPr/>
        </p:nvGrpSpPr>
        <p:grpSpPr>
          <a:xfrm>
            <a:off x="9198810" y="2600266"/>
            <a:ext cx="2788451" cy="3965898"/>
            <a:chOff x="8759651" y="2617800"/>
            <a:chExt cx="2788451" cy="3965898"/>
          </a:xfrm>
        </p:grpSpPr>
        <p:sp>
          <p:nvSpPr>
            <p:cNvPr id="8" name="矩形 57">
              <a:extLst>
                <a:ext uri="{FF2B5EF4-FFF2-40B4-BE49-F238E27FC236}">
                  <a16:creationId xmlns:a16="http://schemas.microsoft.com/office/drawing/2014/main" id="{EC291D34-5B33-3AE5-592D-5D71649898CD}"/>
                </a:ext>
              </a:extLst>
            </p:cNvPr>
            <p:cNvSpPr/>
            <p:nvPr/>
          </p:nvSpPr>
          <p:spPr>
            <a:xfrm>
              <a:off x="8766637" y="3405229"/>
              <a:ext cx="2631092" cy="4617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Memory-Mapping for Shared Library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B127520F-7CC0-98C9-ACA3-7B743C6479A8}"/>
                </a:ext>
              </a:extLst>
            </p:cNvPr>
            <p:cNvGrpSpPr/>
            <p:nvPr/>
          </p:nvGrpSpPr>
          <p:grpSpPr>
            <a:xfrm>
              <a:off x="8759651" y="4740052"/>
              <a:ext cx="2638080" cy="1359692"/>
              <a:chOff x="8369359" y="4874904"/>
              <a:chExt cx="2638080" cy="1359692"/>
            </a:xfrm>
          </p:grpSpPr>
          <p:sp>
            <p:nvSpPr>
              <p:cNvPr id="10" name="矩形 57">
                <a:extLst>
                  <a:ext uri="{FF2B5EF4-FFF2-40B4-BE49-F238E27FC236}">
                    <a16:creationId xmlns:a16="http://schemas.microsoft.com/office/drawing/2014/main" id="{0FDE63E4-48F3-E46B-A4EF-E155258E15C0}"/>
                  </a:ext>
                </a:extLst>
              </p:cNvPr>
              <p:cNvSpPr/>
              <p:nvPr/>
            </p:nvSpPr>
            <p:spPr>
              <a:xfrm>
                <a:off x="8376347" y="5772887"/>
                <a:ext cx="2631092" cy="4617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Text Section (e.g., Code)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57">
                <a:extLst>
                  <a:ext uri="{FF2B5EF4-FFF2-40B4-BE49-F238E27FC236}">
                    <a16:creationId xmlns:a16="http://schemas.microsoft.com/office/drawing/2014/main" id="{CD7C989E-100B-5E3F-D5F1-F4DA8596CD8A}"/>
                  </a:ext>
                </a:extLst>
              </p:cNvPr>
              <p:cNvSpPr/>
              <p:nvPr/>
            </p:nvSpPr>
            <p:spPr>
              <a:xfrm>
                <a:off x="8384252" y="5324097"/>
                <a:ext cx="2615279" cy="4617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Data Section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(File-backed)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57">
                <a:extLst>
                  <a:ext uri="{FF2B5EF4-FFF2-40B4-BE49-F238E27FC236}">
                    <a16:creationId xmlns:a16="http://schemas.microsoft.com/office/drawing/2014/main" id="{47577B9D-9235-49BA-0BEE-A353AFD7D966}"/>
                  </a:ext>
                </a:extLst>
              </p:cNvPr>
              <p:cNvSpPr/>
              <p:nvPr/>
            </p:nvSpPr>
            <p:spPr>
              <a:xfrm>
                <a:off x="8369359" y="4874904"/>
                <a:ext cx="2623185" cy="4617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BSS Section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(Anonymous)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895C910D-F663-DCE4-9FCE-1829469DE2E6}"/>
                </a:ext>
              </a:extLst>
            </p:cNvPr>
            <p:cNvGrpSpPr/>
            <p:nvPr/>
          </p:nvGrpSpPr>
          <p:grpSpPr>
            <a:xfrm>
              <a:off x="8763393" y="2617800"/>
              <a:ext cx="2623185" cy="665197"/>
              <a:chOff x="8373101" y="2752652"/>
              <a:chExt cx="2623185" cy="665197"/>
            </a:xfrm>
          </p:grpSpPr>
          <p:sp>
            <p:nvSpPr>
              <p:cNvPr id="14" name="矩形 57">
                <a:extLst>
                  <a:ext uri="{FF2B5EF4-FFF2-40B4-BE49-F238E27FC236}">
                    <a16:creationId xmlns:a16="http://schemas.microsoft.com/office/drawing/2014/main" id="{B5D4BEEE-18A6-F51B-70FA-D9302174ABD2}"/>
                  </a:ext>
                </a:extLst>
              </p:cNvPr>
              <p:cNvSpPr/>
              <p:nvPr/>
            </p:nvSpPr>
            <p:spPr>
              <a:xfrm>
                <a:off x="8373101" y="2752652"/>
                <a:ext cx="2623185" cy="368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User Stack (Anonymous)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15" name="直線箭頭接點 14">
                <a:extLst>
                  <a:ext uri="{FF2B5EF4-FFF2-40B4-BE49-F238E27FC236}">
                    <a16:creationId xmlns:a16="http://schemas.microsoft.com/office/drawing/2014/main" id="{495645BB-B584-FD29-0E9D-155344736D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62391" y="3133097"/>
                <a:ext cx="0" cy="284752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887E6A14-2CDC-AE35-F20B-B54571A6191D}"/>
                </a:ext>
              </a:extLst>
            </p:cNvPr>
            <p:cNvGrpSpPr/>
            <p:nvPr/>
          </p:nvGrpSpPr>
          <p:grpSpPr>
            <a:xfrm>
              <a:off x="8759651" y="3979948"/>
              <a:ext cx="2623185" cy="755682"/>
              <a:chOff x="8369359" y="4114800"/>
              <a:chExt cx="2623185" cy="755682"/>
            </a:xfrm>
          </p:grpSpPr>
          <p:sp>
            <p:nvSpPr>
              <p:cNvPr id="17" name="矩形 57">
                <a:extLst>
                  <a:ext uri="{FF2B5EF4-FFF2-40B4-BE49-F238E27FC236}">
                    <a16:creationId xmlns:a16="http://schemas.microsoft.com/office/drawing/2014/main" id="{1DC41440-6646-5235-1173-625C061E945F}"/>
                  </a:ext>
                </a:extLst>
              </p:cNvPr>
              <p:cNvSpPr/>
              <p:nvPr/>
            </p:nvSpPr>
            <p:spPr>
              <a:xfrm>
                <a:off x="8369359" y="4438630"/>
                <a:ext cx="2623185" cy="4318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Heap (Anonymous)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18" name="直線箭頭接點 17">
                <a:extLst>
                  <a:ext uri="{FF2B5EF4-FFF2-40B4-BE49-F238E27FC236}">
                    <a16:creationId xmlns:a16="http://schemas.microsoft.com/office/drawing/2014/main" id="{CAEB5FB0-15F2-60AA-0805-30B30C85D6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84693" y="4114800"/>
                <a:ext cx="0" cy="306925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57">
              <a:extLst>
                <a:ext uri="{FF2B5EF4-FFF2-40B4-BE49-F238E27FC236}">
                  <a16:creationId xmlns:a16="http://schemas.microsoft.com/office/drawing/2014/main" id="{10879142-C79F-12A0-A5A5-015ADEBDC39A}"/>
                </a:ext>
              </a:extLst>
            </p:cNvPr>
            <p:cNvSpPr/>
            <p:nvPr/>
          </p:nvSpPr>
          <p:spPr>
            <a:xfrm>
              <a:off x="8763393" y="2617800"/>
              <a:ext cx="2623185" cy="3600956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77E02750-D04F-57CC-AE62-54D1B0BCFE36}"/>
                </a:ext>
              </a:extLst>
            </p:cNvPr>
            <p:cNvSpPr txBox="1"/>
            <p:nvPr/>
          </p:nvSpPr>
          <p:spPr>
            <a:xfrm>
              <a:off x="8761057" y="6245144"/>
              <a:ext cx="27870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/>
                <a:t>Process’s Virtual Address Space</a:t>
              </a:r>
              <a:endParaRPr kumimoji="1" lang="zh-TW" altLang="en-US" sz="1600" dirty="0"/>
            </a:p>
          </p:txBody>
        </p:sp>
      </p:grp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CAC5282D-DD54-5F61-7ACB-BB1EB35D36FC}"/>
              </a:ext>
            </a:extLst>
          </p:cNvPr>
          <p:cNvSpPr txBox="1"/>
          <p:nvPr/>
        </p:nvSpPr>
        <p:spPr>
          <a:xfrm>
            <a:off x="4766690" y="3257552"/>
            <a:ext cx="1257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C00000"/>
                </a:solidFill>
              </a:rPr>
              <a:t>Chaining if heap is not contiguous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F08E104E-4ADC-DBB4-97DE-AE0D1C249C39}"/>
              </a:ext>
            </a:extLst>
          </p:cNvPr>
          <p:cNvSpPr txBox="1"/>
          <p:nvPr/>
        </p:nvSpPr>
        <p:spPr>
          <a:xfrm>
            <a:off x="3798579" y="2388615"/>
            <a:ext cx="3555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C00000"/>
                </a:solidFill>
              </a:rPr>
              <a:t>Maintains a </a:t>
            </a:r>
            <a:r>
              <a:rPr kumimoji="1" lang="en-US" altLang="zh-TW" sz="1400" dirty="0" err="1">
                <a:solidFill>
                  <a:srgbClr val="C00000"/>
                </a:solidFill>
              </a:rPr>
              <a:t>vm_area_struct</a:t>
            </a:r>
            <a:r>
              <a:rPr kumimoji="1" lang="en-US" altLang="zh-TW" sz="1400" dirty="0">
                <a:solidFill>
                  <a:srgbClr val="C00000"/>
                </a:solidFill>
              </a:rPr>
              <a:t> for each file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2DFF8BA4-E5EC-306A-BE78-DB8756798223}"/>
              </a:ext>
            </a:extLst>
          </p:cNvPr>
          <p:cNvSpPr txBox="1"/>
          <p:nvPr/>
        </p:nvSpPr>
        <p:spPr>
          <a:xfrm>
            <a:off x="0" y="6442560"/>
            <a:ext cx="3744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manybutfinite.com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/post/how-the-kernel-manages-your-memory/</a:t>
            </a: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2E621ACF-EE5B-F0BD-8899-1BD89BF9D6D8}"/>
              </a:ext>
            </a:extLst>
          </p:cNvPr>
          <p:cNvGrpSpPr/>
          <p:nvPr/>
        </p:nvGrpSpPr>
        <p:grpSpPr>
          <a:xfrm>
            <a:off x="11076894" y="4546393"/>
            <a:ext cx="1240706" cy="630109"/>
            <a:chOff x="10637735" y="4563927"/>
            <a:chExt cx="1240706" cy="630109"/>
          </a:xfrm>
        </p:grpSpPr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8B3685C2-72FD-68BA-3C1A-0B2891A4E168}"/>
                </a:ext>
              </a:extLst>
            </p:cNvPr>
            <p:cNvCxnSpPr>
              <a:cxnSpLocks/>
            </p:cNvCxnSpPr>
            <p:nvPr/>
          </p:nvCxnSpPr>
          <p:spPr>
            <a:xfrm>
              <a:off x="10637735" y="5106711"/>
              <a:ext cx="38990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CEE68662-F195-992E-E5DA-0F0773B5BE12}"/>
                </a:ext>
              </a:extLst>
            </p:cNvPr>
            <p:cNvCxnSpPr>
              <a:cxnSpLocks/>
            </p:cNvCxnSpPr>
            <p:nvPr/>
          </p:nvCxnSpPr>
          <p:spPr>
            <a:xfrm>
              <a:off x="10869229" y="4571123"/>
              <a:ext cx="15841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FF2AA2DA-598F-099E-2B02-5921842F1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27642" y="4563927"/>
              <a:ext cx="0" cy="542784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C08FD50-A1C8-E992-9F6B-1739D0E7DE04}"/>
                </a:ext>
              </a:extLst>
            </p:cNvPr>
            <p:cNvCxnSpPr>
              <a:cxnSpLocks/>
            </p:cNvCxnSpPr>
            <p:nvPr/>
          </p:nvCxnSpPr>
          <p:spPr>
            <a:xfrm>
              <a:off x="11027642" y="4899273"/>
              <a:ext cx="180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37B64934-8207-6957-A733-2785E02F1B61}"/>
                </a:ext>
              </a:extLst>
            </p:cNvPr>
            <p:cNvSpPr txBox="1"/>
            <p:nvPr/>
          </p:nvSpPr>
          <p:spPr>
            <a:xfrm>
              <a:off x="11088664" y="4670816"/>
              <a:ext cx="7897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b="1" dirty="0">
                  <a:solidFill>
                    <a:srgbClr val="C00000"/>
                  </a:solidFill>
                </a:rPr>
                <a:t>No File-Backed</a:t>
              </a:r>
              <a:endParaRPr kumimoji="1" lang="zh-TW" altLang="en-US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A1F2C05D-38A0-084B-1290-36FC573C5247}"/>
              </a:ext>
            </a:extLst>
          </p:cNvPr>
          <p:cNvGrpSpPr/>
          <p:nvPr/>
        </p:nvGrpSpPr>
        <p:grpSpPr>
          <a:xfrm>
            <a:off x="-22639" y="3571512"/>
            <a:ext cx="3654049" cy="2937347"/>
            <a:chOff x="-22639" y="3571512"/>
            <a:chExt cx="3654049" cy="2937347"/>
          </a:xfrm>
        </p:grpSpPr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50CBA99A-5D9B-8C9B-DDAE-3BFC1718F6BA}"/>
                </a:ext>
              </a:extLst>
            </p:cNvPr>
            <p:cNvSpPr txBox="1"/>
            <p:nvPr/>
          </p:nvSpPr>
          <p:spPr>
            <a:xfrm>
              <a:off x="801078" y="4649331"/>
              <a:ext cx="727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 err="1"/>
                <a:t>vm_next</a:t>
              </a:r>
              <a:endParaRPr kumimoji="1" lang="zh-TW" altLang="en-US" sz="12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F04E4BF-0590-02B9-A74F-420AB737E348}"/>
                </a:ext>
              </a:extLst>
            </p:cNvPr>
            <p:cNvSpPr/>
            <p:nvPr/>
          </p:nvSpPr>
          <p:spPr>
            <a:xfrm>
              <a:off x="129824" y="3873518"/>
              <a:ext cx="3493294" cy="44604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55A6492-903F-BE53-1ECC-73002902B719}"/>
                </a:ext>
              </a:extLst>
            </p:cNvPr>
            <p:cNvSpPr/>
            <p:nvPr/>
          </p:nvSpPr>
          <p:spPr>
            <a:xfrm>
              <a:off x="131360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0F39D99-4ABA-ED35-A3EB-CAF179763AD5}"/>
                </a:ext>
              </a:extLst>
            </p:cNvPr>
            <p:cNvSpPr/>
            <p:nvPr/>
          </p:nvSpPr>
          <p:spPr>
            <a:xfrm>
              <a:off x="306714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2C67818-E7F9-AFDE-37C3-9843B338FB8F}"/>
                </a:ext>
              </a:extLst>
            </p:cNvPr>
            <p:cNvSpPr/>
            <p:nvPr/>
          </p:nvSpPr>
          <p:spPr>
            <a:xfrm>
              <a:off x="484759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8C72FC2-C367-3D1A-F95C-A2897840474B}"/>
                </a:ext>
              </a:extLst>
            </p:cNvPr>
            <p:cNvSpPr/>
            <p:nvPr/>
          </p:nvSpPr>
          <p:spPr>
            <a:xfrm>
              <a:off x="660113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F5C7E76-81EC-A6AF-52C3-F1E911D853B9}"/>
                </a:ext>
              </a:extLst>
            </p:cNvPr>
            <p:cNvSpPr/>
            <p:nvPr/>
          </p:nvSpPr>
          <p:spPr>
            <a:xfrm>
              <a:off x="1485654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934645C-12E2-E7D3-B449-5752B464F509}"/>
                </a:ext>
              </a:extLst>
            </p:cNvPr>
            <p:cNvSpPr/>
            <p:nvPr/>
          </p:nvSpPr>
          <p:spPr>
            <a:xfrm>
              <a:off x="1661008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DF58C35-E2E5-0C2B-4DDB-60EC18A49398}"/>
                </a:ext>
              </a:extLst>
            </p:cNvPr>
            <p:cNvSpPr/>
            <p:nvPr/>
          </p:nvSpPr>
          <p:spPr>
            <a:xfrm>
              <a:off x="1839053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DFE319A-9CAE-035F-DEA8-E5ECBF8C6554}"/>
                </a:ext>
              </a:extLst>
            </p:cNvPr>
            <p:cNvSpPr/>
            <p:nvPr/>
          </p:nvSpPr>
          <p:spPr>
            <a:xfrm>
              <a:off x="2014407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544A4B5-19CF-D078-5137-B3465D8AED92}"/>
                </a:ext>
              </a:extLst>
            </p:cNvPr>
            <p:cNvSpPr/>
            <p:nvPr/>
          </p:nvSpPr>
          <p:spPr>
            <a:xfrm>
              <a:off x="2848137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B513758-D200-842D-6669-2CEAC6A44F01}"/>
                </a:ext>
              </a:extLst>
            </p:cNvPr>
            <p:cNvSpPr/>
            <p:nvPr/>
          </p:nvSpPr>
          <p:spPr>
            <a:xfrm>
              <a:off x="3023491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36D8D78-5FB9-CCC0-EDDF-3F233102C7BE}"/>
                </a:ext>
              </a:extLst>
            </p:cNvPr>
            <p:cNvSpPr/>
            <p:nvPr/>
          </p:nvSpPr>
          <p:spPr>
            <a:xfrm>
              <a:off x="3201536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A9D2880-0F16-914D-FB82-878DEC1A132D}"/>
                </a:ext>
              </a:extLst>
            </p:cNvPr>
            <p:cNvSpPr/>
            <p:nvPr/>
          </p:nvSpPr>
          <p:spPr>
            <a:xfrm>
              <a:off x="3376890" y="4656018"/>
              <a:ext cx="178045" cy="4460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7A492FF-EDD5-02C7-D0AE-5C518836ADA3}"/>
                </a:ext>
              </a:extLst>
            </p:cNvPr>
            <p:cNvSpPr/>
            <p:nvPr/>
          </p:nvSpPr>
          <p:spPr>
            <a:xfrm>
              <a:off x="1315210" y="5580278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B120A1C-AD1F-662F-E5B0-2E3D51A2EE45}"/>
                </a:ext>
              </a:extLst>
            </p:cNvPr>
            <p:cNvSpPr/>
            <p:nvPr/>
          </p:nvSpPr>
          <p:spPr>
            <a:xfrm>
              <a:off x="1490564" y="5580278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382A523F-7A86-402C-E691-DE4582246F0B}"/>
                </a:ext>
              </a:extLst>
            </p:cNvPr>
            <p:cNvSpPr/>
            <p:nvPr/>
          </p:nvSpPr>
          <p:spPr>
            <a:xfrm>
              <a:off x="1668609" y="5580278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41A96674-58DA-2A44-CDC3-6D47329B24FC}"/>
                </a:ext>
              </a:extLst>
            </p:cNvPr>
            <p:cNvSpPr/>
            <p:nvPr/>
          </p:nvSpPr>
          <p:spPr>
            <a:xfrm>
              <a:off x="1843963" y="5580278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DB514E3-FF64-AB17-9AA7-498091D18852}"/>
                </a:ext>
              </a:extLst>
            </p:cNvPr>
            <p:cNvSpPr/>
            <p:nvPr/>
          </p:nvSpPr>
          <p:spPr>
            <a:xfrm>
              <a:off x="2023544" y="5580278"/>
              <a:ext cx="178045" cy="4460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8C2518AD-4A6E-35EA-1C2E-BAB877EA06D3}"/>
                </a:ext>
              </a:extLst>
            </p:cNvPr>
            <p:cNvSpPr txBox="1"/>
            <p:nvPr/>
          </p:nvSpPr>
          <p:spPr>
            <a:xfrm>
              <a:off x="917806" y="5985639"/>
              <a:ext cx="17523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400" b="1" dirty="0" err="1"/>
                <a:t>mm_struct</a:t>
              </a:r>
              <a:br>
                <a:rPr kumimoji="1" lang="en-US" altLang="zh-TW" sz="1400" b="1" dirty="0"/>
              </a:br>
              <a:r>
                <a:rPr kumimoji="1" lang="en-US" altLang="zh-TW" sz="1400" b="1" dirty="0"/>
                <a:t>(Memory Descriptor)</a:t>
              </a:r>
              <a:endParaRPr kumimoji="1" lang="zh-TW" altLang="en-US" sz="1400" b="1" dirty="0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031190E-DFDB-93F0-7F12-172022E9F115}"/>
                </a:ext>
              </a:extLst>
            </p:cNvPr>
            <p:cNvSpPr/>
            <p:nvPr/>
          </p:nvSpPr>
          <p:spPr>
            <a:xfrm>
              <a:off x="276960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A074D91B-9C10-C627-59A9-162E12BC49D2}"/>
                </a:ext>
              </a:extLst>
            </p:cNvPr>
            <p:cNvSpPr/>
            <p:nvPr/>
          </p:nvSpPr>
          <p:spPr>
            <a:xfrm>
              <a:off x="534297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BD291B5-7F47-AA2C-B1F1-B7D47266DEB3}"/>
                </a:ext>
              </a:extLst>
            </p:cNvPr>
            <p:cNvSpPr/>
            <p:nvPr/>
          </p:nvSpPr>
          <p:spPr>
            <a:xfrm>
              <a:off x="789682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5F64725-6A2D-FCE8-18E9-BC1F2DBBEEBE}"/>
                </a:ext>
              </a:extLst>
            </p:cNvPr>
            <p:cNvSpPr/>
            <p:nvPr/>
          </p:nvSpPr>
          <p:spPr>
            <a:xfrm>
              <a:off x="1045067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34B2CAEA-82B1-07A8-DAC3-EAAB4279CB5E}"/>
                </a:ext>
              </a:extLst>
            </p:cNvPr>
            <p:cNvSpPr/>
            <p:nvPr/>
          </p:nvSpPr>
          <p:spPr>
            <a:xfrm>
              <a:off x="1649553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60CEEDB2-D423-5261-37E9-4DDD6E2FFF50}"/>
                </a:ext>
              </a:extLst>
            </p:cNvPr>
            <p:cNvSpPr/>
            <p:nvPr/>
          </p:nvSpPr>
          <p:spPr>
            <a:xfrm>
              <a:off x="1904938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4BDB817A-43FD-553E-7700-1725C624F149}"/>
                </a:ext>
              </a:extLst>
            </p:cNvPr>
            <p:cNvSpPr/>
            <p:nvPr/>
          </p:nvSpPr>
          <p:spPr>
            <a:xfrm>
              <a:off x="2851362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505F2DDA-AA34-9CFC-B505-B478BECFE4BA}"/>
                </a:ext>
              </a:extLst>
            </p:cNvPr>
            <p:cNvSpPr/>
            <p:nvPr/>
          </p:nvSpPr>
          <p:spPr>
            <a:xfrm>
              <a:off x="3106747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401658D-87AE-19EE-A3F4-365FABB18FFC}"/>
                </a:ext>
              </a:extLst>
            </p:cNvPr>
            <p:cNvSpPr/>
            <p:nvPr/>
          </p:nvSpPr>
          <p:spPr>
            <a:xfrm>
              <a:off x="3362132" y="3873518"/>
              <a:ext cx="255385" cy="446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TW" sz="1600" dirty="0">
                <a:solidFill>
                  <a:schemeClr val="tx1"/>
                </a:solidFill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06FF1EED-C7DE-353F-E1BA-C7E2ACC8725D}"/>
                </a:ext>
              </a:extLst>
            </p:cNvPr>
            <p:cNvSpPr txBox="1"/>
            <p:nvPr/>
          </p:nvSpPr>
          <p:spPr>
            <a:xfrm>
              <a:off x="1096016" y="5025160"/>
              <a:ext cx="13540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 err="1"/>
                <a:t>vm_area_struct</a:t>
              </a:r>
              <a:endParaRPr kumimoji="1" lang="zh-TW" altLang="en-US" sz="1400" b="1" dirty="0"/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5B4B8FB0-40C0-2BF1-F1BB-B1256C722F68}"/>
                </a:ext>
              </a:extLst>
            </p:cNvPr>
            <p:cNvSpPr txBox="1"/>
            <p:nvPr/>
          </p:nvSpPr>
          <p:spPr>
            <a:xfrm>
              <a:off x="870686" y="3571512"/>
              <a:ext cx="2515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b="1" dirty="0"/>
                <a:t>Process’s Virtual Address Space</a:t>
              </a:r>
              <a:endParaRPr kumimoji="1" lang="zh-TW" altLang="en-US" sz="1400" b="1" dirty="0"/>
            </a:p>
          </p:txBody>
        </p:sp>
        <p:cxnSp>
          <p:nvCxnSpPr>
            <p:cNvPr id="108" name="直線箭頭接點 107">
              <a:extLst>
                <a:ext uri="{FF2B5EF4-FFF2-40B4-BE49-F238E27FC236}">
                  <a16:creationId xmlns:a16="http://schemas.microsoft.com/office/drawing/2014/main" id="{03641FD9-1137-D707-D785-CAB0B517488B}"/>
                </a:ext>
              </a:extLst>
            </p:cNvPr>
            <p:cNvCxnSpPr>
              <a:cxnSpLocks/>
              <a:stCxn id="39" idx="3"/>
              <a:endCxn id="46" idx="1"/>
            </p:cNvCxnSpPr>
            <p:nvPr/>
          </p:nvCxnSpPr>
          <p:spPr>
            <a:xfrm>
              <a:off x="838158" y="4879043"/>
              <a:ext cx="6474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0F6D97D2-457B-F276-BB6A-2F6696CCFAF3}"/>
                </a:ext>
              </a:extLst>
            </p:cNvPr>
            <p:cNvGrpSpPr/>
            <p:nvPr/>
          </p:nvGrpSpPr>
          <p:grpSpPr>
            <a:xfrm>
              <a:off x="446013" y="5109980"/>
              <a:ext cx="1150550" cy="470298"/>
              <a:chOff x="446013" y="5109980"/>
              <a:chExt cx="1150550" cy="470298"/>
            </a:xfrm>
          </p:grpSpPr>
          <p:cxnSp>
            <p:nvCxnSpPr>
              <p:cNvPr id="111" name="直線箭頭接點 110">
                <a:extLst>
                  <a:ext uri="{FF2B5EF4-FFF2-40B4-BE49-F238E27FC236}">
                    <a16:creationId xmlns:a16="http://schemas.microsoft.com/office/drawing/2014/main" id="{C0152E5D-90E2-9CD4-7FCD-4A09D7F809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013" y="5109980"/>
                <a:ext cx="0" cy="2925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箭頭接點 113">
                <a:extLst>
                  <a:ext uri="{FF2B5EF4-FFF2-40B4-BE49-F238E27FC236}">
                    <a16:creationId xmlns:a16="http://schemas.microsoft.com/office/drawing/2014/main" id="{77BD286A-BDC9-3098-12EC-5AF67D2C2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370" y="5399425"/>
                <a:ext cx="114019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箭頭接點 116">
                <a:extLst>
                  <a:ext uri="{FF2B5EF4-FFF2-40B4-BE49-F238E27FC236}">
                    <a16:creationId xmlns:a16="http://schemas.microsoft.com/office/drawing/2014/main" id="{E7F0DDEC-6690-BA9F-642B-895EE097C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9096" y="5399425"/>
                <a:ext cx="0" cy="1808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41A03F2C-566C-92DC-3D64-9FD4D49D9D37}"/>
                </a:ext>
              </a:extLst>
            </p:cNvPr>
            <p:cNvSpPr txBox="1"/>
            <p:nvPr/>
          </p:nvSpPr>
          <p:spPr>
            <a:xfrm>
              <a:off x="1059620" y="5344747"/>
              <a:ext cx="585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 err="1"/>
                <a:t>mmap</a:t>
              </a:r>
              <a:endParaRPr kumimoji="1" lang="zh-TW" altLang="en-US" sz="1200" dirty="0"/>
            </a:p>
          </p:txBody>
        </p:sp>
        <p:cxnSp>
          <p:nvCxnSpPr>
            <p:cNvPr id="121" name="直線箭頭接點 120">
              <a:extLst>
                <a:ext uri="{FF2B5EF4-FFF2-40B4-BE49-F238E27FC236}">
                  <a16:creationId xmlns:a16="http://schemas.microsoft.com/office/drawing/2014/main" id="{BFB64828-7B15-60E8-3E67-23E143DB5886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220383" y="4327480"/>
              <a:ext cx="49097" cy="3285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箭頭接點 123">
              <a:extLst>
                <a:ext uri="{FF2B5EF4-FFF2-40B4-BE49-F238E27FC236}">
                  <a16:creationId xmlns:a16="http://schemas.microsoft.com/office/drawing/2014/main" id="{8875E9F4-2C52-CEA7-944C-791D9E5BAFFF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395737" y="4327480"/>
              <a:ext cx="912762" cy="3285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6F6CFF8E-3293-B7C1-2B22-650480C7CA77}"/>
                </a:ext>
              </a:extLst>
            </p:cNvPr>
            <p:cNvSpPr txBox="1"/>
            <p:nvPr/>
          </p:nvSpPr>
          <p:spPr>
            <a:xfrm>
              <a:off x="-22639" y="4333791"/>
              <a:ext cx="7405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 err="1"/>
                <a:t>vm_start</a:t>
              </a:r>
              <a:endParaRPr kumimoji="1" lang="zh-TW" altLang="en-US" sz="1200" dirty="0"/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5D21541F-D0D7-3EA8-FF57-676E850A3FE0}"/>
                </a:ext>
              </a:extLst>
            </p:cNvPr>
            <p:cNvSpPr txBox="1"/>
            <p:nvPr/>
          </p:nvSpPr>
          <p:spPr>
            <a:xfrm>
              <a:off x="603894" y="4334168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 err="1"/>
                <a:t>vm_end</a:t>
              </a:r>
              <a:endParaRPr kumimoji="1" lang="zh-TW" altLang="en-US" sz="1200" dirty="0"/>
            </a:p>
          </p:txBody>
        </p:sp>
        <p:cxnSp>
          <p:nvCxnSpPr>
            <p:cNvPr id="135" name="直線箭頭接點 134">
              <a:extLst>
                <a:ext uri="{FF2B5EF4-FFF2-40B4-BE49-F238E27FC236}">
                  <a16:creationId xmlns:a16="http://schemas.microsoft.com/office/drawing/2014/main" id="{ECE4B247-BC49-0768-6135-F2A7EB2A57DB}"/>
                </a:ext>
              </a:extLst>
            </p:cNvPr>
            <p:cNvCxnSpPr>
              <a:cxnSpLocks/>
            </p:cNvCxnSpPr>
            <p:nvPr/>
          </p:nvCxnSpPr>
          <p:spPr>
            <a:xfrm>
              <a:off x="2203866" y="4879042"/>
              <a:ext cx="6474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233A7F6C-2501-250B-52FA-A1BBEB38818D}"/>
                </a:ext>
              </a:extLst>
            </p:cNvPr>
            <p:cNvSpPr txBox="1"/>
            <p:nvPr/>
          </p:nvSpPr>
          <p:spPr>
            <a:xfrm>
              <a:off x="2155372" y="4654180"/>
              <a:ext cx="727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 err="1"/>
                <a:t>vm_next</a:t>
              </a:r>
              <a:endParaRPr kumimoji="1" lang="zh-TW" altLang="en-US" sz="1200" dirty="0"/>
            </a:p>
          </p:txBody>
        </p:sp>
        <p:cxnSp>
          <p:nvCxnSpPr>
            <p:cNvPr id="137" name="直線箭頭接點 136">
              <a:extLst>
                <a:ext uri="{FF2B5EF4-FFF2-40B4-BE49-F238E27FC236}">
                  <a16:creationId xmlns:a16="http://schemas.microsoft.com/office/drawing/2014/main" id="{9FBBF334-82E8-4674-865B-178BAC2A9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1396" y="4327480"/>
              <a:ext cx="81320" cy="32221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箭頭接點 138">
              <a:extLst>
                <a:ext uri="{FF2B5EF4-FFF2-40B4-BE49-F238E27FC236}">
                  <a16:creationId xmlns:a16="http://schemas.microsoft.com/office/drawing/2014/main" id="{B052059B-B3A1-8DDC-5795-783648A93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030" y="4319567"/>
              <a:ext cx="423147" cy="33329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箭頭接點 141">
              <a:extLst>
                <a:ext uri="{FF2B5EF4-FFF2-40B4-BE49-F238E27FC236}">
                  <a16:creationId xmlns:a16="http://schemas.microsoft.com/office/drawing/2014/main" id="{F4880F1D-58BD-9477-0258-22313329E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2572" y="4327480"/>
              <a:ext cx="72794" cy="31984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箭頭接點 144">
              <a:extLst>
                <a:ext uri="{FF2B5EF4-FFF2-40B4-BE49-F238E27FC236}">
                  <a16:creationId xmlns:a16="http://schemas.microsoft.com/office/drawing/2014/main" id="{7A3C88FD-E6EE-D2C0-2421-963799DA2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9317" y="4334168"/>
              <a:ext cx="522093" cy="3178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185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28D7E-FE83-23C9-4ACB-C2DEDEAF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Virtual Memory Areas (VMA) (Count.)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7296C-0AB1-34EB-35A2-4E4BF0C2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The memory area (or VMA) structure (</a:t>
            </a:r>
            <a:r>
              <a:rPr kumimoji="1" lang="en-US" altLang="zh-TW" dirty="0" err="1">
                <a:latin typeface="+mj-lt"/>
              </a:rPr>
              <a:t>vm_area_struct</a:t>
            </a:r>
            <a:r>
              <a:rPr lang="en-US" altLang="zh-TW" dirty="0"/>
              <a:t>) </a:t>
            </a:r>
            <a:r>
              <a:rPr kumimoji="1" lang="en-US" altLang="zh-TW" dirty="0"/>
              <a:t>describes a single memory area over a </a:t>
            </a:r>
            <a:r>
              <a:rPr kumimoji="1" lang="en-US" altLang="zh-TW" dirty="0">
                <a:solidFill>
                  <a:srgbClr val="C00000"/>
                </a:solidFill>
              </a:rPr>
              <a:t>contiguous interval in a given virtual address space</a:t>
            </a:r>
            <a:r>
              <a:rPr kumimoji="1" lang="en-US" altLang="zh-TW" dirty="0"/>
              <a:t>.</a:t>
            </a:r>
          </a:p>
          <a:p>
            <a:r>
              <a:rPr kumimoji="1" lang="en-US" altLang="zh-TW" dirty="0"/>
              <a:t>Any </a:t>
            </a:r>
            <a:r>
              <a:rPr kumimoji="1" lang="en-US" altLang="zh-TW" dirty="0">
                <a:solidFill>
                  <a:srgbClr val="C00000"/>
                </a:solidFill>
              </a:rPr>
              <a:t>two VMAs cannot overlap </a:t>
            </a:r>
            <a:r>
              <a:rPr kumimoji="1" lang="en-US" altLang="zh-TW" dirty="0"/>
              <a:t>with each other. (Could call </a:t>
            </a:r>
            <a:r>
              <a:rPr lang="en-US" altLang="zh-TW" dirty="0"/>
              <a:t>the</a:t>
            </a:r>
            <a:r>
              <a:rPr kumimoji="1" lang="en-US" altLang="zh-TW" dirty="0"/>
              <a:t> </a:t>
            </a:r>
            <a:r>
              <a:rPr kumimoji="1" lang="en-US" altLang="zh-TW" dirty="0" err="1">
                <a:latin typeface="+mj-lt"/>
              </a:rPr>
              <a:t>find_VMA</a:t>
            </a:r>
            <a:r>
              <a:rPr kumimoji="1" lang="en-US" altLang="zh-TW" dirty="0">
                <a:latin typeface="+mj-lt"/>
              </a:rPr>
              <a:t>()</a:t>
            </a:r>
            <a:r>
              <a:rPr kumimoji="1" lang="en-US" altLang="zh-TW" dirty="0"/>
              <a:t> to </a:t>
            </a:r>
            <a:r>
              <a:rPr lang="en-US" altLang="zh-TW" dirty="0"/>
              <a:t>get the nearby VMAs. Checking the </a:t>
            </a:r>
            <a:r>
              <a:rPr kumimoji="1" lang="en-US" altLang="zh-TW" dirty="0" err="1">
                <a:latin typeface="+mj-lt"/>
              </a:rPr>
              <a:t>vm_end</a:t>
            </a:r>
            <a:r>
              <a:rPr kumimoji="1" lang="en-US" altLang="zh-TW" dirty="0">
                <a:latin typeface="+mj-lt"/>
              </a:rPr>
              <a:t> </a:t>
            </a:r>
            <a:r>
              <a:rPr kumimoji="1" lang="en-US" altLang="zh-TW" dirty="0"/>
              <a:t>field.)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Merge two VMAs </a:t>
            </a:r>
            <a:r>
              <a:rPr lang="en-US" altLang="zh-TW" dirty="0"/>
              <a:t>if they overlap with each others.</a:t>
            </a:r>
          </a:p>
          <a:p>
            <a:r>
              <a:rPr lang="en-US" altLang="zh-TW" dirty="0"/>
              <a:t>How to create or expand a VMA: </a:t>
            </a:r>
            <a:r>
              <a:rPr lang="en-US" altLang="zh-TW" dirty="0" err="1">
                <a:latin typeface="+mj-lt"/>
              </a:rPr>
              <a:t>do_mmap</a:t>
            </a:r>
            <a:r>
              <a:rPr lang="en-US" altLang="zh-TW" dirty="0">
                <a:latin typeface="+mj-lt"/>
              </a:rPr>
              <a:t>() </a:t>
            </a:r>
            <a:r>
              <a:rPr lang="en-US" altLang="zh-TW" dirty="0"/>
              <a:t>is the function used to </a:t>
            </a:r>
            <a:r>
              <a:rPr lang="en-US" altLang="zh-TW" dirty="0">
                <a:solidFill>
                  <a:srgbClr val="C00000"/>
                </a:solidFill>
              </a:rPr>
              <a:t>add an address interval to a process’s address space</a:t>
            </a:r>
            <a:r>
              <a:rPr lang="en-US" altLang="zh-TW" dirty="0"/>
              <a:t>—whether that means </a:t>
            </a:r>
            <a:r>
              <a:rPr lang="en-US" altLang="zh-TW" dirty="0">
                <a:solidFill>
                  <a:srgbClr val="C00000"/>
                </a:solidFill>
              </a:rPr>
              <a:t>expanding </a:t>
            </a:r>
            <a:r>
              <a:rPr lang="en-US" altLang="zh-TW" dirty="0"/>
              <a:t>an existing memory area </a:t>
            </a:r>
            <a:r>
              <a:rPr lang="en-US" altLang="zh-TW" dirty="0">
                <a:solidFill>
                  <a:srgbClr val="C00000"/>
                </a:solidFill>
              </a:rPr>
              <a:t>or creating </a:t>
            </a:r>
            <a:r>
              <a:rPr lang="en-US" altLang="zh-TW" dirty="0"/>
              <a:t>a new one.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69C81-76C6-C0E6-E701-8D727517B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38A596C-64EB-A85F-8F51-5B7799621BBF}"/>
              </a:ext>
            </a:extLst>
          </p:cNvPr>
          <p:cNvGrpSpPr/>
          <p:nvPr/>
        </p:nvGrpSpPr>
        <p:grpSpPr>
          <a:xfrm>
            <a:off x="700037" y="4714982"/>
            <a:ext cx="11314163" cy="1965218"/>
            <a:chOff x="615898" y="4698724"/>
            <a:chExt cx="11314163" cy="1965218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4E0F161-35C9-06E0-314D-229390E6B764}"/>
                </a:ext>
              </a:extLst>
            </p:cNvPr>
            <p:cNvSpPr txBox="1"/>
            <p:nvPr/>
          </p:nvSpPr>
          <p:spPr>
            <a:xfrm>
              <a:off x="615898" y="5296584"/>
              <a:ext cx="113141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800" dirty="0">
                  <a:effectLst/>
                  <a:latin typeface="Courier" pitchFamily="2" charset="0"/>
                </a:rPr>
                <a:t>unsigned long </a:t>
              </a:r>
              <a:r>
                <a:rPr lang="en-US" altLang="zh-TW" sz="1800" dirty="0" err="1">
                  <a:effectLst/>
                  <a:latin typeface="Courier" pitchFamily="2" charset="0"/>
                </a:rPr>
                <a:t>do_mmap</a:t>
              </a:r>
              <a:r>
                <a:rPr lang="en-US" altLang="zh-TW" sz="1800" dirty="0">
                  <a:effectLst/>
                  <a:latin typeface="Courier" pitchFamily="2" charset="0"/>
                </a:rPr>
                <a:t>(struct file *file, unsigned long </a:t>
              </a:r>
              <a:r>
                <a:rPr lang="en-US" altLang="zh-TW" sz="1800" dirty="0" err="1">
                  <a:effectLst/>
                  <a:latin typeface="Courier" pitchFamily="2" charset="0"/>
                </a:rPr>
                <a:t>addr</a:t>
              </a:r>
              <a:r>
                <a:rPr lang="en-US" altLang="zh-TW" sz="1800" dirty="0">
                  <a:effectLst/>
                  <a:latin typeface="Courier" pitchFamily="2" charset="0"/>
                </a:rPr>
                <a:t>, unsigned long </a:t>
              </a:r>
              <a:r>
                <a:rPr lang="en-US" altLang="zh-TW" sz="1800" dirty="0" err="1">
                  <a:effectLst/>
                  <a:latin typeface="Courier" pitchFamily="2" charset="0"/>
                </a:rPr>
                <a:t>len</a:t>
              </a:r>
              <a:r>
                <a:rPr lang="en-US" altLang="zh-TW" sz="1800" dirty="0">
                  <a:effectLst/>
                  <a:latin typeface="Courier" pitchFamily="2" charset="0"/>
                </a:rPr>
                <a:t>, unsigned long </a:t>
              </a:r>
              <a:r>
                <a:rPr lang="en-US" altLang="zh-TW" sz="1800" dirty="0" err="1">
                  <a:effectLst/>
                  <a:latin typeface="Courier" pitchFamily="2" charset="0"/>
                </a:rPr>
                <a:t>prot</a:t>
              </a:r>
              <a:r>
                <a:rPr lang="en-US" altLang="zh-TW" sz="1800" dirty="0">
                  <a:effectLst/>
                  <a:latin typeface="Courier" pitchFamily="2" charset="0"/>
                </a:rPr>
                <a:t>, unsigned long flag, unsigned long offset) </a:t>
              </a:r>
              <a:endParaRPr lang="en-US" altLang="zh-TW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6B0BFEF-6748-A43F-A22B-3A2C60901901}"/>
                </a:ext>
              </a:extLst>
            </p:cNvPr>
            <p:cNvSpPr txBox="1"/>
            <p:nvPr/>
          </p:nvSpPr>
          <p:spPr>
            <a:xfrm>
              <a:off x="2451602" y="4698724"/>
              <a:ext cx="3108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rgbClr val="0070C0"/>
                  </a:solidFill>
                </a:rPr>
                <a:t>No file &amp; offset </a:t>
              </a:r>
              <a:r>
                <a:rPr kumimoji="1" lang="en-US" altLang="zh-TW" b="1" dirty="0">
                  <a:solidFill>
                    <a:srgbClr val="0070C0"/>
                  </a:solidFill>
                  <a:sym typeface="Wingdings" pitchFamily="2" charset="2"/>
                </a:rPr>
                <a:t> Anonymous</a:t>
              </a:r>
              <a:endParaRPr kumimoji="1" lang="zh-TW" altLang="en-US" b="1" dirty="0">
                <a:solidFill>
                  <a:srgbClr val="0070C0"/>
                </a:solidFill>
              </a:endParaRPr>
            </a:p>
          </p:txBody>
        </p:sp>
        <p:cxnSp>
          <p:nvCxnSpPr>
            <p:cNvPr id="9" name="曲線接點 8">
              <a:extLst>
                <a:ext uri="{FF2B5EF4-FFF2-40B4-BE49-F238E27FC236}">
                  <a16:creationId xmlns:a16="http://schemas.microsoft.com/office/drawing/2014/main" id="{70AD1B25-D967-C20C-C4A2-7FC11B0BBCB7}"/>
                </a:ext>
              </a:extLst>
            </p:cNvPr>
            <p:cNvCxnSpPr>
              <a:cxnSpLocks/>
            </p:cNvCxnSpPr>
            <p:nvPr/>
          </p:nvCxnSpPr>
          <p:spPr>
            <a:xfrm>
              <a:off x="5220043" y="5043626"/>
              <a:ext cx="340102" cy="330467"/>
            </a:xfrm>
            <a:prstGeom prst="curvedConnector3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1A46261-B801-B935-4AF1-0CE2EF35F7BA}"/>
                </a:ext>
              </a:extLst>
            </p:cNvPr>
            <p:cNvSpPr txBox="1"/>
            <p:nvPr/>
          </p:nvSpPr>
          <p:spPr>
            <a:xfrm>
              <a:off x="5763135" y="4698724"/>
              <a:ext cx="4164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rgbClr val="0070C0"/>
                  </a:solidFill>
                </a:rPr>
                <a:t>Initial Address for Finding Available Space</a:t>
              </a:r>
              <a:endParaRPr kumimoji="1" lang="zh-TW" altLang="en-US" b="1" dirty="0">
                <a:solidFill>
                  <a:srgbClr val="0070C0"/>
                </a:solidFill>
              </a:endParaRPr>
            </a:p>
          </p:txBody>
        </p:sp>
        <p:cxnSp>
          <p:nvCxnSpPr>
            <p:cNvPr id="13" name="曲線接點 12">
              <a:extLst>
                <a:ext uri="{FF2B5EF4-FFF2-40B4-BE49-F238E27FC236}">
                  <a16:creationId xmlns:a16="http://schemas.microsoft.com/office/drawing/2014/main" id="{9C037BED-01A0-D7F3-1F28-202103E745EB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81" y="5043626"/>
              <a:ext cx="340102" cy="330467"/>
            </a:xfrm>
            <a:prstGeom prst="curvedConnector3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曲線接點 13">
              <a:extLst>
                <a:ext uri="{FF2B5EF4-FFF2-40B4-BE49-F238E27FC236}">
                  <a16:creationId xmlns:a16="http://schemas.microsoft.com/office/drawing/2014/main" id="{CEC34007-96FF-69C4-0332-79AACFB5786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555662" y="5942120"/>
              <a:ext cx="416422" cy="322451"/>
            </a:xfrm>
            <a:prstGeom prst="curvedConnector3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4611D95-0560-51B6-ABD6-C9032F574178}"/>
                </a:ext>
              </a:extLst>
            </p:cNvPr>
            <p:cNvSpPr txBox="1"/>
            <p:nvPr/>
          </p:nvSpPr>
          <p:spPr>
            <a:xfrm>
              <a:off x="1987190" y="6294610"/>
              <a:ext cx="123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rgbClr val="0070C0"/>
                  </a:solidFill>
                </a:rPr>
                <a:t>Permission</a:t>
              </a:r>
              <a:endParaRPr kumimoji="1" lang="zh-TW" altLang="en-US" b="1" dirty="0">
                <a:solidFill>
                  <a:srgbClr val="0070C0"/>
                </a:solidFill>
              </a:endParaRPr>
            </a:p>
          </p:txBody>
        </p:sp>
        <p:cxnSp>
          <p:nvCxnSpPr>
            <p:cNvPr id="17" name="曲線接點 16">
              <a:extLst>
                <a:ext uri="{FF2B5EF4-FFF2-40B4-BE49-F238E27FC236}">
                  <a16:creationId xmlns:a16="http://schemas.microsoft.com/office/drawing/2014/main" id="{84E83743-254D-A3C9-244B-65275412355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068396" y="5934488"/>
              <a:ext cx="416422" cy="322451"/>
            </a:xfrm>
            <a:prstGeom prst="curvedConnector3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B16A492-BCC5-8CD3-AAF4-C7CE4FB99988}"/>
                </a:ext>
              </a:extLst>
            </p:cNvPr>
            <p:cNvSpPr txBox="1"/>
            <p:nvPr/>
          </p:nvSpPr>
          <p:spPr>
            <a:xfrm>
              <a:off x="7536857" y="6253052"/>
              <a:ext cx="11570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>
                  <a:solidFill>
                    <a:srgbClr val="0070C0"/>
                  </a:solidFill>
                </a:rPr>
                <a:t>File Offset</a:t>
              </a:r>
              <a:endParaRPr kumimoji="1" lang="zh-TW" altLang="en-US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469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9B2C-1E8E-121D-AFDC-3E0D3095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02B3C-59FE-C363-96CF-DC7880D9A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+mn-lt"/>
              </a:rPr>
              <a:t>Recall:</a:t>
            </a:r>
            <a:r>
              <a:rPr lang="en-US" altLang="zh-TW" sz="4000" dirty="0">
                <a:latin typeface="+mn-lt"/>
              </a:rPr>
              <a:t> Basic Concepts of Memory Management</a:t>
            </a:r>
            <a:endParaRPr kumimoji="1" lang="zh-TW" altLang="en-US" sz="4000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1AD827-9EA5-3DBD-16ED-80C45CB17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solidFill>
                  <a:schemeClr val="tx1"/>
                </a:solidFill>
              </a:rPr>
              <a:t>Page Frame: Partition </a:t>
            </a:r>
            <a:r>
              <a:rPr lang="en-US" altLang="zh-TW" dirty="0">
                <a:solidFill>
                  <a:srgbClr val="C00000"/>
                </a:solidFill>
              </a:rPr>
              <a:t>physical address space</a:t>
            </a:r>
            <a:r>
              <a:rPr lang="en-US" altLang="zh-TW" dirty="0">
                <a:solidFill>
                  <a:schemeClr val="tx1"/>
                </a:solidFill>
              </a:rPr>
              <a:t> to chunks with the same size</a:t>
            </a:r>
          </a:p>
          <a:p>
            <a:pPr algn="l"/>
            <a:r>
              <a:rPr lang="en-US" altLang="zh-TW" dirty="0">
                <a:solidFill>
                  <a:schemeClr val="tx1"/>
                </a:solidFill>
              </a:rPr>
              <a:t>Page (Virtual): Partition </a:t>
            </a:r>
            <a:r>
              <a:rPr lang="en-US" altLang="zh-TW" dirty="0">
                <a:solidFill>
                  <a:srgbClr val="C00000"/>
                </a:solidFill>
              </a:rPr>
              <a:t>virtual address space </a:t>
            </a:r>
            <a:r>
              <a:rPr lang="en-US" altLang="zh-TW" dirty="0">
                <a:solidFill>
                  <a:schemeClr val="tx1"/>
                </a:solidFill>
              </a:rPr>
              <a:t>to chunks with the same size</a:t>
            </a:r>
          </a:p>
          <a:p>
            <a:pPr algn="l"/>
            <a:r>
              <a:rPr lang="en-US" altLang="zh-TW" dirty="0">
                <a:solidFill>
                  <a:schemeClr val="tx1"/>
                </a:solidFill>
              </a:rPr>
              <a:t>Kernel manages all page frames and maintains page tables.</a:t>
            </a:r>
          </a:p>
          <a:p>
            <a:pPr algn="l"/>
            <a:r>
              <a:rPr lang="en-US" altLang="zh-TW" dirty="0">
                <a:solidFill>
                  <a:schemeClr val="tx1"/>
                </a:solidFill>
              </a:rPr>
              <a:t>Virtual Memory Management: Let all processes </a:t>
            </a:r>
            <a:r>
              <a:rPr lang="en-US" altLang="zh-TW" dirty="0">
                <a:solidFill>
                  <a:srgbClr val="C00000"/>
                </a:solidFill>
              </a:rPr>
              <a:t>share the same physical address space</a:t>
            </a:r>
            <a:r>
              <a:rPr lang="en-US" altLang="zh-TW" dirty="0">
                <a:solidFill>
                  <a:schemeClr val="tx1"/>
                </a:solidFill>
              </a:rPr>
              <a:t> via page tables. (Each process thinks they own the whole space.)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B9F925-91E9-40B5-086D-0545071CB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A711F2-264B-27CA-DF15-BECB18846B77}"/>
              </a:ext>
            </a:extLst>
          </p:cNvPr>
          <p:cNvSpPr txBox="1"/>
          <p:nvPr/>
        </p:nvSpPr>
        <p:spPr>
          <a:xfrm>
            <a:off x="5724383" y="3957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382B4D-8EDA-1B20-AC82-28B966DBE27E}"/>
              </a:ext>
            </a:extLst>
          </p:cNvPr>
          <p:cNvSpPr/>
          <p:nvPr/>
        </p:nvSpPr>
        <p:spPr>
          <a:xfrm>
            <a:off x="1869902" y="5097954"/>
            <a:ext cx="9377830" cy="10375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0DF949-7BBD-C7E3-67C6-7AF598B31B13}"/>
              </a:ext>
            </a:extLst>
          </p:cNvPr>
          <p:cNvSpPr txBox="1"/>
          <p:nvPr/>
        </p:nvSpPr>
        <p:spPr>
          <a:xfrm>
            <a:off x="5549142" y="6519446"/>
            <a:ext cx="3193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Physical</a:t>
            </a:r>
            <a:r>
              <a:rPr kumimoji="1" lang="zh-TW" altLang="en-US" sz="1600" dirty="0"/>
              <a:t> </a:t>
            </a:r>
            <a:r>
              <a:rPr kumimoji="1" lang="en-US" altLang="zh-TW" sz="1600" dirty="0"/>
              <a:t>Address Space</a:t>
            </a:r>
            <a:r>
              <a:rPr kumimoji="1" lang="zh-TW" altLang="en-US" sz="1600" dirty="0"/>
              <a:t> </a:t>
            </a:r>
            <a:r>
              <a:rPr kumimoji="1" lang="en-US" altLang="zh-TW" sz="1600" dirty="0"/>
              <a:t>(e.g.,</a:t>
            </a:r>
            <a:r>
              <a:rPr kumimoji="1" lang="zh-TW" altLang="en-US" sz="1600" dirty="0"/>
              <a:t> </a:t>
            </a:r>
            <a:r>
              <a:rPr kumimoji="1" lang="en-US" altLang="zh-TW" sz="1600" dirty="0"/>
              <a:t>DRAM)</a:t>
            </a:r>
            <a:endParaRPr kumimoji="1" lang="zh-TW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4D72A0-CC30-4628-552C-F439E6195D18}"/>
              </a:ext>
            </a:extLst>
          </p:cNvPr>
          <p:cNvSpPr/>
          <p:nvPr/>
        </p:nvSpPr>
        <p:spPr>
          <a:xfrm>
            <a:off x="9897540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BBA4D0-2C89-043D-651B-BCCD7C629653}"/>
              </a:ext>
            </a:extLst>
          </p:cNvPr>
          <p:cNvSpPr/>
          <p:nvPr/>
        </p:nvSpPr>
        <p:spPr>
          <a:xfrm>
            <a:off x="10569236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0C9117F-A55C-9F5B-25B5-48173AF85AA9}"/>
              </a:ext>
            </a:extLst>
          </p:cNvPr>
          <p:cNvSpPr txBox="1"/>
          <p:nvPr/>
        </p:nvSpPr>
        <p:spPr>
          <a:xfrm>
            <a:off x="8616412" y="6210183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/>
              <a:t>4KB</a:t>
            </a:r>
            <a:endParaRPr kumimoji="1" lang="zh-TW" altLang="en-US" sz="1400" dirty="0"/>
          </a:p>
        </p:txBody>
      </p:sp>
      <p:cxnSp>
        <p:nvCxnSpPr>
          <p:cNvPr id="13" name="曲線接點 12">
            <a:extLst>
              <a:ext uri="{FF2B5EF4-FFF2-40B4-BE49-F238E27FC236}">
                <a16:creationId xmlns:a16="http://schemas.microsoft.com/office/drawing/2014/main" id="{A3A42440-02EF-7140-92F4-346671E4B6D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43039" y="6100507"/>
            <a:ext cx="246170" cy="56077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3801B571-2991-DB14-EEDA-3E2ED7477073}"/>
              </a:ext>
            </a:extLst>
          </p:cNvPr>
          <p:cNvSpPr/>
          <p:nvPr/>
        </p:nvSpPr>
        <p:spPr>
          <a:xfrm>
            <a:off x="1869901" y="3429000"/>
            <a:ext cx="1598815" cy="13288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CPU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D8CADCC-5B68-8CBB-CDDC-FB8B8EC99415}"/>
              </a:ext>
            </a:extLst>
          </p:cNvPr>
          <p:cNvGrpSpPr/>
          <p:nvPr/>
        </p:nvGrpSpPr>
        <p:grpSpPr>
          <a:xfrm>
            <a:off x="3307175" y="4762877"/>
            <a:ext cx="5524099" cy="343476"/>
            <a:chOff x="2128928" y="4990986"/>
            <a:chExt cx="5524099" cy="343476"/>
          </a:xfrm>
        </p:grpSpPr>
        <p:cxnSp>
          <p:nvCxnSpPr>
            <p:cNvPr id="37" name="肘形接點 36">
              <a:extLst>
                <a:ext uri="{FF2B5EF4-FFF2-40B4-BE49-F238E27FC236}">
                  <a16:creationId xmlns:a16="http://schemas.microsoft.com/office/drawing/2014/main" id="{1A706B82-CFA9-DDDB-DC41-24CEC1957CE0}"/>
                </a:ext>
              </a:extLst>
            </p:cNvPr>
            <p:cNvCxnSpPr>
              <a:cxnSpLocks/>
            </p:cNvCxnSpPr>
            <p:nvPr/>
          </p:nvCxnSpPr>
          <p:spPr>
            <a:xfrm>
              <a:off x="2128928" y="5167947"/>
              <a:ext cx="5524099" cy="166515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箭頭接點 37">
              <a:extLst>
                <a:ext uri="{FF2B5EF4-FFF2-40B4-BE49-F238E27FC236}">
                  <a16:creationId xmlns:a16="http://schemas.microsoft.com/office/drawing/2014/main" id="{4C290BDF-98DF-07C9-CE91-F3A105EA548E}"/>
                </a:ext>
              </a:extLst>
            </p:cNvPr>
            <p:cNvCxnSpPr>
              <a:cxnSpLocks/>
            </p:cNvCxnSpPr>
            <p:nvPr/>
          </p:nvCxnSpPr>
          <p:spPr>
            <a:xfrm>
              <a:off x="2135618" y="4990986"/>
              <a:ext cx="0" cy="1743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橢圓 35">
            <a:extLst>
              <a:ext uri="{FF2B5EF4-FFF2-40B4-BE49-F238E27FC236}">
                <a16:creationId xmlns:a16="http://schemas.microsoft.com/office/drawing/2014/main" id="{FD26E198-40F3-682A-89CF-518DF278ADDD}"/>
              </a:ext>
            </a:extLst>
          </p:cNvPr>
          <p:cNvSpPr/>
          <p:nvPr/>
        </p:nvSpPr>
        <p:spPr>
          <a:xfrm>
            <a:off x="3686248" y="4752355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2</a:t>
            </a:r>
            <a:endParaRPr kumimoji="1" lang="zh-TW" altLang="en-US" sz="14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3EBC1F7-001E-075A-730F-AF86B4715274}"/>
              </a:ext>
            </a:extLst>
          </p:cNvPr>
          <p:cNvSpPr/>
          <p:nvPr/>
        </p:nvSpPr>
        <p:spPr>
          <a:xfrm>
            <a:off x="1948526" y="4078373"/>
            <a:ext cx="656957" cy="5906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TLB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317AD54-245A-39C3-330C-AA6170C62306}"/>
              </a:ext>
            </a:extLst>
          </p:cNvPr>
          <p:cNvSpPr/>
          <p:nvPr/>
        </p:nvSpPr>
        <p:spPr>
          <a:xfrm>
            <a:off x="2719298" y="4078373"/>
            <a:ext cx="656957" cy="5906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MMU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F811BBC-472D-598A-8A01-C8CF92C61514}"/>
              </a:ext>
            </a:extLst>
          </p:cNvPr>
          <p:cNvGrpSpPr/>
          <p:nvPr/>
        </p:nvGrpSpPr>
        <p:grpSpPr>
          <a:xfrm>
            <a:off x="2152393" y="3738243"/>
            <a:ext cx="383054" cy="526224"/>
            <a:chOff x="2240766" y="3679466"/>
            <a:chExt cx="383054" cy="526224"/>
          </a:xfrm>
        </p:grpSpPr>
        <p:cxnSp>
          <p:nvCxnSpPr>
            <p:cNvPr id="100" name="曲線接點 99">
              <a:extLst>
                <a:ext uri="{FF2B5EF4-FFF2-40B4-BE49-F238E27FC236}">
                  <a16:creationId xmlns:a16="http://schemas.microsoft.com/office/drawing/2014/main" id="{C280A63D-946E-6A94-5956-D961C0B127B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199493" y="3997268"/>
              <a:ext cx="276170" cy="140674"/>
            </a:xfrm>
            <a:prstGeom prst="curved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4B59ACD9-B4B4-0C12-EFBC-5FC0360F80E6}"/>
                </a:ext>
              </a:extLst>
            </p:cNvPr>
            <p:cNvSpPr txBox="1"/>
            <p:nvPr/>
          </p:nvSpPr>
          <p:spPr>
            <a:xfrm>
              <a:off x="2240766" y="3679466"/>
              <a:ext cx="383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/>
                <a:t>VA</a:t>
              </a:r>
              <a:endParaRPr kumimoji="1" lang="zh-TW" altLang="en-US" sz="1400" dirty="0"/>
            </a:p>
          </p:txBody>
        </p:sp>
      </p:grpSp>
      <p:sp>
        <p:nvSpPr>
          <p:cNvPr id="111" name="矩形 110">
            <a:extLst>
              <a:ext uri="{FF2B5EF4-FFF2-40B4-BE49-F238E27FC236}">
                <a16:creationId xmlns:a16="http://schemas.microsoft.com/office/drawing/2014/main" id="{1889ABA4-9BF8-75A3-6A02-FE9708DD1C7D}"/>
              </a:ext>
            </a:extLst>
          </p:cNvPr>
          <p:cNvSpPr/>
          <p:nvPr/>
        </p:nvSpPr>
        <p:spPr>
          <a:xfrm>
            <a:off x="1948526" y="4468713"/>
            <a:ext cx="656957" cy="1494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VA’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-&gt;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PA’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7350931F-F6B3-4E28-D812-C08AA516A55E}"/>
              </a:ext>
            </a:extLst>
          </p:cNvPr>
          <p:cNvSpPr txBox="1"/>
          <p:nvPr/>
        </p:nvSpPr>
        <p:spPr>
          <a:xfrm>
            <a:off x="3268013" y="4698788"/>
            <a:ext cx="368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/>
              <a:t>PA</a:t>
            </a:r>
            <a:endParaRPr kumimoji="1" lang="zh-TW" altLang="en-US" sz="1400" dirty="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553961D-6F88-1270-37E2-72251CEA8543}"/>
              </a:ext>
            </a:extLst>
          </p:cNvPr>
          <p:cNvSpPr/>
          <p:nvPr/>
        </p:nvSpPr>
        <p:spPr>
          <a:xfrm>
            <a:off x="9229399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96EDE16-73AE-C68F-095D-5E2CE86AD182}"/>
              </a:ext>
            </a:extLst>
          </p:cNvPr>
          <p:cNvSpPr/>
          <p:nvPr/>
        </p:nvSpPr>
        <p:spPr>
          <a:xfrm>
            <a:off x="7893108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32B79D5-D29E-8059-7DDE-8DE80A6A0CE0}"/>
              </a:ext>
            </a:extLst>
          </p:cNvPr>
          <p:cNvSpPr/>
          <p:nvPr/>
        </p:nvSpPr>
        <p:spPr>
          <a:xfrm>
            <a:off x="8564804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C01EA49-A824-7C8F-40BF-270C925F399B}"/>
              </a:ext>
            </a:extLst>
          </p:cNvPr>
          <p:cNvSpPr/>
          <p:nvPr/>
        </p:nvSpPr>
        <p:spPr>
          <a:xfrm>
            <a:off x="7224967" y="5100658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7EEABD4-7D06-E39C-6D13-064C8630507E}"/>
              </a:ext>
            </a:extLst>
          </p:cNvPr>
          <p:cNvSpPr/>
          <p:nvPr/>
        </p:nvSpPr>
        <p:spPr>
          <a:xfrm>
            <a:off x="2529685" y="5102705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2BDDD04-B96D-40F9-C63F-215BCE23C2DC}"/>
              </a:ext>
            </a:extLst>
          </p:cNvPr>
          <p:cNvSpPr/>
          <p:nvPr/>
        </p:nvSpPr>
        <p:spPr>
          <a:xfrm>
            <a:off x="3201381" y="5102705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155F02D-B1A4-2A51-C3CA-B5D4D8AFDD5D}"/>
              </a:ext>
            </a:extLst>
          </p:cNvPr>
          <p:cNvSpPr/>
          <p:nvPr/>
        </p:nvSpPr>
        <p:spPr>
          <a:xfrm>
            <a:off x="1861544" y="5102705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B82EF62-AF10-9A65-17FC-2A28BD9C8312}"/>
              </a:ext>
            </a:extLst>
          </p:cNvPr>
          <p:cNvGrpSpPr/>
          <p:nvPr/>
        </p:nvGrpSpPr>
        <p:grpSpPr>
          <a:xfrm>
            <a:off x="2333139" y="4671995"/>
            <a:ext cx="662541" cy="1305790"/>
            <a:chOff x="2333139" y="4671995"/>
            <a:chExt cx="662541" cy="1305790"/>
          </a:xfrm>
        </p:grpSpPr>
        <p:cxnSp>
          <p:nvCxnSpPr>
            <p:cNvPr id="118" name="直線箭頭接點 117">
              <a:extLst>
                <a:ext uri="{FF2B5EF4-FFF2-40B4-BE49-F238E27FC236}">
                  <a16:creationId xmlns:a16="http://schemas.microsoft.com/office/drawing/2014/main" id="{AC26630F-F9DB-25E8-EF98-96D297CED38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680" y="4671995"/>
              <a:ext cx="0" cy="28241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箭頭接點 32">
              <a:extLst>
                <a:ext uri="{FF2B5EF4-FFF2-40B4-BE49-F238E27FC236}">
                  <a16:creationId xmlns:a16="http://schemas.microsoft.com/office/drawing/2014/main" id="{049A18FD-1AD4-AE4D-1F8C-647A99EBEC15}"/>
                </a:ext>
              </a:extLst>
            </p:cNvPr>
            <p:cNvCxnSpPr>
              <a:cxnSpLocks/>
            </p:cNvCxnSpPr>
            <p:nvPr/>
          </p:nvCxnSpPr>
          <p:spPr>
            <a:xfrm>
              <a:off x="2337578" y="4947969"/>
              <a:ext cx="7" cy="102981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15D53561-627B-B35C-0F93-878C4F6BDCE8}"/>
                </a:ext>
              </a:extLst>
            </p:cNvPr>
            <p:cNvSpPr/>
            <p:nvPr/>
          </p:nvSpPr>
          <p:spPr>
            <a:xfrm>
              <a:off x="2752680" y="4767867"/>
              <a:ext cx="162000" cy="1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/>
                <a:t>1</a:t>
              </a:r>
              <a:endParaRPr kumimoji="1" lang="zh-TW" altLang="en-US" sz="1400" dirty="0"/>
            </a:p>
          </p:txBody>
        </p:sp>
        <p:cxnSp>
          <p:nvCxnSpPr>
            <p:cNvPr id="30" name="直線箭頭接點 29">
              <a:extLst>
                <a:ext uri="{FF2B5EF4-FFF2-40B4-BE49-F238E27FC236}">
                  <a16:creationId xmlns:a16="http://schemas.microsoft.com/office/drawing/2014/main" id="{B12432A5-9956-5C3B-C871-9C7A4B4AC344}"/>
                </a:ext>
              </a:extLst>
            </p:cNvPr>
            <p:cNvCxnSpPr>
              <a:cxnSpLocks/>
            </p:cNvCxnSpPr>
            <p:nvPr/>
          </p:nvCxnSpPr>
          <p:spPr>
            <a:xfrm>
              <a:off x="2337578" y="5977785"/>
              <a:ext cx="1553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箭頭接點 119">
              <a:extLst>
                <a:ext uri="{FF2B5EF4-FFF2-40B4-BE49-F238E27FC236}">
                  <a16:creationId xmlns:a16="http://schemas.microsoft.com/office/drawing/2014/main" id="{E8842FA7-D2BF-B4D5-BA7B-79B5614DF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3139" y="4960136"/>
              <a:ext cx="662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E31DF024-C6EC-284E-F305-3F79AEB7B3E7}"/>
              </a:ext>
            </a:extLst>
          </p:cNvPr>
          <p:cNvSpPr/>
          <p:nvPr/>
        </p:nvSpPr>
        <p:spPr>
          <a:xfrm>
            <a:off x="2536786" y="5101370"/>
            <a:ext cx="665444" cy="10401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 </a:t>
            </a:r>
          </a:p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Table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F11196-A959-E45C-D0CF-C9E58A01C340}"/>
              </a:ext>
            </a:extLst>
          </p:cNvPr>
          <p:cNvSpPr txBox="1"/>
          <p:nvPr/>
        </p:nvSpPr>
        <p:spPr>
          <a:xfrm>
            <a:off x="1808693" y="6303938"/>
            <a:ext cx="1825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dirty="0"/>
              <a:t>Assume only one-level</a:t>
            </a:r>
            <a:br>
              <a:rPr kumimoji="1" lang="en-US" altLang="zh-TW" sz="1400" dirty="0"/>
            </a:br>
            <a:r>
              <a:rPr kumimoji="1" lang="en-US" altLang="zh-TW" sz="1400" dirty="0"/>
              <a:t>(4-level Actually)</a:t>
            </a:r>
            <a:endParaRPr kumimoji="1" lang="zh-TW" altLang="en-US" sz="1400" dirty="0"/>
          </a:p>
        </p:txBody>
      </p:sp>
      <p:cxnSp>
        <p:nvCxnSpPr>
          <p:cNvPr id="15" name="曲線接點 14">
            <a:extLst>
              <a:ext uri="{FF2B5EF4-FFF2-40B4-BE49-F238E27FC236}">
                <a16:creationId xmlns:a16="http://schemas.microsoft.com/office/drawing/2014/main" id="{AC7C885F-F4D5-AF67-D463-E19023FC12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08434" y="6220655"/>
            <a:ext cx="246170" cy="56077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7F90A695-4C08-81BD-D88A-B6D1099F01C5}"/>
              </a:ext>
            </a:extLst>
          </p:cNvPr>
          <p:cNvSpPr/>
          <p:nvPr/>
        </p:nvSpPr>
        <p:spPr>
          <a:xfrm>
            <a:off x="2538906" y="5900222"/>
            <a:ext cx="656957" cy="1494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VA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-&gt;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PA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571564-B5B0-B07E-A46C-D41F49B9D0E6}"/>
              </a:ext>
            </a:extLst>
          </p:cNvPr>
          <p:cNvSpPr/>
          <p:nvPr/>
        </p:nvSpPr>
        <p:spPr>
          <a:xfrm>
            <a:off x="8564065" y="5101370"/>
            <a:ext cx="673200" cy="1033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 </a:t>
            </a:r>
          </a:p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Data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587CB50C-1D72-381B-BA7B-6FDCB3FFE8E1}"/>
              </a:ext>
            </a:extLst>
          </p:cNvPr>
          <p:cNvGrpSpPr/>
          <p:nvPr/>
        </p:nvGrpSpPr>
        <p:grpSpPr>
          <a:xfrm>
            <a:off x="2479636" y="3691669"/>
            <a:ext cx="1031067" cy="386704"/>
            <a:chOff x="2479636" y="3691669"/>
            <a:chExt cx="1031067" cy="386704"/>
          </a:xfrm>
        </p:grpSpPr>
        <p:cxnSp>
          <p:nvCxnSpPr>
            <p:cNvPr id="104" name="曲線接點 103">
              <a:extLst>
                <a:ext uri="{FF2B5EF4-FFF2-40B4-BE49-F238E27FC236}">
                  <a16:creationId xmlns:a16="http://schemas.microsoft.com/office/drawing/2014/main" id="{68DA3096-2FC5-BD08-3A8F-1EBDA47A1290}"/>
                </a:ext>
              </a:extLst>
            </p:cNvPr>
            <p:cNvCxnSpPr>
              <a:cxnSpLocks/>
              <a:endCxn id="99" idx="0"/>
            </p:cNvCxnSpPr>
            <p:nvPr/>
          </p:nvCxnSpPr>
          <p:spPr>
            <a:xfrm>
              <a:off x="2479636" y="3928941"/>
              <a:ext cx="568141" cy="149432"/>
            </a:xfrm>
            <a:prstGeom prst="curved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7CE5FD9-54A2-A59B-5DF3-1B5E99D6E8CA}"/>
                </a:ext>
              </a:extLst>
            </p:cNvPr>
            <p:cNvSpPr txBox="1"/>
            <p:nvPr/>
          </p:nvSpPr>
          <p:spPr>
            <a:xfrm>
              <a:off x="2577434" y="3691669"/>
              <a:ext cx="9332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/>
                <a:t>Not in TLB</a:t>
              </a:r>
              <a:endParaRPr kumimoji="1" lang="zh-TW" altLang="en-US" sz="1400" dirty="0"/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819A833-9B17-0EF4-74CB-67FF54075AAB}"/>
              </a:ext>
            </a:extLst>
          </p:cNvPr>
          <p:cNvSpPr txBox="1"/>
          <p:nvPr/>
        </p:nvSpPr>
        <p:spPr>
          <a:xfrm>
            <a:off x="5818971" y="53992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……</a:t>
            </a:r>
            <a:endParaRPr kumimoji="1"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9C7AC-2B7F-F254-B604-31D42B6CC67D}"/>
              </a:ext>
            </a:extLst>
          </p:cNvPr>
          <p:cNvSpPr/>
          <p:nvPr/>
        </p:nvSpPr>
        <p:spPr>
          <a:xfrm>
            <a:off x="4544190" y="5101254"/>
            <a:ext cx="671696" cy="1034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Page</a:t>
            </a:r>
            <a:r>
              <a:rPr kumimoji="1" lang="zh-TW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TW" sz="1400" dirty="0">
                <a:solidFill>
                  <a:schemeClr val="tx1"/>
                </a:solidFill>
              </a:rPr>
              <a:t>Frame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88A1BAC-B010-4D05-8858-1D4D237BBF22}"/>
              </a:ext>
            </a:extLst>
          </p:cNvPr>
          <p:cNvSpPr txBox="1"/>
          <p:nvPr/>
        </p:nvSpPr>
        <p:spPr>
          <a:xfrm>
            <a:off x="3903748" y="53992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……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870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98" grpId="0" animBg="1"/>
      <p:bldP spid="99" grpId="0" animBg="1"/>
      <p:bldP spid="111" grpId="0" animBg="1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28D7E-FE83-23C9-4ACB-C2DEDEAF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Tables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7296C-0AB1-34EB-35A2-4E4BF0C2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zh-TW" dirty="0"/>
              <a:t>For </a:t>
            </a:r>
            <a:r>
              <a:rPr lang="en-US" altLang="zh-TW" dirty="0"/>
              <a:t>systems with</a:t>
            </a:r>
            <a:r>
              <a:rPr kumimoji="1" lang="en-US" altLang="zh-TW" dirty="0"/>
              <a:t> virtual memory management (or MMU), </a:t>
            </a:r>
            <a:r>
              <a:rPr kumimoji="1" lang="en-US" altLang="zh-TW" dirty="0">
                <a:solidFill>
                  <a:srgbClr val="C00000"/>
                </a:solidFill>
              </a:rPr>
              <a:t>all virtual addresses shall be converted to physical addresses</a:t>
            </a:r>
            <a:r>
              <a:rPr kumimoji="1" lang="en-US" altLang="zh-TW" dirty="0"/>
              <a:t> before being accessed.</a:t>
            </a:r>
          </a:p>
          <a:p>
            <a:pPr algn="l"/>
            <a:r>
              <a:rPr lang="en-US" altLang="zh-TW" dirty="0"/>
              <a:t>Page Tables take the responsibility for address translations.</a:t>
            </a:r>
          </a:p>
          <a:p>
            <a:pPr lvl="1" algn="l"/>
            <a:r>
              <a:rPr lang="en-US" altLang="zh-TW" dirty="0"/>
              <a:t>E</a:t>
            </a:r>
            <a:r>
              <a:rPr kumimoji="1" lang="en-US" altLang="zh-TW" dirty="0"/>
              <a:t>ach page </a:t>
            </a:r>
            <a:r>
              <a:rPr lang="en-US" altLang="zh-TW" dirty="0"/>
              <a:t>t</a:t>
            </a:r>
            <a:r>
              <a:rPr kumimoji="1" lang="en-US" altLang="zh-TW" dirty="0"/>
              <a:t>able comprises a bunch </a:t>
            </a:r>
            <a:r>
              <a:rPr kumimoji="1" lang="en-US" altLang="zh-TW" dirty="0">
                <a:solidFill>
                  <a:srgbClr val="C00000"/>
                </a:solidFill>
              </a:rPr>
              <a:t>of 8B page table entries (PTE) </a:t>
            </a:r>
            <a:r>
              <a:rPr kumimoji="1" lang="en-US" altLang="zh-TW" dirty="0"/>
              <a:t>on 64-bit systems.</a:t>
            </a:r>
          </a:p>
          <a:p>
            <a:pPr lvl="1" algn="l"/>
            <a:r>
              <a:rPr lang="en-US" altLang="zh-TW" dirty="0"/>
              <a:t>Size of page table is proportional to the memory size. (</a:t>
            </a:r>
            <a:r>
              <a:rPr lang="en-US" altLang="zh-TW" dirty="0">
                <a:solidFill>
                  <a:srgbClr val="C00000"/>
                </a:solidFill>
              </a:rPr>
              <a:t>Larger Memory, More PTEs</a:t>
            </a:r>
            <a:r>
              <a:rPr lang="en-US" altLang="zh-TW" dirty="0"/>
              <a:t>)</a:t>
            </a:r>
          </a:p>
          <a:p>
            <a:pPr lvl="1" algn="l"/>
            <a:r>
              <a:rPr kumimoji="1" lang="en-US" altLang="zh-TW" dirty="0"/>
              <a:t>Linux uses </a:t>
            </a:r>
            <a:r>
              <a:rPr kumimoji="1" lang="en-US" altLang="zh-TW" dirty="0">
                <a:solidFill>
                  <a:srgbClr val="C00000"/>
                </a:solidFill>
              </a:rPr>
              <a:t>multi-level page tables</a:t>
            </a:r>
            <a:r>
              <a:rPr kumimoji="1" lang="en-US" altLang="zh-TW" dirty="0"/>
              <a:t>. (4-level for 64-bit systems)</a:t>
            </a:r>
          </a:p>
          <a:p>
            <a:pPr lvl="1" algn="l"/>
            <a:r>
              <a:rPr lang="en-US" altLang="zh-TW" dirty="0"/>
              <a:t>Without optimization, CPU shall </a:t>
            </a:r>
            <a:r>
              <a:rPr lang="en-US" altLang="zh-TW" dirty="0">
                <a:solidFill>
                  <a:srgbClr val="C00000"/>
                </a:solidFill>
              </a:rPr>
              <a:t>access memory for looking up a page table </a:t>
            </a:r>
            <a:r>
              <a:rPr lang="en-US" altLang="zh-TW" dirty="0"/>
              <a:t>each time.</a:t>
            </a:r>
          </a:p>
          <a:p>
            <a:pPr lvl="1" algn="l"/>
            <a:r>
              <a:rPr lang="en-US" altLang="zh-TW" dirty="0"/>
              <a:t>TLB is a hardware cache </a:t>
            </a:r>
            <a:r>
              <a:rPr lang="en-US" altLang="zh-TW" dirty="0">
                <a:solidFill>
                  <a:srgbClr val="C00000"/>
                </a:solidFill>
              </a:rPr>
              <a:t>to keep the mapping</a:t>
            </a:r>
            <a:r>
              <a:rPr lang="en-US" altLang="zh-TW" dirty="0"/>
              <a:t> between the VA/PA in the CPU.</a:t>
            </a:r>
          </a:p>
          <a:p>
            <a:pPr algn="l"/>
            <a:r>
              <a:rPr kumimoji="1" lang="en-US" altLang="zh-TW" dirty="0"/>
              <a:t>CPU raises a page fault when a process </a:t>
            </a:r>
            <a:r>
              <a:rPr kumimoji="1" lang="en-US" altLang="zh-TW" dirty="0">
                <a:solidFill>
                  <a:srgbClr val="C00000"/>
                </a:solidFill>
              </a:rPr>
              <a:t>accesses a memory page without proper preparations</a:t>
            </a:r>
            <a:r>
              <a:rPr kumimoji="1" lang="en-US" altLang="zh-TW" dirty="0"/>
              <a:t>.</a:t>
            </a:r>
          </a:p>
          <a:p>
            <a:pPr lvl="1" algn="l"/>
            <a:r>
              <a:rPr lang="en-US" altLang="zh-TW" dirty="0"/>
              <a:t>Minor Page Fault: </a:t>
            </a:r>
            <a:r>
              <a:rPr lang="en-US" altLang="zh-TW" dirty="0">
                <a:solidFill>
                  <a:srgbClr val="C00000"/>
                </a:solidFill>
              </a:rPr>
              <a:t>Page is already in the memory </a:t>
            </a:r>
            <a:r>
              <a:rPr lang="en-US" altLang="zh-TW" dirty="0"/>
              <a:t>but is not marked in the MMU as being loaded in memory. (e.g., malloc() allocates physical addresses once being touched)</a:t>
            </a:r>
          </a:p>
          <a:p>
            <a:pPr lvl="1" algn="l"/>
            <a:r>
              <a:rPr kumimoji="1" lang="en-US" altLang="zh-TW" dirty="0"/>
              <a:t>Major Page Fault: Page is not in the memory. (May cause </a:t>
            </a:r>
            <a:r>
              <a:rPr kumimoji="1" lang="en-US" altLang="zh-TW" dirty="0">
                <a:solidFill>
                  <a:srgbClr val="C00000"/>
                </a:solidFill>
              </a:rPr>
              <a:t>expensive I/O movement costs</a:t>
            </a:r>
            <a:r>
              <a:rPr kumimoji="1" lang="en-US" altLang="zh-TW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69C81-76C6-C0E6-E701-8D727517B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08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03B74-9ED7-5240-1161-035EF324D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11836400" cy="5441950"/>
          </a:xfrm>
        </p:spPr>
        <p:txBody>
          <a:bodyPr/>
          <a:lstStyle/>
          <a:p>
            <a:pPr algn="l"/>
            <a:r>
              <a:rPr lang="en-US" altLang="zh-TW" dirty="0"/>
              <a:t>Let’s take</a:t>
            </a:r>
            <a:r>
              <a:rPr kumimoji="1" lang="en-US" altLang="zh-TW" dirty="0"/>
              <a:t> </a:t>
            </a:r>
            <a:r>
              <a:rPr kumimoji="1" lang="en-US" altLang="zh-TW" dirty="0">
                <a:solidFill>
                  <a:srgbClr val="C00000"/>
                </a:solidFill>
              </a:rPr>
              <a:t>64-bit systems </a:t>
            </a:r>
            <a:r>
              <a:rPr kumimoji="1" lang="en-US" altLang="zh-TW" dirty="0"/>
              <a:t>as an example. (Actually, </a:t>
            </a:r>
            <a:r>
              <a:rPr kumimoji="1" lang="en-US" altLang="zh-TW" dirty="0">
                <a:solidFill>
                  <a:srgbClr val="C00000"/>
                </a:solidFill>
              </a:rPr>
              <a:t>only use 48bits</a:t>
            </a:r>
            <a:r>
              <a:rPr kumimoji="1" lang="en-US" altLang="zh-TW" dirty="0"/>
              <a:t>)</a:t>
            </a:r>
          </a:p>
          <a:p>
            <a:pPr algn="l"/>
            <a:r>
              <a:rPr lang="en-US" altLang="zh-TW" dirty="0"/>
              <a:t>The base address of PGD is maintained in </a:t>
            </a:r>
            <a:r>
              <a:rPr lang="en-US" altLang="zh-TW" dirty="0">
                <a:solidFill>
                  <a:srgbClr val="C00000"/>
                </a:solidFill>
              </a:rPr>
              <a:t>CPU’s CR3 register</a:t>
            </a:r>
            <a:r>
              <a:rPr lang="en-US" altLang="zh-TW" dirty="0"/>
              <a:t>. </a:t>
            </a:r>
          </a:p>
          <a:p>
            <a:pPr lvl="1" algn="l"/>
            <a:r>
              <a:rPr lang="en-US" altLang="zh-TW" dirty="0"/>
              <a:t>CPU can walk automatically. Or kernel code can also walk it.</a:t>
            </a:r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E19E1CB-1213-D371-FCE5-A9F0D10F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the CPU Walks Page Tables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0D9097-0EC0-2D60-9546-23E8A59EE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F1218901-DDCE-7B5C-F842-4A568042E413}"/>
              </a:ext>
            </a:extLst>
          </p:cNvPr>
          <p:cNvGrpSpPr/>
          <p:nvPr/>
        </p:nvGrpSpPr>
        <p:grpSpPr>
          <a:xfrm>
            <a:off x="3933677" y="4213790"/>
            <a:ext cx="2535637" cy="2452265"/>
            <a:chOff x="3933677" y="4213790"/>
            <a:chExt cx="2535637" cy="2452265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61B999EE-D612-32C6-C98A-B7119B14964B}"/>
                </a:ext>
              </a:extLst>
            </p:cNvPr>
            <p:cNvGrpSpPr/>
            <p:nvPr/>
          </p:nvGrpSpPr>
          <p:grpSpPr>
            <a:xfrm>
              <a:off x="3933677" y="4213790"/>
              <a:ext cx="2535637" cy="2452265"/>
              <a:chOff x="3933677" y="4213790"/>
              <a:chExt cx="2535637" cy="2452265"/>
            </a:xfrm>
          </p:grpSpPr>
          <p:sp>
            <p:nvSpPr>
              <p:cNvPr id="5" name="摺角紙張 4">
                <a:extLst>
                  <a:ext uri="{FF2B5EF4-FFF2-40B4-BE49-F238E27FC236}">
                    <a16:creationId xmlns:a16="http://schemas.microsoft.com/office/drawing/2014/main" id="{7338EA79-C421-E4DA-3DA6-CC5E62A08273}"/>
                  </a:ext>
                </a:extLst>
              </p:cNvPr>
              <p:cNvSpPr/>
              <p:nvPr/>
            </p:nvSpPr>
            <p:spPr>
              <a:xfrm rot="10800000" flipH="1">
                <a:off x="4865211" y="4850916"/>
                <a:ext cx="1057163" cy="1813703"/>
              </a:xfrm>
              <a:prstGeom prst="foldedCorner">
                <a:avLst>
                  <a:gd name="adj" fmla="val 25629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/>
                  <a:t>P</a:t>
                </a:r>
                <a:endParaRPr kumimoji="1" lang="zh-TW" altLang="en-US" sz="1200" dirty="0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F660E5C-B577-8F28-59BA-333AAA837FC1}"/>
                  </a:ext>
                </a:extLst>
              </p:cNvPr>
              <p:cNvSpPr/>
              <p:nvPr/>
            </p:nvSpPr>
            <p:spPr>
              <a:xfrm>
                <a:off x="4910522" y="5207093"/>
                <a:ext cx="93735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PUD Entry</a:t>
                </a:r>
              </a:p>
            </p:txBody>
          </p:sp>
          <p:grpSp>
            <p:nvGrpSpPr>
              <p:cNvPr id="107" name="群組 106">
                <a:extLst>
                  <a:ext uri="{FF2B5EF4-FFF2-40B4-BE49-F238E27FC236}">
                    <a16:creationId xmlns:a16="http://schemas.microsoft.com/office/drawing/2014/main" id="{C5052706-1B5D-DA32-7727-03F50F032EC0}"/>
                  </a:ext>
                </a:extLst>
              </p:cNvPr>
              <p:cNvGrpSpPr/>
              <p:nvPr/>
            </p:nvGrpSpPr>
            <p:grpSpPr>
              <a:xfrm>
                <a:off x="3933677" y="4213790"/>
                <a:ext cx="2535637" cy="2452265"/>
                <a:chOff x="3933677" y="4213790"/>
                <a:chExt cx="2535637" cy="2452265"/>
              </a:xfrm>
            </p:grpSpPr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76A28361-C192-0D3C-2ED3-E5942B352B71}"/>
                    </a:ext>
                  </a:extLst>
                </p:cNvPr>
                <p:cNvSpPr txBox="1"/>
                <p:nvPr/>
              </p:nvSpPr>
              <p:spPr>
                <a:xfrm>
                  <a:off x="4378678" y="4213790"/>
                  <a:ext cx="209063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zh-TW" sz="15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Page Upper Directory </a:t>
                  </a:r>
                </a:p>
                <a:p>
                  <a:pPr algn="ctr"/>
                  <a:r>
                    <a:rPr kumimoji="1" lang="en-US" altLang="zh-TW" sz="15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(PUD) Table</a:t>
                  </a:r>
                  <a:endParaRPr kumimoji="1" lang="zh-TW" altLang="en-US" sz="15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1" name="直線接點 30">
                  <a:extLst>
                    <a:ext uri="{FF2B5EF4-FFF2-40B4-BE49-F238E27FC236}">
                      <a16:creationId xmlns:a16="http://schemas.microsoft.com/office/drawing/2014/main" id="{4F349719-8461-313D-CE8E-C79407E2D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0072" y="6661966"/>
                  <a:ext cx="72257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接點 46">
                  <a:extLst>
                    <a:ext uri="{FF2B5EF4-FFF2-40B4-BE49-F238E27FC236}">
                      <a16:creationId xmlns:a16="http://schemas.microsoft.com/office/drawing/2014/main" id="{95EEF0D0-84F6-9DA3-715D-39496F3D4D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3677" y="6209513"/>
                  <a:ext cx="218586" cy="95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接點 47">
                  <a:extLst>
                    <a:ext uri="{FF2B5EF4-FFF2-40B4-BE49-F238E27FC236}">
                      <a16:creationId xmlns:a16="http://schemas.microsoft.com/office/drawing/2014/main" id="{B2DFDCDD-5890-7F09-0CF2-5168E6EFB6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0072" y="6204791"/>
                  <a:ext cx="0" cy="46126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8E800A5C-5A64-C112-8877-4B133F32D637}"/>
                    </a:ext>
                  </a:extLst>
                </p:cNvPr>
                <p:cNvSpPr txBox="1"/>
                <p:nvPr/>
              </p:nvSpPr>
              <p:spPr>
                <a:xfrm rot="5400000">
                  <a:off x="5245666" y="5603880"/>
                  <a:ext cx="3642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kumimoji="1" lang="zh-TW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A74434B-98DF-77BC-B455-FE5EDAEB54D8}"/>
                </a:ext>
              </a:extLst>
            </p:cNvPr>
            <p:cNvSpPr/>
            <p:nvPr/>
          </p:nvSpPr>
          <p:spPr>
            <a:xfrm>
              <a:off x="4910522" y="6371541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PUD Entry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0248361-A021-676F-9D06-4D440B9527D8}"/>
                </a:ext>
              </a:extLst>
            </p:cNvPr>
            <p:cNvSpPr/>
            <p:nvPr/>
          </p:nvSpPr>
          <p:spPr>
            <a:xfrm>
              <a:off x="4910522" y="6075284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PUD Entry</a:t>
              </a:r>
            </a:p>
          </p:txBody>
        </p:sp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90687BF3-E971-9A14-9E3C-9F6ED36C08C6}"/>
              </a:ext>
            </a:extLst>
          </p:cNvPr>
          <p:cNvGrpSpPr/>
          <p:nvPr/>
        </p:nvGrpSpPr>
        <p:grpSpPr>
          <a:xfrm>
            <a:off x="5847880" y="4213790"/>
            <a:ext cx="2614852" cy="2452264"/>
            <a:chOff x="5847880" y="4213790"/>
            <a:chExt cx="2614852" cy="2452264"/>
          </a:xfrm>
        </p:grpSpPr>
        <p:sp>
          <p:nvSpPr>
            <p:cNvPr id="35" name="摺角紙張 34">
              <a:extLst>
                <a:ext uri="{FF2B5EF4-FFF2-40B4-BE49-F238E27FC236}">
                  <a16:creationId xmlns:a16="http://schemas.microsoft.com/office/drawing/2014/main" id="{C7AF12A4-E140-D6B6-CDFF-AFE4AA38DA5D}"/>
                </a:ext>
              </a:extLst>
            </p:cNvPr>
            <p:cNvSpPr/>
            <p:nvPr/>
          </p:nvSpPr>
          <p:spPr>
            <a:xfrm rot="10800000" flipH="1">
              <a:off x="6790104" y="4850917"/>
              <a:ext cx="1057163" cy="1815137"/>
            </a:xfrm>
            <a:prstGeom prst="foldedCorner">
              <a:avLst>
                <a:gd name="adj" fmla="val 2562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D5A5F324-05BE-3E6C-4E53-A387E98E931F}"/>
                </a:ext>
              </a:extLst>
            </p:cNvPr>
            <p:cNvSpPr txBox="1"/>
            <p:nvPr/>
          </p:nvSpPr>
          <p:spPr>
            <a:xfrm>
              <a:off x="6328814" y="4213790"/>
              <a:ext cx="213391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Page Middle Directory </a:t>
              </a:r>
            </a:p>
            <a:p>
              <a:pPr algn="ctr"/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(PMD) Table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F3FD0C7C-2844-9547-676C-4B9F3FD84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2282" y="6661966"/>
              <a:ext cx="777821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AF09D09-115D-95C8-1C9F-E62686DE82CB}"/>
                </a:ext>
              </a:extLst>
            </p:cNvPr>
            <p:cNvSpPr/>
            <p:nvPr/>
          </p:nvSpPr>
          <p:spPr>
            <a:xfrm>
              <a:off x="6835415" y="6369832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PMD Entry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CFA6B78-DA52-5EC8-85DD-7872223E5A40}"/>
                </a:ext>
              </a:extLst>
            </p:cNvPr>
            <p:cNvSpPr/>
            <p:nvPr/>
          </p:nvSpPr>
          <p:spPr>
            <a:xfrm>
              <a:off x="6835415" y="6075284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PMD Entry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5DDE319-9742-38D3-D6ED-ED3100799546}"/>
                </a:ext>
              </a:extLst>
            </p:cNvPr>
            <p:cNvSpPr/>
            <p:nvPr/>
          </p:nvSpPr>
          <p:spPr>
            <a:xfrm>
              <a:off x="6835415" y="5207093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PMD Entry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D083733-ED20-C6FA-0CBC-C49F9477D2A8}"/>
                </a:ext>
              </a:extLst>
            </p:cNvPr>
            <p:cNvSpPr/>
            <p:nvPr/>
          </p:nvSpPr>
          <p:spPr>
            <a:xfrm>
              <a:off x="6834162" y="5523397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PMD Entry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169CBC0-B954-ACA0-CBB6-50AAD06C9FAF}"/>
                </a:ext>
              </a:extLst>
            </p:cNvPr>
            <p:cNvSpPr txBox="1"/>
            <p:nvPr/>
          </p:nvSpPr>
          <p:spPr>
            <a:xfrm rot="5400000">
              <a:off x="7165029" y="5766742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kumimoji="1" lang="zh-TW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1C5EF3C3-6F82-869C-DCCD-C34FA3557D55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5847880" y="5333093"/>
              <a:ext cx="164402" cy="567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ED7BD8D8-6497-D0B1-CAFD-BE5AFBD1C7CA}"/>
                </a:ext>
              </a:extLst>
            </p:cNvPr>
            <p:cNvCxnSpPr>
              <a:cxnSpLocks/>
            </p:cNvCxnSpPr>
            <p:nvPr/>
          </p:nvCxnSpPr>
          <p:spPr>
            <a:xfrm>
              <a:off x="6012282" y="5324399"/>
              <a:ext cx="0" cy="1334644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9C342C89-4679-F795-912E-F3AC9690F343}"/>
              </a:ext>
            </a:extLst>
          </p:cNvPr>
          <p:cNvGrpSpPr/>
          <p:nvPr/>
        </p:nvGrpSpPr>
        <p:grpSpPr>
          <a:xfrm>
            <a:off x="7771520" y="4213790"/>
            <a:ext cx="1973496" cy="2449449"/>
            <a:chOff x="7771520" y="4213790"/>
            <a:chExt cx="1973496" cy="2449449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69E5EC8C-BF97-C217-29BC-F56490DEE2C6}"/>
                </a:ext>
              </a:extLst>
            </p:cNvPr>
            <p:cNvSpPr txBox="1"/>
            <p:nvPr/>
          </p:nvSpPr>
          <p:spPr>
            <a:xfrm>
              <a:off x="8516905" y="4213790"/>
              <a:ext cx="119859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Page Table </a:t>
              </a:r>
              <a:b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(PT) </a:t>
              </a: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B72AA2C-57EA-510D-2F2C-4E856F722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914" y="6655962"/>
              <a:ext cx="72993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78AD7416-8D22-BB7F-60E3-B99577A69FF1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7771520" y="5649397"/>
              <a:ext cx="185142" cy="476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94368A70-B1A7-EE15-6FE0-8431C30D3396}"/>
                </a:ext>
              </a:extLst>
            </p:cNvPr>
            <p:cNvCxnSpPr>
              <a:cxnSpLocks/>
            </p:cNvCxnSpPr>
            <p:nvPr/>
          </p:nvCxnSpPr>
          <p:spPr>
            <a:xfrm>
              <a:off x="7957914" y="5649397"/>
              <a:ext cx="0" cy="1013842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摺角紙張 59">
              <a:extLst>
                <a:ext uri="{FF2B5EF4-FFF2-40B4-BE49-F238E27FC236}">
                  <a16:creationId xmlns:a16="http://schemas.microsoft.com/office/drawing/2014/main" id="{288460B0-2F36-A50C-8E74-2726A1067639}"/>
                </a:ext>
              </a:extLst>
            </p:cNvPr>
            <p:cNvSpPr/>
            <p:nvPr/>
          </p:nvSpPr>
          <p:spPr>
            <a:xfrm rot="10800000" flipH="1">
              <a:off x="8687853" y="4850918"/>
              <a:ext cx="1057163" cy="1800904"/>
            </a:xfrm>
            <a:prstGeom prst="foldedCorner">
              <a:avLst>
                <a:gd name="adj" fmla="val 2562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  P</a:t>
              </a:r>
              <a:endParaRPr kumimoji="1" lang="zh-TW" altLang="en-US" sz="1200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729A28F-2476-9E7C-BF3E-DAE8FDAB03B0}"/>
                </a:ext>
              </a:extLst>
            </p:cNvPr>
            <p:cNvSpPr/>
            <p:nvPr/>
          </p:nvSpPr>
          <p:spPr>
            <a:xfrm>
              <a:off x="8733164" y="6358743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PT Entry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88F734E-F9E1-3FD0-B63C-1CBEDEB0144D}"/>
                </a:ext>
              </a:extLst>
            </p:cNvPr>
            <p:cNvSpPr/>
            <p:nvPr/>
          </p:nvSpPr>
          <p:spPr>
            <a:xfrm>
              <a:off x="8733164" y="5782918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PT Entry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096B292-C064-9FF5-F811-3DDA95DAB256}"/>
                </a:ext>
              </a:extLst>
            </p:cNvPr>
            <p:cNvSpPr/>
            <p:nvPr/>
          </p:nvSpPr>
          <p:spPr>
            <a:xfrm>
              <a:off x="8733164" y="5207093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PT Entry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41B5A6BE-6DAD-7B64-7EF6-B7A913C6512C}"/>
                </a:ext>
              </a:extLst>
            </p:cNvPr>
            <p:cNvSpPr txBox="1"/>
            <p:nvPr/>
          </p:nvSpPr>
          <p:spPr>
            <a:xfrm rot="5400000">
              <a:off x="9081690" y="5477593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kumimoji="1" lang="zh-TW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9390B661-761C-319C-33BC-11E84D5DFE56}"/>
                </a:ext>
              </a:extLst>
            </p:cNvPr>
            <p:cNvSpPr txBox="1"/>
            <p:nvPr/>
          </p:nvSpPr>
          <p:spPr>
            <a:xfrm rot="5400000">
              <a:off x="9084497" y="6049367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kumimoji="1" lang="zh-TW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8855D8DB-84E8-E6DA-D762-2AC8555EAFC1}"/>
              </a:ext>
            </a:extLst>
          </p:cNvPr>
          <p:cNvGrpSpPr/>
          <p:nvPr/>
        </p:nvGrpSpPr>
        <p:grpSpPr>
          <a:xfrm>
            <a:off x="177800" y="2767797"/>
            <a:ext cx="9536498" cy="1043803"/>
            <a:chOff x="177800" y="2767797"/>
            <a:chExt cx="9536498" cy="104380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4DDA5B-CBCD-87A4-8CA0-68BFD9BFC58D}"/>
                </a:ext>
              </a:extLst>
            </p:cNvPr>
            <p:cNvSpPr/>
            <p:nvPr/>
          </p:nvSpPr>
          <p:spPr>
            <a:xfrm>
              <a:off x="2406905" y="3286083"/>
              <a:ext cx="1440000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PGD Offset</a:t>
              </a:r>
            </a:p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(9bits)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AA68FE-E166-BB43-178E-9695704CEC24}"/>
                </a:ext>
              </a:extLst>
            </p:cNvPr>
            <p:cNvSpPr/>
            <p:nvPr/>
          </p:nvSpPr>
          <p:spPr>
            <a:xfrm>
              <a:off x="3846905" y="3286081"/>
              <a:ext cx="1440000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PUD Offset</a:t>
              </a:r>
            </a:p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(9bits)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B89CAE6-C5AD-2AAB-739A-5F638D8C3BD3}"/>
                </a:ext>
              </a:extLst>
            </p:cNvPr>
            <p:cNvSpPr/>
            <p:nvPr/>
          </p:nvSpPr>
          <p:spPr>
            <a:xfrm>
              <a:off x="5286905" y="3286081"/>
              <a:ext cx="1440000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PMD Offset</a:t>
              </a:r>
            </a:p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(9bits)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EAA2A0-1E62-D85D-2D8A-E86321E68FFB}"/>
                </a:ext>
              </a:extLst>
            </p:cNvPr>
            <p:cNvSpPr/>
            <p:nvPr/>
          </p:nvSpPr>
          <p:spPr>
            <a:xfrm>
              <a:off x="277693" y="3286082"/>
              <a:ext cx="2129212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Unused Bits</a:t>
              </a:r>
            </a:p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(16bits)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05FF7E-6A89-A57D-040E-F25127ADC014}"/>
                </a:ext>
              </a:extLst>
            </p:cNvPr>
            <p:cNvSpPr/>
            <p:nvPr/>
          </p:nvSpPr>
          <p:spPr>
            <a:xfrm>
              <a:off x="6726905" y="3286080"/>
              <a:ext cx="1440000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Table Offset (9bits)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9B662BF-9468-102F-DC12-2BF97965AB78}"/>
                </a:ext>
              </a:extLst>
            </p:cNvPr>
            <p:cNvSpPr/>
            <p:nvPr/>
          </p:nvSpPr>
          <p:spPr>
            <a:xfrm>
              <a:off x="8166905" y="3286080"/>
              <a:ext cx="1440000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Offset</a:t>
              </a:r>
              <a:b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(12bits)</a:t>
              </a:r>
              <a:endPara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9855FD9-5D0C-05A1-48EC-E5AD77D4999A}"/>
                </a:ext>
              </a:extLst>
            </p:cNvPr>
            <p:cNvSpPr txBox="1"/>
            <p:nvPr/>
          </p:nvSpPr>
          <p:spPr>
            <a:xfrm>
              <a:off x="7866181" y="3034744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12bit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97BE91D-E9B0-E505-4890-5DFD79CA9DD9}"/>
                </a:ext>
              </a:extLst>
            </p:cNvPr>
            <p:cNvSpPr txBox="1"/>
            <p:nvPr/>
          </p:nvSpPr>
          <p:spPr>
            <a:xfrm>
              <a:off x="9218649" y="3034744"/>
              <a:ext cx="49564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0bit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CEECF783-AFFA-CB1C-9F3D-E99BFCCE695D}"/>
                </a:ext>
              </a:extLst>
            </p:cNvPr>
            <p:cNvSpPr txBox="1"/>
            <p:nvPr/>
          </p:nvSpPr>
          <p:spPr>
            <a:xfrm>
              <a:off x="6441680" y="3034744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21bit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772221F-BF8E-305D-992D-67AE4660D134}"/>
                </a:ext>
              </a:extLst>
            </p:cNvPr>
            <p:cNvSpPr txBox="1"/>
            <p:nvPr/>
          </p:nvSpPr>
          <p:spPr>
            <a:xfrm>
              <a:off x="5047990" y="3034744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30bit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E0F0889-8A34-CEB9-6590-69CC41167768}"/>
                </a:ext>
              </a:extLst>
            </p:cNvPr>
            <p:cNvSpPr txBox="1"/>
            <p:nvPr/>
          </p:nvSpPr>
          <p:spPr>
            <a:xfrm>
              <a:off x="3603084" y="3034744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39bit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BE5BF683-CFFA-D2A0-69B6-DF9B6F3362CD}"/>
                </a:ext>
              </a:extLst>
            </p:cNvPr>
            <p:cNvSpPr txBox="1"/>
            <p:nvPr/>
          </p:nvSpPr>
          <p:spPr>
            <a:xfrm>
              <a:off x="2167062" y="3034744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48bit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19BB486C-2071-B06A-F6F9-162B3E6DC4D5}"/>
                </a:ext>
              </a:extLst>
            </p:cNvPr>
            <p:cNvSpPr txBox="1"/>
            <p:nvPr/>
          </p:nvSpPr>
          <p:spPr>
            <a:xfrm>
              <a:off x="177800" y="3008962"/>
              <a:ext cx="60305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64bit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3F458294-7F68-507A-DBB8-97BBB67868CB}"/>
                </a:ext>
              </a:extLst>
            </p:cNvPr>
            <p:cNvSpPr txBox="1"/>
            <p:nvPr/>
          </p:nvSpPr>
          <p:spPr>
            <a:xfrm>
              <a:off x="189427" y="2767797"/>
              <a:ext cx="283160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64bits Victim Virtual Address</a:t>
              </a:r>
              <a:endParaRPr kumimoji="1" lang="zh-TW" alt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34DDDAD3-C6A1-AF50-C517-D0CF5F6FEAF1}"/>
              </a:ext>
            </a:extLst>
          </p:cNvPr>
          <p:cNvGrpSpPr/>
          <p:nvPr/>
        </p:nvGrpSpPr>
        <p:grpSpPr>
          <a:xfrm>
            <a:off x="3243490" y="2636880"/>
            <a:ext cx="1583563" cy="338554"/>
            <a:chOff x="2918343" y="808985"/>
            <a:chExt cx="1583563" cy="338554"/>
          </a:xfrm>
        </p:grpSpPr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9B3F5015-6CAC-9553-63CE-EB52EDE88CBD}"/>
                </a:ext>
              </a:extLst>
            </p:cNvPr>
            <p:cNvSpPr txBox="1"/>
            <p:nvPr/>
          </p:nvSpPr>
          <p:spPr>
            <a:xfrm>
              <a:off x="3224505" y="808985"/>
              <a:ext cx="12774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latin typeface="Arial" panose="020B0604020202020204" pitchFamily="34" charset="0"/>
                  <a:cs typeface="Arial" panose="020B0604020202020204" pitchFamily="34" charset="0"/>
                </a:rPr>
                <a:t>pgd_offset()</a:t>
              </a:r>
              <a:endParaRPr kumimoji="1" lang="zh-TW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144F4E3B-4975-67AD-7275-695F603111E9}"/>
                </a:ext>
              </a:extLst>
            </p:cNvPr>
            <p:cNvSpPr/>
            <p:nvPr/>
          </p:nvSpPr>
          <p:spPr>
            <a:xfrm>
              <a:off x="2918343" y="811673"/>
              <a:ext cx="303397" cy="3024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0" hangingPunct="0"/>
              <a:r>
                <a:rPr kumimoji="1" lang="en-US" altLang="zh-TW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kumimoji="1" lang="zh-TW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F63E3EE4-F306-8B7A-2B96-55582F899157}"/>
              </a:ext>
            </a:extLst>
          </p:cNvPr>
          <p:cNvGrpSpPr/>
          <p:nvPr/>
        </p:nvGrpSpPr>
        <p:grpSpPr>
          <a:xfrm>
            <a:off x="2103781" y="3811600"/>
            <a:ext cx="1023125" cy="2863179"/>
            <a:chOff x="2103781" y="3811600"/>
            <a:chExt cx="1023125" cy="2863179"/>
          </a:xfrm>
        </p:grpSpPr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48C01CAC-CDFD-A3D8-3D68-84CDBE956935}"/>
                </a:ext>
              </a:extLst>
            </p:cNvPr>
            <p:cNvCxnSpPr>
              <a:cxnSpLocks/>
              <a:endCxn id="19" idx="4"/>
            </p:cNvCxnSpPr>
            <p:nvPr/>
          </p:nvCxnSpPr>
          <p:spPr>
            <a:xfrm flipV="1">
              <a:off x="2459769" y="6352787"/>
              <a:ext cx="1" cy="321992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3655458A-6314-90F6-5B5D-DD423CDC7A6B}"/>
                </a:ext>
              </a:extLst>
            </p:cNvPr>
            <p:cNvGrpSpPr/>
            <p:nvPr/>
          </p:nvGrpSpPr>
          <p:grpSpPr>
            <a:xfrm>
              <a:off x="2103781" y="3811600"/>
              <a:ext cx="1023125" cy="2541187"/>
              <a:chOff x="2103781" y="3811600"/>
              <a:chExt cx="1023125" cy="2541187"/>
            </a:xfrm>
          </p:grpSpPr>
          <p:cxnSp>
            <p:nvCxnSpPr>
              <p:cNvPr id="18" name="直線箭頭接點 17">
                <a:extLst>
                  <a:ext uri="{FF2B5EF4-FFF2-40B4-BE49-F238E27FC236}">
                    <a16:creationId xmlns:a16="http://schemas.microsoft.com/office/drawing/2014/main" id="{4F6EA94F-971A-2FDF-FBFE-B194679BCDFC}"/>
                  </a:ext>
                </a:extLst>
              </p:cNvPr>
              <p:cNvCxnSpPr>
                <a:cxnSpLocks/>
                <a:stCxn id="6" idx="2"/>
                <a:endCxn id="19" idx="0"/>
              </p:cNvCxnSpPr>
              <p:nvPr/>
            </p:nvCxnSpPr>
            <p:spPr>
              <a:xfrm rot="5400000">
                <a:off x="1673945" y="4597426"/>
                <a:ext cx="2238787" cy="667135"/>
              </a:xfrm>
              <a:prstGeom prst="bentConnector3">
                <a:avLst>
                  <a:gd name="adj1" fmla="val 12560"/>
                </a:avLst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0415C2A7-A303-A108-8E2F-C2A54C6BB58C}"/>
                  </a:ext>
                </a:extLst>
              </p:cNvPr>
              <p:cNvSpPr/>
              <p:nvPr/>
            </p:nvSpPr>
            <p:spPr>
              <a:xfrm>
                <a:off x="2308071" y="6050387"/>
                <a:ext cx="303397" cy="3024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0" hangingPunct="0"/>
                <a:r>
                  <a:rPr kumimoji="1" lang="en-US" altLang="zh-TW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kumimoji="1" lang="zh-TW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8A51CBD1-3958-9B33-7314-656C614CB989}"/>
                  </a:ext>
                </a:extLst>
              </p:cNvPr>
              <p:cNvCxnSpPr>
                <a:cxnSpLocks/>
                <a:stCxn id="19" idx="6"/>
                <a:endCxn id="27" idx="1"/>
              </p:cNvCxnSpPr>
              <p:nvPr/>
            </p:nvCxnSpPr>
            <p:spPr>
              <a:xfrm flipV="1">
                <a:off x="2611468" y="6201284"/>
                <a:ext cx="378799" cy="303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橢圓 85">
                <a:extLst>
                  <a:ext uri="{FF2B5EF4-FFF2-40B4-BE49-F238E27FC236}">
                    <a16:creationId xmlns:a16="http://schemas.microsoft.com/office/drawing/2014/main" id="{ABDF1BB0-9732-9F7E-2805-CA032547980E}"/>
                  </a:ext>
                </a:extLst>
              </p:cNvPr>
              <p:cNvSpPr/>
              <p:nvPr/>
            </p:nvSpPr>
            <p:spPr>
              <a:xfrm>
                <a:off x="2103781" y="5892594"/>
                <a:ext cx="246580" cy="23238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kumimoji="1" lang="zh-TW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E29BE4CE-CD12-47E2-2BCC-B8B2F226DE80}"/>
              </a:ext>
            </a:extLst>
          </p:cNvPr>
          <p:cNvGrpSpPr/>
          <p:nvPr/>
        </p:nvGrpSpPr>
        <p:grpSpPr>
          <a:xfrm>
            <a:off x="4080311" y="2636880"/>
            <a:ext cx="2339278" cy="4034347"/>
            <a:chOff x="4080311" y="2636880"/>
            <a:chExt cx="2339278" cy="4034347"/>
          </a:xfrm>
        </p:grpSpPr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6029E164-9BFC-4FA6-0031-CF0AABBC0508}"/>
                </a:ext>
              </a:extLst>
            </p:cNvPr>
            <p:cNvGrpSpPr/>
            <p:nvPr/>
          </p:nvGrpSpPr>
          <p:grpSpPr>
            <a:xfrm>
              <a:off x="4823321" y="2636880"/>
              <a:ext cx="1596268" cy="338554"/>
              <a:chOff x="4511650" y="808985"/>
              <a:chExt cx="1596268" cy="338554"/>
            </a:xfrm>
          </p:grpSpPr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8C595D7-2A6B-F635-1945-090F536A913D}"/>
                  </a:ext>
                </a:extLst>
              </p:cNvPr>
              <p:cNvSpPr txBox="1"/>
              <p:nvPr/>
            </p:nvSpPr>
            <p:spPr>
              <a:xfrm>
                <a:off x="4830517" y="808985"/>
                <a:ext cx="12774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pud_offset()</a:t>
                </a:r>
                <a:endParaRPr kumimoji="1" lang="zh-TW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橢圓 73">
                <a:extLst>
                  <a:ext uri="{FF2B5EF4-FFF2-40B4-BE49-F238E27FC236}">
                    <a16:creationId xmlns:a16="http://schemas.microsoft.com/office/drawing/2014/main" id="{C7C99101-DEC8-7C0C-09A4-4C505188DFF0}"/>
                  </a:ext>
                </a:extLst>
              </p:cNvPr>
              <p:cNvSpPr/>
              <p:nvPr/>
            </p:nvSpPr>
            <p:spPr>
              <a:xfrm>
                <a:off x="4511650" y="811673"/>
                <a:ext cx="303397" cy="302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0" hangingPunct="0"/>
                <a:r>
                  <a:rPr kumimoji="1" lang="en-US" altLang="zh-TW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kumimoji="1" lang="zh-TW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9038E439-EDF2-1C06-A041-B86E2C2C424D}"/>
                </a:ext>
              </a:extLst>
            </p:cNvPr>
            <p:cNvGrpSpPr/>
            <p:nvPr/>
          </p:nvGrpSpPr>
          <p:grpSpPr>
            <a:xfrm>
              <a:off x="4080311" y="3820857"/>
              <a:ext cx="830211" cy="2850370"/>
              <a:chOff x="4080311" y="3820857"/>
              <a:chExt cx="830211" cy="2850370"/>
            </a:xfrm>
          </p:grpSpPr>
          <p:cxnSp>
            <p:nvCxnSpPr>
              <p:cNvPr id="29" name="直線箭頭接點 28">
                <a:extLst>
                  <a:ext uri="{FF2B5EF4-FFF2-40B4-BE49-F238E27FC236}">
                    <a16:creationId xmlns:a16="http://schemas.microsoft.com/office/drawing/2014/main" id="{3E57699C-C8EC-CC54-C6F1-9C6E5D68B523}"/>
                  </a:ext>
                </a:extLst>
              </p:cNvPr>
              <p:cNvCxnSpPr>
                <a:cxnSpLocks/>
                <a:endCxn id="71" idx="0"/>
              </p:cNvCxnSpPr>
              <p:nvPr/>
            </p:nvCxnSpPr>
            <p:spPr>
              <a:xfrm>
                <a:off x="4412169" y="3820857"/>
                <a:ext cx="0" cy="13616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68EBDAB1-196F-9661-0854-769DD0EBBA53}"/>
                  </a:ext>
                </a:extLst>
              </p:cNvPr>
              <p:cNvCxnSpPr>
                <a:cxnSpLocks/>
                <a:endCxn id="71" idx="4"/>
              </p:cNvCxnSpPr>
              <p:nvPr/>
            </p:nvCxnSpPr>
            <p:spPr>
              <a:xfrm flipV="1">
                <a:off x="4412169" y="5484860"/>
                <a:ext cx="0" cy="118636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53D97332-D40A-B524-78B5-AD6F410829CC}"/>
                  </a:ext>
                </a:extLst>
              </p:cNvPr>
              <p:cNvCxnSpPr>
                <a:cxnSpLocks/>
                <a:stCxn id="71" idx="6"/>
                <a:endCxn id="52" idx="1"/>
              </p:cNvCxnSpPr>
              <p:nvPr/>
            </p:nvCxnSpPr>
            <p:spPr>
              <a:xfrm flipV="1">
                <a:off x="4563867" y="5333093"/>
                <a:ext cx="346655" cy="56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928921E1-4A1D-B938-E13E-2B77A6711029}"/>
                  </a:ext>
                </a:extLst>
              </p:cNvPr>
              <p:cNvSpPr/>
              <p:nvPr/>
            </p:nvSpPr>
            <p:spPr>
              <a:xfrm>
                <a:off x="4260470" y="5182460"/>
                <a:ext cx="303397" cy="302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0" hangingPunct="0"/>
                <a:r>
                  <a:rPr kumimoji="1" lang="en-US" altLang="zh-TW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kumimoji="1" lang="zh-TW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橢圓 86">
                <a:extLst>
                  <a:ext uri="{FF2B5EF4-FFF2-40B4-BE49-F238E27FC236}">
                    <a16:creationId xmlns:a16="http://schemas.microsoft.com/office/drawing/2014/main" id="{BA7D12AE-7D59-A1C8-9B42-FB340430B31E}"/>
                  </a:ext>
                </a:extLst>
              </p:cNvPr>
              <p:cNvSpPr/>
              <p:nvPr/>
            </p:nvSpPr>
            <p:spPr>
              <a:xfrm>
                <a:off x="4080311" y="4979169"/>
                <a:ext cx="246580" cy="23238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kumimoji="1" lang="zh-TW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C9700EC9-55D5-1239-DA9A-E08517C2547D}"/>
              </a:ext>
            </a:extLst>
          </p:cNvPr>
          <p:cNvGrpSpPr/>
          <p:nvPr/>
        </p:nvGrpSpPr>
        <p:grpSpPr>
          <a:xfrm>
            <a:off x="6082271" y="2636880"/>
            <a:ext cx="1973370" cy="4025086"/>
            <a:chOff x="6082271" y="2636880"/>
            <a:chExt cx="1973370" cy="4025086"/>
          </a:xfrm>
        </p:grpSpPr>
        <p:cxnSp>
          <p:nvCxnSpPr>
            <p:cNvPr id="34" name="直線箭頭接點 33">
              <a:extLst>
                <a:ext uri="{FF2B5EF4-FFF2-40B4-BE49-F238E27FC236}">
                  <a16:creationId xmlns:a16="http://schemas.microsoft.com/office/drawing/2014/main" id="{02C3F9EB-5FAF-9652-4EE7-E340BFFC0824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6393111" y="3811596"/>
              <a:ext cx="0" cy="16866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52AF8AF2-CFDC-2B95-D57F-0CCE1C262A30}"/>
                </a:ext>
              </a:extLst>
            </p:cNvPr>
            <p:cNvCxnSpPr>
              <a:cxnSpLocks/>
              <a:endCxn id="78" idx="4"/>
            </p:cNvCxnSpPr>
            <p:nvPr/>
          </p:nvCxnSpPr>
          <p:spPr>
            <a:xfrm flipV="1">
              <a:off x="6393111" y="5800597"/>
              <a:ext cx="0" cy="861369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14A57174-BCD7-7CD8-68CE-2043C281EB4F}"/>
                </a:ext>
              </a:extLst>
            </p:cNvPr>
            <p:cNvCxnSpPr>
              <a:cxnSpLocks/>
              <a:stCxn id="78" idx="6"/>
              <a:endCxn id="54" idx="1"/>
            </p:cNvCxnSpPr>
            <p:nvPr/>
          </p:nvCxnSpPr>
          <p:spPr>
            <a:xfrm>
              <a:off x="6544809" y="5649397"/>
              <a:ext cx="28935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81F1BF88-F9F0-673E-AFDF-E5ECB0D5F32B}"/>
                </a:ext>
              </a:extLst>
            </p:cNvPr>
            <p:cNvSpPr/>
            <p:nvPr/>
          </p:nvSpPr>
          <p:spPr>
            <a:xfrm>
              <a:off x="6241412" y="5498197"/>
              <a:ext cx="303397" cy="3024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0" hangingPunct="0"/>
              <a:r>
                <a:rPr kumimoji="1" lang="en-US" altLang="zh-TW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kumimoji="1" lang="zh-TW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E32AF9D5-7DE6-9DD5-CC0E-2A10EEF2E53E}"/>
                </a:ext>
              </a:extLst>
            </p:cNvPr>
            <p:cNvGrpSpPr/>
            <p:nvPr/>
          </p:nvGrpSpPr>
          <p:grpSpPr>
            <a:xfrm>
              <a:off x="6415857" y="2636880"/>
              <a:ext cx="1639784" cy="338554"/>
              <a:chOff x="6100817" y="808985"/>
              <a:chExt cx="1639784" cy="338554"/>
            </a:xfrm>
          </p:grpSpPr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934DCA90-967B-36A4-D44E-810929C5E450}"/>
                  </a:ext>
                </a:extLst>
              </p:cNvPr>
              <p:cNvSpPr txBox="1"/>
              <p:nvPr/>
            </p:nvSpPr>
            <p:spPr>
              <a:xfrm>
                <a:off x="6405492" y="808985"/>
                <a:ext cx="133510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pmd_offset()</a:t>
                </a:r>
                <a:endParaRPr kumimoji="1" lang="zh-TW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橢圓 80">
                <a:extLst>
                  <a:ext uri="{FF2B5EF4-FFF2-40B4-BE49-F238E27FC236}">
                    <a16:creationId xmlns:a16="http://schemas.microsoft.com/office/drawing/2014/main" id="{BE42632E-65A3-B63A-7736-99314953F79F}"/>
                  </a:ext>
                </a:extLst>
              </p:cNvPr>
              <p:cNvSpPr/>
              <p:nvPr/>
            </p:nvSpPr>
            <p:spPr>
              <a:xfrm>
                <a:off x="6100817" y="811673"/>
                <a:ext cx="303397" cy="302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0" hangingPunct="0"/>
                <a:r>
                  <a:rPr kumimoji="1" lang="en-US" altLang="zh-TW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kumimoji="1" lang="zh-TW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EE4A3F90-0834-61C4-4BDF-A84BEA7BD19F}"/>
                </a:ext>
              </a:extLst>
            </p:cNvPr>
            <p:cNvSpPr/>
            <p:nvPr/>
          </p:nvSpPr>
          <p:spPr>
            <a:xfrm>
              <a:off x="6082271" y="5291647"/>
              <a:ext cx="246580" cy="2323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1" lang="zh-TW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6" name="群組 115">
            <a:extLst>
              <a:ext uri="{FF2B5EF4-FFF2-40B4-BE49-F238E27FC236}">
                <a16:creationId xmlns:a16="http://schemas.microsoft.com/office/drawing/2014/main" id="{37508152-B090-D8BE-7D11-8778D80B5AB3}"/>
              </a:ext>
            </a:extLst>
          </p:cNvPr>
          <p:cNvGrpSpPr/>
          <p:nvPr/>
        </p:nvGrpSpPr>
        <p:grpSpPr>
          <a:xfrm>
            <a:off x="7446906" y="2636880"/>
            <a:ext cx="2134628" cy="4008917"/>
            <a:chOff x="7446906" y="2636880"/>
            <a:chExt cx="2134628" cy="4008917"/>
          </a:xfrm>
        </p:grpSpPr>
        <p:cxnSp>
          <p:nvCxnSpPr>
            <p:cNvPr id="43" name="直線箭頭接點 81">
              <a:extLst>
                <a:ext uri="{FF2B5EF4-FFF2-40B4-BE49-F238E27FC236}">
                  <a16:creationId xmlns:a16="http://schemas.microsoft.com/office/drawing/2014/main" id="{1DAC767E-9B0B-8179-A3E1-B65D3A5B488D}"/>
                </a:ext>
              </a:extLst>
            </p:cNvPr>
            <p:cNvCxnSpPr>
              <a:cxnSpLocks/>
              <a:stCxn id="10" idx="2"/>
              <a:endCxn id="82" idx="0"/>
            </p:cNvCxnSpPr>
            <p:nvPr/>
          </p:nvCxnSpPr>
          <p:spPr>
            <a:xfrm rot="16200000" flipH="1">
              <a:off x="6947696" y="4310806"/>
              <a:ext cx="1946121" cy="947702"/>
            </a:xfrm>
            <a:prstGeom prst="bentConnector3">
              <a:avLst>
                <a:gd name="adj1" fmla="val 13714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C8C43A20-31A8-6A56-86FC-EAD16F8D3FD8}"/>
                </a:ext>
              </a:extLst>
            </p:cNvPr>
            <p:cNvCxnSpPr>
              <a:cxnSpLocks/>
              <a:endCxn id="82" idx="4"/>
            </p:cNvCxnSpPr>
            <p:nvPr/>
          </p:nvCxnSpPr>
          <p:spPr>
            <a:xfrm flipV="1">
              <a:off x="8394607" y="6060118"/>
              <a:ext cx="0" cy="585679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0722C3DA-D689-64D1-1BA2-62F138B7CB11}"/>
                </a:ext>
              </a:extLst>
            </p:cNvPr>
            <p:cNvCxnSpPr>
              <a:cxnSpLocks/>
              <a:stCxn id="82" idx="6"/>
              <a:endCxn id="62" idx="1"/>
            </p:cNvCxnSpPr>
            <p:nvPr/>
          </p:nvCxnSpPr>
          <p:spPr>
            <a:xfrm>
              <a:off x="8546305" y="5908918"/>
              <a:ext cx="18685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833E2B94-6735-93BC-FB34-4B94309EF32E}"/>
                </a:ext>
              </a:extLst>
            </p:cNvPr>
            <p:cNvSpPr/>
            <p:nvPr/>
          </p:nvSpPr>
          <p:spPr>
            <a:xfrm>
              <a:off x="8242908" y="5757718"/>
              <a:ext cx="303397" cy="3024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0" hangingPunct="0"/>
              <a:r>
                <a:rPr kumimoji="1" lang="en-US" altLang="zh-TW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kumimoji="1" lang="zh-TW" alt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F3754E51-C472-D508-2587-F9A8842A8B76}"/>
                </a:ext>
              </a:extLst>
            </p:cNvPr>
            <p:cNvGrpSpPr/>
            <p:nvPr/>
          </p:nvGrpSpPr>
          <p:grpSpPr>
            <a:xfrm>
              <a:off x="8051910" y="2636880"/>
              <a:ext cx="1529624" cy="338554"/>
              <a:chOff x="7726763" y="808985"/>
              <a:chExt cx="1529624" cy="338554"/>
            </a:xfrm>
          </p:grpSpPr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E803769A-82B4-E4A2-59DA-EEC155710E80}"/>
                  </a:ext>
                </a:extLst>
              </p:cNvPr>
              <p:cNvSpPr txBox="1"/>
              <p:nvPr/>
            </p:nvSpPr>
            <p:spPr>
              <a:xfrm>
                <a:off x="8035091" y="808985"/>
                <a:ext cx="12212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pte_offset()</a:t>
                </a:r>
                <a:endParaRPr kumimoji="1" lang="zh-TW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橢圓 84">
                <a:extLst>
                  <a:ext uri="{FF2B5EF4-FFF2-40B4-BE49-F238E27FC236}">
                    <a16:creationId xmlns:a16="http://schemas.microsoft.com/office/drawing/2014/main" id="{3DEAA3D7-76C8-C5E6-5229-7E12087574E7}"/>
                  </a:ext>
                </a:extLst>
              </p:cNvPr>
              <p:cNvSpPr/>
              <p:nvPr/>
            </p:nvSpPr>
            <p:spPr>
              <a:xfrm>
                <a:off x="7726763" y="811673"/>
                <a:ext cx="303397" cy="302400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0" hangingPunct="0"/>
                <a:r>
                  <a:rPr kumimoji="1" lang="en-US" altLang="zh-TW" sz="2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kumimoji="1" lang="zh-TW" altLang="en-US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7C0B616F-C472-EBBF-A05E-A37AEBCD48AB}"/>
                </a:ext>
              </a:extLst>
            </p:cNvPr>
            <p:cNvSpPr/>
            <p:nvPr/>
          </p:nvSpPr>
          <p:spPr>
            <a:xfrm>
              <a:off x="8040258" y="5586363"/>
              <a:ext cx="246580" cy="2323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kumimoji="1" lang="zh-TW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3" name="矩形 92">
            <a:extLst>
              <a:ext uri="{FF2B5EF4-FFF2-40B4-BE49-F238E27FC236}">
                <a16:creationId xmlns:a16="http://schemas.microsoft.com/office/drawing/2014/main" id="{13FEF21A-E969-4293-F641-C40EE0968408}"/>
              </a:ext>
            </a:extLst>
          </p:cNvPr>
          <p:cNvSpPr/>
          <p:nvPr/>
        </p:nvSpPr>
        <p:spPr>
          <a:xfrm>
            <a:off x="10670277" y="2695374"/>
            <a:ext cx="1500198" cy="39228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35000">
                <a:schemeClr val="bg1">
                  <a:lumMod val="95000"/>
                  <a:alpha val="31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53EE9CAA-EC39-8C6B-3DB8-BC14015783B5}"/>
              </a:ext>
            </a:extLst>
          </p:cNvPr>
          <p:cNvSpPr txBox="1"/>
          <p:nvPr/>
        </p:nvSpPr>
        <p:spPr>
          <a:xfrm>
            <a:off x="10719939" y="63472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0bit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CCE7013-93FF-DF7E-50B6-6A8A8765CFFE}"/>
              </a:ext>
            </a:extLst>
          </p:cNvPr>
          <p:cNvSpPr/>
          <p:nvPr/>
        </p:nvSpPr>
        <p:spPr>
          <a:xfrm>
            <a:off x="11133359" y="2836935"/>
            <a:ext cx="900000" cy="11170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Reserved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019A184-94FA-C921-3361-C3C89CF86972}"/>
              </a:ext>
            </a:extLst>
          </p:cNvPr>
          <p:cNvSpPr/>
          <p:nvPr/>
        </p:nvSpPr>
        <p:spPr>
          <a:xfrm>
            <a:off x="11133359" y="5417696"/>
            <a:ext cx="900000" cy="1124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Bits</a:t>
            </a:r>
            <a:br>
              <a:rPr kumimoji="1" lang="en-US" altLang="zh-TW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TW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Present bit)</a:t>
            </a: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AF45E9FA-449B-0518-7519-3CFE7B90C835}"/>
              </a:ext>
            </a:extLst>
          </p:cNvPr>
          <p:cNvSpPr txBox="1"/>
          <p:nvPr/>
        </p:nvSpPr>
        <p:spPr>
          <a:xfrm>
            <a:off x="10620552" y="523273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12bit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646BB50-EAA0-30A9-0AA4-C7A587E74566}"/>
              </a:ext>
            </a:extLst>
          </p:cNvPr>
          <p:cNvSpPr txBox="1"/>
          <p:nvPr/>
        </p:nvSpPr>
        <p:spPr>
          <a:xfrm>
            <a:off x="10620552" y="378258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48bit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66AF9FD1-168B-D364-A37D-595A7D01BE2A}"/>
              </a:ext>
            </a:extLst>
          </p:cNvPr>
          <p:cNvSpPr txBox="1"/>
          <p:nvPr/>
        </p:nvSpPr>
        <p:spPr>
          <a:xfrm>
            <a:off x="10620552" y="269537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64bit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86749D49-8003-6979-5538-AA274F63C2A4}"/>
              </a:ext>
            </a:extLst>
          </p:cNvPr>
          <p:cNvGrpSpPr/>
          <p:nvPr/>
        </p:nvGrpSpPr>
        <p:grpSpPr>
          <a:xfrm>
            <a:off x="291152" y="4213790"/>
            <a:ext cx="4231093" cy="2466410"/>
            <a:chOff x="291152" y="4213790"/>
            <a:chExt cx="4231093" cy="246641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5AD0DA4-ADD3-C0BB-2856-66854884F751}"/>
                </a:ext>
              </a:extLst>
            </p:cNvPr>
            <p:cNvSpPr/>
            <p:nvPr/>
          </p:nvSpPr>
          <p:spPr>
            <a:xfrm>
              <a:off x="291152" y="6154683"/>
              <a:ext cx="1408136" cy="5255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PGD </a:t>
              </a:r>
              <a:b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TW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 Address</a:t>
              </a:r>
            </a:p>
          </p:txBody>
        </p:sp>
        <p:sp>
          <p:nvSpPr>
            <p:cNvPr id="21" name="摺角紙張 20">
              <a:extLst>
                <a:ext uri="{FF2B5EF4-FFF2-40B4-BE49-F238E27FC236}">
                  <a16:creationId xmlns:a16="http://schemas.microsoft.com/office/drawing/2014/main" id="{2F0B1E0A-9939-5705-AAE6-BB9A00889D3E}"/>
                </a:ext>
              </a:extLst>
            </p:cNvPr>
            <p:cNvSpPr/>
            <p:nvPr/>
          </p:nvSpPr>
          <p:spPr>
            <a:xfrm rot="10800000" flipH="1">
              <a:off x="2944956" y="4850916"/>
              <a:ext cx="1057163" cy="1827252"/>
            </a:xfrm>
            <a:prstGeom prst="foldedCorner">
              <a:avLst>
                <a:gd name="adj" fmla="val 2562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037B4FF3-B75B-EA1D-4C34-239A3A48F6D4}"/>
                </a:ext>
              </a:extLst>
            </p:cNvPr>
            <p:cNvSpPr txBox="1"/>
            <p:nvPr/>
          </p:nvSpPr>
          <p:spPr>
            <a:xfrm>
              <a:off x="2399549" y="4213790"/>
              <a:ext cx="212269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Page Global Directory </a:t>
              </a:r>
            </a:p>
            <a:p>
              <a:pPr algn="ctr"/>
              <a:r>
                <a:rPr kumimoji="1" lang="en-US" altLang="zh-TW" sz="1500" dirty="0">
                  <a:latin typeface="Arial" panose="020B0604020202020204" pitchFamily="34" charset="0"/>
                  <a:cs typeface="Arial" panose="020B0604020202020204" pitchFamily="34" charset="0"/>
                </a:rPr>
                <a:t>(PGD) Table</a:t>
              </a:r>
              <a:endParaRPr kumimoji="1" lang="zh-TW" alt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直線接點 30">
              <a:extLst>
                <a:ext uri="{FF2B5EF4-FFF2-40B4-BE49-F238E27FC236}">
                  <a16:creationId xmlns:a16="http://schemas.microsoft.com/office/drawing/2014/main" id="{0C5C9FEA-E5C7-4AEA-B169-32AB8330B28A}"/>
                </a:ext>
              </a:extLst>
            </p:cNvPr>
            <p:cNvCxnSpPr>
              <a:cxnSpLocks/>
            </p:cNvCxnSpPr>
            <p:nvPr/>
          </p:nvCxnSpPr>
          <p:spPr>
            <a:xfrm>
              <a:off x="1699128" y="6377987"/>
              <a:ext cx="1248121" cy="291869"/>
            </a:xfrm>
            <a:prstGeom prst="bentConnector3">
              <a:avLst>
                <a:gd name="adj1" fmla="val 2157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4BAD205-6941-F4CF-7222-03C98D554A57}"/>
                </a:ext>
              </a:extLst>
            </p:cNvPr>
            <p:cNvSpPr/>
            <p:nvPr/>
          </p:nvSpPr>
          <p:spPr>
            <a:xfrm>
              <a:off x="2990267" y="6385089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PGD Entry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2001B0-A5E2-4218-A2C0-E9E8F9C7BC43}"/>
                </a:ext>
              </a:extLst>
            </p:cNvPr>
            <p:cNvSpPr/>
            <p:nvPr/>
          </p:nvSpPr>
          <p:spPr>
            <a:xfrm>
              <a:off x="2990267" y="6075284"/>
              <a:ext cx="937358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PGD Entry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BBECF87-74A7-99D1-D24A-06F28ACCF35C}"/>
                </a:ext>
              </a:extLst>
            </p:cNvPr>
            <p:cNvSpPr/>
            <p:nvPr/>
          </p:nvSpPr>
          <p:spPr>
            <a:xfrm>
              <a:off x="2990267" y="5207093"/>
              <a:ext cx="936000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PGD Entry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2D159CF3-2910-50BF-6E9D-EEEABA0AB79D}"/>
                </a:ext>
              </a:extLst>
            </p:cNvPr>
            <p:cNvSpPr txBox="1"/>
            <p:nvPr/>
          </p:nvSpPr>
          <p:spPr>
            <a:xfrm rot="5400000">
              <a:off x="3308359" y="5610654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kumimoji="1" lang="zh-TW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橢圓 99">
              <a:extLst>
                <a:ext uri="{FF2B5EF4-FFF2-40B4-BE49-F238E27FC236}">
                  <a16:creationId xmlns:a16="http://schemas.microsoft.com/office/drawing/2014/main" id="{C3CCFCD4-6A3D-BCB3-E430-BD8E39BBF887}"/>
                </a:ext>
              </a:extLst>
            </p:cNvPr>
            <p:cNvSpPr/>
            <p:nvPr/>
          </p:nvSpPr>
          <p:spPr>
            <a:xfrm>
              <a:off x="867916" y="5897208"/>
              <a:ext cx="246580" cy="2323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TW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1" name="矩形 100">
            <a:extLst>
              <a:ext uri="{FF2B5EF4-FFF2-40B4-BE49-F238E27FC236}">
                <a16:creationId xmlns:a16="http://schemas.microsoft.com/office/drawing/2014/main" id="{56753A9C-E344-F880-9403-857CFCE32093}"/>
              </a:ext>
            </a:extLst>
          </p:cNvPr>
          <p:cNvSpPr/>
          <p:nvPr/>
        </p:nvSpPr>
        <p:spPr>
          <a:xfrm>
            <a:off x="11133360" y="3954904"/>
            <a:ext cx="900000" cy="1462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kumimoji="1" lang="zh-TW" alt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TW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TW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</a:p>
        </p:txBody>
      </p:sp>
      <p:sp>
        <p:nvSpPr>
          <p:cNvPr id="102" name="不規則四邊形 347">
            <a:extLst>
              <a:ext uri="{FF2B5EF4-FFF2-40B4-BE49-F238E27FC236}">
                <a16:creationId xmlns:a16="http://schemas.microsoft.com/office/drawing/2014/main" id="{E0E988C9-62FB-4886-02F1-EA3BBDA522C6}"/>
              </a:ext>
            </a:extLst>
          </p:cNvPr>
          <p:cNvSpPr/>
          <p:nvPr/>
        </p:nvSpPr>
        <p:spPr>
          <a:xfrm rot="16200000">
            <a:off x="9876129" y="5790829"/>
            <a:ext cx="624179" cy="1036992"/>
          </a:xfrm>
          <a:custGeom>
            <a:avLst/>
            <a:gdLst>
              <a:gd name="connsiteX0" fmla="*/ 0 w 683153"/>
              <a:gd name="connsiteY0" fmla="*/ 1216152 h 1216152"/>
              <a:gd name="connsiteX1" fmla="*/ 214332 w 683153"/>
              <a:gd name="connsiteY1" fmla="*/ 0 h 1216152"/>
              <a:gd name="connsiteX2" fmla="*/ 468821 w 683153"/>
              <a:gd name="connsiteY2" fmla="*/ 0 h 1216152"/>
              <a:gd name="connsiteX3" fmla="*/ 683153 w 683153"/>
              <a:gd name="connsiteY3" fmla="*/ 1216152 h 1216152"/>
              <a:gd name="connsiteX4" fmla="*/ 0 w 683153"/>
              <a:gd name="connsiteY4" fmla="*/ 1216152 h 1216152"/>
              <a:gd name="connsiteX0" fmla="*/ 3383 w 468821"/>
              <a:gd name="connsiteY0" fmla="*/ 1027469 h 1216152"/>
              <a:gd name="connsiteX1" fmla="*/ 0 w 468821"/>
              <a:gd name="connsiteY1" fmla="*/ 0 h 1216152"/>
              <a:gd name="connsiteX2" fmla="*/ 254489 w 468821"/>
              <a:gd name="connsiteY2" fmla="*/ 0 h 1216152"/>
              <a:gd name="connsiteX3" fmla="*/ 468821 w 468821"/>
              <a:gd name="connsiteY3" fmla="*/ 1216152 h 1216152"/>
              <a:gd name="connsiteX4" fmla="*/ 3383 w 468821"/>
              <a:gd name="connsiteY4" fmla="*/ 1027469 h 1216152"/>
              <a:gd name="connsiteX0" fmla="*/ 3383 w 628478"/>
              <a:gd name="connsiteY0" fmla="*/ 1027469 h 1027469"/>
              <a:gd name="connsiteX1" fmla="*/ 0 w 628478"/>
              <a:gd name="connsiteY1" fmla="*/ 0 h 1027469"/>
              <a:gd name="connsiteX2" fmla="*/ 254489 w 628478"/>
              <a:gd name="connsiteY2" fmla="*/ 0 h 1027469"/>
              <a:gd name="connsiteX3" fmla="*/ 628478 w 628478"/>
              <a:gd name="connsiteY3" fmla="*/ 1020212 h 1027469"/>
              <a:gd name="connsiteX4" fmla="*/ 3383 w 628478"/>
              <a:gd name="connsiteY4" fmla="*/ 1027469 h 1027469"/>
              <a:gd name="connsiteX0" fmla="*/ 3383 w 628478"/>
              <a:gd name="connsiteY0" fmla="*/ 1036992 h 1036992"/>
              <a:gd name="connsiteX1" fmla="*/ 0 w 628478"/>
              <a:gd name="connsiteY1" fmla="*/ 9523 h 1036992"/>
              <a:gd name="connsiteX2" fmla="*/ 260839 w 628478"/>
              <a:gd name="connsiteY2" fmla="*/ 0 h 1036992"/>
              <a:gd name="connsiteX3" fmla="*/ 628478 w 628478"/>
              <a:gd name="connsiteY3" fmla="*/ 1029735 h 1036992"/>
              <a:gd name="connsiteX4" fmla="*/ 3383 w 628478"/>
              <a:gd name="connsiteY4" fmla="*/ 1036992 h 103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478" h="1036992">
                <a:moveTo>
                  <a:pt x="3383" y="1036992"/>
                </a:moveTo>
                <a:cubicBezTo>
                  <a:pt x="2255" y="694502"/>
                  <a:pt x="1128" y="352013"/>
                  <a:pt x="0" y="9523"/>
                </a:cubicBezTo>
                <a:lnTo>
                  <a:pt x="260839" y="0"/>
                </a:lnTo>
                <a:lnTo>
                  <a:pt x="628478" y="1029735"/>
                </a:lnTo>
                <a:lnTo>
                  <a:pt x="3383" y="1036992"/>
                </a:lnTo>
                <a:close/>
              </a:path>
            </a:pathLst>
          </a:custGeom>
          <a:gradFill flip="none" rotWithShape="1">
            <a:gsLst>
              <a:gs pos="24000">
                <a:schemeClr val="bg1">
                  <a:lumMod val="75000"/>
                </a:schemeClr>
              </a:gs>
              <a:gs pos="65000">
                <a:schemeClr val="bg1">
                  <a:lumMod val="95000"/>
                </a:schemeClr>
              </a:gs>
              <a:gs pos="0">
                <a:schemeClr val="bg1">
                  <a:lumMod val="50000"/>
                  <a:alpha val="64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882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/>
      <p:bldP spid="95" grpId="0" animBg="1"/>
      <p:bldP spid="96" grpId="0" animBg="1"/>
      <p:bldP spid="96" grpId="1" animBg="1"/>
      <p:bldP spid="97" grpId="0"/>
      <p:bldP spid="98" grpId="0"/>
      <p:bldP spid="99" grpId="0"/>
      <p:bldP spid="101" grpId="0" animBg="1"/>
      <p:bldP spid="101" grpId="1" animBg="1"/>
      <p:bldP spid="10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E57E11-B72A-4A81-FEF6-78747C3F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4-Level Page Tables for 64-bit System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47B279-0377-E641-FDFF-30A2047C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7218423" cy="544195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Page Size = 4KB (</a:t>
            </a:r>
            <a:r>
              <a:rPr lang="en-US" altLang="zh-TW" b="1" dirty="0"/>
              <a:t>2</a:t>
            </a:r>
            <a:r>
              <a:rPr lang="en-US" altLang="zh-TW" b="1" baseline="30000" dirty="0"/>
              <a:t>12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</a:p>
          <a:p>
            <a:pPr algn="l"/>
            <a:r>
              <a:rPr kumimoji="1" lang="en-US" altLang="zh-TW" dirty="0"/>
              <a:t>Virtual Address Space Size = </a:t>
            </a:r>
            <a:r>
              <a:rPr kumimoji="1" lang="en-US" altLang="zh-TW" b="1" dirty="0"/>
              <a:t>2</a:t>
            </a:r>
            <a:r>
              <a:rPr kumimoji="1" lang="en-US" altLang="zh-TW" b="1" baseline="30000" dirty="0"/>
              <a:t>48</a:t>
            </a:r>
            <a:r>
              <a:rPr lang="en-US" altLang="zh-TW" b="1" dirty="0"/>
              <a:t> B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(48-bit virtual address)</a:t>
            </a:r>
          </a:p>
          <a:p>
            <a:pPr algn="l"/>
            <a:r>
              <a:rPr kumimoji="1" lang="en-US" altLang="zh-TW" dirty="0"/>
              <a:t>Page Table Entry Size is </a:t>
            </a:r>
            <a:r>
              <a:rPr kumimoji="1" lang="en-US" altLang="zh-TW" b="1" dirty="0"/>
              <a:t>8B</a:t>
            </a:r>
          </a:p>
          <a:p>
            <a:pPr algn="l"/>
            <a:r>
              <a:rPr lang="en-US" altLang="zh-TW" dirty="0"/>
              <a:t>How many levels:</a:t>
            </a:r>
          </a:p>
          <a:p>
            <a:pPr lvl="1" algn="l"/>
            <a:r>
              <a:rPr lang="en-US" altLang="zh-TW" dirty="0"/>
              <a:t>Last-Level: (2</a:t>
            </a:r>
            <a:r>
              <a:rPr lang="en-US" altLang="zh-TW" baseline="30000" dirty="0"/>
              <a:t>48</a:t>
            </a:r>
            <a:r>
              <a:rPr lang="en-US" altLang="zh-TW" dirty="0"/>
              <a:t>/2</a:t>
            </a:r>
            <a:r>
              <a:rPr lang="en-US" altLang="zh-TW" baseline="30000" dirty="0"/>
              <a:t>12</a:t>
            </a:r>
            <a:r>
              <a:rPr lang="en-US" altLang="zh-TW" dirty="0"/>
              <a:t>)*8 = 2</a:t>
            </a:r>
            <a:r>
              <a:rPr lang="en-US" altLang="zh-TW" baseline="30000" dirty="0"/>
              <a:t>39 </a:t>
            </a:r>
            <a:r>
              <a:rPr lang="en-US" altLang="zh-TW" dirty="0"/>
              <a:t>B ( &gt; 2</a:t>
            </a:r>
            <a:r>
              <a:rPr lang="en-US" altLang="zh-TW" baseline="30000" dirty="0"/>
              <a:t>12</a:t>
            </a:r>
            <a:r>
              <a:rPr lang="en-US" altLang="zh-TW" dirty="0"/>
              <a:t>B)</a:t>
            </a:r>
          </a:p>
          <a:p>
            <a:pPr lvl="1" algn="l"/>
            <a:r>
              <a:rPr lang="en-US" altLang="zh-TW" dirty="0"/>
              <a:t>Last 2 Level: (2</a:t>
            </a:r>
            <a:r>
              <a:rPr lang="en-US" altLang="zh-TW" baseline="30000" dirty="0"/>
              <a:t>39</a:t>
            </a:r>
            <a:r>
              <a:rPr lang="en-US" altLang="zh-TW" dirty="0"/>
              <a:t>/2</a:t>
            </a:r>
            <a:r>
              <a:rPr lang="en-US" altLang="zh-TW" baseline="30000" dirty="0"/>
              <a:t>12</a:t>
            </a:r>
            <a:r>
              <a:rPr lang="en-US" altLang="zh-TW" dirty="0"/>
              <a:t>)*8 = 2</a:t>
            </a:r>
            <a:r>
              <a:rPr lang="en-US" altLang="zh-TW" baseline="30000" dirty="0"/>
              <a:t>30</a:t>
            </a:r>
            <a:r>
              <a:rPr lang="en-US" altLang="zh-TW" dirty="0"/>
              <a:t> B ( &gt; 2</a:t>
            </a:r>
            <a:r>
              <a:rPr lang="en-US" altLang="zh-TW" baseline="30000" dirty="0"/>
              <a:t>12</a:t>
            </a:r>
            <a:r>
              <a:rPr lang="en-US" altLang="zh-TW" dirty="0"/>
              <a:t>B)</a:t>
            </a:r>
          </a:p>
          <a:p>
            <a:pPr lvl="1" algn="l"/>
            <a:r>
              <a:rPr lang="en-US" altLang="zh-TW" dirty="0"/>
              <a:t>La</a:t>
            </a:r>
            <a:r>
              <a:rPr kumimoji="1" lang="en-US" altLang="zh-TW" dirty="0"/>
              <a:t>st 3 Level: </a:t>
            </a:r>
            <a:r>
              <a:rPr lang="en-US" altLang="zh-TW" dirty="0"/>
              <a:t>(2</a:t>
            </a:r>
            <a:r>
              <a:rPr lang="en-US" altLang="zh-TW" baseline="30000" dirty="0"/>
              <a:t>30</a:t>
            </a:r>
            <a:r>
              <a:rPr lang="en-US" altLang="zh-TW" dirty="0"/>
              <a:t>/2</a:t>
            </a:r>
            <a:r>
              <a:rPr lang="en-US" altLang="zh-TW" baseline="30000" dirty="0"/>
              <a:t>12</a:t>
            </a:r>
            <a:r>
              <a:rPr lang="en-US" altLang="zh-TW" dirty="0"/>
              <a:t>)*8 = 2</a:t>
            </a:r>
            <a:r>
              <a:rPr lang="en-US" altLang="zh-TW" baseline="30000" dirty="0"/>
              <a:t>21</a:t>
            </a:r>
            <a:r>
              <a:rPr lang="en-US" altLang="zh-TW" dirty="0"/>
              <a:t> B ( &gt; 2</a:t>
            </a:r>
            <a:r>
              <a:rPr lang="en-US" altLang="zh-TW" baseline="30000" dirty="0"/>
              <a:t>12</a:t>
            </a:r>
            <a:r>
              <a:rPr lang="en-US" altLang="zh-TW" dirty="0"/>
              <a:t>B)</a:t>
            </a:r>
          </a:p>
          <a:p>
            <a:pPr lvl="1" algn="l"/>
            <a:r>
              <a:rPr kumimoji="1" lang="en-US" altLang="zh-TW" dirty="0"/>
              <a:t>Last 4 Level: </a:t>
            </a:r>
            <a:r>
              <a:rPr lang="en-US" altLang="zh-TW" dirty="0"/>
              <a:t>(2</a:t>
            </a:r>
            <a:r>
              <a:rPr lang="en-US" altLang="zh-TW" baseline="30000" dirty="0"/>
              <a:t>21</a:t>
            </a:r>
            <a:r>
              <a:rPr lang="en-US" altLang="zh-TW" dirty="0"/>
              <a:t>/2</a:t>
            </a:r>
            <a:r>
              <a:rPr lang="en-US" altLang="zh-TW" baseline="30000" dirty="0"/>
              <a:t>12</a:t>
            </a:r>
            <a:r>
              <a:rPr lang="en-US" altLang="zh-TW" dirty="0"/>
              <a:t>)*8 = 2</a:t>
            </a:r>
            <a:r>
              <a:rPr lang="en-US" altLang="zh-TW" baseline="30000" dirty="0"/>
              <a:t>12</a:t>
            </a:r>
            <a:r>
              <a:rPr lang="en-US" altLang="zh-TW" dirty="0"/>
              <a:t> B ( &lt;= 2</a:t>
            </a:r>
            <a:r>
              <a:rPr lang="en-US" altLang="zh-TW" baseline="30000" dirty="0"/>
              <a:t>12</a:t>
            </a:r>
            <a:r>
              <a:rPr lang="en-US" altLang="zh-TW" dirty="0"/>
              <a:t>B)</a:t>
            </a:r>
          </a:p>
          <a:p>
            <a:pPr lvl="1" algn="l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30102A-5779-0379-D034-36A782D3A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1619F43-39CA-23A4-0D23-20428B75FF84}"/>
              </a:ext>
            </a:extLst>
          </p:cNvPr>
          <p:cNvSpPr txBox="1"/>
          <p:nvPr/>
        </p:nvSpPr>
        <p:spPr>
          <a:xfrm>
            <a:off x="0" y="6541700"/>
            <a:ext cx="5081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www.geeksforgeeks.org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/multilevel-paging-in-operating-system/</a:t>
            </a:r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97252250-10B7-E545-64E9-12338D8C4180}"/>
              </a:ext>
            </a:extLst>
          </p:cNvPr>
          <p:cNvGrpSpPr/>
          <p:nvPr/>
        </p:nvGrpSpPr>
        <p:grpSpPr>
          <a:xfrm>
            <a:off x="7397024" y="1804169"/>
            <a:ext cx="4440050" cy="608351"/>
            <a:chOff x="7397024" y="1804169"/>
            <a:chExt cx="4440050" cy="608351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FEF7DB0-B098-B091-46D5-DD7F8E607200}"/>
                </a:ext>
              </a:extLst>
            </p:cNvPr>
            <p:cNvSpPr txBox="1"/>
            <p:nvPr/>
          </p:nvSpPr>
          <p:spPr>
            <a:xfrm>
              <a:off x="10886686" y="1827745"/>
              <a:ext cx="9503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39 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B PTE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0409043F-316A-AE00-2F23-2794795401C4}"/>
                </a:ext>
              </a:extLst>
            </p:cNvPr>
            <p:cNvGrpSpPr/>
            <p:nvPr/>
          </p:nvGrpSpPr>
          <p:grpSpPr>
            <a:xfrm>
              <a:off x="7397024" y="1804169"/>
              <a:ext cx="3245247" cy="529702"/>
              <a:chOff x="7397024" y="1804169"/>
              <a:chExt cx="3245247" cy="529702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9F75635-D10D-F0C6-32AB-96A4F5032F44}"/>
                  </a:ext>
                </a:extLst>
              </p:cNvPr>
              <p:cNvSpPr/>
              <p:nvPr/>
            </p:nvSpPr>
            <p:spPr>
              <a:xfrm>
                <a:off x="7397024" y="2056872"/>
                <a:ext cx="457200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</a:rPr>
                  <a:t>PTE</a:t>
                </a:r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6849D97-FF6E-F6CC-22D7-52C976D6580D}"/>
                  </a:ext>
                </a:extLst>
              </p:cNvPr>
              <p:cNvSpPr/>
              <p:nvPr/>
            </p:nvSpPr>
            <p:spPr>
              <a:xfrm>
                <a:off x="8799489" y="2056872"/>
                <a:ext cx="457200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</a:rPr>
                  <a:t>PTE</a:t>
                </a:r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3FA9BEB-486E-9167-3839-68C52647E18C}"/>
                  </a:ext>
                </a:extLst>
              </p:cNvPr>
              <p:cNvSpPr/>
              <p:nvPr/>
            </p:nvSpPr>
            <p:spPr>
              <a:xfrm>
                <a:off x="10185071" y="2056872"/>
                <a:ext cx="457200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</a:rPr>
                  <a:t>PTE</a:t>
                </a:r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" name="直線箭頭接點 20">
                <a:extLst>
                  <a:ext uri="{FF2B5EF4-FFF2-40B4-BE49-F238E27FC236}">
                    <a16:creationId xmlns:a16="http://schemas.microsoft.com/office/drawing/2014/main" id="{3234DDD0-08A8-2954-74D2-820046406284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 flipV="1">
                <a:off x="7625224" y="1804169"/>
                <a:ext cx="0" cy="252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箭頭接點 24">
                <a:extLst>
                  <a:ext uri="{FF2B5EF4-FFF2-40B4-BE49-F238E27FC236}">
                    <a16:creationId xmlns:a16="http://schemas.microsoft.com/office/drawing/2014/main" id="{43CFFEE7-73B5-3A9E-5E22-838097066A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39265" y="1804169"/>
                <a:ext cx="0" cy="252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箭頭接點 25">
                <a:extLst>
                  <a:ext uri="{FF2B5EF4-FFF2-40B4-BE49-F238E27FC236}">
                    <a16:creationId xmlns:a16="http://schemas.microsoft.com/office/drawing/2014/main" id="{DC8821AC-8CF7-FC98-2C5D-415D606424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28227" y="1811921"/>
                <a:ext cx="0" cy="252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E406F6B-71FD-3314-4765-86D15AD3CD53}"/>
                  </a:ext>
                </a:extLst>
              </p:cNvPr>
              <p:cNvSpPr txBox="1"/>
              <p:nvPr/>
            </p:nvSpPr>
            <p:spPr>
              <a:xfrm>
                <a:off x="8118566" y="1915885"/>
                <a:ext cx="4667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/>
                  <a:t>……</a:t>
                </a:r>
                <a:endParaRPr kumimoji="1" lang="zh-TW" altLang="en-US" sz="1600" dirty="0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C779031-9033-85A9-9E6F-4FF41E3B11E5}"/>
                  </a:ext>
                </a:extLst>
              </p:cNvPr>
              <p:cNvSpPr txBox="1"/>
              <p:nvPr/>
            </p:nvSpPr>
            <p:spPr>
              <a:xfrm>
                <a:off x="9504234" y="1915885"/>
                <a:ext cx="4667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/>
                  <a:t>……</a:t>
                </a:r>
                <a:endParaRPr kumimoji="1" lang="zh-TW" altLang="en-US" sz="1600" dirty="0"/>
              </a:p>
            </p:txBody>
          </p:sp>
        </p:grp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4F0A3AD9-5BCD-A94A-7E6C-28D38DE5D7BB}"/>
              </a:ext>
            </a:extLst>
          </p:cNvPr>
          <p:cNvGrpSpPr/>
          <p:nvPr/>
        </p:nvGrpSpPr>
        <p:grpSpPr>
          <a:xfrm>
            <a:off x="5904094" y="1767999"/>
            <a:ext cx="4805598" cy="830997"/>
            <a:chOff x="5904094" y="1767999"/>
            <a:chExt cx="4805598" cy="830997"/>
          </a:xfrm>
        </p:grpSpPr>
        <p:sp>
          <p:nvSpPr>
            <p:cNvPr id="40" name="摺角紙張 39">
              <a:extLst>
                <a:ext uri="{FF2B5EF4-FFF2-40B4-BE49-F238E27FC236}">
                  <a16:creationId xmlns:a16="http://schemas.microsoft.com/office/drawing/2014/main" id="{7A13AA2B-6E0B-13DE-0979-DB898547D876}"/>
                </a:ext>
              </a:extLst>
            </p:cNvPr>
            <p:cNvSpPr/>
            <p:nvPr/>
          </p:nvSpPr>
          <p:spPr>
            <a:xfrm rot="10800000" flipH="1">
              <a:off x="7290487" y="1991198"/>
              <a:ext cx="3419205" cy="384600"/>
            </a:xfrm>
            <a:prstGeom prst="foldedCorner">
              <a:avLst>
                <a:gd name="adj" fmla="val 0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4648E435-8C84-FB9F-D9F7-446031DD6DE9}"/>
                </a:ext>
              </a:extLst>
            </p:cNvPr>
            <p:cNvSpPr txBox="1"/>
            <p:nvPr/>
          </p:nvSpPr>
          <p:spPr>
            <a:xfrm>
              <a:off x="5904094" y="1767999"/>
              <a:ext cx="14198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70C0"/>
                  </a:solidFill>
                </a:rPr>
                <a:t>Can’t fit in one page (or one page table)</a:t>
              </a:r>
              <a:endParaRPr kumimoji="1" lang="zh-TW" altLang="en-US" sz="1600" dirty="0">
                <a:solidFill>
                  <a:srgbClr val="0070C0"/>
                </a:solidFill>
              </a:endParaRPr>
            </a:p>
          </p:txBody>
        </p: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26283B3-39AC-8D58-F89D-6AAE50EE59A4}"/>
              </a:ext>
            </a:extLst>
          </p:cNvPr>
          <p:cNvSpPr txBox="1"/>
          <p:nvPr/>
        </p:nvSpPr>
        <p:spPr>
          <a:xfrm>
            <a:off x="10628936" y="4034546"/>
            <a:ext cx="13535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C00000"/>
                </a:solidFill>
              </a:rPr>
              <a:t>Last 3 level</a:t>
            </a:r>
          </a:p>
          <a:p>
            <a:pPr algn="ctr"/>
            <a:r>
              <a:rPr kumimoji="1" lang="en-US" altLang="zh-TW" sz="1600" dirty="0">
                <a:solidFill>
                  <a:srgbClr val="C00000"/>
                </a:solidFill>
              </a:rPr>
              <a:t>2</a:t>
            </a:r>
            <a:r>
              <a:rPr kumimoji="1" lang="en-US" altLang="zh-TW" sz="1600" baseline="30000" dirty="0">
                <a:solidFill>
                  <a:srgbClr val="C00000"/>
                </a:solidFill>
              </a:rPr>
              <a:t>18</a:t>
            </a:r>
            <a:r>
              <a:rPr kumimoji="1" lang="en-US" altLang="zh-TW" sz="1600" dirty="0">
                <a:solidFill>
                  <a:srgbClr val="C00000"/>
                </a:solidFill>
              </a:rPr>
              <a:t> Page Table</a:t>
            </a:r>
            <a:endParaRPr kumimoji="1" lang="zh-TW" altLang="en-US" sz="1600" dirty="0">
              <a:solidFill>
                <a:srgbClr val="C00000"/>
              </a:solidFill>
            </a:endParaRPr>
          </a:p>
        </p:txBody>
      </p: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26013CEF-CD54-B232-037D-B8F241F1F46E}"/>
              </a:ext>
            </a:extLst>
          </p:cNvPr>
          <p:cNvGrpSpPr/>
          <p:nvPr/>
        </p:nvGrpSpPr>
        <p:grpSpPr>
          <a:xfrm>
            <a:off x="7794362" y="3222315"/>
            <a:ext cx="4114515" cy="606853"/>
            <a:chOff x="7794362" y="3222315"/>
            <a:chExt cx="4114515" cy="60685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B5FA524-F43F-47B7-2567-16C08AECF7F8}"/>
                </a:ext>
              </a:extLst>
            </p:cNvPr>
            <p:cNvSpPr/>
            <p:nvPr/>
          </p:nvSpPr>
          <p:spPr>
            <a:xfrm>
              <a:off x="7794362" y="3466908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2CDC11E-C6C4-6909-D7ED-0AB1990373E2}"/>
                </a:ext>
              </a:extLst>
            </p:cNvPr>
            <p:cNvSpPr/>
            <p:nvPr/>
          </p:nvSpPr>
          <p:spPr>
            <a:xfrm>
              <a:off x="9820920" y="3466908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1232E5D1-898D-3FC8-F491-BD8E1FD765B7}"/>
                </a:ext>
              </a:extLst>
            </p:cNvPr>
            <p:cNvSpPr txBox="1"/>
            <p:nvPr/>
          </p:nvSpPr>
          <p:spPr>
            <a:xfrm>
              <a:off x="10807806" y="3244393"/>
              <a:ext cx="1101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2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30 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B PTE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  <p:cxnSp>
          <p:nvCxnSpPr>
            <p:cNvPr id="50" name="直線箭頭接點 49">
              <a:extLst>
                <a:ext uri="{FF2B5EF4-FFF2-40B4-BE49-F238E27FC236}">
                  <a16:creationId xmlns:a16="http://schemas.microsoft.com/office/drawing/2014/main" id="{1D70D272-95BB-05DE-CE6F-A942C0CDA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2562" y="3222315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箭頭接點 51">
              <a:extLst>
                <a:ext uri="{FF2B5EF4-FFF2-40B4-BE49-F238E27FC236}">
                  <a16:creationId xmlns:a16="http://schemas.microsoft.com/office/drawing/2014/main" id="{D82EC727-7289-10AE-5317-F9CE69E710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4076" y="3222315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92E64B09-6DE8-807B-6B15-CBEA56B027FA}"/>
                </a:ext>
              </a:extLst>
            </p:cNvPr>
            <p:cNvSpPr txBox="1"/>
            <p:nvPr/>
          </p:nvSpPr>
          <p:spPr>
            <a:xfrm>
              <a:off x="8844806" y="3376123"/>
              <a:ext cx="4667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/>
                <a:t>……</a:t>
              </a:r>
              <a:endParaRPr kumimoji="1" lang="zh-TW" altLang="en-US" sz="1600" dirty="0"/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259E8CCB-9EB8-1B20-A004-AB6F5ADCD145}"/>
              </a:ext>
            </a:extLst>
          </p:cNvPr>
          <p:cNvGrpSpPr/>
          <p:nvPr/>
        </p:nvGrpSpPr>
        <p:grpSpPr>
          <a:xfrm>
            <a:off x="7862825" y="3782063"/>
            <a:ext cx="2407228" cy="884781"/>
            <a:chOff x="7894764" y="3815212"/>
            <a:chExt cx="2407228" cy="884781"/>
          </a:xfrm>
        </p:grpSpPr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DE5D6E6F-B02E-B3A3-B60B-8DC2407BF185}"/>
                </a:ext>
              </a:extLst>
            </p:cNvPr>
            <p:cNvGrpSpPr/>
            <p:nvPr/>
          </p:nvGrpSpPr>
          <p:grpSpPr>
            <a:xfrm>
              <a:off x="8118566" y="4066060"/>
              <a:ext cx="1992239" cy="633933"/>
              <a:chOff x="7694022" y="3536348"/>
              <a:chExt cx="1992239" cy="633933"/>
            </a:xfrm>
          </p:grpSpPr>
          <p:sp>
            <p:nvSpPr>
              <p:cNvPr id="55" name="摺角紙張 54">
                <a:extLst>
                  <a:ext uri="{FF2B5EF4-FFF2-40B4-BE49-F238E27FC236}">
                    <a16:creationId xmlns:a16="http://schemas.microsoft.com/office/drawing/2014/main" id="{72D13F8C-E651-F9C0-9F83-60976F2D169D}"/>
                  </a:ext>
                </a:extLst>
              </p:cNvPr>
              <p:cNvSpPr/>
              <p:nvPr/>
            </p:nvSpPr>
            <p:spPr>
              <a:xfrm rot="10800000" flipH="1">
                <a:off x="7719259" y="3558281"/>
                <a:ext cx="458001" cy="612000"/>
              </a:xfrm>
              <a:prstGeom prst="foldedCorner">
                <a:avLst>
                  <a:gd name="adj" fmla="val 25629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摺角紙張 55">
                <a:extLst>
                  <a:ext uri="{FF2B5EF4-FFF2-40B4-BE49-F238E27FC236}">
                    <a16:creationId xmlns:a16="http://schemas.microsoft.com/office/drawing/2014/main" id="{00E46F53-D9DC-9D21-898D-4337E2A7CBEA}"/>
                  </a:ext>
                </a:extLst>
              </p:cNvPr>
              <p:cNvSpPr/>
              <p:nvPr/>
            </p:nvSpPr>
            <p:spPr>
              <a:xfrm rot="10800000" flipH="1">
                <a:off x="9194006" y="3558281"/>
                <a:ext cx="458001" cy="612000"/>
              </a:xfrm>
              <a:prstGeom prst="foldedCorner">
                <a:avLst>
                  <a:gd name="adj" fmla="val 25629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9E88BB0-3CFB-6AF8-4C29-D0B113CBA87B}"/>
                  </a:ext>
                </a:extLst>
              </p:cNvPr>
              <p:cNvSpPr txBox="1"/>
              <p:nvPr/>
            </p:nvSpPr>
            <p:spPr>
              <a:xfrm>
                <a:off x="8459346" y="3676262"/>
                <a:ext cx="4667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/>
                  <a:t>……</a:t>
                </a:r>
                <a:endParaRPr kumimoji="1" lang="zh-TW" altLang="en-US" sz="1600" dirty="0"/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F4C18B0-1B65-EC59-D787-2F533D87108B}"/>
                  </a:ext>
                </a:extLst>
              </p:cNvPr>
              <p:cNvSpPr txBox="1"/>
              <p:nvPr/>
            </p:nvSpPr>
            <p:spPr>
              <a:xfrm>
                <a:off x="7694022" y="3536348"/>
                <a:ext cx="50847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4KB</a:t>
                </a:r>
                <a:br>
                  <a:rPr kumimoji="1" lang="en-US" altLang="zh-TW" sz="1600" dirty="0"/>
                </a:br>
                <a:r>
                  <a:rPr kumimoji="1" lang="en-US" altLang="zh-TW" sz="1600" dirty="0"/>
                  <a:t>PT</a:t>
                </a:r>
                <a:endParaRPr kumimoji="1" lang="zh-TW" altLang="en-US" sz="1600" dirty="0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CE1A727-30DB-4F92-E33F-7155EAA3867F}"/>
                  </a:ext>
                </a:extLst>
              </p:cNvPr>
              <p:cNvSpPr txBox="1"/>
              <p:nvPr/>
            </p:nvSpPr>
            <p:spPr>
              <a:xfrm>
                <a:off x="9177788" y="3553152"/>
                <a:ext cx="50847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4KB</a:t>
                </a:r>
                <a:br>
                  <a:rPr kumimoji="1" lang="en-US" altLang="zh-TW" sz="1600" dirty="0"/>
                </a:br>
                <a:r>
                  <a:rPr kumimoji="1" lang="en-US" altLang="zh-TW" sz="1600" dirty="0"/>
                  <a:t>PT</a:t>
                </a:r>
                <a:endParaRPr kumimoji="1" lang="zh-TW" altLang="en-US" sz="1600" dirty="0"/>
              </a:p>
            </p:txBody>
          </p:sp>
        </p:grpSp>
        <p:sp>
          <p:nvSpPr>
            <p:cNvPr id="62" name="左大括弧 61">
              <a:extLst>
                <a:ext uri="{FF2B5EF4-FFF2-40B4-BE49-F238E27FC236}">
                  <a16:creationId xmlns:a16="http://schemas.microsoft.com/office/drawing/2014/main" id="{2C01227B-6F7A-1214-83C1-347073EEA54D}"/>
                </a:ext>
              </a:extLst>
            </p:cNvPr>
            <p:cNvSpPr/>
            <p:nvPr/>
          </p:nvSpPr>
          <p:spPr>
            <a:xfrm rot="16200000">
              <a:off x="8223398" y="3486578"/>
              <a:ext cx="257131" cy="914400"/>
            </a:xfrm>
            <a:prstGeom prst="leftBrac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3" name="左大括弧 62">
              <a:extLst>
                <a:ext uri="{FF2B5EF4-FFF2-40B4-BE49-F238E27FC236}">
                  <a16:creationId xmlns:a16="http://schemas.microsoft.com/office/drawing/2014/main" id="{B7445323-C337-FBBA-AF74-5BA8389118D8}"/>
                </a:ext>
              </a:extLst>
            </p:cNvPr>
            <p:cNvSpPr/>
            <p:nvPr/>
          </p:nvSpPr>
          <p:spPr>
            <a:xfrm rot="16200000">
              <a:off x="9716226" y="3499170"/>
              <a:ext cx="257131" cy="914400"/>
            </a:xfrm>
            <a:prstGeom prst="leftBrac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4AED71D0-CD4E-C45B-79D3-31B6BCAEDA90}"/>
              </a:ext>
            </a:extLst>
          </p:cNvPr>
          <p:cNvGrpSpPr/>
          <p:nvPr/>
        </p:nvGrpSpPr>
        <p:grpSpPr>
          <a:xfrm>
            <a:off x="7537361" y="2357636"/>
            <a:ext cx="4497604" cy="873402"/>
            <a:chOff x="7537361" y="2357636"/>
            <a:chExt cx="4497604" cy="873402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ACA448E-EDC3-7443-D9A9-3C3287A7957A}"/>
                </a:ext>
              </a:extLst>
            </p:cNvPr>
            <p:cNvSpPr txBox="1"/>
            <p:nvPr/>
          </p:nvSpPr>
          <p:spPr>
            <a:xfrm>
              <a:off x="10681454" y="2608394"/>
              <a:ext cx="13535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2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27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 Page Table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AE427E67-597A-F1FC-FAC2-6D70B7DF70BD}"/>
                </a:ext>
              </a:extLst>
            </p:cNvPr>
            <p:cNvGrpSpPr/>
            <p:nvPr/>
          </p:nvGrpSpPr>
          <p:grpSpPr>
            <a:xfrm>
              <a:off x="7537361" y="2357636"/>
              <a:ext cx="2960915" cy="873402"/>
              <a:chOff x="7537361" y="2357636"/>
              <a:chExt cx="2960915" cy="873402"/>
            </a:xfrm>
          </p:grpSpPr>
          <p:sp>
            <p:nvSpPr>
              <p:cNvPr id="44" name="左大括弧 43">
                <a:extLst>
                  <a:ext uri="{FF2B5EF4-FFF2-40B4-BE49-F238E27FC236}">
                    <a16:creationId xmlns:a16="http://schemas.microsoft.com/office/drawing/2014/main" id="{D8F76762-2837-D3F7-0612-868D9C90A03C}"/>
                  </a:ext>
                </a:extLst>
              </p:cNvPr>
              <p:cNvSpPr/>
              <p:nvPr/>
            </p:nvSpPr>
            <p:spPr>
              <a:xfrm rot="16200000">
                <a:off x="7865995" y="2029002"/>
                <a:ext cx="257131" cy="914400"/>
              </a:xfrm>
              <a:prstGeom prst="leftBrace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E15AA25E-51D5-064A-E7C2-7FD12B50E8CE}"/>
                  </a:ext>
                </a:extLst>
              </p:cNvPr>
              <p:cNvGrpSpPr/>
              <p:nvPr/>
            </p:nvGrpSpPr>
            <p:grpSpPr>
              <a:xfrm>
                <a:off x="7751105" y="2359306"/>
                <a:ext cx="2747171" cy="871732"/>
                <a:chOff x="7751105" y="2359306"/>
                <a:chExt cx="2747171" cy="871732"/>
              </a:xfrm>
            </p:grpSpPr>
            <p:sp>
              <p:nvSpPr>
                <p:cNvPr id="45" name="左大括弧 44">
                  <a:extLst>
                    <a:ext uri="{FF2B5EF4-FFF2-40B4-BE49-F238E27FC236}">
                      <a16:creationId xmlns:a16="http://schemas.microsoft.com/office/drawing/2014/main" id="{844D701A-417D-58B5-D2AF-3216D73F1F30}"/>
                    </a:ext>
                  </a:extLst>
                </p:cNvPr>
                <p:cNvSpPr/>
                <p:nvPr/>
              </p:nvSpPr>
              <p:spPr>
                <a:xfrm rot="16200000">
                  <a:off x="9912510" y="2030672"/>
                  <a:ext cx="257131" cy="914400"/>
                </a:xfrm>
                <a:prstGeom prst="leftBrace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grpSp>
              <p:nvGrpSpPr>
                <p:cNvPr id="39" name="群組 38">
                  <a:extLst>
                    <a:ext uri="{FF2B5EF4-FFF2-40B4-BE49-F238E27FC236}">
                      <a16:creationId xmlns:a16="http://schemas.microsoft.com/office/drawing/2014/main" id="{1A306C1C-6F6B-03C2-3AD2-D30A29B5C185}"/>
                    </a:ext>
                  </a:extLst>
                </p:cNvPr>
                <p:cNvGrpSpPr/>
                <p:nvPr/>
              </p:nvGrpSpPr>
              <p:grpSpPr>
                <a:xfrm>
                  <a:off x="7751105" y="2608680"/>
                  <a:ext cx="2558399" cy="622358"/>
                  <a:chOff x="7694022" y="3547923"/>
                  <a:chExt cx="2558399" cy="622358"/>
                </a:xfrm>
              </p:grpSpPr>
              <p:sp>
                <p:nvSpPr>
                  <p:cNvPr id="27" name="摺角紙張 26">
                    <a:extLst>
                      <a:ext uri="{FF2B5EF4-FFF2-40B4-BE49-F238E27FC236}">
                        <a16:creationId xmlns:a16="http://schemas.microsoft.com/office/drawing/2014/main" id="{27F7E85E-AC83-C3A0-A7A2-C8C067DDAD36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7719259" y="3558281"/>
                    <a:ext cx="458001" cy="612000"/>
                  </a:xfrm>
                  <a:prstGeom prst="foldedCorner">
                    <a:avLst>
                      <a:gd name="adj" fmla="val 25629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摺角紙張 29">
                    <a:extLst>
                      <a:ext uri="{FF2B5EF4-FFF2-40B4-BE49-F238E27FC236}">
                        <a16:creationId xmlns:a16="http://schemas.microsoft.com/office/drawing/2014/main" id="{05276936-5ECA-95FD-2C63-A67A7031023F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9771052" y="3558281"/>
                    <a:ext cx="458001" cy="612000"/>
                  </a:xfrm>
                  <a:prstGeom prst="foldedCorner">
                    <a:avLst>
                      <a:gd name="adj" fmla="val 25629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51452D59-DCAF-C437-8CE8-1716D83174C8}"/>
                      </a:ext>
                    </a:extLst>
                  </p:cNvPr>
                  <p:cNvSpPr txBox="1"/>
                  <p:nvPr/>
                </p:nvSpPr>
                <p:spPr>
                  <a:xfrm>
                    <a:off x="8752442" y="3635965"/>
                    <a:ext cx="46679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TW" sz="1600" dirty="0"/>
                      <a:t>……</a:t>
                    </a:r>
                    <a:endParaRPr kumimoji="1" lang="zh-TW" altLang="en-US" sz="1600" dirty="0"/>
                  </a:p>
                </p:txBody>
              </p:sp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6B3261C4-DC84-F8DC-4415-4760AAD2A2F0}"/>
                      </a:ext>
                    </a:extLst>
                  </p:cNvPr>
                  <p:cNvSpPr txBox="1"/>
                  <p:nvPr/>
                </p:nvSpPr>
                <p:spPr>
                  <a:xfrm>
                    <a:off x="7694022" y="3547923"/>
                    <a:ext cx="50847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kumimoji="1" lang="en-US" altLang="zh-TW" sz="1600" dirty="0"/>
                      <a:t>4KB</a:t>
                    </a:r>
                    <a:br>
                      <a:rPr kumimoji="1" lang="en-US" altLang="zh-TW" sz="1600" dirty="0"/>
                    </a:br>
                    <a:r>
                      <a:rPr kumimoji="1" lang="en-US" altLang="zh-TW" sz="1600" dirty="0"/>
                      <a:t>PT</a:t>
                    </a:r>
                    <a:endParaRPr kumimoji="1" lang="zh-TW" altLang="en-US" sz="1600" dirty="0"/>
                  </a:p>
                </p:txBody>
              </p:sp>
              <p:sp>
                <p:nvSpPr>
                  <p:cNvPr id="38" name="文字方塊 37">
                    <a:extLst>
                      <a:ext uri="{FF2B5EF4-FFF2-40B4-BE49-F238E27FC236}">
                        <a16:creationId xmlns:a16="http://schemas.microsoft.com/office/drawing/2014/main" id="{81406B21-2C25-86C9-FFA4-27D1CF62CDEE}"/>
                      </a:ext>
                    </a:extLst>
                  </p:cNvPr>
                  <p:cNvSpPr txBox="1"/>
                  <p:nvPr/>
                </p:nvSpPr>
                <p:spPr>
                  <a:xfrm>
                    <a:off x="9743948" y="3550911"/>
                    <a:ext cx="50847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kumimoji="1" lang="en-US" altLang="zh-TW" sz="1600" dirty="0"/>
                      <a:t>4KB</a:t>
                    </a:r>
                    <a:br>
                      <a:rPr kumimoji="1" lang="en-US" altLang="zh-TW" sz="1600" dirty="0"/>
                    </a:br>
                    <a:r>
                      <a:rPr kumimoji="1" lang="en-US" altLang="zh-TW" sz="1600" dirty="0"/>
                      <a:t>PT</a:t>
                    </a:r>
                    <a:endParaRPr kumimoji="1" lang="zh-TW" altLang="en-US" sz="1600" dirty="0"/>
                  </a:p>
                </p:txBody>
              </p:sp>
            </p:grpSp>
          </p:grpSp>
        </p:grpSp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FCE68CB8-28F8-E66A-E340-76ADC3BB43F5}"/>
              </a:ext>
            </a:extLst>
          </p:cNvPr>
          <p:cNvGrpSpPr/>
          <p:nvPr/>
        </p:nvGrpSpPr>
        <p:grpSpPr>
          <a:xfrm>
            <a:off x="8101582" y="4661041"/>
            <a:ext cx="3784707" cy="584775"/>
            <a:chOff x="8101582" y="4661041"/>
            <a:chExt cx="3784707" cy="584775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A760D8C-3DA2-29B3-98EC-0D8325E2D9F8}"/>
                </a:ext>
              </a:extLst>
            </p:cNvPr>
            <p:cNvSpPr/>
            <p:nvPr/>
          </p:nvSpPr>
          <p:spPr>
            <a:xfrm>
              <a:off x="8101582" y="4907253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0A7C38A-4C14-CDDD-FDA4-4F786CAE4A22}"/>
                </a:ext>
              </a:extLst>
            </p:cNvPr>
            <p:cNvSpPr/>
            <p:nvPr/>
          </p:nvSpPr>
          <p:spPr>
            <a:xfrm>
              <a:off x="9592320" y="4915363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箭頭接點 69">
              <a:extLst>
                <a:ext uri="{FF2B5EF4-FFF2-40B4-BE49-F238E27FC236}">
                  <a16:creationId xmlns:a16="http://schemas.microsoft.com/office/drawing/2014/main" id="{178B4389-426A-209D-4ACF-22D49AAE2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782" y="4662660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箭頭接點 70">
              <a:extLst>
                <a:ext uri="{FF2B5EF4-FFF2-40B4-BE49-F238E27FC236}">
                  <a16:creationId xmlns:a16="http://schemas.microsoft.com/office/drawing/2014/main" id="{F33A3670-1605-99F5-AC44-F5C3D280B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7031" y="4662660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FA51FE22-5900-3E82-F6CB-639DF0B317C0}"/>
                </a:ext>
              </a:extLst>
            </p:cNvPr>
            <p:cNvSpPr txBox="1"/>
            <p:nvPr/>
          </p:nvSpPr>
          <p:spPr>
            <a:xfrm>
              <a:off x="8851951" y="4815599"/>
              <a:ext cx="4667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/>
                <a:t>……</a:t>
              </a:r>
              <a:endParaRPr kumimoji="1" lang="zh-TW" altLang="en-US" sz="1600" dirty="0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0406BA6A-5A48-5E84-A9A3-0162ED4BBF04}"/>
                </a:ext>
              </a:extLst>
            </p:cNvPr>
            <p:cNvSpPr txBox="1"/>
            <p:nvPr/>
          </p:nvSpPr>
          <p:spPr>
            <a:xfrm>
              <a:off x="10785218" y="4661041"/>
              <a:ext cx="1101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3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21 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B PTE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9C543C8F-11B4-CB65-88FA-6062E12E7D16}"/>
              </a:ext>
            </a:extLst>
          </p:cNvPr>
          <p:cNvGrpSpPr/>
          <p:nvPr/>
        </p:nvGrpSpPr>
        <p:grpSpPr>
          <a:xfrm>
            <a:off x="8104315" y="5207451"/>
            <a:ext cx="3843667" cy="884781"/>
            <a:chOff x="8104315" y="5207451"/>
            <a:chExt cx="3843667" cy="884781"/>
          </a:xfrm>
        </p:grpSpPr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011E8174-8AD6-6732-9B41-1EBE80F377CA}"/>
                </a:ext>
              </a:extLst>
            </p:cNvPr>
            <p:cNvGrpSpPr/>
            <p:nvPr/>
          </p:nvGrpSpPr>
          <p:grpSpPr>
            <a:xfrm>
              <a:off x="8104315" y="5207451"/>
              <a:ext cx="1939142" cy="884781"/>
              <a:chOff x="8156021" y="3815212"/>
              <a:chExt cx="1939142" cy="884781"/>
            </a:xfrm>
          </p:grpSpPr>
          <p:grpSp>
            <p:nvGrpSpPr>
              <p:cNvPr id="76" name="群組 75">
                <a:extLst>
                  <a:ext uri="{FF2B5EF4-FFF2-40B4-BE49-F238E27FC236}">
                    <a16:creationId xmlns:a16="http://schemas.microsoft.com/office/drawing/2014/main" id="{C97F290D-E467-5EE4-B3DC-F0843C0CCD27}"/>
                  </a:ext>
                </a:extLst>
              </p:cNvPr>
              <p:cNvGrpSpPr/>
              <p:nvPr/>
            </p:nvGrpSpPr>
            <p:grpSpPr>
              <a:xfrm>
                <a:off x="8379823" y="4066060"/>
                <a:ext cx="1524153" cy="633933"/>
                <a:chOff x="7955279" y="3536348"/>
                <a:chExt cx="1524153" cy="633933"/>
              </a:xfrm>
            </p:grpSpPr>
            <p:sp>
              <p:nvSpPr>
                <p:cNvPr id="79" name="摺角紙張 78">
                  <a:extLst>
                    <a:ext uri="{FF2B5EF4-FFF2-40B4-BE49-F238E27FC236}">
                      <a16:creationId xmlns:a16="http://schemas.microsoft.com/office/drawing/2014/main" id="{5BAC56DB-8AD5-9F57-5906-E33A7C1AB2FC}"/>
                    </a:ext>
                  </a:extLst>
                </p:cNvPr>
                <p:cNvSpPr/>
                <p:nvPr/>
              </p:nvSpPr>
              <p:spPr>
                <a:xfrm rot="10800000" flipH="1">
                  <a:off x="7980516" y="3558281"/>
                  <a:ext cx="458001" cy="612000"/>
                </a:xfrm>
                <a:prstGeom prst="foldedCorner">
                  <a:avLst>
                    <a:gd name="adj" fmla="val 25629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摺角紙張 79">
                  <a:extLst>
                    <a:ext uri="{FF2B5EF4-FFF2-40B4-BE49-F238E27FC236}">
                      <a16:creationId xmlns:a16="http://schemas.microsoft.com/office/drawing/2014/main" id="{FA69FCD0-404E-BCAB-FC04-2C16DA098C36}"/>
                    </a:ext>
                  </a:extLst>
                </p:cNvPr>
                <p:cNvSpPr/>
                <p:nvPr/>
              </p:nvSpPr>
              <p:spPr>
                <a:xfrm rot="10800000" flipH="1">
                  <a:off x="8987177" y="3547395"/>
                  <a:ext cx="458001" cy="612000"/>
                </a:xfrm>
                <a:prstGeom prst="foldedCorner">
                  <a:avLst>
                    <a:gd name="adj" fmla="val 25629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48F98A71-64A7-5EE3-5537-22C33D1DE635}"/>
                    </a:ext>
                  </a:extLst>
                </p:cNvPr>
                <p:cNvSpPr txBox="1"/>
                <p:nvPr/>
              </p:nvSpPr>
              <p:spPr>
                <a:xfrm>
                  <a:off x="8459346" y="3676262"/>
                  <a:ext cx="4667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600" dirty="0"/>
                    <a:t>……</a:t>
                  </a:r>
                  <a:endParaRPr kumimoji="1" lang="zh-TW" altLang="en-US" sz="1600" dirty="0"/>
                </a:p>
              </p:txBody>
            </p:sp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66EA3086-3BAA-1083-B006-0EC45483D3B1}"/>
                    </a:ext>
                  </a:extLst>
                </p:cNvPr>
                <p:cNvSpPr txBox="1"/>
                <p:nvPr/>
              </p:nvSpPr>
              <p:spPr>
                <a:xfrm>
                  <a:off x="7955279" y="3536348"/>
                  <a:ext cx="50847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zh-TW" sz="1600" dirty="0"/>
                    <a:t>4KB</a:t>
                  </a:r>
                  <a:br>
                    <a:rPr kumimoji="1" lang="en-US" altLang="zh-TW" sz="1600" dirty="0"/>
                  </a:br>
                  <a:r>
                    <a:rPr kumimoji="1" lang="en-US" altLang="zh-TW" sz="1600" dirty="0"/>
                    <a:t>PT</a:t>
                  </a:r>
                  <a:endParaRPr kumimoji="1" lang="zh-TW" altLang="en-US" sz="1600" dirty="0"/>
                </a:p>
              </p:txBody>
            </p:sp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6B379ECF-1B98-A366-4ED3-F54348440F9A}"/>
                    </a:ext>
                  </a:extLst>
                </p:cNvPr>
                <p:cNvSpPr txBox="1"/>
                <p:nvPr/>
              </p:nvSpPr>
              <p:spPr>
                <a:xfrm>
                  <a:off x="8970959" y="3542266"/>
                  <a:ext cx="50847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zh-TW" sz="1600" dirty="0"/>
                    <a:t>4KB</a:t>
                  </a:r>
                  <a:br>
                    <a:rPr kumimoji="1" lang="en-US" altLang="zh-TW" sz="1600" dirty="0"/>
                  </a:br>
                  <a:r>
                    <a:rPr kumimoji="1" lang="en-US" altLang="zh-TW" sz="1600" dirty="0"/>
                    <a:t>PT</a:t>
                  </a:r>
                  <a:endParaRPr kumimoji="1" lang="zh-TW" altLang="en-US" sz="1600" dirty="0"/>
                </a:p>
              </p:txBody>
            </p:sp>
          </p:grpSp>
          <p:sp>
            <p:nvSpPr>
              <p:cNvPr id="77" name="左大括弧 76">
                <a:extLst>
                  <a:ext uri="{FF2B5EF4-FFF2-40B4-BE49-F238E27FC236}">
                    <a16:creationId xmlns:a16="http://schemas.microsoft.com/office/drawing/2014/main" id="{F6A2FE88-19CF-ADED-5AEF-7A40C8741172}"/>
                  </a:ext>
                </a:extLst>
              </p:cNvPr>
              <p:cNvSpPr/>
              <p:nvPr/>
            </p:nvSpPr>
            <p:spPr>
              <a:xfrm rot="16200000">
                <a:off x="8484655" y="3486578"/>
                <a:ext cx="257131" cy="914400"/>
              </a:xfrm>
              <a:prstGeom prst="leftBrace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78" name="左大括弧 77">
                <a:extLst>
                  <a:ext uri="{FF2B5EF4-FFF2-40B4-BE49-F238E27FC236}">
                    <a16:creationId xmlns:a16="http://schemas.microsoft.com/office/drawing/2014/main" id="{312EE754-B4C0-C951-9570-E304279A7D20}"/>
                  </a:ext>
                </a:extLst>
              </p:cNvPr>
              <p:cNvSpPr/>
              <p:nvPr/>
            </p:nvSpPr>
            <p:spPr>
              <a:xfrm rot="16200000">
                <a:off x="9509397" y="3488284"/>
                <a:ext cx="257131" cy="914400"/>
              </a:xfrm>
              <a:prstGeom prst="leftBrace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E142B3B2-74D8-1D96-DD35-B49DDBFA673F}"/>
                </a:ext>
              </a:extLst>
            </p:cNvPr>
            <p:cNvSpPr txBox="1"/>
            <p:nvPr/>
          </p:nvSpPr>
          <p:spPr>
            <a:xfrm>
              <a:off x="10663400" y="5452001"/>
              <a:ext cx="12845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4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9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 Page Table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3879D687-721B-F18B-44DC-9C379FAE2563}"/>
              </a:ext>
            </a:extLst>
          </p:cNvPr>
          <p:cNvGrpSpPr/>
          <p:nvPr/>
        </p:nvGrpSpPr>
        <p:grpSpPr>
          <a:xfrm>
            <a:off x="8339169" y="6063402"/>
            <a:ext cx="3787958" cy="830997"/>
            <a:chOff x="8339169" y="6063402"/>
            <a:chExt cx="3787958" cy="830997"/>
          </a:xfrm>
        </p:grpSpPr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40E56CA4-7AE8-21CA-E91E-9600FC4577A8}"/>
                </a:ext>
              </a:extLst>
            </p:cNvPr>
            <p:cNvSpPr txBox="1"/>
            <p:nvPr/>
          </p:nvSpPr>
          <p:spPr>
            <a:xfrm>
              <a:off x="10544385" y="6063402"/>
              <a:ext cx="158274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Last 4 level</a:t>
              </a:r>
            </a:p>
            <a:p>
              <a:pPr algn="ctr"/>
              <a:r>
                <a:rPr kumimoji="1" lang="en-US" altLang="zh-TW" sz="1600" dirty="0">
                  <a:solidFill>
                    <a:srgbClr val="C00000"/>
                  </a:solidFill>
                </a:rPr>
                <a:t>2</a:t>
              </a:r>
              <a:r>
                <a:rPr kumimoji="1" lang="en-US" altLang="zh-TW" sz="1600" baseline="30000" dirty="0">
                  <a:solidFill>
                    <a:srgbClr val="C00000"/>
                  </a:solidFill>
                </a:rPr>
                <a:t>12 </a:t>
              </a:r>
              <a:r>
                <a:rPr kumimoji="1" lang="en-US" altLang="zh-TW" sz="1600" dirty="0">
                  <a:solidFill>
                    <a:srgbClr val="C00000"/>
                  </a:solidFill>
                </a:rPr>
                <a:t>B PTE</a:t>
              </a:r>
              <a:br>
                <a:rPr kumimoji="1" lang="en-US" altLang="zh-TW" sz="1600" dirty="0">
                  <a:solidFill>
                    <a:srgbClr val="C00000"/>
                  </a:solidFill>
                </a:rPr>
              </a:br>
              <a:r>
                <a:rPr kumimoji="1" lang="en-US" altLang="zh-TW" sz="1600" dirty="0">
                  <a:solidFill>
                    <a:srgbClr val="C00000"/>
                  </a:solidFill>
                </a:rPr>
                <a:t>(One Page Table)</a:t>
              </a:r>
              <a:endParaRPr kumimoji="1" lang="zh-TW" alt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E533A37E-A4E4-7D9F-503C-15829F825E3C}"/>
                </a:ext>
              </a:extLst>
            </p:cNvPr>
            <p:cNvSpPr/>
            <p:nvPr/>
          </p:nvSpPr>
          <p:spPr>
            <a:xfrm>
              <a:off x="8339169" y="6333362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46F15C12-69FF-0AAB-A6A6-9F798BD606D1}"/>
                </a:ext>
              </a:extLst>
            </p:cNvPr>
            <p:cNvSpPr/>
            <p:nvPr/>
          </p:nvSpPr>
          <p:spPr>
            <a:xfrm>
              <a:off x="9371609" y="6341472"/>
              <a:ext cx="457200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</a:rPr>
                <a:t>PTE</a:t>
              </a:r>
              <a:endParaRPr kumimoji="1" lang="zh-TW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線箭頭接點 87">
              <a:extLst>
                <a:ext uri="{FF2B5EF4-FFF2-40B4-BE49-F238E27FC236}">
                  <a16:creationId xmlns:a16="http://schemas.microsoft.com/office/drawing/2014/main" id="{5E8FF9C3-0BE4-F7FD-7B87-F1C882A8C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7369" y="6088769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箭頭接點 88">
              <a:extLst>
                <a:ext uri="{FF2B5EF4-FFF2-40B4-BE49-F238E27FC236}">
                  <a16:creationId xmlns:a16="http://schemas.microsoft.com/office/drawing/2014/main" id="{69C96C68-3904-BD9C-C772-C8B87CB0DC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06320" y="6088769"/>
              <a:ext cx="0" cy="25270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FD279129-0665-4D1C-736B-05923A0B1B3A}"/>
                </a:ext>
              </a:extLst>
            </p:cNvPr>
            <p:cNvSpPr txBox="1"/>
            <p:nvPr/>
          </p:nvSpPr>
          <p:spPr>
            <a:xfrm>
              <a:off x="8851951" y="6224656"/>
              <a:ext cx="4667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/>
                <a:t>……</a:t>
              </a:r>
              <a:endParaRPr kumimoji="1" lang="zh-TW" altLang="en-US" sz="1600" dirty="0"/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79A432E-B81D-336D-F0F7-A3232CBFD846}"/>
              </a:ext>
            </a:extLst>
          </p:cNvPr>
          <p:cNvGrpSpPr/>
          <p:nvPr/>
        </p:nvGrpSpPr>
        <p:grpSpPr>
          <a:xfrm>
            <a:off x="7043828" y="5987702"/>
            <a:ext cx="2911481" cy="830997"/>
            <a:chOff x="7043828" y="5987702"/>
            <a:chExt cx="2911481" cy="830997"/>
          </a:xfrm>
        </p:grpSpPr>
        <p:sp>
          <p:nvSpPr>
            <p:cNvPr id="91" name="摺角紙張 90">
              <a:extLst>
                <a:ext uri="{FF2B5EF4-FFF2-40B4-BE49-F238E27FC236}">
                  <a16:creationId xmlns:a16="http://schemas.microsoft.com/office/drawing/2014/main" id="{DDD63AB4-6B95-518A-C8CD-AA47AF9890D4}"/>
                </a:ext>
              </a:extLst>
            </p:cNvPr>
            <p:cNvSpPr/>
            <p:nvPr/>
          </p:nvSpPr>
          <p:spPr>
            <a:xfrm rot="10800000" flipH="1">
              <a:off x="8234346" y="6286600"/>
              <a:ext cx="1720963" cy="384600"/>
            </a:xfrm>
            <a:prstGeom prst="foldedCorner">
              <a:avLst>
                <a:gd name="adj" fmla="val 0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76EB2FA0-510D-FC69-A9F6-B8B6EB24FE5E}"/>
                </a:ext>
              </a:extLst>
            </p:cNvPr>
            <p:cNvSpPr txBox="1"/>
            <p:nvPr/>
          </p:nvSpPr>
          <p:spPr>
            <a:xfrm>
              <a:off x="7043828" y="5987702"/>
              <a:ext cx="1365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70C0"/>
                  </a:solidFill>
                </a:rPr>
                <a:t>Fit in one page (or one page table)</a:t>
              </a:r>
              <a:endParaRPr kumimoji="1" lang="zh-TW" altLang="en-US" sz="16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3C254863-7F07-FD46-7AB4-2285004CF227}"/>
              </a:ext>
            </a:extLst>
          </p:cNvPr>
          <p:cNvGrpSpPr/>
          <p:nvPr/>
        </p:nvGrpSpPr>
        <p:grpSpPr>
          <a:xfrm>
            <a:off x="7355820" y="1119421"/>
            <a:ext cx="4501291" cy="684748"/>
            <a:chOff x="7355820" y="1119421"/>
            <a:chExt cx="4501291" cy="684748"/>
          </a:xfrm>
        </p:grpSpPr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8EB5ED15-0576-323F-F14B-CBEE0D42FB8D}"/>
                </a:ext>
              </a:extLst>
            </p:cNvPr>
            <p:cNvGrpSpPr/>
            <p:nvPr/>
          </p:nvGrpSpPr>
          <p:grpSpPr>
            <a:xfrm>
              <a:off x="7355820" y="1119421"/>
              <a:ext cx="4501291" cy="661601"/>
              <a:chOff x="7355820" y="1119421"/>
              <a:chExt cx="4501291" cy="661601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2CD8AD2-B94F-4B90-B39D-FE9E25B80862}"/>
                  </a:ext>
                </a:extLst>
              </p:cNvPr>
              <p:cNvSpPr txBox="1"/>
              <p:nvPr/>
            </p:nvSpPr>
            <p:spPr>
              <a:xfrm>
                <a:off x="10128844" y="1196247"/>
                <a:ext cx="58086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4KB</a:t>
                </a:r>
                <a:br>
                  <a:rPr kumimoji="1" lang="en-US" altLang="zh-TW" sz="1600" dirty="0"/>
                </a:br>
                <a:r>
                  <a:rPr kumimoji="1" lang="en-US" altLang="zh-TW" sz="1600" dirty="0"/>
                  <a:t>Page</a:t>
                </a:r>
                <a:endParaRPr kumimoji="1" lang="zh-TW" altLang="en-US" sz="16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608A04E-2352-FB19-53AB-B83E2D405C2C}"/>
                  </a:ext>
                </a:extLst>
              </p:cNvPr>
              <p:cNvSpPr txBox="1"/>
              <p:nvPr/>
            </p:nvSpPr>
            <p:spPr>
              <a:xfrm>
                <a:off x="8102847" y="1266134"/>
                <a:ext cx="4667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/>
                  <a:t>……</a:t>
                </a:r>
                <a:endParaRPr kumimoji="1" lang="zh-TW" altLang="en-US" sz="16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04C0839-5291-0451-B5D1-CA7278AAD2A5}"/>
                  </a:ext>
                </a:extLst>
              </p:cNvPr>
              <p:cNvSpPr txBox="1"/>
              <p:nvPr/>
            </p:nvSpPr>
            <p:spPr>
              <a:xfrm>
                <a:off x="9488515" y="1266134"/>
                <a:ext cx="4667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/>
                  <a:t>……</a:t>
                </a:r>
                <a:endParaRPr kumimoji="1" lang="zh-TW" altLang="en-US" sz="1600" dirty="0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6BDAF7-2F4A-618E-782A-06F591F0C4C5}"/>
                  </a:ext>
                </a:extLst>
              </p:cNvPr>
              <p:cNvSpPr txBox="1"/>
              <p:nvPr/>
            </p:nvSpPr>
            <p:spPr>
              <a:xfrm>
                <a:off x="10866648" y="1119421"/>
                <a:ext cx="9904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>
                    <a:solidFill>
                      <a:srgbClr val="C00000"/>
                    </a:solidFill>
                  </a:rPr>
                  <a:t>Last Level</a:t>
                </a:r>
                <a:br>
                  <a:rPr kumimoji="1" lang="en-US" altLang="zh-TW" sz="1600" dirty="0">
                    <a:solidFill>
                      <a:srgbClr val="C00000"/>
                    </a:solidFill>
                  </a:rPr>
                </a:br>
                <a:r>
                  <a:rPr kumimoji="1" lang="en-US" altLang="zh-TW" sz="1600" dirty="0">
                    <a:solidFill>
                      <a:srgbClr val="C00000"/>
                    </a:solidFill>
                  </a:rPr>
                  <a:t>2</a:t>
                </a:r>
                <a:r>
                  <a:rPr kumimoji="1" lang="en-US" altLang="zh-TW" sz="1600" baseline="30000" dirty="0">
                    <a:solidFill>
                      <a:srgbClr val="C00000"/>
                    </a:solidFill>
                  </a:rPr>
                  <a:t>36 </a:t>
                </a:r>
                <a:r>
                  <a:rPr kumimoji="1" lang="en-US" altLang="zh-TW" sz="1600" dirty="0">
                    <a:solidFill>
                      <a:srgbClr val="C00000"/>
                    </a:solidFill>
                  </a:rPr>
                  <a:t>Pages</a:t>
                </a:r>
                <a:endParaRPr kumimoji="1" lang="zh-TW" altLang="en-US" sz="16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36973A8-7EA5-E36E-F0C7-39AECAA04E83}"/>
                  </a:ext>
                </a:extLst>
              </p:cNvPr>
              <p:cNvSpPr txBox="1"/>
              <p:nvPr/>
            </p:nvSpPr>
            <p:spPr>
              <a:xfrm>
                <a:off x="8740759" y="1196247"/>
                <a:ext cx="58086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4KB</a:t>
                </a:r>
                <a:br>
                  <a:rPr kumimoji="1" lang="en-US" altLang="zh-TW" sz="1600" dirty="0"/>
                </a:br>
                <a:r>
                  <a:rPr kumimoji="1" lang="en-US" altLang="zh-TW" sz="1600" dirty="0"/>
                  <a:t>Page</a:t>
                </a:r>
                <a:endParaRPr kumimoji="1" lang="zh-TW" altLang="en-US" sz="1600" dirty="0"/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5C7F2F31-FB9B-88AD-AC95-40F6DF572E57}"/>
                  </a:ext>
                </a:extLst>
              </p:cNvPr>
              <p:cNvSpPr txBox="1"/>
              <p:nvPr/>
            </p:nvSpPr>
            <p:spPr>
              <a:xfrm>
                <a:off x="7355820" y="1196247"/>
                <a:ext cx="58086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4KB</a:t>
                </a:r>
                <a:br>
                  <a:rPr kumimoji="1" lang="en-US" altLang="zh-TW" sz="1600" dirty="0"/>
                </a:br>
                <a:r>
                  <a:rPr kumimoji="1" lang="en-US" altLang="zh-TW" sz="1600" dirty="0"/>
                  <a:t>Page</a:t>
                </a:r>
                <a:endParaRPr kumimoji="1" lang="zh-TW" altLang="en-US" sz="1600" dirty="0"/>
              </a:p>
            </p:txBody>
          </p:sp>
        </p:grpSp>
        <p:sp>
          <p:nvSpPr>
            <p:cNvPr id="5" name="摺角紙張 4">
              <a:extLst>
                <a:ext uri="{FF2B5EF4-FFF2-40B4-BE49-F238E27FC236}">
                  <a16:creationId xmlns:a16="http://schemas.microsoft.com/office/drawing/2014/main" id="{57047982-578E-2D09-CE7A-A556C1C42B63}"/>
                </a:ext>
              </a:extLst>
            </p:cNvPr>
            <p:cNvSpPr/>
            <p:nvPr/>
          </p:nvSpPr>
          <p:spPr>
            <a:xfrm rot="10800000" flipH="1">
              <a:off x="7396223" y="1192169"/>
              <a:ext cx="458001" cy="612000"/>
            </a:xfrm>
            <a:prstGeom prst="foldedCorner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摺角紙張 5">
              <a:extLst>
                <a:ext uri="{FF2B5EF4-FFF2-40B4-BE49-F238E27FC236}">
                  <a16:creationId xmlns:a16="http://schemas.microsoft.com/office/drawing/2014/main" id="{DD6E7A30-ED9B-8073-9707-AEB6BD042B9C}"/>
                </a:ext>
              </a:extLst>
            </p:cNvPr>
            <p:cNvSpPr/>
            <p:nvPr/>
          </p:nvSpPr>
          <p:spPr>
            <a:xfrm rot="10800000" flipH="1">
              <a:off x="8798688" y="1192169"/>
              <a:ext cx="458001" cy="612000"/>
            </a:xfrm>
            <a:prstGeom prst="foldedCorner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7" name="摺角紙張 6">
              <a:extLst>
                <a:ext uri="{FF2B5EF4-FFF2-40B4-BE49-F238E27FC236}">
                  <a16:creationId xmlns:a16="http://schemas.microsoft.com/office/drawing/2014/main" id="{898C46EC-F56F-AC49-DC50-4F3F129635F9}"/>
                </a:ext>
              </a:extLst>
            </p:cNvPr>
            <p:cNvSpPr/>
            <p:nvPr/>
          </p:nvSpPr>
          <p:spPr>
            <a:xfrm rot="10800000" flipH="1">
              <a:off x="10184270" y="1192169"/>
              <a:ext cx="458001" cy="612000"/>
            </a:xfrm>
            <a:prstGeom prst="foldedCorner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D801BAC4-23FC-D725-88F3-28C4C74CA4E9}"/>
              </a:ext>
            </a:extLst>
          </p:cNvPr>
          <p:cNvGrpSpPr/>
          <p:nvPr/>
        </p:nvGrpSpPr>
        <p:grpSpPr>
          <a:xfrm>
            <a:off x="6327486" y="3120497"/>
            <a:ext cx="4100741" cy="830997"/>
            <a:chOff x="6170530" y="1711440"/>
            <a:chExt cx="4100741" cy="830997"/>
          </a:xfrm>
        </p:grpSpPr>
        <p:sp>
          <p:nvSpPr>
            <p:cNvPr id="101" name="摺角紙張 100">
              <a:extLst>
                <a:ext uri="{FF2B5EF4-FFF2-40B4-BE49-F238E27FC236}">
                  <a16:creationId xmlns:a16="http://schemas.microsoft.com/office/drawing/2014/main" id="{39AD27D0-21B6-CFF9-ED25-094E9687A6D0}"/>
                </a:ext>
              </a:extLst>
            </p:cNvPr>
            <p:cNvSpPr/>
            <p:nvPr/>
          </p:nvSpPr>
          <p:spPr>
            <a:xfrm rot="10800000" flipH="1">
              <a:off x="7468268" y="1991198"/>
              <a:ext cx="2803003" cy="384600"/>
            </a:xfrm>
            <a:prstGeom prst="foldedCorner">
              <a:avLst>
                <a:gd name="adj" fmla="val 0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0E702087-482C-F36F-62DE-678CA2D1FC8F}"/>
                </a:ext>
              </a:extLst>
            </p:cNvPr>
            <p:cNvSpPr txBox="1"/>
            <p:nvPr/>
          </p:nvSpPr>
          <p:spPr>
            <a:xfrm>
              <a:off x="6170530" y="1711440"/>
              <a:ext cx="14198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70C0"/>
                  </a:solidFill>
                </a:rPr>
                <a:t>Can’t fit in one page (or one page table)</a:t>
              </a:r>
              <a:endParaRPr kumimoji="1" lang="zh-TW" altLang="en-US" sz="16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A92CFED0-4E42-4DC7-4F8F-CDF184D83A8B}"/>
              </a:ext>
            </a:extLst>
          </p:cNvPr>
          <p:cNvGrpSpPr/>
          <p:nvPr/>
        </p:nvGrpSpPr>
        <p:grpSpPr>
          <a:xfrm>
            <a:off x="6689417" y="4573949"/>
            <a:ext cx="3494853" cy="830997"/>
            <a:chOff x="6446229" y="1712159"/>
            <a:chExt cx="3494853" cy="830997"/>
          </a:xfrm>
        </p:grpSpPr>
        <p:sp>
          <p:nvSpPr>
            <p:cNvPr id="105" name="摺角紙張 104">
              <a:extLst>
                <a:ext uri="{FF2B5EF4-FFF2-40B4-BE49-F238E27FC236}">
                  <a16:creationId xmlns:a16="http://schemas.microsoft.com/office/drawing/2014/main" id="{B2C3EC5C-FEAD-CE07-BDB3-6448498C43F0}"/>
                </a:ext>
              </a:extLst>
            </p:cNvPr>
            <p:cNvSpPr/>
            <p:nvPr/>
          </p:nvSpPr>
          <p:spPr>
            <a:xfrm rot="10800000" flipH="1">
              <a:off x="7779373" y="1991198"/>
              <a:ext cx="2161709" cy="384600"/>
            </a:xfrm>
            <a:prstGeom prst="foldedCorner">
              <a:avLst>
                <a:gd name="adj" fmla="val 0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/>
                <a:t>P</a:t>
              </a:r>
              <a:endParaRPr kumimoji="1" lang="zh-TW" altLang="en-US" sz="1200" dirty="0"/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6974CF42-40C9-4107-25F0-7B095C9CD889}"/>
                </a:ext>
              </a:extLst>
            </p:cNvPr>
            <p:cNvSpPr txBox="1"/>
            <p:nvPr/>
          </p:nvSpPr>
          <p:spPr>
            <a:xfrm>
              <a:off x="6446229" y="1712159"/>
              <a:ext cx="14198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70C0"/>
                  </a:solidFill>
                </a:rPr>
                <a:t>Can’t fit in one page (or one page table)</a:t>
              </a:r>
              <a:endParaRPr kumimoji="1" lang="zh-TW" altLang="en-US" sz="16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095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2691" y="2470860"/>
            <a:ext cx="10926618" cy="191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750F6D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Advance Topics for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376357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28D7E-FE83-23C9-4ACB-C2DEDEAF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to enable MMU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7296C-0AB1-34EB-35A2-4E4BF0C2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kumimoji="1" lang="en-US" altLang="zh-TW" dirty="0"/>
          </a:p>
          <a:p>
            <a:pPr algn="l"/>
            <a:r>
              <a:rPr kumimoji="1" lang="en-US" altLang="zh-TW" dirty="0"/>
              <a:t>The </a:t>
            </a:r>
            <a:r>
              <a:rPr kumimoji="1" lang="en-US" altLang="zh-TW" dirty="0">
                <a:solidFill>
                  <a:srgbClr val="C00000"/>
                </a:solidFill>
              </a:rPr>
              <a:t>MMU is inactive</a:t>
            </a:r>
            <a:r>
              <a:rPr kumimoji="1" lang="en-US" altLang="zh-TW" dirty="0"/>
              <a:t> while systems boot.</a:t>
            </a:r>
          </a:p>
          <a:p>
            <a:pPr algn="l"/>
            <a:r>
              <a:rPr kumimoji="1" lang="en-US" altLang="zh-TW" dirty="0"/>
              <a:t>The </a:t>
            </a:r>
            <a:r>
              <a:rPr kumimoji="1" lang="en-US" altLang="zh-TW" dirty="0">
                <a:solidFill>
                  <a:srgbClr val="C00000"/>
                </a:solidFill>
              </a:rPr>
              <a:t>MMU is active </a:t>
            </a:r>
            <a:r>
              <a:rPr kumimoji="1" lang="en-US" altLang="zh-TW" dirty="0"/>
              <a:t>until CPU runs the MMU-enabled command</a:t>
            </a:r>
            <a:r>
              <a:rPr kumimoji="1" lang="zh-TW" altLang="en-US" dirty="0"/>
              <a:t> </a:t>
            </a:r>
            <a:r>
              <a:rPr kumimoji="1" lang="en-US" altLang="zh-TW" dirty="0">
                <a:solidFill>
                  <a:srgbClr val="C00000"/>
                </a:solidFill>
              </a:rPr>
              <a:t>(by setting CP15)</a:t>
            </a:r>
            <a:r>
              <a:rPr kumimoji="1" lang="en-US" altLang="zh-TW" dirty="0"/>
              <a:t>.</a:t>
            </a:r>
            <a:r>
              <a:rPr lang="en-US" altLang="zh-TW" dirty="0"/>
              <a:t> After running it, e</a:t>
            </a:r>
            <a:r>
              <a:rPr kumimoji="1" lang="en-US" altLang="zh-TW" dirty="0"/>
              <a:t>ach memory address shall be transferred by MMU.</a:t>
            </a:r>
          </a:p>
          <a:p>
            <a:pPr algn="l"/>
            <a:r>
              <a:rPr kumimoji="1" lang="en-US" altLang="zh-TW" dirty="0"/>
              <a:t>How to run </a:t>
            </a:r>
            <a:r>
              <a:rPr lang="en-US" altLang="zh-TW" dirty="0"/>
              <a:t>a </a:t>
            </a:r>
            <a:r>
              <a:rPr kumimoji="1" lang="en-US" altLang="zh-TW" dirty="0"/>
              <a:t>user process right after enabling the MMU:</a:t>
            </a:r>
          </a:p>
          <a:p>
            <a:pPr lvl="1" algn="l"/>
            <a:r>
              <a:rPr lang="en-US" altLang="zh-TW" dirty="0"/>
              <a:t>CPU runs </a:t>
            </a:r>
            <a:r>
              <a:rPr kumimoji="1" lang="en-US" altLang="zh-TW" dirty="0"/>
              <a:t>a </a:t>
            </a:r>
            <a:r>
              <a:rPr kumimoji="1" lang="en-US" altLang="zh-TW" dirty="0">
                <a:solidFill>
                  <a:srgbClr val="C00000"/>
                </a:solidFill>
                <a:latin typeface="+mj-lt"/>
              </a:rPr>
              <a:t>jump</a:t>
            </a:r>
            <a:r>
              <a:rPr kumimoji="1" lang="en-US" altLang="zh-TW" dirty="0">
                <a:solidFill>
                  <a:srgbClr val="C00000"/>
                </a:solidFill>
              </a:rPr>
              <a:t> command</a:t>
            </a:r>
            <a:r>
              <a:rPr kumimoji="1" lang="en-US" altLang="zh-TW" dirty="0"/>
              <a:t> to execute the virtual address, which points to the start of the next process.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69C81-76C6-C0E6-E701-8D727517B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51D17A1C-E920-B81A-FB23-A8F9FB0CBDAA}"/>
              </a:ext>
            </a:extLst>
          </p:cNvPr>
          <p:cNvGrpSpPr/>
          <p:nvPr/>
        </p:nvGrpSpPr>
        <p:grpSpPr>
          <a:xfrm>
            <a:off x="3795182" y="5297585"/>
            <a:ext cx="1901318" cy="849588"/>
            <a:chOff x="3795182" y="5297585"/>
            <a:chExt cx="1901318" cy="849588"/>
          </a:xfrm>
        </p:grpSpPr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2F292B23-A614-FC8A-6AAC-6B3DC4A75112}"/>
                </a:ext>
              </a:extLst>
            </p:cNvPr>
            <p:cNvSpPr/>
            <p:nvPr/>
          </p:nvSpPr>
          <p:spPr>
            <a:xfrm>
              <a:off x="4154767" y="5912914"/>
              <a:ext cx="1154384" cy="23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Next Proc</a:t>
              </a:r>
              <a:endPara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Arc 22">
              <a:extLst>
                <a:ext uri="{FF2B5EF4-FFF2-40B4-BE49-F238E27FC236}">
                  <a16:creationId xmlns:a16="http://schemas.microsoft.com/office/drawing/2014/main" id="{995BEA44-453D-0C8D-5D09-72072AD4ADEA}"/>
                </a:ext>
              </a:extLst>
            </p:cNvPr>
            <p:cNvSpPr/>
            <p:nvPr/>
          </p:nvSpPr>
          <p:spPr>
            <a:xfrm>
              <a:off x="5009942" y="5297585"/>
              <a:ext cx="686558" cy="729857"/>
            </a:xfrm>
            <a:prstGeom prst="arc">
              <a:avLst>
                <a:gd name="adj1" fmla="val 15779224"/>
                <a:gd name="adj2" fmla="val 5717073"/>
              </a:avLst>
            </a:prstGeom>
            <a:ln w="19050">
              <a:solidFill>
                <a:schemeClr val="tx1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27">
              <a:extLst>
                <a:ext uri="{FF2B5EF4-FFF2-40B4-BE49-F238E27FC236}">
                  <a16:creationId xmlns:a16="http://schemas.microsoft.com/office/drawing/2014/main" id="{A226AFBB-1A6A-8960-314C-124A2DA54128}"/>
                </a:ext>
              </a:extLst>
            </p:cNvPr>
            <p:cNvSpPr txBox="1"/>
            <p:nvPr/>
          </p:nvSpPr>
          <p:spPr>
            <a:xfrm>
              <a:off x="3795182" y="5930658"/>
              <a:ext cx="331822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0x84</a:t>
              </a:r>
              <a:endParaRPr lang="en-US" sz="12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DD7CC0FB-5A89-60C6-818C-DFF8E63A0480}"/>
              </a:ext>
            </a:extLst>
          </p:cNvPr>
          <p:cNvGrpSpPr/>
          <p:nvPr/>
        </p:nvGrpSpPr>
        <p:grpSpPr>
          <a:xfrm>
            <a:off x="1226852" y="4783560"/>
            <a:ext cx="4085003" cy="738664"/>
            <a:chOff x="1226852" y="4783560"/>
            <a:chExt cx="4085003" cy="738664"/>
          </a:xfrm>
        </p:grpSpPr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FC73C4FD-68E3-927E-2900-DECB8F417D87}"/>
                </a:ext>
              </a:extLst>
            </p:cNvPr>
            <p:cNvSpPr/>
            <p:nvPr/>
          </p:nvSpPr>
          <p:spPr>
            <a:xfrm>
              <a:off x="4157471" y="4930102"/>
              <a:ext cx="1154384" cy="23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ST,</a:t>
              </a:r>
              <a:r>
                <a:rPr lang="zh-TW" altLang="en-US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CP15,</a:t>
              </a:r>
              <a:r>
                <a:rPr lang="zh-TW" altLang="en-US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B9E6410B-F297-F2B1-64D7-417E0A1DF78C}"/>
                </a:ext>
              </a:extLst>
            </p:cNvPr>
            <p:cNvSpPr txBox="1"/>
            <p:nvPr/>
          </p:nvSpPr>
          <p:spPr>
            <a:xfrm>
              <a:off x="3797886" y="4962592"/>
              <a:ext cx="331822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0x40</a:t>
              </a:r>
              <a:endParaRPr lang="en-US" sz="12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AF9FB25-E793-0BD8-1033-EE66BB300542}"/>
                </a:ext>
              </a:extLst>
            </p:cNvPr>
            <p:cNvSpPr txBox="1"/>
            <p:nvPr/>
          </p:nvSpPr>
          <p:spPr>
            <a:xfrm>
              <a:off x="1226852" y="4783560"/>
              <a:ext cx="25118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u="sng" dirty="0">
                  <a:solidFill>
                    <a:srgbClr val="0070C0"/>
                  </a:solidFill>
                </a:rPr>
                <a:t>MMU Enabled Command</a:t>
              </a:r>
            </a:p>
            <a:p>
              <a:r>
                <a:rPr kumimoji="1" lang="en-US" altLang="zh-TW" sz="1400" dirty="0">
                  <a:solidFill>
                    <a:srgbClr val="0070C0"/>
                  </a:solidFill>
                </a:rPr>
                <a:t>CP15 </a:t>
              </a:r>
              <a:r>
                <a:rPr kumimoji="1" lang="en-US" altLang="zh-TW" sz="1400" dirty="0">
                  <a:solidFill>
                    <a:srgbClr val="0070C0"/>
                  </a:solidFill>
                  <a:sym typeface="Wingdings" pitchFamily="2" charset="2"/>
                </a:rPr>
                <a:t> The 15</a:t>
              </a:r>
              <a:r>
                <a:rPr kumimoji="1" lang="en-US" altLang="zh-TW" sz="1400" baseline="30000" dirty="0">
                  <a:solidFill>
                    <a:srgbClr val="0070C0"/>
                  </a:solidFill>
                  <a:sym typeface="Wingdings" pitchFamily="2" charset="2"/>
                </a:rPr>
                <a:t>th</a:t>
              </a:r>
              <a:r>
                <a:rPr kumimoji="1" lang="en-US" altLang="zh-TW" sz="1400" dirty="0">
                  <a:solidFill>
                    <a:srgbClr val="0070C0"/>
                  </a:solidFill>
                  <a:sym typeface="Wingdings" pitchFamily="2" charset="2"/>
                </a:rPr>
                <a:t> coprocessor is reserved for managing MMU.</a:t>
              </a:r>
              <a:endParaRPr kumimoji="1" lang="zh-TW" altLang="en-US" sz="1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B4985F0A-AFB6-80E2-3AF6-71F590B65159}"/>
              </a:ext>
            </a:extLst>
          </p:cNvPr>
          <p:cNvGrpSpPr/>
          <p:nvPr/>
        </p:nvGrpSpPr>
        <p:grpSpPr>
          <a:xfrm>
            <a:off x="3803044" y="4536969"/>
            <a:ext cx="2299279" cy="2051205"/>
            <a:chOff x="3803044" y="4536969"/>
            <a:chExt cx="2299279" cy="2051205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8085F28-C74B-E11E-FDAA-489A2EC8AD71}"/>
                </a:ext>
              </a:extLst>
            </p:cNvPr>
            <p:cNvSpPr/>
            <p:nvPr/>
          </p:nvSpPr>
          <p:spPr>
            <a:xfrm>
              <a:off x="4157471" y="4536969"/>
              <a:ext cx="1154384" cy="1735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88E96E72-A27B-067C-DAB3-722C9D771144}"/>
                </a:ext>
              </a:extLst>
            </p:cNvPr>
            <p:cNvSpPr txBox="1"/>
            <p:nvPr/>
          </p:nvSpPr>
          <p:spPr>
            <a:xfrm>
              <a:off x="3803044" y="6280397"/>
              <a:ext cx="2299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dirty="0"/>
                <a:t>Physical Address Space</a:t>
              </a:r>
              <a:endParaRPr kumimoji="1" lang="zh-TW" altLang="en-US" sz="1400" dirty="0"/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3BC68692-19BF-3BA6-6B44-E39C046EE969}"/>
              </a:ext>
            </a:extLst>
          </p:cNvPr>
          <p:cNvGrpSpPr/>
          <p:nvPr/>
        </p:nvGrpSpPr>
        <p:grpSpPr>
          <a:xfrm>
            <a:off x="7699870" y="4333734"/>
            <a:ext cx="306174" cy="1481380"/>
            <a:chOff x="7699870" y="4333734"/>
            <a:chExt cx="306174" cy="1481380"/>
          </a:xfrm>
        </p:grpSpPr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8AF2618B-5783-B2C6-BF0D-FB9DBA03459D}"/>
                </a:ext>
              </a:extLst>
            </p:cNvPr>
            <p:cNvSpPr txBox="1"/>
            <p:nvPr/>
          </p:nvSpPr>
          <p:spPr>
            <a:xfrm>
              <a:off x="7699870" y="4756138"/>
              <a:ext cx="306174" cy="1692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1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0x44</a:t>
              </a:r>
              <a:endParaRPr lang="en-US" sz="11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23" name="Straight Arrow Connector 24">
              <a:extLst>
                <a:ext uri="{FF2B5EF4-FFF2-40B4-BE49-F238E27FC236}">
                  <a16:creationId xmlns:a16="http://schemas.microsoft.com/office/drawing/2014/main" id="{FB826356-8EE3-9456-4D50-83213EBF884B}"/>
                </a:ext>
              </a:extLst>
            </p:cNvPr>
            <p:cNvCxnSpPr/>
            <p:nvPr/>
          </p:nvCxnSpPr>
          <p:spPr>
            <a:xfrm>
              <a:off x="7851493" y="4333734"/>
              <a:ext cx="0" cy="396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5">
              <a:extLst>
                <a:ext uri="{FF2B5EF4-FFF2-40B4-BE49-F238E27FC236}">
                  <a16:creationId xmlns:a16="http://schemas.microsoft.com/office/drawing/2014/main" id="{16240DF8-E8EA-ECBE-2395-E45796FFBDDF}"/>
                </a:ext>
              </a:extLst>
            </p:cNvPr>
            <p:cNvCxnSpPr/>
            <p:nvPr/>
          </p:nvCxnSpPr>
          <p:spPr>
            <a:xfrm>
              <a:off x="7851493" y="4987114"/>
              <a:ext cx="0" cy="828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92C5114-99B0-6920-3661-7AA364FBD6A0}"/>
              </a:ext>
            </a:extLst>
          </p:cNvPr>
          <p:cNvGrpSpPr/>
          <p:nvPr/>
        </p:nvGrpSpPr>
        <p:grpSpPr>
          <a:xfrm>
            <a:off x="8167760" y="4333734"/>
            <a:ext cx="384721" cy="1461570"/>
            <a:chOff x="8167760" y="4333734"/>
            <a:chExt cx="384721" cy="1461570"/>
          </a:xfrm>
        </p:grpSpPr>
        <p:cxnSp>
          <p:nvCxnSpPr>
            <p:cNvPr id="21" name="Straight Arrow Connector 18">
              <a:extLst>
                <a:ext uri="{FF2B5EF4-FFF2-40B4-BE49-F238E27FC236}">
                  <a16:creationId xmlns:a16="http://schemas.microsoft.com/office/drawing/2014/main" id="{870D1373-3116-D605-02E8-F75E363F2A34}"/>
                </a:ext>
              </a:extLst>
            </p:cNvPr>
            <p:cNvCxnSpPr/>
            <p:nvPr/>
          </p:nvCxnSpPr>
          <p:spPr>
            <a:xfrm>
              <a:off x="8355350" y="4333734"/>
              <a:ext cx="0" cy="396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8">
              <a:extLst>
                <a:ext uri="{FF2B5EF4-FFF2-40B4-BE49-F238E27FC236}">
                  <a16:creationId xmlns:a16="http://schemas.microsoft.com/office/drawing/2014/main" id="{BAB13F58-FEE4-954F-E088-2A2051996F3D}"/>
                </a:ext>
              </a:extLst>
            </p:cNvPr>
            <p:cNvSpPr txBox="1"/>
            <p:nvPr/>
          </p:nvSpPr>
          <p:spPr>
            <a:xfrm>
              <a:off x="8167760" y="4756138"/>
              <a:ext cx="384721" cy="1692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1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0x100</a:t>
              </a:r>
              <a:endParaRPr lang="en-US" sz="11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27" name="Straight Arrow Connector 30">
              <a:extLst>
                <a:ext uri="{FF2B5EF4-FFF2-40B4-BE49-F238E27FC236}">
                  <a16:creationId xmlns:a16="http://schemas.microsoft.com/office/drawing/2014/main" id="{9E6DF56A-46AB-3A99-3D10-CF455AC8A4FB}"/>
                </a:ext>
              </a:extLst>
            </p:cNvPr>
            <p:cNvCxnSpPr/>
            <p:nvPr/>
          </p:nvCxnSpPr>
          <p:spPr>
            <a:xfrm>
              <a:off x="8355350" y="4965683"/>
              <a:ext cx="0" cy="396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2">
              <a:extLst>
                <a:ext uri="{FF2B5EF4-FFF2-40B4-BE49-F238E27FC236}">
                  <a16:creationId xmlns:a16="http://schemas.microsoft.com/office/drawing/2014/main" id="{A407DAE5-7CEF-671B-595E-61DAA51D769E}"/>
                </a:ext>
              </a:extLst>
            </p:cNvPr>
            <p:cNvSpPr txBox="1"/>
            <p:nvPr/>
          </p:nvSpPr>
          <p:spPr>
            <a:xfrm>
              <a:off x="8203727" y="5351018"/>
              <a:ext cx="306174" cy="1692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1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0x84</a:t>
              </a:r>
              <a:endParaRPr lang="en-US" sz="11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29" name="Straight Arrow Connector 33">
              <a:extLst>
                <a:ext uri="{FF2B5EF4-FFF2-40B4-BE49-F238E27FC236}">
                  <a16:creationId xmlns:a16="http://schemas.microsoft.com/office/drawing/2014/main" id="{2500561E-98C8-33BD-D260-2ABB53D54687}"/>
                </a:ext>
              </a:extLst>
            </p:cNvPr>
            <p:cNvCxnSpPr/>
            <p:nvPr/>
          </p:nvCxnSpPr>
          <p:spPr>
            <a:xfrm>
              <a:off x="8355350" y="5543304"/>
              <a:ext cx="0" cy="252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94C5D2F1-321F-D621-2DC3-39C29FD9420A}"/>
              </a:ext>
            </a:extLst>
          </p:cNvPr>
          <p:cNvGrpSpPr/>
          <p:nvPr/>
        </p:nvGrpSpPr>
        <p:grpSpPr>
          <a:xfrm>
            <a:off x="7173455" y="4531734"/>
            <a:ext cx="2977317" cy="2046860"/>
            <a:chOff x="7173455" y="4531734"/>
            <a:chExt cx="2977317" cy="2046860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8014837D-F03D-F5F6-13A4-12521BDD68C8}"/>
                </a:ext>
              </a:extLst>
            </p:cNvPr>
            <p:cNvSpPr/>
            <p:nvPr/>
          </p:nvSpPr>
          <p:spPr>
            <a:xfrm>
              <a:off x="7173455" y="4531734"/>
              <a:ext cx="2699816" cy="1735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/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CPU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6295E6D2-AE44-5F22-28D4-51B9312BF08E}"/>
                </a:ext>
              </a:extLst>
            </p:cNvPr>
            <p:cNvSpPr/>
            <p:nvPr/>
          </p:nvSpPr>
          <p:spPr>
            <a:xfrm>
              <a:off x="8126349" y="5036769"/>
              <a:ext cx="1645364" cy="64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MMU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2D6F5332-9277-F435-FC75-73B8612024C3}"/>
                </a:ext>
              </a:extLst>
            </p:cNvPr>
            <p:cNvSpPr/>
            <p:nvPr/>
          </p:nvSpPr>
          <p:spPr>
            <a:xfrm>
              <a:off x="7234556" y="5834699"/>
              <a:ext cx="2543821" cy="3306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TW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Cache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2EF5329D-AA4D-EE2A-9CB1-38E12E61F20D}"/>
                </a:ext>
              </a:extLst>
            </p:cNvPr>
            <p:cNvSpPr txBox="1"/>
            <p:nvPr/>
          </p:nvSpPr>
          <p:spPr>
            <a:xfrm>
              <a:off x="7851493" y="6270817"/>
              <a:ext cx="2299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dirty="0"/>
                <a:t>Abstract of CPU</a:t>
              </a:r>
              <a:endParaRPr kumimoji="1" lang="zh-TW" altLang="en-US" sz="1400" dirty="0"/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581D0C00-E78D-DDA4-28BB-DABB14FAE106}"/>
              </a:ext>
            </a:extLst>
          </p:cNvPr>
          <p:cNvGrpSpPr/>
          <p:nvPr/>
        </p:nvGrpSpPr>
        <p:grpSpPr>
          <a:xfrm>
            <a:off x="5963552" y="4333734"/>
            <a:ext cx="1591467" cy="1481380"/>
            <a:chOff x="5963552" y="4333734"/>
            <a:chExt cx="1591467" cy="1481380"/>
          </a:xfrm>
        </p:grpSpPr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F2A81A6C-036F-6592-A49C-8974D9BF94AA}"/>
                </a:ext>
              </a:extLst>
            </p:cNvPr>
            <p:cNvSpPr txBox="1"/>
            <p:nvPr/>
          </p:nvSpPr>
          <p:spPr>
            <a:xfrm>
              <a:off x="7248845" y="4756138"/>
              <a:ext cx="306174" cy="1692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1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0x40</a:t>
              </a:r>
              <a:endParaRPr lang="en-US" sz="11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9" name="Straight Arrow Connector 12">
              <a:extLst>
                <a:ext uri="{FF2B5EF4-FFF2-40B4-BE49-F238E27FC236}">
                  <a16:creationId xmlns:a16="http://schemas.microsoft.com/office/drawing/2014/main" id="{F23B8255-EE9A-8446-8AD6-66C1D68830AD}"/>
                </a:ext>
              </a:extLst>
            </p:cNvPr>
            <p:cNvCxnSpPr/>
            <p:nvPr/>
          </p:nvCxnSpPr>
          <p:spPr>
            <a:xfrm>
              <a:off x="7411191" y="4333734"/>
              <a:ext cx="0" cy="396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5">
              <a:extLst>
                <a:ext uri="{FF2B5EF4-FFF2-40B4-BE49-F238E27FC236}">
                  <a16:creationId xmlns:a16="http://schemas.microsoft.com/office/drawing/2014/main" id="{6FBF7364-B361-9C17-717D-DF30A41DED2B}"/>
                </a:ext>
              </a:extLst>
            </p:cNvPr>
            <p:cNvCxnSpPr/>
            <p:nvPr/>
          </p:nvCxnSpPr>
          <p:spPr>
            <a:xfrm>
              <a:off x="7411191" y="4987114"/>
              <a:ext cx="0" cy="828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6DE353B-1EDB-F633-AA91-AA16EF8E717A}"/>
                </a:ext>
              </a:extLst>
            </p:cNvPr>
            <p:cNvSpPr txBox="1"/>
            <p:nvPr/>
          </p:nvSpPr>
          <p:spPr>
            <a:xfrm>
              <a:off x="5963552" y="4442760"/>
              <a:ext cx="1154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dirty="0">
                  <a:solidFill>
                    <a:srgbClr val="0070C0"/>
                  </a:solidFill>
                </a:rPr>
                <a:t>Enable MMU</a:t>
              </a:r>
              <a:endParaRPr kumimoji="1" lang="zh-TW" altLang="en-US" sz="1400" dirty="0">
                <a:solidFill>
                  <a:srgbClr val="0070C0"/>
                </a:solidFill>
              </a:endParaRPr>
            </a:p>
          </p:txBody>
        </p:sp>
        <p:cxnSp>
          <p:nvCxnSpPr>
            <p:cNvPr id="35" name="曲線接點 34">
              <a:extLst>
                <a:ext uri="{FF2B5EF4-FFF2-40B4-BE49-F238E27FC236}">
                  <a16:creationId xmlns:a16="http://schemas.microsoft.com/office/drawing/2014/main" id="{B6C2070A-B4E5-4300-EF68-C0AF20EBAC10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6649840" y="4674796"/>
              <a:ext cx="599005" cy="165981"/>
            </a:xfrm>
            <a:prstGeom prst="curvedConnector3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FABBE32F-FB85-B1FA-E94E-531A9663A9DE}"/>
              </a:ext>
            </a:extLst>
          </p:cNvPr>
          <p:cNvGrpSpPr/>
          <p:nvPr/>
        </p:nvGrpSpPr>
        <p:grpSpPr>
          <a:xfrm>
            <a:off x="3803044" y="4745078"/>
            <a:ext cx="2906942" cy="654257"/>
            <a:chOff x="3803044" y="4745078"/>
            <a:chExt cx="2906942" cy="654257"/>
          </a:xfrm>
        </p:grpSpPr>
        <p:sp>
          <p:nvSpPr>
            <p:cNvPr id="9" name="Rectangle 19">
              <a:extLst>
                <a:ext uri="{FF2B5EF4-FFF2-40B4-BE49-F238E27FC236}">
                  <a16:creationId xmlns:a16="http://schemas.microsoft.com/office/drawing/2014/main" id="{693BD457-3537-D056-F901-D5F9670E378E}"/>
                </a:ext>
              </a:extLst>
            </p:cNvPr>
            <p:cNvSpPr/>
            <p:nvPr/>
          </p:nvSpPr>
          <p:spPr>
            <a:xfrm>
              <a:off x="4161540" y="5165076"/>
              <a:ext cx="1154384" cy="23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   JMP,</a:t>
              </a:r>
              <a:r>
                <a:rPr lang="zh-TW" altLang="en-US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sz="11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   </a:t>
              </a:r>
              <a:endPara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0D149494-0C68-F6DE-134F-2CA4A644AE97}"/>
                </a:ext>
              </a:extLst>
            </p:cNvPr>
            <p:cNvSpPr txBox="1"/>
            <p:nvPr/>
          </p:nvSpPr>
          <p:spPr>
            <a:xfrm>
              <a:off x="3803044" y="5198165"/>
              <a:ext cx="331822" cy="184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0x44</a:t>
              </a:r>
              <a:endParaRPr lang="en-US" sz="12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3" name="TextBox 28">
              <a:extLst>
                <a:ext uri="{FF2B5EF4-FFF2-40B4-BE49-F238E27FC236}">
                  <a16:creationId xmlns:a16="http://schemas.microsoft.com/office/drawing/2014/main" id="{7869BBB1-8716-098E-1E21-2D3515DABA8B}"/>
                </a:ext>
              </a:extLst>
            </p:cNvPr>
            <p:cNvSpPr txBox="1"/>
            <p:nvPr/>
          </p:nvSpPr>
          <p:spPr>
            <a:xfrm>
              <a:off x="4790907" y="5203353"/>
              <a:ext cx="384721" cy="1692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100" dirty="0">
                  <a:solidFill>
                    <a:srgbClr val="C00000"/>
                  </a:solidFill>
                  <a:latin typeface="Arial" charset="0"/>
                  <a:ea typeface="Arial" charset="0"/>
                  <a:cs typeface="Arial" charset="0"/>
                </a:rPr>
                <a:t>0x100</a:t>
              </a:r>
              <a:endParaRPr lang="en-US" sz="11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8" name="曲線接點 7">
              <a:extLst>
                <a:ext uri="{FF2B5EF4-FFF2-40B4-BE49-F238E27FC236}">
                  <a16:creationId xmlns:a16="http://schemas.microsoft.com/office/drawing/2014/main" id="{96139FA4-3302-FD97-4B55-1642750EB1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186929" y="5047231"/>
              <a:ext cx="551911" cy="209573"/>
            </a:xfrm>
            <a:prstGeom prst="curvedConnector3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B22147B5-85E4-4646-E6E2-E20A2C279BBD}"/>
                </a:ext>
              </a:extLst>
            </p:cNvPr>
            <p:cNvSpPr txBox="1"/>
            <p:nvPr/>
          </p:nvSpPr>
          <p:spPr>
            <a:xfrm>
              <a:off x="5386359" y="4745078"/>
              <a:ext cx="1323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400" dirty="0">
                  <a:solidFill>
                    <a:srgbClr val="0070C0"/>
                  </a:solidFill>
                </a:rPr>
                <a:t>Virtual Address</a:t>
              </a:r>
              <a:endParaRPr kumimoji="1" lang="zh-TW" altLang="en-US" sz="14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05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F98DB-071B-6D69-3736-4C912C4A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Out-dated: Inverted Page Table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F184DB-9B73-6459-DD80-21935970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12014199" cy="544195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Issue 1:Systems </a:t>
            </a:r>
            <a:r>
              <a:rPr lang="en-US" altLang="zh-TW" dirty="0">
                <a:solidFill>
                  <a:srgbClr val="C00000"/>
                </a:solidFill>
              </a:rPr>
              <a:t>consume large memory space </a:t>
            </a:r>
            <a:r>
              <a:rPr lang="en-US" altLang="zh-TW" dirty="0"/>
              <a:t>to store multi-level page tables.</a:t>
            </a:r>
          </a:p>
          <a:p>
            <a:pPr algn="l"/>
            <a:r>
              <a:rPr kumimoji="1" lang="en-US" altLang="zh-TW" dirty="0"/>
              <a:t>Idea: Single-level page table, PTE = &lt;process-id, page-number, offset&gt;.</a:t>
            </a:r>
          </a:p>
          <a:p>
            <a:pPr lvl="1" algn="l"/>
            <a:r>
              <a:rPr lang="en-US" altLang="zh-TW" dirty="0"/>
              <a:t>&lt;process-id, page-number&gt; equals to the function of multi-level tables.</a:t>
            </a:r>
          </a:p>
          <a:p>
            <a:pPr lvl="1" algn="l"/>
            <a:r>
              <a:rPr lang="en-US" altLang="zh-TW" dirty="0"/>
              <a:t>If a match is found, &lt;process-id, page-number&gt; = </a:t>
            </a:r>
            <a:r>
              <a:rPr lang="en-US" altLang="zh-TW" dirty="0" err="1"/>
              <a:t>i</a:t>
            </a:r>
            <a:r>
              <a:rPr lang="en-US" altLang="zh-TW" dirty="0"/>
              <a:t>, get physical page (frame) by &lt;I, offset&gt;.</a:t>
            </a:r>
            <a:br>
              <a:rPr lang="en-US" altLang="zh-TW" dirty="0"/>
            </a:br>
            <a:r>
              <a:rPr lang="en-US" altLang="zh-TW" dirty="0">
                <a:solidFill>
                  <a:srgbClr val="C00000"/>
                </a:solidFill>
              </a:rPr>
              <a:t>(Sorted by the physical addresses)</a:t>
            </a:r>
          </a:p>
          <a:p>
            <a:pPr algn="l"/>
            <a:r>
              <a:rPr kumimoji="1" lang="en-US" altLang="zh-TW" dirty="0"/>
              <a:t>Disadvantages:</a:t>
            </a:r>
          </a:p>
          <a:p>
            <a:pPr lvl="1" algn="l"/>
            <a:r>
              <a:rPr lang="en-US" altLang="zh-TW" dirty="0"/>
              <a:t>Shall </a:t>
            </a:r>
            <a:r>
              <a:rPr lang="en-US" altLang="zh-TW" dirty="0">
                <a:solidFill>
                  <a:srgbClr val="C00000"/>
                </a:solidFill>
              </a:rPr>
              <a:t>walk through the whole table </a:t>
            </a:r>
            <a:br>
              <a:rPr lang="en-US" altLang="zh-TW" dirty="0"/>
            </a:br>
            <a:r>
              <a:rPr lang="en-US" altLang="zh-TW" dirty="0"/>
              <a:t>if there is no matched.</a:t>
            </a:r>
          </a:p>
          <a:p>
            <a:pPr lvl="1" algn="l"/>
            <a:r>
              <a:rPr lang="en-US" altLang="zh-TW" dirty="0"/>
              <a:t>One physical page </a:t>
            </a:r>
            <a:r>
              <a:rPr lang="en-US" altLang="zh-TW" dirty="0">
                <a:solidFill>
                  <a:srgbClr val="C00000"/>
                </a:solidFill>
              </a:rPr>
              <a:t>cannot have </a:t>
            </a:r>
            <a:br>
              <a:rPr lang="en-US" altLang="zh-TW" dirty="0">
                <a:solidFill>
                  <a:srgbClr val="C00000"/>
                </a:solidFill>
              </a:rPr>
            </a:br>
            <a:r>
              <a:rPr lang="en-US" altLang="zh-TW" dirty="0">
                <a:solidFill>
                  <a:srgbClr val="C00000"/>
                </a:solidFill>
              </a:rPr>
              <a:t>two shared virtual addresses</a:t>
            </a:r>
            <a:r>
              <a:rPr lang="en-US" altLang="zh-TW" dirty="0"/>
              <a:t>.</a:t>
            </a:r>
            <a:endParaRPr kumimoji="1" lang="en-US" altLang="zh-TW" dirty="0"/>
          </a:p>
          <a:p>
            <a:pPr lvl="1" algn="l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AAA7F6-D30F-0DD5-CA1C-055E5D31D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6C99946-B119-B1D4-6967-801637C67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051259"/>
            <a:ext cx="5081286" cy="349044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B3A26CA-6F96-B5AF-4EF0-60B921A456EB}"/>
              </a:ext>
            </a:extLst>
          </p:cNvPr>
          <p:cNvSpPr txBox="1"/>
          <p:nvPr/>
        </p:nvSpPr>
        <p:spPr>
          <a:xfrm>
            <a:off x="0" y="6541700"/>
            <a:ext cx="5081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Operating System Concepts (Tenth Edition)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5B239A-1BD8-70D5-F1CF-2A23B15B880F}"/>
              </a:ext>
            </a:extLst>
          </p:cNvPr>
          <p:cNvSpPr/>
          <p:nvPr/>
        </p:nvSpPr>
        <p:spPr>
          <a:xfrm>
            <a:off x="7005483" y="4796478"/>
            <a:ext cx="2020529" cy="1745221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705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5B3420BF-FBCF-436F-15E7-28F941AB2788}"/>
              </a:ext>
            </a:extLst>
          </p:cNvPr>
          <p:cNvGrpSpPr/>
          <p:nvPr/>
        </p:nvGrpSpPr>
        <p:grpSpPr>
          <a:xfrm>
            <a:off x="8309728" y="2042842"/>
            <a:ext cx="3692269" cy="1791357"/>
            <a:chOff x="8309728" y="2042842"/>
            <a:chExt cx="3692269" cy="1791357"/>
          </a:xfrm>
        </p:grpSpPr>
        <p:sp>
          <p:nvSpPr>
            <p:cNvPr id="118" name="Rectangle 825">
              <a:extLst>
                <a:ext uri="{FF2B5EF4-FFF2-40B4-BE49-F238E27FC236}">
                  <a16:creationId xmlns:a16="http://schemas.microsoft.com/office/drawing/2014/main" id="{76B446E6-CB43-79FA-8AE4-E5CBE8236C1E}"/>
                </a:ext>
              </a:extLst>
            </p:cNvPr>
            <p:cNvSpPr/>
            <p:nvPr/>
          </p:nvSpPr>
          <p:spPr>
            <a:xfrm>
              <a:off x="8309728" y="2042842"/>
              <a:ext cx="3692269" cy="17913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Operating System</a:t>
              </a:r>
            </a:p>
          </p:txBody>
        </p:sp>
        <p:sp>
          <p:nvSpPr>
            <p:cNvPr id="119" name="Rectangle 827">
              <a:extLst>
                <a:ext uri="{FF2B5EF4-FFF2-40B4-BE49-F238E27FC236}">
                  <a16:creationId xmlns:a16="http://schemas.microsoft.com/office/drawing/2014/main" id="{961479E2-6806-1B9C-243F-D761DE0B81AE}"/>
                </a:ext>
              </a:extLst>
            </p:cNvPr>
            <p:cNvSpPr/>
            <p:nvPr/>
          </p:nvSpPr>
          <p:spPr>
            <a:xfrm>
              <a:off x="8439017" y="2853518"/>
              <a:ext cx="3420000" cy="881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Memory</a:t>
              </a:r>
              <a:r>
                <a:rPr lang="zh-TW" alt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Management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2" name="Rectangle 140">
              <a:extLst>
                <a:ext uri="{FF2B5EF4-FFF2-40B4-BE49-F238E27FC236}">
                  <a16:creationId xmlns:a16="http://schemas.microsoft.com/office/drawing/2014/main" id="{2554931C-344D-1B91-A385-2E530CBD4725}"/>
                </a:ext>
              </a:extLst>
            </p:cNvPr>
            <p:cNvSpPr/>
            <p:nvPr/>
          </p:nvSpPr>
          <p:spPr>
            <a:xfrm>
              <a:off x="8679369" y="3224127"/>
              <a:ext cx="2921209" cy="4095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Huge</a:t>
              </a:r>
              <a:r>
                <a:rPr lang="zh-TW" alt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Page</a:t>
              </a:r>
              <a:r>
                <a:rPr lang="zh-TW" alt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Management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55047A94-1EBD-77A4-9994-D6D1E72289DD}"/>
              </a:ext>
            </a:extLst>
          </p:cNvPr>
          <p:cNvGrpSpPr/>
          <p:nvPr/>
        </p:nvGrpSpPr>
        <p:grpSpPr>
          <a:xfrm>
            <a:off x="5555660" y="4014599"/>
            <a:ext cx="6458540" cy="1154550"/>
            <a:chOff x="5555660" y="4014599"/>
            <a:chExt cx="6458540" cy="1154550"/>
          </a:xfrm>
        </p:grpSpPr>
        <p:sp>
          <p:nvSpPr>
            <p:cNvPr id="6" name="Rectangle 828">
              <a:extLst>
                <a:ext uri="{FF2B5EF4-FFF2-40B4-BE49-F238E27FC236}">
                  <a16:creationId xmlns:a16="http://schemas.microsoft.com/office/drawing/2014/main" id="{B8336F82-FE5A-597D-8401-9E19EEEC45F4}"/>
                </a:ext>
              </a:extLst>
            </p:cNvPr>
            <p:cNvSpPr/>
            <p:nvPr/>
          </p:nvSpPr>
          <p:spPr>
            <a:xfrm>
              <a:off x="5661116" y="4014599"/>
              <a:ext cx="6353084" cy="1154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Main Memory (e.g., DRAM)</a:t>
              </a:r>
            </a:p>
          </p:txBody>
        </p:sp>
        <p:sp>
          <p:nvSpPr>
            <p:cNvPr id="19" name="Snip Single Corner Rectangle 844">
              <a:extLst>
                <a:ext uri="{FF2B5EF4-FFF2-40B4-BE49-F238E27FC236}">
                  <a16:creationId xmlns:a16="http://schemas.microsoft.com/office/drawing/2014/main" id="{6A6CB29C-9A0E-1694-3F01-9A3A79AB7E3D}"/>
                </a:ext>
              </a:extLst>
            </p:cNvPr>
            <p:cNvSpPr/>
            <p:nvPr/>
          </p:nvSpPr>
          <p:spPr>
            <a:xfrm>
              <a:off x="5726167" y="4149160"/>
              <a:ext cx="502251" cy="629794"/>
            </a:xfrm>
            <a:prstGeom prst="snip1Rect">
              <a:avLst>
                <a:gd name="adj" fmla="val 30271"/>
              </a:avLst>
            </a:prstGeom>
            <a:solidFill>
              <a:schemeClr val="bg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TextBox 846">
              <a:extLst>
                <a:ext uri="{FF2B5EF4-FFF2-40B4-BE49-F238E27FC236}">
                  <a16:creationId xmlns:a16="http://schemas.microsoft.com/office/drawing/2014/main" id="{B685A256-E441-553E-6B86-394273F54016}"/>
                </a:ext>
              </a:extLst>
            </p:cNvPr>
            <p:cNvSpPr txBox="1"/>
            <p:nvPr/>
          </p:nvSpPr>
          <p:spPr>
            <a:xfrm>
              <a:off x="10143741" y="412368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sz="2400" b="1" dirty="0">
                  <a:latin typeface="Arial" charset="0"/>
                  <a:ea typeface="Arial" charset="0"/>
                  <a:cs typeface="Arial" charset="0"/>
                </a:rPr>
                <a:t>…</a:t>
              </a:r>
              <a:endParaRPr lang="en-US" sz="2400" b="1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89" name="Group 922">
              <a:extLst>
                <a:ext uri="{FF2B5EF4-FFF2-40B4-BE49-F238E27FC236}">
                  <a16:creationId xmlns:a16="http://schemas.microsoft.com/office/drawing/2014/main" id="{59ADBF4E-4145-ED3D-A2F8-0C99707BF967}"/>
                </a:ext>
              </a:extLst>
            </p:cNvPr>
            <p:cNvGrpSpPr/>
            <p:nvPr/>
          </p:nvGrpSpPr>
          <p:grpSpPr>
            <a:xfrm>
              <a:off x="9153933" y="4142069"/>
              <a:ext cx="1080249" cy="586800"/>
              <a:chOff x="2962551" y="5644013"/>
              <a:chExt cx="1080249" cy="586800"/>
            </a:xfrm>
          </p:grpSpPr>
          <p:sp>
            <p:nvSpPr>
              <p:cNvPr id="90" name="Rounded Rectangle 923">
                <a:extLst>
                  <a:ext uri="{FF2B5EF4-FFF2-40B4-BE49-F238E27FC236}">
                    <a16:creationId xmlns:a16="http://schemas.microsoft.com/office/drawing/2014/main" id="{08C0440E-B2D2-9711-093F-EE4F965233C3}"/>
                  </a:ext>
                </a:extLst>
              </p:cNvPr>
              <p:cNvSpPr/>
              <p:nvPr/>
            </p:nvSpPr>
            <p:spPr>
              <a:xfrm>
                <a:off x="368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91" name="Group 924">
                <a:extLst>
                  <a:ext uri="{FF2B5EF4-FFF2-40B4-BE49-F238E27FC236}">
                    <a16:creationId xmlns:a16="http://schemas.microsoft.com/office/drawing/2014/main" id="{BAA5A575-53BA-5418-42BD-443D08A3F594}"/>
                  </a:ext>
                </a:extLst>
              </p:cNvPr>
              <p:cNvGrpSpPr/>
              <p:nvPr/>
            </p:nvGrpSpPr>
            <p:grpSpPr>
              <a:xfrm>
                <a:off x="2962551" y="5644013"/>
                <a:ext cx="1080249" cy="586800"/>
                <a:chOff x="2962551" y="5644013"/>
                <a:chExt cx="1080249" cy="586800"/>
              </a:xfrm>
            </p:grpSpPr>
            <p:sp>
              <p:nvSpPr>
                <p:cNvPr id="92" name="Rounded Rectangle 925">
                  <a:extLst>
                    <a:ext uri="{FF2B5EF4-FFF2-40B4-BE49-F238E27FC236}">
                      <a16:creationId xmlns:a16="http://schemas.microsoft.com/office/drawing/2014/main" id="{A13BDC20-3449-934C-92F1-307AD624B920}"/>
                    </a:ext>
                  </a:extLst>
                </p:cNvPr>
                <p:cNvSpPr/>
                <p:nvPr/>
              </p:nvSpPr>
              <p:spPr>
                <a:xfrm>
                  <a:off x="2962551" y="5644013"/>
                  <a:ext cx="180000" cy="586800"/>
                </a:xfrm>
                <a:prstGeom prst="roundRect">
                  <a:avLst>
                    <a:gd name="adj" fmla="val 4016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sp>
              <p:nvSpPr>
                <p:cNvPr id="93" name="Rounded Rectangle 926">
                  <a:extLst>
                    <a:ext uri="{FF2B5EF4-FFF2-40B4-BE49-F238E27FC236}">
                      <a16:creationId xmlns:a16="http://schemas.microsoft.com/office/drawing/2014/main" id="{BCDCD31C-DE36-F75B-5A95-27153BE770A5}"/>
                    </a:ext>
                  </a:extLst>
                </p:cNvPr>
                <p:cNvSpPr/>
                <p:nvPr/>
              </p:nvSpPr>
              <p:spPr>
                <a:xfrm>
                  <a:off x="3142237" y="5644013"/>
                  <a:ext cx="180000" cy="586800"/>
                </a:xfrm>
                <a:prstGeom prst="roundRect">
                  <a:avLst>
                    <a:gd name="adj" fmla="val 4016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sp>
              <p:nvSpPr>
                <p:cNvPr id="94" name="Rounded Rectangle 927">
                  <a:extLst>
                    <a:ext uri="{FF2B5EF4-FFF2-40B4-BE49-F238E27FC236}">
                      <a16:creationId xmlns:a16="http://schemas.microsoft.com/office/drawing/2014/main" id="{289486A3-2B68-FBAD-1CC1-F230621C373D}"/>
                    </a:ext>
                  </a:extLst>
                </p:cNvPr>
                <p:cNvSpPr/>
                <p:nvPr/>
              </p:nvSpPr>
              <p:spPr>
                <a:xfrm>
                  <a:off x="3322237" y="5644013"/>
                  <a:ext cx="180000" cy="586800"/>
                </a:xfrm>
                <a:prstGeom prst="roundRect">
                  <a:avLst>
                    <a:gd name="adj" fmla="val 4016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sp>
              <p:nvSpPr>
                <p:cNvPr id="95" name="Rounded Rectangle 928">
                  <a:extLst>
                    <a:ext uri="{FF2B5EF4-FFF2-40B4-BE49-F238E27FC236}">
                      <a16:creationId xmlns:a16="http://schemas.microsoft.com/office/drawing/2014/main" id="{702B046C-BB8E-AC67-1C3E-3CF8E3EE8044}"/>
                    </a:ext>
                  </a:extLst>
                </p:cNvPr>
                <p:cNvSpPr/>
                <p:nvPr/>
              </p:nvSpPr>
              <p:spPr>
                <a:xfrm>
                  <a:off x="3502237" y="5644013"/>
                  <a:ext cx="180000" cy="586800"/>
                </a:xfrm>
                <a:prstGeom prst="roundRect">
                  <a:avLst>
                    <a:gd name="adj" fmla="val 4016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sp>
              <p:nvSpPr>
                <p:cNvPr id="96" name="Rounded Rectangle 929">
                  <a:extLst>
                    <a:ext uri="{FF2B5EF4-FFF2-40B4-BE49-F238E27FC236}">
                      <a16:creationId xmlns:a16="http://schemas.microsoft.com/office/drawing/2014/main" id="{5B7DB905-F99E-2CF1-B9D3-7710DD53D7E6}"/>
                    </a:ext>
                  </a:extLst>
                </p:cNvPr>
                <p:cNvSpPr/>
                <p:nvPr/>
              </p:nvSpPr>
              <p:spPr>
                <a:xfrm>
                  <a:off x="3862800" y="5644013"/>
                  <a:ext cx="180000" cy="586800"/>
                </a:xfrm>
                <a:prstGeom prst="roundRect">
                  <a:avLst>
                    <a:gd name="adj" fmla="val 4016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</p:grpSp>
        </p:grpSp>
        <p:sp>
          <p:nvSpPr>
            <p:cNvPr id="97" name="TextBox 930">
              <a:extLst>
                <a:ext uri="{FF2B5EF4-FFF2-40B4-BE49-F238E27FC236}">
                  <a16:creationId xmlns:a16="http://schemas.microsoft.com/office/drawing/2014/main" id="{C840D4EC-8F62-9512-4BE4-15862941A623}"/>
                </a:ext>
              </a:extLst>
            </p:cNvPr>
            <p:cNvSpPr txBox="1"/>
            <p:nvPr/>
          </p:nvSpPr>
          <p:spPr>
            <a:xfrm>
              <a:off x="9288254" y="4136260"/>
              <a:ext cx="86400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>
                  <a:latin typeface="Arial" charset="0"/>
                  <a:ea typeface="Arial" charset="0"/>
                  <a:cs typeface="Arial" charset="0"/>
                </a:rPr>
                <a:t>Regular Pages</a:t>
              </a:r>
            </a:p>
          </p:txBody>
        </p:sp>
        <p:grpSp>
          <p:nvGrpSpPr>
            <p:cNvPr id="100" name="Group 933">
              <a:extLst>
                <a:ext uri="{FF2B5EF4-FFF2-40B4-BE49-F238E27FC236}">
                  <a16:creationId xmlns:a16="http://schemas.microsoft.com/office/drawing/2014/main" id="{56907FE8-7C3B-77AC-7F3E-AA8A4E21BEE0}"/>
                </a:ext>
              </a:extLst>
            </p:cNvPr>
            <p:cNvGrpSpPr/>
            <p:nvPr/>
          </p:nvGrpSpPr>
          <p:grpSpPr>
            <a:xfrm>
              <a:off x="7950043" y="4166865"/>
              <a:ext cx="899686" cy="586800"/>
              <a:chOff x="5239900" y="3999596"/>
              <a:chExt cx="899686" cy="586800"/>
            </a:xfrm>
          </p:grpSpPr>
          <p:sp>
            <p:nvSpPr>
              <p:cNvPr id="101" name="Rounded Rectangle 934">
                <a:extLst>
                  <a:ext uri="{FF2B5EF4-FFF2-40B4-BE49-F238E27FC236}">
                    <a16:creationId xmlns:a16="http://schemas.microsoft.com/office/drawing/2014/main" id="{B7E61889-6669-BE30-0672-E03895DC1958}"/>
                  </a:ext>
                </a:extLst>
              </p:cNvPr>
              <p:cNvSpPr/>
              <p:nvPr/>
            </p:nvSpPr>
            <p:spPr>
              <a:xfrm>
                <a:off x="5959586" y="3999596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02" name="Rounded Rectangle 935">
                <a:extLst>
                  <a:ext uri="{FF2B5EF4-FFF2-40B4-BE49-F238E27FC236}">
                    <a16:creationId xmlns:a16="http://schemas.microsoft.com/office/drawing/2014/main" id="{AEDFB306-DC2F-080E-9538-227AD6936180}"/>
                  </a:ext>
                </a:extLst>
              </p:cNvPr>
              <p:cNvSpPr/>
              <p:nvPr/>
            </p:nvSpPr>
            <p:spPr>
              <a:xfrm>
                <a:off x="5239900" y="3999596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03" name="Rounded Rectangle 936">
                <a:extLst>
                  <a:ext uri="{FF2B5EF4-FFF2-40B4-BE49-F238E27FC236}">
                    <a16:creationId xmlns:a16="http://schemas.microsoft.com/office/drawing/2014/main" id="{ADC23868-C97A-B38E-936B-22E64548DD8B}"/>
                  </a:ext>
                </a:extLst>
              </p:cNvPr>
              <p:cNvSpPr/>
              <p:nvPr/>
            </p:nvSpPr>
            <p:spPr>
              <a:xfrm>
                <a:off x="5419586" y="3999596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04" name="Rounded Rectangle 937">
                <a:extLst>
                  <a:ext uri="{FF2B5EF4-FFF2-40B4-BE49-F238E27FC236}">
                    <a16:creationId xmlns:a16="http://schemas.microsoft.com/office/drawing/2014/main" id="{4DE793F4-E72F-4FD7-061A-902382270262}"/>
                  </a:ext>
                </a:extLst>
              </p:cNvPr>
              <p:cNvSpPr/>
              <p:nvPr/>
            </p:nvSpPr>
            <p:spPr>
              <a:xfrm>
                <a:off x="5599586" y="3999596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05" name="Rounded Rectangle 938">
                <a:extLst>
                  <a:ext uri="{FF2B5EF4-FFF2-40B4-BE49-F238E27FC236}">
                    <a16:creationId xmlns:a16="http://schemas.microsoft.com/office/drawing/2014/main" id="{2691DC0C-F608-0E64-8C0C-0BF8D0A51805}"/>
                  </a:ext>
                </a:extLst>
              </p:cNvPr>
              <p:cNvSpPr/>
              <p:nvPr/>
            </p:nvSpPr>
            <p:spPr>
              <a:xfrm>
                <a:off x="5779586" y="3999596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06" name="Snip Single Corner Rectangle 940">
              <a:extLst>
                <a:ext uri="{FF2B5EF4-FFF2-40B4-BE49-F238E27FC236}">
                  <a16:creationId xmlns:a16="http://schemas.microsoft.com/office/drawing/2014/main" id="{E494E953-53EB-354A-705D-5B1BF682AA10}"/>
                </a:ext>
              </a:extLst>
            </p:cNvPr>
            <p:cNvSpPr/>
            <p:nvPr/>
          </p:nvSpPr>
          <p:spPr>
            <a:xfrm>
              <a:off x="7367710" y="4149057"/>
              <a:ext cx="503999" cy="630000"/>
            </a:xfrm>
            <a:prstGeom prst="snip1Rect">
              <a:avLst>
                <a:gd name="adj" fmla="val 30271"/>
              </a:avLst>
            </a:prstGeom>
            <a:solidFill>
              <a:schemeClr val="bg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7" name="TextBox 941">
              <a:extLst>
                <a:ext uri="{FF2B5EF4-FFF2-40B4-BE49-F238E27FC236}">
                  <a16:creationId xmlns:a16="http://schemas.microsoft.com/office/drawing/2014/main" id="{D554E1A5-127F-AAB2-7EC5-C5E80692E68A}"/>
                </a:ext>
              </a:extLst>
            </p:cNvPr>
            <p:cNvSpPr txBox="1"/>
            <p:nvPr/>
          </p:nvSpPr>
          <p:spPr>
            <a:xfrm>
              <a:off x="5555660" y="4591380"/>
              <a:ext cx="864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latin typeface="Arial" charset="0"/>
                  <a:ea typeface="Arial" charset="0"/>
                  <a:cs typeface="Arial" charset="0"/>
                </a:rPr>
                <a:t>PML4T</a:t>
              </a:r>
            </a:p>
          </p:txBody>
        </p:sp>
        <p:sp>
          <p:nvSpPr>
            <p:cNvPr id="112" name="TextBox 947">
              <a:extLst>
                <a:ext uri="{FF2B5EF4-FFF2-40B4-BE49-F238E27FC236}">
                  <a16:creationId xmlns:a16="http://schemas.microsoft.com/office/drawing/2014/main" id="{313ED590-BFE5-9935-7E71-24BC7A98FE32}"/>
                </a:ext>
              </a:extLst>
            </p:cNvPr>
            <p:cNvSpPr txBox="1"/>
            <p:nvPr/>
          </p:nvSpPr>
          <p:spPr>
            <a:xfrm>
              <a:off x="7193099" y="4582148"/>
              <a:ext cx="864000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300" dirty="0">
                  <a:latin typeface="Arial" charset="0"/>
                  <a:ea typeface="Arial" charset="0"/>
                  <a:cs typeface="Arial" charset="0"/>
                </a:rPr>
                <a:t>PT</a:t>
              </a:r>
            </a:p>
          </p:txBody>
        </p:sp>
        <p:sp>
          <p:nvSpPr>
            <p:cNvPr id="114" name="TextBox 949">
              <a:extLst>
                <a:ext uri="{FF2B5EF4-FFF2-40B4-BE49-F238E27FC236}">
                  <a16:creationId xmlns:a16="http://schemas.microsoft.com/office/drawing/2014/main" id="{33B6E082-6FAE-80BB-1B1E-499B2E932DE0}"/>
                </a:ext>
              </a:extLst>
            </p:cNvPr>
            <p:cNvSpPr txBox="1"/>
            <p:nvPr/>
          </p:nvSpPr>
          <p:spPr>
            <a:xfrm>
              <a:off x="8769868" y="41475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sz="2400" b="1" dirty="0">
                  <a:latin typeface="Arial" charset="0"/>
                  <a:ea typeface="Arial" charset="0"/>
                  <a:cs typeface="Arial" charset="0"/>
                </a:rPr>
                <a:t>…</a:t>
              </a:r>
              <a:endParaRPr lang="en-US" sz="2400" b="1" dirty="0"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115" name="Group 950">
              <a:extLst>
                <a:ext uri="{FF2B5EF4-FFF2-40B4-BE49-F238E27FC236}">
                  <a16:creationId xmlns:a16="http://schemas.microsoft.com/office/drawing/2014/main" id="{90258F4C-9BF6-7FC3-901D-63F361668F3B}"/>
                </a:ext>
              </a:extLst>
            </p:cNvPr>
            <p:cNvGrpSpPr/>
            <p:nvPr/>
          </p:nvGrpSpPr>
          <p:grpSpPr>
            <a:xfrm>
              <a:off x="6639979" y="4149057"/>
              <a:ext cx="864000" cy="630000"/>
              <a:chOff x="3923458" y="3986851"/>
              <a:chExt cx="864000" cy="630000"/>
            </a:xfrm>
          </p:grpSpPr>
          <p:sp>
            <p:nvSpPr>
              <p:cNvPr id="116" name="Snip Single Corner Rectangle 951">
                <a:extLst>
                  <a:ext uri="{FF2B5EF4-FFF2-40B4-BE49-F238E27FC236}">
                    <a16:creationId xmlns:a16="http://schemas.microsoft.com/office/drawing/2014/main" id="{9E933BB1-6CDC-1010-2C02-0BA1AF451F0F}"/>
                  </a:ext>
                </a:extLst>
              </p:cNvPr>
              <p:cNvSpPr/>
              <p:nvPr/>
            </p:nvSpPr>
            <p:spPr>
              <a:xfrm>
                <a:off x="4098822" y="3986851"/>
                <a:ext cx="503999" cy="630000"/>
              </a:xfrm>
              <a:prstGeom prst="snip1Rect">
                <a:avLst>
                  <a:gd name="adj" fmla="val 30271"/>
                </a:avLst>
              </a:prstGeom>
              <a:solidFill>
                <a:schemeClr val="bg2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17" name="TextBox 952">
                <a:extLst>
                  <a:ext uri="{FF2B5EF4-FFF2-40B4-BE49-F238E27FC236}">
                    <a16:creationId xmlns:a16="http://schemas.microsoft.com/office/drawing/2014/main" id="{5E914D88-B45B-9366-8553-3ECEA2537E1B}"/>
                  </a:ext>
                </a:extLst>
              </p:cNvPr>
              <p:cNvSpPr txBox="1"/>
              <p:nvPr/>
            </p:nvSpPr>
            <p:spPr>
              <a:xfrm>
                <a:off x="3923458" y="4414875"/>
                <a:ext cx="864000" cy="2000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300" dirty="0">
                    <a:latin typeface="Arial" charset="0"/>
                    <a:ea typeface="Arial" charset="0"/>
                    <a:cs typeface="Arial" charset="0"/>
                  </a:rPr>
                  <a:t>PDT</a:t>
                </a:r>
              </a:p>
            </p:txBody>
          </p:sp>
        </p:grpSp>
        <p:sp>
          <p:nvSpPr>
            <p:cNvPr id="125" name="Snip Single Corner Rectangle 939">
              <a:extLst>
                <a:ext uri="{FF2B5EF4-FFF2-40B4-BE49-F238E27FC236}">
                  <a16:creationId xmlns:a16="http://schemas.microsoft.com/office/drawing/2014/main" id="{E1541171-8DDB-6000-1B5A-4011B61ADC82}"/>
                </a:ext>
              </a:extLst>
            </p:cNvPr>
            <p:cNvSpPr/>
            <p:nvPr/>
          </p:nvSpPr>
          <p:spPr>
            <a:xfrm>
              <a:off x="6267636" y="4149057"/>
              <a:ext cx="503999" cy="630000"/>
            </a:xfrm>
            <a:prstGeom prst="snip1Rect">
              <a:avLst>
                <a:gd name="adj" fmla="val 30271"/>
              </a:avLst>
            </a:prstGeom>
            <a:solidFill>
              <a:schemeClr val="bg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6" name="TextBox 944">
              <a:extLst>
                <a:ext uri="{FF2B5EF4-FFF2-40B4-BE49-F238E27FC236}">
                  <a16:creationId xmlns:a16="http://schemas.microsoft.com/office/drawing/2014/main" id="{86150117-BC40-EF2F-7BAB-9178EF882911}"/>
                </a:ext>
              </a:extLst>
            </p:cNvPr>
            <p:cNvSpPr txBox="1"/>
            <p:nvPr/>
          </p:nvSpPr>
          <p:spPr>
            <a:xfrm>
              <a:off x="6102970" y="4577795"/>
              <a:ext cx="864000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300" dirty="0">
                  <a:latin typeface="Arial" charset="0"/>
                  <a:ea typeface="Arial" charset="0"/>
                  <a:cs typeface="Arial" charset="0"/>
                </a:rPr>
                <a:t>PDPT</a:t>
              </a: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66428D7E-FE83-23C9-4ACB-C2DEDEAF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28" y="174625"/>
            <a:ext cx="5407814" cy="10636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Huge Page Management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7296C-0AB1-34EB-35A2-4E4BF0C2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65" y="1238250"/>
            <a:ext cx="5339163" cy="544195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kumimoji="1" lang="en-US" altLang="zh-TW" dirty="0"/>
              <a:t>Challenge of using 4KB page size.</a:t>
            </a:r>
          </a:p>
          <a:p>
            <a:pPr lvl="1" algn="l"/>
            <a:r>
              <a:rPr lang="en-US" altLang="zh-TW" dirty="0" err="1"/>
              <a:t>TLB_Reach</a:t>
            </a:r>
            <a:r>
              <a:rPr lang="en-US" altLang="zh-TW" dirty="0"/>
              <a:t> (</a:t>
            </a:r>
            <a:r>
              <a:rPr lang="en-US" altLang="zh-TW" dirty="0" err="1">
                <a:solidFill>
                  <a:srgbClr val="C00000"/>
                </a:solidFill>
              </a:rPr>
              <a:t>TLB_Size</a:t>
            </a:r>
            <a:r>
              <a:rPr lang="en-US" altLang="zh-TW" dirty="0">
                <a:solidFill>
                  <a:srgbClr val="C00000"/>
                </a:solidFill>
              </a:rPr>
              <a:t> X </a:t>
            </a:r>
            <a:r>
              <a:rPr lang="en-US" altLang="zh-TW" dirty="0" err="1">
                <a:solidFill>
                  <a:srgbClr val="C00000"/>
                </a:solidFill>
              </a:rPr>
              <a:t>Page_Size</a:t>
            </a:r>
            <a:r>
              <a:rPr lang="en-US" altLang="zh-TW" dirty="0"/>
              <a:t>): The amount of memory accessible from the TLB. </a:t>
            </a:r>
            <a:r>
              <a:rPr lang="en-US" altLang="zh-TW" dirty="0">
                <a:solidFill>
                  <a:srgbClr val="C00000"/>
                </a:solidFill>
              </a:rPr>
              <a:t>(High TLB Misses)</a:t>
            </a:r>
          </a:p>
          <a:p>
            <a:pPr lvl="1" algn="l"/>
            <a:r>
              <a:rPr lang="en-US" altLang="zh-TW" dirty="0"/>
              <a:t>Page Table Walk: </a:t>
            </a:r>
            <a:r>
              <a:rPr lang="en-US" altLang="zh-TW" dirty="0">
                <a:solidFill>
                  <a:srgbClr val="C00000"/>
                </a:solidFill>
              </a:rPr>
              <a:t>Up to 4 DRAM accesses </a:t>
            </a:r>
            <a:r>
              <a:rPr lang="en-US" altLang="zh-TW" dirty="0"/>
              <a:t>for translating a virtual address.</a:t>
            </a:r>
          </a:p>
          <a:p>
            <a:pPr algn="l"/>
            <a:r>
              <a:rPr kumimoji="1" lang="en-US" altLang="zh-TW" dirty="0"/>
              <a:t>Huge Page: </a:t>
            </a:r>
            <a:r>
              <a:rPr kumimoji="1" lang="en-US" altLang="zh-TW" dirty="0">
                <a:solidFill>
                  <a:srgbClr val="C00000"/>
                </a:solidFill>
              </a:rPr>
              <a:t>Large contiguous </a:t>
            </a:r>
            <a:r>
              <a:rPr kumimoji="1" lang="en-US" altLang="zh-TW" dirty="0"/>
              <a:t>(both virtual and physical) memory chunk.</a:t>
            </a:r>
          </a:p>
          <a:p>
            <a:pPr algn="l"/>
            <a:r>
              <a:rPr lang="en-US" altLang="zh-TW" dirty="0" err="1">
                <a:solidFill>
                  <a:srgbClr val="4D5156"/>
                </a:solidFill>
              </a:rPr>
              <a:t>Libhugetlbfs</a:t>
            </a:r>
            <a:r>
              <a:rPr lang="en-US" altLang="zh-TW" dirty="0">
                <a:solidFill>
                  <a:srgbClr val="4D5156"/>
                </a:solidFill>
              </a:rPr>
              <a:t>: A</a:t>
            </a:r>
            <a:r>
              <a:rPr lang="en-US" altLang="zh-TW" b="0" i="0" dirty="0">
                <a:solidFill>
                  <a:srgbClr val="4D5156"/>
                </a:solidFill>
                <a:effectLst/>
              </a:rPr>
              <a:t> library that </a:t>
            </a:r>
            <a:r>
              <a:rPr lang="en-US" altLang="zh-TW" b="0" i="0" dirty="0">
                <a:solidFill>
                  <a:srgbClr val="C00000"/>
                </a:solidFill>
                <a:effectLst/>
              </a:rPr>
              <a:t>can back </a:t>
            </a:r>
            <a:r>
              <a:rPr lang="en-US" altLang="zh-TW" b="0" i="0" dirty="0">
                <a:solidFill>
                  <a:srgbClr val="4D5156"/>
                </a:solidFill>
                <a:effectLst/>
              </a:rPr>
              <a:t>application text, data, malloc() and shared memory </a:t>
            </a:r>
            <a:r>
              <a:rPr lang="en-US" altLang="zh-TW" b="0" i="0" dirty="0">
                <a:solidFill>
                  <a:srgbClr val="C00000"/>
                </a:solidFill>
                <a:effectLst/>
              </a:rPr>
              <a:t>with huge pages</a:t>
            </a:r>
            <a:r>
              <a:rPr lang="en-US" altLang="zh-TW" b="0" i="0" dirty="0">
                <a:solidFill>
                  <a:srgbClr val="4D5156"/>
                </a:solidFill>
                <a:effectLst/>
              </a:rPr>
              <a:t>.</a:t>
            </a:r>
            <a:endParaRPr lang="en-US" altLang="zh-TW" dirty="0"/>
          </a:p>
          <a:p>
            <a:pPr algn="l"/>
            <a:r>
              <a:rPr lang="en-US" altLang="zh-TW" dirty="0"/>
              <a:t>Transparent Huge Page (THP)</a:t>
            </a:r>
          </a:p>
          <a:p>
            <a:pPr lvl="1" algn="l"/>
            <a:r>
              <a:rPr lang="en-US" altLang="zh-TW" dirty="0"/>
              <a:t>Huge Page Promotion</a:t>
            </a:r>
          </a:p>
          <a:p>
            <a:pPr lvl="1" algn="l"/>
            <a:r>
              <a:rPr kumimoji="1" lang="en-US" altLang="zh-TW" dirty="0"/>
              <a:t>Huge Page Demotion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69C81-76C6-C0E6-E701-8D727517B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sp>
        <p:nvSpPr>
          <p:cNvPr id="5" name="Rectangle 826">
            <a:extLst>
              <a:ext uri="{FF2B5EF4-FFF2-40B4-BE49-F238E27FC236}">
                <a16:creationId xmlns:a16="http://schemas.microsoft.com/office/drawing/2014/main" id="{51C5F2E6-023E-22C7-1F24-E5E738A1196D}"/>
              </a:ext>
            </a:extLst>
          </p:cNvPr>
          <p:cNvSpPr/>
          <p:nvPr/>
        </p:nvSpPr>
        <p:spPr>
          <a:xfrm>
            <a:off x="5661116" y="318940"/>
            <a:ext cx="6353084" cy="15510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CPU</a:t>
            </a:r>
          </a:p>
        </p:txBody>
      </p:sp>
      <p:sp>
        <p:nvSpPr>
          <p:cNvPr id="7" name="Rectangle 829">
            <a:extLst>
              <a:ext uri="{FF2B5EF4-FFF2-40B4-BE49-F238E27FC236}">
                <a16:creationId xmlns:a16="http://schemas.microsoft.com/office/drawing/2014/main" id="{7BE5C1DA-7067-B059-CDB8-E5A4F1629E60}"/>
              </a:ext>
            </a:extLst>
          </p:cNvPr>
          <p:cNvSpPr/>
          <p:nvPr/>
        </p:nvSpPr>
        <p:spPr>
          <a:xfrm>
            <a:off x="5661116" y="5531800"/>
            <a:ext cx="6353084" cy="1148400"/>
          </a:xfrm>
          <a:prstGeom prst="rect">
            <a:avLst/>
          </a:prstGeom>
          <a:solidFill>
            <a:srgbClr val="E6968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Swap Area (e.g., Storage Devices)</a:t>
            </a:r>
          </a:p>
        </p:txBody>
      </p:sp>
      <p:sp>
        <p:nvSpPr>
          <p:cNvPr id="8" name="Rectangle 830">
            <a:extLst>
              <a:ext uri="{FF2B5EF4-FFF2-40B4-BE49-F238E27FC236}">
                <a16:creationId xmlns:a16="http://schemas.microsoft.com/office/drawing/2014/main" id="{5DA25F51-4C55-792B-09E5-EBCF143B719E}"/>
              </a:ext>
            </a:extLst>
          </p:cNvPr>
          <p:cNvSpPr/>
          <p:nvPr/>
        </p:nvSpPr>
        <p:spPr>
          <a:xfrm>
            <a:off x="7996269" y="663953"/>
            <a:ext cx="3957852" cy="1117234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Rectangle 834">
            <a:extLst>
              <a:ext uri="{FF2B5EF4-FFF2-40B4-BE49-F238E27FC236}">
                <a16:creationId xmlns:a16="http://schemas.microsoft.com/office/drawing/2014/main" id="{99FF26CD-A3E8-9C80-4415-9AB8F51063D6}"/>
              </a:ext>
            </a:extLst>
          </p:cNvPr>
          <p:cNvSpPr/>
          <p:nvPr/>
        </p:nvSpPr>
        <p:spPr>
          <a:xfrm>
            <a:off x="5735878" y="663955"/>
            <a:ext cx="1817964" cy="1116789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MMU</a:t>
            </a:r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1" name="Straight Arrow Connector 836">
            <a:extLst>
              <a:ext uri="{FF2B5EF4-FFF2-40B4-BE49-F238E27FC236}">
                <a16:creationId xmlns:a16="http://schemas.microsoft.com/office/drawing/2014/main" id="{B04A7A5F-07FC-F317-6B24-451D6E71F38C}"/>
              </a:ext>
            </a:extLst>
          </p:cNvPr>
          <p:cNvCxnSpPr/>
          <p:nvPr/>
        </p:nvCxnSpPr>
        <p:spPr>
          <a:xfrm flipH="1">
            <a:off x="7577055" y="1257178"/>
            <a:ext cx="396000" cy="0"/>
          </a:xfrm>
          <a:prstGeom prst="straightConnector1">
            <a:avLst/>
          </a:prstGeom>
          <a:ln w="69850">
            <a:solidFill>
              <a:schemeClr val="bg2">
                <a:lumMod val="75000"/>
              </a:schemeClr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43">
            <a:extLst>
              <a:ext uri="{FF2B5EF4-FFF2-40B4-BE49-F238E27FC236}">
                <a16:creationId xmlns:a16="http://schemas.microsoft.com/office/drawing/2014/main" id="{9ACA6D6E-943A-E5B0-1305-6C84899141BB}"/>
              </a:ext>
            </a:extLst>
          </p:cNvPr>
          <p:cNvSpPr/>
          <p:nvPr/>
        </p:nvSpPr>
        <p:spPr>
          <a:xfrm>
            <a:off x="10545182" y="4121517"/>
            <a:ext cx="1395589" cy="586800"/>
          </a:xfrm>
          <a:prstGeom prst="roundRect">
            <a:avLst>
              <a:gd name="adj" fmla="val 4016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Huge Page</a:t>
            </a:r>
          </a:p>
        </p:txBody>
      </p:sp>
      <p:sp>
        <p:nvSpPr>
          <p:cNvPr id="20" name="TextBox 845">
            <a:extLst>
              <a:ext uri="{FF2B5EF4-FFF2-40B4-BE49-F238E27FC236}">
                <a16:creationId xmlns:a16="http://schemas.microsoft.com/office/drawing/2014/main" id="{93E9271C-D71A-3449-9B46-51271B8E0D83}"/>
              </a:ext>
            </a:extLst>
          </p:cNvPr>
          <p:cNvSpPr txBox="1"/>
          <p:nvPr/>
        </p:nvSpPr>
        <p:spPr>
          <a:xfrm>
            <a:off x="6916023" y="567561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400" b="1" dirty="0">
                <a:latin typeface="Arial" charset="0"/>
                <a:ea typeface="Arial" charset="0"/>
                <a:cs typeface="Arial" charset="0"/>
              </a:rPr>
              <a:t>…</a:t>
            </a:r>
            <a:endParaRPr lang="en-US" sz="2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TextBox 847">
            <a:extLst>
              <a:ext uri="{FF2B5EF4-FFF2-40B4-BE49-F238E27FC236}">
                <a16:creationId xmlns:a16="http://schemas.microsoft.com/office/drawing/2014/main" id="{BB4F1163-7AD7-C273-C2AD-F84DB0A8837C}"/>
              </a:ext>
            </a:extLst>
          </p:cNvPr>
          <p:cNvSpPr txBox="1"/>
          <p:nvPr/>
        </p:nvSpPr>
        <p:spPr>
          <a:xfrm>
            <a:off x="8609033" y="56443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400" b="1" dirty="0">
                <a:latin typeface="Arial" charset="0"/>
                <a:ea typeface="Arial" charset="0"/>
                <a:cs typeface="Arial" charset="0"/>
              </a:rPr>
              <a:t>…</a:t>
            </a:r>
            <a:endParaRPr lang="en-US" sz="2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Box 848">
            <a:extLst>
              <a:ext uri="{FF2B5EF4-FFF2-40B4-BE49-F238E27FC236}">
                <a16:creationId xmlns:a16="http://schemas.microsoft.com/office/drawing/2014/main" id="{28095975-909C-5C40-01AD-AB544AFE6E00}"/>
              </a:ext>
            </a:extLst>
          </p:cNvPr>
          <p:cNvSpPr txBox="1"/>
          <p:nvPr/>
        </p:nvSpPr>
        <p:spPr>
          <a:xfrm>
            <a:off x="10266997" y="566110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400" b="1" dirty="0">
                <a:latin typeface="Arial" charset="0"/>
                <a:ea typeface="Arial" charset="0"/>
                <a:cs typeface="Arial" charset="0"/>
              </a:rPr>
              <a:t>…</a:t>
            </a:r>
            <a:endParaRPr lang="en-US" sz="2400" b="1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40" name="Group 867">
            <a:extLst>
              <a:ext uri="{FF2B5EF4-FFF2-40B4-BE49-F238E27FC236}">
                <a16:creationId xmlns:a16="http://schemas.microsoft.com/office/drawing/2014/main" id="{B48A2713-50D7-59D6-AA85-7BBA4BF3EAC1}"/>
              </a:ext>
            </a:extLst>
          </p:cNvPr>
          <p:cNvGrpSpPr/>
          <p:nvPr/>
        </p:nvGrpSpPr>
        <p:grpSpPr>
          <a:xfrm>
            <a:off x="5740191" y="5692387"/>
            <a:ext cx="1080249" cy="586800"/>
            <a:chOff x="2962551" y="5644013"/>
            <a:chExt cx="1080249" cy="586800"/>
          </a:xfrm>
        </p:grpSpPr>
        <p:sp>
          <p:nvSpPr>
            <p:cNvPr id="41" name="Rounded Rectangle 868">
              <a:extLst>
                <a:ext uri="{FF2B5EF4-FFF2-40B4-BE49-F238E27FC236}">
                  <a16:creationId xmlns:a16="http://schemas.microsoft.com/office/drawing/2014/main" id="{1F27F8B1-CFA7-89F6-8FB1-6E2FC41DC1F4}"/>
                </a:ext>
              </a:extLst>
            </p:cNvPr>
            <p:cNvSpPr/>
            <p:nvPr/>
          </p:nvSpPr>
          <p:spPr>
            <a:xfrm>
              <a:off x="3682237" y="5644013"/>
              <a:ext cx="180000" cy="586800"/>
            </a:xfrm>
            <a:prstGeom prst="roundRect">
              <a:avLst>
                <a:gd name="adj" fmla="val 40165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42" name="Group 869">
              <a:extLst>
                <a:ext uri="{FF2B5EF4-FFF2-40B4-BE49-F238E27FC236}">
                  <a16:creationId xmlns:a16="http://schemas.microsoft.com/office/drawing/2014/main" id="{D4C6823E-73D6-4947-6CEF-564B2167E4F5}"/>
                </a:ext>
              </a:extLst>
            </p:cNvPr>
            <p:cNvGrpSpPr/>
            <p:nvPr/>
          </p:nvGrpSpPr>
          <p:grpSpPr>
            <a:xfrm>
              <a:off x="2962551" y="5644013"/>
              <a:ext cx="1080249" cy="586800"/>
              <a:chOff x="2962551" y="5644013"/>
              <a:chExt cx="1080249" cy="586800"/>
            </a:xfrm>
          </p:grpSpPr>
          <p:sp>
            <p:nvSpPr>
              <p:cNvPr id="43" name="Rounded Rectangle 870">
                <a:extLst>
                  <a:ext uri="{FF2B5EF4-FFF2-40B4-BE49-F238E27FC236}">
                    <a16:creationId xmlns:a16="http://schemas.microsoft.com/office/drawing/2014/main" id="{C7C2B696-D0BC-3CF8-A269-90BD88061984}"/>
                  </a:ext>
                </a:extLst>
              </p:cNvPr>
              <p:cNvSpPr/>
              <p:nvPr/>
            </p:nvSpPr>
            <p:spPr>
              <a:xfrm>
                <a:off x="2962551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4" name="Rounded Rectangle 871">
                <a:extLst>
                  <a:ext uri="{FF2B5EF4-FFF2-40B4-BE49-F238E27FC236}">
                    <a16:creationId xmlns:a16="http://schemas.microsoft.com/office/drawing/2014/main" id="{6F2F402F-3D75-AF72-316A-3BCB659894FC}"/>
                  </a:ext>
                </a:extLst>
              </p:cNvPr>
              <p:cNvSpPr/>
              <p:nvPr/>
            </p:nvSpPr>
            <p:spPr>
              <a:xfrm>
                <a:off x="314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5" name="Rounded Rectangle 872">
                <a:extLst>
                  <a:ext uri="{FF2B5EF4-FFF2-40B4-BE49-F238E27FC236}">
                    <a16:creationId xmlns:a16="http://schemas.microsoft.com/office/drawing/2014/main" id="{B056CE76-3D75-4C1D-27D1-92E63CD1435F}"/>
                  </a:ext>
                </a:extLst>
              </p:cNvPr>
              <p:cNvSpPr/>
              <p:nvPr/>
            </p:nvSpPr>
            <p:spPr>
              <a:xfrm>
                <a:off x="332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6" name="Rounded Rectangle 873">
                <a:extLst>
                  <a:ext uri="{FF2B5EF4-FFF2-40B4-BE49-F238E27FC236}">
                    <a16:creationId xmlns:a16="http://schemas.microsoft.com/office/drawing/2014/main" id="{0ABE0062-847B-30CC-0C04-462016F229A9}"/>
                  </a:ext>
                </a:extLst>
              </p:cNvPr>
              <p:cNvSpPr/>
              <p:nvPr/>
            </p:nvSpPr>
            <p:spPr>
              <a:xfrm>
                <a:off x="350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7" name="Rounded Rectangle 874">
                <a:extLst>
                  <a:ext uri="{FF2B5EF4-FFF2-40B4-BE49-F238E27FC236}">
                    <a16:creationId xmlns:a16="http://schemas.microsoft.com/office/drawing/2014/main" id="{B42F3981-0EC6-4A6B-F9ED-E6F8857FE6D0}"/>
                  </a:ext>
                </a:extLst>
              </p:cNvPr>
              <p:cNvSpPr/>
              <p:nvPr/>
            </p:nvSpPr>
            <p:spPr>
              <a:xfrm>
                <a:off x="3862800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48" name="TextBox 875">
            <a:extLst>
              <a:ext uri="{FF2B5EF4-FFF2-40B4-BE49-F238E27FC236}">
                <a16:creationId xmlns:a16="http://schemas.microsoft.com/office/drawing/2014/main" id="{7253B92D-47E7-3C76-9C02-F84E39BCD90F}"/>
              </a:ext>
            </a:extLst>
          </p:cNvPr>
          <p:cNvSpPr txBox="1"/>
          <p:nvPr/>
        </p:nvSpPr>
        <p:spPr>
          <a:xfrm>
            <a:off x="5837545" y="5694150"/>
            <a:ext cx="8640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Arial" charset="0"/>
                <a:ea typeface="Arial" charset="0"/>
                <a:cs typeface="Arial" charset="0"/>
              </a:rPr>
              <a:t>Regular Pages</a:t>
            </a:r>
          </a:p>
        </p:txBody>
      </p:sp>
      <p:grpSp>
        <p:nvGrpSpPr>
          <p:cNvPr id="49" name="Group 876">
            <a:extLst>
              <a:ext uri="{FF2B5EF4-FFF2-40B4-BE49-F238E27FC236}">
                <a16:creationId xmlns:a16="http://schemas.microsoft.com/office/drawing/2014/main" id="{9143A021-DB1E-9936-92D5-BA36989D6E72}"/>
              </a:ext>
            </a:extLst>
          </p:cNvPr>
          <p:cNvGrpSpPr/>
          <p:nvPr/>
        </p:nvGrpSpPr>
        <p:grpSpPr>
          <a:xfrm>
            <a:off x="7553846" y="5683345"/>
            <a:ext cx="1080249" cy="586800"/>
            <a:chOff x="2962551" y="5644013"/>
            <a:chExt cx="1080249" cy="586800"/>
          </a:xfrm>
        </p:grpSpPr>
        <p:sp>
          <p:nvSpPr>
            <p:cNvPr id="50" name="Rounded Rectangle 877">
              <a:extLst>
                <a:ext uri="{FF2B5EF4-FFF2-40B4-BE49-F238E27FC236}">
                  <a16:creationId xmlns:a16="http://schemas.microsoft.com/office/drawing/2014/main" id="{1BA15B1D-95D5-F7C1-EDE0-E95F20E585F5}"/>
                </a:ext>
              </a:extLst>
            </p:cNvPr>
            <p:cNvSpPr/>
            <p:nvPr/>
          </p:nvSpPr>
          <p:spPr>
            <a:xfrm>
              <a:off x="3682237" y="5644013"/>
              <a:ext cx="180000" cy="586800"/>
            </a:xfrm>
            <a:prstGeom prst="roundRect">
              <a:avLst>
                <a:gd name="adj" fmla="val 40165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51" name="Group 878">
              <a:extLst>
                <a:ext uri="{FF2B5EF4-FFF2-40B4-BE49-F238E27FC236}">
                  <a16:creationId xmlns:a16="http://schemas.microsoft.com/office/drawing/2014/main" id="{6B329188-A53D-0127-14E3-68137A8A0E15}"/>
                </a:ext>
              </a:extLst>
            </p:cNvPr>
            <p:cNvGrpSpPr/>
            <p:nvPr/>
          </p:nvGrpSpPr>
          <p:grpSpPr>
            <a:xfrm>
              <a:off x="2962551" y="5644013"/>
              <a:ext cx="1080249" cy="586800"/>
              <a:chOff x="2962551" y="5644013"/>
              <a:chExt cx="1080249" cy="586800"/>
            </a:xfrm>
          </p:grpSpPr>
          <p:sp>
            <p:nvSpPr>
              <p:cNvPr id="52" name="Rounded Rectangle 879">
                <a:extLst>
                  <a:ext uri="{FF2B5EF4-FFF2-40B4-BE49-F238E27FC236}">
                    <a16:creationId xmlns:a16="http://schemas.microsoft.com/office/drawing/2014/main" id="{4386AA4D-DD1E-DAC8-AC0A-B3EEBFA9F80E}"/>
                  </a:ext>
                </a:extLst>
              </p:cNvPr>
              <p:cNvSpPr/>
              <p:nvPr/>
            </p:nvSpPr>
            <p:spPr>
              <a:xfrm>
                <a:off x="2962551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3" name="Rounded Rectangle 880">
                <a:extLst>
                  <a:ext uri="{FF2B5EF4-FFF2-40B4-BE49-F238E27FC236}">
                    <a16:creationId xmlns:a16="http://schemas.microsoft.com/office/drawing/2014/main" id="{F65F9535-1674-610A-0A33-E67B17F70FC3}"/>
                  </a:ext>
                </a:extLst>
              </p:cNvPr>
              <p:cNvSpPr/>
              <p:nvPr/>
            </p:nvSpPr>
            <p:spPr>
              <a:xfrm>
                <a:off x="314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Rounded Rectangle 881">
                <a:extLst>
                  <a:ext uri="{FF2B5EF4-FFF2-40B4-BE49-F238E27FC236}">
                    <a16:creationId xmlns:a16="http://schemas.microsoft.com/office/drawing/2014/main" id="{E5AB91C6-7335-9443-208D-4E6DC7C66228}"/>
                  </a:ext>
                </a:extLst>
              </p:cNvPr>
              <p:cNvSpPr/>
              <p:nvPr/>
            </p:nvSpPr>
            <p:spPr>
              <a:xfrm>
                <a:off x="332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5" name="Rounded Rectangle 882">
                <a:extLst>
                  <a:ext uri="{FF2B5EF4-FFF2-40B4-BE49-F238E27FC236}">
                    <a16:creationId xmlns:a16="http://schemas.microsoft.com/office/drawing/2014/main" id="{9FD89415-59ED-AE55-4F4B-743DC74288B4}"/>
                  </a:ext>
                </a:extLst>
              </p:cNvPr>
              <p:cNvSpPr/>
              <p:nvPr/>
            </p:nvSpPr>
            <p:spPr>
              <a:xfrm>
                <a:off x="350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6" name="Rounded Rectangle 883">
                <a:extLst>
                  <a:ext uri="{FF2B5EF4-FFF2-40B4-BE49-F238E27FC236}">
                    <a16:creationId xmlns:a16="http://schemas.microsoft.com/office/drawing/2014/main" id="{848733F8-6EDB-8BA9-4123-5680F44CE5CB}"/>
                  </a:ext>
                </a:extLst>
              </p:cNvPr>
              <p:cNvSpPr/>
              <p:nvPr/>
            </p:nvSpPr>
            <p:spPr>
              <a:xfrm>
                <a:off x="3862800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grpSp>
        <p:nvGrpSpPr>
          <p:cNvPr id="57" name="Group 884">
            <a:extLst>
              <a:ext uri="{FF2B5EF4-FFF2-40B4-BE49-F238E27FC236}">
                <a16:creationId xmlns:a16="http://schemas.microsoft.com/office/drawing/2014/main" id="{B45915BE-D18E-59CE-D5E4-C82C4977E367}"/>
              </a:ext>
            </a:extLst>
          </p:cNvPr>
          <p:cNvGrpSpPr/>
          <p:nvPr/>
        </p:nvGrpSpPr>
        <p:grpSpPr>
          <a:xfrm>
            <a:off x="9204300" y="5692387"/>
            <a:ext cx="1080249" cy="586800"/>
            <a:chOff x="2962551" y="5644013"/>
            <a:chExt cx="1080249" cy="586800"/>
          </a:xfrm>
        </p:grpSpPr>
        <p:sp>
          <p:nvSpPr>
            <p:cNvPr id="58" name="Rounded Rectangle 885">
              <a:extLst>
                <a:ext uri="{FF2B5EF4-FFF2-40B4-BE49-F238E27FC236}">
                  <a16:creationId xmlns:a16="http://schemas.microsoft.com/office/drawing/2014/main" id="{A4E60C9A-5C88-2FF5-4794-5D684ACE566D}"/>
                </a:ext>
              </a:extLst>
            </p:cNvPr>
            <p:cNvSpPr/>
            <p:nvPr/>
          </p:nvSpPr>
          <p:spPr>
            <a:xfrm>
              <a:off x="3682237" y="5644013"/>
              <a:ext cx="180000" cy="586800"/>
            </a:xfrm>
            <a:prstGeom prst="roundRect">
              <a:avLst>
                <a:gd name="adj" fmla="val 40165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59" name="Group 886">
              <a:extLst>
                <a:ext uri="{FF2B5EF4-FFF2-40B4-BE49-F238E27FC236}">
                  <a16:creationId xmlns:a16="http://schemas.microsoft.com/office/drawing/2014/main" id="{116E0F88-E815-7155-1476-8A490379AE46}"/>
                </a:ext>
              </a:extLst>
            </p:cNvPr>
            <p:cNvGrpSpPr/>
            <p:nvPr/>
          </p:nvGrpSpPr>
          <p:grpSpPr>
            <a:xfrm>
              <a:off x="2962551" y="5644013"/>
              <a:ext cx="1080249" cy="586800"/>
              <a:chOff x="2962551" y="5644013"/>
              <a:chExt cx="1080249" cy="586800"/>
            </a:xfrm>
          </p:grpSpPr>
          <p:sp>
            <p:nvSpPr>
              <p:cNvPr id="60" name="Rounded Rectangle 887">
                <a:extLst>
                  <a:ext uri="{FF2B5EF4-FFF2-40B4-BE49-F238E27FC236}">
                    <a16:creationId xmlns:a16="http://schemas.microsoft.com/office/drawing/2014/main" id="{AB755D4C-9AF9-581A-F94D-FC8680CD7B3B}"/>
                  </a:ext>
                </a:extLst>
              </p:cNvPr>
              <p:cNvSpPr/>
              <p:nvPr/>
            </p:nvSpPr>
            <p:spPr>
              <a:xfrm>
                <a:off x="2962551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61" name="Rounded Rectangle 888">
                <a:extLst>
                  <a:ext uri="{FF2B5EF4-FFF2-40B4-BE49-F238E27FC236}">
                    <a16:creationId xmlns:a16="http://schemas.microsoft.com/office/drawing/2014/main" id="{18C3A312-ABD0-E43B-A7CF-C68F056B8F5F}"/>
                  </a:ext>
                </a:extLst>
              </p:cNvPr>
              <p:cNvSpPr/>
              <p:nvPr/>
            </p:nvSpPr>
            <p:spPr>
              <a:xfrm>
                <a:off x="314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62" name="Rounded Rectangle 889">
                <a:extLst>
                  <a:ext uri="{FF2B5EF4-FFF2-40B4-BE49-F238E27FC236}">
                    <a16:creationId xmlns:a16="http://schemas.microsoft.com/office/drawing/2014/main" id="{CAC92788-40AD-D68B-288B-ABDF7092E8FD}"/>
                  </a:ext>
                </a:extLst>
              </p:cNvPr>
              <p:cNvSpPr/>
              <p:nvPr/>
            </p:nvSpPr>
            <p:spPr>
              <a:xfrm>
                <a:off x="332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63" name="Rounded Rectangle 890">
                <a:extLst>
                  <a:ext uri="{FF2B5EF4-FFF2-40B4-BE49-F238E27FC236}">
                    <a16:creationId xmlns:a16="http://schemas.microsoft.com/office/drawing/2014/main" id="{65D6EAA6-0F09-7395-508C-18BF16DD0E79}"/>
                  </a:ext>
                </a:extLst>
              </p:cNvPr>
              <p:cNvSpPr/>
              <p:nvPr/>
            </p:nvSpPr>
            <p:spPr>
              <a:xfrm>
                <a:off x="350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64" name="Rounded Rectangle 891">
                <a:extLst>
                  <a:ext uri="{FF2B5EF4-FFF2-40B4-BE49-F238E27FC236}">
                    <a16:creationId xmlns:a16="http://schemas.microsoft.com/office/drawing/2014/main" id="{34B1B40A-DFC9-025A-1800-D75759CF652E}"/>
                  </a:ext>
                </a:extLst>
              </p:cNvPr>
              <p:cNvSpPr/>
              <p:nvPr/>
            </p:nvSpPr>
            <p:spPr>
              <a:xfrm>
                <a:off x="3862800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grpSp>
        <p:nvGrpSpPr>
          <p:cNvPr id="65" name="Group 892">
            <a:extLst>
              <a:ext uri="{FF2B5EF4-FFF2-40B4-BE49-F238E27FC236}">
                <a16:creationId xmlns:a16="http://schemas.microsoft.com/office/drawing/2014/main" id="{C8D1A36A-4169-D87D-2B3E-BBDFA1AC8F1E}"/>
              </a:ext>
            </a:extLst>
          </p:cNvPr>
          <p:cNvGrpSpPr/>
          <p:nvPr/>
        </p:nvGrpSpPr>
        <p:grpSpPr>
          <a:xfrm>
            <a:off x="10779837" y="5692387"/>
            <a:ext cx="1080249" cy="586800"/>
            <a:chOff x="2962551" y="5644013"/>
            <a:chExt cx="1080249" cy="586800"/>
          </a:xfrm>
        </p:grpSpPr>
        <p:sp>
          <p:nvSpPr>
            <p:cNvPr id="66" name="Rounded Rectangle 893">
              <a:extLst>
                <a:ext uri="{FF2B5EF4-FFF2-40B4-BE49-F238E27FC236}">
                  <a16:creationId xmlns:a16="http://schemas.microsoft.com/office/drawing/2014/main" id="{D1A8320A-297D-6C2F-D14C-0BB0FAEB3EE3}"/>
                </a:ext>
              </a:extLst>
            </p:cNvPr>
            <p:cNvSpPr/>
            <p:nvPr/>
          </p:nvSpPr>
          <p:spPr>
            <a:xfrm>
              <a:off x="3682237" y="5644013"/>
              <a:ext cx="180000" cy="586800"/>
            </a:xfrm>
            <a:prstGeom prst="roundRect">
              <a:avLst>
                <a:gd name="adj" fmla="val 40165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67" name="Group 894">
              <a:extLst>
                <a:ext uri="{FF2B5EF4-FFF2-40B4-BE49-F238E27FC236}">
                  <a16:creationId xmlns:a16="http://schemas.microsoft.com/office/drawing/2014/main" id="{F9FD63D8-8796-7573-57D3-699FF023B03A}"/>
                </a:ext>
              </a:extLst>
            </p:cNvPr>
            <p:cNvGrpSpPr/>
            <p:nvPr/>
          </p:nvGrpSpPr>
          <p:grpSpPr>
            <a:xfrm>
              <a:off x="2962551" y="5644013"/>
              <a:ext cx="1080249" cy="586800"/>
              <a:chOff x="2962551" y="5644013"/>
              <a:chExt cx="1080249" cy="586800"/>
            </a:xfrm>
          </p:grpSpPr>
          <p:sp>
            <p:nvSpPr>
              <p:cNvPr id="68" name="Rounded Rectangle 895">
                <a:extLst>
                  <a:ext uri="{FF2B5EF4-FFF2-40B4-BE49-F238E27FC236}">
                    <a16:creationId xmlns:a16="http://schemas.microsoft.com/office/drawing/2014/main" id="{072C40C7-4EE9-5239-8C1C-6FE7ED698AAE}"/>
                  </a:ext>
                </a:extLst>
              </p:cNvPr>
              <p:cNvSpPr/>
              <p:nvPr/>
            </p:nvSpPr>
            <p:spPr>
              <a:xfrm>
                <a:off x="2962551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69" name="Rounded Rectangle 896">
                <a:extLst>
                  <a:ext uri="{FF2B5EF4-FFF2-40B4-BE49-F238E27FC236}">
                    <a16:creationId xmlns:a16="http://schemas.microsoft.com/office/drawing/2014/main" id="{8769A164-96B0-DEC2-C9BC-582DD210C0BC}"/>
                  </a:ext>
                </a:extLst>
              </p:cNvPr>
              <p:cNvSpPr/>
              <p:nvPr/>
            </p:nvSpPr>
            <p:spPr>
              <a:xfrm>
                <a:off x="314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0" name="Rounded Rectangle 897">
                <a:extLst>
                  <a:ext uri="{FF2B5EF4-FFF2-40B4-BE49-F238E27FC236}">
                    <a16:creationId xmlns:a16="http://schemas.microsoft.com/office/drawing/2014/main" id="{DA34C8EC-E4DF-9183-03B6-054B5D82CDAA}"/>
                  </a:ext>
                </a:extLst>
              </p:cNvPr>
              <p:cNvSpPr/>
              <p:nvPr/>
            </p:nvSpPr>
            <p:spPr>
              <a:xfrm>
                <a:off x="332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1" name="Rounded Rectangle 898">
                <a:extLst>
                  <a:ext uri="{FF2B5EF4-FFF2-40B4-BE49-F238E27FC236}">
                    <a16:creationId xmlns:a16="http://schemas.microsoft.com/office/drawing/2014/main" id="{DA147AFE-7015-4845-5E6C-F61D3123BB04}"/>
                  </a:ext>
                </a:extLst>
              </p:cNvPr>
              <p:cNvSpPr/>
              <p:nvPr/>
            </p:nvSpPr>
            <p:spPr>
              <a:xfrm>
                <a:off x="3502237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2" name="Rounded Rectangle 899">
                <a:extLst>
                  <a:ext uri="{FF2B5EF4-FFF2-40B4-BE49-F238E27FC236}">
                    <a16:creationId xmlns:a16="http://schemas.microsoft.com/office/drawing/2014/main" id="{79E86ED7-CC7A-24FF-F1F5-C82A9348CFA0}"/>
                  </a:ext>
                </a:extLst>
              </p:cNvPr>
              <p:cNvSpPr/>
              <p:nvPr/>
            </p:nvSpPr>
            <p:spPr>
              <a:xfrm>
                <a:off x="3862800" y="5644013"/>
                <a:ext cx="180000" cy="586800"/>
              </a:xfrm>
              <a:prstGeom prst="roundRect">
                <a:avLst>
                  <a:gd name="adj" fmla="val 4016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73" name="TextBox 900">
            <a:extLst>
              <a:ext uri="{FF2B5EF4-FFF2-40B4-BE49-F238E27FC236}">
                <a16:creationId xmlns:a16="http://schemas.microsoft.com/office/drawing/2014/main" id="{0890FE63-75BC-D1D0-E985-C91AD2D421ED}"/>
              </a:ext>
            </a:extLst>
          </p:cNvPr>
          <p:cNvSpPr txBox="1"/>
          <p:nvPr/>
        </p:nvSpPr>
        <p:spPr>
          <a:xfrm>
            <a:off x="8132345" y="1018508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VA 0</a:t>
            </a:r>
          </a:p>
        </p:txBody>
      </p:sp>
      <p:sp>
        <p:nvSpPr>
          <p:cNvPr id="74" name="TextBox 901">
            <a:extLst>
              <a:ext uri="{FF2B5EF4-FFF2-40B4-BE49-F238E27FC236}">
                <a16:creationId xmlns:a16="http://schemas.microsoft.com/office/drawing/2014/main" id="{329412EB-5783-62FE-622A-117E0EDD3289}"/>
              </a:ext>
            </a:extLst>
          </p:cNvPr>
          <p:cNvSpPr txBox="1"/>
          <p:nvPr/>
        </p:nvSpPr>
        <p:spPr>
          <a:xfrm>
            <a:off x="9433513" y="1014863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PA 3</a:t>
            </a:r>
          </a:p>
        </p:txBody>
      </p:sp>
      <p:sp>
        <p:nvSpPr>
          <p:cNvPr id="75" name="TextBox 902">
            <a:extLst>
              <a:ext uri="{FF2B5EF4-FFF2-40B4-BE49-F238E27FC236}">
                <a16:creationId xmlns:a16="http://schemas.microsoft.com/office/drawing/2014/main" id="{D474E7ED-06F5-BC18-8282-CCDF6F35DD37}"/>
              </a:ext>
            </a:extLst>
          </p:cNvPr>
          <p:cNvSpPr txBox="1"/>
          <p:nvPr/>
        </p:nvSpPr>
        <p:spPr>
          <a:xfrm>
            <a:off x="8132345" y="1171792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200" dirty="0">
                <a:latin typeface="Arial" charset="0"/>
                <a:ea typeface="Arial" charset="0"/>
                <a:cs typeface="Arial" charset="0"/>
              </a:rPr>
              <a:t>VA 1</a:t>
            </a:r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6" name="TextBox 903">
            <a:extLst>
              <a:ext uri="{FF2B5EF4-FFF2-40B4-BE49-F238E27FC236}">
                <a16:creationId xmlns:a16="http://schemas.microsoft.com/office/drawing/2014/main" id="{282AA225-6706-5DA8-0866-A200D69C979D}"/>
              </a:ext>
            </a:extLst>
          </p:cNvPr>
          <p:cNvSpPr txBox="1"/>
          <p:nvPr/>
        </p:nvSpPr>
        <p:spPr>
          <a:xfrm>
            <a:off x="8132345" y="1332056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VA 2</a:t>
            </a:r>
          </a:p>
        </p:txBody>
      </p:sp>
      <p:sp>
        <p:nvSpPr>
          <p:cNvPr id="77" name="TextBox 905">
            <a:extLst>
              <a:ext uri="{FF2B5EF4-FFF2-40B4-BE49-F238E27FC236}">
                <a16:creationId xmlns:a16="http://schemas.microsoft.com/office/drawing/2014/main" id="{B3A971F7-64B5-2B00-31F6-04EBA50EC1CB}"/>
              </a:ext>
            </a:extLst>
          </p:cNvPr>
          <p:cNvSpPr txBox="1"/>
          <p:nvPr/>
        </p:nvSpPr>
        <p:spPr>
          <a:xfrm>
            <a:off x="9433185" y="1169807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PA 8</a:t>
            </a:r>
          </a:p>
        </p:txBody>
      </p:sp>
      <p:sp>
        <p:nvSpPr>
          <p:cNvPr id="78" name="TextBox 906">
            <a:extLst>
              <a:ext uri="{FF2B5EF4-FFF2-40B4-BE49-F238E27FC236}">
                <a16:creationId xmlns:a16="http://schemas.microsoft.com/office/drawing/2014/main" id="{C3AB2996-7AA1-01D1-54AE-48D4F9DDD8A4}"/>
              </a:ext>
            </a:extLst>
          </p:cNvPr>
          <p:cNvSpPr txBox="1"/>
          <p:nvPr/>
        </p:nvSpPr>
        <p:spPr>
          <a:xfrm>
            <a:off x="9432857" y="1343257"/>
            <a:ext cx="3135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charset="0"/>
                <a:ea typeface="Arial" charset="0"/>
                <a:cs typeface="Arial" charset="0"/>
              </a:rPr>
              <a:t>PA 1</a:t>
            </a:r>
          </a:p>
        </p:txBody>
      </p:sp>
      <p:sp>
        <p:nvSpPr>
          <p:cNvPr id="81" name="TextBox 910">
            <a:extLst>
              <a:ext uri="{FF2B5EF4-FFF2-40B4-BE49-F238E27FC236}">
                <a16:creationId xmlns:a16="http://schemas.microsoft.com/office/drawing/2014/main" id="{F6959444-7316-E99D-C557-1D7212683091}"/>
              </a:ext>
            </a:extLst>
          </p:cNvPr>
          <p:cNvSpPr txBox="1"/>
          <p:nvPr/>
        </p:nvSpPr>
        <p:spPr>
          <a:xfrm>
            <a:off x="7949522" y="636426"/>
            <a:ext cx="2129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charset="0"/>
                <a:ea typeface="Arial" charset="0"/>
                <a:cs typeface="Arial" charset="0"/>
              </a:rPr>
              <a:t>Regular TLB (4KB)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4" name="Rectangle 913">
            <a:extLst>
              <a:ext uri="{FF2B5EF4-FFF2-40B4-BE49-F238E27FC236}">
                <a16:creationId xmlns:a16="http://schemas.microsoft.com/office/drawing/2014/main" id="{F30BDBB4-1AFB-2918-35A9-2A2D66DFB78C}"/>
              </a:ext>
            </a:extLst>
          </p:cNvPr>
          <p:cNvSpPr/>
          <p:nvPr/>
        </p:nvSpPr>
        <p:spPr>
          <a:xfrm>
            <a:off x="8074218" y="969234"/>
            <a:ext cx="1799401" cy="6076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85" name="Straight Arrow Connector 916">
            <a:extLst>
              <a:ext uri="{FF2B5EF4-FFF2-40B4-BE49-F238E27FC236}">
                <a16:creationId xmlns:a16="http://schemas.microsoft.com/office/drawing/2014/main" id="{43D812DA-205C-B970-7393-DAD7D46DBB56}"/>
              </a:ext>
            </a:extLst>
          </p:cNvPr>
          <p:cNvCxnSpPr/>
          <p:nvPr/>
        </p:nvCxnSpPr>
        <p:spPr>
          <a:xfrm>
            <a:off x="8609867" y="1101172"/>
            <a:ext cx="68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917">
            <a:extLst>
              <a:ext uri="{FF2B5EF4-FFF2-40B4-BE49-F238E27FC236}">
                <a16:creationId xmlns:a16="http://schemas.microsoft.com/office/drawing/2014/main" id="{F544C988-A5A2-CA47-EEBB-C881A8997C43}"/>
              </a:ext>
            </a:extLst>
          </p:cNvPr>
          <p:cNvCxnSpPr/>
          <p:nvPr/>
        </p:nvCxnSpPr>
        <p:spPr>
          <a:xfrm>
            <a:off x="8609867" y="1267768"/>
            <a:ext cx="68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918">
            <a:extLst>
              <a:ext uri="{FF2B5EF4-FFF2-40B4-BE49-F238E27FC236}">
                <a16:creationId xmlns:a16="http://schemas.microsoft.com/office/drawing/2014/main" id="{7C8C6581-9F64-52DC-5BC2-275FBA727BCD}"/>
              </a:ext>
            </a:extLst>
          </p:cNvPr>
          <p:cNvCxnSpPr/>
          <p:nvPr/>
        </p:nvCxnSpPr>
        <p:spPr>
          <a:xfrm>
            <a:off x="8609867" y="1438027"/>
            <a:ext cx="68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2736376B-DBD4-6717-A0CA-B965A66F6E8E}"/>
              </a:ext>
            </a:extLst>
          </p:cNvPr>
          <p:cNvGrpSpPr/>
          <p:nvPr/>
        </p:nvGrpSpPr>
        <p:grpSpPr>
          <a:xfrm>
            <a:off x="9923986" y="636146"/>
            <a:ext cx="2001742" cy="940707"/>
            <a:chOff x="9923986" y="636146"/>
            <a:chExt cx="2001742" cy="940707"/>
          </a:xfrm>
        </p:grpSpPr>
        <p:sp>
          <p:nvSpPr>
            <p:cNvPr id="79" name="TextBox 908">
              <a:extLst>
                <a:ext uri="{FF2B5EF4-FFF2-40B4-BE49-F238E27FC236}">
                  <a16:creationId xmlns:a16="http://schemas.microsoft.com/office/drawing/2014/main" id="{8107B24F-7F57-24BE-A88B-6C325976389D}"/>
                </a:ext>
              </a:extLst>
            </p:cNvPr>
            <p:cNvSpPr txBox="1"/>
            <p:nvPr/>
          </p:nvSpPr>
          <p:spPr>
            <a:xfrm>
              <a:off x="9966321" y="1013770"/>
              <a:ext cx="66986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>
                  <a:latin typeface="Arial" charset="0"/>
                  <a:ea typeface="Arial" charset="0"/>
                  <a:cs typeface="Arial" charset="0"/>
                </a:rPr>
                <a:t>VA10-522</a:t>
              </a:r>
            </a:p>
          </p:txBody>
        </p:sp>
        <p:sp>
          <p:nvSpPr>
            <p:cNvPr id="80" name="TextBox 909">
              <a:extLst>
                <a:ext uri="{FF2B5EF4-FFF2-40B4-BE49-F238E27FC236}">
                  <a16:creationId xmlns:a16="http://schemas.microsoft.com/office/drawing/2014/main" id="{01015952-48CF-1FF4-35B5-3108BA057124}"/>
                </a:ext>
              </a:extLst>
            </p:cNvPr>
            <p:cNvSpPr txBox="1"/>
            <p:nvPr/>
          </p:nvSpPr>
          <p:spPr>
            <a:xfrm>
              <a:off x="11168533" y="1010125"/>
              <a:ext cx="7046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TW" sz="1200" dirty="0">
                  <a:latin typeface="Arial" charset="0"/>
                  <a:ea typeface="Arial" charset="0"/>
                  <a:cs typeface="Arial" charset="0"/>
                </a:rPr>
                <a:t>PA 8</a:t>
              </a:r>
              <a:r>
                <a:rPr lang="en-US" sz="1200" dirty="0">
                  <a:latin typeface="Arial" charset="0"/>
                  <a:ea typeface="Arial" charset="0"/>
                  <a:cs typeface="Arial" charset="0"/>
                </a:rPr>
                <a:t>0-592</a:t>
              </a:r>
            </a:p>
          </p:txBody>
        </p:sp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C4B58FD8-DC86-297B-C497-FCA08BB6BE46}"/>
                </a:ext>
              </a:extLst>
            </p:cNvPr>
            <p:cNvGrpSpPr/>
            <p:nvPr/>
          </p:nvGrpSpPr>
          <p:grpSpPr>
            <a:xfrm>
              <a:off x="9923986" y="636146"/>
              <a:ext cx="2001742" cy="940707"/>
              <a:chOff x="9923986" y="636146"/>
              <a:chExt cx="2001742" cy="940707"/>
            </a:xfrm>
          </p:grpSpPr>
          <p:sp>
            <p:nvSpPr>
              <p:cNvPr id="82" name="TextBox 911">
                <a:extLst>
                  <a:ext uri="{FF2B5EF4-FFF2-40B4-BE49-F238E27FC236}">
                    <a16:creationId xmlns:a16="http://schemas.microsoft.com/office/drawing/2014/main" id="{30A1D8B8-BC53-20C1-DEC3-BA50846817A5}"/>
                  </a:ext>
                </a:extLst>
              </p:cNvPr>
              <p:cNvSpPr txBox="1"/>
              <p:nvPr/>
            </p:nvSpPr>
            <p:spPr>
              <a:xfrm>
                <a:off x="10013986" y="636146"/>
                <a:ext cx="19117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charset="0"/>
                    <a:ea typeface="Arial" charset="0"/>
                    <a:cs typeface="Arial" charset="0"/>
                  </a:rPr>
                  <a:t>Huge TLB (2MB)</a:t>
                </a:r>
              </a:p>
            </p:txBody>
          </p:sp>
          <p:sp>
            <p:nvSpPr>
              <p:cNvPr id="83" name="Rectangle 912">
                <a:extLst>
                  <a:ext uri="{FF2B5EF4-FFF2-40B4-BE49-F238E27FC236}">
                    <a16:creationId xmlns:a16="http://schemas.microsoft.com/office/drawing/2014/main" id="{79C2FF87-CF77-61BD-14A4-E36D3E5DC7E7}"/>
                  </a:ext>
                </a:extLst>
              </p:cNvPr>
              <p:cNvSpPr/>
              <p:nvPr/>
            </p:nvSpPr>
            <p:spPr>
              <a:xfrm>
                <a:off x="9923986" y="970595"/>
                <a:ext cx="1983549" cy="60625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200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cxnSp>
          <p:nvCxnSpPr>
            <p:cNvPr id="88" name="Straight Arrow Connector 920">
              <a:extLst>
                <a:ext uri="{FF2B5EF4-FFF2-40B4-BE49-F238E27FC236}">
                  <a16:creationId xmlns:a16="http://schemas.microsoft.com/office/drawing/2014/main" id="{FB118684-9A2A-CA41-F008-AB1DF9B98FE4}"/>
                </a:ext>
              </a:extLst>
            </p:cNvPr>
            <p:cNvCxnSpPr/>
            <p:nvPr/>
          </p:nvCxnSpPr>
          <p:spPr>
            <a:xfrm>
              <a:off x="10675189" y="1101216"/>
              <a:ext cx="46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1E2F4AE2-682B-67DB-AA66-AD17C617DFB2}"/>
              </a:ext>
            </a:extLst>
          </p:cNvPr>
          <p:cNvGrpSpPr/>
          <p:nvPr/>
        </p:nvGrpSpPr>
        <p:grpSpPr>
          <a:xfrm>
            <a:off x="5531730" y="1757014"/>
            <a:ext cx="2022469" cy="2614222"/>
            <a:chOff x="5531730" y="1757014"/>
            <a:chExt cx="2022469" cy="2614222"/>
          </a:xfrm>
        </p:grpSpPr>
        <p:cxnSp>
          <p:nvCxnSpPr>
            <p:cNvPr id="12" name="Straight Arrow Connector 837">
              <a:extLst>
                <a:ext uri="{FF2B5EF4-FFF2-40B4-BE49-F238E27FC236}">
                  <a16:creationId xmlns:a16="http://schemas.microsoft.com/office/drawing/2014/main" id="{41BD9027-9EB8-1CF8-281C-EAF60ECAD0B2}"/>
                </a:ext>
              </a:extLst>
            </p:cNvPr>
            <p:cNvCxnSpPr/>
            <p:nvPr/>
          </p:nvCxnSpPr>
          <p:spPr>
            <a:xfrm>
              <a:off x="7533438" y="2889106"/>
              <a:ext cx="0" cy="144000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838">
              <a:extLst>
                <a:ext uri="{FF2B5EF4-FFF2-40B4-BE49-F238E27FC236}">
                  <a16:creationId xmlns:a16="http://schemas.microsoft.com/office/drawing/2014/main" id="{FBA1F437-6455-ED9D-1497-C812C84EF89C}"/>
                </a:ext>
              </a:extLst>
            </p:cNvPr>
            <p:cNvCxnSpPr/>
            <p:nvPr/>
          </p:nvCxnSpPr>
          <p:spPr>
            <a:xfrm flipH="1">
              <a:off x="6906199" y="2924408"/>
              <a:ext cx="648000" cy="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839">
              <a:extLst>
                <a:ext uri="{FF2B5EF4-FFF2-40B4-BE49-F238E27FC236}">
                  <a16:creationId xmlns:a16="http://schemas.microsoft.com/office/drawing/2014/main" id="{673B8D08-5697-BFD2-4DB5-2B821F670861}"/>
                </a:ext>
              </a:extLst>
            </p:cNvPr>
            <p:cNvCxnSpPr/>
            <p:nvPr/>
          </p:nvCxnSpPr>
          <p:spPr>
            <a:xfrm>
              <a:off x="5957514" y="2896726"/>
              <a:ext cx="0" cy="144000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840">
              <a:extLst>
                <a:ext uri="{FF2B5EF4-FFF2-40B4-BE49-F238E27FC236}">
                  <a16:creationId xmlns:a16="http://schemas.microsoft.com/office/drawing/2014/main" id="{D52A63DC-D8B2-4E86-61D9-86C12898CD78}"/>
                </a:ext>
              </a:extLst>
            </p:cNvPr>
            <p:cNvCxnSpPr/>
            <p:nvPr/>
          </p:nvCxnSpPr>
          <p:spPr>
            <a:xfrm flipH="1">
              <a:off x="6013571" y="2928935"/>
              <a:ext cx="527937" cy="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841">
              <a:extLst>
                <a:ext uri="{FF2B5EF4-FFF2-40B4-BE49-F238E27FC236}">
                  <a16:creationId xmlns:a16="http://schemas.microsoft.com/office/drawing/2014/main" id="{6C4F5D86-E4F6-8A20-0DE6-CDAB9E69C1C2}"/>
                </a:ext>
              </a:extLst>
            </p:cNvPr>
            <p:cNvSpPr/>
            <p:nvPr/>
          </p:nvSpPr>
          <p:spPr>
            <a:xfrm>
              <a:off x="6528649" y="2611267"/>
              <a:ext cx="536787" cy="51244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+</a:t>
              </a:r>
            </a:p>
          </p:txBody>
        </p:sp>
        <p:cxnSp>
          <p:nvCxnSpPr>
            <p:cNvPr id="17" name="Straight Arrow Connector 842">
              <a:extLst>
                <a:ext uri="{FF2B5EF4-FFF2-40B4-BE49-F238E27FC236}">
                  <a16:creationId xmlns:a16="http://schemas.microsoft.com/office/drawing/2014/main" id="{4BEB2EF5-FF79-C017-71C3-EF5CDB1BC696}"/>
                </a:ext>
              </a:extLst>
            </p:cNvPr>
            <p:cNvCxnSpPr/>
            <p:nvPr/>
          </p:nvCxnSpPr>
          <p:spPr>
            <a:xfrm>
              <a:off x="6789196" y="1757014"/>
              <a:ext cx="0" cy="86400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851">
              <a:extLst>
                <a:ext uri="{FF2B5EF4-FFF2-40B4-BE49-F238E27FC236}">
                  <a16:creationId xmlns:a16="http://schemas.microsoft.com/office/drawing/2014/main" id="{50A48355-5121-66F9-D849-75B6C64D8AE4}"/>
                </a:ext>
              </a:extLst>
            </p:cNvPr>
            <p:cNvSpPr txBox="1"/>
            <p:nvPr/>
          </p:nvSpPr>
          <p:spPr>
            <a:xfrm>
              <a:off x="5531730" y="1928828"/>
              <a:ext cx="12514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2">
                      <a:lumMod val="75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t>Page Table</a:t>
              </a:r>
              <a:br>
                <a:rPr lang="en-US" sz="1600" b="1" dirty="0">
                  <a:solidFill>
                    <a:schemeClr val="bg2">
                      <a:lumMod val="75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600" b="1" dirty="0">
                  <a:solidFill>
                    <a:schemeClr val="bg2">
                      <a:lumMod val="75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t>Walk</a:t>
              </a:r>
            </a:p>
          </p:txBody>
        </p:sp>
        <p:cxnSp>
          <p:nvCxnSpPr>
            <p:cNvPr id="110" name="Straight Arrow Connector 945">
              <a:extLst>
                <a:ext uri="{FF2B5EF4-FFF2-40B4-BE49-F238E27FC236}">
                  <a16:creationId xmlns:a16="http://schemas.microsoft.com/office/drawing/2014/main" id="{0BD36905-3EDA-2AAA-AEAC-313FBF501FBB}"/>
                </a:ext>
              </a:extLst>
            </p:cNvPr>
            <p:cNvCxnSpPr/>
            <p:nvPr/>
          </p:nvCxnSpPr>
          <p:spPr>
            <a:xfrm>
              <a:off x="6514609" y="2895760"/>
              <a:ext cx="0" cy="1440000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946">
              <a:extLst>
                <a:ext uri="{FF2B5EF4-FFF2-40B4-BE49-F238E27FC236}">
                  <a16:creationId xmlns:a16="http://schemas.microsoft.com/office/drawing/2014/main" id="{8EF588A0-8723-1652-1B5A-E200A717FBD4}"/>
                </a:ext>
              </a:extLst>
            </p:cNvPr>
            <p:cNvCxnSpPr/>
            <p:nvPr/>
          </p:nvCxnSpPr>
          <p:spPr>
            <a:xfrm>
              <a:off x="7011390" y="2895237"/>
              <a:ext cx="0" cy="1475999"/>
            </a:xfrm>
            <a:prstGeom prst="straightConnector1">
              <a:avLst/>
            </a:prstGeom>
            <a:ln w="69850">
              <a:solidFill>
                <a:schemeClr val="bg2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DE5D1D37-D0D6-DFE4-A364-8DAA94FDB87B}"/>
              </a:ext>
            </a:extLst>
          </p:cNvPr>
          <p:cNvGrpSpPr/>
          <p:nvPr/>
        </p:nvGrpSpPr>
        <p:grpSpPr>
          <a:xfrm>
            <a:off x="6945840" y="1799281"/>
            <a:ext cx="4923416" cy="975128"/>
            <a:chOff x="6945840" y="1799281"/>
            <a:chExt cx="4923416" cy="975128"/>
          </a:xfrm>
        </p:grpSpPr>
        <p:sp>
          <p:nvSpPr>
            <p:cNvPr id="10" name="TextBox 835">
              <a:extLst>
                <a:ext uri="{FF2B5EF4-FFF2-40B4-BE49-F238E27FC236}">
                  <a16:creationId xmlns:a16="http://schemas.microsoft.com/office/drawing/2014/main" id="{59AC1B66-F6BA-8549-2B9F-750EE5AB465D}"/>
                </a:ext>
              </a:extLst>
            </p:cNvPr>
            <p:cNvSpPr txBox="1"/>
            <p:nvPr/>
          </p:nvSpPr>
          <p:spPr>
            <a:xfrm>
              <a:off x="7002771" y="1811635"/>
              <a:ext cx="13596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Pages in </a:t>
              </a:r>
              <a:br>
                <a:rPr lang="en-US" altLang="zh-TW" sz="1600" b="1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altLang="zh-TW" sz="1600" b="1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Swap Area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(Page Fault)</a:t>
              </a:r>
            </a:p>
          </p:txBody>
        </p:sp>
        <p:cxnSp>
          <p:nvCxnSpPr>
            <p:cNvPr id="25" name="Straight Arrow Connector 850">
              <a:extLst>
                <a:ext uri="{FF2B5EF4-FFF2-40B4-BE49-F238E27FC236}">
                  <a16:creationId xmlns:a16="http://schemas.microsoft.com/office/drawing/2014/main" id="{2404931F-C86B-C82D-7FEE-87A03C2E3566}"/>
                </a:ext>
              </a:extLst>
            </p:cNvPr>
            <p:cNvCxnSpPr/>
            <p:nvPr/>
          </p:nvCxnSpPr>
          <p:spPr>
            <a:xfrm rot="5400000" flipH="1">
              <a:off x="6577124" y="2234881"/>
              <a:ext cx="871200" cy="0"/>
            </a:xfrm>
            <a:prstGeom prst="straightConnector1">
              <a:avLst/>
            </a:prstGeom>
            <a:ln w="69850">
              <a:solidFill>
                <a:schemeClr val="accent2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131">
              <a:extLst>
                <a:ext uri="{FF2B5EF4-FFF2-40B4-BE49-F238E27FC236}">
                  <a16:creationId xmlns:a16="http://schemas.microsoft.com/office/drawing/2014/main" id="{D8CCF876-9220-37B7-7725-4AA0E7F180FE}"/>
                </a:ext>
              </a:extLst>
            </p:cNvPr>
            <p:cNvSpPr/>
            <p:nvPr/>
          </p:nvSpPr>
          <p:spPr>
            <a:xfrm>
              <a:off x="8449256" y="2389209"/>
              <a:ext cx="3420000" cy="385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Context Switching</a:t>
              </a:r>
              <a:endPara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21" name="Straight Arrow Connector 831">
              <a:extLst>
                <a:ext uri="{FF2B5EF4-FFF2-40B4-BE49-F238E27FC236}">
                  <a16:creationId xmlns:a16="http://schemas.microsoft.com/office/drawing/2014/main" id="{CB47F5A7-8F70-269F-3EF7-27B3C63E84A9}"/>
                </a:ext>
              </a:extLst>
            </p:cNvPr>
            <p:cNvCxnSpPr/>
            <p:nvPr/>
          </p:nvCxnSpPr>
          <p:spPr>
            <a:xfrm flipH="1">
              <a:off x="6945840" y="2637189"/>
              <a:ext cx="1512000" cy="0"/>
            </a:xfrm>
            <a:prstGeom prst="straightConnector1">
              <a:avLst/>
            </a:prstGeom>
            <a:ln w="69850">
              <a:solidFill>
                <a:schemeClr val="accent2"/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36">
            <a:extLst>
              <a:ext uri="{FF2B5EF4-FFF2-40B4-BE49-F238E27FC236}">
                <a16:creationId xmlns:a16="http://schemas.microsoft.com/office/drawing/2014/main" id="{420B8043-EB05-57E3-5AEB-2650B6E8FC10}"/>
              </a:ext>
            </a:extLst>
          </p:cNvPr>
          <p:cNvSpPr txBox="1"/>
          <p:nvPr/>
        </p:nvSpPr>
        <p:spPr>
          <a:xfrm>
            <a:off x="9945067" y="1603618"/>
            <a:ext cx="143148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rPr>
              <a:t>Physical Address = PA</a:t>
            </a:r>
          </a:p>
        </p:txBody>
      </p:sp>
      <p:sp>
        <p:nvSpPr>
          <p:cNvPr id="124" name="TextBox 137">
            <a:extLst>
              <a:ext uri="{FF2B5EF4-FFF2-40B4-BE49-F238E27FC236}">
                <a16:creationId xmlns:a16="http://schemas.microsoft.com/office/drawing/2014/main" id="{AAC6D0D8-45A3-1F24-EC52-64344307AF9C}"/>
              </a:ext>
            </a:extLst>
          </p:cNvPr>
          <p:cNvSpPr txBox="1"/>
          <p:nvPr/>
        </p:nvSpPr>
        <p:spPr>
          <a:xfrm>
            <a:off x="8093532" y="1608271"/>
            <a:ext cx="167994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Address (Tag) = VA</a:t>
            </a:r>
          </a:p>
        </p:txBody>
      </p: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236CF652-ADE5-0555-2AC6-C21E4AFA7045}"/>
              </a:ext>
            </a:extLst>
          </p:cNvPr>
          <p:cNvGrpSpPr/>
          <p:nvPr/>
        </p:nvGrpSpPr>
        <p:grpSpPr>
          <a:xfrm>
            <a:off x="6014453" y="4700420"/>
            <a:ext cx="5763600" cy="1017214"/>
            <a:chOff x="6014453" y="4700420"/>
            <a:chExt cx="5763600" cy="1017214"/>
          </a:xfrm>
        </p:grpSpPr>
        <p:cxnSp>
          <p:nvCxnSpPr>
            <p:cNvPr id="24" name="Straight Connector 849">
              <a:extLst>
                <a:ext uri="{FF2B5EF4-FFF2-40B4-BE49-F238E27FC236}">
                  <a16:creationId xmlns:a16="http://schemas.microsoft.com/office/drawing/2014/main" id="{75D09C81-B2F1-9D2E-F130-83E81B16690E}"/>
                </a:ext>
              </a:extLst>
            </p:cNvPr>
            <p:cNvCxnSpPr/>
            <p:nvPr/>
          </p:nvCxnSpPr>
          <p:spPr>
            <a:xfrm flipV="1">
              <a:off x="6024445" y="5384065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52">
              <a:extLst>
                <a:ext uri="{FF2B5EF4-FFF2-40B4-BE49-F238E27FC236}">
                  <a16:creationId xmlns:a16="http://schemas.microsoft.com/office/drawing/2014/main" id="{6C1A252F-1E47-CA81-D420-B2D35A78CD80}"/>
                </a:ext>
              </a:extLst>
            </p:cNvPr>
            <p:cNvCxnSpPr/>
            <p:nvPr/>
          </p:nvCxnSpPr>
          <p:spPr>
            <a:xfrm flipH="1">
              <a:off x="6014453" y="5396435"/>
              <a:ext cx="5763600" cy="0"/>
            </a:xfrm>
            <a:prstGeom prst="line">
              <a:avLst/>
            </a:prstGeom>
            <a:ln w="38100"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853">
              <a:extLst>
                <a:ext uri="{FF2B5EF4-FFF2-40B4-BE49-F238E27FC236}">
                  <a16:creationId xmlns:a16="http://schemas.microsoft.com/office/drawing/2014/main" id="{5BAD2BD0-C02B-61FF-6E42-D4579E81EFA9}"/>
                </a:ext>
              </a:extLst>
            </p:cNvPr>
            <p:cNvCxnSpPr/>
            <p:nvPr/>
          </p:nvCxnSpPr>
          <p:spPr>
            <a:xfrm flipV="1">
              <a:off x="6548962" y="5393078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854">
              <a:extLst>
                <a:ext uri="{FF2B5EF4-FFF2-40B4-BE49-F238E27FC236}">
                  <a16:creationId xmlns:a16="http://schemas.microsoft.com/office/drawing/2014/main" id="{636D20A3-BA0B-58EA-5859-88CB403A4A79}"/>
                </a:ext>
              </a:extLst>
            </p:cNvPr>
            <p:cNvCxnSpPr/>
            <p:nvPr/>
          </p:nvCxnSpPr>
          <p:spPr>
            <a:xfrm flipV="1">
              <a:off x="7844688" y="5386280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856">
              <a:extLst>
                <a:ext uri="{FF2B5EF4-FFF2-40B4-BE49-F238E27FC236}">
                  <a16:creationId xmlns:a16="http://schemas.microsoft.com/office/drawing/2014/main" id="{AF80A823-5A0D-DB2D-2609-538EEB2AC16B}"/>
                </a:ext>
              </a:extLst>
            </p:cNvPr>
            <p:cNvCxnSpPr/>
            <p:nvPr/>
          </p:nvCxnSpPr>
          <p:spPr>
            <a:xfrm flipV="1">
              <a:off x="9296071" y="5386394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857">
              <a:extLst>
                <a:ext uri="{FF2B5EF4-FFF2-40B4-BE49-F238E27FC236}">
                  <a16:creationId xmlns:a16="http://schemas.microsoft.com/office/drawing/2014/main" id="{8D0B55B1-6252-EA3D-74FF-6110AE92BC43}"/>
                </a:ext>
              </a:extLst>
            </p:cNvPr>
            <p:cNvCxnSpPr/>
            <p:nvPr/>
          </p:nvCxnSpPr>
          <p:spPr>
            <a:xfrm flipV="1">
              <a:off x="11051530" y="5393634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858">
              <a:extLst>
                <a:ext uri="{FF2B5EF4-FFF2-40B4-BE49-F238E27FC236}">
                  <a16:creationId xmlns:a16="http://schemas.microsoft.com/office/drawing/2014/main" id="{14502800-F8FD-A465-7A01-EE9E6143DEA6}"/>
                </a:ext>
              </a:extLst>
            </p:cNvPr>
            <p:cNvCxnSpPr/>
            <p:nvPr/>
          </p:nvCxnSpPr>
          <p:spPr>
            <a:xfrm flipV="1">
              <a:off x="11764552" y="5381277"/>
              <a:ext cx="0" cy="32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859">
              <a:extLst>
                <a:ext uri="{FF2B5EF4-FFF2-40B4-BE49-F238E27FC236}">
                  <a16:creationId xmlns:a16="http://schemas.microsoft.com/office/drawing/2014/main" id="{B2DBF5F1-B678-551F-D90C-DE6A6B5F67FC}"/>
                </a:ext>
              </a:extLst>
            </p:cNvPr>
            <p:cNvCxnSpPr/>
            <p:nvPr/>
          </p:nvCxnSpPr>
          <p:spPr>
            <a:xfrm flipH="1" flipV="1">
              <a:off x="10847362" y="4701200"/>
              <a:ext cx="0" cy="14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861">
              <a:extLst>
                <a:ext uri="{FF2B5EF4-FFF2-40B4-BE49-F238E27FC236}">
                  <a16:creationId xmlns:a16="http://schemas.microsoft.com/office/drawing/2014/main" id="{AB13930B-ADDF-3960-2081-A6F81503D933}"/>
                </a:ext>
              </a:extLst>
            </p:cNvPr>
            <p:cNvCxnSpPr/>
            <p:nvPr/>
          </p:nvCxnSpPr>
          <p:spPr>
            <a:xfrm flipV="1">
              <a:off x="11124661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862">
              <a:extLst>
                <a:ext uri="{FF2B5EF4-FFF2-40B4-BE49-F238E27FC236}">
                  <a16:creationId xmlns:a16="http://schemas.microsoft.com/office/drawing/2014/main" id="{975C4ED2-DCED-5F77-6C06-784927C1333A}"/>
                </a:ext>
              </a:extLst>
            </p:cNvPr>
            <p:cNvCxnSpPr/>
            <p:nvPr/>
          </p:nvCxnSpPr>
          <p:spPr>
            <a:xfrm flipV="1">
              <a:off x="11250605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863">
              <a:extLst>
                <a:ext uri="{FF2B5EF4-FFF2-40B4-BE49-F238E27FC236}">
                  <a16:creationId xmlns:a16="http://schemas.microsoft.com/office/drawing/2014/main" id="{679E03FC-DECB-07A6-8A2C-944EC81C4E4C}"/>
                </a:ext>
              </a:extLst>
            </p:cNvPr>
            <p:cNvCxnSpPr/>
            <p:nvPr/>
          </p:nvCxnSpPr>
          <p:spPr>
            <a:xfrm flipV="1">
              <a:off x="11376549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864">
              <a:extLst>
                <a:ext uri="{FF2B5EF4-FFF2-40B4-BE49-F238E27FC236}">
                  <a16:creationId xmlns:a16="http://schemas.microsoft.com/office/drawing/2014/main" id="{541B71A6-10FA-06DE-E2A7-EC7078007A97}"/>
                </a:ext>
              </a:extLst>
            </p:cNvPr>
            <p:cNvCxnSpPr/>
            <p:nvPr/>
          </p:nvCxnSpPr>
          <p:spPr>
            <a:xfrm flipV="1">
              <a:off x="11502493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865">
              <a:extLst>
                <a:ext uri="{FF2B5EF4-FFF2-40B4-BE49-F238E27FC236}">
                  <a16:creationId xmlns:a16="http://schemas.microsoft.com/office/drawing/2014/main" id="{A7567BE6-FBC3-33FD-EC61-A75E735C52D1}"/>
                </a:ext>
              </a:extLst>
            </p:cNvPr>
            <p:cNvCxnSpPr/>
            <p:nvPr/>
          </p:nvCxnSpPr>
          <p:spPr>
            <a:xfrm flipV="1">
              <a:off x="11628437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866">
              <a:extLst>
                <a:ext uri="{FF2B5EF4-FFF2-40B4-BE49-F238E27FC236}">
                  <a16:creationId xmlns:a16="http://schemas.microsoft.com/office/drawing/2014/main" id="{38FCDB78-98F5-5A13-4211-A9FF522840AC}"/>
                </a:ext>
              </a:extLst>
            </p:cNvPr>
            <p:cNvCxnSpPr/>
            <p:nvPr/>
          </p:nvCxnSpPr>
          <p:spPr>
            <a:xfrm flipV="1">
              <a:off x="11754380" y="4715768"/>
              <a:ext cx="0" cy="666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31">
              <a:extLst>
                <a:ext uri="{FF2B5EF4-FFF2-40B4-BE49-F238E27FC236}">
                  <a16:creationId xmlns:a16="http://schemas.microsoft.com/office/drawing/2014/main" id="{7FB19397-5ACE-7720-6227-F8286B26C967}"/>
                </a:ext>
              </a:extLst>
            </p:cNvPr>
            <p:cNvCxnSpPr/>
            <p:nvPr/>
          </p:nvCxnSpPr>
          <p:spPr>
            <a:xfrm flipV="1">
              <a:off x="9226786" y="4728869"/>
              <a:ext cx="0" cy="14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32">
              <a:extLst>
                <a:ext uri="{FF2B5EF4-FFF2-40B4-BE49-F238E27FC236}">
                  <a16:creationId xmlns:a16="http://schemas.microsoft.com/office/drawing/2014/main" id="{803C014A-D69A-5D5B-09AF-3AA9AA406759}"/>
                </a:ext>
              </a:extLst>
            </p:cNvPr>
            <p:cNvCxnSpPr/>
            <p:nvPr/>
          </p:nvCxnSpPr>
          <p:spPr>
            <a:xfrm flipV="1">
              <a:off x="9784581" y="4728869"/>
              <a:ext cx="0" cy="14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942">
              <a:extLst>
                <a:ext uri="{FF2B5EF4-FFF2-40B4-BE49-F238E27FC236}">
                  <a16:creationId xmlns:a16="http://schemas.microsoft.com/office/drawing/2014/main" id="{97D97694-556D-7AFE-FCAD-AA39FE670A05}"/>
                </a:ext>
              </a:extLst>
            </p:cNvPr>
            <p:cNvCxnSpPr/>
            <p:nvPr/>
          </p:nvCxnSpPr>
          <p:spPr>
            <a:xfrm flipH="1" flipV="1">
              <a:off x="9211675" y="4863104"/>
              <a:ext cx="1771200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943">
              <a:extLst>
                <a:ext uri="{FF2B5EF4-FFF2-40B4-BE49-F238E27FC236}">
                  <a16:creationId xmlns:a16="http://schemas.microsoft.com/office/drawing/2014/main" id="{7E480691-0284-F5D8-DAC4-0623D664133C}"/>
                </a:ext>
              </a:extLst>
            </p:cNvPr>
            <p:cNvCxnSpPr/>
            <p:nvPr/>
          </p:nvCxnSpPr>
          <p:spPr>
            <a:xfrm flipH="1" flipV="1">
              <a:off x="10748750" y="4701200"/>
              <a:ext cx="0" cy="14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948">
              <a:extLst>
                <a:ext uri="{FF2B5EF4-FFF2-40B4-BE49-F238E27FC236}">
                  <a16:creationId xmlns:a16="http://schemas.microsoft.com/office/drawing/2014/main" id="{68378E42-BC5F-0D66-5181-15054AEE0A38}"/>
                </a:ext>
              </a:extLst>
            </p:cNvPr>
            <p:cNvSpPr txBox="1"/>
            <p:nvPr/>
          </p:nvSpPr>
          <p:spPr>
            <a:xfrm>
              <a:off x="7641275" y="5090000"/>
              <a:ext cx="2326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5"/>
                  </a:solidFill>
                  <a:latin typeface="Arial" charset="0"/>
                  <a:ea typeface="Arial" charset="0"/>
                  <a:cs typeface="Arial" charset="0"/>
                </a:rPr>
                <a:t>Huge Page Promotion</a:t>
              </a:r>
              <a:endParaRPr lang="en-US" sz="1600" b="1" dirty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27" name="Straight Connector 138">
              <a:extLst>
                <a:ext uri="{FF2B5EF4-FFF2-40B4-BE49-F238E27FC236}">
                  <a16:creationId xmlns:a16="http://schemas.microsoft.com/office/drawing/2014/main" id="{C5A7F0E7-D2E9-F677-3923-374DAF31665A}"/>
                </a:ext>
              </a:extLst>
            </p:cNvPr>
            <p:cNvCxnSpPr/>
            <p:nvPr/>
          </p:nvCxnSpPr>
          <p:spPr>
            <a:xfrm flipH="1" flipV="1">
              <a:off x="10962080" y="4700420"/>
              <a:ext cx="0" cy="162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39">
              <a:extLst>
                <a:ext uri="{FF2B5EF4-FFF2-40B4-BE49-F238E27FC236}">
                  <a16:creationId xmlns:a16="http://schemas.microsoft.com/office/drawing/2014/main" id="{E5D1D08F-2A29-1750-C70C-2244F812CDB2}"/>
                </a:ext>
              </a:extLst>
            </p:cNvPr>
            <p:cNvCxnSpPr/>
            <p:nvPr/>
          </p:nvCxnSpPr>
          <p:spPr>
            <a:xfrm flipV="1">
              <a:off x="10140979" y="4728869"/>
              <a:ext cx="0" cy="1440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225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ECE0F9-DBFB-3D1A-98E4-C2562CEE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117D04-DF4B-47F2-C0EC-73F9A2AB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</a:t>
            </a:r>
            <a:r>
              <a:rPr kumimoji="1" lang="en-US" altLang="zh-TW" dirty="0" err="1"/>
              <a:t>m_users</a:t>
            </a:r>
            <a:r>
              <a:rPr kumimoji="1" lang="en-US" altLang="zh-TW" dirty="0"/>
              <a:t> vs </a:t>
            </a:r>
            <a:r>
              <a:rPr kumimoji="1" lang="en-US" altLang="zh-TW" dirty="0" err="1"/>
              <a:t>mm_counts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A1F5FD-9CE5-174F-A1A3-5929A9C23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81513"/>
            <a:ext cx="11836400" cy="5441950"/>
          </a:xfrm>
        </p:spPr>
        <p:txBody>
          <a:bodyPr/>
          <a:lstStyle/>
          <a:p>
            <a:r>
              <a:rPr lang="en-US" altLang="zh-TW" dirty="0" err="1"/>
              <a:t>m</a:t>
            </a:r>
            <a:r>
              <a:rPr kumimoji="1" lang="en-US" altLang="zh-TW" dirty="0" err="1"/>
              <a:t>m_users</a:t>
            </a:r>
            <a:r>
              <a:rPr kumimoji="1" lang="en-US" altLang="zh-TW" dirty="0"/>
              <a:t>: Number of </a:t>
            </a:r>
            <a:r>
              <a:rPr kumimoji="1" lang="en-US" altLang="zh-TW" dirty="0">
                <a:solidFill>
                  <a:srgbClr val="C00000"/>
                </a:solidFill>
              </a:rPr>
              <a:t>threads</a:t>
            </a:r>
            <a:r>
              <a:rPr kumimoji="1" lang="en-US" altLang="zh-TW" dirty="0"/>
              <a:t> sharing the </a:t>
            </a:r>
            <a:r>
              <a:rPr kumimoji="1" lang="en-US" altLang="zh-TW" dirty="0" err="1"/>
              <a:t>mm_struct</a:t>
            </a:r>
            <a:r>
              <a:rPr kumimoji="1" lang="en-US" altLang="zh-TW" dirty="0"/>
              <a:t>.</a:t>
            </a:r>
          </a:p>
          <a:p>
            <a:r>
              <a:rPr lang="en-US" altLang="zh-TW" dirty="0" err="1"/>
              <a:t>mm_counts</a:t>
            </a:r>
            <a:r>
              <a:rPr lang="en-US" altLang="zh-TW" dirty="0"/>
              <a:t>: Number of </a:t>
            </a:r>
            <a:r>
              <a:rPr lang="en-US" altLang="zh-TW" dirty="0">
                <a:solidFill>
                  <a:srgbClr val="C00000"/>
                </a:solidFill>
              </a:rPr>
              <a:t>processes</a:t>
            </a:r>
            <a:r>
              <a:rPr lang="en-US" altLang="zh-TW" dirty="0"/>
              <a:t> sharing the </a:t>
            </a:r>
            <a:r>
              <a:rPr lang="en-US" altLang="zh-TW" dirty="0" err="1"/>
              <a:t>mm_struct</a:t>
            </a:r>
            <a:r>
              <a:rPr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8459BF-EB37-70FC-E7F3-9797BAC6F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A54EF5C8-6746-A72C-6AE9-BD7B355D0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6" y="2262767"/>
            <a:ext cx="10153807" cy="380767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EFF1D88-A313-40B3-4573-CD4B1C434AE3}"/>
              </a:ext>
            </a:extLst>
          </p:cNvPr>
          <p:cNvSpPr/>
          <p:nvPr/>
        </p:nvSpPr>
        <p:spPr>
          <a:xfrm>
            <a:off x="4795024" y="4166606"/>
            <a:ext cx="6289288" cy="6188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0197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F29B36-282E-7203-C4A4-03550D44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B69ABB-1DF2-7943-0B8F-E44CFAD2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</a:t>
            </a:r>
            <a:r>
              <a:rPr kumimoji="1" lang="en-US" altLang="zh-TW" dirty="0" err="1"/>
              <a:t>m_users</a:t>
            </a:r>
            <a:r>
              <a:rPr kumimoji="1" lang="en-US" altLang="zh-TW" dirty="0"/>
              <a:t> vs </a:t>
            </a:r>
            <a:r>
              <a:rPr kumimoji="1" lang="en-US" altLang="zh-TW" dirty="0" err="1"/>
              <a:t>mm_counts</a:t>
            </a:r>
            <a:r>
              <a:rPr kumimoji="1" lang="en-US" altLang="zh-TW" dirty="0"/>
              <a:t> (count.)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D0C6AA-1CBE-1470-F40A-F8F0F66BB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81513"/>
            <a:ext cx="11836400" cy="5441950"/>
          </a:xfrm>
        </p:spPr>
        <p:txBody>
          <a:bodyPr/>
          <a:lstStyle/>
          <a:p>
            <a:r>
              <a:rPr lang="en-US" altLang="zh-TW" dirty="0" err="1"/>
              <a:t>m</a:t>
            </a:r>
            <a:r>
              <a:rPr kumimoji="1" lang="en-US" altLang="zh-TW" dirty="0" err="1"/>
              <a:t>m_users</a:t>
            </a:r>
            <a:r>
              <a:rPr kumimoji="1" lang="en-US" altLang="zh-TW" dirty="0"/>
              <a:t>: Number of </a:t>
            </a:r>
            <a:r>
              <a:rPr kumimoji="1" lang="en-US" altLang="zh-TW" dirty="0">
                <a:solidFill>
                  <a:srgbClr val="C00000"/>
                </a:solidFill>
              </a:rPr>
              <a:t>user threads </a:t>
            </a:r>
            <a:r>
              <a:rPr kumimoji="1" lang="en-US" altLang="zh-TW" dirty="0"/>
              <a:t>sharing the </a:t>
            </a:r>
            <a:r>
              <a:rPr kumimoji="1" lang="en-US" altLang="zh-TW" dirty="0" err="1"/>
              <a:t>mm_struct</a:t>
            </a:r>
            <a:r>
              <a:rPr kumimoji="1" lang="en-US" altLang="zh-TW" dirty="0"/>
              <a:t>.</a:t>
            </a:r>
          </a:p>
          <a:p>
            <a:r>
              <a:rPr lang="en-US" altLang="zh-TW" dirty="0" err="1"/>
              <a:t>mm_counts</a:t>
            </a:r>
            <a:r>
              <a:rPr lang="en-US" altLang="zh-TW" dirty="0"/>
              <a:t>: Number of </a:t>
            </a:r>
            <a:r>
              <a:rPr lang="en-US" altLang="zh-TW" dirty="0" err="1">
                <a:solidFill>
                  <a:srgbClr val="C00000"/>
                </a:solidFill>
              </a:rPr>
              <a:t>user+kernel</a:t>
            </a:r>
            <a:r>
              <a:rPr lang="en-US" altLang="zh-TW" dirty="0"/>
              <a:t> sharing the </a:t>
            </a:r>
            <a:r>
              <a:rPr lang="en-US" altLang="zh-TW" dirty="0" err="1"/>
              <a:t>mm_struct</a:t>
            </a:r>
            <a:r>
              <a:rPr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A4CDC-AB89-1872-9C2D-03A03289C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E8550B4-B8FF-2171-43AE-0B8282227832}"/>
              </a:ext>
            </a:extLst>
          </p:cNvPr>
          <p:cNvSpPr txBox="1"/>
          <p:nvPr/>
        </p:nvSpPr>
        <p:spPr>
          <a:xfrm>
            <a:off x="320246" y="2514598"/>
            <a:ext cx="2375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b="1" dirty="0"/>
              <a:t>1. Initial</a:t>
            </a:r>
            <a:r>
              <a:rPr kumimoji="1" lang="en-US" altLang="zh-TW" dirty="0"/>
              <a:t> </a:t>
            </a:r>
          </a:p>
          <a:p>
            <a:r>
              <a:rPr kumimoji="1" lang="en-US" altLang="zh-TW" dirty="0"/>
              <a:t>Process 1 has 5 threads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A5033B-D1D2-A0C9-D557-212B20C06037}"/>
              </a:ext>
            </a:extLst>
          </p:cNvPr>
          <p:cNvSpPr txBox="1"/>
          <p:nvPr/>
        </p:nvSpPr>
        <p:spPr>
          <a:xfrm>
            <a:off x="339097" y="3694471"/>
            <a:ext cx="2337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1’s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5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F104C24-2D2D-1333-7056-08844ECAC5AA}"/>
              </a:ext>
            </a:extLst>
          </p:cNvPr>
          <p:cNvSpPr txBox="1"/>
          <p:nvPr/>
        </p:nvSpPr>
        <p:spPr>
          <a:xfrm>
            <a:off x="3052088" y="2514598"/>
            <a:ext cx="250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b="1" dirty="0"/>
              <a:t>2. Create a Process</a:t>
            </a:r>
            <a:r>
              <a:rPr kumimoji="1" lang="en-US" altLang="zh-TW" dirty="0"/>
              <a:t> </a:t>
            </a:r>
          </a:p>
          <a:p>
            <a:r>
              <a:rPr kumimoji="1" lang="en-US" altLang="zh-TW" dirty="0"/>
              <a:t>Process 1 forks Process 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E2B1526-D286-CA67-41F9-C17C1812AE8F}"/>
              </a:ext>
            </a:extLst>
          </p:cNvPr>
          <p:cNvSpPr txBox="1"/>
          <p:nvPr/>
        </p:nvSpPr>
        <p:spPr>
          <a:xfrm>
            <a:off x="5917300" y="2514598"/>
            <a:ext cx="2731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b="1" dirty="0"/>
              <a:t>3. Create Threads</a:t>
            </a:r>
            <a:r>
              <a:rPr kumimoji="1" lang="en-US" altLang="zh-TW" dirty="0"/>
              <a:t> </a:t>
            </a:r>
          </a:p>
          <a:p>
            <a:r>
              <a:rPr kumimoji="1" lang="en-US" altLang="zh-TW" dirty="0"/>
              <a:t>Process 2 creates 2 threads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1DCDEF-D165-7B89-53DB-4BB8F6FDBE98}"/>
              </a:ext>
            </a:extLst>
          </p:cNvPr>
          <p:cNvSpPr txBox="1"/>
          <p:nvPr/>
        </p:nvSpPr>
        <p:spPr>
          <a:xfrm>
            <a:off x="8649202" y="2495945"/>
            <a:ext cx="3599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b="1" dirty="0"/>
              <a:t>4. Kernel Threads Involve</a:t>
            </a:r>
            <a:endParaRPr kumimoji="1" lang="en-US" altLang="zh-TW" dirty="0"/>
          </a:p>
          <a:p>
            <a:r>
              <a:rPr kumimoji="1" lang="en-US" altLang="zh-TW" dirty="0"/>
              <a:t>A kernel thread uses P1’s </a:t>
            </a:r>
            <a:r>
              <a:rPr kumimoji="1" lang="en-US" altLang="zh-TW" dirty="0" err="1"/>
              <a:t>mm_struct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9F998E1-43AF-CCD2-46E6-E5FBCE9DCC0D}"/>
              </a:ext>
            </a:extLst>
          </p:cNvPr>
          <p:cNvSpPr txBox="1"/>
          <p:nvPr/>
        </p:nvSpPr>
        <p:spPr>
          <a:xfrm>
            <a:off x="9044310" y="3377094"/>
            <a:ext cx="2337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1’s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5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2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A7B5DE4-299A-D172-E11A-4238524A4595}"/>
              </a:ext>
            </a:extLst>
          </p:cNvPr>
          <p:cNvSpPr txBox="1"/>
          <p:nvPr/>
        </p:nvSpPr>
        <p:spPr>
          <a:xfrm>
            <a:off x="9084967" y="4399971"/>
            <a:ext cx="2337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2’s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3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8F12A17-1582-82F7-C0B5-8443D7F6096C}"/>
              </a:ext>
            </a:extLst>
          </p:cNvPr>
          <p:cNvCxnSpPr>
            <a:cxnSpLocks/>
          </p:cNvCxnSpPr>
          <p:nvPr/>
        </p:nvCxnSpPr>
        <p:spPr>
          <a:xfrm>
            <a:off x="446765" y="3332216"/>
            <a:ext cx="10941069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1D248871-5561-26E4-0E87-F4E71FB8093B}"/>
              </a:ext>
            </a:extLst>
          </p:cNvPr>
          <p:cNvGrpSpPr/>
          <p:nvPr/>
        </p:nvGrpSpPr>
        <p:grpSpPr>
          <a:xfrm>
            <a:off x="1593321" y="4238731"/>
            <a:ext cx="2610544" cy="2138151"/>
            <a:chOff x="1593321" y="4238731"/>
            <a:chExt cx="2610544" cy="2138151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3F75704-7C0A-3DBF-2456-06CF9AEB9938}"/>
                </a:ext>
              </a:extLst>
            </p:cNvPr>
            <p:cNvSpPr txBox="1"/>
            <p:nvPr/>
          </p:nvSpPr>
          <p:spPr>
            <a:xfrm>
              <a:off x="1593321" y="5730551"/>
              <a:ext cx="26105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Each process has their own address space</a:t>
              </a:r>
              <a:endParaRPr kumimoji="1" lang="zh-TW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" name="弧線 22">
              <a:extLst>
                <a:ext uri="{FF2B5EF4-FFF2-40B4-BE49-F238E27FC236}">
                  <a16:creationId xmlns:a16="http://schemas.microsoft.com/office/drawing/2014/main" id="{71867542-EE69-94E6-86AA-3872993F94B5}"/>
                </a:ext>
              </a:extLst>
            </p:cNvPr>
            <p:cNvSpPr/>
            <p:nvPr/>
          </p:nvSpPr>
          <p:spPr>
            <a:xfrm rot="8100000">
              <a:off x="1991666" y="4238731"/>
              <a:ext cx="1573427" cy="1443438"/>
            </a:xfrm>
            <a:prstGeom prst="arc">
              <a:avLst>
                <a:gd name="adj1" fmla="val 14698539"/>
                <a:gd name="adj2" fmla="val 1364912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F134D4A5-CC65-3EBD-BF0F-D4B084C669A2}"/>
              </a:ext>
            </a:extLst>
          </p:cNvPr>
          <p:cNvGrpSpPr/>
          <p:nvPr/>
        </p:nvGrpSpPr>
        <p:grpSpPr>
          <a:xfrm>
            <a:off x="4730049" y="4238731"/>
            <a:ext cx="2731901" cy="2138151"/>
            <a:chOff x="4730049" y="4238731"/>
            <a:chExt cx="2731901" cy="2138151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2D8EE66-B137-8A00-FDA0-6103002E6B7B}"/>
                </a:ext>
              </a:extLst>
            </p:cNvPr>
            <p:cNvSpPr txBox="1"/>
            <p:nvPr/>
          </p:nvSpPr>
          <p:spPr>
            <a:xfrm>
              <a:off x="4730049" y="5730551"/>
              <a:ext cx="2731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Threads share </a:t>
              </a:r>
              <a:r>
                <a:rPr lang="en-US" altLang="zh-TW" dirty="0" err="1">
                  <a:solidFill>
                    <a:schemeClr val="accent6">
                      <a:lumMod val="75000"/>
                    </a:schemeClr>
                  </a:solidFill>
                </a:rPr>
                <a:t>mm_struct</a:t>
              </a:r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 with its parent process.</a:t>
              </a:r>
              <a:endParaRPr kumimoji="1" lang="zh-TW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4" name="弧線 23">
              <a:extLst>
                <a:ext uri="{FF2B5EF4-FFF2-40B4-BE49-F238E27FC236}">
                  <a16:creationId xmlns:a16="http://schemas.microsoft.com/office/drawing/2014/main" id="{8E6DB29C-F3F5-C413-3B8C-20FF7E96BF70}"/>
                </a:ext>
              </a:extLst>
            </p:cNvPr>
            <p:cNvSpPr/>
            <p:nvPr/>
          </p:nvSpPr>
          <p:spPr>
            <a:xfrm rot="8100000">
              <a:off x="4974547" y="4238731"/>
              <a:ext cx="1573427" cy="1443438"/>
            </a:xfrm>
            <a:prstGeom prst="arc">
              <a:avLst>
                <a:gd name="adj1" fmla="val 14698539"/>
                <a:gd name="adj2" fmla="val 1364912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6E6A8E0C-21ED-F72F-D4D3-76F58CD08EF4}"/>
              </a:ext>
            </a:extLst>
          </p:cNvPr>
          <p:cNvGrpSpPr/>
          <p:nvPr/>
        </p:nvGrpSpPr>
        <p:grpSpPr>
          <a:xfrm>
            <a:off x="7866778" y="4238731"/>
            <a:ext cx="2731901" cy="2138151"/>
            <a:chOff x="7866778" y="4238731"/>
            <a:chExt cx="2731901" cy="2138151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8B9A113-6875-2060-BD2D-14B9F2FA30D9}"/>
                </a:ext>
              </a:extLst>
            </p:cNvPr>
            <p:cNvSpPr txBox="1"/>
            <p:nvPr/>
          </p:nvSpPr>
          <p:spPr>
            <a:xfrm>
              <a:off x="7866778" y="5730551"/>
              <a:ext cx="2731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6">
                      <a:lumMod val="75000"/>
                    </a:schemeClr>
                  </a:solidFill>
                </a:rPr>
                <a:t>Kernel thread does not have its own </a:t>
              </a:r>
              <a:r>
                <a:rPr lang="en-US" altLang="zh-TW" dirty="0" err="1">
                  <a:solidFill>
                    <a:schemeClr val="accent6">
                      <a:lumMod val="75000"/>
                    </a:schemeClr>
                  </a:solidFill>
                </a:rPr>
                <a:t>mm_struct</a:t>
              </a:r>
              <a:endParaRPr kumimoji="1" lang="zh-TW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5" name="弧線 24">
              <a:extLst>
                <a:ext uri="{FF2B5EF4-FFF2-40B4-BE49-F238E27FC236}">
                  <a16:creationId xmlns:a16="http://schemas.microsoft.com/office/drawing/2014/main" id="{75D7B69D-EB2B-F113-06C8-32C5F842B7B2}"/>
                </a:ext>
              </a:extLst>
            </p:cNvPr>
            <p:cNvSpPr/>
            <p:nvPr/>
          </p:nvSpPr>
          <p:spPr>
            <a:xfrm rot="8100000">
              <a:off x="8014203" y="4238731"/>
              <a:ext cx="1573427" cy="1443438"/>
            </a:xfrm>
            <a:prstGeom prst="arc">
              <a:avLst>
                <a:gd name="adj1" fmla="val 14698539"/>
                <a:gd name="adj2" fmla="val 1364912"/>
              </a:avLst>
            </a:prstGeom>
            <a:ln w="25400">
              <a:solidFill>
                <a:schemeClr val="accent6">
                  <a:lumMod val="75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1756B0-11CD-0270-955D-42C75523358E}"/>
              </a:ext>
            </a:extLst>
          </p:cNvPr>
          <p:cNvSpPr txBox="1"/>
          <p:nvPr/>
        </p:nvSpPr>
        <p:spPr>
          <a:xfrm>
            <a:off x="2990207" y="3414400"/>
            <a:ext cx="2337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1’s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5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84FD4C-8F86-C427-85C4-A1C9EBCF903E}"/>
              </a:ext>
            </a:extLst>
          </p:cNvPr>
          <p:cNvSpPr txBox="1"/>
          <p:nvPr/>
        </p:nvSpPr>
        <p:spPr>
          <a:xfrm>
            <a:off x="3030864" y="4437277"/>
            <a:ext cx="2337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2’s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1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2D82130-D372-EDF1-B130-2F68CA39656D}"/>
              </a:ext>
            </a:extLst>
          </p:cNvPr>
          <p:cNvSpPr txBox="1"/>
          <p:nvPr/>
        </p:nvSpPr>
        <p:spPr>
          <a:xfrm>
            <a:off x="6085774" y="3388106"/>
            <a:ext cx="2337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1’s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5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14EB63-6773-49F0-BE9C-F72D35C3A1DC}"/>
              </a:ext>
            </a:extLst>
          </p:cNvPr>
          <p:cNvSpPr txBox="1"/>
          <p:nvPr/>
        </p:nvSpPr>
        <p:spPr>
          <a:xfrm>
            <a:off x="6126431" y="4410983"/>
            <a:ext cx="2337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u="sng" dirty="0"/>
              <a:t>Process 2’s </a:t>
            </a:r>
            <a:r>
              <a:rPr kumimoji="1" lang="en-US" altLang="zh-TW" u="sng" dirty="0" err="1"/>
              <a:t>mm_struct</a:t>
            </a:r>
            <a:r>
              <a:rPr kumimoji="1" lang="en-US" altLang="zh-TW" u="sng" dirty="0"/>
              <a:t>:</a:t>
            </a:r>
          </a:p>
          <a:p>
            <a:pPr algn="ctr"/>
            <a:r>
              <a:rPr kumimoji="1" lang="en-US" altLang="zh-TW" dirty="0" err="1">
                <a:solidFill>
                  <a:schemeClr val="accent5">
                    <a:lumMod val="75000"/>
                  </a:schemeClr>
                </a:solidFill>
              </a:rPr>
              <a:t>mm_users</a:t>
            </a:r>
            <a:r>
              <a:rPr kumimoji="1" lang="en-US" altLang="zh-TW" dirty="0"/>
              <a:t>: 3</a:t>
            </a:r>
          </a:p>
          <a:p>
            <a:pPr algn="ctr"/>
            <a:r>
              <a:rPr kumimoji="1" lang="en-US" altLang="zh-TW" dirty="0" err="1">
                <a:solidFill>
                  <a:srgbClr val="C00000"/>
                </a:solidFill>
              </a:rPr>
              <a:t>mm_counts</a:t>
            </a:r>
            <a:r>
              <a:rPr kumimoji="1" lang="en-US" altLang="zh-TW" dirty="0"/>
              <a:t>: 1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867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9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3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6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11" grpId="0"/>
      <p:bldP spid="11" grpId="1"/>
      <p:bldP spid="12" grpId="0"/>
      <p:bldP spid="17" grpId="0"/>
      <p:bldP spid="19" grpId="0"/>
      <p:bldP spid="5" grpId="0"/>
      <p:bldP spid="10" grpId="0"/>
      <p:bldP spid="16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185256</TotalTime>
  <Words>3677</Words>
  <Application>Microsoft Macintosh PowerPoint</Application>
  <PresentationFormat>寬螢幕</PresentationFormat>
  <Paragraphs>629</Paragraphs>
  <Slides>26</Slides>
  <Notes>10</Notes>
  <HiddenSlides>2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6" baseType="lpstr">
      <vt:lpstr>Söhne</vt:lpstr>
      <vt:lpstr>Arial</vt:lpstr>
      <vt:lpstr>Bradley Hand</vt:lpstr>
      <vt:lpstr>Calibri</vt:lpstr>
      <vt:lpstr>Calibri Light</vt:lpstr>
      <vt:lpstr>Courier</vt:lpstr>
      <vt:lpstr>Courier New</vt:lpstr>
      <vt:lpstr>Palatino Linotype</vt:lpstr>
      <vt:lpstr>Wingdings</vt:lpstr>
      <vt:lpstr>Office Theme</vt:lpstr>
      <vt:lpstr>Heads Up</vt:lpstr>
      <vt:lpstr>Q &amp; A</vt:lpstr>
      <vt:lpstr>Recall: Basic Concepts of Memory Management</vt:lpstr>
      <vt:lpstr>Recall: Manage Physical Address (Page Frame)</vt:lpstr>
      <vt:lpstr>Recall: Manage Kernel Physical Address (Nodes)</vt:lpstr>
      <vt:lpstr>Recall: Linux Page Allocation</vt:lpstr>
      <vt:lpstr>Recall: Linux Page Allocation -- Buddy System</vt:lpstr>
      <vt:lpstr>Recall: Why Slab Layer?</vt:lpstr>
      <vt:lpstr>Recall: How Slab Layer Works</vt:lpstr>
      <vt:lpstr>PowerPoint 簡報</vt:lpstr>
      <vt:lpstr>Virtual Address Spaces</vt:lpstr>
      <vt:lpstr>Virtual Address Spaces</vt:lpstr>
      <vt:lpstr>The Memory Descriptor</vt:lpstr>
      <vt:lpstr>Virtual Memory Areas (VMA)</vt:lpstr>
      <vt:lpstr>Virtual Memory Areas (VMA) (Count.)</vt:lpstr>
      <vt:lpstr>Virtual Memory Areas (VMA) (Count.)</vt:lpstr>
      <vt:lpstr>Recall: Basic Concepts of Memory Management</vt:lpstr>
      <vt:lpstr>Page Tables</vt:lpstr>
      <vt:lpstr>How the CPU Walks Page Tables</vt:lpstr>
      <vt:lpstr>Why 4-Level Page Tables for 64-bit System</vt:lpstr>
      <vt:lpstr>PowerPoint 簡報</vt:lpstr>
      <vt:lpstr>How to enable MMU</vt:lpstr>
      <vt:lpstr>Out-dated: Inverted Page Table</vt:lpstr>
      <vt:lpstr>Huge Page Management</vt:lpstr>
      <vt:lpstr>mm_users vs mm_counts</vt:lpstr>
      <vt:lpstr>mm_users vs mm_counts (count.)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 Ming-Chang</dc:creator>
  <cp:lastModifiedBy>吳俊峯</cp:lastModifiedBy>
  <cp:revision>1419</cp:revision>
  <dcterms:created xsi:type="dcterms:W3CDTF">2017-10-03T14:18:54Z</dcterms:created>
  <dcterms:modified xsi:type="dcterms:W3CDTF">2025-10-21T19:46:46Z</dcterms:modified>
</cp:coreProperties>
</file>