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1298" r:id="rId3"/>
    <p:sldId id="1300" r:id="rId4"/>
    <p:sldId id="1251" r:id="rId5"/>
    <p:sldId id="1248" r:id="rId6"/>
    <p:sldId id="1238" r:id="rId7"/>
    <p:sldId id="1271" r:id="rId8"/>
    <p:sldId id="1221" r:id="rId9"/>
    <p:sldId id="1223" r:id="rId10"/>
    <p:sldId id="1249" r:id="rId11"/>
    <p:sldId id="1229" r:id="rId12"/>
    <p:sldId id="1230" r:id="rId13"/>
    <p:sldId id="1252" r:id="rId14"/>
    <p:sldId id="1310" r:id="rId15"/>
    <p:sldId id="1311" r:id="rId16"/>
    <p:sldId id="1321" r:id="rId17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4A1A42E-9635-48ED-A31C-3B34D71B1AD6}">
          <p14:sldIdLst>
            <p14:sldId id="256"/>
            <p14:sldId id="1298"/>
            <p14:sldId id="1300"/>
            <p14:sldId id="1251"/>
            <p14:sldId id="1248"/>
            <p14:sldId id="1238"/>
            <p14:sldId id="1271"/>
            <p14:sldId id="1221"/>
            <p14:sldId id="1223"/>
            <p14:sldId id="1249"/>
            <p14:sldId id="1229"/>
            <p14:sldId id="1230"/>
            <p14:sldId id="1252"/>
            <p14:sldId id="1310"/>
            <p14:sldId id="1311"/>
            <p14:sldId id="1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FC8"/>
    <a:srgbClr val="FF9FA8"/>
    <a:srgbClr val="F6DF98"/>
    <a:srgbClr val="800080"/>
    <a:srgbClr val="F3CF64"/>
    <a:srgbClr val="FFFD99"/>
    <a:srgbClr val="F2F2F2"/>
    <a:srgbClr val="EAEB01"/>
    <a:srgbClr val="800300"/>
    <a:srgbClr val="EB7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1088" y="192"/>
      </p:cViewPr>
      <p:guideLst/>
    </p:cSldViewPr>
  </p:slideViewPr>
  <p:notesTextViewPr>
    <p:cViewPr>
      <p:scale>
        <a:sx n="35" d="100"/>
        <a:sy n="35" d="100"/>
      </p:scale>
      <p:origin x="0" y="0"/>
    </p:cViewPr>
  </p:notesTextViewPr>
  <p:sorterViewPr>
    <p:cViewPr>
      <p:scale>
        <a:sx n="200" d="100"/>
        <a:sy n="200" d="100"/>
      </p:scale>
      <p:origin x="0" y="-23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9" y="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AB553-F76C-4E9E-A6A8-687C6D4F2678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9" y="9721851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29E38-24E5-4270-86F6-0CA4D49E06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3679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2CF7E20-0940-468E-AEA3-3A81AFC8423F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8"/>
            <a:ext cx="5679440" cy="402987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EE20D91-FCA7-443A-BB7B-86FCD89A57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02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8759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42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34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>
                <a:effectLst/>
                <a:latin typeface="Times"/>
              </a:rPr>
              <a:t>The driver implements the Ethernet family protocol that exports the network interface functionality to the OS network stack.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800" dirty="0">
              <a:effectLst/>
              <a:latin typeface="Time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>
                <a:effectLst/>
                <a:latin typeface="Times"/>
              </a:rPr>
              <a:t>Since the device in question is connected to the USB bus, it cannot be accessed by the driver directly. Instead, device protocol messages must be encapsulated in- side USB data packets submitted to the USB bus driver via the USB family protocol. Such driver stacking is common in operating system I/O frameworks and reflects the structure of the underlying I/O bus hierarchy.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311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stackoverflow.com</a:t>
            </a:r>
            <a:r>
              <a:rPr kumimoji="1" lang="en-US" altLang="zh-TW" dirty="0"/>
              <a:t>/questions/13886338/use-of-floating-point-in-the-</a:t>
            </a:r>
            <a:r>
              <a:rPr kumimoji="1" lang="en-US" altLang="zh-TW" dirty="0" err="1"/>
              <a:t>linux</a:t>
            </a:r>
            <a:r>
              <a:rPr kumimoji="1" lang="en-US" altLang="zh-TW" dirty="0"/>
              <a:t>-kernel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2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47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468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Even though bio has replaced </a:t>
            </a:r>
            <a:r>
              <a:rPr lang="en-US" altLang="zh-TW" dirty="0" err="1"/>
              <a:t>buffer_head</a:t>
            </a:r>
            <a:r>
              <a:rPr lang="en-US" altLang="zh-TW" dirty="0"/>
              <a:t> for most file data I/O, </a:t>
            </a:r>
            <a:r>
              <a:rPr lang="en-US" altLang="zh-TW" b="1" dirty="0" err="1"/>
              <a:t>buffer_head</a:t>
            </a:r>
            <a:r>
              <a:rPr lang="en-US" altLang="zh-TW" b="1" dirty="0"/>
              <a:t> is still used in many filesystems (like ext4) to read and write metadata</a:t>
            </a:r>
            <a:r>
              <a:rPr lang="en-US" altLang="zh-TW" dirty="0"/>
              <a:t> (e.g., superblocks, group descriptors, bitmaps, </a:t>
            </a:r>
            <a:r>
              <a:rPr lang="en-US" altLang="zh-TW" dirty="0" err="1"/>
              <a:t>inodes</a:t>
            </a:r>
            <a:r>
              <a:rPr lang="en-US" altLang="zh-TW" dirty="0"/>
              <a:t>).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20D91-FCA7-443A-BB7B-86FCD89A57B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025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符號, 標誌, 圖形, 圓形 的圖片&#10;&#10;自動產生的描述">
            <a:extLst>
              <a:ext uri="{FF2B5EF4-FFF2-40B4-BE49-F238E27FC236}">
                <a16:creationId xmlns:a16="http://schemas.microsoft.com/office/drawing/2014/main" id="{6F8A0BC9-EA1A-E854-BF29-77ACE91F4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875" y="-372411"/>
            <a:ext cx="2783933" cy="278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174625"/>
            <a:ext cx="11836400" cy="1063625"/>
          </a:xfrm>
        </p:spPr>
        <p:txBody>
          <a:bodyPr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1238250"/>
            <a:ext cx="11836400" cy="5441950"/>
          </a:xfrm>
        </p:spPr>
        <p:txBody>
          <a:bodyPr/>
          <a:lstStyle>
            <a:lvl1pPr algn="just">
              <a:spcBef>
                <a:spcPts val="0"/>
              </a:spcBef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algn="just"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just">
              <a:spcBef>
                <a:spcPts val="0"/>
              </a:spcBef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just">
              <a:spcBef>
                <a:spcPts val="0"/>
              </a:spcBef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just">
              <a:spcBef>
                <a:spcPts val="0"/>
              </a:spcBef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668124" y="11113"/>
            <a:ext cx="523875" cy="4841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24E6636-6BA5-4AAC-8485-BE8D914D288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B048F7-DAB4-F1CA-94CE-9FBF17A495C6}"/>
              </a:ext>
            </a:extLst>
          </p:cNvPr>
          <p:cNvSpPr txBox="1"/>
          <p:nvPr userDrawn="1"/>
        </p:nvSpPr>
        <p:spPr>
          <a:xfrm>
            <a:off x="0" y="-37131"/>
            <a:ext cx="47500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b="1" i="0" dirty="0">
                <a:solidFill>
                  <a:schemeClr val="bg1">
                    <a:lumMod val="85000"/>
                  </a:schemeClr>
                </a:solidFill>
                <a:latin typeface="Bradley Hand" pitchFamily="2" charset="0"/>
                <a:ea typeface="Brush Script MT" panose="03060802040406070304" pitchFamily="66" charset="-122"/>
                <a:cs typeface="Brush Script MT" panose="03060802040406070304" pitchFamily="66" charset="-122"/>
              </a:rPr>
              <a:t>National Yang Ming Chiao Tung University, Prof. Chun-Feng Wu</a:t>
            </a:r>
            <a:endParaRPr kumimoji="1" lang="zh-TW" altLang="en-US" sz="1200" b="1" i="0" dirty="0">
              <a:solidFill>
                <a:schemeClr val="bg1">
                  <a:lumMod val="85000"/>
                </a:schemeClr>
              </a:solidFill>
              <a:latin typeface="Bradley Hand" pitchFamily="2" charset="0"/>
              <a:ea typeface="STXingkai" panose="02010800040101010101" pitchFamily="2" charset="-122"/>
              <a:cs typeface="Brush Script MT" panose="03060802040406070304" pitchFamily="66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856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2307BF4-857F-4354-B3C4-3040B9A2E51B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60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10EEA130-8DE6-4C11-A9CB-C786C33DE380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34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9D1323E2-54AF-4A4F-968B-FCF5A3DE404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01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51747F57-0BE0-4E55-AF02-7E0C58AC5A0B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00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3BBAC840-47DB-4C07-9D45-73E1CD955F46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86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8C0969B-135B-4FC6-B762-AA1CE3881354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21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24AF6340-6F1C-4989-B134-2CA68BC9EAFF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08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60D8C7A9-0C67-4424-9979-8CFF97287F2E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70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8342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AD10B1A8-9302-408C-B76D-C3FA78E2A799}" type="datetime1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971" y="6356350"/>
            <a:ext cx="7170058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3658" y="6356350"/>
            <a:ext cx="1800000" cy="365125"/>
          </a:xfrm>
          <a:prstGeom prst="rect">
            <a:avLst/>
          </a:prstGeom>
        </p:spPr>
        <p:txBody>
          <a:bodyPr/>
          <a:lstStyle/>
          <a:p>
            <a:fld id="{BCBB8336-A5C1-489A-A9F1-A8585D2E8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33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343" y="365125"/>
            <a:ext cx="114953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0" i="0" u="none" strike="noStrike" kern="1200" cap="none" spc="0" normalizeH="0" baseline="0" noProof="0" dirty="0">
                <a:ln>
                  <a:noFill/>
                </a:ln>
                <a:solidFill>
                  <a:srgbClr val="750F6D"/>
                </a:solidFill>
                <a:effectLst/>
                <a:uLnTx/>
                <a:uFillTx/>
                <a:latin typeface="Arial"/>
                <a:ea typeface="新細明體"/>
                <a:cs typeface="+mj-cs"/>
              </a:rPr>
              <a:t>Click to edit Master title style</a:t>
            </a:r>
            <a:endParaRPr lang="zh-TW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343" y="1825625"/>
            <a:ext cx="114953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Click to edit Master text styles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alatino Linotype"/>
                <a:ea typeface="新細明體"/>
                <a:cs typeface="+mn-cs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0" y="6477000"/>
            <a:ext cx="1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3A5E517-2EE9-4B06-A2F1-C885ADB8BF5D}" type="datetime1">
              <a:rPr lang="zh-TW" altLang="en-US" smtClean="0"/>
              <a:t>2025/11/26</a:t>
            </a:fld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0392000" y="6476999"/>
            <a:ext cx="1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24E6636-6BA5-4AAC-8485-BE8D914D288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48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kumimoji="1" lang="zh-TW" alt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kumimoji="1" lang="en-US" altLang="zh-TW" sz="3200" kern="1200" dirty="0" smtClean="0">
          <a:solidFill>
            <a:srgbClr val="333333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kumimoji="1" lang="zh-TW" altLang="en-US" sz="3200" kern="1200" dirty="0" smtClean="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fwu@g.harvar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cfwu417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2691" y="1653411"/>
            <a:ext cx="10926618" cy="191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750F6D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L4: Device &amp; Block Layers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AFF0398-C56C-EF34-D937-57DAB24DA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114" y="3762490"/>
            <a:ext cx="9927772" cy="131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kumimoji="1" sz="32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Chun-Feng Wu (</a:t>
            </a:r>
            <a:r>
              <a:rPr lang="zh-TW" altLang="en-US" sz="2800" b="1" dirty="0">
                <a:solidFill>
                  <a:schemeClr val="tx1"/>
                </a:solidFill>
                <a:latin typeface="Kaiti TC" panose="02010600040101010101" pitchFamily="2" charset="-120"/>
                <a:ea typeface="Kaiti TC" panose="02010600040101010101" pitchFamily="2" charset="-120"/>
              </a:rPr>
              <a:t>吳俊峯</a:t>
            </a:r>
            <a:r>
              <a:rPr lang="en-US" altLang="zh-TW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Assistant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Professor, National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Yang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Ming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Chiao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Tung</a:t>
            </a:r>
            <a:r>
              <a:rPr lang="zh-TW" altLang="en-US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Palatino Linotype" panose="02040502050505030304" pitchFamily="18" charset="0"/>
                <a:ea typeface="新細明體"/>
              </a:rPr>
              <a:t>University</a:t>
            </a:r>
          </a:p>
        </p:txBody>
      </p:sp>
      <p:grpSp>
        <p:nvGrpSpPr>
          <p:cNvPr id="10" name="Group 17">
            <a:extLst>
              <a:ext uri="{FF2B5EF4-FFF2-40B4-BE49-F238E27FC236}">
                <a16:creationId xmlns:a16="http://schemas.microsoft.com/office/drawing/2014/main" id="{89C9EB9B-D847-8763-647D-4A1AC557E2CA}"/>
              </a:ext>
            </a:extLst>
          </p:cNvPr>
          <p:cNvGrpSpPr/>
          <p:nvPr/>
        </p:nvGrpSpPr>
        <p:grpSpPr>
          <a:xfrm>
            <a:off x="4539533" y="4639104"/>
            <a:ext cx="3482385" cy="1144694"/>
            <a:chOff x="4604975" y="4666826"/>
            <a:chExt cx="3482385" cy="1144694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38E8E4F6-0E2B-B4A8-C878-7642B7F99112}"/>
                </a:ext>
              </a:extLst>
            </p:cNvPr>
            <p:cNvSpPr/>
            <p:nvPr/>
          </p:nvSpPr>
          <p:spPr>
            <a:xfrm>
              <a:off x="6003635" y="4666826"/>
              <a:ext cx="1847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endParaRPr kumimoji="1" lang="en-US" altLang="zh-TW" sz="2400" dirty="0">
                <a:solidFill>
                  <a:schemeClr val="bg1"/>
                </a:solidFill>
                <a:latin typeface="Palatino Linotype"/>
                <a:ea typeface="新細明體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65F24944-F567-4E32-2237-25794D664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1634" y="4786024"/>
              <a:ext cx="3175726" cy="1025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 algn="ctr" rtl="0" fontAlgn="base">
                <a:spcBef>
                  <a:spcPct val="20000"/>
                </a:spcBef>
                <a:spcAft>
                  <a:spcPct val="0"/>
                </a:spcAft>
                <a:buFontTx/>
                <a:buNone/>
                <a:defRPr kumimoji="1" sz="3200" kern="1200">
                  <a:solidFill>
                    <a:srgbClr val="333333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rgbClr val="333333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rgbClr val="333333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rgbClr val="333333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rgbClr val="333333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  <a:ea typeface="新細明體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cfwu417@</a:t>
              </a:r>
              <a:r>
                <a:rPr lang="en-US" altLang="zh-TW" sz="1800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  <a:ea typeface="新細明體"/>
                </a:rPr>
                <a:t>cs.nycu.edu.tw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  <a:ea typeface="新細明體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https://cfwu417.github.io</a:t>
              </a:r>
              <a:endParaRPr lang="en-US" altLang="zh-TW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Palatino Linotype" panose="02040502050505030304" pitchFamily="18" charset="0"/>
                <a:ea typeface="新細明體"/>
              </a:endParaRPr>
            </a:p>
          </p:txBody>
        </p:sp>
        <p:pic>
          <p:nvPicPr>
            <p:cNvPr id="13" name="Picture 1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505174C7-FCE3-7C3B-8944-531A7458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4975" y="4972996"/>
              <a:ext cx="360000" cy="360000"/>
            </a:xfrm>
            <a:prstGeom prst="rect">
              <a:avLst/>
            </a:prstGeom>
          </p:spPr>
        </p:pic>
        <p:pic>
          <p:nvPicPr>
            <p:cNvPr id="14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7C273A0-DE4B-A1A6-8CD5-00C49E144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4975" y="5301873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269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80FBE1-8841-3DFA-BBE4-0FC08D8B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Recall: </a:t>
            </a:r>
            <a:r>
              <a:rPr lang="en-US" altLang="zh-TW" dirty="0"/>
              <a:t>Multi-Level Cells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1F69CC-A745-016E-31BB-197126782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Is it possible to let a cell </a:t>
            </a:r>
            <a:r>
              <a:rPr kumimoji="1" lang="en-US" altLang="zh-TW" dirty="0">
                <a:solidFill>
                  <a:srgbClr val="C00000"/>
                </a:solidFill>
              </a:rPr>
              <a:t>represent more than one bit</a:t>
            </a:r>
            <a:r>
              <a:rPr kumimoji="1" lang="en-US" altLang="zh-TW" dirty="0"/>
              <a:t>?</a:t>
            </a:r>
          </a:p>
          <a:p>
            <a:pPr lvl="1"/>
            <a:r>
              <a:rPr lang="en-US" altLang="zh-TW" dirty="0"/>
              <a:t>Ans: A cell can represent </a:t>
            </a:r>
            <a:r>
              <a:rPr lang="en-US" altLang="zh-TW" dirty="0">
                <a:solidFill>
                  <a:srgbClr val="C00000"/>
                </a:solidFill>
              </a:rPr>
              <a:t>two bits</a:t>
            </a:r>
            <a:r>
              <a:rPr lang="en-US" altLang="zh-TW" dirty="0"/>
              <a:t>, if there are </a:t>
            </a:r>
            <a:r>
              <a:rPr lang="en-US" altLang="zh-TW" dirty="0">
                <a:solidFill>
                  <a:srgbClr val="C00000"/>
                </a:solidFill>
              </a:rPr>
              <a:t>4 verifiable voltage states</a:t>
            </a:r>
            <a:r>
              <a:rPr lang="en-US" altLang="zh-TW" dirty="0"/>
              <a:t> in the cell </a:t>
            </a:r>
          </a:p>
          <a:p>
            <a:pPr algn="l"/>
            <a:r>
              <a:rPr kumimoji="1" lang="en-US" altLang="zh-TW" dirty="0"/>
              <a:t>Single-Level Cell (SLC): One-bit per cell</a:t>
            </a:r>
          </a:p>
          <a:p>
            <a:pPr algn="l"/>
            <a:r>
              <a:rPr lang="en-US" altLang="zh-TW" dirty="0"/>
              <a:t>Multi-Level Cell (MLC): Multiple-bits per cell, 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en-US" altLang="zh-TW" baseline="30000" dirty="0">
                <a:solidFill>
                  <a:srgbClr val="C00000"/>
                </a:solidFill>
              </a:rPr>
              <a:t>#bits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voltage levels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A68DFF-BC76-EC2A-BF78-AFDED4667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600D1C3-DC83-8266-3EFD-B42EBC9517F8}"/>
              </a:ext>
            </a:extLst>
          </p:cNvPr>
          <p:cNvGrpSpPr/>
          <p:nvPr/>
        </p:nvGrpSpPr>
        <p:grpSpPr>
          <a:xfrm>
            <a:off x="1626573" y="3648720"/>
            <a:ext cx="4411661" cy="2376264"/>
            <a:chOff x="6341319" y="4007978"/>
            <a:chExt cx="4411661" cy="23762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24C484F-606E-14B7-ACF4-3FFE4195C62D}"/>
                </a:ext>
              </a:extLst>
            </p:cNvPr>
            <p:cNvSpPr/>
            <p:nvPr/>
          </p:nvSpPr>
          <p:spPr>
            <a:xfrm>
              <a:off x="7766636" y="4907243"/>
              <a:ext cx="1440160" cy="5151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EC57B5-3AA7-A61A-C624-42E22071E9DF}"/>
                </a:ext>
              </a:extLst>
            </p:cNvPr>
            <p:cNvSpPr/>
            <p:nvPr/>
          </p:nvSpPr>
          <p:spPr>
            <a:xfrm>
              <a:off x="7766636" y="5422426"/>
              <a:ext cx="1440160" cy="169728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2C743B-C1CA-5B50-6682-E92B19F50ABB}"/>
                </a:ext>
              </a:extLst>
            </p:cNvPr>
            <p:cNvSpPr/>
            <p:nvPr/>
          </p:nvSpPr>
          <p:spPr>
            <a:xfrm>
              <a:off x="6686516" y="5592154"/>
              <a:ext cx="3600400" cy="7920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P-substrate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9F12425-11A0-B63B-21FE-CCACBF32AEC9}"/>
                </a:ext>
              </a:extLst>
            </p:cNvPr>
            <p:cNvSpPr/>
            <p:nvPr/>
          </p:nvSpPr>
          <p:spPr>
            <a:xfrm>
              <a:off x="6686516" y="5592154"/>
              <a:ext cx="936104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3EFCB2F-2F9A-8CCC-5BC7-C4E481D209B0}"/>
                </a:ext>
              </a:extLst>
            </p:cNvPr>
            <p:cNvSpPr/>
            <p:nvPr/>
          </p:nvSpPr>
          <p:spPr>
            <a:xfrm>
              <a:off x="9350812" y="5592154"/>
              <a:ext cx="936104" cy="4320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9D309F98-8894-201A-510A-841CB0E9F989}"/>
                </a:ext>
              </a:extLst>
            </p:cNvPr>
            <p:cNvSpPr txBox="1"/>
            <p:nvPr/>
          </p:nvSpPr>
          <p:spPr>
            <a:xfrm>
              <a:off x="6640741" y="5618866"/>
              <a:ext cx="1027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n-source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FDE1AA7E-5D88-BB08-E0C7-3D244962573C}"/>
                </a:ext>
              </a:extLst>
            </p:cNvPr>
            <p:cNvSpPr txBox="1"/>
            <p:nvPr/>
          </p:nvSpPr>
          <p:spPr>
            <a:xfrm>
              <a:off x="9427322" y="5618866"/>
              <a:ext cx="859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n-drain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D6FA71B-1DE1-BA31-4F9E-F72E7E7F907F}"/>
                </a:ext>
              </a:extLst>
            </p:cNvPr>
            <p:cNvSpPr/>
            <p:nvPr/>
          </p:nvSpPr>
          <p:spPr>
            <a:xfrm>
              <a:off x="7766636" y="4296010"/>
              <a:ext cx="1440160" cy="4320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Control gate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1449F45-591F-C442-3AEF-10B14B0FFE86}"/>
                </a:ext>
              </a:extLst>
            </p:cNvPr>
            <p:cNvSpPr/>
            <p:nvPr/>
          </p:nvSpPr>
          <p:spPr>
            <a:xfrm>
              <a:off x="7766636" y="4728058"/>
              <a:ext cx="1440160" cy="169728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CCC58D76-E0D7-D0F9-FD36-3601C79FCC6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884" y="4007978"/>
              <a:ext cx="706566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8F1D2DB6-32AB-0CAB-3CB6-776704D301E8}"/>
                </a:ext>
              </a:extLst>
            </p:cNvPr>
            <p:cNvCxnSpPr/>
            <p:nvPr/>
          </p:nvCxnSpPr>
          <p:spPr>
            <a:xfrm>
              <a:off x="8547450" y="4007978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21BCD7E9-9C2F-C154-1F07-ADE946933026}"/>
                </a:ext>
              </a:extLst>
            </p:cNvPr>
            <p:cNvCxnSpPr/>
            <p:nvPr/>
          </p:nvCxnSpPr>
          <p:spPr>
            <a:xfrm>
              <a:off x="6341319" y="5675736"/>
              <a:ext cx="549947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" name="直線單箭頭接點 68">
              <a:extLst>
                <a:ext uri="{FF2B5EF4-FFF2-40B4-BE49-F238E27FC236}">
                  <a16:creationId xmlns:a16="http://schemas.microsoft.com/office/drawing/2014/main" id="{8E8FC446-F80C-0EC9-06C2-372134C169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0739" y="4821435"/>
              <a:ext cx="619361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tailEnd type="stealth" w="lg" len="lg"/>
            </a:ln>
            <a:effectLst/>
          </p:spPr>
        </p:cxnSp>
        <p:cxnSp>
          <p:nvCxnSpPr>
            <p:cNvPr id="21" name="直線單箭頭接點 69">
              <a:extLst>
                <a:ext uri="{FF2B5EF4-FFF2-40B4-BE49-F238E27FC236}">
                  <a16:creationId xmlns:a16="http://schemas.microsoft.com/office/drawing/2014/main" id="{60E23D56-7653-A489-FD1F-DA77C3661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0740" y="4833009"/>
              <a:ext cx="619361" cy="64262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tailEnd type="stealth" w="lg" len="lg"/>
            </a:ln>
            <a:effectLst/>
          </p:spPr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6A8377E-E10B-D452-9B1E-9BC24EA87A4E}"/>
                </a:ext>
              </a:extLst>
            </p:cNvPr>
            <p:cNvSpPr txBox="1"/>
            <p:nvPr/>
          </p:nvSpPr>
          <p:spPr>
            <a:xfrm>
              <a:off x="9284102" y="4438747"/>
              <a:ext cx="1069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Dielectric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2C89514-48F4-3549-5A03-C5FFBCCCED23}"/>
                </a:ext>
              </a:extLst>
            </p:cNvPr>
            <p:cNvCxnSpPr/>
            <p:nvPr/>
          </p:nvCxnSpPr>
          <p:spPr>
            <a:xfrm>
              <a:off x="9934660" y="5675736"/>
              <a:ext cx="650323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ash"/>
            </a:ln>
            <a:effectLst/>
          </p:spPr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611E4C52-BCCF-341C-3B58-D0285331A1B3}"/>
                </a:ext>
              </a:extLst>
            </p:cNvPr>
            <p:cNvCxnSpPr/>
            <p:nvPr/>
          </p:nvCxnSpPr>
          <p:spPr>
            <a:xfrm>
              <a:off x="10584983" y="5675736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ysDash"/>
            </a:ln>
            <a:effectLst/>
          </p:spPr>
        </p:cxnSp>
        <p:sp>
          <p:nvSpPr>
            <p:cNvPr id="25" name="等腰三角形 77">
              <a:extLst>
                <a:ext uri="{FF2B5EF4-FFF2-40B4-BE49-F238E27FC236}">
                  <a16:creationId xmlns:a16="http://schemas.microsoft.com/office/drawing/2014/main" id="{7B4A491C-E653-5A66-FDA5-211B7F73E6D2}"/>
                </a:ext>
              </a:extLst>
            </p:cNvPr>
            <p:cNvSpPr/>
            <p:nvPr/>
          </p:nvSpPr>
          <p:spPr>
            <a:xfrm rot="10800000">
              <a:off x="10374421" y="5944082"/>
              <a:ext cx="378559" cy="235710"/>
            </a:xfrm>
            <a:prstGeom prst="triangle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535F029-B9C2-2D49-2D95-D6F499634E62}"/>
              </a:ext>
            </a:extLst>
          </p:cNvPr>
          <p:cNvSpPr txBox="1"/>
          <p:nvPr/>
        </p:nvSpPr>
        <p:spPr>
          <a:xfrm>
            <a:off x="3180750" y="6126202"/>
            <a:ext cx="1182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2-bits MLC</a:t>
            </a:r>
            <a:endParaRPr kumimoji="1" lang="zh-TW" altLang="en-US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BCD68C03-DAB6-4B14-4962-703DEB0F2F09}"/>
              </a:ext>
            </a:extLst>
          </p:cNvPr>
          <p:cNvGrpSpPr/>
          <p:nvPr/>
        </p:nvGrpSpPr>
        <p:grpSpPr>
          <a:xfrm>
            <a:off x="2577576" y="3461911"/>
            <a:ext cx="760082" cy="1734981"/>
            <a:chOff x="2577255" y="3790593"/>
            <a:chExt cx="760082" cy="1734981"/>
          </a:xfrm>
        </p:grpSpPr>
        <p:sp>
          <p:nvSpPr>
            <p:cNvPr id="32" name="右大括弧 31">
              <a:extLst>
                <a:ext uri="{FF2B5EF4-FFF2-40B4-BE49-F238E27FC236}">
                  <a16:creationId xmlns:a16="http://schemas.microsoft.com/office/drawing/2014/main" id="{AE4FE465-E611-4079-342E-A580C3219937}"/>
                </a:ext>
              </a:extLst>
            </p:cNvPr>
            <p:cNvSpPr/>
            <p:nvPr/>
          </p:nvSpPr>
          <p:spPr>
            <a:xfrm>
              <a:off x="2577255" y="3790593"/>
              <a:ext cx="186270" cy="1734981"/>
            </a:xfrm>
            <a:prstGeom prst="rightBrac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35" name="曲線接點 34">
              <a:extLst>
                <a:ext uri="{FF2B5EF4-FFF2-40B4-BE49-F238E27FC236}">
                  <a16:creationId xmlns:a16="http://schemas.microsoft.com/office/drawing/2014/main" id="{F1485EBC-35F6-45FC-C844-1A9576A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2715198" y="4647178"/>
              <a:ext cx="622139" cy="545068"/>
            </a:xfrm>
            <a:prstGeom prst="curvedConnector3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DFF579D-B5FB-68D4-F66F-E3898898740A}"/>
              </a:ext>
            </a:extLst>
          </p:cNvPr>
          <p:cNvGrpSpPr/>
          <p:nvPr/>
        </p:nvGrpSpPr>
        <p:grpSpPr>
          <a:xfrm>
            <a:off x="711622" y="3344602"/>
            <a:ext cx="2001958" cy="1879002"/>
            <a:chOff x="711301" y="3673284"/>
            <a:chExt cx="2001958" cy="187900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2ACD816-CA97-3BCC-4416-C9DB9C24A114}"/>
                </a:ext>
              </a:extLst>
            </p:cNvPr>
            <p:cNvSpPr txBox="1"/>
            <p:nvPr/>
          </p:nvSpPr>
          <p:spPr>
            <a:xfrm>
              <a:off x="711301" y="3673284"/>
              <a:ext cx="18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11 </a:t>
              </a:r>
              <a:r>
                <a:rPr kumimoji="1" lang="en-US" altLang="zh-TW" dirty="0">
                  <a:solidFill>
                    <a:srgbClr val="C00000"/>
                  </a:solidFill>
                  <a:sym typeface="Wingdings" pitchFamily="2" charset="2"/>
                </a:rPr>
                <a:t> No Electron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E0AB9AD8-96F3-065C-25AA-B0258E9C4689}"/>
                </a:ext>
              </a:extLst>
            </p:cNvPr>
            <p:cNvSpPr txBox="1"/>
            <p:nvPr/>
          </p:nvSpPr>
          <p:spPr>
            <a:xfrm>
              <a:off x="711301" y="4176507"/>
              <a:ext cx="19923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10 </a:t>
              </a:r>
              <a:r>
                <a:rPr kumimoji="1" lang="en-US" altLang="zh-TW" dirty="0">
                  <a:solidFill>
                    <a:srgbClr val="C00000"/>
                  </a:solidFill>
                  <a:sym typeface="Wingdings" pitchFamily="2" charset="2"/>
                </a:rPr>
                <a:t> 1/3 Electrons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8BC349E-2FA9-7102-0F00-001270D6F554}"/>
                </a:ext>
              </a:extLst>
            </p:cNvPr>
            <p:cNvSpPr txBox="1"/>
            <p:nvPr/>
          </p:nvSpPr>
          <p:spPr>
            <a:xfrm>
              <a:off x="711301" y="4679730"/>
              <a:ext cx="19923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01 </a:t>
              </a:r>
              <a:r>
                <a:rPr kumimoji="1" lang="en-US" altLang="zh-TW" dirty="0">
                  <a:solidFill>
                    <a:srgbClr val="C00000"/>
                  </a:solidFill>
                  <a:sym typeface="Wingdings" pitchFamily="2" charset="2"/>
                </a:rPr>
                <a:t> 2/3 Electrons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CCDCEA06-B9D6-B159-B220-4DF9DEEDA4A6}"/>
                </a:ext>
              </a:extLst>
            </p:cNvPr>
            <p:cNvSpPr txBox="1"/>
            <p:nvPr/>
          </p:nvSpPr>
          <p:spPr>
            <a:xfrm>
              <a:off x="711301" y="5182954"/>
              <a:ext cx="20019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00 </a:t>
              </a:r>
              <a:r>
                <a:rPr kumimoji="1" lang="en-US" altLang="zh-TW" dirty="0">
                  <a:solidFill>
                    <a:srgbClr val="C00000"/>
                  </a:solidFill>
                  <a:sym typeface="Wingdings" pitchFamily="2" charset="2"/>
                </a:rPr>
                <a:t> Full Electrons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8D45B1FB-1271-789F-E880-52EBE8C72CED}"/>
              </a:ext>
            </a:extLst>
          </p:cNvPr>
          <p:cNvGrpSpPr/>
          <p:nvPr/>
        </p:nvGrpSpPr>
        <p:grpSpPr>
          <a:xfrm>
            <a:off x="6572055" y="3490191"/>
            <a:ext cx="4608368" cy="2967038"/>
            <a:chOff x="6572055" y="3490191"/>
            <a:chExt cx="4608368" cy="2967038"/>
          </a:xfrm>
        </p:grpSpPr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1F6E4436-7994-6AC1-9FE9-5880A640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2055" y="3490191"/>
              <a:ext cx="4608368" cy="2702798"/>
            </a:xfrm>
            <a:prstGeom prst="rect">
              <a:avLst/>
            </a:prstGeom>
          </p:spPr>
        </p:pic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7A2DCF1C-CD52-250C-B460-0D8BEC279402}"/>
                </a:ext>
              </a:extLst>
            </p:cNvPr>
            <p:cNvSpPr txBox="1"/>
            <p:nvPr/>
          </p:nvSpPr>
          <p:spPr>
            <a:xfrm>
              <a:off x="7828812" y="6087897"/>
              <a:ext cx="2487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Illustration of 2-bits MLC</a:t>
              </a:r>
              <a:endParaRPr kumimoji="1" lang="zh-TW" altLang="en-US" dirty="0"/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A6928FFB-3D9C-8FBC-962D-FB7984FE8B78}"/>
              </a:ext>
            </a:extLst>
          </p:cNvPr>
          <p:cNvGrpSpPr/>
          <p:nvPr/>
        </p:nvGrpSpPr>
        <p:grpSpPr>
          <a:xfrm>
            <a:off x="579627" y="3113167"/>
            <a:ext cx="9775992" cy="3543766"/>
            <a:chOff x="1011577" y="3295582"/>
            <a:chExt cx="9775992" cy="3543766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7BF2C5CF-6817-9986-1188-C3FA5ADA8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577" y="3295582"/>
              <a:ext cx="9775992" cy="3117379"/>
            </a:xfrm>
            <a:prstGeom prst="rect">
              <a:avLst/>
            </a:prstGeom>
          </p:spPr>
        </p:pic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C116752-DA6D-CFE0-1FB8-9830B5ACD766}"/>
                </a:ext>
              </a:extLst>
            </p:cNvPr>
            <p:cNvSpPr txBox="1"/>
            <p:nvPr/>
          </p:nvSpPr>
          <p:spPr>
            <a:xfrm>
              <a:off x="4794496" y="6470016"/>
              <a:ext cx="3267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Illustration of 3-bits MLC (or TLC)</a:t>
              </a:r>
              <a:endParaRPr kumimoji="1" lang="zh-TW" altLang="en-US" dirty="0"/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781902E-26FB-E065-E439-B259906228E9}"/>
              </a:ext>
            </a:extLst>
          </p:cNvPr>
          <p:cNvSpPr txBox="1"/>
          <p:nvPr/>
        </p:nvSpPr>
        <p:spPr>
          <a:xfrm>
            <a:off x="-79870" y="6599816"/>
            <a:ext cx="6118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Ref: </a:t>
            </a:r>
            <a:r>
              <a:rPr lang="zh-TW" altLang="en-US" sz="1200" dirty="0">
                <a:solidFill>
                  <a:schemeClr val="bg1">
                    <a:lumMod val="50000"/>
                  </a:schemeClr>
                </a:solidFill>
              </a:rPr>
              <a:t>https://www.kioxia.com/en-jp/rd/technology/multi-level-cell.html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22A77C-BF03-FDA8-DBFD-CC00C2975AB5}"/>
              </a:ext>
            </a:extLst>
          </p:cNvPr>
          <p:cNvSpPr txBox="1"/>
          <p:nvPr/>
        </p:nvSpPr>
        <p:spPr>
          <a:xfrm>
            <a:off x="8830818" y="4885050"/>
            <a:ext cx="17511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>
                <a:solidFill>
                  <a:srgbClr val="C00000"/>
                </a:solidFill>
              </a:rPr>
              <a:t>Why distributions?</a:t>
            </a:r>
            <a:endParaRPr kumimoji="1" lang="zh-TW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6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FB4CE0-601B-D2E4-05D5-CDF04DFBB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79" y="1098752"/>
            <a:ext cx="6321325" cy="5441950"/>
          </a:xfrm>
        </p:spPr>
        <p:txBody>
          <a:bodyPr/>
          <a:lstStyle/>
          <a:p>
            <a:r>
              <a:rPr lang="en-US" altLang="zh-TW" sz="2400" dirty="0"/>
              <a:t>Flash Translation Layer:</a:t>
            </a:r>
          </a:p>
          <a:p>
            <a:pPr lvl="1" algn="l"/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Sequential Write Constraint</a:t>
            </a:r>
            <a:r>
              <a:rPr lang="en-US" altLang="zh-TW" dirty="0"/>
              <a:t> </a:t>
            </a:r>
            <a:r>
              <a:rPr lang="en-US" altLang="zh-TW" dirty="0">
                <a:sym typeface="Wingdings" pitchFamily="2" charset="2"/>
              </a:rPr>
              <a:t> </a:t>
            </a:r>
            <a:br>
              <a:rPr lang="en-US" altLang="zh-TW" dirty="0">
                <a:sym typeface="Wingdings" pitchFamily="2" charset="2"/>
              </a:rPr>
            </a:br>
            <a:r>
              <a:rPr lang="en-US" altLang="zh-TW" dirty="0">
                <a:sym typeface="Wingdings" pitchFamily="2" charset="2"/>
              </a:rPr>
              <a:t>Sol: Address Remapping (</a:t>
            </a:r>
            <a:r>
              <a:rPr lang="en-US" altLang="zh-TW" u="sng" dirty="0">
                <a:sym typeface="Wingdings" pitchFamily="2" charset="2"/>
              </a:rPr>
              <a:t>L</a:t>
            </a:r>
            <a:r>
              <a:rPr lang="en-US" altLang="zh-TW" dirty="0">
                <a:sym typeface="Wingdings" pitchFamily="2" charset="2"/>
              </a:rPr>
              <a:t>ogical </a:t>
            </a:r>
            <a:r>
              <a:rPr lang="en-US" altLang="zh-TW" u="sng" dirty="0">
                <a:sym typeface="Wingdings" pitchFamily="2" charset="2"/>
              </a:rPr>
              <a:t>B</a:t>
            </a:r>
            <a:r>
              <a:rPr lang="en-US" altLang="zh-TW" dirty="0">
                <a:sym typeface="Wingdings" pitchFamily="2" charset="2"/>
              </a:rPr>
              <a:t>lock </a:t>
            </a:r>
            <a:r>
              <a:rPr lang="en-US" altLang="zh-TW" u="sng" dirty="0">
                <a:sym typeface="Wingdings" pitchFamily="2" charset="2"/>
              </a:rPr>
              <a:t>A</a:t>
            </a:r>
            <a:r>
              <a:rPr lang="en-US" altLang="zh-TW" dirty="0">
                <a:sym typeface="Wingdings" pitchFamily="2" charset="2"/>
              </a:rPr>
              <a:t>ddress to </a:t>
            </a:r>
            <a:r>
              <a:rPr lang="en-US" altLang="zh-TW" u="sng" dirty="0">
                <a:sym typeface="Wingdings" pitchFamily="2" charset="2"/>
              </a:rPr>
              <a:t>P</a:t>
            </a:r>
            <a:r>
              <a:rPr lang="en-US" altLang="zh-TW" dirty="0">
                <a:sym typeface="Wingdings" pitchFamily="2" charset="2"/>
              </a:rPr>
              <a:t>hysical </a:t>
            </a:r>
            <a:r>
              <a:rPr lang="en-US" altLang="zh-TW" u="sng" dirty="0">
                <a:sym typeface="Wingdings" pitchFamily="2" charset="2"/>
              </a:rPr>
              <a:t>B</a:t>
            </a:r>
            <a:r>
              <a:rPr lang="en-US" altLang="zh-TW" dirty="0">
                <a:sym typeface="Wingdings" pitchFamily="2" charset="2"/>
              </a:rPr>
              <a:t>lock </a:t>
            </a:r>
            <a:r>
              <a:rPr lang="en-US" altLang="zh-TW" u="sng" dirty="0">
                <a:sym typeface="Wingdings" pitchFamily="2" charset="2"/>
              </a:rPr>
              <a:t>A</a:t>
            </a:r>
            <a:r>
              <a:rPr lang="en-US" altLang="zh-TW" dirty="0">
                <a:sym typeface="Wingdings" pitchFamily="2" charset="2"/>
              </a:rPr>
              <a:t>ddress) + Garbage Collection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Limited Lifetime</a:t>
            </a:r>
            <a:r>
              <a:rPr lang="en-US" altLang="zh-TW" dirty="0"/>
              <a:t> </a:t>
            </a:r>
            <a:r>
              <a:rPr lang="en-US" altLang="zh-TW" dirty="0">
                <a:sym typeface="Wingdings" pitchFamily="2" charset="2"/>
              </a:rPr>
              <a:t> Sol: Wear Leveling</a:t>
            </a:r>
          </a:p>
          <a:p>
            <a:r>
              <a:rPr lang="en-US" altLang="zh-TW" sz="2400" dirty="0">
                <a:sym typeface="Wingdings" pitchFamily="2" charset="2"/>
              </a:rPr>
              <a:t>Memory Technology Device (MTD): Interact (read/program) with NAND Flash chips.</a:t>
            </a:r>
            <a:endParaRPr lang="en-US" altLang="zh-TW" sz="2400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0E1916-416A-0E33-D36A-1BCB9989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Recall: </a:t>
            </a:r>
            <a:r>
              <a:rPr kumimoji="1" lang="en-US" altLang="zh-TW" dirty="0"/>
              <a:t>SSD’s Architecture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F6DF0F-86B5-8E7B-DFE3-FC6351205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5B1FD4-F820-9C9E-D20A-4D4FE4715252}"/>
              </a:ext>
            </a:extLst>
          </p:cNvPr>
          <p:cNvSpPr/>
          <p:nvPr/>
        </p:nvSpPr>
        <p:spPr>
          <a:xfrm>
            <a:off x="6697133" y="1785213"/>
            <a:ext cx="5317067" cy="495590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SSD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5B331A-97C1-E41C-F762-3EBD57B261E2}"/>
              </a:ext>
            </a:extLst>
          </p:cNvPr>
          <p:cNvSpPr/>
          <p:nvPr/>
        </p:nvSpPr>
        <p:spPr>
          <a:xfrm>
            <a:off x="6871253" y="5795205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20BBB-86FF-33F3-DD75-A3A80A5D0B49}"/>
              </a:ext>
            </a:extLst>
          </p:cNvPr>
          <p:cNvSpPr/>
          <p:nvPr/>
        </p:nvSpPr>
        <p:spPr>
          <a:xfrm>
            <a:off x="6871253" y="2129902"/>
            <a:ext cx="4951896" cy="23150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Controller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FD94A4-ACE1-46D1-B0C2-233F5E12AD56}"/>
              </a:ext>
            </a:extLst>
          </p:cNvPr>
          <p:cNvSpPr/>
          <p:nvPr/>
        </p:nvSpPr>
        <p:spPr>
          <a:xfrm>
            <a:off x="7073865" y="2438356"/>
            <a:ext cx="4530555" cy="15421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Flash Translation Layer (FTL)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655BF2-6668-3B08-762F-00BBB8020EBD}"/>
              </a:ext>
            </a:extLst>
          </p:cNvPr>
          <p:cNvSpPr/>
          <p:nvPr/>
        </p:nvSpPr>
        <p:spPr>
          <a:xfrm>
            <a:off x="7023653" y="5947605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FDEF6E5-31E6-BAF9-7315-5BCFE1165EEE}"/>
              </a:ext>
            </a:extLst>
          </p:cNvPr>
          <p:cNvSpPr/>
          <p:nvPr/>
        </p:nvSpPr>
        <p:spPr>
          <a:xfrm>
            <a:off x="7176053" y="6100005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289239A-D1E6-0E98-0350-AD67917E3C40}"/>
              </a:ext>
            </a:extLst>
          </p:cNvPr>
          <p:cNvSpPr/>
          <p:nvPr/>
        </p:nvSpPr>
        <p:spPr>
          <a:xfrm>
            <a:off x="9445525" y="5783976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3124FC-D0D6-7BF6-1987-F455BF5E800A}"/>
              </a:ext>
            </a:extLst>
          </p:cNvPr>
          <p:cNvSpPr/>
          <p:nvPr/>
        </p:nvSpPr>
        <p:spPr>
          <a:xfrm>
            <a:off x="9597925" y="5936376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BB47CE6-19C3-621E-7016-A9D17C5D9D77}"/>
              </a:ext>
            </a:extLst>
          </p:cNvPr>
          <p:cNvSpPr/>
          <p:nvPr/>
        </p:nvSpPr>
        <p:spPr>
          <a:xfrm>
            <a:off x="9750325" y="6088776"/>
            <a:ext cx="2072824" cy="45274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NAND Flash Chips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917E8C-D47D-6BCF-407E-7A91F9364575}"/>
              </a:ext>
            </a:extLst>
          </p:cNvPr>
          <p:cNvSpPr/>
          <p:nvPr/>
        </p:nvSpPr>
        <p:spPr>
          <a:xfrm>
            <a:off x="6680608" y="1159668"/>
            <a:ext cx="5317067" cy="4841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Device Driver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D3FAEC8F-AFDF-BC97-B7CA-CAF884A4E6BC}"/>
              </a:ext>
            </a:extLst>
          </p:cNvPr>
          <p:cNvGrpSpPr/>
          <p:nvPr/>
        </p:nvGrpSpPr>
        <p:grpSpPr>
          <a:xfrm>
            <a:off x="7176054" y="2900966"/>
            <a:ext cx="4337314" cy="988979"/>
            <a:chOff x="7176054" y="2840050"/>
            <a:chExt cx="4337314" cy="988979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E028981-D382-A7CB-B6A5-CB6705CCABBB}"/>
                </a:ext>
              </a:extLst>
            </p:cNvPr>
            <p:cNvSpPr/>
            <p:nvPr/>
          </p:nvSpPr>
          <p:spPr>
            <a:xfrm>
              <a:off x="7176054" y="2840050"/>
              <a:ext cx="4337314" cy="3775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Address Translator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3BC6647-BFA2-AF0E-BF7D-CEBD4CE67E38}"/>
                </a:ext>
              </a:extLst>
            </p:cNvPr>
            <p:cNvSpPr/>
            <p:nvPr/>
          </p:nvSpPr>
          <p:spPr>
            <a:xfrm>
              <a:off x="7670387" y="3451483"/>
              <a:ext cx="2262967" cy="37754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Garbage Collector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6BF96D36-E402-19C3-AF03-9EA650D47F4C}"/>
              </a:ext>
            </a:extLst>
          </p:cNvPr>
          <p:cNvSpPr/>
          <p:nvPr/>
        </p:nvSpPr>
        <p:spPr>
          <a:xfrm>
            <a:off x="10075084" y="3512399"/>
            <a:ext cx="1438284" cy="3775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Wear Leveler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6" name="曲線接點 72">
            <a:extLst>
              <a:ext uri="{FF2B5EF4-FFF2-40B4-BE49-F238E27FC236}">
                <a16:creationId xmlns:a16="http://schemas.microsoft.com/office/drawing/2014/main" id="{62A8EB1F-CC49-D1BE-3BE3-37C100C4E03A}"/>
              </a:ext>
            </a:extLst>
          </p:cNvPr>
          <p:cNvCxnSpPr>
            <a:cxnSpLocks/>
          </p:cNvCxnSpPr>
          <p:nvPr/>
        </p:nvCxnSpPr>
        <p:spPr>
          <a:xfrm>
            <a:off x="7548076" y="3287449"/>
            <a:ext cx="0" cy="767188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線接點 72">
            <a:extLst>
              <a:ext uri="{FF2B5EF4-FFF2-40B4-BE49-F238E27FC236}">
                <a16:creationId xmlns:a16="http://schemas.microsoft.com/office/drawing/2014/main" id="{FED710B5-99F4-CFE5-3A98-DE2C7FF62FBC}"/>
              </a:ext>
            </a:extLst>
          </p:cNvPr>
          <p:cNvCxnSpPr>
            <a:cxnSpLocks/>
          </p:cNvCxnSpPr>
          <p:nvPr/>
        </p:nvCxnSpPr>
        <p:spPr>
          <a:xfrm>
            <a:off x="7548076" y="4370897"/>
            <a:ext cx="0" cy="1413079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7C56232C-FE83-1F5D-DEEC-BB478F644B6E}"/>
              </a:ext>
            </a:extLst>
          </p:cNvPr>
          <p:cNvSpPr/>
          <p:nvPr/>
        </p:nvSpPr>
        <p:spPr>
          <a:xfrm>
            <a:off x="6871253" y="4597396"/>
            <a:ext cx="4951896" cy="95269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DRAM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47346D-43B3-5BFB-EBB6-00A00A8A6F5E}"/>
              </a:ext>
            </a:extLst>
          </p:cNvPr>
          <p:cNvSpPr/>
          <p:nvPr/>
        </p:nvSpPr>
        <p:spPr>
          <a:xfrm>
            <a:off x="10794226" y="4890195"/>
            <a:ext cx="906995" cy="49259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Data Buffer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8BFEB9-987B-6D37-75AD-2D88633BC73F}"/>
              </a:ext>
            </a:extLst>
          </p:cNvPr>
          <p:cNvSpPr/>
          <p:nvPr/>
        </p:nvSpPr>
        <p:spPr>
          <a:xfrm>
            <a:off x="6946775" y="4890195"/>
            <a:ext cx="3622015" cy="49259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Translation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Table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24" name="曲線接點 72">
            <a:extLst>
              <a:ext uri="{FF2B5EF4-FFF2-40B4-BE49-F238E27FC236}">
                <a16:creationId xmlns:a16="http://schemas.microsoft.com/office/drawing/2014/main" id="{16720240-1023-F123-36B4-2A4F9616DD5B}"/>
              </a:ext>
            </a:extLst>
          </p:cNvPr>
          <p:cNvCxnSpPr>
            <a:cxnSpLocks/>
          </p:cNvCxnSpPr>
          <p:nvPr/>
        </p:nvCxnSpPr>
        <p:spPr>
          <a:xfrm>
            <a:off x="7356488" y="3278512"/>
            <a:ext cx="0" cy="160986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0BF48AF-D317-01D5-F49B-80D04FFACC99}"/>
              </a:ext>
            </a:extLst>
          </p:cNvPr>
          <p:cNvSpPr/>
          <p:nvPr/>
        </p:nvSpPr>
        <p:spPr>
          <a:xfrm>
            <a:off x="7073865" y="4054637"/>
            <a:ext cx="4530555" cy="3162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Memory Technology Device (MTD)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50" name="曲線接點 72">
            <a:extLst>
              <a:ext uri="{FF2B5EF4-FFF2-40B4-BE49-F238E27FC236}">
                <a16:creationId xmlns:a16="http://schemas.microsoft.com/office/drawing/2014/main" id="{D2B56C92-D98A-3EC5-5F65-02E3A1E53607}"/>
              </a:ext>
            </a:extLst>
          </p:cNvPr>
          <p:cNvCxnSpPr>
            <a:cxnSpLocks/>
          </p:cNvCxnSpPr>
          <p:nvPr/>
        </p:nvCxnSpPr>
        <p:spPr>
          <a:xfrm>
            <a:off x="8528863" y="3209446"/>
            <a:ext cx="0" cy="401694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線接點 72">
            <a:extLst>
              <a:ext uri="{FF2B5EF4-FFF2-40B4-BE49-F238E27FC236}">
                <a16:creationId xmlns:a16="http://schemas.microsoft.com/office/drawing/2014/main" id="{BAE452E2-6D1E-F409-E1A6-68ACB416EC2B}"/>
              </a:ext>
            </a:extLst>
          </p:cNvPr>
          <p:cNvCxnSpPr>
            <a:cxnSpLocks/>
          </p:cNvCxnSpPr>
          <p:nvPr/>
        </p:nvCxnSpPr>
        <p:spPr>
          <a:xfrm>
            <a:off x="8528863" y="3807162"/>
            <a:ext cx="0" cy="401694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線接點 72">
            <a:extLst>
              <a:ext uri="{FF2B5EF4-FFF2-40B4-BE49-F238E27FC236}">
                <a16:creationId xmlns:a16="http://schemas.microsoft.com/office/drawing/2014/main" id="{5C792AD1-6EE3-E12C-6C6D-1F6E0A87AD34}"/>
              </a:ext>
            </a:extLst>
          </p:cNvPr>
          <p:cNvCxnSpPr>
            <a:cxnSpLocks/>
          </p:cNvCxnSpPr>
          <p:nvPr/>
        </p:nvCxnSpPr>
        <p:spPr>
          <a:xfrm>
            <a:off x="9750325" y="3684681"/>
            <a:ext cx="386303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66B9B1C-6C90-E371-D1DF-DA9120763AB0}"/>
              </a:ext>
            </a:extLst>
          </p:cNvPr>
          <p:cNvSpPr/>
          <p:nvPr/>
        </p:nvSpPr>
        <p:spPr>
          <a:xfrm>
            <a:off x="832595" y="5680132"/>
            <a:ext cx="2232000" cy="5160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1010111100111110000101010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9EE095AE-9033-5AF6-093C-50170E081C45}"/>
              </a:ext>
            </a:extLst>
          </p:cNvPr>
          <p:cNvGrpSpPr/>
          <p:nvPr/>
        </p:nvGrpSpPr>
        <p:grpSpPr>
          <a:xfrm>
            <a:off x="838622" y="4654664"/>
            <a:ext cx="2232000" cy="1032532"/>
            <a:chOff x="838622" y="4654664"/>
            <a:chExt cx="2232000" cy="103253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B81D8A-3421-B253-9E0E-9FC331D37DC3}"/>
                </a:ext>
              </a:extLst>
            </p:cNvPr>
            <p:cNvSpPr/>
            <p:nvPr/>
          </p:nvSpPr>
          <p:spPr>
            <a:xfrm>
              <a:off x="838622" y="4654664"/>
              <a:ext cx="2232000" cy="5160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NAND Flash Page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03B551A-1AE2-7B61-D62B-9C1B688713B9}"/>
                </a:ext>
              </a:extLst>
            </p:cNvPr>
            <p:cNvSpPr txBox="1"/>
            <p:nvPr/>
          </p:nvSpPr>
          <p:spPr>
            <a:xfrm rot="5400000">
              <a:off x="1703794" y="5244286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b="1" dirty="0"/>
                <a:t>……</a:t>
              </a:r>
              <a:endParaRPr kumimoji="1" lang="zh-TW" altLang="en-US" b="1" dirty="0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849374C-08BF-8B5A-7527-73128E950DC9}"/>
              </a:ext>
            </a:extLst>
          </p:cNvPr>
          <p:cNvSpPr/>
          <p:nvPr/>
        </p:nvSpPr>
        <p:spPr>
          <a:xfrm>
            <a:off x="711554" y="4197128"/>
            <a:ext cx="2507272" cy="25466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NAND Flash Block 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0722480-5352-CB9F-001E-E4521318F9CF}"/>
              </a:ext>
            </a:extLst>
          </p:cNvPr>
          <p:cNvSpPr txBox="1"/>
          <p:nvPr/>
        </p:nvSpPr>
        <p:spPr>
          <a:xfrm rot="5400000">
            <a:off x="1774509" y="634684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…</a:t>
            </a:r>
            <a:endParaRPr kumimoji="1" lang="zh-TW" altLang="en-US" b="1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5D45340A-1E96-F257-D7BD-4B56270C7406}"/>
              </a:ext>
            </a:extLst>
          </p:cNvPr>
          <p:cNvGrpSpPr/>
          <p:nvPr/>
        </p:nvGrpSpPr>
        <p:grpSpPr>
          <a:xfrm>
            <a:off x="3932709" y="4197128"/>
            <a:ext cx="2507272" cy="2546633"/>
            <a:chOff x="3932709" y="4197128"/>
            <a:chExt cx="2507272" cy="25466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D224616-7325-C87C-735B-BCD82ECE09D0}"/>
                </a:ext>
              </a:extLst>
            </p:cNvPr>
            <p:cNvSpPr/>
            <p:nvPr/>
          </p:nvSpPr>
          <p:spPr>
            <a:xfrm>
              <a:off x="3932709" y="4197128"/>
              <a:ext cx="2507272" cy="254663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NAND Flash Block 2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DFDD50A-4CFC-85C3-C480-0F758D4FD4DB}"/>
                </a:ext>
              </a:extLst>
            </p:cNvPr>
            <p:cNvSpPr/>
            <p:nvPr/>
          </p:nvSpPr>
          <p:spPr>
            <a:xfrm>
              <a:off x="4070689" y="4657643"/>
              <a:ext cx="2232000" cy="5160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NAND Flash Page</a:t>
              </a:r>
              <a:br>
                <a:rPr kumimoji="1" lang="en-US" altLang="zh-TW" dirty="0">
                  <a:solidFill>
                    <a:schemeClr val="tx1"/>
                  </a:solidFill>
                </a:rPr>
              </a:br>
              <a:r>
                <a:rPr kumimoji="1" lang="en-US" altLang="zh-TW" dirty="0">
                  <a:solidFill>
                    <a:schemeClr val="tx1"/>
                  </a:solidFill>
                </a:rPr>
                <a:t>(Latest)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4829B17-179A-D067-BE3B-C5A16EE2594B}"/>
              </a:ext>
            </a:extLst>
          </p:cNvPr>
          <p:cNvGrpSpPr/>
          <p:nvPr/>
        </p:nvGrpSpPr>
        <p:grpSpPr>
          <a:xfrm>
            <a:off x="3064595" y="5232964"/>
            <a:ext cx="3237405" cy="705190"/>
            <a:chOff x="3064595" y="5232964"/>
            <a:chExt cx="3237405" cy="70519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2A4E443-006A-2C54-F275-484D7786E85E}"/>
                </a:ext>
              </a:extLst>
            </p:cNvPr>
            <p:cNvSpPr/>
            <p:nvPr/>
          </p:nvSpPr>
          <p:spPr>
            <a:xfrm>
              <a:off x="4070689" y="5232964"/>
              <a:ext cx="2231311" cy="5160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1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1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10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0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11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0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0011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0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110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11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01010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01</a:t>
              </a:r>
              <a:endParaRPr kumimoji="1" lang="zh-TW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肘形接點 24">
              <a:extLst>
                <a:ext uri="{FF2B5EF4-FFF2-40B4-BE49-F238E27FC236}">
                  <a16:creationId xmlns:a16="http://schemas.microsoft.com/office/drawing/2014/main" id="{5488D124-2EE2-ED83-415A-9C459CDBF30F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 flipV="1">
              <a:off x="3064595" y="5490986"/>
              <a:ext cx="1006094" cy="447168"/>
            </a:xfrm>
            <a:prstGeom prst="bentConnector3">
              <a:avLst/>
            </a:prstGeom>
            <a:ln w="254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C2DA709-B678-D968-C9C9-65E38870795D}"/>
              </a:ext>
            </a:extLst>
          </p:cNvPr>
          <p:cNvSpPr txBox="1"/>
          <p:nvPr/>
        </p:nvSpPr>
        <p:spPr>
          <a:xfrm>
            <a:off x="3163293" y="5960663"/>
            <a:ext cx="8542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u="sng" dirty="0">
                <a:solidFill>
                  <a:srgbClr val="0070C0"/>
                </a:solidFill>
              </a:rPr>
              <a:t>R</a:t>
            </a:r>
            <a:r>
              <a:rPr kumimoji="1" lang="en-US" altLang="zh-TW" dirty="0">
                <a:solidFill>
                  <a:srgbClr val="0070C0"/>
                </a:solidFill>
              </a:rPr>
              <a:t>ead</a:t>
            </a:r>
            <a:br>
              <a:rPr kumimoji="1" lang="en-US" altLang="zh-TW" dirty="0">
                <a:solidFill>
                  <a:srgbClr val="0070C0"/>
                </a:solidFill>
              </a:rPr>
            </a:br>
            <a:r>
              <a:rPr kumimoji="1" lang="en-US" altLang="zh-TW" u="sng" dirty="0">
                <a:solidFill>
                  <a:srgbClr val="0070C0"/>
                </a:solidFill>
              </a:rPr>
              <a:t>M</a:t>
            </a:r>
            <a:r>
              <a:rPr kumimoji="1" lang="en-US" altLang="zh-TW" dirty="0">
                <a:solidFill>
                  <a:srgbClr val="0070C0"/>
                </a:solidFill>
              </a:rPr>
              <a:t>odify</a:t>
            </a:r>
          </a:p>
          <a:p>
            <a:r>
              <a:rPr kumimoji="1" lang="en-US" altLang="zh-TW" u="sng" dirty="0">
                <a:solidFill>
                  <a:srgbClr val="0070C0"/>
                </a:solidFill>
              </a:rPr>
              <a:t>W</a:t>
            </a:r>
            <a:r>
              <a:rPr kumimoji="1" lang="en-US" altLang="zh-TW" dirty="0">
                <a:solidFill>
                  <a:srgbClr val="0070C0"/>
                </a:solidFill>
              </a:rPr>
              <a:t>rite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821FCF9-6502-C116-EAC9-8C8E5B2A0922}"/>
              </a:ext>
            </a:extLst>
          </p:cNvPr>
          <p:cNvSpPr txBox="1"/>
          <p:nvPr/>
        </p:nvSpPr>
        <p:spPr>
          <a:xfrm>
            <a:off x="801113" y="5329762"/>
            <a:ext cx="942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LBA 500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EDB5366-89DD-78A8-B1D2-7F78CEB67952}"/>
              </a:ext>
            </a:extLst>
          </p:cNvPr>
          <p:cNvSpPr txBox="1"/>
          <p:nvPr/>
        </p:nvSpPr>
        <p:spPr>
          <a:xfrm>
            <a:off x="-47225" y="5775997"/>
            <a:ext cx="9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PBA 800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3862689E-FB33-6215-A86E-260BE2940471}"/>
              </a:ext>
            </a:extLst>
          </p:cNvPr>
          <p:cNvGrpSpPr/>
          <p:nvPr/>
        </p:nvGrpSpPr>
        <p:grpSpPr>
          <a:xfrm>
            <a:off x="4113021" y="5843194"/>
            <a:ext cx="2180403" cy="623952"/>
            <a:chOff x="4113021" y="5843194"/>
            <a:chExt cx="2180403" cy="623952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C4A6AE52-1532-D967-ABF4-6F1B4A5F3881}"/>
                </a:ext>
              </a:extLst>
            </p:cNvPr>
            <p:cNvSpPr txBox="1"/>
            <p:nvPr/>
          </p:nvSpPr>
          <p:spPr>
            <a:xfrm>
              <a:off x="4113021" y="5843194"/>
              <a:ext cx="21695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LBA 500 </a:t>
              </a:r>
              <a:r>
                <a:rPr kumimoji="1" lang="en-US" altLang="zh-TW" dirty="0">
                  <a:solidFill>
                    <a:srgbClr val="C00000"/>
                  </a:solidFill>
                  <a:sym typeface="Wingdings" pitchFamily="2" charset="2"/>
                </a:rPr>
                <a:t> PBA 1201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E16A6551-36FD-C22B-E3FE-0E3F80EAC26D}"/>
                </a:ext>
              </a:extLst>
            </p:cNvPr>
            <p:cNvSpPr txBox="1"/>
            <p:nvPr/>
          </p:nvSpPr>
          <p:spPr>
            <a:xfrm>
              <a:off x="4164123" y="6097814"/>
              <a:ext cx="2129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0070C0"/>
                  </a:solidFill>
                </a:rPr>
                <a:t>Update the Mapping</a:t>
              </a:r>
              <a:endParaRPr kumimoji="1" lang="zh-TW" alt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2DA23F1-407C-F925-486F-C0C1CD9E1790}"/>
              </a:ext>
            </a:extLst>
          </p:cNvPr>
          <p:cNvSpPr txBox="1"/>
          <p:nvPr/>
        </p:nvSpPr>
        <p:spPr>
          <a:xfrm>
            <a:off x="1182781" y="6134601"/>
            <a:ext cx="1592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0070C0"/>
                </a:solidFill>
              </a:rPr>
              <a:t>Mark as invalid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6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mph" presetSubtype="0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3" grpId="0" animBg="1"/>
      <p:bldP spid="40" grpId="0" animBg="1"/>
      <p:bldP spid="13" grpId="0" animBg="1"/>
      <p:bldP spid="13" grpId="1" animBg="1"/>
      <p:bldP spid="15" grpId="0" animBg="1"/>
      <p:bldP spid="18" grpId="0"/>
      <p:bldP spid="28" grpId="0"/>
      <p:bldP spid="29" grpId="0"/>
      <p:bldP spid="31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8F577-43B5-6121-043C-F7BAD5B4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Recall: </a:t>
            </a:r>
            <a:r>
              <a:rPr kumimoji="1" lang="en-US" altLang="zh-TW" dirty="0"/>
              <a:t>Interaction with the Peripherals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86035A-2624-3D1F-6B05-DF49F2D0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41396"/>
            <a:ext cx="11836400" cy="5441950"/>
          </a:xfrm>
        </p:spPr>
        <p:txBody>
          <a:bodyPr/>
          <a:lstStyle/>
          <a:p>
            <a:r>
              <a:rPr kumimoji="1" lang="en-US" altLang="zh-TW" dirty="0"/>
              <a:t>How CPU accesses peripherals</a:t>
            </a:r>
          </a:p>
          <a:p>
            <a:pPr lvl="1"/>
            <a:r>
              <a:rPr kumimoji="1" lang="en-US" altLang="zh-TW" dirty="0"/>
              <a:t>Port-Mapped I/O (Isolated I/O): CPU accesses peripherals by </a:t>
            </a:r>
            <a:r>
              <a:rPr lang="en-US" altLang="zh-TW" dirty="0">
                <a:solidFill>
                  <a:srgbClr val="C00000"/>
                </a:solidFill>
              </a:rPr>
              <a:t>IN/OUT instructions </a:t>
            </a:r>
            <a:r>
              <a:rPr lang="en-US" altLang="zh-TW" dirty="0"/>
              <a:t>where the </a:t>
            </a:r>
            <a:r>
              <a:rPr lang="en-US" altLang="zh-TW" dirty="0">
                <a:solidFill>
                  <a:srgbClr val="C00000"/>
                </a:solidFill>
              </a:rPr>
              <a:t>I/O address space is separated from the memory address space</a:t>
            </a:r>
            <a:r>
              <a:rPr kumimoji="1" lang="en-US" altLang="zh-TW" dirty="0"/>
              <a:t>.</a:t>
            </a:r>
          </a:p>
          <a:p>
            <a:pPr lvl="1"/>
            <a:r>
              <a:rPr lang="en-US" altLang="zh-TW" dirty="0"/>
              <a:t>Memory Mapped I/O: </a:t>
            </a:r>
            <a:r>
              <a:rPr kumimoji="1" lang="en-US" altLang="zh-TW" dirty="0"/>
              <a:t>CPU accesses peripherals by </a:t>
            </a:r>
            <a:r>
              <a:rPr lang="en-US" altLang="zh-TW" dirty="0">
                <a:solidFill>
                  <a:srgbClr val="C00000"/>
                </a:solidFill>
              </a:rPr>
              <a:t>load/store instructions </a:t>
            </a:r>
            <a:r>
              <a:rPr lang="en-US" altLang="zh-TW" dirty="0"/>
              <a:t>where the </a:t>
            </a:r>
            <a:r>
              <a:rPr lang="en-US" altLang="zh-TW" dirty="0">
                <a:solidFill>
                  <a:srgbClr val="C00000"/>
                </a:solidFill>
              </a:rPr>
              <a:t>I/O address space is shared with the memory address space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Direct Memory Access (DMA): </a:t>
            </a:r>
            <a:r>
              <a:rPr lang="en-US" altLang="zh-TW" dirty="0">
                <a:solidFill>
                  <a:srgbClr val="C00000"/>
                </a:solidFill>
              </a:rPr>
              <a:t>Transfer data </a:t>
            </a:r>
            <a:r>
              <a:rPr lang="en-US" altLang="zh-TW" dirty="0"/>
              <a:t>directly between memory and I/O devices </a:t>
            </a:r>
            <a:r>
              <a:rPr lang="en-US" altLang="zh-TW" dirty="0">
                <a:solidFill>
                  <a:srgbClr val="C00000"/>
                </a:solidFill>
              </a:rPr>
              <a:t>without CPU’s interventions</a:t>
            </a:r>
            <a:r>
              <a:rPr lang="en-US" altLang="zh-TW" dirty="0"/>
              <a:t>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7497E7-CE43-2842-C5DD-586BA3E09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FD4036-EB2E-9636-B68E-0EA5A9219210}"/>
              </a:ext>
            </a:extLst>
          </p:cNvPr>
          <p:cNvSpPr/>
          <p:nvPr/>
        </p:nvSpPr>
        <p:spPr>
          <a:xfrm>
            <a:off x="1715585" y="3878299"/>
            <a:ext cx="818629" cy="60254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CPU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D180ED-2588-CF5F-9285-637D3510427E}"/>
              </a:ext>
            </a:extLst>
          </p:cNvPr>
          <p:cNvSpPr/>
          <p:nvPr/>
        </p:nvSpPr>
        <p:spPr>
          <a:xfrm>
            <a:off x="5961416" y="4239492"/>
            <a:ext cx="818629" cy="60254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CPU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41B9D260-01B6-5C9A-9639-72CD710B4FB8}"/>
              </a:ext>
            </a:extLst>
          </p:cNvPr>
          <p:cNvGrpSpPr/>
          <p:nvPr/>
        </p:nvGrpSpPr>
        <p:grpSpPr>
          <a:xfrm>
            <a:off x="4878746" y="4726479"/>
            <a:ext cx="3117279" cy="574508"/>
            <a:chOff x="4878746" y="4726479"/>
            <a:chExt cx="3117279" cy="574508"/>
          </a:xfrm>
        </p:grpSpPr>
        <p:cxnSp>
          <p:nvCxnSpPr>
            <p:cNvPr id="40" name="肘形接點 39">
              <a:extLst>
                <a:ext uri="{FF2B5EF4-FFF2-40B4-BE49-F238E27FC236}">
                  <a16:creationId xmlns:a16="http://schemas.microsoft.com/office/drawing/2014/main" id="{5933F3A0-3555-AF60-4BAB-6CDCAF8613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678280" y="4848925"/>
              <a:ext cx="458953" cy="445168"/>
            </a:xfrm>
            <a:prstGeom prst="bentConnector3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接點 40">
              <a:extLst>
                <a:ext uri="{FF2B5EF4-FFF2-40B4-BE49-F238E27FC236}">
                  <a16:creationId xmlns:a16="http://schemas.microsoft.com/office/drawing/2014/main" id="{80C7026C-92AC-3239-2BDE-A239D0A2A03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529628" y="4882125"/>
              <a:ext cx="464741" cy="372983"/>
            </a:xfrm>
            <a:prstGeom prst="bentConnector3">
              <a:avLst/>
            </a:prstGeom>
            <a:ln w="317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AA8CD5E-28A8-EBAB-7E87-D195B330003F}"/>
                </a:ext>
              </a:extLst>
            </p:cNvPr>
            <p:cNvSpPr txBox="1"/>
            <p:nvPr/>
          </p:nvSpPr>
          <p:spPr>
            <a:xfrm>
              <a:off x="6842568" y="4726479"/>
              <a:ext cx="11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load/store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36F78591-A725-A88D-9E78-F8138E2DA243}"/>
                </a:ext>
              </a:extLst>
            </p:cNvPr>
            <p:cNvSpPr txBox="1"/>
            <p:nvPr/>
          </p:nvSpPr>
          <p:spPr>
            <a:xfrm>
              <a:off x="4878746" y="4726479"/>
              <a:ext cx="11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load/store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28737720-AC9B-D570-EA78-00FBDFEA4D9C}"/>
              </a:ext>
            </a:extLst>
          </p:cNvPr>
          <p:cNvGrpSpPr/>
          <p:nvPr/>
        </p:nvGrpSpPr>
        <p:grpSpPr>
          <a:xfrm>
            <a:off x="4794837" y="5046815"/>
            <a:ext cx="4163009" cy="1599662"/>
            <a:chOff x="4794837" y="5046815"/>
            <a:chExt cx="4163009" cy="159966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55D219B-A347-6915-8D3A-6880A4165C46}"/>
                </a:ext>
              </a:extLst>
            </p:cNvPr>
            <p:cNvSpPr/>
            <p:nvPr/>
          </p:nvSpPr>
          <p:spPr>
            <a:xfrm>
              <a:off x="5071562" y="5300986"/>
              <a:ext cx="1058780" cy="60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I/O </a:t>
              </a:r>
              <a:r>
                <a:rPr kumimoji="1" lang="en-US" altLang="zh-TW" dirty="0" err="1">
                  <a:solidFill>
                    <a:schemeClr val="tx1"/>
                  </a:solidFill>
                </a:rPr>
                <a:t>Addr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.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9DCAD93-37FA-0E89-C297-31A4FA744C58}"/>
                </a:ext>
              </a:extLst>
            </p:cNvPr>
            <p:cNvSpPr/>
            <p:nvPr/>
          </p:nvSpPr>
          <p:spPr>
            <a:xfrm>
              <a:off x="6130341" y="5300986"/>
              <a:ext cx="2598819" cy="6025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Memory </a:t>
              </a:r>
              <a:r>
                <a:rPr kumimoji="1" lang="en-US" altLang="zh-TW" dirty="0" err="1">
                  <a:solidFill>
                    <a:schemeClr val="tx1"/>
                  </a:solidFill>
                </a:rPr>
                <a:t>Addr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.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43CA6AA-B7BF-0C78-7BAD-3B8D04C766F8}"/>
                </a:ext>
              </a:extLst>
            </p:cNvPr>
            <p:cNvSpPr/>
            <p:nvPr/>
          </p:nvSpPr>
          <p:spPr>
            <a:xfrm>
              <a:off x="5071561" y="6043936"/>
              <a:ext cx="1058780" cy="60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I/O Device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DE287494-DFE2-C8D9-75CE-B013C4116569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 flipH="1">
              <a:off x="5600951" y="5903527"/>
              <a:ext cx="1" cy="140409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0DACF59-3A5D-4563-A1C7-CA655FD250E8}"/>
                </a:ext>
              </a:extLst>
            </p:cNvPr>
            <p:cNvSpPr txBox="1"/>
            <p:nvPr/>
          </p:nvSpPr>
          <p:spPr>
            <a:xfrm>
              <a:off x="4794837" y="5056424"/>
              <a:ext cx="7200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0x0000</a:t>
              </a:r>
              <a:endParaRPr kumimoji="1" lang="zh-TW" altLang="en-US" sz="1400" i="1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B2E5EA69-DE69-0C2A-BBBD-17F50908AD5E}"/>
                </a:ext>
              </a:extLst>
            </p:cNvPr>
            <p:cNvSpPr txBox="1"/>
            <p:nvPr/>
          </p:nvSpPr>
          <p:spPr>
            <a:xfrm>
              <a:off x="8276249" y="5046815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0xFFFF</a:t>
              </a:r>
              <a:endParaRPr kumimoji="1" lang="zh-TW" altLang="en-US" sz="1400" i="1" dirty="0"/>
            </a:p>
          </p:txBody>
        </p: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A12830A1-0D9D-CFB2-4734-6E479AD8309F}"/>
              </a:ext>
            </a:extLst>
          </p:cNvPr>
          <p:cNvGrpSpPr/>
          <p:nvPr/>
        </p:nvGrpSpPr>
        <p:grpSpPr>
          <a:xfrm>
            <a:off x="361626" y="5064636"/>
            <a:ext cx="4442613" cy="1615564"/>
            <a:chOff x="361626" y="5064636"/>
            <a:chExt cx="4442613" cy="161556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FA21893-0F8D-CF46-6EB6-B934084814CE}"/>
                </a:ext>
              </a:extLst>
            </p:cNvPr>
            <p:cNvSpPr/>
            <p:nvPr/>
          </p:nvSpPr>
          <p:spPr>
            <a:xfrm>
              <a:off x="361627" y="5334709"/>
              <a:ext cx="1058780" cy="60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I/O </a:t>
              </a:r>
              <a:r>
                <a:rPr kumimoji="1" lang="en-US" altLang="zh-TW" dirty="0" err="1">
                  <a:solidFill>
                    <a:schemeClr val="tx1"/>
                  </a:solidFill>
                </a:rPr>
                <a:t>Addr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.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34D7697-B701-FE8D-4381-0AC628373CEB}"/>
                </a:ext>
              </a:extLst>
            </p:cNvPr>
            <p:cNvSpPr/>
            <p:nvPr/>
          </p:nvSpPr>
          <p:spPr>
            <a:xfrm>
              <a:off x="1902557" y="5334709"/>
              <a:ext cx="2598819" cy="6025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Memory </a:t>
              </a:r>
              <a:r>
                <a:rPr kumimoji="1" lang="en-US" altLang="zh-TW" dirty="0" err="1">
                  <a:solidFill>
                    <a:schemeClr val="tx1"/>
                  </a:solidFill>
                </a:rPr>
                <a:t>Addr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.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D27E4A-A648-88F1-3CAF-A7109012ACF3}"/>
                </a:ext>
              </a:extLst>
            </p:cNvPr>
            <p:cNvSpPr/>
            <p:nvPr/>
          </p:nvSpPr>
          <p:spPr>
            <a:xfrm>
              <a:off x="361626" y="6077659"/>
              <a:ext cx="1058780" cy="60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I/O Device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1FEE41BC-114D-D38B-F9D6-F78219C1CD56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891016" y="5937250"/>
              <a:ext cx="1" cy="140409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8ABDB722-3505-68BF-C76A-B2C778F10A2E}"/>
                </a:ext>
              </a:extLst>
            </p:cNvPr>
            <p:cNvSpPr txBox="1"/>
            <p:nvPr/>
          </p:nvSpPr>
          <p:spPr>
            <a:xfrm>
              <a:off x="1666029" y="5086288"/>
              <a:ext cx="7200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0x0000</a:t>
              </a:r>
              <a:endParaRPr kumimoji="1" lang="zh-TW" altLang="en-US" sz="1400" i="1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17FA1433-7259-E06E-5A06-6A5103EEEE1E}"/>
                </a:ext>
              </a:extLst>
            </p:cNvPr>
            <p:cNvSpPr txBox="1"/>
            <p:nvPr/>
          </p:nvSpPr>
          <p:spPr>
            <a:xfrm>
              <a:off x="4122642" y="5064636"/>
              <a:ext cx="681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i="1" dirty="0"/>
                <a:t>0xFFFF</a:t>
              </a:r>
              <a:endParaRPr kumimoji="1" lang="zh-TW" altLang="en-US" sz="1400" i="1" dirty="0"/>
            </a:p>
          </p:txBody>
        </p:sp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56BCF894-43C7-EDAB-DE3D-1B4F74DBA9B8}"/>
              </a:ext>
            </a:extLst>
          </p:cNvPr>
          <p:cNvGrpSpPr/>
          <p:nvPr/>
        </p:nvGrpSpPr>
        <p:grpSpPr>
          <a:xfrm>
            <a:off x="466189" y="4419135"/>
            <a:ext cx="1566005" cy="923355"/>
            <a:chOff x="466189" y="4419135"/>
            <a:chExt cx="1566005" cy="923355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4099088-E264-286C-81DF-9062D00EB20F}"/>
                </a:ext>
              </a:extLst>
            </p:cNvPr>
            <p:cNvSpPr txBox="1"/>
            <p:nvPr/>
          </p:nvSpPr>
          <p:spPr>
            <a:xfrm>
              <a:off x="1229014" y="4419135"/>
              <a:ext cx="765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chemeClr val="accent5"/>
                  </a:solidFill>
                </a:rPr>
                <a:t>in/out</a:t>
              </a:r>
              <a:endParaRPr kumimoji="1" lang="zh-TW" altLang="en-US" dirty="0">
                <a:solidFill>
                  <a:schemeClr val="accent5"/>
                </a:solidFill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E4FC783-E82C-D24B-F771-EAE12A75C96F}"/>
                </a:ext>
              </a:extLst>
            </p:cNvPr>
            <p:cNvCxnSpPr>
              <a:cxnSpLocks/>
            </p:cNvCxnSpPr>
            <p:nvPr/>
          </p:nvCxnSpPr>
          <p:spPr>
            <a:xfrm>
              <a:off x="2026063" y="4490069"/>
              <a:ext cx="0" cy="232371"/>
            </a:xfrm>
            <a:prstGeom prst="line">
              <a:avLst/>
            </a:prstGeom>
            <a:ln w="31750">
              <a:solidFill>
                <a:schemeClr val="accent5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048A9BAC-60EA-F25E-227F-163BE47BB632}"/>
                </a:ext>
              </a:extLst>
            </p:cNvPr>
            <p:cNvCxnSpPr>
              <a:cxnSpLocks/>
            </p:cNvCxnSpPr>
            <p:nvPr/>
          </p:nvCxnSpPr>
          <p:spPr>
            <a:xfrm>
              <a:off x="941789" y="4722288"/>
              <a:ext cx="0" cy="620202"/>
            </a:xfrm>
            <a:prstGeom prst="line">
              <a:avLst/>
            </a:prstGeom>
            <a:ln w="31750">
              <a:solidFill>
                <a:schemeClr val="accent5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762ABEE2-A051-37AC-AE2D-98346B45FED2}"/>
                </a:ext>
              </a:extLst>
            </p:cNvPr>
            <p:cNvCxnSpPr>
              <a:cxnSpLocks/>
            </p:cNvCxnSpPr>
            <p:nvPr/>
          </p:nvCxnSpPr>
          <p:spPr>
            <a:xfrm>
              <a:off x="934747" y="4722288"/>
              <a:ext cx="1097447" cy="0"/>
            </a:xfrm>
            <a:prstGeom prst="line">
              <a:avLst/>
            </a:prstGeom>
            <a:ln w="31750">
              <a:solidFill>
                <a:schemeClr val="accent5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300E6729-729C-7161-839E-3E130024E021}"/>
                </a:ext>
              </a:extLst>
            </p:cNvPr>
            <p:cNvSpPr txBox="1"/>
            <p:nvPr/>
          </p:nvSpPr>
          <p:spPr>
            <a:xfrm>
              <a:off x="466189" y="4849006"/>
              <a:ext cx="102002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0" bIns="0" rtlCol="0">
              <a:spAutoFit/>
            </a:bodyPr>
            <a:lstStyle/>
            <a:p>
              <a:r>
                <a:rPr kumimoji="1" lang="en-US" altLang="zh-TW" dirty="0">
                  <a:solidFill>
                    <a:schemeClr val="accent5"/>
                  </a:solidFill>
                </a:rPr>
                <a:t>I/O Ports</a:t>
              </a:r>
              <a:endParaRPr kumimoji="1" lang="zh-TW" altLang="en-US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6FDF0DB0-7DB0-5CF1-1AFB-9A0BA521B20E}"/>
              </a:ext>
            </a:extLst>
          </p:cNvPr>
          <p:cNvGrpSpPr/>
          <p:nvPr/>
        </p:nvGrpSpPr>
        <p:grpSpPr>
          <a:xfrm>
            <a:off x="2065441" y="4419135"/>
            <a:ext cx="1790618" cy="913387"/>
            <a:chOff x="2065441" y="4419135"/>
            <a:chExt cx="1790618" cy="913387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534340E0-8010-3346-E711-54F288C99C0C}"/>
                </a:ext>
              </a:extLst>
            </p:cNvPr>
            <p:cNvSpPr txBox="1"/>
            <p:nvPr/>
          </p:nvSpPr>
          <p:spPr>
            <a:xfrm>
              <a:off x="2224546" y="4419135"/>
              <a:ext cx="11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load/store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70C03F9E-752F-118A-CF15-6BD7193300BA}"/>
                </a:ext>
              </a:extLst>
            </p:cNvPr>
            <p:cNvCxnSpPr>
              <a:cxnSpLocks/>
            </p:cNvCxnSpPr>
            <p:nvPr/>
          </p:nvCxnSpPr>
          <p:spPr>
            <a:xfrm>
              <a:off x="2258177" y="4490069"/>
              <a:ext cx="0" cy="232371"/>
            </a:xfrm>
            <a:prstGeom prst="line">
              <a:avLst/>
            </a:prstGeom>
            <a:ln w="31750">
              <a:solidFill>
                <a:srgbClr val="C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45639F73-3D1D-A270-8B34-C98F81782CE8}"/>
                </a:ext>
              </a:extLst>
            </p:cNvPr>
            <p:cNvCxnSpPr>
              <a:cxnSpLocks/>
            </p:cNvCxnSpPr>
            <p:nvPr/>
          </p:nvCxnSpPr>
          <p:spPr>
            <a:xfrm>
              <a:off x="2938309" y="4712320"/>
              <a:ext cx="0" cy="620202"/>
            </a:xfrm>
            <a:prstGeom prst="line">
              <a:avLst/>
            </a:prstGeom>
            <a:ln w="31750">
              <a:solidFill>
                <a:srgbClr val="C0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CDD0A7EF-D0B1-D94A-55E0-44D74430D830}"/>
                </a:ext>
              </a:extLst>
            </p:cNvPr>
            <p:cNvCxnSpPr>
              <a:cxnSpLocks/>
            </p:cNvCxnSpPr>
            <p:nvPr/>
          </p:nvCxnSpPr>
          <p:spPr>
            <a:xfrm>
              <a:off x="2252550" y="4722288"/>
              <a:ext cx="679320" cy="0"/>
            </a:xfrm>
            <a:prstGeom prst="line">
              <a:avLst/>
            </a:prstGeom>
            <a:ln w="31750">
              <a:solidFill>
                <a:srgbClr val="C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31740C06-921C-6458-D857-5511EBC4B4DE}"/>
                </a:ext>
              </a:extLst>
            </p:cNvPr>
            <p:cNvSpPr txBox="1"/>
            <p:nvPr/>
          </p:nvSpPr>
          <p:spPr>
            <a:xfrm>
              <a:off x="2065441" y="4862674"/>
              <a:ext cx="179061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tIns="0" bIns="0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Memory Address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F030A73C-7212-3567-B780-7B3F4E269E5F}"/>
              </a:ext>
            </a:extLst>
          </p:cNvPr>
          <p:cNvSpPr txBox="1"/>
          <p:nvPr/>
        </p:nvSpPr>
        <p:spPr>
          <a:xfrm>
            <a:off x="2189140" y="6273024"/>
            <a:ext cx="2312236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kumimoji="1" lang="en-US" altLang="zh-TW" sz="2400" u="sng" dirty="0"/>
              <a:t>Port-Mapped I/O</a:t>
            </a:r>
            <a:endParaRPr kumimoji="1" lang="zh-TW" altLang="en-US" sz="2400" u="sng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512ED1A3-206D-5F80-1912-185D79A52BDB}"/>
              </a:ext>
            </a:extLst>
          </p:cNvPr>
          <p:cNvSpPr txBox="1"/>
          <p:nvPr/>
        </p:nvSpPr>
        <p:spPr>
          <a:xfrm>
            <a:off x="6166142" y="6277145"/>
            <a:ext cx="2862835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kumimoji="1" lang="en-US" altLang="zh-TW" sz="2400" u="sng" dirty="0"/>
              <a:t>Memory-Mapped I/O</a:t>
            </a:r>
            <a:endParaRPr kumimoji="1" lang="zh-TW" altLang="en-US" sz="2400" u="sng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83A25E2-8F83-A80A-0FA5-4E8E9993FB0C}"/>
              </a:ext>
            </a:extLst>
          </p:cNvPr>
          <p:cNvSpPr/>
          <p:nvPr/>
        </p:nvSpPr>
        <p:spPr>
          <a:xfrm>
            <a:off x="9314075" y="4280485"/>
            <a:ext cx="818629" cy="60254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CPU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C57C439-28C7-5591-D752-4B4339473D92}"/>
              </a:ext>
            </a:extLst>
          </p:cNvPr>
          <p:cNvSpPr txBox="1"/>
          <p:nvPr/>
        </p:nvSpPr>
        <p:spPr>
          <a:xfrm>
            <a:off x="11248854" y="6240663"/>
            <a:ext cx="814647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kumimoji="1" lang="en-US" altLang="zh-TW" sz="2400" u="sng" dirty="0"/>
              <a:t>DMA</a:t>
            </a:r>
            <a:endParaRPr kumimoji="1" lang="zh-TW" altLang="en-US" sz="2400" u="sng" dirty="0"/>
          </a:p>
        </p:txBody>
      </p: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7145ACB9-0182-4AD7-64C2-25EDCB6FECD8}"/>
              </a:ext>
            </a:extLst>
          </p:cNvPr>
          <p:cNvGrpSpPr/>
          <p:nvPr/>
        </p:nvGrpSpPr>
        <p:grpSpPr>
          <a:xfrm>
            <a:off x="9314075" y="4280485"/>
            <a:ext cx="2661221" cy="2388387"/>
            <a:chOff x="9314075" y="4280485"/>
            <a:chExt cx="2661221" cy="2388387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A94E4573-27AF-C48D-CE12-E3C6F42B084E}"/>
                </a:ext>
              </a:extLst>
            </p:cNvPr>
            <p:cNvSpPr/>
            <p:nvPr/>
          </p:nvSpPr>
          <p:spPr>
            <a:xfrm>
              <a:off x="10296071" y="4280485"/>
              <a:ext cx="1679225" cy="60254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Memory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61F5096A-DB46-6DCA-8E2B-6A69EB4514ED}"/>
                </a:ext>
              </a:extLst>
            </p:cNvPr>
            <p:cNvSpPr/>
            <p:nvPr/>
          </p:nvSpPr>
          <p:spPr>
            <a:xfrm>
              <a:off x="9314075" y="6066331"/>
              <a:ext cx="1679225" cy="602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I/O Device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09BE823D-C851-1E22-DF40-3F0A4536E52C}"/>
                </a:ext>
              </a:extLst>
            </p:cNvPr>
            <p:cNvSpPr/>
            <p:nvPr/>
          </p:nvSpPr>
          <p:spPr>
            <a:xfrm>
              <a:off x="9314075" y="5162520"/>
              <a:ext cx="1299410" cy="6025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DMA Controller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7799F9D-63DE-08A8-7F47-80F3F6BD6361}"/>
              </a:ext>
            </a:extLst>
          </p:cNvPr>
          <p:cNvCxnSpPr>
            <a:cxnSpLocks/>
          </p:cNvCxnSpPr>
          <p:nvPr/>
        </p:nvCxnSpPr>
        <p:spPr>
          <a:xfrm>
            <a:off x="9747513" y="4873396"/>
            <a:ext cx="0" cy="289124"/>
          </a:xfrm>
          <a:prstGeom prst="line">
            <a:avLst/>
          </a:prstGeom>
          <a:ln w="317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3E878704-2DAE-06AC-EA42-BF1BF681C320}"/>
              </a:ext>
            </a:extLst>
          </p:cNvPr>
          <p:cNvCxnSpPr>
            <a:cxnSpLocks/>
          </p:cNvCxnSpPr>
          <p:nvPr/>
        </p:nvCxnSpPr>
        <p:spPr>
          <a:xfrm>
            <a:off x="9963780" y="5765061"/>
            <a:ext cx="0" cy="289124"/>
          </a:xfrm>
          <a:prstGeom prst="line">
            <a:avLst/>
          </a:prstGeom>
          <a:ln w="3175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676BBD0E-676D-A6F3-2D30-A076428F9520}"/>
              </a:ext>
            </a:extLst>
          </p:cNvPr>
          <p:cNvCxnSpPr>
            <a:cxnSpLocks/>
          </p:cNvCxnSpPr>
          <p:nvPr/>
        </p:nvCxnSpPr>
        <p:spPr>
          <a:xfrm>
            <a:off x="10490928" y="4887827"/>
            <a:ext cx="0" cy="289124"/>
          </a:xfrm>
          <a:prstGeom prst="line">
            <a:avLst/>
          </a:prstGeom>
          <a:ln w="3175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EC4884-C22A-FEED-7405-CAAA62E11C1F}"/>
              </a:ext>
            </a:extLst>
          </p:cNvPr>
          <p:cNvSpPr txBox="1"/>
          <p:nvPr/>
        </p:nvSpPr>
        <p:spPr>
          <a:xfrm>
            <a:off x="-602673" y="5403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800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0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6" dur="indefinite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9" dur="indefinite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2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5" dur="indefinite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8" dur="indefinite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6" grpId="0" animBg="1"/>
      <p:bldP spid="36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2691" y="2470860"/>
            <a:ext cx="10926618" cy="191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750F6D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Device Driver</a:t>
            </a:r>
          </a:p>
        </p:txBody>
      </p:sp>
      <p:sp>
        <p:nvSpPr>
          <p:cNvPr id="2" name="矩形 57">
            <a:extLst>
              <a:ext uri="{FF2B5EF4-FFF2-40B4-BE49-F238E27FC236}">
                <a16:creationId xmlns:a16="http://schemas.microsoft.com/office/drawing/2014/main" id="{52D52D27-AB1F-79D5-C62C-38A191A61F20}"/>
              </a:ext>
            </a:extLst>
          </p:cNvPr>
          <p:cNvSpPr/>
          <p:nvPr/>
        </p:nvSpPr>
        <p:spPr>
          <a:xfrm>
            <a:off x="9891054" y="690235"/>
            <a:ext cx="1567121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Process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矩形 57">
            <a:extLst>
              <a:ext uri="{FF2B5EF4-FFF2-40B4-BE49-F238E27FC236}">
                <a16:creationId xmlns:a16="http://schemas.microsoft.com/office/drawing/2014/main" id="{E17704BC-BC4F-832F-CFA4-CFAD3EFE9393}"/>
              </a:ext>
            </a:extLst>
          </p:cNvPr>
          <p:cNvSpPr/>
          <p:nvPr/>
        </p:nvSpPr>
        <p:spPr>
          <a:xfrm>
            <a:off x="9891054" y="2000233"/>
            <a:ext cx="1567121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Virtual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File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System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矩形 57">
            <a:extLst>
              <a:ext uri="{FF2B5EF4-FFF2-40B4-BE49-F238E27FC236}">
                <a16:creationId xmlns:a16="http://schemas.microsoft.com/office/drawing/2014/main" id="{059E3054-4E17-FE8E-5B24-51F868096F21}"/>
              </a:ext>
            </a:extLst>
          </p:cNvPr>
          <p:cNvSpPr/>
          <p:nvPr/>
        </p:nvSpPr>
        <p:spPr>
          <a:xfrm>
            <a:off x="9891055" y="2779316"/>
            <a:ext cx="921104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Page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Cache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矩形 57">
            <a:extLst>
              <a:ext uri="{FF2B5EF4-FFF2-40B4-BE49-F238E27FC236}">
                <a16:creationId xmlns:a16="http://schemas.microsoft.com/office/drawing/2014/main" id="{0FF36199-4E2A-2A86-D455-9031F8E7CB68}"/>
              </a:ext>
            </a:extLst>
          </p:cNvPr>
          <p:cNvSpPr/>
          <p:nvPr/>
        </p:nvSpPr>
        <p:spPr>
          <a:xfrm>
            <a:off x="9891054" y="3558399"/>
            <a:ext cx="1567121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Mapping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Layer</a:t>
            </a:r>
            <a:b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(FS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Specific)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AEFB806-3E77-E7B8-C4FE-C45CB6C0AAED}"/>
              </a:ext>
            </a:extLst>
          </p:cNvPr>
          <p:cNvCxnSpPr>
            <a:cxnSpLocks/>
          </p:cNvCxnSpPr>
          <p:nvPr/>
        </p:nvCxnSpPr>
        <p:spPr>
          <a:xfrm>
            <a:off x="9251696" y="1772463"/>
            <a:ext cx="2845834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6B7E5BE-94D7-513D-A051-5D9F82B7CE28}"/>
              </a:ext>
            </a:extLst>
          </p:cNvPr>
          <p:cNvSpPr txBox="1"/>
          <p:nvPr/>
        </p:nvSpPr>
        <p:spPr>
          <a:xfrm>
            <a:off x="9157226" y="1435481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User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7D3F1DF-2DCE-23E6-ECF3-FB46A5107C73}"/>
              </a:ext>
            </a:extLst>
          </p:cNvPr>
          <p:cNvSpPr txBox="1"/>
          <p:nvPr/>
        </p:nvSpPr>
        <p:spPr>
          <a:xfrm>
            <a:off x="9157226" y="1755217"/>
            <a:ext cx="719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Kernel</a:t>
            </a:r>
            <a:endParaRPr kumimoji="1" lang="zh-TW" altLang="en-US" sz="16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352AAA6-9938-F920-064E-0C382EBAC9E7}"/>
              </a:ext>
            </a:extLst>
          </p:cNvPr>
          <p:cNvSpPr txBox="1"/>
          <p:nvPr/>
        </p:nvSpPr>
        <p:spPr>
          <a:xfrm>
            <a:off x="10971543" y="1207393"/>
            <a:ext cx="1095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sys_read()</a:t>
            </a:r>
          </a:p>
          <a:p>
            <a:r>
              <a:rPr kumimoji="1" lang="en-US" altLang="zh-TW" sz="1600" dirty="0"/>
              <a:t>sys_write()</a:t>
            </a:r>
            <a:endParaRPr kumimoji="1" lang="zh-TW" altLang="en-US" sz="1600" dirty="0"/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C848B3E-9E5C-C397-BB14-1CFF7ADDF071}"/>
              </a:ext>
            </a:extLst>
          </p:cNvPr>
          <p:cNvCxnSpPr>
            <a:cxnSpLocks/>
          </p:cNvCxnSpPr>
          <p:nvPr/>
        </p:nvCxnSpPr>
        <p:spPr>
          <a:xfrm>
            <a:off x="11119257" y="2540233"/>
            <a:ext cx="0" cy="101816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5488AB8A-811B-B36A-F4D8-1737E2A7C66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10654354" y="1230235"/>
            <a:ext cx="0" cy="77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89E4CAB5-F01B-783F-5E35-E50DE8891A45}"/>
              </a:ext>
            </a:extLst>
          </p:cNvPr>
          <p:cNvGrpSpPr/>
          <p:nvPr/>
        </p:nvGrpSpPr>
        <p:grpSpPr>
          <a:xfrm>
            <a:off x="9891054" y="5368698"/>
            <a:ext cx="1567121" cy="1066949"/>
            <a:chOff x="9713254" y="5656565"/>
            <a:chExt cx="1567121" cy="1066949"/>
          </a:xfrm>
        </p:grpSpPr>
        <p:sp>
          <p:nvSpPr>
            <p:cNvPr id="14" name="矩形 57">
              <a:extLst>
                <a:ext uri="{FF2B5EF4-FFF2-40B4-BE49-F238E27FC236}">
                  <a16:creationId xmlns:a16="http://schemas.microsoft.com/office/drawing/2014/main" id="{9BFDF623-EB93-99EA-880E-F6B7DA6228B0}"/>
                </a:ext>
              </a:extLst>
            </p:cNvPr>
            <p:cNvSpPr/>
            <p:nvPr/>
          </p:nvSpPr>
          <p:spPr>
            <a:xfrm>
              <a:off x="9713254" y="6183514"/>
              <a:ext cx="1567121" cy="54000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Devices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endPara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(e.g.,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HDD,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SSD)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5" name="直線箭頭接點 14">
              <a:extLst>
                <a:ext uri="{FF2B5EF4-FFF2-40B4-BE49-F238E27FC236}">
                  <a16:creationId xmlns:a16="http://schemas.microsoft.com/office/drawing/2014/main" id="{8C6F8A2B-87FB-7F84-FBD4-044B3671BA2B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10674613" y="5656565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3C20C0B-0014-0E2F-E8E8-25902714CCD3}"/>
              </a:ext>
            </a:extLst>
          </p:cNvPr>
          <p:cNvGrpSpPr/>
          <p:nvPr/>
        </p:nvGrpSpPr>
        <p:grpSpPr>
          <a:xfrm>
            <a:off x="9891054" y="4855739"/>
            <a:ext cx="1567121" cy="800826"/>
            <a:chOff x="9713254" y="5143606"/>
            <a:chExt cx="1567121" cy="800826"/>
          </a:xfrm>
        </p:grpSpPr>
        <p:sp>
          <p:nvSpPr>
            <p:cNvPr id="17" name="矩形 57">
              <a:extLst>
                <a:ext uri="{FF2B5EF4-FFF2-40B4-BE49-F238E27FC236}">
                  <a16:creationId xmlns:a16="http://schemas.microsoft.com/office/drawing/2014/main" id="{7B00B1E7-C520-ADAA-3665-91152A6E9149}"/>
                </a:ext>
              </a:extLst>
            </p:cNvPr>
            <p:cNvSpPr/>
            <p:nvPr/>
          </p:nvSpPr>
          <p:spPr>
            <a:xfrm>
              <a:off x="9713254" y="5404432"/>
              <a:ext cx="1567121" cy="54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Block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Device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8" name="直線箭頭接點 17">
              <a:extLst>
                <a:ext uri="{FF2B5EF4-FFF2-40B4-BE49-F238E27FC236}">
                  <a16:creationId xmlns:a16="http://schemas.microsoft.com/office/drawing/2014/main" id="{D3784790-CF32-98E2-3763-86B85949E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0620" y="5143606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B18F9CB-5BC2-6216-6748-361F363DC130}"/>
              </a:ext>
            </a:extLst>
          </p:cNvPr>
          <p:cNvGrpSpPr/>
          <p:nvPr/>
        </p:nvGrpSpPr>
        <p:grpSpPr>
          <a:xfrm>
            <a:off x="9891054" y="4098399"/>
            <a:ext cx="1567121" cy="779083"/>
            <a:chOff x="9713254" y="4386266"/>
            <a:chExt cx="1567121" cy="779083"/>
          </a:xfrm>
        </p:grpSpPr>
        <p:sp>
          <p:nvSpPr>
            <p:cNvPr id="20" name="矩形 57">
              <a:extLst>
                <a:ext uri="{FF2B5EF4-FFF2-40B4-BE49-F238E27FC236}">
                  <a16:creationId xmlns:a16="http://schemas.microsoft.com/office/drawing/2014/main" id="{1E306548-F77A-8A45-9039-0FB74F8A876F}"/>
                </a:ext>
              </a:extLst>
            </p:cNvPr>
            <p:cNvSpPr/>
            <p:nvPr/>
          </p:nvSpPr>
          <p:spPr>
            <a:xfrm>
              <a:off x="9713254" y="4625349"/>
              <a:ext cx="1567121" cy="54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Block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I/O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Layer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21" name="直線箭頭接點 20">
              <a:extLst>
                <a:ext uri="{FF2B5EF4-FFF2-40B4-BE49-F238E27FC236}">
                  <a16:creationId xmlns:a16="http://schemas.microsoft.com/office/drawing/2014/main" id="{E1B6F31C-45EF-E499-4766-907D0C7FB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0618" y="4386266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8493AC9A-4635-1E77-835E-0935E0121070}"/>
              </a:ext>
            </a:extLst>
          </p:cNvPr>
          <p:cNvCxnSpPr>
            <a:cxnSpLocks/>
          </p:cNvCxnSpPr>
          <p:nvPr/>
        </p:nvCxnSpPr>
        <p:spPr>
          <a:xfrm flipH="1">
            <a:off x="10345673" y="3318167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00A34EF7-288E-B11C-02A3-739A2EFF8D53}"/>
              </a:ext>
            </a:extLst>
          </p:cNvPr>
          <p:cNvCxnSpPr>
            <a:cxnSpLocks/>
          </p:cNvCxnSpPr>
          <p:nvPr/>
        </p:nvCxnSpPr>
        <p:spPr>
          <a:xfrm flipH="1">
            <a:off x="10345671" y="2530765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9DB00E9-F98A-0E60-E10E-08C1F900B5DB}"/>
              </a:ext>
            </a:extLst>
          </p:cNvPr>
          <p:cNvSpPr/>
          <p:nvPr/>
        </p:nvSpPr>
        <p:spPr>
          <a:xfrm>
            <a:off x="9876781" y="5101047"/>
            <a:ext cx="1581393" cy="5492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CCA000A2-F308-8FF9-94F1-ADA4820419C7}"/>
              </a:ext>
            </a:extLst>
          </p:cNvPr>
          <p:cNvCxnSpPr>
            <a:cxnSpLocks/>
          </p:cNvCxnSpPr>
          <p:nvPr/>
        </p:nvCxnSpPr>
        <p:spPr>
          <a:xfrm flipH="1">
            <a:off x="10648418" y="5650340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60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圓角矩形 22">
            <a:extLst>
              <a:ext uri="{FF2B5EF4-FFF2-40B4-BE49-F238E27FC236}">
                <a16:creationId xmlns:a16="http://schemas.microsoft.com/office/drawing/2014/main" id="{A4642703-087F-02C7-F0C6-40C50E8B0CA4}"/>
              </a:ext>
            </a:extLst>
          </p:cNvPr>
          <p:cNvSpPr/>
          <p:nvPr/>
        </p:nvSpPr>
        <p:spPr>
          <a:xfrm>
            <a:off x="4671588" y="4340271"/>
            <a:ext cx="7451002" cy="23064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D0DD843-9185-9A95-EDB5-1D0BF383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 Split View of the Kernel I/O Stacks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DCBE3D-C966-2B0C-1149-017D0B4A5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4419955" cy="5441950"/>
          </a:xfrm>
        </p:spPr>
        <p:txBody>
          <a:bodyPr>
            <a:normAutofit fontScale="92500"/>
          </a:bodyPr>
          <a:lstStyle/>
          <a:p>
            <a:pPr algn="l"/>
            <a:r>
              <a:rPr kumimoji="1" lang="en-US" altLang="zh-TW" dirty="0"/>
              <a:t>Block Devices:  </a:t>
            </a:r>
            <a:r>
              <a:rPr kumimoji="1" lang="en-US" altLang="zh-TW" dirty="0">
                <a:solidFill>
                  <a:srgbClr val="C00000"/>
                </a:solidFill>
              </a:rPr>
              <a:t>Addressable</a:t>
            </a:r>
            <a:r>
              <a:rPr kumimoji="1" lang="en-US" altLang="zh-TW" dirty="0"/>
              <a:t> in device-specified chunks called </a:t>
            </a:r>
            <a:r>
              <a:rPr kumimoji="1" lang="en-US" altLang="zh-TW" dirty="0">
                <a:solidFill>
                  <a:srgbClr val="C00000"/>
                </a:solidFill>
              </a:rPr>
              <a:t>blocks</a:t>
            </a:r>
            <a:r>
              <a:rPr kumimoji="1" lang="en-US" altLang="zh-TW" dirty="0"/>
              <a:t> and generally </a:t>
            </a:r>
            <a:r>
              <a:rPr kumimoji="1" lang="en-US" altLang="zh-TW" dirty="0">
                <a:solidFill>
                  <a:srgbClr val="C00000"/>
                </a:solidFill>
              </a:rPr>
              <a:t>support seeking</a:t>
            </a:r>
            <a:r>
              <a:rPr kumimoji="1" lang="en-US" altLang="zh-TW" dirty="0"/>
              <a:t>, the random access of data.</a:t>
            </a:r>
          </a:p>
          <a:p>
            <a:pPr lvl="1" algn="l"/>
            <a:r>
              <a:rPr lang="en-US" altLang="zh-TW" dirty="0"/>
              <a:t>Mounted as a </a:t>
            </a:r>
            <a:r>
              <a:rPr lang="en-US" altLang="zh-TW" dirty="0">
                <a:solidFill>
                  <a:srgbClr val="C00000"/>
                </a:solidFill>
              </a:rPr>
              <a:t>file system</a:t>
            </a:r>
          </a:p>
          <a:p>
            <a:pPr lvl="1" algn="l"/>
            <a:r>
              <a:rPr kumimoji="1" lang="en-US" altLang="zh-TW" dirty="0"/>
              <a:t>Suited for handling data blocks with a </a:t>
            </a:r>
            <a:r>
              <a:rPr kumimoji="1" lang="en-US" altLang="zh-TW" dirty="0">
                <a:solidFill>
                  <a:srgbClr val="C00000"/>
                </a:solidFill>
              </a:rPr>
              <a:t>fixed number of bytes.</a:t>
            </a:r>
            <a:endParaRPr kumimoji="1" lang="en-US" altLang="zh-TW" b="1" dirty="0">
              <a:solidFill>
                <a:srgbClr val="C00000"/>
              </a:solidFill>
            </a:endParaRPr>
          </a:p>
          <a:p>
            <a:pPr algn="l"/>
            <a:r>
              <a:rPr lang="en-US" altLang="zh-TW" dirty="0"/>
              <a:t>Character Device: Providing access to data </a:t>
            </a:r>
            <a:r>
              <a:rPr lang="en-US" altLang="zh-TW" dirty="0">
                <a:solidFill>
                  <a:srgbClr val="C00000"/>
                </a:solidFill>
              </a:rPr>
              <a:t>only as a stream</a:t>
            </a:r>
            <a:r>
              <a:rPr lang="en-US" altLang="zh-TW" dirty="0"/>
              <a:t>, generally of characters (bytes) </a:t>
            </a:r>
          </a:p>
          <a:p>
            <a:pPr lvl="1" algn="l"/>
            <a:r>
              <a:rPr kumimoji="1" lang="en-US" altLang="zh-TW" dirty="0"/>
              <a:t>Suited when the volumes of </a:t>
            </a:r>
            <a:r>
              <a:rPr kumimoji="1" lang="en-US" altLang="zh-TW" dirty="0">
                <a:solidFill>
                  <a:srgbClr val="C00000"/>
                </a:solidFill>
              </a:rPr>
              <a:t>data transferred are low</a:t>
            </a:r>
            <a:r>
              <a:rPr kumimoji="1" lang="en-US" altLang="zh-TW" dirty="0"/>
              <a:t>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E170A8-7FD7-83B8-CA13-BBBC50241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11" name="矩形 56">
            <a:extLst>
              <a:ext uri="{FF2B5EF4-FFF2-40B4-BE49-F238E27FC236}">
                <a16:creationId xmlns:a16="http://schemas.microsoft.com/office/drawing/2014/main" id="{28FCFC85-0677-C2B0-2716-CD73BB096242}"/>
              </a:ext>
            </a:extLst>
          </p:cNvPr>
          <p:cNvSpPr/>
          <p:nvPr/>
        </p:nvSpPr>
        <p:spPr>
          <a:xfrm>
            <a:off x="4879172" y="5623885"/>
            <a:ext cx="1260000" cy="67741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Keyboard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2" name="矩形 56">
            <a:extLst>
              <a:ext uri="{FF2B5EF4-FFF2-40B4-BE49-F238E27FC236}">
                <a16:creationId xmlns:a16="http://schemas.microsoft.com/office/drawing/2014/main" id="{D313172A-ABDB-49EF-F583-585DCC90A72D}"/>
              </a:ext>
            </a:extLst>
          </p:cNvPr>
          <p:cNvSpPr/>
          <p:nvPr/>
        </p:nvSpPr>
        <p:spPr>
          <a:xfrm>
            <a:off x="6330732" y="5623885"/>
            <a:ext cx="1260000" cy="67741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Mouse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" name="矩形 56">
            <a:extLst>
              <a:ext uri="{FF2B5EF4-FFF2-40B4-BE49-F238E27FC236}">
                <a16:creationId xmlns:a16="http://schemas.microsoft.com/office/drawing/2014/main" id="{159AEA63-408D-47C3-CFA9-9C9ADD9DC17F}"/>
              </a:ext>
            </a:extLst>
          </p:cNvPr>
          <p:cNvSpPr/>
          <p:nvPr/>
        </p:nvSpPr>
        <p:spPr>
          <a:xfrm>
            <a:off x="7764807" y="5623885"/>
            <a:ext cx="1260000" cy="67741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SAS Devices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" name="矩形 57">
            <a:extLst>
              <a:ext uri="{FF2B5EF4-FFF2-40B4-BE49-F238E27FC236}">
                <a16:creationId xmlns:a16="http://schemas.microsoft.com/office/drawing/2014/main" id="{3B500CFD-5A7D-A5DB-E15C-436681A82C18}"/>
              </a:ext>
            </a:extLst>
          </p:cNvPr>
          <p:cNvSpPr/>
          <p:nvPr/>
        </p:nvSpPr>
        <p:spPr>
          <a:xfrm>
            <a:off x="4815665" y="1317921"/>
            <a:ext cx="7198535" cy="5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Applications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8" name="矩形 56">
            <a:extLst>
              <a:ext uri="{FF2B5EF4-FFF2-40B4-BE49-F238E27FC236}">
                <a16:creationId xmlns:a16="http://schemas.microsoft.com/office/drawing/2014/main" id="{145F5925-2C92-3BCB-D48F-7FBD959681BE}"/>
              </a:ext>
            </a:extLst>
          </p:cNvPr>
          <p:cNvSpPr/>
          <p:nvPr/>
        </p:nvSpPr>
        <p:spPr>
          <a:xfrm>
            <a:off x="9216370" y="5623885"/>
            <a:ext cx="1260000" cy="67741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USB Devices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" name="矩形 56">
            <a:extLst>
              <a:ext uri="{FF2B5EF4-FFF2-40B4-BE49-F238E27FC236}">
                <a16:creationId xmlns:a16="http://schemas.microsoft.com/office/drawing/2014/main" id="{1C606EDB-2ED8-5E7C-62CF-1BD326B6AB19}"/>
              </a:ext>
            </a:extLst>
          </p:cNvPr>
          <p:cNvSpPr/>
          <p:nvPr/>
        </p:nvSpPr>
        <p:spPr>
          <a:xfrm>
            <a:off x="10650445" y="5625485"/>
            <a:ext cx="1260000" cy="675816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PCIe Bus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61C1A90-9040-EF4B-711D-45263325E844}"/>
              </a:ext>
            </a:extLst>
          </p:cNvPr>
          <p:cNvGrpSpPr/>
          <p:nvPr/>
        </p:nvGrpSpPr>
        <p:grpSpPr>
          <a:xfrm>
            <a:off x="4801764" y="3556841"/>
            <a:ext cx="7198535" cy="675476"/>
            <a:chOff x="4801764" y="3556841"/>
            <a:chExt cx="7198535" cy="675476"/>
          </a:xfrm>
        </p:grpSpPr>
        <p:sp>
          <p:nvSpPr>
            <p:cNvPr id="8" name="矩形 56">
              <a:extLst>
                <a:ext uri="{FF2B5EF4-FFF2-40B4-BE49-F238E27FC236}">
                  <a16:creationId xmlns:a16="http://schemas.microsoft.com/office/drawing/2014/main" id="{8473C555-F6C8-42BC-8B34-FF25CC9448AE}"/>
                </a:ext>
              </a:extLst>
            </p:cNvPr>
            <p:cNvSpPr/>
            <p:nvPr/>
          </p:nvSpPr>
          <p:spPr>
            <a:xfrm>
              <a:off x="4801764" y="3556841"/>
              <a:ext cx="1439708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Keyboard Device 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56">
              <a:extLst>
                <a:ext uri="{FF2B5EF4-FFF2-40B4-BE49-F238E27FC236}">
                  <a16:creationId xmlns:a16="http://schemas.microsoft.com/office/drawing/2014/main" id="{92770B5B-A64B-4351-B7D7-2CDF837A05EA}"/>
                </a:ext>
              </a:extLst>
            </p:cNvPr>
            <p:cNvSpPr/>
            <p:nvPr/>
          </p:nvSpPr>
          <p:spPr>
            <a:xfrm>
              <a:off x="6241471" y="3556841"/>
              <a:ext cx="1439708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Mouse Device 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矩形 56">
              <a:extLst>
                <a:ext uri="{FF2B5EF4-FFF2-40B4-BE49-F238E27FC236}">
                  <a16:creationId xmlns:a16="http://schemas.microsoft.com/office/drawing/2014/main" id="{25AA76EE-F464-140A-3523-887D01DDCDE5}"/>
                </a:ext>
              </a:extLst>
            </p:cNvPr>
            <p:cNvSpPr/>
            <p:nvPr/>
          </p:nvSpPr>
          <p:spPr>
            <a:xfrm>
              <a:off x="7681178" y="3556841"/>
              <a:ext cx="1439708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SAS Device 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矩形 56">
              <a:extLst>
                <a:ext uri="{FF2B5EF4-FFF2-40B4-BE49-F238E27FC236}">
                  <a16:creationId xmlns:a16="http://schemas.microsoft.com/office/drawing/2014/main" id="{87E0C5EF-4049-B3DA-46E4-DD531E54E432}"/>
                </a:ext>
              </a:extLst>
            </p:cNvPr>
            <p:cNvSpPr/>
            <p:nvPr/>
          </p:nvSpPr>
          <p:spPr>
            <a:xfrm>
              <a:off x="9120885" y="3556841"/>
              <a:ext cx="1439708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USB Device 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矩形 56">
              <a:extLst>
                <a:ext uri="{FF2B5EF4-FFF2-40B4-BE49-F238E27FC236}">
                  <a16:creationId xmlns:a16="http://schemas.microsoft.com/office/drawing/2014/main" id="{121C2390-A49E-DC19-A220-E399551EC4AD}"/>
                </a:ext>
              </a:extLst>
            </p:cNvPr>
            <p:cNvSpPr/>
            <p:nvPr/>
          </p:nvSpPr>
          <p:spPr>
            <a:xfrm>
              <a:off x="10560591" y="3556841"/>
              <a:ext cx="1439708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PCIe Bus Device 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8A6F553-C42A-FE77-1BC9-8ECE17BD2C14}"/>
              </a:ext>
            </a:extLst>
          </p:cNvPr>
          <p:cNvSpPr txBox="1"/>
          <p:nvPr/>
        </p:nvSpPr>
        <p:spPr>
          <a:xfrm>
            <a:off x="8010088" y="6277395"/>
            <a:ext cx="110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Hardware</a:t>
            </a:r>
            <a:endParaRPr kumimoji="1" lang="zh-TW" altLang="en-US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A4807161-8323-668A-4AAA-5E2DB14F7A0B}"/>
              </a:ext>
            </a:extLst>
          </p:cNvPr>
          <p:cNvGrpSpPr/>
          <p:nvPr/>
        </p:nvGrpSpPr>
        <p:grpSpPr>
          <a:xfrm>
            <a:off x="4801764" y="1848296"/>
            <a:ext cx="7198536" cy="1712813"/>
            <a:chOff x="4801764" y="1848296"/>
            <a:chExt cx="7198536" cy="1712813"/>
          </a:xfrm>
        </p:grpSpPr>
        <p:sp>
          <p:nvSpPr>
            <p:cNvPr id="5" name="矩形 56">
              <a:extLst>
                <a:ext uri="{FF2B5EF4-FFF2-40B4-BE49-F238E27FC236}">
                  <a16:creationId xmlns:a16="http://schemas.microsoft.com/office/drawing/2014/main" id="{7F471C4A-27D7-3D0F-C4A1-01EB14914D2E}"/>
                </a:ext>
              </a:extLst>
            </p:cNvPr>
            <p:cNvSpPr/>
            <p:nvPr/>
          </p:nvSpPr>
          <p:spPr>
            <a:xfrm>
              <a:off x="4801766" y="2214425"/>
              <a:ext cx="7198534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矩形 56">
              <a:extLst>
                <a:ext uri="{FF2B5EF4-FFF2-40B4-BE49-F238E27FC236}">
                  <a16:creationId xmlns:a16="http://schemas.microsoft.com/office/drawing/2014/main" id="{2D169423-0F6C-F657-D825-283D56D49A5F}"/>
                </a:ext>
              </a:extLst>
            </p:cNvPr>
            <p:cNvSpPr/>
            <p:nvPr/>
          </p:nvSpPr>
          <p:spPr>
            <a:xfrm>
              <a:off x="4801764" y="2885633"/>
              <a:ext cx="7198535" cy="6754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 I/O Subsystem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84614CC8-15E2-37FA-661A-C8FA68D8E2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4932" y="1848296"/>
              <a:ext cx="1" cy="3744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53CDEC2-7EC8-E37A-25F3-B4FC3FA6A4AC}"/>
              </a:ext>
            </a:extLst>
          </p:cNvPr>
          <p:cNvGrpSpPr/>
          <p:nvPr/>
        </p:nvGrpSpPr>
        <p:grpSpPr>
          <a:xfrm>
            <a:off x="4789318" y="4504396"/>
            <a:ext cx="7195473" cy="1119489"/>
            <a:chOff x="4789318" y="4504396"/>
            <a:chExt cx="7195473" cy="1119489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2782A936-ECB2-FFF0-271C-38E2E32BACE7}"/>
                </a:ext>
              </a:extLst>
            </p:cNvPr>
            <p:cNvGrpSpPr/>
            <p:nvPr/>
          </p:nvGrpSpPr>
          <p:grpSpPr>
            <a:xfrm>
              <a:off x="4789318" y="4504396"/>
              <a:ext cx="1439708" cy="1119489"/>
              <a:chOff x="4789318" y="4504396"/>
              <a:chExt cx="1439708" cy="1119489"/>
            </a:xfrm>
          </p:grpSpPr>
          <p:sp>
            <p:nvSpPr>
              <p:cNvPr id="7" name="矩形 57">
                <a:extLst>
                  <a:ext uri="{FF2B5EF4-FFF2-40B4-BE49-F238E27FC236}">
                    <a16:creationId xmlns:a16="http://schemas.microsoft.com/office/drawing/2014/main" id="{E4CB8100-D428-6377-9031-BAAAD791CC54}"/>
                  </a:ext>
                </a:extLst>
              </p:cNvPr>
              <p:cNvSpPr/>
              <p:nvPr/>
            </p:nvSpPr>
            <p:spPr>
              <a:xfrm>
                <a:off x="4789318" y="4504396"/>
                <a:ext cx="1439708" cy="8502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Keyboard Device Controller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49" name="直線箭頭接點 48">
                <a:extLst>
                  <a:ext uri="{FF2B5EF4-FFF2-40B4-BE49-F238E27FC236}">
                    <a16:creationId xmlns:a16="http://schemas.microsoft.com/office/drawing/2014/main" id="{D259EFAC-461F-B0A6-4498-B31ECF017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9172" y="5340356"/>
                <a:ext cx="0" cy="28352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A4D4F9B3-2B50-BAEA-3ADB-DC94DD6A7D63}"/>
                </a:ext>
              </a:extLst>
            </p:cNvPr>
            <p:cNvGrpSpPr/>
            <p:nvPr/>
          </p:nvGrpSpPr>
          <p:grpSpPr>
            <a:xfrm>
              <a:off x="6232089" y="4504396"/>
              <a:ext cx="1439708" cy="1119489"/>
              <a:chOff x="6232089" y="4504396"/>
              <a:chExt cx="1439708" cy="1119489"/>
            </a:xfrm>
          </p:grpSpPr>
          <p:sp>
            <p:nvSpPr>
              <p:cNvPr id="16" name="矩形 57">
                <a:extLst>
                  <a:ext uri="{FF2B5EF4-FFF2-40B4-BE49-F238E27FC236}">
                    <a16:creationId xmlns:a16="http://schemas.microsoft.com/office/drawing/2014/main" id="{B822EB8E-2CEC-6B8E-EEFD-028CD13F2AFA}"/>
                  </a:ext>
                </a:extLst>
              </p:cNvPr>
              <p:cNvSpPr/>
              <p:nvPr/>
            </p:nvSpPr>
            <p:spPr>
              <a:xfrm>
                <a:off x="6232089" y="4504396"/>
                <a:ext cx="1439708" cy="8502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Mouse 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Device Controller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51" name="直線箭頭接點 50">
                <a:extLst>
                  <a:ext uri="{FF2B5EF4-FFF2-40B4-BE49-F238E27FC236}">
                    <a16:creationId xmlns:a16="http://schemas.microsoft.com/office/drawing/2014/main" id="{DB19501C-661E-EAAE-5262-38E314CB9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1991" y="5340356"/>
                <a:ext cx="0" cy="28352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47CCB6AB-7042-0326-94CA-60B0DF05FF66}"/>
                </a:ext>
              </a:extLst>
            </p:cNvPr>
            <p:cNvGrpSpPr/>
            <p:nvPr/>
          </p:nvGrpSpPr>
          <p:grpSpPr>
            <a:xfrm>
              <a:off x="7668732" y="4504396"/>
              <a:ext cx="1439708" cy="1119489"/>
              <a:chOff x="7668732" y="4504396"/>
              <a:chExt cx="1439708" cy="1119489"/>
            </a:xfrm>
          </p:grpSpPr>
          <p:sp>
            <p:nvSpPr>
              <p:cNvPr id="17" name="矩形 57">
                <a:extLst>
                  <a:ext uri="{FF2B5EF4-FFF2-40B4-BE49-F238E27FC236}">
                    <a16:creationId xmlns:a16="http://schemas.microsoft.com/office/drawing/2014/main" id="{EB4E290B-3DA3-29C1-C047-9EB2F1F25B4A}"/>
                  </a:ext>
                </a:extLst>
              </p:cNvPr>
              <p:cNvSpPr/>
              <p:nvPr/>
            </p:nvSpPr>
            <p:spPr>
              <a:xfrm>
                <a:off x="7668732" y="4504396"/>
                <a:ext cx="1439708" cy="8502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SAS 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Device Controller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52" name="直線箭頭接點 51">
                <a:extLst>
                  <a:ext uri="{FF2B5EF4-FFF2-40B4-BE49-F238E27FC236}">
                    <a16:creationId xmlns:a16="http://schemas.microsoft.com/office/drawing/2014/main" id="{A190ACE9-842D-211B-6A09-21190B348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5050" y="5340356"/>
                <a:ext cx="0" cy="28352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AC92F8E4-F84D-F792-BCD7-C0750C478DFB}"/>
                </a:ext>
              </a:extLst>
            </p:cNvPr>
            <p:cNvGrpSpPr/>
            <p:nvPr/>
          </p:nvGrpSpPr>
          <p:grpSpPr>
            <a:xfrm>
              <a:off x="9108440" y="4504396"/>
              <a:ext cx="1439708" cy="1119489"/>
              <a:chOff x="9108440" y="4504396"/>
              <a:chExt cx="1439708" cy="1119489"/>
            </a:xfrm>
          </p:grpSpPr>
          <p:sp>
            <p:nvSpPr>
              <p:cNvPr id="18" name="矩形 57">
                <a:extLst>
                  <a:ext uri="{FF2B5EF4-FFF2-40B4-BE49-F238E27FC236}">
                    <a16:creationId xmlns:a16="http://schemas.microsoft.com/office/drawing/2014/main" id="{7A79B813-F62E-F466-1D76-DAD5FBB0EB4D}"/>
                  </a:ext>
                </a:extLst>
              </p:cNvPr>
              <p:cNvSpPr/>
              <p:nvPr/>
            </p:nvSpPr>
            <p:spPr>
              <a:xfrm>
                <a:off x="9108440" y="4504396"/>
                <a:ext cx="1439708" cy="8502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USB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Device Controller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53" name="直線箭頭接點 52">
                <a:extLst>
                  <a:ext uri="{FF2B5EF4-FFF2-40B4-BE49-F238E27FC236}">
                    <a16:creationId xmlns:a16="http://schemas.microsoft.com/office/drawing/2014/main" id="{1CD87577-A464-7368-687C-12A827608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85078" y="5340356"/>
                <a:ext cx="0" cy="28352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B4B1FAA-5D34-91DF-7347-C38B612A4C95}"/>
                </a:ext>
              </a:extLst>
            </p:cNvPr>
            <p:cNvGrpSpPr/>
            <p:nvPr/>
          </p:nvGrpSpPr>
          <p:grpSpPr>
            <a:xfrm>
              <a:off x="10545083" y="4504396"/>
              <a:ext cx="1439708" cy="1119489"/>
              <a:chOff x="10545083" y="4504396"/>
              <a:chExt cx="1439708" cy="1119489"/>
            </a:xfrm>
          </p:grpSpPr>
          <p:sp>
            <p:nvSpPr>
              <p:cNvPr id="19" name="矩形 57">
                <a:extLst>
                  <a:ext uri="{FF2B5EF4-FFF2-40B4-BE49-F238E27FC236}">
                    <a16:creationId xmlns:a16="http://schemas.microsoft.com/office/drawing/2014/main" id="{AE59D398-B24E-5229-5772-B2BD66A214E4}"/>
                  </a:ext>
                </a:extLst>
              </p:cNvPr>
              <p:cNvSpPr/>
              <p:nvPr/>
            </p:nvSpPr>
            <p:spPr>
              <a:xfrm>
                <a:off x="10545083" y="4504396"/>
                <a:ext cx="1439708" cy="85029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PCIe Bus</a:t>
                </a:r>
              </a:p>
              <a:p>
                <a:pPr algn="ctr"/>
                <a:r>
                  <a:rPr kumimoji="1" lang="en-US" altLang="zh-TW" sz="16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 Device Controller</a:t>
                </a:r>
                <a:endPara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endParaRPr>
              </a:p>
            </p:txBody>
          </p:sp>
          <p:cxnSp>
            <p:nvCxnSpPr>
              <p:cNvPr id="54" name="直線箭頭接點 53">
                <a:extLst>
                  <a:ext uri="{FF2B5EF4-FFF2-40B4-BE49-F238E27FC236}">
                    <a16:creationId xmlns:a16="http://schemas.microsoft.com/office/drawing/2014/main" id="{738ABF85-D131-CF10-25A8-56864D325B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03098" y="5340356"/>
                <a:ext cx="0" cy="28352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8A77592-B1E9-4FE4-41CE-27480817A187}"/>
              </a:ext>
            </a:extLst>
          </p:cNvPr>
          <p:cNvSpPr txBox="1"/>
          <p:nvPr/>
        </p:nvSpPr>
        <p:spPr>
          <a:xfrm>
            <a:off x="8001196" y="59884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(Block)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6E1F64B-D201-5933-7F30-D61E8288B954}"/>
              </a:ext>
            </a:extLst>
          </p:cNvPr>
          <p:cNvSpPr txBox="1"/>
          <p:nvPr/>
        </p:nvSpPr>
        <p:spPr>
          <a:xfrm>
            <a:off x="9452756" y="598842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C00000"/>
                </a:solidFill>
              </a:rPr>
              <a:t>(Block)</a:t>
            </a:r>
            <a:endParaRPr kumimoji="1" lang="zh-TW" altLang="en-US" dirty="0">
              <a:solidFill>
                <a:srgbClr val="C00000"/>
              </a:solidFill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973DDABA-728E-9416-B289-29879D7EB21E}"/>
              </a:ext>
            </a:extLst>
          </p:cNvPr>
          <p:cNvGrpSpPr/>
          <p:nvPr/>
        </p:nvGrpSpPr>
        <p:grpSpPr>
          <a:xfrm>
            <a:off x="4903916" y="5988427"/>
            <a:ext cx="7044955" cy="369332"/>
            <a:chOff x="4903916" y="5988427"/>
            <a:chExt cx="7044955" cy="369332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0AA6732A-D8EA-E5E0-5CF6-8A8BD7BA43B3}"/>
                </a:ext>
              </a:extLst>
            </p:cNvPr>
            <p:cNvSpPr txBox="1"/>
            <p:nvPr/>
          </p:nvSpPr>
          <p:spPr>
            <a:xfrm>
              <a:off x="4903916" y="5988427"/>
              <a:ext cx="123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(Character)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DC6EFD8-9765-FED4-AA52-5A3AF5E8A6AD}"/>
                </a:ext>
              </a:extLst>
            </p:cNvPr>
            <p:cNvSpPr txBox="1"/>
            <p:nvPr/>
          </p:nvSpPr>
          <p:spPr>
            <a:xfrm>
              <a:off x="6343030" y="5988427"/>
              <a:ext cx="123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(Character)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30E222A4-7EF2-4557-0B29-BB0E3A0F0F9A}"/>
                </a:ext>
              </a:extLst>
            </p:cNvPr>
            <p:cNvSpPr txBox="1"/>
            <p:nvPr/>
          </p:nvSpPr>
          <p:spPr>
            <a:xfrm>
              <a:off x="10713468" y="5988427"/>
              <a:ext cx="123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(Character)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95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8" grpId="0" animBg="1"/>
      <p:bldP spid="29" grpId="0" animBg="1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43B23413-1FAB-98B0-015E-00030CA2A08B}"/>
              </a:ext>
            </a:extLst>
          </p:cNvPr>
          <p:cNvGrpSpPr/>
          <p:nvPr/>
        </p:nvGrpSpPr>
        <p:grpSpPr>
          <a:xfrm>
            <a:off x="597415" y="3633233"/>
            <a:ext cx="5559447" cy="3005916"/>
            <a:chOff x="597415" y="3633233"/>
            <a:chExt cx="5559447" cy="3005916"/>
          </a:xfrm>
        </p:grpSpPr>
        <p:pic>
          <p:nvPicPr>
            <p:cNvPr id="9" name="圖片 8" descr="一張含有 圖表 的圖片&#10;&#10;自動產生的描述">
              <a:extLst>
                <a:ext uri="{FF2B5EF4-FFF2-40B4-BE49-F238E27FC236}">
                  <a16:creationId xmlns:a16="http://schemas.microsoft.com/office/drawing/2014/main" id="{AA3C00DC-A2A3-10EA-60E4-077E4524E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7955" y="3633233"/>
              <a:ext cx="4638907" cy="2964866"/>
            </a:xfrm>
            <a:prstGeom prst="rect">
              <a:avLst/>
            </a:prstGeom>
          </p:spPr>
        </p:pic>
        <p:pic>
          <p:nvPicPr>
            <p:cNvPr id="18" name="圖片 17" descr="一張含有 電子產品, 電路 的圖片&#10;&#10;自動產生的描述">
              <a:extLst>
                <a:ext uri="{FF2B5EF4-FFF2-40B4-BE49-F238E27FC236}">
                  <a16:creationId xmlns:a16="http://schemas.microsoft.com/office/drawing/2014/main" id="{A71EE431-E2EA-86EC-5B86-F62312E0C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415" y="5692438"/>
              <a:ext cx="1859331" cy="946711"/>
            </a:xfrm>
            <a:prstGeom prst="rect">
              <a:avLst/>
            </a:prstGeom>
          </p:spPr>
        </p:pic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0F07248-3EDB-416B-A592-3F900AB4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More About Device Driver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8EDD71-944A-DC2A-81DB-A813B4A4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70% of Linux kernel code is device driver</a:t>
            </a:r>
          </a:p>
          <a:p>
            <a:r>
              <a:rPr kumimoji="1" lang="en-US" altLang="zh-TW" dirty="0"/>
              <a:t>Compositions of </a:t>
            </a:r>
            <a:r>
              <a:rPr lang="en-US" altLang="zh-TW" dirty="0"/>
              <a:t>device driver (Linux 2.6):</a:t>
            </a:r>
          </a:p>
          <a:p>
            <a:pPr lvl="1"/>
            <a:r>
              <a:rPr lang="en-US" altLang="zh-TW" dirty="0"/>
              <a:t>52%  Char device drivers</a:t>
            </a:r>
          </a:p>
          <a:p>
            <a:pPr lvl="1"/>
            <a:r>
              <a:rPr kumimoji="1" lang="en-US" altLang="zh-TW" dirty="0"/>
              <a:t>16% Block device drivers</a:t>
            </a:r>
          </a:p>
          <a:p>
            <a:pPr lvl="1"/>
            <a:r>
              <a:rPr lang="en-US" altLang="zh-TW" dirty="0"/>
              <a:t>27% Network device drivers</a:t>
            </a:r>
          </a:p>
          <a:p>
            <a:r>
              <a:rPr kumimoji="1" lang="en-US" altLang="zh-TW" dirty="0"/>
              <a:t>An example of network device driver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E62BAE-CE46-6286-4EB9-603B480B6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094287-2B41-21F7-B8F0-D09D9DA5C433}"/>
              </a:ext>
            </a:extLst>
          </p:cNvPr>
          <p:cNvSpPr txBox="1"/>
          <p:nvPr/>
        </p:nvSpPr>
        <p:spPr>
          <a:xfrm>
            <a:off x="0" y="6598099"/>
            <a:ext cx="1201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[1] L.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Ryzhyk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, P. Chubb, I.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Kuz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, and G.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Heiser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. Dingo: Taming device drivers. In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Eurosys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, 2009.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279059D-CFA0-C273-5404-A5071DCE2B11}"/>
              </a:ext>
            </a:extLst>
          </p:cNvPr>
          <p:cNvGrpSpPr/>
          <p:nvPr/>
        </p:nvGrpSpPr>
        <p:grpSpPr>
          <a:xfrm>
            <a:off x="6592402" y="1704201"/>
            <a:ext cx="5256726" cy="4699000"/>
            <a:chOff x="6570970" y="1704201"/>
            <a:chExt cx="5256726" cy="4699000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54B523F-EF5D-EDF4-F463-DF48518B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0970" y="1704201"/>
              <a:ext cx="5256726" cy="4699000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560E63-1279-9EA2-F00C-9BA4F2ED4631}"/>
                </a:ext>
              </a:extLst>
            </p:cNvPr>
            <p:cNvSpPr/>
            <p:nvPr/>
          </p:nvSpPr>
          <p:spPr>
            <a:xfrm>
              <a:off x="8900161" y="3139301"/>
              <a:ext cx="642424" cy="157228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F6E3974-E813-1494-6C42-A57DA7B5A609}"/>
                </a:ext>
              </a:extLst>
            </p:cNvPr>
            <p:cNvSpPr/>
            <p:nvPr/>
          </p:nvSpPr>
          <p:spPr>
            <a:xfrm>
              <a:off x="8523429" y="4229547"/>
              <a:ext cx="642424" cy="157228"/>
            </a:xfrm>
            <a:prstGeom prst="rect">
              <a:avLst/>
            </a:prstGeom>
            <a:noFill/>
            <a:ln w="317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77F8EEE-0395-9274-3A6F-620C5DA7DF8D}"/>
                </a:ext>
              </a:extLst>
            </p:cNvPr>
            <p:cNvSpPr/>
            <p:nvPr/>
          </p:nvSpPr>
          <p:spPr>
            <a:xfrm>
              <a:off x="9426106" y="4296437"/>
              <a:ext cx="642424" cy="157228"/>
            </a:xfrm>
            <a:prstGeom prst="rect">
              <a:avLst/>
            </a:prstGeom>
            <a:noFill/>
            <a:ln w="317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4E36FDD-0A6E-1E70-ADC6-02581FC151D6}"/>
              </a:ext>
            </a:extLst>
          </p:cNvPr>
          <p:cNvSpPr txBox="1"/>
          <p:nvPr/>
        </p:nvSpPr>
        <p:spPr>
          <a:xfrm>
            <a:off x="457713" y="5304829"/>
            <a:ext cx="2072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i="1" dirty="0">
                <a:solidFill>
                  <a:srgbClr val="C00000"/>
                </a:solidFill>
              </a:rPr>
              <a:t>Pack/Unpack USB packets</a:t>
            </a:r>
            <a:endParaRPr kumimoji="1" lang="zh-TW" altLang="en-US" sz="1400" i="1" dirty="0">
              <a:solidFill>
                <a:srgbClr val="C0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6B9BC49-FD48-6CB0-B342-A459E4226F9D}"/>
              </a:ext>
            </a:extLst>
          </p:cNvPr>
          <p:cNvSpPr txBox="1"/>
          <p:nvPr/>
        </p:nvSpPr>
        <p:spPr>
          <a:xfrm>
            <a:off x="469511" y="4543597"/>
            <a:ext cx="1980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i="1" dirty="0">
                <a:solidFill>
                  <a:srgbClr val="C00000"/>
                </a:solidFill>
              </a:rPr>
              <a:t>Export network interface</a:t>
            </a:r>
            <a:endParaRPr kumimoji="1" lang="zh-TW" altLang="en-US" sz="1400" i="1" dirty="0">
              <a:solidFill>
                <a:srgbClr val="C0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77EBEF-9135-91EE-EB3E-DE97B9BA1F9C}"/>
              </a:ext>
            </a:extLst>
          </p:cNvPr>
          <p:cNvSpPr txBox="1"/>
          <p:nvPr/>
        </p:nvSpPr>
        <p:spPr>
          <a:xfrm>
            <a:off x="790368" y="3844834"/>
            <a:ext cx="1659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i="1" dirty="0">
                <a:solidFill>
                  <a:srgbClr val="C00000"/>
                </a:solidFill>
              </a:rPr>
              <a:t>Linux Network Stack</a:t>
            </a:r>
            <a:endParaRPr kumimoji="1" lang="zh-TW" altLang="en-US" sz="14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4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0DD843-9185-9A95-EDB5-1D0BF383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Role of the Device Driver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DCBE3D-C966-2B0C-1149-017D0B4A5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Device Driver: A </a:t>
            </a:r>
            <a:r>
              <a:rPr kumimoji="1" lang="en-US" altLang="zh-TW" dirty="0">
                <a:solidFill>
                  <a:srgbClr val="C00000"/>
                </a:solidFill>
              </a:rPr>
              <a:t>computer program </a:t>
            </a:r>
            <a:r>
              <a:rPr kumimoji="1" lang="en-US" altLang="zh-TW" dirty="0"/>
              <a:t>that operates or </a:t>
            </a:r>
            <a:r>
              <a:rPr kumimoji="1" lang="en-US" altLang="zh-TW" dirty="0">
                <a:solidFill>
                  <a:srgbClr val="C00000"/>
                </a:solidFill>
              </a:rPr>
              <a:t>controls a particular type of device</a:t>
            </a:r>
            <a:r>
              <a:rPr kumimoji="1" lang="en-US" altLang="zh-TW" dirty="0"/>
              <a:t> that is attached to a computer. (Hide the details of how device works)</a:t>
            </a:r>
          </a:p>
          <a:p>
            <a:r>
              <a:rPr kumimoji="1" lang="en-US" altLang="zh-TW" dirty="0"/>
              <a:t>Device (Special) File: Used to </a:t>
            </a:r>
            <a:r>
              <a:rPr kumimoji="1" lang="en-US" altLang="zh-TW" dirty="0">
                <a:solidFill>
                  <a:srgbClr val="C00000"/>
                </a:solidFill>
              </a:rPr>
              <a:t>interact with drivers</a:t>
            </a:r>
            <a:r>
              <a:rPr kumimoji="1" lang="en-US" altLang="zh-TW" dirty="0"/>
              <a:t> for accessing expansion devices. Easier for users to identify corresponding devices.</a:t>
            </a:r>
          </a:p>
          <a:p>
            <a:r>
              <a:rPr lang="en-US" altLang="zh-TW" b="0" i="0" dirty="0">
                <a:solidFill>
                  <a:schemeClr val="tx1"/>
                </a:solidFill>
                <a:effectLst/>
                <a:latin typeface="+mn-lt"/>
              </a:rPr>
              <a:t>Kernel modules (e.g., device drivers) are a piece of code, that can be loaded and unloaded from kernel on demand.</a:t>
            </a:r>
            <a:endParaRPr kumimoji="1" lang="zh-TW" alt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E170A8-7FD7-83B8-CA13-BBBC50241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034D6E-6649-5F22-0154-614657778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534" y="3959225"/>
            <a:ext cx="3811070" cy="250482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AB5E733-4968-0C65-4D0E-1A5937A3CE4C}"/>
              </a:ext>
            </a:extLst>
          </p:cNvPr>
          <p:cNvSpPr txBox="1"/>
          <p:nvPr/>
        </p:nvSpPr>
        <p:spPr>
          <a:xfrm>
            <a:off x="-67441" y="6581001"/>
            <a:ext cx="5671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 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Mauerer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, Wolfgang. Professional Linux kernel architecture. John Wiley &amp; Sons, 2010</a:t>
            </a:r>
          </a:p>
        </p:txBody>
      </p:sp>
    </p:spTree>
    <p:extLst>
      <p:ext uri="{BB962C8B-B14F-4D97-AF65-F5344CB8AC3E}">
        <p14:creationId xmlns:p14="http://schemas.microsoft.com/office/powerpoint/2010/main" val="81638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61918DD5-6C68-48B4-35C8-6F10D305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031" y="1418589"/>
            <a:ext cx="5500030" cy="477012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D0DD843-9185-9A95-EDB5-1D0BF383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to Build a Device Driver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DCBE3D-C966-2B0C-1149-017D0B4A5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238250"/>
            <a:ext cx="5918200" cy="5441950"/>
          </a:xfrm>
        </p:spPr>
        <p:txBody>
          <a:bodyPr/>
          <a:lstStyle/>
          <a:p>
            <a:pPr algn="l"/>
            <a:r>
              <a:rPr lang="en-US" altLang="zh-TW" dirty="0" err="1"/>
              <a:t>Module_init</a:t>
            </a:r>
            <a:r>
              <a:rPr lang="en-US" altLang="zh-TW" dirty="0"/>
              <a:t>: Kernel runs a function when </a:t>
            </a:r>
            <a:r>
              <a:rPr lang="en-US" altLang="zh-TW" dirty="0">
                <a:solidFill>
                  <a:srgbClr val="C00000"/>
                </a:solidFill>
              </a:rPr>
              <a:t>the module is loaded</a:t>
            </a:r>
            <a:r>
              <a:rPr lang="en-US" altLang="zh-TW" dirty="0"/>
              <a:t>.</a:t>
            </a:r>
          </a:p>
          <a:p>
            <a:pPr lvl="1" algn="l"/>
            <a:r>
              <a:rPr lang="en-US" altLang="zh-TW" dirty="0"/>
              <a:t>Format: </a:t>
            </a:r>
            <a:r>
              <a:rPr lang="en-US" altLang="zh-TW" dirty="0">
                <a:latin typeface="+mj-lt"/>
              </a:rPr>
              <a:t>int </a:t>
            </a:r>
            <a:r>
              <a:rPr lang="en-US" altLang="zh-TW" dirty="0" err="1">
                <a:latin typeface="+mj-lt"/>
              </a:rPr>
              <a:t>my_init</a:t>
            </a:r>
            <a:r>
              <a:rPr lang="en-US" altLang="zh-TW" dirty="0">
                <a:latin typeface="+mj-lt"/>
              </a:rPr>
              <a:t>(void);</a:t>
            </a:r>
          </a:p>
          <a:p>
            <a:pPr lvl="1" algn="l"/>
            <a:r>
              <a:rPr lang="en-US" altLang="zh-TW" dirty="0"/>
              <a:t>Output: Return 0 if it is successful</a:t>
            </a:r>
          </a:p>
          <a:p>
            <a:pPr lvl="1" algn="l"/>
            <a:r>
              <a:rPr lang="en-US" altLang="zh-TW" dirty="0"/>
              <a:t>Purposes: Initialize hardware, allocate data structures.</a:t>
            </a:r>
          </a:p>
          <a:p>
            <a:pPr algn="l"/>
            <a:r>
              <a:rPr lang="en-US" altLang="zh-TW" dirty="0" err="1"/>
              <a:t>Module_exit</a:t>
            </a:r>
            <a:r>
              <a:rPr lang="en-US" altLang="zh-TW" dirty="0"/>
              <a:t>: Kernel runs a function when </a:t>
            </a:r>
            <a:r>
              <a:rPr lang="en-US" altLang="zh-TW" dirty="0">
                <a:solidFill>
                  <a:srgbClr val="C00000"/>
                </a:solidFill>
              </a:rPr>
              <a:t>the module is removed</a:t>
            </a:r>
            <a:r>
              <a:rPr lang="en-US" altLang="zh-TW" dirty="0"/>
              <a:t>.</a:t>
            </a:r>
          </a:p>
          <a:p>
            <a:pPr lvl="1" algn="l"/>
            <a:r>
              <a:rPr lang="en-US" altLang="zh-TW" dirty="0"/>
              <a:t>Purposes: Free resources, shutdown and reset hardware.</a:t>
            </a:r>
          </a:p>
          <a:p>
            <a:pPr algn="l"/>
            <a:r>
              <a:rPr kumimoji="1" lang="en-US" altLang="zh-TW" dirty="0"/>
              <a:t>MODULE</a:t>
            </a:r>
            <a:r>
              <a:rPr lang="en-US" altLang="zh-TW" dirty="0"/>
              <a:t>_LICENSE: Specifies the </a:t>
            </a:r>
            <a:r>
              <a:rPr lang="en-US" altLang="zh-TW" dirty="0">
                <a:solidFill>
                  <a:srgbClr val="C00000"/>
                </a:solidFill>
              </a:rPr>
              <a:t>copyright license </a:t>
            </a:r>
            <a:r>
              <a:rPr lang="en-US" altLang="zh-TW" dirty="0"/>
              <a:t>for this file.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E170A8-7FD7-83B8-CA13-BBBC50241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04309B-A21E-4D1E-BE33-6A7F68F8654A}"/>
              </a:ext>
            </a:extLst>
          </p:cNvPr>
          <p:cNvSpPr/>
          <p:nvPr/>
        </p:nvSpPr>
        <p:spPr>
          <a:xfrm>
            <a:off x="6481940" y="1953260"/>
            <a:ext cx="5500029" cy="3352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1C32C61-909E-CA54-8C6B-B544D8E93535}"/>
              </a:ext>
            </a:extLst>
          </p:cNvPr>
          <p:cNvGrpSpPr/>
          <p:nvPr/>
        </p:nvGrpSpPr>
        <p:grpSpPr>
          <a:xfrm>
            <a:off x="6455986" y="2468879"/>
            <a:ext cx="5525984" cy="3398192"/>
            <a:chOff x="6455986" y="2468879"/>
            <a:chExt cx="5525984" cy="339819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2AAF92D-D288-EC0B-68E8-6647FB7B081C}"/>
                </a:ext>
              </a:extLst>
            </p:cNvPr>
            <p:cNvSpPr/>
            <p:nvPr/>
          </p:nvSpPr>
          <p:spPr>
            <a:xfrm>
              <a:off x="6481941" y="2468879"/>
              <a:ext cx="5500029" cy="159067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3800D10-A3F6-3B9D-66C6-6899939BD4B8}"/>
                </a:ext>
              </a:extLst>
            </p:cNvPr>
            <p:cNvSpPr/>
            <p:nvPr/>
          </p:nvSpPr>
          <p:spPr>
            <a:xfrm>
              <a:off x="6455986" y="5573390"/>
              <a:ext cx="5500029" cy="29368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9F45D87-A2C8-E11C-4438-66FEC99277F2}"/>
              </a:ext>
            </a:extLst>
          </p:cNvPr>
          <p:cNvGrpSpPr/>
          <p:nvPr/>
        </p:nvGrpSpPr>
        <p:grpSpPr>
          <a:xfrm>
            <a:off x="6455985" y="4182741"/>
            <a:ext cx="5525984" cy="1978011"/>
            <a:chOff x="6455985" y="4182741"/>
            <a:chExt cx="5525984" cy="197801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66BCF44-FA66-7DD4-2366-B5F9372B4FB0}"/>
                </a:ext>
              </a:extLst>
            </p:cNvPr>
            <p:cNvSpPr/>
            <p:nvPr/>
          </p:nvSpPr>
          <p:spPr>
            <a:xfrm>
              <a:off x="6481940" y="4182741"/>
              <a:ext cx="5500029" cy="121031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8C7136E-5065-1EF0-74EA-D18501A4200A}"/>
                </a:ext>
              </a:extLst>
            </p:cNvPr>
            <p:cNvSpPr/>
            <p:nvPr/>
          </p:nvSpPr>
          <p:spPr>
            <a:xfrm>
              <a:off x="6455985" y="5867071"/>
              <a:ext cx="5500029" cy="29368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B083AD9-9273-4EF7-EC4D-75A7260A2F01}"/>
              </a:ext>
            </a:extLst>
          </p:cNvPr>
          <p:cNvSpPr txBox="1"/>
          <p:nvPr/>
        </p:nvSpPr>
        <p:spPr>
          <a:xfrm>
            <a:off x="0" y="6598099"/>
            <a:ext cx="2537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Linux Kernel Development, 3</a:t>
            </a:r>
            <a:r>
              <a:rPr kumimoji="1" lang="en-US" altLang="zh-TW" sz="1200" baseline="30000" dirty="0">
                <a:solidFill>
                  <a:schemeClr val="bg1">
                    <a:lumMod val="75000"/>
                  </a:schemeClr>
                </a:solidFill>
              </a:rPr>
              <a:t>rd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81768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E405C-4D0E-9CBA-C189-2EC95458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to Build a Device Driver (Count.)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D9D409-FB81-7BF8-9C60-B6B71D555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en-US" altLang="zh-TW" dirty="0"/>
              <a:t>Source Tree: (1) </a:t>
            </a:r>
            <a:r>
              <a:rPr kumimoji="1" lang="en-US" altLang="zh-TW" dirty="0">
                <a:solidFill>
                  <a:srgbClr val="C00000"/>
                </a:solidFill>
              </a:rPr>
              <a:t>Store driver code </a:t>
            </a:r>
            <a:r>
              <a:rPr kumimoji="1" lang="en-US" altLang="zh-TW" dirty="0"/>
              <a:t>(e.g., c files) in the correlated directory (e.g., drivers/block or drivers/char). (2) </a:t>
            </a:r>
            <a:r>
              <a:rPr kumimoji="1" lang="en-US" altLang="zh-TW" dirty="0">
                <a:solidFill>
                  <a:srgbClr val="C00000"/>
                </a:solidFill>
              </a:rPr>
              <a:t>Modify the </a:t>
            </a:r>
            <a:r>
              <a:rPr kumimoji="1" lang="en-US" altLang="zh-TW" dirty="0" err="1">
                <a:solidFill>
                  <a:srgbClr val="C00000"/>
                </a:solidFill>
              </a:rPr>
              <a:t>Makefile</a:t>
            </a:r>
            <a:r>
              <a:rPr kumimoji="1" lang="en-US" altLang="zh-TW" dirty="0"/>
              <a:t> in the directory (Please refer to P.341 in the textbook, Linux Kernel Development.</a:t>
            </a:r>
          </a:p>
          <a:p>
            <a:pPr algn="l"/>
            <a:r>
              <a:rPr lang="en-US" altLang="zh-TW" dirty="0"/>
              <a:t>Build Externally: Maintain and build our module </a:t>
            </a:r>
            <a:r>
              <a:rPr lang="en-US" altLang="zh-TW" dirty="0">
                <a:solidFill>
                  <a:srgbClr val="C00000"/>
                </a:solidFill>
              </a:rPr>
              <a:t>outside the kernel source tree</a:t>
            </a:r>
            <a:r>
              <a:rPr lang="en-US" altLang="zh-TW" dirty="0"/>
              <a:t>. </a:t>
            </a:r>
            <a:r>
              <a:rPr lang="en-US" altLang="zh-TW" dirty="0">
                <a:solidFill>
                  <a:srgbClr val="C00000"/>
                </a:solidFill>
              </a:rPr>
              <a:t>Create</a:t>
            </a:r>
            <a:r>
              <a:rPr lang="en-US" altLang="zh-TW" dirty="0"/>
              <a:t> a </a:t>
            </a:r>
            <a:r>
              <a:rPr lang="en-US" altLang="zh-TW" dirty="0" err="1"/>
              <a:t>Makefile</a:t>
            </a:r>
            <a:r>
              <a:rPr lang="en-US" altLang="zh-TW" dirty="0"/>
              <a:t> by adding two commands</a:t>
            </a:r>
          </a:p>
          <a:p>
            <a:pPr lvl="1" algn="l"/>
            <a:r>
              <a:rPr lang="en-US" altLang="zh-TW" dirty="0"/>
              <a:t>obj-m := </a:t>
            </a:r>
            <a:r>
              <a:rPr lang="en-US" altLang="zh-TW" dirty="0" err="1"/>
              <a:t>hello_world.o</a:t>
            </a:r>
            <a:endParaRPr lang="en-US" altLang="zh-TW" dirty="0">
              <a:solidFill>
                <a:srgbClr val="C00000"/>
              </a:solidFill>
              <a:sym typeface="Wingdings" pitchFamily="2" charset="2"/>
            </a:endParaRPr>
          </a:p>
          <a:p>
            <a:pPr lvl="1" algn="l"/>
            <a:r>
              <a:rPr lang="en-US" altLang="zh-TW" dirty="0">
                <a:sym typeface="Wingdings" pitchFamily="2" charset="2"/>
              </a:rPr>
              <a:t>make –C   /lib/modules/$(shell </a:t>
            </a:r>
            <a:r>
              <a:rPr lang="en-US" altLang="zh-TW" dirty="0" err="1">
                <a:sym typeface="Wingdings" pitchFamily="2" charset="2"/>
              </a:rPr>
              <a:t>uname</a:t>
            </a:r>
            <a:r>
              <a:rPr lang="en-US" altLang="zh-TW" dirty="0">
                <a:sym typeface="Wingdings" pitchFamily="2" charset="2"/>
              </a:rPr>
              <a:t> –r)/build    M=$(PWD)   modules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2B06-86EC-3CF8-F1B4-1F12AFD21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10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DAE960D-AD26-F6C9-AD32-6E56367CC570}"/>
              </a:ext>
            </a:extLst>
          </p:cNvPr>
          <p:cNvGrpSpPr/>
          <p:nvPr/>
        </p:nvGrpSpPr>
        <p:grpSpPr>
          <a:xfrm>
            <a:off x="3878096" y="3441561"/>
            <a:ext cx="6540228" cy="369332"/>
            <a:chOff x="3878096" y="3441561"/>
            <a:chExt cx="6540228" cy="369332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DC7EE1F-2C71-44F2-4111-7640D506D5F5}"/>
                </a:ext>
              </a:extLst>
            </p:cNvPr>
            <p:cNvSpPr txBox="1"/>
            <p:nvPr/>
          </p:nvSpPr>
          <p:spPr>
            <a:xfrm>
              <a:off x="4202350" y="3441561"/>
              <a:ext cx="62159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rgbClr val="C00000"/>
                  </a:solidFill>
                  <a:sym typeface="Wingdings" pitchFamily="2" charset="2"/>
                </a:rPr>
                <a:t>Compiles </a:t>
              </a:r>
              <a:r>
                <a:rPr lang="en-US" altLang="zh-TW" dirty="0" err="1">
                  <a:solidFill>
                    <a:srgbClr val="C00000"/>
                  </a:solidFill>
                  <a:sym typeface="Wingdings" pitchFamily="2" charset="2"/>
                </a:rPr>
                <a:t>hello_world.c</a:t>
              </a:r>
              <a:r>
                <a:rPr lang="en-US" altLang="zh-TW" dirty="0">
                  <a:solidFill>
                    <a:srgbClr val="C00000"/>
                  </a:solidFill>
                  <a:sym typeface="Wingdings" pitchFamily="2" charset="2"/>
                </a:rPr>
                <a:t> into </a:t>
              </a:r>
              <a:r>
                <a:rPr lang="en-US" altLang="zh-TW" dirty="0" err="1">
                  <a:solidFill>
                    <a:srgbClr val="C00000"/>
                  </a:solidFill>
                  <a:sym typeface="Wingdings" pitchFamily="2" charset="2"/>
                </a:rPr>
                <a:t>hello_world.ko</a:t>
              </a:r>
              <a:endParaRPr lang="zh-TW" altLang="en-US" dirty="0"/>
            </a:p>
          </p:txBody>
        </p:sp>
        <p:cxnSp>
          <p:nvCxnSpPr>
            <p:cNvPr id="10" name="曲線接點 9">
              <a:extLst>
                <a:ext uri="{FF2B5EF4-FFF2-40B4-BE49-F238E27FC236}">
                  <a16:creationId xmlns:a16="http://schemas.microsoft.com/office/drawing/2014/main" id="{9263D931-521E-53E5-302C-895AB020E70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878096" y="3617697"/>
              <a:ext cx="324254" cy="17059"/>
            </a:xfrm>
            <a:prstGeom prst="curved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F19DD97F-526A-CB00-B747-41F104F3500D}"/>
              </a:ext>
            </a:extLst>
          </p:cNvPr>
          <p:cNvGrpSpPr/>
          <p:nvPr/>
        </p:nvGrpSpPr>
        <p:grpSpPr>
          <a:xfrm>
            <a:off x="1574482" y="4100841"/>
            <a:ext cx="4051494" cy="683937"/>
            <a:chOff x="1574482" y="4071657"/>
            <a:chExt cx="4051494" cy="683937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42C9BE32-BF45-AE63-93C6-D8BE503AF21A}"/>
                </a:ext>
              </a:extLst>
            </p:cNvPr>
            <p:cNvSpPr txBox="1"/>
            <p:nvPr/>
          </p:nvSpPr>
          <p:spPr>
            <a:xfrm>
              <a:off x="1574482" y="4386262"/>
              <a:ext cx="4051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Go to the directory and read the </a:t>
              </a:r>
              <a:r>
                <a:rPr kumimoji="1" lang="en-US" altLang="zh-TW" dirty="0" err="1">
                  <a:solidFill>
                    <a:srgbClr val="C00000"/>
                  </a:solidFill>
                </a:rPr>
                <a:t>Makefile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15" name="曲線接點 14">
              <a:extLst>
                <a:ext uri="{FF2B5EF4-FFF2-40B4-BE49-F238E27FC236}">
                  <a16:creationId xmlns:a16="http://schemas.microsoft.com/office/drawing/2014/main" id="{DB504B16-06A6-DADD-4B36-9A34B5EFCA1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396220" y="4128128"/>
              <a:ext cx="408017" cy="295075"/>
            </a:xfrm>
            <a:prstGeom prst="curved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46E15C3-434E-578D-0ADE-C89FEBF52CC3}"/>
              </a:ext>
            </a:extLst>
          </p:cNvPr>
          <p:cNvGrpSpPr/>
          <p:nvPr/>
        </p:nvGrpSpPr>
        <p:grpSpPr>
          <a:xfrm>
            <a:off x="6279777" y="4100840"/>
            <a:ext cx="5080622" cy="699892"/>
            <a:chOff x="6279777" y="4071656"/>
            <a:chExt cx="5080622" cy="699892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0CC1A22-3AAD-C84A-CFC6-7DB2B2A2C671}"/>
                </a:ext>
              </a:extLst>
            </p:cNvPr>
            <p:cNvSpPr txBox="1"/>
            <p:nvPr/>
          </p:nvSpPr>
          <p:spPr>
            <a:xfrm>
              <a:off x="6279777" y="4402216"/>
              <a:ext cx="5080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>
                  <a:solidFill>
                    <a:srgbClr val="C00000"/>
                  </a:solidFill>
                </a:rPr>
                <a:t>Go back to the prior directory and read the </a:t>
              </a:r>
              <a:r>
                <a:rPr kumimoji="1" lang="en-US" altLang="zh-TW" dirty="0" err="1">
                  <a:solidFill>
                    <a:srgbClr val="C00000"/>
                  </a:solidFill>
                </a:rPr>
                <a:t>Makefile</a:t>
              </a:r>
              <a:endParaRPr kumimoji="1" lang="zh-TW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17" name="曲線接點 16">
              <a:extLst>
                <a:ext uri="{FF2B5EF4-FFF2-40B4-BE49-F238E27FC236}">
                  <a16:creationId xmlns:a16="http://schemas.microsoft.com/office/drawing/2014/main" id="{597F3466-EA06-9F81-212A-65F0A6E8AFC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529437" y="4128127"/>
              <a:ext cx="408017" cy="295075"/>
            </a:xfrm>
            <a:prstGeom prst="curved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153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CDE7B-E3AE-76ED-9210-B968F80C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Kernel Programming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82F063-EF03-EDB6-29B4-669339804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How to access the ``current’’ process: Kernel code can </a:t>
            </a:r>
            <a:r>
              <a:rPr kumimoji="1" lang="en-US" altLang="zh-TW" dirty="0">
                <a:solidFill>
                  <a:srgbClr val="C00000"/>
                </a:solidFill>
              </a:rPr>
              <a:t>access the global item </a:t>
            </a:r>
            <a:r>
              <a:rPr kumimoji="1" lang="en-US" altLang="zh-TW" dirty="0">
                <a:solidFill>
                  <a:srgbClr val="C00000"/>
                </a:solidFill>
                <a:latin typeface="+mj-lt"/>
              </a:rPr>
              <a:t>current</a:t>
            </a:r>
            <a:r>
              <a:rPr kumimoji="1" lang="en-US" altLang="zh-TW" dirty="0">
                <a:solidFill>
                  <a:srgbClr val="C00000"/>
                </a:solidFill>
              </a:rPr>
              <a:t>,</a:t>
            </a:r>
            <a:r>
              <a:rPr kumimoji="1" lang="en-US" altLang="zh-TW" dirty="0"/>
              <a:t> which has a pointer </a:t>
            </a:r>
            <a:r>
              <a:rPr kumimoji="1" lang="en-US" altLang="zh-TW" dirty="0">
                <a:solidFill>
                  <a:srgbClr val="C00000"/>
                </a:solidFill>
              </a:rPr>
              <a:t>points to </a:t>
            </a:r>
            <a:r>
              <a:rPr kumimoji="1" lang="en-US" altLang="zh-TW" dirty="0">
                <a:solidFill>
                  <a:srgbClr val="C00000"/>
                </a:solidFill>
                <a:latin typeface="+mj-lt"/>
              </a:rPr>
              <a:t>struct </a:t>
            </a:r>
            <a:r>
              <a:rPr kumimoji="1" lang="en-US" altLang="zh-TW" dirty="0" err="1">
                <a:solidFill>
                  <a:srgbClr val="C00000"/>
                </a:solidFill>
                <a:latin typeface="+mj-lt"/>
              </a:rPr>
              <a:t>task_struct</a:t>
            </a:r>
            <a:r>
              <a:rPr kumimoji="1" lang="en-US" altLang="zh-TW" dirty="0">
                <a:solidFill>
                  <a:srgbClr val="C00000"/>
                </a:solidFill>
              </a:rPr>
              <a:t>.</a:t>
            </a:r>
          </a:p>
          <a:p>
            <a:pPr lvl="1"/>
            <a:r>
              <a:rPr kumimoji="1" lang="en-US" altLang="zh-TW" dirty="0"/>
              <a:t>Why it </a:t>
            </a:r>
            <a:r>
              <a:rPr lang="en-US" altLang="zh-TW" dirty="0"/>
              <a:t>works: most actions run by the kernel are done on behalf of a specific process.</a:t>
            </a:r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printk</a:t>
            </a:r>
            <a:r>
              <a:rPr kumimoji="1" lang="en-US" altLang="zh-TW" dirty="0"/>
              <a:t>(KERN_INFO "The process is \"%s\" (</a:t>
            </a:r>
            <a:r>
              <a:rPr kumimoji="1" lang="en-US" altLang="zh-TW" dirty="0" err="1"/>
              <a:t>pid</a:t>
            </a:r>
            <a:r>
              <a:rPr kumimoji="1" lang="en-US" altLang="zh-TW" dirty="0"/>
              <a:t> %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)\</a:t>
            </a:r>
            <a:r>
              <a:rPr kumimoji="1" lang="en-US" altLang="zh-TW" dirty="0" err="1"/>
              <a:t>n",current</a:t>
            </a:r>
            <a:r>
              <a:rPr kumimoji="1" lang="en-US" altLang="zh-TW" dirty="0"/>
              <a:t>-&gt;comm, current-&gt;</a:t>
            </a:r>
            <a:r>
              <a:rPr kumimoji="1" lang="en-US" altLang="zh-TW" dirty="0" err="1"/>
              <a:t>pid</a:t>
            </a:r>
            <a:r>
              <a:rPr kumimoji="1" lang="en-US" altLang="zh-TW" dirty="0"/>
              <a:t>);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EA40C1-EC81-4B8A-8ADE-AAB19ACF9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35D3492-617B-E8D3-8642-B8FF2B6425CE}"/>
              </a:ext>
            </a:extLst>
          </p:cNvPr>
          <p:cNvGrpSpPr/>
          <p:nvPr/>
        </p:nvGrpSpPr>
        <p:grpSpPr>
          <a:xfrm>
            <a:off x="1625828" y="4814580"/>
            <a:ext cx="3473773" cy="1340629"/>
            <a:chOff x="1011718" y="5339568"/>
            <a:chExt cx="3473773" cy="1340629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3B5FFEB-D8EE-C906-BC95-3052117AA547}"/>
                </a:ext>
              </a:extLst>
            </p:cNvPr>
            <p:cNvSpPr/>
            <p:nvPr/>
          </p:nvSpPr>
          <p:spPr>
            <a:xfrm>
              <a:off x="1011718" y="5339568"/>
              <a:ext cx="3473773" cy="134062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67B337AC-DEE7-E5D5-74C5-4A4CF9E439FB}"/>
                </a:ext>
              </a:extLst>
            </p:cNvPr>
            <p:cNvCxnSpPr>
              <a:cxnSpLocks/>
            </p:cNvCxnSpPr>
            <p:nvPr/>
          </p:nvCxnSpPr>
          <p:spPr>
            <a:xfrm>
              <a:off x="1011718" y="5339568"/>
              <a:ext cx="3473773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D5510E0-5CDA-C9B5-B9D0-CB65F1F5E585}"/>
              </a:ext>
            </a:extLst>
          </p:cNvPr>
          <p:cNvGrpSpPr/>
          <p:nvPr/>
        </p:nvGrpSpPr>
        <p:grpSpPr>
          <a:xfrm>
            <a:off x="2043139" y="3862569"/>
            <a:ext cx="3065533" cy="1245861"/>
            <a:chOff x="1429029" y="4387557"/>
            <a:chExt cx="3065533" cy="1245861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8C7D88C0-DDAF-0863-3DB2-B9407A6ECA7E}"/>
                </a:ext>
              </a:extLst>
            </p:cNvPr>
            <p:cNvGrpSpPr/>
            <p:nvPr/>
          </p:nvGrpSpPr>
          <p:grpSpPr>
            <a:xfrm>
              <a:off x="1429029" y="4387557"/>
              <a:ext cx="1245861" cy="1245861"/>
              <a:chOff x="1429029" y="4387557"/>
              <a:chExt cx="1245861" cy="1245861"/>
            </a:xfrm>
          </p:grpSpPr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1F117CD7-A443-2DC2-9239-8D7508551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9029" y="4387557"/>
                <a:ext cx="1245861" cy="1245861"/>
              </a:xfrm>
              <a:prstGeom prst="rect">
                <a:avLst/>
              </a:prstGeom>
            </p:spPr>
          </p:pic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801EEF1-5362-1860-EE7C-CF12338D47DD}"/>
                  </a:ext>
                </a:extLst>
              </p:cNvPr>
              <p:cNvSpPr txBox="1"/>
              <p:nvPr/>
            </p:nvSpPr>
            <p:spPr>
              <a:xfrm>
                <a:off x="1635706" y="5030344"/>
                <a:ext cx="912494" cy="276999"/>
              </a:xfrm>
              <a:prstGeom prst="rect">
                <a:avLst/>
              </a:prstGeom>
              <a:solidFill>
                <a:srgbClr val="F6DF98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b="1" dirty="0">
                    <a:solidFill>
                      <a:schemeClr val="accent5"/>
                    </a:solidFill>
                  </a:rPr>
                  <a:t>Process A</a:t>
                </a:r>
                <a:endParaRPr kumimoji="1" lang="zh-TW" altLang="en-US" b="1" dirty="0"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03ED997-C6DC-EF40-7FC6-2C3B67A4AAE8}"/>
                </a:ext>
              </a:extLst>
            </p:cNvPr>
            <p:cNvSpPr txBox="1"/>
            <p:nvPr/>
          </p:nvSpPr>
          <p:spPr>
            <a:xfrm>
              <a:off x="3376948" y="4968706"/>
              <a:ext cx="1117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b="1" i="1" u="sng" dirty="0">
                  <a:solidFill>
                    <a:srgbClr val="C00000"/>
                  </a:solidFill>
                </a:rPr>
                <a:t>User Mode</a:t>
              </a:r>
              <a:endParaRPr kumimoji="1" lang="zh-TW" altLang="en-US" sz="1600" b="1" i="1" u="sng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FA9552B6-11C3-E197-E28D-34767FA57967}"/>
              </a:ext>
            </a:extLst>
          </p:cNvPr>
          <p:cNvGrpSpPr/>
          <p:nvPr/>
        </p:nvGrpSpPr>
        <p:grpSpPr>
          <a:xfrm>
            <a:off x="2070556" y="4793611"/>
            <a:ext cx="3056611" cy="1362075"/>
            <a:chOff x="1456446" y="5318599"/>
            <a:chExt cx="3056611" cy="1362075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FFA4CD59-DF41-6624-23FD-36CDA102491A}"/>
                </a:ext>
              </a:extLst>
            </p:cNvPr>
            <p:cNvGrpSpPr/>
            <p:nvPr/>
          </p:nvGrpSpPr>
          <p:grpSpPr>
            <a:xfrm>
              <a:off x="1456446" y="5434813"/>
              <a:ext cx="1245861" cy="1245861"/>
              <a:chOff x="1429029" y="4387557"/>
              <a:chExt cx="1245861" cy="1245861"/>
            </a:xfrm>
          </p:grpSpPr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D6F51816-7C6E-775E-3764-B54934D204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9029" y="4387557"/>
                <a:ext cx="1245861" cy="1245861"/>
              </a:xfrm>
              <a:prstGeom prst="rect">
                <a:avLst/>
              </a:prstGeom>
            </p:spPr>
          </p:pic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B44B88E-97C8-DF43-3368-FC642B4F60FC}"/>
                  </a:ext>
                </a:extLst>
              </p:cNvPr>
              <p:cNvSpPr txBox="1"/>
              <p:nvPr/>
            </p:nvSpPr>
            <p:spPr>
              <a:xfrm>
                <a:off x="1635706" y="5030344"/>
                <a:ext cx="912494" cy="276999"/>
              </a:xfrm>
              <a:prstGeom prst="rect">
                <a:avLst/>
              </a:prstGeom>
              <a:solidFill>
                <a:srgbClr val="F6DF98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b="1" dirty="0">
                    <a:solidFill>
                      <a:schemeClr val="accent5"/>
                    </a:solidFill>
                  </a:rPr>
                  <a:t>Process A</a:t>
                </a:r>
                <a:endParaRPr kumimoji="1" lang="zh-TW" altLang="en-US" b="1" dirty="0">
                  <a:solidFill>
                    <a:schemeClr val="accent5"/>
                  </a:solidFill>
                </a:endParaRPr>
              </a:p>
            </p:txBody>
          </p:sp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BB795CB-22F1-9811-4C1C-A4E5494FD802}"/>
                </a:ext>
              </a:extLst>
            </p:cNvPr>
            <p:cNvSpPr txBox="1"/>
            <p:nvPr/>
          </p:nvSpPr>
          <p:spPr>
            <a:xfrm>
              <a:off x="3242581" y="5318599"/>
              <a:ext cx="12704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b="1" i="1" u="sng" dirty="0">
                  <a:solidFill>
                    <a:srgbClr val="C00000"/>
                  </a:solidFill>
                </a:rPr>
                <a:t>Kernel Mode</a:t>
              </a:r>
              <a:endParaRPr kumimoji="1" lang="zh-TW" altLang="en-US" sz="1600" b="1" i="1" u="sng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03B758D1-41AE-8900-BBCB-1AE6034A8BBB}"/>
              </a:ext>
            </a:extLst>
          </p:cNvPr>
          <p:cNvGrpSpPr/>
          <p:nvPr/>
        </p:nvGrpSpPr>
        <p:grpSpPr>
          <a:xfrm>
            <a:off x="8255810" y="4724648"/>
            <a:ext cx="1445102" cy="1606156"/>
            <a:chOff x="9513110" y="4649472"/>
            <a:chExt cx="1445102" cy="1606156"/>
          </a:xfrm>
        </p:grpSpPr>
        <p:sp>
          <p:nvSpPr>
            <p:cNvPr id="33" name="矩形 57">
              <a:extLst>
                <a:ext uri="{FF2B5EF4-FFF2-40B4-BE49-F238E27FC236}">
                  <a16:creationId xmlns:a16="http://schemas.microsoft.com/office/drawing/2014/main" id="{67B66105-18E7-3760-3DF2-5C96D4672F8A}"/>
                </a:ext>
              </a:extLst>
            </p:cNvPr>
            <p:cNvSpPr/>
            <p:nvPr/>
          </p:nvSpPr>
          <p:spPr>
            <a:xfrm>
              <a:off x="9513110" y="4649472"/>
              <a:ext cx="1439048" cy="6900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</a:t>
              </a:r>
              <a:b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</a:b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Program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矩形 57">
              <a:extLst>
                <a:ext uri="{FF2B5EF4-FFF2-40B4-BE49-F238E27FC236}">
                  <a16:creationId xmlns:a16="http://schemas.microsoft.com/office/drawing/2014/main" id="{E6435BBF-E830-4AC0-D999-239DC1936374}"/>
                </a:ext>
              </a:extLst>
            </p:cNvPr>
            <p:cNvSpPr/>
            <p:nvPr/>
          </p:nvSpPr>
          <p:spPr>
            <a:xfrm>
              <a:off x="9519164" y="5565532"/>
              <a:ext cx="1439048" cy="6900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Process Data 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DAE1A6C3-E6BD-FA4D-ACC8-CDC4D4DF9432}"/>
              </a:ext>
            </a:extLst>
          </p:cNvPr>
          <p:cNvGrpSpPr/>
          <p:nvPr/>
        </p:nvGrpSpPr>
        <p:grpSpPr>
          <a:xfrm>
            <a:off x="6259708" y="4471435"/>
            <a:ext cx="1962384" cy="755836"/>
            <a:chOff x="7517006" y="4403708"/>
            <a:chExt cx="1962384" cy="755836"/>
          </a:xfrm>
        </p:grpSpPr>
        <p:sp>
          <p:nvSpPr>
            <p:cNvPr id="36" name="矩形 57">
              <a:extLst>
                <a:ext uri="{FF2B5EF4-FFF2-40B4-BE49-F238E27FC236}">
                  <a16:creationId xmlns:a16="http://schemas.microsoft.com/office/drawing/2014/main" id="{82C6BB66-81D2-D4EF-644C-FFDA62AB7919}"/>
                </a:ext>
              </a:extLst>
            </p:cNvPr>
            <p:cNvSpPr/>
            <p:nvPr/>
          </p:nvSpPr>
          <p:spPr>
            <a:xfrm>
              <a:off x="7517006" y="4584700"/>
              <a:ext cx="1150776" cy="2890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User Mode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37" name="肘形接點 36">
              <a:extLst>
                <a:ext uri="{FF2B5EF4-FFF2-40B4-BE49-F238E27FC236}">
                  <a16:creationId xmlns:a16="http://schemas.microsoft.com/office/drawing/2014/main" id="{46466551-50B3-1EC4-6803-CC0BA58F3B35}"/>
                </a:ext>
              </a:extLst>
            </p:cNvPr>
            <p:cNvCxnSpPr>
              <a:cxnSpLocks/>
            </p:cNvCxnSpPr>
            <p:nvPr/>
          </p:nvCxnSpPr>
          <p:spPr>
            <a:xfrm>
              <a:off x="8637112" y="4403708"/>
              <a:ext cx="842278" cy="755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060358F-4DAC-4219-268D-6C2C73A709DC}"/>
              </a:ext>
            </a:extLst>
          </p:cNvPr>
          <p:cNvSpPr txBox="1"/>
          <p:nvPr/>
        </p:nvSpPr>
        <p:spPr>
          <a:xfrm>
            <a:off x="6195197" y="4293456"/>
            <a:ext cx="12820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b="1" i="1" dirty="0">
                <a:solidFill>
                  <a:srgbClr val="C00000"/>
                </a:solidFill>
              </a:rPr>
              <a:t>System Call!!</a:t>
            </a:r>
            <a:endParaRPr kumimoji="1" lang="zh-TW" altLang="en-US" sz="1600" b="1" i="1" dirty="0">
              <a:solidFill>
                <a:srgbClr val="C00000"/>
              </a:solidFill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65C3702-6497-301C-49FB-5B86FAB1D2E1}"/>
              </a:ext>
            </a:extLst>
          </p:cNvPr>
          <p:cNvGrpSpPr/>
          <p:nvPr/>
        </p:nvGrpSpPr>
        <p:grpSpPr>
          <a:xfrm>
            <a:off x="6252928" y="3577770"/>
            <a:ext cx="3437472" cy="1376244"/>
            <a:chOff x="7510228" y="3502594"/>
            <a:chExt cx="3437472" cy="1376244"/>
          </a:xfrm>
        </p:grpSpPr>
        <p:sp>
          <p:nvSpPr>
            <p:cNvPr id="40" name="矩形 57">
              <a:extLst>
                <a:ext uri="{FF2B5EF4-FFF2-40B4-BE49-F238E27FC236}">
                  <a16:creationId xmlns:a16="http://schemas.microsoft.com/office/drawing/2014/main" id="{B61E8A31-A280-4177-ADF2-AE43BF2792E0}"/>
                </a:ext>
              </a:extLst>
            </p:cNvPr>
            <p:cNvSpPr/>
            <p:nvPr/>
          </p:nvSpPr>
          <p:spPr>
            <a:xfrm>
              <a:off x="9515054" y="3502594"/>
              <a:ext cx="1432646" cy="3225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 Module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41" name="肘形接點 40">
              <a:extLst>
                <a:ext uri="{FF2B5EF4-FFF2-40B4-BE49-F238E27FC236}">
                  <a16:creationId xmlns:a16="http://schemas.microsoft.com/office/drawing/2014/main" id="{1387C0B5-1E45-3602-D31B-3B8F4DB94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0320" y="3748752"/>
              <a:ext cx="858844" cy="46171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57">
              <a:extLst>
                <a:ext uri="{FF2B5EF4-FFF2-40B4-BE49-F238E27FC236}">
                  <a16:creationId xmlns:a16="http://schemas.microsoft.com/office/drawing/2014/main" id="{6748238F-6CB1-A543-D3CD-7DF5832CD8EE}"/>
                </a:ext>
              </a:extLst>
            </p:cNvPr>
            <p:cNvSpPr/>
            <p:nvPr/>
          </p:nvSpPr>
          <p:spPr>
            <a:xfrm>
              <a:off x="7510228" y="4589776"/>
              <a:ext cx="1150776" cy="2890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Kernel Mode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F1A4862-25B7-C46F-491E-94B39E3C50F8}"/>
              </a:ext>
            </a:extLst>
          </p:cNvPr>
          <p:cNvGrpSpPr/>
          <p:nvPr/>
        </p:nvGrpSpPr>
        <p:grpSpPr>
          <a:xfrm>
            <a:off x="6246148" y="2888320"/>
            <a:ext cx="4642291" cy="4037780"/>
            <a:chOff x="7503448" y="2813144"/>
            <a:chExt cx="4642291" cy="4037780"/>
          </a:xfrm>
        </p:grpSpPr>
        <p:sp>
          <p:nvSpPr>
            <p:cNvPr id="44" name="右大括弧 43">
              <a:extLst>
                <a:ext uri="{FF2B5EF4-FFF2-40B4-BE49-F238E27FC236}">
                  <a16:creationId xmlns:a16="http://schemas.microsoft.com/office/drawing/2014/main" id="{24248A77-4F94-774C-015A-7F641A4A3952}"/>
                </a:ext>
              </a:extLst>
            </p:cNvPr>
            <p:cNvSpPr/>
            <p:nvPr/>
          </p:nvSpPr>
          <p:spPr>
            <a:xfrm>
              <a:off x="11021232" y="2813144"/>
              <a:ext cx="138148" cy="1328928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5" name="右大括弧 44">
              <a:extLst>
                <a:ext uri="{FF2B5EF4-FFF2-40B4-BE49-F238E27FC236}">
                  <a16:creationId xmlns:a16="http://schemas.microsoft.com/office/drawing/2014/main" id="{3A0157F0-9AE4-E4B2-D290-17C271F1AE4B}"/>
                </a:ext>
              </a:extLst>
            </p:cNvPr>
            <p:cNvSpPr/>
            <p:nvPr/>
          </p:nvSpPr>
          <p:spPr>
            <a:xfrm>
              <a:off x="11015136" y="4175726"/>
              <a:ext cx="156436" cy="2319402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502D4ABE-4CA4-B62E-783B-B1E47C93E5EF}"/>
                </a:ext>
              </a:extLst>
            </p:cNvPr>
            <p:cNvSpPr txBox="1"/>
            <p:nvPr/>
          </p:nvSpPr>
          <p:spPr>
            <a:xfrm>
              <a:off x="11159380" y="2877703"/>
              <a:ext cx="98635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b="1" dirty="0"/>
                <a:t>Kernel</a:t>
              </a:r>
              <a:br>
                <a:rPr kumimoji="1" lang="en-US" altLang="zh-TW" dirty="0"/>
              </a:br>
              <a:r>
                <a:rPr kumimoji="1" lang="en-US" altLang="zh-TW" dirty="0"/>
                <a:t>Address </a:t>
              </a:r>
              <a:br>
                <a:rPr kumimoji="1" lang="en-US" altLang="zh-TW" dirty="0"/>
              </a:br>
              <a:r>
                <a:rPr kumimoji="1" lang="en-US" altLang="zh-TW" dirty="0"/>
                <a:t>Space</a:t>
              </a:r>
              <a:br>
                <a:rPr kumimoji="1" lang="en-US" altLang="zh-TW" dirty="0"/>
              </a:br>
              <a:r>
                <a:rPr kumimoji="1" lang="en-US" altLang="zh-TW" dirty="0"/>
                <a:t>(Virtual)</a:t>
              </a:r>
              <a:endParaRPr kumimoji="1" lang="zh-TW" altLang="en-US" dirty="0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689F0812-D6EE-AE2A-FE94-195E98BE9321}"/>
                </a:ext>
              </a:extLst>
            </p:cNvPr>
            <p:cNvSpPr txBox="1"/>
            <p:nvPr/>
          </p:nvSpPr>
          <p:spPr>
            <a:xfrm>
              <a:off x="11159380" y="4718435"/>
              <a:ext cx="98635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b="1" dirty="0"/>
                <a:t>User</a:t>
              </a:r>
              <a:br>
                <a:rPr kumimoji="1" lang="en-US" altLang="zh-TW" dirty="0"/>
              </a:br>
              <a:r>
                <a:rPr kumimoji="1" lang="en-US" altLang="zh-TW" dirty="0"/>
                <a:t>Address </a:t>
              </a:r>
              <a:br>
                <a:rPr kumimoji="1" lang="en-US" altLang="zh-TW" dirty="0"/>
              </a:br>
              <a:r>
                <a:rPr kumimoji="1" lang="en-US" altLang="zh-TW" dirty="0"/>
                <a:t>Space</a:t>
              </a:r>
              <a:br>
                <a:rPr kumimoji="1" lang="en-US" altLang="zh-TW" dirty="0"/>
              </a:br>
              <a:r>
                <a:rPr kumimoji="1" lang="en-US" altLang="zh-TW" dirty="0"/>
                <a:t>(Virtual)</a:t>
              </a:r>
              <a:endParaRPr kumimoji="1" lang="zh-TW" altLang="en-US" dirty="0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BB4616C9-507D-4C87-6252-6016016692E2}"/>
                </a:ext>
              </a:extLst>
            </p:cNvPr>
            <p:cNvSpPr txBox="1"/>
            <p:nvPr/>
          </p:nvSpPr>
          <p:spPr>
            <a:xfrm>
              <a:off x="9462082" y="6481592"/>
              <a:ext cx="1553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b="1" dirty="0"/>
                <a:t>Main Memory</a:t>
              </a:r>
              <a:endParaRPr kumimoji="1" lang="zh-TW" altLang="en-US" dirty="0"/>
            </a:p>
          </p:txBody>
        </p:sp>
        <p:sp>
          <p:nvSpPr>
            <p:cNvPr id="49" name="矩形 57">
              <a:extLst>
                <a:ext uri="{FF2B5EF4-FFF2-40B4-BE49-F238E27FC236}">
                  <a16:creationId xmlns:a16="http://schemas.microsoft.com/office/drawing/2014/main" id="{BA3CE7B2-F3B3-EDFD-DB0E-5936CF6915BD}"/>
                </a:ext>
              </a:extLst>
            </p:cNvPr>
            <p:cNvSpPr/>
            <p:nvPr/>
          </p:nvSpPr>
          <p:spPr>
            <a:xfrm>
              <a:off x="7503448" y="3904246"/>
              <a:ext cx="1164336" cy="969516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CPU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0" name="矩形 57">
              <a:extLst>
                <a:ext uri="{FF2B5EF4-FFF2-40B4-BE49-F238E27FC236}">
                  <a16:creationId xmlns:a16="http://schemas.microsoft.com/office/drawing/2014/main" id="{9D8282BE-2168-F033-F244-380C83E83172}"/>
                </a:ext>
              </a:extLst>
            </p:cNvPr>
            <p:cNvSpPr/>
            <p:nvPr/>
          </p:nvSpPr>
          <p:spPr>
            <a:xfrm>
              <a:off x="9513460" y="4142072"/>
              <a:ext cx="1434240" cy="2353056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1" name="矩形 57">
              <a:extLst>
                <a:ext uri="{FF2B5EF4-FFF2-40B4-BE49-F238E27FC236}">
                  <a16:creationId xmlns:a16="http://schemas.microsoft.com/office/drawing/2014/main" id="{01EE503C-41E7-08F2-F976-4C8E82CD0C7E}"/>
                </a:ext>
              </a:extLst>
            </p:cNvPr>
            <p:cNvSpPr/>
            <p:nvPr/>
          </p:nvSpPr>
          <p:spPr>
            <a:xfrm>
              <a:off x="9513460" y="2813144"/>
              <a:ext cx="1434240" cy="1328928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800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CDE7B-E3AE-76ED-9210-B968F80C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Kernel Programming (Count.)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82F063-EF03-EDB6-29B4-669339804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en-US" altLang="zh-TW" dirty="0"/>
              <a:t>How to access the current process: Kernel code can access the global item </a:t>
            </a:r>
            <a:r>
              <a:rPr kumimoji="1" lang="en-US" altLang="zh-TW" dirty="0">
                <a:latin typeface="+mj-lt"/>
              </a:rPr>
              <a:t>current</a:t>
            </a:r>
            <a:r>
              <a:rPr kumimoji="1" lang="en-US" altLang="zh-TW" dirty="0"/>
              <a:t>, which has a pointer points to </a:t>
            </a:r>
            <a:r>
              <a:rPr kumimoji="1" lang="en-US" altLang="zh-TW" dirty="0">
                <a:latin typeface="+mj-lt"/>
              </a:rPr>
              <a:t>struct </a:t>
            </a:r>
            <a:r>
              <a:rPr kumimoji="1" lang="en-US" altLang="zh-TW" dirty="0" err="1">
                <a:latin typeface="+mj-lt"/>
              </a:rPr>
              <a:t>task_struct</a:t>
            </a:r>
            <a:r>
              <a:rPr kumimoji="1" lang="en-US" altLang="zh-TW" dirty="0"/>
              <a:t>.</a:t>
            </a:r>
          </a:p>
          <a:p>
            <a:pPr lvl="1" algn="l"/>
            <a:r>
              <a:rPr kumimoji="1" lang="en-US" altLang="zh-TW" dirty="0"/>
              <a:t>Why it </a:t>
            </a:r>
            <a:r>
              <a:rPr lang="en-US" altLang="zh-TW" dirty="0"/>
              <a:t>works: most actions run by the kernel are done on behalf of a specific process.</a:t>
            </a:r>
          </a:p>
          <a:p>
            <a:pPr lvl="1" algn="l"/>
            <a:r>
              <a:rPr kumimoji="1" lang="en-US" altLang="zh-TW" dirty="0"/>
              <a:t>Ex: </a:t>
            </a:r>
            <a:r>
              <a:rPr kumimoji="1" lang="en-US" altLang="zh-TW" i="1" dirty="0" err="1"/>
              <a:t>printk</a:t>
            </a:r>
            <a:r>
              <a:rPr kumimoji="1" lang="en-US" altLang="zh-TW" i="1" dirty="0"/>
              <a:t>(KERN_INFO "The process is \"%s\" (</a:t>
            </a:r>
            <a:r>
              <a:rPr kumimoji="1" lang="en-US" altLang="zh-TW" i="1" dirty="0" err="1"/>
              <a:t>pid</a:t>
            </a:r>
            <a:r>
              <a:rPr kumimoji="1" lang="en-US" altLang="zh-TW" i="1" dirty="0"/>
              <a:t> %</a:t>
            </a:r>
            <a:r>
              <a:rPr kumimoji="1" lang="en-US" altLang="zh-TW" i="1" dirty="0" err="1"/>
              <a:t>i</a:t>
            </a:r>
            <a:r>
              <a:rPr kumimoji="1" lang="en-US" altLang="zh-TW" i="1" dirty="0"/>
              <a:t>)\</a:t>
            </a:r>
            <a:r>
              <a:rPr kumimoji="1" lang="en-US" altLang="zh-TW" i="1" dirty="0" err="1"/>
              <a:t>n",current</a:t>
            </a:r>
            <a:r>
              <a:rPr kumimoji="1" lang="en-US" altLang="zh-TW" i="1" dirty="0"/>
              <a:t>-&gt;comm, current-&gt;</a:t>
            </a:r>
            <a:r>
              <a:rPr kumimoji="1" lang="en-US" altLang="zh-TW" i="1" dirty="0" err="1"/>
              <a:t>pid</a:t>
            </a:r>
            <a:r>
              <a:rPr kumimoji="1" lang="en-US" altLang="zh-TW" i="1" dirty="0"/>
              <a:t>);</a:t>
            </a:r>
          </a:p>
          <a:p>
            <a:pPr algn="l"/>
            <a:r>
              <a:rPr kumimoji="1" lang="en-US" altLang="zh-TW" dirty="0"/>
              <a:t>Cautions for kernel programming:</a:t>
            </a:r>
          </a:p>
          <a:p>
            <a:pPr lvl="1" algn="l"/>
            <a:r>
              <a:rPr lang="en-US" altLang="zh-TW" dirty="0"/>
              <a:t>Super small stack: With using virtual memory, applications have large stack area virtual memory, </a:t>
            </a:r>
            <a:r>
              <a:rPr lang="en-US" altLang="zh-TW" dirty="0">
                <a:solidFill>
                  <a:srgbClr val="C00000"/>
                </a:solidFill>
              </a:rPr>
              <a:t>the kernel instead has a very small stack</a:t>
            </a:r>
            <a:r>
              <a:rPr lang="en-US" altLang="zh-TW" dirty="0"/>
              <a:t> (Only 1~2 pages).</a:t>
            </a:r>
          </a:p>
          <a:p>
            <a:pPr lvl="1" algn="l"/>
            <a:r>
              <a:rPr kumimoji="1" lang="en-US" altLang="zh-TW" dirty="0"/>
              <a:t>Kernel function with _ _: Usually low-level components. Should be </a:t>
            </a:r>
            <a:r>
              <a:rPr kumimoji="1" lang="en-US" altLang="zh-TW" dirty="0">
                <a:solidFill>
                  <a:srgbClr val="C00000"/>
                </a:solidFill>
              </a:rPr>
              <a:t>used with caution</a:t>
            </a:r>
            <a:r>
              <a:rPr kumimoji="1" lang="en-US" altLang="zh-TW" dirty="0"/>
              <a:t>.</a:t>
            </a:r>
          </a:p>
          <a:p>
            <a:pPr lvl="1" algn="l"/>
            <a:r>
              <a:rPr lang="en-US" altLang="zh-TW" dirty="0"/>
              <a:t>Do not use floating points: Floating point support </a:t>
            </a:r>
            <a:r>
              <a:rPr lang="en-US" altLang="zh-TW" dirty="0">
                <a:solidFill>
                  <a:srgbClr val="C00000"/>
                </a:solidFill>
              </a:rPr>
              <a:t>is very expensive in the kernel </a:t>
            </a:r>
            <a:r>
              <a:rPr lang="en-US" altLang="zh-TW" dirty="0"/>
              <a:t>and should be avoided.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EA40C1-EC81-4B8A-8ADE-AAB19ACF9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B180D62-2E1F-E469-801A-8CF9902B52EE}"/>
              </a:ext>
            </a:extLst>
          </p:cNvPr>
          <p:cNvSpPr txBox="1"/>
          <p:nvPr/>
        </p:nvSpPr>
        <p:spPr>
          <a:xfrm>
            <a:off x="1206230" y="5182324"/>
            <a:ext cx="1061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Why expensive: </a:t>
            </a:r>
            <a:r>
              <a:rPr lang="en-US" altLang="zh-TW" i="1" dirty="0">
                <a:solidFill>
                  <a:srgbClr val="C00000"/>
                </a:solidFill>
              </a:rPr>
              <a:t>Shall save floating-point registers </a:t>
            </a:r>
            <a:r>
              <a:rPr lang="en-US" altLang="zh-TW" i="1" dirty="0"/>
              <a:t>while switching from user to kernel mode (hundred of cycles)</a:t>
            </a:r>
            <a:endParaRPr kumimoji="1"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37573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32691" y="2470860"/>
            <a:ext cx="10926618" cy="1916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750F6D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750F6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Block I/O Layer</a:t>
            </a:r>
          </a:p>
        </p:txBody>
      </p:sp>
      <p:sp>
        <p:nvSpPr>
          <p:cNvPr id="2" name="矩形 57">
            <a:extLst>
              <a:ext uri="{FF2B5EF4-FFF2-40B4-BE49-F238E27FC236}">
                <a16:creationId xmlns:a16="http://schemas.microsoft.com/office/drawing/2014/main" id="{52D52D27-AB1F-79D5-C62C-38A191A61F20}"/>
              </a:ext>
            </a:extLst>
          </p:cNvPr>
          <p:cNvSpPr/>
          <p:nvPr/>
        </p:nvSpPr>
        <p:spPr>
          <a:xfrm>
            <a:off x="9891054" y="690235"/>
            <a:ext cx="1567121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Process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矩形 57">
            <a:extLst>
              <a:ext uri="{FF2B5EF4-FFF2-40B4-BE49-F238E27FC236}">
                <a16:creationId xmlns:a16="http://schemas.microsoft.com/office/drawing/2014/main" id="{E17704BC-BC4F-832F-CFA4-CFAD3EFE9393}"/>
              </a:ext>
            </a:extLst>
          </p:cNvPr>
          <p:cNvSpPr/>
          <p:nvPr/>
        </p:nvSpPr>
        <p:spPr>
          <a:xfrm>
            <a:off x="9891054" y="2000233"/>
            <a:ext cx="1567121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Virtual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File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System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矩形 57">
            <a:extLst>
              <a:ext uri="{FF2B5EF4-FFF2-40B4-BE49-F238E27FC236}">
                <a16:creationId xmlns:a16="http://schemas.microsoft.com/office/drawing/2014/main" id="{059E3054-4E17-FE8E-5B24-51F868096F21}"/>
              </a:ext>
            </a:extLst>
          </p:cNvPr>
          <p:cNvSpPr/>
          <p:nvPr/>
        </p:nvSpPr>
        <p:spPr>
          <a:xfrm>
            <a:off x="9891055" y="2779316"/>
            <a:ext cx="921104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Page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Cache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矩形 57">
            <a:extLst>
              <a:ext uri="{FF2B5EF4-FFF2-40B4-BE49-F238E27FC236}">
                <a16:creationId xmlns:a16="http://schemas.microsoft.com/office/drawing/2014/main" id="{0FF36199-4E2A-2A86-D455-9031F8E7CB68}"/>
              </a:ext>
            </a:extLst>
          </p:cNvPr>
          <p:cNvSpPr/>
          <p:nvPr/>
        </p:nvSpPr>
        <p:spPr>
          <a:xfrm>
            <a:off x="9891054" y="3558399"/>
            <a:ext cx="1567121" cy="5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Mapping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Layer</a:t>
            </a:r>
            <a:b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(FS</a:t>
            </a:r>
            <a:r>
              <a: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rPr>
              <a:t>Specific)</a:t>
            </a:r>
            <a:endParaRPr kumimoji="1" lang="zh-TW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AEFB806-3E77-E7B8-C4FE-C45CB6C0AAED}"/>
              </a:ext>
            </a:extLst>
          </p:cNvPr>
          <p:cNvCxnSpPr>
            <a:cxnSpLocks/>
          </p:cNvCxnSpPr>
          <p:nvPr/>
        </p:nvCxnSpPr>
        <p:spPr>
          <a:xfrm>
            <a:off x="9251696" y="1772463"/>
            <a:ext cx="2845834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6B7E5BE-94D7-513D-A051-5D9F82B7CE28}"/>
              </a:ext>
            </a:extLst>
          </p:cNvPr>
          <p:cNvSpPr txBox="1"/>
          <p:nvPr/>
        </p:nvSpPr>
        <p:spPr>
          <a:xfrm>
            <a:off x="9157226" y="1435481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User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7D3F1DF-2DCE-23E6-ECF3-FB46A5107C73}"/>
              </a:ext>
            </a:extLst>
          </p:cNvPr>
          <p:cNvSpPr txBox="1"/>
          <p:nvPr/>
        </p:nvSpPr>
        <p:spPr>
          <a:xfrm>
            <a:off x="9157226" y="1755217"/>
            <a:ext cx="719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Kernel</a:t>
            </a:r>
            <a:endParaRPr kumimoji="1" lang="zh-TW" altLang="en-US" sz="16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352AAA6-9938-F920-064E-0C382EBAC9E7}"/>
              </a:ext>
            </a:extLst>
          </p:cNvPr>
          <p:cNvSpPr txBox="1"/>
          <p:nvPr/>
        </p:nvSpPr>
        <p:spPr>
          <a:xfrm>
            <a:off x="10971543" y="1207393"/>
            <a:ext cx="1095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/>
              <a:t>sys_read()</a:t>
            </a:r>
          </a:p>
          <a:p>
            <a:r>
              <a:rPr kumimoji="1" lang="en-US" altLang="zh-TW" sz="1600" dirty="0"/>
              <a:t>sys_write()</a:t>
            </a:r>
            <a:endParaRPr kumimoji="1" lang="zh-TW" altLang="en-US" sz="1600" dirty="0"/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C848B3E-9E5C-C397-BB14-1CFF7ADDF071}"/>
              </a:ext>
            </a:extLst>
          </p:cNvPr>
          <p:cNvCxnSpPr>
            <a:cxnSpLocks/>
          </p:cNvCxnSpPr>
          <p:nvPr/>
        </p:nvCxnSpPr>
        <p:spPr>
          <a:xfrm>
            <a:off x="11119257" y="2540233"/>
            <a:ext cx="0" cy="101816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5488AB8A-811B-B36A-F4D8-1737E2A7C66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10654354" y="1230235"/>
            <a:ext cx="0" cy="77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89E4CAB5-F01B-783F-5E35-E50DE8891A45}"/>
              </a:ext>
            </a:extLst>
          </p:cNvPr>
          <p:cNvGrpSpPr/>
          <p:nvPr/>
        </p:nvGrpSpPr>
        <p:grpSpPr>
          <a:xfrm>
            <a:off x="9891054" y="5368698"/>
            <a:ext cx="1567121" cy="1066949"/>
            <a:chOff x="9713254" y="5656565"/>
            <a:chExt cx="1567121" cy="1066949"/>
          </a:xfrm>
        </p:grpSpPr>
        <p:sp>
          <p:nvSpPr>
            <p:cNvPr id="14" name="矩形 57">
              <a:extLst>
                <a:ext uri="{FF2B5EF4-FFF2-40B4-BE49-F238E27FC236}">
                  <a16:creationId xmlns:a16="http://schemas.microsoft.com/office/drawing/2014/main" id="{9BFDF623-EB93-99EA-880E-F6B7DA6228B0}"/>
                </a:ext>
              </a:extLst>
            </p:cNvPr>
            <p:cNvSpPr/>
            <p:nvPr/>
          </p:nvSpPr>
          <p:spPr>
            <a:xfrm>
              <a:off x="9713254" y="6183514"/>
              <a:ext cx="1567121" cy="54000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Devices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endParaRPr kumimoji="1" lang="en-US" altLang="zh-TW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(e.g.,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HDD,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SSD)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5" name="直線箭頭接點 14">
              <a:extLst>
                <a:ext uri="{FF2B5EF4-FFF2-40B4-BE49-F238E27FC236}">
                  <a16:creationId xmlns:a16="http://schemas.microsoft.com/office/drawing/2014/main" id="{8C6F8A2B-87FB-7F84-FBD4-044B3671BA2B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10674613" y="5656565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3C20C0B-0014-0E2F-E8E8-25902714CCD3}"/>
              </a:ext>
            </a:extLst>
          </p:cNvPr>
          <p:cNvGrpSpPr/>
          <p:nvPr/>
        </p:nvGrpSpPr>
        <p:grpSpPr>
          <a:xfrm>
            <a:off x="9891054" y="4855739"/>
            <a:ext cx="1567121" cy="800826"/>
            <a:chOff x="9713254" y="5143606"/>
            <a:chExt cx="1567121" cy="800826"/>
          </a:xfrm>
        </p:grpSpPr>
        <p:sp>
          <p:nvSpPr>
            <p:cNvPr id="17" name="矩形 57">
              <a:extLst>
                <a:ext uri="{FF2B5EF4-FFF2-40B4-BE49-F238E27FC236}">
                  <a16:creationId xmlns:a16="http://schemas.microsoft.com/office/drawing/2014/main" id="{7B00B1E7-C520-ADAA-3665-91152A6E9149}"/>
                </a:ext>
              </a:extLst>
            </p:cNvPr>
            <p:cNvSpPr/>
            <p:nvPr/>
          </p:nvSpPr>
          <p:spPr>
            <a:xfrm>
              <a:off x="9713254" y="5404432"/>
              <a:ext cx="1567121" cy="54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Block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Device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Driver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18" name="直線箭頭接點 17">
              <a:extLst>
                <a:ext uri="{FF2B5EF4-FFF2-40B4-BE49-F238E27FC236}">
                  <a16:creationId xmlns:a16="http://schemas.microsoft.com/office/drawing/2014/main" id="{D3784790-CF32-98E2-3763-86B85949E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0620" y="5143606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B18F9CB-5BC2-6216-6748-361F363DC130}"/>
              </a:ext>
            </a:extLst>
          </p:cNvPr>
          <p:cNvGrpSpPr/>
          <p:nvPr/>
        </p:nvGrpSpPr>
        <p:grpSpPr>
          <a:xfrm>
            <a:off x="9891054" y="4098399"/>
            <a:ext cx="1567121" cy="779083"/>
            <a:chOff x="9713254" y="4386266"/>
            <a:chExt cx="1567121" cy="779083"/>
          </a:xfrm>
        </p:grpSpPr>
        <p:sp>
          <p:nvSpPr>
            <p:cNvPr id="20" name="矩形 57">
              <a:extLst>
                <a:ext uri="{FF2B5EF4-FFF2-40B4-BE49-F238E27FC236}">
                  <a16:creationId xmlns:a16="http://schemas.microsoft.com/office/drawing/2014/main" id="{1E306548-F77A-8A45-9039-0FB74F8A876F}"/>
                </a:ext>
              </a:extLst>
            </p:cNvPr>
            <p:cNvSpPr/>
            <p:nvPr/>
          </p:nvSpPr>
          <p:spPr>
            <a:xfrm>
              <a:off x="9713254" y="4625349"/>
              <a:ext cx="1567121" cy="54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Block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I/O</a:t>
              </a:r>
              <a:r>
                <a:rPr kumimoji="1" lang="zh-TW" altLang="en-US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TW" sz="1600" dirty="0">
                  <a:solidFill>
                    <a:schemeClr val="tx1"/>
                  </a:solidFill>
                  <a:cs typeface="Arial" panose="020B0604020202020204" pitchFamily="34" charset="0"/>
                </a:rPr>
                <a:t>Layer</a:t>
              </a:r>
              <a:endParaRPr kumimoji="1" lang="zh-TW" altLang="en-US" sz="16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21" name="直線箭頭接點 20">
              <a:extLst>
                <a:ext uri="{FF2B5EF4-FFF2-40B4-BE49-F238E27FC236}">
                  <a16:creationId xmlns:a16="http://schemas.microsoft.com/office/drawing/2014/main" id="{E1B6F31C-45EF-E499-4766-907D0C7FB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0618" y="4386266"/>
              <a:ext cx="2" cy="23862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8493AC9A-4635-1E77-835E-0935E0121070}"/>
              </a:ext>
            </a:extLst>
          </p:cNvPr>
          <p:cNvCxnSpPr>
            <a:cxnSpLocks/>
          </p:cNvCxnSpPr>
          <p:nvPr/>
        </p:nvCxnSpPr>
        <p:spPr>
          <a:xfrm flipH="1">
            <a:off x="10345673" y="3318167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00A34EF7-288E-B11C-02A3-739A2EFF8D53}"/>
              </a:ext>
            </a:extLst>
          </p:cNvPr>
          <p:cNvCxnSpPr>
            <a:cxnSpLocks/>
          </p:cNvCxnSpPr>
          <p:nvPr/>
        </p:nvCxnSpPr>
        <p:spPr>
          <a:xfrm flipH="1">
            <a:off x="10345671" y="2530765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39DB00E9-F98A-0E60-E10E-08C1F900B5DB}"/>
              </a:ext>
            </a:extLst>
          </p:cNvPr>
          <p:cNvSpPr/>
          <p:nvPr/>
        </p:nvSpPr>
        <p:spPr>
          <a:xfrm>
            <a:off x="9883916" y="4331528"/>
            <a:ext cx="1581393" cy="5492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CCA000A2-F308-8FF9-94F1-ADA4820419C7}"/>
              </a:ext>
            </a:extLst>
          </p:cNvPr>
          <p:cNvCxnSpPr>
            <a:cxnSpLocks/>
          </p:cNvCxnSpPr>
          <p:nvPr/>
        </p:nvCxnSpPr>
        <p:spPr>
          <a:xfrm flipH="1">
            <a:off x="10648418" y="5650340"/>
            <a:ext cx="2" cy="23862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9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05425BE-4CD3-C180-2D32-B892C1755003}"/>
              </a:ext>
            </a:extLst>
          </p:cNvPr>
          <p:cNvSpPr/>
          <p:nvPr/>
        </p:nvSpPr>
        <p:spPr>
          <a:xfrm>
            <a:off x="520344" y="5844636"/>
            <a:ext cx="796604" cy="396875"/>
          </a:xfrm>
          <a:prstGeom prst="rect">
            <a:avLst/>
          </a:prstGeom>
          <a:solidFill>
            <a:srgbClr val="FBBFC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Sector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3CCAB077-A3E1-9DB7-29F6-6F6A98D78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91" y="3803060"/>
            <a:ext cx="6609591" cy="305494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936AFDD-BC6C-0FBA-5D91-BB285366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Buffers and Buffer Heads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698633-BE02-F7BC-CC2D-C6C9E6E96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en-US" altLang="zh-TW" dirty="0"/>
              <a:t>Sector: The smallest addressable unit of the </a:t>
            </a:r>
            <a:r>
              <a:rPr kumimoji="1" lang="en-US" altLang="zh-TW" dirty="0">
                <a:solidFill>
                  <a:srgbClr val="C00000"/>
                </a:solidFill>
              </a:rPr>
              <a:t>storage device</a:t>
            </a:r>
            <a:r>
              <a:rPr kumimoji="1" lang="en-US" altLang="zh-TW" dirty="0"/>
              <a:t>. (e.g., 512 B)</a:t>
            </a:r>
          </a:p>
          <a:p>
            <a:pPr algn="l"/>
            <a:r>
              <a:rPr kumimoji="1" lang="en-US" altLang="zh-TW" dirty="0"/>
              <a:t>Block: The smallest addressable unit of the </a:t>
            </a:r>
            <a:r>
              <a:rPr kumimoji="1" lang="en-US" altLang="zh-TW" dirty="0">
                <a:solidFill>
                  <a:srgbClr val="C00000"/>
                </a:solidFill>
              </a:rPr>
              <a:t>file system</a:t>
            </a:r>
            <a:r>
              <a:rPr kumimoji="1" lang="en-US" altLang="zh-TW" dirty="0"/>
              <a:t>. (e.g., 512 B)</a:t>
            </a:r>
          </a:p>
          <a:p>
            <a:pPr lvl="1" algn="l"/>
            <a:r>
              <a:rPr lang="en-US" altLang="zh-TW" dirty="0"/>
              <a:t>Size(Page)&gt;=Size(Block) &gt;= Size(Sector)</a:t>
            </a:r>
            <a:endParaRPr kumimoji="1" lang="en-US" altLang="zh-TW" dirty="0"/>
          </a:p>
          <a:p>
            <a:pPr algn="l"/>
            <a:r>
              <a:rPr lang="en-US" altLang="zh-TW" dirty="0"/>
              <a:t>Buffer: The object which represents </a:t>
            </a:r>
            <a:r>
              <a:rPr lang="en-US" altLang="zh-TW" dirty="0">
                <a:solidFill>
                  <a:srgbClr val="C00000"/>
                </a:solidFill>
              </a:rPr>
              <a:t>a block in memory</a:t>
            </a:r>
            <a:r>
              <a:rPr lang="en-US" altLang="zh-TW" dirty="0"/>
              <a:t>.</a:t>
            </a:r>
          </a:p>
          <a:p>
            <a:pPr algn="l"/>
            <a:r>
              <a:rPr kumimoji="1" lang="en-US" altLang="zh-TW" dirty="0"/>
              <a:t>Buffer Head: A </a:t>
            </a:r>
            <a:r>
              <a:rPr kumimoji="1" lang="en-US" altLang="zh-TW" dirty="0">
                <a:solidFill>
                  <a:srgbClr val="C00000"/>
                </a:solidFill>
              </a:rPr>
              <a:t>descriptor</a:t>
            </a:r>
            <a:r>
              <a:rPr kumimoji="1" lang="en-US" altLang="zh-TW" dirty="0"/>
              <a:t> (i.e., </a:t>
            </a:r>
            <a:r>
              <a:rPr kumimoji="1" lang="en-US" altLang="zh-TW" dirty="0">
                <a:latin typeface="+mj-lt"/>
              </a:rPr>
              <a:t>struct </a:t>
            </a:r>
            <a:r>
              <a:rPr kumimoji="1" lang="en-US" altLang="zh-TW" dirty="0" err="1">
                <a:latin typeface="+mj-lt"/>
              </a:rPr>
              <a:t>buffer_head</a:t>
            </a:r>
            <a:r>
              <a:rPr kumimoji="1" lang="en-US" altLang="zh-TW" dirty="0"/>
              <a:t>) for </a:t>
            </a:r>
            <a:r>
              <a:rPr kumimoji="1" lang="en-US" altLang="zh-TW" dirty="0">
                <a:solidFill>
                  <a:srgbClr val="C00000"/>
                </a:solidFill>
              </a:rPr>
              <a:t>each buffer</a:t>
            </a:r>
            <a:r>
              <a:rPr kumimoji="1" lang="en-US" altLang="zh-TW" dirty="0"/>
              <a:t>. </a:t>
            </a:r>
            <a:br>
              <a:rPr kumimoji="1" lang="en-US" altLang="zh-TW" dirty="0"/>
            </a:br>
            <a:r>
              <a:rPr kumimoji="1" lang="en-US" altLang="zh-TW" dirty="0"/>
              <a:t>(e.g., the buffer is from which block device and from which specific block)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C9B7E9-6A0F-6CFD-E73F-63B6036B3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68C64C-2F3B-B468-2947-C2396D0C2801}"/>
              </a:ext>
            </a:extLst>
          </p:cNvPr>
          <p:cNvSpPr txBox="1"/>
          <p:nvPr/>
        </p:nvSpPr>
        <p:spPr>
          <a:xfrm>
            <a:off x="7356008" y="4382821"/>
            <a:ext cx="469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 err="1">
                <a:solidFill>
                  <a:srgbClr val="C00000"/>
                </a:solidFill>
                <a:latin typeface="+mj-lt"/>
              </a:rPr>
              <a:t>b_page</a:t>
            </a:r>
            <a:r>
              <a:rPr kumimoji="1" lang="en-US" altLang="zh-TW" sz="1400" dirty="0">
                <a:solidFill>
                  <a:srgbClr val="C00000"/>
                </a:solidFill>
                <a:latin typeface="+mj-lt"/>
              </a:rPr>
              <a:t> </a:t>
            </a:r>
            <a:r>
              <a:rPr kumimoji="1" lang="en-US" altLang="zh-TW" sz="1400" dirty="0">
                <a:solidFill>
                  <a:srgbClr val="C00000"/>
                </a:solidFill>
              </a:rPr>
              <a:t>points to the corresponding page for storing the block.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9D34396-8536-E2D8-73C4-DF66B9A51B25}"/>
              </a:ext>
            </a:extLst>
          </p:cNvPr>
          <p:cNvSpPr txBox="1"/>
          <p:nvPr/>
        </p:nvSpPr>
        <p:spPr>
          <a:xfrm>
            <a:off x="8681304" y="5027944"/>
            <a:ext cx="358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 err="1">
                <a:solidFill>
                  <a:srgbClr val="C00000"/>
                </a:solidFill>
                <a:latin typeface="+mj-lt"/>
              </a:rPr>
              <a:t>b_data</a:t>
            </a:r>
            <a:r>
              <a:rPr kumimoji="1" lang="en-US" altLang="zh-TW" sz="1400" dirty="0">
                <a:solidFill>
                  <a:srgbClr val="C00000"/>
                </a:solidFill>
                <a:latin typeface="+mj-lt"/>
              </a:rPr>
              <a:t> </a:t>
            </a:r>
            <a:r>
              <a:rPr kumimoji="1" lang="en-US" altLang="zh-TW" sz="1400" dirty="0">
                <a:solidFill>
                  <a:srgbClr val="C00000"/>
                </a:solidFill>
              </a:rPr>
              <a:t>points to the starting point of the block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DDEE179-DB3D-931C-358A-EE4EDD1DC4EB}"/>
              </a:ext>
            </a:extLst>
          </p:cNvPr>
          <p:cNvSpPr txBox="1"/>
          <p:nvPr/>
        </p:nvSpPr>
        <p:spPr>
          <a:xfrm>
            <a:off x="7973092" y="5270359"/>
            <a:ext cx="3724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 err="1">
                <a:solidFill>
                  <a:srgbClr val="C00000"/>
                </a:solidFill>
                <a:latin typeface="+mj-lt"/>
              </a:rPr>
              <a:t>b_bdev</a:t>
            </a:r>
            <a:r>
              <a:rPr kumimoji="1" lang="en-US" altLang="zh-TW" sz="1400" dirty="0">
                <a:solidFill>
                  <a:srgbClr val="C00000"/>
                </a:solidFill>
                <a:latin typeface="+mj-lt"/>
              </a:rPr>
              <a:t> </a:t>
            </a:r>
            <a:r>
              <a:rPr kumimoji="1" lang="en-US" altLang="zh-TW" sz="1400" dirty="0">
                <a:solidFill>
                  <a:srgbClr val="C00000"/>
                </a:solidFill>
              </a:rPr>
              <a:t>points to the corresponding block device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68165C7-46B0-190E-37CF-3947CBFBEFEB}"/>
              </a:ext>
            </a:extLst>
          </p:cNvPr>
          <p:cNvSpPr txBox="1"/>
          <p:nvPr/>
        </p:nvSpPr>
        <p:spPr>
          <a:xfrm>
            <a:off x="7255916" y="4793909"/>
            <a:ext cx="2817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 err="1">
                <a:solidFill>
                  <a:srgbClr val="C00000"/>
                </a:solidFill>
                <a:latin typeface="+mj-lt"/>
              </a:rPr>
              <a:t>b_size</a:t>
            </a:r>
            <a:r>
              <a:rPr kumimoji="1" lang="en-US" altLang="zh-TW" sz="1400" dirty="0">
                <a:solidFill>
                  <a:srgbClr val="C00000"/>
                </a:solidFill>
                <a:latin typeface="+mj-lt"/>
              </a:rPr>
              <a:t> </a:t>
            </a:r>
            <a:r>
              <a:rPr kumimoji="1" lang="en-US" altLang="zh-TW" sz="1400" dirty="0">
                <a:solidFill>
                  <a:srgbClr val="C00000"/>
                </a:solidFill>
              </a:rPr>
              <a:t>indicates the size of the block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EC6CA50-61DC-E806-5931-D5142B47B510}"/>
              </a:ext>
            </a:extLst>
          </p:cNvPr>
          <p:cNvSpPr txBox="1"/>
          <p:nvPr/>
        </p:nvSpPr>
        <p:spPr>
          <a:xfrm>
            <a:off x="7567539" y="3925880"/>
            <a:ext cx="4267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 err="1">
                <a:solidFill>
                  <a:srgbClr val="C00000"/>
                </a:solidFill>
                <a:latin typeface="+mj-lt"/>
              </a:rPr>
              <a:t>b_state</a:t>
            </a:r>
            <a:r>
              <a:rPr kumimoji="1" lang="en-US" altLang="zh-TW" sz="1400" dirty="0">
                <a:solidFill>
                  <a:srgbClr val="C00000"/>
                </a:solidFill>
                <a:latin typeface="+mj-lt"/>
              </a:rPr>
              <a:t> </a:t>
            </a:r>
            <a:r>
              <a:rPr kumimoji="1" lang="en-US" altLang="zh-TW" sz="1400" dirty="0">
                <a:solidFill>
                  <a:srgbClr val="C00000"/>
                </a:solidFill>
              </a:rPr>
              <a:t>specifies the state of the buffer. (e.g., dirty, lock)</a:t>
            </a:r>
            <a:endParaRPr kumimoji="1"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AFD7F1C-3E48-1304-3C88-5F6AA484588F}"/>
              </a:ext>
            </a:extLst>
          </p:cNvPr>
          <p:cNvSpPr txBox="1"/>
          <p:nvPr/>
        </p:nvSpPr>
        <p:spPr>
          <a:xfrm>
            <a:off x="653821" y="4087938"/>
            <a:ext cx="1913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TW" dirty="0"/>
              <a:t>Memory Page (4KB) </a:t>
            </a:r>
            <a:endParaRPr kumimoji="1"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F98F7E-D0C5-19A6-0952-039067B331B5}"/>
              </a:ext>
            </a:extLst>
          </p:cNvPr>
          <p:cNvSpPr/>
          <p:nvPr/>
        </p:nvSpPr>
        <p:spPr>
          <a:xfrm>
            <a:off x="490866" y="5848006"/>
            <a:ext cx="796604" cy="396875"/>
          </a:xfrm>
          <a:prstGeom prst="rect">
            <a:avLst/>
          </a:prstGeom>
          <a:solidFill>
            <a:srgbClr val="FBBFC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Sector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45CF792F-B056-BA82-613F-3AF3E02C843A}"/>
              </a:ext>
            </a:extLst>
          </p:cNvPr>
          <p:cNvGrpSpPr/>
          <p:nvPr/>
        </p:nvGrpSpPr>
        <p:grpSpPr>
          <a:xfrm>
            <a:off x="260945" y="5848007"/>
            <a:ext cx="2566873" cy="728661"/>
            <a:chOff x="260945" y="5848007"/>
            <a:chExt cx="2566873" cy="728661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26BA3AE7-B1A1-9BE6-0960-8413E34D10D1}"/>
                </a:ext>
              </a:extLst>
            </p:cNvPr>
            <p:cNvSpPr txBox="1"/>
            <p:nvPr/>
          </p:nvSpPr>
          <p:spPr>
            <a:xfrm>
              <a:off x="754033" y="6299669"/>
              <a:ext cx="139095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zh-TW" dirty="0"/>
                <a:t>Storage Device</a:t>
              </a:r>
              <a:endParaRPr kumimoji="1" lang="zh-TW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C6E22F7-D48E-1580-3F58-4003932B728A}"/>
                </a:ext>
              </a:extLst>
            </p:cNvPr>
            <p:cNvSpPr/>
            <p:nvPr/>
          </p:nvSpPr>
          <p:spPr>
            <a:xfrm>
              <a:off x="260945" y="5848007"/>
              <a:ext cx="2566873" cy="39687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BAB6CA2A-2AE8-73C7-372E-CFD4CF637EDC}"/>
              </a:ext>
            </a:extLst>
          </p:cNvPr>
          <p:cNvSpPr/>
          <p:nvPr/>
        </p:nvSpPr>
        <p:spPr>
          <a:xfrm>
            <a:off x="490866" y="5851377"/>
            <a:ext cx="2345073" cy="39687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Block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3DA4D6-12CF-AF0D-332E-F3D6CDAF2528}"/>
              </a:ext>
            </a:extLst>
          </p:cNvPr>
          <p:cNvSpPr/>
          <p:nvPr/>
        </p:nvSpPr>
        <p:spPr>
          <a:xfrm>
            <a:off x="260945" y="4387507"/>
            <a:ext cx="2566873" cy="3968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D56E93-2929-7E63-E427-6E11F900E104}"/>
              </a:ext>
            </a:extLst>
          </p:cNvPr>
          <p:cNvSpPr/>
          <p:nvPr/>
        </p:nvSpPr>
        <p:spPr>
          <a:xfrm>
            <a:off x="490866" y="5849663"/>
            <a:ext cx="2345073" cy="39687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Block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1D173C-B375-DCA7-67CE-F763BB8F2D4F}"/>
              </a:ext>
            </a:extLst>
          </p:cNvPr>
          <p:cNvSpPr/>
          <p:nvPr/>
        </p:nvSpPr>
        <p:spPr>
          <a:xfrm>
            <a:off x="482745" y="4384045"/>
            <a:ext cx="2345073" cy="396875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Buffer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42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07407E-6 L -0.00026 -0.2143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071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5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3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4" grpId="0"/>
      <p:bldP spid="14" grpId="1"/>
      <p:bldP spid="16" grpId="0"/>
      <p:bldP spid="19" grpId="0" animBg="1"/>
      <p:bldP spid="21" grpId="0" animBg="1"/>
      <p:bldP spid="21" grpId="1" animBg="1"/>
      <p:bldP spid="15" grpId="0" animBg="1"/>
      <p:bldP spid="5" grpId="0" animBg="1"/>
      <p:bldP spid="7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36AFDD-BC6C-0FBA-5D91-BB285366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Challenges of Buffer Heads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698633-BE02-F7BC-CC2D-C6C9E6E96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Buffer heads play the role of </a:t>
            </a:r>
            <a:r>
              <a:rPr kumimoji="1" lang="en-US" altLang="zh-TW" dirty="0">
                <a:solidFill>
                  <a:srgbClr val="C00000"/>
                </a:solidFill>
              </a:rPr>
              <a:t>buffer-to-block mapping</a:t>
            </a:r>
            <a:r>
              <a:rPr kumimoji="1" lang="en-US" altLang="zh-TW" dirty="0"/>
              <a:t>.</a:t>
            </a:r>
          </a:p>
          <a:p>
            <a:r>
              <a:rPr kumimoji="1" lang="en-US" altLang="zh-TW" dirty="0"/>
              <a:t>Challenge 1: A large and bulky data structure. A </a:t>
            </a:r>
            <a:r>
              <a:rPr kumimoji="1" lang="en-US" altLang="zh-TW" dirty="0">
                <a:solidFill>
                  <a:srgbClr val="C00000"/>
                </a:solidFill>
              </a:rPr>
              <a:t>block is smaller than a page</a:t>
            </a:r>
            <a:r>
              <a:rPr kumimoji="1" lang="en-US" altLang="zh-TW" dirty="0"/>
              <a:t>, and each buffer is described by a </a:t>
            </a:r>
            <a:r>
              <a:rPr kumimoji="1" lang="en-US" altLang="zh-TW" dirty="0">
                <a:solidFill>
                  <a:srgbClr val="C00000"/>
                </a:solidFill>
              </a:rPr>
              <a:t>bulky buffer head</a:t>
            </a:r>
            <a:r>
              <a:rPr kumimoji="1" lang="en-US" altLang="zh-TW" dirty="0"/>
              <a:t>, thus inefficient.</a:t>
            </a:r>
          </a:p>
          <a:p>
            <a:pPr lvl="1"/>
            <a:r>
              <a:rPr lang="en-US" altLang="zh-TW" i="1" dirty="0"/>
              <a:t>Sol (2.6 kernel): kernel </a:t>
            </a:r>
            <a:r>
              <a:rPr lang="en-US" altLang="zh-TW" i="1" dirty="0">
                <a:solidFill>
                  <a:srgbClr val="C00000"/>
                </a:solidFill>
              </a:rPr>
              <a:t>works directly with pages </a:t>
            </a:r>
            <a:r>
              <a:rPr lang="en-US" altLang="zh-TW" i="1" dirty="0"/>
              <a:t>and address spaces instead of blocks.</a:t>
            </a:r>
            <a:endParaRPr kumimoji="1" lang="en-US" altLang="zh-TW" i="1" dirty="0"/>
          </a:p>
          <a:p>
            <a:r>
              <a:rPr lang="en-US" altLang="zh-TW" dirty="0"/>
              <a:t>Challenge 2: kernel shall break up </a:t>
            </a:r>
            <a:r>
              <a:rPr lang="en-US" altLang="zh-TW" dirty="0">
                <a:solidFill>
                  <a:srgbClr val="C00000"/>
                </a:solidFill>
              </a:rPr>
              <a:t>large block I/O operations</a:t>
            </a:r>
            <a:r>
              <a:rPr lang="en-US" altLang="zh-TW" dirty="0"/>
              <a:t> into </a:t>
            </a:r>
            <a:r>
              <a:rPr lang="en-US" altLang="zh-TW" dirty="0">
                <a:solidFill>
                  <a:srgbClr val="C00000"/>
                </a:solidFill>
              </a:rPr>
              <a:t>multiple needless </a:t>
            </a:r>
            <a:r>
              <a:rPr lang="en-US" altLang="zh-TW" dirty="0" err="1">
                <a:solidFill>
                  <a:srgbClr val="C00000"/>
                </a:solidFill>
                <a:latin typeface="+mj-lt"/>
              </a:rPr>
              <a:t>buffer_head</a:t>
            </a:r>
            <a:r>
              <a:rPr lang="en-US" altLang="zh-TW" dirty="0">
                <a:solidFill>
                  <a:srgbClr val="C00000"/>
                </a:solidFill>
              </a:rPr>
              <a:t> structures</a:t>
            </a:r>
            <a:r>
              <a:rPr lang="en-US" altLang="zh-TW" dirty="0"/>
              <a:t> (e.g., each </a:t>
            </a:r>
            <a:r>
              <a:rPr lang="en-US" altLang="zh-TW" dirty="0" err="1">
                <a:latin typeface="+mj-lt"/>
              </a:rPr>
              <a:t>buffer_head</a:t>
            </a:r>
            <a:r>
              <a:rPr lang="en-US" altLang="zh-TW" dirty="0"/>
              <a:t> represent 512 B).</a:t>
            </a:r>
          </a:p>
          <a:p>
            <a:pPr lvl="1"/>
            <a:r>
              <a:rPr kumimoji="1" lang="en-US" altLang="zh-TW" i="1" dirty="0"/>
              <a:t>Sol (2.5 kernel): A new, flexible, and lightweight container for block I/O operations. (bio)</a:t>
            </a:r>
            <a:endParaRPr kumimoji="1" lang="zh-TW" altLang="en-US" i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C9B7E9-6A0F-6CFD-E73F-63B6036B3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041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F84C2C6-C23B-9C9D-E4F7-B3FF4A687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556" y="2404431"/>
            <a:ext cx="5005904" cy="411480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5492F5D-850F-15A1-FE65-D83E85CD7C62}"/>
              </a:ext>
            </a:extLst>
          </p:cNvPr>
          <p:cNvSpPr/>
          <p:nvPr/>
        </p:nvSpPr>
        <p:spPr>
          <a:xfrm>
            <a:off x="3915150" y="5806351"/>
            <a:ext cx="1230383" cy="396875"/>
          </a:xfrm>
          <a:prstGeom prst="rect">
            <a:avLst/>
          </a:prstGeom>
          <a:solidFill>
            <a:srgbClr val="FBBFC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Segment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936AFDD-BC6C-0FBA-5D91-BB285366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BIO Structure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698633-BE02-F7BC-CC2D-C6C9E6E96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1015513"/>
            <a:ext cx="11836400" cy="5441950"/>
          </a:xfrm>
        </p:spPr>
        <p:txBody>
          <a:bodyPr/>
          <a:lstStyle/>
          <a:p>
            <a:r>
              <a:rPr kumimoji="1" lang="en-US" altLang="zh-TW" dirty="0"/>
              <a:t>Bio: A </a:t>
            </a:r>
            <a:r>
              <a:rPr kumimoji="1" lang="en-US" altLang="zh-TW" dirty="0">
                <a:solidFill>
                  <a:srgbClr val="C00000"/>
                </a:solidFill>
              </a:rPr>
              <a:t>block I/O operation. </a:t>
            </a:r>
            <a:r>
              <a:rPr kumimoji="1" lang="en-US" altLang="zh-TW" dirty="0">
                <a:solidFill>
                  <a:schemeClr val="tx1"/>
                </a:solidFill>
              </a:rPr>
              <a:t>It can handle a list of non-contiguous segments</a:t>
            </a:r>
            <a:r>
              <a:rPr kumimoji="1" lang="en-US" altLang="zh-TW" dirty="0"/>
              <a:t>. (</a:t>
            </a:r>
            <a:r>
              <a:rPr kumimoji="1" lang="en-US" altLang="zh-TW" i="1" dirty="0"/>
              <a:t>Blocks belonging to an operation </a:t>
            </a:r>
            <a:r>
              <a:rPr kumimoji="1" lang="en-US" altLang="zh-TW" i="1" dirty="0">
                <a:solidFill>
                  <a:srgbClr val="C00000"/>
                </a:solidFill>
              </a:rPr>
              <a:t>need not </a:t>
            </a:r>
            <a:r>
              <a:rPr kumimoji="1" lang="en-US" altLang="zh-TW" i="1" dirty="0"/>
              <a:t>be contiguous</a:t>
            </a:r>
            <a:r>
              <a:rPr kumimoji="1" lang="en-US" altLang="zh-TW" dirty="0"/>
              <a:t>)</a:t>
            </a:r>
          </a:p>
          <a:p>
            <a:r>
              <a:rPr lang="en-US" altLang="zh-TW" dirty="0"/>
              <a:t>Segment: A chunk of a </a:t>
            </a:r>
            <a:r>
              <a:rPr lang="en-US" altLang="zh-TW" dirty="0">
                <a:solidFill>
                  <a:srgbClr val="C00000"/>
                </a:solidFill>
              </a:rPr>
              <a:t>buffer that is contiguous in memory.</a:t>
            </a:r>
            <a:r>
              <a:rPr kumimoji="1" lang="en-US" altLang="zh-TW" dirty="0">
                <a:solidFill>
                  <a:srgbClr val="C00000"/>
                </a:solidFill>
              </a:rPr>
              <a:t> </a:t>
            </a:r>
          </a:p>
          <a:p>
            <a:endParaRPr kumimoji="1"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C9B7E9-6A0F-6CFD-E73F-63B6036B3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E6636-6BA5-4AAC-8485-BE8D914D288B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7198BDD2-7482-1184-F401-298FCFA7C4B1}"/>
              </a:ext>
            </a:extLst>
          </p:cNvPr>
          <p:cNvGrpSpPr/>
          <p:nvPr/>
        </p:nvGrpSpPr>
        <p:grpSpPr>
          <a:xfrm>
            <a:off x="3642963" y="3839898"/>
            <a:ext cx="1458632" cy="515552"/>
            <a:chOff x="3642963" y="3839898"/>
            <a:chExt cx="1458632" cy="515552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0F9A324-36CB-B89E-6532-F013638FDF07}"/>
                </a:ext>
              </a:extLst>
            </p:cNvPr>
            <p:cNvSpPr txBox="1"/>
            <p:nvPr/>
          </p:nvSpPr>
          <p:spPr>
            <a:xfrm>
              <a:off x="3642963" y="3986118"/>
              <a:ext cx="1004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i="1" dirty="0">
                  <a:solidFill>
                    <a:srgbClr val="C00000"/>
                  </a:solidFill>
                  <a:latin typeface="+mj-lt"/>
                </a:rPr>
                <a:t>Segment</a:t>
              </a:r>
              <a:endParaRPr kumimoji="1" lang="zh-TW" altLang="en-US" i="1" dirty="0">
                <a:solidFill>
                  <a:srgbClr val="C00000"/>
                </a:solidFill>
                <a:latin typeface="+mj-lt"/>
              </a:endParaRPr>
            </a:p>
          </p:txBody>
        </p:sp>
        <p:cxnSp>
          <p:nvCxnSpPr>
            <p:cNvPr id="12" name="曲線接點 11">
              <a:extLst>
                <a:ext uri="{FF2B5EF4-FFF2-40B4-BE49-F238E27FC236}">
                  <a16:creationId xmlns:a16="http://schemas.microsoft.com/office/drawing/2014/main" id="{2FBFAC06-8077-5091-A714-A20BFCA7784A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4647725" y="3839898"/>
              <a:ext cx="453870" cy="33088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64090AD-572E-2A55-67BB-00FB2DC11751}"/>
              </a:ext>
            </a:extLst>
          </p:cNvPr>
          <p:cNvSpPr txBox="1"/>
          <p:nvPr/>
        </p:nvSpPr>
        <p:spPr>
          <a:xfrm>
            <a:off x="3973498" y="4821827"/>
            <a:ext cx="173611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TW" i="1" dirty="0">
                <a:solidFill>
                  <a:srgbClr val="C00000"/>
                </a:solidFill>
                <a:latin typeface="+mj-lt"/>
              </a:rPr>
              <a:t>&lt;page, offset, len&gt;</a:t>
            </a:r>
            <a:endParaRPr kumimoji="1" lang="zh-TW" altLang="en-US" i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ADC1C707-2EDD-BB31-8070-13E88A51906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42974" y="5999703"/>
            <a:ext cx="972176" cy="5086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EDED725-A15F-06A8-573C-CB359CA300FC}"/>
              </a:ext>
            </a:extLst>
          </p:cNvPr>
          <p:cNvCxnSpPr>
            <a:cxnSpLocks/>
          </p:cNvCxnSpPr>
          <p:nvPr/>
        </p:nvCxnSpPr>
        <p:spPr>
          <a:xfrm>
            <a:off x="3915150" y="5718614"/>
            <a:ext cx="1230383" cy="0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7EBBA44E-1024-E811-35E8-D706491593E3}"/>
              </a:ext>
            </a:extLst>
          </p:cNvPr>
          <p:cNvGrpSpPr/>
          <p:nvPr/>
        </p:nvGrpSpPr>
        <p:grpSpPr>
          <a:xfrm>
            <a:off x="2942974" y="5801266"/>
            <a:ext cx="3824090" cy="675636"/>
            <a:chOff x="2942974" y="5801266"/>
            <a:chExt cx="3824090" cy="67563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498BF51-6871-35B5-8D44-2E2F2A98175B}"/>
                </a:ext>
              </a:extLst>
            </p:cNvPr>
            <p:cNvSpPr/>
            <p:nvPr/>
          </p:nvSpPr>
          <p:spPr>
            <a:xfrm>
              <a:off x="2942974" y="5801266"/>
              <a:ext cx="2322089" cy="39687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BEC75CE4-35A1-E562-D42D-A5C1A3CC28D7}"/>
                </a:ext>
              </a:extLst>
            </p:cNvPr>
            <p:cNvSpPr txBox="1"/>
            <p:nvPr/>
          </p:nvSpPr>
          <p:spPr>
            <a:xfrm>
              <a:off x="3556464" y="6199903"/>
              <a:ext cx="109126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zh-TW" dirty="0"/>
                <a:t>Page Frame</a:t>
              </a:r>
              <a:endParaRPr kumimoji="1" lang="zh-TW" altLang="en-US" dirty="0"/>
            </a:p>
          </p:txBody>
        </p:sp>
        <p:cxnSp>
          <p:nvCxnSpPr>
            <p:cNvPr id="29" name="曲線接點 28">
              <a:extLst>
                <a:ext uri="{FF2B5EF4-FFF2-40B4-BE49-F238E27FC236}">
                  <a16:creationId xmlns:a16="http://schemas.microsoft.com/office/drawing/2014/main" id="{7E7AFB37-F4A4-17DD-FC4A-B2F19EFD3F2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284160" y="5999703"/>
              <a:ext cx="1482904" cy="191682"/>
            </a:xfrm>
            <a:prstGeom prst="curvedConnector3">
              <a:avLst/>
            </a:prstGeom>
            <a:ln w="19050">
              <a:solidFill>
                <a:srgbClr val="C0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F1BDBA68-E85B-4DDF-9C6D-1337340523FD}"/>
              </a:ext>
            </a:extLst>
          </p:cNvPr>
          <p:cNvCxnSpPr>
            <a:cxnSpLocks/>
          </p:cNvCxnSpPr>
          <p:nvPr/>
        </p:nvCxnSpPr>
        <p:spPr>
          <a:xfrm flipH="1">
            <a:off x="2942974" y="5098826"/>
            <a:ext cx="1307255" cy="705591"/>
          </a:xfrm>
          <a:prstGeom prst="straightConnector1">
            <a:avLst/>
          </a:prstGeom>
          <a:ln w="19050">
            <a:solidFill>
              <a:srgbClr val="C00000"/>
            </a:solidFill>
            <a:prstDash val="lgDash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3C1353D7-EFA6-DE6D-3198-934C179BDBCD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363946" y="5098826"/>
            <a:ext cx="1477610" cy="859551"/>
          </a:xfrm>
          <a:prstGeom prst="straightConnector1">
            <a:avLst/>
          </a:prstGeom>
          <a:ln w="19050">
            <a:solidFill>
              <a:srgbClr val="C00000"/>
            </a:solidFill>
            <a:prstDash val="lgDash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C4EF3977-D6D9-9535-8784-2A263AFD7F1D}"/>
              </a:ext>
            </a:extLst>
          </p:cNvPr>
          <p:cNvCxnSpPr>
            <a:cxnSpLocks/>
          </p:cNvCxnSpPr>
          <p:nvPr/>
        </p:nvCxnSpPr>
        <p:spPr>
          <a:xfrm flipH="1">
            <a:off x="4460424" y="5119489"/>
            <a:ext cx="945213" cy="554825"/>
          </a:xfrm>
          <a:prstGeom prst="straightConnector1">
            <a:avLst/>
          </a:prstGeom>
          <a:ln w="19050">
            <a:solidFill>
              <a:srgbClr val="C00000"/>
            </a:solidFill>
            <a:prstDash val="lgDash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DA962A15-3ADA-61A4-6DAD-B5FD84C5E01A}"/>
              </a:ext>
            </a:extLst>
          </p:cNvPr>
          <p:cNvGrpSpPr/>
          <p:nvPr/>
        </p:nvGrpSpPr>
        <p:grpSpPr>
          <a:xfrm>
            <a:off x="6688738" y="2760371"/>
            <a:ext cx="4392996" cy="646331"/>
            <a:chOff x="6688740" y="2760371"/>
            <a:chExt cx="3295993" cy="646331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8FFE0ACA-D6E8-75D3-340C-24626B45D112}"/>
                </a:ext>
              </a:extLst>
            </p:cNvPr>
            <p:cNvSpPr txBox="1"/>
            <p:nvPr/>
          </p:nvSpPr>
          <p:spPr>
            <a:xfrm>
              <a:off x="7102759" y="2760371"/>
              <a:ext cx="2881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i="1" dirty="0">
                  <a:solidFill>
                    <a:srgbClr val="C00000"/>
                  </a:solidFill>
                </a:rPr>
                <a:t>Current processing segment</a:t>
              </a:r>
              <a:br>
                <a:rPr kumimoji="1" lang="en-US" altLang="zh-TW" i="1" dirty="0">
                  <a:solidFill>
                    <a:srgbClr val="C00000"/>
                  </a:solidFill>
                </a:rPr>
              </a:br>
              <a:r>
                <a:rPr kumimoji="1" lang="en-US" altLang="zh-TW" i="1" dirty="0">
                  <a:solidFill>
                    <a:srgbClr val="C00000"/>
                  </a:solidFill>
                </a:rPr>
                <a:t>(Help to keep track of current progress)</a:t>
              </a:r>
              <a:endParaRPr kumimoji="1" lang="zh-TW" alt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50" name="曲線接點 49">
              <a:extLst>
                <a:ext uri="{FF2B5EF4-FFF2-40B4-BE49-F238E27FC236}">
                  <a16:creationId xmlns:a16="http://schemas.microsoft.com/office/drawing/2014/main" id="{B3209849-41D2-6342-268D-A67AC8E67C1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88740" y="3102395"/>
              <a:ext cx="414019" cy="75253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DC587765-0852-A736-DD36-347B88904255}"/>
              </a:ext>
            </a:extLst>
          </p:cNvPr>
          <p:cNvGrpSpPr/>
          <p:nvPr/>
        </p:nvGrpSpPr>
        <p:grpSpPr>
          <a:xfrm>
            <a:off x="1385706" y="2434199"/>
            <a:ext cx="3850775" cy="646331"/>
            <a:chOff x="1385706" y="2434199"/>
            <a:chExt cx="3850775" cy="64633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E2812D4-C33C-C51A-EA29-8882E5889F4E}"/>
                </a:ext>
              </a:extLst>
            </p:cNvPr>
            <p:cNvSpPr txBox="1"/>
            <p:nvPr/>
          </p:nvSpPr>
          <p:spPr>
            <a:xfrm>
              <a:off x="1385706" y="2434199"/>
              <a:ext cx="37158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i="1" dirty="0">
                  <a:solidFill>
                    <a:srgbClr val="C00000"/>
                  </a:solidFill>
                </a:rPr>
                <a:t>One block I/O operation</a:t>
              </a:r>
              <a:br>
                <a:rPr kumimoji="1" lang="en-US" altLang="zh-TW" i="1" dirty="0">
                  <a:solidFill>
                    <a:srgbClr val="C00000"/>
                  </a:solidFill>
                </a:rPr>
              </a:br>
              <a:r>
                <a:rPr kumimoji="1" lang="en-US" altLang="zh-TW" i="1" dirty="0">
                  <a:solidFill>
                    <a:srgbClr val="C00000"/>
                  </a:solidFill>
                </a:rPr>
                <a:t>(</a:t>
              </a:r>
              <a:r>
                <a:rPr kumimoji="1" lang="en-US" altLang="zh-TW" i="1" dirty="0">
                  <a:solidFill>
                    <a:srgbClr val="C00000"/>
                  </a:solidFill>
                  <a:latin typeface="+mj-lt"/>
                </a:rPr>
                <a:t>*</a:t>
              </a:r>
              <a:r>
                <a:rPr kumimoji="1" lang="en-US" altLang="zh-TW" i="1" dirty="0" err="1">
                  <a:solidFill>
                    <a:srgbClr val="C00000"/>
                  </a:solidFill>
                  <a:latin typeface="+mj-lt"/>
                </a:rPr>
                <a:t>bi_next</a:t>
              </a:r>
              <a:r>
                <a:rPr kumimoji="1" lang="en-US" altLang="zh-TW" i="1" dirty="0">
                  <a:solidFill>
                    <a:srgbClr val="C00000"/>
                  </a:solidFill>
                </a:rPr>
                <a:t> can point to next operation)</a:t>
              </a:r>
              <a:endParaRPr kumimoji="1" lang="zh-TW" alt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56" name="曲線接點 55">
              <a:extLst>
                <a:ext uri="{FF2B5EF4-FFF2-40B4-BE49-F238E27FC236}">
                  <a16:creationId xmlns:a16="http://schemas.microsoft.com/office/drawing/2014/main" id="{D68D10A4-AA39-3FB5-5F67-829F66424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3460" y="2555373"/>
              <a:ext cx="1263021" cy="18174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DAF59F18-7051-18A6-44CA-C6B0351B58BE}"/>
              </a:ext>
            </a:extLst>
          </p:cNvPr>
          <p:cNvGrpSpPr/>
          <p:nvPr/>
        </p:nvGrpSpPr>
        <p:grpSpPr>
          <a:xfrm>
            <a:off x="1348904" y="3172863"/>
            <a:ext cx="3887539" cy="646331"/>
            <a:chOff x="1348904" y="3172863"/>
            <a:chExt cx="3887539" cy="646331"/>
          </a:xfrm>
        </p:grpSpPr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36A7EB3F-5A5F-F00B-38FA-44F979223044}"/>
                </a:ext>
              </a:extLst>
            </p:cNvPr>
            <p:cNvSpPr txBox="1"/>
            <p:nvPr/>
          </p:nvSpPr>
          <p:spPr>
            <a:xfrm>
              <a:off x="1348904" y="3172863"/>
              <a:ext cx="30194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i="1" dirty="0">
                  <a:solidFill>
                    <a:srgbClr val="C00000"/>
                  </a:solidFill>
                </a:rPr>
                <a:t>Start of the </a:t>
              </a:r>
              <a:r>
                <a:rPr kumimoji="1" lang="en-US" altLang="zh-TW" i="1" dirty="0" err="1">
                  <a:solidFill>
                    <a:srgbClr val="C00000"/>
                  </a:solidFill>
                  <a:latin typeface="+mj-lt"/>
                </a:rPr>
                <a:t>vec_list</a:t>
              </a:r>
              <a:r>
                <a:rPr kumimoji="1" lang="en-US" altLang="zh-TW" i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kumimoji="1" lang="en-US" altLang="zh-TW" i="1" dirty="0">
                  <a:solidFill>
                    <a:srgbClr val="C00000"/>
                  </a:solidFill>
                </a:rPr>
                <a:t>belonging </a:t>
              </a:r>
              <a:br>
                <a:rPr kumimoji="1" lang="en-US" altLang="zh-TW" i="1" dirty="0">
                  <a:solidFill>
                    <a:srgbClr val="C00000"/>
                  </a:solidFill>
                </a:rPr>
              </a:br>
              <a:r>
                <a:rPr kumimoji="1" lang="en-US" altLang="zh-TW" i="1" dirty="0">
                  <a:solidFill>
                    <a:srgbClr val="C00000"/>
                  </a:solidFill>
                </a:rPr>
                <a:t>to the I/O operation</a:t>
              </a:r>
              <a:endParaRPr kumimoji="1" lang="zh-TW" alt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1" name="曲線接點 60">
              <a:extLst>
                <a:ext uri="{FF2B5EF4-FFF2-40B4-BE49-F238E27FC236}">
                  <a16:creationId xmlns:a16="http://schemas.microsoft.com/office/drawing/2014/main" id="{A5CFB6A4-3517-ED24-6ABF-E6271E32F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3497" y="3201704"/>
              <a:ext cx="1262946" cy="342468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51ED178E-9812-C42B-FFCB-FC93A5AADB6B}"/>
              </a:ext>
            </a:extLst>
          </p:cNvPr>
          <p:cNvSpPr txBox="1"/>
          <p:nvPr/>
        </p:nvSpPr>
        <p:spPr>
          <a:xfrm>
            <a:off x="-67441" y="6581001"/>
            <a:ext cx="7883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Ref:</a:t>
            </a:r>
            <a:r>
              <a:rPr kumimoji="1" lang="zh-TW" altLang="en-US" sz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www.byteisland.com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kumimoji="1" lang="en-US" altLang="zh-TW" sz="1200" dirty="0" err="1">
                <a:solidFill>
                  <a:schemeClr val="bg1">
                    <a:lumMod val="75000"/>
                  </a:schemeClr>
                </a:solidFill>
              </a:rPr>
              <a:t>linux</a:t>
            </a:r>
            <a:r>
              <a:rPr kumimoji="1" lang="en-US" altLang="zh-TW" sz="1200" dirty="0">
                <a:solidFill>
                  <a:schemeClr val="bg1">
                    <a:lumMod val="75000"/>
                  </a:schemeClr>
                </a:solidFill>
              </a:rPr>
              <a:t>-%E9%80%9A%E7%94%A8%E5%9D%97%E5%B1%82-bio-%E8%AF%A6%E8%A7%A3/</a:t>
            </a:r>
          </a:p>
        </p:txBody>
      </p:sp>
    </p:spTree>
    <p:extLst>
      <p:ext uri="{BB962C8B-B14F-4D97-AF65-F5344CB8AC3E}">
        <p14:creationId xmlns:p14="http://schemas.microsoft.com/office/powerpoint/2010/main" val="135963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211534</TotalTime>
  <Words>1995</Words>
  <Application>Microsoft Macintosh PowerPoint</Application>
  <PresentationFormat>寬螢幕</PresentationFormat>
  <Paragraphs>272</Paragraphs>
  <Slides>16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Kaiti TC</vt:lpstr>
      <vt:lpstr>Times</vt:lpstr>
      <vt:lpstr>Arial</vt:lpstr>
      <vt:lpstr>Bradley Hand</vt:lpstr>
      <vt:lpstr>Calibri</vt:lpstr>
      <vt:lpstr>Calibri Light</vt:lpstr>
      <vt:lpstr>Palatino Linotype</vt:lpstr>
      <vt:lpstr>Wingdings</vt:lpstr>
      <vt:lpstr>Office Theme</vt:lpstr>
      <vt:lpstr>PowerPoint 簡報</vt:lpstr>
      <vt:lpstr>Recall: Multi-Level Cells</vt:lpstr>
      <vt:lpstr>Recall: SSD’s Architecture</vt:lpstr>
      <vt:lpstr>Recall: Interaction with the Peripherals</vt:lpstr>
      <vt:lpstr>PowerPoint 簡報</vt:lpstr>
      <vt:lpstr>A Split View of the Kernel I/O Stacks</vt:lpstr>
      <vt:lpstr>More About Device Driver</vt:lpstr>
      <vt:lpstr>The Role of the Device Driver</vt:lpstr>
      <vt:lpstr>How to Build a Device Driver</vt:lpstr>
      <vt:lpstr>How to Build a Device Driver (Count.)</vt:lpstr>
      <vt:lpstr>Kernel Programming</vt:lpstr>
      <vt:lpstr>Kernel Programming (Count.)</vt:lpstr>
      <vt:lpstr>PowerPoint 簡報</vt:lpstr>
      <vt:lpstr>Buffers and Buffer Heads</vt:lpstr>
      <vt:lpstr>Challenges of Buffer Heads</vt:lpstr>
      <vt:lpstr>BIO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 Ming-Chang</dc:creator>
  <cp:lastModifiedBy>吳俊峯</cp:lastModifiedBy>
  <cp:revision>1654</cp:revision>
  <dcterms:created xsi:type="dcterms:W3CDTF">2017-10-03T14:18:54Z</dcterms:created>
  <dcterms:modified xsi:type="dcterms:W3CDTF">2025-11-25T20:31:00Z</dcterms:modified>
</cp:coreProperties>
</file>