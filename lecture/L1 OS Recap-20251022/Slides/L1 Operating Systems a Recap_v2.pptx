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handoutMasterIdLst>
    <p:handoutMasterId r:id="rId25"/>
  </p:handoutMasterIdLst>
  <p:sldIdLst>
    <p:sldId id="256" r:id="rId2"/>
    <p:sldId id="1136" r:id="rId3"/>
    <p:sldId id="1130" r:id="rId4"/>
    <p:sldId id="1129" r:id="rId5"/>
    <p:sldId id="1098" r:id="rId6"/>
    <p:sldId id="1104" r:id="rId7"/>
    <p:sldId id="1100" r:id="rId8"/>
    <p:sldId id="1102" r:id="rId9"/>
    <p:sldId id="1101" r:id="rId10"/>
    <p:sldId id="1135" r:id="rId11"/>
    <p:sldId id="1134" r:id="rId12"/>
    <p:sldId id="1105" r:id="rId13"/>
    <p:sldId id="1111" r:id="rId14"/>
    <p:sldId id="1132" r:id="rId15"/>
    <p:sldId id="1119" r:id="rId16"/>
    <p:sldId id="1117" r:id="rId17"/>
    <p:sldId id="1107" r:id="rId18"/>
    <p:sldId id="1108" r:id="rId19"/>
    <p:sldId id="1112" r:id="rId20"/>
    <p:sldId id="1120" r:id="rId21"/>
    <p:sldId id="1126" r:id="rId22"/>
    <p:sldId id="1131" r:id="rId23"/>
  </p:sldIdLst>
  <p:sldSz cx="12192000" cy="6858000"/>
  <p:notesSz cx="7099300" cy="102346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A1A42E-9635-48ED-A31C-3B34D71B1AD6}">
          <p14:sldIdLst>
            <p14:sldId id="256"/>
            <p14:sldId id="1136"/>
            <p14:sldId id="1130"/>
            <p14:sldId id="1129"/>
            <p14:sldId id="1098"/>
            <p14:sldId id="1104"/>
            <p14:sldId id="1100"/>
            <p14:sldId id="1102"/>
            <p14:sldId id="1101"/>
            <p14:sldId id="1135"/>
            <p14:sldId id="1134"/>
            <p14:sldId id="1105"/>
            <p14:sldId id="1111"/>
            <p14:sldId id="1132"/>
            <p14:sldId id="1119"/>
            <p14:sldId id="1117"/>
            <p14:sldId id="1107"/>
            <p14:sldId id="1108"/>
            <p14:sldId id="1112"/>
            <p14:sldId id="1120"/>
            <p14:sldId id="1126"/>
            <p14:sldId id="11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4E4"/>
    <a:srgbClr val="D7D9DA"/>
    <a:srgbClr val="F2F2F2"/>
    <a:srgbClr val="86A3D6"/>
    <a:srgbClr val="348BDF"/>
    <a:srgbClr val="3395F7"/>
    <a:srgbClr val="F6DF98"/>
    <a:srgbClr val="800080"/>
    <a:srgbClr val="F3CF64"/>
    <a:srgbClr val="FFFD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361" autoAdjust="0"/>
  </p:normalViewPr>
  <p:slideViewPr>
    <p:cSldViewPr snapToGrid="0">
      <p:cViewPr varScale="1">
        <p:scale>
          <a:sx n="100" d="100"/>
          <a:sy n="100" d="100"/>
        </p:scale>
        <p:origin x="936" y="72"/>
      </p:cViewPr>
      <p:guideLst/>
    </p:cSldViewPr>
  </p:slideViewPr>
  <p:notesTextViewPr>
    <p:cViewPr>
      <p:scale>
        <a:sx n="3" d="2"/>
        <a:sy n="3" d="2"/>
      </p:scale>
      <p:origin x="0" y="0"/>
    </p:cViewPr>
  </p:notesTextViewPr>
  <p:sorterViewPr>
    <p:cViewPr>
      <p:scale>
        <a:sx n="200" d="100"/>
        <a:sy n="200" d="100"/>
      </p:scale>
      <p:origin x="0" y="-235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4021139" y="1"/>
            <a:ext cx="3076575" cy="512763"/>
          </a:xfrm>
          <a:prstGeom prst="rect">
            <a:avLst/>
          </a:prstGeom>
        </p:spPr>
        <p:txBody>
          <a:bodyPr vert="horz" lIns="91440" tIns="45720" rIns="91440" bIns="45720" rtlCol="0"/>
          <a:lstStyle>
            <a:lvl1pPr algn="r">
              <a:defRPr sz="1200"/>
            </a:lvl1pPr>
          </a:lstStyle>
          <a:p>
            <a:fld id="{C70AB553-F76C-4E9E-A6A8-687C6D4F2678}" type="datetimeFigureOut">
              <a:rPr lang="zh-TW" altLang="en-US" smtClean="0"/>
              <a:t>2025/10/29</a:t>
            </a:fld>
            <a:endParaRPr lang="zh-TW" altLang="en-US"/>
          </a:p>
        </p:txBody>
      </p:sp>
      <p:sp>
        <p:nvSpPr>
          <p:cNvPr id="4" name="Footer Placeholder 3"/>
          <p:cNvSpPr>
            <a:spLocks noGrp="1"/>
          </p:cNvSpPr>
          <p:nvPr>
            <p:ph type="ftr" sz="quarter" idx="2"/>
          </p:nvPr>
        </p:nvSpPr>
        <p:spPr>
          <a:xfrm>
            <a:off x="1" y="9721851"/>
            <a:ext cx="3076575" cy="512763"/>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4021139" y="9721851"/>
            <a:ext cx="3076575" cy="512763"/>
          </a:xfrm>
          <a:prstGeom prst="rect">
            <a:avLst/>
          </a:prstGeom>
        </p:spPr>
        <p:txBody>
          <a:bodyPr vert="horz" lIns="91440" tIns="45720" rIns="91440" bIns="45720" rtlCol="0" anchor="b"/>
          <a:lstStyle>
            <a:lvl1pPr algn="r">
              <a:defRPr sz="1200"/>
            </a:lvl1pPr>
          </a:lstStyle>
          <a:p>
            <a:fld id="{56A29E38-24E5-4270-86F6-0CA4D49E0625}" type="slidenum">
              <a:rPr lang="zh-TW" altLang="en-US" smtClean="0"/>
              <a:t>‹#›</a:t>
            </a:fld>
            <a:endParaRPr lang="zh-TW" altLang="en-US"/>
          </a:p>
        </p:txBody>
      </p:sp>
    </p:spTree>
    <p:extLst>
      <p:ext uri="{BB962C8B-B14F-4D97-AF65-F5344CB8AC3E}">
        <p14:creationId xmlns:p14="http://schemas.microsoft.com/office/powerpoint/2010/main" val="12523679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endParaRPr lang="zh-TW" altLang="en-US"/>
          </a:p>
        </p:txBody>
      </p:sp>
      <p:sp>
        <p:nvSpPr>
          <p:cNvPr id="3" name="Date Placeholder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fld id="{C2CF7E20-0940-468E-AEA3-3A81AFC8423F}" type="datetimeFigureOut">
              <a:rPr lang="zh-TW" altLang="en-US" smtClean="0"/>
              <a:t>2025/10/29</a:t>
            </a:fld>
            <a:endParaRPr lang="zh-TW" altLang="en-US"/>
          </a:p>
        </p:txBody>
      </p:sp>
      <p:sp>
        <p:nvSpPr>
          <p:cNvPr id="4" name="Slide Image Placeholder 3"/>
          <p:cNvSpPr>
            <a:spLocks noGrp="1" noRot="1" noChangeAspect="1"/>
          </p:cNvSpPr>
          <p:nvPr>
            <p:ph type="sldImg" idx="2"/>
          </p:nvPr>
        </p:nvSpPr>
        <p:spPr>
          <a:xfrm>
            <a:off x="481013" y="1279525"/>
            <a:ext cx="6137275" cy="3452813"/>
          </a:xfrm>
          <a:prstGeom prst="rect">
            <a:avLst/>
          </a:prstGeom>
          <a:noFill/>
          <a:ln w="12700">
            <a:solidFill>
              <a:prstClr val="black"/>
            </a:solidFill>
          </a:ln>
        </p:spPr>
        <p:txBody>
          <a:bodyPr vert="horz" lIns="99048" tIns="49524" rIns="99048" bIns="49524" rtlCol="0" anchor="ctr"/>
          <a:lstStyle/>
          <a:p>
            <a:endParaRPr lang="zh-TW" altLang="en-US"/>
          </a:p>
        </p:txBody>
      </p:sp>
      <p:sp>
        <p:nvSpPr>
          <p:cNvPr id="5" name="Notes Placeholder 4"/>
          <p:cNvSpPr>
            <a:spLocks noGrp="1"/>
          </p:cNvSpPr>
          <p:nvPr>
            <p:ph type="body" sz="quarter" idx="3"/>
          </p:nvPr>
        </p:nvSpPr>
        <p:spPr>
          <a:xfrm>
            <a:off x="709930" y="4925408"/>
            <a:ext cx="5679440" cy="4029878"/>
          </a:xfrm>
          <a:prstGeom prst="rect">
            <a:avLst/>
          </a:prstGeom>
        </p:spPr>
        <p:txBody>
          <a:bodyPr vert="horz" lIns="99048" tIns="49524" rIns="99048" bIns="49524" rtlCol="0"/>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1" y="9721108"/>
            <a:ext cx="3076363" cy="513507"/>
          </a:xfrm>
          <a:prstGeom prst="rect">
            <a:avLst/>
          </a:prstGeom>
        </p:spPr>
        <p:txBody>
          <a:bodyPr vert="horz" lIns="99048" tIns="49524" rIns="99048" bIns="49524" rtlCol="0" anchor="b"/>
          <a:lstStyle>
            <a:lvl1pPr algn="l">
              <a:defRPr sz="1300"/>
            </a:lvl1pPr>
          </a:lstStyle>
          <a:p>
            <a:endParaRPr lang="zh-TW" altLang="en-US"/>
          </a:p>
        </p:txBody>
      </p:sp>
      <p:sp>
        <p:nvSpPr>
          <p:cNvPr id="7" name="Slide Number Placeholder 6"/>
          <p:cNvSpPr>
            <a:spLocks noGrp="1"/>
          </p:cNvSpPr>
          <p:nvPr>
            <p:ph type="sldNum" sz="quarter" idx="5"/>
          </p:nvPr>
        </p:nvSpPr>
        <p:spPr>
          <a:xfrm>
            <a:off x="4021295" y="9721108"/>
            <a:ext cx="3076363" cy="513507"/>
          </a:xfrm>
          <a:prstGeom prst="rect">
            <a:avLst/>
          </a:prstGeom>
        </p:spPr>
        <p:txBody>
          <a:bodyPr vert="horz" lIns="99048" tIns="49524" rIns="99048" bIns="49524" rtlCol="0" anchor="b"/>
          <a:lstStyle>
            <a:lvl1pPr algn="r">
              <a:defRPr sz="1300"/>
            </a:lvl1pPr>
          </a:lstStyle>
          <a:p>
            <a:fld id="{7EE20D91-FCA7-443A-BB7B-86FCD89A57B0}" type="slidenum">
              <a:rPr lang="zh-TW" altLang="en-US" smtClean="0"/>
              <a:t>‹#›</a:t>
            </a:fld>
            <a:endParaRPr lang="zh-TW" altLang="en-US"/>
          </a:p>
        </p:txBody>
      </p:sp>
    </p:spTree>
    <p:extLst>
      <p:ext uri="{BB962C8B-B14F-4D97-AF65-F5344CB8AC3E}">
        <p14:creationId xmlns:p14="http://schemas.microsoft.com/office/powerpoint/2010/main" val="4137020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1</a:t>
            </a:fld>
            <a:endParaRPr lang="zh-TW" altLang="en-US"/>
          </a:p>
        </p:txBody>
      </p:sp>
    </p:spTree>
    <p:extLst>
      <p:ext uri="{BB962C8B-B14F-4D97-AF65-F5344CB8AC3E}">
        <p14:creationId xmlns:p14="http://schemas.microsoft.com/office/powerpoint/2010/main" val="3508759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a:t>
            </a:fld>
            <a:endParaRPr lang="zh-TW" altLang="en-US"/>
          </a:p>
        </p:txBody>
      </p:sp>
    </p:spTree>
    <p:extLst>
      <p:ext uri="{BB962C8B-B14F-4D97-AF65-F5344CB8AC3E}">
        <p14:creationId xmlns:p14="http://schemas.microsoft.com/office/powerpoint/2010/main" val="2333113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3</a:t>
            </a:fld>
            <a:endParaRPr lang="zh-TW" altLang="en-US"/>
          </a:p>
        </p:txBody>
      </p:sp>
    </p:spTree>
    <p:extLst>
      <p:ext uri="{BB962C8B-B14F-4D97-AF65-F5344CB8AC3E}">
        <p14:creationId xmlns:p14="http://schemas.microsoft.com/office/powerpoint/2010/main" val="1013634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Good Morning, My name is Chun-Feng Wu.</a:t>
            </a:r>
            <a:br>
              <a:rPr lang="en-US" altLang="zh-CN" dirty="0"/>
            </a:br>
            <a:r>
              <a:rPr lang="en-US" altLang="zh-CN" dirty="0"/>
              <a:t>In this presentation, I will briefly introduce myself and </a:t>
            </a:r>
            <a:r>
              <a:rPr lang="en-US" altLang="zh-TW" dirty="0"/>
              <a:t>share</a:t>
            </a:r>
            <a:r>
              <a:rPr lang="en-US" altLang="zh-CN" dirty="0"/>
              <a:t> some key idea of my researches.</a:t>
            </a:r>
          </a:p>
          <a:p>
            <a:endParaRPr lang="en-US" altLang="zh-CN" dirty="0"/>
          </a:p>
          <a:p>
            <a:r>
              <a:rPr lang="en-US" altLang="zh-CN" dirty="0"/>
              <a:t>Intensive data movement is one of the critical issue when Von-Neumann machines enter the big data era.</a:t>
            </a:r>
          </a:p>
          <a:p>
            <a:r>
              <a:rPr lang="en-US" altLang="zh-CN" dirty="0"/>
              <a:t>To deal with this issue, my research is to enable a fast, large and device-friendly next-generation computing system.</a:t>
            </a:r>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4</a:t>
            </a:fld>
            <a:endParaRPr lang="zh-TW" altLang="en-US"/>
          </a:p>
        </p:txBody>
      </p:sp>
    </p:spTree>
    <p:extLst>
      <p:ext uri="{BB962C8B-B14F-4D97-AF65-F5344CB8AC3E}">
        <p14:creationId xmlns:p14="http://schemas.microsoft.com/office/powerpoint/2010/main" val="3616799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This is the agenda.</a:t>
            </a:r>
          </a:p>
          <a:p>
            <a:r>
              <a:rPr kumimoji="1" lang="en-US" altLang="zh-TW" dirty="0"/>
              <a:t>I will first</a:t>
            </a:r>
            <a:r>
              <a:rPr kumimoji="1" lang="zh-TW" altLang="en-US" dirty="0"/>
              <a:t> </a:t>
            </a:r>
            <a:r>
              <a:rPr kumimoji="1" lang="en-US" altLang="zh-TW" dirty="0"/>
              <a:t>give a brief self-introduction including</a:t>
            </a:r>
            <a:r>
              <a:rPr kumimoji="1" lang="zh-TW" altLang="en-US" dirty="0"/>
              <a:t> </a:t>
            </a:r>
            <a:r>
              <a:rPr kumimoji="1" lang="en-US" altLang="zh-TW" dirty="0"/>
              <a:t>awards, cooperation experiences, and publication.</a:t>
            </a:r>
          </a:p>
          <a:p>
            <a:r>
              <a:rPr kumimoji="1" lang="en-US" altLang="zh-TW" dirty="0"/>
              <a:t>After that, I will give</a:t>
            </a:r>
            <a:r>
              <a:rPr kumimoji="1" lang="zh-TW" altLang="en-US" dirty="0"/>
              <a:t> </a:t>
            </a:r>
            <a:r>
              <a:rPr kumimoji="1" lang="en-US" altLang="zh-TW" dirty="0"/>
              <a:t>a</a:t>
            </a:r>
            <a:r>
              <a:rPr kumimoji="1" lang="zh-TW" altLang="en-US" dirty="0"/>
              <a:t> </a:t>
            </a:r>
            <a:r>
              <a:rPr kumimoji="1" lang="en-US" altLang="zh-TW" dirty="0"/>
              <a:t>deep</a:t>
            </a:r>
            <a:r>
              <a:rPr kumimoji="1" lang="zh-TW" altLang="en-US" dirty="0"/>
              <a:t> </a:t>
            </a:r>
            <a:r>
              <a:rPr kumimoji="1" lang="en-US" altLang="zh-TW" dirty="0"/>
              <a:t>dive</a:t>
            </a:r>
            <a:r>
              <a:rPr kumimoji="1" lang="zh-TW" altLang="en-US" dirty="0"/>
              <a:t> </a:t>
            </a:r>
            <a:r>
              <a:rPr kumimoji="1" lang="en-US" altLang="zh-TW" dirty="0"/>
              <a:t>into my research – the next-generation computing system, and</a:t>
            </a:r>
            <a:r>
              <a:rPr kumimoji="1" lang="zh-TW" altLang="en-US" dirty="0"/>
              <a:t> </a:t>
            </a:r>
            <a:r>
              <a:rPr kumimoji="1" lang="en-US" altLang="zh-TW" dirty="0"/>
              <a:t>present</a:t>
            </a:r>
            <a:r>
              <a:rPr kumimoji="1" lang="zh-TW" altLang="en-US" dirty="0"/>
              <a:t> </a:t>
            </a:r>
            <a:r>
              <a:rPr kumimoji="1" lang="en-US" altLang="zh-TW" dirty="0"/>
              <a:t>my</a:t>
            </a:r>
            <a:r>
              <a:rPr kumimoji="1" lang="zh-TW" altLang="en-US" dirty="0"/>
              <a:t> </a:t>
            </a:r>
            <a:r>
              <a:rPr kumimoji="1" lang="en-US" altLang="zh-TW" dirty="0"/>
              <a:t>future</a:t>
            </a:r>
            <a:r>
              <a:rPr kumimoji="1" lang="zh-TW" altLang="en-US" dirty="0"/>
              <a:t> </a:t>
            </a:r>
            <a:r>
              <a:rPr kumimoji="1" lang="en-US" altLang="zh-TW" dirty="0"/>
              <a:t>plan.</a:t>
            </a:r>
          </a:p>
          <a:p>
            <a:endParaRPr kumimoji="1" lang="en-US" altLang="zh-TW" dirty="0"/>
          </a:p>
          <a:p>
            <a:r>
              <a:rPr kumimoji="1" lang="en-US" altLang="zh-TW" dirty="0"/>
              <a:t>I will then talk about the reason for applying your department, as well as my course plan in the end of presentation.</a:t>
            </a: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5</a:t>
            </a:fld>
            <a:endParaRPr lang="zh-TW" altLang="en-US"/>
          </a:p>
        </p:txBody>
      </p:sp>
    </p:spTree>
    <p:extLst>
      <p:ext uri="{BB962C8B-B14F-4D97-AF65-F5344CB8AC3E}">
        <p14:creationId xmlns:p14="http://schemas.microsoft.com/office/powerpoint/2010/main" val="1135254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6</a:t>
            </a:fld>
            <a:endParaRPr lang="zh-TW" altLang="en-US"/>
          </a:p>
        </p:txBody>
      </p:sp>
    </p:spTree>
    <p:extLst>
      <p:ext uri="{BB962C8B-B14F-4D97-AF65-F5344CB8AC3E}">
        <p14:creationId xmlns:p14="http://schemas.microsoft.com/office/powerpoint/2010/main" val="1599386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7</a:t>
            </a:fld>
            <a:endParaRPr lang="zh-TW" altLang="en-US"/>
          </a:p>
        </p:txBody>
      </p:sp>
    </p:spTree>
    <p:extLst>
      <p:ext uri="{BB962C8B-B14F-4D97-AF65-F5344CB8AC3E}">
        <p14:creationId xmlns:p14="http://schemas.microsoft.com/office/powerpoint/2010/main" val="2523601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8</a:t>
            </a:fld>
            <a:endParaRPr lang="zh-TW" altLang="en-US"/>
          </a:p>
        </p:txBody>
      </p:sp>
    </p:spTree>
    <p:extLst>
      <p:ext uri="{BB962C8B-B14F-4D97-AF65-F5344CB8AC3E}">
        <p14:creationId xmlns:p14="http://schemas.microsoft.com/office/powerpoint/2010/main" val="3456979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9</a:t>
            </a:fld>
            <a:endParaRPr lang="zh-TW" altLang="en-US"/>
          </a:p>
        </p:txBody>
      </p:sp>
    </p:spTree>
    <p:extLst>
      <p:ext uri="{BB962C8B-B14F-4D97-AF65-F5344CB8AC3E}">
        <p14:creationId xmlns:p14="http://schemas.microsoft.com/office/powerpoint/2010/main" val="65520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10</a:t>
            </a:fld>
            <a:endParaRPr lang="zh-TW" altLang="en-US"/>
          </a:p>
        </p:txBody>
      </p:sp>
    </p:spTree>
    <p:extLst>
      <p:ext uri="{BB962C8B-B14F-4D97-AF65-F5344CB8AC3E}">
        <p14:creationId xmlns:p14="http://schemas.microsoft.com/office/powerpoint/2010/main" val="2943489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1" dirty="0"/>
              <a:t>每個行程的位址空間 </a:t>
            </a:r>
            <a:r>
              <a:rPr lang="en-US" altLang="zh-TW" b="1" dirty="0"/>
              <a:t>&amp; </a:t>
            </a:r>
            <a:r>
              <a:rPr lang="zh-TW" altLang="en-US" b="1" dirty="0"/>
              <a:t>核心在其中的位置</a:t>
            </a:r>
          </a:p>
          <a:p>
            <a:r>
              <a:rPr lang="zh-TW" altLang="en-US" b="1" dirty="0"/>
              <a:t>逐字翻譯</a:t>
            </a:r>
          </a:p>
          <a:p>
            <a:r>
              <a:rPr lang="en-US" altLang="zh-TW" b="1" dirty="0"/>
              <a:t>Each process shall have their own virtual address space.</a:t>
            </a:r>
            <a:br>
              <a:rPr lang="en-US" altLang="zh-TW" dirty="0"/>
            </a:br>
            <a:r>
              <a:rPr lang="zh-TW" altLang="en-US" dirty="0"/>
              <a:t>每一個</a:t>
            </a:r>
            <a:r>
              <a:rPr lang="zh-TW" altLang="en-US" b="1" dirty="0"/>
              <a:t>行程（</a:t>
            </a:r>
            <a:r>
              <a:rPr lang="en-US" altLang="zh-TW" b="1" dirty="0"/>
              <a:t>process</a:t>
            </a:r>
            <a:r>
              <a:rPr lang="zh-TW" altLang="en-US" b="1" dirty="0"/>
              <a:t>）都要有自己</a:t>
            </a:r>
            <a:r>
              <a:rPr lang="zh-TW" altLang="en-US" dirty="0"/>
              <a:t>的</a:t>
            </a:r>
            <a:r>
              <a:rPr lang="zh-TW" altLang="en-US" b="1" dirty="0"/>
              <a:t>虛擬位址空間</a:t>
            </a:r>
            <a:r>
              <a:rPr lang="zh-TW" altLang="en-US" dirty="0"/>
              <a:t>。</a:t>
            </a:r>
          </a:p>
          <a:p>
            <a:r>
              <a:rPr lang="en-US" altLang="zh-TW" b="1" dirty="0"/>
              <a:t>Kernel runs as part of a user process.</a:t>
            </a:r>
            <a:r>
              <a:rPr lang="en-US" altLang="zh-TW" dirty="0"/>
              <a:t> </a:t>
            </a:r>
            <a:r>
              <a:rPr lang="en-US" altLang="zh-TW" i="1" dirty="0"/>
              <a:t>(Noting: A specific part of all processes’ virtual address space points to the same physical address storing kernel code.)</a:t>
            </a:r>
            <a:br>
              <a:rPr lang="en-US" altLang="zh-TW" dirty="0"/>
            </a:br>
            <a:r>
              <a:rPr lang="zh-TW" altLang="en-US" b="1" dirty="0"/>
              <a:t>核心（</a:t>
            </a:r>
            <a:r>
              <a:rPr lang="en-US" altLang="zh-TW" b="1" dirty="0"/>
              <a:t>Kernel</a:t>
            </a:r>
            <a:r>
              <a:rPr lang="zh-TW" altLang="en-US" b="1" dirty="0"/>
              <a:t>）以「是使用者行程的一部分」的方式在執行。</a:t>
            </a:r>
            <a:r>
              <a:rPr lang="zh-TW" altLang="en-US" dirty="0"/>
              <a:t>（注意：在</a:t>
            </a:r>
            <a:r>
              <a:rPr lang="zh-TW" altLang="en-US" b="1" dirty="0"/>
              <a:t>所有行程的虛擬位址空間</a:t>
            </a:r>
            <a:r>
              <a:rPr lang="zh-TW" altLang="en-US" dirty="0"/>
              <a:t>裡，都有</a:t>
            </a:r>
            <a:r>
              <a:rPr lang="zh-TW" altLang="en-US" b="1" dirty="0"/>
              <a:t>某一段固定區域</a:t>
            </a:r>
            <a:r>
              <a:rPr lang="zh-TW" altLang="en-US" dirty="0"/>
              <a:t>被</a:t>
            </a:r>
            <a:r>
              <a:rPr lang="zh-TW" altLang="en-US" b="1" dirty="0"/>
              <a:t>對映到同一組實體位址</a:t>
            </a:r>
            <a:r>
              <a:rPr lang="zh-TW" altLang="en-US" dirty="0"/>
              <a:t>，那裡放著</a:t>
            </a:r>
            <a:r>
              <a:rPr lang="zh-TW" altLang="en-US" b="1" dirty="0"/>
              <a:t>核心程式碼</a:t>
            </a:r>
            <a:r>
              <a:rPr lang="en-US" altLang="zh-TW" b="1" dirty="0"/>
              <a:t>/</a:t>
            </a:r>
            <a:r>
              <a:rPr lang="zh-TW" altLang="en-US" b="1" dirty="0"/>
              <a:t>資料</a:t>
            </a:r>
            <a:r>
              <a:rPr lang="zh-TW" altLang="en-US" dirty="0"/>
              <a:t>。）</a:t>
            </a:r>
          </a:p>
          <a:p>
            <a:r>
              <a:rPr lang="en-US" altLang="zh-TW" b="1" dirty="0"/>
              <a:t>There are also some kernel processes working on monitoring system status. (Daemon)</a:t>
            </a:r>
            <a:br>
              <a:rPr lang="en-US" altLang="zh-TW" dirty="0"/>
            </a:br>
            <a:r>
              <a:rPr lang="zh-TW" altLang="en-US" dirty="0"/>
              <a:t>另外還有一些</a:t>
            </a:r>
            <a:r>
              <a:rPr lang="zh-TW" altLang="en-US" b="1" dirty="0"/>
              <a:t>核心行程</a:t>
            </a:r>
            <a:r>
              <a:rPr lang="en-US" altLang="zh-TW" b="1" dirty="0"/>
              <a:t>/</a:t>
            </a:r>
            <a:r>
              <a:rPr lang="zh-TW" altLang="en-US" b="1" dirty="0"/>
              <a:t>背景常駐程式（</a:t>
            </a:r>
            <a:r>
              <a:rPr lang="en-US" altLang="zh-TW" b="1" dirty="0"/>
              <a:t>daemon</a:t>
            </a:r>
            <a:r>
              <a:rPr lang="zh-TW" altLang="en-US" b="1" dirty="0"/>
              <a:t>）在執行，用來監控與維護系統狀態</a:t>
            </a:r>
            <a:r>
              <a:rPr lang="zh-TW" altLang="en-US" dirty="0"/>
              <a:t>。</a:t>
            </a:r>
          </a:p>
          <a:p>
            <a:br>
              <a:rPr lang="zh-TW" altLang="en-US" dirty="0"/>
            </a:br>
            <a:endParaRPr lang="zh-TW" altLang="en-US" dirty="0"/>
          </a:p>
          <a:p>
            <a:r>
              <a:rPr lang="zh-TW" altLang="en-US" b="1" dirty="0"/>
              <a:t>解說（重點脈絡）</a:t>
            </a:r>
          </a:p>
          <a:p>
            <a:r>
              <a:rPr lang="zh-TW" altLang="en-US" b="1" dirty="0"/>
              <a:t>每個行程有自己的虛擬世界</a:t>
            </a:r>
            <a:r>
              <a:rPr lang="zh-TW" altLang="en-US" dirty="0"/>
              <a:t>：程式看到的是「虛擬位址」，透過頁表映射到不同的「實體位址」。因此行程彼此隔離、互不干擾。</a:t>
            </a:r>
          </a:p>
          <a:p>
            <a:r>
              <a:rPr lang="zh-TW" altLang="en-US" b="1" dirty="0"/>
              <a:t>核心被映射到每個行程的高位區</a:t>
            </a:r>
            <a:r>
              <a:rPr lang="zh-TW" altLang="en-US" dirty="0"/>
              <a:t>：為了讓系統呼叫</a:t>
            </a:r>
            <a:r>
              <a:rPr lang="en-US" altLang="zh-TW" dirty="0"/>
              <a:t>/</a:t>
            </a:r>
            <a:r>
              <a:rPr lang="zh-TW" altLang="en-US" dirty="0"/>
              <a:t>中斷能</a:t>
            </a:r>
            <a:r>
              <a:rPr lang="zh-TW" altLang="en-US" b="1" dirty="0"/>
              <a:t>快速進核心</a:t>
            </a:r>
            <a:r>
              <a:rPr lang="zh-TW" altLang="en-US" dirty="0"/>
              <a:t>而不必換另一個位址空間，</a:t>
            </a:r>
            <a:r>
              <a:rPr lang="en-US" altLang="zh-TW" dirty="0"/>
              <a:t>OS </a:t>
            </a:r>
            <a:r>
              <a:rPr lang="zh-TW" altLang="en-US" dirty="0"/>
              <a:t>會把</a:t>
            </a:r>
            <a:r>
              <a:rPr lang="zh-TW" altLang="en-US" b="1" dirty="0"/>
              <a:t>同一份核心程式碼與只讀資料</a:t>
            </a:r>
            <a:r>
              <a:rPr lang="zh-TW" altLang="en-US" dirty="0"/>
              <a:t>映射到</a:t>
            </a:r>
            <a:r>
              <a:rPr lang="zh-TW" altLang="en-US" b="1" dirty="0"/>
              <a:t>每個行程位址空間的某一段（通常是高位）</a:t>
            </a:r>
            <a:r>
              <a:rPr lang="zh-TW" altLang="en-US" dirty="0"/>
              <a:t>，但權限設成</a:t>
            </a:r>
            <a:r>
              <a:rPr lang="zh-TW" altLang="en-US" b="1" dirty="0"/>
              <a:t>只允許特權級（內核態）存取</a:t>
            </a:r>
            <a:r>
              <a:rPr lang="zh-TW" altLang="en-US" dirty="0"/>
              <a:t>，使用者態碰不到。</a:t>
            </a:r>
          </a:p>
          <a:p>
            <a:pPr lvl="1"/>
            <a:r>
              <a:rPr lang="zh-TW" altLang="en-US" dirty="0"/>
              <a:t>這讓</a:t>
            </a:r>
            <a:r>
              <a:rPr lang="zh-TW" altLang="en-US" b="1" dirty="0"/>
              <a:t>從 </a:t>
            </a:r>
            <a:r>
              <a:rPr lang="en-US" altLang="zh-TW" b="1" dirty="0" err="1"/>
              <a:t>user→kernel</a:t>
            </a:r>
            <a:r>
              <a:rPr lang="zh-TW" altLang="en-US" dirty="0"/>
              <a:t>僅是</a:t>
            </a:r>
            <a:r>
              <a:rPr lang="zh-TW" altLang="en-US" b="1" dirty="0"/>
              <a:t>權限等級切換</a:t>
            </a:r>
            <a:r>
              <a:rPr lang="zh-TW" altLang="en-US" dirty="0"/>
              <a:t>，不是換行程也不是整個記憶體搬家。</a:t>
            </a:r>
          </a:p>
          <a:p>
            <a:pPr lvl="1"/>
            <a:r>
              <a:rPr lang="zh-TW" altLang="en-US" dirty="0"/>
              <a:t>實作細節：每個行程仍有</a:t>
            </a:r>
            <a:r>
              <a:rPr lang="zh-TW" altLang="en-US" b="1" dirty="0"/>
              <a:t>自己的 </a:t>
            </a:r>
            <a:r>
              <a:rPr lang="en-US" altLang="zh-TW" b="1" dirty="0"/>
              <a:t>kernel stack</a:t>
            </a:r>
            <a:r>
              <a:rPr lang="zh-TW" altLang="en-US" dirty="0"/>
              <a:t>、</a:t>
            </a:r>
            <a:r>
              <a:rPr lang="en-US" altLang="zh-TW" sz="1200" kern="1200" dirty="0" err="1">
                <a:solidFill>
                  <a:schemeClr val="tx1"/>
                </a:solidFill>
                <a:latin typeface="+mn-lt"/>
                <a:ea typeface="+mn-ea"/>
                <a:cs typeface="+mn-cs"/>
              </a:rPr>
              <a:t>task_struct</a:t>
            </a:r>
            <a:r>
              <a:rPr lang="en-US" altLang="zh-TW" dirty="0"/>
              <a:t> </a:t>
            </a:r>
            <a:r>
              <a:rPr lang="zh-TW" altLang="en-US" dirty="0"/>
              <a:t>等，但</a:t>
            </a:r>
            <a:r>
              <a:rPr lang="zh-TW" altLang="en-US" b="1" dirty="0"/>
              <a:t>核心程式碼頁</a:t>
            </a:r>
            <a:r>
              <a:rPr lang="zh-TW" altLang="en-US" dirty="0"/>
              <a:t>是</a:t>
            </a:r>
            <a:r>
              <a:rPr lang="zh-TW" altLang="en-US" b="1" dirty="0"/>
              <a:t>共用的同一份實體記憶體</a:t>
            </a:r>
            <a:r>
              <a:rPr lang="zh-TW" altLang="en-US" dirty="0"/>
              <a:t>。</a:t>
            </a:r>
          </a:p>
          <a:p>
            <a:pPr lvl="1"/>
            <a:r>
              <a:rPr lang="zh-TW" altLang="en-US" dirty="0"/>
              <a:t>例外</a:t>
            </a:r>
            <a:r>
              <a:rPr lang="en-US" altLang="zh-TW" dirty="0"/>
              <a:t>/</a:t>
            </a:r>
            <a:r>
              <a:rPr lang="zh-TW" altLang="en-US" dirty="0"/>
              <a:t>補充：因 </a:t>
            </a:r>
            <a:r>
              <a:rPr lang="en-US" altLang="zh-TW" b="1" dirty="0"/>
              <a:t>Meltdown</a:t>
            </a:r>
            <a:r>
              <a:rPr lang="zh-TW" altLang="en-US" dirty="0"/>
              <a:t>，</a:t>
            </a:r>
            <a:r>
              <a:rPr lang="en-US" altLang="zh-TW" dirty="0"/>
              <a:t>x86-64 </a:t>
            </a:r>
            <a:r>
              <a:rPr lang="zh-TW" altLang="en-US" dirty="0"/>
              <a:t>常啟用 </a:t>
            </a:r>
            <a:r>
              <a:rPr lang="en-US" altLang="zh-TW" b="1" dirty="0"/>
              <a:t>KPTI</a:t>
            </a:r>
            <a:r>
              <a:rPr lang="zh-TW" altLang="en-US" dirty="0"/>
              <a:t>（把使用者與核心頁表更嚴格分離），不過進核心時仍會切到含有核心映射的頁表；概念仍是「核心映射對所有行程一致」。</a:t>
            </a:r>
          </a:p>
          <a:p>
            <a:r>
              <a:rPr lang="zh-TW" altLang="en-US" b="1" dirty="0"/>
              <a:t>核心行程 </a:t>
            </a:r>
            <a:r>
              <a:rPr lang="en-US" altLang="zh-TW" b="1" dirty="0"/>
              <a:t>/ </a:t>
            </a:r>
            <a:r>
              <a:rPr lang="zh-TW" altLang="en-US" b="1" dirty="0"/>
              <a:t>內核緒（</a:t>
            </a:r>
            <a:r>
              <a:rPr lang="en-US" altLang="zh-TW" b="1" dirty="0"/>
              <a:t>kernel threads</a:t>
            </a:r>
            <a:r>
              <a:rPr lang="zh-TW" altLang="en-US" b="1" dirty="0"/>
              <a:t>）</a:t>
            </a:r>
            <a:r>
              <a:rPr lang="zh-TW" altLang="en-US" dirty="0"/>
              <a:t>：像 </a:t>
            </a:r>
            <a:r>
              <a:rPr lang="en-US" altLang="zh-TW" sz="1200" kern="1200" dirty="0" err="1">
                <a:solidFill>
                  <a:schemeClr val="tx1"/>
                </a:solidFill>
                <a:latin typeface="+mn-lt"/>
                <a:ea typeface="+mn-ea"/>
                <a:cs typeface="+mn-cs"/>
              </a:rPr>
              <a:t>kthreadd</a:t>
            </a:r>
            <a:r>
              <a:rPr lang="zh-TW" altLang="en-US" dirty="0"/>
              <a:t>、</a:t>
            </a:r>
            <a:r>
              <a:rPr lang="en-US" altLang="zh-TW" sz="1200" kern="1200" dirty="0" err="1">
                <a:solidFill>
                  <a:schemeClr val="tx1"/>
                </a:solidFill>
                <a:latin typeface="+mn-lt"/>
                <a:ea typeface="+mn-ea"/>
                <a:cs typeface="+mn-cs"/>
              </a:rPr>
              <a:t>ksoftirqd</a:t>
            </a:r>
            <a:r>
              <a:rPr lang="zh-TW" altLang="en-US" dirty="0"/>
              <a:t>、</a:t>
            </a:r>
            <a:r>
              <a:rPr lang="en-US" altLang="zh-TW" sz="1200" kern="1200" dirty="0" err="1">
                <a:solidFill>
                  <a:schemeClr val="tx1"/>
                </a:solidFill>
                <a:latin typeface="+mn-lt"/>
                <a:ea typeface="+mn-ea"/>
                <a:cs typeface="+mn-cs"/>
              </a:rPr>
              <a:t>kswapd</a:t>
            </a:r>
            <a:r>
              <a:rPr lang="zh-TW" altLang="en-US" dirty="0"/>
              <a:t>、</a:t>
            </a:r>
            <a:r>
              <a:rPr lang="en-US" altLang="zh-TW" sz="1200" kern="1200" dirty="0" err="1">
                <a:solidFill>
                  <a:schemeClr val="tx1"/>
                </a:solidFill>
                <a:latin typeface="+mn-lt"/>
                <a:ea typeface="+mn-ea"/>
                <a:cs typeface="+mn-cs"/>
              </a:rPr>
              <a:t>kworker</a:t>
            </a:r>
            <a:r>
              <a:rPr lang="en-US" altLang="zh-TW" sz="1200" kern="1200" dirty="0">
                <a:solidFill>
                  <a:schemeClr val="tx1"/>
                </a:solidFill>
                <a:latin typeface="+mn-lt"/>
                <a:ea typeface="+mn-ea"/>
                <a:cs typeface="+mn-cs"/>
              </a:rPr>
              <a:t>/*</a:t>
            </a:r>
            <a:r>
              <a:rPr lang="en-US" altLang="zh-TW" dirty="0"/>
              <a:t> </a:t>
            </a:r>
            <a:r>
              <a:rPr lang="zh-TW" altLang="en-US" dirty="0"/>
              <a:t>等，它們：</a:t>
            </a:r>
          </a:p>
          <a:p>
            <a:pPr lvl="1"/>
            <a:r>
              <a:rPr lang="zh-TW" altLang="en-US" dirty="0"/>
              <a:t>在</a:t>
            </a:r>
            <a:r>
              <a:rPr lang="zh-TW" altLang="en-US" b="1" dirty="0"/>
              <a:t>核心態</a:t>
            </a:r>
            <a:r>
              <a:rPr lang="zh-TW" altLang="en-US" dirty="0"/>
              <a:t>執行、</a:t>
            </a:r>
            <a:r>
              <a:rPr lang="en-US" altLang="zh-TW" dirty="0"/>
              <a:t>PID </a:t>
            </a:r>
            <a:r>
              <a:rPr lang="zh-TW" altLang="en-US" dirty="0"/>
              <a:t>看得到（通常以 </a:t>
            </a:r>
            <a:r>
              <a:rPr lang="en-US" altLang="zh-TW" sz="1200" kern="1200" dirty="0">
                <a:solidFill>
                  <a:schemeClr val="tx1"/>
                </a:solidFill>
                <a:latin typeface="+mn-lt"/>
                <a:ea typeface="+mn-ea"/>
                <a:cs typeface="+mn-cs"/>
              </a:rPr>
              <a:t>[]</a:t>
            </a:r>
            <a:r>
              <a:rPr lang="zh-TW" altLang="en-US" dirty="0"/>
              <a:t> 括號顯示），</a:t>
            </a:r>
          </a:p>
          <a:p>
            <a:pPr lvl="1"/>
            <a:r>
              <a:rPr lang="zh-TW" altLang="en-US" dirty="0"/>
              <a:t>不對應到任何使用者程式的可執行檔，</a:t>
            </a:r>
          </a:p>
          <a:p>
            <a:pPr lvl="1"/>
            <a:r>
              <a:rPr lang="zh-TW" altLang="en-US" dirty="0"/>
              <a:t>負責</a:t>
            </a:r>
            <a:r>
              <a:rPr lang="zh-TW" altLang="en-US" b="1" dirty="0"/>
              <a:t>背景維護</a:t>
            </a:r>
            <a:r>
              <a:rPr lang="zh-TW" altLang="en-US" dirty="0"/>
              <a:t>（換頁、回收記憶體、處理下半部、</a:t>
            </a:r>
            <a:r>
              <a:rPr lang="en-US" altLang="zh-TW" dirty="0"/>
              <a:t>I/O </a:t>
            </a:r>
            <a:r>
              <a:rPr lang="zh-TW" altLang="en-US" dirty="0"/>
              <a:t>排程、監控等）。</a:t>
            </a:r>
          </a:p>
          <a:p>
            <a:br>
              <a:rPr lang="zh-TW" altLang="en-US" dirty="0"/>
            </a:br>
            <a:endParaRPr lang="zh-TW" altLang="en-US" dirty="0"/>
          </a:p>
          <a:p>
            <a:r>
              <a:rPr lang="zh-TW" altLang="en-US" b="1" dirty="0"/>
              <a:t>一句話解釋</a:t>
            </a:r>
          </a:p>
          <a:p>
            <a:r>
              <a:rPr lang="zh-TW" altLang="en-US" b="1" dirty="0"/>
              <a:t>每個行程各有一個虛擬位址空間，其中一塊「只給核心用」的區域在所有行程都指到同一份核心實體記憶體；此外核心還有自己的背景工作緒負責系統維護。</a:t>
            </a:r>
            <a:endParaRPr lang="zh-TW" altLang="en-US" dirty="0"/>
          </a:p>
          <a:p>
            <a:br>
              <a:rPr lang="zh-TW" altLang="en-US" dirty="0"/>
            </a:br>
            <a:endParaRPr lang="zh-TW" altLang="en-US" dirty="0"/>
          </a:p>
          <a:p>
            <a:r>
              <a:rPr lang="zh-TW" altLang="en-US" b="1" dirty="0"/>
              <a:t>白話解說</a:t>
            </a:r>
          </a:p>
          <a:p>
            <a:r>
              <a:rPr lang="zh-TW" altLang="en-US" dirty="0"/>
              <a:t>把電腦想成一棟大樓：</a:t>
            </a:r>
          </a:p>
          <a:p>
            <a:r>
              <a:rPr lang="zh-TW" altLang="en-US" dirty="0"/>
              <a:t>每個住戶（</a:t>
            </a:r>
            <a:r>
              <a:rPr lang="zh-TW" altLang="en-US" b="1" dirty="0"/>
              <a:t>行程</a:t>
            </a:r>
            <a:r>
              <a:rPr lang="zh-TW" altLang="en-US" dirty="0"/>
              <a:t>）有</a:t>
            </a:r>
            <a:r>
              <a:rPr lang="zh-TW" altLang="en-US" b="1" dirty="0"/>
              <a:t>自己的房間（虛擬位址空間）</a:t>
            </a:r>
            <a:r>
              <a:rPr lang="zh-TW" altLang="en-US" dirty="0"/>
              <a:t>；互相進不去。</a:t>
            </a:r>
          </a:p>
          <a:p>
            <a:r>
              <a:rPr lang="zh-TW" altLang="en-US" dirty="0"/>
              <a:t>大樓裡有一條</a:t>
            </a:r>
            <a:r>
              <a:rPr lang="zh-TW" altLang="en-US" b="1" dirty="0"/>
              <a:t>維修通道（核心區）</a:t>
            </a:r>
            <a:r>
              <a:rPr lang="zh-TW" altLang="en-US" dirty="0"/>
              <a:t>，</a:t>
            </a:r>
            <a:r>
              <a:rPr lang="zh-TW" altLang="en-US" b="1" dirty="0"/>
              <a:t>每戶的平面圖上都畫得到</a:t>
            </a:r>
            <a:r>
              <a:rPr lang="zh-TW" altLang="en-US" dirty="0"/>
              <a:t>，但</a:t>
            </a:r>
            <a:r>
              <a:rPr lang="zh-TW" altLang="en-US" b="1" dirty="0"/>
              <a:t>只有管理員（核心態）有鑰匙</a:t>
            </a:r>
            <a:r>
              <a:rPr lang="zh-TW" altLang="en-US" dirty="0"/>
              <a:t>；通道其實是</a:t>
            </a:r>
            <a:r>
              <a:rPr lang="zh-TW" altLang="en-US" b="1" dirty="0"/>
              <a:t>同一條實體走廊</a:t>
            </a:r>
            <a:r>
              <a:rPr lang="zh-TW" altLang="en-US" dirty="0"/>
              <a:t>。</a:t>
            </a:r>
          </a:p>
          <a:p>
            <a:r>
              <a:rPr lang="zh-TW" altLang="en-US" dirty="0"/>
              <a:t>**管理員班表（</a:t>
            </a:r>
            <a:r>
              <a:rPr lang="en-US" altLang="zh-TW" dirty="0"/>
              <a:t>kernel daemons</a:t>
            </a:r>
            <a:r>
              <a:rPr lang="zh-TW" altLang="en-US" dirty="0"/>
              <a:t>）**像清潔、保全、機電維護，</a:t>
            </a:r>
            <a:r>
              <a:rPr lang="zh-TW" altLang="en-US" b="1" dirty="0"/>
              <a:t>一直在巡邏</a:t>
            </a:r>
            <a:r>
              <a:rPr lang="zh-TW" altLang="en-US" dirty="0"/>
              <a:t>，讓整棟大樓運作順暢。</a:t>
            </a:r>
          </a:p>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11</a:t>
            </a:fld>
            <a:endParaRPr lang="zh-TW" altLang="en-US"/>
          </a:p>
        </p:txBody>
      </p:sp>
    </p:spTree>
    <p:extLst>
      <p:ext uri="{BB962C8B-B14F-4D97-AF65-F5344CB8AC3E}">
        <p14:creationId xmlns:p14="http://schemas.microsoft.com/office/powerpoint/2010/main" val="3382712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12</a:t>
            </a:fld>
            <a:endParaRPr lang="zh-TW" altLang="en-US"/>
          </a:p>
        </p:txBody>
      </p:sp>
    </p:spTree>
    <p:extLst>
      <p:ext uri="{BB962C8B-B14F-4D97-AF65-F5344CB8AC3E}">
        <p14:creationId xmlns:p14="http://schemas.microsoft.com/office/powerpoint/2010/main" val="102606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13</a:t>
            </a:fld>
            <a:endParaRPr lang="zh-TW" altLang="en-US"/>
          </a:p>
        </p:txBody>
      </p:sp>
    </p:spTree>
    <p:extLst>
      <p:ext uri="{BB962C8B-B14F-4D97-AF65-F5344CB8AC3E}">
        <p14:creationId xmlns:p14="http://schemas.microsoft.com/office/powerpoint/2010/main" val="3493220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Fortunately,</a:t>
            </a:r>
            <a:r>
              <a:rPr lang="zh-TW" altLang="en-US" dirty="0"/>
              <a:t> </a:t>
            </a:r>
            <a:r>
              <a:rPr lang="en-US" altLang="zh-TW" dirty="0"/>
              <a:t>enterprises</a:t>
            </a:r>
            <a:r>
              <a:rPr lang="zh-TW" altLang="en-US" dirty="0"/>
              <a:t> </a:t>
            </a:r>
            <a:r>
              <a:rPr lang="en-US" altLang="zh-TW" dirty="0"/>
              <a:t>have launched</a:t>
            </a:r>
            <a:r>
              <a:rPr lang="zh-TW" altLang="en-US" dirty="0"/>
              <a:t> </a:t>
            </a:r>
            <a:r>
              <a:rPr lang="en-US" altLang="zh-TW" dirty="0"/>
              <a:t>several</a:t>
            </a:r>
            <a:r>
              <a:rPr lang="zh-TW" altLang="en-US" dirty="0"/>
              <a:t> </a:t>
            </a:r>
            <a:r>
              <a:rPr lang="en-US" altLang="zh-TW" dirty="0"/>
              <a:t>emerging</a:t>
            </a:r>
            <a:r>
              <a:rPr lang="zh-TW" altLang="en-US" dirty="0"/>
              <a:t> </a:t>
            </a:r>
            <a:r>
              <a:rPr lang="en-US" altLang="zh-TW" dirty="0"/>
              <a:t>devices</a:t>
            </a:r>
            <a:r>
              <a:rPr lang="zh-TW" altLang="en-US" dirty="0"/>
              <a:t> </a:t>
            </a:r>
            <a:r>
              <a:rPr lang="en-US" altLang="zh-TW" dirty="0"/>
              <a:t>to</a:t>
            </a:r>
            <a:r>
              <a:rPr lang="zh-TW" altLang="en-US" dirty="0"/>
              <a:t> </a:t>
            </a:r>
            <a:r>
              <a:rPr lang="en-US" altLang="zh-TW" dirty="0"/>
              <a:t>deal</a:t>
            </a:r>
            <a:r>
              <a:rPr lang="zh-TW" altLang="en-US" dirty="0"/>
              <a:t> </a:t>
            </a:r>
            <a:r>
              <a:rPr lang="en-US" altLang="zh-TW" dirty="0"/>
              <a:t>with</a:t>
            </a:r>
            <a:r>
              <a:rPr lang="zh-TW" altLang="en-US" dirty="0"/>
              <a:t> </a:t>
            </a:r>
            <a:r>
              <a:rPr lang="en-US" altLang="zh-TW" dirty="0"/>
              <a:t>the</a:t>
            </a:r>
            <a:r>
              <a:rPr lang="zh-TW" altLang="en-US" dirty="0"/>
              <a:t> </a:t>
            </a:r>
            <a:r>
              <a:rPr lang="en-US" altLang="zh-TW" dirty="0"/>
              <a:t>challenge</a:t>
            </a:r>
            <a:r>
              <a:rPr lang="zh-TW" altLang="en-US" dirty="0"/>
              <a:t> </a:t>
            </a:r>
            <a:r>
              <a:rPr lang="en-US" altLang="zh-TW" dirty="0"/>
              <a:t>of</a:t>
            </a:r>
            <a:r>
              <a:rPr lang="zh-TW" altLang="en-US" dirty="0"/>
              <a:t> </a:t>
            </a:r>
            <a:r>
              <a:rPr lang="en-US" altLang="zh-TW" dirty="0"/>
              <a:t>data</a:t>
            </a:r>
            <a:r>
              <a:rPr lang="zh-TW" altLang="en-US" dirty="0"/>
              <a:t> </a:t>
            </a:r>
            <a:r>
              <a:rPr lang="en-US" altLang="zh-TW" dirty="0"/>
              <a:t>movements.</a:t>
            </a:r>
          </a:p>
          <a:p>
            <a:r>
              <a:rPr lang="en-US" altLang="zh-TW" dirty="0"/>
              <a:t>In</a:t>
            </a:r>
            <a:r>
              <a:rPr lang="zh-TW" altLang="en-US" dirty="0"/>
              <a:t> </a:t>
            </a:r>
            <a:r>
              <a:rPr lang="en-US" altLang="zh-TW" dirty="0"/>
              <a:t>2011, Intel initiated the first </a:t>
            </a:r>
            <a:r>
              <a:rPr lang="en-US" altLang="zh-TW" dirty="0" err="1"/>
              <a:t>NVMe</a:t>
            </a:r>
            <a:r>
              <a:rPr lang="en-US" altLang="zh-TW" dirty="0"/>
              <a:t> protocol to</a:t>
            </a:r>
            <a:r>
              <a:rPr lang="zh-TW" altLang="en-US" dirty="0"/>
              <a:t> </a:t>
            </a:r>
            <a:r>
              <a:rPr lang="en-US" altLang="zh-TW" dirty="0"/>
              <a:t>improve</a:t>
            </a:r>
            <a:r>
              <a:rPr lang="zh-TW" altLang="en-US" dirty="0"/>
              <a:t> </a:t>
            </a:r>
            <a:r>
              <a:rPr lang="en-US" altLang="zh-TW" dirty="0"/>
              <a:t>the</a:t>
            </a:r>
            <a:r>
              <a:rPr lang="zh-TW" altLang="en-US" dirty="0"/>
              <a:t> </a:t>
            </a:r>
            <a:r>
              <a:rPr lang="en-US" altLang="zh-TW" dirty="0"/>
              <a:t>throughput</a:t>
            </a:r>
            <a:r>
              <a:rPr lang="zh-TW" altLang="en-US" dirty="0"/>
              <a:t> </a:t>
            </a:r>
            <a:r>
              <a:rPr lang="en-US" altLang="zh-TW" dirty="0"/>
              <a:t>of</a:t>
            </a:r>
            <a:r>
              <a:rPr lang="zh-TW" altLang="en-US" dirty="0"/>
              <a:t> </a:t>
            </a:r>
            <a:r>
              <a:rPr lang="en-US" altLang="zh-TW" dirty="0"/>
              <a:t>peripheral</a:t>
            </a:r>
            <a:r>
              <a:rPr lang="zh-TW" altLang="en-US" dirty="0"/>
              <a:t> </a:t>
            </a:r>
            <a:r>
              <a:rPr lang="en-US" altLang="zh-TW" dirty="0"/>
              <a:t>buses.</a:t>
            </a:r>
          </a:p>
          <a:p>
            <a:endParaRPr lang="en-US" altLang="zh-TW" dirty="0"/>
          </a:p>
          <a:p>
            <a:r>
              <a:rPr lang="en-US" altLang="zh-TW" dirty="0"/>
              <a:t>(click)</a:t>
            </a:r>
          </a:p>
          <a:p>
            <a:r>
              <a:rPr lang="en-US" altLang="zh-TW" dirty="0"/>
              <a:t>In 2017, Samsung and Intel launched ultra-low-latency SSDs. </a:t>
            </a:r>
          </a:p>
          <a:p>
            <a:r>
              <a:rPr lang="en-US" altLang="zh-TW" dirty="0"/>
              <a:t>Their access latency can reach around 5 microseconds, which is ten times faster than common SSDs.</a:t>
            </a:r>
            <a:br>
              <a:rPr lang="en-US" altLang="zh-TW" dirty="0"/>
            </a:br>
            <a:r>
              <a:rPr lang="en-US" altLang="zh-TW" dirty="0"/>
              <a:t>By the way,</a:t>
            </a:r>
            <a:r>
              <a:rPr lang="zh-TW" altLang="en-US" dirty="0"/>
              <a:t> </a:t>
            </a:r>
            <a:r>
              <a:rPr lang="en-US" altLang="zh-TW" dirty="0"/>
              <a:t>the</a:t>
            </a:r>
            <a:r>
              <a:rPr lang="zh-TW" altLang="en-US" dirty="0"/>
              <a:t> </a:t>
            </a:r>
            <a:r>
              <a:rPr lang="en-US" altLang="zh-TW" dirty="0"/>
              <a:t>time</a:t>
            </a:r>
            <a:r>
              <a:rPr lang="zh-TW" altLang="en-US" dirty="0"/>
              <a:t> </a:t>
            </a:r>
            <a:r>
              <a:rPr lang="en-US" altLang="zh-TW" dirty="0"/>
              <a:t>of</a:t>
            </a:r>
            <a:r>
              <a:rPr lang="zh-TW" altLang="en-US" dirty="0"/>
              <a:t> </a:t>
            </a:r>
            <a:r>
              <a:rPr lang="en-US" altLang="zh-TW" dirty="0"/>
              <a:t>running</a:t>
            </a:r>
            <a:r>
              <a:rPr lang="zh-TW" altLang="en-US" dirty="0"/>
              <a:t> </a:t>
            </a:r>
            <a:r>
              <a:rPr lang="en-US" altLang="zh-TW" dirty="0"/>
              <a:t>some</a:t>
            </a:r>
            <a:r>
              <a:rPr lang="zh-TW" altLang="en-US" dirty="0"/>
              <a:t> </a:t>
            </a:r>
            <a:r>
              <a:rPr lang="en-US" altLang="zh-TW" dirty="0"/>
              <a:t>OS</a:t>
            </a:r>
            <a:r>
              <a:rPr lang="zh-TW" altLang="en-US" dirty="0"/>
              <a:t> </a:t>
            </a:r>
            <a:r>
              <a:rPr lang="en-US" altLang="zh-TW" dirty="0"/>
              <a:t>functions is also around 5 microseconds.</a:t>
            </a:r>
          </a:p>
          <a:p>
            <a:endParaRPr lang="en-US" altLang="zh-TW" dirty="0"/>
          </a:p>
          <a:p>
            <a:r>
              <a:rPr lang="en-US" altLang="zh-TW" dirty="0"/>
              <a:t>(click)</a:t>
            </a:r>
          </a:p>
          <a:p>
            <a:r>
              <a:rPr lang="en-US" altLang="zh-TW" dirty="0"/>
              <a:t>Under</a:t>
            </a:r>
            <a:r>
              <a:rPr lang="zh-TW" altLang="en-US" dirty="0"/>
              <a:t> </a:t>
            </a:r>
            <a:r>
              <a:rPr lang="en-US" altLang="zh-TW" dirty="0"/>
              <a:t>the</a:t>
            </a:r>
            <a:r>
              <a:rPr lang="zh-TW" altLang="en-US" dirty="0"/>
              <a:t> </a:t>
            </a:r>
            <a:r>
              <a:rPr lang="en-US" altLang="zh-TW" dirty="0"/>
              <a:t>trend</a:t>
            </a:r>
            <a:r>
              <a:rPr lang="zh-TW" altLang="en-US" dirty="0"/>
              <a:t> </a:t>
            </a:r>
            <a:r>
              <a:rPr lang="en-US" altLang="zh-TW" dirty="0"/>
              <a:t>of</a:t>
            </a:r>
            <a:r>
              <a:rPr lang="zh-TW" altLang="en-US" dirty="0"/>
              <a:t> </a:t>
            </a:r>
            <a:r>
              <a:rPr lang="en-US" altLang="zh-TW" dirty="0"/>
              <a:t>high</a:t>
            </a:r>
            <a:r>
              <a:rPr lang="zh-TW" altLang="en-US" dirty="0"/>
              <a:t> </a:t>
            </a:r>
            <a:r>
              <a:rPr lang="en-US" altLang="zh-TW" dirty="0"/>
              <a:t>throughput</a:t>
            </a:r>
            <a:r>
              <a:rPr lang="zh-TW" altLang="en-US" dirty="0"/>
              <a:t> </a:t>
            </a:r>
            <a:r>
              <a:rPr lang="en-US" altLang="zh-TW" dirty="0"/>
              <a:t>and</a:t>
            </a:r>
            <a:r>
              <a:rPr lang="zh-TW" altLang="en-US" dirty="0"/>
              <a:t> </a:t>
            </a:r>
            <a:r>
              <a:rPr lang="en-US" altLang="zh-TW" dirty="0"/>
              <a:t>ultra-low-latency,</a:t>
            </a:r>
            <a:r>
              <a:rPr lang="zh-TW" altLang="en-US" dirty="0"/>
              <a:t> </a:t>
            </a:r>
            <a:r>
              <a:rPr lang="en-US" altLang="zh-TW" dirty="0"/>
              <a:t>the</a:t>
            </a:r>
            <a:r>
              <a:rPr lang="zh-TW" altLang="en-US" dirty="0"/>
              <a:t> </a:t>
            </a:r>
            <a:r>
              <a:rPr lang="en-US" altLang="zh-TW" dirty="0"/>
              <a:t>performance</a:t>
            </a:r>
            <a:r>
              <a:rPr lang="zh-TW" altLang="en-US" dirty="0"/>
              <a:t> </a:t>
            </a:r>
            <a:r>
              <a:rPr lang="en-US" altLang="zh-TW" dirty="0"/>
              <a:t>gap</a:t>
            </a:r>
            <a:r>
              <a:rPr lang="zh-TW" altLang="en-US" dirty="0"/>
              <a:t> </a:t>
            </a:r>
            <a:r>
              <a:rPr lang="en-US" altLang="zh-TW" dirty="0"/>
              <a:t>between</a:t>
            </a:r>
            <a:r>
              <a:rPr lang="zh-TW" altLang="en-US" dirty="0"/>
              <a:t> </a:t>
            </a:r>
            <a:r>
              <a:rPr lang="en-US" altLang="zh-TW" dirty="0"/>
              <a:t>storage</a:t>
            </a:r>
            <a:r>
              <a:rPr lang="zh-TW" altLang="en-US" dirty="0"/>
              <a:t> </a:t>
            </a:r>
            <a:r>
              <a:rPr lang="en-US" altLang="zh-TW" dirty="0"/>
              <a:t>and</a:t>
            </a:r>
            <a:r>
              <a:rPr lang="zh-TW" altLang="en-US" dirty="0"/>
              <a:t> </a:t>
            </a:r>
            <a:r>
              <a:rPr lang="en-US" altLang="zh-TW" dirty="0"/>
              <a:t>memory</a:t>
            </a:r>
            <a:r>
              <a:rPr lang="zh-TW" altLang="en-US" dirty="0"/>
              <a:t> </a:t>
            </a:r>
            <a:r>
              <a:rPr lang="en-US" altLang="zh-TW" dirty="0"/>
              <a:t>devices</a:t>
            </a:r>
            <a:r>
              <a:rPr lang="zh-TW" altLang="en-US" dirty="0"/>
              <a:t> </a:t>
            </a:r>
            <a:r>
              <a:rPr lang="en-US" altLang="zh-TW" dirty="0"/>
              <a:t>is</a:t>
            </a:r>
            <a:r>
              <a:rPr lang="zh-TW" altLang="en-US" dirty="0"/>
              <a:t> </a:t>
            </a:r>
            <a:r>
              <a:rPr lang="en-US" altLang="zh-TW" dirty="0"/>
              <a:t>shrinking</a:t>
            </a:r>
            <a:r>
              <a:rPr lang="zh-TW" altLang="en-US" dirty="0"/>
              <a:t> </a:t>
            </a:r>
            <a:r>
              <a:rPr lang="en-US" altLang="zh-TW" dirty="0"/>
              <a:t>quickly.</a:t>
            </a:r>
          </a:p>
          <a:p>
            <a:r>
              <a:rPr lang="en-US" altLang="zh-TW" dirty="0"/>
              <a:t>So,</a:t>
            </a:r>
            <a:r>
              <a:rPr lang="zh-TW" altLang="en-US" dirty="0"/>
              <a:t> </a:t>
            </a:r>
            <a:r>
              <a:rPr lang="en-US" altLang="zh-TW" dirty="0"/>
              <a:t>enterprises</a:t>
            </a:r>
            <a:r>
              <a:rPr lang="zh-TW" altLang="en-US" dirty="0"/>
              <a:t> </a:t>
            </a:r>
            <a:r>
              <a:rPr lang="en-US" altLang="zh-TW" dirty="0"/>
              <a:t>like</a:t>
            </a:r>
            <a:r>
              <a:rPr lang="zh-TW" altLang="en-US" dirty="0"/>
              <a:t> </a:t>
            </a:r>
            <a:r>
              <a:rPr lang="en-US" altLang="zh-TW" dirty="0"/>
              <a:t>intel</a:t>
            </a:r>
            <a:r>
              <a:rPr lang="zh-TW" altLang="en-US" dirty="0"/>
              <a:t> </a:t>
            </a:r>
            <a:r>
              <a:rPr lang="en-US" altLang="zh-TW" dirty="0"/>
              <a:t>and</a:t>
            </a:r>
            <a:r>
              <a:rPr lang="zh-TW" altLang="en-US" dirty="0"/>
              <a:t> </a:t>
            </a:r>
            <a:r>
              <a:rPr lang="en-US" altLang="zh-TW" dirty="0"/>
              <a:t>HPE</a:t>
            </a:r>
            <a:r>
              <a:rPr lang="zh-TW" altLang="en-US" dirty="0"/>
              <a:t> </a:t>
            </a:r>
            <a:r>
              <a:rPr lang="en-US" altLang="zh-TW" dirty="0"/>
              <a:t>propose</a:t>
            </a:r>
            <a:r>
              <a:rPr lang="zh-TW" altLang="en-US" dirty="0"/>
              <a:t> </a:t>
            </a:r>
            <a:r>
              <a:rPr lang="en-US" altLang="zh-TW" dirty="0"/>
              <a:t>storage-class</a:t>
            </a:r>
            <a:r>
              <a:rPr lang="zh-TW" altLang="en-US" dirty="0"/>
              <a:t> </a:t>
            </a:r>
            <a:r>
              <a:rPr lang="en-US" altLang="zh-TW" dirty="0"/>
              <a:t>memory devices by</a:t>
            </a:r>
            <a:r>
              <a:rPr lang="zh-TW" altLang="en-US" dirty="0"/>
              <a:t> </a:t>
            </a:r>
            <a:r>
              <a:rPr lang="en-US" altLang="zh-TW" dirty="0"/>
              <a:t>placing</a:t>
            </a:r>
            <a:r>
              <a:rPr lang="zh-TW" altLang="en-US" dirty="0"/>
              <a:t> </a:t>
            </a:r>
            <a:r>
              <a:rPr lang="en-US" altLang="zh-TW" dirty="0"/>
              <a:t>storage</a:t>
            </a:r>
            <a:r>
              <a:rPr lang="zh-TW" altLang="en-US" dirty="0"/>
              <a:t> </a:t>
            </a:r>
            <a:r>
              <a:rPr lang="en-US" altLang="zh-TW" dirty="0"/>
              <a:t>devices</a:t>
            </a:r>
            <a:r>
              <a:rPr lang="zh-TW" altLang="en-US" dirty="0"/>
              <a:t> </a:t>
            </a:r>
            <a:r>
              <a:rPr lang="en-US" altLang="zh-TW" dirty="0"/>
              <a:t>on</a:t>
            </a:r>
            <a:r>
              <a:rPr lang="zh-TW" altLang="en-US" dirty="0"/>
              <a:t> </a:t>
            </a:r>
            <a:r>
              <a:rPr lang="en-US" altLang="zh-TW" dirty="0"/>
              <a:t>the</a:t>
            </a:r>
            <a:r>
              <a:rPr lang="zh-TW" altLang="en-US" dirty="0"/>
              <a:t> </a:t>
            </a:r>
            <a:r>
              <a:rPr lang="en-US" altLang="zh-TW" dirty="0"/>
              <a:t>DIMM</a:t>
            </a:r>
            <a:r>
              <a:rPr lang="zh-TW" altLang="en-US" dirty="0"/>
              <a:t> </a:t>
            </a:r>
            <a:r>
              <a:rPr lang="en-US" altLang="zh-TW" dirty="0"/>
              <a:t>memory</a:t>
            </a:r>
            <a:r>
              <a:rPr lang="zh-TW" altLang="en-US" dirty="0"/>
              <a:t> </a:t>
            </a:r>
            <a:r>
              <a:rPr lang="en-US" altLang="zh-TW" dirty="0"/>
              <a:t>module, so</a:t>
            </a:r>
            <a:r>
              <a:rPr lang="zh-TW" altLang="en-US" dirty="0"/>
              <a:t> </a:t>
            </a:r>
            <a:r>
              <a:rPr lang="en-US" altLang="zh-TW" dirty="0"/>
              <a:t>as</a:t>
            </a:r>
            <a:r>
              <a:rPr lang="zh-TW" altLang="en-US" dirty="0"/>
              <a:t> </a:t>
            </a:r>
            <a:r>
              <a:rPr lang="en-US" altLang="zh-TW" dirty="0"/>
              <a:t>to</a:t>
            </a:r>
            <a:r>
              <a:rPr lang="zh-TW" altLang="en-US" dirty="0"/>
              <a:t> </a:t>
            </a:r>
            <a:r>
              <a:rPr lang="en-US" altLang="zh-TW" dirty="0"/>
              <a:t>strike</a:t>
            </a:r>
            <a:r>
              <a:rPr lang="zh-TW" altLang="en-US" dirty="0"/>
              <a:t> </a:t>
            </a:r>
            <a:r>
              <a:rPr lang="en-US" altLang="zh-TW" dirty="0"/>
              <a:t>a</a:t>
            </a:r>
            <a:r>
              <a:rPr lang="zh-TW" altLang="en-US" dirty="0"/>
              <a:t> </a:t>
            </a:r>
            <a:r>
              <a:rPr lang="en-US" altLang="zh-TW" dirty="0"/>
              <a:t>balance</a:t>
            </a:r>
            <a:r>
              <a:rPr lang="zh-TW" altLang="en-US" dirty="0"/>
              <a:t> </a:t>
            </a:r>
            <a:r>
              <a:rPr lang="en-US" altLang="zh-TW" dirty="0"/>
              <a:t>between</a:t>
            </a:r>
            <a:r>
              <a:rPr lang="zh-TW" altLang="en-US" dirty="0"/>
              <a:t> </a:t>
            </a:r>
            <a:r>
              <a:rPr lang="en-US" altLang="zh-TW" dirty="0"/>
              <a:t>price</a:t>
            </a:r>
            <a:r>
              <a:rPr lang="zh-TW" altLang="en-US" dirty="0"/>
              <a:t> </a:t>
            </a:r>
            <a:r>
              <a:rPr lang="en-US" altLang="zh-TW" dirty="0"/>
              <a:t>and</a:t>
            </a:r>
            <a:r>
              <a:rPr lang="zh-TW" altLang="en-US" dirty="0"/>
              <a:t> </a:t>
            </a:r>
            <a:r>
              <a:rPr lang="en-US" altLang="zh-TW" dirty="0"/>
              <a:t>performance.</a:t>
            </a:r>
          </a:p>
          <a:p>
            <a:endParaRPr lang="en-US" altLang="zh-TW" dirty="0"/>
          </a:p>
          <a:p>
            <a:r>
              <a:rPr lang="en-US" altLang="zh-TW" dirty="0"/>
              <a:t>(click)</a:t>
            </a:r>
          </a:p>
          <a:p>
            <a:r>
              <a:rPr lang="en-US" altLang="zh-TW" dirty="0"/>
              <a:t>As the manufacturing technology becomes mature, some memory devices start to support processing capability.</a:t>
            </a:r>
            <a:br>
              <a:rPr lang="en-US" altLang="zh-TW" dirty="0"/>
            </a:br>
            <a:r>
              <a:rPr lang="en-US" altLang="zh-TW" dirty="0"/>
              <a:t>For example, TSMC proposes a memory chip and Samsung launches their AXDIMM devices.</a:t>
            </a:r>
          </a:p>
          <a:p>
            <a:r>
              <a:rPr lang="en-US" altLang="zh-TW" dirty="0"/>
              <a:t>Both devices can support processing-in-memory </a:t>
            </a:r>
          </a:p>
          <a:p>
            <a:endParaRPr lang="en-US" altLang="zh-TW" dirty="0"/>
          </a:p>
          <a:p>
            <a:endParaRPr lang="en-US" altLang="zh-TW" dirty="0"/>
          </a:p>
          <a:p>
            <a:r>
              <a:rPr lang="en-US" altLang="zh-TW" dirty="0"/>
              <a:t>However, due</a:t>
            </a:r>
            <a:r>
              <a:rPr lang="zh-TW" altLang="en-US" dirty="0"/>
              <a:t> </a:t>
            </a:r>
            <a:r>
              <a:rPr lang="en-US" altLang="zh-TW" dirty="0"/>
              <a:t>to the manufacturing limitation, and the outdated design of operating system, we might still face some critical challenges while using these devices.</a:t>
            </a:r>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dirty="0"/>
              <a:t>說法材料：</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kern="1200" dirty="0">
                <a:solidFill>
                  <a:schemeClr val="tx1"/>
                </a:solidFill>
                <a:effectLst/>
                <a:latin typeface="+mn-lt"/>
                <a:ea typeface="+mn-ea"/>
                <a:cs typeface="+mn-cs"/>
              </a:rPr>
              <a:t>A 40nm 64Kb 56.67TOPS/W Read-Disturb-Tolerant Compute- in-Memory/Digital RRAM Macro with Active-Feedback-Based Read and In-Situ Write Verification </a:t>
            </a:r>
            <a:endParaRPr lang="en-US" altLang="zh-TW" dirty="0"/>
          </a:p>
          <a:p>
            <a:r>
              <a:rPr lang="en-US" altLang="zh-TW" dirty="0"/>
              <a:t>https://</a:t>
            </a:r>
            <a:r>
              <a:rPr lang="en-US" altLang="zh-TW" dirty="0" err="1"/>
              <a:t>cc.cnetcontent.com</a:t>
            </a:r>
            <a:r>
              <a:rPr lang="en-US" altLang="zh-TW" dirty="0"/>
              <a:t>/</a:t>
            </a:r>
            <a:r>
              <a:rPr lang="en-US" altLang="zh-TW" dirty="0" err="1"/>
              <a:t>vcs</a:t>
            </a:r>
            <a:r>
              <a:rPr lang="en-US" altLang="zh-TW" dirty="0"/>
              <a:t>/hp-</a:t>
            </a:r>
            <a:r>
              <a:rPr lang="en-US" altLang="zh-TW" dirty="0" err="1"/>
              <a:t>ent</a:t>
            </a:r>
            <a:r>
              <a:rPr lang="en-US" altLang="zh-TW" dirty="0"/>
              <a:t>/inline-content/SI/C/2/C2B3385377589DDEF3AC5CE77AA40BE213B401C2_source.PDF</a:t>
            </a:r>
          </a:p>
          <a:p>
            <a:endParaRPr lang="en-US" altLang="zh-TW" dirty="0"/>
          </a:p>
          <a:p>
            <a:r>
              <a:rPr kumimoji="1" lang="zh-CN" altLang="en-US" sz="1200" dirty="0"/>
              <a:t>除了</a:t>
            </a:r>
            <a:r>
              <a:rPr kumimoji="1" lang="en-US" altLang="zh-TW" sz="1200" dirty="0"/>
              <a:t>DRAM</a:t>
            </a:r>
            <a:r>
              <a:rPr kumimoji="1" lang="zh-CN" altLang="en-US" sz="1200" dirty="0"/>
              <a:t>之外，非揮發性記憶體</a:t>
            </a:r>
            <a:r>
              <a:rPr kumimoji="1" lang="en-US" altLang="zh-TW" sz="1200" dirty="0"/>
              <a:t>NVM</a:t>
            </a:r>
            <a:r>
              <a:rPr kumimoji="1" lang="zh-CN" altLang="en-US" sz="1200" dirty="0"/>
              <a:t>被視為擴充主記憶體的候選。</a:t>
            </a:r>
            <a:endParaRPr kumimoji="1" lang="en-US" altLang="zh-CN" sz="1200" dirty="0"/>
          </a:p>
          <a:p>
            <a:r>
              <a:rPr kumimoji="1" lang="zh-CN" altLang="en-US" sz="1200" dirty="0"/>
              <a:t>主要原因是</a:t>
            </a:r>
            <a:r>
              <a:rPr kumimoji="1" lang="en-US" altLang="zh-TW" sz="1200" dirty="0"/>
              <a:t>NVM</a:t>
            </a:r>
            <a:r>
              <a:rPr kumimoji="1" lang="zh-CN" altLang="en-US" sz="1200" dirty="0"/>
              <a:t>技術近</a:t>
            </a:r>
            <a:r>
              <a:rPr kumimoji="1" lang="en-US" altLang="zh-TW" sz="1200" dirty="0"/>
              <a:t>10</a:t>
            </a:r>
            <a:r>
              <a:rPr kumimoji="1" lang="zh-CN" altLang="en-US" sz="1200" dirty="0"/>
              <a:t>年來有著顯著的發展，其中快閃記憶體</a:t>
            </a:r>
            <a:r>
              <a:rPr kumimoji="1" lang="en-US" altLang="zh-TW" sz="1200" dirty="0"/>
              <a:t>NAND</a:t>
            </a:r>
            <a:r>
              <a:rPr kumimoji="1" lang="zh-TW" altLang="en-US" sz="1200" dirty="0"/>
              <a:t> </a:t>
            </a:r>
            <a:r>
              <a:rPr kumimoji="1" lang="en-US" altLang="zh-TW" sz="1200" dirty="0"/>
              <a:t>Flash</a:t>
            </a:r>
            <a:r>
              <a:rPr kumimoji="1" lang="zh-CN" altLang="en-US" sz="1200" dirty="0"/>
              <a:t>的發展最為成熟</a:t>
            </a:r>
            <a:br>
              <a:rPr kumimoji="1" lang="en-US" altLang="zh-CN" sz="1200" dirty="0"/>
            </a:br>
            <a:r>
              <a:rPr kumimoji="1" lang="zh-CN" altLang="en-US" sz="1200" dirty="0"/>
              <a:t>以價格來說，</a:t>
            </a:r>
            <a:r>
              <a:rPr kumimoji="1" lang="en-US" altLang="zh-TW" sz="1200" dirty="0"/>
              <a:t>NAND</a:t>
            </a:r>
            <a:r>
              <a:rPr kumimoji="1" lang="zh-TW" altLang="en-US" sz="1200" dirty="0"/>
              <a:t> </a:t>
            </a:r>
            <a:r>
              <a:rPr kumimoji="1" lang="en-US" altLang="zh-TW" sz="1200" dirty="0"/>
              <a:t>Flash</a:t>
            </a:r>
            <a:r>
              <a:rPr kumimoji="1" lang="zh-CN" altLang="en-US" sz="1200" dirty="0"/>
              <a:t>相較於</a:t>
            </a:r>
            <a:r>
              <a:rPr kumimoji="1" lang="en-US" altLang="zh-TW" sz="1200" dirty="0"/>
              <a:t>DRAM</a:t>
            </a:r>
            <a:r>
              <a:rPr kumimoji="1" lang="zh-CN" altLang="en-US" sz="1200" dirty="0"/>
              <a:t>可以節省三十倍甚至四十倍的價格，此外由於製成的不同，</a:t>
            </a:r>
            <a:r>
              <a:rPr kumimoji="1" lang="en-US" altLang="zh-TW" sz="1200" dirty="0"/>
              <a:t>NAND</a:t>
            </a:r>
            <a:r>
              <a:rPr kumimoji="1" lang="zh-TW" altLang="en-US" sz="1200" dirty="0"/>
              <a:t> </a:t>
            </a:r>
            <a:r>
              <a:rPr kumimoji="1" lang="en-US" altLang="zh-TW" sz="1200" dirty="0"/>
              <a:t>Flash</a:t>
            </a:r>
            <a:r>
              <a:rPr kumimoji="1" lang="zh-CN" altLang="en-US" sz="1200" dirty="0"/>
              <a:t>已經可以提供</a:t>
            </a:r>
            <a:r>
              <a:rPr kumimoji="1" lang="en-US" altLang="zh-TW" sz="1200" dirty="0"/>
              <a:t>TB</a:t>
            </a:r>
            <a:r>
              <a:rPr kumimoji="1" lang="zh-CN" altLang="en-US" sz="1200" dirty="0"/>
              <a:t>等級的容量</a:t>
            </a:r>
            <a:endParaRPr kumimoji="1" lang="en-US" altLang="zh-CN" sz="1200" dirty="0"/>
          </a:p>
          <a:p>
            <a:r>
              <a:rPr kumimoji="1" lang="zh-CN" altLang="en-US" sz="1200" dirty="0"/>
              <a:t>然而，僅管</a:t>
            </a:r>
            <a:r>
              <a:rPr kumimoji="1" lang="en-US" altLang="zh-TW" sz="1200" dirty="0"/>
              <a:t>NAND</a:t>
            </a:r>
            <a:r>
              <a:rPr kumimoji="1" lang="zh-TW" altLang="en-US" sz="1200" dirty="0"/>
              <a:t> </a:t>
            </a:r>
            <a:r>
              <a:rPr kumimoji="1" lang="en-US" altLang="zh-TW" sz="1200" dirty="0"/>
              <a:t>Flash</a:t>
            </a:r>
            <a:r>
              <a:rPr kumimoji="1" lang="zh-CN" altLang="en-US" sz="1200" dirty="0"/>
              <a:t>的存取速度在近幾年有的大福度的提生，相較於</a:t>
            </a:r>
            <a:r>
              <a:rPr kumimoji="1" lang="en-US" altLang="zh-TW" sz="1200" dirty="0"/>
              <a:t>DRAM</a:t>
            </a:r>
            <a:r>
              <a:rPr kumimoji="1" lang="zh-CN" altLang="en-US" sz="1200" dirty="0"/>
              <a:t>的</a:t>
            </a:r>
            <a:r>
              <a:rPr kumimoji="1" lang="en-US" altLang="zh-TW" sz="1200" dirty="0"/>
              <a:t>50ns</a:t>
            </a:r>
            <a:r>
              <a:rPr kumimoji="1" lang="zh-CN" altLang="en-US" sz="1200" dirty="0"/>
              <a:t>來說還是存在不小的</a:t>
            </a:r>
            <a:r>
              <a:rPr kumimoji="1" lang="en-US" altLang="zh-TW" sz="1200" dirty="0"/>
              <a:t>performance</a:t>
            </a:r>
            <a:r>
              <a:rPr kumimoji="1" lang="zh-TW" altLang="en-US" sz="1200" dirty="0"/>
              <a:t> </a:t>
            </a:r>
            <a:r>
              <a:rPr kumimoji="1" lang="en-US" altLang="zh-TW" sz="1200" dirty="0"/>
              <a:t>gap.</a:t>
            </a:r>
            <a:r>
              <a:rPr kumimoji="1" lang="zh-CN" altLang="en-US" sz="1200" dirty="0"/>
              <a:t>因此以</a:t>
            </a:r>
            <a:r>
              <a:rPr kumimoji="1" lang="en-US" altLang="zh-TW" sz="1200" dirty="0"/>
              <a:t>NAND</a:t>
            </a:r>
            <a:r>
              <a:rPr kumimoji="1" lang="zh-TW" altLang="en-US" sz="1200" dirty="0"/>
              <a:t> </a:t>
            </a:r>
            <a:r>
              <a:rPr kumimoji="1" lang="en-US" altLang="zh-TW" sz="1200" dirty="0"/>
              <a:t>Flash</a:t>
            </a:r>
            <a:r>
              <a:rPr kumimoji="1" lang="zh-CN" altLang="en-US" sz="1200" dirty="0"/>
              <a:t>支援主記憶體延伸</a:t>
            </a:r>
            <a:r>
              <a:rPr kumimoji="1" lang="zh-TW" altLang="en-US" sz="1200" dirty="0"/>
              <a:t> </a:t>
            </a:r>
            <a:r>
              <a:rPr kumimoji="1" lang="en-US" altLang="zh-TW" sz="1200" dirty="0"/>
              <a:t>performance</a:t>
            </a:r>
            <a:r>
              <a:rPr kumimoji="1" lang="zh-CN" altLang="en-US" sz="1200" dirty="0"/>
              <a:t>還是一大關鍵</a:t>
            </a:r>
            <a:endParaRPr kumimoji="1" lang="en-US" altLang="zh-CN" sz="1200" dirty="0"/>
          </a:p>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14</a:t>
            </a:fld>
            <a:endParaRPr lang="zh-TW" altLang="en-US"/>
          </a:p>
        </p:txBody>
      </p:sp>
    </p:spTree>
    <p:extLst>
      <p:ext uri="{BB962C8B-B14F-4D97-AF65-F5344CB8AC3E}">
        <p14:creationId xmlns:p14="http://schemas.microsoft.com/office/powerpoint/2010/main" val="1121061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下面這張投影片在說：「硬體變了，所以作業系統的一些老做法要重新思考。」我用白話分點解釋：</a:t>
            </a:r>
          </a:p>
          <a:p>
            <a:r>
              <a:rPr lang="zh-TW" altLang="en-US" dirty="0"/>
              <a:t>記憶體跟儲存裝置的界線正在變模糊</a:t>
            </a:r>
          </a:p>
          <a:p>
            <a:r>
              <a:rPr lang="zh-TW" altLang="en-US" dirty="0"/>
              <a:t>以前：</a:t>
            </a:r>
            <a:r>
              <a:rPr lang="en-US" altLang="zh-TW" dirty="0"/>
              <a:t>RAM</a:t>
            </a:r>
            <a:r>
              <a:rPr lang="zh-TW" altLang="en-US" dirty="0"/>
              <a:t>（奈秒）超快，用來算；</a:t>
            </a:r>
            <a:r>
              <a:rPr lang="en-US" altLang="zh-TW" dirty="0"/>
              <a:t>SSD/HDD</a:t>
            </a:r>
            <a:r>
              <a:rPr lang="zh-TW" altLang="en-US" dirty="0"/>
              <a:t>（微秒</a:t>
            </a:r>
            <a:r>
              <a:rPr lang="en-US" altLang="zh-TW" dirty="0"/>
              <a:t>/</a:t>
            </a:r>
            <a:r>
              <a:rPr lang="zh-TW" altLang="en-US" dirty="0"/>
              <a:t>毫秒）明顯比較慢，用來存。</a:t>
            </a:r>
          </a:p>
          <a:p>
            <a:r>
              <a:rPr lang="zh-TW" altLang="en-US" dirty="0"/>
              <a:t>現在：更快的 </a:t>
            </a:r>
            <a:r>
              <a:rPr lang="en-US" altLang="zh-TW" dirty="0"/>
              <a:t>SSD</a:t>
            </a:r>
            <a:r>
              <a:rPr lang="zh-TW" altLang="en-US" dirty="0"/>
              <a:t>、</a:t>
            </a:r>
            <a:r>
              <a:rPr lang="en-US" altLang="zh-TW" dirty="0" err="1"/>
              <a:t>NVMe</a:t>
            </a:r>
            <a:r>
              <a:rPr lang="zh-TW" altLang="en-US" dirty="0"/>
              <a:t>、持久記憶體（</a:t>
            </a:r>
            <a:r>
              <a:rPr lang="en-US" altLang="zh-TW" dirty="0"/>
              <a:t>NVDIMM/</a:t>
            </a:r>
            <a:r>
              <a:rPr lang="en-US" altLang="zh-TW" dirty="0" err="1"/>
              <a:t>PMem</a:t>
            </a:r>
            <a:r>
              <a:rPr lang="zh-TW" altLang="en-US" dirty="0"/>
              <a:t>）、</a:t>
            </a:r>
            <a:r>
              <a:rPr lang="en-US" altLang="zh-TW" dirty="0"/>
              <a:t>CXL </a:t>
            </a:r>
            <a:r>
              <a:rPr lang="zh-TW" altLang="en-US" dirty="0"/>
              <a:t>記憶體出現，速度與介面越來越像 </a:t>
            </a:r>
            <a:r>
              <a:rPr lang="en-US" altLang="zh-TW" dirty="0"/>
              <a:t>RAM</a:t>
            </a:r>
            <a:r>
              <a:rPr lang="zh-TW" altLang="en-US" dirty="0"/>
              <a:t>。</a:t>
            </a:r>
          </a:p>
          <a:p>
            <a:r>
              <a:rPr lang="zh-TW" altLang="en-US" dirty="0"/>
              <a:t>意義：很多「一定要先讀到頁面快取再用」或「</a:t>
            </a:r>
            <a:r>
              <a:rPr lang="en-US" altLang="zh-TW" dirty="0"/>
              <a:t>I/O </a:t>
            </a:r>
            <a:r>
              <a:rPr lang="zh-TW" altLang="en-US" dirty="0"/>
              <a:t>一定很慢」的假設，不一定成立。</a:t>
            </a:r>
          </a:p>
          <a:p>
            <a:r>
              <a:rPr lang="zh-TW" altLang="en-US" dirty="0"/>
              <a:t>儲存延遲追上「情境切換（</a:t>
            </a:r>
            <a:r>
              <a:rPr lang="en-US" altLang="zh-TW" dirty="0"/>
              <a:t>context switch</a:t>
            </a:r>
            <a:r>
              <a:rPr lang="zh-TW" altLang="en-US" dirty="0"/>
              <a:t>）」的開銷</a:t>
            </a:r>
          </a:p>
          <a:p>
            <a:r>
              <a:rPr lang="zh-TW" altLang="en-US" dirty="0"/>
              <a:t>一次系統呼叫</a:t>
            </a:r>
            <a:r>
              <a:rPr lang="en-US" altLang="zh-TW" dirty="0"/>
              <a:t>/</a:t>
            </a:r>
            <a:r>
              <a:rPr lang="zh-TW" altLang="en-US" dirty="0"/>
              <a:t>中斷</a:t>
            </a:r>
            <a:r>
              <a:rPr lang="en-US" altLang="zh-TW" dirty="0"/>
              <a:t>/</a:t>
            </a:r>
            <a:r>
              <a:rPr lang="zh-TW" altLang="en-US" dirty="0"/>
              <a:t>行程切換大約 </a:t>
            </a:r>
            <a:r>
              <a:rPr lang="en-US" altLang="zh-TW" dirty="0"/>
              <a:t>1–10 </a:t>
            </a:r>
            <a:r>
              <a:rPr lang="zh-TW" altLang="en-US" dirty="0"/>
              <a:t>微秒。</a:t>
            </a:r>
          </a:p>
          <a:p>
            <a:r>
              <a:rPr lang="zh-TW" altLang="en-US" dirty="0"/>
              <a:t>高階 </a:t>
            </a:r>
            <a:r>
              <a:rPr lang="en-US" altLang="zh-TW" dirty="0" err="1"/>
              <a:t>NVMe</a:t>
            </a:r>
            <a:r>
              <a:rPr lang="en-US" altLang="zh-TW" dirty="0"/>
              <a:t> </a:t>
            </a:r>
            <a:r>
              <a:rPr lang="zh-TW" altLang="en-US" dirty="0"/>
              <a:t>讀一次小資料也就幾十微秒到個位數微秒。</a:t>
            </a:r>
          </a:p>
          <a:p>
            <a:r>
              <a:rPr lang="zh-TW" altLang="en-US" dirty="0"/>
              <a:t>結果：不是裝置慢，而是 </a:t>
            </a:r>
            <a:r>
              <a:rPr lang="en-US" altLang="zh-TW" dirty="0"/>
              <a:t>OS </a:t>
            </a:r>
            <a:r>
              <a:rPr lang="zh-TW" altLang="en-US" dirty="0"/>
              <a:t>自己的切換、複製、排程等「軟體成本」佔了大頭。</a:t>
            </a:r>
          </a:p>
          <a:p>
            <a:r>
              <a:rPr lang="zh-TW" altLang="en-US" dirty="0"/>
              <a:t>方向：減少系統呼叫次數、批次處理、零拷貝、用 </a:t>
            </a:r>
            <a:r>
              <a:rPr lang="en-US" altLang="zh-TW" dirty="0" err="1"/>
              <a:t>io_uring</a:t>
            </a:r>
            <a:r>
              <a:rPr lang="en-US" altLang="zh-TW" dirty="0"/>
              <a:t>/async I/O</a:t>
            </a:r>
            <a:r>
              <a:rPr lang="zh-TW" altLang="en-US" dirty="0"/>
              <a:t>、甚至使用「</a:t>
            </a:r>
            <a:r>
              <a:rPr lang="en-US" altLang="zh-TW" dirty="0"/>
              <a:t>kernel bypass</a:t>
            </a:r>
            <a:r>
              <a:rPr lang="zh-TW" altLang="en-US" dirty="0"/>
              <a:t>」框架。</a:t>
            </a:r>
          </a:p>
          <a:p>
            <a:r>
              <a:rPr lang="zh-TW" altLang="en-US" dirty="0"/>
              <a:t>檔案系統本身的 </a:t>
            </a:r>
            <a:r>
              <a:rPr lang="en-US" altLang="zh-TW" dirty="0"/>
              <a:t>overhead </a:t>
            </a:r>
            <a:r>
              <a:rPr lang="zh-TW" altLang="en-US" dirty="0"/>
              <a:t>變得關鍵（例如：頁面快取 </a:t>
            </a:r>
            <a:r>
              <a:rPr lang="en-US" altLang="zh-TW" dirty="0"/>
              <a:t>page cache</a:t>
            </a:r>
            <a:r>
              <a:rPr lang="zh-TW" altLang="en-US" dirty="0"/>
              <a:t>）</a:t>
            </a:r>
          </a:p>
          <a:p>
            <a:r>
              <a:rPr lang="zh-TW" altLang="en-US" dirty="0"/>
              <a:t>過去：裝置很慢，所以多一層 </a:t>
            </a:r>
            <a:r>
              <a:rPr lang="en-US" altLang="zh-TW" dirty="0"/>
              <a:t>page cache</a:t>
            </a:r>
            <a:r>
              <a:rPr lang="zh-TW" altLang="en-US" dirty="0"/>
              <a:t>、</a:t>
            </a:r>
            <a:r>
              <a:rPr lang="en-US" altLang="zh-TW" dirty="0"/>
              <a:t>metadata </a:t>
            </a:r>
            <a:r>
              <a:rPr lang="zh-TW" altLang="en-US" dirty="0"/>
              <a:t>檢查、日誌（</a:t>
            </a:r>
            <a:r>
              <a:rPr lang="en-US" altLang="zh-TW" dirty="0"/>
              <a:t>journaling</a:t>
            </a:r>
            <a:r>
              <a:rPr lang="zh-TW" altLang="en-US" dirty="0"/>
              <a:t>）都值得。</a:t>
            </a:r>
          </a:p>
          <a:p>
            <a:r>
              <a:rPr lang="zh-TW" altLang="en-US" dirty="0"/>
              <a:t>現在：裝置快了，反而「多層複製、快取一致性、</a:t>
            </a:r>
            <a:r>
              <a:rPr lang="en-US" altLang="zh-TW" dirty="0"/>
              <a:t>metadata </a:t>
            </a:r>
            <a:r>
              <a:rPr lang="zh-TW" altLang="en-US" dirty="0"/>
              <a:t>鎖」成為瓶頸。</a:t>
            </a:r>
          </a:p>
          <a:p>
            <a:r>
              <a:rPr lang="zh-TW" altLang="en-US" dirty="0"/>
              <a:t>方向：繞過 </a:t>
            </a:r>
            <a:r>
              <a:rPr lang="en-US" altLang="zh-TW" dirty="0"/>
              <a:t>page cache </a:t>
            </a:r>
            <a:r>
              <a:rPr lang="zh-TW" altLang="en-US" dirty="0"/>
              <a:t>的 </a:t>
            </a:r>
            <a:r>
              <a:rPr lang="en-US" altLang="zh-TW" dirty="0"/>
              <a:t>direct I/O</a:t>
            </a:r>
            <a:r>
              <a:rPr lang="zh-TW" altLang="en-US" dirty="0"/>
              <a:t>、應用層資料結構持久化（比如用 </a:t>
            </a:r>
            <a:r>
              <a:rPr lang="en-US" altLang="zh-TW" dirty="0" err="1"/>
              <a:t>mmap</a:t>
            </a:r>
            <a:r>
              <a:rPr lang="en-US" altLang="zh-TW" dirty="0"/>
              <a:t>+</a:t>
            </a:r>
            <a:r>
              <a:rPr lang="zh-TW" altLang="en-US" dirty="0"/>
              <a:t>持久記憶體）、更輕量的 </a:t>
            </a:r>
            <a:r>
              <a:rPr lang="en-US" altLang="zh-TW" dirty="0"/>
              <a:t>FS </a:t>
            </a:r>
            <a:r>
              <a:rPr lang="zh-TW" altLang="en-US" dirty="0"/>
              <a:t>或專用存取堆疊（</a:t>
            </a:r>
            <a:r>
              <a:rPr lang="en-US" altLang="zh-TW" dirty="0"/>
              <a:t>SPDK </a:t>
            </a:r>
            <a:r>
              <a:rPr lang="zh-TW" altLang="en-US" dirty="0"/>
              <a:t>等）。</a:t>
            </a:r>
          </a:p>
          <a:p>
            <a:r>
              <a:rPr lang="zh-TW" altLang="en-US" dirty="0"/>
              <a:t>記憶體需求爆炸，部署成本變高（該用多大的 </a:t>
            </a:r>
            <a:r>
              <a:rPr lang="en-US" altLang="zh-TW" dirty="0"/>
              <a:t>page size</a:t>
            </a:r>
            <a:r>
              <a:rPr lang="zh-TW" altLang="en-US" dirty="0"/>
              <a:t>？）</a:t>
            </a:r>
          </a:p>
          <a:p>
            <a:r>
              <a:rPr lang="zh-TW" altLang="en-US" dirty="0"/>
              <a:t>大資料</a:t>
            </a:r>
            <a:r>
              <a:rPr lang="en-US" altLang="zh-TW" dirty="0"/>
              <a:t>/AI/</a:t>
            </a:r>
            <a:r>
              <a:rPr lang="zh-TW" altLang="en-US" dirty="0"/>
              <a:t>快取服務吃記憶體，</a:t>
            </a:r>
            <a:r>
              <a:rPr lang="en-US" altLang="zh-TW" dirty="0"/>
              <a:t>RAM </a:t>
            </a:r>
            <a:r>
              <a:rPr lang="zh-TW" altLang="en-US" dirty="0"/>
              <a:t>很貴。</a:t>
            </a:r>
          </a:p>
          <a:p>
            <a:r>
              <a:rPr lang="zh-TW" altLang="en-US" dirty="0"/>
              <a:t>小頁面（</a:t>
            </a:r>
            <a:r>
              <a:rPr lang="en-US" altLang="zh-TW" dirty="0"/>
              <a:t>4KB</a:t>
            </a:r>
            <a:r>
              <a:rPr lang="zh-TW" altLang="en-US" dirty="0"/>
              <a:t>）管理成本高、</a:t>
            </a:r>
            <a:r>
              <a:rPr lang="en-US" altLang="zh-TW" dirty="0"/>
              <a:t>TLB </a:t>
            </a:r>
            <a:r>
              <a:rPr lang="zh-TW" altLang="en-US" dirty="0"/>
              <a:t>壓力大；大頁面</a:t>
            </a:r>
            <a:r>
              <a:rPr lang="en-US" altLang="zh-TW" dirty="0"/>
              <a:t>/</a:t>
            </a:r>
            <a:r>
              <a:rPr lang="zh-TW" altLang="en-US" dirty="0"/>
              <a:t>巨頁（</a:t>
            </a:r>
            <a:r>
              <a:rPr lang="en-US" altLang="zh-TW" dirty="0"/>
              <a:t>64KB</a:t>
            </a:r>
            <a:r>
              <a:rPr lang="zh-TW" altLang="en-US" dirty="0"/>
              <a:t>、</a:t>
            </a:r>
            <a:r>
              <a:rPr lang="en-US" altLang="zh-TW" dirty="0"/>
              <a:t>2MB</a:t>
            </a:r>
            <a:r>
              <a:rPr lang="zh-TW" altLang="en-US" dirty="0"/>
              <a:t>、</a:t>
            </a:r>
            <a:r>
              <a:rPr lang="en-US" altLang="zh-TW" dirty="0"/>
              <a:t>1GB</a:t>
            </a:r>
            <a:r>
              <a:rPr lang="zh-TW" altLang="en-US" dirty="0"/>
              <a:t>）能降 </a:t>
            </a:r>
            <a:r>
              <a:rPr lang="en-US" altLang="zh-TW" dirty="0"/>
              <a:t>TLB miss</a:t>
            </a:r>
            <a:r>
              <a:rPr lang="zh-TW" altLang="en-US" dirty="0"/>
              <a:t>、少 </a:t>
            </a:r>
            <a:r>
              <a:rPr lang="en-US" altLang="zh-TW" dirty="0"/>
              <a:t>page fault</a:t>
            </a:r>
            <a:r>
              <a:rPr lang="zh-TW" altLang="en-US" dirty="0"/>
              <a:t>，但也可能造成內部碎片。</a:t>
            </a:r>
          </a:p>
          <a:p>
            <a:r>
              <a:rPr lang="zh-TW" altLang="en-US" dirty="0"/>
              <a:t>這句在提醒：選「對的頁面大小與策略」會直接影響效能與成本。</a:t>
            </a:r>
          </a:p>
          <a:p>
            <a:r>
              <a:rPr lang="zh-TW" altLang="en-US" dirty="0"/>
              <a:t>一句話總結</a:t>
            </a:r>
          </a:p>
          <a:p>
            <a:r>
              <a:rPr lang="zh-TW" altLang="en-US" dirty="0"/>
              <a:t>儲存變快、界線變淡，</a:t>
            </a:r>
            <a:r>
              <a:rPr lang="en-US" altLang="zh-TW" dirty="0"/>
              <a:t>OS </a:t>
            </a:r>
            <a:r>
              <a:rPr lang="zh-TW" altLang="en-US" dirty="0"/>
              <a:t>原本為「慢 </a:t>
            </a:r>
            <a:r>
              <a:rPr lang="en-US" altLang="zh-TW" dirty="0"/>
              <a:t>I/O</a:t>
            </a:r>
            <a:r>
              <a:rPr lang="zh-TW" altLang="en-US" dirty="0"/>
              <a:t>」設計的開銷浮上檯面；要用更少的切換、更少的拷貝、更聰明的快取</a:t>
            </a:r>
            <a:r>
              <a:rPr lang="en-US" altLang="zh-TW" dirty="0"/>
              <a:t>/</a:t>
            </a:r>
            <a:r>
              <a:rPr lang="zh-TW" altLang="en-US" dirty="0"/>
              <a:t>頁面大小，甚至繞過傳統檔案系統，才能真的把新硬體的效能吃乾抹淨。</a:t>
            </a:r>
          </a:p>
          <a:p>
            <a:r>
              <a:rPr lang="zh-TW" altLang="en-US" dirty="0"/>
              <a:t>給你可操作的思路（面對作業</a:t>
            </a:r>
            <a:r>
              <a:rPr lang="en-US" altLang="zh-TW" dirty="0"/>
              <a:t>/</a:t>
            </a:r>
            <a:r>
              <a:rPr lang="zh-TW" altLang="en-US" dirty="0"/>
              <a:t>專題時可用）</a:t>
            </a:r>
          </a:p>
          <a:p>
            <a:r>
              <a:rPr lang="zh-TW" altLang="en-US" dirty="0"/>
              <a:t>減少 </a:t>
            </a:r>
            <a:r>
              <a:rPr lang="en-US" altLang="zh-TW" dirty="0" err="1"/>
              <a:t>syscall</a:t>
            </a:r>
            <a:r>
              <a:rPr lang="en-US" altLang="zh-TW" dirty="0"/>
              <a:t>/</a:t>
            </a:r>
            <a:r>
              <a:rPr lang="en-US" altLang="zh-TW" dirty="0" err="1"/>
              <a:t>ctx</a:t>
            </a:r>
            <a:r>
              <a:rPr lang="en-US" altLang="zh-TW" dirty="0"/>
              <a:t> switch</a:t>
            </a:r>
            <a:r>
              <a:rPr lang="zh-TW" altLang="en-US" dirty="0"/>
              <a:t>：用批次 </a:t>
            </a:r>
            <a:r>
              <a:rPr lang="en-US" altLang="zh-TW" dirty="0"/>
              <a:t>I/O</a:t>
            </a:r>
            <a:r>
              <a:rPr lang="zh-TW" altLang="en-US" dirty="0"/>
              <a:t>、非同步 </a:t>
            </a:r>
            <a:r>
              <a:rPr lang="en-US" altLang="zh-TW" dirty="0"/>
              <a:t>I/O</a:t>
            </a:r>
            <a:r>
              <a:rPr lang="zh-TW" altLang="en-US" dirty="0"/>
              <a:t>（</a:t>
            </a:r>
            <a:r>
              <a:rPr lang="en-US" altLang="zh-TW" dirty="0" err="1"/>
              <a:t>io_uring</a:t>
            </a:r>
            <a:r>
              <a:rPr lang="zh-TW" altLang="en-US" dirty="0"/>
              <a:t>）、合併小請求。</a:t>
            </a:r>
          </a:p>
          <a:p>
            <a:r>
              <a:rPr lang="zh-TW" altLang="en-US" dirty="0"/>
              <a:t>減少拷貝：零拷貝（</a:t>
            </a:r>
            <a:r>
              <a:rPr lang="en-US" altLang="zh-TW" dirty="0" err="1"/>
              <a:t>sendfile</a:t>
            </a:r>
            <a:r>
              <a:rPr lang="zh-TW" altLang="en-US" dirty="0"/>
              <a:t>、</a:t>
            </a:r>
            <a:r>
              <a:rPr lang="en-US" altLang="zh-TW" dirty="0" err="1"/>
              <a:t>mmap</a:t>
            </a:r>
            <a:r>
              <a:rPr lang="zh-TW" altLang="en-US" dirty="0"/>
              <a:t>、</a:t>
            </a:r>
            <a:r>
              <a:rPr lang="en-US" altLang="zh-TW" dirty="0"/>
              <a:t>DMA</a:t>
            </a:r>
            <a:r>
              <a:rPr lang="zh-TW" altLang="en-US" dirty="0"/>
              <a:t>）、使用 </a:t>
            </a:r>
            <a:r>
              <a:rPr lang="en-US" altLang="zh-TW" dirty="0"/>
              <a:t>direct I/O</a:t>
            </a:r>
            <a:r>
              <a:rPr lang="zh-TW" altLang="en-US" dirty="0"/>
              <a:t>。</a:t>
            </a:r>
          </a:p>
          <a:p>
            <a:r>
              <a:rPr lang="zh-TW" altLang="en-US" dirty="0"/>
              <a:t>重新看待快取：是否需要 </a:t>
            </a:r>
            <a:r>
              <a:rPr lang="en-US" altLang="zh-TW" dirty="0"/>
              <a:t>page cache</a:t>
            </a:r>
            <a:r>
              <a:rPr lang="zh-TW" altLang="en-US" dirty="0"/>
              <a:t>？是否能應用層管理？</a:t>
            </a:r>
          </a:p>
          <a:p>
            <a:r>
              <a:rPr lang="zh-TW" altLang="en-US" dirty="0"/>
              <a:t>調整頁面與記憶體：評估透明巨頁（</a:t>
            </a:r>
            <a:r>
              <a:rPr lang="en-US" altLang="zh-TW" dirty="0"/>
              <a:t>THP</a:t>
            </a:r>
            <a:r>
              <a:rPr lang="zh-TW" altLang="en-US" dirty="0"/>
              <a:t>）與固定巨頁，觀察 </a:t>
            </a:r>
            <a:r>
              <a:rPr lang="en-US" altLang="zh-TW" dirty="0"/>
              <a:t>TLB miss</a:t>
            </a:r>
            <a:r>
              <a:rPr lang="zh-TW" altLang="en-US" dirty="0"/>
              <a:t>、</a:t>
            </a:r>
            <a:r>
              <a:rPr lang="en-US" altLang="zh-TW" dirty="0"/>
              <a:t>page fault</a:t>
            </a:r>
            <a:r>
              <a:rPr lang="zh-TW" altLang="en-US" dirty="0"/>
              <a:t>。</a:t>
            </a:r>
          </a:p>
          <a:p>
            <a:r>
              <a:rPr lang="zh-TW" altLang="en-US" dirty="0"/>
              <a:t>測量而非猜測：同一工作在「有</a:t>
            </a:r>
            <a:r>
              <a:rPr lang="en-US" altLang="zh-TW" dirty="0"/>
              <a:t>/</a:t>
            </a:r>
            <a:r>
              <a:rPr lang="zh-TW" altLang="en-US" dirty="0"/>
              <a:t>無 </a:t>
            </a:r>
            <a:r>
              <a:rPr lang="en-US" altLang="zh-TW" dirty="0"/>
              <a:t>page cache</a:t>
            </a:r>
            <a:r>
              <a:rPr lang="zh-TW" altLang="en-US" dirty="0"/>
              <a:t>、</a:t>
            </a:r>
            <a:r>
              <a:rPr lang="en-US" altLang="zh-TW" dirty="0"/>
              <a:t>4K vs 2MB pages</a:t>
            </a:r>
            <a:r>
              <a:rPr lang="zh-TW" altLang="en-US" dirty="0"/>
              <a:t>、</a:t>
            </a:r>
            <a:r>
              <a:rPr lang="en-US" altLang="zh-TW" dirty="0"/>
              <a:t>sync vs async I/O</a:t>
            </a:r>
            <a:r>
              <a:rPr lang="zh-TW" altLang="en-US" dirty="0"/>
              <a:t>」下的延遲</a:t>
            </a:r>
            <a:r>
              <a:rPr lang="en-US" altLang="zh-TW" dirty="0"/>
              <a:t>/</a:t>
            </a:r>
            <a:r>
              <a:rPr lang="zh-TW" altLang="en-US" dirty="0"/>
              <a:t>吞吐</a:t>
            </a:r>
            <a:r>
              <a:rPr lang="en-US" altLang="zh-TW" dirty="0"/>
              <a:t>/CPU </a:t>
            </a:r>
            <a:r>
              <a:rPr lang="zh-TW" altLang="en-US" dirty="0"/>
              <a:t>佔用。</a:t>
            </a:r>
          </a:p>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15</a:t>
            </a:fld>
            <a:endParaRPr lang="zh-TW" altLang="en-US"/>
          </a:p>
        </p:txBody>
      </p:sp>
    </p:spTree>
    <p:extLst>
      <p:ext uri="{BB962C8B-B14F-4D97-AF65-F5344CB8AC3E}">
        <p14:creationId xmlns:p14="http://schemas.microsoft.com/office/powerpoint/2010/main" val="3379736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16</a:t>
            </a:fld>
            <a:endParaRPr lang="zh-TW" altLang="en-US"/>
          </a:p>
        </p:txBody>
      </p:sp>
    </p:spTree>
    <p:extLst>
      <p:ext uri="{BB962C8B-B14F-4D97-AF65-F5344CB8AC3E}">
        <p14:creationId xmlns:p14="http://schemas.microsoft.com/office/powerpoint/2010/main" val="32909622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17</a:t>
            </a:fld>
            <a:endParaRPr lang="zh-TW" altLang="en-US"/>
          </a:p>
        </p:txBody>
      </p:sp>
    </p:spTree>
    <p:extLst>
      <p:ext uri="{BB962C8B-B14F-4D97-AF65-F5344CB8AC3E}">
        <p14:creationId xmlns:p14="http://schemas.microsoft.com/office/powerpoint/2010/main" val="18874017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http://</a:t>
            </a:r>
            <a:r>
              <a:rPr lang="en-US" altLang="zh-TW" dirty="0" err="1"/>
              <a:t>byteliu.com</a:t>
            </a:r>
            <a:r>
              <a:rPr lang="en-US" altLang="zh-TW" dirty="0"/>
              <a:t>/2019/05/10/Linux-The-block-I-O-layer/</a:t>
            </a:r>
            <a:endParaRPr kumimoji="1" lang="en-US" altLang="zh-TW" dirty="0"/>
          </a:p>
          <a:p>
            <a:pPr fontAlgn="base"/>
            <a:br>
              <a:rPr kumimoji="1" lang="en-US" altLang="zh-TW" dirty="0"/>
            </a:br>
            <a:r>
              <a:rPr kumimoji="1" lang="en-US" altLang="zh-TW" dirty="0"/>
              <a:t>https://</a:t>
            </a:r>
            <a:r>
              <a:rPr kumimoji="1" lang="en-US" altLang="zh-TW" dirty="0" err="1"/>
              <a:t>www.oreilly.com</a:t>
            </a:r>
            <a:r>
              <a:rPr kumimoji="1" lang="en-US" altLang="zh-TW" dirty="0"/>
              <a:t>/library/view/understanding-the-</a:t>
            </a:r>
            <a:r>
              <a:rPr kumimoji="1" lang="en-US" altLang="zh-TW" dirty="0" err="1"/>
              <a:t>linux</a:t>
            </a:r>
            <a:r>
              <a:rPr kumimoji="1" lang="en-US" altLang="zh-TW" dirty="0"/>
              <a:t>/0596005652/ch14s03.html</a:t>
            </a:r>
          </a:p>
          <a:p>
            <a:pPr fontAlgn="base"/>
            <a:endParaRPr kumimoji="1" lang="en-US" altLang="zh-TW" dirty="0"/>
          </a:p>
          <a:p>
            <a:pPr fontAlgn="base"/>
            <a:r>
              <a:rPr kumimoji="1" lang="en-US" altLang="zh-TW" dirty="0"/>
              <a:t>https://</a:t>
            </a:r>
            <a:r>
              <a:rPr kumimoji="1" lang="en-US" altLang="zh-TW" dirty="0" err="1"/>
              <a:t>www.seagate.com</a:t>
            </a:r>
            <a:r>
              <a:rPr kumimoji="1" lang="en-US" altLang="zh-TW" dirty="0"/>
              <a:t>/files/www-content/product-content/</a:t>
            </a:r>
            <a:r>
              <a:rPr kumimoji="1" lang="en-US" altLang="zh-TW" dirty="0" err="1"/>
              <a:t>ssd</a:t>
            </a:r>
            <a:r>
              <a:rPr kumimoji="1" lang="en-US" altLang="zh-TW" dirty="0"/>
              <a:t>-fam/</a:t>
            </a:r>
            <a:r>
              <a:rPr kumimoji="1" lang="en-US" altLang="zh-TW" dirty="0" err="1"/>
              <a:t>nvme-ssd</a:t>
            </a:r>
            <a:r>
              <a:rPr kumimoji="1" lang="en-US" altLang="zh-TW" dirty="0"/>
              <a:t>/nytro-xf1440-ssd/_shared/docs/an-introduction-to-nvme-tp690-1-1605us</a:t>
            </a:r>
            <a:r>
              <a:rPr kumimoji="1" lang="en-US" altLang="zh-TW"/>
              <a:t>.pdf</a:t>
            </a:r>
          </a:p>
          <a:p>
            <a:pPr fontAlgn="base"/>
            <a:endParaRPr kumimoji="1" lang="en-US" altLang="zh-TW" dirty="0"/>
          </a:p>
          <a:p>
            <a:pPr fontAlgn="base"/>
            <a:r>
              <a:rPr kumimoji="1" lang="en-US" altLang="zh-TW" dirty="0"/>
              <a:t>https://</a:t>
            </a:r>
            <a:r>
              <a:rPr kumimoji="1" lang="en-US" altLang="zh-TW" dirty="0" err="1"/>
              <a:t>www.linuxjournal.com</a:t>
            </a:r>
            <a:r>
              <a:rPr kumimoji="1" lang="en-US" altLang="zh-TW" dirty="0"/>
              <a:t>/article/8110</a:t>
            </a:r>
          </a:p>
          <a:p>
            <a:pPr fontAlgn="base"/>
            <a:br>
              <a:rPr kumimoji="1" lang="en-US" altLang="zh-TW" dirty="0"/>
            </a:br>
            <a:r>
              <a:rPr lang="en-US" altLang="zh-TW" sz="1200" b="0" i="0" kern="1200" dirty="0">
                <a:solidFill>
                  <a:schemeClr val="tx1"/>
                </a:solidFill>
                <a:effectLst/>
                <a:latin typeface="+mn-lt"/>
                <a:ea typeface="+mn-ea"/>
                <a:cs typeface="+mn-cs"/>
              </a:rPr>
              <a:t>The I/O Scheduler</a:t>
            </a:r>
          </a:p>
          <a:p>
            <a:pPr fontAlgn="base"/>
            <a:r>
              <a:rPr lang="en-US" altLang="zh-TW" sz="1200" b="0" i="0" kern="1200" dirty="0">
                <a:solidFill>
                  <a:schemeClr val="tx1"/>
                </a:solidFill>
                <a:effectLst/>
                <a:latin typeface="+mn-lt"/>
                <a:ea typeface="+mn-ea"/>
                <a:cs typeface="+mn-cs"/>
              </a:rPr>
              <a:t>Although block device drivers are able to transfer a single sector at a time, the block I/O layer does not perform an individual I/O operation for each sector to be accessed on disk; this would lead to poor disk performance, because locating the physical position of a sector on the disk surface is quite time-consuming. Instead, the kernel tries, whenever possible, to cluster several sectors and handle them as a whole, thus reducing the average number of head movements.</a:t>
            </a:r>
          </a:p>
          <a:p>
            <a:pPr fontAlgn="base"/>
            <a:r>
              <a:rPr lang="en-US" altLang="zh-TW" sz="1200" b="0" i="0" kern="1200" dirty="0">
                <a:solidFill>
                  <a:schemeClr val="tx1"/>
                </a:solidFill>
                <a:effectLst/>
                <a:latin typeface="+mn-lt"/>
                <a:ea typeface="+mn-ea"/>
                <a:cs typeface="+mn-cs"/>
              </a:rPr>
              <a:t>When a kernel component wishes to read or write some disk data, it actually creates a </a:t>
            </a:r>
            <a:r>
              <a:rPr lang="en-US" altLang="zh-TW" sz="1200" b="0" i="1" kern="1200" dirty="0">
                <a:solidFill>
                  <a:schemeClr val="tx1"/>
                </a:solidFill>
                <a:effectLst/>
                <a:latin typeface="+mn-lt"/>
                <a:ea typeface="+mn-ea"/>
                <a:cs typeface="+mn-cs"/>
              </a:rPr>
              <a:t>block device request</a:t>
            </a:r>
            <a:r>
              <a:rPr lang="en-US" altLang="zh-TW" sz="1200" b="0" i="0" kern="1200" dirty="0">
                <a:solidFill>
                  <a:schemeClr val="tx1"/>
                </a:solidFill>
                <a:effectLst/>
                <a:latin typeface="+mn-lt"/>
                <a:ea typeface="+mn-ea"/>
                <a:cs typeface="+mn-cs"/>
              </a:rPr>
              <a:t>. That request essentially describes the requested sectors and the kind of operation to be performed on them (read or write). However, the kernel does not satisfy a request as soon as it is created—the I/O operation is just scheduled and will be performed at a later time. This artificial delay is paradoxically the crucial mechanism for boosting the performance of block devices. When a new block data transfer is requested, the kernel checks whether it can be satisfied by slightly enlarging a previous request that is still waiting (i.e., whether the new request can be satisfied without further seek operations). Because disks tend to be accessed sequentially, this simple mechanism is very effective.</a:t>
            </a:r>
          </a:p>
          <a:p>
            <a:pPr fontAlgn="base"/>
            <a:r>
              <a:rPr lang="en-US" altLang="zh-TW" sz="1200" b="0" i="0" kern="1200" dirty="0">
                <a:solidFill>
                  <a:schemeClr val="tx1"/>
                </a:solidFill>
                <a:effectLst/>
                <a:latin typeface="+mn-lt"/>
                <a:ea typeface="+mn-ea"/>
                <a:cs typeface="+mn-cs"/>
              </a:rPr>
              <a:t>Deferring requests complicates block device handling. For instance, suppose a process opens a regular file and, consequently, a filesystem driver wants to read the corresponding </a:t>
            </a:r>
            <a:r>
              <a:rPr lang="en-US" altLang="zh-TW" sz="1200" b="0" i="0" kern="1200" dirty="0" err="1">
                <a:solidFill>
                  <a:schemeClr val="tx1"/>
                </a:solidFill>
                <a:effectLst/>
                <a:latin typeface="+mn-lt"/>
                <a:ea typeface="+mn-ea"/>
                <a:cs typeface="+mn-cs"/>
              </a:rPr>
              <a:t>inode</a:t>
            </a:r>
            <a:r>
              <a:rPr lang="en-US" altLang="zh-TW" sz="1200" b="0" i="0" kern="1200" dirty="0">
                <a:solidFill>
                  <a:schemeClr val="tx1"/>
                </a:solidFill>
                <a:effectLst/>
                <a:latin typeface="+mn-lt"/>
                <a:ea typeface="+mn-ea"/>
                <a:cs typeface="+mn-cs"/>
              </a:rPr>
              <a:t> from disk. The ...</a:t>
            </a: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19</a:t>
            </a:fld>
            <a:endParaRPr lang="zh-TW" altLang="en-US"/>
          </a:p>
        </p:txBody>
      </p:sp>
    </p:spTree>
    <p:extLst>
      <p:ext uri="{BB962C8B-B14F-4D97-AF65-F5344CB8AC3E}">
        <p14:creationId xmlns:p14="http://schemas.microsoft.com/office/powerpoint/2010/main" val="14557829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Thanks</a:t>
            </a:r>
            <a:r>
              <a:rPr lang="zh-TW" altLang="en-US" dirty="0"/>
              <a:t> </a:t>
            </a:r>
            <a:r>
              <a:rPr lang="en-US" altLang="zh-TW" dirty="0"/>
              <a:t>for</a:t>
            </a:r>
            <a:r>
              <a:rPr lang="zh-TW" altLang="en-US" dirty="0"/>
              <a:t> </a:t>
            </a:r>
            <a:r>
              <a:rPr lang="en-US" altLang="zh-TW" dirty="0"/>
              <a:t>your</a:t>
            </a:r>
            <a:r>
              <a:rPr lang="zh-TW" altLang="en-US" dirty="0"/>
              <a:t> </a:t>
            </a:r>
            <a:r>
              <a:rPr lang="en-US" altLang="zh-TW" dirty="0"/>
              <a:t>listening</a:t>
            </a:r>
            <a:endParaRPr lang="zh-TW" altLang="en-US"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22</a:t>
            </a:fld>
            <a:endParaRPr lang="zh-TW" altLang="en-US"/>
          </a:p>
        </p:txBody>
      </p:sp>
    </p:spTree>
    <p:extLst>
      <p:ext uri="{BB962C8B-B14F-4D97-AF65-F5344CB8AC3E}">
        <p14:creationId xmlns:p14="http://schemas.microsoft.com/office/powerpoint/2010/main" val="765185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圖片 3" descr="一張含有 符號, 標誌, 圖形, 圓形 的圖片&#10;&#10;自動產生的描述">
            <a:extLst>
              <a:ext uri="{FF2B5EF4-FFF2-40B4-BE49-F238E27FC236}">
                <a16:creationId xmlns:a16="http://schemas.microsoft.com/office/drawing/2014/main" id="{5AB38C1F-C85E-C92D-6987-0806C45114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24301"/>
            <a:ext cx="1892426" cy="1892426"/>
          </a:xfrm>
          <a:prstGeom prst="rect">
            <a:avLst/>
          </a:prstGeom>
        </p:spPr>
      </p:pic>
    </p:spTree>
    <p:extLst>
      <p:ext uri="{BB962C8B-B14F-4D97-AF65-F5344CB8AC3E}">
        <p14:creationId xmlns:p14="http://schemas.microsoft.com/office/powerpoint/2010/main" val="96630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7800" y="174625"/>
            <a:ext cx="11836400" cy="1063625"/>
          </a:xfrm>
        </p:spPr>
        <p:txBody>
          <a:bodyPr>
            <a:normAutofit/>
          </a:bodyPr>
          <a:lstStyle>
            <a:lvl1pPr algn="ctr" rtl="0" fontAlgn="base">
              <a:spcBef>
                <a:spcPct val="0"/>
              </a:spcBef>
              <a:spcAft>
                <a:spcPct val="0"/>
              </a:spcAft>
              <a:defRPr kumimoji="1" lang="zh-TW" altLang="en-US" sz="4400" b="1" kern="1200" dirty="0">
                <a:solidFill>
                  <a:schemeClr val="tx1"/>
                </a:solidFill>
                <a:latin typeface="Calibri" panose="020F0502020204030204" pitchFamily="34" charset="0"/>
                <a:ea typeface="+mj-ea"/>
                <a:cs typeface="Calibri" panose="020F0502020204030204" pitchFamily="34" charset="0"/>
              </a:defRPr>
            </a:lvl1pPr>
          </a:lstStyle>
          <a:p>
            <a:r>
              <a:rPr lang="en-US" altLang="zh-TW" dirty="0"/>
              <a:t>Click to edit Master title style</a:t>
            </a:r>
            <a:endParaRPr lang="zh-TW" altLang="en-US" dirty="0"/>
          </a:p>
        </p:txBody>
      </p:sp>
      <p:sp>
        <p:nvSpPr>
          <p:cNvPr id="3" name="Content Placeholder 2"/>
          <p:cNvSpPr>
            <a:spLocks noGrp="1"/>
          </p:cNvSpPr>
          <p:nvPr>
            <p:ph idx="1"/>
          </p:nvPr>
        </p:nvSpPr>
        <p:spPr>
          <a:xfrm>
            <a:off x="177800" y="1238250"/>
            <a:ext cx="11836400" cy="5441950"/>
          </a:xfrm>
        </p:spPr>
        <p:txBody>
          <a:bodyPr/>
          <a:lstStyle>
            <a:lvl1pPr algn="just">
              <a:spcBef>
                <a:spcPts val="0"/>
              </a:spcBef>
              <a:defRPr sz="2800">
                <a:latin typeface="Calibri" panose="020F0502020204030204" pitchFamily="34" charset="0"/>
                <a:cs typeface="Calibri" panose="020F0502020204030204" pitchFamily="34" charset="0"/>
              </a:defRPr>
            </a:lvl1pPr>
            <a:lvl2pPr algn="just">
              <a:spcBef>
                <a:spcPts val="0"/>
              </a:spcBef>
              <a:defRPr sz="2400">
                <a:latin typeface="Calibri" panose="020F0502020204030204" pitchFamily="34" charset="0"/>
                <a:cs typeface="Calibri" panose="020F0502020204030204" pitchFamily="34" charset="0"/>
              </a:defRPr>
            </a:lvl2pPr>
            <a:lvl3pPr algn="just">
              <a:spcBef>
                <a:spcPts val="0"/>
              </a:spcBef>
              <a:defRPr sz="2000">
                <a:latin typeface="Calibri" panose="020F0502020204030204" pitchFamily="34" charset="0"/>
                <a:cs typeface="Calibri" panose="020F0502020204030204" pitchFamily="34" charset="0"/>
              </a:defRPr>
            </a:lvl3pPr>
            <a:lvl4pPr algn="just">
              <a:spcBef>
                <a:spcPts val="0"/>
              </a:spcBef>
              <a:defRPr sz="2400">
                <a:latin typeface="Calibri" panose="020F0502020204030204" pitchFamily="34" charset="0"/>
                <a:cs typeface="Calibri" panose="020F0502020204030204" pitchFamily="34" charset="0"/>
              </a:defRPr>
            </a:lvl4pPr>
            <a:lvl5pPr algn="just">
              <a:spcBef>
                <a:spcPts val="0"/>
              </a:spcBef>
              <a:defRPr sz="2400">
                <a:latin typeface="Calibri" panose="020F0502020204030204" pitchFamily="34" charset="0"/>
                <a:cs typeface="Calibri" panose="020F0502020204030204" pitchFamily="34" charset="0"/>
              </a:defRPr>
            </a:lvl5pPr>
          </a:lstStyle>
          <a:p>
            <a:pPr lvl="0"/>
            <a:r>
              <a:rPr lang="en-US" altLang="zh-TW" dirty="0"/>
              <a:t>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12" name="Slide Number Placeholder 8"/>
          <p:cNvSpPr>
            <a:spLocks noGrp="1"/>
          </p:cNvSpPr>
          <p:nvPr>
            <p:ph type="sldNum" sz="quarter" idx="4"/>
          </p:nvPr>
        </p:nvSpPr>
        <p:spPr>
          <a:xfrm>
            <a:off x="11668124" y="11113"/>
            <a:ext cx="523875" cy="484187"/>
          </a:xfrm>
          <a:prstGeom prst="rect">
            <a:avLst/>
          </a:prstGeom>
        </p:spPr>
        <p:txBody>
          <a:bodyPr vert="horz" lIns="91440" tIns="45720" rIns="91440" bIns="45720" rtlCol="0" anchor="ctr"/>
          <a:lstStyle>
            <a:lvl1pPr algn="ctr">
              <a:defRPr sz="1600" b="0">
                <a:solidFill>
                  <a:schemeClr val="tx1"/>
                </a:solidFill>
                <a:latin typeface="+mn-lt"/>
                <a:cs typeface="Arial" panose="020B0604020202020204" pitchFamily="34" charset="0"/>
              </a:defRPr>
            </a:lvl1pPr>
          </a:lstStyle>
          <a:p>
            <a:fld id="{E24E6636-6BA5-4AAC-8485-BE8D914D288B}" type="slidenum">
              <a:rPr lang="zh-TW" altLang="en-US" smtClean="0"/>
              <a:pPr/>
              <a:t>‹#›</a:t>
            </a:fld>
            <a:endParaRPr lang="zh-TW" altLang="en-US" dirty="0"/>
          </a:p>
        </p:txBody>
      </p:sp>
      <p:sp>
        <p:nvSpPr>
          <p:cNvPr id="4" name="文字方塊 3">
            <a:extLst>
              <a:ext uri="{FF2B5EF4-FFF2-40B4-BE49-F238E27FC236}">
                <a16:creationId xmlns:a16="http://schemas.microsoft.com/office/drawing/2014/main" id="{F2B048F7-DAB4-F1CA-94CE-9FBF17A495C6}"/>
              </a:ext>
            </a:extLst>
          </p:cNvPr>
          <p:cNvSpPr txBox="1"/>
          <p:nvPr userDrawn="1"/>
        </p:nvSpPr>
        <p:spPr>
          <a:xfrm>
            <a:off x="0" y="-37131"/>
            <a:ext cx="4750018" cy="276999"/>
          </a:xfrm>
          <a:prstGeom prst="rect">
            <a:avLst/>
          </a:prstGeom>
          <a:noFill/>
        </p:spPr>
        <p:txBody>
          <a:bodyPr wrap="none" rtlCol="0">
            <a:spAutoFit/>
          </a:bodyPr>
          <a:lstStyle/>
          <a:p>
            <a:r>
              <a:rPr kumimoji="1" lang="en-US" altLang="zh-TW" sz="1200" b="1" i="0" dirty="0">
                <a:solidFill>
                  <a:schemeClr val="bg1">
                    <a:lumMod val="85000"/>
                  </a:schemeClr>
                </a:solidFill>
                <a:latin typeface="Bradley Hand" pitchFamily="2" charset="0"/>
                <a:ea typeface="Brush Script MT" panose="03060802040406070304" pitchFamily="66" charset="-122"/>
                <a:cs typeface="Brush Script MT" panose="03060802040406070304" pitchFamily="66" charset="-122"/>
              </a:rPr>
              <a:t>National Yang Ming Chiao Tung University, Prof. Chun-Feng Wu</a:t>
            </a:r>
            <a:endParaRPr kumimoji="1" lang="zh-TW" altLang="en-US" sz="1200" b="1" i="0" dirty="0">
              <a:solidFill>
                <a:schemeClr val="bg1">
                  <a:lumMod val="85000"/>
                </a:schemeClr>
              </a:solidFill>
              <a:latin typeface="Bradley Hand" pitchFamily="2" charset="0"/>
              <a:ea typeface="STXingkai" panose="02010800040101010101" pitchFamily="2" charset="-122"/>
              <a:cs typeface="Brush Script MT" panose="03060802040406070304" pitchFamily="66" charset="-122"/>
            </a:endParaRPr>
          </a:p>
        </p:txBody>
      </p:sp>
    </p:spTree>
    <p:extLst>
      <p:ext uri="{BB962C8B-B14F-4D97-AF65-F5344CB8AC3E}">
        <p14:creationId xmlns:p14="http://schemas.microsoft.com/office/powerpoint/2010/main" val="108185610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Edit Master text styles</a:t>
            </a:r>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B2307BF4-857F-4354-B3C4-3040B9A2E51B}" type="datetime1">
              <a:rPr lang="zh-TW" altLang="en-US" smtClean="0"/>
              <a:t>2025/10/29</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44603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10EEA130-8DE6-4C11-A9CB-C786C33DE380}" type="datetime1">
              <a:rPr lang="zh-TW" altLang="en-US" smtClean="0"/>
              <a:t>2025/10/29</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933340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p:cNvSpPr>
            <a:spLocks noGrp="1"/>
          </p:cNvSpPr>
          <p:nvPr>
            <p:ph type="dt" sz="half" idx="10"/>
          </p:nvPr>
        </p:nvSpPr>
        <p:spPr>
          <a:xfrm>
            <a:off x="348342" y="6356350"/>
            <a:ext cx="1800000" cy="365125"/>
          </a:xfrm>
          <a:prstGeom prst="rect">
            <a:avLst/>
          </a:prstGeom>
        </p:spPr>
        <p:txBody>
          <a:bodyPr/>
          <a:lstStyle/>
          <a:p>
            <a:fld id="{9D1323E2-54AF-4A4F-968B-FCF5A3DE404F}" type="datetime1">
              <a:rPr lang="zh-TW" altLang="en-US" smtClean="0"/>
              <a:t>2025/10/29</a:t>
            </a:fld>
            <a:endParaRPr lang="zh-TW" altLang="en-US"/>
          </a:p>
        </p:txBody>
      </p:sp>
      <p:sp>
        <p:nvSpPr>
          <p:cNvPr id="8" name="Footer Placeholder 7"/>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9" name="Slide Number Placeholder 8"/>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4074015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Date Placeholder 2"/>
          <p:cNvSpPr>
            <a:spLocks noGrp="1"/>
          </p:cNvSpPr>
          <p:nvPr>
            <p:ph type="dt" sz="half" idx="10"/>
          </p:nvPr>
        </p:nvSpPr>
        <p:spPr>
          <a:xfrm>
            <a:off x="348342" y="6356350"/>
            <a:ext cx="1800000" cy="365125"/>
          </a:xfrm>
          <a:prstGeom prst="rect">
            <a:avLst/>
          </a:prstGeom>
        </p:spPr>
        <p:txBody>
          <a:bodyPr/>
          <a:lstStyle/>
          <a:p>
            <a:fld id="{51747F57-0BE0-4E55-AF02-7E0C58AC5A0B}" type="datetime1">
              <a:rPr lang="zh-TW" altLang="en-US" smtClean="0"/>
              <a:t>2025/10/29</a:t>
            </a:fld>
            <a:endParaRPr lang="zh-TW" altLang="en-US"/>
          </a:p>
        </p:txBody>
      </p:sp>
      <p:sp>
        <p:nvSpPr>
          <p:cNvPr id="4" name="Footer Placeholder 3"/>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5" name="Slide Number Placeholder 4"/>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29600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48342" y="6356350"/>
            <a:ext cx="1800000" cy="365125"/>
          </a:xfrm>
          <a:prstGeom prst="rect">
            <a:avLst/>
          </a:prstGeom>
        </p:spPr>
        <p:txBody>
          <a:bodyPr/>
          <a:lstStyle/>
          <a:p>
            <a:fld id="{3BBAC840-47DB-4C07-9D45-73E1CD955F46}" type="datetime1">
              <a:rPr lang="zh-TW" altLang="en-US" smtClean="0"/>
              <a:t>2025/10/29</a:t>
            </a:fld>
            <a:endParaRPr lang="zh-TW" altLang="en-US"/>
          </a:p>
        </p:txBody>
      </p:sp>
      <p:sp>
        <p:nvSpPr>
          <p:cNvPr id="3" name="Footer Placeholder 2"/>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4" name="Slide Number Placeholder 3"/>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750865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B8C0969B-135B-4FC6-B762-AA1CE3881354}" type="datetime1">
              <a:rPr lang="zh-TW" altLang="en-US" smtClean="0"/>
              <a:t>2025/10/29</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94921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24AF6340-6F1C-4989-B134-2CA68BC9EAFF}" type="datetime1">
              <a:rPr lang="zh-TW" altLang="en-US" smtClean="0"/>
              <a:t>2025/10/29</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65085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Vertical Text Placeholder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60D8C7A9-0C67-4424-9979-8CFF97287F2E}" type="datetime1">
              <a:rPr lang="zh-TW" altLang="en-US" smtClean="0"/>
              <a:t>2025/10/29</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206704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AD10B1A8-9302-408C-B76D-C3FA78E2A799}" type="datetime1">
              <a:rPr lang="zh-TW" altLang="en-US" smtClean="0"/>
              <a:t>2025/10/29</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634339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8343" y="365125"/>
            <a:ext cx="11495314" cy="1325563"/>
          </a:xfrm>
          <a:prstGeom prst="rect">
            <a:avLst/>
          </a:prstGeom>
        </p:spPr>
        <p:txBody>
          <a:bodyPr vert="horz" lIns="91440" tIns="45720" rIns="91440" bIns="45720" rtlCol="0" anchor="ctr">
            <a:normAutofit/>
          </a:bodyPr>
          <a:lstStyle/>
          <a:p>
            <a:pPr lvl="0" algn="ctr" rtl="0" fontAlgn="base">
              <a:spcBef>
                <a:spcPct val="0"/>
              </a:spcBef>
              <a:spcAft>
                <a:spcPct val="0"/>
              </a:spcAft>
            </a:pPr>
            <a:r>
              <a:rPr kumimoji="1" lang="en-US" altLang="zh-TW" sz="4400" b="0" i="0" u="none" strike="noStrike" kern="1200" cap="none" spc="0" normalizeH="0" baseline="0" noProof="0" dirty="0">
                <a:ln>
                  <a:noFill/>
                </a:ln>
                <a:solidFill>
                  <a:srgbClr val="750F6D"/>
                </a:solidFill>
                <a:effectLst/>
                <a:uLnTx/>
                <a:uFillTx/>
                <a:latin typeface="Arial"/>
                <a:ea typeface="新細明體"/>
                <a:cs typeface="+mj-cs"/>
              </a:rPr>
              <a:t>Click to edit Master title style</a:t>
            </a:r>
            <a:endParaRPr lang="zh-TW" altLang="en-US" dirty="0"/>
          </a:p>
        </p:txBody>
      </p:sp>
      <p:sp>
        <p:nvSpPr>
          <p:cNvPr id="3" name="Text Placeholder 2"/>
          <p:cNvSpPr>
            <a:spLocks noGrp="1"/>
          </p:cNvSpPr>
          <p:nvPr>
            <p:ph type="body" idx="1"/>
          </p:nvPr>
        </p:nvSpPr>
        <p:spPr>
          <a:xfrm>
            <a:off x="348343" y="1825625"/>
            <a:ext cx="11495314" cy="4351338"/>
          </a:xfrm>
          <a:prstGeom prst="rect">
            <a:avLst/>
          </a:prstGeom>
        </p:spPr>
        <p:txBody>
          <a:bodyPr vert="horz" lIns="91440" tIns="45720" rIns="91440" bIns="45720" rtlCol="0">
            <a:normAutofit/>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1" lang="en-US" altLang="zh-TW" sz="3200" b="0" i="0" u="none" strike="noStrike" kern="1200" cap="none" spc="0" normalizeH="0" baseline="0" noProof="0" dirty="0">
                <a:ln>
                  <a:noFill/>
                </a:ln>
                <a:solidFill>
                  <a:srgbClr val="333333"/>
                </a:solidFill>
                <a:effectLst/>
                <a:uLnTx/>
                <a:uFillTx/>
                <a:latin typeface="Palatino Linotype"/>
                <a:ea typeface="新細明體"/>
                <a:cs typeface="+mn-cs"/>
              </a:rPr>
              <a:t>Click to edit Master text styles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1" lang="en-US" altLang="zh-TW" sz="2800" b="0" i="0" u="none" strike="noStrike" kern="1200" cap="none" spc="0" normalizeH="0" baseline="0" noProof="0" dirty="0">
                <a:ln>
                  <a:noFill/>
                </a:ln>
                <a:solidFill>
                  <a:srgbClr val="333333"/>
                </a:solidFill>
                <a:effectLst/>
                <a:uLnTx/>
                <a:uFillTx/>
                <a:latin typeface="Palatino Linotype"/>
                <a:ea typeface="新細明體"/>
                <a:cs typeface="+mn-cs"/>
              </a:rPr>
              <a:t>Second level</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400" b="0" i="0" u="none" strike="noStrike" kern="1200" cap="none" spc="0" normalizeH="0" baseline="0" noProof="0" dirty="0">
                <a:ln>
                  <a:noFill/>
                </a:ln>
                <a:solidFill>
                  <a:srgbClr val="333333"/>
                </a:solidFill>
                <a:effectLst/>
                <a:uLnTx/>
                <a:uFillTx/>
                <a:latin typeface="Palatino Linotype"/>
                <a:ea typeface="新細明體"/>
                <a:cs typeface="+mn-cs"/>
              </a:rPr>
              <a:t>Third level</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Fourth level</a:t>
            </a:r>
          </a:p>
          <a:p>
            <a:pPr marL="2057400" marR="0" lvl="4"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Fifth level</a:t>
            </a:r>
          </a:p>
        </p:txBody>
      </p:sp>
      <p:sp>
        <p:nvSpPr>
          <p:cNvPr id="7" name="Date Placeholder 6"/>
          <p:cNvSpPr>
            <a:spLocks noGrp="1"/>
          </p:cNvSpPr>
          <p:nvPr>
            <p:ph type="dt" sz="half" idx="2"/>
          </p:nvPr>
        </p:nvSpPr>
        <p:spPr>
          <a:xfrm>
            <a:off x="0" y="6477000"/>
            <a:ext cx="18000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A3A5E517-2EE9-4B06-A2F1-C885ADB8BF5D}" type="datetime1">
              <a:rPr lang="zh-TW" altLang="en-US" smtClean="0"/>
              <a:t>2025/10/29</a:t>
            </a:fld>
            <a:endParaRPr lang="zh-TW" altLang="en-US" dirty="0"/>
          </a:p>
        </p:txBody>
      </p:sp>
      <p:sp>
        <p:nvSpPr>
          <p:cNvPr id="9" name="Slide Number Placeholder 8"/>
          <p:cNvSpPr>
            <a:spLocks noGrp="1"/>
          </p:cNvSpPr>
          <p:nvPr>
            <p:ph type="sldNum" sz="quarter" idx="4"/>
          </p:nvPr>
        </p:nvSpPr>
        <p:spPr>
          <a:xfrm>
            <a:off x="10392000" y="6476999"/>
            <a:ext cx="1800000" cy="365125"/>
          </a:xfrm>
          <a:prstGeom prst="rect">
            <a:avLst/>
          </a:prstGeom>
        </p:spPr>
        <p:txBody>
          <a:bodyPr vert="horz" lIns="91440" tIns="45720" rIns="91440" bIns="45720" rtlCol="0" anchor="ctr"/>
          <a:lstStyle>
            <a:lvl1pPr algn="r">
              <a:defRPr sz="1200" b="1">
                <a:solidFill>
                  <a:schemeClr val="tx1">
                    <a:tint val="75000"/>
                  </a:schemeClr>
                </a:solidFill>
                <a:latin typeface="Arial" panose="020B0604020202020204" pitchFamily="34" charset="0"/>
                <a:cs typeface="Arial" panose="020B0604020202020204" pitchFamily="34" charset="0"/>
              </a:defRPr>
            </a:lvl1pPr>
          </a:lstStyle>
          <a:p>
            <a:fld id="{E24E6636-6BA5-4AAC-8485-BE8D914D288B}" type="slidenum">
              <a:rPr lang="zh-TW" altLang="en-US" smtClean="0"/>
              <a:pPr/>
              <a:t>‹#›</a:t>
            </a:fld>
            <a:endParaRPr lang="zh-TW" altLang="en-US"/>
          </a:p>
        </p:txBody>
      </p:sp>
    </p:spTree>
    <p:extLst>
      <p:ext uri="{BB962C8B-B14F-4D97-AF65-F5344CB8AC3E}">
        <p14:creationId xmlns:p14="http://schemas.microsoft.com/office/powerpoint/2010/main" val="3847488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fontAlgn="base" latinLnBrk="0" hangingPunct="1">
        <a:lnSpc>
          <a:spcPct val="90000"/>
        </a:lnSpc>
        <a:spcBef>
          <a:spcPct val="0"/>
        </a:spcBef>
        <a:spcAft>
          <a:spcPct val="0"/>
        </a:spcAft>
        <a:buNone/>
        <a:defRPr kumimoji="1" lang="zh-TW" altLang="en-US" sz="4400" kern="1200" dirty="0" smtClean="0">
          <a:solidFill>
            <a:schemeClr val="tx1"/>
          </a:solidFill>
          <a:latin typeface="+mj-lt"/>
          <a:ea typeface="+mj-ea"/>
          <a:cs typeface="+mj-cs"/>
        </a:defRPr>
      </a:lvl1pPr>
    </p:titleStyle>
    <p:bodyStyle>
      <a:lvl1pPr marL="342900" marR="0" indent="-3429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1pPr>
      <a:lvl2pPr marL="742950" marR="0" indent="-28575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2pPr>
      <a:lvl3pPr marL="11430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3pPr>
      <a:lvl4pPr marL="16002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4pPr>
      <a:lvl5pPr marL="2057400" marR="0" indent="-228600" algn="l" defTabSz="914400" rtl="0" eaLnBrk="1" fontAlgn="base" latinLnBrk="0" hangingPunct="1">
        <a:lnSpc>
          <a:spcPct val="100000"/>
        </a:lnSpc>
        <a:spcBef>
          <a:spcPct val="20000"/>
        </a:spcBef>
        <a:spcAft>
          <a:spcPct val="0"/>
        </a:spcAft>
        <a:buClrTx/>
        <a:buSzTx/>
        <a:buFontTx/>
        <a:buChar char="»"/>
        <a:tabLst/>
        <a:defRPr kumimoji="1" lang="zh-TW" altLang="en-US" sz="3200" kern="1200" dirty="0" smtClean="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cfwu@g.harvard.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cfwu417.github.io/"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docs.google.com/spreadsheets/d/1z55ij2BYc-38RnExP7Q3W6Z5E72pZxfNHyy1mvLrJOk/edit?gid=0#gid=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mailto:os.oscarlab@gmail.com"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nycu.webex.com/meet/cfwu417"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jpeg"/><Relationship Id="rId12"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jpeg"/><Relationship Id="rId5" Type="http://schemas.openxmlformats.org/officeDocument/2006/relationships/image" Target="../media/image11.png"/><Relationship Id="rId10" Type="http://schemas.openxmlformats.org/officeDocument/2006/relationships/image" Target="../media/image16.jpeg"/><Relationship Id="rId4" Type="http://schemas.openxmlformats.org/officeDocument/2006/relationships/image" Target="../media/image10.png"/><Relationship Id="rId9"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1653411"/>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Operating</a:t>
            </a:r>
            <a:r>
              <a:rPr lang="zh-TW" altLang="en-US" b="1" dirty="0">
                <a:latin typeface="Calibri" panose="020F0502020204030204" pitchFamily="34" charset="0"/>
                <a:ea typeface="Tahoma" panose="020B0604030504040204" pitchFamily="34" charset="0"/>
                <a:cs typeface="Calibri" panose="020F0502020204030204" pitchFamily="34" charset="0"/>
              </a:rPr>
              <a:t> </a:t>
            </a:r>
            <a:r>
              <a:rPr lang="en-US" altLang="zh-TW" b="1" dirty="0">
                <a:latin typeface="Calibri" panose="020F0502020204030204" pitchFamily="34" charset="0"/>
                <a:ea typeface="Tahoma" panose="020B0604030504040204" pitchFamily="34" charset="0"/>
                <a:cs typeface="Calibri" panose="020F0502020204030204" pitchFamily="34" charset="0"/>
              </a:rPr>
              <a:t>System</a:t>
            </a:r>
            <a:br>
              <a:rPr lang="en-US" altLang="zh-TW" b="1" dirty="0">
                <a:latin typeface="Calibri" panose="020F0502020204030204" pitchFamily="34" charset="0"/>
                <a:ea typeface="Tahoma" panose="020B0604030504040204" pitchFamily="34" charset="0"/>
                <a:cs typeface="Calibri" panose="020F0502020204030204" pitchFamily="34" charset="0"/>
              </a:rPr>
            </a:br>
            <a:r>
              <a:rPr lang="en-US" altLang="zh-TW" b="1" dirty="0">
                <a:latin typeface="Calibri" panose="020F0502020204030204" pitchFamily="34" charset="0"/>
                <a:ea typeface="Tahoma" panose="020B0604030504040204" pitchFamily="34" charset="0"/>
                <a:cs typeface="Calibri" panose="020F0502020204030204" pitchFamily="34" charset="0"/>
              </a:rPr>
              <a:t>(114</a:t>
            </a:r>
            <a:r>
              <a:rPr lang="zh-TW" altLang="en-US" b="1" dirty="0">
                <a:latin typeface="Calibri" panose="020F0502020204030204" pitchFamily="34" charset="0"/>
                <a:ea typeface="Tahoma" panose="020B0604030504040204" pitchFamily="34" charset="0"/>
                <a:cs typeface="Calibri" panose="020F0502020204030204" pitchFamily="34" charset="0"/>
              </a:rPr>
              <a:t> </a:t>
            </a:r>
            <a:r>
              <a:rPr lang="en-US" altLang="zh-TW" b="1" dirty="0">
                <a:latin typeface="Calibri" panose="020F0502020204030204" pitchFamily="34" charset="0"/>
                <a:ea typeface="Tahoma" panose="020B0604030504040204" pitchFamily="34" charset="0"/>
                <a:cs typeface="Calibri" panose="020F0502020204030204" pitchFamily="34" charset="0"/>
              </a:rPr>
              <a:t>Autumn)</a:t>
            </a:r>
          </a:p>
        </p:txBody>
      </p:sp>
      <p:sp>
        <p:nvSpPr>
          <p:cNvPr id="6" name="Rectangle 3"/>
          <p:cNvSpPr txBox="1">
            <a:spLocks noChangeArrowheads="1"/>
          </p:cNvSpPr>
          <p:nvPr/>
        </p:nvSpPr>
        <p:spPr bwMode="auto">
          <a:xfrm>
            <a:off x="1132114" y="3762490"/>
            <a:ext cx="9927772" cy="1318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fontAlgn="base">
              <a:spcBef>
                <a:spcPct val="20000"/>
              </a:spcBef>
              <a:spcAft>
                <a:spcPct val="0"/>
              </a:spcAft>
              <a:buFontTx/>
              <a:buNone/>
              <a:defRPr kumimoji="1" sz="3200" kern="1200">
                <a:solidFill>
                  <a:srgbClr val="333333"/>
                </a:solidFill>
                <a:latin typeface="+mn-lt"/>
                <a:ea typeface="+mn-ea"/>
                <a:cs typeface="+mn-cs"/>
              </a:defRPr>
            </a:lvl1pPr>
            <a:lvl2pPr marL="742950" indent="-285750" algn="l" rtl="0" fontAlgn="base">
              <a:spcBef>
                <a:spcPct val="20000"/>
              </a:spcBef>
              <a:spcAft>
                <a:spcPct val="0"/>
              </a:spcAft>
              <a:buChar char="–"/>
              <a:defRPr kumimoji="1" sz="2800" kern="1200">
                <a:solidFill>
                  <a:srgbClr val="333333"/>
                </a:solidFill>
                <a:latin typeface="+mn-lt"/>
                <a:ea typeface="+mn-ea"/>
                <a:cs typeface="+mn-cs"/>
              </a:defRPr>
            </a:lvl2pPr>
            <a:lvl3pPr marL="1143000" indent="-228600" algn="l" rtl="0" fontAlgn="base">
              <a:spcBef>
                <a:spcPct val="20000"/>
              </a:spcBef>
              <a:spcAft>
                <a:spcPct val="0"/>
              </a:spcAft>
              <a:buChar char="•"/>
              <a:defRPr kumimoji="1" sz="2400" kern="1200">
                <a:solidFill>
                  <a:srgbClr val="333333"/>
                </a:solidFill>
                <a:latin typeface="+mn-lt"/>
                <a:ea typeface="+mn-ea"/>
                <a:cs typeface="+mn-cs"/>
              </a:defRPr>
            </a:lvl3pPr>
            <a:lvl4pPr marL="1600200" indent="-228600" algn="l" rtl="0" fontAlgn="base">
              <a:spcBef>
                <a:spcPct val="20000"/>
              </a:spcBef>
              <a:spcAft>
                <a:spcPct val="0"/>
              </a:spcAft>
              <a:buChar char="–"/>
              <a:defRPr kumimoji="1" sz="2000" kern="1200">
                <a:solidFill>
                  <a:srgbClr val="333333"/>
                </a:solidFill>
                <a:latin typeface="+mn-lt"/>
                <a:ea typeface="+mn-ea"/>
                <a:cs typeface="+mn-cs"/>
              </a:defRPr>
            </a:lvl4pPr>
            <a:lvl5pPr marL="2057400" indent="-228600" algn="l" rtl="0" fontAlgn="base">
              <a:spcBef>
                <a:spcPct val="20000"/>
              </a:spcBef>
              <a:spcAft>
                <a:spcPct val="0"/>
              </a:spcAft>
              <a:buChar char="»"/>
              <a:defRPr kumimoji="1" sz="20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TW" sz="2800" b="1" dirty="0">
                <a:solidFill>
                  <a:schemeClr val="tx1"/>
                </a:solidFill>
                <a:latin typeface="Palatino Linotype" panose="02040502050505030304" pitchFamily="18" charset="0"/>
                <a:ea typeface="新細明體"/>
              </a:rPr>
              <a:t>Chun-Feng Wu (</a:t>
            </a:r>
            <a:r>
              <a:rPr lang="zh-TW" altLang="en-US" sz="2800" b="1" dirty="0">
                <a:solidFill>
                  <a:schemeClr val="tx1"/>
                </a:solidFill>
                <a:latin typeface="Kaiti TC" panose="02010600040101010101" pitchFamily="2" charset="-120"/>
                <a:ea typeface="Kaiti TC" panose="02010600040101010101" pitchFamily="2" charset="-120"/>
              </a:rPr>
              <a:t>吳俊峯</a:t>
            </a:r>
            <a:r>
              <a:rPr lang="en-US" altLang="zh-TW" sz="2800" b="1" dirty="0">
                <a:solidFill>
                  <a:schemeClr val="tx1"/>
                </a:solidFill>
                <a:latin typeface="Palatino Linotype" panose="02040502050505030304" pitchFamily="18" charset="0"/>
                <a:ea typeface="新細明體"/>
              </a:rPr>
              <a:t>)</a:t>
            </a:r>
          </a:p>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TW" sz="2000" b="1" dirty="0">
                <a:solidFill>
                  <a:schemeClr val="tx1"/>
                </a:solidFill>
                <a:latin typeface="Palatino Linotype" panose="02040502050505030304" pitchFamily="18" charset="0"/>
                <a:ea typeface="新細明體"/>
              </a:rPr>
              <a:t>Assistant</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Professor, National</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Yang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Ming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Chiao</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Tung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University</a:t>
            </a:r>
          </a:p>
        </p:txBody>
      </p:sp>
      <p:grpSp>
        <p:nvGrpSpPr>
          <p:cNvPr id="18" name="Group 17">
            <a:extLst>
              <a:ext uri="{FF2B5EF4-FFF2-40B4-BE49-F238E27FC236}">
                <a16:creationId xmlns:a16="http://schemas.microsoft.com/office/drawing/2014/main" id="{864672C8-FACE-DB46-9B83-F7A2B34F9360}"/>
              </a:ext>
            </a:extLst>
          </p:cNvPr>
          <p:cNvGrpSpPr/>
          <p:nvPr/>
        </p:nvGrpSpPr>
        <p:grpSpPr>
          <a:xfrm>
            <a:off x="4539533" y="4639104"/>
            <a:ext cx="3482385" cy="1144694"/>
            <a:chOff x="4604975" y="4666826"/>
            <a:chExt cx="3482385" cy="1144694"/>
          </a:xfrm>
        </p:grpSpPr>
        <p:sp>
          <p:nvSpPr>
            <p:cNvPr id="2" name="Rectangle 1"/>
            <p:cNvSpPr/>
            <p:nvPr/>
          </p:nvSpPr>
          <p:spPr>
            <a:xfrm>
              <a:off x="6003635" y="4666826"/>
              <a:ext cx="184730" cy="461665"/>
            </a:xfrm>
            <a:prstGeom prst="rect">
              <a:avLst/>
            </a:prstGeom>
          </p:spPr>
          <p:txBody>
            <a:bodyPr wrap="none">
              <a:spAutoFit/>
            </a:bodyPr>
            <a:lstStyle/>
            <a:p>
              <a:pPr lvl="0" algn="ctr">
                <a:defRPr/>
              </a:pPr>
              <a:endParaRPr kumimoji="1" lang="en-US" altLang="zh-TW" sz="2400" dirty="0">
                <a:solidFill>
                  <a:schemeClr val="bg1"/>
                </a:solidFill>
                <a:latin typeface="Palatino Linotype"/>
                <a:ea typeface="新細明體"/>
              </a:endParaRPr>
            </a:p>
          </p:txBody>
        </p:sp>
        <p:sp>
          <p:nvSpPr>
            <p:cNvPr id="8" name="Rectangle 3">
              <a:extLst>
                <a:ext uri="{FF2B5EF4-FFF2-40B4-BE49-F238E27FC236}">
                  <a16:creationId xmlns:a16="http://schemas.microsoft.com/office/drawing/2014/main" id="{37031F52-0830-9D4E-89ED-3A8042462C07}"/>
                </a:ext>
              </a:extLst>
            </p:cNvPr>
            <p:cNvSpPr txBox="1">
              <a:spLocks noChangeArrowheads="1"/>
            </p:cNvSpPr>
            <p:nvPr/>
          </p:nvSpPr>
          <p:spPr bwMode="auto">
            <a:xfrm>
              <a:off x="4911634" y="4786024"/>
              <a:ext cx="3175726" cy="1025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fontAlgn="base">
                <a:spcBef>
                  <a:spcPct val="20000"/>
                </a:spcBef>
                <a:spcAft>
                  <a:spcPct val="0"/>
                </a:spcAft>
                <a:buFontTx/>
                <a:buNone/>
                <a:defRPr kumimoji="1" sz="3200" kern="1200">
                  <a:solidFill>
                    <a:srgbClr val="333333"/>
                  </a:solidFill>
                  <a:latin typeface="+mn-lt"/>
                  <a:ea typeface="+mn-ea"/>
                  <a:cs typeface="+mn-cs"/>
                </a:defRPr>
              </a:lvl1pPr>
              <a:lvl2pPr marL="742950" indent="-285750" algn="l" rtl="0" fontAlgn="base">
                <a:spcBef>
                  <a:spcPct val="20000"/>
                </a:spcBef>
                <a:spcAft>
                  <a:spcPct val="0"/>
                </a:spcAft>
                <a:buChar char="–"/>
                <a:defRPr kumimoji="1" sz="2800" kern="1200">
                  <a:solidFill>
                    <a:srgbClr val="333333"/>
                  </a:solidFill>
                  <a:latin typeface="+mn-lt"/>
                  <a:ea typeface="+mn-ea"/>
                  <a:cs typeface="+mn-cs"/>
                </a:defRPr>
              </a:lvl2pPr>
              <a:lvl3pPr marL="1143000" indent="-228600" algn="l" rtl="0" fontAlgn="base">
                <a:spcBef>
                  <a:spcPct val="20000"/>
                </a:spcBef>
                <a:spcAft>
                  <a:spcPct val="0"/>
                </a:spcAft>
                <a:buChar char="•"/>
                <a:defRPr kumimoji="1" sz="2400" kern="1200">
                  <a:solidFill>
                    <a:srgbClr val="333333"/>
                  </a:solidFill>
                  <a:latin typeface="+mn-lt"/>
                  <a:ea typeface="+mn-ea"/>
                  <a:cs typeface="+mn-cs"/>
                </a:defRPr>
              </a:lvl3pPr>
              <a:lvl4pPr marL="1600200" indent="-228600" algn="l" rtl="0" fontAlgn="base">
                <a:spcBef>
                  <a:spcPct val="20000"/>
                </a:spcBef>
                <a:spcAft>
                  <a:spcPct val="0"/>
                </a:spcAft>
                <a:buChar char="–"/>
                <a:defRPr kumimoji="1" sz="2000" kern="1200">
                  <a:solidFill>
                    <a:srgbClr val="333333"/>
                  </a:solidFill>
                  <a:latin typeface="+mn-lt"/>
                  <a:ea typeface="+mn-ea"/>
                  <a:cs typeface="+mn-cs"/>
                </a:defRPr>
              </a:lvl4pPr>
              <a:lvl5pPr marL="2057400" indent="-228600" algn="l" rtl="0" fontAlgn="base">
                <a:spcBef>
                  <a:spcPct val="20000"/>
                </a:spcBef>
                <a:spcAft>
                  <a:spcPct val="0"/>
                </a:spcAft>
                <a:buChar char="»"/>
                <a:defRPr kumimoji="1" sz="20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TW" sz="1800" u="sng" dirty="0">
                  <a:solidFill>
                    <a:schemeClr val="tx1">
                      <a:lumMod val="75000"/>
                      <a:lumOff val="25000"/>
                    </a:schemeClr>
                  </a:solidFill>
                  <a:latin typeface="Palatino Linotype" panose="02040502050505030304" pitchFamily="18" charset="0"/>
                  <a:ea typeface="新細明體"/>
                  <a:hlinkClick r:id="rId3">
                    <a:extLst>
                      <a:ext uri="{A12FA001-AC4F-418D-AE19-62706E023703}">
                        <ahyp:hlinkClr xmlns:ahyp="http://schemas.microsoft.com/office/drawing/2018/hyperlinkcolor" val="tx"/>
                      </a:ext>
                    </a:extLst>
                  </a:hlinkClick>
                </a:rPr>
                <a:t>cfwu417@</a:t>
              </a:r>
              <a:r>
                <a:rPr lang="en-US" altLang="zh-TW" sz="1800" u="sng" dirty="0">
                  <a:solidFill>
                    <a:schemeClr val="tx1">
                      <a:lumMod val="75000"/>
                      <a:lumOff val="25000"/>
                    </a:schemeClr>
                  </a:solidFill>
                  <a:latin typeface="Palatino Linotype" panose="02040502050505030304" pitchFamily="18" charset="0"/>
                  <a:ea typeface="新細明體"/>
                </a:rPr>
                <a:t>cs.nycu.edu.tw</a:t>
              </a:r>
            </a:p>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TW" sz="1800" dirty="0">
                  <a:solidFill>
                    <a:schemeClr val="tx1">
                      <a:lumMod val="75000"/>
                      <a:lumOff val="25000"/>
                    </a:schemeClr>
                  </a:solidFill>
                  <a:latin typeface="Palatino Linotype" panose="02040502050505030304" pitchFamily="18" charset="0"/>
                  <a:ea typeface="新細明體"/>
                  <a:hlinkClick r:id="rId4">
                    <a:extLst>
                      <a:ext uri="{A12FA001-AC4F-418D-AE19-62706E023703}">
                        <ahyp:hlinkClr xmlns:ahyp="http://schemas.microsoft.com/office/drawing/2018/hyperlinkcolor" val="tx"/>
                      </a:ext>
                    </a:extLst>
                  </a:hlinkClick>
                </a:rPr>
                <a:t>https://cfwu417.github.io</a:t>
              </a:r>
              <a:endParaRPr lang="en-US" altLang="zh-TW" sz="1800" dirty="0">
                <a:solidFill>
                  <a:schemeClr val="tx1">
                    <a:lumMod val="75000"/>
                    <a:lumOff val="25000"/>
                  </a:schemeClr>
                </a:solidFill>
                <a:latin typeface="Palatino Linotype" panose="02040502050505030304" pitchFamily="18" charset="0"/>
                <a:ea typeface="新細明體"/>
              </a:endParaRPr>
            </a:p>
          </p:txBody>
        </p:sp>
        <p:pic>
          <p:nvPicPr>
            <p:cNvPr id="15" name="Picture 14" descr="Shape&#10;&#10;Description automatically generated with low confidence">
              <a:extLst>
                <a:ext uri="{FF2B5EF4-FFF2-40B4-BE49-F238E27FC236}">
                  <a16:creationId xmlns:a16="http://schemas.microsoft.com/office/drawing/2014/main" id="{099F8AD7-7110-B647-AF44-9BC5820A21ED}"/>
                </a:ext>
              </a:extLst>
            </p:cNvPr>
            <p:cNvPicPr>
              <a:picLocks noChangeAspect="1"/>
            </p:cNvPicPr>
            <p:nvPr/>
          </p:nvPicPr>
          <p:blipFill>
            <a:blip r:embed="rId5"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604975" y="4972996"/>
              <a:ext cx="360000" cy="360000"/>
            </a:xfrm>
            <a:prstGeom prst="rect">
              <a:avLst/>
            </a:prstGeom>
          </p:spPr>
        </p:pic>
        <p:pic>
          <p:nvPicPr>
            <p:cNvPr id="17" name="Picture 16" descr="Shape&#10;&#10;Description automatically generated with low confidence">
              <a:extLst>
                <a:ext uri="{FF2B5EF4-FFF2-40B4-BE49-F238E27FC236}">
                  <a16:creationId xmlns:a16="http://schemas.microsoft.com/office/drawing/2014/main" id="{1B347D04-C6D6-034D-ABFC-913B8124C03A}"/>
                </a:ext>
              </a:extLst>
            </p:cNvPr>
            <p:cNvPicPr>
              <a:picLocks noChangeAspect="1"/>
            </p:cNvPicPr>
            <p:nvPr/>
          </p:nvPicPr>
          <p:blipFill>
            <a:blip r:embed="rId6"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604975" y="5301873"/>
              <a:ext cx="360000" cy="360000"/>
            </a:xfrm>
            <a:prstGeom prst="rect">
              <a:avLst/>
            </a:prstGeom>
          </p:spPr>
        </p:pic>
      </p:grpSp>
    </p:spTree>
    <p:extLst>
      <p:ext uri="{BB962C8B-B14F-4D97-AF65-F5344CB8AC3E}">
        <p14:creationId xmlns:p14="http://schemas.microsoft.com/office/powerpoint/2010/main" val="3432692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9E23BB-8BEE-C9A6-E37A-F2DA5DF7003D}"/>
              </a:ext>
            </a:extLst>
          </p:cNvPr>
          <p:cNvSpPr>
            <a:spLocks noGrp="1"/>
          </p:cNvSpPr>
          <p:nvPr>
            <p:ph type="title"/>
          </p:nvPr>
        </p:nvSpPr>
        <p:spPr/>
        <p:txBody>
          <a:bodyPr/>
          <a:lstStyle/>
          <a:p>
            <a:r>
              <a:rPr kumimoji="1" lang="en-US" altLang="zh-TW" dirty="0"/>
              <a:t>A Few Heads Up</a:t>
            </a:r>
            <a:endParaRPr kumimoji="1" lang="zh-TW" altLang="en-US" dirty="0"/>
          </a:p>
        </p:txBody>
      </p:sp>
      <p:sp>
        <p:nvSpPr>
          <p:cNvPr id="3" name="內容版面配置區 2">
            <a:extLst>
              <a:ext uri="{FF2B5EF4-FFF2-40B4-BE49-F238E27FC236}">
                <a16:creationId xmlns:a16="http://schemas.microsoft.com/office/drawing/2014/main" id="{1C950ED8-BE90-C389-FA08-B5F05858BC3E}"/>
              </a:ext>
            </a:extLst>
          </p:cNvPr>
          <p:cNvSpPr>
            <a:spLocks noGrp="1"/>
          </p:cNvSpPr>
          <p:nvPr>
            <p:ph idx="1"/>
          </p:nvPr>
        </p:nvSpPr>
        <p:spPr/>
        <p:txBody>
          <a:bodyPr>
            <a:normAutofit/>
          </a:bodyPr>
          <a:lstStyle/>
          <a:p>
            <a:r>
              <a:rPr lang="en-US" altLang="zh-TW" dirty="0"/>
              <a:t>Please</a:t>
            </a:r>
            <a:r>
              <a:rPr lang="zh-TW" altLang="en-US" dirty="0"/>
              <a:t> </a:t>
            </a:r>
            <a:r>
              <a:rPr lang="en-US" altLang="zh-TW" dirty="0">
                <a:hlinkClick r:id="rId3"/>
              </a:rPr>
              <a:t>register</a:t>
            </a:r>
            <a:r>
              <a:rPr lang="zh-TW" altLang="en-US" dirty="0">
                <a:hlinkClick r:id="rId3"/>
              </a:rPr>
              <a:t> </a:t>
            </a:r>
            <a:r>
              <a:rPr lang="en-US" altLang="zh-TW" dirty="0">
                <a:hlinkClick r:id="rId3"/>
              </a:rPr>
              <a:t>a</a:t>
            </a:r>
            <a:r>
              <a:rPr lang="zh-TW" altLang="en-US" dirty="0">
                <a:hlinkClick r:id="rId3"/>
              </a:rPr>
              <a:t> </a:t>
            </a:r>
            <a:r>
              <a:rPr lang="en-US" altLang="zh-TW" dirty="0">
                <a:hlinkClick r:id="rId3"/>
              </a:rPr>
              <a:t>time</a:t>
            </a:r>
            <a:r>
              <a:rPr lang="zh-TW" altLang="en-US" dirty="0">
                <a:hlinkClick r:id="rId3"/>
              </a:rPr>
              <a:t> </a:t>
            </a:r>
            <a:r>
              <a:rPr lang="en-US" altLang="zh-TW" dirty="0">
                <a:hlinkClick r:id="rId3"/>
              </a:rPr>
              <a:t>slot</a:t>
            </a:r>
            <a:r>
              <a:rPr lang="zh-TW" altLang="en-US" dirty="0">
                <a:hlinkClick r:id="rId3"/>
              </a:rPr>
              <a:t> </a:t>
            </a:r>
            <a:r>
              <a:rPr lang="en-US" altLang="zh-TW" dirty="0"/>
              <a:t>before</a:t>
            </a:r>
            <a:r>
              <a:rPr lang="zh-TW" altLang="en-US" dirty="0"/>
              <a:t> </a:t>
            </a:r>
            <a:r>
              <a:rPr lang="en-US" altLang="zh-TW" dirty="0">
                <a:solidFill>
                  <a:srgbClr val="C00000"/>
                </a:solidFill>
              </a:rPr>
              <a:t>9/17 23:59</a:t>
            </a:r>
            <a:r>
              <a:rPr lang="en-US" altLang="zh-TW" dirty="0"/>
              <a:t>.</a:t>
            </a:r>
          </a:p>
          <a:p>
            <a:pPr lvl="1"/>
            <a:r>
              <a:rPr lang="en-US" altLang="zh-TW" dirty="0"/>
              <a:t>We</a:t>
            </a:r>
            <a:r>
              <a:rPr lang="zh-TW" altLang="en-US" dirty="0"/>
              <a:t> </a:t>
            </a:r>
            <a:r>
              <a:rPr lang="en-US" altLang="zh-TW" dirty="0"/>
              <a:t>will</a:t>
            </a:r>
            <a:r>
              <a:rPr lang="zh-TW" altLang="en-US" dirty="0"/>
              <a:t> </a:t>
            </a:r>
            <a:r>
              <a:rPr lang="en-US" altLang="zh-TW" dirty="0"/>
              <a:t>randomly</a:t>
            </a:r>
            <a:r>
              <a:rPr lang="zh-TW" altLang="en-US" dirty="0"/>
              <a:t> </a:t>
            </a:r>
            <a:r>
              <a:rPr lang="en-US" altLang="zh-TW" dirty="0"/>
              <a:t>assign</a:t>
            </a:r>
            <a:r>
              <a:rPr lang="zh-TW" altLang="en-US" dirty="0"/>
              <a:t> </a:t>
            </a:r>
            <a:r>
              <a:rPr lang="en-US" altLang="zh-TW" dirty="0"/>
              <a:t>a</a:t>
            </a:r>
            <a:r>
              <a:rPr lang="zh-TW" altLang="en-US" dirty="0"/>
              <a:t> </a:t>
            </a:r>
            <a:r>
              <a:rPr lang="en-US" altLang="zh-TW" dirty="0"/>
              <a:t>paper</a:t>
            </a:r>
            <a:r>
              <a:rPr lang="zh-TW" altLang="en-US" dirty="0"/>
              <a:t> </a:t>
            </a:r>
            <a:r>
              <a:rPr lang="en-US" altLang="zh-TW" dirty="0"/>
              <a:t>and</a:t>
            </a:r>
            <a:r>
              <a:rPr lang="zh-TW" altLang="en-US" dirty="0"/>
              <a:t> </a:t>
            </a:r>
            <a:r>
              <a:rPr lang="en-US" altLang="zh-TW" dirty="0"/>
              <a:t>a</a:t>
            </a:r>
            <a:r>
              <a:rPr lang="zh-TW" altLang="en-US" dirty="0"/>
              <a:t> </a:t>
            </a:r>
            <a:r>
              <a:rPr lang="en-US" altLang="zh-TW" dirty="0"/>
              <a:t>time</a:t>
            </a:r>
            <a:r>
              <a:rPr lang="zh-TW" altLang="en-US" dirty="0"/>
              <a:t> </a:t>
            </a:r>
            <a:r>
              <a:rPr lang="en-US" altLang="zh-TW" dirty="0"/>
              <a:t>slot</a:t>
            </a:r>
            <a:r>
              <a:rPr lang="zh-TW" altLang="en-US" dirty="0"/>
              <a:t> </a:t>
            </a:r>
            <a:r>
              <a:rPr lang="en-US" altLang="zh-TW" dirty="0"/>
              <a:t>for</a:t>
            </a:r>
            <a:r>
              <a:rPr lang="zh-TW" altLang="en-US" dirty="0"/>
              <a:t> </a:t>
            </a:r>
            <a:r>
              <a:rPr lang="en-US" altLang="zh-TW" dirty="0"/>
              <a:t>those</a:t>
            </a:r>
            <a:r>
              <a:rPr lang="zh-TW" altLang="en-US" dirty="0"/>
              <a:t> </a:t>
            </a:r>
            <a:r>
              <a:rPr lang="en-US" altLang="zh-TW" dirty="0"/>
              <a:t>who</a:t>
            </a:r>
            <a:r>
              <a:rPr lang="zh-TW" altLang="en-US" dirty="0"/>
              <a:t> </a:t>
            </a:r>
            <a:r>
              <a:rPr lang="en-US" altLang="zh-TW" dirty="0"/>
              <a:t>do</a:t>
            </a:r>
            <a:r>
              <a:rPr lang="zh-TW" altLang="en-US" dirty="0"/>
              <a:t> </a:t>
            </a:r>
            <a:r>
              <a:rPr lang="en-US" altLang="zh-TW" dirty="0"/>
              <a:t>not</a:t>
            </a:r>
            <a:r>
              <a:rPr lang="zh-TW" altLang="en-US" dirty="0"/>
              <a:t> </a:t>
            </a:r>
            <a:r>
              <a:rPr lang="en-US" altLang="zh-TW" dirty="0"/>
              <a:t>register.</a:t>
            </a:r>
          </a:p>
          <a:p>
            <a:r>
              <a:rPr lang="en-US" altLang="zh-TW" dirty="0"/>
              <a:t>Welcome to ask any questions in class. (2 points per question, Max: 6 points)</a:t>
            </a:r>
          </a:p>
          <a:p>
            <a:pPr lvl="1"/>
            <a:r>
              <a:rPr lang="en-US" altLang="zh-TW" dirty="0"/>
              <a:t>Please send an email to </a:t>
            </a:r>
            <a:r>
              <a:rPr lang="en-US" altLang="zh-TW" dirty="0" err="1">
                <a:hlinkClick r:id="rId4"/>
              </a:rPr>
              <a:t>os.oscarlab@gmail.com</a:t>
            </a:r>
            <a:endParaRPr lang="en-US" altLang="zh-TW" dirty="0"/>
          </a:p>
          <a:p>
            <a:pPr lvl="1"/>
            <a:r>
              <a:rPr lang="en-US" altLang="zh-TW" dirty="0"/>
              <a:t>The content shall include: (1) name,  (2) student ID,  (3) date of the class, (4) your question in class, (5) and a </a:t>
            </a:r>
            <a:r>
              <a:rPr lang="en-US" altLang="zh-TW" dirty="0">
                <a:solidFill>
                  <a:srgbClr val="C00000"/>
                </a:solidFill>
              </a:rPr>
              <a:t>screenshot of your question </a:t>
            </a:r>
            <a:r>
              <a:rPr lang="en-US" altLang="zh-TW" dirty="0"/>
              <a:t>if you ask via the chat box.</a:t>
            </a:r>
          </a:p>
          <a:p>
            <a:pPr marL="0" indent="0">
              <a:buNone/>
            </a:pPr>
            <a:endParaRPr kumimoji="1" lang="zh-TW" altLang="en-US" dirty="0"/>
          </a:p>
        </p:txBody>
      </p:sp>
      <p:sp>
        <p:nvSpPr>
          <p:cNvPr id="4" name="投影片編號版面配置區 3">
            <a:extLst>
              <a:ext uri="{FF2B5EF4-FFF2-40B4-BE49-F238E27FC236}">
                <a16:creationId xmlns:a16="http://schemas.microsoft.com/office/drawing/2014/main" id="{CF89817E-6B13-82EF-88B4-ECAF3455F396}"/>
              </a:ext>
            </a:extLst>
          </p:cNvPr>
          <p:cNvSpPr>
            <a:spLocks noGrp="1"/>
          </p:cNvSpPr>
          <p:nvPr>
            <p:ph type="sldNum" sz="quarter" idx="4"/>
          </p:nvPr>
        </p:nvSpPr>
        <p:spPr/>
        <p:txBody>
          <a:bodyPr/>
          <a:lstStyle/>
          <a:p>
            <a:fld id="{E24E6636-6BA5-4AAC-8485-BE8D914D288B}" type="slidenum">
              <a:rPr lang="zh-TW" altLang="en-US" smtClean="0"/>
              <a:pPr/>
              <a:t>2</a:t>
            </a:fld>
            <a:endParaRPr lang="zh-TW" altLang="en-US" dirty="0"/>
          </a:p>
        </p:txBody>
      </p:sp>
    </p:spTree>
    <p:extLst>
      <p:ext uri="{BB962C8B-B14F-4D97-AF65-F5344CB8AC3E}">
        <p14:creationId xmlns:p14="http://schemas.microsoft.com/office/powerpoint/2010/main" val="2351493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9E23BB-8BEE-C9A6-E37A-F2DA5DF7003D}"/>
              </a:ext>
            </a:extLst>
          </p:cNvPr>
          <p:cNvSpPr>
            <a:spLocks noGrp="1"/>
          </p:cNvSpPr>
          <p:nvPr>
            <p:ph type="title"/>
          </p:nvPr>
        </p:nvSpPr>
        <p:spPr/>
        <p:txBody>
          <a:bodyPr/>
          <a:lstStyle/>
          <a:p>
            <a:r>
              <a:rPr kumimoji="1" lang="en-US" altLang="zh-TW" dirty="0"/>
              <a:t>Remind–</a:t>
            </a:r>
            <a:r>
              <a:rPr kumimoji="1" lang="zh-TW" altLang="en-US" dirty="0"/>
              <a:t> </a:t>
            </a:r>
            <a:r>
              <a:rPr kumimoji="1" lang="en-US" altLang="zh-TW" dirty="0"/>
              <a:t>Paper</a:t>
            </a:r>
            <a:r>
              <a:rPr kumimoji="1" lang="zh-TW" altLang="en-US" dirty="0"/>
              <a:t> </a:t>
            </a:r>
            <a:r>
              <a:rPr kumimoji="1" lang="en-US" altLang="zh-TW" dirty="0"/>
              <a:t>Presentation</a:t>
            </a:r>
            <a:endParaRPr kumimoji="1" lang="zh-TW" altLang="en-US" dirty="0"/>
          </a:p>
        </p:txBody>
      </p:sp>
      <p:sp>
        <p:nvSpPr>
          <p:cNvPr id="3" name="內容版面配置區 2">
            <a:extLst>
              <a:ext uri="{FF2B5EF4-FFF2-40B4-BE49-F238E27FC236}">
                <a16:creationId xmlns:a16="http://schemas.microsoft.com/office/drawing/2014/main" id="{1C950ED8-BE90-C389-FA08-B5F05858BC3E}"/>
              </a:ext>
            </a:extLst>
          </p:cNvPr>
          <p:cNvSpPr>
            <a:spLocks noGrp="1"/>
          </p:cNvSpPr>
          <p:nvPr>
            <p:ph idx="1"/>
          </p:nvPr>
        </p:nvSpPr>
        <p:spPr/>
        <p:txBody>
          <a:bodyPr>
            <a:normAutofit/>
          </a:bodyPr>
          <a:lstStyle/>
          <a:p>
            <a:r>
              <a:rPr lang="en-US" altLang="zh-TW" dirty="0"/>
              <a:t>Should join online when you need to do the presentation.</a:t>
            </a:r>
          </a:p>
          <a:p>
            <a:pPr lvl="1"/>
            <a:r>
              <a:rPr lang="en-US" altLang="zh-TW" dirty="0">
                <a:hlinkClick r:id="rId3"/>
              </a:rPr>
              <a:t>https://nycu.webex.com/meet/cfwu417</a:t>
            </a:r>
            <a:endParaRPr lang="en-US" altLang="zh-TW" dirty="0"/>
          </a:p>
          <a:p>
            <a:pPr lvl="1"/>
            <a:r>
              <a:rPr lang="en-US" altLang="zh-TW" dirty="0"/>
              <a:t>Welcome everyone to join paper presentations </a:t>
            </a:r>
            <a:r>
              <a:rPr lang="en-US" altLang="zh-TW" dirty="0">
                <a:solidFill>
                  <a:srgbClr val="C00000"/>
                </a:solidFill>
              </a:rPr>
              <a:t>online every Friday</a:t>
            </a:r>
            <a:r>
              <a:rPr lang="en-US" altLang="zh-TW" dirty="0"/>
              <a:t>.</a:t>
            </a:r>
          </a:p>
          <a:p>
            <a:r>
              <a:rPr lang="en-US" altLang="zh-TW" dirty="0"/>
              <a:t>What do we expect for the presentation (6-8min):</a:t>
            </a:r>
          </a:p>
          <a:p>
            <a:pPr lvl="1"/>
            <a:r>
              <a:rPr lang="en-US" altLang="zh-TW" dirty="0"/>
              <a:t>Background, Trend (~2min)</a:t>
            </a:r>
          </a:p>
          <a:p>
            <a:pPr lvl="1"/>
            <a:r>
              <a:rPr lang="en-US" altLang="zh-TW" dirty="0"/>
              <a:t>Related Works &amp; Observation &amp; Motivation (~2min)</a:t>
            </a:r>
          </a:p>
          <a:p>
            <a:pPr lvl="1"/>
            <a:r>
              <a:rPr lang="en-US" altLang="zh-TW" dirty="0"/>
              <a:t>Methodology Concepts (~3min)</a:t>
            </a:r>
          </a:p>
          <a:p>
            <a:r>
              <a:rPr lang="en-US" altLang="zh-TW" dirty="0"/>
              <a:t>Criteria: </a:t>
            </a:r>
          </a:p>
          <a:p>
            <a:pPr lvl="1"/>
            <a:r>
              <a:rPr lang="en-US" altLang="zh-TW" dirty="0"/>
              <a:t>Make the motivation clear enough. (Organize the flow from background to related works and to challenges clear)</a:t>
            </a:r>
          </a:p>
          <a:p>
            <a:pPr lvl="1"/>
            <a:r>
              <a:rPr lang="en-US" altLang="zh-TW" dirty="0"/>
              <a:t>Let the presentation easy-to-follow. (Some animations can help.)</a:t>
            </a:r>
          </a:p>
          <a:p>
            <a:pPr lvl="1"/>
            <a:r>
              <a:rPr lang="en-US" altLang="zh-TW" dirty="0"/>
              <a:t>Point out the design concept of the methodology? (Do not go through the algorithm, please extract the high-level concept.)</a:t>
            </a:r>
          </a:p>
          <a:p>
            <a:pPr lvl="1"/>
            <a:r>
              <a:rPr lang="en-US" altLang="zh-TW" dirty="0"/>
              <a:t>Do not let the presentation go over 8 mins. (Penalty: 20% off)</a:t>
            </a:r>
          </a:p>
        </p:txBody>
      </p:sp>
      <p:sp>
        <p:nvSpPr>
          <p:cNvPr id="4" name="投影片編號版面配置區 3">
            <a:extLst>
              <a:ext uri="{FF2B5EF4-FFF2-40B4-BE49-F238E27FC236}">
                <a16:creationId xmlns:a16="http://schemas.microsoft.com/office/drawing/2014/main" id="{CF89817E-6B13-82EF-88B4-ECAF3455F396}"/>
              </a:ext>
            </a:extLst>
          </p:cNvPr>
          <p:cNvSpPr>
            <a:spLocks noGrp="1"/>
          </p:cNvSpPr>
          <p:nvPr>
            <p:ph type="sldNum" sz="quarter" idx="4"/>
          </p:nvPr>
        </p:nvSpPr>
        <p:spPr/>
        <p:txBody>
          <a:bodyPr/>
          <a:lstStyle/>
          <a:p>
            <a:fld id="{E24E6636-6BA5-4AAC-8485-BE8D914D288B}" type="slidenum">
              <a:rPr lang="zh-TW" altLang="en-US" smtClean="0"/>
              <a:pPr/>
              <a:t>3</a:t>
            </a:fld>
            <a:endParaRPr lang="zh-TW" altLang="en-US" dirty="0"/>
          </a:p>
        </p:txBody>
      </p:sp>
    </p:spTree>
    <p:extLst>
      <p:ext uri="{BB962C8B-B14F-4D97-AF65-F5344CB8AC3E}">
        <p14:creationId xmlns:p14="http://schemas.microsoft.com/office/powerpoint/2010/main" val="3380071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fade">
                                      <p:cBhvr>
                                        <p:cTn id="30" dur="500"/>
                                        <p:tgtEl>
                                          <p:spTgt spid="3">
                                            <p:txEl>
                                              <p:pRg st="10" end="1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animEffect transition="in" filter="fade">
                                      <p:cBhvr>
                                        <p:cTn id="33"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59614"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L1: Operating Systems a Recap</a:t>
            </a:r>
          </a:p>
        </p:txBody>
      </p:sp>
    </p:spTree>
    <p:extLst>
      <p:ext uri="{BB962C8B-B14F-4D97-AF65-F5344CB8AC3E}">
        <p14:creationId xmlns:p14="http://schemas.microsoft.com/office/powerpoint/2010/main" val="486369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Agenda</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lang="en-US" altLang="zh-TW" sz="2800" dirty="0">
                <a:solidFill>
                  <a:schemeClr val="tx1"/>
                </a:solidFill>
                <a:latin typeface="+mn-lt"/>
                <a:cs typeface="Arial" panose="020B0604020202020204" pitchFamily="34" charset="0"/>
              </a:rPr>
              <a:t>Computer System Organization</a:t>
            </a:r>
          </a:p>
          <a:p>
            <a:pPr algn="l"/>
            <a:r>
              <a:rPr lang="en-US" altLang="zh-TW" sz="2800" dirty="0">
                <a:solidFill>
                  <a:schemeClr val="tx1"/>
                </a:solidFill>
                <a:latin typeface="+mn-lt"/>
                <a:cs typeface="Arial" panose="020B0604020202020204" pitchFamily="34" charset="0"/>
              </a:rPr>
              <a:t>What is Operating Systems &amp; Linux Kernel</a:t>
            </a:r>
          </a:p>
          <a:p>
            <a:pPr algn="l"/>
            <a:r>
              <a:rPr lang="en-US" altLang="zh-TW" sz="2800" dirty="0">
                <a:solidFill>
                  <a:schemeClr val="tx1"/>
                </a:solidFill>
                <a:latin typeface="+mn-lt"/>
                <a:cs typeface="Arial" panose="020B0604020202020204" pitchFamily="34" charset="0"/>
              </a:rPr>
              <a:t>Operating System</a:t>
            </a:r>
            <a:r>
              <a:rPr lang="zh-TW" altLang="en-US" sz="2800" dirty="0">
                <a:solidFill>
                  <a:schemeClr val="tx1"/>
                </a:solidFill>
                <a:latin typeface="+mn-lt"/>
                <a:cs typeface="Arial" panose="020B0604020202020204" pitchFamily="34" charset="0"/>
              </a:rPr>
              <a:t> </a:t>
            </a:r>
            <a:r>
              <a:rPr lang="en-US" altLang="zh-TW" sz="2800" dirty="0">
                <a:solidFill>
                  <a:schemeClr val="tx1"/>
                </a:solidFill>
                <a:latin typeface="+mn-lt"/>
                <a:cs typeface="Arial" panose="020B0604020202020204" pitchFamily="34" charset="0"/>
              </a:rPr>
              <a:t>Structure</a:t>
            </a:r>
          </a:p>
          <a:p>
            <a:pPr algn="l"/>
            <a:r>
              <a:rPr lang="en-US" altLang="zh-TW" sz="2800" dirty="0">
                <a:solidFill>
                  <a:schemeClr val="tx1"/>
                </a:solidFill>
                <a:latin typeface="+mn-lt"/>
                <a:cs typeface="Arial" panose="020B0604020202020204" pitchFamily="34" charset="0"/>
              </a:rPr>
              <a:t>What topics will we cover</a:t>
            </a:r>
          </a:p>
          <a:p>
            <a:pPr lvl="1" algn="l"/>
            <a:r>
              <a:rPr lang="en-US" altLang="zh-TW" sz="2400" dirty="0">
                <a:solidFill>
                  <a:schemeClr val="tx1"/>
                </a:solidFill>
                <a:latin typeface="+mn-lt"/>
                <a:cs typeface="Arial" panose="020B0604020202020204" pitchFamily="34" charset="0"/>
              </a:rPr>
              <a:t>Process &amp; Interrupts</a:t>
            </a:r>
          </a:p>
          <a:p>
            <a:pPr lvl="1" algn="l"/>
            <a:r>
              <a:rPr lang="en-US" altLang="zh-TW" sz="2400" dirty="0">
                <a:solidFill>
                  <a:schemeClr val="tx1"/>
                </a:solidFill>
                <a:latin typeface="+mn-lt"/>
                <a:cs typeface="Arial" panose="020B0604020202020204" pitchFamily="34" charset="0"/>
              </a:rPr>
              <a:t>Main Memory Management</a:t>
            </a:r>
          </a:p>
          <a:p>
            <a:pPr lvl="1" algn="l"/>
            <a:r>
              <a:rPr lang="en-US" altLang="zh-TW" sz="2400" dirty="0">
                <a:solidFill>
                  <a:schemeClr val="tx1"/>
                </a:solidFill>
                <a:latin typeface="+mn-lt"/>
                <a:cs typeface="Arial" panose="020B0604020202020204" pitchFamily="34" charset="0"/>
              </a:rPr>
              <a:t>I/O Devices &amp; Device Driver</a:t>
            </a:r>
          </a:p>
          <a:p>
            <a:pPr lvl="1" algn="l"/>
            <a:r>
              <a:rPr lang="en-US" altLang="zh-TW" sz="2400" dirty="0">
                <a:solidFill>
                  <a:schemeClr val="tx1"/>
                </a:solidFill>
                <a:latin typeface="+mn-lt"/>
                <a:cs typeface="Arial" panose="020B0604020202020204" pitchFamily="34" charset="0"/>
              </a:rPr>
              <a:t>File System</a:t>
            </a:r>
          </a:p>
          <a:p>
            <a:pPr lvl="1" algn="l"/>
            <a:r>
              <a:rPr lang="en-US" altLang="zh-TW" dirty="0">
                <a:solidFill>
                  <a:schemeClr val="tx1"/>
                </a:solidFill>
                <a:cs typeface="Arial" panose="020B0604020202020204" pitchFamily="34" charset="0"/>
              </a:rPr>
              <a:t>Challenge of OS</a:t>
            </a:r>
            <a:endParaRPr lang="en-US" altLang="zh-TW" sz="2400" dirty="0">
              <a:solidFill>
                <a:schemeClr val="tx1"/>
              </a:solidFill>
              <a:latin typeface="+mn-lt"/>
              <a:cs typeface="Arial" panose="020B0604020202020204" pitchFamily="34" charset="0"/>
            </a:endParaRPr>
          </a:p>
          <a:p>
            <a:pPr lvl="1" algn="l"/>
            <a:r>
              <a:rPr lang="en-US" altLang="zh-TW" sz="2400" dirty="0">
                <a:solidFill>
                  <a:schemeClr val="tx1"/>
                </a:solidFill>
                <a:latin typeface="+mn-lt"/>
                <a:cs typeface="Arial" panose="020B0604020202020204" pitchFamily="34" charset="0"/>
              </a:rPr>
              <a:t>Advance Topics: Graph Systems, Deep Recommendation System,</a:t>
            </a:r>
            <a:r>
              <a:rPr lang="en-US" altLang="zh-TW" dirty="0">
                <a:solidFill>
                  <a:schemeClr val="tx1"/>
                </a:solidFill>
                <a:cs typeface="Arial" panose="020B0604020202020204" pitchFamily="34" charset="0"/>
              </a:rPr>
              <a:t> Key-Value Database,</a:t>
            </a:r>
            <a:r>
              <a:rPr lang="en-US" altLang="zh-TW" sz="2400" dirty="0">
                <a:solidFill>
                  <a:schemeClr val="tx1"/>
                </a:solidFill>
                <a:latin typeface="+mn-lt"/>
                <a:cs typeface="Arial" panose="020B0604020202020204" pitchFamily="34" charset="0"/>
              </a:rPr>
              <a:t> Dedup</a:t>
            </a:r>
            <a:r>
              <a:rPr lang="en-US" altLang="zh-TW" dirty="0">
                <a:solidFill>
                  <a:schemeClr val="tx1"/>
                </a:solidFill>
                <a:latin typeface="+mn-lt"/>
                <a:cs typeface="Arial" panose="020B0604020202020204" pitchFamily="34" charset="0"/>
              </a:rPr>
              <a:t>lication, </a:t>
            </a:r>
            <a:r>
              <a:rPr lang="en-US" altLang="zh-TW" sz="2400" dirty="0">
                <a:solidFill>
                  <a:schemeClr val="tx1"/>
                </a:solidFill>
                <a:latin typeface="+mn-lt"/>
                <a:cs typeface="Arial" panose="020B0604020202020204" pitchFamily="34" charset="0"/>
              </a:rPr>
              <a:t>Data Center Computing, Virtualization Concepts</a:t>
            </a:r>
            <a:endParaRPr lang="en-US" altLang="zh-TW" sz="2800" dirty="0">
              <a:solidFill>
                <a:schemeClr val="tx1"/>
              </a:solidFill>
              <a:latin typeface="+mn-lt"/>
              <a:cs typeface="Arial" panose="020B0604020202020204" pitchFamily="34" charset="0"/>
            </a:endParaRPr>
          </a:p>
          <a:p>
            <a:pPr algn="l"/>
            <a:endParaRPr kumimoji="1" lang="zh-TW" altLang="en-US" sz="2800" dirty="0">
              <a:solidFill>
                <a:schemeClr val="tx1"/>
              </a:solidFill>
              <a:latin typeface="+mn-lt"/>
              <a:cs typeface="Arial" panose="020B060402020202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5</a:t>
            </a:fld>
            <a:endParaRPr lang="zh-TW" altLang="en-US" dirty="0"/>
          </a:p>
        </p:txBody>
      </p:sp>
    </p:spTree>
    <p:extLst>
      <p:ext uri="{BB962C8B-B14F-4D97-AF65-F5344CB8AC3E}">
        <p14:creationId xmlns:p14="http://schemas.microsoft.com/office/powerpoint/2010/main" val="2683694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a:xfrm>
            <a:off x="177800" y="1238250"/>
            <a:ext cx="11836400" cy="5845456"/>
          </a:xfrm>
        </p:spPr>
        <p:txBody>
          <a:bodyPr>
            <a:normAutofit/>
          </a:bodyPr>
          <a:lstStyle/>
          <a:p>
            <a:pPr algn="l"/>
            <a:r>
              <a:rPr lang="en-US" altLang="zh-TW" sz="2800" dirty="0">
                <a:solidFill>
                  <a:schemeClr val="tx1"/>
                </a:solidFill>
                <a:latin typeface="Calibri" panose="020F0502020204030204" pitchFamily="34" charset="0"/>
                <a:cs typeface="Calibri" panose="020F0502020204030204" pitchFamily="34" charset="0"/>
              </a:rPr>
              <a:t>Introduction</a:t>
            </a:r>
            <a:r>
              <a:rPr kumimoji="1" lang="en-US" altLang="zh-TW" sz="2800" dirty="0">
                <a:solidFill>
                  <a:schemeClr val="tx1"/>
                </a:solidFill>
                <a:latin typeface="Calibri" panose="020F0502020204030204" pitchFamily="34" charset="0"/>
                <a:cs typeface="Calibri" panose="020F0502020204030204" pitchFamily="34" charset="0"/>
              </a:rPr>
              <a:t>: </a:t>
            </a:r>
            <a:r>
              <a:rPr kumimoji="1" lang="en-US" altLang="zh-TW" sz="2800" dirty="0">
                <a:solidFill>
                  <a:srgbClr val="C00000"/>
                </a:solidFill>
                <a:latin typeface="Calibri" panose="020F0502020204030204" pitchFamily="34" charset="0"/>
                <a:cs typeface="Calibri" panose="020F0502020204030204" pitchFamily="34" charset="0"/>
              </a:rPr>
              <a:t>Computing</a:t>
            </a:r>
            <a:r>
              <a:rPr kumimoji="1" lang="en-US" altLang="zh-TW" sz="2800" dirty="0">
                <a:solidFill>
                  <a:schemeClr val="tx1"/>
                </a:solidFill>
                <a:latin typeface="Calibri" panose="020F0502020204030204" pitchFamily="34" charset="0"/>
                <a:cs typeface="Calibri" panose="020F0502020204030204" pitchFamily="34" charset="0"/>
              </a:rPr>
              <a:t> devices, </a:t>
            </a:r>
            <a:r>
              <a:rPr kumimoji="1" lang="en-US" altLang="zh-TW" sz="2800" dirty="0">
                <a:solidFill>
                  <a:srgbClr val="C00000"/>
                </a:solidFill>
                <a:latin typeface="Calibri" panose="020F0502020204030204" pitchFamily="34" charset="0"/>
                <a:cs typeface="Calibri" panose="020F0502020204030204" pitchFamily="34" charset="0"/>
              </a:rPr>
              <a:t>memory</a:t>
            </a:r>
            <a:r>
              <a:rPr kumimoji="1" lang="en-US" altLang="zh-TW" sz="2800" dirty="0">
                <a:solidFill>
                  <a:schemeClr val="tx1"/>
                </a:solidFill>
                <a:latin typeface="Calibri" panose="020F0502020204030204" pitchFamily="34" charset="0"/>
                <a:cs typeface="Calibri" panose="020F0502020204030204" pitchFamily="34" charset="0"/>
              </a:rPr>
              <a:t> devices (e.g., DRAM), and </a:t>
            </a:r>
            <a:r>
              <a:rPr kumimoji="1" lang="en-US" altLang="zh-TW" sz="2800" dirty="0">
                <a:solidFill>
                  <a:srgbClr val="C00000"/>
                </a:solidFill>
                <a:latin typeface="Calibri" panose="020F0502020204030204" pitchFamily="34" charset="0"/>
                <a:cs typeface="Calibri" panose="020F0502020204030204" pitchFamily="34" charset="0"/>
              </a:rPr>
              <a:t>I/O </a:t>
            </a:r>
            <a:r>
              <a:rPr kumimoji="1" lang="en-US" altLang="zh-TW" sz="2800" dirty="0">
                <a:solidFill>
                  <a:schemeClr val="tx1"/>
                </a:solidFill>
                <a:latin typeface="Calibri" panose="020F0502020204030204" pitchFamily="34" charset="0"/>
                <a:cs typeface="Calibri" panose="020F0502020204030204" pitchFamily="34" charset="0"/>
              </a:rPr>
              <a:t>devices (e.g., HDD, SDD, or network devices) are three main basic components.</a:t>
            </a:r>
          </a:p>
          <a:p>
            <a:pPr lvl="1" algn="l"/>
            <a:r>
              <a:rPr lang="en-US" altLang="zh-TW" dirty="0">
                <a:solidFill>
                  <a:schemeClr val="tx1"/>
                </a:solidFill>
              </a:rPr>
              <a:t>Software: The collection of programs, data, and instructions.</a:t>
            </a:r>
            <a:br>
              <a:rPr kumimoji="1" lang="en-US" altLang="zh-TW" dirty="0">
                <a:solidFill>
                  <a:schemeClr val="tx1"/>
                </a:solidFill>
                <a:latin typeface="Calibri" panose="020F0502020204030204" pitchFamily="34" charset="0"/>
                <a:cs typeface="Calibri" panose="020F0502020204030204" pitchFamily="34" charset="0"/>
              </a:rPr>
            </a:br>
            <a:endParaRPr kumimoji="1" lang="en-US" altLang="zh-TW" dirty="0">
              <a:solidFill>
                <a:schemeClr val="tx1"/>
              </a:solidFill>
              <a:latin typeface="Calibri" panose="020F0502020204030204" pitchFamily="34" charset="0"/>
              <a:cs typeface="Calibri" panose="020F0502020204030204" pitchFamily="34" charset="0"/>
            </a:endParaRPr>
          </a:p>
          <a:p>
            <a:pPr algn="l"/>
            <a:r>
              <a:rPr lang="en-US" altLang="zh-TW" sz="2800" dirty="0">
                <a:solidFill>
                  <a:schemeClr val="tx1"/>
                </a:solidFill>
                <a:latin typeface="Calibri" panose="020F0502020204030204" pitchFamily="34" charset="0"/>
                <a:cs typeface="Calibri" panose="020F0502020204030204" pitchFamily="34" charset="0"/>
              </a:rPr>
              <a:t>Von-Neumann Architecture:</a:t>
            </a:r>
          </a:p>
          <a:p>
            <a:pPr lvl="1" algn="l"/>
            <a:r>
              <a:rPr kumimoji="1" lang="en-US" altLang="zh-TW" sz="2400" dirty="0">
                <a:solidFill>
                  <a:schemeClr val="tx1"/>
                </a:solidFill>
                <a:latin typeface="Calibri" panose="020F0502020204030204" pitchFamily="34" charset="0"/>
                <a:cs typeface="Calibri" panose="020F0502020204030204" pitchFamily="34" charset="0"/>
              </a:rPr>
              <a:t>CPU </a:t>
            </a:r>
            <a:r>
              <a:rPr kumimoji="1" lang="en-US" altLang="zh-TW" sz="2400" dirty="0">
                <a:solidFill>
                  <a:srgbClr val="C00000"/>
                </a:solidFill>
                <a:latin typeface="Calibri" panose="020F0502020204030204" pitchFamily="34" charset="0"/>
                <a:cs typeface="Calibri" panose="020F0502020204030204" pitchFamily="34" charset="0"/>
              </a:rPr>
              <a:t>fetches</a:t>
            </a:r>
            <a:r>
              <a:rPr kumimoji="1" lang="en-US" altLang="zh-TW" sz="2400" dirty="0">
                <a:solidFill>
                  <a:schemeClr val="tx1"/>
                </a:solidFill>
                <a:latin typeface="Calibri" panose="020F0502020204030204" pitchFamily="34" charset="0"/>
                <a:cs typeface="Calibri" panose="020F0502020204030204" pitchFamily="34" charset="0"/>
              </a:rPr>
              <a:t> an instruction from memory.</a:t>
            </a:r>
          </a:p>
          <a:p>
            <a:pPr lvl="1" algn="l"/>
            <a:r>
              <a:rPr lang="en-US" altLang="zh-TW" sz="2400" dirty="0">
                <a:solidFill>
                  <a:schemeClr val="tx1"/>
                </a:solidFill>
                <a:latin typeface="Calibri" panose="020F0502020204030204" pitchFamily="34" charset="0"/>
                <a:cs typeface="Calibri" panose="020F0502020204030204" pitchFamily="34" charset="0"/>
              </a:rPr>
              <a:t>Then, CPU </a:t>
            </a:r>
            <a:r>
              <a:rPr lang="en-US" altLang="zh-TW" sz="2400" dirty="0">
                <a:solidFill>
                  <a:srgbClr val="C00000"/>
                </a:solidFill>
                <a:latin typeface="Calibri" panose="020F0502020204030204" pitchFamily="34" charset="0"/>
                <a:cs typeface="Calibri" panose="020F0502020204030204" pitchFamily="34" charset="0"/>
              </a:rPr>
              <a:t>decodes and executes </a:t>
            </a:r>
            <a:r>
              <a:rPr lang="en-US" altLang="zh-TW" sz="2400" dirty="0">
                <a:solidFill>
                  <a:schemeClr val="tx1"/>
                </a:solidFill>
                <a:latin typeface="Calibri" panose="020F0502020204030204" pitchFamily="34" charset="0"/>
                <a:cs typeface="Calibri" panose="020F0502020204030204" pitchFamily="34" charset="0"/>
              </a:rPr>
              <a:t>the instruction.</a:t>
            </a:r>
          </a:p>
          <a:p>
            <a:pPr lvl="1" algn="l"/>
            <a:r>
              <a:rPr kumimoji="1" lang="en-US" altLang="zh-TW" sz="2400" dirty="0">
                <a:solidFill>
                  <a:schemeClr val="tx1"/>
                </a:solidFill>
                <a:latin typeface="Calibri" panose="020F0502020204030204" pitchFamily="34" charset="0"/>
                <a:cs typeface="Calibri" panose="020F0502020204030204" pitchFamily="34" charset="0"/>
              </a:rPr>
              <a:t>CPU fetches next data (</a:t>
            </a:r>
            <a:r>
              <a:rPr kumimoji="1" lang="en-US" altLang="zh-TW" sz="2400" dirty="0">
                <a:solidFill>
                  <a:srgbClr val="C00000"/>
                </a:solidFill>
                <a:latin typeface="Calibri" panose="020F0502020204030204" pitchFamily="34" charset="0"/>
                <a:cs typeface="Calibri" panose="020F0502020204030204" pitchFamily="34" charset="0"/>
              </a:rPr>
              <a:t>Automatically Increment PC</a:t>
            </a:r>
            <a:r>
              <a:rPr kumimoji="1" lang="en-US" altLang="zh-TW" sz="2400" dirty="0">
                <a:solidFill>
                  <a:schemeClr val="tx1"/>
                </a:solidFill>
                <a:latin typeface="Calibri" panose="020F0502020204030204" pitchFamily="34" charset="0"/>
                <a:cs typeface="Calibri" panose="020F0502020204030204" pitchFamily="34" charset="0"/>
              </a:rPr>
              <a:t>).</a:t>
            </a:r>
            <a:br>
              <a:rPr kumimoji="1" lang="en-US" altLang="zh-TW" sz="2400" dirty="0">
                <a:solidFill>
                  <a:schemeClr val="tx1"/>
                </a:solidFill>
                <a:latin typeface="Calibri" panose="020F0502020204030204" pitchFamily="34" charset="0"/>
                <a:cs typeface="Calibri" panose="020F0502020204030204" pitchFamily="34" charset="0"/>
              </a:rPr>
            </a:br>
            <a:endParaRPr kumimoji="1" lang="en-US" altLang="zh-TW" sz="2400" dirty="0">
              <a:solidFill>
                <a:schemeClr val="tx1"/>
              </a:solidFill>
              <a:latin typeface="Calibri" panose="020F0502020204030204" pitchFamily="34" charset="0"/>
              <a:cs typeface="Calibri" panose="020F0502020204030204" pitchFamily="34" charset="0"/>
            </a:endParaRPr>
          </a:p>
          <a:p>
            <a:pPr algn="l"/>
            <a:r>
              <a:rPr lang="en-US" altLang="zh-TW" sz="2800" dirty="0">
                <a:solidFill>
                  <a:schemeClr val="tx1"/>
                </a:solidFill>
                <a:latin typeface="Calibri" panose="020F0502020204030204" pitchFamily="34" charset="0"/>
                <a:cs typeface="Calibri" panose="020F0502020204030204" pitchFamily="34" charset="0"/>
              </a:rPr>
              <a:t>Challenges</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without</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Operating</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Systems:</a:t>
            </a:r>
          </a:p>
          <a:p>
            <a:pPr lvl="1" algn="l"/>
            <a:r>
              <a:rPr lang="en-US" altLang="zh-TW" sz="2400" dirty="0">
                <a:solidFill>
                  <a:schemeClr val="tx1"/>
                </a:solidFill>
                <a:latin typeface="Calibri" panose="020F0502020204030204" pitchFamily="34" charset="0"/>
                <a:cs typeface="Calibri" panose="020F0502020204030204" pitchFamily="34" charset="0"/>
              </a:rPr>
              <a:t>CPU will be solely occupied by one process.</a:t>
            </a:r>
          </a:p>
          <a:p>
            <a:pPr lvl="1" algn="l"/>
            <a:r>
              <a:rPr lang="en-US" altLang="zh-TW" sz="2400" dirty="0">
                <a:solidFill>
                  <a:schemeClr val="tx1"/>
                </a:solidFill>
                <a:latin typeface="Calibri" panose="020F0502020204030204" pitchFamily="34" charset="0"/>
                <a:cs typeface="Calibri" panose="020F0502020204030204" pitchFamily="34" charset="0"/>
              </a:rPr>
              <a:t>CPU shall wait for I/O devices. (1 ns vs 100 us).</a:t>
            </a:r>
          </a:p>
          <a:p>
            <a:pPr lvl="1" algn="l"/>
            <a:r>
              <a:rPr lang="en-US" altLang="zh-TW" sz="2400" dirty="0">
                <a:solidFill>
                  <a:schemeClr val="tx1"/>
                </a:solidFill>
                <a:latin typeface="Calibri" panose="020F0502020204030204" pitchFamily="34" charset="0"/>
                <a:cs typeface="Calibri" panose="020F0502020204030204" pitchFamily="34" charset="0"/>
              </a:rPr>
              <a:t>CPU cannot understand ”file” in I/O devices</a:t>
            </a:r>
            <a:r>
              <a:rPr lang="en-US" altLang="zh-TW" dirty="0">
                <a:solidFill>
                  <a:schemeClr val="tx1"/>
                </a:solidFill>
              </a:rPr>
              <a:t>.</a:t>
            </a:r>
            <a:endParaRPr lang="en-US" altLang="zh-TW" sz="2400" dirty="0">
              <a:solidFill>
                <a:schemeClr val="tx1"/>
              </a:solidFill>
              <a:latin typeface="Calibri" panose="020F0502020204030204" pitchFamily="34" charset="0"/>
              <a:cs typeface="Calibri" panose="020F0502020204030204" pitchFamily="34" charset="0"/>
            </a:endParaRPr>
          </a:p>
        </p:txBody>
      </p:sp>
      <p:grpSp>
        <p:nvGrpSpPr>
          <p:cNvPr id="72" name="群組 71">
            <a:extLst>
              <a:ext uri="{FF2B5EF4-FFF2-40B4-BE49-F238E27FC236}">
                <a16:creationId xmlns:a16="http://schemas.microsoft.com/office/drawing/2014/main" id="{02F2732C-9CFE-5395-9723-3A8F10C4F8FA}"/>
              </a:ext>
            </a:extLst>
          </p:cNvPr>
          <p:cNvGrpSpPr/>
          <p:nvPr/>
        </p:nvGrpSpPr>
        <p:grpSpPr>
          <a:xfrm>
            <a:off x="7495699" y="2876402"/>
            <a:ext cx="2430000" cy="3479843"/>
            <a:chOff x="7495699" y="2876402"/>
            <a:chExt cx="2430000" cy="3479843"/>
          </a:xfrm>
        </p:grpSpPr>
        <p:sp>
          <p:nvSpPr>
            <p:cNvPr id="41" name="Rectangle 49">
              <a:extLst>
                <a:ext uri="{FF2B5EF4-FFF2-40B4-BE49-F238E27FC236}">
                  <a16:creationId xmlns:a16="http://schemas.microsoft.com/office/drawing/2014/main" id="{F6819151-C857-8C49-C6A8-49FF7990FCEB}"/>
                </a:ext>
              </a:extLst>
            </p:cNvPr>
            <p:cNvSpPr/>
            <p:nvPr/>
          </p:nvSpPr>
          <p:spPr>
            <a:xfrm>
              <a:off x="7496355" y="2876402"/>
              <a:ext cx="2428689" cy="1105196"/>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dirty="0">
                  <a:solidFill>
                    <a:schemeClr val="tx1"/>
                  </a:solidFill>
                  <a:ea typeface="Arial" charset="0"/>
                  <a:cs typeface="Arial" charset="0"/>
                </a:rPr>
                <a:t>Compute (e.g., CPU)</a:t>
              </a:r>
            </a:p>
          </p:txBody>
        </p:sp>
        <p:sp>
          <p:nvSpPr>
            <p:cNvPr id="42" name="Rectangle 20">
              <a:extLst>
                <a:ext uri="{FF2B5EF4-FFF2-40B4-BE49-F238E27FC236}">
                  <a16:creationId xmlns:a16="http://schemas.microsoft.com/office/drawing/2014/main" id="{B9E58A6C-338D-8A9A-CCB9-43BC942EBBF2}"/>
                </a:ext>
              </a:extLst>
            </p:cNvPr>
            <p:cNvSpPr/>
            <p:nvPr/>
          </p:nvSpPr>
          <p:spPr>
            <a:xfrm>
              <a:off x="7495699" y="5683679"/>
              <a:ext cx="2430000" cy="672566"/>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ea typeface="Arial" charset="0"/>
                  <a:cs typeface="Arial" charset="0"/>
                </a:rPr>
                <a:t>I/O</a:t>
              </a:r>
              <a:br>
                <a:rPr lang="en-US" altLang="zh-TW" dirty="0">
                  <a:solidFill>
                    <a:schemeClr val="tx1"/>
                  </a:solidFill>
                  <a:ea typeface="Arial" charset="0"/>
                  <a:cs typeface="Arial" charset="0"/>
                </a:rPr>
              </a:br>
              <a:r>
                <a:rPr lang="en-US" altLang="zh-TW" dirty="0">
                  <a:solidFill>
                    <a:schemeClr val="tx1"/>
                  </a:solidFill>
                  <a:ea typeface="Arial" charset="0"/>
                  <a:cs typeface="Arial" charset="0"/>
                </a:rPr>
                <a:t>(e.g., HDD, SSD)</a:t>
              </a:r>
              <a:endParaRPr lang="en-US" dirty="0">
                <a:solidFill>
                  <a:schemeClr val="tx1"/>
                </a:solidFill>
                <a:ea typeface="Arial" charset="0"/>
                <a:cs typeface="Arial" charset="0"/>
              </a:endParaRPr>
            </a:p>
          </p:txBody>
        </p:sp>
        <p:sp>
          <p:nvSpPr>
            <p:cNvPr id="43" name="Rectangle 38">
              <a:extLst>
                <a:ext uri="{FF2B5EF4-FFF2-40B4-BE49-F238E27FC236}">
                  <a16:creationId xmlns:a16="http://schemas.microsoft.com/office/drawing/2014/main" id="{4417AC09-9026-6C1B-75CF-BB4D8C668407}"/>
                </a:ext>
              </a:extLst>
            </p:cNvPr>
            <p:cNvSpPr/>
            <p:nvPr/>
          </p:nvSpPr>
          <p:spPr>
            <a:xfrm>
              <a:off x="7495962" y="4325608"/>
              <a:ext cx="2429474" cy="672566"/>
            </a:xfrm>
            <a:prstGeom prst="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ea typeface="Arial" charset="0"/>
                  <a:cs typeface="Arial" charset="0"/>
                </a:rPr>
                <a:t>Memory</a:t>
              </a:r>
              <a:br>
                <a:rPr lang="en-US" altLang="zh-TW" dirty="0">
                  <a:solidFill>
                    <a:schemeClr val="tx1"/>
                  </a:solidFill>
                  <a:ea typeface="Arial" charset="0"/>
                  <a:cs typeface="Arial" charset="0"/>
                </a:rPr>
              </a:br>
              <a:r>
                <a:rPr lang="en-US" altLang="zh-TW" dirty="0">
                  <a:solidFill>
                    <a:schemeClr val="tx1"/>
                  </a:solidFill>
                  <a:ea typeface="Arial" charset="0"/>
                  <a:cs typeface="Arial" charset="0"/>
                </a:rPr>
                <a:t>(e.g., DRAM, NVM)</a:t>
              </a:r>
              <a:endParaRPr lang="en-US" dirty="0">
                <a:solidFill>
                  <a:schemeClr val="tx1"/>
                </a:solidFill>
                <a:ea typeface="Arial" charset="0"/>
                <a:cs typeface="Arial" charset="0"/>
              </a:endParaRPr>
            </a:p>
          </p:txBody>
        </p:sp>
      </p:grpSp>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t>Computer Organization</a:t>
            </a:r>
            <a:endParaRPr kumimoji="1" lang="zh-TW" altLang="en-US" sz="4000" dirty="0">
              <a:latin typeface="+mn-lt"/>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6</a:t>
            </a:fld>
            <a:endParaRPr lang="zh-TW" altLang="en-US" dirty="0"/>
          </a:p>
        </p:txBody>
      </p:sp>
      <p:grpSp>
        <p:nvGrpSpPr>
          <p:cNvPr id="76" name="群組 75">
            <a:extLst>
              <a:ext uri="{FF2B5EF4-FFF2-40B4-BE49-F238E27FC236}">
                <a16:creationId xmlns:a16="http://schemas.microsoft.com/office/drawing/2014/main" id="{1386C468-D174-2975-FEDC-93926D58474B}"/>
              </a:ext>
            </a:extLst>
          </p:cNvPr>
          <p:cNvGrpSpPr/>
          <p:nvPr/>
        </p:nvGrpSpPr>
        <p:grpSpPr>
          <a:xfrm>
            <a:off x="8740834" y="3980571"/>
            <a:ext cx="0" cy="1703108"/>
            <a:chOff x="8740834" y="3980571"/>
            <a:chExt cx="0" cy="1703108"/>
          </a:xfrm>
        </p:grpSpPr>
        <p:cxnSp>
          <p:nvCxnSpPr>
            <p:cNvPr id="45" name="Straight Arrow Connector 46">
              <a:extLst>
                <a:ext uri="{FF2B5EF4-FFF2-40B4-BE49-F238E27FC236}">
                  <a16:creationId xmlns:a16="http://schemas.microsoft.com/office/drawing/2014/main" id="{0E139E71-8E6A-6E07-51D7-F3AA2BA986A8}"/>
                </a:ext>
              </a:extLst>
            </p:cNvPr>
            <p:cNvCxnSpPr>
              <a:cxnSpLocks/>
            </p:cNvCxnSpPr>
            <p:nvPr/>
          </p:nvCxnSpPr>
          <p:spPr>
            <a:xfrm flipV="1">
              <a:off x="8740834" y="4998174"/>
              <a:ext cx="0" cy="685505"/>
            </a:xfrm>
            <a:prstGeom prst="straightConnector1">
              <a:avLst/>
            </a:prstGeom>
            <a:ln w="444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6">
              <a:extLst>
                <a:ext uri="{FF2B5EF4-FFF2-40B4-BE49-F238E27FC236}">
                  <a16:creationId xmlns:a16="http://schemas.microsoft.com/office/drawing/2014/main" id="{59CB84A3-6235-2074-3BE7-6A86181F7131}"/>
                </a:ext>
              </a:extLst>
            </p:cNvPr>
            <p:cNvCxnSpPr>
              <a:cxnSpLocks/>
            </p:cNvCxnSpPr>
            <p:nvPr/>
          </p:nvCxnSpPr>
          <p:spPr>
            <a:xfrm flipV="1">
              <a:off x="8740834" y="3980571"/>
              <a:ext cx="0" cy="351682"/>
            </a:xfrm>
            <a:prstGeom prst="straightConnector1">
              <a:avLst/>
            </a:prstGeom>
            <a:ln w="444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74" name="群組 73">
            <a:extLst>
              <a:ext uri="{FF2B5EF4-FFF2-40B4-BE49-F238E27FC236}">
                <a16:creationId xmlns:a16="http://schemas.microsoft.com/office/drawing/2014/main" id="{79DA59EB-FD0D-37A6-387C-D9DA5A9D880A}"/>
              </a:ext>
            </a:extLst>
          </p:cNvPr>
          <p:cNvGrpSpPr/>
          <p:nvPr/>
        </p:nvGrpSpPr>
        <p:grpSpPr>
          <a:xfrm>
            <a:off x="7603035" y="3288421"/>
            <a:ext cx="2178787" cy="620896"/>
            <a:chOff x="7603035" y="3288421"/>
            <a:chExt cx="2178787" cy="620896"/>
          </a:xfrm>
        </p:grpSpPr>
        <p:sp>
          <p:nvSpPr>
            <p:cNvPr id="50" name="Rectangle 49">
              <a:extLst>
                <a:ext uri="{FF2B5EF4-FFF2-40B4-BE49-F238E27FC236}">
                  <a16:creationId xmlns:a16="http://schemas.microsoft.com/office/drawing/2014/main" id="{59B4657C-5636-5463-BE91-5251ACCCB381}"/>
                </a:ext>
              </a:extLst>
            </p:cNvPr>
            <p:cNvSpPr/>
            <p:nvPr/>
          </p:nvSpPr>
          <p:spPr>
            <a:xfrm>
              <a:off x="7603035" y="3288421"/>
              <a:ext cx="1204625" cy="62089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algn="ctr"/>
              <a:r>
                <a:rPr lang="en-US" altLang="zh-TW" sz="1600" dirty="0">
                  <a:solidFill>
                    <a:schemeClr val="tx1"/>
                  </a:solidFill>
                  <a:ea typeface="Arial" charset="0"/>
                  <a:cs typeface="Arial" charset="0"/>
                </a:rPr>
                <a:t>Control Unit </a:t>
              </a:r>
            </a:p>
          </p:txBody>
        </p:sp>
        <p:sp>
          <p:nvSpPr>
            <p:cNvPr id="51" name="Rectangle 49">
              <a:extLst>
                <a:ext uri="{FF2B5EF4-FFF2-40B4-BE49-F238E27FC236}">
                  <a16:creationId xmlns:a16="http://schemas.microsoft.com/office/drawing/2014/main" id="{B9AD594A-A45F-B2D5-E5A5-841A10828CE3}"/>
                </a:ext>
              </a:extLst>
            </p:cNvPr>
            <p:cNvSpPr/>
            <p:nvPr/>
          </p:nvSpPr>
          <p:spPr>
            <a:xfrm>
              <a:off x="8914343" y="3288421"/>
              <a:ext cx="867479" cy="62089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600" dirty="0">
                  <a:solidFill>
                    <a:schemeClr val="tx1"/>
                  </a:solidFill>
                  <a:ea typeface="Arial" charset="0"/>
                  <a:cs typeface="Arial" charset="0"/>
                </a:rPr>
                <a:t>ALU</a:t>
              </a:r>
            </a:p>
          </p:txBody>
        </p:sp>
      </p:grpSp>
      <p:sp>
        <p:nvSpPr>
          <p:cNvPr id="55" name="Rectangle 49">
            <a:extLst>
              <a:ext uri="{FF2B5EF4-FFF2-40B4-BE49-F238E27FC236}">
                <a16:creationId xmlns:a16="http://schemas.microsoft.com/office/drawing/2014/main" id="{69008DEE-897D-F751-3EE3-290AEA958E88}"/>
              </a:ext>
            </a:extLst>
          </p:cNvPr>
          <p:cNvSpPr/>
          <p:nvPr/>
        </p:nvSpPr>
        <p:spPr>
          <a:xfrm>
            <a:off x="7946051" y="3586521"/>
            <a:ext cx="518591" cy="284921"/>
          </a:xfrm>
          <a:prstGeom prst="rect">
            <a:avLst/>
          </a:prstGeom>
          <a:solidFill>
            <a:schemeClr val="accent4">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ea typeface="Arial" charset="0"/>
                <a:cs typeface="Arial" charset="0"/>
              </a:rPr>
              <a:t>PC</a:t>
            </a:r>
          </a:p>
        </p:txBody>
      </p:sp>
      <p:grpSp>
        <p:nvGrpSpPr>
          <p:cNvPr id="75" name="群組 74">
            <a:extLst>
              <a:ext uri="{FF2B5EF4-FFF2-40B4-BE49-F238E27FC236}">
                <a16:creationId xmlns:a16="http://schemas.microsoft.com/office/drawing/2014/main" id="{C61D87A2-DB81-C10D-8D8C-4F2C1D8685EA}"/>
              </a:ext>
            </a:extLst>
          </p:cNvPr>
          <p:cNvGrpSpPr/>
          <p:nvPr/>
        </p:nvGrpSpPr>
        <p:grpSpPr>
          <a:xfrm>
            <a:off x="9908393" y="2876399"/>
            <a:ext cx="2200912" cy="3398668"/>
            <a:chOff x="9919968" y="2876399"/>
            <a:chExt cx="2200912" cy="3398668"/>
          </a:xfrm>
        </p:grpSpPr>
        <p:sp>
          <p:nvSpPr>
            <p:cNvPr id="14" name="矩形 13">
              <a:extLst>
                <a:ext uri="{FF2B5EF4-FFF2-40B4-BE49-F238E27FC236}">
                  <a16:creationId xmlns:a16="http://schemas.microsoft.com/office/drawing/2014/main" id="{51DEA948-F681-935C-A4B6-690D3BA7B70A}"/>
                </a:ext>
              </a:extLst>
            </p:cNvPr>
            <p:cNvSpPr/>
            <p:nvPr/>
          </p:nvSpPr>
          <p:spPr>
            <a:xfrm>
              <a:off x="10454639" y="2876399"/>
              <a:ext cx="1666241" cy="3398668"/>
            </a:xfrm>
            <a:prstGeom prst="rect">
              <a:avLst/>
            </a:prstGeom>
            <a:solidFill>
              <a:schemeClr val="accent2">
                <a:lumMod val="20000"/>
                <a:lumOff val="8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不規則四邊形 15">
              <a:extLst>
                <a:ext uri="{FF2B5EF4-FFF2-40B4-BE49-F238E27FC236}">
                  <a16:creationId xmlns:a16="http://schemas.microsoft.com/office/drawing/2014/main" id="{91F2BF6B-F30A-09EF-4615-6C5BA11AEE69}"/>
                </a:ext>
              </a:extLst>
            </p:cNvPr>
            <p:cNvSpPr/>
            <p:nvPr/>
          </p:nvSpPr>
          <p:spPr>
            <a:xfrm rot="16200000">
              <a:off x="8487971" y="4308398"/>
              <a:ext cx="3398666" cy="534671"/>
            </a:xfrm>
            <a:custGeom>
              <a:avLst/>
              <a:gdLst>
                <a:gd name="connsiteX0" fmla="*/ 0 w 3398666"/>
                <a:gd name="connsiteY0" fmla="*/ 749163 h 749163"/>
                <a:gd name="connsiteX1" fmla="*/ 1387989 w 3398666"/>
                <a:gd name="connsiteY1" fmla="*/ 0 h 749163"/>
                <a:gd name="connsiteX2" fmla="*/ 2010677 w 3398666"/>
                <a:gd name="connsiteY2" fmla="*/ 0 h 749163"/>
                <a:gd name="connsiteX3" fmla="*/ 3398666 w 3398666"/>
                <a:gd name="connsiteY3" fmla="*/ 749163 h 749163"/>
                <a:gd name="connsiteX4" fmla="*/ 0 w 3398666"/>
                <a:gd name="connsiteY4" fmla="*/ 749163 h 749163"/>
                <a:gd name="connsiteX0" fmla="*/ 0 w 3398666"/>
                <a:gd name="connsiteY0" fmla="*/ 749163 h 749163"/>
                <a:gd name="connsiteX1" fmla="*/ 1276229 w 3398666"/>
                <a:gd name="connsiteY1" fmla="*/ 20323 h 749163"/>
                <a:gd name="connsiteX2" fmla="*/ 2010677 w 3398666"/>
                <a:gd name="connsiteY2" fmla="*/ 0 h 749163"/>
                <a:gd name="connsiteX3" fmla="*/ 3398666 w 3398666"/>
                <a:gd name="connsiteY3" fmla="*/ 749163 h 749163"/>
                <a:gd name="connsiteX4" fmla="*/ 0 w 3398666"/>
                <a:gd name="connsiteY4" fmla="*/ 749163 h 749163"/>
                <a:gd name="connsiteX0" fmla="*/ 0 w 3398666"/>
                <a:gd name="connsiteY0" fmla="*/ 754240 h 754240"/>
                <a:gd name="connsiteX1" fmla="*/ 1276229 w 3398666"/>
                <a:gd name="connsiteY1" fmla="*/ 25400 h 754240"/>
                <a:gd name="connsiteX2" fmla="*/ 1949717 w 3398666"/>
                <a:gd name="connsiteY2" fmla="*/ 0 h 754240"/>
                <a:gd name="connsiteX3" fmla="*/ 3398666 w 3398666"/>
                <a:gd name="connsiteY3" fmla="*/ 754240 h 754240"/>
                <a:gd name="connsiteX4" fmla="*/ 0 w 3398666"/>
                <a:gd name="connsiteY4" fmla="*/ 754240 h 754240"/>
                <a:gd name="connsiteX0" fmla="*/ 0 w 3398666"/>
                <a:gd name="connsiteY0" fmla="*/ 754240 h 754240"/>
                <a:gd name="connsiteX1" fmla="*/ 1276229 w 3398666"/>
                <a:gd name="connsiteY1" fmla="*/ 5080 h 754240"/>
                <a:gd name="connsiteX2" fmla="*/ 1949717 w 3398666"/>
                <a:gd name="connsiteY2" fmla="*/ 0 h 754240"/>
                <a:gd name="connsiteX3" fmla="*/ 3398666 w 3398666"/>
                <a:gd name="connsiteY3" fmla="*/ 754240 h 754240"/>
                <a:gd name="connsiteX4" fmla="*/ 0 w 3398666"/>
                <a:gd name="connsiteY4" fmla="*/ 754240 h 754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8666" h="754240">
                  <a:moveTo>
                    <a:pt x="0" y="754240"/>
                  </a:moveTo>
                  <a:lnTo>
                    <a:pt x="1276229" y="5080"/>
                  </a:lnTo>
                  <a:lnTo>
                    <a:pt x="1949717" y="0"/>
                  </a:lnTo>
                  <a:lnTo>
                    <a:pt x="3398666" y="754240"/>
                  </a:lnTo>
                  <a:lnTo>
                    <a:pt x="0" y="754240"/>
                  </a:lnTo>
                  <a:close/>
                </a:path>
              </a:pathLst>
            </a:custGeom>
            <a:gradFill flip="none" rotWithShape="1">
              <a:gsLst>
                <a:gs pos="0">
                  <a:schemeClr val="accent2">
                    <a:lumMod val="20000"/>
                    <a:lumOff val="80000"/>
                    <a:alpha val="85000"/>
                  </a:schemeClr>
                </a:gs>
                <a:gs pos="35000">
                  <a:schemeClr val="accent2">
                    <a:lumMod val="40000"/>
                    <a:lumOff val="60000"/>
                  </a:schemeClr>
                </a:gs>
                <a:gs pos="100000">
                  <a:schemeClr val="accent2">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4" name="矩形 53">
              <a:extLst>
                <a:ext uri="{FF2B5EF4-FFF2-40B4-BE49-F238E27FC236}">
                  <a16:creationId xmlns:a16="http://schemas.microsoft.com/office/drawing/2014/main" id="{302E35A2-6C4F-FB8D-65BD-420F8FEDE636}"/>
                </a:ext>
              </a:extLst>
            </p:cNvPr>
            <p:cNvSpPr/>
            <p:nvPr/>
          </p:nvSpPr>
          <p:spPr>
            <a:xfrm>
              <a:off x="11005671" y="3070778"/>
              <a:ext cx="969106" cy="290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 name="矩形 55">
              <a:extLst>
                <a:ext uri="{FF2B5EF4-FFF2-40B4-BE49-F238E27FC236}">
                  <a16:creationId xmlns:a16="http://schemas.microsoft.com/office/drawing/2014/main" id="{20B51063-E99A-E3DA-4195-57844AAF4065}"/>
                </a:ext>
              </a:extLst>
            </p:cNvPr>
            <p:cNvSpPr/>
            <p:nvPr/>
          </p:nvSpPr>
          <p:spPr>
            <a:xfrm>
              <a:off x="11005671" y="3361771"/>
              <a:ext cx="969106" cy="290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Inst 1</a:t>
              </a:r>
              <a:endParaRPr kumimoji="1" lang="zh-TW" altLang="en-US" dirty="0">
                <a:solidFill>
                  <a:schemeClr val="tx1"/>
                </a:solidFill>
              </a:endParaRPr>
            </a:p>
          </p:txBody>
        </p:sp>
        <p:sp>
          <p:nvSpPr>
            <p:cNvPr id="57" name="矩形 56">
              <a:extLst>
                <a:ext uri="{FF2B5EF4-FFF2-40B4-BE49-F238E27FC236}">
                  <a16:creationId xmlns:a16="http://schemas.microsoft.com/office/drawing/2014/main" id="{E1006D33-AA28-32BB-CC4F-9FBA6FDAA3BA}"/>
                </a:ext>
              </a:extLst>
            </p:cNvPr>
            <p:cNvSpPr/>
            <p:nvPr/>
          </p:nvSpPr>
          <p:spPr>
            <a:xfrm>
              <a:off x="11005671" y="3652764"/>
              <a:ext cx="969106" cy="290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Inst 2</a:t>
              </a:r>
              <a:endParaRPr kumimoji="1" lang="zh-TW" altLang="en-US" dirty="0">
                <a:solidFill>
                  <a:schemeClr val="tx1"/>
                </a:solidFill>
              </a:endParaRPr>
            </a:p>
          </p:txBody>
        </p:sp>
        <p:sp>
          <p:nvSpPr>
            <p:cNvPr id="58" name="矩形 57">
              <a:extLst>
                <a:ext uri="{FF2B5EF4-FFF2-40B4-BE49-F238E27FC236}">
                  <a16:creationId xmlns:a16="http://schemas.microsoft.com/office/drawing/2014/main" id="{9A207715-5B43-9597-3909-60E11DBADAA7}"/>
                </a:ext>
              </a:extLst>
            </p:cNvPr>
            <p:cNvSpPr/>
            <p:nvPr/>
          </p:nvSpPr>
          <p:spPr>
            <a:xfrm>
              <a:off x="11005670" y="3943757"/>
              <a:ext cx="969106" cy="290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Inst 3</a:t>
              </a:r>
              <a:endParaRPr kumimoji="1" lang="zh-TW" altLang="en-US" dirty="0">
                <a:solidFill>
                  <a:schemeClr val="tx1"/>
                </a:solidFill>
              </a:endParaRPr>
            </a:p>
          </p:txBody>
        </p:sp>
        <p:sp>
          <p:nvSpPr>
            <p:cNvPr id="59" name="矩形 58">
              <a:extLst>
                <a:ext uri="{FF2B5EF4-FFF2-40B4-BE49-F238E27FC236}">
                  <a16:creationId xmlns:a16="http://schemas.microsoft.com/office/drawing/2014/main" id="{F5A1F565-33CB-4CBE-985F-8F8176DA6149}"/>
                </a:ext>
              </a:extLst>
            </p:cNvPr>
            <p:cNvSpPr/>
            <p:nvPr/>
          </p:nvSpPr>
          <p:spPr>
            <a:xfrm>
              <a:off x="11005669" y="4234750"/>
              <a:ext cx="969106" cy="290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2" name="矩形 61">
              <a:extLst>
                <a:ext uri="{FF2B5EF4-FFF2-40B4-BE49-F238E27FC236}">
                  <a16:creationId xmlns:a16="http://schemas.microsoft.com/office/drawing/2014/main" id="{664F0DAB-3EDF-15DD-7CAE-ECFD2CE78C5C}"/>
                </a:ext>
              </a:extLst>
            </p:cNvPr>
            <p:cNvSpPr/>
            <p:nvPr/>
          </p:nvSpPr>
          <p:spPr>
            <a:xfrm>
              <a:off x="11005670" y="5421361"/>
              <a:ext cx="969106" cy="290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3" name="矩形 62">
              <a:extLst>
                <a:ext uri="{FF2B5EF4-FFF2-40B4-BE49-F238E27FC236}">
                  <a16:creationId xmlns:a16="http://schemas.microsoft.com/office/drawing/2014/main" id="{A7E75068-98E0-028F-6BA3-E8D8AB4D5E65}"/>
                </a:ext>
              </a:extLst>
            </p:cNvPr>
            <p:cNvSpPr/>
            <p:nvPr/>
          </p:nvSpPr>
          <p:spPr>
            <a:xfrm>
              <a:off x="11005669" y="5712354"/>
              <a:ext cx="969106" cy="2909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4" name="文字方塊 63">
              <a:extLst>
                <a:ext uri="{FF2B5EF4-FFF2-40B4-BE49-F238E27FC236}">
                  <a16:creationId xmlns:a16="http://schemas.microsoft.com/office/drawing/2014/main" id="{83750E0E-59D8-34CC-504F-275DAAAAC310}"/>
                </a:ext>
              </a:extLst>
            </p:cNvPr>
            <p:cNvSpPr txBox="1"/>
            <p:nvPr/>
          </p:nvSpPr>
          <p:spPr>
            <a:xfrm>
              <a:off x="11369035" y="4462828"/>
              <a:ext cx="242374" cy="923330"/>
            </a:xfrm>
            <a:prstGeom prst="rect">
              <a:avLst/>
            </a:prstGeom>
            <a:noFill/>
          </p:spPr>
          <p:txBody>
            <a:bodyPr wrap="none" rtlCol="0">
              <a:spAutoFit/>
            </a:bodyPr>
            <a:lstStyle/>
            <a:p>
              <a:r>
                <a:rPr kumimoji="1" lang="en-US" altLang="zh-TW" dirty="0"/>
                <a:t>.</a:t>
              </a:r>
            </a:p>
            <a:p>
              <a:r>
                <a:rPr kumimoji="1" lang="en-US" altLang="zh-TW" dirty="0"/>
                <a:t>.</a:t>
              </a:r>
            </a:p>
            <a:p>
              <a:r>
                <a:rPr kumimoji="1" lang="en-US" altLang="zh-TW" dirty="0"/>
                <a:t>.</a:t>
              </a:r>
              <a:endParaRPr kumimoji="1" lang="zh-TW" altLang="en-US" dirty="0"/>
            </a:p>
          </p:txBody>
        </p:sp>
        <p:sp>
          <p:nvSpPr>
            <p:cNvPr id="65" name="矩形 64">
              <a:extLst>
                <a:ext uri="{FF2B5EF4-FFF2-40B4-BE49-F238E27FC236}">
                  <a16:creationId xmlns:a16="http://schemas.microsoft.com/office/drawing/2014/main" id="{07A64834-B770-364D-0DBC-503D640F55DB}"/>
                </a:ext>
              </a:extLst>
            </p:cNvPr>
            <p:cNvSpPr/>
            <p:nvPr/>
          </p:nvSpPr>
          <p:spPr>
            <a:xfrm>
              <a:off x="11005669" y="4526992"/>
              <a:ext cx="969106" cy="89436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grpSp>
        <p:nvGrpSpPr>
          <p:cNvPr id="70" name="群組 69">
            <a:extLst>
              <a:ext uri="{FF2B5EF4-FFF2-40B4-BE49-F238E27FC236}">
                <a16:creationId xmlns:a16="http://schemas.microsoft.com/office/drawing/2014/main" id="{167EF601-5595-961F-3D3E-F72D280D070B}"/>
              </a:ext>
            </a:extLst>
          </p:cNvPr>
          <p:cNvGrpSpPr/>
          <p:nvPr/>
        </p:nvGrpSpPr>
        <p:grpSpPr>
          <a:xfrm>
            <a:off x="10413053" y="3333487"/>
            <a:ext cx="586740" cy="369332"/>
            <a:chOff x="10413053" y="3333487"/>
            <a:chExt cx="586740" cy="369332"/>
          </a:xfrm>
        </p:grpSpPr>
        <p:sp>
          <p:nvSpPr>
            <p:cNvPr id="60" name="文字方塊 59">
              <a:extLst>
                <a:ext uri="{FF2B5EF4-FFF2-40B4-BE49-F238E27FC236}">
                  <a16:creationId xmlns:a16="http://schemas.microsoft.com/office/drawing/2014/main" id="{EF6101B4-2AFB-A9E1-8201-162ADD6752B6}"/>
                </a:ext>
              </a:extLst>
            </p:cNvPr>
            <p:cNvSpPr txBox="1"/>
            <p:nvPr/>
          </p:nvSpPr>
          <p:spPr>
            <a:xfrm>
              <a:off x="10413053" y="3333487"/>
              <a:ext cx="426720" cy="369332"/>
            </a:xfrm>
            <a:prstGeom prst="rect">
              <a:avLst/>
            </a:prstGeom>
            <a:noFill/>
          </p:spPr>
          <p:txBody>
            <a:bodyPr wrap="none" rtlCol="0">
              <a:spAutoFit/>
            </a:bodyPr>
            <a:lstStyle/>
            <a:p>
              <a:r>
                <a:rPr kumimoji="1" lang="en-US" altLang="zh-TW" b="1" dirty="0"/>
                <a:t>PC</a:t>
              </a:r>
              <a:endParaRPr kumimoji="1" lang="zh-TW" altLang="en-US" b="1" dirty="0"/>
            </a:p>
          </p:txBody>
        </p:sp>
        <p:cxnSp>
          <p:nvCxnSpPr>
            <p:cNvPr id="67" name="直線箭頭接點 66">
              <a:extLst>
                <a:ext uri="{FF2B5EF4-FFF2-40B4-BE49-F238E27FC236}">
                  <a16:creationId xmlns:a16="http://schemas.microsoft.com/office/drawing/2014/main" id="{6C4CD1C1-2DE0-17C7-3754-C4CA7B914B92}"/>
                </a:ext>
              </a:extLst>
            </p:cNvPr>
            <p:cNvCxnSpPr>
              <a:cxnSpLocks/>
            </p:cNvCxnSpPr>
            <p:nvPr/>
          </p:nvCxnSpPr>
          <p:spPr>
            <a:xfrm>
              <a:off x="10786070" y="3518153"/>
              <a:ext cx="21372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1" name="文字方塊 70">
            <a:extLst>
              <a:ext uri="{FF2B5EF4-FFF2-40B4-BE49-F238E27FC236}">
                <a16:creationId xmlns:a16="http://schemas.microsoft.com/office/drawing/2014/main" id="{2AF42932-32A4-F774-A2C5-5B6B8DC72CF2}"/>
              </a:ext>
            </a:extLst>
          </p:cNvPr>
          <p:cNvSpPr txBox="1"/>
          <p:nvPr/>
        </p:nvSpPr>
        <p:spPr>
          <a:xfrm>
            <a:off x="9216758" y="6426629"/>
            <a:ext cx="2906565" cy="369332"/>
          </a:xfrm>
          <a:prstGeom prst="rect">
            <a:avLst/>
          </a:prstGeom>
          <a:noFill/>
        </p:spPr>
        <p:txBody>
          <a:bodyPr wrap="none" rtlCol="0">
            <a:spAutoFit/>
          </a:bodyPr>
          <a:lstStyle/>
          <a:p>
            <a:r>
              <a:rPr kumimoji="1" lang="en-US" altLang="zh-TW" b="1" i="1" dirty="0">
                <a:solidFill>
                  <a:srgbClr val="C00000"/>
                </a:solidFill>
              </a:rPr>
              <a:t>CPU only does routine work!</a:t>
            </a:r>
            <a:endParaRPr kumimoji="1" lang="zh-TW" altLang="en-US" b="1" i="1" dirty="0">
              <a:solidFill>
                <a:srgbClr val="C00000"/>
              </a:solidFill>
            </a:endParaRPr>
          </a:p>
        </p:txBody>
      </p:sp>
      <p:grpSp>
        <p:nvGrpSpPr>
          <p:cNvPr id="77" name="群組 76">
            <a:extLst>
              <a:ext uri="{FF2B5EF4-FFF2-40B4-BE49-F238E27FC236}">
                <a16:creationId xmlns:a16="http://schemas.microsoft.com/office/drawing/2014/main" id="{F3A3388B-6959-1DFE-03B1-82B96D72762B}"/>
              </a:ext>
            </a:extLst>
          </p:cNvPr>
          <p:cNvGrpSpPr/>
          <p:nvPr/>
        </p:nvGrpSpPr>
        <p:grpSpPr>
          <a:xfrm>
            <a:off x="10407354" y="3658696"/>
            <a:ext cx="586740" cy="369332"/>
            <a:chOff x="10413053" y="3333487"/>
            <a:chExt cx="586740" cy="369332"/>
          </a:xfrm>
        </p:grpSpPr>
        <p:sp>
          <p:nvSpPr>
            <p:cNvPr id="78" name="文字方塊 77">
              <a:extLst>
                <a:ext uri="{FF2B5EF4-FFF2-40B4-BE49-F238E27FC236}">
                  <a16:creationId xmlns:a16="http://schemas.microsoft.com/office/drawing/2014/main" id="{501025E9-68EB-EF7C-6306-2EEC07572F16}"/>
                </a:ext>
              </a:extLst>
            </p:cNvPr>
            <p:cNvSpPr txBox="1"/>
            <p:nvPr/>
          </p:nvSpPr>
          <p:spPr>
            <a:xfrm>
              <a:off x="10413053" y="3333487"/>
              <a:ext cx="426720" cy="369332"/>
            </a:xfrm>
            <a:prstGeom prst="rect">
              <a:avLst/>
            </a:prstGeom>
            <a:noFill/>
          </p:spPr>
          <p:txBody>
            <a:bodyPr wrap="none" rtlCol="0">
              <a:spAutoFit/>
            </a:bodyPr>
            <a:lstStyle/>
            <a:p>
              <a:r>
                <a:rPr kumimoji="1" lang="en-US" altLang="zh-TW" b="1" dirty="0"/>
                <a:t>PC</a:t>
              </a:r>
              <a:endParaRPr kumimoji="1" lang="zh-TW" altLang="en-US" b="1" dirty="0"/>
            </a:p>
          </p:txBody>
        </p:sp>
        <p:cxnSp>
          <p:nvCxnSpPr>
            <p:cNvPr id="79" name="直線箭頭接點 78">
              <a:extLst>
                <a:ext uri="{FF2B5EF4-FFF2-40B4-BE49-F238E27FC236}">
                  <a16:creationId xmlns:a16="http://schemas.microsoft.com/office/drawing/2014/main" id="{17A1FDF0-8FC2-F837-17F9-F21C65A45BAC}"/>
                </a:ext>
              </a:extLst>
            </p:cNvPr>
            <p:cNvCxnSpPr>
              <a:cxnSpLocks/>
            </p:cNvCxnSpPr>
            <p:nvPr/>
          </p:nvCxnSpPr>
          <p:spPr>
            <a:xfrm>
              <a:off x="10786070" y="3518153"/>
              <a:ext cx="21372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3" name="文字方塊 82">
            <a:extLst>
              <a:ext uri="{FF2B5EF4-FFF2-40B4-BE49-F238E27FC236}">
                <a16:creationId xmlns:a16="http://schemas.microsoft.com/office/drawing/2014/main" id="{7AE4FC7C-5DB0-91A5-4F17-775310417726}"/>
              </a:ext>
            </a:extLst>
          </p:cNvPr>
          <p:cNvSpPr txBox="1"/>
          <p:nvPr/>
        </p:nvSpPr>
        <p:spPr>
          <a:xfrm>
            <a:off x="944603" y="5421360"/>
            <a:ext cx="2289345" cy="369332"/>
          </a:xfrm>
          <a:prstGeom prst="rect">
            <a:avLst/>
          </a:prstGeom>
          <a:noFill/>
        </p:spPr>
        <p:txBody>
          <a:bodyPr wrap="none" rtlCol="0">
            <a:spAutoFit/>
          </a:bodyPr>
          <a:lstStyle/>
          <a:p>
            <a:r>
              <a:rPr kumimoji="1" lang="en-US" altLang="zh-TW" b="1" i="1" dirty="0">
                <a:solidFill>
                  <a:srgbClr val="C00000"/>
                </a:solidFill>
              </a:rPr>
              <a:t>Sol: Process Scheduler</a:t>
            </a:r>
            <a:endParaRPr kumimoji="1" lang="zh-TW" altLang="en-US" b="1" i="1" dirty="0">
              <a:solidFill>
                <a:srgbClr val="C00000"/>
              </a:solidFill>
            </a:endParaRPr>
          </a:p>
        </p:txBody>
      </p:sp>
      <p:sp>
        <p:nvSpPr>
          <p:cNvPr id="84" name="文字方塊 83">
            <a:extLst>
              <a:ext uri="{FF2B5EF4-FFF2-40B4-BE49-F238E27FC236}">
                <a16:creationId xmlns:a16="http://schemas.microsoft.com/office/drawing/2014/main" id="{3227CCF8-2632-2FE1-EF57-2D9DA2259809}"/>
              </a:ext>
            </a:extLst>
          </p:cNvPr>
          <p:cNvSpPr txBox="1"/>
          <p:nvPr/>
        </p:nvSpPr>
        <p:spPr>
          <a:xfrm>
            <a:off x="944603" y="6057297"/>
            <a:ext cx="4098494" cy="369332"/>
          </a:xfrm>
          <a:prstGeom prst="rect">
            <a:avLst/>
          </a:prstGeom>
          <a:noFill/>
        </p:spPr>
        <p:txBody>
          <a:bodyPr wrap="none" rtlCol="0">
            <a:spAutoFit/>
          </a:bodyPr>
          <a:lstStyle/>
          <a:p>
            <a:r>
              <a:rPr kumimoji="1" lang="en-US" altLang="zh-TW" b="1" i="1" dirty="0">
                <a:solidFill>
                  <a:srgbClr val="C00000"/>
                </a:solidFill>
              </a:rPr>
              <a:t>Sol: Page Fault Handler &amp; Context Switch</a:t>
            </a:r>
            <a:endParaRPr kumimoji="1" lang="zh-TW" altLang="en-US" b="1" i="1" dirty="0">
              <a:solidFill>
                <a:srgbClr val="C00000"/>
              </a:solidFill>
            </a:endParaRPr>
          </a:p>
        </p:txBody>
      </p:sp>
      <p:sp>
        <p:nvSpPr>
          <p:cNvPr id="85" name="文字方塊 84">
            <a:extLst>
              <a:ext uri="{FF2B5EF4-FFF2-40B4-BE49-F238E27FC236}">
                <a16:creationId xmlns:a16="http://schemas.microsoft.com/office/drawing/2014/main" id="{5DA5FC97-3433-CCB1-425A-E4811FD5C1E1}"/>
              </a:ext>
            </a:extLst>
          </p:cNvPr>
          <p:cNvSpPr txBox="1"/>
          <p:nvPr/>
        </p:nvSpPr>
        <p:spPr>
          <a:xfrm>
            <a:off x="944603" y="6535309"/>
            <a:ext cx="3189912" cy="369332"/>
          </a:xfrm>
          <a:prstGeom prst="rect">
            <a:avLst/>
          </a:prstGeom>
          <a:noFill/>
        </p:spPr>
        <p:txBody>
          <a:bodyPr wrap="none" rtlCol="0">
            <a:spAutoFit/>
          </a:bodyPr>
          <a:lstStyle/>
          <a:p>
            <a:r>
              <a:rPr kumimoji="1" lang="en-US" altLang="zh-TW" b="1" i="1" dirty="0">
                <a:solidFill>
                  <a:srgbClr val="C00000"/>
                </a:solidFill>
              </a:rPr>
              <a:t>Sol: Device Driver &amp; File System</a:t>
            </a:r>
            <a:endParaRPr kumimoji="1" lang="zh-TW" altLang="en-US" b="1" i="1" dirty="0">
              <a:solidFill>
                <a:srgbClr val="C00000"/>
              </a:solidFill>
            </a:endParaRPr>
          </a:p>
        </p:txBody>
      </p:sp>
    </p:spTree>
    <p:extLst>
      <p:ext uri="{BB962C8B-B14F-4D97-AF65-F5344CB8AC3E}">
        <p14:creationId xmlns:p14="http://schemas.microsoft.com/office/powerpoint/2010/main" val="66928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4"/>
                                        </p:tgtEl>
                                        <p:attrNameLst>
                                          <p:attrName>style.visibility</p:attrName>
                                        </p:attrNameLst>
                                      </p:cBhvr>
                                      <p:to>
                                        <p:strVal val="visible"/>
                                      </p:to>
                                    </p:set>
                                    <p:animEffect transition="in" filter="fade">
                                      <p:cBhvr>
                                        <p:cTn id="10" dur="500"/>
                                        <p:tgtEl>
                                          <p:spTgt spid="74"/>
                                        </p:tgtEl>
                                      </p:cBhvr>
                                    </p:animEffect>
                                  </p:childTnLst>
                                </p:cTn>
                              </p:par>
                              <p:par>
                                <p:cTn id="11" presetID="22" presetClass="entr" presetSubtype="4" fill="hold" nodeType="withEffect">
                                  <p:stCondLst>
                                    <p:cond delay="0"/>
                                  </p:stCondLst>
                                  <p:childTnLst>
                                    <p:set>
                                      <p:cBhvr>
                                        <p:cTn id="12" dur="1" fill="hold">
                                          <p:stCondLst>
                                            <p:cond delay="0"/>
                                          </p:stCondLst>
                                        </p:cTn>
                                        <p:tgtEl>
                                          <p:spTgt spid="76"/>
                                        </p:tgtEl>
                                        <p:attrNameLst>
                                          <p:attrName>style.visibility</p:attrName>
                                        </p:attrNameLst>
                                      </p:cBhvr>
                                      <p:to>
                                        <p:strVal val="visible"/>
                                      </p:to>
                                    </p:set>
                                    <p:animEffect transition="in" filter="wipe(down)">
                                      <p:cBhvr>
                                        <p:cTn id="13" dur="500"/>
                                        <p:tgtEl>
                                          <p:spTgt spid="7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75"/>
                                        </p:tgtEl>
                                        <p:attrNameLst>
                                          <p:attrName>style.visibility</p:attrName>
                                        </p:attrNameLst>
                                      </p:cBhvr>
                                      <p:to>
                                        <p:strVal val="visible"/>
                                      </p:to>
                                    </p:set>
                                    <p:animEffect transition="in" filter="wipe(left)">
                                      <p:cBhvr>
                                        <p:cTn id="18" dur="500"/>
                                        <p:tgtEl>
                                          <p:spTgt spid="7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fade">
                                      <p:cBhvr>
                                        <p:cTn id="26" dur="500"/>
                                        <p:tgtEl>
                                          <p:spTgt spid="55"/>
                                        </p:tgtEl>
                                      </p:cBhvr>
                                    </p:animEffect>
                                  </p:childTnLst>
                                </p:cTn>
                              </p:par>
                              <p:par>
                                <p:cTn id="27" presetID="10" presetClass="entr" presetSubtype="0" fill="hold" nodeType="withEffect">
                                  <p:stCondLst>
                                    <p:cond delay="0"/>
                                  </p:stCondLst>
                                  <p:childTnLst>
                                    <p:set>
                                      <p:cBhvr>
                                        <p:cTn id="28" dur="1" fill="hold">
                                          <p:stCondLst>
                                            <p:cond delay="0"/>
                                          </p:stCondLst>
                                        </p:cTn>
                                        <p:tgtEl>
                                          <p:spTgt spid="70"/>
                                        </p:tgtEl>
                                        <p:attrNameLst>
                                          <p:attrName>style.visibility</p:attrName>
                                        </p:attrNameLst>
                                      </p:cBhvr>
                                      <p:to>
                                        <p:strVal val="visible"/>
                                      </p:to>
                                    </p:set>
                                    <p:animEffect transition="in" filter="fade">
                                      <p:cBhvr>
                                        <p:cTn id="29" dur="500"/>
                                        <p:tgtEl>
                                          <p:spTgt spid="7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500"/>
                                        <p:tgtEl>
                                          <p:spTgt spid="3">
                                            <p:txEl>
                                              <p:pRg st="5" end="5"/>
                                            </p:txEl>
                                          </p:spTgt>
                                        </p:tgtEl>
                                      </p:cBhvr>
                                    </p:animEffect>
                                  </p:childTnLst>
                                </p:cTn>
                              </p:par>
                              <p:par>
                                <p:cTn id="40" presetID="42" presetClass="path" presetSubtype="0" accel="50000" decel="50000" fill="hold" nodeType="withEffect">
                                  <p:stCondLst>
                                    <p:cond delay="0"/>
                                  </p:stCondLst>
                                  <p:childTnLst>
                                    <p:animMotion origin="layout" path="M -0.00039 -2.96296E-6 L 0.00027 0.04908 " pathEditMode="relative" rAng="0" ptsTypes="AA">
                                      <p:cBhvr>
                                        <p:cTn id="41" dur="2000" fill="hold"/>
                                        <p:tgtEl>
                                          <p:spTgt spid="70"/>
                                        </p:tgtEl>
                                        <p:attrNameLst>
                                          <p:attrName>ppt_x</p:attrName>
                                          <p:attrName>ppt_y</p:attrName>
                                        </p:attrNameLst>
                                      </p:cBhvr>
                                      <p:rCtr x="26" y="2454"/>
                                    </p:animMotion>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71"/>
                                        </p:tgtEl>
                                        <p:attrNameLst>
                                          <p:attrName>style.visibility</p:attrName>
                                        </p:attrNameLst>
                                      </p:cBhvr>
                                      <p:to>
                                        <p:strVal val="visible"/>
                                      </p:to>
                                    </p:set>
                                    <p:animEffect transition="in" filter="fade">
                                      <p:cBhvr>
                                        <p:cTn id="46" dur="500"/>
                                        <p:tgtEl>
                                          <p:spTgt spid="71"/>
                                        </p:tgtEl>
                                      </p:cBhvr>
                                    </p:animEffect>
                                  </p:childTnLst>
                                </p:cTn>
                              </p:par>
                              <p:par>
                                <p:cTn id="47" presetID="10" presetClass="entr" presetSubtype="0" fill="hold" nodeType="withEffect">
                                  <p:stCondLst>
                                    <p:cond delay="0"/>
                                  </p:stCondLst>
                                  <p:childTnLst>
                                    <p:set>
                                      <p:cBhvr>
                                        <p:cTn id="48" dur="1" fill="hold">
                                          <p:stCondLst>
                                            <p:cond delay="0"/>
                                          </p:stCondLst>
                                        </p:cTn>
                                        <p:tgtEl>
                                          <p:spTgt spid="77"/>
                                        </p:tgtEl>
                                        <p:attrNameLst>
                                          <p:attrName>style.visibility</p:attrName>
                                        </p:attrNameLst>
                                      </p:cBhvr>
                                      <p:to>
                                        <p:strVal val="visible"/>
                                      </p:to>
                                    </p:set>
                                    <p:animEffect transition="in" filter="fade">
                                      <p:cBhvr>
                                        <p:cTn id="49" dur="500"/>
                                        <p:tgtEl>
                                          <p:spTgt spid="77"/>
                                        </p:tgtEl>
                                      </p:cBhvr>
                                    </p:animEffect>
                                  </p:childTnLst>
                                </p:cTn>
                              </p:par>
                              <p:par>
                                <p:cTn id="50" presetID="42" presetClass="path" presetSubtype="0" accel="50000" decel="50000" fill="hold" nodeType="withEffect">
                                  <p:stCondLst>
                                    <p:cond delay="0"/>
                                  </p:stCondLst>
                                  <p:childTnLst>
                                    <p:animMotion origin="layout" path="M -0.00039 3.33333E-6 L -0.00078 0.03727 " pathEditMode="relative" rAng="0" ptsTypes="AA">
                                      <p:cBhvr>
                                        <p:cTn id="51" dur="2000" fill="hold"/>
                                        <p:tgtEl>
                                          <p:spTgt spid="77"/>
                                        </p:tgtEl>
                                        <p:attrNameLst>
                                          <p:attrName>ppt_x</p:attrName>
                                          <p:attrName>ppt_y</p:attrName>
                                        </p:attrNameLst>
                                      </p:cBhvr>
                                      <p:rCtr x="-26" y="1852"/>
                                    </p:animMotion>
                                  </p:childTnLst>
                                </p:cTn>
                              </p:par>
                              <p:par>
                                <p:cTn id="52" presetID="1" presetClass="exit" presetSubtype="0" fill="hold" nodeType="withEffect">
                                  <p:stCondLst>
                                    <p:cond delay="0"/>
                                  </p:stCondLst>
                                  <p:childTnLst>
                                    <p:set>
                                      <p:cBhvr>
                                        <p:cTn id="53" dur="1" fill="hold">
                                          <p:stCondLst>
                                            <p:cond delay="0"/>
                                          </p:stCondLst>
                                        </p:cTn>
                                        <p:tgtEl>
                                          <p:spTgt spid="70"/>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
                                            <p:txEl>
                                              <p:pRg st="6" end="6"/>
                                            </p:txEl>
                                          </p:spTgt>
                                        </p:tgtEl>
                                        <p:attrNameLst>
                                          <p:attrName>style.visibility</p:attrName>
                                        </p:attrNameLst>
                                      </p:cBhvr>
                                      <p:to>
                                        <p:strVal val="visible"/>
                                      </p:to>
                                    </p:set>
                                    <p:animEffect transition="in" filter="fade">
                                      <p:cBhvr>
                                        <p:cTn id="58" dur="500"/>
                                        <p:tgtEl>
                                          <p:spTgt spid="3">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Effect transition="in" filter="fade">
                                      <p:cBhvr>
                                        <p:cTn id="63" dur="500"/>
                                        <p:tgtEl>
                                          <p:spTgt spid="3">
                                            <p:txEl>
                                              <p:pRg st="7" end="7"/>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3">
                                            <p:txEl>
                                              <p:pRg st="8" end="8"/>
                                            </p:txEl>
                                          </p:spTgt>
                                        </p:tgtEl>
                                        <p:attrNameLst>
                                          <p:attrName>style.visibility</p:attrName>
                                        </p:attrNameLst>
                                      </p:cBhvr>
                                      <p:to>
                                        <p:strVal val="visible"/>
                                      </p:to>
                                    </p:set>
                                    <p:animEffect transition="in" filter="fade">
                                      <p:cBhvr>
                                        <p:cTn id="68" dur="500"/>
                                        <p:tgtEl>
                                          <p:spTgt spid="3">
                                            <p:txEl>
                                              <p:pRg st="8" end="8"/>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3">
                                            <p:txEl>
                                              <p:pRg st="9" end="9"/>
                                            </p:txEl>
                                          </p:spTgt>
                                        </p:tgtEl>
                                        <p:attrNameLst>
                                          <p:attrName>style.visibility</p:attrName>
                                        </p:attrNameLst>
                                      </p:cBhvr>
                                      <p:to>
                                        <p:strVal val="visible"/>
                                      </p:to>
                                    </p:set>
                                    <p:animEffect transition="in" filter="fade">
                                      <p:cBhvr>
                                        <p:cTn id="73" dur="500"/>
                                        <p:tgtEl>
                                          <p:spTgt spid="3">
                                            <p:txEl>
                                              <p:pRg st="9" end="9"/>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path" presetSubtype="0" accel="50000" decel="50000" fill="hold" nodeType="clickEffect">
                                  <p:stCondLst>
                                    <p:cond delay="0"/>
                                  </p:stCondLst>
                                  <p:childTnLst>
                                    <p:animMotion origin="layout" path="M -3.33333E-6 3.33333E-6 L -3.33333E-6 0.03703 " pathEditMode="relative" rAng="0" ptsTypes="AA">
                                      <p:cBhvr>
                                        <p:cTn id="77" dur="2000" fill="hold"/>
                                        <p:tgtEl>
                                          <p:spTgt spid="3">
                                            <p:txEl>
                                              <p:pRg st="8" end="8"/>
                                            </p:txEl>
                                          </p:spTgt>
                                        </p:tgtEl>
                                        <p:attrNameLst>
                                          <p:attrName>ppt_x</p:attrName>
                                          <p:attrName>ppt_y</p:attrName>
                                        </p:attrNameLst>
                                      </p:cBhvr>
                                      <p:rCtr x="0" y="1852"/>
                                    </p:animMotion>
                                  </p:childTnLst>
                                </p:cTn>
                              </p:par>
                              <p:par>
                                <p:cTn id="78" presetID="42" presetClass="path" presetSubtype="0" accel="50000" decel="50000" fill="hold" nodeType="withEffect">
                                  <p:stCondLst>
                                    <p:cond delay="0"/>
                                  </p:stCondLst>
                                  <p:childTnLst>
                                    <p:animMotion origin="layout" path="M 4.79167E-6 2.59259E-6 L -0.00066 0.06203 " pathEditMode="relative" rAng="0" ptsTypes="AA">
                                      <p:cBhvr>
                                        <p:cTn id="79" dur="2000" fill="hold"/>
                                        <p:tgtEl>
                                          <p:spTgt spid="3">
                                            <p:txEl>
                                              <p:pRg st="9" end="9"/>
                                            </p:txEl>
                                          </p:spTgt>
                                        </p:tgtEl>
                                        <p:attrNameLst>
                                          <p:attrName>ppt_x</p:attrName>
                                          <p:attrName>ppt_y</p:attrName>
                                        </p:attrNameLst>
                                      </p:cBhvr>
                                      <p:rCtr x="-39" y="3102"/>
                                    </p:animMotion>
                                  </p:childTnLst>
                                </p:cTn>
                              </p:par>
                            </p:childTnLst>
                          </p:cTn>
                        </p:par>
                        <p:par>
                          <p:cTn id="80" fill="hold">
                            <p:stCondLst>
                              <p:cond delay="2000"/>
                            </p:stCondLst>
                            <p:childTnLst>
                              <p:par>
                                <p:cTn id="81" presetID="10" presetClass="entr" presetSubtype="0" fill="hold" grpId="0" nodeType="afterEffect">
                                  <p:stCondLst>
                                    <p:cond delay="0"/>
                                  </p:stCondLst>
                                  <p:childTnLst>
                                    <p:set>
                                      <p:cBhvr>
                                        <p:cTn id="82" dur="1" fill="hold">
                                          <p:stCondLst>
                                            <p:cond delay="0"/>
                                          </p:stCondLst>
                                        </p:cTn>
                                        <p:tgtEl>
                                          <p:spTgt spid="83"/>
                                        </p:tgtEl>
                                        <p:attrNameLst>
                                          <p:attrName>style.visibility</p:attrName>
                                        </p:attrNameLst>
                                      </p:cBhvr>
                                      <p:to>
                                        <p:strVal val="visible"/>
                                      </p:to>
                                    </p:set>
                                    <p:animEffect transition="in" filter="fade">
                                      <p:cBhvr>
                                        <p:cTn id="83" dur="500"/>
                                        <p:tgtEl>
                                          <p:spTgt spid="8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84"/>
                                        </p:tgtEl>
                                        <p:attrNameLst>
                                          <p:attrName>style.visibility</p:attrName>
                                        </p:attrNameLst>
                                      </p:cBhvr>
                                      <p:to>
                                        <p:strVal val="visible"/>
                                      </p:to>
                                    </p:set>
                                    <p:animEffect transition="in" filter="fade">
                                      <p:cBhvr>
                                        <p:cTn id="86" dur="500"/>
                                        <p:tgtEl>
                                          <p:spTgt spid="8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85"/>
                                        </p:tgtEl>
                                        <p:attrNameLst>
                                          <p:attrName>style.visibility</p:attrName>
                                        </p:attrNameLst>
                                      </p:cBhvr>
                                      <p:to>
                                        <p:strVal val="visible"/>
                                      </p:to>
                                    </p:set>
                                    <p:animEffect transition="in" filter="fade">
                                      <p:cBhvr>
                                        <p:cTn id="89"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71" grpId="0"/>
      <p:bldP spid="83" grpId="0"/>
      <p:bldP spid="84" grpId="0"/>
      <p:bldP spid="8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Roles of Operating System (OS)</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a:xfrm>
            <a:off x="177799" y="1238250"/>
            <a:ext cx="11709401" cy="5441950"/>
          </a:xfrm>
        </p:spPr>
        <p:txBody>
          <a:bodyPr>
            <a:normAutofit/>
          </a:bodyPr>
          <a:lstStyle/>
          <a:p>
            <a:pPr algn="l"/>
            <a:r>
              <a:rPr kumimoji="1" lang="en-US" altLang="zh-TW" sz="2800" dirty="0">
                <a:solidFill>
                  <a:schemeClr val="tx1"/>
                </a:solidFill>
                <a:latin typeface="Calibri" panose="020F0502020204030204" pitchFamily="34" charset="0"/>
                <a:cs typeface="Calibri" panose="020F0502020204030204" pitchFamily="34" charset="0"/>
              </a:rPr>
              <a:t>Goal: A software layer</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chemeClr val="tx1"/>
                </a:solidFill>
                <a:latin typeface="Calibri" panose="020F0502020204030204" pitchFamily="34" charset="0"/>
                <a:cs typeface="Calibri" panose="020F0502020204030204" pitchFamily="34" charset="0"/>
              </a:rPr>
              <a:t>(middleware) stands between applications and computer’s hardware. The role of an OS is to </a:t>
            </a:r>
            <a:r>
              <a:rPr kumimoji="1" lang="en-US" altLang="zh-TW" sz="2800" dirty="0">
                <a:solidFill>
                  <a:srgbClr val="C00000"/>
                </a:solidFill>
                <a:latin typeface="Calibri" panose="020F0502020204030204" pitchFamily="34" charset="0"/>
                <a:cs typeface="Calibri" panose="020F0502020204030204" pitchFamily="34" charset="0"/>
              </a:rPr>
              <a:t>coordinate</a:t>
            </a:r>
            <a:r>
              <a:rPr kumimoji="1" lang="en-US" altLang="zh-TW" sz="2800" dirty="0">
                <a:solidFill>
                  <a:schemeClr val="tx1"/>
                </a:solidFill>
                <a:latin typeface="Calibri" panose="020F0502020204030204" pitchFamily="34" charset="0"/>
                <a:cs typeface="Calibri" panose="020F0502020204030204" pitchFamily="34" charset="0"/>
              </a:rPr>
              <a:t> and </a:t>
            </a:r>
            <a:r>
              <a:rPr kumimoji="1" lang="en-US" altLang="zh-TW" sz="2800" dirty="0">
                <a:solidFill>
                  <a:srgbClr val="C00000"/>
                </a:solidFill>
                <a:latin typeface="Calibri" panose="020F0502020204030204" pitchFamily="34" charset="0"/>
                <a:cs typeface="Calibri" panose="020F0502020204030204" pitchFamily="34" charset="0"/>
              </a:rPr>
              <a:t>manage hardware</a:t>
            </a:r>
            <a:r>
              <a:rPr kumimoji="1" lang="zh-TW" altLang="en-US" sz="2800" dirty="0">
                <a:solidFill>
                  <a:srgbClr val="C00000"/>
                </a:solidFill>
                <a:latin typeface="Calibri" panose="020F0502020204030204" pitchFamily="34" charset="0"/>
                <a:cs typeface="Calibri" panose="020F0502020204030204" pitchFamily="34" charset="0"/>
              </a:rPr>
              <a:t> </a:t>
            </a:r>
            <a:r>
              <a:rPr kumimoji="1" lang="en-US" altLang="zh-TW" sz="2800" dirty="0">
                <a:solidFill>
                  <a:srgbClr val="C00000"/>
                </a:solidFill>
                <a:latin typeface="Calibri" panose="020F0502020204030204" pitchFamily="34" charset="0"/>
                <a:cs typeface="Calibri" panose="020F0502020204030204" pitchFamily="34" charset="0"/>
              </a:rPr>
              <a:t>devices</a:t>
            </a:r>
            <a:r>
              <a:rPr lang="en-US" altLang="zh-TW" sz="2800" dirty="0">
                <a:solidFill>
                  <a:srgbClr val="C00000"/>
                </a:solidFill>
                <a:latin typeface="Calibri" panose="020F0502020204030204" pitchFamily="34" charset="0"/>
                <a:cs typeface="Calibri" panose="020F0502020204030204" pitchFamily="34" charset="0"/>
              </a:rPr>
              <a:t>.</a:t>
            </a:r>
            <a:r>
              <a:rPr lang="zh-TW" altLang="en-US" dirty="0">
                <a:solidFill>
                  <a:srgbClr val="C00000"/>
                </a:solidFill>
              </a:rPr>
              <a:t> </a:t>
            </a:r>
            <a:r>
              <a:rPr kumimoji="1" lang="en-US" altLang="zh-TW" sz="2800" dirty="0">
                <a:solidFill>
                  <a:schemeClr val="tx1"/>
                </a:solidFill>
                <a:latin typeface="Calibri" panose="020F0502020204030204" pitchFamily="34" charset="0"/>
                <a:cs typeface="Calibri" panose="020F0502020204030204" pitchFamily="34" charset="0"/>
              </a:rPr>
              <a:t>(e.g.,</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chemeClr val="tx1"/>
                </a:solidFill>
                <a:latin typeface="Calibri" panose="020F0502020204030204" pitchFamily="34" charset="0"/>
                <a:cs typeface="Calibri" panose="020F0502020204030204" pitchFamily="34" charset="0"/>
              </a:rPr>
              <a:t>CPU,</a:t>
            </a:r>
            <a:r>
              <a:rPr kumimoji="1"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memory,</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storage</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devices)</a:t>
            </a:r>
            <a:r>
              <a:rPr kumimoji="1" lang="en-US" altLang="zh-TW" sz="2800" dirty="0">
                <a:solidFill>
                  <a:schemeClr val="tx1"/>
                </a:solidFill>
                <a:latin typeface="Calibri" panose="020F0502020204030204" pitchFamily="34" charset="0"/>
                <a:cs typeface="Calibri" panose="020F0502020204030204" pitchFamily="34" charset="0"/>
              </a:rPr>
              <a:t>.</a:t>
            </a:r>
            <a:br>
              <a:rPr kumimoji="1" lang="en-US" altLang="zh-TW" sz="2800" dirty="0">
                <a:solidFill>
                  <a:schemeClr val="tx1"/>
                </a:solidFill>
                <a:latin typeface="Calibri" panose="020F0502020204030204" pitchFamily="34" charset="0"/>
                <a:cs typeface="Calibri" panose="020F0502020204030204" pitchFamily="34" charset="0"/>
              </a:rPr>
            </a:br>
            <a:endParaRPr kumimoji="1" lang="en-US" altLang="zh-TW" sz="2800" dirty="0">
              <a:solidFill>
                <a:schemeClr val="tx1"/>
              </a:solidFill>
              <a:latin typeface="Calibri" panose="020F0502020204030204" pitchFamily="34" charset="0"/>
              <a:cs typeface="Calibri" panose="020F0502020204030204" pitchFamily="34" charset="0"/>
            </a:endParaRPr>
          </a:p>
          <a:p>
            <a:pPr algn="l"/>
            <a:r>
              <a:rPr lang="en-US" altLang="zh-TW" sz="2800" dirty="0">
                <a:solidFill>
                  <a:schemeClr val="tx1"/>
                </a:solidFill>
                <a:latin typeface="Calibri" panose="020F0502020204030204" pitchFamily="34" charset="0"/>
                <a:cs typeface="Calibri" panose="020F0502020204030204" pitchFamily="34" charset="0"/>
              </a:rPr>
              <a:t>OS’s</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Roles:</a:t>
            </a:r>
            <a:endParaRPr kumimoji="1" lang="en-US" altLang="zh-TW" sz="2400" dirty="0">
              <a:solidFill>
                <a:schemeClr val="tx1"/>
              </a:solidFill>
              <a:latin typeface="Calibri" panose="020F0502020204030204" pitchFamily="34" charset="0"/>
              <a:cs typeface="Calibri" panose="020F0502020204030204" pitchFamily="34" charset="0"/>
            </a:endParaRPr>
          </a:p>
          <a:p>
            <a:pPr lvl="1" algn="l"/>
            <a:r>
              <a:rPr lang="en-US" altLang="zh-TW" sz="2400" dirty="0">
                <a:solidFill>
                  <a:schemeClr val="tx1"/>
                </a:solidFill>
                <a:latin typeface="Calibri" panose="020F0502020204030204" pitchFamily="34" charset="0"/>
                <a:cs typeface="Calibri" panose="020F0502020204030204" pitchFamily="34" charset="0"/>
              </a:rPr>
              <a:t>Transparency:</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Users</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do</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not</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need</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to</a:t>
            </a:r>
            <a:br>
              <a:rPr lang="en-US" altLang="zh-TW" sz="2400" dirty="0">
                <a:solidFill>
                  <a:schemeClr val="tx1"/>
                </a:solidFill>
                <a:latin typeface="Calibri" panose="020F0502020204030204" pitchFamily="34" charset="0"/>
                <a:cs typeface="Calibri" panose="020F0502020204030204" pitchFamily="34" charset="0"/>
              </a:rPr>
            </a:br>
            <a:r>
              <a:rPr lang="en-US" altLang="zh-TW" sz="2400" dirty="0">
                <a:solidFill>
                  <a:schemeClr val="tx1"/>
                </a:solidFill>
                <a:latin typeface="Calibri" panose="020F0502020204030204" pitchFamily="34" charset="0"/>
                <a:cs typeface="Calibri" panose="020F0502020204030204" pitchFamily="34" charset="0"/>
              </a:rPr>
              <a:t>worry</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about</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rgbClr val="C00000"/>
                </a:solidFill>
                <a:latin typeface="Calibri" panose="020F0502020204030204" pitchFamily="34" charset="0"/>
                <a:cs typeface="Calibri" panose="020F0502020204030204" pitchFamily="34" charset="0"/>
              </a:rPr>
              <a:t>hardware</a:t>
            </a:r>
            <a:r>
              <a:rPr lang="zh-TW" altLang="en-US" sz="2400" dirty="0">
                <a:solidFill>
                  <a:srgbClr val="C00000"/>
                </a:solidFill>
                <a:latin typeface="Calibri" panose="020F0502020204030204" pitchFamily="34" charset="0"/>
                <a:cs typeface="Calibri" panose="020F0502020204030204" pitchFamily="34" charset="0"/>
              </a:rPr>
              <a:t> </a:t>
            </a:r>
            <a:r>
              <a:rPr lang="en-US" altLang="zh-TW" sz="2400" dirty="0">
                <a:solidFill>
                  <a:srgbClr val="C00000"/>
                </a:solidFill>
                <a:latin typeface="Calibri" panose="020F0502020204030204" pitchFamily="34" charset="0"/>
                <a:cs typeface="Calibri" panose="020F0502020204030204" pitchFamily="34" charset="0"/>
              </a:rPr>
              <a:t>managements</a:t>
            </a:r>
            <a:r>
              <a:rPr lang="zh-TW" altLang="en-US" sz="2400" dirty="0">
                <a:solidFill>
                  <a:srgbClr val="C00000"/>
                </a:solidFill>
                <a:latin typeface="Calibri" panose="020F0502020204030204" pitchFamily="34" charset="0"/>
                <a:cs typeface="Calibri" panose="020F0502020204030204" pitchFamily="34" charset="0"/>
              </a:rPr>
              <a:t> </a:t>
            </a:r>
            <a:br>
              <a:rPr lang="en-US" altLang="zh-TW" sz="2400" dirty="0">
                <a:solidFill>
                  <a:srgbClr val="C00000"/>
                </a:solidFill>
                <a:latin typeface="Calibri" panose="020F0502020204030204" pitchFamily="34" charset="0"/>
                <a:cs typeface="Calibri" panose="020F0502020204030204" pitchFamily="34" charset="0"/>
              </a:rPr>
            </a:br>
            <a:r>
              <a:rPr lang="en-US" altLang="zh-TW" sz="2400" dirty="0">
                <a:solidFill>
                  <a:srgbClr val="C00000"/>
                </a:solidFill>
                <a:latin typeface="Calibri" panose="020F0502020204030204" pitchFamily="34" charset="0"/>
                <a:cs typeface="Calibri" panose="020F0502020204030204" pitchFamily="34" charset="0"/>
              </a:rPr>
              <a:t>or</a:t>
            </a:r>
            <a:r>
              <a:rPr lang="zh-TW" altLang="en-US" sz="2400" dirty="0">
                <a:solidFill>
                  <a:srgbClr val="C00000"/>
                </a:solidFill>
                <a:latin typeface="Calibri" panose="020F0502020204030204" pitchFamily="34" charset="0"/>
                <a:cs typeface="Calibri" panose="020F0502020204030204" pitchFamily="34" charset="0"/>
              </a:rPr>
              <a:t> </a:t>
            </a:r>
            <a:r>
              <a:rPr lang="en-US" altLang="zh-TW" sz="2400" dirty="0">
                <a:solidFill>
                  <a:srgbClr val="C00000"/>
                </a:solidFill>
                <a:latin typeface="Calibri" panose="020F0502020204030204" pitchFamily="34" charset="0"/>
                <a:cs typeface="Calibri" panose="020F0502020204030204" pitchFamily="34" charset="0"/>
              </a:rPr>
              <a:t>contentions</a:t>
            </a:r>
            <a:r>
              <a:rPr lang="en-US" altLang="zh-TW" sz="2400" dirty="0">
                <a:solidFill>
                  <a:schemeClr val="tx1"/>
                </a:solidFill>
                <a:latin typeface="Calibri" panose="020F0502020204030204" pitchFamily="34" charset="0"/>
                <a:cs typeface="Calibri" panose="020F0502020204030204" pitchFamily="34" charset="0"/>
              </a:rPr>
              <a:t>.</a:t>
            </a:r>
            <a:endParaRPr kumimoji="1" lang="en-US" altLang="zh-TW" sz="2400" dirty="0">
              <a:solidFill>
                <a:schemeClr val="tx1"/>
              </a:solidFill>
              <a:latin typeface="Calibri" panose="020F0502020204030204" pitchFamily="34" charset="0"/>
              <a:cs typeface="Calibri" panose="020F0502020204030204" pitchFamily="34" charset="0"/>
            </a:endParaRPr>
          </a:p>
          <a:p>
            <a:pPr lvl="1" algn="l"/>
            <a:r>
              <a:rPr kumimoji="1" lang="en-US" altLang="zh-TW" sz="2400" dirty="0">
                <a:solidFill>
                  <a:schemeClr val="tx1"/>
                </a:solidFill>
                <a:latin typeface="Calibri" panose="020F0502020204030204" pitchFamily="34" charset="0"/>
                <a:cs typeface="Calibri" panose="020F0502020204030204" pitchFamily="34" charset="0"/>
              </a:rPr>
              <a:t>Resource</a:t>
            </a:r>
            <a:r>
              <a:rPr kumimoji="1" lang="zh-TW" altLang="en-US" sz="2400" dirty="0">
                <a:solidFill>
                  <a:schemeClr val="tx1"/>
                </a:solidFill>
                <a:latin typeface="Calibri" panose="020F0502020204030204" pitchFamily="34" charset="0"/>
                <a:cs typeface="Calibri" panose="020F0502020204030204" pitchFamily="34" charset="0"/>
              </a:rPr>
              <a:t> </a:t>
            </a:r>
            <a:r>
              <a:rPr kumimoji="1" lang="en-US" altLang="zh-TW" sz="2400" dirty="0">
                <a:solidFill>
                  <a:schemeClr val="tx1"/>
                </a:solidFill>
                <a:latin typeface="Calibri" panose="020F0502020204030204" pitchFamily="34" charset="0"/>
                <a:cs typeface="Calibri" panose="020F0502020204030204" pitchFamily="34" charset="0"/>
              </a:rPr>
              <a:t>Allocator</a:t>
            </a:r>
            <a:r>
              <a:rPr lang="en-US" altLang="zh-TW" sz="2400" dirty="0">
                <a:solidFill>
                  <a:schemeClr val="tx1"/>
                </a:solidFill>
                <a:latin typeface="Calibri" panose="020F0502020204030204" pitchFamily="34" charset="0"/>
                <a:cs typeface="Calibri" panose="020F0502020204030204" pitchFamily="34" charset="0"/>
              </a:rPr>
              <a:t>:</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rgbClr val="C00000"/>
                </a:solidFill>
                <a:latin typeface="Calibri" panose="020F0502020204030204" pitchFamily="34" charset="0"/>
                <a:cs typeface="Calibri" panose="020F0502020204030204" pitchFamily="34" charset="0"/>
              </a:rPr>
              <a:t>Manage</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CPU</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time,</a:t>
            </a:r>
            <a:r>
              <a:rPr lang="zh-TW" altLang="en-US" sz="2400" dirty="0">
                <a:solidFill>
                  <a:schemeClr val="tx1"/>
                </a:solidFill>
                <a:latin typeface="Calibri" panose="020F0502020204030204" pitchFamily="34" charset="0"/>
                <a:cs typeface="Calibri" panose="020F0502020204030204" pitchFamily="34" charset="0"/>
              </a:rPr>
              <a:t> </a:t>
            </a:r>
            <a:br>
              <a:rPr lang="en-US" altLang="zh-TW" sz="2400" dirty="0">
                <a:solidFill>
                  <a:schemeClr val="tx1"/>
                </a:solidFill>
                <a:latin typeface="Calibri" panose="020F0502020204030204" pitchFamily="34" charset="0"/>
                <a:cs typeface="Calibri" panose="020F0502020204030204" pitchFamily="34" charset="0"/>
              </a:rPr>
            </a:br>
            <a:r>
              <a:rPr lang="en-US" altLang="zh-TW" sz="2400" dirty="0">
                <a:solidFill>
                  <a:schemeClr val="tx1"/>
                </a:solidFill>
                <a:latin typeface="Calibri" panose="020F0502020204030204" pitchFamily="34" charset="0"/>
                <a:cs typeface="Calibri" panose="020F0502020204030204" pitchFamily="34" charset="0"/>
              </a:rPr>
              <a:t>memory</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space</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and</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I/O</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resources.</a:t>
            </a:r>
          </a:p>
          <a:p>
            <a:pPr lvl="1" algn="l"/>
            <a:r>
              <a:rPr kumimoji="1" lang="en-US" altLang="zh-TW" sz="2400" dirty="0">
                <a:solidFill>
                  <a:schemeClr val="tx1"/>
                </a:solidFill>
                <a:latin typeface="Calibri" panose="020F0502020204030204" pitchFamily="34" charset="0"/>
                <a:cs typeface="Calibri" panose="020F0502020204030204" pitchFamily="34" charset="0"/>
              </a:rPr>
              <a:t>Control</a:t>
            </a:r>
            <a:r>
              <a:rPr kumimoji="1" lang="zh-TW" altLang="en-US" sz="2400" dirty="0">
                <a:solidFill>
                  <a:schemeClr val="tx1"/>
                </a:solidFill>
                <a:latin typeface="Calibri" panose="020F0502020204030204" pitchFamily="34" charset="0"/>
                <a:cs typeface="Calibri" panose="020F0502020204030204" pitchFamily="34" charset="0"/>
              </a:rPr>
              <a:t> </a:t>
            </a:r>
            <a:r>
              <a:rPr kumimoji="1" lang="en-US" altLang="zh-TW" sz="2400" dirty="0">
                <a:solidFill>
                  <a:schemeClr val="tx1"/>
                </a:solidFill>
                <a:latin typeface="Calibri" panose="020F0502020204030204" pitchFamily="34" charset="0"/>
                <a:cs typeface="Calibri" panose="020F0502020204030204" pitchFamily="34" charset="0"/>
              </a:rPr>
              <a:t>Program:</a:t>
            </a:r>
            <a:r>
              <a:rPr kumimoji="1" lang="zh-TW" altLang="en-US" sz="2400" dirty="0">
                <a:solidFill>
                  <a:schemeClr val="tx1"/>
                </a:solidFill>
                <a:latin typeface="Calibri" panose="020F0502020204030204" pitchFamily="34" charset="0"/>
                <a:cs typeface="Calibri" panose="020F0502020204030204" pitchFamily="34" charset="0"/>
              </a:rPr>
              <a:t> </a:t>
            </a:r>
            <a:r>
              <a:rPr kumimoji="1" lang="en-US" altLang="zh-TW" sz="2400" dirty="0">
                <a:solidFill>
                  <a:srgbClr val="C00000"/>
                </a:solidFill>
                <a:latin typeface="Calibri" panose="020F0502020204030204" pitchFamily="34" charset="0"/>
                <a:cs typeface="Calibri" panose="020F0502020204030204" pitchFamily="34" charset="0"/>
              </a:rPr>
              <a:t>Prevent</a:t>
            </a:r>
            <a:r>
              <a:rPr kumimoji="1" lang="zh-TW" altLang="en-US" sz="2400" dirty="0">
                <a:solidFill>
                  <a:srgbClr val="C00000"/>
                </a:solidFill>
                <a:latin typeface="Calibri" panose="020F0502020204030204" pitchFamily="34" charset="0"/>
                <a:cs typeface="Calibri" panose="020F0502020204030204" pitchFamily="34" charset="0"/>
              </a:rPr>
              <a:t> </a:t>
            </a:r>
            <a:r>
              <a:rPr kumimoji="1" lang="en-US" altLang="zh-TW" sz="2400" dirty="0">
                <a:solidFill>
                  <a:srgbClr val="C00000"/>
                </a:solidFill>
                <a:latin typeface="Calibri" panose="020F0502020204030204" pitchFamily="34" charset="0"/>
                <a:cs typeface="Calibri" panose="020F0502020204030204" pitchFamily="34" charset="0"/>
              </a:rPr>
              <a:t>errors</a:t>
            </a:r>
            <a:r>
              <a:rPr kumimoji="1" lang="zh-TW" altLang="en-US" sz="2400" dirty="0">
                <a:solidFill>
                  <a:srgbClr val="C00000"/>
                </a:solidFill>
                <a:latin typeface="Calibri" panose="020F0502020204030204" pitchFamily="34" charset="0"/>
                <a:cs typeface="Calibri" panose="020F0502020204030204" pitchFamily="34" charset="0"/>
              </a:rPr>
              <a:t> </a:t>
            </a:r>
            <a:r>
              <a:rPr kumimoji="1" lang="en-US" altLang="zh-TW" sz="2400" dirty="0">
                <a:solidFill>
                  <a:schemeClr val="tx1"/>
                </a:solidFill>
                <a:latin typeface="Calibri" panose="020F0502020204030204" pitchFamily="34" charset="0"/>
                <a:cs typeface="Calibri" panose="020F0502020204030204" pitchFamily="34" charset="0"/>
              </a:rPr>
              <a:t>and</a:t>
            </a:r>
            <a:r>
              <a:rPr kumimoji="1" lang="zh-TW" altLang="en-US" sz="2400" dirty="0">
                <a:solidFill>
                  <a:schemeClr val="tx1"/>
                </a:solidFill>
                <a:latin typeface="Calibri" panose="020F0502020204030204" pitchFamily="34" charset="0"/>
                <a:cs typeface="Calibri" panose="020F0502020204030204" pitchFamily="34" charset="0"/>
              </a:rPr>
              <a:t> </a:t>
            </a:r>
            <a:br>
              <a:rPr kumimoji="1" lang="en-US" altLang="zh-TW" sz="2400" dirty="0">
                <a:solidFill>
                  <a:schemeClr val="tx1"/>
                </a:solidFill>
                <a:latin typeface="Calibri" panose="020F0502020204030204" pitchFamily="34" charset="0"/>
                <a:cs typeface="Calibri" panose="020F0502020204030204" pitchFamily="34" charset="0"/>
              </a:rPr>
            </a:br>
            <a:r>
              <a:rPr kumimoji="1" lang="en-US" altLang="zh-TW" sz="2400" dirty="0">
                <a:solidFill>
                  <a:schemeClr val="tx1"/>
                </a:solidFill>
                <a:latin typeface="Calibri" panose="020F0502020204030204" pitchFamily="34" charset="0"/>
                <a:cs typeface="Calibri" panose="020F0502020204030204" pitchFamily="34" charset="0"/>
              </a:rPr>
              <a:t>improper</a:t>
            </a:r>
            <a:r>
              <a:rPr kumimoji="1" lang="zh-TW" altLang="en-US" sz="2400" dirty="0">
                <a:solidFill>
                  <a:schemeClr val="tx1"/>
                </a:solidFill>
                <a:latin typeface="Calibri" panose="020F0502020204030204" pitchFamily="34" charset="0"/>
                <a:cs typeface="Calibri" panose="020F0502020204030204" pitchFamily="34" charset="0"/>
              </a:rPr>
              <a:t> </a:t>
            </a:r>
            <a:r>
              <a:rPr kumimoji="1" lang="en-US" altLang="zh-TW" sz="2400" dirty="0">
                <a:solidFill>
                  <a:schemeClr val="tx1"/>
                </a:solidFill>
                <a:latin typeface="Calibri" panose="020F0502020204030204" pitchFamily="34" charset="0"/>
                <a:cs typeface="Calibri" panose="020F0502020204030204" pitchFamily="34" charset="0"/>
              </a:rPr>
              <a:t>use</a:t>
            </a:r>
            <a:r>
              <a:rPr kumimoji="1" lang="zh-TW" altLang="en-US" sz="2400" dirty="0">
                <a:solidFill>
                  <a:schemeClr val="tx1"/>
                </a:solidFill>
                <a:latin typeface="Calibri" panose="020F0502020204030204" pitchFamily="34" charset="0"/>
                <a:cs typeface="Calibri" panose="020F0502020204030204" pitchFamily="34" charset="0"/>
              </a:rPr>
              <a:t> </a:t>
            </a:r>
            <a:r>
              <a:rPr kumimoji="1" lang="en-US" altLang="zh-TW" sz="2400" dirty="0">
                <a:solidFill>
                  <a:schemeClr val="tx1"/>
                </a:solidFill>
                <a:latin typeface="Calibri" panose="020F0502020204030204" pitchFamily="34" charset="0"/>
                <a:cs typeface="Calibri" panose="020F0502020204030204" pitchFamily="34" charset="0"/>
              </a:rPr>
              <a:t>of</a:t>
            </a:r>
            <a:r>
              <a:rPr kumimoji="1" lang="zh-TW" altLang="en-US" sz="2400" dirty="0">
                <a:solidFill>
                  <a:schemeClr val="tx1"/>
                </a:solidFill>
                <a:latin typeface="Calibri" panose="020F0502020204030204" pitchFamily="34" charset="0"/>
                <a:cs typeface="Calibri" panose="020F0502020204030204" pitchFamily="34" charset="0"/>
              </a:rPr>
              <a:t> </a:t>
            </a:r>
            <a:r>
              <a:rPr kumimoji="1" lang="en-US" altLang="zh-TW" sz="2400" dirty="0">
                <a:solidFill>
                  <a:schemeClr val="tx1"/>
                </a:solidFill>
                <a:latin typeface="Calibri" panose="020F0502020204030204" pitchFamily="34" charset="0"/>
                <a:cs typeface="Calibri" panose="020F0502020204030204" pitchFamily="34" charset="0"/>
              </a:rPr>
              <a:t>computers.</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7</a:t>
            </a:fld>
            <a:endParaRPr lang="zh-TW" altLang="en-US" dirty="0"/>
          </a:p>
        </p:txBody>
      </p:sp>
      <p:sp>
        <p:nvSpPr>
          <p:cNvPr id="7" name="矩形 56">
            <a:extLst>
              <a:ext uri="{FF2B5EF4-FFF2-40B4-BE49-F238E27FC236}">
                <a16:creationId xmlns:a16="http://schemas.microsoft.com/office/drawing/2014/main" id="{D708D46F-1EEC-175B-DF28-1B771D2691A3}"/>
              </a:ext>
            </a:extLst>
          </p:cNvPr>
          <p:cNvSpPr/>
          <p:nvPr/>
        </p:nvSpPr>
        <p:spPr>
          <a:xfrm>
            <a:off x="6096000" y="3918840"/>
            <a:ext cx="5681460" cy="754379"/>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Operating System</a:t>
            </a:r>
            <a:endParaRPr kumimoji="1" lang="zh-TW" altLang="en-US" sz="1600" dirty="0">
              <a:solidFill>
                <a:schemeClr val="tx1"/>
              </a:solidFill>
              <a:cs typeface="Arial" panose="020B0604020202020204" pitchFamily="34" charset="0"/>
            </a:endParaRPr>
          </a:p>
        </p:txBody>
      </p:sp>
      <p:grpSp>
        <p:nvGrpSpPr>
          <p:cNvPr id="8" name="Group 228">
            <a:extLst>
              <a:ext uri="{FF2B5EF4-FFF2-40B4-BE49-F238E27FC236}">
                <a16:creationId xmlns:a16="http://schemas.microsoft.com/office/drawing/2014/main" id="{C4ED2AA0-8BD8-88E8-D1CD-E48C4EE70EEC}"/>
              </a:ext>
            </a:extLst>
          </p:cNvPr>
          <p:cNvGrpSpPr/>
          <p:nvPr/>
        </p:nvGrpSpPr>
        <p:grpSpPr>
          <a:xfrm>
            <a:off x="6096000" y="2892809"/>
            <a:ext cx="5681463" cy="540000"/>
            <a:chOff x="3253747" y="1238250"/>
            <a:chExt cx="5681463" cy="540000"/>
          </a:xfrm>
        </p:grpSpPr>
        <p:sp>
          <p:nvSpPr>
            <p:cNvPr id="9" name="矩形 57">
              <a:extLst>
                <a:ext uri="{FF2B5EF4-FFF2-40B4-BE49-F238E27FC236}">
                  <a16:creationId xmlns:a16="http://schemas.microsoft.com/office/drawing/2014/main" id="{A9A9CB98-90F8-78D3-1E9D-A702B35204D4}"/>
                </a:ext>
              </a:extLst>
            </p:cNvPr>
            <p:cNvSpPr/>
            <p:nvPr/>
          </p:nvSpPr>
          <p:spPr>
            <a:xfrm>
              <a:off x="3253747" y="1238250"/>
              <a:ext cx="1800000" cy="5400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Neural</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Networks</a:t>
              </a:r>
              <a:endParaRPr kumimoji="1" lang="zh-TW" altLang="en-US" sz="1600" dirty="0">
                <a:solidFill>
                  <a:schemeClr val="tx1"/>
                </a:solidFill>
                <a:cs typeface="Arial" panose="020B0604020202020204" pitchFamily="34" charset="0"/>
              </a:endParaRPr>
            </a:p>
          </p:txBody>
        </p:sp>
        <p:sp>
          <p:nvSpPr>
            <p:cNvPr id="10" name="矩形 58">
              <a:extLst>
                <a:ext uri="{FF2B5EF4-FFF2-40B4-BE49-F238E27FC236}">
                  <a16:creationId xmlns:a16="http://schemas.microsoft.com/office/drawing/2014/main" id="{900D321E-9074-020B-6D07-C646EDA5A2F2}"/>
                </a:ext>
              </a:extLst>
            </p:cNvPr>
            <p:cNvSpPr/>
            <p:nvPr/>
          </p:nvSpPr>
          <p:spPr>
            <a:xfrm>
              <a:off x="5196000" y="1238250"/>
              <a:ext cx="1800000" cy="5400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Web</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Browsers</a:t>
              </a:r>
              <a:endParaRPr kumimoji="1" lang="zh-TW" altLang="en-US" sz="1600" dirty="0">
                <a:solidFill>
                  <a:schemeClr val="tx1"/>
                </a:solidFill>
                <a:cs typeface="Arial" panose="020B0604020202020204" pitchFamily="34" charset="0"/>
              </a:endParaRPr>
            </a:p>
          </p:txBody>
        </p:sp>
        <p:sp>
          <p:nvSpPr>
            <p:cNvPr id="11" name="矩形 59">
              <a:extLst>
                <a:ext uri="{FF2B5EF4-FFF2-40B4-BE49-F238E27FC236}">
                  <a16:creationId xmlns:a16="http://schemas.microsoft.com/office/drawing/2014/main" id="{199D23BA-918F-1734-1431-19490E463C11}"/>
                </a:ext>
              </a:extLst>
            </p:cNvPr>
            <p:cNvSpPr/>
            <p:nvPr/>
          </p:nvSpPr>
          <p:spPr>
            <a:xfrm>
              <a:off x="7135210" y="1238250"/>
              <a:ext cx="1800000" cy="5400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 Video</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Players</a:t>
              </a:r>
              <a:endParaRPr kumimoji="1" lang="zh-TW" altLang="en-US" sz="1600" dirty="0">
                <a:solidFill>
                  <a:schemeClr val="tx1"/>
                </a:solidFill>
                <a:cs typeface="Arial" panose="020B0604020202020204" pitchFamily="34" charset="0"/>
              </a:endParaRPr>
            </a:p>
          </p:txBody>
        </p:sp>
      </p:grpSp>
      <p:sp>
        <p:nvSpPr>
          <p:cNvPr id="12" name="矩形 56">
            <a:extLst>
              <a:ext uri="{FF2B5EF4-FFF2-40B4-BE49-F238E27FC236}">
                <a16:creationId xmlns:a16="http://schemas.microsoft.com/office/drawing/2014/main" id="{ABAFF7E2-A60B-39EB-55A2-04C119587F0A}"/>
              </a:ext>
            </a:extLst>
          </p:cNvPr>
          <p:cNvSpPr/>
          <p:nvPr/>
        </p:nvSpPr>
        <p:spPr>
          <a:xfrm>
            <a:off x="6096000" y="5144264"/>
            <a:ext cx="5681460" cy="121996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600" dirty="0">
                <a:solidFill>
                  <a:schemeClr val="tx1"/>
                </a:solidFill>
                <a:cs typeface="Arial" panose="020B0604020202020204" pitchFamily="34" charset="0"/>
              </a:rPr>
              <a:t>Computer</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Hardware</a:t>
            </a:r>
            <a:endParaRPr kumimoji="1" lang="zh-TW" altLang="en-US" sz="1600" dirty="0">
              <a:solidFill>
                <a:schemeClr val="tx1"/>
              </a:solidFill>
              <a:cs typeface="Arial" panose="020B0604020202020204" pitchFamily="34" charset="0"/>
            </a:endParaRPr>
          </a:p>
        </p:txBody>
      </p:sp>
      <p:sp>
        <p:nvSpPr>
          <p:cNvPr id="17" name="矩形 56">
            <a:extLst>
              <a:ext uri="{FF2B5EF4-FFF2-40B4-BE49-F238E27FC236}">
                <a16:creationId xmlns:a16="http://schemas.microsoft.com/office/drawing/2014/main" id="{FCC8180D-0DB8-978E-4FF9-73BE561568E4}"/>
              </a:ext>
            </a:extLst>
          </p:cNvPr>
          <p:cNvSpPr/>
          <p:nvPr/>
        </p:nvSpPr>
        <p:spPr>
          <a:xfrm>
            <a:off x="6365557" y="5510916"/>
            <a:ext cx="1422926" cy="677416"/>
          </a:xfrm>
          <a:prstGeom prst="rect">
            <a:avLst/>
          </a:prstGeom>
          <a:solidFill>
            <a:srgbClr val="F2F2F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Computing</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Devices</a:t>
            </a:r>
            <a:endParaRPr kumimoji="1" lang="zh-TW" altLang="en-US" sz="1600" dirty="0">
              <a:solidFill>
                <a:schemeClr val="tx1"/>
              </a:solidFill>
              <a:cs typeface="Arial" panose="020B0604020202020204" pitchFamily="34" charset="0"/>
            </a:endParaRPr>
          </a:p>
        </p:txBody>
      </p:sp>
      <p:sp>
        <p:nvSpPr>
          <p:cNvPr id="18" name="矩形 56">
            <a:extLst>
              <a:ext uri="{FF2B5EF4-FFF2-40B4-BE49-F238E27FC236}">
                <a16:creationId xmlns:a16="http://schemas.microsoft.com/office/drawing/2014/main" id="{3FA72FEC-EB33-A7A5-1938-859FF6BE6B55}"/>
              </a:ext>
            </a:extLst>
          </p:cNvPr>
          <p:cNvSpPr/>
          <p:nvPr/>
        </p:nvSpPr>
        <p:spPr>
          <a:xfrm>
            <a:off x="8271973" y="5510916"/>
            <a:ext cx="1422926" cy="677416"/>
          </a:xfrm>
          <a:prstGeom prst="rect">
            <a:avLst/>
          </a:prstGeom>
          <a:solidFill>
            <a:srgbClr val="F2F2F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Memory</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Devices</a:t>
            </a:r>
            <a:endParaRPr kumimoji="1" lang="zh-TW" altLang="en-US" sz="1600" dirty="0">
              <a:solidFill>
                <a:schemeClr val="tx1"/>
              </a:solidFill>
              <a:cs typeface="Arial" panose="020B0604020202020204" pitchFamily="34" charset="0"/>
            </a:endParaRPr>
          </a:p>
        </p:txBody>
      </p:sp>
      <p:sp>
        <p:nvSpPr>
          <p:cNvPr id="19" name="矩形 56">
            <a:extLst>
              <a:ext uri="{FF2B5EF4-FFF2-40B4-BE49-F238E27FC236}">
                <a16:creationId xmlns:a16="http://schemas.microsoft.com/office/drawing/2014/main" id="{ADC73CFA-7039-804D-89C6-7B0147E6A758}"/>
              </a:ext>
            </a:extLst>
          </p:cNvPr>
          <p:cNvSpPr/>
          <p:nvPr/>
        </p:nvSpPr>
        <p:spPr>
          <a:xfrm>
            <a:off x="10178389" y="5510916"/>
            <a:ext cx="1422926" cy="677416"/>
          </a:xfrm>
          <a:prstGeom prst="rect">
            <a:avLst/>
          </a:prstGeom>
          <a:solidFill>
            <a:srgbClr val="F2F2F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I/O</a:t>
            </a:r>
            <a:r>
              <a:rPr kumimoji="1" lang="zh-TW" altLang="en-US" sz="1600" dirty="0">
                <a:solidFill>
                  <a:schemeClr val="tx1"/>
                </a:solidFill>
                <a:cs typeface="Arial" panose="020B0604020202020204" pitchFamily="34" charset="0"/>
              </a:rPr>
              <a:t> </a:t>
            </a:r>
            <a:br>
              <a:rPr kumimoji="1" lang="en-US" altLang="zh-TW" sz="1600" dirty="0">
                <a:solidFill>
                  <a:schemeClr val="tx1"/>
                </a:solidFill>
                <a:cs typeface="Arial" panose="020B0604020202020204" pitchFamily="34" charset="0"/>
              </a:rPr>
            </a:br>
            <a:r>
              <a:rPr kumimoji="1" lang="en-US" altLang="zh-TW" sz="1600" dirty="0">
                <a:solidFill>
                  <a:schemeClr val="tx1"/>
                </a:solidFill>
                <a:cs typeface="Arial" panose="020B0604020202020204" pitchFamily="34" charset="0"/>
              </a:rPr>
              <a:t>Devices</a:t>
            </a:r>
            <a:endParaRPr kumimoji="1" lang="zh-TW" altLang="en-US" sz="1600" dirty="0">
              <a:solidFill>
                <a:schemeClr val="tx1"/>
              </a:solidFill>
              <a:cs typeface="Arial" panose="020B0604020202020204" pitchFamily="34" charset="0"/>
            </a:endParaRPr>
          </a:p>
        </p:txBody>
      </p:sp>
      <p:grpSp>
        <p:nvGrpSpPr>
          <p:cNvPr id="28" name="群組 27">
            <a:extLst>
              <a:ext uri="{FF2B5EF4-FFF2-40B4-BE49-F238E27FC236}">
                <a16:creationId xmlns:a16="http://schemas.microsoft.com/office/drawing/2014/main" id="{D87DE809-826C-F968-7AE7-3B04DF13149D}"/>
              </a:ext>
            </a:extLst>
          </p:cNvPr>
          <p:cNvGrpSpPr/>
          <p:nvPr/>
        </p:nvGrpSpPr>
        <p:grpSpPr>
          <a:xfrm>
            <a:off x="7068724" y="4673219"/>
            <a:ext cx="3829580" cy="486031"/>
            <a:chOff x="7068724" y="4673219"/>
            <a:chExt cx="3829580" cy="486031"/>
          </a:xfrm>
        </p:grpSpPr>
        <p:grpSp>
          <p:nvGrpSpPr>
            <p:cNvPr id="25" name="群組 24">
              <a:extLst>
                <a:ext uri="{FF2B5EF4-FFF2-40B4-BE49-F238E27FC236}">
                  <a16:creationId xmlns:a16="http://schemas.microsoft.com/office/drawing/2014/main" id="{156B74EA-348A-BBBF-A8DE-88083EFA455B}"/>
                </a:ext>
              </a:extLst>
            </p:cNvPr>
            <p:cNvGrpSpPr/>
            <p:nvPr/>
          </p:nvGrpSpPr>
          <p:grpSpPr>
            <a:xfrm>
              <a:off x="7085669" y="4673219"/>
              <a:ext cx="3812635" cy="486031"/>
              <a:chOff x="7085669" y="4673219"/>
              <a:chExt cx="3812635" cy="486031"/>
            </a:xfrm>
          </p:grpSpPr>
          <p:cxnSp>
            <p:nvCxnSpPr>
              <p:cNvPr id="22" name="直線箭頭接點 63">
                <a:extLst>
                  <a:ext uri="{FF2B5EF4-FFF2-40B4-BE49-F238E27FC236}">
                    <a16:creationId xmlns:a16="http://schemas.microsoft.com/office/drawing/2014/main" id="{8A6847F0-330C-E7E1-0531-A3ACA0A9469E}"/>
                  </a:ext>
                </a:extLst>
              </p:cNvPr>
              <p:cNvCxnSpPr>
                <a:cxnSpLocks/>
              </p:cNvCxnSpPr>
              <p:nvPr/>
            </p:nvCxnSpPr>
            <p:spPr>
              <a:xfrm>
                <a:off x="7085669" y="4673219"/>
                <a:ext cx="0" cy="486031"/>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直線箭頭接點 63">
                <a:extLst>
                  <a:ext uri="{FF2B5EF4-FFF2-40B4-BE49-F238E27FC236}">
                    <a16:creationId xmlns:a16="http://schemas.microsoft.com/office/drawing/2014/main" id="{87AE9172-1A73-7A07-0877-0A4AC04698F8}"/>
                  </a:ext>
                </a:extLst>
              </p:cNvPr>
              <p:cNvCxnSpPr>
                <a:cxnSpLocks/>
              </p:cNvCxnSpPr>
              <p:nvPr/>
            </p:nvCxnSpPr>
            <p:spPr>
              <a:xfrm>
                <a:off x="8957571" y="4673219"/>
                <a:ext cx="0" cy="486031"/>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箭頭接點 63">
                <a:extLst>
                  <a:ext uri="{FF2B5EF4-FFF2-40B4-BE49-F238E27FC236}">
                    <a16:creationId xmlns:a16="http://schemas.microsoft.com/office/drawing/2014/main" id="{067ED171-8EA0-94C8-E025-7A39F1C1AF55}"/>
                  </a:ext>
                </a:extLst>
              </p:cNvPr>
              <p:cNvCxnSpPr>
                <a:cxnSpLocks/>
              </p:cNvCxnSpPr>
              <p:nvPr/>
            </p:nvCxnSpPr>
            <p:spPr>
              <a:xfrm>
                <a:off x="10898304" y="4673219"/>
                <a:ext cx="0" cy="486031"/>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26" name="文字方塊 25">
              <a:extLst>
                <a:ext uri="{FF2B5EF4-FFF2-40B4-BE49-F238E27FC236}">
                  <a16:creationId xmlns:a16="http://schemas.microsoft.com/office/drawing/2014/main" id="{F5071DFA-827D-BC43-C7BB-257C679CA4C7}"/>
                </a:ext>
              </a:extLst>
            </p:cNvPr>
            <p:cNvSpPr txBox="1"/>
            <p:nvPr/>
          </p:nvSpPr>
          <p:spPr>
            <a:xfrm>
              <a:off x="7068724" y="4710419"/>
              <a:ext cx="1939057" cy="369332"/>
            </a:xfrm>
            <a:prstGeom prst="rect">
              <a:avLst/>
            </a:prstGeom>
            <a:noFill/>
          </p:spPr>
          <p:txBody>
            <a:bodyPr wrap="none" rtlCol="0">
              <a:spAutoFit/>
            </a:bodyPr>
            <a:lstStyle/>
            <a:p>
              <a:r>
                <a:rPr kumimoji="1" lang="en-US" altLang="zh-TW" dirty="0"/>
                <a:t>Resource</a:t>
              </a:r>
              <a:r>
                <a:rPr kumimoji="1" lang="zh-TW" altLang="en-US" dirty="0"/>
                <a:t> </a:t>
              </a:r>
              <a:r>
                <a:rPr kumimoji="1" lang="en-US" altLang="zh-TW" dirty="0"/>
                <a:t>Allocator</a:t>
              </a:r>
              <a:endParaRPr kumimoji="1" lang="zh-TW" altLang="en-US" dirty="0"/>
            </a:p>
          </p:txBody>
        </p:sp>
      </p:grpSp>
      <p:grpSp>
        <p:nvGrpSpPr>
          <p:cNvPr id="29" name="群組 28">
            <a:extLst>
              <a:ext uri="{FF2B5EF4-FFF2-40B4-BE49-F238E27FC236}">
                <a16:creationId xmlns:a16="http://schemas.microsoft.com/office/drawing/2014/main" id="{E66AAB42-B33B-4DD0-2260-4EA3F3CBBDFE}"/>
              </a:ext>
            </a:extLst>
          </p:cNvPr>
          <p:cNvGrpSpPr/>
          <p:nvPr/>
        </p:nvGrpSpPr>
        <p:grpSpPr>
          <a:xfrm>
            <a:off x="7064828" y="3432809"/>
            <a:ext cx="3812635" cy="486031"/>
            <a:chOff x="7064828" y="3432809"/>
            <a:chExt cx="3812635" cy="486031"/>
          </a:xfrm>
        </p:grpSpPr>
        <p:cxnSp>
          <p:nvCxnSpPr>
            <p:cNvPr id="15" name="直線箭頭接點 63">
              <a:extLst>
                <a:ext uri="{FF2B5EF4-FFF2-40B4-BE49-F238E27FC236}">
                  <a16:creationId xmlns:a16="http://schemas.microsoft.com/office/drawing/2014/main" id="{4BA1A653-00DE-0D19-3D1B-CF8DBDC665C2}"/>
                </a:ext>
              </a:extLst>
            </p:cNvPr>
            <p:cNvCxnSpPr>
              <a:cxnSpLocks/>
            </p:cNvCxnSpPr>
            <p:nvPr/>
          </p:nvCxnSpPr>
          <p:spPr>
            <a:xfrm>
              <a:off x="7064828" y="3432809"/>
              <a:ext cx="0" cy="486031"/>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箭頭接點 63">
              <a:extLst>
                <a:ext uri="{FF2B5EF4-FFF2-40B4-BE49-F238E27FC236}">
                  <a16:creationId xmlns:a16="http://schemas.microsoft.com/office/drawing/2014/main" id="{27732A1C-71C6-9888-1ED9-E3BCAF436DAC}"/>
                </a:ext>
              </a:extLst>
            </p:cNvPr>
            <p:cNvCxnSpPr>
              <a:cxnSpLocks/>
            </p:cNvCxnSpPr>
            <p:nvPr/>
          </p:nvCxnSpPr>
          <p:spPr>
            <a:xfrm>
              <a:off x="8936730" y="3432809"/>
              <a:ext cx="0" cy="486031"/>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箭頭接點 63">
              <a:extLst>
                <a:ext uri="{FF2B5EF4-FFF2-40B4-BE49-F238E27FC236}">
                  <a16:creationId xmlns:a16="http://schemas.microsoft.com/office/drawing/2014/main" id="{113FFED7-EFDD-5A61-0668-2C6B2DB5D23F}"/>
                </a:ext>
              </a:extLst>
            </p:cNvPr>
            <p:cNvCxnSpPr>
              <a:cxnSpLocks/>
            </p:cNvCxnSpPr>
            <p:nvPr/>
          </p:nvCxnSpPr>
          <p:spPr>
            <a:xfrm>
              <a:off x="10877463" y="3432809"/>
              <a:ext cx="0" cy="486031"/>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3C6DF9EC-6376-8336-2408-8DD8E196EF89}"/>
                </a:ext>
              </a:extLst>
            </p:cNvPr>
            <p:cNvSpPr txBox="1"/>
            <p:nvPr/>
          </p:nvSpPr>
          <p:spPr>
            <a:xfrm>
              <a:off x="7108152" y="3495168"/>
              <a:ext cx="1726883" cy="369332"/>
            </a:xfrm>
            <a:prstGeom prst="rect">
              <a:avLst/>
            </a:prstGeom>
            <a:noFill/>
          </p:spPr>
          <p:txBody>
            <a:bodyPr wrap="none" rtlCol="0">
              <a:spAutoFit/>
            </a:bodyPr>
            <a:lstStyle/>
            <a:p>
              <a:r>
                <a:rPr kumimoji="1" lang="en-US" altLang="zh-TW" dirty="0"/>
                <a:t>Control</a:t>
              </a:r>
              <a:r>
                <a:rPr kumimoji="1" lang="zh-TW" altLang="en-US" dirty="0"/>
                <a:t> </a:t>
              </a:r>
              <a:r>
                <a:rPr kumimoji="1" lang="en-US" altLang="zh-TW" dirty="0"/>
                <a:t>Program</a:t>
              </a:r>
              <a:endParaRPr kumimoji="1" lang="zh-TW" altLang="en-US" dirty="0"/>
            </a:p>
          </p:txBody>
        </p:sp>
      </p:grpSp>
    </p:spTree>
    <p:extLst>
      <p:ext uri="{BB962C8B-B14F-4D97-AF65-F5344CB8AC3E}">
        <p14:creationId xmlns:p14="http://schemas.microsoft.com/office/powerpoint/2010/main" val="2797416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Roles of Operating System</a:t>
            </a:r>
            <a:r>
              <a:rPr kumimoji="1" lang="zh-TW" altLang="en-US" sz="4000" dirty="0">
                <a:latin typeface="+mn-lt"/>
              </a:rPr>
              <a:t> </a:t>
            </a:r>
            <a:r>
              <a:rPr kumimoji="1" lang="en-US" altLang="zh-TW" sz="4000" dirty="0">
                <a:latin typeface="+mn-lt"/>
              </a:rPr>
              <a:t>(Count.)</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sz="2800" dirty="0">
                <a:solidFill>
                  <a:schemeClr val="tx1"/>
                </a:solidFill>
                <a:latin typeface="Calibri" panose="020F0502020204030204" pitchFamily="34" charset="0"/>
                <a:cs typeface="Calibri" panose="020F0502020204030204" pitchFamily="34" charset="0"/>
              </a:rPr>
              <a:t>Goal: A software layer (middleware) stands between applications and computer’s hardware. The role of an OS is to </a:t>
            </a:r>
            <a:r>
              <a:rPr kumimoji="1" lang="en-US" altLang="zh-TW" sz="2800" dirty="0">
                <a:solidFill>
                  <a:srgbClr val="C00000"/>
                </a:solidFill>
                <a:latin typeface="Calibri" panose="020F0502020204030204" pitchFamily="34" charset="0"/>
                <a:cs typeface="Calibri" panose="020F0502020204030204" pitchFamily="34" charset="0"/>
              </a:rPr>
              <a:t>coordinate</a:t>
            </a:r>
            <a:r>
              <a:rPr kumimoji="1" lang="en-US" altLang="zh-TW" sz="2800" dirty="0">
                <a:solidFill>
                  <a:schemeClr val="tx1"/>
                </a:solidFill>
                <a:latin typeface="Calibri" panose="020F0502020204030204" pitchFamily="34" charset="0"/>
                <a:cs typeface="Calibri" panose="020F0502020204030204" pitchFamily="34" charset="0"/>
              </a:rPr>
              <a:t> and </a:t>
            </a:r>
            <a:r>
              <a:rPr kumimoji="1" lang="en-US" altLang="zh-TW" sz="2800" dirty="0">
                <a:solidFill>
                  <a:srgbClr val="C00000"/>
                </a:solidFill>
                <a:latin typeface="Calibri" panose="020F0502020204030204" pitchFamily="34" charset="0"/>
                <a:cs typeface="Calibri" panose="020F0502020204030204" pitchFamily="34" charset="0"/>
              </a:rPr>
              <a:t>manage hardware</a:t>
            </a:r>
            <a:r>
              <a:rPr kumimoji="1" lang="zh-TW" altLang="en-US" sz="2800" dirty="0">
                <a:solidFill>
                  <a:srgbClr val="C00000"/>
                </a:solidFill>
                <a:latin typeface="Calibri" panose="020F0502020204030204" pitchFamily="34" charset="0"/>
                <a:cs typeface="Calibri" panose="020F0502020204030204" pitchFamily="34" charset="0"/>
              </a:rPr>
              <a:t> </a:t>
            </a:r>
            <a:r>
              <a:rPr kumimoji="1" lang="en-US" altLang="zh-TW" sz="2800" dirty="0">
                <a:solidFill>
                  <a:srgbClr val="C00000"/>
                </a:solidFill>
                <a:latin typeface="Calibri" panose="020F0502020204030204" pitchFamily="34" charset="0"/>
                <a:cs typeface="Calibri" panose="020F0502020204030204" pitchFamily="34" charset="0"/>
              </a:rPr>
              <a:t>devices</a:t>
            </a:r>
            <a:r>
              <a:rPr lang="en-US" altLang="zh-TW" sz="2800" dirty="0">
                <a:solidFill>
                  <a:srgbClr val="C00000"/>
                </a:solidFill>
                <a:latin typeface="Calibri" panose="020F0502020204030204" pitchFamily="34" charset="0"/>
                <a:cs typeface="Calibri" panose="020F0502020204030204" pitchFamily="34" charset="0"/>
              </a:rPr>
              <a:t>. </a:t>
            </a:r>
            <a:r>
              <a:rPr kumimoji="1" lang="en-US" altLang="zh-TW" sz="2800" dirty="0">
                <a:solidFill>
                  <a:schemeClr val="tx1"/>
                </a:solidFill>
                <a:latin typeface="Calibri" panose="020F0502020204030204" pitchFamily="34" charset="0"/>
                <a:cs typeface="Calibri" panose="020F0502020204030204" pitchFamily="34" charset="0"/>
              </a:rPr>
              <a:t>(e.g.,</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chemeClr val="tx1"/>
                </a:solidFill>
                <a:latin typeface="Calibri" panose="020F0502020204030204" pitchFamily="34" charset="0"/>
                <a:cs typeface="Calibri" panose="020F0502020204030204" pitchFamily="34" charset="0"/>
              </a:rPr>
              <a:t>CPU,</a:t>
            </a:r>
            <a:r>
              <a:rPr kumimoji="1"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memory,</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storage</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devices)</a:t>
            </a:r>
            <a:r>
              <a:rPr kumimoji="1" lang="en-US" altLang="zh-TW" sz="2800" dirty="0">
                <a:solidFill>
                  <a:schemeClr val="tx1"/>
                </a:solidFill>
                <a:latin typeface="Calibri" panose="020F0502020204030204" pitchFamily="34" charset="0"/>
                <a:cs typeface="Calibri" panose="020F0502020204030204" pitchFamily="34" charset="0"/>
              </a:rPr>
              <a:t>.</a:t>
            </a:r>
            <a:br>
              <a:rPr kumimoji="1" lang="en-US" altLang="zh-TW" sz="2800" dirty="0">
                <a:solidFill>
                  <a:schemeClr val="tx1"/>
                </a:solidFill>
                <a:latin typeface="Calibri" panose="020F0502020204030204" pitchFamily="34" charset="0"/>
                <a:cs typeface="Calibri" panose="020F0502020204030204" pitchFamily="34" charset="0"/>
              </a:rPr>
            </a:br>
            <a:endParaRPr kumimoji="1" lang="en-US" altLang="zh-TW" sz="2800" dirty="0">
              <a:solidFill>
                <a:schemeClr val="tx1"/>
              </a:solidFill>
              <a:latin typeface="Calibri" panose="020F0502020204030204" pitchFamily="34" charset="0"/>
              <a:cs typeface="Calibri" panose="020F0502020204030204" pitchFamily="34" charset="0"/>
            </a:endParaRPr>
          </a:p>
          <a:p>
            <a:pPr algn="l"/>
            <a:r>
              <a:rPr lang="en-US" altLang="zh-TW" sz="2800" dirty="0">
                <a:solidFill>
                  <a:schemeClr val="tx1"/>
                </a:solidFill>
                <a:latin typeface="Calibri" panose="020F0502020204030204" pitchFamily="34" charset="0"/>
                <a:cs typeface="Calibri" panose="020F0502020204030204" pitchFamily="34" charset="0"/>
              </a:rPr>
              <a:t>Well-Known</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Components:</a:t>
            </a:r>
            <a:endParaRPr kumimoji="1" lang="en-US" altLang="zh-TW" sz="2400" dirty="0">
              <a:solidFill>
                <a:schemeClr val="tx1"/>
              </a:solidFill>
              <a:latin typeface="Calibri" panose="020F0502020204030204" pitchFamily="34" charset="0"/>
              <a:cs typeface="Calibri" panose="020F0502020204030204" pitchFamily="34" charset="0"/>
            </a:endParaRPr>
          </a:p>
          <a:p>
            <a:pPr lvl="1" algn="l"/>
            <a:r>
              <a:rPr lang="en-US" altLang="zh-TW" sz="2400" dirty="0">
                <a:solidFill>
                  <a:schemeClr val="tx1"/>
                </a:solidFill>
                <a:latin typeface="Calibri" panose="020F0502020204030204" pitchFamily="34" charset="0"/>
                <a:cs typeface="Calibri" panose="020F0502020204030204" pitchFamily="34" charset="0"/>
              </a:rPr>
              <a:t>Process</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Scheduler:</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Fairly allocate CPU </a:t>
            </a:r>
            <a:br>
              <a:rPr lang="en-US" altLang="zh-TW" sz="2400" dirty="0">
                <a:solidFill>
                  <a:schemeClr val="tx1"/>
                </a:solidFill>
                <a:latin typeface="Calibri" panose="020F0502020204030204" pitchFamily="34" charset="0"/>
                <a:cs typeface="Calibri" panose="020F0502020204030204" pitchFamily="34" charset="0"/>
              </a:rPr>
            </a:br>
            <a:r>
              <a:rPr lang="en-US" altLang="zh-TW" sz="2400" dirty="0">
                <a:solidFill>
                  <a:schemeClr val="tx1"/>
                </a:solidFill>
                <a:latin typeface="Calibri" panose="020F0502020204030204" pitchFamily="34" charset="0"/>
                <a:cs typeface="Calibri" panose="020F0502020204030204" pitchFamily="34" charset="0"/>
              </a:rPr>
              <a:t>resources to applications.</a:t>
            </a:r>
          </a:p>
          <a:p>
            <a:pPr lvl="1" algn="l"/>
            <a:r>
              <a:rPr kumimoji="1" lang="en-US" altLang="zh-TW" sz="2400" dirty="0">
                <a:solidFill>
                  <a:schemeClr val="tx1"/>
                </a:solidFill>
                <a:latin typeface="Calibri" panose="020F0502020204030204" pitchFamily="34" charset="0"/>
                <a:cs typeface="Calibri" panose="020F0502020204030204" pitchFamily="34" charset="0"/>
              </a:rPr>
              <a:t>Memory Manager</a:t>
            </a:r>
            <a:r>
              <a:rPr lang="en-US" altLang="zh-TW" sz="2400" dirty="0">
                <a:solidFill>
                  <a:schemeClr val="tx1"/>
                </a:solidFill>
                <a:latin typeface="Calibri" panose="020F0502020204030204" pitchFamily="34" charset="0"/>
                <a:cs typeface="Calibri" panose="020F0502020204030204" pitchFamily="34" charset="0"/>
              </a:rPr>
              <a:t>: Allocate memory, </a:t>
            </a:r>
            <a:br>
              <a:rPr lang="en-US" altLang="zh-TW" sz="2400" dirty="0">
                <a:solidFill>
                  <a:schemeClr val="tx1"/>
                </a:solidFill>
                <a:latin typeface="Calibri" panose="020F0502020204030204" pitchFamily="34" charset="0"/>
                <a:cs typeface="Calibri" panose="020F0502020204030204" pitchFamily="34" charset="0"/>
              </a:rPr>
            </a:br>
            <a:r>
              <a:rPr lang="en-US" altLang="zh-TW" sz="2400" dirty="0">
                <a:solidFill>
                  <a:schemeClr val="tx1"/>
                </a:solidFill>
                <a:latin typeface="Calibri" panose="020F0502020204030204" pitchFamily="34" charset="0"/>
                <a:cs typeface="Calibri" panose="020F0502020204030204" pitchFamily="34" charset="0"/>
              </a:rPr>
              <a:t>locate pages, reclaim memory.</a:t>
            </a:r>
          </a:p>
          <a:p>
            <a:pPr lvl="1" algn="l"/>
            <a:r>
              <a:rPr lang="en-US" altLang="zh-TW" dirty="0">
                <a:solidFill>
                  <a:schemeClr val="tx1"/>
                </a:solidFill>
              </a:rPr>
              <a:t>Block</a:t>
            </a:r>
            <a:r>
              <a:rPr lang="zh-TW" altLang="en-US" dirty="0">
                <a:solidFill>
                  <a:schemeClr val="tx1"/>
                </a:solidFill>
              </a:rPr>
              <a:t> </a:t>
            </a:r>
            <a:r>
              <a:rPr lang="en-US" altLang="zh-TW" dirty="0">
                <a:solidFill>
                  <a:schemeClr val="tx1"/>
                </a:solidFill>
              </a:rPr>
              <a:t>I/O</a:t>
            </a:r>
            <a:r>
              <a:rPr lang="zh-TW" altLang="en-US" dirty="0">
                <a:solidFill>
                  <a:schemeClr val="tx1"/>
                </a:solidFill>
              </a:rPr>
              <a:t> </a:t>
            </a:r>
            <a:r>
              <a:rPr lang="en-US" altLang="zh-TW" dirty="0">
                <a:solidFill>
                  <a:schemeClr val="tx1"/>
                </a:solidFill>
              </a:rPr>
              <a:t>Layer:</a:t>
            </a:r>
            <a:r>
              <a:rPr lang="zh-TW" altLang="en-US" dirty="0">
                <a:solidFill>
                  <a:schemeClr val="tx1"/>
                </a:solidFill>
              </a:rPr>
              <a:t> </a:t>
            </a:r>
            <a:r>
              <a:rPr lang="en-US" altLang="zh-TW" dirty="0">
                <a:solidFill>
                  <a:schemeClr val="tx1"/>
                </a:solidFill>
              </a:rPr>
              <a:t>Manage</a:t>
            </a:r>
            <a:r>
              <a:rPr lang="zh-TW" altLang="en-US" dirty="0">
                <a:solidFill>
                  <a:schemeClr val="tx1"/>
                </a:solidFill>
              </a:rPr>
              <a:t> </a:t>
            </a:r>
            <a:r>
              <a:rPr lang="en-US" altLang="zh-TW" dirty="0">
                <a:solidFill>
                  <a:schemeClr val="tx1"/>
                </a:solidFill>
              </a:rPr>
              <a:t>I/O</a:t>
            </a:r>
            <a:r>
              <a:rPr lang="zh-TW" altLang="en-US" dirty="0">
                <a:solidFill>
                  <a:schemeClr val="tx1"/>
                </a:solidFill>
              </a:rPr>
              <a:t> </a:t>
            </a:r>
            <a:r>
              <a:rPr lang="en-US" altLang="zh-TW" dirty="0">
                <a:solidFill>
                  <a:schemeClr val="tx1"/>
                </a:solidFill>
              </a:rPr>
              <a:t>requests</a:t>
            </a:r>
            <a:br>
              <a:rPr lang="en-US" altLang="zh-TW" dirty="0">
                <a:solidFill>
                  <a:schemeClr val="tx1"/>
                </a:solidFill>
              </a:rPr>
            </a:br>
            <a:r>
              <a:rPr lang="en-US" altLang="zh-TW" dirty="0">
                <a:solidFill>
                  <a:schemeClr val="tx1"/>
                </a:solidFill>
              </a:rPr>
              <a:t>(Merge</a:t>
            </a:r>
            <a:r>
              <a:rPr lang="zh-TW" altLang="en-US" dirty="0">
                <a:solidFill>
                  <a:schemeClr val="tx1"/>
                </a:solidFill>
              </a:rPr>
              <a:t> </a:t>
            </a:r>
            <a:r>
              <a:rPr lang="en-US" altLang="zh-TW" dirty="0">
                <a:solidFill>
                  <a:schemeClr val="tx1"/>
                </a:solidFill>
              </a:rPr>
              <a:t>&amp;</a:t>
            </a:r>
            <a:r>
              <a:rPr lang="zh-TW" altLang="en-US" dirty="0">
                <a:solidFill>
                  <a:schemeClr val="tx1"/>
                </a:solidFill>
              </a:rPr>
              <a:t> </a:t>
            </a:r>
            <a:r>
              <a:rPr lang="en-US" altLang="zh-TW" dirty="0">
                <a:solidFill>
                  <a:schemeClr val="tx1"/>
                </a:solidFill>
              </a:rPr>
              <a:t>Schedule</a:t>
            </a:r>
            <a:r>
              <a:rPr lang="zh-TW" altLang="en-US" dirty="0">
                <a:solidFill>
                  <a:schemeClr val="tx1"/>
                </a:solidFill>
              </a:rPr>
              <a:t> </a:t>
            </a:r>
            <a:r>
              <a:rPr lang="en-US" altLang="zh-TW" dirty="0">
                <a:solidFill>
                  <a:schemeClr val="tx1"/>
                </a:solidFill>
              </a:rPr>
              <a:t>I/O)</a:t>
            </a:r>
            <a:endParaRPr lang="en-US" altLang="zh-TW" sz="2400" dirty="0">
              <a:solidFill>
                <a:schemeClr val="tx1"/>
              </a:solidFill>
            </a:endParaRPr>
          </a:p>
          <a:p>
            <a:pPr lvl="1" algn="l"/>
            <a:r>
              <a:rPr kumimoji="1" lang="en-US" altLang="zh-TW" sz="2400" dirty="0">
                <a:solidFill>
                  <a:schemeClr val="tx1"/>
                </a:solidFill>
                <a:latin typeface="Calibri" panose="020F0502020204030204" pitchFamily="34" charset="0"/>
                <a:cs typeface="Calibri" panose="020F0502020204030204" pitchFamily="34" charset="0"/>
              </a:rPr>
              <a:t>File</a:t>
            </a:r>
            <a:r>
              <a:rPr kumimoji="1" lang="zh-TW" altLang="en-US" sz="2400" dirty="0">
                <a:solidFill>
                  <a:schemeClr val="tx1"/>
                </a:solidFill>
                <a:latin typeface="Calibri" panose="020F0502020204030204" pitchFamily="34" charset="0"/>
                <a:cs typeface="Calibri" panose="020F0502020204030204" pitchFamily="34" charset="0"/>
              </a:rPr>
              <a:t> </a:t>
            </a:r>
            <a:r>
              <a:rPr kumimoji="1" lang="en-US" altLang="zh-TW" sz="2400" dirty="0">
                <a:solidFill>
                  <a:schemeClr val="tx1"/>
                </a:solidFill>
                <a:latin typeface="Calibri" panose="020F0502020204030204" pitchFamily="34" charset="0"/>
                <a:cs typeface="Calibri" panose="020F0502020204030204" pitchFamily="34" charset="0"/>
              </a:rPr>
              <a:t>System: Locate file contents, </a:t>
            </a:r>
            <a:br>
              <a:rPr kumimoji="1" lang="en-US" altLang="zh-TW" sz="2400" dirty="0">
                <a:solidFill>
                  <a:schemeClr val="tx1"/>
                </a:solidFill>
                <a:latin typeface="Calibri" panose="020F0502020204030204" pitchFamily="34" charset="0"/>
                <a:cs typeface="Calibri" panose="020F0502020204030204" pitchFamily="34" charset="0"/>
              </a:rPr>
            </a:br>
            <a:r>
              <a:rPr kumimoji="1" lang="en-US" altLang="zh-TW" sz="2400" dirty="0">
                <a:solidFill>
                  <a:schemeClr val="tx1"/>
                </a:solidFill>
                <a:latin typeface="Calibri" panose="020F0502020204030204" pitchFamily="34" charset="0"/>
                <a:cs typeface="Calibri" panose="020F0502020204030204" pitchFamily="34" charset="0"/>
              </a:rPr>
              <a:t>partition devices, control permission.</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8</a:t>
            </a:fld>
            <a:endParaRPr lang="zh-TW" altLang="en-US" dirty="0"/>
          </a:p>
        </p:txBody>
      </p:sp>
      <p:sp>
        <p:nvSpPr>
          <p:cNvPr id="7" name="矩形 56">
            <a:extLst>
              <a:ext uri="{FF2B5EF4-FFF2-40B4-BE49-F238E27FC236}">
                <a16:creationId xmlns:a16="http://schemas.microsoft.com/office/drawing/2014/main" id="{D708D46F-1EEC-175B-DF28-1B771D2691A3}"/>
              </a:ext>
            </a:extLst>
          </p:cNvPr>
          <p:cNvSpPr/>
          <p:nvPr/>
        </p:nvSpPr>
        <p:spPr>
          <a:xfrm>
            <a:off x="6096000" y="3918840"/>
            <a:ext cx="5681460" cy="1056895"/>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600" dirty="0">
                <a:solidFill>
                  <a:schemeClr val="tx1"/>
                </a:solidFill>
                <a:cs typeface="Arial" panose="020B0604020202020204" pitchFamily="34" charset="0"/>
              </a:rPr>
              <a:t>Operating System</a:t>
            </a:r>
            <a:endParaRPr kumimoji="1" lang="zh-TW" altLang="en-US" sz="1600" dirty="0">
              <a:solidFill>
                <a:schemeClr val="tx1"/>
              </a:solidFill>
              <a:cs typeface="Arial" panose="020B0604020202020204" pitchFamily="34" charset="0"/>
            </a:endParaRPr>
          </a:p>
        </p:txBody>
      </p:sp>
      <p:grpSp>
        <p:nvGrpSpPr>
          <p:cNvPr id="8" name="Group 228">
            <a:extLst>
              <a:ext uri="{FF2B5EF4-FFF2-40B4-BE49-F238E27FC236}">
                <a16:creationId xmlns:a16="http://schemas.microsoft.com/office/drawing/2014/main" id="{C4ED2AA0-8BD8-88E8-D1CD-E48C4EE70EEC}"/>
              </a:ext>
            </a:extLst>
          </p:cNvPr>
          <p:cNvGrpSpPr/>
          <p:nvPr/>
        </p:nvGrpSpPr>
        <p:grpSpPr>
          <a:xfrm>
            <a:off x="6096000" y="2892809"/>
            <a:ext cx="5681463" cy="540000"/>
            <a:chOff x="3253747" y="1238250"/>
            <a:chExt cx="5681463" cy="540000"/>
          </a:xfrm>
        </p:grpSpPr>
        <p:sp>
          <p:nvSpPr>
            <p:cNvPr id="9" name="矩形 57">
              <a:extLst>
                <a:ext uri="{FF2B5EF4-FFF2-40B4-BE49-F238E27FC236}">
                  <a16:creationId xmlns:a16="http://schemas.microsoft.com/office/drawing/2014/main" id="{A9A9CB98-90F8-78D3-1E9D-A702B35204D4}"/>
                </a:ext>
              </a:extLst>
            </p:cNvPr>
            <p:cNvSpPr/>
            <p:nvPr/>
          </p:nvSpPr>
          <p:spPr>
            <a:xfrm>
              <a:off x="3253747" y="1238250"/>
              <a:ext cx="1800000" cy="5400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Neural</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Networks</a:t>
              </a:r>
              <a:endParaRPr kumimoji="1" lang="zh-TW" altLang="en-US" sz="1600" dirty="0">
                <a:solidFill>
                  <a:schemeClr val="tx1"/>
                </a:solidFill>
                <a:cs typeface="Arial" panose="020B0604020202020204" pitchFamily="34" charset="0"/>
              </a:endParaRPr>
            </a:p>
          </p:txBody>
        </p:sp>
        <p:sp>
          <p:nvSpPr>
            <p:cNvPr id="10" name="矩形 58">
              <a:extLst>
                <a:ext uri="{FF2B5EF4-FFF2-40B4-BE49-F238E27FC236}">
                  <a16:creationId xmlns:a16="http://schemas.microsoft.com/office/drawing/2014/main" id="{900D321E-9074-020B-6D07-C646EDA5A2F2}"/>
                </a:ext>
              </a:extLst>
            </p:cNvPr>
            <p:cNvSpPr/>
            <p:nvPr/>
          </p:nvSpPr>
          <p:spPr>
            <a:xfrm>
              <a:off x="5196000" y="1238250"/>
              <a:ext cx="1800000" cy="5400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Web</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Browsers</a:t>
              </a:r>
              <a:endParaRPr kumimoji="1" lang="zh-TW" altLang="en-US" sz="1600" dirty="0">
                <a:solidFill>
                  <a:schemeClr val="tx1"/>
                </a:solidFill>
                <a:cs typeface="Arial" panose="020B0604020202020204" pitchFamily="34" charset="0"/>
              </a:endParaRPr>
            </a:p>
          </p:txBody>
        </p:sp>
        <p:sp>
          <p:nvSpPr>
            <p:cNvPr id="11" name="矩形 59">
              <a:extLst>
                <a:ext uri="{FF2B5EF4-FFF2-40B4-BE49-F238E27FC236}">
                  <a16:creationId xmlns:a16="http://schemas.microsoft.com/office/drawing/2014/main" id="{199D23BA-918F-1734-1431-19490E463C11}"/>
                </a:ext>
              </a:extLst>
            </p:cNvPr>
            <p:cNvSpPr/>
            <p:nvPr/>
          </p:nvSpPr>
          <p:spPr>
            <a:xfrm>
              <a:off x="7135210" y="1238250"/>
              <a:ext cx="1800000" cy="5400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 Video</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Players</a:t>
              </a:r>
              <a:endParaRPr kumimoji="1" lang="zh-TW" altLang="en-US" sz="1600" dirty="0">
                <a:solidFill>
                  <a:schemeClr val="tx1"/>
                </a:solidFill>
                <a:cs typeface="Arial" panose="020B0604020202020204" pitchFamily="34" charset="0"/>
              </a:endParaRPr>
            </a:p>
          </p:txBody>
        </p:sp>
      </p:grpSp>
      <p:sp>
        <p:nvSpPr>
          <p:cNvPr id="12" name="矩形 56">
            <a:extLst>
              <a:ext uri="{FF2B5EF4-FFF2-40B4-BE49-F238E27FC236}">
                <a16:creationId xmlns:a16="http://schemas.microsoft.com/office/drawing/2014/main" id="{ABAFF7E2-A60B-39EB-55A2-04C119587F0A}"/>
              </a:ext>
            </a:extLst>
          </p:cNvPr>
          <p:cNvSpPr/>
          <p:nvPr/>
        </p:nvSpPr>
        <p:spPr>
          <a:xfrm>
            <a:off x="6096000" y="5453510"/>
            <a:ext cx="5681460" cy="121996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600" dirty="0">
                <a:solidFill>
                  <a:schemeClr val="tx1"/>
                </a:solidFill>
                <a:cs typeface="Arial" panose="020B0604020202020204" pitchFamily="34" charset="0"/>
              </a:rPr>
              <a:t>Computer</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Hardware</a:t>
            </a:r>
            <a:endParaRPr kumimoji="1" lang="zh-TW" altLang="en-US" sz="1600" dirty="0">
              <a:solidFill>
                <a:schemeClr val="tx1"/>
              </a:solidFill>
              <a:cs typeface="Arial" panose="020B0604020202020204" pitchFamily="34" charset="0"/>
            </a:endParaRPr>
          </a:p>
        </p:txBody>
      </p:sp>
      <p:sp>
        <p:nvSpPr>
          <p:cNvPr id="17" name="矩形 56">
            <a:extLst>
              <a:ext uri="{FF2B5EF4-FFF2-40B4-BE49-F238E27FC236}">
                <a16:creationId xmlns:a16="http://schemas.microsoft.com/office/drawing/2014/main" id="{FCC8180D-0DB8-978E-4FF9-73BE561568E4}"/>
              </a:ext>
            </a:extLst>
          </p:cNvPr>
          <p:cNvSpPr/>
          <p:nvPr/>
        </p:nvSpPr>
        <p:spPr>
          <a:xfrm>
            <a:off x="6365557" y="5820162"/>
            <a:ext cx="1422926" cy="677416"/>
          </a:xfrm>
          <a:prstGeom prst="rect">
            <a:avLst/>
          </a:prstGeom>
          <a:solidFill>
            <a:srgbClr val="F2F2F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Computing</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Devices</a:t>
            </a:r>
            <a:endParaRPr kumimoji="1" lang="zh-TW" altLang="en-US" sz="1600" dirty="0">
              <a:solidFill>
                <a:schemeClr val="tx1"/>
              </a:solidFill>
              <a:cs typeface="Arial" panose="020B0604020202020204" pitchFamily="34" charset="0"/>
            </a:endParaRPr>
          </a:p>
        </p:txBody>
      </p:sp>
      <p:sp>
        <p:nvSpPr>
          <p:cNvPr id="18" name="矩形 56">
            <a:extLst>
              <a:ext uri="{FF2B5EF4-FFF2-40B4-BE49-F238E27FC236}">
                <a16:creationId xmlns:a16="http://schemas.microsoft.com/office/drawing/2014/main" id="{3FA72FEC-EB33-A7A5-1938-859FF6BE6B55}"/>
              </a:ext>
            </a:extLst>
          </p:cNvPr>
          <p:cNvSpPr/>
          <p:nvPr/>
        </p:nvSpPr>
        <p:spPr>
          <a:xfrm>
            <a:off x="8271973" y="5820162"/>
            <a:ext cx="1422926" cy="677416"/>
          </a:xfrm>
          <a:prstGeom prst="rect">
            <a:avLst/>
          </a:prstGeom>
          <a:solidFill>
            <a:srgbClr val="F2F2F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Memory</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Devices</a:t>
            </a:r>
            <a:endParaRPr kumimoji="1" lang="zh-TW" altLang="en-US" sz="1600" dirty="0">
              <a:solidFill>
                <a:schemeClr val="tx1"/>
              </a:solidFill>
              <a:cs typeface="Arial" panose="020B0604020202020204" pitchFamily="34" charset="0"/>
            </a:endParaRPr>
          </a:p>
        </p:txBody>
      </p:sp>
      <p:sp>
        <p:nvSpPr>
          <p:cNvPr id="19" name="矩形 56">
            <a:extLst>
              <a:ext uri="{FF2B5EF4-FFF2-40B4-BE49-F238E27FC236}">
                <a16:creationId xmlns:a16="http://schemas.microsoft.com/office/drawing/2014/main" id="{ADC73CFA-7039-804D-89C6-7B0147E6A758}"/>
              </a:ext>
            </a:extLst>
          </p:cNvPr>
          <p:cNvSpPr/>
          <p:nvPr/>
        </p:nvSpPr>
        <p:spPr>
          <a:xfrm>
            <a:off x="10178389" y="5820162"/>
            <a:ext cx="1422926" cy="677416"/>
          </a:xfrm>
          <a:prstGeom prst="rect">
            <a:avLst/>
          </a:prstGeom>
          <a:solidFill>
            <a:srgbClr val="F2F2F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I/O</a:t>
            </a:r>
            <a:r>
              <a:rPr kumimoji="1" lang="zh-TW" altLang="en-US" sz="1600" dirty="0">
                <a:solidFill>
                  <a:schemeClr val="tx1"/>
                </a:solidFill>
                <a:cs typeface="Arial" panose="020B0604020202020204" pitchFamily="34" charset="0"/>
              </a:rPr>
              <a:t> </a:t>
            </a:r>
            <a:br>
              <a:rPr kumimoji="1" lang="en-US" altLang="zh-TW" sz="1600" dirty="0">
                <a:solidFill>
                  <a:schemeClr val="tx1"/>
                </a:solidFill>
                <a:cs typeface="Arial" panose="020B0604020202020204" pitchFamily="34" charset="0"/>
              </a:rPr>
            </a:br>
            <a:r>
              <a:rPr kumimoji="1" lang="en-US" altLang="zh-TW" sz="1600" dirty="0">
                <a:solidFill>
                  <a:schemeClr val="tx1"/>
                </a:solidFill>
                <a:cs typeface="Arial" panose="020B0604020202020204" pitchFamily="34" charset="0"/>
              </a:rPr>
              <a:t>Devices</a:t>
            </a:r>
            <a:endParaRPr kumimoji="1" lang="zh-TW" altLang="en-US" sz="1600" dirty="0">
              <a:solidFill>
                <a:schemeClr val="tx1"/>
              </a:solidFill>
              <a:cs typeface="Arial" panose="020B0604020202020204" pitchFamily="34" charset="0"/>
            </a:endParaRPr>
          </a:p>
        </p:txBody>
      </p:sp>
      <p:grpSp>
        <p:nvGrpSpPr>
          <p:cNvPr id="25" name="群組 24">
            <a:extLst>
              <a:ext uri="{FF2B5EF4-FFF2-40B4-BE49-F238E27FC236}">
                <a16:creationId xmlns:a16="http://schemas.microsoft.com/office/drawing/2014/main" id="{156B74EA-348A-BBBF-A8DE-88083EFA455B}"/>
              </a:ext>
            </a:extLst>
          </p:cNvPr>
          <p:cNvGrpSpPr/>
          <p:nvPr/>
        </p:nvGrpSpPr>
        <p:grpSpPr>
          <a:xfrm>
            <a:off x="7085669" y="4982465"/>
            <a:ext cx="3812635" cy="486031"/>
            <a:chOff x="7085669" y="4673219"/>
            <a:chExt cx="3812635" cy="486031"/>
          </a:xfrm>
        </p:grpSpPr>
        <p:cxnSp>
          <p:nvCxnSpPr>
            <p:cNvPr id="22" name="直線箭頭接點 63">
              <a:extLst>
                <a:ext uri="{FF2B5EF4-FFF2-40B4-BE49-F238E27FC236}">
                  <a16:creationId xmlns:a16="http://schemas.microsoft.com/office/drawing/2014/main" id="{8A6847F0-330C-E7E1-0531-A3ACA0A9469E}"/>
                </a:ext>
              </a:extLst>
            </p:cNvPr>
            <p:cNvCxnSpPr>
              <a:cxnSpLocks/>
            </p:cNvCxnSpPr>
            <p:nvPr/>
          </p:nvCxnSpPr>
          <p:spPr>
            <a:xfrm>
              <a:off x="7085669" y="4673219"/>
              <a:ext cx="0" cy="486031"/>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直線箭頭接點 63">
              <a:extLst>
                <a:ext uri="{FF2B5EF4-FFF2-40B4-BE49-F238E27FC236}">
                  <a16:creationId xmlns:a16="http://schemas.microsoft.com/office/drawing/2014/main" id="{87AE9172-1A73-7A07-0877-0A4AC04698F8}"/>
                </a:ext>
              </a:extLst>
            </p:cNvPr>
            <p:cNvCxnSpPr>
              <a:cxnSpLocks/>
            </p:cNvCxnSpPr>
            <p:nvPr/>
          </p:nvCxnSpPr>
          <p:spPr>
            <a:xfrm>
              <a:off x="8957571" y="4673219"/>
              <a:ext cx="0" cy="486031"/>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箭頭接點 63">
              <a:extLst>
                <a:ext uri="{FF2B5EF4-FFF2-40B4-BE49-F238E27FC236}">
                  <a16:creationId xmlns:a16="http://schemas.microsoft.com/office/drawing/2014/main" id="{067ED171-8EA0-94C8-E025-7A39F1C1AF55}"/>
                </a:ext>
              </a:extLst>
            </p:cNvPr>
            <p:cNvCxnSpPr>
              <a:cxnSpLocks/>
            </p:cNvCxnSpPr>
            <p:nvPr/>
          </p:nvCxnSpPr>
          <p:spPr>
            <a:xfrm>
              <a:off x="10898304" y="4673219"/>
              <a:ext cx="0" cy="486031"/>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9" name="群組 28">
            <a:extLst>
              <a:ext uri="{FF2B5EF4-FFF2-40B4-BE49-F238E27FC236}">
                <a16:creationId xmlns:a16="http://schemas.microsoft.com/office/drawing/2014/main" id="{E66AAB42-B33B-4DD0-2260-4EA3F3CBBDFE}"/>
              </a:ext>
            </a:extLst>
          </p:cNvPr>
          <p:cNvGrpSpPr/>
          <p:nvPr/>
        </p:nvGrpSpPr>
        <p:grpSpPr>
          <a:xfrm>
            <a:off x="7064828" y="3432809"/>
            <a:ext cx="3812635" cy="486031"/>
            <a:chOff x="7064828" y="3432809"/>
            <a:chExt cx="3812635" cy="486031"/>
          </a:xfrm>
        </p:grpSpPr>
        <p:cxnSp>
          <p:nvCxnSpPr>
            <p:cNvPr id="15" name="直線箭頭接點 63">
              <a:extLst>
                <a:ext uri="{FF2B5EF4-FFF2-40B4-BE49-F238E27FC236}">
                  <a16:creationId xmlns:a16="http://schemas.microsoft.com/office/drawing/2014/main" id="{4BA1A653-00DE-0D19-3D1B-CF8DBDC665C2}"/>
                </a:ext>
              </a:extLst>
            </p:cNvPr>
            <p:cNvCxnSpPr>
              <a:cxnSpLocks/>
            </p:cNvCxnSpPr>
            <p:nvPr/>
          </p:nvCxnSpPr>
          <p:spPr>
            <a:xfrm>
              <a:off x="7064828" y="3432809"/>
              <a:ext cx="0" cy="486031"/>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箭頭接點 63">
              <a:extLst>
                <a:ext uri="{FF2B5EF4-FFF2-40B4-BE49-F238E27FC236}">
                  <a16:creationId xmlns:a16="http://schemas.microsoft.com/office/drawing/2014/main" id="{27732A1C-71C6-9888-1ED9-E3BCAF436DAC}"/>
                </a:ext>
              </a:extLst>
            </p:cNvPr>
            <p:cNvCxnSpPr>
              <a:cxnSpLocks/>
            </p:cNvCxnSpPr>
            <p:nvPr/>
          </p:nvCxnSpPr>
          <p:spPr>
            <a:xfrm>
              <a:off x="8936730" y="3432809"/>
              <a:ext cx="0" cy="486031"/>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箭頭接點 63">
              <a:extLst>
                <a:ext uri="{FF2B5EF4-FFF2-40B4-BE49-F238E27FC236}">
                  <a16:creationId xmlns:a16="http://schemas.microsoft.com/office/drawing/2014/main" id="{113FFED7-EFDD-5A61-0668-2C6B2DB5D23F}"/>
                </a:ext>
              </a:extLst>
            </p:cNvPr>
            <p:cNvCxnSpPr>
              <a:cxnSpLocks/>
            </p:cNvCxnSpPr>
            <p:nvPr/>
          </p:nvCxnSpPr>
          <p:spPr>
            <a:xfrm>
              <a:off x="10877463" y="3432809"/>
              <a:ext cx="0" cy="486031"/>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0" name="矩形 64">
            <a:extLst>
              <a:ext uri="{FF2B5EF4-FFF2-40B4-BE49-F238E27FC236}">
                <a16:creationId xmlns:a16="http://schemas.microsoft.com/office/drawing/2014/main" id="{170ED1D7-8248-80D8-DA55-B7CDF815BF60}"/>
              </a:ext>
            </a:extLst>
          </p:cNvPr>
          <p:cNvSpPr/>
          <p:nvPr/>
        </p:nvSpPr>
        <p:spPr>
          <a:xfrm>
            <a:off x="6262961" y="4301402"/>
            <a:ext cx="1603733" cy="540000"/>
          </a:xfrm>
          <a:prstGeom prst="rect">
            <a:avLst/>
          </a:prstGeom>
          <a:solidFill>
            <a:schemeClr val="accent1">
              <a:lumMod val="60000"/>
              <a:lumOff val="40000"/>
            </a:schemeClr>
          </a:solid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Process Scheduler</a:t>
            </a:r>
            <a:endParaRPr kumimoji="1" lang="zh-TW" altLang="en-US" sz="1600" dirty="0">
              <a:solidFill>
                <a:schemeClr val="tx1"/>
              </a:solidFill>
              <a:cs typeface="Arial" panose="020B0604020202020204" pitchFamily="34" charset="0"/>
            </a:endParaRPr>
          </a:p>
        </p:txBody>
      </p:sp>
      <p:sp>
        <p:nvSpPr>
          <p:cNvPr id="31" name="矩形 64">
            <a:extLst>
              <a:ext uri="{FF2B5EF4-FFF2-40B4-BE49-F238E27FC236}">
                <a16:creationId xmlns:a16="http://schemas.microsoft.com/office/drawing/2014/main" id="{F535C33D-4EB9-081F-38D0-BDA3815C8F20}"/>
              </a:ext>
            </a:extLst>
          </p:cNvPr>
          <p:cNvSpPr/>
          <p:nvPr/>
        </p:nvSpPr>
        <p:spPr>
          <a:xfrm>
            <a:off x="8134863" y="4301402"/>
            <a:ext cx="1603733" cy="540000"/>
          </a:xfrm>
          <a:prstGeom prst="rect">
            <a:avLst/>
          </a:prstGeom>
          <a:solidFill>
            <a:schemeClr val="accent1">
              <a:lumMod val="60000"/>
              <a:lumOff val="40000"/>
            </a:schemeClr>
          </a:solid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Memory Manager</a:t>
            </a:r>
            <a:endParaRPr kumimoji="1" lang="zh-TW" altLang="en-US" sz="1600" dirty="0">
              <a:solidFill>
                <a:schemeClr val="tx1"/>
              </a:solidFill>
              <a:cs typeface="Arial" panose="020B0604020202020204" pitchFamily="34" charset="0"/>
            </a:endParaRPr>
          </a:p>
        </p:txBody>
      </p:sp>
      <p:sp>
        <p:nvSpPr>
          <p:cNvPr id="32" name="矩形 64">
            <a:extLst>
              <a:ext uri="{FF2B5EF4-FFF2-40B4-BE49-F238E27FC236}">
                <a16:creationId xmlns:a16="http://schemas.microsoft.com/office/drawing/2014/main" id="{87209B7E-F204-4C47-FDAE-168442FC87D2}"/>
              </a:ext>
            </a:extLst>
          </p:cNvPr>
          <p:cNvSpPr/>
          <p:nvPr/>
        </p:nvSpPr>
        <p:spPr>
          <a:xfrm>
            <a:off x="10016814" y="4630799"/>
            <a:ext cx="1603733" cy="210602"/>
          </a:xfrm>
          <a:prstGeom prst="rect">
            <a:avLst/>
          </a:prstGeom>
          <a:solidFill>
            <a:schemeClr val="accent1">
              <a:lumMod val="60000"/>
              <a:lumOff val="40000"/>
            </a:schemeClr>
          </a:solid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Block</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I/O</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Layer</a:t>
            </a:r>
            <a:endParaRPr kumimoji="1" lang="zh-TW" altLang="en-US" sz="1600" dirty="0">
              <a:solidFill>
                <a:schemeClr val="tx1"/>
              </a:solidFill>
              <a:cs typeface="Arial" panose="020B0604020202020204" pitchFamily="34" charset="0"/>
            </a:endParaRPr>
          </a:p>
        </p:txBody>
      </p:sp>
      <p:sp>
        <p:nvSpPr>
          <p:cNvPr id="5" name="矩形 64">
            <a:extLst>
              <a:ext uri="{FF2B5EF4-FFF2-40B4-BE49-F238E27FC236}">
                <a16:creationId xmlns:a16="http://schemas.microsoft.com/office/drawing/2014/main" id="{E6B1D609-C161-B26D-717B-F28AD39540B0}"/>
              </a:ext>
            </a:extLst>
          </p:cNvPr>
          <p:cNvSpPr/>
          <p:nvPr/>
        </p:nvSpPr>
        <p:spPr>
          <a:xfrm>
            <a:off x="10016814" y="4305401"/>
            <a:ext cx="1603733" cy="198939"/>
          </a:xfrm>
          <a:prstGeom prst="rect">
            <a:avLst/>
          </a:prstGeom>
          <a:solidFill>
            <a:schemeClr val="accent1">
              <a:lumMod val="60000"/>
              <a:lumOff val="40000"/>
            </a:schemeClr>
          </a:solid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File System</a:t>
            </a:r>
            <a:endParaRPr kumimoji="1" lang="zh-TW" altLang="en-US" sz="1600" dirty="0">
              <a:solidFill>
                <a:schemeClr val="tx1"/>
              </a:solidFill>
              <a:cs typeface="Arial" panose="020B0604020202020204" pitchFamily="34" charset="0"/>
            </a:endParaRPr>
          </a:p>
        </p:txBody>
      </p:sp>
      <p:sp>
        <p:nvSpPr>
          <p:cNvPr id="6" name="文字方塊 5">
            <a:extLst>
              <a:ext uri="{FF2B5EF4-FFF2-40B4-BE49-F238E27FC236}">
                <a16:creationId xmlns:a16="http://schemas.microsoft.com/office/drawing/2014/main" id="{82139012-CC26-7F1E-8F83-BCB97F8F95F4}"/>
              </a:ext>
            </a:extLst>
          </p:cNvPr>
          <p:cNvSpPr txBox="1"/>
          <p:nvPr/>
        </p:nvSpPr>
        <p:spPr>
          <a:xfrm>
            <a:off x="55418" y="4941455"/>
            <a:ext cx="184731" cy="369332"/>
          </a:xfrm>
          <a:prstGeom prst="rect">
            <a:avLst/>
          </a:prstGeom>
          <a:noFill/>
        </p:spPr>
        <p:txBody>
          <a:bodyPr wrap="none" rtlCol="0">
            <a:spAutoFit/>
          </a:bodyPr>
          <a:lstStyle/>
          <a:p>
            <a:endParaRPr kumimoji="1" lang="zh-TW" altLang="en-US"/>
          </a:p>
        </p:txBody>
      </p:sp>
    </p:spTree>
    <p:extLst>
      <p:ext uri="{BB962C8B-B14F-4D97-AF65-F5344CB8AC3E}">
        <p14:creationId xmlns:p14="http://schemas.microsoft.com/office/powerpoint/2010/main" val="412073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What is Linux Kernel</a:t>
            </a:r>
            <a:endParaRPr kumimoji="1" lang="zh-TW" altLang="en-US" sz="4000" dirty="0">
              <a:latin typeface="+mn-lt"/>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9</a:t>
            </a:fld>
            <a:endParaRPr lang="zh-TW" altLang="en-US" dirty="0"/>
          </a:p>
        </p:txBody>
      </p:sp>
      <p:sp>
        <p:nvSpPr>
          <p:cNvPr id="73" name="矩形 72">
            <a:extLst>
              <a:ext uri="{FF2B5EF4-FFF2-40B4-BE49-F238E27FC236}">
                <a16:creationId xmlns:a16="http://schemas.microsoft.com/office/drawing/2014/main" id="{8A907CA2-3FEA-098E-A9CE-EA83143B3B4B}"/>
              </a:ext>
            </a:extLst>
          </p:cNvPr>
          <p:cNvSpPr/>
          <p:nvPr/>
        </p:nvSpPr>
        <p:spPr>
          <a:xfrm>
            <a:off x="7133063" y="2048723"/>
            <a:ext cx="4908553" cy="4625887"/>
          </a:xfrm>
          <a:prstGeom prst="rect">
            <a:avLst/>
          </a:prstGeom>
          <a:solidFill>
            <a:schemeClr val="bg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sz="2800" dirty="0">
                <a:solidFill>
                  <a:schemeClr val="tx1"/>
                </a:solidFill>
                <a:latin typeface="Calibri" panose="020F0502020204030204" pitchFamily="34" charset="0"/>
                <a:cs typeface="Calibri" panose="020F0502020204030204" pitchFamily="34" charset="0"/>
              </a:rPr>
              <a:t>Linux Kernel:</a:t>
            </a:r>
            <a:r>
              <a:rPr kumimoji="1" lang="zh-TW" altLang="en-US" sz="2800" dirty="0">
                <a:solidFill>
                  <a:schemeClr val="tx1"/>
                </a:solidFill>
                <a:latin typeface="Calibri" panose="020F0502020204030204" pitchFamily="34" charset="0"/>
                <a:cs typeface="Calibri" panose="020F0502020204030204" pitchFamily="34" charset="0"/>
              </a:rPr>
              <a:t> </a:t>
            </a:r>
            <a:r>
              <a:rPr lang="en-US" altLang="zh-TW" dirty="0">
                <a:solidFill>
                  <a:schemeClr val="tx1"/>
                </a:solidFill>
              </a:rPr>
              <a:t>A </a:t>
            </a:r>
            <a:r>
              <a:rPr lang="en-US" altLang="zh-TW" sz="2800" dirty="0">
                <a:solidFill>
                  <a:schemeClr val="tx1"/>
                </a:solidFill>
                <a:latin typeface="Calibri" panose="020F0502020204030204" pitchFamily="34" charset="0"/>
                <a:cs typeface="Calibri" panose="020F0502020204030204" pitchFamily="34" charset="0"/>
              </a:rPr>
              <a:t>process manager </a:t>
            </a:r>
            <a:r>
              <a:rPr lang="en-US" altLang="zh-TW" dirty="0">
                <a:solidFill>
                  <a:schemeClr val="tx1"/>
                </a:solidFill>
              </a:rPr>
              <a:t>consists of</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a</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rgbClr val="C00000"/>
                </a:solidFill>
                <a:latin typeface="Calibri" panose="020F0502020204030204" pitchFamily="34" charset="0"/>
                <a:cs typeface="Calibri" panose="020F0502020204030204" pitchFamily="34" charset="0"/>
              </a:rPr>
              <a:t>bun</a:t>
            </a:r>
            <a:r>
              <a:rPr lang="en-US" altLang="zh-TW" sz="2800" dirty="0">
                <a:solidFill>
                  <a:srgbClr val="C00000"/>
                </a:solidFill>
                <a:latin typeface="Calibri" panose="020F0502020204030204" pitchFamily="34" charset="0"/>
                <a:cs typeface="Calibri" panose="020F0502020204030204" pitchFamily="34" charset="0"/>
              </a:rPr>
              <a:t>ch</a:t>
            </a:r>
            <a:r>
              <a:rPr lang="zh-TW" altLang="en-US" sz="2800" dirty="0">
                <a:solidFill>
                  <a:srgbClr val="C00000"/>
                </a:solidFill>
                <a:latin typeface="Calibri" panose="020F0502020204030204" pitchFamily="34" charset="0"/>
                <a:cs typeface="Calibri" panose="020F0502020204030204" pitchFamily="34" charset="0"/>
              </a:rPr>
              <a:t> </a:t>
            </a:r>
            <a:r>
              <a:rPr lang="en-US" altLang="zh-TW" sz="2800" dirty="0">
                <a:solidFill>
                  <a:srgbClr val="C00000"/>
                </a:solidFill>
                <a:latin typeface="Calibri" panose="020F0502020204030204" pitchFamily="34" charset="0"/>
                <a:cs typeface="Calibri" panose="020F0502020204030204" pitchFamily="34" charset="0"/>
              </a:rPr>
              <a:t>of</a:t>
            </a:r>
            <a:r>
              <a:rPr lang="zh-TW" altLang="en-US" sz="2800" dirty="0">
                <a:solidFill>
                  <a:srgbClr val="C00000"/>
                </a:solidFill>
                <a:latin typeface="Calibri" panose="020F0502020204030204" pitchFamily="34" charset="0"/>
                <a:cs typeface="Calibri" panose="020F0502020204030204" pitchFamily="34" charset="0"/>
              </a:rPr>
              <a:t> </a:t>
            </a:r>
            <a:r>
              <a:rPr lang="en-US" altLang="zh-TW" sz="2800" dirty="0">
                <a:solidFill>
                  <a:srgbClr val="C00000"/>
                </a:solidFill>
                <a:latin typeface="Calibri" panose="020F0502020204030204" pitchFamily="34" charset="0"/>
                <a:cs typeface="Calibri" panose="020F0502020204030204" pitchFamily="34" charset="0"/>
              </a:rPr>
              <a:t>C and Assembly</a:t>
            </a:r>
            <a:r>
              <a:rPr lang="zh-TW" altLang="en-US" sz="2800" dirty="0">
                <a:solidFill>
                  <a:srgbClr val="C00000"/>
                </a:solidFill>
                <a:latin typeface="Calibri" panose="020F0502020204030204" pitchFamily="34" charset="0"/>
                <a:cs typeface="Calibri" panose="020F0502020204030204" pitchFamily="34" charset="0"/>
              </a:rPr>
              <a:t> </a:t>
            </a:r>
            <a:r>
              <a:rPr lang="en-US" altLang="zh-TW" sz="2800" dirty="0">
                <a:solidFill>
                  <a:srgbClr val="C00000"/>
                </a:solidFill>
                <a:latin typeface="Calibri" panose="020F0502020204030204" pitchFamily="34" charset="0"/>
                <a:cs typeface="Calibri" panose="020F0502020204030204" pitchFamily="34" charset="0"/>
              </a:rPr>
              <a:t>code</a:t>
            </a:r>
            <a:r>
              <a:rPr lang="en-US" altLang="zh-TW" sz="2800" dirty="0">
                <a:solidFill>
                  <a:schemeClr val="tx1"/>
                </a:solidFill>
                <a:latin typeface="Calibri" panose="020F0502020204030204" pitchFamily="34" charset="0"/>
                <a:cs typeface="Calibri" panose="020F0502020204030204" pitchFamily="34" charset="0"/>
              </a:rPr>
              <a:t>.</a:t>
            </a:r>
          </a:p>
          <a:p>
            <a:pPr algn="l"/>
            <a:r>
              <a:rPr lang="en-US" altLang="zh-TW" sz="2800" dirty="0">
                <a:solidFill>
                  <a:schemeClr val="tx1"/>
                </a:solidFill>
                <a:latin typeface="Calibri" panose="020F0502020204030204" pitchFamily="34" charset="0"/>
                <a:cs typeface="Calibri" panose="020F0502020204030204" pitchFamily="34" charset="0"/>
              </a:rPr>
              <a:t>Is Linux Kernel a Process: </a:t>
            </a:r>
            <a:r>
              <a:rPr lang="en-US" altLang="zh-TW" sz="2800" dirty="0">
                <a:solidFill>
                  <a:srgbClr val="C00000"/>
                </a:solidFill>
                <a:latin typeface="Calibri" panose="020F0502020204030204" pitchFamily="34" charset="0"/>
                <a:cs typeface="Calibri" panose="020F0502020204030204" pitchFamily="34" charset="0"/>
              </a:rPr>
              <a:t>No</a:t>
            </a:r>
            <a:r>
              <a:rPr lang="en-US" altLang="zh-TW" sz="2800" dirty="0">
                <a:solidFill>
                  <a:schemeClr val="tx1"/>
                </a:solidFill>
                <a:latin typeface="Calibri" panose="020F0502020204030204" pitchFamily="34" charset="0"/>
                <a:cs typeface="Calibri" panose="020F0502020204030204" pitchFamily="34" charset="0"/>
              </a:rPr>
              <a:t>, Not exactly.</a:t>
            </a:r>
          </a:p>
          <a:p>
            <a:pPr lvl="1" algn="l"/>
            <a:r>
              <a:rPr lang="en-US" altLang="zh-TW" dirty="0">
                <a:solidFill>
                  <a:schemeClr val="tx1"/>
                </a:solidFill>
              </a:rPr>
              <a:t>Each process shall have their own virtual address space.</a:t>
            </a:r>
            <a:br>
              <a:rPr kumimoji="1" lang="en-US" altLang="zh-TW" sz="2400" dirty="0">
                <a:solidFill>
                  <a:schemeClr val="tx1"/>
                </a:solidFill>
                <a:latin typeface="Calibri" panose="020F0502020204030204" pitchFamily="34" charset="0"/>
                <a:cs typeface="Calibri" panose="020F0502020204030204" pitchFamily="34" charset="0"/>
              </a:rPr>
            </a:br>
            <a:endParaRPr kumimoji="1" lang="en-US" altLang="zh-TW" sz="2400" dirty="0">
              <a:solidFill>
                <a:schemeClr val="tx1"/>
              </a:solidFill>
              <a:latin typeface="Calibri" panose="020F0502020204030204" pitchFamily="34" charset="0"/>
              <a:cs typeface="Calibri" panose="020F0502020204030204" pitchFamily="34" charset="0"/>
            </a:endParaRPr>
          </a:p>
          <a:p>
            <a:pPr algn="l"/>
            <a:endParaRPr kumimoji="1" lang="en-US" altLang="zh-TW" sz="2400" dirty="0">
              <a:solidFill>
                <a:schemeClr val="tx1"/>
              </a:solidFill>
              <a:latin typeface="Calibri" panose="020F0502020204030204" pitchFamily="34" charset="0"/>
              <a:cs typeface="Calibri" panose="020F0502020204030204" pitchFamily="34" charset="0"/>
            </a:endParaRPr>
          </a:p>
        </p:txBody>
      </p:sp>
      <p:sp>
        <p:nvSpPr>
          <p:cNvPr id="9" name="文字方塊 8">
            <a:extLst>
              <a:ext uri="{FF2B5EF4-FFF2-40B4-BE49-F238E27FC236}">
                <a16:creationId xmlns:a16="http://schemas.microsoft.com/office/drawing/2014/main" id="{9605E3AE-0005-C741-D98E-E4B614606401}"/>
              </a:ext>
            </a:extLst>
          </p:cNvPr>
          <p:cNvSpPr txBox="1"/>
          <p:nvPr/>
        </p:nvSpPr>
        <p:spPr>
          <a:xfrm>
            <a:off x="2836636" y="5296175"/>
            <a:ext cx="2217466" cy="369332"/>
          </a:xfrm>
          <a:prstGeom prst="rect">
            <a:avLst/>
          </a:prstGeom>
          <a:noFill/>
        </p:spPr>
        <p:txBody>
          <a:bodyPr wrap="none" rtlCol="0">
            <a:spAutoFit/>
          </a:bodyPr>
          <a:lstStyle/>
          <a:p>
            <a:pPr algn="ctr"/>
            <a:r>
              <a:rPr kumimoji="1" lang="en-US" altLang="zh-TW" dirty="0">
                <a:solidFill>
                  <a:srgbClr val="C00000"/>
                </a:solidFill>
              </a:rPr>
              <a:t>Virtual Address Space</a:t>
            </a:r>
            <a:endParaRPr kumimoji="1" lang="zh-TW" altLang="en-US" dirty="0">
              <a:solidFill>
                <a:srgbClr val="C00000"/>
              </a:solidFill>
            </a:endParaRPr>
          </a:p>
        </p:txBody>
      </p:sp>
      <p:sp>
        <p:nvSpPr>
          <p:cNvPr id="10" name="文字方塊 9">
            <a:extLst>
              <a:ext uri="{FF2B5EF4-FFF2-40B4-BE49-F238E27FC236}">
                <a16:creationId xmlns:a16="http://schemas.microsoft.com/office/drawing/2014/main" id="{15A81C7B-546C-B78B-1C05-68BD7F7A0B4E}"/>
              </a:ext>
            </a:extLst>
          </p:cNvPr>
          <p:cNvSpPr txBox="1"/>
          <p:nvPr/>
        </p:nvSpPr>
        <p:spPr>
          <a:xfrm>
            <a:off x="6024940" y="5296519"/>
            <a:ext cx="2217466" cy="369332"/>
          </a:xfrm>
          <a:prstGeom prst="rect">
            <a:avLst/>
          </a:prstGeom>
          <a:noFill/>
        </p:spPr>
        <p:txBody>
          <a:bodyPr wrap="none" rtlCol="0">
            <a:spAutoFit/>
          </a:bodyPr>
          <a:lstStyle/>
          <a:p>
            <a:pPr algn="ctr"/>
            <a:r>
              <a:rPr kumimoji="1" lang="en-US" altLang="zh-TW" dirty="0">
                <a:solidFill>
                  <a:srgbClr val="C00000"/>
                </a:solidFill>
              </a:rPr>
              <a:t>Virtual Address Space</a:t>
            </a:r>
            <a:endParaRPr kumimoji="1" lang="zh-TW" altLang="en-US" dirty="0">
              <a:solidFill>
                <a:srgbClr val="C00000"/>
              </a:solidFill>
            </a:endParaRPr>
          </a:p>
        </p:txBody>
      </p:sp>
      <p:grpSp>
        <p:nvGrpSpPr>
          <p:cNvPr id="11" name="群組 10">
            <a:extLst>
              <a:ext uri="{FF2B5EF4-FFF2-40B4-BE49-F238E27FC236}">
                <a16:creationId xmlns:a16="http://schemas.microsoft.com/office/drawing/2014/main" id="{C9E127F5-E8C3-8F46-938E-6CCAB43C1E8D}"/>
              </a:ext>
            </a:extLst>
          </p:cNvPr>
          <p:cNvGrpSpPr/>
          <p:nvPr/>
        </p:nvGrpSpPr>
        <p:grpSpPr>
          <a:xfrm>
            <a:off x="3618190" y="2913771"/>
            <a:ext cx="5398436" cy="2467443"/>
            <a:chOff x="7345412" y="2759075"/>
            <a:chExt cx="4530466" cy="1747937"/>
          </a:xfrm>
        </p:grpSpPr>
        <p:pic>
          <p:nvPicPr>
            <p:cNvPr id="12" name="圖片 11">
              <a:extLst>
                <a:ext uri="{FF2B5EF4-FFF2-40B4-BE49-F238E27FC236}">
                  <a16:creationId xmlns:a16="http://schemas.microsoft.com/office/drawing/2014/main" id="{78D17D89-8B4F-1A26-7B39-D0E031EA4D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5412" y="2987925"/>
              <a:ext cx="4392143" cy="1519087"/>
            </a:xfrm>
            <a:prstGeom prst="rect">
              <a:avLst/>
            </a:prstGeom>
          </p:spPr>
        </p:pic>
        <p:sp>
          <p:nvSpPr>
            <p:cNvPr id="13" name="矩形 12">
              <a:extLst>
                <a:ext uri="{FF2B5EF4-FFF2-40B4-BE49-F238E27FC236}">
                  <a16:creationId xmlns:a16="http://schemas.microsoft.com/office/drawing/2014/main" id="{DEE63C06-E110-D546-3CDC-670E97AEF030}"/>
                </a:ext>
              </a:extLst>
            </p:cNvPr>
            <p:cNvSpPr/>
            <p:nvPr/>
          </p:nvSpPr>
          <p:spPr>
            <a:xfrm>
              <a:off x="10961478" y="2759075"/>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15" name="文字方塊 14">
            <a:extLst>
              <a:ext uri="{FF2B5EF4-FFF2-40B4-BE49-F238E27FC236}">
                <a16:creationId xmlns:a16="http://schemas.microsoft.com/office/drawing/2014/main" id="{5164BE00-D0A0-37F1-2D5E-5BB16DC6736C}"/>
              </a:ext>
            </a:extLst>
          </p:cNvPr>
          <p:cNvSpPr txBox="1"/>
          <p:nvPr/>
        </p:nvSpPr>
        <p:spPr>
          <a:xfrm>
            <a:off x="4973299" y="2834979"/>
            <a:ext cx="1832168" cy="369332"/>
          </a:xfrm>
          <a:prstGeom prst="rect">
            <a:avLst/>
          </a:prstGeom>
          <a:noFill/>
        </p:spPr>
        <p:txBody>
          <a:bodyPr wrap="none" rtlCol="0">
            <a:spAutoFit/>
          </a:bodyPr>
          <a:lstStyle/>
          <a:p>
            <a:r>
              <a:rPr kumimoji="1" lang="en-US" altLang="zh-TW" dirty="0">
                <a:solidFill>
                  <a:schemeClr val="accent5">
                    <a:lumMod val="75000"/>
                  </a:schemeClr>
                </a:solidFill>
              </a:rPr>
              <a:t>Page Frame (4KB)</a:t>
            </a:r>
            <a:endParaRPr kumimoji="1" lang="zh-TW" altLang="en-US" dirty="0">
              <a:solidFill>
                <a:schemeClr val="accent5">
                  <a:lumMod val="75000"/>
                </a:schemeClr>
              </a:solidFill>
            </a:endParaRPr>
          </a:p>
        </p:txBody>
      </p:sp>
      <p:cxnSp>
        <p:nvCxnSpPr>
          <p:cNvPr id="16" name="直線箭頭接點 15">
            <a:extLst>
              <a:ext uri="{FF2B5EF4-FFF2-40B4-BE49-F238E27FC236}">
                <a16:creationId xmlns:a16="http://schemas.microsoft.com/office/drawing/2014/main" id="{CEA8CB13-27D9-0C2E-CD99-9A6FA1C1F86B}"/>
              </a:ext>
            </a:extLst>
          </p:cNvPr>
          <p:cNvCxnSpPr>
            <a:cxnSpLocks/>
          </p:cNvCxnSpPr>
          <p:nvPr/>
        </p:nvCxnSpPr>
        <p:spPr>
          <a:xfrm>
            <a:off x="5542400" y="3146561"/>
            <a:ext cx="173" cy="219384"/>
          </a:xfrm>
          <a:prstGeom prst="straightConnector1">
            <a:avLst/>
          </a:prstGeom>
          <a:ln w="25400">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grpSp>
        <p:nvGrpSpPr>
          <p:cNvPr id="17" name="群組 16">
            <a:extLst>
              <a:ext uri="{FF2B5EF4-FFF2-40B4-BE49-F238E27FC236}">
                <a16:creationId xmlns:a16="http://schemas.microsoft.com/office/drawing/2014/main" id="{A2648AD3-7103-9730-F75E-A1F5198B4068}"/>
              </a:ext>
            </a:extLst>
          </p:cNvPr>
          <p:cNvGrpSpPr/>
          <p:nvPr/>
        </p:nvGrpSpPr>
        <p:grpSpPr>
          <a:xfrm>
            <a:off x="3720969" y="2834979"/>
            <a:ext cx="631455" cy="475824"/>
            <a:chOff x="6662281" y="2699762"/>
            <a:chExt cx="631455" cy="475824"/>
          </a:xfrm>
        </p:grpSpPr>
        <p:sp>
          <p:nvSpPr>
            <p:cNvPr id="18" name="文字方塊 17">
              <a:extLst>
                <a:ext uri="{FF2B5EF4-FFF2-40B4-BE49-F238E27FC236}">
                  <a16:creationId xmlns:a16="http://schemas.microsoft.com/office/drawing/2014/main" id="{D5FE8BB2-2539-682E-7572-D45DFB2CBCE6}"/>
                </a:ext>
              </a:extLst>
            </p:cNvPr>
            <p:cNvSpPr txBox="1"/>
            <p:nvPr/>
          </p:nvSpPr>
          <p:spPr>
            <a:xfrm>
              <a:off x="6662281" y="2699762"/>
              <a:ext cx="631455" cy="369332"/>
            </a:xfrm>
            <a:prstGeom prst="rect">
              <a:avLst/>
            </a:prstGeom>
            <a:noFill/>
          </p:spPr>
          <p:txBody>
            <a:bodyPr wrap="none" rtlCol="0">
              <a:spAutoFit/>
            </a:bodyPr>
            <a:lstStyle/>
            <a:p>
              <a:r>
                <a:rPr kumimoji="1" lang="en-US" altLang="zh-TW" dirty="0">
                  <a:solidFill>
                    <a:schemeClr val="accent5">
                      <a:lumMod val="75000"/>
                    </a:schemeClr>
                  </a:solidFill>
                </a:rPr>
                <a:t>Page</a:t>
              </a:r>
              <a:endParaRPr kumimoji="1" lang="zh-TW" altLang="en-US" dirty="0">
                <a:solidFill>
                  <a:schemeClr val="accent5">
                    <a:lumMod val="75000"/>
                  </a:schemeClr>
                </a:solidFill>
              </a:endParaRPr>
            </a:p>
          </p:txBody>
        </p:sp>
        <p:cxnSp>
          <p:nvCxnSpPr>
            <p:cNvPr id="19" name="直線箭頭接點 18">
              <a:extLst>
                <a:ext uri="{FF2B5EF4-FFF2-40B4-BE49-F238E27FC236}">
                  <a16:creationId xmlns:a16="http://schemas.microsoft.com/office/drawing/2014/main" id="{EE831726-8B28-530C-9DEE-CE45968AACF8}"/>
                </a:ext>
              </a:extLst>
            </p:cNvPr>
            <p:cNvCxnSpPr>
              <a:cxnSpLocks/>
            </p:cNvCxnSpPr>
            <p:nvPr/>
          </p:nvCxnSpPr>
          <p:spPr>
            <a:xfrm>
              <a:off x="6978009" y="3011344"/>
              <a:ext cx="0" cy="164242"/>
            </a:xfrm>
            <a:prstGeom prst="straightConnector1">
              <a:avLst/>
            </a:prstGeom>
            <a:ln w="25400">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20" name="矩形 19">
            <a:extLst>
              <a:ext uri="{FF2B5EF4-FFF2-40B4-BE49-F238E27FC236}">
                <a16:creationId xmlns:a16="http://schemas.microsoft.com/office/drawing/2014/main" id="{E483BBDB-DFAF-5115-2860-FF0FD9AC9346}"/>
              </a:ext>
            </a:extLst>
          </p:cNvPr>
          <p:cNvSpPr/>
          <p:nvPr/>
        </p:nvSpPr>
        <p:spPr>
          <a:xfrm>
            <a:off x="2757579" y="3288365"/>
            <a:ext cx="2378936" cy="27378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矩形 20">
            <a:extLst>
              <a:ext uri="{FF2B5EF4-FFF2-40B4-BE49-F238E27FC236}">
                <a16:creationId xmlns:a16="http://schemas.microsoft.com/office/drawing/2014/main" id="{FBF278D5-5F2E-F33F-AB32-3DBB299A1E4E}"/>
              </a:ext>
            </a:extLst>
          </p:cNvPr>
          <p:cNvSpPr/>
          <p:nvPr/>
        </p:nvSpPr>
        <p:spPr>
          <a:xfrm>
            <a:off x="5898600" y="3224045"/>
            <a:ext cx="2313774" cy="27378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22" name="文字方塊 21">
            <a:extLst>
              <a:ext uri="{FF2B5EF4-FFF2-40B4-BE49-F238E27FC236}">
                <a16:creationId xmlns:a16="http://schemas.microsoft.com/office/drawing/2014/main" id="{3994186D-8BFF-BEB7-485E-7C49E4500150}"/>
              </a:ext>
            </a:extLst>
          </p:cNvPr>
          <p:cNvSpPr txBox="1"/>
          <p:nvPr/>
        </p:nvSpPr>
        <p:spPr>
          <a:xfrm>
            <a:off x="4401206" y="4717122"/>
            <a:ext cx="2330959" cy="369332"/>
          </a:xfrm>
          <a:prstGeom prst="rect">
            <a:avLst/>
          </a:prstGeom>
          <a:noFill/>
        </p:spPr>
        <p:txBody>
          <a:bodyPr wrap="none" rtlCol="0">
            <a:spAutoFit/>
          </a:bodyPr>
          <a:lstStyle/>
          <a:p>
            <a:r>
              <a:rPr kumimoji="1" lang="en-US" altLang="zh-TW" dirty="0">
                <a:solidFill>
                  <a:srgbClr val="C00000"/>
                </a:solidFill>
              </a:rPr>
              <a:t>Physical Address Space</a:t>
            </a:r>
            <a:endParaRPr kumimoji="1" lang="zh-TW" altLang="en-US" dirty="0">
              <a:solidFill>
                <a:srgbClr val="C00000"/>
              </a:solidFill>
            </a:endParaRPr>
          </a:p>
        </p:txBody>
      </p:sp>
      <p:sp>
        <p:nvSpPr>
          <p:cNvPr id="23" name="文字方塊 22">
            <a:extLst>
              <a:ext uri="{FF2B5EF4-FFF2-40B4-BE49-F238E27FC236}">
                <a16:creationId xmlns:a16="http://schemas.microsoft.com/office/drawing/2014/main" id="{AA046A3F-EABA-F61E-DB06-07DB541ADE17}"/>
              </a:ext>
            </a:extLst>
          </p:cNvPr>
          <p:cNvSpPr txBox="1"/>
          <p:nvPr/>
        </p:nvSpPr>
        <p:spPr>
          <a:xfrm>
            <a:off x="3937862" y="2507609"/>
            <a:ext cx="4174156" cy="369332"/>
          </a:xfrm>
          <a:prstGeom prst="rect">
            <a:avLst/>
          </a:prstGeom>
          <a:noFill/>
        </p:spPr>
        <p:txBody>
          <a:bodyPr wrap="none" rtlCol="0">
            <a:spAutoFit/>
          </a:bodyPr>
          <a:lstStyle/>
          <a:p>
            <a:r>
              <a:rPr kumimoji="1" lang="en-US" altLang="zh-TW" u="sng" dirty="0">
                <a:solidFill>
                  <a:srgbClr val="C00000"/>
                </a:solidFill>
              </a:rPr>
              <a:t>Fixed size (e.g., 4KB) solves fragmentation!</a:t>
            </a:r>
            <a:endParaRPr kumimoji="1" lang="zh-TW" altLang="en-US" u="sng" dirty="0">
              <a:solidFill>
                <a:srgbClr val="C00000"/>
              </a:solidFill>
            </a:endParaRPr>
          </a:p>
        </p:txBody>
      </p:sp>
      <p:sp>
        <p:nvSpPr>
          <p:cNvPr id="24" name="文字方塊 23">
            <a:extLst>
              <a:ext uri="{FF2B5EF4-FFF2-40B4-BE49-F238E27FC236}">
                <a16:creationId xmlns:a16="http://schemas.microsoft.com/office/drawing/2014/main" id="{15689A81-CAA8-9CFC-8B87-B061EC26BD99}"/>
              </a:ext>
            </a:extLst>
          </p:cNvPr>
          <p:cNvSpPr txBox="1"/>
          <p:nvPr/>
        </p:nvSpPr>
        <p:spPr>
          <a:xfrm>
            <a:off x="3432142" y="2491554"/>
            <a:ext cx="4965142" cy="369332"/>
          </a:xfrm>
          <a:prstGeom prst="rect">
            <a:avLst/>
          </a:prstGeom>
          <a:noFill/>
        </p:spPr>
        <p:txBody>
          <a:bodyPr wrap="none" rtlCol="0">
            <a:spAutoFit/>
          </a:bodyPr>
          <a:lstStyle/>
          <a:p>
            <a:r>
              <a:rPr kumimoji="1" lang="en-US" altLang="zh-TW" u="sng" dirty="0">
                <a:solidFill>
                  <a:srgbClr val="C00000"/>
                </a:solidFill>
              </a:rPr>
              <a:t>Virtual address space makes programming easier!</a:t>
            </a:r>
            <a:endParaRPr kumimoji="1" lang="zh-TW" altLang="en-US" u="sng" dirty="0">
              <a:solidFill>
                <a:srgbClr val="C00000"/>
              </a:solidFill>
            </a:endParaRPr>
          </a:p>
        </p:txBody>
      </p:sp>
      <p:grpSp>
        <p:nvGrpSpPr>
          <p:cNvPr id="25" name="群組 24">
            <a:extLst>
              <a:ext uri="{FF2B5EF4-FFF2-40B4-BE49-F238E27FC236}">
                <a16:creationId xmlns:a16="http://schemas.microsoft.com/office/drawing/2014/main" id="{376E0A40-C637-BB34-8C0E-0205646125DC}"/>
              </a:ext>
            </a:extLst>
          </p:cNvPr>
          <p:cNvGrpSpPr/>
          <p:nvPr/>
        </p:nvGrpSpPr>
        <p:grpSpPr>
          <a:xfrm>
            <a:off x="4650032" y="4804486"/>
            <a:ext cx="1927002" cy="1759158"/>
            <a:chOff x="7591344" y="4669269"/>
            <a:chExt cx="1927002" cy="1759158"/>
          </a:xfrm>
        </p:grpSpPr>
        <p:grpSp>
          <p:nvGrpSpPr>
            <p:cNvPr id="26" name="群組 25">
              <a:extLst>
                <a:ext uri="{FF2B5EF4-FFF2-40B4-BE49-F238E27FC236}">
                  <a16:creationId xmlns:a16="http://schemas.microsoft.com/office/drawing/2014/main" id="{6ECC2DBF-C6FC-048B-22A4-16D1C3306FC1}"/>
                </a:ext>
              </a:extLst>
            </p:cNvPr>
            <p:cNvGrpSpPr/>
            <p:nvPr/>
          </p:nvGrpSpPr>
          <p:grpSpPr>
            <a:xfrm>
              <a:off x="8101883" y="4669269"/>
              <a:ext cx="743769" cy="1425214"/>
              <a:chOff x="8093137" y="4581904"/>
              <a:chExt cx="743769" cy="1425214"/>
            </a:xfrm>
          </p:grpSpPr>
          <p:sp>
            <p:nvSpPr>
              <p:cNvPr id="28" name="矩形 27">
                <a:extLst>
                  <a:ext uri="{FF2B5EF4-FFF2-40B4-BE49-F238E27FC236}">
                    <a16:creationId xmlns:a16="http://schemas.microsoft.com/office/drawing/2014/main" id="{E5D1C2A7-3DC3-AE36-D272-AFDF0339EF9C}"/>
                  </a:ext>
                </a:extLst>
              </p:cNvPr>
              <p:cNvSpPr/>
              <p:nvPr/>
            </p:nvSpPr>
            <p:spPr>
              <a:xfrm>
                <a:off x="8093137" y="4581904"/>
                <a:ext cx="743769" cy="119786"/>
              </a:xfrm>
              <a:prstGeom prst="rect">
                <a:avLst/>
              </a:prstGeom>
              <a:solidFill>
                <a:srgbClr val="B0B2B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9" name="矩形 28">
                <a:extLst>
                  <a:ext uri="{FF2B5EF4-FFF2-40B4-BE49-F238E27FC236}">
                    <a16:creationId xmlns:a16="http://schemas.microsoft.com/office/drawing/2014/main" id="{2F81DA8F-C2B8-C471-8A43-866E58DF8B2D}"/>
                  </a:ext>
                </a:extLst>
              </p:cNvPr>
              <p:cNvSpPr/>
              <p:nvPr/>
            </p:nvSpPr>
            <p:spPr>
              <a:xfrm>
                <a:off x="8093137" y="4700579"/>
                <a:ext cx="743769" cy="119786"/>
              </a:xfrm>
              <a:prstGeom prst="rect">
                <a:avLst/>
              </a:prstGeom>
              <a:solidFill>
                <a:srgbClr val="B0B2B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 name="矩形 34">
                <a:extLst>
                  <a:ext uri="{FF2B5EF4-FFF2-40B4-BE49-F238E27FC236}">
                    <a16:creationId xmlns:a16="http://schemas.microsoft.com/office/drawing/2014/main" id="{4B53A6AD-F786-A049-93BE-CA6D86831610}"/>
                  </a:ext>
                </a:extLst>
              </p:cNvPr>
              <p:cNvSpPr/>
              <p:nvPr/>
            </p:nvSpPr>
            <p:spPr>
              <a:xfrm>
                <a:off x="8093137" y="4819254"/>
                <a:ext cx="743769" cy="119786"/>
              </a:xfrm>
              <a:prstGeom prst="rect">
                <a:avLst/>
              </a:prstGeom>
              <a:solidFill>
                <a:srgbClr val="B0B2B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 name="矩形 37">
                <a:extLst>
                  <a:ext uri="{FF2B5EF4-FFF2-40B4-BE49-F238E27FC236}">
                    <a16:creationId xmlns:a16="http://schemas.microsoft.com/office/drawing/2014/main" id="{CBD870B6-D06A-1B0A-FEE5-E71F46B75455}"/>
                  </a:ext>
                </a:extLst>
              </p:cNvPr>
              <p:cNvSpPr/>
              <p:nvPr/>
            </p:nvSpPr>
            <p:spPr>
              <a:xfrm>
                <a:off x="8093137" y="4937929"/>
                <a:ext cx="743769" cy="119786"/>
              </a:xfrm>
              <a:prstGeom prst="rect">
                <a:avLst/>
              </a:prstGeom>
              <a:solidFill>
                <a:srgbClr val="B0B2B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 name="矩形 39">
                <a:extLst>
                  <a:ext uri="{FF2B5EF4-FFF2-40B4-BE49-F238E27FC236}">
                    <a16:creationId xmlns:a16="http://schemas.microsoft.com/office/drawing/2014/main" id="{1346701C-6FEE-F18B-ECE0-F2E0B820682C}"/>
                  </a:ext>
                </a:extLst>
              </p:cNvPr>
              <p:cNvSpPr/>
              <p:nvPr/>
            </p:nvSpPr>
            <p:spPr>
              <a:xfrm>
                <a:off x="8093137" y="5056604"/>
                <a:ext cx="743769" cy="119786"/>
              </a:xfrm>
              <a:prstGeom prst="rect">
                <a:avLst/>
              </a:prstGeom>
              <a:solidFill>
                <a:srgbClr val="B0B2B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 name="矩形 40">
                <a:extLst>
                  <a:ext uri="{FF2B5EF4-FFF2-40B4-BE49-F238E27FC236}">
                    <a16:creationId xmlns:a16="http://schemas.microsoft.com/office/drawing/2014/main" id="{E6A23A66-B6DE-1C0D-D943-9B31A260207A}"/>
                  </a:ext>
                </a:extLst>
              </p:cNvPr>
              <p:cNvSpPr/>
              <p:nvPr/>
            </p:nvSpPr>
            <p:spPr>
              <a:xfrm>
                <a:off x="8093137" y="5175279"/>
                <a:ext cx="743769" cy="119786"/>
              </a:xfrm>
              <a:prstGeom prst="rect">
                <a:avLst/>
              </a:prstGeom>
              <a:solidFill>
                <a:srgbClr val="B0B2B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 name="矩形 43">
                <a:extLst>
                  <a:ext uri="{FF2B5EF4-FFF2-40B4-BE49-F238E27FC236}">
                    <a16:creationId xmlns:a16="http://schemas.microsoft.com/office/drawing/2014/main" id="{BCCB9C8E-3CC3-54A2-502E-3FDC5E167831}"/>
                  </a:ext>
                </a:extLst>
              </p:cNvPr>
              <p:cNvSpPr/>
              <p:nvPr/>
            </p:nvSpPr>
            <p:spPr>
              <a:xfrm>
                <a:off x="8093137" y="5293954"/>
                <a:ext cx="743769" cy="119786"/>
              </a:xfrm>
              <a:prstGeom prst="rect">
                <a:avLst/>
              </a:prstGeom>
              <a:solidFill>
                <a:srgbClr val="B0B2B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 name="矩形 45">
                <a:extLst>
                  <a:ext uri="{FF2B5EF4-FFF2-40B4-BE49-F238E27FC236}">
                    <a16:creationId xmlns:a16="http://schemas.microsoft.com/office/drawing/2014/main" id="{80528939-526D-2804-21D8-A6A305FFBEE3}"/>
                  </a:ext>
                </a:extLst>
              </p:cNvPr>
              <p:cNvSpPr/>
              <p:nvPr/>
            </p:nvSpPr>
            <p:spPr>
              <a:xfrm>
                <a:off x="8093137" y="5412629"/>
                <a:ext cx="743769" cy="119786"/>
              </a:xfrm>
              <a:prstGeom prst="rect">
                <a:avLst/>
              </a:prstGeom>
              <a:solidFill>
                <a:srgbClr val="B0B2B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 name="矩形 46">
                <a:extLst>
                  <a:ext uri="{FF2B5EF4-FFF2-40B4-BE49-F238E27FC236}">
                    <a16:creationId xmlns:a16="http://schemas.microsoft.com/office/drawing/2014/main" id="{9983DA32-6E5E-C3F4-D25C-9E636B4D5FEE}"/>
                  </a:ext>
                </a:extLst>
              </p:cNvPr>
              <p:cNvSpPr/>
              <p:nvPr/>
            </p:nvSpPr>
            <p:spPr>
              <a:xfrm>
                <a:off x="8093137" y="5531304"/>
                <a:ext cx="743769" cy="119786"/>
              </a:xfrm>
              <a:prstGeom prst="rect">
                <a:avLst/>
              </a:prstGeom>
              <a:solidFill>
                <a:srgbClr val="B0B2B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 name="矩形 47">
                <a:extLst>
                  <a:ext uri="{FF2B5EF4-FFF2-40B4-BE49-F238E27FC236}">
                    <a16:creationId xmlns:a16="http://schemas.microsoft.com/office/drawing/2014/main" id="{94473281-B143-D429-F2EE-18B8F7C4AD02}"/>
                  </a:ext>
                </a:extLst>
              </p:cNvPr>
              <p:cNvSpPr/>
              <p:nvPr/>
            </p:nvSpPr>
            <p:spPr>
              <a:xfrm>
                <a:off x="8093137" y="5649979"/>
                <a:ext cx="743769" cy="119786"/>
              </a:xfrm>
              <a:prstGeom prst="rect">
                <a:avLst/>
              </a:prstGeom>
              <a:solidFill>
                <a:srgbClr val="B0B2B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7" name="矩形 56">
                <a:extLst>
                  <a:ext uri="{FF2B5EF4-FFF2-40B4-BE49-F238E27FC236}">
                    <a16:creationId xmlns:a16="http://schemas.microsoft.com/office/drawing/2014/main" id="{30990E04-0E0F-381B-7CA8-50710B7A6302}"/>
                  </a:ext>
                </a:extLst>
              </p:cNvPr>
              <p:cNvSpPr/>
              <p:nvPr/>
            </p:nvSpPr>
            <p:spPr>
              <a:xfrm>
                <a:off x="8093137" y="5768654"/>
                <a:ext cx="743769" cy="119786"/>
              </a:xfrm>
              <a:prstGeom prst="rect">
                <a:avLst/>
              </a:prstGeom>
              <a:solidFill>
                <a:srgbClr val="B0B2B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9" name="矩形 58">
                <a:extLst>
                  <a:ext uri="{FF2B5EF4-FFF2-40B4-BE49-F238E27FC236}">
                    <a16:creationId xmlns:a16="http://schemas.microsoft.com/office/drawing/2014/main" id="{42E0E0EB-810E-15A5-CD78-968F7B06F318}"/>
                  </a:ext>
                </a:extLst>
              </p:cNvPr>
              <p:cNvSpPr/>
              <p:nvPr/>
            </p:nvSpPr>
            <p:spPr>
              <a:xfrm>
                <a:off x="8093137" y="5887332"/>
                <a:ext cx="743769" cy="119786"/>
              </a:xfrm>
              <a:prstGeom prst="rect">
                <a:avLst/>
              </a:prstGeom>
              <a:solidFill>
                <a:srgbClr val="B0B2B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27" name="文字方塊 26">
              <a:extLst>
                <a:ext uri="{FF2B5EF4-FFF2-40B4-BE49-F238E27FC236}">
                  <a16:creationId xmlns:a16="http://schemas.microsoft.com/office/drawing/2014/main" id="{2BD79ECD-6D5F-7196-971A-96E91F622839}"/>
                </a:ext>
              </a:extLst>
            </p:cNvPr>
            <p:cNvSpPr txBox="1"/>
            <p:nvPr/>
          </p:nvSpPr>
          <p:spPr>
            <a:xfrm>
              <a:off x="7591344" y="6120650"/>
              <a:ext cx="1927002" cy="307777"/>
            </a:xfrm>
            <a:prstGeom prst="rect">
              <a:avLst/>
            </a:prstGeom>
            <a:noFill/>
          </p:spPr>
          <p:txBody>
            <a:bodyPr wrap="none" rtlCol="0">
              <a:spAutoFit/>
            </a:bodyPr>
            <a:lstStyle/>
            <a:p>
              <a:r>
                <a:rPr kumimoji="1" lang="en-US" altLang="zh-TW" sz="1400" dirty="0"/>
                <a:t>Storage (e.g., HDD, SSD)</a:t>
              </a:r>
              <a:endParaRPr kumimoji="1" lang="zh-TW" altLang="en-US" sz="1400" dirty="0"/>
            </a:p>
          </p:txBody>
        </p:sp>
      </p:grpSp>
      <p:sp>
        <p:nvSpPr>
          <p:cNvPr id="60" name="文字方塊 59">
            <a:extLst>
              <a:ext uri="{FF2B5EF4-FFF2-40B4-BE49-F238E27FC236}">
                <a16:creationId xmlns:a16="http://schemas.microsoft.com/office/drawing/2014/main" id="{C66ED149-9007-8A82-41CD-7562F252F125}"/>
              </a:ext>
            </a:extLst>
          </p:cNvPr>
          <p:cNvSpPr txBox="1"/>
          <p:nvPr/>
        </p:nvSpPr>
        <p:spPr>
          <a:xfrm>
            <a:off x="5301000" y="4031375"/>
            <a:ext cx="483146" cy="276999"/>
          </a:xfrm>
          <a:prstGeom prst="rect">
            <a:avLst/>
          </a:prstGeom>
          <a:noFill/>
        </p:spPr>
        <p:txBody>
          <a:bodyPr wrap="none" rtlCol="0">
            <a:spAutoFit/>
          </a:bodyPr>
          <a:lstStyle/>
          <a:p>
            <a:r>
              <a:rPr kumimoji="1" lang="en-US" altLang="zh-TW" sz="1200" b="1" dirty="0">
                <a:solidFill>
                  <a:srgbClr val="C00000"/>
                </a:solidFill>
              </a:rPr>
              <a:t>Data</a:t>
            </a:r>
            <a:endParaRPr kumimoji="1" lang="zh-TW" altLang="en-US" sz="1200" b="1" dirty="0">
              <a:solidFill>
                <a:srgbClr val="C00000"/>
              </a:solidFill>
            </a:endParaRPr>
          </a:p>
        </p:txBody>
      </p:sp>
      <p:sp>
        <p:nvSpPr>
          <p:cNvPr id="61" name="文字方塊 60">
            <a:extLst>
              <a:ext uri="{FF2B5EF4-FFF2-40B4-BE49-F238E27FC236}">
                <a16:creationId xmlns:a16="http://schemas.microsoft.com/office/drawing/2014/main" id="{917047C1-8E4D-85A6-C151-3F34F1BA0DA9}"/>
              </a:ext>
            </a:extLst>
          </p:cNvPr>
          <p:cNvSpPr txBox="1"/>
          <p:nvPr/>
        </p:nvSpPr>
        <p:spPr>
          <a:xfrm>
            <a:off x="5659085" y="4441966"/>
            <a:ext cx="658770" cy="369332"/>
          </a:xfrm>
          <a:prstGeom prst="rect">
            <a:avLst/>
          </a:prstGeom>
          <a:noFill/>
        </p:spPr>
        <p:txBody>
          <a:bodyPr wrap="none" rtlCol="0">
            <a:spAutoFit/>
          </a:bodyPr>
          <a:lstStyle/>
          <a:p>
            <a:r>
              <a:rPr kumimoji="1" lang="en-US" altLang="zh-TW" sz="1400" b="1" dirty="0">
                <a:solidFill>
                  <a:srgbClr val="C00000"/>
                </a:solidFill>
              </a:rPr>
              <a:t>Swap</a:t>
            </a:r>
            <a:r>
              <a:rPr kumimoji="1" lang="en-US" altLang="zh-TW" b="1" dirty="0">
                <a:solidFill>
                  <a:srgbClr val="C00000"/>
                </a:solidFill>
              </a:rPr>
              <a:t>!</a:t>
            </a:r>
            <a:endParaRPr kumimoji="1" lang="zh-TW" altLang="en-US" b="1" dirty="0">
              <a:solidFill>
                <a:srgbClr val="C00000"/>
              </a:solidFill>
            </a:endParaRPr>
          </a:p>
        </p:txBody>
      </p:sp>
      <p:sp>
        <p:nvSpPr>
          <p:cNvPr id="74" name="矩形 73">
            <a:extLst>
              <a:ext uri="{FF2B5EF4-FFF2-40B4-BE49-F238E27FC236}">
                <a16:creationId xmlns:a16="http://schemas.microsoft.com/office/drawing/2014/main" id="{F9ED6827-B735-AD6A-E782-1A64767A9522}"/>
              </a:ext>
            </a:extLst>
          </p:cNvPr>
          <p:cNvSpPr/>
          <p:nvPr/>
        </p:nvSpPr>
        <p:spPr>
          <a:xfrm>
            <a:off x="5919976" y="4100378"/>
            <a:ext cx="720000" cy="2470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6" name="文字方塊 75">
            <a:extLst>
              <a:ext uri="{FF2B5EF4-FFF2-40B4-BE49-F238E27FC236}">
                <a16:creationId xmlns:a16="http://schemas.microsoft.com/office/drawing/2014/main" id="{3303E67F-9B1C-A57F-518F-E08325B052C7}"/>
              </a:ext>
            </a:extLst>
          </p:cNvPr>
          <p:cNvSpPr txBox="1"/>
          <p:nvPr/>
        </p:nvSpPr>
        <p:spPr>
          <a:xfrm>
            <a:off x="7650594" y="4026150"/>
            <a:ext cx="4017529" cy="523220"/>
          </a:xfrm>
          <a:prstGeom prst="rect">
            <a:avLst/>
          </a:prstGeom>
          <a:noFill/>
        </p:spPr>
        <p:txBody>
          <a:bodyPr wrap="square" rtlCol="0">
            <a:spAutoFit/>
          </a:bodyPr>
          <a:lstStyle/>
          <a:p>
            <a:r>
              <a:rPr kumimoji="1" lang="en-US" altLang="zh-TW" sz="1400" dirty="0">
                <a:solidFill>
                  <a:schemeClr val="accent5">
                    <a:lumMod val="75000"/>
                  </a:schemeClr>
                </a:solidFill>
              </a:rPr>
              <a:t>Process B doesn’t need to know the data is swapped! So no code is changed.</a:t>
            </a:r>
            <a:endParaRPr kumimoji="1" lang="zh-TW" altLang="en-US" sz="1400" dirty="0">
              <a:solidFill>
                <a:schemeClr val="accent5">
                  <a:lumMod val="75000"/>
                </a:schemeClr>
              </a:solidFill>
            </a:endParaRPr>
          </a:p>
        </p:txBody>
      </p:sp>
      <p:cxnSp>
        <p:nvCxnSpPr>
          <p:cNvPr id="77" name="直線箭頭接點 76">
            <a:extLst>
              <a:ext uri="{FF2B5EF4-FFF2-40B4-BE49-F238E27FC236}">
                <a16:creationId xmlns:a16="http://schemas.microsoft.com/office/drawing/2014/main" id="{1C92F8ED-7BE0-2391-C4A2-7C3214222D41}"/>
              </a:ext>
            </a:extLst>
          </p:cNvPr>
          <p:cNvCxnSpPr>
            <a:cxnSpLocks/>
          </p:cNvCxnSpPr>
          <p:nvPr/>
        </p:nvCxnSpPr>
        <p:spPr>
          <a:xfrm flipH="1">
            <a:off x="7433092" y="4280647"/>
            <a:ext cx="220962" cy="0"/>
          </a:xfrm>
          <a:prstGeom prst="straightConnector1">
            <a:avLst/>
          </a:prstGeom>
          <a:ln w="19050">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grpSp>
        <p:nvGrpSpPr>
          <p:cNvPr id="79" name="群組 78">
            <a:extLst>
              <a:ext uri="{FF2B5EF4-FFF2-40B4-BE49-F238E27FC236}">
                <a16:creationId xmlns:a16="http://schemas.microsoft.com/office/drawing/2014/main" id="{A4987C6C-5650-A226-8A06-617A630DA433}"/>
              </a:ext>
            </a:extLst>
          </p:cNvPr>
          <p:cNvGrpSpPr/>
          <p:nvPr/>
        </p:nvGrpSpPr>
        <p:grpSpPr>
          <a:xfrm>
            <a:off x="4349909" y="2760157"/>
            <a:ext cx="679610" cy="727613"/>
            <a:chOff x="6662281" y="2447973"/>
            <a:chExt cx="679610" cy="727613"/>
          </a:xfrm>
        </p:grpSpPr>
        <p:sp>
          <p:nvSpPr>
            <p:cNvPr id="80" name="文字方塊 79">
              <a:extLst>
                <a:ext uri="{FF2B5EF4-FFF2-40B4-BE49-F238E27FC236}">
                  <a16:creationId xmlns:a16="http://schemas.microsoft.com/office/drawing/2014/main" id="{EE3A951B-9294-4BED-63DB-AF68783EE9BB}"/>
                </a:ext>
              </a:extLst>
            </p:cNvPr>
            <p:cNvSpPr txBox="1"/>
            <p:nvPr/>
          </p:nvSpPr>
          <p:spPr>
            <a:xfrm>
              <a:off x="6662281" y="2447973"/>
              <a:ext cx="679610" cy="646331"/>
            </a:xfrm>
            <a:prstGeom prst="rect">
              <a:avLst/>
            </a:prstGeom>
            <a:noFill/>
          </p:spPr>
          <p:txBody>
            <a:bodyPr wrap="none" rtlCol="0">
              <a:spAutoFit/>
            </a:bodyPr>
            <a:lstStyle/>
            <a:p>
              <a:r>
                <a:rPr kumimoji="1" lang="en-US" altLang="zh-TW" dirty="0">
                  <a:solidFill>
                    <a:schemeClr val="accent5">
                      <a:lumMod val="75000"/>
                    </a:schemeClr>
                  </a:solidFill>
                </a:rPr>
                <a:t>Page</a:t>
              </a:r>
            </a:p>
            <a:p>
              <a:r>
                <a:rPr kumimoji="1" lang="en-US" altLang="zh-TW" dirty="0">
                  <a:solidFill>
                    <a:schemeClr val="accent5">
                      <a:lumMod val="75000"/>
                    </a:schemeClr>
                  </a:solidFill>
                </a:rPr>
                <a:t>Table</a:t>
              </a:r>
              <a:endParaRPr kumimoji="1" lang="zh-TW" altLang="en-US" dirty="0">
                <a:solidFill>
                  <a:schemeClr val="accent5">
                    <a:lumMod val="75000"/>
                  </a:schemeClr>
                </a:solidFill>
              </a:endParaRPr>
            </a:p>
          </p:txBody>
        </p:sp>
        <p:cxnSp>
          <p:nvCxnSpPr>
            <p:cNvPr id="81" name="直線箭頭接點 80">
              <a:extLst>
                <a:ext uri="{FF2B5EF4-FFF2-40B4-BE49-F238E27FC236}">
                  <a16:creationId xmlns:a16="http://schemas.microsoft.com/office/drawing/2014/main" id="{7A45472C-B744-95AE-A8B7-73FB964AA13C}"/>
                </a:ext>
              </a:extLst>
            </p:cNvPr>
            <p:cNvCxnSpPr>
              <a:cxnSpLocks/>
            </p:cNvCxnSpPr>
            <p:nvPr/>
          </p:nvCxnSpPr>
          <p:spPr>
            <a:xfrm>
              <a:off x="6978009" y="3011344"/>
              <a:ext cx="0" cy="164242"/>
            </a:xfrm>
            <a:prstGeom prst="straightConnector1">
              <a:avLst/>
            </a:prstGeom>
            <a:ln w="25400">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85" name="群組 84">
            <a:extLst>
              <a:ext uri="{FF2B5EF4-FFF2-40B4-BE49-F238E27FC236}">
                <a16:creationId xmlns:a16="http://schemas.microsoft.com/office/drawing/2014/main" id="{6E8A4EC4-609A-6D74-9992-F685F7D4EA29}"/>
              </a:ext>
            </a:extLst>
          </p:cNvPr>
          <p:cNvGrpSpPr/>
          <p:nvPr/>
        </p:nvGrpSpPr>
        <p:grpSpPr>
          <a:xfrm>
            <a:off x="6513807" y="4605961"/>
            <a:ext cx="2166365" cy="385338"/>
            <a:chOff x="6284011" y="2367821"/>
            <a:chExt cx="2166365" cy="385338"/>
          </a:xfrm>
        </p:grpSpPr>
        <p:sp>
          <p:nvSpPr>
            <p:cNvPr id="86" name="文字方塊 85">
              <a:extLst>
                <a:ext uri="{FF2B5EF4-FFF2-40B4-BE49-F238E27FC236}">
                  <a16:creationId xmlns:a16="http://schemas.microsoft.com/office/drawing/2014/main" id="{667E83A4-93E8-7EDF-65ED-49F40542690B}"/>
                </a:ext>
              </a:extLst>
            </p:cNvPr>
            <p:cNvSpPr txBox="1"/>
            <p:nvPr/>
          </p:nvSpPr>
          <p:spPr>
            <a:xfrm>
              <a:off x="6587430" y="2445382"/>
              <a:ext cx="1862946" cy="307777"/>
            </a:xfrm>
            <a:prstGeom prst="rect">
              <a:avLst/>
            </a:prstGeom>
            <a:noFill/>
          </p:spPr>
          <p:txBody>
            <a:bodyPr wrap="none" rtlCol="0">
              <a:spAutoFit/>
            </a:bodyPr>
            <a:lstStyle/>
            <a:p>
              <a:r>
                <a:rPr kumimoji="1" lang="en-US" altLang="zh-TW" sz="1400" dirty="0">
                  <a:solidFill>
                    <a:schemeClr val="accent5">
                      <a:lumMod val="75000"/>
                    </a:schemeClr>
                  </a:solidFill>
                </a:rPr>
                <a:t>Change B’s page table. </a:t>
              </a:r>
              <a:endParaRPr kumimoji="1" lang="zh-TW" altLang="en-US" sz="1400" dirty="0">
                <a:solidFill>
                  <a:schemeClr val="accent5">
                    <a:lumMod val="75000"/>
                  </a:schemeClr>
                </a:solidFill>
              </a:endParaRPr>
            </a:p>
          </p:txBody>
        </p:sp>
        <p:cxnSp>
          <p:nvCxnSpPr>
            <p:cNvPr id="87" name="直線箭頭接點 86">
              <a:extLst>
                <a:ext uri="{FF2B5EF4-FFF2-40B4-BE49-F238E27FC236}">
                  <a16:creationId xmlns:a16="http://schemas.microsoft.com/office/drawing/2014/main" id="{912D29A5-08E3-D16A-F37A-9D8A8356B256}"/>
                </a:ext>
              </a:extLst>
            </p:cNvPr>
            <p:cNvCxnSpPr>
              <a:cxnSpLocks/>
            </p:cNvCxnSpPr>
            <p:nvPr/>
          </p:nvCxnSpPr>
          <p:spPr>
            <a:xfrm flipH="1" flipV="1">
              <a:off x="6284011" y="2367821"/>
              <a:ext cx="361976" cy="195951"/>
            </a:xfrm>
            <a:prstGeom prst="straightConnector1">
              <a:avLst/>
            </a:prstGeom>
            <a:ln w="19050">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30" name="群組 29">
            <a:extLst>
              <a:ext uri="{FF2B5EF4-FFF2-40B4-BE49-F238E27FC236}">
                <a16:creationId xmlns:a16="http://schemas.microsoft.com/office/drawing/2014/main" id="{EB52C540-7A93-9A91-4130-EF12F0F7DB9F}"/>
              </a:ext>
            </a:extLst>
          </p:cNvPr>
          <p:cNvGrpSpPr/>
          <p:nvPr/>
        </p:nvGrpSpPr>
        <p:grpSpPr>
          <a:xfrm>
            <a:off x="5394192" y="4294926"/>
            <a:ext cx="1725088" cy="1149380"/>
            <a:chOff x="5394192" y="4294926"/>
            <a:chExt cx="1725088" cy="1149380"/>
          </a:xfrm>
        </p:grpSpPr>
        <p:cxnSp>
          <p:nvCxnSpPr>
            <p:cNvPr id="75" name="直線箭頭接點 74">
              <a:extLst>
                <a:ext uri="{FF2B5EF4-FFF2-40B4-BE49-F238E27FC236}">
                  <a16:creationId xmlns:a16="http://schemas.microsoft.com/office/drawing/2014/main" id="{EC1C2863-9C2B-A280-D033-EC4E700A2B90}"/>
                </a:ext>
              </a:extLst>
            </p:cNvPr>
            <p:cNvCxnSpPr>
              <a:cxnSpLocks/>
            </p:cNvCxnSpPr>
            <p:nvPr/>
          </p:nvCxnSpPr>
          <p:spPr>
            <a:xfrm flipH="1">
              <a:off x="5924512" y="4983054"/>
              <a:ext cx="307424" cy="46125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箭頭接點 4">
              <a:extLst>
                <a:ext uri="{FF2B5EF4-FFF2-40B4-BE49-F238E27FC236}">
                  <a16:creationId xmlns:a16="http://schemas.microsoft.com/office/drawing/2014/main" id="{B6180B5E-414D-6A60-35C3-5A5B148AB037}"/>
                </a:ext>
              </a:extLst>
            </p:cNvPr>
            <p:cNvCxnSpPr>
              <a:cxnSpLocks/>
            </p:cNvCxnSpPr>
            <p:nvPr/>
          </p:nvCxnSpPr>
          <p:spPr>
            <a:xfrm flipH="1">
              <a:off x="6324775" y="4294926"/>
              <a:ext cx="315201" cy="506986"/>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E0F2A935-9B5C-60D8-1BEA-5865D5CA72F2}"/>
                </a:ext>
              </a:extLst>
            </p:cNvPr>
            <p:cNvSpPr txBox="1"/>
            <p:nvPr/>
          </p:nvSpPr>
          <p:spPr>
            <a:xfrm>
              <a:off x="5394192" y="4722518"/>
              <a:ext cx="1725088" cy="307777"/>
            </a:xfrm>
            <a:prstGeom prst="rect">
              <a:avLst/>
            </a:prstGeom>
            <a:noFill/>
          </p:spPr>
          <p:txBody>
            <a:bodyPr wrap="none" rtlCol="0">
              <a:spAutoFit/>
            </a:bodyPr>
            <a:lstStyle/>
            <a:p>
              <a:r>
                <a:rPr kumimoji="1" lang="en-US" altLang="zh-TW" sz="1400" dirty="0" err="1">
                  <a:solidFill>
                    <a:srgbClr val="C00000"/>
                  </a:solidFill>
                </a:rPr>
                <a:t>pte_to_swap_entry</a:t>
              </a:r>
              <a:r>
                <a:rPr kumimoji="1" lang="en-US" altLang="zh-TW" sz="1400" dirty="0">
                  <a:solidFill>
                    <a:srgbClr val="C00000"/>
                  </a:solidFill>
                </a:rPr>
                <a:t>()</a:t>
              </a:r>
              <a:endParaRPr kumimoji="1" lang="zh-TW" altLang="en-US" sz="1400" dirty="0">
                <a:solidFill>
                  <a:srgbClr val="C00000"/>
                </a:solidFill>
              </a:endParaRPr>
            </a:p>
          </p:txBody>
        </p:sp>
      </p:grpSp>
      <p:sp>
        <p:nvSpPr>
          <p:cNvPr id="14" name="文字方塊 13">
            <a:extLst>
              <a:ext uri="{FF2B5EF4-FFF2-40B4-BE49-F238E27FC236}">
                <a16:creationId xmlns:a16="http://schemas.microsoft.com/office/drawing/2014/main" id="{048A61D9-912D-5BDE-CA9A-29AA29B9068F}"/>
              </a:ext>
            </a:extLst>
          </p:cNvPr>
          <p:cNvSpPr txBox="1"/>
          <p:nvPr/>
        </p:nvSpPr>
        <p:spPr>
          <a:xfrm>
            <a:off x="6625634" y="4164649"/>
            <a:ext cx="840295" cy="246221"/>
          </a:xfrm>
          <a:prstGeom prst="rect">
            <a:avLst/>
          </a:prstGeom>
          <a:noFill/>
        </p:spPr>
        <p:txBody>
          <a:bodyPr wrap="none" rtlCol="0">
            <a:spAutoFit/>
          </a:bodyPr>
          <a:lstStyle/>
          <a:p>
            <a:r>
              <a:rPr kumimoji="1" lang="en-US" altLang="zh-TW" sz="1000" dirty="0">
                <a:solidFill>
                  <a:schemeClr val="tx1">
                    <a:lumMod val="65000"/>
                    <a:lumOff val="35000"/>
                  </a:schemeClr>
                </a:solidFill>
              </a:rPr>
              <a:t>Non-Present</a:t>
            </a:r>
            <a:endParaRPr kumimoji="1" lang="zh-TW" altLang="en-US" sz="1000" dirty="0">
              <a:solidFill>
                <a:schemeClr val="tx1">
                  <a:lumMod val="65000"/>
                  <a:lumOff val="35000"/>
                </a:schemeClr>
              </a:solidFill>
            </a:endParaRPr>
          </a:p>
        </p:txBody>
      </p:sp>
    </p:spTree>
    <p:extLst>
      <p:ext uri="{BB962C8B-B14F-4D97-AF65-F5344CB8AC3E}">
        <p14:creationId xmlns:p14="http://schemas.microsoft.com/office/powerpoint/2010/main" val="1376272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fade">
                                      <p:cBhvr>
                                        <p:cTn id="15" dur="500"/>
                                        <p:tgtEl>
                                          <p:spTgt spid="7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grpId="1" nodeType="clickEffect">
                                  <p:stCondLst>
                                    <p:cond delay="0"/>
                                  </p:stCondLst>
                                  <p:childTnLst>
                                    <p:animEffect transition="out" filter="fade">
                                      <p:cBhvr>
                                        <p:cTn id="38" dur="500"/>
                                        <p:tgtEl>
                                          <p:spTgt spid="23"/>
                                        </p:tgtEl>
                                      </p:cBhvr>
                                    </p:animEffect>
                                    <p:set>
                                      <p:cBhvr>
                                        <p:cTn id="39" dur="1" fill="hold">
                                          <p:stCondLst>
                                            <p:cond delay="499"/>
                                          </p:stCondLst>
                                        </p:cTn>
                                        <p:tgtEl>
                                          <p:spTgt spid="23"/>
                                        </p:tgtEl>
                                        <p:attrNameLst>
                                          <p:attrName>style.visibility</p:attrName>
                                        </p:attrNameLst>
                                      </p:cBhvr>
                                      <p:to>
                                        <p:strVal val="hidden"/>
                                      </p:to>
                                    </p:set>
                                  </p:childTnLst>
                                </p:cTn>
                              </p:par>
                              <p:par>
                                <p:cTn id="40" presetID="22" presetClass="exit" presetSubtype="8" fill="hold" grpId="0" nodeType="withEffect">
                                  <p:stCondLst>
                                    <p:cond delay="0"/>
                                  </p:stCondLst>
                                  <p:childTnLst>
                                    <p:animEffect transition="out" filter="wipe(left)">
                                      <p:cBhvr>
                                        <p:cTn id="41" dur="500"/>
                                        <p:tgtEl>
                                          <p:spTgt spid="20"/>
                                        </p:tgtEl>
                                      </p:cBhvr>
                                    </p:animEffect>
                                    <p:set>
                                      <p:cBhvr>
                                        <p:cTn id="42" dur="1" fill="hold">
                                          <p:stCondLst>
                                            <p:cond delay="499"/>
                                          </p:stCondLst>
                                        </p:cTn>
                                        <p:tgtEl>
                                          <p:spTgt spid="20"/>
                                        </p:tgtEl>
                                        <p:attrNameLst>
                                          <p:attrName>style.visibility</p:attrName>
                                        </p:attrNameLst>
                                      </p:cBhvr>
                                      <p:to>
                                        <p:strVal val="hidden"/>
                                      </p:to>
                                    </p:set>
                                  </p:childTnLst>
                                </p:cTn>
                              </p:par>
                              <p:par>
                                <p:cTn id="43" presetID="22" presetClass="exit" presetSubtype="2" fill="hold" grpId="0" nodeType="withEffect">
                                  <p:stCondLst>
                                    <p:cond delay="0"/>
                                  </p:stCondLst>
                                  <p:childTnLst>
                                    <p:animEffect transition="out" filter="wipe(right)">
                                      <p:cBhvr>
                                        <p:cTn id="44" dur="500"/>
                                        <p:tgtEl>
                                          <p:spTgt spid="21"/>
                                        </p:tgtEl>
                                      </p:cBhvr>
                                    </p:animEffect>
                                    <p:set>
                                      <p:cBhvr>
                                        <p:cTn id="45" dur="1" fill="hold">
                                          <p:stCondLst>
                                            <p:cond delay="499"/>
                                          </p:stCondLst>
                                        </p:cTn>
                                        <p:tgtEl>
                                          <p:spTgt spid="21"/>
                                        </p:tgtEl>
                                        <p:attrNameLst>
                                          <p:attrName>style.visibility</p:attrName>
                                        </p:attrNameLst>
                                      </p:cBhvr>
                                      <p:to>
                                        <p:strVal val="hidden"/>
                                      </p:to>
                                    </p:se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par>
                                <p:cTn id="54" presetID="10" presetClass="entr" presetSubtype="0" fill="hold" nodeType="withEffect">
                                  <p:stCondLst>
                                    <p:cond delay="0"/>
                                  </p:stCondLst>
                                  <p:childTnLst>
                                    <p:set>
                                      <p:cBhvr>
                                        <p:cTn id="55" dur="1" fill="hold">
                                          <p:stCondLst>
                                            <p:cond delay="0"/>
                                          </p:stCondLst>
                                        </p:cTn>
                                        <p:tgtEl>
                                          <p:spTgt spid="79"/>
                                        </p:tgtEl>
                                        <p:attrNameLst>
                                          <p:attrName>style.visibility</p:attrName>
                                        </p:attrNameLst>
                                      </p:cBhvr>
                                      <p:to>
                                        <p:strVal val="visible"/>
                                      </p:to>
                                    </p:set>
                                    <p:animEffect transition="in" filter="fade">
                                      <p:cBhvr>
                                        <p:cTn id="56" dur="500"/>
                                        <p:tgtEl>
                                          <p:spTgt spid="79"/>
                                        </p:tgtEl>
                                      </p:cBhvr>
                                    </p:animEffect>
                                  </p:childTnLst>
                                </p:cTn>
                              </p:par>
                            </p:childTnLst>
                          </p:cTn>
                        </p:par>
                      </p:childTnLst>
                    </p:cTn>
                  </p:par>
                  <p:par>
                    <p:cTn id="57" fill="hold">
                      <p:stCondLst>
                        <p:cond delay="indefinite"/>
                      </p:stCondLst>
                      <p:childTnLst>
                        <p:par>
                          <p:cTn id="58" fill="hold">
                            <p:stCondLst>
                              <p:cond delay="0"/>
                            </p:stCondLst>
                            <p:childTnLst>
                              <p:par>
                                <p:cTn id="59" presetID="0" presetClass="path" presetSubtype="0" accel="50000" decel="50000" fill="hold" grpId="1" nodeType="clickEffect">
                                  <p:stCondLst>
                                    <p:cond delay="0"/>
                                  </p:stCondLst>
                                  <p:childTnLst>
                                    <p:animMotion origin="layout" path="M 0.00078 2.59259E-6 L -0.00208 0.26319 " pathEditMode="relative" rAng="0" ptsTypes="AA">
                                      <p:cBhvr>
                                        <p:cTn id="60" dur="2000" fill="hold"/>
                                        <p:tgtEl>
                                          <p:spTgt spid="22"/>
                                        </p:tgtEl>
                                        <p:attrNameLst>
                                          <p:attrName>ppt_x</p:attrName>
                                          <p:attrName>ppt_y</p:attrName>
                                        </p:attrNameLst>
                                      </p:cBhvr>
                                      <p:rCtr x="-143" y="13148"/>
                                    </p:animMotion>
                                  </p:childTnLst>
                                </p:cTn>
                              </p:par>
                            </p:childTnLst>
                          </p:cTn>
                        </p:par>
                        <p:par>
                          <p:cTn id="61" fill="hold">
                            <p:stCondLst>
                              <p:cond delay="2000"/>
                            </p:stCondLst>
                            <p:childTnLst>
                              <p:par>
                                <p:cTn id="62" presetID="10" presetClass="entr" presetSubtype="0" fill="hold" nodeType="after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60"/>
                                        </p:tgtEl>
                                        <p:attrNameLst>
                                          <p:attrName>style.visibility</p:attrName>
                                        </p:attrNameLst>
                                      </p:cBhvr>
                                      <p:to>
                                        <p:strVal val="visible"/>
                                      </p:to>
                                    </p:set>
                                    <p:animEffect transition="in" filter="fade">
                                      <p:cBhvr>
                                        <p:cTn id="69" dur="500"/>
                                        <p:tgtEl>
                                          <p:spTgt spid="60"/>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61"/>
                                        </p:tgtEl>
                                        <p:attrNameLst>
                                          <p:attrName>style.visibility</p:attrName>
                                        </p:attrNameLst>
                                      </p:cBhvr>
                                      <p:to>
                                        <p:strVal val="visible"/>
                                      </p:to>
                                    </p:set>
                                    <p:animEffect transition="in" filter="fade">
                                      <p:cBhvr>
                                        <p:cTn id="74" dur="500"/>
                                        <p:tgtEl>
                                          <p:spTgt spid="61"/>
                                        </p:tgtEl>
                                      </p:cBhvr>
                                    </p:animEffect>
                                  </p:childTnLst>
                                </p:cTn>
                              </p:par>
                              <p:par>
                                <p:cTn id="75" presetID="0" presetClass="path" presetSubtype="0" accel="50000" decel="50000" fill="hold" grpId="1" nodeType="withEffect">
                                  <p:stCondLst>
                                    <p:cond delay="0"/>
                                  </p:stCondLst>
                                  <p:childTnLst>
                                    <p:animMotion origin="layout" path="M -3.33333E-6 -4.44444E-6 L -0.00117 0.18588 " pathEditMode="relative" rAng="0" ptsTypes="AA">
                                      <p:cBhvr>
                                        <p:cTn id="76" dur="2000" fill="hold"/>
                                        <p:tgtEl>
                                          <p:spTgt spid="60"/>
                                        </p:tgtEl>
                                        <p:attrNameLst>
                                          <p:attrName>ppt_x</p:attrName>
                                          <p:attrName>ppt_y</p:attrName>
                                        </p:attrNameLst>
                                      </p:cBhvr>
                                      <p:rCtr x="-65" y="9282"/>
                                    </p:animMotion>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74"/>
                                        </p:tgtEl>
                                        <p:attrNameLst>
                                          <p:attrName>style.visibility</p:attrName>
                                        </p:attrNameLst>
                                      </p:cBhvr>
                                      <p:to>
                                        <p:strVal val="visible"/>
                                      </p:to>
                                    </p:set>
                                    <p:animEffect transition="in" filter="wipe(left)">
                                      <p:cBhvr>
                                        <p:cTn id="81" dur="500"/>
                                        <p:tgtEl>
                                          <p:spTgt spid="74"/>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85"/>
                                        </p:tgtEl>
                                        <p:attrNameLst>
                                          <p:attrName>style.visibility</p:attrName>
                                        </p:attrNameLst>
                                      </p:cBhvr>
                                      <p:to>
                                        <p:strVal val="visible"/>
                                      </p:to>
                                    </p:set>
                                    <p:animEffect transition="in" filter="fade">
                                      <p:cBhvr>
                                        <p:cTn id="86" dur="500"/>
                                        <p:tgtEl>
                                          <p:spTgt spid="85"/>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76"/>
                                        </p:tgtEl>
                                        <p:attrNameLst>
                                          <p:attrName>style.visibility</p:attrName>
                                        </p:attrNameLst>
                                      </p:cBhvr>
                                      <p:to>
                                        <p:strVal val="visible"/>
                                      </p:to>
                                    </p:set>
                                    <p:animEffect transition="in" filter="fade">
                                      <p:cBhvr>
                                        <p:cTn id="91" dur="500"/>
                                        <p:tgtEl>
                                          <p:spTgt spid="76"/>
                                        </p:tgtEl>
                                      </p:cBhvr>
                                    </p:animEffect>
                                  </p:childTnLst>
                                </p:cTn>
                              </p:par>
                              <p:par>
                                <p:cTn id="92" presetID="22" presetClass="entr" presetSubtype="2" fill="hold" nodeType="withEffect">
                                  <p:stCondLst>
                                    <p:cond delay="0"/>
                                  </p:stCondLst>
                                  <p:childTnLst>
                                    <p:set>
                                      <p:cBhvr>
                                        <p:cTn id="93" dur="1" fill="hold">
                                          <p:stCondLst>
                                            <p:cond delay="0"/>
                                          </p:stCondLst>
                                        </p:cTn>
                                        <p:tgtEl>
                                          <p:spTgt spid="77"/>
                                        </p:tgtEl>
                                        <p:attrNameLst>
                                          <p:attrName>style.visibility</p:attrName>
                                        </p:attrNameLst>
                                      </p:cBhvr>
                                      <p:to>
                                        <p:strVal val="visible"/>
                                      </p:to>
                                    </p:set>
                                    <p:animEffect transition="in" filter="wipe(right)">
                                      <p:cBhvr>
                                        <p:cTn id="94" dur="500"/>
                                        <p:tgtEl>
                                          <p:spTgt spid="77"/>
                                        </p:tgtEl>
                                      </p:cBhvr>
                                    </p:animEffect>
                                  </p:childTnLst>
                                </p:cTn>
                              </p:par>
                              <p:par>
                                <p:cTn id="95" presetID="10" presetClass="exit" presetSubtype="0" fill="hold" nodeType="withEffect">
                                  <p:stCondLst>
                                    <p:cond delay="0"/>
                                  </p:stCondLst>
                                  <p:childTnLst>
                                    <p:animEffect transition="out" filter="fade">
                                      <p:cBhvr>
                                        <p:cTn id="96" dur="500"/>
                                        <p:tgtEl>
                                          <p:spTgt spid="85"/>
                                        </p:tgtEl>
                                      </p:cBhvr>
                                    </p:animEffect>
                                    <p:set>
                                      <p:cBhvr>
                                        <p:cTn id="97" dur="1" fill="hold">
                                          <p:stCondLst>
                                            <p:cond delay="499"/>
                                          </p:stCondLst>
                                        </p:cTn>
                                        <p:tgtEl>
                                          <p:spTgt spid="85"/>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4"/>
                                        </p:tgtEl>
                                        <p:attrNameLst>
                                          <p:attrName>style.visibility</p:attrName>
                                        </p:attrNameLst>
                                      </p:cBhvr>
                                      <p:to>
                                        <p:strVal val="visible"/>
                                      </p:to>
                                    </p:set>
                                    <p:animEffect transition="in" filter="wipe(left)">
                                      <p:cBhvr>
                                        <p:cTn id="102" dur="500"/>
                                        <p:tgtEl>
                                          <p:spTgt spid="1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nodeType="clickEffect">
                                  <p:stCondLst>
                                    <p:cond delay="0"/>
                                  </p:stCondLst>
                                  <p:childTnLst>
                                    <p:set>
                                      <p:cBhvr>
                                        <p:cTn id="106" dur="1" fill="hold">
                                          <p:stCondLst>
                                            <p:cond delay="0"/>
                                          </p:stCondLst>
                                        </p:cTn>
                                        <p:tgtEl>
                                          <p:spTgt spid="30"/>
                                        </p:tgtEl>
                                        <p:attrNameLst>
                                          <p:attrName>style.visibility</p:attrName>
                                        </p:attrNameLst>
                                      </p:cBhvr>
                                      <p:to>
                                        <p:strVal val="visible"/>
                                      </p:to>
                                    </p:set>
                                    <p:animEffect transition="in" filter="wipe(up)">
                                      <p:cBhvr>
                                        <p:cTn id="10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15" grpId="0"/>
      <p:bldP spid="20" grpId="0" animBg="1"/>
      <p:bldP spid="21" grpId="0" animBg="1"/>
      <p:bldP spid="22" grpId="0"/>
      <p:bldP spid="22" grpId="1"/>
      <p:bldP spid="23" grpId="0"/>
      <p:bldP spid="23" grpId="1"/>
      <p:bldP spid="24" grpId="0"/>
      <p:bldP spid="60" grpId="0"/>
      <p:bldP spid="60" grpId="1"/>
      <p:bldP spid="61" grpId="0"/>
      <p:bldP spid="74" grpId="0" animBg="1"/>
      <p:bldP spid="76" grpId="0"/>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What is Linux Kernel (Count.</a:t>
            </a:r>
            <a:r>
              <a:rPr lang="en-US" altLang="zh-TW" sz="4000" dirty="0">
                <a:latin typeface="+mn-lt"/>
              </a:rPr>
              <a:t>)</a:t>
            </a:r>
            <a:endParaRPr kumimoji="1" lang="zh-TW" altLang="en-US" sz="4000" dirty="0">
              <a:latin typeface="+mn-lt"/>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10</a:t>
            </a:fld>
            <a:endParaRPr lang="zh-TW" altLang="en-US" dirty="0"/>
          </a:p>
        </p:txBody>
      </p:sp>
      <p:sp>
        <p:nvSpPr>
          <p:cNvPr id="73" name="矩形 72">
            <a:extLst>
              <a:ext uri="{FF2B5EF4-FFF2-40B4-BE49-F238E27FC236}">
                <a16:creationId xmlns:a16="http://schemas.microsoft.com/office/drawing/2014/main" id="{8A907CA2-3FEA-098E-A9CE-EA83143B3B4B}"/>
              </a:ext>
            </a:extLst>
          </p:cNvPr>
          <p:cNvSpPr/>
          <p:nvPr/>
        </p:nvSpPr>
        <p:spPr>
          <a:xfrm>
            <a:off x="7133063" y="2048723"/>
            <a:ext cx="4908553" cy="4625887"/>
          </a:xfrm>
          <a:prstGeom prst="rect">
            <a:avLst/>
          </a:prstGeom>
          <a:solidFill>
            <a:schemeClr val="bg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sz="2800" dirty="0">
                <a:solidFill>
                  <a:schemeClr val="tx1"/>
                </a:solidFill>
                <a:latin typeface="Calibri" panose="020F0502020204030204" pitchFamily="34" charset="0"/>
                <a:cs typeface="Calibri" panose="020F0502020204030204" pitchFamily="34" charset="0"/>
              </a:rPr>
              <a:t>Linux Kernel:</a:t>
            </a:r>
            <a:r>
              <a:rPr kumimoji="1" lang="zh-TW" altLang="en-US" sz="2800" dirty="0">
                <a:solidFill>
                  <a:schemeClr val="tx1"/>
                </a:solidFill>
                <a:latin typeface="Calibri" panose="020F0502020204030204" pitchFamily="34" charset="0"/>
                <a:cs typeface="Calibri" panose="020F0502020204030204" pitchFamily="34" charset="0"/>
              </a:rPr>
              <a:t> </a:t>
            </a:r>
            <a:r>
              <a:rPr lang="en-US" altLang="zh-TW" dirty="0">
                <a:solidFill>
                  <a:schemeClr val="tx1"/>
                </a:solidFill>
              </a:rPr>
              <a:t>A </a:t>
            </a:r>
            <a:r>
              <a:rPr lang="en-US" altLang="zh-TW" sz="2800" dirty="0">
                <a:solidFill>
                  <a:schemeClr val="tx1"/>
                </a:solidFill>
                <a:latin typeface="Calibri" panose="020F0502020204030204" pitchFamily="34" charset="0"/>
                <a:cs typeface="Calibri" panose="020F0502020204030204" pitchFamily="34" charset="0"/>
              </a:rPr>
              <a:t>process manager </a:t>
            </a:r>
            <a:r>
              <a:rPr lang="en-US" altLang="zh-TW" dirty="0">
                <a:solidFill>
                  <a:schemeClr val="tx1"/>
                </a:solidFill>
              </a:rPr>
              <a:t>consists of</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a</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rgbClr val="C00000"/>
                </a:solidFill>
                <a:latin typeface="Calibri" panose="020F0502020204030204" pitchFamily="34" charset="0"/>
                <a:cs typeface="Calibri" panose="020F0502020204030204" pitchFamily="34" charset="0"/>
              </a:rPr>
              <a:t>bun</a:t>
            </a:r>
            <a:r>
              <a:rPr lang="en-US" altLang="zh-TW" sz="2800" dirty="0">
                <a:solidFill>
                  <a:srgbClr val="C00000"/>
                </a:solidFill>
                <a:latin typeface="Calibri" panose="020F0502020204030204" pitchFamily="34" charset="0"/>
                <a:cs typeface="Calibri" panose="020F0502020204030204" pitchFamily="34" charset="0"/>
              </a:rPr>
              <a:t>ch</a:t>
            </a:r>
            <a:r>
              <a:rPr lang="zh-TW" altLang="en-US" sz="2800" dirty="0">
                <a:solidFill>
                  <a:srgbClr val="C00000"/>
                </a:solidFill>
                <a:latin typeface="Calibri" panose="020F0502020204030204" pitchFamily="34" charset="0"/>
                <a:cs typeface="Calibri" panose="020F0502020204030204" pitchFamily="34" charset="0"/>
              </a:rPr>
              <a:t> </a:t>
            </a:r>
            <a:r>
              <a:rPr lang="en-US" altLang="zh-TW" sz="2800" dirty="0">
                <a:solidFill>
                  <a:srgbClr val="C00000"/>
                </a:solidFill>
                <a:latin typeface="Calibri" panose="020F0502020204030204" pitchFamily="34" charset="0"/>
                <a:cs typeface="Calibri" panose="020F0502020204030204" pitchFamily="34" charset="0"/>
              </a:rPr>
              <a:t>of</a:t>
            </a:r>
            <a:r>
              <a:rPr lang="zh-TW" altLang="en-US" sz="2800" dirty="0">
                <a:solidFill>
                  <a:srgbClr val="C00000"/>
                </a:solidFill>
                <a:latin typeface="Calibri" panose="020F0502020204030204" pitchFamily="34" charset="0"/>
                <a:cs typeface="Calibri" panose="020F0502020204030204" pitchFamily="34" charset="0"/>
              </a:rPr>
              <a:t> </a:t>
            </a:r>
            <a:r>
              <a:rPr lang="en-US" altLang="zh-TW" sz="2800" dirty="0">
                <a:solidFill>
                  <a:srgbClr val="C00000"/>
                </a:solidFill>
                <a:latin typeface="Calibri" panose="020F0502020204030204" pitchFamily="34" charset="0"/>
                <a:cs typeface="Calibri" panose="020F0502020204030204" pitchFamily="34" charset="0"/>
              </a:rPr>
              <a:t>C and Assembly</a:t>
            </a:r>
            <a:r>
              <a:rPr lang="zh-TW" altLang="en-US" sz="2800" dirty="0">
                <a:solidFill>
                  <a:srgbClr val="C00000"/>
                </a:solidFill>
                <a:latin typeface="Calibri" panose="020F0502020204030204" pitchFamily="34" charset="0"/>
                <a:cs typeface="Calibri" panose="020F0502020204030204" pitchFamily="34" charset="0"/>
              </a:rPr>
              <a:t> </a:t>
            </a:r>
            <a:r>
              <a:rPr lang="en-US" altLang="zh-TW" sz="2800" dirty="0">
                <a:solidFill>
                  <a:srgbClr val="C00000"/>
                </a:solidFill>
                <a:latin typeface="Calibri" panose="020F0502020204030204" pitchFamily="34" charset="0"/>
                <a:cs typeface="Calibri" panose="020F0502020204030204" pitchFamily="34" charset="0"/>
              </a:rPr>
              <a:t>code</a:t>
            </a:r>
            <a:r>
              <a:rPr lang="en-US" altLang="zh-TW" sz="2800" dirty="0">
                <a:solidFill>
                  <a:schemeClr val="tx1"/>
                </a:solidFill>
                <a:latin typeface="Calibri" panose="020F0502020204030204" pitchFamily="34" charset="0"/>
                <a:cs typeface="Calibri" panose="020F0502020204030204" pitchFamily="34" charset="0"/>
              </a:rPr>
              <a:t>.</a:t>
            </a:r>
          </a:p>
          <a:p>
            <a:pPr algn="l"/>
            <a:r>
              <a:rPr lang="en-US" altLang="zh-TW" sz="2800" dirty="0">
                <a:solidFill>
                  <a:schemeClr val="tx1"/>
                </a:solidFill>
                <a:latin typeface="Calibri" panose="020F0502020204030204" pitchFamily="34" charset="0"/>
                <a:cs typeface="Calibri" panose="020F0502020204030204" pitchFamily="34" charset="0"/>
              </a:rPr>
              <a:t>Is Linux Kernel a Process: </a:t>
            </a:r>
            <a:r>
              <a:rPr lang="en-US" altLang="zh-TW" sz="2800" dirty="0">
                <a:solidFill>
                  <a:srgbClr val="C00000"/>
                </a:solidFill>
                <a:latin typeface="Calibri" panose="020F0502020204030204" pitchFamily="34" charset="0"/>
                <a:cs typeface="Calibri" panose="020F0502020204030204" pitchFamily="34" charset="0"/>
              </a:rPr>
              <a:t>No</a:t>
            </a:r>
            <a:r>
              <a:rPr lang="en-US" altLang="zh-TW" sz="2800" dirty="0">
                <a:solidFill>
                  <a:schemeClr val="tx1"/>
                </a:solidFill>
                <a:latin typeface="Calibri" panose="020F0502020204030204" pitchFamily="34" charset="0"/>
                <a:cs typeface="Calibri" panose="020F0502020204030204" pitchFamily="34" charset="0"/>
              </a:rPr>
              <a:t>, Not exactly.</a:t>
            </a:r>
          </a:p>
          <a:p>
            <a:pPr lvl="1" algn="l"/>
            <a:r>
              <a:rPr lang="en-US" altLang="zh-TW" dirty="0">
                <a:solidFill>
                  <a:schemeClr val="tx1"/>
                </a:solidFill>
              </a:rPr>
              <a:t>Each process shall have their own virtual address space.</a:t>
            </a:r>
            <a:br>
              <a:rPr kumimoji="1" lang="en-US" altLang="zh-TW" sz="2400" dirty="0">
                <a:solidFill>
                  <a:schemeClr val="tx1"/>
                </a:solidFill>
                <a:latin typeface="Calibri" panose="020F0502020204030204" pitchFamily="34" charset="0"/>
                <a:cs typeface="Calibri" panose="020F0502020204030204" pitchFamily="34" charset="0"/>
              </a:rPr>
            </a:br>
            <a:endParaRPr kumimoji="1" lang="en-US" altLang="zh-TW" sz="2400" dirty="0">
              <a:solidFill>
                <a:schemeClr val="tx1"/>
              </a:solidFill>
              <a:latin typeface="Calibri" panose="020F0502020204030204" pitchFamily="34" charset="0"/>
              <a:cs typeface="Calibri" panose="020F0502020204030204" pitchFamily="34" charset="0"/>
            </a:endParaRPr>
          </a:p>
          <a:p>
            <a:pPr algn="l"/>
            <a:endParaRPr kumimoji="1" lang="en-US" altLang="zh-TW" sz="2400" dirty="0">
              <a:solidFill>
                <a:schemeClr val="tx1"/>
              </a:solidFill>
              <a:latin typeface="Calibri" panose="020F0502020204030204" pitchFamily="34" charset="0"/>
              <a:cs typeface="Calibri" panose="020F0502020204030204" pitchFamily="34" charset="0"/>
            </a:endParaRPr>
          </a:p>
        </p:txBody>
      </p:sp>
      <p:sp>
        <p:nvSpPr>
          <p:cNvPr id="78" name="文字方塊 77">
            <a:extLst>
              <a:ext uri="{FF2B5EF4-FFF2-40B4-BE49-F238E27FC236}">
                <a16:creationId xmlns:a16="http://schemas.microsoft.com/office/drawing/2014/main" id="{0A101780-890A-A4D6-8A10-8CB87BC9A945}"/>
              </a:ext>
            </a:extLst>
          </p:cNvPr>
          <p:cNvSpPr txBox="1"/>
          <p:nvPr/>
        </p:nvSpPr>
        <p:spPr>
          <a:xfrm>
            <a:off x="2836636" y="5296175"/>
            <a:ext cx="2217466" cy="369332"/>
          </a:xfrm>
          <a:prstGeom prst="rect">
            <a:avLst/>
          </a:prstGeom>
          <a:noFill/>
        </p:spPr>
        <p:txBody>
          <a:bodyPr wrap="none" rtlCol="0">
            <a:spAutoFit/>
          </a:bodyPr>
          <a:lstStyle/>
          <a:p>
            <a:pPr algn="ctr"/>
            <a:r>
              <a:rPr kumimoji="1" lang="en-US" altLang="zh-TW" dirty="0">
                <a:solidFill>
                  <a:srgbClr val="C00000"/>
                </a:solidFill>
              </a:rPr>
              <a:t>Virtual Address Space</a:t>
            </a:r>
            <a:endParaRPr kumimoji="1" lang="zh-TW" altLang="en-US" dirty="0">
              <a:solidFill>
                <a:srgbClr val="C00000"/>
              </a:solidFill>
            </a:endParaRPr>
          </a:p>
        </p:txBody>
      </p:sp>
      <p:sp>
        <p:nvSpPr>
          <p:cNvPr id="82" name="文字方塊 81">
            <a:extLst>
              <a:ext uri="{FF2B5EF4-FFF2-40B4-BE49-F238E27FC236}">
                <a16:creationId xmlns:a16="http://schemas.microsoft.com/office/drawing/2014/main" id="{073D37CF-C44C-F827-4C1D-89182ED6DE53}"/>
              </a:ext>
            </a:extLst>
          </p:cNvPr>
          <p:cNvSpPr txBox="1"/>
          <p:nvPr/>
        </p:nvSpPr>
        <p:spPr>
          <a:xfrm>
            <a:off x="6024940" y="5296519"/>
            <a:ext cx="2217466" cy="369332"/>
          </a:xfrm>
          <a:prstGeom prst="rect">
            <a:avLst/>
          </a:prstGeom>
          <a:noFill/>
        </p:spPr>
        <p:txBody>
          <a:bodyPr wrap="none" rtlCol="0">
            <a:spAutoFit/>
          </a:bodyPr>
          <a:lstStyle/>
          <a:p>
            <a:pPr algn="ctr"/>
            <a:r>
              <a:rPr kumimoji="1" lang="en-US" altLang="zh-TW" dirty="0">
                <a:solidFill>
                  <a:srgbClr val="C00000"/>
                </a:solidFill>
              </a:rPr>
              <a:t>Virtual Address Space</a:t>
            </a:r>
            <a:endParaRPr kumimoji="1" lang="zh-TW" altLang="en-US" dirty="0">
              <a:solidFill>
                <a:srgbClr val="C00000"/>
              </a:solidFill>
            </a:endParaRPr>
          </a:p>
        </p:txBody>
      </p:sp>
      <p:grpSp>
        <p:nvGrpSpPr>
          <p:cNvPr id="83" name="群組 82">
            <a:extLst>
              <a:ext uri="{FF2B5EF4-FFF2-40B4-BE49-F238E27FC236}">
                <a16:creationId xmlns:a16="http://schemas.microsoft.com/office/drawing/2014/main" id="{E9E9577C-E3B0-E452-6DCF-9DA8DAE86707}"/>
              </a:ext>
            </a:extLst>
          </p:cNvPr>
          <p:cNvGrpSpPr/>
          <p:nvPr/>
        </p:nvGrpSpPr>
        <p:grpSpPr>
          <a:xfrm>
            <a:off x="3618190" y="2913771"/>
            <a:ext cx="5398436" cy="2467443"/>
            <a:chOff x="7345412" y="2759075"/>
            <a:chExt cx="4530466" cy="1747937"/>
          </a:xfrm>
        </p:grpSpPr>
        <p:pic>
          <p:nvPicPr>
            <p:cNvPr id="84" name="圖片 83">
              <a:extLst>
                <a:ext uri="{FF2B5EF4-FFF2-40B4-BE49-F238E27FC236}">
                  <a16:creationId xmlns:a16="http://schemas.microsoft.com/office/drawing/2014/main" id="{B312EE12-DBF5-10A1-F38C-66C716C743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5412" y="2987925"/>
              <a:ext cx="4392143" cy="1519087"/>
            </a:xfrm>
            <a:prstGeom prst="rect">
              <a:avLst/>
            </a:prstGeom>
          </p:spPr>
        </p:pic>
        <p:sp>
          <p:nvSpPr>
            <p:cNvPr id="88" name="矩形 87">
              <a:extLst>
                <a:ext uri="{FF2B5EF4-FFF2-40B4-BE49-F238E27FC236}">
                  <a16:creationId xmlns:a16="http://schemas.microsoft.com/office/drawing/2014/main" id="{89DB82FF-B971-404A-71E0-F0D828CFA96E}"/>
                </a:ext>
              </a:extLst>
            </p:cNvPr>
            <p:cNvSpPr/>
            <p:nvPr/>
          </p:nvSpPr>
          <p:spPr>
            <a:xfrm>
              <a:off x="10961478" y="2759075"/>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89" name="文字方塊 88">
            <a:extLst>
              <a:ext uri="{FF2B5EF4-FFF2-40B4-BE49-F238E27FC236}">
                <a16:creationId xmlns:a16="http://schemas.microsoft.com/office/drawing/2014/main" id="{238FBEA0-8A7C-9BD0-49EC-984205FA11E8}"/>
              </a:ext>
            </a:extLst>
          </p:cNvPr>
          <p:cNvSpPr txBox="1"/>
          <p:nvPr/>
        </p:nvSpPr>
        <p:spPr>
          <a:xfrm>
            <a:off x="4973299" y="2834979"/>
            <a:ext cx="1832168" cy="369332"/>
          </a:xfrm>
          <a:prstGeom prst="rect">
            <a:avLst/>
          </a:prstGeom>
          <a:noFill/>
        </p:spPr>
        <p:txBody>
          <a:bodyPr wrap="none" rtlCol="0">
            <a:spAutoFit/>
          </a:bodyPr>
          <a:lstStyle/>
          <a:p>
            <a:r>
              <a:rPr kumimoji="1" lang="en-US" altLang="zh-TW" dirty="0">
                <a:solidFill>
                  <a:schemeClr val="accent5">
                    <a:lumMod val="75000"/>
                  </a:schemeClr>
                </a:solidFill>
              </a:rPr>
              <a:t>Page Frame (4KB)</a:t>
            </a:r>
            <a:endParaRPr kumimoji="1" lang="zh-TW" altLang="en-US" dirty="0">
              <a:solidFill>
                <a:schemeClr val="accent5">
                  <a:lumMod val="75000"/>
                </a:schemeClr>
              </a:solidFill>
            </a:endParaRPr>
          </a:p>
        </p:txBody>
      </p:sp>
      <p:cxnSp>
        <p:nvCxnSpPr>
          <p:cNvPr id="90" name="直線箭頭接點 89">
            <a:extLst>
              <a:ext uri="{FF2B5EF4-FFF2-40B4-BE49-F238E27FC236}">
                <a16:creationId xmlns:a16="http://schemas.microsoft.com/office/drawing/2014/main" id="{06B1282D-BBFB-F60C-DC0A-D649CF26C803}"/>
              </a:ext>
            </a:extLst>
          </p:cNvPr>
          <p:cNvCxnSpPr>
            <a:cxnSpLocks/>
          </p:cNvCxnSpPr>
          <p:nvPr/>
        </p:nvCxnSpPr>
        <p:spPr>
          <a:xfrm>
            <a:off x="5542400" y="3146561"/>
            <a:ext cx="173" cy="219384"/>
          </a:xfrm>
          <a:prstGeom prst="straightConnector1">
            <a:avLst/>
          </a:prstGeom>
          <a:ln w="25400">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grpSp>
        <p:nvGrpSpPr>
          <p:cNvPr id="91" name="群組 90">
            <a:extLst>
              <a:ext uri="{FF2B5EF4-FFF2-40B4-BE49-F238E27FC236}">
                <a16:creationId xmlns:a16="http://schemas.microsoft.com/office/drawing/2014/main" id="{6930A860-9805-7645-D44F-4214446A95BD}"/>
              </a:ext>
            </a:extLst>
          </p:cNvPr>
          <p:cNvGrpSpPr/>
          <p:nvPr/>
        </p:nvGrpSpPr>
        <p:grpSpPr>
          <a:xfrm>
            <a:off x="3720969" y="2834979"/>
            <a:ext cx="631455" cy="475824"/>
            <a:chOff x="6662281" y="2699762"/>
            <a:chExt cx="631455" cy="475824"/>
          </a:xfrm>
        </p:grpSpPr>
        <p:sp>
          <p:nvSpPr>
            <p:cNvPr id="92" name="文字方塊 91">
              <a:extLst>
                <a:ext uri="{FF2B5EF4-FFF2-40B4-BE49-F238E27FC236}">
                  <a16:creationId xmlns:a16="http://schemas.microsoft.com/office/drawing/2014/main" id="{F941CBBD-47D9-92A4-1852-6EED15AEB481}"/>
                </a:ext>
              </a:extLst>
            </p:cNvPr>
            <p:cNvSpPr txBox="1"/>
            <p:nvPr/>
          </p:nvSpPr>
          <p:spPr>
            <a:xfrm>
              <a:off x="6662281" y="2699762"/>
              <a:ext cx="631455" cy="369332"/>
            </a:xfrm>
            <a:prstGeom prst="rect">
              <a:avLst/>
            </a:prstGeom>
            <a:noFill/>
          </p:spPr>
          <p:txBody>
            <a:bodyPr wrap="none" rtlCol="0">
              <a:spAutoFit/>
            </a:bodyPr>
            <a:lstStyle/>
            <a:p>
              <a:r>
                <a:rPr kumimoji="1" lang="en-US" altLang="zh-TW" dirty="0">
                  <a:solidFill>
                    <a:schemeClr val="accent5">
                      <a:lumMod val="75000"/>
                    </a:schemeClr>
                  </a:solidFill>
                </a:rPr>
                <a:t>Page</a:t>
              </a:r>
              <a:endParaRPr kumimoji="1" lang="zh-TW" altLang="en-US" dirty="0">
                <a:solidFill>
                  <a:schemeClr val="accent5">
                    <a:lumMod val="75000"/>
                  </a:schemeClr>
                </a:solidFill>
              </a:endParaRPr>
            </a:p>
          </p:txBody>
        </p:sp>
        <p:cxnSp>
          <p:nvCxnSpPr>
            <p:cNvPr id="93" name="直線箭頭接點 92">
              <a:extLst>
                <a:ext uri="{FF2B5EF4-FFF2-40B4-BE49-F238E27FC236}">
                  <a16:creationId xmlns:a16="http://schemas.microsoft.com/office/drawing/2014/main" id="{765423B2-D1F8-6B70-F9BE-274B0F33273C}"/>
                </a:ext>
              </a:extLst>
            </p:cNvPr>
            <p:cNvCxnSpPr>
              <a:cxnSpLocks/>
            </p:cNvCxnSpPr>
            <p:nvPr/>
          </p:nvCxnSpPr>
          <p:spPr>
            <a:xfrm>
              <a:off x="6978009" y="3011344"/>
              <a:ext cx="0" cy="164242"/>
            </a:xfrm>
            <a:prstGeom prst="straightConnector1">
              <a:avLst/>
            </a:prstGeom>
            <a:ln w="25400">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96" name="文字方塊 95">
            <a:extLst>
              <a:ext uri="{FF2B5EF4-FFF2-40B4-BE49-F238E27FC236}">
                <a16:creationId xmlns:a16="http://schemas.microsoft.com/office/drawing/2014/main" id="{E1543237-F343-B3F3-0BA9-1CB99DC2E80B}"/>
              </a:ext>
            </a:extLst>
          </p:cNvPr>
          <p:cNvSpPr txBox="1"/>
          <p:nvPr/>
        </p:nvSpPr>
        <p:spPr>
          <a:xfrm>
            <a:off x="4401206" y="4717122"/>
            <a:ext cx="2330959" cy="369332"/>
          </a:xfrm>
          <a:prstGeom prst="rect">
            <a:avLst/>
          </a:prstGeom>
          <a:noFill/>
        </p:spPr>
        <p:txBody>
          <a:bodyPr wrap="none" rtlCol="0">
            <a:spAutoFit/>
          </a:bodyPr>
          <a:lstStyle/>
          <a:p>
            <a:r>
              <a:rPr kumimoji="1" lang="en-US" altLang="zh-TW" dirty="0">
                <a:solidFill>
                  <a:srgbClr val="C00000"/>
                </a:solidFill>
              </a:rPr>
              <a:t>Physical Address Space</a:t>
            </a:r>
            <a:endParaRPr kumimoji="1" lang="zh-TW" altLang="en-US" dirty="0">
              <a:solidFill>
                <a:srgbClr val="C00000"/>
              </a:solidFill>
            </a:endParaRPr>
          </a:p>
        </p:txBody>
      </p:sp>
      <p:sp>
        <p:nvSpPr>
          <p:cNvPr id="116" name="矩形 115">
            <a:extLst>
              <a:ext uri="{FF2B5EF4-FFF2-40B4-BE49-F238E27FC236}">
                <a16:creationId xmlns:a16="http://schemas.microsoft.com/office/drawing/2014/main" id="{A4E421C0-29E8-7082-15FD-C5E5600EE648}"/>
              </a:ext>
            </a:extLst>
          </p:cNvPr>
          <p:cNvSpPr/>
          <p:nvPr/>
        </p:nvSpPr>
        <p:spPr>
          <a:xfrm>
            <a:off x="5919976" y="4100378"/>
            <a:ext cx="720000" cy="2470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120" name="群組 119">
            <a:extLst>
              <a:ext uri="{FF2B5EF4-FFF2-40B4-BE49-F238E27FC236}">
                <a16:creationId xmlns:a16="http://schemas.microsoft.com/office/drawing/2014/main" id="{5083E52D-0B2D-64FF-6E6D-DD79873181AA}"/>
              </a:ext>
            </a:extLst>
          </p:cNvPr>
          <p:cNvGrpSpPr/>
          <p:nvPr/>
        </p:nvGrpSpPr>
        <p:grpSpPr>
          <a:xfrm>
            <a:off x="4349909" y="2760157"/>
            <a:ext cx="679610" cy="727613"/>
            <a:chOff x="6662281" y="2447973"/>
            <a:chExt cx="679610" cy="727613"/>
          </a:xfrm>
        </p:grpSpPr>
        <p:sp>
          <p:nvSpPr>
            <p:cNvPr id="121" name="文字方塊 120">
              <a:extLst>
                <a:ext uri="{FF2B5EF4-FFF2-40B4-BE49-F238E27FC236}">
                  <a16:creationId xmlns:a16="http://schemas.microsoft.com/office/drawing/2014/main" id="{D9199E25-B023-AE09-1AFE-72BCE77D258A}"/>
                </a:ext>
              </a:extLst>
            </p:cNvPr>
            <p:cNvSpPr txBox="1"/>
            <p:nvPr/>
          </p:nvSpPr>
          <p:spPr>
            <a:xfrm>
              <a:off x="6662281" y="2447973"/>
              <a:ext cx="679610" cy="646331"/>
            </a:xfrm>
            <a:prstGeom prst="rect">
              <a:avLst/>
            </a:prstGeom>
            <a:noFill/>
          </p:spPr>
          <p:txBody>
            <a:bodyPr wrap="none" rtlCol="0">
              <a:spAutoFit/>
            </a:bodyPr>
            <a:lstStyle/>
            <a:p>
              <a:r>
                <a:rPr kumimoji="1" lang="en-US" altLang="zh-TW" dirty="0">
                  <a:solidFill>
                    <a:schemeClr val="accent5">
                      <a:lumMod val="75000"/>
                    </a:schemeClr>
                  </a:solidFill>
                </a:rPr>
                <a:t>Page</a:t>
              </a:r>
            </a:p>
            <a:p>
              <a:r>
                <a:rPr kumimoji="1" lang="en-US" altLang="zh-TW" dirty="0">
                  <a:solidFill>
                    <a:schemeClr val="accent5">
                      <a:lumMod val="75000"/>
                    </a:schemeClr>
                  </a:solidFill>
                </a:rPr>
                <a:t>Table</a:t>
              </a:r>
              <a:endParaRPr kumimoji="1" lang="zh-TW" altLang="en-US" dirty="0">
                <a:solidFill>
                  <a:schemeClr val="accent5">
                    <a:lumMod val="75000"/>
                  </a:schemeClr>
                </a:solidFill>
              </a:endParaRPr>
            </a:p>
          </p:txBody>
        </p:sp>
        <p:cxnSp>
          <p:nvCxnSpPr>
            <p:cNvPr id="122" name="直線箭頭接點 121">
              <a:extLst>
                <a:ext uri="{FF2B5EF4-FFF2-40B4-BE49-F238E27FC236}">
                  <a16:creationId xmlns:a16="http://schemas.microsoft.com/office/drawing/2014/main" id="{4ACCD44A-EA79-2749-3420-749D020D6776}"/>
                </a:ext>
              </a:extLst>
            </p:cNvPr>
            <p:cNvCxnSpPr>
              <a:cxnSpLocks/>
            </p:cNvCxnSpPr>
            <p:nvPr/>
          </p:nvCxnSpPr>
          <p:spPr>
            <a:xfrm>
              <a:off x="6978009" y="3011344"/>
              <a:ext cx="0" cy="164242"/>
            </a:xfrm>
            <a:prstGeom prst="straightConnector1">
              <a:avLst/>
            </a:prstGeom>
            <a:ln w="25400">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42" name="群組 41">
            <a:extLst>
              <a:ext uri="{FF2B5EF4-FFF2-40B4-BE49-F238E27FC236}">
                <a16:creationId xmlns:a16="http://schemas.microsoft.com/office/drawing/2014/main" id="{D4C3636F-B6C1-D9E3-AE65-68428B30E5E7}"/>
              </a:ext>
            </a:extLst>
          </p:cNvPr>
          <p:cNvGrpSpPr/>
          <p:nvPr/>
        </p:nvGrpSpPr>
        <p:grpSpPr>
          <a:xfrm>
            <a:off x="8964987" y="4541065"/>
            <a:ext cx="1445102" cy="1606156"/>
            <a:chOff x="9513110" y="4649472"/>
            <a:chExt cx="1445102" cy="1606156"/>
          </a:xfrm>
        </p:grpSpPr>
        <p:sp>
          <p:nvSpPr>
            <p:cNvPr id="43" name="矩形 57">
              <a:extLst>
                <a:ext uri="{FF2B5EF4-FFF2-40B4-BE49-F238E27FC236}">
                  <a16:creationId xmlns:a16="http://schemas.microsoft.com/office/drawing/2014/main" id="{FBE118B6-2141-C2B7-D9FA-7DA81AB56149}"/>
                </a:ext>
              </a:extLst>
            </p:cNvPr>
            <p:cNvSpPr/>
            <p:nvPr/>
          </p:nvSpPr>
          <p:spPr>
            <a:xfrm>
              <a:off x="9513110" y="4649472"/>
              <a:ext cx="1439048" cy="690096"/>
            </a:xfrm>
            <a:prstGeom prst="rect">
              <a:avLst/>
            </a:prstGeom>
            <a:solidFill>
              <a:schemeClr val="bg1">
                <a:lumMod val="9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User</a:t>
              </a:r>
              <a:br>
                <a:rPr kumimoji="1" lang="en-US" altLang="zh-TW" sz="1600" dirty="0">
                  <a:solidFill>
                    <a:schemeClr val="tx1"/>
                  </a:solidFill>
                  <a:cs typeface="Arial" panose="020B0604020202020204" pitchFamily="34" charset="0"/>
                </a:rPr>
              </a:br>
              <a:r>
                <a:rPr kumimoji="1" lang="en-US" altLang="zh-TW" sz="1600" dirty="0">
                  <a:solidFill>
                    <a:schemeClr val="tx1"/>
                  </a:solidFill>
                  <a:cs typeface="Arial" panose="020B0604020202020204" pitchFamily="34" charset="0"/>
                </a:rPr>
                <a:t>Program</a:t>
              </a:r>
              <a:endParaRPr kumimoji="1" lang="zh-TW" altLang="en-US" sz="1600" dirty="0">
                <a:solidFill>
                  <a:schemeClr val="tx1"/>
                </a:solidFill>
                <a:cs typeface="Arial" panose="020B0604020202020204" pitchFamily="34" charset="0"/>
              </a:endParaRPr>
            </a:p>
          </p:txBody>
        </p:sp>
        <p:sp>
          <p:nvSpPr>
            <p:cNvPr id="45" name="矩形 57">
              <a:extLst>
                <a:ext uri="{FF2B5EF4-FFF2-40B4-BE49-F238E27FC236}">
                  <a16:creationId xmlns:a16="http://schemas.microsoft.com/office/drawing/2014/main" id="{BE46463B-60C8-20F3-ECD5-48088D8E6D68}"/>
                </a:ext>
              </a:extLst>
            </p:cNvPr>
            <p:cNvSpPr/>
            <p:nvPr/>
          </p:nvSpPr>
          <p:spPr>
            <a:xfrm>
              <a:off x="9519164" y="5565532"/>
              <a:ext cx="1439048" cy="690096"/>
            </a:xfrm>
            <a:prstGeom prst="rect">
              <a:avLst/>
            </a:prstGeom>
            <a:solidFill>
              <a:schemeClr val="bg1">
                <a:lumMod val="9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Process Data </a:t>
              </a:r>
              <a:endParaRPr kumimoji="1" lang="zh-TW" altLang="en-US" sz="1600" dirty="0">
                <a:solidFill>
                  <a:schemeClr val="tx1"/>
                </a:solidFill>
                <a:cs typeface="Arial" panose="020B0604020202020204" pitchFamily="34" charset="0"/>
              </a:endParaRPr>
            </a:p>
          </p:txBody>
        </p:sp>
      </p:grpSp>
      <p:grpSp>
        <p:nvGrpSpPr>
          <p:cNvPr id="58" name="群組 57">
            <a:extLst>
              <a:ext uri="{FF2B5EF4-FFF2-40B4-BE49-F238E27FC236}">
                <a16:creationId xmlns:a16="http://schemas.microsoft.com/office/drawing/2014/main" id="{DB1F19DD-7793-BE39-BBDD-36F21EE3904C}"/>
              </a:ext>
            </a:extLst>
          </p:cNvPr>
          <p:cNvGrpSpPr/>
          <p:nvPr/>
        </p:nvGrpSpPr>
        <p:grpSpPr>
          <a:xfrm>
            <a:off x="8913965" y="2704737"/>
            <a:ext cx="2683651" cy="4037780"/>
            <a:chOff x="9462088" y="2813144"/>
            <a:chExt cx="2683651" cy="4037780"/>
          </a:xfrm>
        </p:grpSpPr>
        <p:sp>
          <p:nvSpPr>
            <p:cNvPr id="62" name="右大括弧 61">
              <a:extLst>
                <a:ext uri="{FF2B5EF4-FFF2-40B4-BE49-F238E27FC236}">
                  <a16:creationId xmlns:a16="http://schemas.microsoft.com/office/drawing/2014/main" id="{E06B53CB-8AAB-377B-61B4-7E7A10AAC86A}"/>
                </a:ext>
              </a:extLst>
            </p:cNvPr>
            <p:cNvSpPr/>
            <p:nvPr/>
          </p:nvSpPr>
          <p:spPr>
            <a:xfrm>
              <a:off x="11021232" y="2813144"/>
              <a:ext cx="138148" cy="1328928"/>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63" name="右大括弧 62">
              <a:extLst>
                <a:ext uri="{FF2B5EF4-FFF2-40B4-BE49-F238E27FC236}">
                  <a16:creationId xmlns:a16="http://schemas.microsoft.com/office/drawing/2014/main" id="{6370BF4C-50E2-65E0-BE8E-887130BACA8B}"/>
                </a:ext>
              </a:extLst>
            </p:cNvPr>
            <p:cNvSpPr/>
            <p:nvPr/>
          </p:nvSpPr>
          <p:spPr>
            <a:xfrm>
              <a:off x="11015136" y="4175726"/>
              <a:ext cx="156436" cy="2319402"/>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64" name="文字方塊 63">
              <a:extLst>
                <a:ext uri="{FF2B5EF4-FFF2-40B4-BE49-F238E27FC236}">
                  <a16:creationId xmlns:a16="http://schemas.microsoft.com/office/drawing/2014/main" id="{E8908D3B-EDAB-5195-1870-9E05270A9526}"/>
                </a:ext>
              </a:extLst>
            </p:cNvPr>
            <p:cNvSpPr txBox="1"/>
            <p:nvPr/>
          </p:nvSpPr>
          <p:spPr>
            <a:xfrm>
              <a:off x="11159380" y="2877703"/>
              <a:ext cx="986359" cy="1200329"/>
            </a:xfrm>
            <a:prstGeom prst="rect">
              <a:avLst/>
            </a:prstGeom>
            <a:noFill/>
          </p:spPr>
          <p:txBody>
            <a:bodyPr wrap="none" rtlCol="0">
              <a:spAutoFit/>
            </a:bodyPr>
            <a:lstStyle/>
            <a:p>
              <a:pPr algn="ctr"/>
              <a:r>
                <a:rPr kumimoji="1" lang="en-US" altLang="zh-TW" b="1" dirty="0"/>
                <a:t>Kernel</a:t>
              </a:r>
              <a:br>
                <a:rPr kumimoji="1" lang="en-US" altLang="zh-TW" dirty="0"/>
              </a:br>
              <a:r>
                <a:rPr kumimoji="1" lang="en-US" altLang="zh-TW" dirty="0"/>
                <a:t>Address </a:t>
              </a:r>
              <a:br>
                <a:rPr kumimoji="1" lang="en-US" altLang="zh-TW" dirty="0"/>
              </a:br>
              <a:r>
                <a:rPr kumimoji="1" lang="en-US" altLang="zh-TW" dirty="0"/>
                <a:t>Space</a:t>
              </a:r>
              <a:br>
                <a:rPr kumimoji="1" lang="en-US" altLang="zh-TW" dirty="0"/>
              </a:br>
              <a:r>
                <a:rPr kumimoji="1" lang="en-US" altLang="zh-TW" dirty="0"/>
                <a:t>(Virtual)</a:t>
              </a:r>
              <a:endParaRPr kumimoji="1" lang="zh-TW" altLang="en-US" dirty="0"/>
            </a:p>
          </p:txBody>
        </p:sp>
        <p:sp>
          <p:nvSpPr>
            <p:cNvPr id="65" name="文字方塊 64">
              <a:extLst>
                <a:ext uri="{FF2B5EF4-FFF2-40B4-BE49-F238E27FC236}">
                  <a16:creationId xmlns:a16="http://schemas.microsoft.com/office/drawing/2014/main" id="{EA7521E4-C3E8-00BD-9495-2108CE270A43}"/>
                </a:ext>
              </a:extLst>
            </p:cNvPr>
            <p:cNvSpPr txBox="1"/>
            <p:nvPr/>
          </p:nvSpPr>
          <p:spPr>
            <a:xfrm>
              <a:off x="11159380" y="4718435"/>
              <a:ext cx="986359" cy="1200329"/>
            </a:xfrm>
            <a:prstGeom prst="rect">
              <a:avLst/>
            </a:prstGeom>
            <a:noFill/>
          </p:spPr>
          <p:txBody>
            <a:bodyPr wrap="none" rtlCol="0">
              <a:spAutoFit/>
            </a:bodyPr>
            <a:lstStyle/>
            <a:p>
              <a:pPr algn="ctr"/>
              <a:r>
                <a:rPr kumimoji="1" lang="en-US" altLang="zh-TW" b="1" dirty="0"/>
                <a:t>User</a:t>
              </a:r>
              <a:br>
                <a:rPr kumimoji="1" lang="en-US" altLang="zh-TW" dirty="0"/>
              </a:br>
              <a:r>
                <a:rPr kumimoji="1" lang="en-US" altLang="zh-TW" dirty="0"/>
                <a:t>Address </a:t>
              </a:r>
              <a:br>
                <a:rPr kumimoji="1" lang="en-US" altLang="zh-TW" dirty="0"/>
              </a:br>
              <a:r>
                <a:rPr kumimoji="1" lang="en-US" altLang="zh-TW" dirty="0"/>
                <a:t>Space</a:t>
              </a:r>
              <a:br>
                <a:rPr kumimoji="1" lang="en-US" altLang="zh-TW" dirty="0"/>
              </a:br>
              <a:r>
                <a:rPr kumimoji="1" lang="en-US" altLang="zh-TW" dirty="0"/>
                <a:t>(Virtual)</a:t>
              </a:r>
              <a:endParaRPr kumimoji="1" lang="zh-TW" altLang="en-US" dirty="0"/>
            </a:p>
          </p:txBody>
        </p:sp>
        <p:sp>
          <p:nvSpPr>
            <p:cNvPr id="66" name="文字方塊 65">
              <a:extLst>
                <a:ext uri="{FF2B5EF4-FFF2-40B4-BE49-F238E27FC236}">
                  <a16:creationId xmlns:a16="http://schemas.microsoft.com/office/drawing/2014/main" id="{6688E973-3541-DA9D-F9BE-6FED1E3984C0}"/>
                </a:ext>
              </a:extLst>
            </p:cNvPr>
            <p:cNvSpPr txBox="1"/>
            <p:nvPr/>
          </p:nvSpPr>
          <p:spPr>
            <a:xfrm>
              <a:off x="9462088" y="6481592"/>
              <a:ext cx="1553054" cy="369332"/>
            </a:xfrm>
            <a:prstGeom prst="rect">
              <a:avLst/>
            </a:prstGeom>
            <a:noFill/>
          </p:spPr>
          <p:txBody>
            <a:bodyPr wrap="none" rtlCol="0">
              <a:spAutoFit/>
            </a:bodyPr>
            <a:lstStyle/>
            <a:p>
              <a:pPr algn="ctr"/>
              <a:r>
                <a:rPr kumimoji="1" lang="en-US" altLang="zh-TW" b="1" dirty="0"/>
                <a:t>Main Memory</a:t>
              </a:r>
              <a:endParaRPr kumimoji="1" lang="zh-TW" altLang="en-US" dirty="0"/>
            </a:p>
          </p:txBody>
        </p:sp>
        <p:sp>
          <p:nvSpPr>
            <p:cNvPr id="68" name="矩形 57">
              <a:extLst>
                <a:ext uri="{FF2B5EF4-FFF2-40B4-BE49-F238E27FC236}">
                  <a16:creationId xmlns:a16="http://schemas.microsoft.com/office/drawing/2014/main" id="{6824A5F3-7DB9-DC2A-12AB-828527E4665B}"/>
                </a:ext>
              </a:extLst>
            </p:cNvPr>
            <p:cNvSpPr/>
            <p:nvPr/>
          </p:nvSpPr>
          <p:spPr>
            <a:xfrm>
              <a:off x="9513460" y="4142072"/>
              <a:ext cx="1434240" cy="2353056"/>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dirty="0">
                <a:solidFill>
                  <a:schemeClr val="tx1"/>
                </a:solidFill>
                <a:cs typeface="Arial" panose="020B0604020202020204" pitchFamily="34" charset="0"/>
              </a:endParaRPr>
            </a:p>
          </p:txBody>
        </p:sp>
        <p:sp>
          <p:nvSpPr>
            <p:cNvPr id="69" name="矩形 57">
              <a:extLst>
                <a:ext uri="{FF2B5EF4-FFF2-40B4-BE49-F238E27FC236}">
                  <a16:creationId xmlns:a16="http://schemas.microsoft.com/office/drawing/2014/main" id="{3759F07A-8C4A-9881-B047-227304BACB3A}"/>
                </a:ext>
              </a:extLst>
            </p:cNvPr>
            <p:cNvSpPr/>
            <p:nvPr/>
          </p:nvSpPr>
          <p:spPr>
            <a:xfrm>
              <a:off x="9513460" y="2813144"/>
              <a:ext cx="1434240" cy="1328928"/>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dirty="0">
                <a:solidFill>
                  <a:schemeClr val="tx1"/>
                </a:solidFill>
                <a:cs typeface="Arial" panose="020B0604020202020204" pitchFamily="34" charset="0"/>
              </a:endParaRPr>
            </a:p>
          </p:txBody>
        </p:sp>
      </p:grpSp>
      <p:sp>
        <p:nvSpPr>
          <p:cNvPr id="126" name="不規則四邊形 125">
            <a:extLst>
              <a:ext uri="{FF2B5EF4-FFF2-40B4-BE49-F238E27FC236}">
                <a16:creationId xmlns:a16="http://schemas.microsoft.com/office/drawing/2014/main" id="{520527E2-9DC1-DD3D-61C0-326DA3DEDD9D}"/>
              </a:ext>
            </a:extLst>
          </p:cNvPr>
          <p:cNvSpPr/>
          <p:nvPr/>
        </p:nvSpPr>
        <p:spPr>
          <a:xfrm rot="16200000">
            <a:off x="6328698" y="3749346"/>
            <a:ext cx="3675615" cy="1570562"/>
          </a:xfrm>
          <a:custGeom>
            <a:avLst/>
            <a:gdLst>
              <a:gd name="connsiteX0" fmla="*/ 0 w 2325989"/>
              <a:gd name="connsiteY0" fmla="*/ 1564299 h 1564299"/>
              <a:gd name="connsiteX1" fmla="*/ 391075 w 2325989"/>
              <a:gd name="connsiteY1" fmla="*/ 0 h 1564299"/>
              <a:gd name="connsiteX2" fmla="*/ 1934914 w 2325989"/>
              <a:gd name="connsiteY2" fmla="*/ 0 h 1564299"/>
              <a:gd name="connsiteX3" fmla="*/ 2325989 w 2325989"/>
              <a:gd name="connsiteY3" fmla="*/ 1564299 h 1564299"/>
              <a:gd name="connsiteX4" fmla="*/ 0 w 2325989"/>
              <a:gd name="connsiteY4" fmla="*/ 1564299 h 1564299"/>
              <a:gd name="connsiteX0" fmla="*/ 0 w 2325989"/>
              <a:gd name="connsiteY0" fmla="*/ 1564299 h 1564299"/>
              <a:gd name="connsiteX1" fmla="*/ 391075 w 2325989"/>
              <a:gd name="connsiteY1" fmla="*/ 0 h 1564299"/>
              <a:gd name="connsiteX2" fmla="*/ 2033070 w 2325989"/>
              <a:gd name="connsiteY2" fmla="*/ 5167 h 1564299"/>
              <a:gd name="connsiteX3" fmla="*/ 2325989 w 2325989"/>
              <a:gd name="connsiteY3" fmla="*/ 1564299 h 1564299"/>
              <a:gd name="connsiteX4" fmla="*/ 0 w 2325989"/>
              <a:gd name="connsiteY4" fmla="*/ 1564299 h 1564299"/>
              <a:gd name="connsiteX0" fmla="*/ 0 w 2325989"/>
              <a:gd name="connsiteY0" fmla="*/ 1564299 h 1564299"/>
              <a:gd name="connsiteX1" fmla="*/ 323916 w 2325989"/>
              <a:gd name="connsiteY1" fmla="*/ 0 h 1564299"/>
              <a:gd name="connsiteX2" fmla="*/ 2033070 w 2325989"/>
              <a:gd name="connsiteY2" fmla="*/ 5167 h 1564299"/>
              <a:gd name="connsiteX3" fmla="*/ 2325989 w 2325989"/>
              <a:gd name="connsiteY3" fmla="*/ 1564299 h 1564299"/>
              <a:gd name="connsiteX4" fmla="*/ 0 w 2325989"/>
              <a:gd name="connsiteY4" fmla="*/ 1564299 h 1564299"/>
              <a:gd name="connsiteX0" fmla="*/ 0 w 2635955"/>
              <a:gd name="connsiteY0" fmla="*/ 1564299 h 1564299"/>
              <a:gd name="connsiteX1" fmla="*/ 323916 w 2635955"/>
              <a:gd name="connsiteY1" fmla="*/ 0 h 1564299"/>
              <a:gd name="connsiteX2" fmla="*/ 2033070 w 2635955"/>
              <a:gd name="connsiteY2" fmla="*/ 5167 h 1564299"/>
              <a:gd name="connsiteX3" fmla="*/ 2635955 w 2635955"/>
              <a:gd name="connsiteY3" fmla="*/ 1553966 h 1564299"/>
              <a:gd name="connsiteX4" fmla="*/ 0 w 2635955"/>
              <a:gd name="connsiteY4" fmla="*/ 1564299 h 1564299"/>
              <a:gd name="connsiteX0" fmla="*/ 0 w 3675615"/>
              <a:gd name="connsiteY0" fmla="*/ 1570562 h 1570562"/>
              <a:gd name="connsiteX1" fmla="*/ 1363576 w 3675615"/>
              <a:gd name="connsiteY1" fmla="*/ 0 h 1570562"/>
              <a:gd name="connsiteX2" fmla="*/ 3072730 w 3675615"/>
              <a:gd name="connsiteY2" fmla="*/ 5167 h 1570562"/>
              <a:gd name="connsiteX3" fmla="*/ 3675615 w 3675615"/>
              <a:gd name="connsiteY3" fmla="*/ 1553966 h 1570562"/>
              <a:gd name="connsiteX4" fmla="*/ 0 w 3675615"/>
              <a:gd name="connsiteY4" fmla="*/ 1570562 h 1570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5615" h="1570562">
                <a:moveTo>
                  <a:pt x="0" y="1570562"/>
                </a:moveTo>
                <a:lnTo>
                  <a:pt x="1363576" y="0"/>
                </a:lnTo>
                <a:lnTo>
                  <a:pt x="3072730" y="5167"/>
                </a:lnTo>
                <a:lnTo>
                  <a:pt x="3675615" y="1553966"/>
                </a:lnTo>
                <a:lnTo>
                  <a:pt x="0" y="1570562"/>
                </a:lnTo>
                <a:close/>
              </a:path>
            </a:pathLst>
          </a:custGeom>
          <a:gradFill flip="none" rotWithShape="1">
            <a:gsLst>
              <a:gs pos="0">
                <a:schemeClr val="bg1"/>
              </a:gs>
              <a:gs pos="32994">
                <a:schemeClr val="bg1"/>
              </a:gs>
              <a:gs pos="54000">
                <a:srgbClr val="F2F2F2">
                  <a:alpha val="75981"/>
                </a:srgbClr>
              </a:gs>
              <a:gs pos="68000">
                <a:srgbClr val="E4E4E4"/>
              </a:gs>
              <a:gs pos="100000">
                <a:schemeClr val="bg1">
                  <a:lumMod val="65000"/>
                </a:schemeClr>
              </a:gs>
            </a:gsLst>
            <a:lin ang="16200000" scaled="0"/>
            <a:tileRect/>
          </a:gradFill>
          <a:ln>
            <a:noFill/>
          </a:ln>
          <a:effectLst>
            <a:outerShdw blurRad="50800" dist="38100" dir="8100000" algn="tr" rotWithShape="0">
              <a:prstClr val="black">
                <a:alpha val="40000"/>
              </a:prstClr>
            </a:outerShdw>
            <a:softEdge rad="0"/>
          </a:effectLst>
          <a:scene3d>
            <a:camera prst="orthographicFront"/>
            <a:lightRig rig="flood" dir="t"/>
          </a:scene3d>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Tree>
    <p:extLst>
      <p:ext uri="{BB962C8B-B14F-4D97-AF65-F5344CB8AC3E}">
        <p14:creationId xmlns:p14="http://schemas.microsoft.com/office/powerpoint/2010/main" val="1472201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wipe(left)">
                                      <p:cBhvr>
                                        <p:cTn id="7" dur="500"/>
                                        <p:tgtEl>
                                          <p:spTgt spid="12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wipe(left)">
                                      <p:cBhvr>
                                        <p:cTn id="11" dur="500"/>
                                        <p:tgtEl>
                                          <p:spTgt spid="5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What is </a:t>
            </a:r>
            <a:r>
              <a:rPr lang="en-US" altLang="zh-TW" sz="4000" dirty="0">
                <a:latin typeface="+mn-lt"/>
              </a:rPr>
              <a:t>Linux </a:t>
            </a:r>
            <a:r>
              <a:rPr kumimoji="1" lang="en-US" altLang="zh-TW" sz="4000" dirty="0">
                <a:latin typeface="+mn-lt"/>
              </a:rPr>
              <a:t>Kernel (Count.)</a:t>
            </a:r>
            <a:endParaRPr kumimoji="1" lang="zh-TW" altLang="en-US" sz="4000" dirty="0">
              <a:latin typeface="+mn-lt"/>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11</a:t>
            </a:fld>
            <a:endParaRPr lang="zh-TW" altLang="en-US" dirty="0"/>
          </a:p>
        </p:txBody>
      </p:sp>
      <p:grpSp>
        <p:nvGrpSpPr>
          <p:cNvPr id="49" name="群組 48">
            <a:extLst>
              <a:ext uri="{FF2B5EF4-FFF2-40B4-BE49-F238E27FC236}">
                <a16:creationId xmlns:a16="http://schemas.microsoft.com/office/drawing/2014/main" id="{3573FB46-0021-A818-097B-F3AEF0B0377A}"/>
              </a:ext>
            </a:extLst>
          </p:cNvPr>
          <p:cNvGrpSpPr/>
          <p:nvPr/>
        </p:nvGrpSpPr>
        <p:grpSpPr>
          <a:xfrm>
            <a:off x="9513110" y="4649472"/>
            <a:ext cx="1445102" cy="1606156"/>
            <a:chOff x="9513110" y="4649472"/>
            <a:chExt cx="1445102" cy="1606156"/>
          </a:xfrm>
        </p:grpSpPr>
        <p:sp>
          <p:nvSpPr>
            <p:cNvPr id="43" name="矩形 57">
              <a:extLst>
                <a:ext uri="{FF2B5EF4-FFF2-40B4-BE49-F238E27FC236}">
                  <a16:creationId xmlns:a16="http://schemas.microsoft.com/office/drawing/2014/main" id="{43742304-EA9B-B1A1-D6E5-F5D2CC96DC10}"/>
                </a:ext>
              </a:extLst>
            </p:cNvPr>
            <p:cNvSpPr/>
            <p:nvPr/>
          </p:nvSpPr>
          <p:spPr>
            <a:xfrm>
              <a:off x="9513110" y="4649472"/>
              <a:ext cx="1439048" cy="690096"/>
            </a:xfrm>
            <a:prstGeom prst="rect">
              <a:avLst/>
            </a:prstGeom>
            <a:solidFill>
              <a:schemeClr val="bg1">
                <a:lumMod val="9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User</a:t>
              </a:r>
              <a:br>
                <a:rPr kumimoji="1" lang="en-US" altLang="zh-TW" sz="1600" dirty="0">
                  <a:solidFill>
                    <a:schemeClr val="tx1"/>
                  </a:solidFill>
                  <a:cs typeface="Arial" panose="020B0604020202020204" pitchFamily="34" charset="0"/>
                </a:rPr>
              </a:br>
              <a:r>
                <a:rPr kumimoji="1" lang="en-US" altLang="zh-TW" sz="1600" dirty="0">
                  <a:solidFill>
                    <a:schemeClr val="tx1"/>
                  </a:solidFill>
                  <a:cs typeface="Arial" panose="020B0604020202020204" pitchFamily="34" charset="0"/>
                </a:rPr>
                <a:t>Program</a:t>
              </a:r>
              <a:endParaRPr kumimoji="1" lang="zh-TW" altLang="en-US" sz="1600" dirty="0">
                <a:solidFill>
                  <a:schemeClr val="tx1"/>
                </a:solidFill>
                <a:cs typeface="Arial" panose="020B0604020202020204" pitchFamily="34" charset="0"/>
              </a:endParaRPr>
            </a:p>
          </p:txBody>
        </p:sp>
        <p:sp>
          <p:nvSpPr>
            <p:cNvPr id="37" name="矩形 57">
              <a:extLst>
                <a:ext uri="{FF2B5EF4-FFF2-40B4-BE49-F238E27FC236}">
                  <a16:creationId xmlns:a16="http://schemas.microsoft.com/office/drawing/2014/main" id="{A13E7C8E-C548-B9CA-43AF-92163C963BBD}"/>
                </a:ext>
              </a:extLst>
            </p:cNvPr>
            <p:cNvSpPr/>
            <p:nvPr/>
          </p:nvSpPr>
          <p:spPr>
            <a:xfrm>
              <a:off x="9519164" y="5565532"/>
              <a:ext cx="1439048" cy="690096"/>
            </a:xfrm>
            <a:prstGeom prst="rect">
              <a:avLst/>
            </a:prstGeom>
            <a:solidFill>
              <a:schemeClr val="bg1">
                <a:lumMod val="9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Process Data </a:t>
              </a:r>
              <a:endParaRPr kumimoji="1" lang="zh-TW" altLang="en-US" sz="1600" dirty="0">
                <a:solidFill>
                  <a:schemeClr val="tx1"/>
                </a:solidFill>
                <a:cs typeface="Arial" panose="020B0604020202020204" pitchFamily="34" charset="0"/>
              </a:endParaRPr>
            </a:p>
          </p:txBody>
        </p:sp>
      </p:grpSp>
      <p:grpSp>
        <p:nvGrpSpPr>
          <p:cNvPr id="50" name="群組 49">
            <a:extLst>
              <a:ext uri="{FF2B5EF4-FFF2-40B4-BE49-F238E27FC236}">
                <a16:creationId xmlns:a16="http://schemas.microsoft.com/office/drawing/2014/main" id="{E26E93ED-EE62-3596-BE0E-A0782EE0273B}"/>
              </a:ext>
            </a:extLst>
          </p:cNvPr>
          <p:cNvGrpSpPr/>
          <p:nvPr/>
        </p:nvGrpSpPr>
        <p:grpSpPr>
          <a:xfrm>
            <a:off x="7517006" y="4389004"/>
            <a:ext cx="1993056" cy="755836"/>
            <a:chOff x="7517006" y="4389004"/>
            <a:chExt cx="1993056" cy="755836"/>
          </a:xfrm>
        </p:grpSpPr>
        <p:sp>
          <p:nvSpPr>
            <p:cNvPr id="42" name="矩形 57">
              <a:extLst>
                <a:ext uri="{FF2B5EF4-FFF2-40B4-BE49-F238E27FC236}">
                  <a16:creationId xmlns:a16="http://schemas.microsoft.com/office/drawing/2014/main" id="{42CB0268-BBAF-75A7-AE06-FB6C3FA4129F}"/>
                </a:ext>
              </a:extLst>
            </p:cNvPr>
            <p:cNvSpPr/>
            <p:nvPr/>
          </p:nvSpPr>
          <p:spPr>
            <a:xfrm>
              <a:off x="7517006" y="4584700"/>
              <a:ext cx="1150776" cy="289062"/>
            </a:xfrm>
            <a:prstGeom prst="rect">
              <a:avLst/>
            </a:prstGeom>
            <a:solidFill>
              <a:schemeClr val="bg1">
                <a:lumMod val="9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cs typeface="Arial" panose="020B0604020202020204" pitchFamily="34" charset="0"/>
                </a:rPr>
                <a:t>User Mode</a:t>
              </a:r>
              <a:endParaRPr kumimoji="1" lang="zh-TW" altLang="en-US" sz="1600" dirty="0">
                <a:solidFill>
                  <a:schemeClr val="tx1"/>
                </a:solidFill>
                <a:cs typeface="Arial" panose="020B0604020202020204" pitchFamily="34" charset="0"/>
              </a:endParaRPr>
            </a:p>
          </p:txBody>
        </p:sp>
        <p:cxnSp>
          <p:nvCxnSpPr>
            <p:cNvPr id="14" name="肘形接點 13">
              <a:extLst>
                <a:ext uri="{FF2B5EF4-FFF2-40B4-BE49-F238E27FC236}">
                  <a16:creationId xmlns:a16="http://schemas.microsoft.com/office/drawing/2014/main" id="{D791AB4C-9789-8566-D796-EBFCCF38E1B2}"/>
                </a:ext>
              </a:extLst>
            </p:cNvPr>
            <p:cNvCxnSpPr>
              <a:cxnSpLocks/>
              <a:stCxn id="32" idx="3"/>
            </p:cNvCxnSpPr>
            <p:nvPr/>
          </p:nvCxnSpPr>
          <p:spPr>
            <a:xfrm>
              <a:off x="8667784" y="4389004"/>
              <a:ext cx="842278" cy="755836"/>
            </a:xfrm>
            <a:prstGeom prst="bentConnector3">
              <a:avLst>
                <a:gd name="adj1" fmla="val 50000"/>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51" name="文字方塊 50">
            <a:extLst>
              <a:ext uri="{FF2B5EF4-FFF2-40B4-BE49-F238E27FC236}">
                <a16:creationId xmlns:a16="http://schemas.microsoft.com/office/drawing/2014/main" id="{391E065A-15A6-86C3-90D8-0B36098D6E1D}"/>
              </a:ext>
            </a:extLst>
          </p:cNvPr>
          <p:cNvSpPr txBox="1"/>
          <p:nvPr/>
        </p:nvSpPr>
        <p:spPr>
          <a:xfrm>
            <a:off x="7481681" y="4218280"/>
            <a:ext cx="1221425" cy="338554"/>
          </a:xfrm>
          <a:prstGeom prst="rect">
            <a:avLst/>
          </a:prstGeom>
          <a:noFill/>
        </p:spPr>
        <p:txBody>
          <a:bodyPr wrap="none" rtlCol="0">
            <a:spAutoFit/>
          </a:bodyPr>
          <a:lstStyle/>
          <a:p>
            <a:r>
              <a:rPr kumimoji="1" lang="en-US" altLang="zh-TW" sz="1600" b="1" i="1" dirty="0">
                <a:solidFill>
                  <a:srgbClr val="C00000"/>
                </a:solidFill>
              </a:rPr>
              <a:t>Page Fault!!</a:t>
            </a:r>
            <a:endParaRPr kumimoji="1" lang="zh-TW" altLang="en-US" sz="1600" b="1" i="1" dirty="0">
              <a:solidFill>
                <a:srgbClr val="C00000"/>
              </a:solidFill>
            </a:endParaRPr>
          </a:p>
        </p:txBody>
      </p:sp>
      <p:grpSp>
        <p:nvGrpSpPr>
          <p:cNvPr id="53" name="群組 52">
            <a:extLst>
              <a:ext uri="{FF2B5EF4-FFF2-40B4-BE49-F238E27FC236}">
                <a16:creationId xmlns:a16="http://schemas.microsoft.com/office/drawing/2014/main" id="{C9620F06-B71D-1274-4307-592A39BC9DBA}"/>
              </a:ext>
            </a:extLst>
          </p:cNvPr>
          <p:cNvGrpSpPr/>
          <p:nvPr/>
        </p:nvGrpSpPr>
        <p:grpSpPr>
          <a:xfrm>
            <a:off x="7510228" y="3316997"/>
            <a:ext cx="3437472" cy="1561841"/>
            <a:chOff x="7510228" y="3316997"/>
            <a:chExt cx="3437472" cy="1561841"/>
          </a:xfrm>
        </p:grpSpPr>
        <p:sp>
          <p:nvSpPr>
            <p:cNvPr id="36" name="矩形 57">
              <a:extLst>
                <a:ext uri="{FF2B5EF4-FFF2-40B4-BE49-F238E27FC236}">
                  <a16:creationId xmlns:a16="http://schemas.microsoft.com/office/drawing/2014/main" id="{B46CEC1F-F548-E0BE-193E-78E69C2BDF42}"/>
                </a:ext>
              </a:extLst>
            </p:cNvPr>
            <p:cNvSpPr/>
            <p:nvPr/>
          </p:nvSpPr>
          <p:spPr>
            <a:xfrm>
              <a:off x="9515054" y="3316997"/>
              <a:ext cx="1432646" cy="508127"/>
            </a:xfrm>
            <a:prstGeom prst="rect">
              <a:avLst/>
            </a:prstGeom>
            <a:solidFill>
              <a:schemeClr val="bg1">
                <a:lumMod val="9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Page Fault Handler</a:t>
              </a:r>
              <a:endParaRPr kumimoji="1" lang="zh-TW" altLang="en-US" sz="1600" dirty="0">
                <a:solidFill>
                  <a:schemeClr val="tx1"/>
                </a:solidFill>
                <a:cs typeface="Arial" panose="020B0604020202020204" pitchFamily="34" charset="0"/>
              </a:endParaRPr>
            </a:p>
          </p:txBody>
        </p:sp>
        <p:cxnSp>
          <p:nvCxnSpPr>
            <p:cNvPr id="45" name="肘形接點 44">
              <a:extLst>
                <a:ext uri="{FF2B5EF4-FFF2-40B4-BE49-F238E27FC236}">
                  <a16:creationId xmlns:a16="http://schemas.microsoft.com/office/drawing/2014/main" id="{394CF22E-624B-CD13-2F14-F4CD38AF637B}"/>
                </a:ext>
              </a:extLst>
            </p:cNvPr>
            <p:cNvCxnSpPr>
              <a:cxnSpLocks/>
            </p:cNvCxnSpPr>
            <p:nvPr/>
          </p:nvCxnSpPr>
          <p:spPr>
            <a:xfrm flipV="1">
              <a:off x="8660320" y="3748752"/>
              <a:ext cx="858844" cy="461710"/>
            </a:xfrm>
            <a:prstGeom prst="bentConnector3">
              <a:avLst>
                <a:gd name="adj1" fmla="val 50000"/>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2" name="矩形 57">
              <a:extLst>
                <a:ext uri="{FF2B5EF4-FFF2-40B4-BE49-F238E27FC236}">
                  <a16:creationId xmlns:a16="http://schemas.microsoft.com/office/drawing/2014/main" id="{608D80E9-00B4-EF72-12B3-9527D74BC443}"/>
                </a:ext>
              </a:extLst>
            </p:cNvPr>
            <p:cNvSpPr/>
            <p:nvPr/>
          </p:nvSpPr>
          <p:spPr>
            <a:xfrm>
              <a:off x="7510228" y="4589776"/>
              <a:ext cx="1150776" cy="289062"/>
            </a:xfrm>
            <a:prstGeom prst="rect">
              <a:avLst/>
            </a:prstGeom>
            <a:solidFill>
              <a:schemeClr val="bg1">
                <a:lumMod val="9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600" dirty="0">
                  <a:solidFill>
                    <a:schemeClr val="tx1"/>
                  </a:solidFill>
                  <a:cs typeface="Arial" panose="020B0604020202020204" pitchFamily="34" charset="0"/>
                </a:rPr>
                <a:t>Kernel Mode</a:t>
              </a:r>
              <a:endParaRPr kumimoji="1" lang="zh-TW" altLang="en-US" sz="1600" dirty="0">
                <a:solidFill>
                  <a:schemeClr val="tx1"/>
                </a:solidFill>
                <a:cs typeface="Arial" panose="020B0604020202020204" pitchFamily="34" charset="0"/>
              </a:endParaRPr>
            </a:p>
          </p:txBody>
        </p:sp>
      </p:grpSp>
      <p:grpSp>
        <p:nvGrpSpPr>
          <p:cNvPr id="54" name="群組 53">
            <a:extLst>
              <a:ext uri="{FF2B5EF4-FFF2-40B4-BE49-F238E27FC236}">
                <a16:creationId xmlns:a16="http://schemas.microsoft.com/office/drawing/2014/main" id="{2DE52995-B0F6-EE00-692D-E7D7227919DB}"/>
              </a:ext>
            </a:extLst>
          </p:cNvPr>
          <p:cNvGrpSpPr/>
          <p:nvPr/>
        </p:nvGrpSpPr>
        <p:grpSpPr>
          <a:xfrm>
            <a:off x="7503448" y="2813144"/>
            <a:ext cx="4642291" cy="4037780"/>
            <a:chOff x="7503448" y="2813144"/>
            <a:chExt cx="4642291" cy="4037780"/>
          </a:xfrm>
        </p:grpSpPr>
        <p:sp>
          <p:nvSpPr>
            <p:cNvPr id="5" name="右大括弧 4">
              <a:extLst>
                <a:ext uri="{FF2B5EF4-FFF2-40B4-BE49-F238E27FC236}">
                  <a16:creationId xmlns:a16="http://schemas.microsoft.com/office/drawing/2014/main" id="{0C6B80BB-AD18-BE3A-E063-86E79B747617}"/>
                </a:ext>
              </a:extLst>
            </p:cNvPr>
            <p:cNvSpPr/>
            <p:nvPr/>
          </p:nvSpPr>
          <p:spPr>
            <a:xfrm>
              <a:off x="11021232" y="2813144"/>
              <a:ext cx="138148" cy="1328928"/>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33" name="右大括弧 32">
              <a:extLst>
                <a:ext uri="{FF2B5EF4-FFF2-40B4-BE49-F238E27FC236}">
                  <a16:creationId xmlns:a16="http://schemas.microsoft.com/office/drawing/2014/main" id="{7F5A1D10-4DBE-A15F-3869-70E8774F328A}"/>
                </a:ext>
              </a:extLst>
            </p:cNvPr>
            <p:cNvSpPr/>
            <p:nvPr/>
          </p:nvSpPr>
          <p:spPr>
            <a:xfrm>
              <a:off x="11015136" y="4175726"/>
              <a:ext cx="156436" cy="2319402"/>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6" name="文字方塊 5">
              <a:extLst>
                <a:ext uri="{FF2B5EF4-FFF2-40B4-BE49-F238E27FC236}">
                  <a16:creationId xmlns:a16="http://schemas.microsoft.com/office/drawing/2014/main" id="{48BD9DF8-D3E8-560B-C73E-F654A2BCE136}"/>
                </a:ext>
              </a:extLst>
            </p:cNvPr>
            <p:cNvSpPr txBox="1"/>
            <p:nvPr/>
          </p:nvSpPr>
          <p:spPr>
            <a:xfrm>
              <a:off x="11159380" y="2877703"/>
              <a:ext cx="986359" cy="1200329"/>
            </a:xfrm>
            <a:prstGeom prst="rect">
              <a:avLst/>
            </a:prstGeom>
            <a:noFill/>
          </p:spPr>
          <p:txBody>
            <a:bodyPr wrap="none" rtlCol="0">
              <a:spAutoFit/>
            </a:bodyPr>
            <a:lstStyle/>
            <a:p>
              <a:pPr algn="ctr"/>
              <a:r>
                <a:rPr kumimoji="1" lang="en-US" altLang="zh-TW" b="1" dirty="0"/>
                <a:t>Kernel</a:t>
              </a:r>
              <a:br>
                <a:rPr kumimoji="1" lang="en-US" altLang="zh-TW" dirty="0"/>
              </a:br>
              <a:r>
                <a:rPr kumimoji="1" lang="en-US" altLang="zh-TW" dirty="0"/>
                <a:t>Address </a:t>
              </a:r>
              <a:br>
                <a:rPr kumimoji="1" lang="en-US" altLang="zh-TW" dirty="0"/>
              </a:br>
              <a:r>
                <a:rPr kumimoji="1" lang="en-US" altLang="zh-TW" dirty="0"/>
                <a:t>Space</a:t>
              </a:r>
              <a:br>
                <a:rPr kumimoji="1" lang="en-US" altLang="zh-TW" dirty="0"/>
              </a:br>
              <a:r>
                <a:rPr kumimoji="1" lang="en-US" altLang="zh-TW" dirty="0"/>
                <a:t>(Virtual)</a:t>
              </a:r>
              <a:endParaRPr kumimoji="1" lang="zh-TW" altLang="en-US" dirty="0"/>
            </a:p>
          </p:txBody>
        </p:sp>
        <p:sp>
          <p:nvSpPr>
            <p:cNvPr id="34" name="文字方塊 33">
              <a:extLst>
                <a:ext uri="{FF2B5EF4-FFF2-40B4-BE49-F238E27FC236}">
                  <a16:creationId xmlns:a16="http://schemas.microsoft.com/office/drawing/2014/main" id="{E54C1971-5F26-E6A5-DBE4-CCA46B38D1C4}"/>
                </a:ext>
              </a:extLst>
            </p:cNvPr>
            <p:cNvSpPr txBox="1"/>
            <p:nvPr/>
          </p:nvSpPr>
          <p:spPr>
            <a:xfrm>
              <a:off x="11159380" y="4718435"/>
              <a:ext cx="986359" cy="1200329"/>
            </a:xfrm>
            <a:prstGeom prst="rect">
              <a:avLst/>
            </a:prstGeom>
            <a:noFill/>
          </p:spPr>
          <p:txBody>
            <a:bodyPr wrap="none" rtlCol="0">
              <a:spAutoFit/>
            </a:bodyPr>
            <a:lstStyle/>
            <a:p>
              <a:pPr algn="ctr"/>
              <a:r>
                <a:rPr kumimoji="1" lang="en-US" altLang="zh-TW" b="1" dirty="0"/>
                <a:t>User</a:t>
              </a:r>
              <a:br>
                <a:rPr kumimoji="1" lang="en-US" altLang="zh-TW" dirty="0"/>
              </a:br>
              <a:r>
                <a:rPr kumimoji="1" lang="en-US" altLang="zh-TW" dirty="0"/>
                <a:t>Address </a:t>
              </a:r>
              <a:br>
                <a:rPr kumimoji="1" lang="en-US" altLang="zh-TW" dirty="0"/>
              </a:br>
              <a:r>
                <a:rPr kumimoji="1" lang="en-US" altLang="zh-TW" dirty="0"/>
                <a:t>Space</a:t>
              </a:r>
              <a:br>
                <a:rPr kumimoji="1" lang="en-US" altLang="zh-TW" dirty="0"/>
              </a:br>
              <a:r>
                <a:rPr kumimoji="1" lang="en-US" altLang="zh-TW" dirty="0"/>
                <a:t>(Virtual)</a:t>
              </a:r>
              <a:endParaRPr kumimoji="1" lang="zh-TW" altLang="en-US" dirty="0"/>
            </a:p>
          </p:txBody>
        </p:sp>
        <p:sp>
          <p:nvSpPr>
            <p:cNvPr id="39" name="文字方塊 38">
              <a:extLst>
                <a:ext uri="{FF2B5EF4-FFF2-40B4-BE49-F238E27FC236}">
                  <a16:creationId xmlns:a16="http://schemas.microsoft.com/office/drawing/2014/main" id="{25F58155-F4C1-8D4A-5A81-1A3A0D6FEC7E}"/>
                </a:ext>
              </a:extLst>
            </p:cNvPr>
            <p:cNvSpPr txBox="1"/>
            <p:nvPr/>
          </p:nvSpPr>
          <p:spPr>
            <a:xfrm>
              <a:off x="9462082" y="6481592"/>
              <a:ext cx="1553054" cy="369332"/>
            </a:xfrm>
            <a:prstGeom prst="rect">
              <a:avLst/>
            </a:prstGeom>
            <a:noFill/>
          </p:spPr>
          <p:txBody>
            <a:bodyPr wrap="none" rtlCol="0">
              <a:spAutoFit/>
            </a:bodyPr>
            <a:lstStyle/>
            <a:p>
              <a:pPr algn="ctr"/>
              <a:r>
                <a:rPr kumimoji="1" lang="en-US" altLang="zh-TW" b="1" dirty="0"/>
                <a:t>Main Memory</a:t>
              </a:r>
              <a:endParaRPr kumimoji="1" lang="zh-TW" altLang="en-US" dirty="0"/>
            </a:p>
          </p:txBody>
        </p:sp>
        <p:sp>
          <p:nvSpPr>
            <p:cNvPr id="32" name="矩形 57">
              <a:extLst>
                <a:ext uri="{FF2B5EF4-FFF2-40B4-BE49-F238E27FC236}">
                  <a16:creationId xmlns:a16="http://schemas.microsoft.com/office/drawing/2014/main" id="{B76B3A13-4DF4-E580-6A0A-CBD2F11C8030}"/>
                </a:ext>
              </a:extLst>
            </p:cNvPr>
            <p:cNvSpPr/>
            <p:nvPr/>
          </p:nvSpPr>
          <p:spPr>
            <a:xfrm>
              <a:off x="7503448" y="3904246"/>
              <a:ext cx="1164336" cy="969516"/>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600" dirty="0">
                  <a:solidFill>
                    <a:schemeClr val="tx1"/>
                  </a:solidFill>
                  <a:cs typeface="Arial" panose="020B0604020202020204" pitchFamily="34" charset="0"/>
                </a:rPr>
                <a:t>CPU</a:t>
              </a:r>
              <a:endParaRPr kumimoji="1" lang="zh-TW" altLang="en-US" sz="1600" dirty="0">
                <a:solidFill>
                  <a:schemeClr val="tx1"/>
                </a:solidFill>
                <a:cs typeface="Arial" panose="020B0604020202020204" pitchFamily="34" charset="0"/>
              </a:endParaRPr>
            </a:p>
          </p:txBody>
        </p:sp>
        <p:sp>
          <p:nvSpPr>
            <p:cNvPr id="31" name="矩形 57">
              <a:extLst>
                <a:ext uri="{FF2B5EF4-FFF2-40B4-BE49-F238E27FC236}">
                  <a16:creationId xmlns:a16="http://schemas.microsoft.com/office/drawing/2014/main" id="{835EAA98-1358-96EE-D5A0-496BBD3B0E68}"/>
                </a:ext>
              </a:extLst>
            </p:cNvPr>
            <p:cNvSpPr/>
            <p:nvPr/>
          </p:nvSpPr>
          <p:spPr>
            <a:xfrm>
              <a:off x="9513460" y="4142072"/>
              <a:ext cx="1434240" cy="2353056"/>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dirty="0">
                <a:solidFill>
                  <a:schemeClr val="tx1"/>
                </a:solidFill>
                <a:cs typeface="Arial" panose="020B0604020202020204" pitchFamily="34" charset="0"/>
              </a:endParaRPr>
            </a:p>
          </p:txBody>
        </p:sp>
        <p:sp>
          <p:nvSpPr>
            <p:cNvPr id="30" name="矩形 57">
              <a:extLst>
                <a:ext uri="{FF2B5EF4-FFF2-40B4-BE49-F238E27FC236}">
                  <a16:creationId xmlns:a16="http://schemas.microsoft.com/office/drawing/2014/main" id="{1FC9CDA1-84C0-9565-B090-A8FC9DDC6D90}"/>
                </a:ext>
              </a:extLst>
            </p:cNvPr>
            <p:cNvSpPr/>
            <p:nvPr/>
          </p:nvSpPr>
          <p:spPr>
            <a:xfrm>
              <a:off x="9513460" y="2813144"/>
              <a:ext cx="1434240" cy="1328928"/>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600" dirty="0">
                <a:solidFill>
                  <a:schemeClr val="tx1"/>
                </a:solidFill>
                <a:cs typeface="Arial" panose="020B0604020202020204" pitchFamily="34" charset="0"/>
              </a:endParaRPr>
            </a:p>
          </p:txBody>
        </p:sp>
      </p:grpSp>
      <p:grpSp>
        <p:nvGrpSpPr>
          <p:cNvPr id="72" name="群組 71">
            <a:extLst>
              <a:ext uri="{FF2B5EF4-FFF2-40B4-BE49-F238E27FC236}">
                <a16:creationId xmlns:a16="http://schemas.microsoft.com/office/drawing/2014/main" id="{DE506803-F45F-304B-716E-1FC2184F0FC1}"/>
              </a:ext>
            </a:extLst>
          </p:cNvPr>
          <p:cNvGrpSpPr/>
          <p:nvPr/>
        </p:nvGrpSpPr>
        <p:grpSpPr>
          <a:xfrm>
            <a:off x="1011718" y="5339568"/>
            <a:ext cx="3473773" cy="1340629"/>
            <a:chOff x="1011718" y="5339568"/>
            <a:chExt cx="3473773" cy="1340629"/>
          </a:xfrm>
        </p:grpSpPr>
        <p:sp>
          <p:nvSpPr>
            <p:cNvPr id="56" name="矩形 55">
              <a:extLst>
                <a:ext uri="{FF2B5EF4-FFF2-40B4-BE49-F238E27FC236}">
                  <a16:creationId xmlns:a16="http://schemas.microsoft.com/office/drawing/2014/main" id="{EB4B1833-9C27-8720-02FE-1086FCA3E137}"/>
                </a:ext>
              </a:extLst>
            </p:cNvPr>
            <p:cNvSpPr/>
            <p:nvPr/>
          </p:nvSpPr>
          <p:spPr>
            <a:xfrm>
              <a:off x="1011718" y="5339568"/>
              <a:ext cx="3473773" cy="134062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cxnSp>
          <p:nvCxnSpPr>
            <p:cNvPr id="58" name="直線接點 57">
              <a:extLst>
                <a:ext uri="{FF2B5EF4-FFF2-40B4-BE49-F238E27FC236}">
                  <a16:creationId xmlns:a16="http://schemas.microsoft.com/office/drawing/2014/main" id="{847860DA-2F2D-0F9F-8B2A-F66E7AAB0365}"/>
                </a:ext>
              </a:extLst>
            </p:cNvPr>
            <p:cNvCxnSpPr>
              <a:cxnSpLocks/>
            </p:cNvCxnSpPr>
            <p:nvPr/>
          </p:nvCxnSpPr>
          <p:spPr>
            <a:xfrm>
              <a:off x="1011718" y="5339568"/>
              <a:ext cx="3473773" cy="0"/>
            </a:xfrm>
            <a:prstGeom prst="line">
              <a:avLst/>
            </a:prstGeom>
            <a:ln w="317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70" name="群組 69">
            <a:extLst>
              <a:ext uri="{FF2B5EF4-FFF2-40B4-BE49-F238E27FC236}">
                <a16:creationId xmlns:a16="http://schemas.microsoft.com/office/drawing/2014/main" id="{C7CCBE2C-83CF-1B0F-983E-DDDCDA3D2F9B}"/>
              </a:ext>
            </a:extLst>
          </p:cNvPr>
          <p:cNvGrpSpPr/>
          <p:nvPr/>
        </p:nvGrpSpPr>
        <p:grpSpPr>
          <a:xfrm>
            <a:off x="1429029" y="4387557"/>
            <a:ext cx="3065533" cy="1245861"/>
            <a:chOff x="1429029" y="4387557"/>
            <a:chExt cx="3065533" cy="1245861"/>
          </a:xfrm>
        </p:grpSpPr>
        <p:grpSp>
          <p:nvGrpSpPr>
            <p:cNvPr id="64" name="群組 63">
              <a:extLst>
                <a:ext uri="{FF2B5EF4-FFF2-40B4-BE49-F238E27FC236}">
                  <a16:creationId xmlns:a16="http://schemas.microsoft.com/office/drawing/2014/main" id="{10375676-BE6F-CCCC-F523-AAFAE0693956}"/>
                </a:ext>
              </a:extLst>
            </p:cNvPr>
            <p:cNvGrpSpPr/>
            <p:nvPr/>
          </p:nvGrpSpPr>
          <p:grpSpPr>
            <a:xfrm>
              <a:off x="1429029" y="4387557"/>
              <a:ext cx="1245861" cy="1245861"/>
              <a:chOff x="1429029" y="4387557"/>
              <a:chExt cx="1245861" cy="1245861"/>
            </a:xfrm>
          </p:grpSpPr>
          <p:pic>
            <p:nvPicPr>
              <p:cNvPr id="62" name="圖片 61">
                <a:extLst>
                  <a:ext uri="{FF2B5EF4-FFF2-40B4-BE49-F238E27FC236}">
                    <a16:creationId xmlns:a16="http://schemas.microsoft.com/office/drawing/2014/main" id="{64327B40-9389-E2A9-407A-1E977A4227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9029" y="4387557"/>
                <a:ext cx="1245861" cy="1245861"/>
              </a:xfrm>
              <a:prstGeom prst="rect">
                <a:avLst/>
              </a:prstGeom>
            </p:spPr>
          </p:pic>
          <p:sp>
            <p:nvSpPr>
              <p:cNvPr id="63" name="文字方塊 62">
                <a:extLst>
                  <a:ext uri="{FF2B5EF4-FFF2-40B4-BE49-F238E27FC236}">
                    <a16:creationId xmlns:a16="http://schemas.microsoft.com/office/drawing/2014/main" id="{A6A5D7C0-C52A-5F69-320D-20C840461999}"/>
                  </a:ext>
                </a:extLst>
              </p:cNvPr>
              <p:cNvSpPr txBox="1"/>
              <p:nvPr/>
            </p:nvSpPr>
            <p:spPr>
              <a:xfrm>
                <a:off x="1635706" y="5030344"/>
                <a:ext cx="912494" cy="276999"/>
              </a:xfrm>
              <a:prstGeom prst="rect">
                <a:avLst/>
              </a:prstGeom>
              <a:solidFill>
                <a:srgbClr val="F6DF98"/>
              </a:solidFill>
            </p:spPr>
            <p:txBody>
              <a:bodyPr wrap="none" lIns="0" tIns="0" rIns="0" bIns="0" rtlCol="0">
                <a:spAutoFit/>
              </a:bodyPr>
              <a:lstStyle/>
              <a:p>
                <a:r>
                  <a:rPr kumimoji="1" lang="en-US" altLang="zh-TW" b="1" dirty="0">
                    <a:solidFill>
                      <a:schemeClr val="accent5"/>
                    </a:solidFill>
                  </a:rPr>
                  <a:t>Process A</a:t>
                </a:r>
                <a:endParaRPr kumimoji="1" lang="zh-TW" altLang="en-US" b="1" dirty="0">
                  <a:solidFill>
                    <a:schemeClr val="accent5"/>
                  </a:solidFill>
                </a:endParaRPr>
              </a:p>
            </p:txBody>
          </p:sp>
        </p:grpSp>
        <p:sp>
          <p:nvSpPr>
            <p:cNvPr id="65" name="文字方塊 64">
              <a:extLst>
                <a:ext uri="{FF2B5EF4-FFF2-40B4-BE49-F238E27FC236}">
                  <a16:creationId xmlns:a16="http://schemas.microsoft.com/office/drawing/2014/main" id="{CCFD1477-BCD7-1B0D-CD5B-1B16A717FB8A}"/>
                </a:ext>
              </a:extLst>
            </p:cNvPr>
            <p:cNvSpPr txBox="1"/>
            <p:nvPr/>
          </p:nvSpPr>
          <p:spPr>
            <a:xfrm>
              <a:off x="3376948" y="4968706"/>
              <a:ext cx="1117614" cy="338554"/>
            </a:xfrm>
            <a:prstGeom prst="rect">
              <a:avLst/>
            </a:prstGeom>
            <a:noFill/>
          </p:spPr>
          <p:txBody>
            <a:bodyPr wrap="none" rtlCol="0">
              <a:spAutoFit/>
            </a:bodyPr>
            <a:lstStyle/>
            <a:p>
              <a:r>
                <a:rPr kumimoji="1" lang="en-US" altLang="zh-TW" sz="1600" b="1" i="1" u="sng" dirty="0">
                  <a:solidFill>
                    <a:srgbClr val="C00000"/>
                  </a:solidFill>
                </a:rPr>
                <a:t>User Mode</a:t>
              </a:r>
              <a:endParaRPr kumimoji="1" lang="zh-TW" altLang="en-US" sz="1600" b="1" i="1" u="sng" dirty="0">
                <a:solidFill>
                  <a:srgbClr val="C00000"/>
                </a:solidFill>
              </a:endParaRPr>
            </a:p>
          </p:txBody>
        </p:sp>
      </p:grpSp>
      <p:grpSp>
        <p:nvGrpSpPr>
          <p:cNvPr id="71" name="群組 70">
            <a:extLst>
              <a:ext uri="{FF2B5EF4-FFF2-40B4-BE49-F238E27FC236}">
                <a16:creationId xmlns:a16="http://schemas.microsoft.com/office/drawing/2014/main" id="{8772A784-F54C-6590-F9EF-F1AF8DC099DD}"/>
              </a:ext>
            </a:extLst>
          </p:cNvPr>
          <p:cNvGrpSpPr/>
          <p:nvPr/>
        </p:nvGrpSpPr>
        <p:grpSpPr>
          <a:xfrm>
            <a:off x="1456446" y="5318599"/>
            <a:ext cx="3056611" cy="1362075"/>
            <a:chOff x="1456446" y="5318599"/>
            <a:chExt cx="3056611" cy="1362075"/>
          </a:xfrm>
        </p:grpSpPr>
        <p:grpSp>
          <p:nvGrpSpPr>
            <p:cNvPr id="66" name="群組 65">
              <a:extLst>
                <a:ext uri="{FF2B5EF4-FFF2-40B4-BE49-F238E27FC236}">
                  <a16:creationId xmlns:a16="http://schemas.microsoft.com/office/drawing/2014/main" id="{DBC9E101-1853-FA36-3C3B-544CD58F72A3}"/>
                </a:ext>
              </a:extLst>
            </p:cNvPr>
            <p:cNvGrpSpPr/>
            <p:nvPr/>
          </p:nvGrpSpPr>
          <p:grpSpPr>
            <a:xfrm>
              <a:off x="1456446" y="5434813"/>
              <a:ext cx="1245861" cy="1245861"/>
              <a:chOff x="1429029" y="4387557"/>
              <a:chExt cx="1245861" cy="1245861"/>
            </a:xfrm>
          </p:grpSpPr>
          <p:pic>
            <p:nvPicPr>
              <p:cNvPr id="67" name="圖片 66">
                <a:extLst>
                  <a:ext uri="{FF2B5EF4-FFF2-40B4-BE49-F238E27FC236}">
                    <a16:creationId xmlns:a16="http://schemas.microsoft.com/office/drawing/2014/main" id="{A4A2B5E8-21DD-CBC1-EC06-D1D9D729DB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9029" y="4387557"/>
                <a:ext cx="1245861" cy="1245861"/>
              </a:xfrm>
              <a:prstGeom prst="rect">
                <a:avLst/>
              </a:prstGeom>
            </p:spPr>
          </p:pic>
          <p:sp>
            <p:nvSpPr>
              <p:cNvPr id="68" name="文字方塊 67">
                <a:extLst>
                  <a:ext uri="{FF2B5EF4-FFF2-40B4-BE49-F238E27FC236}">
                    <a16:creationId xmlns:a16="http://schemas.microsoft.com/office/drawing/2014/main" id="{61590B73-3FFF-9F60-2EF7-871C40400AEB}"/>
                  </a:ext>
                </a:extLst>
              </p:cNvPr>
              <p:cNvSpPr txBox="1"/>
              <p:nvPr/>
            </p:nvSpPr>
            <p:spPr>
              <a:xfrm>
                <a:off x="1635706" y="5030344"/>
                <a:ext cx="912494" cy="276999"/>
              </a:xfrm>
              <a:prstGeom prst="rect">
                <a:avLst/>
              </a:prstGeom>
              <a:solidFill>
                <a:srgbClr val="F6DF98"/>
              </a:solidFill>
            </p:spPr>
            <p:txBody>
              <a:bodyPr wrap="none" lIns="0" tIns="0" rIns="0" bIns="0" rtlCol="0">
                <a:spAutoFit/>
              </a:bodyPr>
              <a:lstStyle/>
              <a:p>
                <a:r>
                  <a:rPr kumimoji="1" lang="en-US" altLang="zh-TW" b="1" dirty="0">
                    <a:solidFill>
                      <a:schemeClr val="accent5"/>
                    </a:solidFill>
                  </a:rPr>
                  <a:t>Process A</a:t>
                </a:r>
                <a:endParaRPr kumimoji="1" lang="zh-TW" altLang="en-US" b="1" dirty="0">
                  <a:solidFill>
                    <a:schemeClr val="accent5"/>
                  </a:solidFill>
                </a:endParaRPr>
              </a:p>
            </p:txBody>
          </p:sp>
        </p:grpSp>
        <p:sp>
          <p:nvSpPr>
            <p:cNvPr id="69" name="文字方塊 68">
              <a:extLst>
                <a:ext uri="{FF2B5EF4-FFF2-40B4-BE49-F238E27FC236}">
                  <a16:creationId xmlns:a16="http://schemas.microsoft.com/office/drawing/2014/main" id="{10026ECA-66A9-1577-5A13-F26C9EB175C1}"/>
                </a:ext>
              </a:extLst>
            </p:cNvPr>
            <p:cNvSpPr txBox="1"/>
            <p:nvPr/>
          </p:nvSpPr>
          <p:spPr>
            <a:xfrm>
              <a:off x="3242581" y="5318599"/>
              <a:ext cx="1270476" cy="338554"/>
            </a:xfrm>
            <a:prstGeom prst="rect">
              <a:avLst/>
            </a:prstGeom>
            <a:noFill/>
          </p:spPr>
          <p:txBody>
            <a:bodyPr wrap="none" rtlCol="0">
              <a:spAutoFit/>
            </a:bodyPr>
            <a:lstStyle/>
            <a:p>
              <a:r>
                <a:rPr kumimoji="1" lang="en-US" altLang="zh-TW" sz="1600" b="1" i="1" u="sng" dirty="0">
                  <a:solidFill>
                    <a:srgbClr val="C00000"/>
                  </a:solidFill>
                </a:rPr>
                <a:t>Kernel Mode</a:t>
              </a:r>
              <a:endParaRPr kumimoji="1" lang="zh-TW" altLang="en-US" sz="1600" b="1" i="1" u="sng" dirty="0">
                <a:solidFill>
                  <a:srgbClr val="C00000"/>
                </a:solidFill>
              </a:endParaRPr>
            </a:p>
          </p:txBody>
        </p:sp>
      </p:grpSp>
      <p:sp>
        <p:nvSpPr>
          <p:cNvPr id="73" name="矩形 72">
            <a:extLst>
              <a:ext uri="{FF2B5EF4-FFF2-40B4-BE49-F238E27FC236}">
                <a16:creationId xmlns:a16="http://schemas.microsoft.com/office/drawing/2014/main" id="{8A907CA2-3FEA-098E-A9CE-EA83143B3B4B}"/>
              </a:ext>
            </a:extLst>
          </p:cNvPr>
          <p:cNvSpPr/>
          <p:nvPr/>
        </p:nvSpPr>
        <p:spPr>
          <a:xfrm>
            <a:off x="7133063" y="2220999"/>
            <a:ext cx="4908553" cy="4625887"/>
          </a:xfrm>
          <a:prstGeom prst="rect">
            <a:avLst/>
          </a:prstGeom>
          <a:solidFill>
            <a:schemeClr val="bg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sz="2800" dirty="0">
                <a:solidFill>
                  <a:schemeClr val="tx1"/>
                </a:solidFill>
                <a:latin typeface="Calibri" panose="020F0502020204030204" pitchFamily="34" charset="0"/>
                <a:cs typeface="Calibri" panose="020F0502020204030204" pitchFamily="34" charset="0"/>
              </a:rPr>
              <a:t>Linux Kernel:</a:t>
            </a:r>
            <a:r>
              <a:rPr kumimoji="1" lang="zh-TW" altLang="en-US" sz="2800" dirty="0">
                <a:solidFill>
                  <a:schemeClr val="tx1"/>
                </a:solidFill>
                <a:latin typeface="Calibri" panose="020F0502020204030204" pitchFamily="34" charset="0"/>
                <a:cs typeface="Calibri" panose="020F0502020204030204" pitchFamily="34" charset="0"/>
              </a:rPr>
              <a:t> </a:t>
            </a:r>
            <a:r>
              <a:rPr lang="en-US" altLang="zh-TW" dirty="0">
                <a:solidFill>
                  <a:schemeClr val="tx1"/>
                </a:solidFill>
              </a:rPr>
              <a:t>A </a:t>
            </a:r>
            <a:r>
              <a:rPr lang="en-US" altLang="zh-TW" sz="2800" dirty="0">
                <a:solidFill>
                  <a:schemeClr val="tx1"/>
                </a:solidFill>
                <a:latin typeface="Calibri" panose="020F0502020204030204" pitchFamily="34" charset="0"/>
                <a:cs typeface="Calibri" panose="020F0502020204030204" pitchFamily="34" charset="0"/>
              </a:rPr>
              <a:t>process manager </a:t>
            </a:r>
            <a:r>
              <a:rPr lang="en-US" altLang="zh-TW" dirty="0">
                <a:solidFill>
                  <a:schemeClr val="tx1"/>
                </a:solidFill>
              </a:rPr>
              <a:t>consists of</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a</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rgbClr val="C00000"/>
                </a:solidFill>
                <a:latin typeface="Calibri" panose="020F0502020204030204" pitchFamily="34" charset="0"/>
                <a:cs typeface="Calibri" panose="020F0502020204030204" pitchFamily="34" charset="0"/>
              </a:rPr>
              <a:t>bun</a:t>
            </a:r>
            <a:r>
              <a:rPr lang="en-US" altLang="zh-TW" sz="2800" dirty="0">
                <a:solidFill>
                  <a:srgbClr val="C00000"/>
                </a:solidFill>
                <a:latin typeface="Calibri" panose="020F0502020204030204" pitchFamily="34" charset="0"/>
                <a:cs typeface="Calibri" panose="020F0502020204030204" pitchFamily="34" charset="0"/>
              </a:rPr>
              <a:t>ch</a:t>
            </a:r>
            <a:r>
              <a:rPr lang="zh-TW" altLang="en-US" sz="2800" dirty="0">
                <a:solidFill>
                  <a:srgbClr val="C00000"/>
                </a:solidFill>
                <a:latin typeface="Calibri" panose="020F0502020204030204" pitchFamily="34" charset="0"/>
                <a:cs typeface="Calibri" panose="020F0502020204030204" pitchFamily="34" charset="0"/>
              </a:rPr>
              <a:t> </a:t>
            </a:r>
            <a:r>
              <a:rPr lang="en-US" altLang="zh-TW" sz="2800" dirty="0">
                <a:solidFill>
                  <a:srgbClr val="C00000"/>
                </a:solidFill>
                <a:latin typeface="Calibri" panose="020F0502020204030204" pitchFamily="34" charset="0"/>
                <a:cs typeface="Calibri" panose="020F0502020204030204" pitchFamily="34" charset="0"/>
              </a:rPr>
              <a:t>of</a:t>
            </a:r>
            <a:r>
              <a:rPr lang="zh-TW" altLang="en-US" sz="2800" dirty="0">
                <a:solidFill>
                  <a:srgbClr val="C00000"/>
                </a:solidFill>
                <a:latin typeface="Calibri" panose="020F0502020204030204" pitchFamily="34" charset="0"/>
                <a:cs typeface="Calibri" panose="020F0502020204030204" pitchFamily="34" charset="0"/>
              </a:rPr>
              <a:t> </a:t>
            </a:r>
            <a:r>
              <a:rPr lang="en-US" altLang="zh-TW" sz="2800" dirty="0">
                <a:solidFill>
                  <a:srgbClr val="C00000"/>
                </a:solidFill>
                <a:latin typeface="Calibri" panose="020F0502020204030204" pitchFamily="34" charset="0"/>
                <a:cs typeface="Calibri" panose="020F0502020204030204" pitchFamily="34" charset="0"/>
              </a:rPr>
              <a:t>C and Assembly</a:t>
            </a:r>
            <a:r>
              <a:rPr lang="zh-TW" altLang="en-US" sz="2800" dirty="0">
                <a:solidFill>
                  <a:srgbClr val="C00000"/>
                </a:solidFill>
                <a:latin typeface="Calibri" panose="020F0502020204030204" pitchFamily="34" charset="0"/>
                <a:cs typeface="Calibri" panose="020F0502020204030204" pitchFamily="34" charset="0"/>
              </a:rPr>
              <a:t> </a:t>
            </a:r>
            <a:r>
              <a:rPr lang="en-US" altLang="zh-TW" sz="2800" dirty="0">
                <a:solidFill>
                  <a:srgbClr val="C00000"/>
                </a:solidFill>
                <a:latin typeface="Calibri" panose="020F0502020204030204" pitchFamily="34" charset="0"/>
                <a:cs typeface="Calibri" panose="020F0502020204030204" pitchFamily="34" charset="0"/>
              </a:rPr>
              <a:t>code</a:t>
            </a:r>
            <a:r>
              <a:rPr lang="en-US" altLang="zh-TW" sz="2800" dirty="0">
                <a:solidFill>
                  <a:schemeClr val="tx1"/>
                </a:solidFill>
                <a:latin typeface="Calibri" panose="020F0502020204030204" pitchFamily="34" charset="0"/>
                <a:cs typeface="Calibri" panose="020F0502020204030204" pitchFamily="34" charset="0"/>
              </a:rPr>
              <a:t>.</a:t>
            </a:r>
          </a:p>
          <a:p>
            <a:pPr algn="l"/>
            <a:r>
              <a:rPr lang="en-US" altLang="zh-TW" sz="2800" dirty="0">
                <a:solidFill>
                  <a:schemeClr val="tx1"/>
                </a:solidFill>
                <a:latin typeface="Calibri" panose="020F0502020204030204" pitchFamily="34" charset="0"/>
                <a:cs typeface="Calibri" panose="020F0502020204030204" pitchFamily="34" charset="0"/>
              </a:rPr>
              <a:t>Is Linux Kernel a Process: No, Not exactly.</a:t>
            </a:r>
          </a:p>
          <a:p>
            <a:pPr lvl="1" algn="l"/>
            <a:r>
              <a:rPr lang="en-US" altLang="zh-TW" dirty="0">
                <a:solidFill>
                  <a:schemeClr val="tx1"/>
                </a:solidFill>
              </a:rPr>
              <a:t>Each process shall have their own virtual address space.</a:t>
            </a:r>
            <a:endParaRPr lang="en-US" altLang="zh-TW" dirty="0">
              <a:solidFill>
                <a:schemeClr val="tx1"/>
              </a:solidFill>
              <a:latin typeface="Calibri" panose="020F0502020204030204" pitchFamily="34" charset="0"/>
              <a:cs typeface="Calibri" panose="020F0502020204030204" pitchFamily="34" charset="0"/>
            </a:endParaRPr>
          </a:p>
          <a:p>
            <a:pPr lvl="1" algn="l"/>
            <a:r>
              <a:rPr lang="en-US" altLang="zh-TW" sz="2400" dirty="0">
                <a:solidFill>
                  <a:schemeClr val="tx1"/>
                </a:solidFill>
                <a:latin typeface="Calibri" panose="020F0502020204030204" pitchFamily="34" charset="0"/>
                <a:cs typeface="Calibri" panose="020F0502020204030204" pitchFamily="34" charset="0"/>
              </a:rPr>
              <a:t>Kernel</a:t>
            </a:r>
            <a:r>
              <a:rPr lang="zh-TW" altLang="en-US" sz="2400" dirty="0">
                <a:solidFill>
                  <a:schemeClr val="tx1"/>
                </a:solidFill>
                <a:latin typeface="Calibri" panose="020F0502020204030204" pitchFamily="34" charset="0"/>
                <a:cs typeface="Calibri" panose="020F0502020204030204" pitchFamily="34" charset="0"/>
              </a:rPr>
              <a:t> </a:t>
            </a:r>
            <a:r>
              <a:rPr lang="en-US" altLang="zh-TW" sz="2400" dirty="0">
                <a:solidFill>
                  <a:schemeClr val="tx1"/>
                </a:solidFill>
                <a:latin typeface="Calibri" panose="020F0502020204030204" pitchFamily="34" charset="0"/>
                <a:cs typeface="Calibri" panose="020F0502020204030204" pitchFamily="34" charset="0"/>
              </a:rPr>
              <a:t>runs as </a:t>
            </a:r>
            <a:r>
              <a:rPr lang="en-US" altLang="zh-TW" sz="2400" dirty="0">
                <a:solidFill>
                  <a:srgbClr val="C00000"/>
                </a:solidFill>
                <a:latin typeface="Calibri" panose="020F0502020204030204" pitchFamily="34" charset="0"/>
                <a:cs typeface="Calibri" panose="020F0502020204030204" pitchFamily="34" charset="0"/>
              </a:rPr>
              <a:t>part of a user process</a:t>
            </a:r>
            <a:r>
              <a:rPr lang="en-US" altLang="zh-TW" sz="2400" dirty="0">
                <a:solidFill>
                  <a:schemeClr val="tx1"/>
                </a:solidFill>
                <a:latin typeface="Calibri" panose="020F0502020204030204" pitchFamily="34" charset="0"/>
                <a:cs typeface="Calibri" panose="020F0502020204030204" pitchFamily="34" charset="0"/>
              </a:rPr>
              <a:t>. (</a:t>
            </a:r>
            <a:r>
              <a:rPr lang="en-US" altLang="zh-TW" sz="2400" i="1" dirty="0">
                <a:solidFill>
                  <a:schemeClr val="tx1"/>
                </a:solidFill>
                <a:latin typeface="Calibri" panose="020F0502020204030204" pitchFamily="34" charset="0"/>
                <a:cs typeface="Calibri" panose="020F0502020204030204" pitchFamily="34" charset="0"/>
              </a:rPr>
              <a:t>Noting: </a:t>
            </a:r>
            <a:r>
              <a:rPr lang="en-US" altLang="zh-TW" i="1" dirty="0">
                <a:solidFill>
                  <a:srgbClr val="C00000"/>
                </a:solidFill>
              </a:rPr>
              <a:t>A specific </a:t>
            </a:r>
            <a:r>
              <a:rPr lang="en-US" altLang="zh-TW" sz="2400" i="1" dirty="0">
                <a:solidFill>
                  <a:srgbClr val="C00000"/>
                </a:solidFill>
                <a:latin typeface="Calibri" panose="020F0502020204030204" pitchFamily="34" charset="0"/>
                <a:cs typeface="Calibri" panose="020F0502020204030204" pitchFamily="34" charset="0"/>
              </a:rPr>
              <a:t>part</a:t>
            </a:r>
            <a:r>
              <a:rPr lang="en-US" altLang="zh-TW" sz="2400" i="1" dirty="0">
                <a:solidFill>
                  <a:schemeClr val="tx1"/>
                </a:solidFill>
                <a:latin typeface="Calibri" panose="020F0502020204030204" pitchFamily="34" charset="0"/>
                <a:cs typeface="Calibri" panose="020F0502020204030204" pitchFamily="34" charset="0"/>
              </a:rPr>
              <a:t> of all </a:t>
            </a:r>
            <a:br>
              <a:rPr lang="en-US" altLang="zh-TW" sz="2400" i="1" dirty="0">
                <a:solidFill>
                  <a:schemeClr val="tx1"/>
                </a:solidFill>
                <a:latin typeface="Calibri" panose="020F0502020204030204" pitchFamily="34" charset="0"/>
                <a:cs typeface="Calibri" panose="020F0502020204030204" pitchFamily="34" charset="0"/>
              </a:rPr>
            </a:br>
            <a:r>
              <a:rPr lang="en-US" altLang="zh-TW" sz="2400" i="1" dirty="0">
                <a:solidFill>
                  <a:schemeClr val="tx1"/>
                </a:solidFill>
                <a:latin typeface="Calibri" panose="020F0502020204030204" pitchFamily="34" charset="0"/>
                <a:cs typeface="Calibri" panose="020F0502020204030204" pitchFamily="34" charset="0"/>
              </a:rPr>
              <a:t>processes’ virtual address space </a:t>
            </a:r>
            <a:r>
              <a:rPr lang="en-US" altLang="zh-TW" sz="2400" i="1" dirty="0">
                <a:solidFill>
                  <a:srgbClr val="C00000"/>
                </a:solidFill>
                <a:latin typeface="Calibri" panose="020F0502020204030204" pitchFamily="34" charset="0"/>
                <a:cs typeface="Calibri" panose="020F0502020204030204" pitchFamily="34" charset="0"/>
              </a:rPr>
              <a:t>points to the same physical </a:t>
            </a:r>
            <a:br>
              <a:rPr lang="en-US" altLang="zh-TW" sz="2400" i="1" dirty="0">
                <a:solidFill>
                  <a:srgbClr val="C00000"/>
                </a:solidFill>
                <a:latin typeface="Calibri" panose="020F0502020204030204" pitchFamily="34" charset="0"/>
                <a:cs typeface="Calibri" panose="020F0502020204030204" pitchFamily="34" charset="0"/>
              </a:rPr>
            </a:br>
            <a:r>
              <a:rPr lang="en-US" altLang="zh-TW" sz="2400" i="1" dirty="0">
                <a:solidFill>
                  <a:srgbClr val="C00000"/>
                </a:solidFill>
                <a:latin typeface="Calibri" panose="020F0502020204030204" pitchFamily="34" charset="0"/>
                <a:cs typeface="Calibri" panose="020F0502020204030204" pitchFamily="34" charset="0"/>
              </a:rPr>
              <a:t>address</a:t>
            </a:r>
            <a:r>
              <a:rPr lang="en-US" altLang="zh-TW" sz="2400" i="1" dirty="0">
                <a:solidFill>
                  <a:schemeClr val="tx1"/>
                </a:solidFill>
                <a:latin typeface="Calibri" panose="020F0502020204030204" pitchFamily="34" charset="0"/>
                <a:cs typeface="Calibri" panose="020F0502020204030204" pitchFamily="34" charset="0"/>
              </a:rPr>
              <a:t> storing kernel code.</a:t>
            </a:r>
            <a:r>
              <a:rPr lang="en-US" altLang="zh-TW" sz="2400" dirty="0">
                <a:solidFill>
                  <a:schemeClr val="tx1"/>
                </a:solidFill>
                <a:latin typeface="Calibri" panose="020F0502020204030204" pitchFamily="34" charset="0"/>
                <a:cs typeface="Calibri" panose="020F0502020204030204" pitchFamily="34" charset="0"/>
              </a:rPr>
              <a:t>)</a:t>
            </a:r>
            <a:endParaRPr lang="en-US" altLang="zh-TW" sz="2000" dirty="0">
              <a:solidFill>
                <a:schemeClr val="tx1"/>
              </a:solidFill>
              <a:latin typeface="Calibri" panose="020F0502020204030204" pitchFamily="34" charset="0"/>
              <a:cs typeface="Calibri" panose="020F0502020204030204" pitchFamily="34" charset="0"/>
            </a:endParaRPr>
          </a:p>
          <a:p>
            <a:pPr lvl="1" algn="l"/>
            <a:r>
              <a:rPr lang="en-US" altLang="zh-TW" sz="2400" dirty="0">
                <a:solidFill>
                  <a:schemeClr val="tx1"/>
                </a:solidFill>
                <a:latin typeface="Calibri" panose="020F0502020204030204" pitchFamily="34" charset="0"/>
                <a:cs typeface="Calibri" panose="020F0502020204030204" pitchFamily="34" charset="0"/>
              </a:rPr>
              <a:t>There are also some kernel processes working </a:t>
            </a:r>
            <a:br>
              <a:rPr lang="en-US" altLang="zh-TW" sz="2400" dirty="0">
                <a:solidFill>
                  <a:schemeClr val="tx1"/>
                </a:solidFill>
                <a:latin typeface="Calibri" panose="020F0502020204030204" pitchFamily="34" charset="0"/>
                <a:cs typeface="Calibri" panose="020F0502020204030204" pitchFamily="34" charset="0"/>
              </a:rPr>
            </a:br>
            <a:r>
              <a:rPr lang="en-US" altLang="zh-TW" sz="2400" dirty="0">
                <a:solidFill>
                  <a:schemeClr val="tx1"/>
                </a:solidFill>
                <a:latin typeface="Calibri" panose="020F0502020204030204" pitchFamily="34" charset="0"/>
                <a:cs typeface="Calibri" panose="020F0502020204030204" pitchFamily="34" charset="0"/>
              </a:rPr>
              <a:t>on monitoring system status. (Daemon)</a:t>
            </a:r>
            <a:br>
              <a:rPr kumimoji="1" lang="en-US" altLang="zh-TW" sz="2400" dirty="0">
                <a:solidFill>
                  <a:schemeClr val="tx1"/>
                </a:solidFill>
                <a:latin typeface="Calibri" panose="020F0502020204030204" pitchFamily="34" charset="0"/>
                <a:cs typeface="Calibri" panose="020F0502020204030204" pitchFamily="34" charset="0"/>
              </a:rPr>
            </a:br>
            <a:endParaRPr kumimoji="1" lang="en-US" altLang="zh-TW" sz="2400" dirty="0">
              <a:solidFill>
                <a:schemeClr val="tx1"/>
              </a:solidFill>
              <a:latin typeface="Calibri" panose="020F0502020204030204" pitchFamily="34" charset="0"/>
              <a:cs typeface="Calibri" panose="020F0502020204030204" pitchFamily="34" charset="0"/>
            </a:endParaRPr>
          </a:p>
          <a:p>
            <a:pPr algn="l"/>
            <a:endParaRPr kumimoji="1" lang="en-US" altLang="zh-TW" sz="2400" dirty="0">
              <a:solidFill>
                <a:schemeClr val="tx1"/>
              </a:solidFill>
              <a:latin typeface="Calibri" panose="020F0502020204030204" pitchFamily="34" charset="0"/>
              <a:cs typeface="Calibri" panose="020F0502020204030204" pitchFamily="34" charset="0"/>
            </a:endParaRPr>
          </a:p>
        </p:txBody>
      </p:sp>
      <p:sp>
        <p:nvSpPr>
          <p:cNvPr id="55" name="文字方塊 54">
            <a:extLst>
              <a:ext uri="{FF2B5EF4-FFF2-40B4-BE49-F238E27FC236}">
                <a16:creationId xmlns:a16="http://schemas.microsoft.com/office/drawing/2014/main" id="{CA80B4B9-9ACB-D49D-E155-733D18E19AD1}"/>
              </a:ext>
            </a:extLst>
          </p:cNvPr>
          <p:cNvSpPr txBox="1"/>
          <p:nvPr/>
        </p:nvSpPr>
        <p:spPr>
          <a:xfrm>
            <a:off x="4651599" y="5583850"/>
            <a:ext cx="4995406" cy="584775"/>
          </a:xfrm>
          <a:prstGeom prst="rect">
            <a:avLst/>
          </a:prstGeom>
          <a:noFill/>
        </p:spPr>
        <p:txBody>
          <a:bodyPr wrap="none" rtlCol="0">
            <a:spAutoFit/>
          </a:bodyPr>
          <a:lstStyle/>
          <a:p>
            <a:r>
              <a:rPr kumimoji="1" lang="en-US" altLang="zh-TW" sz="1600" b="1" i="1" u="sng" dirty="0">
                <a:solidFill>
                  <a:srgbClr val="C00000"/>
                </a:solidFill>
              </a:rPr>
              <a:t>Noting: CPU switches to kernel mode to access OS code.</a:t>
            </a:r>
            <a:br>
              <a:rPr kumimoji="1" lang="en-US" altLang="zh-TW" sz="1600" b="1" i="1" u="sng" dirty="0">
                <a:solidFill>
                  <a:srgbClr val="C00000"/>
                </a:solidFill>
              </a:rPr>
            </a:br>
            <a:r>
              <a:rPr kumimoji="1" lang="en-US" altLang="zh-TW" sz="1600" b="1" i="1" u="sng" dirty="0">
                <a:solidFill>
                  <a:srgbClr val="C00000"/>
                </a:solidFill>
              </a:rPr>
              <a:t>But, CPU does not need to switch the context!</a:t>
            </a:r>
            <a:endParaRPr kumimoji="1" lang="zh-TW" altLang="en-US" sz="1600" b="1" i="1" u="sng" dirty="0">
              <a:solidFill>
                <a:srgbClr val="C00000"/>
              </a:solidFill>
            </a:endParaRPr>
          </a:p>
        </p:txBody>
      </p:sp>
    </p:spTree>
    <p:extLst>
      <p:ext uri="{BB962C8B-B14F-4D97-AF65-F5344CB8AC3E}">
        <p14:creationId xmlns:p14="http://schemas.microsoft.com/office/powerpoint/2010/main" val="533639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fade">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50"/>
                                        </p:tgtEl>
                                      </p:cBhvr>
                                    </p:animEffect>
                                    <p:set>
                                      <p:cBhvr>
                                        <p:cTn id="17" dur="1" fill="hold">
                                          <p:stCondLst>
                                            <p:cond delay="499"/>
                                          </p:stCondLst>
                                        </p:cTn>
                                        <p:tgtEl>
                                          <p:spTgt spid="50"/>
                                        </p:tgtEl>
                                        <p:attrNameLst>
                                          <p:attrName>style.visibility</p:attrName>
                                        </p:attrNameLst>
                                      </p:cBhvr>
                                      <p:to>
                                        <p:strVal val="hidden"/>
                                      </p:to>
                                    </p:set>
                                  </p:childTnLst>
                                </p:cTn>
                              </p:par>
                              <p:par>
                                <p:cTn id="18" presetID="10" presetClass="entr" presetSubtype="0" fill="hold" nodeType="with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fade">
                                      <p:cBhvr>
                                        <p:cTn id="20" dur="500"/>
                                        <p:tgtEl>
                                          <p:spTgt spid="5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5"/>
                                        </p:tgtEl>
                                        <p:attrNameLst>
                                          <p:attrName>style.visibility</p:attrName>
                                        </p:attrNameLst>
                                      </p:cBhvr>
                                      <p:to>
                                        <p:strVal val="visible"/>
                                      </p:to>
                                    </p:set>
                                    <p:animEffect transition="in" filter="fade">
                                      <p:cBhvr>
                                        <p:cTn id="25" dur="500"/>
                                        <p:tgtEl>
                                          <p:spTgt spid="5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2"/>
                                        </p:tgtEl>
                                        <p:attrNameLst>
                                          <p:attrName>style.visibility</p:attrName>
                                        </p:attrNameLst>
                                      </p:cBhvr>
                                      <p:to>
                                        <p:strVal val="visible"/>
                                      </p:to>
                                    </p:set>
                                    <p:animEffect transition="in" filter="fade">
                                      <p:cBhvr>
                                        <p:cTn id="30" dur="500"/>
                                        <p:tgtEl>
                                          <p:spTgt spid="7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3"/>
                                        </p:tgtEl>
                                        <p:attrNameLst>
                                          <p:attrName>style.visibility</p:attrName>
                                        </p:attrNameLst>
                                      </p:cBhvr>
                                      <p:to>
                                        <p:strVal val="visible"/>
                                      </p:to>
                                    </p:set>
                                    <p:animEffect transition="in" filter="fade">
                                      <p:cBhvr>
                                        <p:cTn id="33" dur="500"/>
                                        <p:tgtEl>
                                          <p:spTgt spid="7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0"/>
                                        </p:tgtEl>
                                        <p:attrNameLst>
                                          <p:attrName>style.visibility</p:attrName>
                                        </p:attrNameLst>
                                      </p:cBhvr>
                                      <p:to>
                                        <p:strVal val="visible"/>
                                      </p:to>
                                    </p:set>
                                    <p:animEffect transition="in" filter="fade">
                                      <p:cBhvr>
                                        <p:cTn id="38" dur="500"/>
                                        <p:tgtEl>
                                          <p:spTgt spid="70"/>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xit" presetSubtype="4" fill="hold" nodeType="clickEffect">
                                  <p:stCondLst>
                                    <p:cond delay="0"/>
                                  </p:stCondLst>
                                  <p:childTnLst>
                                    <p:anim calcmode="lin" valueType="num">
                                      <p:cBhvr additive="base">
                                        <p:cTn id="42" dur="500"/>
                                        <p:tgtEl>
                                          <p:spTgt spid="70"/>
                                        </p:tgtEl>
                                        <p:attrNameLst>
                                          <p:attrName>ppt_y</p:attrName>
                                        </p:attrNameLst>
                                      </p:cBhvr>
                                      <p:tavLst>
                                        <p:tav tm="0">
                                          <p:val>
                                            <p:strVal val="#ppt_y"/>
                                          </p:val>
                                        </p:tav>
                                        <p:tav tm="100000">
                                          <p:val>
                                            <p:strVal val="#ppt_y+#ppt_h*1.125000"/>
                                          </p:val>
                                        </p:tav>
                                      </p:tavLst>
                                    </p:anim>
                                    <p:animEffect transition="out" filter="wipe(down)">
                                      <p:cBhvr>
                                        <p:cTn id="43" dur="500"/>
                                        <p:tgtEl>
                                          <p:spTgt spid="70"/>
                                        </p:tgtEl>
                                      </p:cBhvr>
                                    </p:animEffect>
                                    <p:set>
                                      <p:cBhvr>
                                        <p:cTn id="44" dur="1" fill="hold">
                                          <p:stCondLst>
                                            <p:cond delay="499"/>
                                          </p:stCondLst>
                                        </p:cTn>
                                        <p:tgtEl>
                                          <p:spTgt spid="70"/>
                                        </p:tgtEl>
                                        <p:attrNameLst>
                                          <p:attrName>style.visibility</p:attrName>
                                        </p:attrNameLst>
                                      </p:cBhvr>
                                      <p:to>
                                        <p:strVal val="hidden"/>
                                      </p:to>
                                    </p:set>
                                  </p:childTnLst>
                                </p:cTn>
                              </p:par>
                              <p:par>
                                <p:cTn id="45" presetID="12" presetClass="entr" presetSubtype="1" fill="hold" nodeType="withEffect">
                                  <p:stCondLst>
                                    <p:cond delay="0"/>
                                  </p:stCondLst>
                                  <p:childTnLst>
                                    <p:set>
                                      <p:cBhvr>
                                        <p:cTn id="46" dur="1" fill="hold">
                                          <p:stCondLst>
                                            <p:cond delay="0"/>
                                          </p:stCondLst>
                                        </p:cTn>
                                        <p:tgtEl>
                                          <p:spTgt spid="71"/>
                                        </p:tgtEl>
                                        <p:attrNameLst>
                                          <p:attrName>style.visibility</p:attrName>
                                        </p:attrNameLst>
                                      </p:cBhvr>
                                      <p:to>
                                        <p:strVal val="visible"/>
                                      </p:to>
                                    </p:set>
                                    <p:anim calcmode="lin" valueType="num">
                                      <p:cBhvr additive="base">
                                        <p:cTn id="47" dur="500"/>
                                        <p:tgtEl>
                                          <p:spTgt spid="71"/>
                                        </p:tgtEl>
                                        <p:attrNameLst>
                                          <p:attrName>ppt_y</p:attrName>
                                        </p:attrNameLst>
                                      </p:cBhvr>
                                      <p:tavLst>
                                        <p:tav tm="0">
                                          <p:val>
                                            <p:strVal val="#ppt_y-#ppt_h*1.125000"/>
                                          </p:val>
                                        </p:tav>
                                        <p:tav tm="100000">
                                          <p:val>
                                            <p:strVal val="#ppt_y"/>
                                          </p:val>
                                        </p:tav>
                                      </p:tavLst>
                                    </p:anim>
                                    <p:animEffect transition="in" filter="wipe(down)">
                                      <p:cBhvr>
                                        <p:cTn id="48" dur="500"/>
                                        <p:tgtEl>
                                          <p:spTgt spid="7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animEffect transition="in" filter="fade">
                                      <p:cBhvr>
                                        <p:cTn id="5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73" grpId="0" animBg="1"/>
      <p:bldP spid="5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群組 8">
            <a:extLst>
              <a:ext uri="{FF2B5EF4-FFF2-40B4-BE49-F238E27FC236}">
                <a16:creationId xmlns:a16="http://schemas.microsoft.com/office/drawing/2014/main" id="{B74BBCED-AA1C-732E-A785-DD9FF8BDC1AB}"/>
              </a:ext>
            </a:extLst>
          </p:cNvPr>
          <p:cNvGrpSpPr/>
          <p:nvPr/>
        </p:nvGrpSpPr>
        <p:grpSpPr>
          <a:xfrm>
            <a:off x="94406" y="4919672"/>
            <a:ext cx="11693642" cy="1894260"/>
            <a:chOff x="94406" y="4919672"/>
            <a:chExt cx="11693642" cy="1894260"/>
          </a:xfrm>
        </p:grpSpPr>
        <p:grpSp>
          <p:nvGrpSpPr>
            <p:cNvPr id="35" name="群組 34">
              <a:extLst>
                <a:ext uri="{FF2B5EF4-FFF2-40B4-BE49-F238E27FC236}">
                  <a16:creationId xmlns:a16="http://schemas.microsoft.com/office/drawing/2014/main" id="{6E381564-BC76-2A52-A8C4-3D87994E46A0}"/>
                </a:ext>
              </a:extLst>
            </p:cNvPr>
            <p:cNvGrpSpPr/>
            <p:nvPr/>
          </p:nvGrpSpPr>
          <p:grpSpPr>
            <a:xfrm>
              <a:off x="177800" y="5295500"/>
              <a:ext cx="11610248" cy="1518432"/>
              <a:chOff x="1011718" y="5339568"/>
              <a:chExt cx="3473773" cy="1340629"/>
            </a:xfrm>
          </p:grpSpPr>
          <p:sp>
            <p:nvSpPr>
              <p:cNvPr id="54" name="矩形 53">
                <a:extLst>
                  <a:ext uri="{FF2B5EF4-FFF2-40B4-BE49-F238E27FC236}">
                    <a16:creationId xmlns:a16="http://schemas.microsoft.com/office/drawing/2014/main" id="{A0DEA76E-A221-03EC-984D-E771B02095C5}"/>
                  </a:ext>
                </a:extLst>
              </p:cNvPr>
              <p:cNvSpPr/>
              <p:nvPr/>
            </p:nvSpPr>
            <p:spPr>
              <a:xfrm>
                <a:off x="1011718" y="5339568"/>
                <a:ext cx="3473773" cy="134062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cxnSp>
            <p:nvCxnSpPr>
              <p:cNvPr id="55" name="直線接點 54">
                <a:extLst>
                  <a:ext uri="{FF2B5EF4-FFF2-40B4-BE49-F238E27FC236}">
                    <a16:creationId xmlns:a16="http://schemas.microsoft.com/office/drawing/2014/main" id="{DD3F63CB-D399-FC54-89FF-24913992FB81}"/>
                  </a:ext>
                </a:extLst>
              </p:cNvPr>
              <p:cNvCxnSpPr>
                <a:cxnSpLocks/>
              </p:cNvCxnSpPr>
              <p:nvPr/>
            </p:nvCxnSpPr>
            <p:spPr>
              <a:xfrm>
                <a:off x="1011718" y="5339568"/>
                <a:ext cx="3473773" cy="0"/>
              </a:xfrm>
              <a:prstGeom prst="line">
                <a:avLst/>
              </a:prstGeom>
              <a:ln w="317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8" name="文字方塊 57">
              <a:extLst>
                <a:ext uri="{FF2B5EF4-FFF2-40B4-BE49-F238E27FC236}">
                  <a16:creationId xmlns:a16="http://schemas.microsoft.com/office/drawing/2014/main" id="{7F3A8CA9-2D72-965D-DA8F-956C5587A173}"/>
                </a:ext>
              </a:extLst>
            </p:cNvPr>
            <p:cNvSpPr txBox="1"/>
            <p:nvPr/>
          </p:nvSpPr>
          <p:spPr>
            <a:xfrm>
              <a:off x="94406" y="4919672"/>
              <a:ext cx="1117614" cy="338554"/>
            </a:xfrm>
            <a:prstGeom prst="rect">
              <a:avLst/>
            </a:prstGeom>
            <a:noFill/>
          </p:spPr>
          <p:txBody>
            <a:bodyPr wrap="none" rtlCol="0">
              <a:spAutoFit/>
            </a:bodyPr>
            <a:lstStyle/>
            <a:p>
              <a:r>
                <a:rPr kumimoji="1" lang="en-US" altLang="zh-TW" sz="1600" b="1" i="1" u="sng" dirty="0">
                  <a:solidFill>
                    <a:srgbClr val="C00000"/>
                  </a:solidFill>
                </a:rPr>
                <a:t>User Mode</a:t>
              </a:r>
              <a:endParaRPr kumimoji="1" lang="zh-TW" altLang="en-US" sz="1600" b="1" i="1" u="sng" dirty="0">
                <a:solidFill>
                  <a:srgbClr val="C00000"/>
                </a:solidFill>
              </a:endParaRPr>
            </a:p>
          </p:txBody>
        </p:sp>
        <p:sp>
          <p:nvSpPr>
            <p:cNvPr id="63" name="文字方塊 62">
              <a:extLst>
                <a:ext uri="{FF2B5EF4-FFF2-40B4-BE49-F238E27FC236}">
                  <a16:creationId xmlns:a16="http://schemas.microsoft.com/office/drawing/2014/main" id="{9D0DF1BA-1A4C-A161-3078-C0D4ACEAB217}"/>
                </a:ext>
              </a:extLst>
            </p:cNvPr>
            <p:cNvSpPr txBox="1"/>
            <p:nvPr/>
          </p:nvSpPr>
          <p:spPr>
            <a:xfrm>
              <a:off x="105622" y="5339567"/>
              <a:ext cx="1270476" cy="338554"/>
            </a:xfrm>
            <a:prstGeom prst="rect">
              <a:avLst/>
            </a:prstGeom>
            <a:noFill/>
          </p:spPr>
          <p:txBody>
            <a:bodyPr wrap="none" rtlCol="0">
              <a:spAutoFit/>
            </a:bodyPr>
            <a:lstStyle/>
            <a:p>
              <a:r>
                <a:rPr kumimoji="1" lang="en-US" altLang="zh-TW" sz="1600" b="1" i="1" u="sng" dirty="0">
                  <a:solidFill>
                    <a:srgbClr val="C00000"/>
                  </a:solidFill>
                </a:rPr>
                <a:t>Kernel Mode</a:t>
              </a:r>
              <a:endParaRPr kumimoji="1" lang="zh-TW" altLang="en-US" sz="1600" b="1" i="1" u="sng" dirty="0">
                <a:solidFill>
                  <a:srgbClr val="C00000"/>
                </a:solidFill>
              </a:endParaRPr>
            </a:p>
          </p:txBody>
        </p:sp>
      </p:grpSp>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t>How to Trigger/Request Kernel Services</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a:xfrm>
            <a:off x="177800" y="1084013"/>
            <a:ext cx="11836400" cy="5441950"/>
          </a:xfrm>
        </p:spPr>
        <p:txBody>
          <a:bodyPr>
            <a:normAutofit/>
          </a:bodyPr>
          <a:lstStyle/>
          <a:p>
            <a:pPr algn="l"/>
            <a:r>
              <a:rPr kumimoji="1" lang="en-US" altLang="zh-TW" sz="2800" dirty="0">
                <a:solidFill>
                  <a:schemeClr val="tx1"/>
                </a:solidFill>
                <a:latin typeface="Calibri" panose="020F0502020204030204" pitchFamily="34" charset="0"/>
                <a:cs typeface="Calibri" panose="020F0502020204030204" pitchFamily="34" charset="0"/>
              </a:rPr>
              <a:t>When</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chemeClr val="tx1"/>
                </a:solidFill>
                <a:latin typeface="Calibri" panose="020F0502020204030204" pitchFamily="34" charset="0"/>
                <a:cs typeface="Calibri" panose="020F0502020204030204" pitchFamily="34" charset="0"/>
              </a:rPr>
              <a:t>Do</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chemeClr val="tx1"/>
                </a:solidFill>
                <a:latin typeface="Calibri" panose="020F0502020204030204" pitchFamily="34" charset="0"/>
                <a:cs typeface="Calibri" panose="020F0502020204030204" pitchFamily="34" charset="0"/>
              </a:rPr>
              <a:t>CPUs</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chemeClr val="tx1"/>
                </a:solidFill>
                <a:latin typeface="Calibri" panose="020F0502020204030204" pitchFamily="34" charset="0"/>
                <a:cs typeface="Calibri" panose="020F0502020204030204" pitchFamily="34" charset="0"/>
              </a:rPr>
              <a:t>Run</a:t>
            </a:r>
            <a:r>
              <a:rPr kumimoji="1" lang="zh-TW" altLang="en-US" sz="2800" dirty="0">
                <a:solidFill>
                  <a:schemeClr val="tx1"/>
                </a:solidFill>
                <a:latin typeface="Calibri" panose="020F0502020204030204" pitchFamily="34" charset="0"/>
                <a:cs typeface="Calibri" panose="020F0502020204030204" pitchFamily="34" charset="0"/>
              </a:rPr>
              <a:t> </a:t>
            </a:r>
            <a:r>
              <a:rPr kumimoji="1" lang="en-US" altLang="zh-TW" sz="2800" dirty="0">
                <a:solidFill>
                  <a:schemeClr val="tx1"/>
                </a:solidFill>
                <a:latin typeface="Calibri" panose="020F0502020204030204" pitchFamily="34" charset="0"/>
                <a:cs typeface="Calibri" panose="020F0502020204030204" pitchFamily="34" charset="0"/>
              </a:rPr>
              <a:t>Kernel: CPUs runs the kernel only when </a:t>
            </a:r>
            <a:r>
              <a:rPr kumimoji="1" lang="en-US" altLang="zh-TW" sz="2800" dirty="0">
                <a:solidFill>
                  <a:srgbClr val="C00000"/>
                </a:solidFill>
                <a:latin typeface="Calibri" panose="020F0502020204030204" pitchFamily="34" charset="0"/>
                <a:cs typeface="Calibri" panose="020F0502020204030204" pitchFamily="34" charset="0"/>
              </a:rPr>
              <a:t>some special events are triggered</a:t>
            </a:r>
            <a:r>
              <a:rPr kumimoji="1" lang="en-US" altLang="zh-TW" sz="2800" dirty="0">
                <a:solidFill>
                  <a:schemeClr val="tx1"/>
                </a:solidFill>
                <a:latin typeface="Calibri" panose="020F0502020204030204" pitchFamily="34" charset="0"/>
                <a:cs typeface="Calibri" panose="020F0502020204030204" pitchFamily="34" charset="0"/>
              </a:rPr>
              <a:t>. Otherwise, it runs user programs or stays idle.</a:t>
            </a:r>
          </a:p>
          <a:p>
            <a:pPr algn="l"/>
            <a:r>
              <a:rPr lang="en-US" altLang="zh-TW" sz="2800" dirty="0">
                <a:solidFill>
                  <a:schemeClr val="tx1"/>
                </a:solidFill>
                <a:latin typeface="Calibri" panose="020F0502020204030204" pitchFamily="34" charset="0"/>
                <a:cs typeface="Calibri" panose="020F0502020204030204" pitchFamily="34" charset="0"/>
              </a:rPr>
              <a:t>Special</a:t>
            </a:r>
            <a:r>
              <a:rPr lang="zh-TW" altLang="en-US" sz="2800" dirty="0">
                <a:solidFill>
                  <a:schemeClr val="tx1"/>
                </a:solidFill>
                <a:latin typeface="Calibri" panose="020F0502020204030204" pitchFamily="34" charset="0"/>
                <a:cs typeface="Calibri" panose="020F0502020204030204" pitchFamily="34" charset="0"/>
              </a:rPr>
              <a:t> </a:t>
            </a:r>
            <a:r>
              <a:rPr lang="en-US" altLang="zh-TW" sz="2800" dirty="0">
                <a:solidFill>
                  <a:schemeClr val="tx1"/>
                </a:solidFill>
                <a:latin typeface="Calibri" panose="020F0502020204030204" pitchFamily="34" charset="0"/>
                <a:cs typeface="Calibri" panose="020F0502020204030204" pitchFamily="34" charset="0"/>
              </a:rPr>
              <a:t>Events: </a:t>
            </a:r>
          </a:p>
          <a:p>
            <a:pPr lvl="1" algn="l"/>
            <a:r>
              <a:rPr lang="en-US" altLang="zh-TW" dirty="0">
                <a:solidFill>
                  <a:schemeClr val="tx1"/>
                </a:solidFill>
                <a:latin typeface="Calibri" panose="020F0502020204030204" pitchFamily="34" charset="0"/>
                <a:cs typeface="Calibri" panose="020F0502020204030204" pitchFamily="34" charset="0"/>
              </a:rPr>
              <a:t>Hardware interrupts (</a:t>
            </a:r>
            <a:r>
              <a:rPr lang="en-US" altLang="zh-TW" dirty="0">
                <a:solidFill>
                  <a:schemeClr val="tx1"/>
                </a:solidFill>
              </a:rPr>
              <a:t>Alerting</a:t>
            </a:r>
            <a:r>
              <a:rPr lang="zh-TW" altLang="en-US" dirty="0">
                <a:solidFill>
                  <a:schemeClr val="tx1"/>
                </a:solidFill>
              </a:rPr>
              <a:t> </a:t>
            </a:r>
            <a:r>
              <a:rPr lang="en-US" altLang="zh-TW" dirty="0">
                <a:solidFill>
                  <a:schemeClr val="tx1"/>
                </a:solidFill>
              </a:rPr>
              <a:t>signal</a:t>
            </a:r>
            <a:r>
              <a:rPr lang="en-US" altLang="zh-TW" dirty="0">
                <a:solidFill>
                  <a:schemeClr val="tx1"/>
                </a:solidFill>
                <a:latin typeface="Calibri" panose="020F0502020204030204" pitchFamily="34" charset="0"/>
                <a:cs typeface="Calibri" panose="020F0502020204030204" pitchFamily="34" charset="0"/>
              </a:rPr>
              <a:t>)</a:t>
            </a:r>
            <a:endParaRPr lang="en-US" altLang="zh-TW" dirty="0">
              <a:solidFill>
                <a:schemeClr val="tx1"/>
              </a:solidFill>
            </a:endParaRPr>
          </a:p>
          <a:p>
            <a:pPr lvl="2" algn="l"/>
            <a:r>
              <a:rPr lang="en-US" altLang="zh-TW" dirty="0">
                <a:solidFill>
                  <a:schemeClr val="tx1"/>
                </a:solidFill>
              </a:rPr>
              <a:t>Timer</a:t>
            </a:r>
            <a:r>
              <a:rPr lang="zh-TW" altLang="en-US" dirty="0">
                <a:solidFill>
                  <a:schemeClr val="tx1"/>
                </a:solidFill>
              </a:rPr>
              <a:t> </a:t>
            </a:r>
            <a:r>
              <a:rPr lang="en-US" altLang="zh-TW" dirty="0">
                <a:solidFill>
                  <a:schemeClr val="tx1"/>
                </a:solidFill>
              </a:rPr>
              <a:t>interrupt</a:t>
            </a:r>
          </a:p>
          <a:p>
            <a:pPr lvl="2" algn="l"/>
            <a:r>
              <a:rPr lang="en-US" altLang="zh-TW" dirty="0">
                <a:solidFill>
                  <a:schemeClr val="tx1"/>
                </a:solidFill>
              </a:rPr>
              <a:t>I/O Interrupt</a:t>
            </a:r>
            <a:r>
              <a:rPr lang="zh-TW" altLang="en-US" dirty="0">
                <a:solidFill>
                  <a:schemeClr val="tx1"/>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Keyboard,</a:t>
            </a:r>
            <a:r>
              <a:rPr lang="zh-TW" altLang="en-US" dirty="0">
                <a:solidFill>
                  <a:schemeClr val="tx1"/>
                </a:solidFill>
              </a:rPr>
              <a:t> </a:t>
            </a:r>
            <a:r>
              <a:rPr lang="en-US" altLang="zh-TW" dirty="0">
                <a:solidFill>
                  <a:schemeClr val="tx1"/>
                </a:solidFill>
              </a:rPr>
              <a:t>Hard</a:t>
            </a:r>
            <a:r>
              <a:rPr lang="zh-TW" altLang="en-US" dirty="0">
                <a:solidFill>
                  <a:schemeClr val="tx1"/>
                </a:solidFill>
              </a:rPr>
              <a:t> </a:t>
            </a:r>
            <a:r>
              <a:rPr lang="en-US" altLang="zh-TW" dirty="0">
                <a:solidFill>
                  <a:schemeClr val="tx1"/>
                </a:solidFill>
              </a:rPr>
              <a:t>Disks)</a:t>
            </a:r>
          </a:p>
          <a:p>
            <a:pPr lvl="1" algn="l"/>
            <a:r>
              <a:rPr lang="en-US" altLang="zh-TW" dirty="0">
                <a:solidFill>
                  <a:schemeClr val="tx1"/>
                </a:solidFill>
              </a:rPr>
              <a:t>Software-generated</a:t>
            </a:r>
            <a:r>
              <a:rPr lang="zh-TW" altLang="en-US" dirty="0">
                <a:solidFill>
                  <a:schemeClr val="tx1"/>
                </a:solidFill>
              </a:rPr>
              <a:t> </a:t>
            </a:r>
            <a:r>
              <a:rPr lang="en-US" altLang="zh-TW" dirty="0">
                <a:solidFill>
                  <a:schemeClr val="tx1"/>
                </a:solidFill>
              </a:rPr>
              <a:t>interrupts</a:t>
            </a:r>
            <a:r>
              <a:rPr lang="zh-TW" altLang="en-US" dirty="0">
                <a:solidFill>
                  <a:schemeClr val="tx1"/>
                </a:solidFill>
              </a:rPr>
              <a:t> </a:t>
            </a:r>
            <a:r>
              <a:rPr lang="en-US" altLang="zh-TW" dirty="0">
                <a:solidFill>
                  <a:schemeClr val="tx1"/>
                </a:solidFill>
              </a:rPr>
              <a:t>(</a:t>
            </a:r>
            <a:r>
              <a:rPr lang="en-US" altLang="zh-TW" dirty="0">
                <a:solidFill>
                  <a:srgbClr val="C00000"/>
                </a:solidFill>
              </a:rPr>
              <a:t>Traps</a:t>
            </a:r>
            <a:r>
              <a:rPr lang="zh-TW" altLang="en-US" dirty="0">
                <a:solidFill>
                  <a:srgbClr val="C00000"/>
                </a:solidFill>
              </a:rPr>
              <a:t> </a:t>
            </a:r>
            <a:r>
              <a:rPr lang="en-US" altLang="zh-TW" dirty="0">
                <a:solidFill>
                  <a:srgbClr val="C00000"/>
                </a:solidFill>
              </a:rPr>
              <a:t>or</a:t>
            </a:r>
            <a:r>
              <a:rPr lang="zh-TW" altLang="en-US" dirty="0">
                <a:solidFill>
                  <a:srgbClr val="C00000"/>
                </a:solidFill>
              </a:rPr>
              <a:t> </a:t>
            </a:r>
            <a:r>
              <a:rPr lang="en-US" altLang="zh-TW" dirty="0">
                <a:solidFill>
                  <a:srgbClr val="C00000"/>
                </a:solidFill>
              </a:rPr>
              <a:t>Exceptions</a:t>
            </a:r>
            <a:r>
              <a:rPr lang="en-US" altLang="zh-TW" dirty="0">
                <a:solidFill>
                  <a:schemeClr val="tx1"/>
                </a:solidFill>
              </a:rPr>
              <a:t>)</a:t>
            </a:r>
            <a:r>
              <a:rPr lang="zh-TW" altLang="en-US" dirty="0">
                <a:solidFill>
                  <a:schemeClr val="tx1"/>
                </a:solidFill>
              </a:rPr>
              <a:t> </a:t>
            </a:r>
            <a:r>
              <a:rPr lang="en-US" altLang="zh-TW" dirty="0">
                <a:solidFill>
                  <a:schemeClr val="tx1"/>
                </a:solidFill>
                <a:latin typeface="Calibri" panose="020F0502020204030204" pitchFamily="34" charset="0"/>
                <a:cs typeface="Calibri" panose="020F0502020204030204" pitchFamily="34" charset="0"/>
              </a:rPr>
              <a:t> </a:t>
            </a:r>
          </a:p>
          <a:p>
            <a:pPr lvl="2" algn="l"/>
            <a:r>
              <a:rPr lang="en-US" altLang="zh-TW" dirty="0">
                <a:solidFill>
                  <a:schemeClr val="tx1"/>
                </a:solidFill>
              </a:rPr>
              <a:t>Specific</a:t>
            </a:r>
            <a:r>
              <a:rPr lang="zh-TW" altLang="en-US" dirty="0">
                <a:solidFill>
                  <a:schemeClr val="tx1"/>
                </a:solidFill>
              </a:rPr>
              <a:t> </a:t>
            </a:r>
            <a:r>
              <a:rPr lang="en-US" altLang="zh-TW" dirty="0">
                <a:solidFill>
                  <a:schemeClr val="tx1"/>
                </a:solidFill>
              </a:rPr>
              <a:t>requests</a:t>
            </a:r>
            <a:r>
              <a:rPr lang="zh-TW" altLang="en-US" dirty="0">
                <a:solidFill>
                  <a:schemeClr val="tx1"/>
                </a:solidFill>
              </a:rPr>
              <a:t> </a:t>
            </a:r>
            <a:r>
              <a:rPr lang="en-US" altLang="zh-TW" dirty="0">
                <a:solidFill>
                  <a:schemeClr val="tx1"/>
                </a:solidFill>
              </a:rPr>
              <a:t>from</a:t>
            </a:r>
            <a:r>
              <a:rPr lang="zh-TW" altLang="en-US" dirty="0">
                <a:solidFill>
                  <a:schemeClr val="tx1"/>
                </a:solidFill>
              </a:rPr>
              <a:t> </a:t>
            </a:r>
            <a:r>
              <a:rPr lang="en-US" altLang="zh-TW" dirty="0">
                <a:solidFill>
                  <a:schemeClr val="tx1"/>
                </a:solidFill>
              </a:rPr>
              <a:t>user</a:t>
            </a:r>
            <a:r>
              <a:rPr lang="zh-TW" altLang="en-US" dirty="0">
                <a:solidFill>
                  <a:schemeClr val="tx1"/>
                </a:solidFill>
              </a:rPr>
              <a:t> </a:t>
            </a:r>
            <a:r>
              <a:rPr lang="en-US" altLang="zh-TW" dirty="0">
                <a:solidFill>
                  <a:schemeClr val="tx1"/>
                </a:solidFill>
              </a:rPr>
              <a:t>processes</a:t>
            </a:r>
            <a:r>
              <a:rPr lang="zh-TW" altLang="en-US" dirty="0">
                <a:solidFill>
                  <a:schemeClr val="tx1"/>
                </a:solidFill>
              </a:rPr>
              <a:t> </a:t>
            </a:r>
            <a:r>
              <a:rPr lang="en-US" altLang="zh-TW" dirty="0">
                <a:solidFill>
                  <a:schemeClr val="tx1"/>
                </a:solidFill>
              </a:rPr>
              <a:t>(</a:t>
            </a:r>
            <a:r>
              <a:rPr lang="en-US" altLang="zh-TW" dirty="0">
                <a:solidFill>
                  <a:srgbClr val="C00000"/>
                </a:solidFill>
              </a:rPr>
              <a:t>System</a:t>
            </a:r>
            <a:r>
              <a:rPr lang="zh-TW" altLang="en-US" dirty="0">
                <a:solidFill>
                  <a:srgbClr val="C00000"/>
                </a:solidFill>
              </a:rPr>
              <a:t> </a:t>
            </a:r>
            <a:r>
              <a:rPr lang="en-US" altLang="zh-TW" dirty="0">
                <a:solidFill>
                  <a:srgbClr val="C00000"/>
                </a:solidFill>
              </a:rPr>
              <a:t>Call, such as Read/Write</a:t>
            </a:r>
            <a:r>
              <a:rPr lang="en-US" altLang="zh-TW" dirty="0">
                <a:solidFill>
                  <a:schemeClr val="tx1"/>
                </a:solidFill>
              </a:rPr>
              <a:t>)</a:t>
            </a:r>
          </a:p>
          <a:p>
            <a:pPr lvl="2" algn="l"/>
            <a:r>
              <a:rPr lang="en-US" altLang="zh-TW" dirty="0">
                <a:solidFill>
                  <a:schemeClr val="tx1"/>
                </a:solidFill>
              </a:rPr>
              <a:t>Some</a:t>
            </a:r>
            <a:r>
              <a:rPr lang="zh-TW" altLang="en-US" dirty="0">
                <a:solidFill>
                  <a:schemeClr val="tx1"/>
                </a:solidFill>
              </a:rPr>
              <a:t> </a:t>
            </a:r>
            <a:r>
              <a:rPr lang="en-US" altLang="zh-TW" dirty="0">
                <a:solidFill>
                  <a:schemeClr val="tx1"/>
                </a:solidFill>
              </a:rPr>
              <a:t>errors</a:t>
            </a:r>
            <a:r>
              <a:rPr lang="zh-TW" altLang="en-US" dirty="0">
                <a:solidFill>
                  <a:schemeClr val="tx1"/>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invalid</a:t>
            </a:r>
            <a:r>
              <a:rPr lang="zh-TW" altLang="en-US" dirty="0">
                <a:solidFill>
                  <a:schemeClr val="tx1"/>
                </a:solidFill>
              </a:rPr>
              <a:t> </a:t>
            </a:r>
            <a:r>
              <a:rPr lang="en-US" altLang="zh-TW" dirty="0">
                <a:solidFill>
                  <a:schemeClr val="tx1"/>
                </a:solidFill>
              </a:rPr>
              <a:t>memory</a:t>
            </a:r>
            <a:r>
              <a:rPr lang="zh-TW" altLang="en-US" dirty="0">
                <a:solidFill>
                  <a:schemeClr val="tx1"/>
                </a:solidFill>
              </a:rPr>
              <a:t> </a:t>
            </a:r>
            <a:r>
              <a:rPr lang="en-US" altLang="zh-TW" dirty="0">
                <a:solidFill>
                  <a:schemeClr val="tx1"/>
                </a:solidFill>
              </a:rPr>
              <a:t>access</a:t>
            </a:r>
            <a:r>
              <a:rPr lang="zh-TW" altLang="en-US" dirty="0">
                <a:solidFill>
                  <a:schemeClr val="tx1"/>
                </a:solidFill>
              </a:rPr>
              <a:t> </a:t>
            </a:r>
            <a:r>
              <a:rPr lang="en-US" altLang="zh-TW" dirty="0">
                <a:solidFill>
                  <a:schemeClr val="tx1"/>
                </a:solidFill>
              </a:rPr>
              <a:t>or</a:t>
            </a:r>
            <a:r>
              <a:rPr lang="zh-TW" altLang="en-US" dirty="0">
                <a:solidFill>
                  <a:schemeClr val="tx1"/>
                </a:solidFill>
              </a:rPr>
              <a:t> </a:t>
            </a:r>
            <a:r>
              <a:rPr lang="en-US" altLang="zh-TW" dirty="0">
                <a:solidFill>
                  <a:srgbClr val="C00000"/>
                </a:solidFill>
              </a:rPr>
              <a:t>page</a:t>
            </a:r>
            <a:r>
              <a:rPr lang="zh-TW" altLang="en-US" dirty="0">
                <a:solidFill>
                  <a:srgbClr val="C00000"/>
                </a:solidFill>
              </a:rPr>
              <a:t> </a:t>
            </a:r>
            <a:r>
              <a:rPr lang="en-US" altLang="zh-TW" dirty="0">
                <a:solidFill>
                  <a:srgbClr val="C00000"/>
                </a:solidFill>
              </a:rPr>
              <a:t>faults</a:t>
            </a:r>
            <a:r>
              <a:rPr lang="en-US" altLang="zh-TW" dirty="0">
                <a:solidFill>
                  <a:schemeClr val="tx1"/>
                </a:solidFill>
              </a:rPr>
              <a:t>)</a:t>
            </a:r>
          </a:p>
          <a:p>
            <a:pPr algn="l"/>
            <a:endParaRPr kumimoji="1" lang="en-US" altLang="zh-TW" sz="2800" dirty="0">
              <a:solidFill>
                <a:schemeClr val="tx1"/>
              </a:solidFill>
              <a:latin typeface="Calibri" panose="020F0502020204030204" pitchFamily="34" charset="0"/>
              <a:cs typeface="Calibri" panose="020F050202020403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12</a:t>
            </a:fld>
            <a:endParaRPr lang="zh-TW" altLang="en-US" dirty="0"/>
          </a:p>
        </p:txBody>
      </p:sp>
      <p:grpSp>
        <p:nvGrpSpPr>
          <p:cNvPr id="81" name="群組 80">
            <a:extLst>
              <a:ext uri="{FF2B5EF4-FFF2-40B4-BE49-F238E27FC236}">
                <a16:creationId xmlns:a16="http://schemas.microsoft.com/office/drawing/2014/main" id="{79C84C24-1782-AC19-3A60-0AEEED541199}"/>
              </a:ext>
            </a:extLst>
          </p:cNvPr>
          <p:cNvGrpSpPr/>
          <p:nvPr/>
        </p:nvGrpSpPr>
        <p:grpSpPr>
          <a:xfrm>
            <a:off x="1536389" y="4298283"/>
            <a:ext cx="1395534" cy="1395534"/>
            <a:chOff x="1323298" y="4313407"/>
            <a:chExt cx="1395534" cy="1395534"/>
          </a:xfrm>
        </p:grpSpPr>
        <p:pic>
          <p:nvPicPr>
            <p:cNvPr id="82" name="圖片 81">
              <a:extLst>
                <a:ext uri="{FF2B5EF4-FFF2-40B4-BE49-F238E27FC236}">
                  <a16:creationId xmlns:a16="http://schemas.microsoft.com/office/drawing/2014/main" id="{19E91E09-452F-3FC7-C2F9-04CD6D229B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83" name="文字方塊 82">
              <a:extLst>
                <a:ext uri="{FF2B5EF4-FFF2-40B4-BE49-F238E27FC236}">
                  <a16:creationId xmlns:a16="http://schemas.microsoft.com/office/drawing/2014/main" id="{FB87DD4A-75D3-2DD0-9FFC-EB6E56940FD5}"/>
                </a:ext>
              </a:extLst>
            </p:cNvPr>
            <p:cNvSpPr txBox="1"/>
            <p:nvPr/>
          </p:nvSpPr>
          <p:spPr>
            <a:xfrm>
              <a:off x="1572186" y="5033662"/>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Process A</a:t>
              </a:r>
              <a:endParaRPr kumimoji="1" lang="zh-TW" altLang="en-US" sz="1600" b="1" dirty="0">
                <a:solidFill>
                  <a:schemeClr val="accent5"/>
                </a:solidFill>
              </a:endParaRPr>
            </a:p>
          </p:txBody>
        </p:sp>
      </p:grpSp>
      <p:grpSp>
        <p:nvGrpSpPr>
          <p:cNvPr id="62" name="群組 61">
            <a:extLst>
              <a:ext uri="{FF2B5EF4-FFF2-40B4-BE49-F238E27FC236}">
                <a16:creationId xmlns:a16="http://schemas.microsoft.com/office/drawing/2014/main" id="{58392D18-833C-9199-9DBB-A3D33C8B6197}"/>
              </a:ext>
            </a:extLst>
          </p:cNvPr>
          <p:cNvGrpSpPr/>
          <p:nvPr/>
        </p:nvGrpSpPr>
        <p:grpSpPr>
          <a:xfrm>
            <a:off x="3189744" y="5323132"/>
            <a:ext cx="1395534" cy="1395534"/>
            <a:chOff x="1323298" y="4313407"/>
            <a:chExt cx="1395534" cy="1395534"/>
          </a:xfrm>
        </p:grpSpPr>
        <p:pic>
          <p:nvPicPr>
            <p:cNvPr id="64" name="圖片 63">
              <a:extLst>
                <a:ext uri="{FF2B5EF4-FFF2-40B4-BE49-F238E27FC236}">
                  <a16:creationId xmlns:a16="http://schemas.microsoft.com/office/drawing/2014/main" id="{E0D42BE3-9ED5-9924-D440-AD49D579BA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65" name="文字方塊 64">
              <a:extLst>
                <a:ext uri="{FF2B5EF4-FFF2-40B4-BE49-F238E27FC236}">
                  <a16:creationId xmlns:a16="http://schemas.microsoft.com/office/drawing/2014/main" id="{D4126842-EFD0-1C2D-E082-0F274E1C74C4}"/>
                </a:ext>
              </a:extLst>
            </p:cNvPr>
            <p:cNvSpPr txBox="1"/>
            <p:nvPr/>
          </p:nvSpPr>
          <p:spPr>
            <a:xfrm>
              <a:off x="1550338" y="4961690"/>
              <a:ext cx="1035586"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System Call</a:t>
              </a:r>
              <a:br>
                <a:rPr kumimoji="1" lang="en-US" altLang="zh-TW" sz="1600" b="1" dirty="0">
                  <a:solidFill>
                    <a:schemeClr val="accent5"/>
                  </a:solidFill>
                </a:rPr>
              </a:br>
              <a:r>
                <a:rPr kumimoji="1" lang="en-US" altLang="zh-TW" sz="1600" b="1" dirty="0">
                  <a:solidFill>
                    <a:schemeClr val="accent5"/>
                  </a:solidFill>
                </a:rPr>
                <a:t>Handler</a:t>
              </a:r>
              <a:endParaRPr kumimoji="1" lang="zh-TW" altLang="en-US" sz="1600" b="1" dirty="0">
                <a:solidFill>
                  <a:schemeClr val="accent5"/>
                </a:solidFill>
              </a:endParaRPr>
            </a:p>
          </p:txBody>
        </p:sp>
      </p:grpSp>
      <p:sp>
        <p:nvSpPr>
          <p:cNvPr id="10" name="雲朵形圖說文字 9">
            <a:extLst>
              <a:ext uri="{FF2B5EF4-FFF2-40B4-BE49-F238E27FC236}">
                <a16:creationId xmlns:a16="http://schemas.microsoft.com/office/drawing/2014/main" id="{655A9B0D-EFE4-EFCA-1B0E-9F31F0D94D22}"/>
              </a:ext>
            </a:extLst>
          </p:cNvPr>
          <p:cNvSpPr/>
          <p:nvPr/>
        </p:nvSpPr>
        <p:spPr>
          <a:xfrm>
            <a:off x="3041679" y="4461604"/>
            <a:ext cx="1707098"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chemeClr val="tx1"/>
                </a:solidFill>
              </a:rPr>
              <a:t>System Call</a:t>
            </a:r>
            <a:endParaRPr kumimoji="1" lang="zh-TW" altLang="en-US" b="1" dirty="0">
              <a:solidFill>
                <a:schemeClr val="tx1"/>
              </a:solidFill>
            </a:endParaRPr>
          </a:p>
        </p:txBody>
      </p:sp>
      <p:grpSp>
        <p:nvGrpSpPr>
          <p:cNvPr id="87" name="群組 86">
            <a:extLst>
              <a:ext uri="{FF2B5EF4-FFF2-40B4-BE49-F238E27FC236}">
                <a16:creationId xmlns:a16="http://schemas.microsoft.com/office/drawing/2014/main" id="{EC81C056-6923-984B-A6A6-49F04BECAEE6}"/>
              </a:ext>
            </a:extLst>
          </p:cNvPr>
          <p:cNvGrpSpPr/>
          <p:nvPr/>
        </p:nvGrpSpPr>
        <p:grpSpPr>
          <a:xfrm>
            <a:off x="4915322" y="4275795"/>
            <a:ext cx="1395534" cy="1395534"/>
            <a:chOff x="1323298" y="4313407"/>
            <a:chExt cx="1395534" cy="1395534"/>
          </a:xfrm>
        </p:grpSpPr>
        <p:pic>
          <p:nvPicPr>
            <p:cNvPr id="88" name="圖片 87">
              <a:extLst>
                <a:ext uri="{FF2B5EF4-FFF2-40B4-BE49-F238E27FC236}">
                  <a16:creationId xmlns:a16="http://schemas.microsoft.com/office/drawing/2014/main" id="{4C253A7F-9A56-9EFA-31B0-59B2A7573A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89" name="文字方塊 88">
              <a:extLst>
                <a:ext uri="{FF2B5EF4-FFF2-40B4-BE49-F238E27FC236}">
                  <a16:creationId xmlns:a16="http://schemas.microsoft.com/office/drawing/2014/main" id="{E3F3E26D-2A2A-AC76-E3C0-E8E0D1AF71A9}"/>
                </a:ext>
              </a:extLst>
            </p:cNvPr>
            <p:cNvSpPr txBox="1"/>
            <p:nvPr/>
          </p:nvSpPr>
          <p:spPr>
            <a:xfrm>
              <a:off x="1572186" y="5033662"/>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Process A</a:t>
              </a:r>
              <a:endParaRPr kumimoji="1" lang="zh-TW" altLang="en-US" sz="1600" b="1" dirty="0">
                <a:solidFill>
                  <a:schemeClr val="accent5"/>
                </a:solidFill>
              </a:endParaRPr>
            </a:p>
          </p:txBody>
        </p:sp>
      </p:grpSp>
      <p:sp>
        <p:nvSpPr>
          <p:cNvPr id="107" name="雲朵形圖說文字 106">
            <a:extLst>
              <a:ext uri="{FF2B5EF4-FFF2-40B4-BE49-F238E27FC236}">
                <a16:creationId xmlns:a16="http://schemas.microsoft.com/office/drawing/2014/main" id="{8760257A-BCDB-B2BA-E176-29B8A5E30376}"/>
              </a:ext>
            </a:extLst>
          </p:cNvPr>
          <p:cNvSpPr/>
          <p:nvPr/>
        </p:nvSpPr>
        <p:spPr>
          <a:xfrm>
            <a:off x="6394250" y="4444379"/>
            <a:ext cx="1707098"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chemeClr val="tx1"/>
                </a:solidFill>
              </a:rPr>
              <a:t>Timer Interrupt</a:t>
            </a:r>
            <a:endParaRPr kumimoji="1" lang="zh-TW" altLang="en-US" b="1" dirty="0">
              <a:solidFill>
                <a:schemeClr val="tx1"/>
              </a:solidFill>
            </a:endParaRPr>
          </a:p>
        </p:txBody>
      </p:sp>
      <p:grpSp>
        <p:nvGrpSpPr>
          <p:cNvPr id="8" name="群組 7">
            <a:extLst>
              <a:ext uri="{FF2B5EF4-FFF2-40B4-BE49-F238E27FC236}">
                <a16:creationId xmlns:a16="http://schemas.microsoft.com/office/drawing/2014/main" id="{C1EA5DEE-4022-CD0E-489C-30F38FEE2116}"/>
              </a:ext>
            </a:extLst>
          </p:cNvPr>
          <p:cNvGrpSpPr/>
          <p:nvPr/>
        </p:nvGrpSpPr>
        <p:grpSpPr>
          <a:xfrm>
            <a:off x="6531191" y="5312115"/>
            <a:ext cx="1395534" cy="1395534"/>
            <a:chOff x="6778967" y="5272207"/>
            <a:chExt cx="1395534" cy="1395534"/>
          </a:xfrm>
        </p:grpSpPr>
        <p:pic>
          <p:nvPicPr>
            <p:cNvPr id="97" name="圖片 96">
              <a:extLst>
                <a:ext uri="{FF2B5EF4-FFF2-40B4-BE49-F238E27FC236}">
                  <a16:creationId xmlns:a16="http://schemas.microsoft.com/office/drawing/2014/main" id="{676F1C19-B815-AC45-948A-EA0DF00121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78967" y="5272207"/>
              <a:ext cx="1395534" cy="1395534"/>
            </a:xfrm>
            <a:prstGeom prst="rect">
              <a:avLst/>
            </a:prstGeom>
          </p:spPr>
        </p:pic>
        <p:sp>
          <p:nvSpPr>
            <p:cNvPr id="102" name="文字方塊 101">
              <a:extLst>
                <a:ext uri="{FF2B5EF4-FFF2-40B4-BE49-F238E27FC236}">
                  <a16:creationId xmlns:a16="http://schemas.microsoft.com/office/drawing/2014/main" id="{D511A173-C3B1-D018-ADF0-5DA0A433555D}"/>
                </a:ext>
              </a:extLst>
            </p:cNvPr>
            <p:cNvSpPr txBox="1"/>
            <p:nvPr/>
          </p:nvSpPr>
          <p:spPr>
            <a:xfrm>
              <a:off x="7028882" y="5996544"/>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Scheduler</a:t>
              </a:r>
              <a:endParaRPr kumimoji="1" lang="zh-TW" altLang="en-US" sz="1600" b="1" dirty="0">
                <a:solidFill>
                  <a:schemeClr val="accent5"/>
                </a:solidFill>
              </a:endParaRPr>
            </a:p>
          </p:txBody>
        </p:sp>
      </p:grpSp>
      <p:sp>
        <p:nvSpPr>
          <p:cNvPr id="108" name="雲朵形圖說文字 107">
            <a:extLst>
              <a:ext uri="{FF2B5EF4-FFF2-40B4-BE49-F238E27FC236}">
                <a16:creationId xmlns:a16="http://schemas.microsoft.com/office/drawing/2014/main" id="{04DE1CF8-E88A-3BA2-D86E-31A8228EA977}"/>
              </a:ext>
            </a:extLst>
          </p:cNvPr>
          <p:cNvSpPr/>
          <p:nvPr/>
        </p:nvSpPr>
        <p:spPr>
          <a:xfrm>
            <a:off x="9924288" y="4461604"/>
            <a:ext cx="1707098"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chemeClr val="tx1"/>
                </a:solidFill>
              </a:rPr>
              <a:t>I/O Interrupt</a:t>
            </a:r>
            <a:endParaRPr kumimoji="1" lang="zh-TW" altLang="en-US" b="1" dirty="0">
              <a:solidFill>
                <a:schemeClr val="tx1"/>
              </a:solidFill>
            </a:endParaRPr>
          </a:p>
        </p:txBody>
      </p:sp>
      <p:grpSp>
        <p:nvGrpSpPr>
          <p:cNvPr id="109" name="群組 108">
            <a:extLst>
              <a:ext uri="{FF2B5EF4-FFF2-40B4-BE49-F238E27FC236}">
                <a16:creationId xmlns:a16="http://schemas.microsoft.com/office/drawing/2014/main" id="{C56FDB19-6410-6533-97DA-0953FCFA3415}"/>
              </a:ext>
            </a:extLst>
          </p:cNvPr>
          <p:cNvGrpSpPr/>
          <p:nvPr/>
        </p:nvGrpSpPr>
        <p:grpSpPr>
          <a:xfrm>
            <a:off x="6525716" y="5304970"/>
            <a:ext cx="1395534" cy="1395534"/>
            <a:chOff x="9840824" y="3388046"/>
            <a:chExt cx="1395534" cy="1395534"/>
          </a:xfrm>
        </p:grpSpPr>
        <p:pic>
          <p:nvPicPr>
            <p:cNvPr id="110" name="圖片 109">
              <a:extLst>
                <a:ext uri="{FF2B5EF4-FFF2-40B4-BE49-F238E27FC236}">
                  <a16:creationId xmlns:a16="http://schemas.microsoft.com/office/drawing/2014/main" id="{04BBCFE6-DCEA-9A5E-26E8-2D7BBE052A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40824" y="3388046"/>
              <a:ext cx="1395534" cy="1395534"/>
            </a:xfrm>
            <a:prstGeom prst="rect">
              <a:avLst/>
            </a:prstGeom>
          </p:spPr>
        </p:pic>
        <p:sp>
          <p:nvSpPr>
            <p:cNvPr id="111" name="文字方塊 110">
              <a:extLst>
                <a:ext uri="{FF2B5EF4-FFF2-40B4-BE49-F238E27FC236}">
                  <a16:creationId xmlns:a16="http://schemas.microsoft.com/office/drawing/2014/main" id="{2B386336-19A7-2C69-5A26-AF6E312DE555}"/>
                </a:ext>
              </a:extLst>
            </p:cNvPr>
            <p:cNvSpPr txBox="1"/>
            <p:nvPr/>
          </p:nvSpPr>
          <p:spPr>
            <a:xfrm>
              <a:off x="10166645" y="4153174"/>
              <a:ext cx="994373" cy="391628"/>
            </a:xfrm>
            <a:prstGeom prst="rect">
              <a:avLst/>
            </a:prstGeom>
            <a:solidFill>
              <a:srgbClr val="F6DF98"/>
            </a:solidFill>
          </p:spPr>
          <p:txBody>
            <a:bodyPr wrap="square" lIns="0" tIns="72000" rIns="0" bIns="72000" rtlCol="0" anchor="ctr">
              <a:spAutoFit/>
            </a:bodyPr>
            <a:lstStyle/>
            <a:p>
              <a:pPr algn="ctr"/>
              <a:r>
                <a:rPr kumimoji="1" lang="en-US" altLang="zh-TW" sz="1600" b="1" dirty="0">
                  <a:solidFill>
                    <a:srgbClr val="800080"/>
                  </a:solidFill>
                </a:rPr>
                <a:t>Scheduler</a:t>
              </a:r>
              <a:endParaRPr kumimoji="1" lang="zh-TW" altLang="en-US" sz="1600" b="1" dirty="0">
                <a:solidFill>
                  <a:srgbClr val="800080"/>
                </a:solidFill>
              </a:endParaRPr>
            </a:p>
          </p:txBody>
        </p:sp>
      </p:grpSp>
      <p:sp>
        <p:nvSpPr>
          <p:cNvPr id="112" name="雲朵形圖說文字 111">
            <a:extLst>
              <a:ext uri="{FF2B5EF4-FFF2-40B4-BE49-F238E27FC236}">
                <a16:creationId xmlns:a16="http://schemas.microsoft.com/office/drawing/2014/main" id="{810C1A81-72F9-054C-60B3-09363B28C01E}"/>
              </a:ext>
            </a:extLst>
          </p:cNvPr>
          <p:cNvSpPr/>
          <p:nvPr/>
        </p:nvSpPr>
        <p:spPr>
          <a:xfrm>
            <a:off x="6383034" y="4461604"/>
            <a:ext cx="1707098"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chemeClr val="tx1"/>
                </a:solidFill>
              </a:rPr>
              <a:t>Context Switch</a:t>
            </a:r>
            <a:endParaRPr kumimoji="1" lang="zh-TW" altLang="en-US" b="1" dirty="0">
              <a:solidFill>
                <a:schemeClr val="tx1"/>
              </a:solidFill>
            </a:endParaRPr>
          </a:p>
        </p:txBody>
      </p:sp>
      <p:grpSp>
        <p:nvGrpSpPr>
          <p:cNvPr id="7" name="群組 6">
            <a:extLst>
              <a:ext uri="{FF2B5EF4-FFF2-40B4-BE49-F238E27FC236}">
                <a16:creationId xmlns:a16="http://schemas.microsoft.com/office/drawing/2014/main" id="{17159036-A025-0E8D-6C2F-6BA965E65969}"/>
              </a:ext>
            </a:extLst>
          </p:cNvPr>
          <p:cNvGrpSpPr/>
          <p:nvPr/>
        </p:nvGrpSpPr>
        <p:grpSpPr>
          <a:xfrm>
            <a:off x="8348656" y="4221905"/>
            <a:ext cx="1395534" cy="1395534"/>
            <a:chOff x="9840824" y="3388046"/>
            <a:chExt cx="1395534" cy="1395534"/>
          </a:xfrm>
        </p:grpSpPr>
        <p:pic>
          <p:nvPicPr>
            <p:cNvPr id="6" name="圖片 5">
              <a:extLst>
                <a:ext uri="{FF2B5EF4-FFF2-40B4-BE49-F238E27FC236}">
                  <a16:creationId xmlns:a16="http://schemas.microsoft.com/office/drawing/2014/main" id="{8B576A12-49A2-F773-4FFB-1C3D2AE4305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40824" y="3388046"/>
              <a:ext cx="1395534" cy="1395534"/>
            </a:xfrm>
            <a:prstGeom prst="rect">
              <a:avLst/>
            </a:prstGeom>
          </p:spPr>
        </p:pic>
        <p:sp>
          <p:nvSpPr>
            <p:cNvPr id="103" name="文字方塊 102">
              <a:extLst>
                <a:ext uri="{FF2B5EF4-FFF2-40B4-BE49-F238E27FC236}">
                  <a16:creationId xmlns:a16="http://schemas.microsoft.com/office/drawing/2014/main" id="{0F053AEB-EF7D-C5D5-A620-7DC56426D563}"/>
                </a:ext>
              </a:extLst>
            </p:cNvPr>
            <p:cNvSpPr txBox="1"/>
            <p:nvPr/>
          </p:nvSpPr>
          <p:spPr>
            <a:xfrm>
              <a:off x="10166645" y="4153174"/>
              <a:ext cx="994373" cy="391628"/>
            </a:xfrm>
            <a:prstGeom prst="rect">
              <a:avLst/>
            </a:prstGeom>
            <a:solidFill>
              <a:srgbClr val="F6DF98"/>
            </a:solidFill>
          </p:spPr>
          <p:txBody>
            <a:bodyPr wrap="square" lIns="0" tIns="72000" rIns="0" bIns="72000" rtlCol="0" anchor="ctr">
              <a:spAutoFit/>
            </a:bodyPr>
            <a:lstStyle/>
            <a:p>
              <a:pPr algn="ctr"/>
              <a:r>
                <a:rPr kumimoji="1" lang="en-US" altLang="zh-TW" sz="1600" b="1" dirty="0">
                  <a:solidFill>
                    <a:srgbClr val="800080"/>
                  </a:solidFill>
                </a:rPr>
                <a:t>Process B</a:t>
              </a:r>
              <a:endParaRPr kumimoji="1" lang="zh-TW" altLang="en-US" sz="1600" b="1" dirty="0">
                <a:solidFill>
                  <a:srgbClr val="800080"/>
                </a:solidFill>
              </a:endParaRPr>
            </a:p>
          </p:txBody>
        </p:sp>
      </p:grpSp>
      <p:grpSp>
        <p:nvGrpSpPr>
          <p:cNvPr id="104" name="群組 103">
            <a:extLst>
              <a:ext uri="{FF2B5EF4-FFF2-40B4-BE49-F238E27FC236}">
                <a16:creationId xmlns:a16="http://schemas.microsoft.com/office/drawing/2014/main" id="{E782D900-1D66-8232-514E-3E01A35E6EC5}"/>
              </a:ext>
            </a:extLst>
          </p:cNvPr>
          <p:cNvGrpSpPr/>
          <p:nvPr/>
        </p:nvGrpSpPr>
        <p:grpSpPr>
          <a:xfrm>
            <a:off x="10077685" y="5312115"/>
            <a:ext cx="1395534" cy="1395534"/>
            <a:chOff x="9840824" y="3388046"/>
            <a:chExt cx="1395534" cy="1395534"/>
          </a:xfrm>
        </p:grpSpPr>
        <p:pic>
          <p:nvPicPr>
            <p:cNvPr id="105" name="圖片 104">
              <a:extLst>
                <a:ext uri="{FF2B5EF4-FFF2-40B4-BE49-F238E27FC236}">
                  <a16:creationId xmlns:a16="http://schemas.microsoft.com/office/drawing/2014/main" id="{699864F9-A244-82C9-F632-81DCDA20DF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40824" y="3388046"/>
              <a:ext cx="1395534" cy="1395534"/>
            </a:xfrm>
            <a:prstGeom prst="rect">
              <a:avLst/>
            </a:prstGeom>
          </p:spPr>
        </p:pic>
        <p:sp>
          <p:nvSpPr>
            <p:cNvPr id="106" name="文字方塊 105">
              <a:extLst>
                <a:ext uri="{FF2B5EF4-FFF2-40B4-BE49-F238E27FC236}">
                  <a16:creationId xmlns:a16="http://schemas.microsoft.com/office/drawing/2014/main" id="{616FED97-C6B7-DE99-65B1-34EBB2EECA52}"/>
                </a:ext>
              </a:extLst>
            </p:cNvPr>
            <p:cNvSpPr txBox="1"/>
            <p:nvPr/>
          </p:nvSpPr>
          <p:spPr>
            <a:xfrm>
              <a:off x="10166645" y="4102767"/>
              <a:ext cx="994373" cy="492443"/>
            </a:xfrm>
            <a:prstGeom prst="rect">
              <a:avLst/>
            </a:prstGeom>
            <a:solidFill>
              <a:srgbClr val="F6DF98"/>
            </a:solidFill>
          </p:spPr>
          <p:txBody>
            <a:bodyPr wrap="square" lIns="0" tIns="0" rIns="0" bIns="0" rtlCol="0" anchor="ctr">
              <a:spAutoFit/>
            </a:bodyPr>
            <a:lstStyle/>
            <a:p>
              <a:pPr algn="ctr"/>
              <a:r>
                <a:rPr kumimoji="1" lang="en-US" altLang="zh-TW" sz="1600" b="1" dirty="0">
                  <a:solidFill>
                    <a:srgbClr val="800080"/>
                  </a:solidFill>
                </a:rPr>
                <a:t>I/O Handler</a:t>
              </a:r>
              <a:endParaRPr kumimoji="1" lang="zh-TW" altLang="en-US" sz="1600" b="1" dirty="0">
                <a:solidFill>
                  <a:srgbClr val="800080"/>
                </a:solidFill>
              </a:endParaRPr>
            </a:p>
          </p:txBody>
        </p:sp>
      </p:grpSp>
    </p:spTree>
    <p:extLst>
      <p:ext uri="{BB962C8B-B14F-4D97-AF65-F5344CB8AC3E}">
        <p14:creationId xmlns:p14="http://schemas.microsoft.com/office/powerpoint/2010/main" val="1448330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22" presetClass="entr" presetSubtype="4" fill="hold" nodeType="withEffect">
                                  <p:stCondLst>
                                    <p:cond delay="0"/>
                                  </p:stCondLst>
                                  <p:childTnLst>
                                    <p:set>
                                      <p:cBhvr>
                                        <p:cTn id="34" dur="1" fill="hold">
                                          <p:stCondLst>
                                            <p:cond delay="0"/>
                                          </p:stCondLst>
                                        </p:cTn>
                                        <p:tgtEl>
                                          <p:spTgt spid="81"/>
                                        </p:tgtEl>
                                        <p:attrNameLst>
                                          <p:attrName>style.visibility</p:attrName>
                                        </p:attrNameLst>
                                      </p:cBhvr>
                                      <p:to>
                                        <p:strVal val="visible"/>
                                      </p:to>
                                    </p:set>
                                    <p:animEffect transition="in" filter="wipe(down)">
                                      <p:cBhvr>
                                        <p:cTn id="35" dur="500"/>
                                        <p:tgtEl>
                                          <p:spTgt spid="8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down)">
                                      <p:cBhvr>
                                        <p:cTn id="40" dur="500"/>
                                        <p:tgtEl>
                                          <p:spTgt spid="10"/>
                                        </p:tgtEl>
                                      </p:cBhvr>
                                    </p:animEffect>
                                  </p:childTnLst>
                                </p:cTn>
                              </p:par>
                              <p:par>
                                <p:cTn id="41" presetID="42" presetClass="path" presetSubtype="0" accel="50000" decel="50000" fill="hold" nodeType="withEffect">
                                  <p:stCondLst>
                                    <p:cond delay="0"/>
                                  </p:stCondLst>
                                  <p:childTnLst>
                                    <p:animMotion origin="layout" path="M -3.125E-6 -2.22222E-6 L 0.1349 0.15162 " pathEditMode="relative" rAng="0" ptsTypes="AA">
                                      <p:cBhvr>
                                        <p:cTn id="42" dur="2000" fill="hold"/>
                                        <p:tgtEl>
                                          <p:spTgt spid="81"/>
                                        </p:tgtEl>
                                        <p:attrNameLst>
                                          <p:attrName>ppt_x</p:attrName>
                                          <p:attrName>ppt_y</p:attrName>
                                        </p:attrNameLst>
                                      </p:cBhvr>
                                      <p:rCtr x="6745" y="7569"/>
                                    </p:animMotion>
                                  </p:childTnLst>
                                </p:cTn>
                              </p:par>
                            </p:childTnLst>
                          </p:cTn>
                        </p:par>
                        <p:par>
                          <p:cTn id="43" fill="hold">
                            <p:stCondLst>
                              <p:cond delay="2000"/>
                            </p:stCondLst>
                            <p:childTnLst>
                              <p:par>
                                <p:cTn id="44" presetID="1" presetClass="entr" presetSubtype="0" fill="hold" nodeType="afterEffect">
                                  <p:stCondLst>
                                    <p:cond delay="0"/>
                                  </p:stCondLst>
                                  <p:childTnLst>
                                    <p:set>
                                      <p:cBhvr>
                                        <p:cTn id="45" dur="1" fill="hold">
                                          <p:stCondLst>
                                            <p:cond delay="0"/>
                                          </p:stCondLst>
                                        </p:cTn>
                                        <p:tgtEl>
                                          <p:spTgt spid="6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62"/>
                                        </p:tgtEl>
                                        <p:attrNameLst>
                                          <p:attrName>style.visibility</p:attrName>
                                        </p:attrNameLst>
                                      </p:cBhvr>
                                      <p:to>
                                        <p:strVal val="visible"/>
                                      </p:to>
                                    </p:set>
                                  </p:childTnLst>
                                </p:cTn>
                              </p:par>
                              <p:par>
                                <p:cTn id="50" presetID="10" presetClass="exit" presetSubtype="0" fill="hold" grpId="1" nodeType="withEffect">
                                  <p:stCondLst>
                                    <p:cond delay="0"/>
                                  </p:stCondLst>
                                  <p:childTnLst>
                                    <p:animEffect transition="out" filter="fade">
                                      <p:cBhvr>
                                        <p:cTn id="51" dur="500"/>
                                        <p:tgtEl>
                                          <p:spTgt spid="10"/>
                                        </p:tgtEl>
                                      </p:cBhvr>
                                    </p:animEffect>
                                    <p:set>
                                      <p:cBhvr>
                                        <p:cTn id="52" dur="1" fill="hold">
                                          <p:stCondLst>
                                            <p:cond delay="499"/>
                                          </p:stCondLst>
                                        </p:cTn>
                                        <p:tgtEl>
                                          <p:spTgt spid="10"/>
                                        </p:tgtEl>
                                        <p:attrNameLst>
                                          <p:attrName>style.visibility</p:attrName>
                                        </p:attrNameLst>
                                      </p:cBhvr>
                                      <p:to>
                                        <p:strVal val="hidden"/>
                                      </p:to>
                                    </p:set>
                                  </p:childTnLst>
                                </p:cTn>
                              </p:par>
                              <p:par>
                                <p:cTn id="53" presetID="42" presetClass="path" presetSubtype="0" accel="50000" decel="50000" fill="hold" nodeType="withEffect">
                                  <p:stCondLst>
                                    <p:cond delay="0"/>
                                  </p:stCondLst>
                                  <p:childTnLst>
                                    <p:animMotion origin="layout" path="M 0.00156 0.00139 L 0.14154 -0.15371 " pathEditMode="relative" rAng="0" ptsTypes="AA">
                                      <p:cBhvr>
                                        <p:cTn id="54" dur="2000" fill="hold"/>
                                        <p:tgtEl>
                                          <p:spTgt spid="62"/>
                                        </p:tgtEl>
                                        <p:attrNameLst>
                                          <p:attrName>ppt_x</p:attrName>
                                          <p:attrName>ppt_y</p:attrName>
                                        </p:attrNameLst>
                                      </p:cBhvr>
                                      <p:rCtr x="6992" y="-7755"/>
                                    </p:animMotion>
                                  </p:childTnLst>
                                </p:cTn>
                              </p:par>
                              <p:par>
                                <p:cTn id="55" presetID="1" presetClass="exit" presetSubtype="0" fill="hold" nodeType="withEffect">
                                  <p:stCondLst>
                                    <p:cond delay="0"/>
                                  </p:stCondLst>
                                  <p:childTnLst>
                                    <p:set>
                                      <p:cBhvr>
                                        <p:cTn id="56" dur="1" fill="hold">
                                          <p:stCondLst>
                                            <p:cond delay="0"/>
                                          </p:stCondLst>
                                        </p:cTn>
                                        <p:tgtEl>
                                          <p:spTgt spid="81"/>
                                        </p:tgtEl>
                                        <p:attrNameLst>
                                          <p:attrName>style.visibility</p:attrName>
                                        </p:attrNameLst>
                                      </p:cBhvr>
                                      <p:to>
                                        <p:strVal val="hidden"/>
                                      </p:to>
                                    </p:set>
                                  </p:childTnLst>
                                </p:cTn>
                              </p:par>
                            </p:childTnLst>
                          </p:cTn>
                        </p:par>
                        <p:par>
                          <p:cTn id="57" fill="hold">
                            <p:stCondLst>
                              <p:cond delay="2000"/>
                            </p:stCondLst>
                            <p:childTnLst>
                              <p:par>
                                <p:cTn id="58" presetID="1" presetClass="entr" presetSubtype="0" fill="hold" nodeType="afterEffect">
                                  <p:stCondLst>
                                    <p:cond delay="0"/>
                                  </p:stCondLst>
                                  <p:childTnLst>
                                    <p:set>
                                      <p:cBhvr>
                                        <p:cTn id="59" dur="1" fill="hold">
                                          <p:stCondLst>
                                            <p:cond delay="0"/>
                                          </p:stCondLst>
                                        </p:cTn>
                                        <p:tgtEl>
                                          <p:spTgt spid="87"/>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107"/>
                                        </p:tgtEl>
                                        <p:attrNameLst>
                                          <p:attrName>style.visibility</p:attrName>
                                        </p:attrNameLst>
                                      </p:cBhvr>
                                      <p:to>
                                        <p:strVal val="visible"/>
                                      </p:to>
                                    </p:set>
                                    <p:animEffect transition="in" filter="wipe(down)">
                                      <p:cBhvr>
                                        <p:cTn id="64" dur="500"/>
                                        <p:tgtEl>
                                          <p:spTgt spid="107"/>
                                        </p:tgtEl>
                                      </p:cBhvr>
                                    </p:animEffect>
                                  </p:childTnLst>
                                </p:cTn>
                              </p:par>
                              <p:par>
                                <p:cTn id="65" presetID="42" presetClass="path" presetSubtype="0" accel="50000" decel="50000" fill="hold" nodeType="withEffect">
                                  <p:stCondLst>
                                    <p:cond delay="0"/>
                                  </p:stCondLst>
                                  <p:childTnLst>
                                    <p:animMotion origin="layout" path="M 3.54167E-6 -0.00139 L 0.13307 0.1537 " pathEditMode="relative" rAng="0" ptsTypes="AA">
                                      <p:cBhvr>
                                        <p:cTn id="66" dur="2000" fill="hold"/>
                                        <p:tgtEl>
                                          <p:spTgt spid="87"/>
                                        </p:tgtEl>
                                        <p:attrNameLst>
                                          <p:attrName>ppt_x</p:attrName>
                                          <p:attrName>ppt_y</p:attrName>
                                        </p:attrNameLst>
                                      </p:cBhvr>
                                      <p:rCtr x="6654" y="7755"/>
                                    </p:animMotion>
                                  </p:childTnLst>
                                </p:cTn>
                              </p:par>
                              <p:par>
                                <p:cTn id="67" presetID="1" presetClass="exit" presetSubtype="0" fill="hold" nodeType="withEffect">
                                  <p:stCondLst>
                                    <p:cond delay="0"/>
                                  </p:stCondLst>
                                  <p:childTnLst>
                                    <p:set>
                                      <p:cBhvr>
                                        <p:cTn id="68" dur="1" fill="hold">
                                          <p:stCondLst>
                                            <p:cond delay="0"/>
                                          </p:stCondLst>
                                        </p:cTn>
                                        <p:tgtEl>
                                          <p:spTgt spid="62"/>
                                        </p:tgtEl>
                                        <p:attrNameLst>
                                          <p:attrName>style.visibility</p:attrName>
                                        </p:attrNameLst>
                                      </p:cBhvr>
                                      <p:to>
                                        <p:strVal val="hidden"/>
                                      </p:to>
                                    </p:set>
                                  </p:childTnLst>
                                </p:cTn>
                              </p:par>
                            </p:childTnLst>
                          </p:cTn>
                        </p:par>
                        <p:par>
                          <p:cTn id="69" fill="hold">
                            <p:stCondLst>
                              <p:cond delay="2000"/>
                            </p:stCondLst>
                            <p:childTnLst>
                              <p:par>
                                <p:cTn id="70" presetID="1" presetClass="entr" presetSubtype="0" fill="hold" nodeType="afterEffect">
                                  <p:stCondLst>
                                    <p:cond delay="0"/>
                                  </p:stCondLst>
                                  <p:childTnLst>
                                    <p:set>
                                      <p:cBhvr>
                                        <p:cTn id="71" dur="1" fill="hold">
                                          <p:stCondLst>
                                            <p:cond delay="0"/>
                                          </p:stCondLst>
                                        </p:cTn>
                                        <p:tgtEl>
                                          <p:spTgt spid="8"/>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12"/>
                                        </p:tgtEl>
                                        <p:attrNameLst>
                                          <p:attrName>style.visibility</p:attrName>
                                        </p:attrNameLst>
                                      </p:cBhvr>
                                      <p:to>
                                        <p:strVal val="visible"/>
                                      </p:to>
                                    </p:set>
                                    <p:animEffect transition="in" filter="fade">
                                      <p:cBhvr>
                                        <p:cTn id="76" dur="500"/>
                                        <p:tgtEl>
                                          <p:spTgt spid="112"/>
                                        </p:tgtEl>
                                      </p:cBhvr>
                                    </p:animEffect>
                                  </p:childTnLst>
                                </p:cTn>
                              </p:par>
                            </p:childTnLst>
                          </p:cTn>
                        </p:par>
                        <p:par>
                          <p:cTn id="77" fill="hold">
                            <p:stCondLst>
                              <p:cond delay="500"/>
                            </p:stCondLst>
                            <p:childTnLst>
                              <p:par>
                                <p:cTn id="78" presetID="10" presetClass="exit" presetSubtype="0" fill="hold" nodeType="afterEffect">
                                  <p:stCondLst>
                                    <p:cond delay="0"/>
                                  </p:stCondLst>
                                  <p:childTnLst>
                                    <p:animEffect transition="out" filter="fade">
                                      <p:cBhvr>
                                        <p:cTn id="79" dur="500"/>
                                        <p:tgtEl>
                                          <p:spTgt spid="8"/>
                                        </p:tgtEl>
                                      </p:cBhvr>
                                    </p:animEffect>
                                    <p:set>
                                      <p:cBhvr>
                                        <p:cTn id="80" dur="1" fill="hold">
                                          <p:stCondLst>
                                            <p:cond delay="499"/>
                                          </p:stCondLst>
                                        </p:cTn>
                                        <p:tgtEl>
                                          <p:spTgt spid="8"/>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87"/>
                                        </p:tgtEl>
                                        <p:attrNameLst>
                                          <p:attrName>style.visibility</p:attrName>
                                        </p:attrNameLst>
                                      </p:cBhvr>
                                      <p:to>
                                        <p:strVal val="hidden"/>
                                      </p:to>
                                    </p:set>
                                  </p:childTnLst>
                                </p:cTn>
                              </p:par>
                            </p:childTnLst>
                          </p:cTn>
                        </p:par>
                        <p:par>
                          <p:cTn id="83" fill="hold">
                            <p:stCondLst>
                              <p:cond delay="1000"/>
                            </p:stCondLst>
                            <p:childTnLst>
                              <p:par>
                                <p:cTn id="84" presetID="10" presetClass="exit" presetSubtype="0" fill="hold" grpId="1" nodeType="afterEffect">
                                  <p:stCondLst>
                                    <p:cond delay="0"/>
                                  </p:stCondLst>
                                  <p:childTnLst>
                                    <p:animEffect transition="out" filter="fade">
                                      <p:cBhvr>
                                        <p:cTn id="85" dur="500"/>
                                        <p:tgtEl>
                                          <p:spTgt spid="107"/>
                                        </p:tgtEl>
                                      </p:cBhvr>
                                    </p:animEffect>
                                    <p:set>
                                      <p:cBhvr>
                                        <p:cTn id="86" dur="1" fill="hold">
                                          <p:stCondLst>
                                            <p:cond delay="499"/>
                                          </p:stCondLst>
                                        </p:cTn>
                                        <p:tgtEl>
                                          <p:spTgt spid="107"/>
                                        </p:tgtEl>
                                        <p:attrNameLst>
                                          <p:attrName>style.visibility</p:attrName>
                                        </p:attrNameLst>
                                      </p:cBhvr>
                                      <p:to>
                                        <p:strVal val="hidden"/>
                                      </p:to>
                                    </p:set>
                                  </p:childTnLst>
                                </p:cTn>
                              </p:par>
                            </p:childTnLst>
                          </p:cTn>
                        </p:par>
                        <p:par>
                          <p:cTn id="87" fill="hold">
                            <p:stCondLst>
                              <p:cond delay="1500"/>
                            </p:stCondLst>
                            <p:childTnLst>
                              <p:par>
                                <p:cTn id="88" presetID="12" presetClass="entr" presetSubtype="4" fill="hold" nodeType="afterEffect">
                                  <p:stCondLst>
                                    <p:cond delay="0"/>
                                  </p:stCondLst>
                                  <p:childTnLst>
                                    <p:set>
                                      <p:cBhvr>
                                        <p:cTn id="89" dur="1" fill="hold">
                                          <p:stCondLst>
                                            <p:cond delay="0"/>
                                          </p:stCondLst>
                                        </p:cTn>
                                        <p:tgtEl>
                                          <p:spTgt spid="109"/>
                                        </p:tgtEl>
                                        <p:attrNameLst>
                                          <p:attrName>style.visibility</p:attrName>
                                        </p:attrNameLst>
                                      </p:cBhvr>
                                      <p:to>
                                        <p:strVal val="visible"/>
                                      </p:to>
                                    </p:set>
                                    <p:anim calcmode="lin" valueType="num">
                                      <p:cBhvr additive="base">
                                        <p:cTn id="90" dur="500"/>
                                        <p:tgtEl>
                                          <p:spTgt spid="109"/>
                                        </p:tgtEl>
                                        <p:attrNameLst>
                                          <p:attrName>ppt_y</p:attrName>
                                        </p:attrNameLst>
                                      </p:cBhvr>
                                      <p:tavLst>
                                        <p:tav tm="0">
                                          <p:val>
                                            <p:strVal val="#ppt_y+#ppt_h*1.125000"/>
                                          </p:val>
                                        </p:tav>
                                        <p:tav tm="100000">
                                          <p:val>
                                            <p:strVal val="#ppt_y"/>
                                          </p:val>
                                        </p:tav>
                                      </p:tavLst>
                                    </p:anim>
                                    <p:animEffect transition="in" filter="wipe(up)">
                                      <p:cBhvr>
                                        <p:cTn id="91" dur="500"/>
                                        <p:tgtEl>
                                          <p:spTgt spid="109"/>
                                        </p:tgtEl>
                                      </p:cBhvr>
                                    </p:animEffect>
                                  </p:childTnLst>
                                </p:cTn>
                              </p:par>
                            </p:childTnLst>
                          </p:cTn>
                        </p:par>
                      </p:childTnLst>
                    </p:cTn>
                  </p:par>
                  <p:par>
                    <p:cTn id="92" fill="hold">
                      <p:stCondLst>
                        <p:cond delay="indefinite"/>
                      </p:stCondLst>
                      <p:childTnLst>
                        <p:par>
                          <p:cTn id="93" fill="hold">
                            <p:stCondLst>
                              <p:cond delay="0"/>
                            </p:stCondLst>
                            <p:childTnLst>
                              <p:par>
                                <p:cTn id="94" presetID="42" presetClass="path" presetSubtype="0" accel="50000" decel="50000" fill="hold" nodeType="clickEffect">
                                  <p:stCondLst>
                                    <p:cond delay="0"/>
                                  </p:stCondLst>
                                  <p:childTnLst>
                                    <p:animMotion origin="layout" path="M 2.08333E-6 0.00208 L 0.14948 -0.15787 " pathEditMode="relative" rAng="0" ptsTypes="AA">
                                      <p:cBhvr>
                                        <p:cTn id="95" dur="2000" fill="hold"/>
                                        <p:tgtEl>
                                          <p:spTgt spid="109"/>
                                        </p:tgtEl>
                                        <p:attrNameLst>
                                          <p:attrName>ppt_x</p:attrName>
                                          <p:attrName>ppt_y</p:attrName>
                                        </p:attrNameLst>
                                      </p:cBhvr>
                                      <p:rCtr x="7552" y="-8009"/>
                                    </p:animMotion>
                                  </p:childTnLst>
                                </p:cTn>
                              </p:par>
                            </p:childTnLst>
                          </p:cTn>
                        </p:par>
                        <p:par>
                          <p:cTn id="96" fill="hold">
                            <p:stCondLst>
                              <p:cond delay="2000"/>
                            </p:stCondLst>
                            <p:childTnLst>
                              <p:par>
                                <p:cTn id="97" presetID="1" presetClass="entr" presetSubtype="0" fill="hold" nodeType="afterEffect">
                                  <p:stCondLst>
                                    <p:cond delay="0"/>
                                  </p:stCondLst>
                                  <p:childTnLst>
                                    <p:set>
                                      <p:cBhvr>
                                        <p:cTn id="98" dur="1" fill="hold">
                                          <p:stCondLst>
                                            <p:cond delay="0"/>
                                          </p:stCondLst>
                                        </p:cTn>
                                        <p:tgtEl>
                                          <p:spTgt spid="7"/>
                                        </p:tgtEl>
                                        <p:attrNameLst>
                                          <p:attrName>style.visibility</p:attrName>
                                        </p:attrNameLst>
                                      </p:cBhvr>
                                      <p:to>
                                        <p:strVal val="visible"/>
                                      </p:to>
                                    </p:set>
                                  </p:childTnLst>
                                </p:cTn>
                              </p:par>
                            </p:childTnLst>
                          </p:cTn>
                        </p:par>
                        <p:par>
                          <p:cTn id="99" fill="hold">
                            <p:stCondLst>
                              <p:cond delay="2000"/>
                            </p:stCondLst>
                            <p:childTnLst>
                              <p:par>
                                <p:cTn id="100" presetID="10" presetClass="exit" presetSubtype="0" fill="hold" grpId="1" nodeType="afterEffect">
                                  <p:stCondLst>
                                    <p:cond delay="0"/>
                                  </p:stCondLst>
                                  <p:childTnLst>
                                    <p:animEffect transition="out" filter="fade">
                                      <p:cBhvr>
                                        <p:cTn id="101" dur="500"/>
                                        <p:tgtEl>
                                          <p:spTgt spid="112"/>
                                        </p:tgtEl>
                                      </p:cBhvr>
                                    </p:animEffect>
                                    <p:set>
                                      <p:cBhvr>
                                        <p:cTn id="102" dur="1" fill="hold">
                                          <p:stCondLst>
                                            <p:cond delay="499"/>
                                          </p:stCondLst>
                                        </p:cTn>
                                        <p:tgtEl>
                                          <p:spTgt spid="112"/>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108"/>
                                        </p:tgtEl>
                                        <p:attrNameLst>
                                          <p:attrName>style.visibility</p:attrName>
                                        </p:attrNameLst>
                                      </p:cBhvr>
                                      <p:to>
                                        <p:strVal val="visible"/>
                                      </p:to>
                                    </p:set>
                                    <p:animEffect transition="in" filter="fade">
                                      <p:cBhvr>
                                        <p:cTn id="107" dur="500"/>
                                        <p:tgtEl>
                                          <p:spTgt spid="108"/>
                                        </p:tgtEl>
                                      </p:cBhvr>
                                    </p:animEffect>
                                  </p:childTnLst>
                                </p:cTn>
                              </p:par>
                            </p:childTnLst>
                          </p:cTn>
                        </p:par>
                      </p:childTnLst>
                    </p:cTn>
                  </p:par>
                  <p:par>
                    <p:cTn id="108" fill="hold">
                      <p:stCondLst>
                        <p:cond delay="indefinite"/>
                      </p:stCondLst>
                      <p:childTnLst>
                        <p:par>
                          <p:cTn id="109" fill="hold">
                            <p:stCondLst>
                              <p:cond delay="0"/>
                            </p:stCondLst>
                            <p:childTnLst>
                              <p:par>
                                <p:cTn id="110" presetID="42" presetClass="path" presetSubtype="0" accel="50000" decel="50000" fill="hold" nodeType="clickEffect">
                                  <p:stCondLst>
                                    <p:cond delay="0"/>
                                  </p:stCondLst>
                                  <p:childTnLst>
                                    <p:animMotion origin="layout" path="M 2.91667E-6 -1.11111E-6 L 0.13997 0.15509 " pathEditMode="relative" rAng="0" ptsTypes="AA">
                                      <p:cBhvr>
                                        <p:cTn id="111" dur="2000" fill="hold"/>
                                        <p:tgtEl>
                                          <p:spTgt spid="7"/>
                                        </p:tgtEl>
                                        <p:attrNameLst>
                                          <p:attrName>ppt_x</p:attrName>
                                          <p:attrName>ppt_y</p:attrName>
                                        </p:attrNameLst>
                                      </p:cBhvr>
                                      <p:rCtr x="6992" y="7755"/>
                                    </p:animMotion>
                                  </p:childTnLst>
                                </p:cTn>
                              </p:par>
                              <p:par>
                                <p:cTn id="112" presetID="1" presetClass="exit" presetSubtype="0" fill="hold" nodeType="withEffect">
                                  <p:stCondLst>
                                    <p:cond delay="0"/>
                                  </p:stCondLst>
                                  <p:childTnLst>
                                    <p:set>
                                      <p:cBhvr>
                                        <p:cTn id="113" dur="1" fill="hold">
                                          <p:stCondLst>
                                            <p:cond delay="0"/>
                                          </p:stCondLst>
                                        </p:cTn>
                                        <p:tgtEl>
                                          <p:spTgt spid="109"/>
                                        </p:tgtEl>
                                        <p:attrNameLst>
                                          <p:attrName>style.visibility</p:attrName>
                                        </p:attrNameLst>
                                      </p:cBhvr>
                                      <p:to>
                                        <p:strVal val="hidden"/>
                                      </p:to>
                                    </p:set>
                                  </p:childTnLst>
                                </p:cTn>
                              </p:par>
                            </p:childTnLst>
                          </p:cTn>
                        </p:par>
                        <p:par>
                          <p:cTn id="114" fill="hold">
                            <p:stCondLst>
                              <p:cond delay="2000"/>
                            </p:stCondLst>
                            <p:childTnLst>
                              <p:par>
                                <p:cTn id="115" presetID="1" presetClass="entr" presetSubtype="0" fill="hold" nodeType="afterEffect">
                                  <p:stCondLst>
                                    <p:cond delay="0"/>
                                  </p:stCondLst>
                                  <p:childTnLst>
                                    <p:set>
                                      <p:cBhvr>
                                        <p:cTn id="116" dur="1" fill="hold">
                                          <p:stCondLst>
                                            <p:cond delay="0"/>
                                          </p:stCondLst>
                                        </p:cTn>
                                        <p:tgtEl>
                                          <p:spTgt spid="104"/>
                                        </p:tgtEl>
                                        <p:attrNameLst>
                                          <p:attrName>style.visibility</p:attrName>
                                        </p:attrNameLst>
                                      </p:cBhvr>
                                      <p:to>
                                        <p:strVal val="visible"/>
                                      </p:to>
                                    </p:set>
                                  </p:childTnLst>
                                </p:cTn>
                              </p:par>
                              <p:par>
                                <p:cTn id="117" presetID="1" presetClass="exit" presetSubtype="0" fill="hold" nodeType="withEffect">
                                  <p:stCondLst>
                                    <p:cond delay="0"/>
                                  </p:stCondLst>
                                  <p:childTnLst>
                                    <p:set>
                                      <p:cBhvr>
                                        <p:cTn id="11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7" grpId="0" animBg="1"/>
      <p:bldP spid="107" grpId="1" animBg="1"/>
      <p:bldP spid="108" grpId="0" animBg="1"/>
      <p:bldP spid="112" grpId="0" animBg="1"/>
      <p:bldP spid="112"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Put it all together: A High-Level Overview</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kumimoji="1" lang="en-US" altLang="zh-TW" sz="2800" dirty="0">
                <a:solidFill>
                  <a:schemeClr val="tx1"/>
                </a:solidFill>
                <a:latin typeface="Calibri" panose="020F0502020204030204" pitchFamily="34" charset="0"/>
                <a:cs typeface="Calibri" panose="020F0502020204030204" pitchFamily="34" charset="0"/>
              </a:rPr>
              <a:t>User Space: </a:t>
            </a:r>
          </a:p>
          <a:p>
            <a:pPr lvl="1" algn="l"/>
            <a:r>
              <a:rPr kumimoji="1" lang="en-US" altLang="zh-TW" dirty="0">
                <a:solidFill>
                  <a:schemeClr val="tx1"/>
                </a:solidFill>
                <a:latin typeface="Calibri" panose="020F0502020204030204" pitchFamily="34" charset="0"/>
                <a:cs typeface="Calibri" panose="020F0502020204030204" pitchFamily="34" charset="0"/>
              </a:rPr>
              <a:t>Applications (e.g., TensorFlow, Hadoop, Databases, </a:t>
            </a:r>
            <a:r>
              <a:rPr kumimoji="1" lang="en-US" altLang="zh-TW" dirty="0" err="1">
                <a:solidFill>
                  <a:schemeClr val="tx1"/>
                </a:solidFill>
                <a:latin typeface="Calibri" panose="020F0502020204030204" pitchFamily="34" charset="0"/>
                <a:cs typeface="Calibri" panose="020F0502020204030204" pitchFamily="34" charset="0"/>
              </a:rPr>
              <a:t>Pytorch</a:t>
            </a:r>
            <a:r>
              <a:rPr kumimoji="1" lang="en-US" altLang="zh-TW" dirty="0">
                <a:solidFill>
                  <a:schemeClr val="tx1"/>
                </a:solidFill>
                <a:latin typeface="Calibri" panose="020F0502020204030204" pitchFamily="34" charset="0"/>
                <a:cs typeface="Calibri" panose="020F0502020204030204" pitchFamily="34" charset="0"/>
              </a:rPr>
              <a:t>)</a:t>
            </a:r>
          </a:p>
          <a:p>
            <a:pPr lvl="1" algn="l"/>
            <a:r>
              <a:rPr kumimoji="1" lang="en-US" altLang="zh-TW" dirty="0">
                <a:solidFill>
                  <a:schemeClr val="tx1"/>
                </a:solidFill>
                <a:latin typeface="Calibri" panose="020F0502020204030204" pitchFamily="34" charset="0"/>
                <a:cs typeface="Calibri" panose="020F0502020204030204" pitchFamily="34" charset="0"/>
              </a:rPr>
              <a:t>Libraries (e.g., C/C++ Library </a:t>
            </a:r>
            <a:r>
              <a:rPr kumimoji="1" lang="en-US" altLang="zh-TW" dirty="0">
                <a:solidFill>
                  <a:schemeClr val="tx1"/>
                </a:solidFill>
                <a:latin typeface="Calibri" panose="020F0502020204030204" pitchFamily="34" charset="0"/>
                <a:cs typeface="Calibri" panose="020F0502020204030204" pitchFamily="34" charset="0"/>
                <a:sym typeface="Wingdings" pitchFamily="2" charset="2"/>
              </a:rPr>
              <a:t> Does Memory Allocation </a:t>
            </a:r>
            <a:r>
              <a:rPr kumimoji="1" lang="en-US" altLang="zh-TW" dirty="0">
                <a:solidFill>
                  <a:schemeClr val="tx1"/>
                </a:solidFill>
                <a:latin typeface="Calibri" panose="020F0502020204030204" pitchFamily="34" charset="0"/>
                <a:cs typeface="Calibri" panose="020F0502020204030204" pitchFamily="34" charset="0"/>
              </a:rPr>
              <a:t>)</a:t>
            </a:r>
          </a:p>
          <a:p>
            <a:pPr algn="l"/>
            <a:r>
              <a:rPr lang="en-US" altLang="zh-TW" dirty="0">
                <a:solidFill>
                  <a:schemeClr val="tx1"/>
                </a:solidFill>
              </a:rPr>
              <a:t>Kernel Space:</a:t>
            </a:r>
          </a:p>
          <a:p>
            <a:pPr lvl="1" algn="l"/>
            <a:r>
              <a:rPr lang="en-US" altLang="zh-TW" dirty="0">
                <a:solidFill>
                  <a:schemeClr val="tx1"/>
                </a:solidFill>
              </a:rPr>
              <a:t>Device Drivers (Contact with I/O devices)</a:t>
            </a:r>
          </a:p>
          <a:p>
            <a:pPr lvl="1" algn="l"/>
            <a:r>
              <a:rPr lang="en-US" altLang="zh-TW" dirty="0">
                <a:solidFill>
                  <a:schemeClr val="tx1"/>
                </a:solidFill>
              </a:rPr>
              <a:t>Core Kernel</a:t>
            </a:r>
          </a:p>
          <a:p>
            <a:pPr lvl="2" algn="l"/>
            <a:r>
              <a:rPr lang="en-US" altLang="zh-TW" dirty="0">
                <a:solidFill>
                  <a:schemeClr val="tx1"/>
                </a:solidFill>
              </a:rPr>
              <a:t>Process Management</a:t>
            </a:r>
          </a:p>
          <a:p>
            <a:pPr lvl="2" algn="l"/>
            <a:r>
              <a:rPr lang="en-US" altLang="zh-TW" dirty="0">
                <a:solidFill>
                  <a:schemeClr val="tx1"/>
                </a:solidFill>
              </a:rPr>
              <a:t>Memory Management</a:t>
            </a:r>
          </a:p>
          <a:p>
            <a:pPr lvl="2" algn="l"/>
            <a:r>
              <a:rPr lang="en-US" altLang="zh-TW" dirty="0">
                <a:solidFill>
                  <a:schemeClr val="tx1"/>
                </a:solidFill>
              </a:rPr>
              <a:t>I/O Management</a:t>
            </a:r>
          </a:p>
          <a:p>
            <a:pPr lvl="1" algn="l"/>
            <a:endParaRPr kumimoji="1" lang="en-US" altLang="zh-TW" dirty="0">
              <a:solidFill>
                <a:schemeClr val="tx1"/>
              </a:solidFill>
              <a:latin typeface="Calibri" panose="020F0502020204030204" pitchFamily="34" charset="0"/>
              <a:cs typeface="Calibri" panose="020F050202020403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13</a:t>
            </a:fld>
            <a:endParaRPr lang="zh-TW" altLang="en-US" dirty="0"/>
          </a:p>
        </p:txBody>
      </p:sp>
      <p:pic>
        <p:nvPicPr>
          <p:cNvPr id="6" name="圖片 5">
            <a:extLst>
              <a:ext uri="{FF2B5EF4-FFF2-40B4-BE49-F238E27FC236}">
                <a16:creationId xmlns:a16="http://schemas.microsoft.com/office/drawing/2014/main" id="{9ED93120-52A1-29E6-5AE3-6B1BC996A1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3133" y="3183584"/>
            <a:ext cx="7646928" cy="3127284"/>
          </a:xfrm>
          <a:prstGeom prst="rect">
            <a:avLst/>
          </a:prstGeom>
        </p:spPr>
      </p:pic>
      <p:sp>
        <p:nvSpPr>
          <p:cNvPr id="5" name="文字方塊 4">
            <a:extLst>
              <a:ext uri="{FF2B5EF4-FFF2-40B4-BE49-F238E27FC236}">
                <a16:creationId xmlns:a16="http://schemas.microsoft.com/office/drawing/2014/main" id="{60E62689-5D42-A6FB-6E33-CA3898798429}"/>
              </a:ext>
            </a:extLst>
          </p:cNvPr>
          <p:cNvSpPr txBox="1"/>
          <p:nvPr/>
        </p:nvSpPr>
        <p:spPr>
          <a:xfrm>
            <a:off x="6593225" y="6338658"/>
            <a:ext cx="4319580" cy="369332"/>
          </a:xfrm>
          <a:prstGeom prst="rect">
            <a:avLst/>
          </a:prstGeom>
          <a:noFill/>
        </p:spPr>
        <p:txBody>
          <a:bodyPr wrap="none" rtlCol="0">
            <a:spAutoFit/>
          </a:bodyPr>
          <a:lstStyle/>
          <a:p>
            <a:r>
              <a:rPr kumimoji="1" lang="en-US" altLang="zh-TW" dirty="0"/>
              <a:t>A High-level Overview of the Linux Kernel</a:t>
            </a:r>
            <a:r>
              <a:rPr kumimoji="1" lang="en-US" altLang="zh-TW" baseline="30000" dirty="0"/>
              <a:t>[1]</a:t>
            </a:r>
            <a:endParaRPr kumimoji="1" lang="zh-TW" altLang="en-US" baseline="30000" dirty="0"/>
          </a:p>
        </p:txBody>
      </p:sp>
      <p:sp>
        <p:nvSpPr>
          <p:cNvPr id="7" name="文字方塊 6">
            <a:extLst>
              <a:ext uri="{FF2B5EF4-FFF2-40B4-BE49-F238E27FC236}">
                <a16:creationId xmlns:a16="http://schemas.microsoft.com/office/drawing/2014/main" id="{DD32000A-4160-8046-8AC2-0E04691E2ED0}"/>
              </a:ext>
            </a:extLst>
          </p:cNvPr>
          <p:cNvSpPr txBox="1"/>
          <p:nvPr/>
        </p:nvSpPr>
        <p:spPr>
          <a:xfrm>
            <a:off x="0" y="6598099"/>
            <a:ext cx="5598777" cy="276999"/>
          </a:xfrm>
          <a:prstGeom prst="rect">
            <a:avLst/>
          </a:prstGeom>
          <a:noFill/>
        </p:spPr>
        <p:txBody>
          <a:bodyPr wrap="none" rtlCol="0">
            <a:spAutoFit/>
          </a:bodyPr>
          <a:lstStyle/>
          <a:p>
            <a:r>
              <a:rPr kumimoji="1" lang="en-US" altLang="zh-TW" sz="1200" dirty="0">
                <a:solidFill>
                  <a:schemeClr val="bg1">
                    <a:lumMod val="75000"/>
                  </a:schemeClr>
                </a:solidFill>
              </a:rPr>
              <a:t>[1] </a:t>
            </a:r>
            <a:r>
              <a:rPr kumimoji="1" lang="en-US" altLang="zh-TW" sz="1200" dirty="0" err="1">
                <a:solidFill>
                  <a:schemeClr val="bg1">
                    <a:lumMod val="75000"/>
                  </a:schemeClr>
                </a:solidFill>
              </a:rPr>
              <a:t>Mauerer</a:t>
            </a:r>
            <a:r>
              <a:rPr kumimoji="1" lang="en-US" altLang="zh-TW" sz="1200" dirty="0">
                <a:solidFill>
                  <a:schemeClr val="bg1">
                    <a:lumMod val="75000"/>
                  </a:schemeClr>
                </a:solidFill>
              </a:rPr>
              <a:t>, Wolfgang. Professional Linux kernel architecture. John Wiley &amp; Sons, 2010</a:t>
            </a:r>
            <a:endParaRPr kumimoji="1" lang="zh-TW" altLang="en-US" sz="1200" dirty="0">
              <a:solidFill>
                <a:schemeClr val="bg1">
                  <a:lumMod val="75000"/>
                </a:schemeClr>
              </a:solidFill>
            </a:endParaRPr>
          </a:p>
        </p:txBody>
      </p:sp>
      <p:sp>
        <p:nvSpPr>
          <p:cNvPr id="8" name="矩形 7">
            <a:extLst>
              <a:ext uri="{FF2B5EF4-FFF2-40B4-BE49-F238E27FC236}">
                <a16:creationId xmlns:a16="http://schemas.microsoft.com/office/drawing/2014/main" id="{888AC322-AB20-52A9-D0EF-F484A8C458D9}"/>
              </a:ext>
            </a:extLst>
          </p:cNvPr>
          <p:cNvSpPr/>
          <p:nvPr/>
        </p:nvSpPr>
        <p:spPr>
          <a:xfrm>
            <a:off x="8441355" y="5476775"/>
            <a:ext cx="3407343" cy="8340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矩形 8">
            <a:extLst>
              <a:ext uri="{FF2B5EF4-FFF2-40B4-BE49-F238E27FC236}">
                <a16:creationId xmlns:a16="http://schemas.microsoft.com/office/drawing/2014/main" id="{2B29300C-DB8D-FDB8-1574-000472F231DB}"/>
              </a:ext>
            </a:extLst>
          </p:cNvPr>
          <p:cNvSpPr/>
          <p:nvPr/>
        </p:nvSpPr>
        <p:spPr>
          <a:xfrm>
            <a:off x="8441354" y="3670015"/>
            <a:ext cx="3407343" cy="180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C98FA6F3-3AC9-B94D-E7B2-CD52DD6A1D69}"/>
              </a:ext>
            </a:extLst>
          </p:cNvPr>
          <p:cNvSpPr/>
          <p:nvPr/>
        </p:nvSpPr>
        <p:spPr>
          <a:xfrm>
            <a:off x="4283133" y="4445268"/>
            <a:ext cx="4074082" cy="1865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9957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22" presetClass="exit" presetSubtype="1" fill="hold" grpId="0" nodeType="withEffect">
                                  <p:stCondLst>
                                    <p:cond delay="0"/>
                                  </p:stCondLst>
                                  <p:childTnLst>
                                    <p:animEffect transition="out" filter="wipe(up)">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par>
                                <p:cTn id="33" presetID="22" presetClass="exit" presetSubtype="1" fill="hold" grpId="0" nodeType="withEffect">
                                  <p:stCondLst>
                                    <p:cond delay="0"/>
                                  </p:stCondLst>
                                  <p:childTnLst>
                                    <p:animEffect transition="out" filter="wipe(up)">
                                      <p:cBhvr>
                                        <p:cTn id="34" dur="500"/>
                                        <p:tgtEl>
                                          <p:spTgt spid="9"/>
                                        </p:tgtEl>
                                      </p:cBhvr>
                                    </p:animEffect>
                                    <p:set>
                                      <p:cBhvr>
                                        <p:cTn id="35"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t>Emerging I/O Technologies</a:t>
            </a:r>
            <a:endParaRPr kumimoji="1" lang="zh-TW" altLang="en-US" sz="4000" dirty="0">
              <a:latin typeface="+mn-lt"/>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14</a:t>
            </a:fld>
            <a:endParaRPr lang="zh-TW" altLang="en-US" dirty="0"/>
          </a:p>
        </p:txBody>
      </p:sp>
      <p:grpSp>
        <p:nvGrpSpPr>
          <p:cNvPr id="12" name="群組 11">
            <a:extLst>
              <a:ext uri="{FF2B5EF4-FFF2-40B4-BE49-F238E27FC236}">
                <a16:creationId xmlns:a16="http://schemas.microsoft.com/office/drawing/2014/main" id="{7BB4DC58-71F6-CDC2-242A-7936CE9BBA87}"/>
              </a:ext>
            </a:extLst>
          </p:cNvPr>
          <p:cNvGrpSpPr/>
          <p:nvPr/>
        </p:nvGrpSpPr>
        <p:grpSpPr>
          <a:xfrm>
            <a:off x="8677532" y="1097474"/>
            <a:ext cx="3489314" cy="5472160"/>
            <a:chOff x="8677532" y="1097474"/>
            <a:chExt cx="3489314" cy="5472160"/>
          </a:xfrm>
        </p:grpSpPr>
        <p:grpSp>
          <p:nvGrpSpPr>
            <p:cNvPr id="50" name="Group 49">
              <a:extLst>
                <a:ext uri="{FF2B5EF4-FFF2-40B4-BE49-F238E27FC236}">
                  <a16:creationId xmlns:a16="http://schemas.microsoft.com/office/drawing/2014/main" id="{22CB9F78-E39A-DD45-ABC8-485432B6AA41}"/>
                </a:ext>
              </a:extLst>
            </p:cNvPr>
            <p:cNvGrpSpPr/>
            <p:nvPr/>
          </p:nvGrpSpPr>
          <p:grpSpPr>
            <a:xfrm>
              <a:off x="8828342" y="1228173"/>
              <a:ext cx="3338504" cy="5341461"/>
              <a:chOff x="8828342" y="1343783"/>
              <a:chExt cx="3338504" cy="5341461"/>
            </a:xfrm>
          </p:grpSpPr>
          <p:sp>
            <p:nvSpPr>
              <p:cNvPr id="53" name="五邊形 7">
                <a:extLst>
                  <a:ext uri="{FF2B5EF4-FFF2-40B4-BE49-F238E27FC236}">
                    <a16:creationId xmlns:a16="http://schemas.microsoft.com/office/drawing/2014/main" id="{FE561107-4402-0345-AE9F-97032C8D1C5B}"/>
                  </a:ext>
                </a:extLst>
              </p:cNvPr>
              <p:cNvSpPr/>
              <p:nvPr/>
            </p:nvSpPr>
            <p:spPr>
              <a:xfrm>
                <a:off x="8839500" y="5371617"/>
                <a:ext cx="3289000" cy="1016000"/>
              </a:xfrm>
              <a:prstGeom prst="homePlate">
                <a:avLst/>
              </a:prstGeom>
              <a:solidFill>
                <a:srgbClr val="FF000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ysClr val="windowText" lastClr="000000"/>
                    </a:solidFill>
                    <a:latin typeface="Calibri" panose="020F0502020204030204" pitchFamily="34" charset="0"/>
                    <a:cs typeface="Calibri" panose="020F0502020204030204" pitchFamily="34" charset="0"/>
                  </a:rPr>
                  <a:t>Faster </a:t>
                </a:r>
                <a:br>
                  <a:rPr lang="en-US" altLang="zh-TW" sz="2400" b="1" dirty="0">
                    <a:solidFill>
                      <a:sysClr val="windowText" lastClr="000000"/>
                    </a:solidFill>
                    <a:latin typeface="Calibri" panose="020F0502020204030204" pitchFamily="34" charset="0"/>
                    <a:cs typeface="Calibri" panose="020F0502020204030204" pitchFamily="34" charset="0"/>
                  </a:rPr>
                </a:br>
                <a:r>
                  <a:rPr lang="en-US" altLang="zh-TW" sz="2400" b="1" dirty="0">
                    <a:solidFill>
                      <a:sysClr val="windowText" lastClr="000000"/>
                    </a:solidFill>
                    <a:latin typeface="Calibri" panose="020F0502020204030204" pitchFamily="34" charset="0"/>
                    <a:cs typeface="Calibri" panose="020F0502020204030204" pitchFamily="34" charset="0"/>
                  </a:rPr>
                  <a:t>Data Buses</a:t>
                </a:r>
                <a:endParaRPr lang="zh-TW" altLang="en-US" sz="2400" b="1" dirty="0">
                  <a:solidFill>
                    <a:sysClr val="windowText" lastClr="000000"/>
                  </a:solidFill>
                  <a:latin typeface="Calibri" panose="020F0502020204030204" pitchFamily="34" charset="0"/>
                  <a:cs typeface="Calibri" panose="020F0502020204030204" pitchFamily="34" charset="0"/>
                </a:endParaRPr>
              </a:p>
            </p:txBody>
          </p:sp>
          <p:grpSp>
            <p:nvGrpSpPr>
              <p:cNvPr id="29" name="Group 28">
                <a:extLst>
                  <a:ext uri="{FF2B5EF4-FFF2-40B4-BE49-F238E27FC236}">
                    <a16:creationId xmlns:a16="http://schemas.microsoft.com/office/drawing/2014/main" id="{D90FFCD0-A2D8-7A47-A44F-2BD16E15AA3B}"/>
                  </a:ext>
                </a:extLst>
              </p:cNvPr>
              <p:cNvGrpSpPr/>
              <p:nvPr/>
            </p:nvGrpSpPr>
            <p:grpSpPr>
              <a:xfrm>
                <a:off x="9619020" y="3306687"/>
                <a:ext cx="1729961" cy="1929752"/>
                <a:chOff x="9705701" y="3380258"/>
                <a:chExt cx="1729961" cy="1929752"/>
              </a:xfrm>
            </p:grpSpPr>
            <p:pic>
              <p:nvPicPr>
                <p:cNvPr id="54" name="圖片 40">
                  <a:extLst>
                    <a:ext uri="{FF2B5EF4-FFF2-40B4-BE49-F238E27FC236}">
                      <a16:creationId xmlns:a16="http://schemas.microsoft.com/office/drawing/2014/main" id="{3E857B19-5CAC-3F4B-82C2-23930A31E1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77191" y="3380258"/>
                  <a:ext cx="1586981" cy="1618328"/>
                </a:xfrm>
                <a:prstGeom prst="rect">
                  <a:avLst/>
                </a:prstGeom>
              </p:spPr>
            </p:pic>
            <p:sp>
              <p:nvSpPr>
                <p:cNvPr id="55" name="矩形 53">
                  <a:extLst>
                    <a:ext uri="{FF2B5EF4-FFF2-40B4-BE49-F238E27FC236}">
                      <a16:creationId xmlns:a16="http://schemas.microsoft.com/office/drawing/2014/main" id="{AEA47934-F699-D04B-AF7E-FC3851C2B0DA}"/>
                    </a:ext>
                  </a:extLst>
                </p:cNvPr>
                <p:cNvSpPr/>
                <p:nvPr/>
              </p:nvSpPr>
              <p:spPr>
                <a:xfrm>
                  <a:off x="9705701" y="4971456"/>
                  <a:ext cx="1729961" cy="338554"/>
                </a:xfrm>
                <a:prstGeom prst="rect">
                  <a:avLst/>
                </a:prstGeom>
              </p:spPr>
              <p:txBody>
                <a:bodyPr wrap="none">
                  <a:spAutoFit/>
                </a:bodyPr>
                <a:lstStyle/>
                <a:p>
                  <a:pPr algn="ctr"/>
                  <a:r>
                    <a:rPr lang="en-US" altLang="zh-TW" sz="1600" dirty="0">
                      <a:cs typeface="Arial" panose="020B0604020202020204" pitchFamily="34" charset="0"/>
                    </a:rPr>
                    <a:t>Samsung AXDIMM</a:t>
                  </a:r>
                  <a:endParaRPr lang="zh-TW" altLang="en-US" sz="1600" dirty="0">
                    <a:cs typeface="Arial" panose="020B0604020202020204" pitchFamily="34" charset="0"/>
                  </a:endParaRPr>
                </a:p>
              </p:txBody>
            </p:sp>
          </p:grpSp>
          <p:grpSp>
            <p:nvGrpSpPr>
              <p:cNvPr id="32" name="Group 31">
                <a:extLst>
                  <a:ext uri="{FF2B5EF4-FFF2-40B4-BE49-F238E27FC236}">
                    <a16:creationId xmlns:a16="http://schemas.microsoft.com/office/drawing/2014/main" id="{EED4B510-6914-6748-BA7D-68FA0F47DE6C}"/>
                  </a:ext>
                </a:extLst>
              </p:cNvPr>
              <p:cNvGrpSpPr/>
              <p:nvPr/>
            </p:nvGrpSpPr>
            <p:grpSpPr>
              <a:xfrm>
                <a:off x="9633366" y="1343783"/>
                <a:ext cx="1701268" cy="2032231"/>
                <a:chOff x="9623603" y="1163091"/>
                <a:chExt cx="1701268" cy="2032231"/>
              </a:xfrm>
            </p:grpSpPr>
            <p:sp>
              <p:nvSpPr>
                <p:cNvPr id="56" name="矩形 54">
                  <a:extLst>
                    <a:ext uri="{FF2B5EF4-FFF2-40B4-BE49-F238E27FC236}">
                      <a16:creationId xmlns:a16="http://schemas.microsoft.com/office/drawing/2014/main" id="{293B39D2-548D-6743-8EE2-900C22B4C5FE}"/>
                    </a:ext>
                  </a:extLst>
                </p:cNvPr>
                <p:cNvSpPr/>
                <p:nvPr/>
              </p:nvSpPr>
              <p:spPr>
                <a:xfrm>
                  <a:off x="9706463" y="2856768"/>
                  <a:ext cx="1535549" cy="338554"/>
                </a:xfrm>
                <a:prstGeom prst="rect">
                  <a:avLst/>
                </a:prstGeom>
              </p:spPr>
              <p:txBody>
                <a:bodyPr wrap="none">
                  <a:spAutoFit/>
                </a:bodyPr>
                <a:lstStyle/>
                <a:p>
                  <a:pPr algn="ctr"/>
                  <a:r>
                    <a:rPr lang="en-US" altLang="zh-TW" sz="1600" dirty="0">
                      <a:cs typeface="Arial" panose="020B0604020202020204" pitchFamily="34" charset="0"/>
                    </a:rPr>
                    <a:t>TSMC</a:t>
                  </a:r>
                  <a:r>
                    <a:rPr lang="zh-TW" altLang="en-US" sz="1600" dirty="0">
                      <a:cs typeface="Arial" panose="020B0604020202020204" pitchFamily="34" charset="0"/>
                    </a:rPr>
                    <a:t> </a:t>
                  </a:r>
                  <a:r>
                    <a:rPr lang="en-US" altLang="zh-TW" sz="1600" dirty="0">
                      <a:cs typeface="Arial" panose="020B0604020202020204" pitchFamily="34" charset="0"/>
                    </a:rPr>
                    <a:t>PIM</a:t>
                  </a:r>
                  <a:r>
                    <a:rPr lang="zh-TW" altLang="en-US" sz="1600" dirty="0">
                      <a:cs typeface="Arial" panose="020B0604020202020204" pitchFamily="34" charset="0"/>
                    </a:rPr>
                    <a:t> </a:t>
                  </a:r>
                  <a:r>
                    <a:rPr lang="en-US" altLang="zh-TW" sz="1600" dirty="0">
                      <a:cs typeface="Arial" panose="020B0604020202020204" pitchFamily="34" charset="0"/>
                    </a:rPr>
                    <a:t>Chips</a:t>
                  </a:r>
                  <a:endParaRPr lang="zh-TW" altLang="en-US" sz="1600" dirty="0">
                    <a:cs typeface="Arial" panose="020B0604020202020204" pitchFamily="34" charset="0"/>
                  </a:endParaRPr>
                </a:p>
              </p:txBody>
            </p:sp>
            <p:pic>
              <p:nvPicPr>
                <p:cNvPr id="57" name="圖片 42">
                  <a:extLst>
                    <a:ext uri="{FF2B5EF4-FFF2-40B4-BE49-F238E27FC236}">
                      <a16:creationId xmlns:a16="http://schemas.microsoft.com/office/drawing/2014/main" id="{BB04CA3C-470B-C74A-879C-B2B1CFAE56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23603" y="1163091"/>
                  <a:ext cx="1701268" cy="1716485"/>
                </a:xfrm>
                <a:prstGeom prst="rect">
                  <a:avLst/>
                </a:prstGeom>
              </p:spPr>
            </p:pic>
          </p:grpSp>
          <p:sp>
            <p:nvSpPr>
              <p:cNvPr id="58" name="矩形 67">
                <a:extLst>
                  <a:ext uri="{FF2B5EF4-FFF2-40B4-BE49-F238E27FC236}">
                    <a16:creationId xmlns:a16="http://schemas.microsoft.com/office/drawing/2014/main" id="{0E3014FF-E020-924C-89D2-AF680CADF2DF}"/>
                  </a:ext>
                </a:extLst>
              </p:cNvPr>
              <p:cNvSpPr/>
              <p:nvPr/>
            </p:nvSpPr>
            <p:spPr>
              <a:xfrm>
                <a:off x="11644471" y="6408245"/>
                <a:ext cx="522375" cy="276999"/>
              </a:xfrm>
              <a:prstGeom prst="rect">
                <a:avLst/>
              </a:prstGeom>
              <a:noFill/>
            </p:spPr>
            <p:txBody>
              <a:bodyPr wrap="square" lIns="0" tIns="0" rIns="0" bIns="0">
                <a:spAutoFit/>
              </a:bodyPr>
              <a:lstStyle/>
              <a:p>
                <a:r>
                  <a:rPr lang="en-US" altLang="zh-TW" b="1" dirty="0">
                    <a:solidFill>
                      <a:srgbClr val="FF0000"/>
                    </a:solidFill>
                    <a:latin typeface="Arial" panose="020B0604020202020204" pitchFamily="34" charset="0"/>
                    <a:cs typeface="Arial" panose="020B0604020202020204" pitchFamily="34" charset="0"/>
                  </a:rPr>
                  <a:t>Now</a:t>
                </a:r>
                <a:endParaRPr lang="zh-TW" altLang="en-US" dirty="0">
                  <a:solidFill>
                    <a:srgbClr val="FF0000"/>
                  </a:solidFill>
                </a:endParaRPr>
              </a:p>
            </p:txBody>
          </p:sp>
          <p:cxnSp>
            <p:nvCxnSpPr>
              <p:cNvPr id="59" name="直線單箭頭接點 24">
                <a:extLst>
                  <a:ext uri="{FF2B5EF4-FFF2-40B4-BE49-F238E27FC236}">
                    <a16:creationId xmlns:a16="http://schemas.microsoft.com/office/drawing/2014/main" id="{5D47E294-C71E-694C-A85C-E67D83DBA77D}"/>
                  </a:ext>
                </a:extLst>
              </p:cNvPr>
              <p:cNvCxnSpPr>
                <a:cxnSpLocks/>
                <a:endCxn id="58" idx="1"/>
              </p:cNvCxnSpPr>
              <p:nvPr/>
            </p:nvCxnSpPr>
            <p:spPr>
              <a:xfrm>
                <a:off x="8828342" y="6546744"/>
                <a:ext cx="2816129" cy="1"/>
              </a:xfrm>
              <a:prstGeom prst="straightConnector1">
                <a:avLst/>
              </a:prstGeom>
              <a:ln w="38100">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3" name="矩形 2">
              <a:extLst>
                <a:ext uri="{FF2B5EF4-FFF2-40B4-BE49-F238E27FC236}">
                  <a16:creationId xmlns:a16="http://schemas.microsoft.com/office/drawing/2014/main" id="{C6864680-7029-CF88-BB23-71570442B0B0}"/>
                </a:ext>
              </a:extLst>
            </p:cNvPr>
            <p:cNvSpPr/>
            <p:nvPr/>
          </p:nvSpPr>
          <p:spPr>
            <a:xfrm>
              <a:off x="9322005" y="1097474"/>
              <a:ext cx="2183693" cy="40200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5" name="圖片 4" descr="一張含有 圖形, 字型, 平面設計, 標誌 的圖片&#10;&#10;自動產生的描述">
              <a:extLst>
                <a:ext uri="{FF2B5EF4-FFF2-40B4-BE49-F238E27FC236}">
                  <a16:creationId xmlns:a16="http://schemas.microsoft.com/office/drawing/2014/main" id="{4077DC5D-9BF0-7C5F-EB76-B0DA7A322D4F}"/>
                </a:ext>
              </a:extLst>
            </p:cNvPr>
            <p:cNvPicPr>
              <a:picLocks noChangeAspect="1"/>
            </p:cNvPicPr>
            <p:nvPr/>
          </p:nvPicPr>
          <p:blipFill>
            <a:blip r:embed="rId5"/>
            <a:stretch>
              <a:fillRect/>
            </a:stretch>
          </p:blipFill>
          <p:spPr>
            <a:xfrm>
              <a:off x="9444016" y="1701040"/>
              <a:ext cx="2200455" cy="891643"/>
            </a:xfrm>
            <a:prstGeom prst="rect">
              <a:avLst/>
            </a:prstGeom>
          </p:spPr>
        </p:pic>
        <p:pic>
          <p:nvPicPr>
            <p:cNvPr id="11" name="圖片 10" descr="一張含有 文字, 螢幕擷取畫面, 字型 的圖片&#10;&#10;自動產生的描述">
              <a:extLst>
                <a:ext uri="{FF2B5EF4-FFF2-40B4-BE49-F238E27FC236}">
                  <a16:creationId xmlns:a16="http://schemas.microsoft.com/office/drawing/2014/main" id="{C82EDB3E-6146-0897-E7D3-66400F722BA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677532" y="3101043"/>
              <a:ext cx="3432598" cy="1755306"/>
            </a:xfrm>
            <a:prstGeom prst="rect">
              <a:avLst/>
            </a:prstGeom>
          </p:spPr>
        </p:pic>
      </p:grpSp>
      <p:grpSp>
        <p:nvGrpSpPr>
          <p:cNvPr id="49" name="Group 48">
            <a:extLst>
              <a:ext uri="{FF2B5EF4-FFF2-40B4-BE49-F238E27FC236}">
                <a16:creationId xmlns:a16="http://schemas.microsoft.com/office/drawing/2014/main" id="{1BD9C28B-7F33-3E49-9281-0AAB3B1D1717}"/>
              </a:ext>
            </a:extLst>
          </p:cNvPr>
          <p:cNvGrpSpPr/>
          <p:nvPr/>
        </p:nvGrpSpPr>
        <p:grpSpPr>
          <a:xfrm>
            <a:off x="5859803" y="1638176"/>
            <a:ext cx="3501686" cy="4792958"/>
            <a:chOff x="5859803" y="1753786"/>
            <a:chExt cx="3501686" cy="4792958"/>
          </a:xfrm>
        </p:grpSpPr>
        <p:sp>
          <p:nvSpPr>
            <p:cNvPr id="61" name="五邊形 6">
              <a:extLst>
                <a:ext uri="{FF2B5EF4-FFF2-40B4-BE49-F238E27FC236}">
                  <a16:creationId xmlns:a16="http://schemas.microsoft.com/office/drawing/2014/main" id="{67774C3E-7D35-0446-AF8C-C5DBB046778F}"/>
                </a:ext>
              </a:extLst>
            </p:cNvPr>
            <p:cNvSpPr/>
            <p:nvPr/>
          </p:nvSpPr>
          <p:spPr>
            <a:xfrm>
              <a:off x="5859803" y="5371617"/>
              <a:ext cx="3501686" cy="1016000"/>
            </a:xfrm>
            <a:prstGeom prst="homePlate">
              <a:avLst/>
            </a:pr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ysClr val="windowText" lastClr="000000"/>
                  </a:solidFill>
                  <a:latin typeface="Calibri" panose="020F0502020204030204" pitchFamily="34" charset="0"/>
                  <a:cs typeface="Calibri" panose="020F0502020204030204" pitchFamily="34" charset="0"/>
                </a:rPr>
                <a:t>    Storage-Class</a:t>
              </a:r>
            </a:p>
            <a:p>
              <a:pPr algn="ctr"/>
              <a:r>
                <a:rPr lang="en-US" altLang="zh-TW" sz="2400" b="1" dirty="0">
                  <a:solidFill>
                    <a:sysClr val="windowText" lastClr="000000"/>
                  </a:solidFill>
                  <a:latin typeface="Calibri" panose="020F0502020204030204" pitchFamily="34" charset="0"/>
                  <a:cs typeface="Calibri" panose="020F0502020204030204" pitchFamily="34" charset="0"/>
                </a:rPr>
                <a:t>    Memory</a:t>
              </a:r>
              <a:endParaRPr lang="zh-TW" altLang="en-US" sz="2400" dirty="0">
                <a:solidFill>
                  <a:sysClr val="windowText" lastClr="000000"/>
                </a:solidFill>
                <a:latin typeface="Calibri" panose="020F0502020204030204" pitchFamily="34" charset="0"/>
                <a:cs typeface="Calibri" panose="020F0502020204030204" pitchFamily="34" charset="0"/>
              </a:endParaRPr>
            </a:p>
          </p:txBody>
        </p:sp>
        <p:grpSp>
          <p:nvGrpSpPr>
            <p:cNvPr id="16" name="Group 15">
              <a:extLst>
                <a:ext uri="{FF2B5EF4-FFF2-40B4-BE49-F238E27FC236}">
                  <a16:creationId xmlns:a16="http://schemas.microsoft.com/office/drawing/2014/main" id="{DEBBBA8E-4543-3642-A0DA-417113A6A1AB}"/>
                </a:ext>
              </a:extLst>
            </p:cNvPr>
            <p:cNvGrpSpPr/>
            <p:nvPr/>
          </p:nvGrpSpPr>
          <p:grpSpPr>
            <a:xfrm>
              <a:off x="6297938" y="1753786"/>
              <a:ext cx="2625417" cy="1212225"/>
              <a:chOff x="6119090" y="3860473"/>
              <a:chExt cx="2625417" cy="1212225"/>
            </a:xfrm>
          </p:grpSpPr>
          <p:pic>
            <p:nvPicPr>
              <p:cNvPr id="62" name="Picture 14" descr="Intel Optane DC Persistent Memory Module (PMM)持久内存| KClouder">
                <a:extLst>
                  <a:ext uri="{FF2B5EF4-FFF2-40B4-BE49-F238E27FC236}">
                    <a16:creationId xmlns:a16="http://schemas.microsoft.com/office/drawing/2014/main" id="{1223E6D7-13C8-114E-ACC6-5901F3A416D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19090" y="3860473"/>
                <a:ext cx="2625417" cy="657899"/>
              </a:xfrm>
              <a:prstGeom prst="rect">
                <a:avLst/>
              </a:prstGeom>
              <a:noFill/>
              <a:extLst>
                <a:ext uri="{909E8E84-426E-40DD-AFC4-6F175D3DCCD1}">
                  <a14:hiddenFill xmlns:a14="http://schemas.microsoft.com/office/drawing/2010/main">
                    <a:solidFill>
                      <a:srgbClr val="FFFFFF"/>
                    </a:solidFill>
                  </a14:hiddenFill>
                </a:ext>
              </a:extLst>
            </p:spPr>
          </p:pic>
          <p:sp>
            <p:nvSpPr>
              <p:cNvPr id="66" name="矩形 39">
                <a:extLst>
                  <a:ext uri="{FF2B5EF4-FFF2-40B4-BE49-F238E27FC236}">
                    <a16:creationId xmlns:a16="http://schemas.microsoft.com/office/drawing/2014/main" id="{943C148F-3F14-A54F-BDED-8A159D960D85}"/>
                  </a:ext>
                </a:extLst>
              </p:cNvPr>
              <p:cNvSpPr/>
              <p:nvPr/>
            </p:nvSpPr>
            <p:spPr>
              <a:xfrm>
                <a:off x="6547677" y="4487923"/>
                <a:ext cx="1768241" cy="584775"/>
              </a:xfrm>
              <a:prstGeom prst="rect">
                <a:avLst/>
              </a:prstGeom>
            </p:spPr>
            <p:txBody>
              <a:bodyPr wrap="square">
                <a:spAutoFit/>
              </a:bodyPr>
              <a:lstStyle/>
              <a:p>
                <a:pPr algn="ctr"/>
                <a:r>
                  <a:rPr lang="en-US" altLang="zh-TW" sz="1600" dirty="0">
                    <a:cs typeface="Arial" panose="020B0604020202020204" pitchFamily="34" charset="0"/>
                  </a:rPr>
                  <a:t>Intel </a:t>
                </a:r>
                <a:r>
                  <a:rPr lang="en-US" altLang="zh-TW" sz="1600" dirty="0" err="1">
                    <a:cs typeface="Arial" panose="020B0604020202020204" pitchFamily="34" charset="0"/>
                  </a:rPr>
                  <a:t>Optane</a:t>
                </a:r>
                <a:r>
                  <a:rPr lang="en-US" altLang="zh-TW" sz="1600" dirty="0">
                    <a:cs typeface="Arial" panose="020B0604020202020204" pitchFamily="34" charset="0"/>
                  </a:rPr>
                  <a:t> DC</a:t>
                </a:r>
              </a:p>
              <a:p>
                <a:pPr algn="ctr"/>
                <a:r>
                  <a:rPr lang="en-US" altLang="zh-TW" sz="1600" dirty="0">
                    <a:cs typeface="Arial" panose="020B0604020202020204" pitchFamily="34" charset="0"/>
                  </a:rPr>
                  <a:t>Persistent Memory</a:t>
                </a:r>
                <a:endParaRPr lang="zh-TW" altLang="en-US" sz="1600" dirty="0">
                  <a:cs typeface="Arial" panose="020B0604020202020204" pitchFamily="34" charset="0"/>
                </a:endParaRPr>
              </a:p>
            </p:txBody>
          </p:sp>
        </p:grpSp>
        <p:cxnSp>
          <p:nvCxnSpPr>
            <p:cNvPr id="83" name="直線單箭頭接點 24">
              <a:extLst>
                <a:ext uri="{FF2B5EF4-FFF2-40B4-BE49-F238E27FC236}">
                  <a16:creationId xmlns:a16="http://schemas.microsoft.com/office/drawing/2014/main" id="{17B3FCD7-F9A1-1344-9174-707BDFBDFB60}"/>
                </a:ext>
              </a:extLst>
            </p:cNvPr>
            <p:cNvCxnSpPr>
              <a:cxnSpLocks/>
            </p:cNvCxnSpPr>
            <p:nvPr/>
          </p:nvCxnSpPr>
          <p:spPr>
            <a:xfrm flipV="1">
              <a:off x="6010001" y="6546742"/>
              <a:ext cx="2829499" cy="2"/>
            </a:xfrm>
            <a:prstGeom prst="straightConnector1">
              <a:avLst/>
            </a:prstGeom>
            <a:ln w="38100">
              <a:solidFill>
                <a:srgbClr val="FF0000"/>
              </a:solidFill>
              <a:tailEnd type="none" w="med" len="lg"/>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70A68CA6-8323-834F-AADD-5FF6AC1B74DD}"/>
                </a:ext>
              </a:extLst>
            </p:cNvPr>
            <p:cNvGrpSpPr/>
            <p:nvPr/>
          </p:nvGrpSpPr>
          <p:grpSpPr>
            <a:xfrm>
              <a:off x="6512679" y="3649917"/>
              <a:ext cx="2195935" cy="1586522"/>
              <a:chOff x="6474143" y="1388469"/>
              <a:chExt cx="2195935" cy="1586522"/>
            </a:xfrm>
          </p:grpSpPr>
          <p:pic>
            <p:nvPicPr>
              <p:cNvPr id="70" name="圖片 27">
                <a:extLst>
                  <a:ext uri="{FF2B5EF4-FFF2-40B4-BE49-F238E27FC236}">
                    <a16:creationId xmlns:a16="http://schemas.microsoft.com/office/drawing/2014/main" id="{9DD59B92-9EA6-884A-8324-CEBDAB0C5A1E}"/>
                  </a:ext>
                </a:extLst>
              </p:cNvPr>
              <p:cNvPicPr>
                <a:picLocks noChangeAspect="1"/>
              </p:cNvPicPr>
              <p:nvPr/>
            </p:nvPicPr>
            <p:blipFill>
              <a:blip r:embed="rId8"/>
              <a:stretch>
                <a:fillRect/>
              </a:stretch>
            </p:blipFill>
            <p:spPr>
              <a:xfrm>
                <a:off x="6474143" y="1388469"/>
                <a:ext cx="2183693" cy="1349579"/>
              </a:xfrm>
              <a:prstGeom prst="rect">
                <a:avLst/>
              </a:prstGeom>
            </p:spPr>
          </p:pic>
          <p:sp>
            <p:nvSpPr>
              <p:cNvPr id="80" name="矩形 47">
                <a:extLst>
                  <a:ext uri="{FF2B5EF4-FFF2-40B4-BE49-F238E27FC236}">
                    <a16:creationId xmlns:a16="http://schemas.microsoft.com/office/drawing/2014/main" id="{F797543A-2EDC-DE4C-89D9-FEB2DC0060C2}"/>
                  </a:ext>
                </a:extLst>
              </p:cNvPr>
              <p:cNvSpPr/>
              <p:nvPr/>
            </p:nvSpPr>
            <p:spPr>
              <a:xfrm>
                <a:off x="6719409" y="2636437"/>
                <a:ext cx="1343637" cy="338554"/>
              </a:xfrm>
              <a:prstGeom prst="rect">
                <a:avLst/>
              </a:prstGeom>
            </p:spPr>
            <p:txBody>
              <a:bodyPr wrap="none">
                <a:spAutoFit/>
              </a:bodyPr>
              <a:lstStyle/>
              <a:p>
                <a:pPr algn="ctr"/>
                <a:r>
                  <a:rPr lang="en-US" altLang="zh-TW" sz="1600" dirty="0">
                    <a:cs typeface="Arial" panose="020B0604020202020204" pitchFamily="34" charset="0"/>
                  </a:rPr>
                  <a:t>HPE</a:t>
                </a:r>
                <a:r>
                  <a:rPr lang="zh-TW" altLang="en-US" sz="1600" dirty="0">
                    <a:cs typeface="Arial" panose="020B0604020202020204" pitchFamily="34" charset="0"/>
                  </a:rPr>
                  <a:t> </a:t>
                </a:r>
                <a:r>
                  <a:rPr lang="en-US" altLang="zh-TW" sz="1600" dirty="0">
                    <a:cs typeface="Arial" panose="020B0604020202020204" pitchFamily="34" charset="0"/>
                  </a:rPr>
                  <a:t>NVDIMM</a:t>
                </a:r>
                <a:endParaRPr lang="zh-TW" altLang="en-US" sz="1600" dirty="0">
                  <a:cs typeface="Arial" panose="020B0604020202020204" pitchFamily="34" charset="0"/>
                </a:endParaRPr>
              </a:p>
            </p:txBody>
          </p:sp>
          <p:sp>
            <p:nvSpPr>
              <p:cNvPr id="113" name="矩形 11">
                <a:extLst>
                  <a:ext uri="{FF2B5EF4-FFF2-40B4-BE49-F238E27FC236}">
                    <a16:creationId xmlns:a16="http://schemas.microsoft.com/office/drawing/2014/main" id="{3AEBB60E-29C6-8543-A0B3-E9F7DFAF7600}"/>
                  </a:ext>
                </a:extLst>
              </p:cNvPr>
              <p:cNvSpPr/>
              <p:nvPr/>
            </p:nvSpPr>
            <p:spPr>
              <a:xfrm>
                <a:off x="8178287" y="2488543"/>
                <a:ext cx="348494" cy="2072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矩形 45">
                <a:extLst>
                  <a:ext uri="{FF2B5EF4-FFF2-40B4-BE49-F238E27FC236}">
                    <a16:creationId xmlns:a16="http://schemas.microsoft.com/office/drawing/2014/main" id="{41C53ABD-455A-4E4C-B13C-55368E499392}"/>
                  </a:ext>
                </a:extLst>
              </p:cNvPr>
              <p:cNvSpPr/>
              <p:nvPr/>
            </p:nvSpPr>
            <p:spPr>
              <a:xfrm>
                <a:off x="7746427" y="2437682"/>
                <a:ext cx="923651" cy="276999"/>
              </a:xfrm>
              <a:prstGeom prst="rect">
                <a:avLst/>
              </a:prstGeom>
              <a:solidFill>
                <a:schemeClr val="bg1"/>
              </a:solidFill>
            </p:spPr>
            <p:txBody>
              <a:bodyPr wrap="none">
                <a:spAutoFit/>
              </a:bodyPr>
              <a:lstStyle/>
              <a:p>
                <a:pPr algn="ctr"/>
                <a:r>
                  <a:rPr lang="en-US" altLang="zh-TW" sz="1200" dirty="0">
                    <a:solidFill>
                      <a:schemeClr val="accent1">
                        <a:lumMod val="75000"/>
                      </a:schemeClr>
                    </a:solidFill>
                    <a:latin typeface="Calibri" panose="020F0502020204030204" pitchFamily="34" charset="0"/>
                    <a:cs typeface="Calibri" panose="020F0502020204030204" pitchFamily="34" charset="0"/>
                  </a:rPr>
                  <a:t>NAND</a:t>
                </a:r>
                <a:r>
                  <a:rPr lang="zh-TW" altLang="en-US" sz="1200" dirty="0">
                    <a:solidFill>
                      <a:schemeClr val="accent1">
                        <a:lumMod val="75000"/>
                      </a:schemeClr>
                    </a:solidFill>
                    <a:latin typeface="Calibri" panose="020F0502020204030204" pitchFamily="34" charset="0"/>
                    <a:cs typeface="Calibri" panose="020F0502020204030204" pitchFamily="34" charset="0"/>
                  </a:rPr>
                  <a:t> </a:t>
                </a:r>
                <a:r>
                  <a:rPr lang="en-US" altLang="zh-TW" sz="1200" dirty="0">
                    <a:solidFill>
                      <a:schemeClr val="accent1">
                        <a:lumMod val="75000"/>
                      </a:schemeClr>
                    </a:solidFill>
                    <a:latin typeface="Calibri" panose="020F0502020204030204" pitchFamily="34" charset="0"/>
                    <a:cs typeface="Calibri" panose="020F0502020204030204" pitchFamily="34" charset="0"/>
                  </a:rPr>
                  <a:t>Flash</a:t>
                </a:r>
                <a:endParaRPr lang="zh-TW" altLang="en-US" sz="1200" dirty="0">
                  <a:solidFill>
                    <a:schemeClr val="accent1">
                      <a:lumMod val="75000"/>
                    </a:schemeClr>
                  </a:solidFill>
                  <a:latin typeface="Calibri" panose="020F0502020204030204" pitchFamily="34" charset="0"/>
                  <a:cs typeface="Calibri" panose="020F0502020204030204" pitchFamily="34" charset="0"/>
                </a:endParaRPr>
              </a:p>
            </p:txBody>
          </p:sp>
          <p:sp>
            <p:nvSpPr>
              <p:cNvPr id="114" name="矩形 11">
                <a:extLst>
                  <a:ext uri="{FF2B5EF4-FFF2-40B4-BE49-F238E27FC236}">
                    <a16:creationId xmlns:a16="http://schemas.microsoft.com/office/drawing/2014/main" id="{5C5A6EC5-A9A0-8041-803B-E1C68B2E8354}"/>
                  </a:ext>
                </a:extLst>
              </p:cNvPr>
              <p:cNvSpPr/>
              <p:nvPr/>
            </p:nvSpPr>
            <p:spPr>
              <a:xfrm>
                <a:off x="6723743" y="1420090"/>
                <a:ext cx="348494" cy="2072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44">
                <a:extLst>
                  <a:ext uri="{FF2B5EF4-FFF2-40B4-BE49-F238E27FC236}">
                    <a16:creationId xmlns:a16="http://schemas.microsoft.com/office/drawing/2014/main" id="{2A4D3A42-FF08-044D-A913-5FD6A21B77A8}"/>
                  </a:ext>
                </a:extLst>
              </p:cNvPr>
              <p:cNvSpPr/>
              <p:nvPr/>
            </p:nvSpPr>
            <p:spPr>
              <a:xfrm>
                <a:off x="6626925" y="1477888"/>
                <a:ext cx="583814" cy="276999"/>
              </a:xfrm>
              <a:prstGeom prst="rect">
                <a:avLst/>
              </a:prstGeom>
              <a:solidFill>
                <a:schemeClr val="bg1"/>
              </a:solidFill>
            </p:spPr>
            <p:txBody>
              <a:bodyPr wrap="none">
                <a:spAutoFit/>
              </a:bodyPr>
              <a:lstStyle/>
              <a:p>
                <a:pPr algn="ctr"/>
                <a:r>
                  <a:rPr lang="en-US" altLang="zh-TW" sz="1200" dirty="0">
                    <a:solidFill>
                      <a:schemeClr val="accent1">
                        <a:lumMod val="75000"/>
                      </a:schemeClr>
                    </a:solidFill>
                    <a:latin typeface="Calibri" panose="020F0502020204030204" pitchFamily="34" charset="0"/>
                    <a:cs typeface="Calibri" panose="020F0502020204030204" pitchFamily="34" charset="0"/>
                  </a:rPr>
                  <a:t>DRAM</a:t>
                </a:r>
                <a:endParaRPr lang="zh-TW" altLang="en-US" sz="1200" dirty="0">
                  <a:solidFill>
                    <a:schemeClr val="accent1">
                      <a:lumMod val="75000"/>
                    </a:schemeClr>
                  </a:solidFill>
                  <a:latin typeface="Calibri" panose="020F0502020204030204" pitchFamily="34" charset="0"/>
                  <a:cs typeface="Calibri" panose="020F0502020204030204" pitchFamily="34" charset="0"/>
                </a:endParaRPr>
              </a:p>
            </p:txBody>
          </p:sp>
        </p:grpSp>
      </p:grpSp>
      <p:grpSp>
        <p:nvGrpSpPr>
          <p:cNvPr id="48" name="Group 47">
            <a:extLst>
              <a:ext uri="{FF2B5EF4-FFF2-40B4-BE49-F238E27FC236}">
                <a16:creationId xmlns:a16="http://schemas.microsoft.com/office/drawing/2014/main" id="{4C5D1894-0BF1-9E40-8A91-044DD174E733}"/>
              </a:ext>
            </a:extLst>
          </p:cNvPr>
          <p:cNvGrpSpPr/>
          <p:nvPr/>
        </p:nvGrpSpPr>
        <p:grpSpPr>
          <a:xfrm>
            <a:off x="2832238" y="1540728"/>
            <a:ext cx="3634018" cy="4890404"/>
            <a:chOff x="2832238" y="1656338"/>
            <a:chExt cx="3634018" cy="4890404"/>
          </a:xfrm>
        </p:grpSpPr>
        <p:sp>
          <p:nvSpPr>
            <p:cNvPr id="87" name="五邊形 5">
              <a:extLst>
                <a:ext uri="{FF2B5EF4-FFF2-40B4-BE49-F238E27FC236}">
                  <a16:creationId xmlns:a16="http://schemas.microsoft.com/office/drawing/2014/main" id="{B4933912-00AF-464F-B598-4C6B61072662}"/>
                </a:ext>
              </a:extLst>
            </p:cNvPr>
            <p:cNvSpPr/>
            <p:nvPr/>
          </p:nvSpPr>
          <p:spPr>
            <a:xfrm>
              <a:off x="2832238" y="5371617"/>
              <a:ext cx="3634018" cy="1016000"/>
            </a:xfrm>
            <a:prstGeom prst="homePlate">
              <a:avLst/>
            </a:prstGeom>
            <a:solidFill>
              <a:schemeClr val="accent4"/>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ysClr val="windowText" lastClr="000000"/>
                  </a:solidFill>
                  <a:latin typeface="Calibri" panose="020F0502020204030204" pitchFamily="34" charset="0"/>
                  <a:cs typeface="Calibri" panose="020F0502020204030204" pitchFamily="34" charset="0"/>
                </a:rPr>
                <a:t>      </a:t>
              </a:r>
              <a:r>
                <a:rPr lang="en-US" altLang="zh-TW" sz="2400" b="1" dirty="0">
                  <a:solidFill>
                    <a:sysClr val="windowText" lastClr="000000"/>
                  </a:solidFill>
                  <a:latin typeface="Calibri" panose="020F0502020204030204" pitchFamily="34" charset="0"/>
                  <a:cs typeface="Calibri" panose="020F0502020204030204" pitchFamily="34" charset="0"/>
                </a:rPr>
                <a:t>Ultra-Low Latency</a:t>
              </a:r>
            </a:p>
            <a:p>
              <a:pPr algn="ctr"/>
              <a:r>
                <a:rPr lang="zh-TW" altLang="en-US" i="1" dirty="0">
                  <a:solidFill>
                    <a:sysClr val="windowText" lastClr="000000"/>
                  </a:solidFill>
                  <a:latin typeface="Calibri" panose="020F0502020204030204" pitchFamily="34" charset="0"/>
                  <a:cs typeface="Calibri" panose="020F0502020204030204" pitchFamily="34" charset="0"/>
                </a:rPr>
                <a:t>   </a:t>
              </a:r>
              <a:r>
                <a:rPr lang="en-US" altLang="zh-TW" i="1" dirty="0">
                  <a:solidFill>
                    <a:sysClr val="windowText" lastClr="000000"/>
                  </a:solidFill>
                  <a:latin typeface="Calibri" panose="020F0502020204030204" pitchFamily="34" charset="0"/>
                  <a:cs typeface="Calibri" panose="020F0502020204030204" pitchFamily="34" charset="0"/>
                </a:rPr>
                <a:t>~ 5 us</a:t>
              </a:r>
              <a:endParaRPr lang="zh-TW" altLang="en-US" i="1" dirty="0">
                <a:solidFill>
                  <a:sysClr val="windowText" lastClr="000000"/>
                </a:solidFill>
                <a:latin typeface="Calibri" panose="020F0502020204030204" pitchFamily="34" charset="0"/>
                <a:cs typeface="Calibri" panose="020F0502020204030204" pitchFamily="34" charset="0"/>
              </a:endParaRPr>
            </a:p>
          </p:txBody>
        </p:sp>
        <p:grpSp>
          <p:nvGrpSpPr>
            <p:cNvPr id="15" name="Group 14">
              <a:extLst>
                <a:ext uri="{FF2B5EF4-FFF2-40B4-BE49-F238E27FC236}">
                  <a16:creationId xmlns:a16="http://schemas.microsoft.com/office/drawing/2014/main" id="{E98CAA11-1CFF-7E4A-9BA9-3A291793C5CA}"/>
                </a:ext>
              </a:extLst>
            </p:cNvPr>
            <p:cNvGrpSpPr/>
            <p:nvPr/>
          </p:nvGrpSpPr>
          <p:grpSpPr>
            <a:xfrm>
              <a:off x="3857749" y="1656338"/>
              <a:ext cx="1582997" cy="1407120"/>
              <a:chOff x="3558604" y="1590293"/>
              <a:chExt cx="1582997" cy="1407120"/>
            </a:xfrm>
          </p:grpSpPr>
          <p:pic>
            <p:nvPicPr>
              <p:cNvPr id="88" name="Picture 8" descr="Intel® Optane™ SSD P5800X 系列">
                <a:extLst>
                  <a:ext uri="{FF2B5EF4-FFF2-40B4-BE49-F238E27FC236}">
                    <a16:creationId xmlns:a16="http://schemas.microsoft.com/office/drawing/2014/main" id="{AEEC7F4A-B2F4-2144-ABC4-3B8820506B53}"/>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0189" r="12112"/>
              <a:stretch/>
            </p:blipFill>
            <p:spPr bwMode="auto">
              <a:xfrm>
                <a:off x="3619350" y="1590293"/>
                <a:ext cx="1461504" cy="1058056"/>
              </a:xfrm>
              <a:prstGeom prst="rect">
                <a:avLst/>
              </a:prstGeom>
              <a:noFill/>
              <a:extLst>
                <a:ext uri="{909E8E84-426E-40DD-AFC4-6F175D3DCCD1}">
                  <a14:hiddenFill xmlns:a14="http://schemas.microsoft.com/office/drawing/2010/main">
                    <a:solidFill>
                      <a:srgbClr val="FFFFFF"/>
                    </a:solidFill>
                  </a14:hiddenFill>
                </a:ext>
              </a:extLst>
            </p:spPr>
          </p:pic>
          <p:sp>
            <p:nvSpPr>
              <p:cNvPr id="89" name="矩形 34">
                <a:extLst>
                  <a:ext uri="{FF2B5EF4-FFF2-40B4-BE49-F238E27FC236}">
                    <a16:creationId xmlns:a16="http://schemas.microsoft.com/office/drawing/2014/main" id="{14DCE2D0-DDC2-2D49-B1D4-FA5A1274A48F}"/>
                  </a:ext>
                </a:extLst>
              </p:cNvPr>
              <p:cNvSpPr/>
              <p:nvPr/>
            </p:nvSpPr>
            <p:spPr>
              <a:xfrm>
                <a:off x="3558604" y="2658859"/>
                <a:ext cx="1582997" cy="338554"/>
              </a:xfrm>
              <a:prstGeom prst="rect">
                <a:avLst/>
              </a:prstGeom>
            </p:spPr>
            <p:txBody>
              <a:bodyPr wrap="none">
                <a:spAutoFit/>
              </a:bodyPr>
              <a:lstStyle/>
              <a:p>
                <a:pPr algn="ctr"/>
                <a:r>
                  <a:rPr lang="en-US" altLang="zh-TW" sz="1600" dirty="0">
                    <a:cs typeface="Arial" panose="020B0604020202020204" pitchFamily="34" charset="0"/>
                  </a:rPr>
                  <a:t>Intel </a:t>
                </a:r>
                <a:r>
                  <a:rPr lang="en-US" altLang="zh-TW" sz="1600" dirty="0" err="1">
                    <a:cs typeface="Arial" panose="020B0604020202020204" pitchFamily="34" charset="0"/>
                  </a:rPr>
                  <a:t>Optane</a:t>
                </a:r>
                <a:r>
                  <a:rPr lang="en-US" altLang="zh-TW" sz="1600" dirty="0">
                    <a:cs typeface="Arial" panose="020B0604020202020204" pitchFamily="34" charset="0"/>
                  </a:rPr>
                  <a:t> SSD</a:t>
                </a:r>
                <a:endParaRPr lang="zh-TW" altLang="en-US" sz="1600" dirty="0">
                  <a:cs typeface="Arial" panose="020B0604020202020204" pitchFamily="34" charset="0"/>
                </a:endParaRPr>
              </a:p>
            </p:txBody>
          </p:sp>
        </p:grpSp>
        <p:grpSp>
          <p:nvGrpSpPr>
            <p:cNvPr id="14" name="Group 13">
              <a:extLst>
                <a:ext uri="{FF2B5EF4-FFF2-40B4-BE49-F238E27FC236}">
                  <a16:creationId xmlns:a16="http://schemas.microsoft.com/office/drawing/2014/main" id="{29C5A6DA-E86B-DC47-A940-9E5425C58C54}"/>
                </a:ext>
              </a:extLst>
            </p:cNvPr>
            <p:cNvGrpSpPr/>
            <p:nvPr/>
          </p:nvGrpSpPr>
          <p:grpSpPr>
            <a:xfrm>
              <a:off x="3646249" y="3503804"/>
              <a:ext cx="2005997" cy="1732635"/>
              <a:chOff x="3501305" y="3535779"/>
              <a:chExt cx="2005997" cy="1732635"/>
            </a:xfrm>
          </p:grpSpPr>
          <p:pic>
            <p:nvPicPr>
              <p:cNvPr id="90" name="Picture 12" descr="迎戰3D XPoint，Samsung SZ985 Z-NAND SSD 即將登場- BenchLife">
                <a:extLst>
                  <a:ext uri="{FF2B5EF4-FFF2-40B4-BE49-F238E27FC236}">
                    <a16:creationId xmlns:a16="http://schemas.microsoft.com/office/drawing/2014/main" id="{0C18ACB3-82AE-984E-B2AA-8F31D29FE7AA}"/>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15400" r="16058"/>
              <a:stretch/>
            </p:blipFill>
            <p:spPr bwMode="auto">
              <a:xfrm>
                <a:off x="3616797" y="3535779"/>
                <a:ext cx="1775012" cy="1456697"/>
              </a:xfrm>
              <a:prstGeom prst="rect">
                <a:avLst/>
              </a:prstGeom>
              <a:noFill/>
              <a:extLst>
                <a:ext uri="{909E8E84-426E-40DD-AFC4-6F175D3DCCD1}">
                  <a14:hiddenFill xmlns:a14="http://schemas.microsoft.com/office/drawing/2010/main">
                    <a:solidFill>
                      <a:srgbClr val="FFFFFF"/>
                    </a:solidFill>
                  </a14:hiddenFill>
                </a:ext>
              </a:extLst>
            </p:spPr>
          </p:pic>
          <p:sp>
            <p:nvSpPr>
              <p:cNvPr id="92" name="矩形 37">
                <a:extLst>
                  <a:ext uri="{FF2B5EF4-FFF2-40B4-BE49-F238E27FC236}">
                    <a16:creationId xmlns:a16="http://schemas.microsoft.com/office/drawing/2014/main" id="{5E0FC524-E2C7-4440-974F-42F3C38C417F}"/>
                  </a:ext>
                </a:extLst>
              </p:cNvPr>
              <p:cNvSpPr/>
              <p:nvPr/>
            </p:nvSpPr>
            <p:spPr>
              <a:xfrm>
                <a:off x="3501305" y="4929860"/>
                <a:ext cx="2005997" cy="338554"/>
              </a:xfrm>
              <a:prstGeom prst="rect">
                <a:avLst/>
              </a:prstGeom>
            </p:spPr>
            <p:txBody>
              <a:bodyPr wrap="none">
                <a:spAutoFit/>
              </a:bodyPr>
              <a:lstStyle/>
              <a:p>
                <a:pPr algn="ctr"/>
                <a:r>
                  <a:rPr lang="en-US" altLang="zh-TW" sz="1600" dirty="0">
                    <a:cs typeface="Arial" panose="020B0604020202020204" pitchFamily="34" charset="0"/>
                  </a:rPr>
                  <a:t>Samsung Z-NAND SSD</a:t>
                </a:r>
                <a:endParaRPr lang="zh-TW" altLang="en-US" sz="1600" dirty="0">
                  <a:cs typeface="Arial" panose="020B0604020202020204" pitchFamily="34" charset="0"/>
                </a:endParaRPr>
              </a:p>
            </p:txBody>
          </p:sp>
        </p:grpSp>
        <p:cxnSp>
          <p:nvCxnSpPr>
            <p:cNvPr id="94" name="直線單箭頭接點 24">
              <a:extLst>
                <a:ext uri="{FF2B5EF4-FFF2-40B4-BE49-F238E27FC236}">
                  <a16:creationId xmlns:a16="http://schemas.microsoft.com/office/drawing/2014/main" id="{157CF3F9-3608-DA40-BEA1-35AAFAB3916F}"/>
                </a:ext>
              </a:extLst>
            </p:cNvPr>
            <p:cNvCxnSpPr>
              <a:cxnSpLocks/>
            </p:cNvCxnSpPr>
            <p:nvPr/>
          </p:nvCxnSpPr>
          <p:spPr>
            <a:xfrm flipV="1">
              <a:off x="3285339" y="6546741"/>
              <a:ext cx="2724662" cy="1"/>
            </a:xfrm>
            <a:prstGeom prst="straightConnector1">
              <a:avLst/>
            </a:prstGeom>
            <a:ln w="38100">
              <a:solidFill>
                <a:srgbClr val="FF0000"/>
              </a:solidFill>
              <a:tailEnd type="none" w="med" len="lg"/>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2DCBECDE-59A9-684B-953E-30092C946A64}"/>
              </a:ext>
            </a:extLst>
          </p:cNvPr>
          <p:cNvGrpSpPr/>
          <p:nvPr/>
        </p:nvGrpSpPr>
        <p:grpSpPr>
          <a:xfrm>
            <a:off x="114302" y="1366380"/>
            <a:ext cx="3300782" cy="5203253"/>
            <a:chOff x="114302" y="1481990"/>
            <a:chExt cx="3300782" cy="5203253"/>
          </a:xfrm>
        </p:grpSpPr>
        <p:sp>
          <p:nvSpPr>
            <p:cNvPr id="99" name="五邊形 4">
              <a:extLst>
                <a:ext uri="{FF2B5EF4-FFF2-40B4-BE49-F238E27FC236}">
                  <a16:creationId xmlns:a16="http://schemas.microsoft.com/office/drawing/2014/main" id="{93A9A024-22FE-E84D-9FF3-2A1F21E4C0E8}"/>
                </a:ext>
              </a:extLst>
            </p:cNvPr>
            <p:cNvSpPr/>
            <p:nvPr/>
          </p:nvSpPr>
          <p:spPr>
            <a:xfrm>
              <a:off x="114302" y="5371617"/>
              <a:ext cx="3300782" cy="1016000"/>
            </a:xfrm>
            <a:prstGeom prst="homePlate">
              <a:avLst/>
            </a:prstGeom>
            <a:solidFill>
              <a:schemeClr val="accent6">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ysClr val="windowText" lastClr="000000"/>
                  </a:solidFill>
                  <a:latin typeface="Calibri" panose="020F0502020204030204" pitchFamily="34" charset="0"/>
                  <a:cs typeface="Calibri" panose="020F0502020204030204" pitchFamily="34" charset="0"/>
                </a:rPr>
                <a:t>High Throughput</a:t>
              </a:r>
            </a:p>
            <a:p>
              <a:pPr algn="ctr"/>
              <a:r>
                <a:rPr lang="en-US" altLang="zh-TW" i="1" dirty="0">
                  <a:solidFill>
                    <a:sysClr val="windowText" lastClr="000000"/>
                  </a:solidFill>
                  <a:latin typeface="Calibri" panose="020F0502020204030204" pitchFamily="34" charset="0"/>
                  <a:cs typeface="Calibri" panose="020F0502020204030204" pitchFamily="34" charset="0"/>
                </a:rPr>
                <a:t>3.98 GB/s</a:t>
              </a:r>
              <a:endParaRPr lang="zh-TW" altLang="en-US" i="1" dirty="0">
                <a:solidFill>
                  <a:sysClr val="windowText" lastClr="000000"/>
                </a:solidFill>
                <a:latin typeface="Calibri" panose="020F0502020204030204" pitchFamily="34" charset="0"/>
                <a:cs typeface="Calibri" panose="020F0502020204030204" pitchFamily="34" charset="0"/>
              </a:endParaRPr>
            </a:p>
          </p:txBody>
        </p:sp>
        <p:cxnSp>
          <p:nvCxnSpPr>
            <p:cNvPr id="107" name="直線單箭頭接點 24">
              <a:extLst>
                <a:ext uri="{FF2B5EF4-FFF2-40B4-BE49-F238E27FC236}">
                  <a16:creationId xmlns:a16="http://schemas.microsoft.com/office/drawing/2014/main" id="{EFDC281A-916C-D645-8D9A-976F6DF84FE9}"/>
                </a:ext>
              </a:extLst>
            </p:cNvPr>
            <p:cNvCxnSpPr>
              <a:cxnSpLocks/>
              <a:stCxn id="109" idx="3"/>
              <a:endCxn id="108" idx="1"/>
            </p:cNvCxnSpPr>
            <p:nvPr/>
          </p:nvCxnSpPr>
          <p:spPr>
            <a:xfrm flipV="1">
              <a:off x="679213" y="6546743"/>
              <a:ext cx="2083751" cy="1"/>
            </a:xfrm>
            <a:prstGeom prst="straightConnector1">
              <a:avLst/>
            </a:prstGeom>
            <a:ln w="38100">
              <a:gradFill>
                <a:gsLst>
                  <a:gs pos="0">
                    <a:schemeClr val="accent1">
                      <a:lumMod val="5000"/>
                      <a:lumOff val="95000"/>
                    </a:schemeClr>
                  </a:gs>
                  <a:gs pos="41000">
                    <a:srgbClr val="FF0000"/>
                  </a:gs>
                </a:gsLst>
                <a:lin ang="0" scaled="0"/>
              </a:gradFill>
              <a:tailEnd type="none" w="med" len="lg"/>
            </a:ln>
          </p:spPr>
          <p:style>
            <a:lnRef idx="1">
              <a:schemeClr val="accent1"/>
            </a:lnRef>
            <a:fillRef idx="0">
              <a:schemeClr val="accent1"/>
            </a:fillRef>
            <a:effectRef idx="0">
              <a:schemeClr val="accent1"/>
            </a:effectRef>
            <a:fontRef idx="minor">
              <a:schemeClr val="tx1"/>
            </a:fontRef>
          </p:style>
        </p:cxnSp>
        <p:sp>
          <p:nvSpPr>
            <p:cNvPr id="108" name="矩形 66">
              <a:extLst>
                <a:ext uri="{FF2B5EF4-FFF2-40B4-BE49-F238E27FC236}">
                  <a16:creationId xmlns:a16="http://schemas.microsoft.com/office/drawing/2014/main" id="{C7A5F887-8F91-3C4A-82FC-6DF0944131CE}"/>
                </a:ext>
              </a:extLst>
            </p:cNvPr>
            <p:cNvSpPr/>
            <p:nvPr/>
          </p:nvSpPr>
          <p:spPr>
            <a:xfrm>
              <a:off x="2762964" y="6408243"/>
              <a:ext cx="522375" cy="276999"/>
            </a:xfrm>
            <a:prstGeom prst="rect">
              <a:avLst/>
            </a:prstGeom>
            <a:noFill/>
          </p:spPr>
          <p:txBody>
            <a:bodyPr wrap="square" lIns="0" tIns="0" rIns="0" bIns="0">
              <a:spAutoFit/>
            </a:bodyPr>
            <a:lstStyle/>
            <a:p>
              <a:r>
                <a:rPr lang="en-US" altLang="zh-TW" b="1" dirty="0">
                  <a:solidFill>
                    <a:srgbClr val="FF0000"/>
                  </a:solidFill>
                  <a:latin typeface="Arial" panose="020B0604020202020204" pitchFamily="34" charset="0"/>
                  <a:cs typeface="Arial" panose="020B0604020202020204" pitchFamily="34" charset="0"/>
                </a:rPr>
                <a:t>2017</a:t>
              </a:r>
              <a:endParaRPr lang="zh-TW" altLang="en-US" dirty="0">
                <a:solidFill>
                  <a:srgbClr val="FF0000"/>
                </a:solidFill>
              </a:endParaRPr>
            </a:p>
          </p:txBody>
        </p:sp>
        <p:sp>
          <p:nvSpPr>
            <p:cNvPr id="109" name="矩形 68">
              <a:extLst>
                <a:ext uri="{FF2B5EF4-FFF2-40B4-BE49-F238E27FC236}">
                  <a16:creationId xmlns:a16="http://schemas.microsoft.com/office/drawing/2014/main" id="{6869E024-2DEC-1D4E-A896-BCBD50D6722D}"/>
                </a:ext>
              </a:extLst>
            </p:cNvPr>
            <p:cNvSpPr/>
            <p:nvPr/>
          </p:nvSpPr>
          <p:spPr>
            <a:xfrm>
              <a:off x="156838" y="6408244"/>
              <a:ext cx="522375" cy="276999"/>
            </a:xfrm>
            <a:prstGeom prst="rect">
              <a:avLst/>
            </a:prstGeom>
            <a:noFill/>
          </p:spPr>
          <p:txBody>
            <a:bodyPr wrap="square" lIns="0" tIns="0" rIns="0" bIns="0">
              <a:spAutoFit/>
            </a:bodyPr>
            <a:lstStyle/>
            <a:p>
              <a:r>
                <a:rPr lang="en-US" altLang="zh-TW" b="1" dirty="0">
                  <a:solidFill>
                    <a:srgbClr val="FF0000"/>
                  </a:solidFill>
                  <a:latin typeface="Arial" panose="020B0604020202020204" pitchFamily="34" charset="0"/>
                  <a:cs typeface="Arial" panose="020B0604020202020204" pitchFamily="34" charset="0"/>
                </a:rPr>
                <a:t>2011</a:t>
              </a:r>
              <a:endParaRPr lang="zh-TW" altLang="en-US" dirty="0">
                <a:solidFill>
                  <a:srgbClr val="FF0000"/>
                </a:solidFill>
              </a:endParaRPr>
            </a:p>
          </p:txBody>
        </p:sp>
        <p:grpSp>
          <p:nvGrpSpPr>
            <p:cNvPr id="7" name="Group 6">
              <a:extLst>
                <a:ext uri="{FF2B5EF4-FFF2-40B4-BE49-F238E27FC236}">
                  <a16:creationId xmlns:a16="http://schemas.microsoft.com/office/drawing/2014/main" id="{0338C395-8BED-B044-B777-2F5FC2C3A8DB}"/>
                </a:ext>
              </a:extLst>
            </p:cNvPr>
            <p:cNvGrpSpPr/>
            <p:nvPr/>
          </p:nvGrpSpPr>
          <p:grpSpPr>
            <a:xfrm>
              <a:off x="1039174" y="1481990"/>
              <a:ext cx="1451038" cy="689289"/>
              <a:chOff x="768514" y="1632732"/>
              <a:chExt cx="1451038" cy="689289"/>
            </a:xfrm>
          </p:grpSpPr>
          <p:pic>
            <p:nvPicPr>
              <p:cNvPr id="100" name="Picture 6" descr="https://encrypted-tbn0.gstatic.com/images?q=tbn:ANd9GcTBYUTiCk30QdjX4-TLl3uV02X3LIh9iW4bfHrF4h4TRy0Uac_wxu7YiKI5NklnbtNk6_53HAA&amp;usqp=CAc">
                <a:extLst>
                  <a:ext uri="{FF2B5EF4-FFF2-40B4-BE49-F238E27FC236}">
                    <a16:creationId xmlns:a16="http://schemas.microsoft.com/office/drawing/2014/main" id="{2B2BEA7E-3BA7-AE47-BCBD-42932F7C8371}"/>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33552" b="26785"/>
              <a:stretch/>
            </p:blipFill>
            <p:spPr bwMode="auto">
              <a:xfrm>
                <a:off x="880625" y="1632732"/>
                <a:ext cx="1226816" cy="486589"/>
              </a:xfrm>
              <a:prstGeom prst="rect">
                <a:avLst/>
              </a:prstGeom>
              <a:noFill/>
              <a:extLst>
                <a:ext uri="{909E8E84-426E-40DD-AFC4-6F175D3DCCD1}">
                  <a14:hiddenFill xmlns:a14="http://schemas.microsoft.com/office/drawing/2010/main">
                    <a:solidFill>
                      <a:srgbClr val="FFFFFF"/>
                    </a:solidFill>
                  </a14:hiddenFill>
                </a:ext>
              </a:extLst>
            </p:spPr>
          </p:pic>
          <p:sp>
            <p:nvSpPr>
              <p:cNvPr id="98" name="矩形 14">
                <a:extLst>
                  <a:ext uri="{FF2B5EF4-FFF2-40B4-BE49-F238E27FC236}">
                    <a16:creationId xmlns:a16="http://schemas.microsoft.com/office/drawing/2014/main" id="{D3309F5E-4F33-AD4A-8846-52791075B512}"/>
                  </a:ext>
                </a:extLst>
              </p:cNvPr>
              <p:cNvSpPr/>
              <p:nvPr/>
            </p:nvSpPr>
            <p:spPr>
              <a:xfrm>
                <a:off x="768514" y="1983467"/>
                <a:ext cx="1451038" cy="338554"/>
              </a:xfrm>
              <a:prstGeom prst="rect">
                <a:avLst/>
              </a:prstGeom>
            </p:spPr>
            <p:txBody>
              <a:bodyPr wrap="none">
                <a:spAutoFit/>
              </a:bodyPr>
              <a:lstStyle/>
              <a:p>
                <a:pPr algn="ctr"/>
                <a:r>
                  <a:rPr lang="en-US" altLang="zh-TW" sz="1600" dirty="0" err="1">
                    <a:cs typeface="Arial" panose="020B0604020202020204" pitchFamily="34" charset="0"/>
                  </a:rPr>
                  <a:t>NVMe</a:t>
                </a:r>
                <a:r>
                  <a:rPr lang="en-US" altLang="zh-TW" sz="1600" dirty="0">
                    <a:cs typeface="Arial" panose="020B0604020202020204" pitchFamily="34" charset="0"/>
                  </a:rPr>
                  <a:t> M.2 SSD</a:t>
                </a:r>
                <a:endParaRPr lang="zh-TW" altLang="en-US" sz="1600" dirty="0">
                  <a:cs typeface="Arial" panose="020B0604020202020204" pitchFamily="34" charset="0"/>
                </a:endParaRPr>
              </a:p>
            </p:txBody>
          </p:sp>
        </p:grpSp>
        <p:grpSp>
          <p:nvGrpSpPr>
            <p:cNvPr id="8" name="Group 7">
              <a:extLst>
                <a:ext uri="{FF2B5EF4-FFF2-40B4-BE49-F238E27FC236}">
                  <a16:creationId xmlns:a16="http://schemas.microsoft.com/office/drawing/2014/main" id="{851C6B54-174B-D644-B0D5-8F5903B824E9}"/>
                </a:ext>
              </a:extLst>
            </p:cNvPr>
            <p:cNvGrpSpPr/>
            <p:nvPr/>
          </p:nvGrpSpPr>
          <p:grpSpPr>
            <a:xfrm>
              <a:off x="1062610" y="2395098"/>
              <a:ext cx="1404167" cy="1196594"/>
              <a:chOff x="791950" y="2548714"/>
              <a:chExt cx="1404167" cy="1196594"/>
            </a:xfrm>
          </p:grpSpPr>
          <p:pic>
            <p:nvPicPr>
              <p:cNvPr id="102" name="圖片 16">
                <a:extLst>
                  <a:ext uri="{FF2B5EF4-FFF2-40B4-BE49-F238E27FC236}">
                    <a16:creationId xmlns:a16="http://schemas.microsoft.com/office/drawing/2014/main" id="{EAC9227A-E2DA-2042-B958-BA68334D0174}"/>
                  </a:ext>
                </a:extLst>
              </p:cNvPr>
              <p:cNvPicPr>
                <a:picLocks noChangeAspect="1"/>
              </p:cNvPicPr>
              <p:nvPr/>
            </p:nvPicPr>
            <p:blipFill>
              <a:blip r:embed="rId12"/>
              <a:stretch>
                <a:fillRect/>
              </a:stretch>
            </p:blipFill>
            <p:spPr>
              <a:xfrm>
                <a:off x="859887" y="2548714"/>
                <a:ext cx="1268295" cy="886871"/>
              </a:xfrm>
              <a:prstGeom prst="rect">
                <a:avLst/>
              </a:prstGeom>
            </p:spPr>
          </p:pic>
          <p:sp>
            <p:nvSpPr>
              <p:cNvPr id="103" name="矩形 21">
                <a:extLst>
                  <a:ext uri="{FF2B5EF4-FFF2-40B4-BE49-F238E27FC236}">
                    <a16:creationId xmlns:a16="http://schemas.microsoft.com/office/drawing/2014/main" id="{621C947B-D45F-734C-8D6D-AC314672D152}"/>
                  </a:ext>
                </a:extLst>
              </p:cNvPr>
              <p:cNvSpPr/>
              <p:nvPr/>
            </p:nvSpPr>
            <p:spPr>
              <a:xfrm>
                <a:off x="791950" y="3406754"/>
                <a:ext cx="1404167" cy="338554"/>
              </a:xfrm>
              <a:prstGeom prst="rect">
                <a:avLst/>
              </a:prstGeom>
            </p:spPr>
            <p:txBody>
              <a:bodyPr wrap="none">
                <a:spAutoFit/>
              </a:bodyPr>
              <a:lstStyle/>
              <a:p>
                <a:pPr algn="ctr"/>
                <a:r>
                  <a:rPr lang="en-US" altLang="zh-TW" sz="1600" dirty="0" err="1">
                    <a:cs typeface="Arial" panose="020B0604020202020204" pitchFamily="34" charset="0"/>
                  </a:rPr>
                  <a:t>NVMe</a:t>
                </a:r>
                <a:r>
                  <a:rPr lang="en-US" altLang="zh-TW" sz="1600" dirty="0">
                    <a:cs typeface="Arial" panose="020B0604020202020204" pitchFamily="34" charset="0"/>
                  </a:rPr>
                  <a:t> U.2 SSD</a:t>
                </a:r>
                <a:endParaRPr lang="zh-TW" altLang="en-US" sz="1600" dirty="0">
                  <a:cs typeface="Arial" panose="020B0604020202020204" pitchFamily="34" charset="0"/>
                </a:endParaRPr>
              </a:p>
            </p:txBody>
          </p:sp>
        </p:grpSp>
        <p:grpSp>
          <p:nvGrpSpPr>
            <p:cNvPr id="25" name="Group 24">
              <a:extLst>
                <a:ext uri="{FF2B5EF4-FFF2-40B4-BE49-F238E27FC236}">
                  <a16:creationId xmlns:a16="http://schemas.microsoft.com/office/drawing/2014/main" id="{941E573C-EAFE-1940-A230-0B1E80BEEEE3}"/>
                </a:ext>
              </a:extLst>
            </p:cNvPr>
            <p:cNvGrpSpPr/>
            <p:nvPr/>
          </p:nvGrpSpPr>
          <p:grpSpPr>
            <a:xfrm>
              <a:off x="449304" y="3815511"/>
              <a:ext cx="2630779" cy="1420928"/>
              <a:chOff x="178644" y="3794325"/>
              <a:chExt cx="2630779" cy="1420928"/>
            </a:xfrm>
          </p:grpSpPr>
          <p:pic>
            <p:nvPicPr>
              <p:cNvPr id="110" name="圖片 10">
                <a:extLst>
                  <a:ext uri="{FF2B5EF4-FFF2-40B4-BE49-F238E27FC236}">
                    <a16:creationId xmlns:a16="http://schemas.microsoft.com/office/drawing/2014/main" id="{1105F383-AD7F-E345-84ED-5BC15BE6F47A}"/>
                  </a:ext>
                </a:extLst>
              </p:cNvPr>
              <p:cNvPicPr>
                <a:picLocks noChangeAspect="1"/>
              </p:cNvPicPr>
              <p:nvPr/>
            </p:nvPicPr>
            <p:blipFill>
              <a:blip r:embed="rId13"/>
              <a:stretch>
                <a:fillRect/>
              </a:stretch>
            </p:blipFill>
            <p:spPr>
              <a:xfrm>
                <a:off x="178644" y="3794325"/>
                <a:ext cx="2630778" cy="1268964"/>
              </a:xfrm>
              <a:prstGeom prst="rect">
                <a:avLst/>
              </a:prstGeom>
            </p:spPr>
          </p:pic>
          <p:sp>
            <p:nvSpPr>
              <p:cNvPr id="104" name="矩形 17">
                <a:extLst>
                  <a:ext uri="{FF2B5EF4-FFF2-40B4-BE49-F238E27FC236}">
                    <a16:creationId xmlns:a16="http://schemas.microsoft.com/office/drawing/2014/main" id="{B64177B0-1090-CA46-BBEB-1E20C02D7A54}"/>
                  </a:ext>
                </a:extLst>
              </p:cNvPr>
              <p:cNvSpPr/>
              <p:nvPr/>
            </p:nvSpPr>
            <p:spPr>
              <a:xfrm>
                <a:off x="749279" y="4876699"/>
                <a:ext cx="1489510" cy="338554"/>
              </a:xfrm>
              <a:prstGeom prst="rect">
                <a:avLst/>
              </a:prstGeom>
            </p:spPr>
            <p:txBody>
              <a:bodyPr wrap="none">
                <a:spAutoFit/>
              </a:bodyPr>
              <a:lstStyle/>
              <a:p>
                <a:pPr algn="ctr"/>
                <a:r>
                  <a:rPr lang="en-US" altLang="zh-TW" sz="1600" dirty="0" err="1">
                    <a:cs typeface="Arial" panose="020B0604020202020204" pitchFamily="34" charset="0"/>
                  </a:rPr>
                  <a:t>NVMe</a:t>
                </a:r>
                <a:r>
                  <a:rPr lang="en-US" altLang="zh-TW" sz="1600" dirty="0">
                    <a:cs typeface="Arial" panose="020B0604020202020204" pitchFamily="34" charset="0"/>
                  </a:rPr>
                  <a:t> </a:t>
                </a:r>
                <a:r>
                  <a:rPr lang="en-US" altLang="zh-TW" sz="1600" dirty="0" err="1">
                    <a:cs typeface="Arial" panose="020B0604020202020204" pitchFamily="34" charset="0"/>
                  </a:rPr>
                  <a:t>PCIe</a:t>
                </a:r>
                <a:r>
                  <a:rPr lang="en-US" altLang="zh-TW" sz="1600" dirty="0">
                    <a:cs typeface="Arial" panose="020B0604020202020204" pitchFamily="34" charset="0"/>
                  </a:rPr>
                  <a:t> SSD</a:t>
                </a:r>
                <a:endParaRPr lang="zh-TW" altLang="en-US" sz="1600" dirty="0">
                  <a:cs typeface="Arial" panose="020B0604020202020204" pitchFamily="34" charset="0"/>
                </a:endParaRPr>
              </a:p>
            </p:txBody>
          </p:sp>
          <p:sp>
            <p:nvSpPr>
              <p:cNvPr id="111" name="矩形 11">
                <a:extLst>
                  <a:ext uri="{FF2B5EF4-FFF2-40B4-BE49-F238E27FC236}">
                    <a16:creationId xmlns:a16="http://schemas.microsoft.com/office/drawing/2014/main" id="{D2FB619E-62DF-C641-853D-0722DF6DB8AE}"/>
                  </a:ext>
                </a:extLst>
              </p:cNvPr>
              <p:cNvSpPr/>
              <p:nvPr/>
            </p:nvSpPr>
            <p:spPr>
              <a:xfrm>
                <a:off x="2460929" y="4876698"/>
                <a:ext cx="348494" cy="2072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Tree>
    <p:extLst>
      <p:ext uri="{BB962C8B-B14F-4D97-AF65-F5344CB8AC3E}">
        <p14:creationId xmlns:p14="http://schemas.microsoft.com/office/powerpoint/2010/main" val="2290336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left)">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left)">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463B6D-0411-4A03-9E94-D221BD21803E}"/>
              </a:ext>
            </a:extLst>
          </p:cNvPr>
          <p:cNvSpPr>
            <a:spLocks noGrp="1"/>
          </p:cNvSpPr>
          <p:nvPr>
            <p:ph type="title"/>
          </p:nvPr>
        </p:nvSpPr>
        <p:spPr/>
        <p:txBody>
          <a:bodyPr/>
          <a:lstStyle/>
          <a:p>
            <a:r>
              <a:rPr kumimoji="1" lang="en-US" altLang="zh-TW" dirty="0"/>
              <a:t>System</a:t>
            </a:r>
            <a:r>
              <a:rPr kumimoji="1" lang="zh-TW" altLang="en-US" dirty="0"/>
              <a:t> </a:t>
            </a:r>
            <a:r>
              <a:rPr kumimoji="1" lang="en-US" altLang="zh-TW" dirty="0"/>
              <a:t>Trend – Rethinking OS</a:t>
            </a:r>
            <a:endParaRPr kumimoji="1" lang="zh-TW" altLang="en-US" dirty="0"/>
          </a:p>
        </p:txBody>
      </p:sp>
      <p:sp>
        <p:nvSpPr>
          <p:cNvPr id="3" name="內容版面配置區 2">
            <a:extLst>
              <a:ext uri="{FF2B5EF4-FFF2-40B4-BE49-F238E27FC236}">
                <a16:creationId xmlns:a16="http://schemas.microsoft.com/office/drawing/2014/main" id="{B53103B8-FD48-D2E5-A614-6D15E2E9538D}"/>
              </a:ext>
            </a:extLst>
          </p:cNvPr>
          <p:cNvSpPr>
            <a:spLocks noGrp="1"/>
          </p:cNvSpPr>
          <p:nvPr>
            <p:ph idx="1"/>
          </p:nvPr>
        </p:nvSpPr>
        <p:spPr/>
        <p:txBody>
          <a:bodyPr/>
          <a:lstStyle/>
          <a:p>
            <a:r>
              <a:rPr kumimoji="1" lang="en-US" altLang="zh-TW" dirty="0"/>
              <a:t>The device trend </a:t>
            </a:r>
            <a:r>
              <a:rPr kumimoji="1" lang="en-US" altLang="zh-TW" dirty="0">
                <a:solidFill>
                  <a:srgbClr val="C00000"/>
                </a:solidFill>
              </a:rPr>
              <a:t>blurs the boundary </a:t>
            </a:r>
            <a:r>
              <a:rPr kumimoji="1" lang="en-US" altLang="zh-TW" dirty="0"/>
              <a:t>between memory and storage.</a:t>
            </a:r>
          </a:p>
          <a:p>
            <a:r>
              <a:rPr lang="en-US" altLang="zh-TW" dirty="0"/>
              <a:t>Storage</a:t>
            </a:r>
            <a:r>
              <a:rPr lang="zh-TW" altLang="en-US" dirty="0"/>
              <a:t> </a:t>
            </a:r>
            <a:r>
              <a:rPr lang="en-US" altLang="zh-TW" dirty="0"/>
              <a:t>response</a:t>
            </a:r>
            <a:r>
              <a:rPr lang="zh-TW" altLang="en-US" dirty="0"/>
              <a:t> </a:t>
            </a:r>
            <a:r>
              <a:rPr lang="en-US" altLang="zh-TW" dirty="0"/>
              <a:t>time</a:t>
            </a:r>
            <a:r>
              <a:rPr lang="zh-TW" altLang="en-US" dirty="0"/>
              <a:t> </a:t>
            </a:r>
            <a:r>
              <a:rPr lang="en-US" altLang="zh-TW" dirty="0"/>
              <a:t>catches</a:t>
            </a:r>
            <a:r>
              <a:rPr lang="zh-TW" altLang="en-US" dirty="0"/>
              <a:t> </a:t>
            </a:r>
            <a:r>
              <a:rPr lang="en-US" altLang="zh-TW" dirty="0"/>
              <a:t>up</a:t>
            </a:r>
            <a:r>
              <a:rPr lang="zh-TW" altLang="en-US" dirty="0"/>
              <a:t> </a:t>
            </a:r>
            <a:r>
              <a:rPr lang="en-US" altLang="zh-TW" dirty="0"/>
              <a:t>with</a:t>
            </a:r>
            <a:r>
              <a:rPr lang="zh-TW" altLang="en-US" dirty="0"/>
              <a:t> </a:t>
            </a:r>
            <a:r>
              <a:rPr lang="en-US" altLang="zh-TW" dirty="0">
                <a:solidFill>
                  <a:srgbClr val="C00000"/>
                </a:solidFill>
              </a:rPr>
              <a:t>context</a:t>
            </a:r>
            <a:r>
              <a:rPr lang="zh-TW" altLang="en-US" dirty="0">
                <a:solidFill>
                  <a:srgbClr val="C00000"/>
                </a:solidFill>
              </a:rPr>
              <a:t> </a:t>
            </a:r>
            <a:r>
              <a:rPr lang="en-US" altLang="zh-TW" dirty="0">
                <a:solidFill>
                  <a:srgbClr val="C00000"/>
                </a:solidFill>
              </a:rPr>
              <a:t>switch</a:t>
            </a:r>
            <a:r>
              <a:rPr lang="zh-TW" altLang="en-US" dirty="0">
                <a:solidFill>
                  <a:srgbClr val="C00000"/>
                </a:solidFill>
              </a:rPr>
              <a:t> </a:t>
            </a:r>
            <a:r>
              <a:rPr lang="en-US" altLang="zh-TW" dirty="0">
                <a:solidFill>
                  <a:srgbClr val="C00000"/>
                </a:solidFill>
              </a:rPr>
              <a:t>overhead (1~10 us)</a:t>
            </a:r>
            <a:r>
              <a:rPr lang="en-US" altLang="zh-TW" dirty="0"/>
              <a:t>.</a:t>
            </a:r>
          </a:p>
          <a:p>
            <a:r>
              <a:rPr lang="en-US" altLang="zh-TW" dirty="0"/>
              <a:t>The</a:t>
            </a:r>
            <a:r>
              <a:rPr lang="zh-TW" altLang="en-US" dirty="0"/>
              <a:t> </a:t>
            </a:r>
            <a:r>
              <a:rPr lang="en-US" altLang="zh-TW" dirty="0"/>
              <a:t>overhead</a:t>
            </a:r>
            <a:r>
              <a:rPr lang="zh-TW" altLang="en-US" dirty="0"/>
              <a:t> </a:t>
            </a:r>
            <a:r>
              <a:rPr lang="en-US" altLang="zh-TW" dirty="0"/>
              <a:t>of</a:t>
            </a:r>
            <a:r>
              <a:rPr lang="zh-TW" altLang="en-US" dirty="0"/>
              <a:t> </a:t>
            </a:r>
            <a:r>
              <a:rPr lang="en-US" altLang="zh-TW" dirty="0"/>
              <a:t>running</a:t>
            </a:r>
            <a:r>
              <a:rPr lang="zh-TW" altLang="en-US" dirty="0"/>
              <a:t> </a:t>
            </a:r>
            <a:r>
              <a:rPr lang="en-US" altLang="zh-TW" dirty="0">
                <a:solidFill>
                  <a:srgbClr val="C00000"/>
                </a:solidFill>
              </a:rPr>
              <a:t>file</a:t>
            </a:r>
            <a:r>
              <a:rPr lang="zh-TW" altLang="en-US" dirty="0">
                <a:solidFill>
                  <a:srgbClr val="C00000"/>
                </a:solidFill>
              </a:rPr>
              <a:t> </a:t>
            </a:r>
            <a:r>
              <a:rPr lang="en-US" altLang="zh-TW" dirty="0">
                <a:solidFill>
                  <a:srgbClr val="C00000"/>
                </a:solidFill>
              </a:rPr>
              <a:t>system</a:t>
            </a:r>
            <a:r>
              <a:rPr lang="zh-TW" altLang="en-US" dirty="0"/>
              <a:t> </a:t>
            </a:r>
            <a:r>
              <a:rPr lang="en-US" altLang="zh-TW" dirty="0"/>
              <a:t>becomes</a:t>
            </a:r>
            <a:r>
              <a:rPr lang="zh-TW" altLang="en-US" dirty="0"/>
              <a:t> </a:t>
            </a:r>
            <a:r>
              <a:rPr lang="en-US" altLang="zh-TW" dirty="0"/>
              <a:t>critical</a:t>
            </a:r>
            <a:r>
              <a:rPr lang="zh-TW" altLang="en-US" dirty="0"/>
              <a:t> </a:t>
            </a:r>
            <a:r>
              <a:rPr lang="en-US" altLang="zh-TW" dirty="0"/>
              <a:t>(e.g.,</a:t>
            </a:r>
            <a:r>
              <a:rPr lang="zh-TW" altLang="en-US" dirty="0"/>
              <a:t> </a:t>
            </a:r>
            <a:r>
              <a:rPr lang="en-US" altLang="zh-TW" dirty="0"/>
              <a:t>page</a:t>
            </a:r>
            <a:r>
              <a:rPr lang="zh-TW" altLang="en-US" dirty="0"/>
              <a:t> </a:t>
            </a:r>
            <a:r>
              <a:rPr lang="en-US" altLang="zh-TW" dirty="0"/>
              <a:t>cache).</a:t>
            </a:r>
          </a:p>
          <a:p>
            <a:r>
              <a:rPr lang="en-US" altLang="zh-TW" dirty="0"/>
              <a:t>Huge</a:t>
            </a:r>
            <a:r>
              <a:rPr lang="zh-TW" altLang="en-US" dirty="0"/>
              <a:t> </a:t>
            </a:r>
            <a:r>
              <a:rPr lang="en-US" altLang="zh-TW" dirty="0"/>
              <a:t>memory</a:t>
            </a:r>
            <a:r>
              <a:rPr lang="zh-TW" altLang="en-US" dirty="0"/>
              <a:t> </a:t>
            </a:r>
            <a:r>
              <a:rPr lang="en-US" altLang="zh-TW" dirty="0"/>
              <a:t>demands</a:t>
            </a:r>
            <a:r>
              <a:rPr lang="zh-TW" altLang="en-US" dirty="0"/>
              <a:t> </a:t>
            </a:r>
            <a:r>
              <a:rPr lang="en-US" altLang="zh-TW" dirty="0"/>
              <a:t>increases</a:t>
            </a:r>
            <a:r>
              <a:rPr lang="zh-TW" altLang="en-US" dirty="0"/>
              <a:t> </a:t>
            </a:r>
            <a:r>
              <a:rPr lang="en-US" altLang="zh-TW" dirty="0"/>
              <a:t>deployment</a:t>
            </a:r>
            <a:r>
              <a:rPr lang="zh-TW" altLang="en-US" dirty="0"/>
              <a:t> </a:t>
            </a:r>
            <a:r>
              <a:rPr lang="en-US" altLang="zh-TW" dirty="0"/>
              <a:t>cost. (Right page size?)</a:t>
            </a:r>
          </a:p>
        </p:txBody>
      </p:sp>
      <p:sp>
        <p:nvSpPr>
          <p:cNvPr id="4" name="投影片編號版面配置區 3">
            <a:extLst>
              <a:ext uri="{FF2B5EF4-FFF2-40B4-BE49-F238E27FC236}">
                <a16:creationId xmlns:a16="http://schemas.microsoft.com/office/drawing/2014/main" id="{AED03744-4FCF-BF17-563F-85CF423ADEF2}"/>
              </a:ext>
            </a:extLst>
          </p:cNvPr>
          <p:cNvSpPr>
            <a:spLocks noGrp="1"/>
          </p:cNvSpPr>
          <p:nvPr>
            <p:ph type="sldNum" sz="quarter" idx="4"/>
          </p:nvPr>
        </p:nvSpPr>
        <p:spPr/>
        <p:txBody>
          <a:bodyPr/>
          <a:lstStyle/>
          <a:p>
            <a:fld id="{E24E6636-6BA5-4AAC-8485-BE8D914D288B}" type="slidenum">
              <a:rPr lang="zh-TW" altLang="en-US" smtClean="0"/>
              <a:pPr/>
              <a:t>15</a:t>
            </a:fld>
            <a:endParaRPr lang="zh-TW" altLang="en-US" dirty="0"/>
          </a:p>
        </p:txBody>
      </p:sp>
      <p:pic>
        <p:nvPicPr>
          <p:cNvPr id="5" name="圖片 4">
            <a:extLst>
              <a:ext uri="{FF2B5EF4-FFF2-40B4-BE49-F238E27FC236}">
                <a16:creationId xmlns:a16="http://schemas.microsoft.com/office/drawing/2014/main" id="{A43595AA-D5B2-F36A-315D-A44594886F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6103" y="3463881"/>
            <a:ext cx="7646928" cy="3127284"/>
          </a:xfrm>
          <a:prstGeom prst="rect">
            <a:avLst/>
          </a:prstGeom>
        </p:spPr>
      </p:pic>
      <p:sp>
        <p:nvSpPr>
          <p:cNvPr id="6" name="矩形 5">
            <a:extLst>
              <a:ext uri="{FF2B5EF4-FFF2-40B4-BE49-F238E27FC236}">
                <a16:creationId xmlns:a16="http://schemas.microsoft.com/office/drawing/2014/main" id="{D2523426-30B7-1B84-9A61-C4D84345C3FE}"/>
              </a:ext>
            </a:extLst>
          </p:cNvPr>
          <p:cNvSpPr/>
          <p:nvPr/>
        </p:nvSpPr>
        <p:spPr>
          <a:xfrm>
            <a:off x="8623139" y="4035389"/>
            <a:ext cx="3300633" cy="2109551"/>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 name="三角形 6">
            <a:extLst>
              <a:ext uri="{FF2B5EF4-FFF2-40B4-BE49-F238E27FC236}">
                <a16:creationId xmlns:a16="http://schemas.microsoft.com/office/drawing/2014/main" id="{80A3E6CF-C2FA-B450-02E1-11C081EE2926}"/>
              </a:ext>
            </a:extLst>
          </p:cNvPr>
          <p:cNvSpPr/>
          <p:nvPr/>
        </p:nvSpPr>
        <p:spPr>
          <a:xfrm>
            <a:off x="78491" y="3308811"/>
            <a:ext cx="4099298" cy="3251200"/>
          </a:xfrm>
          <a:prstGeom prst="triangle">
            <a:avLst/>
          </a:prstGeom>
          <a:solidFill>
            <a:srgbClr val="348B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5" name="文字方塊 14">
            <a:extLst>
              <a:ext uri="{FF2B5EF4-FFF2-40B4-BE49-F238E27FC236}">
                <a16:creationId xmlns:a16="http://schemas.microsoft.com/office/drawing/2014/main" id="{0024A675-AF86-B6FE-5F1C-214DBB61AF4D}"/>
              </a:ext>
            </a:extLst>
          </p:cNvPr>
          <p:cNvSpPr txBox="1"/>
          <p:nvPr/>
        </p:nvSpPr>
        <p:spPr>
          <a:xfrm>
            <a:off x="1615034" y="6006390"/>
            <a:ext cx="1099275" cy="584775"/>
          </a:xfrm>
          <a:prstGeom prst="rect">
            <a:avLst/>
          </a:prstGeom>
          <a:noFill/>
        </p:spPr>
        <p:txBody>
          <a:bodyPr wrap="none" rtlCol="0">
            <a:spAutoFit/>
          </a:bodyPr>
          <a:lstStyle/>
          <a:p>
            <a:pPr algn="ctr"/>
            <a:r>
              <a:rPr kumimoji="1" lang="en-US" altLang="zh-TW" sz="1600" dirty="0"/>
              <a:t>Storage</a:t>
            </a:r>
            <a:br>
              <a:rPr kumimoji="1" lang="en-US" altLang="zh-TW" sz="1600" dirty="0"/>
            </a:br>
            <a:r>
              <a:rPr kumimoji="1" lang="en-US" altLang="zh-TW" sz="1600" dirty="0"/>
              <a:t>(HDD, SSD)</a:t>
            </a:r>
            <a:endParaRPr kumimoji="1" lang="zh-TW" altLang="en-US" sz="1600" dirty="0"/>
          </a:p>
        </p:txBody>
      </p:sp>
      <p:sp>
        <p:nvSpPr>
          <p:cNvPr id="8" name="三角形 22">
            <a:extLst>
              <a:ext uri="{FF2B5EF4-FFF2-40B4-BE49-F238E27FC236}">
                <a16:creationId xmlns:a16="http://schemas.microsoft.com/office/drawing/2014/main" id="{7D4CCA6C-E093-465B-EB3E-293C62EA80C8}"/>
              </a:ext>
            </a:extLst>
          </p:cNvPr>
          <p:cNvSpPr/>
          <p:nvPr/>
        </p:nvSpPr>
        <p:spPr>
          <a:xfrm>
            <a:off x="398512" y="3308924"/>
            <a:ext cx="3442751" cy="2741604"/>
          </a:xfrm>
          <a:custGeom>
            <a:avLst/>
            <a:gdLst>
              <a:gd name="connsiteX0" fmla="*/ 0 w 2819400"/>
              <a:gd name="connsiteY0" fmla="*/ 1063625 h 1063625"/>
              <a:gd name="connsiteX1" fmla="*/ 1409700 w 2819400"/>
              <a:gd name="connsiteY1" fmla="*/ 0 h 1063625"/>
              <a:gd name="connsiteX2" fmla="*/ 2819400 w 2819400"/>
              <a:gd name="connsiteY2" fmla="*/ 1063625 h 1063625"/>
              <a:gd name="connsiteX3" fmla="*/ 0 w 2819400"/>
              <a:gd name="connsiteY3" fmla="*/ 1063625 h 1063625"/>
              <a:gd name="connsiteX0" fmla="*/ 0 w 2105346"/>
              <a:gd name="connsiteY0" fmla="*/ 1079036 h 1079036"/>
              <a:gd name="connsiteX1" fmla="*/ 695646 w 2105346"/>
              <a:gd name="connsiteY1" fmla="*/ 0 h 1079036"/>
              <a:gd name="connsiteX2" fmla="*/ 2105346 w 2105346"/>
              <a:gd name="connsiteY2" fmla="*/ 1063625 h 1079036"/>
              <a:gd name="connsiteX3" fmla="*/ 0 w 2105346"/>
              <a:gd name="connsiteY3" fmla="*/ 1079036 h 1079036"/>
              <a:gd name="connsiteX0" fmla="*/ 0 w 1411840"/>
              <a:gd name="connsiteY0" fmla="*/ 1079036 h 1079036"/>
              <a:gd name="connsiteX1" fmla="*/ 695646 w 1411840"/>
              <a:gd name="connsiteY1" fmla="*/ 0 h 1079036"/>
              <a:gd name="connsiteX2" fmla="*/ 1411840 w 1411840"/>
              <a:gd name="connsiteY2" fmla="*/ 1073899 h 1079036"/>
              <a:gd name="connsiteX3" fmla="*/ 0 w 1411840"/>
              <a:gd name="connsiteY3" fmla="*/ 1079036 h 1079036"/>
              <a:gd name="connsiteX0" fmla="*/ 0 w 1401566"/>
              <a:gd name="connsiteY0" fmla="*/ 1079036 h 1079036"/>
              <a:gd name="connsiteX1" fmla="*/ 695646 w 1401566"/>
              <a:gd name="connsiteY1" fmla="*/ 0 h 1079036"/>
              <a:gd name="connsiteX2" fmla="*/ 1401566 w 1401566"/>
              <a:gd name="connsiteY2" fmla="*/ 1073899 h 1079036"/>
              <a:gd name="connsiteX3" fmla="*/ 0 w 1401566"/>
              <a:gd name="connsiteY3" fmla="*/ 1079036 h 1079036"/>
              <a:gd name="connsiteX0" fmla="*/ 0 w 1807395"/>
              <a:gd name="connsiteY0" fmla="*/ 1088877 h 1088877"/>
              <a:gd name="connsiteX1" fmla="*/ 1101475 w 1807395"/>
              <a:gd name="connsiteY1" fmla="*/ 0 h 1088877"/>
              <a:gd name="connsiteX2" fmla="*/ 1807395 w 1807395"/>
              <a:gd name="connsiteY2" fmla="*/ 1073899 h 1088877"/>
              <a:gd name="connsiteX3" fmla="*/ 0 w 1807395"/>
              <a:gd name="connsiteY3" fmla="*/ 1088877 h 1088877"/>
              <a:gd name="connsiteX0" fmla="*/ 0 w 2166991"/>
              <a:gd name="connsiteY0" fmla="*/ 1088877 h 1088877"/>
              <a:gd name="connsiteX1" fmla="*/ 1101475 w 2166991"/>
              <a:gd name="connsiteY1" fmla="*/ 0 h 1088877"/>
              <a:gd name="connsiteX2" fmla="*/ 2166991 w 2166991"/>
              <a:gd name="connsiteY2" fmla="*/ 1057497 h 1088877"/>
              <a:gd name="connsiteX3" fmla="*/ 0 w 2166991"/>
              <a:gd name="connsiteY3" fmla="*/ 1088877 h 1088877"/>
              <a:gd name="connsiteX0" fmla="*/ 0 w 2081266"/>
              <a:gd name="connsiteY0" fmla="*/ 1088877 h 1088877"/>
              <a:gd name="connsiteX1" fmla="*/ 1101475 w 2081266"/>
              <a:gd name="connsiteY1" fmla="*/ 0 h 1088877"/>
              <a:gd name="connsiteX2" fmla="*/ 2081266 w 2081266"/>
              <a:gd name="connsiteY2" fmla="*/ 970313 h 1088877"/>
              <a:gd name="connsiteX3" fmla="*/ 0 w 2081266"/>
              <a:gd name="connsiteY3" fmla="*/ 1088877 h 1088877"/>
              <a:gd name="connsiteX0" fmla="*/ 0 w 1960616"/>
              <a:gd name="connsiteY0" fmla="*/ 981419 h 981419"/>
              <a:gd name="connsiteX1" fmla="*/ 980825 w 1960616"/>
              <a:gd name="connsiteY1" fmla="*/ 0 h 981419"/>
              <a:gd name="connsiteX2" fmla="*/ 1960616 w 1960616"/>
              <a:gd name="connsiteY2" fmla="*/ 970313 h 981419"/>
              <a:gd name="connsiteX3" fmla="*/ 0 w 1960616"/>
              <a:gd name="connsiteY3" fmla="*/ 981419 h 981419"/>
              <a:gd name="connsiteX0" fmla="*/ 0 w 2043166"/>
              <a:gd name="connsiteY0" fmla="*/ 981419 h 1051414"/>
              <a:gd name="connsiteX1" fmla="*/ 980825 w 2043166"/>
              <a:gd name="connsiteY1" fmla="*/ 0 h 1051414"/>
              <a:gd name="connsiteX2" fmla="*/ 2043166 w 2043166"/>
              <a:gd name="connsiteY2" fmla="*/ 1051414 h 1051414"/>
              <a:gd name="connsiteX3" fmla="*/ 0 w 2043166"/>
              <a:gd name="connsiteY3" fmla="*/ 981419 h 1051414"/>
              <a:gd name="connsiteX0" fmla="*/ 0 w 2100316"/>
              <a:gd name="connsiteY0" fmla="*/ 1030079 h 1051414"/>
              <a:gd name="connsiteX1" fmla="*/ 1037975 w 2100316"/>
              <a:gd name="connsiteY1" fmla="*/ 0 h 1051414"/>
              <a:gd name="connsiteX2" fmla="*/ 2100316 w 2100316"/>
              <a:gd name="connsiteY2" fmla="*/ 1051414 h 1051414"/>
              <a:gd name="connsiteX3" fmla="*/ 0 w 2100316"/>
              <a:gd name="connsiteY3" fmla="*/ 1030079 h 1051414"/>
              <a:gd name="connsiteX0" fmla="*/ 0 w 2032810"/>
              <a:gd name="connsiteY0" fmla="*/ 971294 h 1051414"/>
              <a:gd name="connsiteX1" fmla="*/ 970469 w 2032810"/>
              <a:gd name="connsiteY1" fmla="*/ 0 h 1051414"/>
              <a:gd name="connsiteX2" fmla="*/ 2032810 w 2032810"/>
              <a:gd name="connsiteY2" fmla="*/ 1051414 h 1051414"/>
              <a:gd name="connsiteX3" fmla="*/ 0 w 2032810"/>
              <a:gd name="connsiteY3" fmla="*/ 971294 h 1051414"/>
              <a:gd name="connsiteX0" fmla="*/ 0 w 1965304"/>
              <a:gd name="connsiteY0" fmla="*/ 971294 h 988710"/>
              <a:gd name="connsiteX1" fmla="*/ 970469 w 1965304"/>
              <a:gd name="connsiteY1" fmla="*/ 0 h 988710"/>
              <a:gd name="connsiteX2" fmla="*/ 1965304 w 1965304"/>
              <a:gd name="connsiteY2" fmla="*/ 988710 h 988710"/>
              <a:gd name="connsiteX3" fmla="*/ 0 w 1965304"/>
              <a:gd name="connsiteY3" fmla="*/ 971294 h 988710"/>
              <a:gd name="connsiteX0" fmla="*/ 0 w 1974829"/>
              <a:gd name="connsiteY0" fmla="*/ 971294 h 988710"/>
              <a:gd name="connsiteX1" fmla="*/ 979994 w 1974829"/>
              <a:gd name="connsiteY1" fmla="*/ 0 h 988710"/>
              <a:gd name="connsiteX2" fmla="*/ 1974829 w 1974829"/>
              <a:gd name="connsiteY2" fmla="*/ 988710 h 988710"/>
              <a:gd name="connsiteX3" fmla="*/ 0 w 1974829"/>
              <a:gd name="connsiteY3" fmla="*/ 971294 h 988710"/>
              <a:gd name="connsiteX0" fmla="*/ 0 w 1958954"/>
              <a:gd name="connsiteY0" fmla="*/ 971294 h 982627"/>
              <a:gd name="connsiteX1" fmla="*/ 979994 w 1958954"/>
              <a:gd name="connsiteY1" fmla="*/ 0 h 982627"/>
              <a:gd name="connsiteX2" fmla="*/ 1958954 w 1958954"/>
              <a:gd name="connsiteY2" fmla="*/ 982627 h 982627"/>
              <a:gd name="connsiteX3" fmla="*/ 0 w 1958954"/>
              <a:gd name="connsiteY3" fmla="*/ 971294 h 982627"/>
              <a:gd name="connsiteX0" fmla="*/ 0 w 1974829"/>
              <a:gd name="connsiteY0" fmla="*/ 971294 h 978572"/>
              <a:gd name="connsiteX1" fmla="*/ 979994 w 1974829"/>
              <a:gd name="connsiteY1" fmla="*/ 0 h 978572"/>
              <a:gd name="connsiteX2" fmla="*/ 1974829 w 1974829"/>
              <a:gd name="connsiteY2" fmla="*/ 978572 h 978572"/>
              <a:gd name="connsiteX3" fmla="*/ 0 w 1974829"/>
              <a:gd name="connsiteY3" fmla="*/ 971294 h 978572"/>
              <a:gd name="connsiteX0" fmla="*/ 0 w 2044102"/>
              <a:gd name="connsiteY0" fmla="*/ 1035438 h 1035438"/>
              <a:gd name="connsiteX1" fmla="*/ 1049267 w 2044102"/>
              <a:gd name="connsiteY1" fmla="*/ 0 h 1035438"/>
              <a:gd name="connsiteX2" fmla="*/ 2044102 w 2044102"/>
              <a:gd name="connsiteY2" fmla="*/ 978572 h 1035438"/>
              <a:gd name="connsiteX3" fmla="*/ 0 w 2044102"/>
              <a:gd name="connsiteY3" fmla="*/ 1035438 h 1035438"/>
              <a:gd name="connsiteX0" fmla="*/ 0 w 2089129"/>
              <a:gd name="connsiteY0" fmla="*/ 1035438 h 1035438"/>
              <a:gd name="connsiteX1" fmla="*/ 1049267 w 2089129"/>
              <a:gd name="connsiteY1" fmla="*/ 0 h 1035438"/>
              <a:gd name="connsiteX2" fmla="*/ 2089129 w 2089129"/>
              <a:gd name="connsiteY2" fmla="*/ 1029445 h 1035438"/>
              <a:gd name="connsiteX3" fmla="*/ 0 w 2089129"/>
              <a:gd name="connsiteY3" fmla="*/ 1035438 h 1035438"/>
              <a:gd name="connsiteX0" fmla="*/ 0 w 2064884"/>
              <a:gd name="connsiteY0" fmla="*/ 1015531 h 1029445"/>
              <a:gd name="connsiteX1" fmla="*/ 1025022 w 2064884"/>
              <a:gd name="connsiteY1" fmla="*/ 0 h 1029445"/>
              <a:gd name="connsiteX2" fmla="*/ 2064884 w 2064884"/>
              <a:gd name="connsiteY2" fmla="*/ 1029445 h 1029445"/>
              <a:gd name="connsiteX3" fmla="*/ 0 w 2064884"/>
              <a:gd name="connsiteY3" fmla="*/ 1015531 h 1029445"/>
              <a:gd name="connsiteX0" fmla="*/ 0 w 2047566"/>
              <a:gd name="connsiteY0" fmla="*/ 1015531 h 1015531"/>
              <a:gd name="connsiteX1" fmla="*/ 1025022 w 2047566"/>
              <a:gd name="connsiteY1" fmla="*/ 0 h 1015531"/>
              <a:gd name="connsiteX2" fmla="*/ 2047566 w 2047566"/>
              <a:gd name="connsiteY2" fmla="*/ 1011750 h 1015531"/>
              <a:gd name="connsiteX3" fmla="*/ 0 w 2047566"/>
              <a:gd name="connsiteY3" fmla="*/ 1015531 h 1015531"/>
              <a:gd name="connsiteX0" fmla="*/ 0 w 2068348"/>
              <a:gd name="connsiteY0" fmla="*/ 1015531 h 1025021"/>
              <a:gd name="connsiteX1" fmla="*/ 1025022 w 2068348"/>
              <a:gd name="connsiteY1" fmla="*/ 0 h 1025021"/>
              <a:gd name="connsiteX2" fmla="*/ 2068348 w 2068348"/>
              <a:gd name="connsiteY2" fmla="*/ 1025021 h 1025021"/>
              <a:gd name="connsiteX3" fmla="*/ 0 w 2068348"/>
              <a:gd name="connsiteY3" fmla="*/ 1015531 h 1025021"/>
              <a:gd name="connsiteX0" fmla="*/ 0 w 2193476"/>
              <a:gd name="connsiteY0" fmla="*/ 1012838 h 1025021"/>
              <a:gd name="connsiteX1" fmla="*/ 1150150 w 2193476"/>
              <a:gd name="connsiteY1" fmla="*/ 0 h 1025021"/>
              <a:gd name="connsiteX2" fmla="*/ 2193476 w 2193476"/>
              <a:gd name="connsiteY2" fmla="*/ 1025021 h 1025021"/>
              <a:gd name="connsiteX3" fmla="*/ 0 w 2193476"/>
              <a:gd name="connsiteY3" fmla="*/ 1012838 h 1025021"/>
              <a:gd name="connsiteX0" fmla="*/ 0 w 2265666"/>
              <a:gd name="connsiteY0" fmla="*/ 1012838 h 1016944"/>
              <a:gd name="connsiteX1" fmla="*/ 1150150 w 2265666"/>
              <a:gd name="connsiteY1" fmla="*/ 0 h 1016944"/>
              <a:gd name="connsiteX2" fmla="*/ 2265666 w 2265666"/>
              <a:gd name="connsiteY2" fmla="*/ 1016944 h 1016944"/>
              <a:gd name="connsiteX3" fmla="*/ 0 w 2265666"/>
              <a:gd name="connsiteY3" fmla="*/ 1012838 h 1016944"/>
              <a:gd name="connsiteX0" fmla="*/ 0 w 2281652"/>
              <a:gd name="connsiteY0" fmla="*/ 1016415 h 1016944"/>
              <a:gd name="connsiteX1" fmla="*/ 1166136 w 2281652"/>
              <a:gd name="connsiteY1" fmla="*/ 0 h 1016944"/>
              <a:gd name="connsiteX2" fmla="*/ 2281652 w 2281652"/>
              <a:gd name="connsiteY2" fmla="*/ 1016944 h 1016944"/>
              <a:gd name="connsiteX3" fmla="*/ 0 w 2281652"/>
              <a:gd name="connsiteY3" fmla="*/ 1016415 h 1016944"/>
              <a:gd name="connsiteX0" fmla="*/ 0 w 2313624"/>
              <a:gd name="connsiteY0" fmla="*/ 1016415 h 1041983"/>
              <a:gd name="connsiteX1" fmla="*/ 1166136 w 2313624"/>
              <a:gd name="connsiteY1" fmla="*/ 0 h 1041983"/>
              <a:gd name="connsiteX2" fmla="*/ 2313624 w 2313624"/>
              <a:gd name="connsiteY2" fmla="*/ 1041983 h 1041983"/>
              <a:gd name="connsiteX3" fmla="*/ 0 w 2313624"/>
              <a:gd name="connsiteY3" fmla="*/ 1016415 h 1041983"/>
              <a:gd name="connsiteX0" fmla="*/ 0 w 2342398"/>
              <a:gd name="connsiteY0" fmla="*/ 1039666 h 1041983"/>
              <a:gd name="connsiteX1" fmla="*/ 1194910 w 2342398"/>
              <a:gd name="connsiteY1" fmla="*/ 0 h 1041983"/>
              <a:gd name="connsiteX2" fmla="*/ 2342398 w 2342398"/>
              <a:gd name="connsiteY2" fmla="*/ 1041983 h 1041983"/>
              <a:gd name="connsiteX3" fmla="*/ 0 w 2342398"/>
              <a:gd name="connsiteY3" fmla="*/ 1039666 h 1041983"/>
              <a:gd name="connsiteX0" fmla="*/ 0 w 2714631"/>
              <a:gd name="connsiteY0" fmla="*/ 1415377 h 1415377"/>
              <a:gd name="connsiteX1" fmla="*/ 1567143 w 2714631"/>
              <a:gd name="connsiteY1" fmla="*/ 0 h 1415377"/>
              <a:gd name="connsiteX2" fmla="*/ 2714631 w 2714631"/>
              <a:gd name="connsiteY2" fmla="*/ 1041983 h 1415377"/>
              <a:gd name="connsiteX3" fmla="*/ 0 w 2714631"/>
              <a:gd name="connsiteY3" fmla="*/ 1415377 h 1415377"/>
              <a:gd name="connsiteX0" fmla="*/ 0 w 3175877"/>
              <a:gd name="connsiteY0" fmla="*/ 1415377 h 1426748"/>
              <a:gd name="connsiteX1" fmla="*/ 1567143 w 3175877"/>
              <a:gd name="connsiteY1" fmla="*/ 0 h 1426748"/>
              <a:gd name="connsiteX2" fmla="*/ 3175877 w 3175877"/>
              <a:gd name="connsiteY2" fmla="*/ 1426748 h 1426748"/>
              <a:gd name="connsiteX3" fmla="*/ 0 w 3175877"/>
              <a:gd name="connsiteY3" fmla="*/ 1415377 h 1426748"/>
              <a:gd name="connsiteX0" fmla="*/ 0 w 3175877"/>
              <a:gd name="connsiteY0" fmla="*/ 1415377 h 1426748"/>
              <a:gd name="connsiteX1" fmla="*/ 1567143 w 3175877"/>
              <a:gd name="connsiteY1" fmla="*/ 0 h 1426748"/>
              <a:gd name="connsiteX2" fmla="*/ 3175877 w 3175877"/>
              <a:gd name="connsiteY2" fmla="*/ 1426748 h 1426748"/>
              <a:gd name="connsiteX3" fmla="*/ 0 w 3175877"/>
              <a:gd name="connsiteY3" fmla="*/ 1415377 h 1426748"/>
              <a:gd name="connsiteX0" fmla="*/ 0 w 3200153"/>
              <a:gd name="connsiteY0" fmla="*/ 1415377 h 1426748"/>
              <a:gd name="connsiteX1" fmla="*/ 1567143 w 3200153"/>
              <a:gd name="connsiteY1" fmla="*/ 0 h 1426748"/>
              <a:gd name="connsiteX2" fmla="*/ 3200153 w 3200153"/>
              <a:gd name="connsiteY2" fmla="*/ 1426748 h 1426748"/>
              <a:gd name="connsiteX3" fmla="*/ 0 w 3200153"/>
              <a:gd name="connsiteY3" fmla="*/ 1415377 h 1426748"/>
              <a:gd name="connsiteX0" fmla="*/ 0 w 3224429"/>
              <a:gd name="connsiteY0" fmla="*/ 1415377 h 1426748"/>
              <a:gd name="connsiteX1" fmla="*/ 1591419 w 3224429"/>
              <a:gd name="connsiteY1" fmla="*/ 0 h 1426748"/>
              <a:gd name="connsiteX2" fmla="*/ 3224429 w 3224429"/>
              <a:gd name="connsiteY2" fmla="*/ 1426748 h 1426748"/>
              <a:gd name="connsiteX3" fmla="*/ 0 w 3224429"/>
              <a:gd name="connsiteY3" fmla="*/ 1415377 h 1426748"/>
              <a:gd name="connsiteX0" fmla="*/ 0 w 3297258"/>
              <a:gd name="connsiteY0" fmla="*/ 1496856 h 1496856"/>
              <a:gd name="connsiteX1" fmla="*/ 1664248 w 3297258"/>
              <a:gd name="connsiteY1" fmla="*/ 0 h 1496856"/>
              <a:gd name="connsiteX2" fmla="*/ 3297258 w 3297258"/>
              <a:gd name="connsiteY2" fmla="*/ 1426748 h 1496856"/>
              <a:gd name="connsiteX3" fmla="*/ 0 w 3297258"/>
              <a:gd name="connsiteY3" fmla="*/ 1496856 h 1496856"/>
              <a:gd name="connsiteX0" fmla="*/ 0 w 3337718"/>
              <a:gd name="connsiteY0" fmla="*/ 1496856 h 1496856"/>
              <a:gd name="connsiteX1" fmla="*/ 1664248 w 3337718"/>
              <a:gd name="connsiteY1" fmla="*/ 0 h 1496856"/>
              <a:gd name="connsiteX2" fmla="*/ 3337718 w 3337718"/>
              <a:gd name="connsiteY2" fmla="*/ 1476541 h 1496856"/>
              <a:gd name="connsiteX3" fmla="*/ 0 w 3337718"/>
              <a:gd name="connsiteY3" fmla="*/ 1496856 h 1496856"/>
              <a:gd name="connsiteX0" fmla="*/ 0 w 3313442"/>
              <a:gd name="connsiteY0" fmla="*/ 1474223 h 1476541"/>
              <a:gd name="connsiteX1" fmla="*/ 1639972 w 3313442"/>
              <a:gd name="connsiteY1" fmla="*/ 0 h 1476541"/>
              <a:gd name="connsiteX2" fmla="*/ 3313442 w 3313442"/>
              <a:gd name="connsiteY2" fmla="*/ 1476541 h 1476541"/>
              <a:gd name="connsiteX3" fmla="*/ 0 w 3313442"/>
              <a:gd name="connsiteY3" fmla="*/ 1474223 h 1476541"/>
              <a:gd name="connsiteX0" fmla="*/ 0 w 3387333"/>
              <a:gd name="connsiteY0" fmla="*/ 1533641 h 1533641"/>
              <a:gd name="connsiteX1" fmla="*/ 1713863 w 3387333"/>
              <a:gd name="connsiteY1" fmla="*/ 0 h 1533641"/>
              <a:gd name="connsiteX2" fmla="*/ 3387333 w 3387333"/>
              <a:gd name="connsiteY2" fmla="*/ 1476541 h 1533641"/>
              <a:gd name="connsiteX3" fmla="*/ 0 w 3387333"/>
              <a:gd name="connsiteY3" fmla="*/ 1533641 h 1533641"/>
              <a:gd name="connsiteX0" fmla="*/ 0 w 3442751"/>
              <a:gd name="connsiteY0" fmla="*/ 1533641 h 1533641"/>
              <a:gd name="connsiteX1" fmla="*/ 1713863 w 3442751"/>
              <a:gd name="connsiteY1" fmla="*/ 0 h 1533641"/>
              <a:gd name="connsiteX2" fmla="*/ 3442751 w 3442751"/>
              <a:gd name="connsiteY2" fmla="*/ 1520459 h 1533641"/>
              <a:gd name="connsiteX3" fmla="*/ 0 w 3442751"/>
              <a:gd name="connsiteY3" fmla="*/ 1533641 h 1533641"/>
            </a:gdLst>
            <a:ahLst/>
            <a:cxnLst>
              <a:cxn ang="0">
                <a:pos x="connsiteX0" y="connsiteY0"/>
              </a:cxn>
              <a:cxn ang="0">
                <a:pos x="connsiteX1" y="connsiteY1"/>
              </a:cxn>
              <a:cxn ang="0">
                <a:pos x="connsiteX2" y="connsiteY2"/>
              </a:cxn>
              <a:cxn ang="0">
                <a:pos x="connsiteX3" y="connsiteY3"/>
              </a:cxn>
            </a:cxnLst>
            <a:rect l="l" t="t" r="r" b="b"/>
            <a:pathLst>
              <a:path w="3442751" h="1533641">
                <a:moveTo>
                  <a:pt x="0" y="1533641"/>
                </a:moveTo>
                <a:lnTo>
                  <a:pt x="1713863" y="0"/>
                </a:lnTo>
                <a:lnTo>
                  <a:pt x="3442751" y="1520459"/>
                </a:lnTo>
                <a:lnTo>
                  <a:pt x="0" y="1533641"/>
                </a:lnTo>
                <a:close/>
              </a:path>
            </a:pathLst>
          </a:custGeom>
          <a:solidFill>
            <a:srgbClr val="86A3D6"/>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1" name="三角形 22">
            <a:extLst>
              <a:ext uri="{FF2B5EF4-FFF2-40B4-BE49-F238E27FC236}">
                <a16:creationId xmlns:a16="http://schemas.microsoft.com/office/drawing/2014/main" id="{57F495B1-BA81-853E-1B03-BB825B55B9E8}"/>
              </a:ext>
            </a:extLst>
          </p:cNvPr>
          <p:cNvSpPr/>
          <p:nvPr/>
        </p:nvSpPr>
        <p:spPr>
          <a:xfrm>
            <a:off x="793918" y="3308529"/>
            <a:ext cx="2668171" cy="2123573"/>
          </a:xfrm>
          <a:custGeom>
            <a:avLst/>
            <a:gdLst>
              <a:gd name="connsiteX0" fmla="*/ 0 w 2819400"/>
              <a:gd name="connsiteY0" fmla="*/ 1063625 h 1063625"/>
              <a:gd name="connsiteX1" fmla="*/ 1409700 w 2819400"/>
              <a:gd name="connsiteY1" fmla="*/ 0 h 1063625"/>
              <a:gd name="connsiteX2" fmla="*/ 2819400 w 2819400"/>
              <a:gd name="connsiteY2" fmla="*/ 1063625 h 1063625"/>
              <a:gd name="connsiteX3" fmla="*/ 0 w 2819400"/>
              <a:gd name="connsiteY3" fmla="*/ 1063625 h 1063625"/>
              <a:gd name="connsiteX0" fmla="*/ 0 w 2105346"/>
              <a:gd name="connsiteY0" fmla="*/ 1079036 h 1079036"/>
              <a:gd name="connsiteX1" fmla="*/ 695646 w 2105346"/>
              <a:gd name="connsiteY1" fmla="*/ 0 h 1079036"/>
              <a:gd name="connsiteX2" fmla="*/ 2105346 w 2105346"/>
              <a:gd name="connsiteY2" fmla="*/ 1063625 h 1079036"/>
              <a:gd name="connsiteX3" fmla="*/ 0 w 2105346"/>
              <a:gd name="connsiteY3" fmla="*/ 1079036 h 1079036"/>
              <a:gd name="connsiteX0" fmla="*/ 0 w 1411840"/>
              <a:gd name="connsiteY0" fmla="*/ 1079036 h 1079036"/>
              <a:gd name="connsiteX1" fmla="*/ 695646 w 1411840"/>
              <a:gd name="connsiteY1" fmla="*/ 0 h 1079036"/>
              <a:gd name="connsiteX2" fmla="*/ 1411840 w 1411840"/>
              <a:gd name="connsiteY2" fmla="*/ 1073899 h 1079036"/>
              <a:gd name="connsiteX3" fmla="*/ 0 w 1411840"/>
              <a:gd name="connsiteY3" fmla="*/ 1079036 h 1079036"/>
              <a:gd name="connsiteX0" fmla="*/ 0 w 1401566"/>
              <a:gd name="connsiteY0" fmla="*/ 1079036 h 1079036"/>
              <a:gd name="connsiteX1" fmla="*/ 695646 w 1401566"/>
              <a:gd name="connsiteY1" fmla="*/ 0 h 1079036"/>
              <a:gd name="connsiteX2" fmla="*/ 1401566 w 1401566"/>
              <a:gd name="connsiteY2" fmla="*/ 1073899 h 1079036"/>
              <a:gd name="connsiteX3" fmla="*/ 0 w 1401566"/>
              <a:gd name="connsiteY3" fmla="*/ 1079036 h 1079036"/>
              <a:gd name="connsiteX0" fmla="*/ 0 w 1807395"/>
              <a:gd name="connsiteY0" fmla="*/ 1088877 h 1088877"/>
              <a:gd name="connsiteX1" fmla="*/ 1101475 w 1807395"/>
              <a:gd name="connsiteY1" fmla="*/ 0 h 1088877"/>
              <a:gd name="connsiteX2" fmla="*/ 1807395 w 1807395"/>
              <a:gd name="connsiteY2" fmla="*/ 1073899 h 1088877"/>
              <a:gd name="connsiteX3" fmla="*/ 0 w 1807395"/>
              <a:gd name="connsiteY3" fmla="*/ 1088877 h 1088877"/>
              <a:gd name="connsiteX0" fmla="*/ 0 w 2166991"/>
              <a:gd name="connsiteY0" fmla="*/ 1088877 h 1088877"/>
              <a:gd name="connsiteX1" fmla="*/ 1101475 w 2166991"/>
              <a:gd name="connsiteY1" fmla="*/ 0 h 1088877"/>
              <a:gd name="connsiteX2" fmla="*/ 2166991 w 2166991"/>
              <a:gd name="connsiteY2" fmla="*/ 1057497 h 1088877"/>
              <a:gd name="connsiteX3" fmla="*/ 0 w 2166991"/>
              <a:gd name="connsiteY3" fmla="*/ 1088877 h 1088877"/>
              <a:gd name="connsiteX0" fmla="*/ 0 w 2081266"/>
              <a:gd name="connsiteY0" fmla="*/ 1088877 h 1088877"/>
              <a:gd name="connsiteX1" fmla="*/ 1101475 w 2081266"/>
              <a:gd name="connsiteY1" fmla="*/ 0 h 1088877"/>
              <a:gd name="connsiteX2" fmla="*/ 2081266 w 2081266"/>
              <a:gd name="connsiteY2" fmla="*/ 970313 h 1088877"/>
              <a:gd name="connsiteX3" fmla="*/ 0 w 2081266"/>
              <a:gd name="connsiteY3" fmla="*/ 1088877 h 1088877"/>
              <a:gd name="connsiteX0" fmla="*/ 0 w 1960616"/>
              <a:gd name="connsiteY0" fmla="*/ 981419 h 981419"/>
              <a:gd name="connsiteX1" fmla="*/ 980825 w 1960616"/>
              <a:gd name="connsiteY1" fmla="*/ 0 h 981419"/>
              <a:gd name="connsiteX2" fmla="*/ 1960616 w 1960616"/>
              <a:gd name="connsiteY2" fmla="*/ 970313 h 981419"/>
              <a:gd name="connsiteX3" fmla="*/ 0 w 1960616"/>
              <a:gd name="connsiteY3" fmla="*/ 981419 h 981419"/>
              <a:gd name="connsiteX0" fmla="*/ 0 w 2043166"/>
              <a:gd name="connsiteY0" fmla="*/ 981419 h 1051414"/>
              <a:gd name="connsiteX1" fmla="*/ 980825 w 2043166"/>
              <a:gd name="connsiteY1" fmla="*/ 0 h 1051414"/>
              <a:gd name="connsiteX2" fmla="*/ 2043166 w 2043166"/>
              <a:gd name="connsiteY2" fmla="*/ 1051414 h 1051414"/>
              <a:gd name="connsiteX3" fmla="*/ 0 w 2043166"/>
              <a:gd name="connsiteY3" fmla="*/ 981419 h 1051414"/>
              <a:gd name="connsiteX0" fmla="*/ 0 w 2100316"/>
              <a:gd name="connsiteY0" fmla="*/ 1030079 h 1051414"/>
              <a:gd name="connsiteX1" fmla="*/ 1037975 w 2100316"/>
              <a:gd name="connsiteY1" fmla="*/ 0 h 1051414"/>
              <a:gd name="connsiteX2" fmla="*/ 2100316 w 2100316"/>
              <a:gd name="connsiteY2" fmla="*/ 1051414 h 1051414"/>
              <a:gd name="connsiteX3" fmla="*/ 0 w 2100316"/>
              <a:gd name="connsiteY3" fmla="*/ 1030079 h 1051414"/>
              <a:gd name="connsiteX0" fmla="*/ 0 w 2032810"/>
              <a:gd name="connsiteY0" fmla="*/ 971294 h 1051414"/>
              <a:gd name="connsiteX1" fmla="*/ 970469 w 2032810"/>
              <a:gd name="connsiteY1" fmla="*/ 0 h 1051414"/>
              <a:gd name="connsiteX2" fmla="*/ 2032810 w 2032810"/>
              <a:gd name="connsiteY2" fmla="*/ 1051414 h 1051414"/>
              <a:gd name="connsiteX3" fmla="*/ 0 w 2032810"/>
              <a:gd name="connsiteY3" fmla="*/ 971294 h 1051414"/>
              <a:gd name="connsiteX0" fmla="*/ 0 w 1965304"/>
              <a:gd name="connsiteY0" fmla="*/ 971294 h 988710"/>
              <a:gd name="connsiteX1" fmla="*/ 970469 w 1965304"/>
              <a:gd name="connsiteY1" fmla="*/ 0 h 988710"/>
              <a:gd name="connsiteX2" fmla="*/ 1965304 w 1965304"/>
              <a:gd name="connsiteY2" fmla="*/ 988710 h 988710"/>
              <a:gd name="connsiteX3" fmla="*/ 0 w 1965304"/>
              <a:gd name="connsiteY3" fmla="*/ 971294 h 988710"/>
              <a:gd name="connsiteX0" fmla="*/ 0 w 1974829"/>
              <a:gd name="connsiteY0" fmla="*/ 971294 h 988710"/>
              <a:gd name="connsiteX1" fmla="*/ 979994 w 1974829"/>
              <a:gd name="connsiteY1" fmla="*/ 0 h 988710"/>
              <a:gd name="connsiteX2" fmla="*/ 1974829 w 1974829"/>
              <a:gd name="connsiteY2" fmla="*/ 988710 h 988710"/>
              <a:gd name="connsiteX3" fmla="*/ 0 w 1974829"/>
              <a:gd name="connsiteY3" fmla="*/ 971294 h 988710"/>
              <a:gd name="connsiteX0" fmla="*/ 0 w 1958954"/>
              <a:gd name="connsiteY0" fmla="*/ 971294 h 982627"/>
              <a:gd name="connsiteX1" fmla="*/ 979994 w 1958954"/>
              <a:gd name="connsiteY1" fmla="*/ 0 h 982627"/>
              <a:gd name="connsiteX2" fmla="*/ 1958954 w 1958954"/>
              <a:gd name="connsiteY2" fmla="*/ 982627 h 982627"/>
              <a:gd name="connsiteX3" fmla="*/ 0 w 1958954"/>
              <a:gd name="connsiteY3" fmla="*/ 971294 h 982627"/>
              <a:gd name="connsiteX0" fmla="*/ 0 w 1974829"/>
              <a:gd name="connsiteY0" fmla="*/ 971294 h 978572"/>
              <a:gd name="connsiteX1" fmla="*/ 979994 w 1974829"/>
              <a:gd name="connsiteY1" fmla="*/ 0 h 978572"/>
              <a:gd name="connsiteX2" fmla="*/ 1974829 w 1974829"/>
              <a:gd name="connsiteY2" fmla="*/ 978572 h 978572"/>
              <a:gd name="connsiteX3" fmla="*/ 0 w 1974829"/>
              <a:gd name="connsiteY3" fmla="*/ 971294 h 978572"/>
              <a:gd name="connsiteX0" fmla="*/ 0 w 2044102"/>
              <a:gd name="connsiteY0" fmla="*/ 1035438 h 1035438"/>
              <a:gd name="connsiteX1" fmla="*/ 1049267 w 2044102"/>
              <a:gd name="connsiteY1" fmla="*/ 0 h 1035438"/>
              <a:gd name="connsiteX2" fmla="*/ 2044102 w 2044102"/>
              <a:gd name="connsiteY2" fmla="*/ 978572 h 1035438"/>
              <a:gd name="connsiteX3" fmla="*/ 0 w 2044102"/>
              <a:gd name="connsiteY3" fmla="*/ 1035438 h 1035438"/>
              <a:gd name="connsiteX0" fmla="*/ 0 w 2089129"/>
              <a:gd name="connsiteY0" fmla="*/ 1035438 h 1035438"/>
              <a:gd name="connsiteX1" fmla="*/ 1049267 w 2089129"/>
              <a:gd name="connsiteY1" fmla="*/ 0 h 1035438"/>
              <a:gd name="connsiteX2" fmla="*/ 2089129 w 2089129"/>
              <a:gd name="connsiteY2" fmla="*/ 1029445 h 1035438"/>
              <a:gd name="connsiteX3" fmla="*/ 0 w 2089129"/>
              <a:gd name="connsiteY3" fmla="*/ 1035438 h 1035438"/>
              <a:gd name="connsiteX0" fmla="*/ 0 w 2064884"/>
              <a:gd name="connsiteY0" fmla="*/ 1015531 h 1029445"/>
              <a:gd name="connsiteX1" fmla="*/ 1025022 w 2064884"/>
              <a:gd name="connsiteY1" fmla="*/ 0 h 1029445"/>
              <a:gd name="connsiteX2" fmla="*/ 2064884 w 2064884"/>
              <a:gd name="connsiteY2" fmla="*/ 1029445 h 1029445"/>
              <a:gd name="connsiteX3" fmla="*/ 0 w 2064884"/>
              <a:gd name="connsiteY3" fmla="*/ 1015531 h 1029445"/>
              <a:gd name="connsiteX0" fmla="*/ 0 w 2047566"/>
              <a:gd name="connsiteY0" fmla="*/ 1015531 h 1015531"/>
              <a:gd name="connsiteX1" fmla="*/ 1025022 w 2047566"/>
              <a:gd name="connsiteY1" fmla="*/ 0 h 1015531"/>
              <a:gd name="connsiteX2" fmla="*/ 2047566 w 2047566"/>
              <a:gd name="connsiteY2" fmla="*/ 1011750 h 1015531"/>
              <a:gd name="connsiteX3" fmla="*/ 0 w 2047566"/>
              <a:gd name="connsiteY3" fmla="*/ 1015531 h 1015531"/>
              <a:gd name="connsiteX0" fmla="*/ 0 w 2068348"/>
              <a:gd name="connsiteY0" fmla="*/ 1015531 h 1025021"/>
              <a:gd name="connsiteX1" fmla="*/ 1025022 w 2068348"/>
              <a:gd name="connsiteY1" fmla="*/ 0 h 1025021"/>
              <a:gd name="connsiteX2" fmla="*/ 2068348 w 2068348"/>
              <a:gd name="connsiteY2" fmla="*/ 1025021 h 1025021"/>
              <a:gd name="connsiteX3" fmla="*/ 0 w 2068348"/>
              <a:gd name="connsiteY3" fmla="*/ 1015531 h 1025021"/>
              <a:gd name="connsiteX0" fmla="*/ 0 w 1933878"/>
              <a:gd name="connsiteY0" fmla="*/ 923934 h 1025021"/>
              <a:gd name="connsiteX1" fmla="*/ 890552 w 1933878"/>
              <a:gd name="connsiteY1" fmla="*/ 0 h 1025021"/>
              <a:gd name="connsiteX2" fmla="*/ 1933878 w 1933878"/>
              <a:gd name="connsiteY2" fmla="*/ 1025021 h 1025021"/>
              <a:gd name="connsiteX3" fmla="*/ 0 w 1933878"/>
              <a:gd name="connsiteY3" fmla="*/ 923934 h 1025021"/>
              <a:gd name="connsiteX0" fmla="*/ 0 w 1803890"/>
              <a:gd name="connsiteY0" fmla="*/ 923934 h 939149"/>
              <a:gd name="connsiteX1" fmla="*/ 890552 w 1803890"/>
              <a:gd name="connsiteY1" fmla="*/ 0 h 939149"/>
              <a:gd name="connsiteX2" fmla="*/ 1803890 w 1803890"/>
              <a:gd name="connsiteY2" fmla="*/ 939149 h 939149"/>
              <a:gd name="connsiteX3" fmla="*/ 0 w 1803890"/>
              <a:gd name="connsiteY3" fmla="*/ 923934 h 939149"/>
              <a:gd name="connsiteX0" fmla="*/ 0 w 1763548"/>
              <a:gd name="connsiteY0" fmla="*/ 923934 h 923934"/>
              <a:gd name="connsiteX1" fmla="*/ 890552 w 1763548"/>
              <a:gd name="connsiteY1" fmla="*/ 0 h 923934"/>
              <a:gd name="connsiteX2" fmla="*/ 1763548 w 1763548"/>
              <a:gd name="connsiteY2" fmla="*/ 919113 h 923934"/>
              <a:gd name="connsiteX3" fmla="*/ 0 w 1763548"/>
              <a:gd name="connsiteY3" fmla="*/ 923934 h 923934"/>
              <a:gd name="connsiteX0" fmla="*/ 0 w 1727689"/>
              <a:gd name="connsiteY0" fmla="*/ 901035 h 919113"/>
              <a:gd name="connsiteX1" fmla="*/ 854693 w 1727689"/>
              <a:gd name="connsiteY1" fmla="*/ 0 h 919113"/>
              <a:gd name="connsiteX2" fmla="*/ 1727689 w 1727689"/>
              <a:gd name="connsiteY2" fmla="*/ 919113 h 919113"/>
              <a:gd name="connsiteX3" fmla="*/ 0 w 1727689"/>
              <a:gd name="connsiteY3" fmla="*/ 901035 h 919113"/>
              <a:gd name="connsiteX0" fmla="*/ 0 w 1714242"/>
              <a:gd name="connsiteY0" fmla="*/ 901035 h 910526"/>
              <a:gd name="connsiteX1" fmla="*/ 854693 w 1714242"/>
              <a:gd name="connsiteY1" fmla="*/ 0 h 910526"/>
              <a:gd name="connsiteX2" fmla="*/ 1714242 w 1714242"/>
              <a:gd name="connsiteY2" fmla="*/ 910526 h 910526"/>
              <a:gd name="connsiteX3" fmla="*/ 0 w 1714242"/>
              <a:gd name="connsiteY3" fmla="*/ 901035 h 910526"/>
              <a:gd name="connsiteX0" fmla="*/ 0 w 1700795"/>
              <a:gd name="connsiteY0" fmla="*/ 901035 h 901035"/>
              <a:gd name="connsiteX1" fmla="*/ 854693 w 1700795"/>
              <a:gd name="connsiteY1" fmla="*/ 0 h 901035"/>
              <a:gd name="connsiteX2" fmla="*/ 1700795 w 1700795"/>
              <a:gd name="connsiteY2" fmla="*/ 893352 h 901035"/>
              <a:gd name="connsiteX3" fmla="*/ 0 w 1700795"/>
              <a:gd name="connsiteY3" fmla="*/ 901035 h 901035"/>
              <a:gd name="connsiteX0" fmla="*/ 0 w 1696313"/>
              <a:gd name="connsiteY0" fmla="*/ 883861 h 893352"/>
              <a:gd name="connsiteX1" fmla="*/ 850211 w 1696313"/>
              <a:gd name="connsiteY1" fmla="*/ 0 h 893352"/>
              <a:gd name="connsiteX2" fmla="*/ 1696313 w 1696313"/>
              <a:gd name="connsiteY2" fmla="*/ 893352 h 893352"/>
              <a:gd name="connsiteX3" fmla="*/ 0 w 1696313"/>
              <a:gd name="connsiteY3" fmla="*/ 883861 h 893352"/>
              <a:gd name="connsiteX0" fmla="*/ 0 w 2277338"/>
              <a:gd name="connsiteY0" fmla="*/ 1453594 h 1453594"/>
              <a:gd name="connsiteX1" fmla="*/ 1431236 w 2277338"/>
              <a:gd name="connsiteY1" fmla="*/ 0 h 1453594"/>
              <a:gd name="connsiteX2" fmla="*/ 2277338 w 2277338"/>
              <a:gd name="connsiteY2" fmla="*/ 893352 h 1453594"/>
              <a:gd name="connsiteX3" fmla="*/ 0 w 2277338"/>
              <a:gd name="connsiteY3" fmla="*/ 1453594 h 1453594"/>
              <a:gd name="connsiteX0" fmla="*/ 0 w 2791688"/>
              <a:gd name="connsiteY0" fmla="*/ 1453594 h 1453594"/>
              <a:gd name="connsiteX1" fmla="*/ 1431236 w 2791688"/>
              <a:gd name="connsiteY1" fmla="*/ 0 h 1453594"/>
              <a:gd name="connsiteX2" fmla="*/ 2791688 w 2791688"/>
              <a:gd name="connsiteY2" fmla="*/ 1390094 h 1453594"/>
              <a:gd name="connsiteX3" fmla="*/ 0 w 2791688"/>
              <a:gd name="connsiteY3" fmla="*/ 1453594 h 1453594"/>
              <a:gd name="connsiteX0" fmla="*/ 0 w 2680563"/>
              <a:gd name="connsiteY0" fmla="*/ 1348163 h 1390094"/>
              <a:gd name="connsiteX1" fmla="*/ 1320111 w 2680563"/>
              <a:gd name="connsiteY1" fmla="*/ 0 h 1390094"/>
              <a:gd name="connsiteX2" fmla="*/ 2680563 w 2680563"/>
              <a:gd name="connsiteY2" fmla="*/ 1390094 h 1390094"/>
              <a:gd name="connsiteX3" fmla="*/ 0 w 2680563"/>
              <a:gd name="connsiteY3" fmla="*/ 1348163 h 1390094"/>
              <a:gd name="connsiteX0" fmla="*/ 0 w 2651988"/>
              <a:gd name="connsiteY0" fmla="*/ 1348163 h 1361709"/>
              <a:gd name="connsiteX1" fmla="*/ 1320111 w 2651988"/>
              <a:gd name="connsiteY1" fmla="*/ 0 h 1361709"/>
              <a:gd name="connsiteX2" fmla="*/ 2651988 w 2651988"/>
              <a:gd name="connsiteY2" fmla="*/ 1361709 h 1361709"/>
              <a:gd name="connsiteX3" fmla="*/ 0 w 2651988"/>
              <a:gd name="connsiteY3" fmla="*/ 1348163 h 1361709"/>
              <a:gd name="connsiteX0" fmla="*/ 0 w 2661513"/>
              <a:gd name="connsiteY0" fmla="*/ 1354246 h 1361709"/>
              <a:gd name="connsiteX1" fmla="*/ 1329636 w 2661513"/>
              <a:gd name="connsiteY1" fmla="*/ 0 h 1361709"/>
              <a:gd name="connsiteX2" fmla="*/ 2661513 w 2661513"/>
              <a:gd name="connsiteY2" fmla="*/ 1361709 h 1361709"/>
              <a:gd name="connsiteX3" fmla="*/ 0 w 2661513"/>
              <a:gd name="connsiteY3" fmla="*/ 1354246 h 1361709"/>
              <a:gd name="connsiteX0" fmla="*/ 0 w 2677388"/>
              <a:gd name="connsiteY0" fmla="*/ 1354246 h 1367792"/>
              <a:gd name="connsiteX1" fmla="*/ 1329636 w 2677388"/>
              <a:gd name="connsiteY1" fmla="*/ 0 h 1367792"/>
              <a:gd name="connsiteX2" fmla="*/ 2677388 w 2677388"/>
              <a:gd name="connsiteY2" fmla="*/ 1367792 h 1367792"/>
              <a:gd name="connsiteX3" fmla="*/ 0 w 2677388"/>
              <a:gd name="connsiteY3" fmla="*/ 1354246 h 1367792"/>
              <a:gd name="connsiteX0" fmla="*/ 0 w 2693263"/>
              <a:gd name="connsiteY0" fmla="*/ 1350191 h 1367792"/>
              <a:gd name="connsiteX1" fmla="*/ 1345511 w 2693263"/>
              <a:gd name="connsiteY1" fmla="*/ 0 h 1367792"/>
              <a:gd name="connsiteX2" fmla="*/ 2693263 w 2693263"/>
              <a:gd name="connsiteY2" fmla="*/ 1367792 h 1367792"/>
              <a:gd name="connsiteX3" fmla="*/ 0 w 2693263"/>
              <a:gd name="connsiteY3" fmla="*/ 1350191 h 1367792"/>
              <a:gd name="connsiteX0" fmla="*/ 0 w 2677407"/>
              <a:gd name="connsiteY0" fmla="*/ 1350191 h 1354291"/>
              <a:gd name="connsiteX1" fmla="*/ 1345511 w 2677407"/>
              <a:gd name="connsiteY1" fmla="*/ 0 h 1354291"/>
              <a:gd name="connsiteX2" fmla="*/ 2677407 w 2677407"/>
              <a:gd name="connsiteY2" fmla="*/ 1354291 h 1354291"/>
              <a:gd name="connsiteX3" fmla="*/ 0 w 2677407"/>
              <a:gd name="connsiteY3" fmla="*/ 1350191 h 1354291"/>
              <a:gd name="connsiteX0" fmla="*/ 0 w 2649698"/>
              <a:gd name="connsiteY0" fmla="*/ 1353140 h 1354291"/>
              <a:gd name="connsiteX1" fmla="*/ 1317802 w 2649698"/>
              <a:gd name="connsiteY1" fmla="*/ 0 h 1354291"/>
              <a:gd name="connsiteX2" fmla="*/ 2649698 w 2649698"/>
              <a:gd name="connsiteY2" fmla="*/ 1354291 h 1354291"/>
              <a:gd name="connsiteX3" fmla="*/ 0 w 2649698"/>
              <a:gd name="connsiteY3" fmla="*/ 1353140 h 1354291"/>
              <a:gd name="connsiteX0" fmla="*/ 0 w 2668171"/>
              <a:gd name="connsiteY0" fmla="*/ 1356089 h 1356089"/>
              <a:gd name="connsiteX1" fmla="*/ 1336275 w 2668171"/>
              <a:gd name="connsiteY1" fmla="*/ 0 h 1356089"/>
              <a:gd name="connsiteX2" fmla="*/ 2668171 w 2668171"/>
              <a:gd name="connsiteY2" fmla="*/ 1354291 h 1356089"/>
              <a:gd name="connsiteX3" fmla="*/ 0 w 2668171"/>
              <a:gd name="connsiteY3" fmla="*/ 1356089 h 1356089"/>
            </a:gdLst>
            <a:ahLst/>
            <a:cxnLst>
              <a:cxn ang="0">
                <a:pos x="connsiteX0" y="connsiteY0"/>
              </a:cxn>
              <a:cxn ang="0">
                <a:pos x="connsiteX1" y="connsiteY1"/>
              </a:cxn>
              <a:cxn ang="0">
                <a:pos x="connsiteX2" y="connsiteY2"/>
              </a:cxn>
              <a:cxn ang="0">
                <a:pos x="connsiteX3" y="connsiteY3"/>
              </a:cxn>
            </a:cxnLst>
            <a:rect l="l" t="t" r="r" b="b"/>
            <a:pathLst>
              <a:path w="2668171" h="1356089">
                <a:moveTo>
                  <a:pt x="0" y="1356089"/>
                </a:moveTo>
                <a:lnTo>
                  <a:pt x="1336275" y="0"/>
                </a:lnTo>
                <a:lnTo>
                  <a:pt x="2668171" y="1354291"/>
                </a:lnTo>
                <a:lnTo>
                  <a:pt x="0" y="1356089"/>
                </a:lnTo>
                <a:close/>
              </a:path>
            </a:pathLst>
          </a:custGeom>
          <a:solidFill>
            <a:schemeClr val="accent1">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3" name="三角形 22">
            <a:extLst>
              <a:ext uri="{FF2B5EF4-FFF2-40B4-BE49-F238E27FC236}">
                <a16:creationId xmlns:a16="http://schemas.microsoft.com/office/drawing/2014/main" id="{A1849E17-45C0-14B1-5E79-2783250455A4}"/>
              </a:ext>
            </a:extLst>
          </p:cNvPr>
          <p:cNvSpPr/>
          <p:nvPr/>
        </p:nvSpPr>
        <p:spPr>
          <a:xfrm>
            <a:off x="1432324" y="3308530"/>
            <a:ext cx="1393511" cy="1126994"/>
          </a:xfrm>
          <a:custGeom>
            <a:avLst/>
            <a:gdLst>
              <a:gd name="connsiteX0" fmla="*/ 0 w 2819400"/>
              <a:gd name="connsiteY0" fmla="*/ 1063625 h 1063625"/>
              <a:gd name="connsiteX1" fmla="*/ 1409700 w 2819400"/>
              <a:gd name="connsiteY1" fmla="*/ 0 h 1063625"/>
              <a:gd name="connsiteX2" fmla="*/ 2819400 w 2819400"/>
              <a:gd name="connsiteY2" fmla="*/ 1063625 h 1063625"/>
              <a:gd name="connsiteX3" fmla="*/ 0 w 2819400"/>
              <a:gd name="connsiteY3" fmla="*/ 1063625 h 1063625"/>
              <a:gd name="connsiteX0" fmla="*/ 0 w 2105346"/>
              <a:gd name="connsiteY0" fmla="*/ 1079036 h 1079036"/>
              <a:gd name="connsiteX1" fmla="*/ 695646 w 2105346"/>
              <a:gd name="connsiteY1" fmla="*/ 0 h 1079036"/>
              <a:gd name="connsiteX2" fmla="*/ 2105346 w 2105346"/>
              <a:gd name="connsiteY2" fmla="*/ 1063625 h 1079036"/>
              <a:gd name="connsiteX3" fmla="*/ 0 w 2105346"/>
              <a:gd name="connsiteY3" fmla="*/ 1079036 h 1079036"/>
              <a:gd name="connsiteX0" fmla="*/ 0 w 1411840"/>
              <a:gd name="connsiteY0" fmla="*/ 1079036 h 1079036"/>
              <a:gd name="connsiteX1" fmla="*/ 695646 w 1411840"/>
              <a:gd name="connsiteY1" fmla="*/ 0 h 1079036"/>
              <a:gd name="connsiteX2" fmla="*/ 1411840 w 1411840"/>
              <a:gd name="connsiteY2" fmla="*/ 1073899 h 1079036"/>
              <a:gd name="connsiteX3" fmla="*/ 0 w 1411840"/>
              <a:gd name="connsiteY3" fmla="*/ 1079036 h 1079036"/>
              <a:gd name="connsiteX0" fmla="*/ 0 w 1401566"/>
              <a:gd name="connsiteY0" fmla="*/ 1079036 h 1079036"/>
              <a:gd name="connsiteX1" fmla="*/ 695646 w 1401566"/>
              <a:gd name="connsiteY1" fmla="*/ 0 h 1079036"/>
              <a:gd name="connsiteX2" fmla="*/ 1401566 w 1401566"/>
              <a:gd name="connsiteY2" fmla="*/ 1073899 h 1079036"/>
              <a:gd name="connsiteX3" fmla="*/ 0 w 1401566"/>
              <a:gd name="connsiteY3" fmla="*/ 1079036 h 1079036"/>
              <a:gd name="connsiteX0" fmla="*/ 0 w 1297982"/>
              <a:gd name="connsiteY0" fmla="*/ 1079036 h 1079036"/>
              <a:gd name="connsiteX1" fmla="*/ 695646 w 1297982"/>
              <a:gd name="connsiteY1" fmla="*/ 0 h 1079036"/>
              <a:gd name="connsiteX2" fmla="*/ 1297982 w 1297982"/>
              <a:gd name="connsiteY2" fmla="*/ 913164 h 1079036"/>
              <a:gd name="connsiteX3" fmla="*/ 0 w 1297982"/>
              <a:gd name="connsiteY3" fmla="*/ 1079036 h 1079036"/>
              <a:gd name="connsiteX0" fmla="*/ 0 w 1278932"/>
              <a:gd name="connsiteY0" fmla="*/ 1079036 h 1079036"/>
              <a:gd name="connsiteX1" fmla="*/ 695646 w 1278932"/>
              <a:gd name="connsiteY1" fmla="*/ 0 h 1079036"/>
              <a:gd name="connsiteX2" fmla="*/ 1278932 w 1278932"/>
              <a:gd name="connsiteY2" fmla="*/ 922689 h 1079036"/>
              <a:gd name="connsiteX3" fmla="*/ 0 w 1278932"/>
              <a:gd name="connsiteY3" fmla="*/ 1079036 h 1079036"/>
              <a:gd name="connsiteX0" fmla="*/ 0 w 1151932"/>
              <a:gd name="connsiteY0" fmla="*/ 888536 h 922689"/>
              <a:gd name="connsiteX1" fmla="*/ 568646 w 1151932"/>
              <a:gd name="connsiteY1" fmla="*/ 0 h 922689"/>
              <a:gd name="connsiteX2" fmla="*/ 1151932 w 1151932"/>
              <a:gd name="connsiteY2" fmla="*/ 922689 h 922689"/>
              <a:gd name="connsiteX3" fmla="*/ 0 w 1151932"/>
              <a:gd name="connsiteY3" fmla="*/ 888536 h 922689"/>
              <a:gd name="connsiteX0" fmla="*/ 0 w 1158282"/>
              <a:gd name="connsiteY0" fmla="*/ 910761 h 922689"/>
              <a:gd name="connsiteX1" fmla="*/ 574996 w 1158282"/>
              <a:gd name="connsiteY1" fmla="*/ 0 h 922689"/>
              <a:gd name="connsiteX2" fmla="*/ 1158282 w 1158282"/>
              <a:gd name="connsiteY2" fmla="*/ 922689 h 922689"/>
              <a:gd name="connsiteX3" fmla="*/ 0 w 1158282"/>
              <a:gd name="connsiteY3" fmla="*/ 910761 h 922689"/>
              <a:gd name="connsiteX0" fmla="*/ 0 w 1129707"/>
              <a:gd name="connsiteY0" fmla="*/ 910761 h 910761"/>
              <a:gd name="connsiteX1" fmla="*/ 574996 w 1129707"/>
              <a:gd name="connsiteY1" fmla="*/ 0 h 910761"/>
              <a:gd name="connsiteX2" fmla="*/ 1129707 w 1129707"/>
              <a:gd name="connsiteY2" fmla="*/ 909989 h 910761"/>
              <a:gd name="connsiteX3" fmla="*/ 0 w 1129707"/>
              <a:gd name="connsiteY3" fmla="*/ 910761 h 910761"/>
              <a:gd name="connsiteX0" fmla="*/ 0 w 1104307"/>
              <a:gd name="connsiteY0" fmla="*/ 913936 h 913936"/>
              <a:gd name="connsiteX1" fmla="*/ 549596 w 1104307"/>
              <a:gd name="connsiteY1" fmla="*/ 0 h 913936"/>
              <a:gd name="connsiteX2" fmla="*/ 1104307 w 1104307"/>
              <a:gd name="connsiteY2" fmla="*/ 909989 h 913936"/>
              <a:gd name="connsiteX3" fmla="*/ 0 w 1104307"/>
              <a:gd name="connsiteY3" fmla="*/ 913936 h 913936"/>
              <a:gd name="connsiteX0" fmla="*/ 0 w 1117007"/>
              <a:gd name="connsiteY0" fmla="*/ 913936 h 929039"/>
              <a:gd name="connsiteX1" fmla="*/ 549596 w 1117007"/>
              <a:gd name="connsiteY1" fmla="*/ 0 h 929039"/>
              <a:gd name="connsiteX2" fmla="*/ 1117007 w 1117007"/>
              <a:gd name="connsiteY2" fmla="*/ 929039 h 929039"/>
              <a:gd name="connsiteX3" fmla="*/ 0 w 1117007"/>
              <a:gd name="connsiteY3" fmla="*/ 913936 h 929039"/>
              <a:gd name="connsiteX0" fmla="*/ 0 w 1153169"/>
              <a:gd name="connsiteY0" fmla="*/ 913936 h 929039"/>
              <a:gd name="connsiteX1" fmla="*/ 549596 w 1153169"/>
              <a:gd name="connsiteY1" fmla="*/ 0 h 929039"/>
              <a:gd name="connsiteX2" fmla="*/ 1153169 w 1153169"/>
              <a:gd name="connsiteY2" fmla="*/ 929039 h 929039"/>
              <a:gd name="connsiteX3" fmla="*/ 0 w 1153169"/>
              <a:gd name="connsiteY3" fmla="*/ 913936 h 929039"/>
              <a:gd name="connsiteX0" fmla="*/ 0 w 1178569"/>
              <a:gd name="connsiteY0" fmla="*/ 907586 h 929039"/>
              <a:gd name="connsiteX1" fmla="*/ 574996 w 1178569"/>
              <a:gd name="connsiteY1" fmla="*/ 0 h 929039"/>
              <a:gd name="connsiteX2" fmla="*/ 1178569 w 1178569"/>
              <a:gd name="connsiteY2" fmla="*/ 929039 h 929039"/>
              <a:gd name="connsiteX3" fmla="*/ 0 w 1178569"/>
              <a:gd name="connsiteY3" fmla="*/ 907586 h 929039"/>
              <a:gd name="connsiteX0" fmla="*/ 0 w 1153169"/>
              <a:gd name="connsiteY0" fmla="*/ 907586 h 916339"/>
              <a:gd name="connsiteX1" fmla="*/ 574996 w 1153169"/>
              <a:gd name="connsiteY1" fmla="*/ 0 h 916339"/>
              <a:gd name="connsiteX2" fmla="*/ 1153169 w 1153169"/>
              <a:gd name="connsiteY2" fmla="*/ 916339 h 916339"/>
              <a:gd name="connsiteX3" fmla="*/ 0 w 1153169"/>
              <a:gd name="connsiteY3" fmla="*/ 907586 h 916339"/>
              <a:gd name="connsiteX0" fmla="*/ 0 w 1267469"/>
              <a:gd name="connsiteY0" fmla="*/ 1102569 h 1102569"/>
              <a:gd name="connsiteX1" fmla="*/ 689296 w 1267469"/>
              <a:gd name="connsiteY1" fmla="*/ 0 h 1102569"/>
              <a:gd name="connsiteX2" fmla="*/ 1267469 w 1267469"/>
              <a:gd name="connsiteY2" fmla="*/ 916339 h 1102569"/>
              <a:gd name="connsiteX3" fmla="*/ 0 w 1267469"/>
              <a:gd name="connsiteY3" fmla="*/ 1102569 h 1102569"/>
              <a:gd name="connsiteX0" fmla="*/ 0 w 1361599"/>
              <a:gd name="connsiteY0" fmla="*/ 1102569 h 1102569"/>
              <a:gd name="connsiteX1" fmla="*/ 689296 w 1361599"/>
              <a:gd name="connsiteY1" fmla="*/ 0 h 1102569"/>
              <a:gd name="connsiteX2" fmla="*/ 1361599 w 1361599"/>
              <a:gd name="connsiteY2" fmla="*/ 1050810 h 1102569"/>
              <a:gd name="connsiteX3" fmla="*/ 0 w 1361599"/>
              <a:gd name="connsiteY3" fmla="*/ 1102569 h 1102569"/>
              <a:gd name="connsiteX0" fmla="*/ 0 w 1375046"/>
              <a:gd name="connsiteY0" fmla="*/ 1102569 h 1102569"/>
              <a:gd name="connsiteX1" fmla="*/ 689296 w 1375046"/>
              <a:gd name="connsiteY1" fmla="*/ 0 h 1102569"/>
              <a:gd name="connsiteX2" fmla="*/ 1375046 w 1375046"/>
              <a:gd name="connsiteY2" fmla="*/ 1070980 h 1102569"/>
              <a:gd name="connsiteX3" fmla="*/ 0 w 1375046"/>
              <a:gd name="connsiteY3" fmla="*/ 1102569 h 1102569"/>
              <a:gd name="connsiteX0" fmla="*/ 0 w 1385437"/>
              <a:gd name="connsiteY0" fmla="*/ 1102569 h 1102569"/>
              <a:gd name="connsiteX1" fmla="*/ 689296 w 1385437"/>
              <a:gd name="connsiteY1" fmla="*/ 0 h 1102569"/>
              <a:gd name="connsiteX2" fmla="*/ 1385437 w 1385437"/>
              <a:gd name="connsiteY2" fmla="*/ 1102153 h 1102569"/>
              <a:gd name="connsiteX3" fmla="*/ 0 w 1385437"/>
              <a:gd name="connsiteY3" fmla="*/ 1102569 h 1102569"/>
              <a:gd name="connsiteX0" fmla="*/ 0 w 1343152"/>
              <a:gd name="connsiteY0" fmla="*/ 1113140 h 1113140"/>
              <a:gd name="connsiteX1" fmla="*/ 647011 w 1343152"/>
              <a:gd name="connsiteY1" fmla="*/ 0 h 1113140"/>
              <a:gd name="connsiteX2" fmla="*/ 1343152 w 1343152"/>
              <a:gd name="connsiteY2" fmla="*/ 1102153 h 1113140"/>
              <a:gd name="connsiteX3" fmla="*/ 0 w 1343152"/>
              <a:gd name="connsiteY3" fmla="*/ 1113140 h 1113140"/>
              <a:gd name="connsiteX0" fmla="*/ 0 w 1300868"/>
              <a:gd name="connsiteY0" fmla="*/ 1113140 h 1113140"/>
              <a:gd name="connsiteX1" fmla="*/ 647011 w 1300868"/>
              <a:gd name="connsiteY1" fmla="*/ 0 h 1113140"/>
              <a:gd name="connsiteX2" fmla="*/ 1300868 w 1300868"/>
              <a:gd name="connsiteY2" fmla="*/ 1112724 h 1113140"/>
              <a:gd name="connsiteX3" fmla="*/ 0 w 1300868"/>
              <a:gd name="connsiteY3" fmla="*/ 1113140 h 1113140"/>
              <a:gd name="connsiteX0" fmla="*/ 0 w 1295582"/>
              <a:gd name="connsiteY0" fmla="*/ 1113140 h 1113140"/>
              <a:gd name="connsiteX1" fmla="*/ 647011 w 1295582"/>
              <a:gd name="connsiteY1" fmla="*/ 0 h 1113140"/>
              <a:gd name="connsiteX2" fmla="*/ 1295582 w 1295582"/>
              <a:gd name="connsiteY2" fmla="*/ 1107438 h 1113140"/>
              <a:gd name="connsiteX3" fmla="*/ 0 w 1295582"/>
              <a:gd name="connsiteY3" fmla="*/ 1113140 h 1113140"/>
              <a:gd name="connsiteX0" fmla="*/ 0 w 1311457"/>
              <a:gd name="connsiteY0" fmla="*/ 1113140 h 1113140"/>
              <a:gd name="connsiteX1" fmla="*/ 662886 w 1311457"/>
              <a:gd name="connsiteY1" fmla="*/ 0 h 1113140"/>
              <a:gd name="connsiteX2" fmla="*/ 1311457 w 1311457"/>
              <a:gd name="connsiteY2" fmla="*/ 1107438 h 1113140"/>
              <a:gd name="connsiteX3" fmla="*/ 0 w 1311457"/>
              <a:gd name="connsiteY3" fmla="*/ 1113140 h 1113140"/>
              <a:gd name="connsiteX0" fmla="*/ 0 w 1324157"/>
              <a:gd name="connsiteY0" fmla="*/ 1113140 h 1120138"/>
              <a:gd name="connsiteX1" fmla="*/ 662886 w 1324157"/>
              <a:gd name="connsiteY1" fmla="*/ 0 h 1120138"/>
              <a:gd name="connsiteX2" fmla="*/ 1324157 w 1324157"/>
              <a:gd name="connsiteY2" fmla="*/ 1120138 h 1120138"/>
              <a:gd name="connsiteX3" fmla="*/ 0 w 1324157"/>
              <a:gd name="connsiteY3" fmla="*/ 1113140 h 1120138"/>
              <a:gd name="connsiteX0" fmla="*/ 0 w 1340341"/>
              <a:gd name="connsiteY0" fmla="*/ 1113140 h 1120138"/>
              <a:gd name="connsiteX1" fmla="*/ 662886 w 1340341"/>
              <a:gd name="connsiteY1" fmla="*/ 0 h 1120138"/>
              <a:gd name="connsiteX2" fmla="*/ 1340341 w 1340341"/>
              <a:gd name="connsiteY2" fmla="*/ 1120138 h 1120138"/>
              <a:gd name="connsiteX3" fmla="*/ 0 w 1340341"/>
              <a:gd name="connsiteY3" fmla="*/ 1113140 h 1120138"/>
              <a:gd name="connsiteX0" fmla="*/ 0 w 1364617"/>
              <a:gd name="connsiteY0" fmla="*/ 1113140 h 1120138"/>
              <a:gd name="connsiteX1" fmla="*/ 687162 w 1364617"/>
              <a:gd name="connsiteY1" fmla="*/ 0 h 1120138"/>
              <a:gd name="connsiteX2" fmla="*/ 1364617 w 1364617"/>
              <a:gd name="connsiteY2" fmla="*/ 1120138 h 1120138"/>
              <a:gd name="connsiteX3" fmla="*/ 0 w 1364617"/>
              <a:gd name="connsiteY3" fmla="*/ 1113140 h 1120138"/>
              <a:gd name="connsiteX0" fmla="*/ 0 w 1388893"/>
              <a:gd name="connsiteY0" fmla="*/ 1113140 h 1120138"/>
              <a:gd name="connsiteX1" fmla="*/ 687162 w 1388893"/>
              <a:gd name="connsiteY1" fmla="*/ 0 h 1120138"/>
              <a:gd name="connsiteX2" fmla="*/ 1388893 w 1388893"/>
              <a:gd name="connsiteY2" fmla="*/ 1120138 h 1120138"/>
              <a:gd name="connsiteX3" fmla="*/ 0 w 1388893"/>
              <a:gd name="connsiteY3" fmla="*/ 1113140 h 1120138"/>
              <a:gd name="connsiteX0" fmla="*/ 0 w 1393511"/>
              <a:gd name="connsiteY0" fmla="*/ 1126994 h 1126994"/>
              <a:gd name="connsiteX1" fmla="*/ 691780 w 1393511"/>
              <a:gd name="connsiteY1" fmla="*/ 0 h 1126994"/>
              <a:gd name="connsiteX2" fmla="*/ 1393511 w 1393511"/>
              <a:gd name="connsiteY2" fmla="*/ 1120138 h 1126994"/>
              <a:gd name="connsiteX3" fmla="*/ 0 w 1393511"/>
              <a:gd name="connsiteY3" fmla="*/ 1126994 h 1126994"/>
            </a:gdLst>
            <a:ahLst/>
            <a:cxnLst>
              <a:cxn ang="0">
                <a:pos x="connsiteX0" y="connsiteY0"/>
              </a:cxn>
              <a:cxn ang="0">
                <a:pos x="connsiteX1" y="connsiteY1"/>
              </a:cxn>
              <a:cxn ang="0">
                <a:pos x="connsiteX2" y="connsiteY2"/>
              </a:cxn>
              <a:cxn ang="0">
                <a:pos x="connsiteX3" y="connsiteY3"/>
              </a:cxn>
            </a:cxnLst>
            <a:rect l="l" t="t" r="r" b="b"/>
            <a:pathLst>
              <a:path w="1393511" h="1126994">
                <a:moveTo>
                  <a:pt x="0" y="1126994"/>
                </a:moveTo>
                <a:lnTo>
                  <a:pt x="691780" y="0"/>
                </a:lnTo>
                <a:lnTo>
                  <a:pt x="1393511" y="1120138"/>
                </a:lnTo>
                <a:lnTo>
                  <a:pt x="0" y="1126994"/>
                </a:lnTo>
                <a:close/>
              </a:path>
            </a:pathLst>
          </a:cu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400" dirty="0">
              <a:solidFill>
                <a:schemeClr val="tx1"/>
              </a:solidFill>
            </a:endParaRPr>
          </a:p>
        </p:txBody>
      </p:sp>
      <p:sp>
        <p:nvSpPr>
          <p:cNvPr id="14" name="文字方塊 13">
            <a:extLst>
              <a:ext uri="{FF2B5EF4-FFF2-40B4-BE49-F238E27FC236}">
                <a16:creationId xmlns:a16="http://schemas.microsoft.com/office/drawing/2014/main" id="{C1DD3794-F8C2-D727-32C4-7CF88FD32DFA}"/>
              </a:ext>
            </a:extLst>
          </p:cNvPr>
          <p:cNvSpPr txBox="1"/>
          <p:nvPr/>
        </p:nvSpPr>
        <p:spPr>
          <a:xfrm>
            <a:off x="1726394" y="3608638"/>
            <a:ext cx="809838" cy="830997"/>
          </a:xfrm>
          <a:prstGeom prst="rect">
            <a:avLst/>
          </a:prstGeom>
          <a:noFill/>
        </p:spPr>
        <p:txBody>
          <a:bodyPr wrap="none" rtlCol="0">
            <a:spAutoFit/>
          </a:bodyPr>
          <a:lstStyle/>
          <a:p>
            <a:pPr algn="ctr"/>
            <a:r>
              <a:rPr kumimoji="1" lang="en-US" altLang="zh-TW" sz="1600" dirty="0"/>
              <a:t>Cache</a:t>
            </a:r>
            <a:br>
              <a:rPr kumimoji="1" lang="en-US" altLang="zh-TW" sz="1600" dirty="0"/>
            </a:br>
            <a:r>
              <a:rPr kumimoji="1" lang="en-US" altLang="zh-TW" sz="1600" dirty="0"/>
              <a:t>TLB</a:t>
            </a:r>
            <a:br>
              <a:rPr kumimoji="1" lang="en-US" altLang="zh-TW" sz="1600" dirty="0"/>
            </a:br>
            <a:r>
              <a:rPr kumimoji="1" lang="en-US" altLang="zh-TW" sz="1600" dirty="0"/>
              <a:t>(SRAM)</a:t>
            </a:r>
            <a:endParaRPr kumimoji="1" lang="zh-TW" altLang="en-US" sz="1600" dirty="0"/>
          </a:p>
        </p:txBody>
      </p:sp>
      <p:sp>
        <p:nvSpPr>
          <p:cNvPr id="17" name="文字方塊 16">
            <a:extLst>
              <a:ext uri="{FF2B5EF4-FFF2-40B4-BE49-F238E27FC236}">
                <a16:creationId xmlns:a16="http://schemas.microsoft.com/office/drawing/2014/main" id="{4BC5CEEC-D15F-E203-D685-D32DE3690055}"/>
              </a:ext>
            </a:extLst>
          </p:cNvPr>
          <p:cNvSpPr txBox="1"/>
          <p:nvPr/>
        </p:nvSpPr>
        <p:spPr>
          <a:xfrm>
            <a:off x="1715043" y="4651321"/>
            <a:ext cx="900631" cy="584775"/>
          </a:xfrm>
          <a:prstGeom prst="rect">
            <a:avLst/>
          </a:prstGeom>
          <a:noFill/>
        </p:spPr>
        <p:txBody>
          <a:bodyPr wrap="none" rtlCol="0">
            <a:spAutoFit/>
          </a:bodyPr>
          <a:lstStyle/>
          <a:p>
            <a:pPr algn="ctr"/>
            <a:r>
              <a:rPr kumimoji="1" lang="en-US" altLang="zh-TW" sz="1600" dirty="0"/>
              <a:t>Memory</a:t>
            </a:r>
            <a:br>
              <a:rPr kumimoji="1" lang="en-US" altLang="zh-TW" sz="1600" dirty="0"/>
            </a:br>
            <a:r>
              <a:rPr kumimoji="1" lang="en-US" altLang="zh-TW" sz="1600" dirty="0"/>
              <a:t>(DRAM)</a:t>
            </a:r>
            <a:endParaRPr kumimoji="1" lang="zh-TW" altLang="en-US" sz="1600" dirty="0"/>
          </a:p>
        </p:txBody>
      </p:sp>
      <p:sp>
        <p:nvSpPr>
          <p:cNvPr id="22" name="矩形 21">
            <a:extLst>
              <a:ext uri="{FF2B5EF4-FFF2-40B4-BE49-F238E27FC236}">
                <a16:creationId xmlns:a16="http://schemas.microsoft.com/office/drawing/2014/main" id="{FEA53629-497D-DB81-420D-91A332DDD51A}"/>
              </a:ext>
            </a:extLst>
          </p:cNvPr>
          <p:cNvSpPr/>
          <p:nvPr/>
        </p:nvSpPr>
        <p:spPr>
          <a:xfrm>
            <a:off x="527820" y="5394761"/>
            <a:ext cx="3202610" cy="3370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 name="矩形 23">
            <a:extLst>
              <a:ext uri="{FF2B5EF4-FFF2-40B4-BE49-F238E27FC236}">
                <a16:creationId xmlns:a16="http://schemas.microsoft.com/office/drawing/2014/main" id="{84B2BAB0-86C2-CAE0-D931-7360CA7C1AE2}"/>
              </a:ext>
            </a:extLst>
          </p:cNvPr>
          <p:cNvSpPr/>
          <p:nvPr/>
        </p:nvSpPr>
        <p:spPr>
          <a:xfrm>
            <a:off x="472404" y="5405957"/>
            <a:ext cx="3184134" cy="65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矩形 24">
            <a:extLst>
              <a:ext uri="{FF2B5EF4-FFF2-40B4-BE49-F238E27FC236}">
                <a16:creationId xmlns:a16="http://schemas.microsoft.com/office/drawing/2014/main" id="{624CC9ED-2CAA-C4E2-7D82-7432A80D7CC6}"/>
              </a:ext>
            </a:extLst>
          </p:cNvPr>
          <p:cNvSpPr/>
          <p:nvPr/>
        </p:nvSpPr>
        <p:spPr>
          <a:xfrm>
            <a:off x="374456" y="6010684"/>
            <a:ext cx="3656393" cy="65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 name="矩形 25">
            <a:extLst>
              <a:ext uri="{FF2B5EF4-FFF2-40B4-BE49-F238E27FC236}">
                <a16:creationId xmlns:a16="http://schemas.microsoft.com/office/drawing/2014/main" id="{3319DD0B-5E8C-505A-A4D1-7BC7A9C42CD8}"/>
              </a:ext>
            </a:extLst>
          </p:cNvPr>
          <p:cNvSpPr/>
          <p:nvPr/>
        </p:nvSpPr>
        <p:spPr>
          <a:xfrm>
            <a:off x="846716" y="4401035"/>
            <a:ext cx="3184134" cy="65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grpSp>
        <p:nvGrpSpPr>
          <p:cNvPr id="43" name="群組 42">
            <a:extLst>
              <a:ext uri="{FF2B5EF4-FFF2-40B4-BE49-F238E27FC236}">
                <a16:creationId xmlns:a16="http://schemas.microsoft.com/office/drawing/2014/main" id="{ADCBDF76-863B-92E7-B91C-6830F75E33B6}"/>
              </a:ext>
            </a:extLst>
          </p:cNvPr>
          <p:cNvGrpSpPr/>
          <p:nvPr/>
        </p:nvGrpSpPr>
        <p:grpSpPr>
          <a:xfrm>
            <a:off x="2928619" y="4229786"/>
            <a:ext cx="487634" cy="338554"/>
            <a:chOff x="2928619" y="4229786"/>
            <a:chExt cx="487634" cy="338554"/>
          </a:xfrm>
        </p:grpSpPr>
        <p:cxnSp>
          <p:nvCxnSpPr>
            <p:cNvPr id="28" name="直線箭頭接點 27">
              <a:extLst>
                <a:ext uri="{FF2B5EF4-FFF2-40B4-BE49-F238E27FC236}">
                  <a16:creationId xmlns:a16="http://schemas.microsoft.com/office/drawing/2014/main" id="{9830A696-B21D-9C27-AAEF-4916F95B2B9B}"/>
                </a:ext>
              </a:extLst>
            </p:cNvPr>
            <p:cNvCxnSpPr>
              <a:cxnSpLocks/>
            </p:cNvCxnSpPr>
            <p:nvPr/>
          </p:nvCxnSpPr>
          <p:spPr>
            <a:xfrm>
              <a:off x="2928619" y="4239491"/>
              <a:ext cx="0" cy="281126"/>
            </a:xfrm>
            <a:prstGeom prst="straightConnector1">
              <a:avLst/>
            </a:prstGeom>
            <a:ln w="38100">
              <a:solidFill>
                <a:srgbClr val="0070C0"/>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8E8A8F12-7777-A059-01CD-BA6A7709A59F}"/>
                </a:ext>
              </a:extLst>
            </p:cNvPr>
            <p:cNvSpPr txBox="1"/>
            <p:nvPr/>
          </p:nvSpPr>
          <p:spPr>
            <a:xfrm>
              <a:off x="2928619" y="4229786"/>
              <a:ext cx="487634" cy="338554"/>
            </a:xfrm>
            <a:prstGeom prst="rect">
              <a:avLst/>
            </a:prstGeom>
            <a:noFill/>
          </p:spPr>
          <p:txBody>
            <a:bodyPr wrap="none" rtlCol="0">
              <a:spAutoFit/>
            </a:bodyPr>
            <a:lstStyle/>
            <a:p>
              <a:pPr algn="ctr"/>
              <a:r>
                <a:rPr kumimoji="1" lang="en-US" altLang="zh-TW" sz="1600" b="1" dirty="0">
                  <a:solidFill>
                    <a:srgbClr val="0070C0"/>
                  </a:solidFill>
                </a:rPr>
                <a:t>10x</a:t>
              </a:r>
              <a:endParaRPr kumimoji="1" lang="zh-TW" altLang="en-US" sz="1600" b="1" dirty="0">
                <a:solidFill>
                  <a:srgbClr val="0070C0"/>
                </a:solidFill>
              </a:endParaRPr>
            </a:p>
          </p:txBody>
        </p:sp>
      </p:grpSp>
      <p:grpSp>
        <p:nvGrpSpPr>
          <p:cNvPr id="42" name="群組 41">
            <a:extLst>
              <a:ext uri="{FF2B5EF4-FFF2-40B4-BE49-F238E27FC236}">
                <a16:creationId xmlns:a16="http://schemas.microsoft.com/office/drawing/2014/main" id="{D1618CB8-652A-E3DF-3891-837F6BDBF823}"/>
              </a:ext>
            </a:extLst>
          </p:cNvPr>
          <p:cNvGrpSpPr/>
          <p:nvPr/>
        </p:nvGrpSpPr>
        <p:grpSpPr>
          <a:xfrm>
            <a:off x="3689050" y="5270977"/>
            <a:ext cx="853093" cy="490846"/>
            <a:chOff x="3689050" y="5270977"/>
            <a:chExt cx="853093" cy="490846"/>
          </a:xfrm>
        </p:grpSpPr>
        <p:cxnSp>
          <p:nvCxnSpPr>
            <p:cNvPr id="32" name="直線箭頭接點 31">
              <a:extLst>
                <a:ext uri="{FF2B5EF4-FFF2-40B4-BE49-F238E27FC236}">
                  <a16:creationId xmlns:a16="http://schemas.microsoft.com/office/drawing/2014/main" id="{ED79DCC9-4867-704A-9837-D3F20C372990}"/>
                </a:ext>
              </a:extLst>
            </p:cNvPr>
            <p:cNvCxnSpPr>
              <a:cxnSpLocks/>
            </p:cNvCxnSpPr>
            <p:nvPr/>
          </p:nvCxnSpPr>
          <p:spPr>
            <a:xfrm>
              <a:off x="3689050" y="5270977"/>
              <a:ext cx="0" cy="490846"/>
            </a:xfrm>
            <a:prstGeom prst="straightConnector1">
              <a:avLst/>
            </a:prstGeom>
            <a:ln w="38100">
              <a:solidFill>
                <a:srgbClr val="0070C0"/>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37" name="文字方塊 36">
              <a:extLst>
                <a:ext uri="{FF2B5EF4-FFF2-40B4-BE49-F238E27FC236}">
                  <a16:creationId xmlns:a16="http://schemas.microsoft.com/office/drawing/2014/main" id="{248C3716-B386-B955-5E5D-A3F13B7A4A92}"/>
                </a:ext>
              </a:extLst>
            </p:cNvPr>
            <p:cNvSpPr txBox="1"/>
            <p:nvPr/>
          </p:nvSpPr>
          <p:spPr>
            <a:xfrm>
              <a:off x="3697040" y="5327596"/>
              <a:ext cx="845103" cy="338554"/>
            </a:xfrm>
            <a:prstGeom prst="rect">
              <a:avLst/>
            </a:prstGeom>
            <a:noFill/>
          </p:spPr>
          <p:txBody>
            <a:bodyPr wrap="none" rtlCol="0">
              <a:spAutoFit/>
            </a:bodyPr>
            <a:lstStyle/>
            <a:p>
              <a:pPr algn="ctr"/>
              <a:r>
                <a:rPr kumimoji="1" lang="en-US" altLang="zh-TW" sz="1600" b="1" dirty="0">
                  <a:solidFill>
                    <a:srgbClr val="0070C0"/>
                  </a:solidFill>
                </a:rPr>
                <a:t>&gt; 1000x</a:t>
              </a:r>
              <a:endParaRPr kumimoji="1" lang="zh-TW" altLang="en-US" sz="1600" b="1" dirty="0">
                <a:solidFill>
                  <a:srgbClr val="0070C0"/>
                </a:solidFill>
              </a:endParaRPr>
            </a:p>
          </p:txBody>
        </p:sp>
      </p:grpSp>
      <p:sp>
        <p:nvSpPr>
          <p:cNvPr id="38" name="文字方塊 37">
            <a:extLst>
              <a:ext uri="{FF2B5EF4-FFF2-40B4-BE49-F238E27FC236}">
                <a16:creationId xmlns:a16="http://schemas.microsoft.com/office/drawing/2014/main" id="{1A4D9F1E-512B-0868-794B-1B92E0D35954}"/>
              </a:ext>
            </a:extLst>
          </p:cNvPr>
          <p:cNvSpPr txBox="1"/>
          <p:nvPr/>
        </p:nvSpPr>
        <p:spPr>
          <a:xfrm>
            <a:off x="2574534" y="3696835"/>
            <a:ext cx="792205" cy="338554"/>
          </a:xfrm>
          <a:prstGeom prst="rect">
            <a:avLst/>
          </a:prstGeom>
          <a:noFill/>
        </p:spPr>
        <p:txBody>
          <a:bodyPr wrap="none" rtlCol="0">
            <a:spAutoFit/>
          </a:bodyPr>
          <a:lstStyle/>
          <a:p>
            <a:pPr algn="ctr"/>
            <a:r>
              <a:rPr kumimoji="1" lang="en-US" altLang="zh-TW" sz="1600" b="1" dirty="0">
                <a:solidFill>
                  <a:srgbClr val="0070C0"/>
                </a:solidFill>
              </a:rPr>
              <a:t>1~10ns</a:t>
            </a:r>
            <a:endParaRPr kumimoji="1" lang="zh-TW" altLang="en-US" sz="1600" b="1" dirty="0">
              <a:solidFill>
                <a:srgbClr val="0070C0"/>
              </a:solidFill>
            </a:endParaRPr>
          </a:p>
        </p:txBody>
      </p:sp>
      <p:sp>
        <p:nvSpPr>
          <p:cNvPr id="39" name="文字方塊 38">
            <a:extLst>
              <a:ext uri="{FF2B5EF4-FFF2-40B4-BE49-F238E27FC236}">
                <a16:creationId xmlns:a16="http://schemas.microsoft.com/office/drawing/2014/main" id="{0E2FE5E9-B6DE-F3E8-D300-62CAF2F68AA0}"/>
              </a:ext>
            </a:extLst>
          </p:cNvPr>
          <p:cNvSpPr txBox="1"/>
          <p:nvPr/>
        </p:nvSpPr>
        <p:spPr>
          <a:xfrm>
            <a:off x="3172436" y="4711673"/>
            <a:ext cx="1000595" cy="338554"/>
          </a:xfrm>
          <a:prstGeom prst="rect">
            <a:avLst/>
          </a:prstGeom>
          <a:noFill/>
        </p:spPr>
        <p:txBody>
          <a:bodyPr wrap="none" rtlCol="0">
            <a:spAutoFit/>
          </a:bodyPr>
          <a:lstStyle/>
          <a:p>
            <a:pPr algn="ctr"/>
            <a:r>
              <a:rPr kumimoji="1" lang="en-US" altLang="zh-TW" sz="1600" b="1" dirty="0">
                <a:solidFill>
                  <a:srgbClr val="0070C0"/>
                </a:solidFill>
              </a:rPr>
              <a:t>10~100ns</a:t>
            </a:r>
            <a:endParaRPr kumimoji="1" lang="zh-TW" altLang="en-US" sz="1600" b="1" dirty="0">
              <a:solidFill>
                <a:srgbClr val="0070C0"/>
              </a:solidFill>
            </a:endParaRPr>
          </a:p>
        </p:txBody>
      </p:sp>
      <p:sp>
        <p:nvSpPr>
          <p:cNvPr id="40" name="文字方塊 39">
            <a:extLst>
              <a:ext uri="{FF2B5EF4-FFF2-40B4-BE49-F238E27FC236}">
                <a16:creationId xmlns:a16="http://schemas.microsoft.com/office/drawing/2014/main" id="{578D5C86-7ECA-3321-18BC-2C9345DA9EC4}"/>
              </a:ext>
            </a:extLst>
          </p:cNvPr>
          <p:cNvSpPr txBox="1"/>
          <p:nvPr/>
        </p:nvSpPr>
        <p:spPr>
          <a:xfrm>
            <a:off x="4030849" y="6127852"/>
            <a:ext cx="1237839" cy="338554"/>
          </a:xfrm>
          <a:prstGeom prst="rect">
            <a:avLst/>
          </a:prstGeom>
          <a:noFill/>
        </p:spPr>
        <p:txBody>
          <a:bodyPr wrap="none" rtlCol="0">
            <a:spAutoFit/>
          </a:bodyPr>
          <a:lstStyle/>
          <a:p>
            <a:pPr algn="ctr"/>
            <a:r>
              <a:rPr kumimoji="1" lang="en-US" altLang="zh-TW" sz="1600" b="1" dirty="0">
                <a:solidFill>
                  <a:srgbClr val="0070C0"/>
                </a:solidFill>
              </a:rPr>
              <a:t>100us ~ 1ms</a:t>
            </a:r>
            <a:endParaRPr kumimoji="1" lang="zh-TW" altLang="en-US" sz="1600" b="1" dirty="0">
              <a:solidFill>
                <a:srgbClr val="0070C0"/>
              </a:solidFill>
            </a:endParaRPr>
          </a:p>
        </p:txBody>
      </p:sp>
      <p:sp>
        <p:nvSpPr>
          <p:cNvPr id="20" name="文字方塊 19">
            <a:extLst>
              <a:ext uri="{FF2B5EF4-FFF2-40B4-BE49-F238E27FC236}">
                <a16:creationId xmlns:a16="http://schemas.microsoft.com/office/drawing/2014/main" id="{1976FA80-9614-5841-2191-7656D56375FA}"/>
              </a:ext>
            </a:extLst>
          </p:cNvPr>
          <p:cNvSpPr txBox="1"/>
          <p:nvPr/>
        </p:nvSpPr>
        <p:spPr>
          <a:xfrm>
            <a:off x="1065653" y="5434343"/>
            <a:ext cx="2198039" cy="584775"/>
          </a:xfrm>
          <a:prstGeom prst="rect">
            <a:avLst/>
          </a:prstGeom>
          <a:noFill/>
        </p:spPr>
        <p:txBody>
          <a:bodyPr wrap="none" rtlCol="0">
            <a:spAutoFit/>
          </a:bodyPr>
          <a:lstStyle/>
          <a:p>
            <a:pPr algn="ctr"/>
            <a:r>
              <a:rPr kumimoji="1" lang="en-US" altLang="zh-TW" sz="1600" dirty="0"/>
              <a:t>NVM, ULL Devices</a:t>
            </a:r>
            <a:br>
              <a:rPr kumimoji="1" lang="en-US" altLang="zh-TW" sz="1600" dirty="0"/>
            </a:br>
            <a:r>
              <a:rPr kumimoji="1" lang="en-US" altLang="zh-TW" sz="1600" dirty="0"/>
              <a:t>(PCM, Samsung ZNAND)</a:t>
            </a:r>
            <a:endParaRPr kumimoji="1" lang="zh-TW" altLang="en-US" sz="1600" dirty="0"/>
          </a:p>
        </p:txBody>
      </p:sp>
      <p:grpSp>
        <p:nvGrpSpPr>
          <p:cNvPr id="47" name="群組 46">
            <a:extLst>
              <a:ext uri="{FF2B5EF4-FFF2-40B4-BE49-F238E27FC236}">
                <a16:creationId xmlns:a16="http://schemas.microsoft.com/office/drawing/2014/main" id="{349CE433-AFF6-1CD9-85D6-132A1BC972E1}"/>
              </a:ext>
            </a:extLst>
          </p:cNvPr>
          <p:cNvGrpSpPr/>
          <p:nvPr/>
        </p:nvGrpSpPr>
        <p:grpSpPr>
          <a:xfrm>
            <a:off x="3621417" y="5265216"/>
            <a:ext cx="1387195" cy="622340"/>
            <a:chOff x="3683763" y="5265216"/>
            <a:chExt cx="1387195" cy="622340"/>
          </a:xfrm>
        </p:grpSpPr>
        <p:sp>
          <p:nvSpPr>
            <p:cNvPr id="41" name="文字方塊 40">
              <a:extLst>
                <a:ext uri="{FF2B5EF4-FFF2-40B4-BE49-F238E27FC236}">
                  <a16:creationId xmlns:a16="http://schemas.microsoft.com/office/drawing/2014/main" id="{CF1CC7EA-7511-8D06-ABC4-B960BA48C8B7}"/>
                </a:ext>
              </a:extLst>
            </p:cNvPr>
            <p:cNvSpPr txBox="1"/>
            <p:nvPr/>
          </p:nvSpPr>
          <p:spPr>
            <a:xfrm>
              <a:off x="3738542" y="5549002"/>
              <a:ext cx="1332416" cy="338554"/>
            </a:xfrm>
            <a:prstGeom prst="rect">
              <a:avLst/>
            </a:prstGeom>
            <a:noFill/>
          </p:spPr>
          <p:txBody>
            <a:bodyPr wrap="none" rtlCol="0">
              <a:spAutoFit/>
            </a:bodyPr>
            <a:lstStyle/>
            <a:p>
              <a:pPr algn="ctr"/>
              <a:r>
                <a:rPr kumimoji="1" lang="en-US" altLang="zh-TW" sz="1600" b="1" dirty="0">
                  <a:solidFill>
                    <a:srgbClr val="0070C0"/>
                  </a:solidFill>
                </a:rPr>
                <a:t>100ns ~ 10 us</a:t>
              </a:r>
              <a:endParaRPr kumimoji="1" lang="zh-TW" altLang="en-US" sz="1600" b="1" dirty="0">
                <a:solidFill>
                  <a:srgbClr val="0070C0"/>
                </a:solidFill>
              </a:endParaRPr>
            </a:p>
          </p:txBody>
        </p:sp>
        <p:grpSp>
          <p:nvGrpSpPr>
            <p:cNvPr id="44" name="群組 43">
              <a:extLst>
                <a:ext uri="{FF2B5EF4-FFF2-40B4-BE49-F238E27FC236}">
                  <a16:creationId xmlns:a16="http://schemas.microsoft.com/office/drawing/2014/main" id="{DD71310D-218E-E56B-C7DB-6022800F8096}"/>
                </a:ext>
              </a:extLst>
            </p:cNvPr>
            <p:cNvGrpSpPr/>
            <p:nvPr/>
          </p:nvGrpSpPr>
          <p:grpSpPr>
            <a:xfrm>
              <a:off x="3683763" y="5265216"/>
              <a:ext cx="487634" cy="338554"/>
              <a:chOff x="2928619" y="4229786"/>
              <a:chExt cx="487634" cy="338554"/>
            </a:xfrm>
          </p:grpSpPr>
          <p:cxnSp>
            <p:nvCxnSpPr>
              <p:cNvPr id="45" name="直線箭頭接點 44">
                <a:extLst>
                  <a:ext uri="{FF2B5EF4-FFF2-40B4-BE49-F238E27FC236}">
                    <a16:creationId xmlns:a16="http://schemas.microsoft.com/office/drawing/2014/main" id="{849B3A36-FD08-DCEB-3401-2D247A410F30}"/>
                  </a:ext>
                </a:extLst>
              </p:cNvPr>
              <p:cNvCxnSpPr>
                <a:cxnSpLocks/>
              </p:cNvCxnSpPr>
              <p:nvPr/>
            </p:nvCxnSpPr>
            <p:spPr>
              <a:xfrm>
                <a:off x="2928619" y="4239491"/>
                <a:ext cx="0" cy="281126"/>
              </a:xfrm>
              <a:prstGeom prst="straightConnector1">
                <a:avLst/>
              </a:prstGeom>
              <a:ln w="38100">
                <a:solidFill>
                  <a:srgbClr val="0070C0"/>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46" name="文字方塊 45">
                <a:extLst>
                  <a:ext uri="{FF2B5EF4-FFF2-40B4-BE49-F238E27FC236}">
                    <a16:creationId xmlns:a16="http://schemas.microsoft.com/office/drawing/2014/main" id="{4F8155E6-53F2-4C93-2290-7C0A48E2BB6F}"/>
                  </a:ext>
                </a:extLst>
              </p:cNvPr>
              <p:cNvSpPr txBox="1"/>
              <p:nvPr/>
            </p:nvSpPr>
            <p:spPr>
              <a:xfrm>
                <a:off x="2928619" y="4229786"/>
                <a:ext cx="487634" cy="338554"/>
              </a:xfrm>
              <a:prstGeom prst="rect">
                <a:avLst/>
              </a:prstGeom>
              <a:noFill/>
            </p:spPr>
            <p:txBody>
              <a:bodyPr wrap="none" rtlCol="0">
                <a:spAutoFit/>
              </a:bodyPr>
              <a:lstStyle/>
              <a:p>
                <a:pPr algn="ctr"/>
                <a:r>
                  <a:rPr kumimoji="1" lang="en-US" altLang="zh-TW" sz="1600" b="1" dirty="0">
                    <a:solidFill>
                      <a:srgbClr val="0070C0"/>
                    </a:solidFill>
                  </a:rPr>
                  <a:t>10x</a:t>
                </a:r>
                <a:endParaRPr kumimoji="1" lang="zh-TW" altLang="en-US" sz="1600" b="1" dirty="0">
                  <a:solidFill>
                    <a:srgbClr val="0070C0"/>
                  </a:solidFill>
                </a:endParaRPr>
              </a:p>
            </p:txBody>
          </p:sp>
        </p:grpSp>
      </p:grpSp>
      <p:sp>
        <p:nvSpPr>
          <p:cNvPr id="49" name="文字方塊 48">
            <a:extLst>
              <a:ext uri="{FF2B5EF4-FFF2-40B4-BE49-F238E27FC236}">
                <a16:creationId xmlns:a16="http://schemas.microsoft.com/office/drawing/2014/main" id="{AF713889-6F81-428A-AF1C-53ABFDD780EA}"/>
              </a:ext>
            </a:extLst>
          </p:cNvPr>
          <p:cNvSpPr txBox="1"/>
          <p:nvPr/>
        </p:nvSpPr>
        <p:spPr>
          <a:xfrm>
            <a:off x="426211" y="5818759"/>
            <a:ext cx="3500510" cy="400110"/>
          </a:xfrm>
          <a:prstGeom prst="rect">
            <a:avLst/>
          </a:prstGeom>
          <a:noFill/>
        </p:spPr>
        <p:txBody>
          <a:bodyPr wrap="none" rtlCol="0">
            <a:spAutoFit/>
          </a:bodyPr>
          <a:lstStyle/>
          <a:p>
            <a:pPr algn="ctr"/>
            <a:r>
              <a:rPr kumimoji="1" lang="en-US" altLang="zh-TW" sz="2000" b="1" i="1" dirty="0">
                <a:solidFill>
                  <a:srgbClr val="C00000"/>
                </a:solidFill>
              </a:rPr>
              <a:t>OS Management (100ns ~10us)</a:t>
            </a:r>
            <a:endParaRPr kumimoji="1" lang="zh-TW" altLang="en-US" sz="2000" b="1" i="1" dirty="0">
              <a:solidFill>
                <a:srgbClr val="C00000"/>
              </a:solidFill>
            </a:endParaRPr>
          </a:p>
        </p:txBody>
      </p:sp>
    </p:spTree>
    <p:extLst>
      <p:ext uri="{BB962C8B-B14F-4D97-AF65-F5344CB8AC3E}">
        <p14:creationId xmlns:p14="http://schemas.microsoft.com/office/powerpoint/2010/main" val="73420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5"/>
                                        </p:tgtEl>
                                        <p:attrNameLst>
                                          <p:attrName>style.opacity</p:attrName>
                                        </p:attrNameLst>
                                      </p:cBhvr>
                                      <p:to>
                                        <p:strVal val="0.5"/>
                                      </p:to>
                                    </p:set>
                                    <p:animEffect filter="image" prLst="opacity: 0.5">
                                      <p:cBhvr rctx="IE">
                                        <p:cTn id="7" dur="indefinite"/>
                                        <p:tgtEl>
                                          <p:spTgt spid="5"/>
                                        </p:tgtEl>
                                      </p:cBhvr>
                                    </p:animEffect>
                                  </p:childTnLst>
                                </p:cTn>
                              </p:par>
                              <p:par>
                                <p:cTn id="8" presetID="9" presetClass="emph" presetSubtype="0" grpId="0" nodeType="withEffect">
                                  <p:stCondLst>
                                    <p:cond delay="0"/>
                                  </p:stCondLst>
                                  <p:childTnLst>
                                    <p:set>
                                      <p:cBhvr>
                                        <p:cTn id="9" dur="indefinite"/>
                                        <p:tgtEl>
                                          <p:spTgt spid="6"/>
                                        </p:tgtEl>
                                        <p:attrNameLst>
                                          <p:attrName>style.opacity</p:attrName>
                                        </p:attrNameLst>
                                      </p:cBhvr>
                                      <p:to>
                                        <p:strVal val="0.5"/>
                                      </p:to>
                                    </p:set>
                                    <p:animEffect filter="image" prLst="opacity: 0.5">
                                      <p:cBhvr rctx="IE">
                                        <p:cTn id="10" dur="indefinite"/>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xit" presetSubtype="4" fill="hold" grpId="0" nodeType="clickEffect">
                                  <p:stCondLst>
                                    <p:cond delay="0"/>
                                  </p:stCondLst>
                                  <p:childTnLst>
                                    <p:animEffect transition="out" filter="wipe(down)">
                                      <p:cBhvr>
                                        <p:cTn id="19" dur="500"/>
                                        <p:tgtEl>
                                          <p:spTgt spid="22"/>
                                        </p:tgtEl>
                                      </p:cBhvr>
                                    </p:animEffect>
                                    <p:set>
                                      <p:cBhvr>
                                        <p:cTn id="20" dur="1" fill="hold">
                                          <p:stCondLst>
                                            <p:cond delay="499"/>
                                          </p:stCondLst>
                                        </p:cTn>
                                        <p:tgtEl>
                                          <p:spTgt spid="22"/>
                                        </p:tgtEl>
                                        <p:attrNameLst>
                                          <p:attrName>style.visibility</p:attrName>
                                        </p:attrNameLst>
                                      </p:cBhvr>
                                      <p:to>
                                        <p:strVal val="hidden"/>
                                      </p:to>
                                    </p:set>
                                  </p:childTnLst>
                                </p:cTn>
                              </p:par>
                              <p:par>
                                <p:cTn id="21" presetID="22" presetClass="exit" presetSubtype="4" fill="hold" nodeType="withEffect">
                                  <p:stCondLst>
                                    <p:cond delay="0"/>
                                  </p:stCondLst>
                                  <p:childTnLst>
                                    <p:animEffect transition="out" filter="wipe(down)">
                                      <p:cBhvr>
                                        <p:cTn id="22" dur="500"/>
                                        <p:tgtEl>
                                          <p:spTgt spid="42"/>
                                        </p:tgtEl>
                                      </p:cBhvr>
                                    </p:animEffect>
                                    <p:set>
                                      <p:cBhvr>
                                        <p:cTn id="23" dur="1" fill="hold">
                                          <p:stCondLst>
                                            <p:cond delay="499"/>
                                          </p:stCondLst>
                                        </p:cTn>
                                        <p:tgtEl>
                                          <p:spTgt spid="42"/>
                                        </p:tgtEl>
                                        <p:attrNameLst>
                                          <p:attrName>style.visibility</p:attrName>
                                        </p:attrNameLst>
                                      </p:cBhvr>
                                      <p:to>
                                        <p:strVal val="hidden"/>
                                      </p:to>
                                    </p:set>
                                  </p:childTnLst>
                                </p:cTn>
                              </p:par>
                            </p:childTnLst>
                          </p:cTn>
                        </p:par>
                        <p:par>
                          <p:cTn id="24" fill="hold">
                            <p:stCondLst>
                              <p:cond delay="500"/>
                            </p:stCondLst>
                            <p:childTnLst>
                              <p:par>
                                <p:cTn id="25" presetID="22" presetClass="entr" presetSubtype="1"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par>
                          <p:cTn id="28" fill="hold">
                            <p:stCondLst>
                              <p:cond delay="1000"/>
                            </p:stCondLst>
                            <p:childTnLst>
                              <p:par>
                                <p:cTn id="29" presetID="10" presetClass="entr" presetSubtype="0" fill="hold" grpId="0"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10" presetClass="entr" presetSubtype="0" fill="hold"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500"/>
                                        <p:tgtEl>
                                          <p:spTgt spid="4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fade">
                                      <p:cBhvr>
                                        <p:cTn id="42" dur="500"/>
                                        <p:tgtEl>
                                          <p:spTgt spid="49"/>
                                        </p:tgtEl>
                                      </p:cBhvr>
                                    </p:animEffect>
                                  </p:childTnLst>
                                </p:cTn>
                              </p:par>
                            </p:childTnLst>
                          </p:cTn>
                        </p:par>
                        <p:par>
                          <p:cTn id="43" fill="hold">
                            <p:stCondLst>
                              <p:cond delay="500"/>
                            </p:stCondLst>
                            <p:childTnLst>
                              <p:par>
                                <p:cTn id="44" presetID="26" presetClass="emph" presetSubtype="0" fill="hold" grpId="1" nodeType="afterEffect">
                                  <p:stCondLst>
                                    <p:cond delay="0"/>
                                  </p:stCondLst>
                                  <p:childTnLst>
                                    <p:animEffect transition="out" filter="fade">
                                      <p:cBhvr>
                                        <p:cTn id="45" dur="500" tmFilter="0, 0; .2, .5; .8, .5; 1, 0"/>
                                        <p:tgtEl>
                                          <p:spTgt spid="49"/>
                                        </p:tgtEl>
                                      </p:cBhvr>
                                    </p:animEffect>
                                    <p:animScale>
                                      <p:cBhvr>
                                        <p:cTn id="46" dur="250" autoRev="1" fill="hold"/>
                                        <p:tgtEl>
                                          <p:spTgt spid="49"/>
                                        </p:tgtEl>
                                      </p:cBhvr>
                                      <p:by x="105000" y="105000"/>
                                    </p:animScale>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1" end="1"/>
                                            </p:txEl>
                                          </p:spTgt>
                                        </p:tgtEl>
                                        <p:attrNameLst>
                                          <p:attrName>style.visibility</p:attrName>
                                        </p:attrNameLst>
                                      </p:cBhvr>
                                      <p:to>
                                        <p:strVal val="visible"/>
                                      </p:to>
                                    </p:set>
                                    <p:animEffect transition="in" filter="fade">
                                      <p:cBhvr>
                                        <p:cTn id="51" dur="500"/>
                                        <p:tgtEl>
                                          <p:spTgt spid="3">
                                            <p:txEl>
                                              <p:pRg st="1" end="1"/>
                                            </p:txEl>
                                          </p:spTgt>
                                        </p:tgtEl>
                                      </p:cBhvr>
                                    </p:animEffect>
                                  </p:childTnLst>
                                </p:cTn>
                              </p:par>
                              <p:par>
                                <p:cTn id="52" presetID="9" presetClass="emph" presetSubtype="0" nodeType="withEffect">
                                  <p:stCondLst>
                                    <p:cond delay="0"/>
                                  </p:stCondLst>
                                  <p:childTnLst>
                                    <p:set>
                                      <p:cBhvr>
                                        <p:cTn id="53" dur="indefinite"/>
                                        <p:tgtEl>
                                          <p:spTgt spid="3">
                                            <p:txEl>
                                              <p:pRg st="0" end="0"/>
                                            </p:txEl>
                                          </p:spTgt>
                                        </p:tgtEl>
                                        <p:attrNameLst>
                                          <p:attrName>style.opacity</p:attrName>
                                        </p:attrNameLst>
                                      </p:cBhvr>
                                      <p:to>
                                        <p:strVal val="0.5"/>
                                      </p:to>
                                    </p:set>
                                    <p:animEffect filter="image" prLst="opacity: 0.5">
                                      <p:cBhvr rctx="IE">
                                        <p:cTn id="54" dur="indefinite"/>
                                        <p:tgtEl>
                                          <p:spTgt spid="3">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xEl>
                                              <p:pRg st="2" end="2"/>
                                            </p:txEl>
                                          </p:spTgt>
                                        </p:tgtEl>
                                        <p:attrNameLst>
                                          <p:attrName>style.visibility</p:attrName>
                                        </p:attrNameLst>
                                      </p:cBhvr>
                                      <p:to>
                                        <p:strVal val="visible"/>
                                      </p:to>
                                    </p:set>
                                    <p:animEffect transition="in" filter="fade">
                                      <p:cBhvr>
                                        <p:cTn id="59" dur="500"/>
                                        <p:tgtEl>
                                          <p:spTgt spid="3">
                                            <p:txEl>
                                              <p:pRg st="2" end="2"/>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
                                            <p:txEl>
                                              <p:pRg st="3" end="3"/>
                                            </p:txEl>
                                          </p:spTgt>
                                        </p:tgtEl>
                                        <p:attrNameLst>
                                          <p:attrName>style.visibility</p:attrName>
                                        </p:attrNameLst>
                                      </p:cBhvr>
                                      <p:to>
                                        <p:strVal val="visible"/>
                                      </p:to>
                                    </p:set>
                                    <p:animEffect transition="in" filter="fade">
                                      <p:cBhvr>
                                        <p:cTn id="64" dur="500"/>
                                        <p:tgtEl>
                                          <p:spTgt spid="3">
                                            <p:txEl>
                                              <p:pRg st="3" end="3"/>
                                            </p:txEl>
                                          </p:spTgt>
                                        </p:tgtEl>
                                      </p:cBhvr>
                                    </p:animEffect>
                                  </p:childTnLst>
                                </p:cTn>
                              </p:par>
                              <p:par>
                                <p:cTn id="65" presetID="9" presetClass="emph" presetSubtype="0" nodeType="withEffect">
                                  <p:stCondLst>
                                    <p:cond delay="0"/>
                                  </p:stCondLst>
                                  <p:childTnLst>
                                    <p:set>
                                      <p:cBhvr>
                                        <p:cTn id="66" dur="indefinite"/>
                                        <p:tgtEl>
                                          <p:spTgt spid="3">
                                            <p:txEl>
                                              <p:pRg st="1" end="1"/>
                                            </p:txEl>
                                          </p:spTgt>
                                        </p:tgtEl>
                                        <p:attrNameLst>
                                          <p:attrName>style.opacity</p:attrName>
                                        </p:attrNameLst>
                                      </p:cBhvr>
                                      <p:to>
                                        <p:strVal val="0.5"/>
                                      </p:to>
                                    </p:set>
                                    <p:animEffect filter="image" prLst="opacity: 0.5">
                                      <p:cBhvr rctx="IE">
                                        <p:cTn id="67" dur="indefinite"/>
                                        <p:tgtEl>
                                          <p:spTgt spid="3">
                                            <p:txEl>
                                              <p:pRg st="1" end="1"/>
                                            </p:txEl>
                                          </p:spTgt>
                                        </p:tgtEl>
                                      </p:cBhvr>
                                    </p:animEffect>
                                  </p:childTnLst>
                                </p:cTn>
                              </p:par>
                              <p:par>
                                <p:cTn id="68" presetID="9" presetClass="emph" presetSubtype="0" nodeType="withEffect">
                                  <p:stCondLst>
                                    <p:cond delay="0"/>
                                  </p:stCondLst>
                                  <p:childTnLst>
                                    <p:set>
                                      <p:cBhvr>
                                        <p:cTn id="69" dur="indefinite"/>
                                        <p:tgtEl>
                                          <p:spTgt spid="3">
                                            <p:txEl>
                                              <p:pRg st="2" end="2"/>
                                            </p:txEl>
                                          </p:spTgt>
                                        </p:tgtEl>
                                        <p:attrNameLst>
                                          <p:attrName>style.opacity</p:attrName>
                                        </p:attrNameLst>
                                      </p:cBhvr>
                                      <p:to>
                                        <p:strVal val="0.5"/>
                                      </p:to>
                                    </p:set>
                                    <p:animEffect filter="image" prLst="opacity: 0.5">
                                      <p:cBhvr rctx="IE">
                                        <p:cTn id="70" dur="indefinite"/>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22" grpId="0" animBg="1"/>
      <p:bldP spid="25" grpId="0" animBg="1"/>
      <p:bldP spid="20" grpId="0"/>
      <p:bldP spid="49" grpId="0"/>
      <p:bldP spid="49"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Agenda</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lang="en-US" altLang="zh-TW" sz="2800" dirty="0">
                <a:solidFill>
                  <a:schemeClr val="bg1">
                    <a:lumMod val="65000"/>
                  </a:schemeClr>
                </a:solidFill>
                <a:latin typeface="+mn-lt"/>
                <a:cs typeface="Arial" panose="020B0604020202020204" pitchFamily="34" charset="0"/>
              </a:rPr>
              <a:t>Computer System Organization</a:t>
            </a:r>
          </a:p>
          <a:p>
            <a:pPr algn="l"/>
            <a:r>
              <a:rPr lang="en-US" altLang="zh-TW" sz="2800" dirty="0">
                <a:solidFill>
                  <a:schemeClr val="bg1">
                    <a:lumMod val="65000"/>
                  </a:schemeClr>
                </a:solidFill>
                <a:latin typeface="+mn-lt"/>
                <a:cs typeface="Arial" panose="020B0604020202020204" pitchFamily="34" charset="0"/>
              </a:rPr>
              <a:t>What is Operating Systems</a:t>
            </a:r>
          </a:p>
          <a:p>
            <a:pPr algn="l"/>
            <a:r>
              <a:rPr lang="en-US" altLang="zh-TW" sz="2800" dirty="0">
                <a:solidFill>
                  <a:schemeClr val="bg1">
                    <a:lumMod val="65000"/>
                  </a:schemeClr>
                </a:solidFill>
                <a:latin typeface="+mn-lt"/>
                <a:cs typeface="Arial" panose="020B0604020202020204" pitchFamily="34" charset="0"/>
              </a:rPr>
              <a:t>A High-Level Overview</a:t>
            </a:r>
          </a:p>
          <a:p>
            <a:pPr algn="l"/>
            <a:r>
              <a:rPr lang="en-US" altLang="zh-TW" sz="2800" dirty="0">
                <a:solidFill>
                  <a:schemeClr val="tx1"/>
                </a:solidFill>
                <a:latin typeface="+mn-lt"/>
                <a:cs typeface="Arial" panose="020B0604020202020204" pitchFamily="34" charset="0"/>
              </a:rPr>
              <a:t>What topics will we cover</a:t>
            </a:r>
          </a:p>
          <a:p>
            <a:pPr lvl="1" algn="l"/>
            <a:r>
              <a:rPr lang="en-US" altLang="zh-TW" sz="2400" dirty="0">
                <a:solidFill>
                  <a:schemeClr val="tx1"/>
                </a:solidFill>
                <a:latin typeface="+mn-lt"/>
                <a:cs typeface="Arial" panose="020B0604020202020204" pitchFamily="34" charset="0"/>
              </a:rPr>
              <a:t>Process &amp; Interrupts</a:t>
            </a:r>
          </a:p>
          <a:p>
            <a:pPr lvl="1" algn="l"/>
            <a:r>
              <a:rPr lang="en-US" altLang="zh-TW" sz="2400" dirty="0">
                <a:solidFill>
                  <a:schemeClr val="tx1"/>
                </a:solidFill>
                <a:latin typeface="+mn-lt"/>
                <a:cs typeface="Arial" panose="020B0604020202020204" pitchFamily="34" charset="0"/>
              </a:rPr>
              <a:t>Main Memory Management</a:t>
            </a:r>
          </a:p>
          <a:p>
            <a:pPr lvl="1" algn="l"/>
            <a:r>
              <a:rPr lang="en-US" altLang="zh-TW" sz="2400" dirty="0">
                <a:solidFill>
                  <a:schemeClr val="tx1"/>
                </a:solidFill>
                <a:latin typeface="+mn-lt"/>
                <a:cs typeface="Arial" panose="020B0604020202020204" pitchFamily="34" charset="0"/>
              </a:rPr>
              <a:t>I/O Devices &amp; Device Driver</a:t>
            </a:r>
          </a:p>
          <a:p>
            <a:pPr lvl="1" algn="l"/>
            <a:r>
              <a:rPr lang="en-US" altLang="zh-TW" sz="2400" dirty="0">
                <a:solidFill>
                  <a:schemeClr val="tx1"/>
                </a:solidFill>
                <a:latin typeface="+mn-lt"/>
                <a:cs typeface="Arial" panose="020B0604020202020204" pitchFamily="34" charset="0"/>
              </a:rPr>
              <a:t>File System</a:t>
            </a:r>
          </a:p>
          <a:p>
            <a:pPr lvl="1" algn="l"/>
            <a:r>
              <a:rPr lang="en-US" altLang="zh-TW" sz="2400" dirty="0">
                <a:solidFill>
                  <a:schemeClr val="tx1"/>
                </a:solidFill>
                <a:latin typeface="+mn-lt"/>
                <a:cs typeface="Arial" panose="020B0604020202020204" pitchFamily="34" charset="0"/>
              </a:rPr>
              <a:t>Close</a:t>
            </a:r>
            <a:r>
              <a:rPr lang="zh-TW" altLang="en-US" sz="2400" dirty="0">
                <a:solidFill>
                  <a:schemeClr val="tx1"/>
                </a:solidFill>
                <a:latin typeface="+mn-lt"/>
                <a:cs typeface="Arial" panose="020B0604020202020204" pitchFamily="34" charset="0"/>
              </a:rPr>
              <a:t> </a:t>
            </a:r>
            <a:r>
              <a:rPr lang="en-US" altLang="zh-TW" sz="2400" dirty="0">
                <a:solidFill>
                  <a:schemeClr val="tx1"/>
                </a:solidFill>
                <a:latin typeface="+mn-lt"/>
                <a:cs typeface="Arial" panose="020B0604020202020204" pitchFamily="34" charset="0"/>
              </a:rPr>
              <a:t>to</a:t>
            </a:r>
            <a:r>
              <a:rPr lang="zh-TW" altLang="en-US" sz="2400"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Applications</a:t>
            </a:r>
            <a:r>
              <a:rPr lang="en-US" altLang="zh-TW" sz="2400" dirty="0">
                <a:solidFill>
                  <a:schemeClr val="tx1"/>
                </a:solidFill>
                <a:latin typeface="+mn-lt"/>
                <a:cs typeface="Arial" panose="020B0604020202020204" pitchFamily="34" charset="0"/>
              </a:rPr>
              <a:t>: Graph Systems, Deep Recommendation Systems, Key-Value Databases, Virtualization Concepts</a:t>
            </a:r>
            <a:endParaRPr lang="en-US" altLang="zh-TW" sz="2800" dirty="0">
              <a:solidFill>
                <a:schemeClr val="tx1"/>
              </a:solidFill>
              <a:latin typeface="+mn-lt"/>
              <a:cs typeface="Arial" panose="020B0604020202020204" pitchFamily="34" charset="0"/>
            </a:endParaRPr>
          </a:p>
          <a:p>
            <a:pPr algn="l"/>
            <a:endParaRPr kumimoji="1" lang="zh-TW" altLang="en-US" sz="2800" dirty="0">
              <a:solidFill>
                <a:schemeClr val="tx1"/>
              </a:solidFill>
              <a:latin typeface="+mn-lt"/>
              <a:cs typeface="Arial" panose="020B0604020202020204" pitchFamily="34" charset="0"/>
            </a:endParaRP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16</a:t>
            </a:fld>
            <a:endParaRPr lang="zh-TW" altLang="en-US" dirty="0"/>
          </a:p>
        </p:txBody>
      </p:sp>
    </p:spTree>
    <p:extLst>
      <p:ext uri="{BB962C8B-B14F-4D97-AF65-F5344CB8AC3E}">
        <p14:creationId xmlns:p14="http://schemas.microsoft.com/office/powerpoint/2010/main" val="508986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kumimoji="1" lang="en-US" altLang="zh-TW" sz="4000" dirty="0">
                <a:latin typeface="+mn-lt"/>
              </a:rPr>
              <a:t>Process</a:t>
            </a:r>
            <a:r>
              <a:rPr kumimoji="1" lang="zh-TW" altLang="en-US" sz="4000" dirty="0">
                <a:latin typeface="+mn-lt"/>
              </a:rPr>
              <a:t> </a:t>
            </a:r>
            <a:r>
              <a:rPr kumimoji="1" lang="en-US" altLang="zh-TW" sz="4000" dirty="0">
                <a:latin typeface="+mn-lt"/>
              </a:rPr>
              <a:t>&amp;</a:t>
            </a:r>
            <a:r>
              <a:rPr kumimoji="1" lang="zh-TW" altLang="en-US" sz="4000" dirty="0">
                <a:latin typeface="+mn-lt"/>
              </a:rPr>
              <a:t> </a:t>
            </a:r>
            <a:r>
              <a:rPr kumimoji="1" lang="en-US" altLang="zh-TW" sz="4000" dirty="0">
                <a:latin typeface="+mn-lt"/>
              </a:rPr>
              <a:t>Interrupt</a:t>
            </a:r>
            <a:endParaRPr kumimoji="1" lang="zh-TW" altLang="en-US" sz="4000" dirty="0">
              <a:latin typeface="+mn-lt"/>
            </a:endParaRP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lnSpcReduction="10000"/>
          </a:bodyPr>
          <a:lstStyle/>
          <a:p>
            <a:pPr algn="l"/>
            <a:r>
              <a:rPr lang="en-US" altLang="zh-TW" dirty="0">
                <a:solidFill>
                  <a:schemeClr val="tx1"/>
                </a:solidFill>
                <a:latin typeface="Calibri" panose="020F0502020204030204" pitchFamily="34" charset="0"/>
                <a:cs typeface="Calibri" panose="020F0502020204030204" pitchFamily="34" charset="0"/>
              </a:rPr>
              <a:t>Process</a:t>
            </a:r>
          </a:p>
          <a:p>
            <a:pPr lvl="1" algn="l"/>
            <a:r>
              <a:rPr lang="en-US" altLang="zh-TW" dirty="0"/>
              <a:t>What is a Process,</a:t>
            </a:r>
            <a:r>
              <a:rPr lang="zh-TW" altLang="en-US" dirty="0"/>
              <a:t> </a:t>
            </a:r>
            <a:r>
              <a:rPr lang="en-US" altLang="zh-TW" dirty="0"/>
              <a:t>Process</a:t>
            </a:r>
            <a:r>
              <a:rPr lang="zh-TW" altLang="en-US" dirty="0"/>
              <a:t> </a:t>
            </a:r>
            <a:r>
              <a:rPr lang="en-US" altLang="zh-TW" dirty="0"/>
              <a:t>Descriptor,</a:t>
            </a:r>
            <a:r>
              <a:rPr lang="zh-TW" altLang="en-US" dirty="0"/>
              <a:t> </a:t>
            </a:r>
            <a:r>
              <a:rPr lang="en-US" altLang="zh-TW" dirty="0">
                <a:solidFill>
                  <a:schemeClr val="tx1"/>
                </a:solidFill>
              </a:rPr>
              <a:t>Process State Diagram (Process’s</a:t>
            </a:r>
            <a:r>
              <a:rPr lang="zh-TW" altLang="en-US" dirty="0">
                <a:solidFill>
                  <a:schemeClr val="tx1"/>
                </a:solidFill>
              </a:rPr>
              <a:t> </a:t>
            </a:r>
            <a:r>
              <a:rPr lang="en-US" altLang="zh-TW" dirty="0">
                <a:solidFill>
                  <a:schemeClr val="tx1"/>
                </a:solidFill>
              </a:rPr>
              <a:t>Life Cycle)</a:t>
            </a:r>
            <a:endParaRPr lang="en-US" altLang="zh-TW" dirty="0"/>
          </a:p>
          <a:p>
            <a:pPr lvl="1" algn="l"/>
            <a:r>
              <a:rPr lang="en-US" altLang="zh-TW" dirty="0"/>
              <a:t>Multiprogramming and Multitasking</a:t>
            </a:r>
            <a:r>
              <a:rPr lang="en-US" altLang="zh-TW" dirty="0">
                <a:solidFill>
                  <a:schemeClr val="tx1"/>
                </a:solidFill>
              </a:rPr>
              <a:t>,</a:t>
            </a:r>
            <a:r>
              <a:rPr lang="zh-TW" altLang="en-US" dirty="0">
                <a:solidFill>
                  <a:schemeClr val="tx1"/>
                </a:solidFill>
              </a:rPr>
              <a:t> </a:t>
            </a:r>
            <a:r>
              <a:rPr lang="en-US" altLang="zh-TW" dirty="0">
                <a:solidFill>
                  <a:schemeClr val="tx1"/>
                </a:solidFill>
                <a:latin typeface="Calibri" panose="020F0502020204030204" pitchFamily="34" charset="0"/>
                <a:cs typeface="Calibri" panose="020F0502020204030204" pitchFamily="34" charset="0"/>
              </a:rPr>
              <a:t>Context Switch</a:t>
            </a:r>
          </a:p>
          <a:p>
            <a:pPr algn="l"/>
            <a:r>
              <a:rPr lang="en-US" altLang="zh-TW" dirty="0">
                <a:solidFill>
                  <a:schemeClr val="tx1"/>
                </a:solidFill>
              </a:rPr>
              <a:t>CPU</a:t>
            </a:r>
            <a:r>
              <a:rPr lang="zh-TW" altLang="en-US" dirty="0">
                <a:solidFill>
                  <a:schemeClr val="tx1"/>
                </a:solidFill>
              </a:rPr>
              <a:t> </a:t>
            </a:r>
            <a:r>
              <a:rPr lang="en-US" altLang="zh-TW" dirty="0">
                <a:solidFill>
                  <a:schemeClr val="tx1"/>
                </a:solidFill>
              </a:rPr>
              <a:t>Scheduling:</a:t>
            </a:r>
          </a:p>
          <a:p>
            <a:pPr lvl="1" algn="l"/>
            <a:r>
              <a:rPr lang="en-US" altLang="zh-TW" dirty="0">
                <a:solidFill>
                  <a:schemeClr val="tx1"/>
                </a:solidFill>
              </a:rPr>
              <a:t>Priority, Time Slice</a:t>
            </a:r>
          </a:p>
          <a:p>
            <a:pPr lvl="1" algn="l"/>
            <a:r>
              <a:rPr lang="en-US" altLang="zh-TW" dirty="0">
                <a:solidFill>
                  <a:schemeClr val="tx1"/>
                </a:solidFill>
              </a:rPr>
              <a:t>O(N)</a:t>
            </a:r>
            <a:r>
              <a:rPr lang="zh-TW" altLang="en-US" dirty="0">
                <a:solidFill>
                  <a:schemeClr val="tx1"/>
                </a:solidFill>
              </a:rPr>
              <a:t> </a:t>
            </a:r>
            <a:r>
              <a:rPr lang="en-US" altLang="zh-TW" dirty="0">
                <a:solidFill>
                  <a:schemeClr val="tx1"/>
                </a:solidFill>
              </a:rPr>
              <a:t>(Linux</a:t>
            </a:r>
            <a:r>
              <a:rPr lang="zh-TW" altLang="en-US" dirty="0">
                <a:solidFill>
                  <a:schemeClr val="tx1"/>
                </a:solidFill>
              </a:rPr>
              <a:t> </a:t>
            </a:r>
            <a:r>
              <a:rPr lang="en-US" altLang="zh-TW" dirty="0">
                <a:solidFill>
                  <a:schemeClr val="tx1"/>
                </a:solidFill>
              </a:rPr>
              <a:t>2.4</a:t>
            </a:r>
            <a:r>
              <a:rPr lang="zh-TW" altLang="en-US" dirty="0">
                <a:solidFill>
                  <a:schemeClr val="tx1"/>
                </a:solidFill>
              </a:rPr>
              <a:t> </a:t>
            </a:r>
            <a:r>
              <a:rPr lang="en-US" altLang="zh-TW" dirty="0">
                <a:solidFill>
                  <a:schemeClr val="tx1"/>
                </a:solidFill>
              </a:rPr>
              <a:t>~</a:t>
            </a:r>
            <a:r>
              <a:rPr lang="zh-TW" altLang="en-US" dirty="0">
                <a:solidFill>
                  <a:schemeClr val="tx1"/>
                </a:solidFill>
              </a:rPr>
              <a:t> </a:t>
            </a:r>
            <a:r>
              <a:rPr lang="en-US" altLang="zh-TW" dirty="0">
                <a:solidFill>
                  <a:schemeClr val="tx1"/>
                </a:solidFill>
              </a:rPr>
              <a:t>2.6)</a:t>
            </a:r>
          </a:p>
          <a:p>
            <a:pPr lvl="1" algn="l"/>
            <a:r>
              <a:rPr lang="en-US" altLang="zh-TW" dirty="0">
                <a:solidFill>
                  <a:schemeClr val="tx1"/>
                </a:solidFill>
              </a:rPr>
              <a:t>O(1)</a:t>
            </a:r>
            <a:r>
              <a:rPr lang="zh-TW" altLang="en-US" dirty="0">
                <a:solidFill>
                  <a:schemeClr val="tx1"/>
                </a:solidFill>
              </a:rPr>
              <a:t> </a:t>
            </a:r>
            <a:r>
              <a:rPr lang="en-US" altLang="zh-TW" dirty="0" err="1">
                <a:solidFill>
                  <a:schemeClr val="tx1"/>
                </a:solidFill>
              </a:rPr>
              <a:t>SCHED_Normal</a:t>
            </a:r>
            <a:r>
              <a:rPr lang="zh-TW" altLang="en-US" dirty="0">
                <a:solidFill>
                  <a:schemeClr val="tx1"/>
                </a:solidFill>
              </a:rPr>
              <a:t> </a:t>
            </a:r>
            <a:r>
              <a:rPr lang="en-US" altLang="zh-TW" dirty="0">
                <a:solidFill>
                  <a:schemeClr val="tx1"/>
                </a:solidFill>
              </a:rPr>
              <a:t>(</a:t>
            </a:r>
            <a:r>
              <a:rPr lang="en-US" altLang="zh-TW" dirty="0"/>
              <a:t>Linux releases 2.6.0 thru 2.6.22 )</a:t>
            </a:r>
            <a:endParaRPr lang="en-US" altLang="zh-TW" dirty="0">
              <a:solidFill>
                <a:schemeClr val="tx1"/>
              </a:solidFill>
            </a:endParaRPr>
          </a:p>
          <a:p>
            <a:pPr lvl="1" algn="l"/>
            <a:r>
              <a:rPr lang="en-US" altLang="zh-TW" dirty="0">
                <a:solidFill>
                  <a:schemeClr val="tx1"/>
                </a:solidFill>
              </a:rPr>
              <a:t>Completely</a:t>
            </a:r>
            <a:r>
              <a:rPr lang="zh-TW" altLang="en-US" dirty="0">
                <a:solidFill>
                  <a:schemeClr val="tx1"/>
                </a:solidFill>
              </a:rPr>
              <a:t> </a:t>
            </a:r>
            <a:r>
              <a:rPr lang="en-US" altLang="zh-TW" dirty="0">
                <a:solidFill>
                  <a:schemeClr val="tx1"/>
                </a:solidFill>
              </a:rPr>
              <a:t>Fair</a:t>
            </a:r>
            <a:r>
              <a:rPr lang="zh-TW" altLang="en-US" dirty="0">
                <a:solidFill>
                  <a:schemeClr val="tx1"/>
                </a:solidFill>
              </a:rPr>
              <a:t> </a:t>
            </a:r>
            <a:r>
              <a:rPr lang="en-US" altLang="zh-TW" dirty="0">
                <a:solidFill>
                  <a:schemeClr val="tx1"/>
                </a:solidFill>
              </a:rPr>
              <a:t>Scheduler</a:t>
            </a:r>
            <a:r>
              <a:rPr lang="zh-TW" altLang="en-US" dirty="0">
                <a:solidFill>
                  <a:schemeClr val="tx1"/>
                </a:solidFill>
              </a:rPr>
              <a:t> </a:t>
            </a:r>
            <a:r>
              <a:rPr lang="en-US" altLang="zh-TW" dirty="0">
                <a:solidFill>
                  <a:schemeClr val="tx1"/>
                </a:solidFill>
              </a:rPr>
              <a:t>(CFS)</a:t>
            </a:r>
            <a:r>
              <a:rPr lang="zh-TW" altLang="en-US" dirty="0">
                <a:solidFill>
                  <a:schemeClr val="tx1"/>
                </a:solidFill>
              </a:rPr>
              <a:t> </a:t>
            </a:r>
            <a:r>
              <a:rPr lang="en-US" altLang="zh-TW" dirty="0">
                <a:solidFill>
                  <a:schemeClr val="tx1"/>
                </a:solidFill>
              </a:rPr>
              <a:t>(After</a:t>
            </a:r>
            <a:r>
              <a:rPr lang="zh-TW" altLang="en-US" dirty="0">
                <a:solidFill>
                  <a:schemeClr val="tx1"/>
                </a:solidFill>
              </a:rPr>
              <a:t> </a:t>
            </a:r>
            <a:r>
              <a:rPr lang="en-US" altLang="zh-TW" dirty="0">
                <a:solidFill>
                  <a:schemeClr val="tx1"/>
                </a:solidFill>
              </a:rPr>
              <a:t>Linux</a:t>
            </a:r>
            <a:r>
              <a:rPr lang="zh-TW" altLang="en-US" dirty="0">
                <a:solidFill>
                  <a:schemeClr val="tx1"/>
                </a:solidFill>
              </a:rPr>
              <a:t> </a:t>
            </a:r>
            <a:r>
              <a:rPr lang="en-US" altLang="zh-TW" dirty="0">
                <a:solidFill>
                  <a:schemeClr val="tx1"/>
                </a:solidFill>
              </a:rPr>
              <a:t>2.6.22)</a:t>
            </a:r>
          </a:p>
          <a:p>
            <a:pPr lvl="1" algn="l"/>
            <a:r>
              <a:rPr lang="en-US" altLang="zh-TW" dirty="0">
                <a:solidFill>
                  <a:schemeClr val="tx1"/>
                </a:solidFill>
              </a:rPr>
              <a:t>Real-Time</a:t>
            </a:r>
            <a:r>
              <a:rPr lang="zh-TW" altLang="en-US" dirty="0">
                <a:solidFill>
                  <a:schemeClr val="tx1"/>
                </a:solidFill>
              </a:rPr>
              <a:t> </a:t>
            </a:r>
            <a:r>
              <a:rPr lang="en-US" altLang="zh-TW" dirty="0">
                <a:solidFill>
                  <a:schemeClr val="tx1"/>
                </a:solidFill>
              </a:rPr>
              <a:t>Scheduling</a:t>
            </a:r>
          </a:p>
          <a:p>
            <a:pPr algn="l"/>
            <a:r>
              <a:rPr kumimoji="1" lang="en-US" altLang="zh-TW" dirty="0">
                <a:solidFill>
                  <a:schemeClr val="tx1"/>
                </a:solidFill>
                <a:latin typeface="Calibri" panose="020F0502020204030204" pitchFamily="34" charset="0"/>
                <a:cs typeface="Calibri" panose="020F0502020204030204" pitchFamily="34" charset="0"/>
              </a:rPr>
              <a:t>Interrupts:</a:t>
            </a:r>
          </a:p>
          <a:p>
            <a:pPr lvl="1" algn="l"/>
            <a:r>
              <a:rPr lang="en-US" altLang="zh-TW" dirty="0">
                <a:solidFill>
                  <a:schemeClr val="tx1"/>
                </a:solidFill>
              </a:rPr>
              <a:t>Software Interrupt: How</a:t>
            </a:r>
            <a:r>
              <a:rPr lang="zh-TW" altLang="en-US" dirty="0">
                <a:solidFill>
                  <a:schemeClr val="tx1"/>
                </a:solidFill>
              </a:rPr>
              <a:t> </a:t>
            </a:r>
            <a:r>
              <a:rPr lang="en-US" altLang="zh-TW" dirty="0">
                <a:solidFill>
                  <a:schemeClr val="tx1"/>
                </a:solidFill>
              </a:rPr>
              <a:t>system</a:t>
            </a:r>
            <a:r>
              <a:rPr lang="zh-TW" altLang="en-US" dirty="0">
                <a:solidFill>
                  <a:schemeClr val="tx1"/>
                </a:solidFill>
              </a:rPr>
              <a:t> </a:t>
            </a:r>
            <a:r>
              <a:rPr lang="en-US" altLang="zh-TW" dirty="0">
                <a:solidFill>
                  <a:schemeClr val="tx1"/>
                </a:solidFill>
              </a:rPr>
              <a:t>call</a:t>
            </a:r>
            <a:r>
              <a:rPr lang="zh-TW" altLang="en-US" dirty="0">
                <a:solidFill>
                  <a:schemeClr val="tx1"/>
                </a:solidFill>
              </a:rPr>
              <a:t> </a:t>
            </a:r>
            <a:r>
              <a:rPr lang="en-US" altLang="zh-TW" dirty="0">
                <a:solidFill>
                  <a:schemeClr val="tx1"/>
                </a:solidFill>
              </a:rPr>
              <a:t>works.</a:t>
            </a:r>
            <a:r>
              <a:rPr lang="zh-TW" altLang="en-US" dirty="0">
                <a:solidFill>
                  <a:schemeClr val="tx1"/>
                </a:solidFill>
              </a:rPr>
              <a:t> </a:t>
            </a:r>
            <a:r>
              <a:rPr lang="en-US" altLang="zh-TW" dirty="0">
                <a:solidFill>
                  <a:schemeClr val="tx1"/>
                </a:solidFill>
              </a:rPr>
              <a:t>Also,</a:t>
            </a:r>
            <a:r>
              <a:rPr lang="zh-TW" altLang="en-US" dirty="0">
                <a:solidFill>
                  <a:schemeClr val="tx1"/>
                </a:solidFill>
              </a:rPr>
              <a:t> </a:t>
            </a:r>
            <a:r>
              <a:rPr lang="en-US" altLang="zh-TW" dirty="0">
                <a:solidFill>
                  <a:schemeClr val="tx1"/>
                </a:solidFill>
              </a:rPr>
              <a:t>how</a:t>
            </a:r>
            <a:r>
              <a:rPr lang="zh-TW" altLang="en-US" dirty="0">
                <a:solidFill>
                  <a:schemeClr val="tx1"/>
                </a:solidFill>
              </a:rPr>
              <a:t> </a:t>
            </a:r>
            <a:r>
              <a:rPr lang="en-US" altLang="zh-TW" dirty="0">
                <a:solidFill>
                  <a:schemeClr val="tx1"/>
                </a:solidFill>
              </a:rPr>
              <a:t>to</a:t>
            </a:r>
            <a:r>
              <a:rPr lang="zh-TW" altLang="en-US" dirty="0">
                <a:solidFill>
                  <a:schemeClr val="tx1"/>
                </a:solidFill>
              </a:rPr>
              <a:t> </a:t>
            </a:r>
            <a:r>
              <a:rPr lang="en-US" altLang="zh-TW" dirty="0">
                <a:solidFill>
                  <a:schemeClr val="tx1"/>
                </a:solidFill>
              </a:rPr>
              <a:t>implement</a:t>
            </a:r>
            <a:r>
              <a:rPr lang="zh-TW" altLang="en-US" dirty="0">
                <a:solidFill>
                  <a:schemeClr val="tx1"/>
                </a:solidFill>
              </a:rPr>
              <a:t> </a:t>
            </a:r>
            <a:r>
              <a:rPr lang="en-US" altLang="zh-TW" dirty="0">
                <a:solidFill>
                  <a:schemeClr val="tx1"/>
                </a:solidFill>
              </a:rPr>
              <a:t>it.</a:t>
            </a:r>
            <a:endParaRPr kumimoji="1" lang="en-US" altLang="zh-TW" dirty="0">
              <a:solidFill>
                <a:schemeClr val="tx1"/>
              </a:solidFill>
              <a:latin typeface="Calibri" panose="020F0502020204030204" pitchFamily="34" charset="0"/>
              <a:cs typeface="Calibri" panose="020F0502020204030204" pitchFamily="34" charset="0"/>
            </a:endParaRPr>
          </a:p>
          <a:p>
            <a:pPr lvl="1" algn="l"/>
            <a:r>
              <a:rPr kumimoji="1" lang="en-US" altLang="zh-TW" dirty="0">
                <a:solidFill>
                  <a:schemeClr val="tx1"/>
                </a:solidFill>
                <a:latin typeface="Calibri" panose="020F0502020204030204" pitchFamily="34" charset="0"/>
                <a:cs typeface="Calibri" panose="020F0502020204030204" pitchFamily="34" charset="0"/>
              </a:rPr>
              <a:t>Hardware Interrupt: How interrupt</a:t>
            </a:r>
            <a:r>
              <a:rPr kumimoji="1" lang="zh-TW" altLang="en-US" dirty="0">
                <a:solidFill>
                  <a:schemeClr val="tx1"/>
                </a:solidFill>
                <a:latin typeface="Calibri" panose="020F0502020204030204" pitchFamily="34" charset="0"/>
                <a:cs typeface="Calibri" panose="020F0502020204030204" pitchFamily="34" charset="0"/>
              </a:rPr>
              <a:t> </a:t>
            </a:r>
            <a:r>
              <a:rPr kumimoji="1" lang="en-US" altLang="zh-TW" dirty="0">
                <a:solidFill>
                  <a:schemeClr val="tx1"/>
                </a:solidFill>
                <a:latin typeface="Calibri" panose="020F0502020204030204" pitchFamily="34" charset="0"/>
                <a:cs typeface="Calibri" panose="020F0502020204030204" pitchFamily="34" charset="0"/>
              </a:rPr>
              <a:t>handler</a:t>
            </a:r>
            <a:r>
              <a:rPr kumimoji="1" lang="zh-TW" altLang="en-US" dirty="0">
                <a:solidFill>
                  <a:schemeClr val="tx1"/>
                </a:solidFill>
                <a:latin typeface="Calibri" panose="020F0502020204030204" pitchFamily="34" charset="0"/>
                <a:cs typeface="Calibri" panose="020F0502020204030204" pitchFamily="34" charset="0"/>
              </a:rPr>
              <a:t> </a:t>
            </a:r>
            <a:r>
              <a:rPr kumimoji="1" lang="en-US" altLang="zh-TW" dirty="0">
                <a:solidFill>
                  <a:schemeClr val="tx1"/>
                </a:solidFill>
                <a:latin typeface="Calibri" panose="020F0502020204030204" pitchFamily="34" charset="0"/>
                <a:cs typeface="Calibri" panose="020F0502020204030204" pitchFamily="34" charset="0"/>
              </a:rPr>
              <a:t>(or</a:t>
            </a:r>
            <a:r>
              <a:rPr kumimoji="1" lang="zh-TW" altLang="en-US" dirty="0">
                <a:solidFill>
                  <a:schemeClr val="tx1"/>
                </a:solidFill>
                <a:latin typeface="Calibri" panose="020F0502020204030204" pitchFamily="34" charset="0"/>
                <a:cs typeface="Calibri" panose="020F0502020204030204" pitchFamily="34" charset="0"/>
              </a:rPr>
              <a:t> </a:t>
            </a:r>
            <a:r>
              <a:rPr lang="en-US" altLang="zh-TW" dirty="0">
                <a:solidFill>
                  <a:schemeClr val="tx1"/>
                </a:solidFill>
              </a:rPr>
              <a:t>interrupt</a:t>
            </a:r>
            <a:r>
              <a:rPr lang="zh-TW" altLang="en-US" dirty="0">
                <a:solidFill>
                  <a:schemeClr val="tx1"/>
                </a:solidFill>
              </a:rPr>
              <a:t> </a:t>
            </a:r>
            <a:r>
              <a:rPr lang="en-US" altLang="zh-TW" dirty="0">
                <a:solidFill>
                  <a:schemeClr val="tx1"/>
                </a:solidFill>
              </a:rPr>
              <a:t>service</a:t>
            </a:r>
            <a:r>
              <a:rPr lang="zh-TW" altLang="en-US" dirty="0">
                <a:solidFill>
                  <a:schemeClr val="tx1"/>
                </a:solidFill>
              </a:rPr>
              <a:t> </a:t>
            </a:r>
            <a:r>
              <a:rPr lang="en-US" altLang="zh-TW" dirty="0">
                <a:solidFill>
                  <a:schemeClr val="tx1"/>
                </a:solidFill>
              </a:rPr>
              <a:t>routine)</a:t>
            </a:r>
            <a:r>
              <a:rPr kumimoji="1" lang="zh-TW" altLang="en-US" dirty="0">
                <a:solidFill>
                  <a:schemeClr val="tx1"/>
                </a:solidFill>
                <a:latin typeface="Calibri" panose="020F0502020204030204" pitchFamily="34" charset="0"/>
                <a:cs typeface="Calibri" panose="020F0502020204030204" pitchFamily="34" charset="0"/>
              </a:rPr>
              <a:t> </a:t>
            </a:r>
            <a:r>
              <a:rPr kumimoji="1" lang="en-US" altLang="zh-TW" dirty="0">
                <a:solidFill>
                  <a:schemeClr val="tx1"/>
                </a:solidFill>
                <a:latin typeface="Calibri" panose="020F0502020204030204" pitchFamily="34" charset="0"/>
                <a:cs typeface="Calibri" panose="020F0502020204030204" pitchFamily="34" charset="0"/>
              </a:rPr>
              <a:t>works.</a:t>
            </a:r>
          </a:p>
          <a:p>
            <a:pPr algn="l"/>
            <a:r>
              <a:rPr lang="en-US" altLang="zh-TW" dirty="0">
                <a:solidFill>
                  <a:schemeClr val="tx1"/>
                </a:solidFill>
              </a:rPr>
              <a:t>Advance</a:t>
            </a:r>
            <a:r>
              <a:rPr lang="zh-TW" altLang="en-US" dirty="0">
                <a:solidFill>
                  <a:schemeClr val="tx1"/>
                </a:solidFill>
              </a:rPr>
              <a:t> </a:t>
            </a:r>
            <a:r>
              <a:rPr lang="en-US" altLang="zh-TW" dirty="0">
                <a:solidFill>
                  <a:schemeClr val="tx1"/>
                </a:solidFill>
              </a:rPr>
              <a:t>Research Topics</a:t>
            </a:r>
            <a:r>
              <a:rPr kumimoji="1" lang="en-US" altLang="zh-TW" dirty="0">
                <a:solidFill>
                  <a:schemeClr val="tx1"/>
                </a:solidFill>
                <a:latin typeface="Calibri" panose="020F0502020204030204" pitchFamily="34" charset="0"/>
                <a:cs typeface="Calibri" panose="020F0502020204030204" pitchFamily="34" charset="0"/>
              </a:rPr>
              <a:t>: </a:t>
            </a:r>
          </a:p>
          <a:p>
            <a:pPr lvl="1" algn="l"/>
            <a:r>
              <a:rPr kumimoji="1" lang="en-US" altLang="zh-TW" dirty="0">
                <a:solidFill>
                  <a:schemeClr val="tx1"/>
                </a:solidFill>
                <a:latin typeface="Calibri" panose="020F0502020204030204" pitchFamily="34" charset="0"/>
                <a:cs typeface="Calibri" panose="020F0502020204030204" pitchFamily="34" charset="0"/>
              </a:rPr>
              <a:t>(</a:t>
            </a:r>
            <a:r>
              <a:rPr lang="en-US" altLang="zh-TW" dirty="0">
                <a:solidFill>
                  <a:schemeClr val="tx1"/>
                </a:solidFill>
              </a:rPr>
              <a:t>1</a:t>
            </a:r>
            <a:r>
              <a:rPr kumimoji="1" lang="en-US" altLang="zh-TW" dirty="0">
                <a:solidFill>
                  <a:schemeClr val="tx1"/>
                </a:solidFill>
                <a:latin typeface="Calibri" panose="020F0502020204030204" pitchFamily="34" charset="0"/>
                <a:cs typeface="Calibri" panose="020F0502020204030204" pitchFamily="34" charset="0"/>
              </a:rPr>
              <a:t>) Rethink context switch </a:t>
            </a:r>
          </a:p>
          <a:p>
            <a:pPr lvl="1" algn="l"/>
            <a:r>
              <a:rPr kumimoji="1" lang="en-US" altLang="zh-TW" dirty="0">
                <a:solidFill>
                  <a:schemeClr val="tx1"/>
                </a:solidFill>
                <a:latin typeface="Calibri" panose="020F0502020204030204" pitchFamily="34" charset="0"/>
                <a:cs typeface="Calibri" panose="020F0502020204030204" pitchFamily="34" charset="0"/>
              </a:rPr>
              <a:t>(2) Rethink process state</a:t>
            </a:r>
            <a:r>
              <a:rPr kumimoji="1" lang="zh-TW" altLang="en-US" dirty="0">
                <a:solidFill>
                  <a:schemeClr val="tx1"/>
                </a:solidFill>
                <a:latin typeface="Calibri" panose="020F0502020204030204" pitchFamily="34" charset="0"/>
                <a:cs typeface="Calibri" panose="020F0502020204030204" pitchFamily="34" charset="0"/>
              </a:rPr>
              <a:t> </a:t>
            </a:r>
            <a:r>
              <a:rPr kumimoji="1" lang="en-US" altLang="zh-TW" dirty="0">
                <a:solidFill>
                  <a:schemeClr val="tx1"/>
                </a:solidFill>
                <a:latin typeface="Calibri" panose="020F0502020204030204" pitchFamily="34" charset="0"/>
                <a:cs typeface="Calibri" panose="020F0502020204030204" pitchFamily="34" charset="0"/>
              </a:rPr>
              <a:t>diagram</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17</a:t>
            </a:fld>
            <a:endParaRPr lang="zh-TW" altLang="en-US" dirty="0"/>
          </a:p>
        </p:txBody>
      </p:sp>
    </p:spTree>
    <p:extLst>
      <p:ext uri="{BB962C8B-B14F-4D97-AF65-F5344CB8AC3E}">
        <p14:creationId xmlns:p14="http://schemas.microsoft.com/office/powerpoint/2010/main" val="574794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500"/>
                                        <p:tgtEl>
                                          <p:spTgt spid="3">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fade">
                                      <p:cBhvr>
                                        <p:cTn id="30" dur="500"/>
                                        <p:tgtEl>
                                          <p:spTgt spid="3">
                                            <p:txEl>
                                              <p:pRg st="10" end="1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animEffect transition="in" filter="fade">
                                      <p:cBhvr>
                                        <p:cTn id="33" dur="500"/>
                                        <p:tgtEl>
                                          <p:spTgt spid="3">
                                            <p:txEl>
                                              <p:pRg st="11" end="1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12" end="12"/>
                                            </p:txEl>
                                          </p:spTgt>
                                        </p:tgtEl>
                                        <p:attrNameLst>
                                          <p:attrName>style.visibility</p:attrName>
                                        </p:attrNameLst>
                                      </p:cBhvr>
                                      <p:to>
                                        <p:strVal val="visible"/>
                                      </p:to>
                                    </p:set>
                                    <p:animEffect transition="in" filter="fade">
                                      <p:cBhvr>
                                        <p:cTn id="38" dur="500"/>
                                        <p:tgtEl>
                                          <p:spTgt spid="3">
                                            <p:txEl>
                                              <p:pRg st="12" end="12"/>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animEffect transition="in" filter="fade">
                                      <p:cBhvr>
                                        <p:cTn id="41" dur="500"/>
                                        <p:tgtEl>
                                          <p:spTgt spid="3">
                                            <p:txEl>
                                              <p:pRg st="13" end="13"/>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14" end="14"/>
                                            </p:txEl>
                                          </p:spTgt>
                                        </p:tgtEl>
                                        <p:attrNameLst>
                                          <p:attrName>style.visibility</p:attrName>
                                        </p:attrNameLst>
                                      </p:cBhvr>
                                      <p:to>
                                        <p:strVal val="visible"/>
                                      </p:to>
                                    </p:set>
                                    <p:animEffect transition="in" filter="fade">
                                      <p:cBhvr>
                                        <p:cTn id="44"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2DA1FA-9B04-2E5B-E516-478253CDC9AF}"/>
              </a:ext>
            </a:extLst>
          </p:cNvPr>
          <p:cNvSpPr>
            <a:spLocks noGrp="1"/>
          </p:cNvSpPr>
          <p:nvPr>
            <p:ph type="title"/>
          </p:nvPr>
        </p:nvSpPr>
        <p:spPr/>
        <p:txBody>
          <a:bodyPr/>
          <a:lstStyle/>
          <a:p>
            <a:r>
              <a:rPr kumimoji="1" lang="en-US" altLang="zh-TW" dirty="0"/>
              <a:t>Main Memory Management</a:t>
            </a:r>
            <a:endParaRPr kumimoji="1" lang="zh-TW" altLang="en-US" dirty="0"/>
          </a:p>
        </p:txBody>
      </p:sp>
      <p:sp>
        <p:nvSpPr>
          <p:cNvPr id="3" name="內容版面配置區 2">
            <a:extLst>
              <a:ext uri="{FF2B5EF4-FFF2-40B4-BE49-F238E27FC236}">
                <a16:creationId xmlns:a16="http://schemas.microsoft.com/office/drawing/2014/main" id="{794A23E4-FA12-AF97-3BCA-FCCA13BED030}"/>
              </a:ext>
            </a:extLst>
          </p:cNvPr>
          <p:cNvSpPr>
            <a:spLocks noGrp="1"/>
          </p:cNvSpPr>
          <p:nvPr>
            <p:ph idx="1"/>
          </p:nvPr>
        </p:nvSpPr>
        <p:spPr/>
        <p:txBody>
          <a:bodyPr>
            <a:normAutofit lnSpcReduction="10000"/>
          </a:bodyPr>
          <a:lstStyle/>
          <a:p>
            <a:r>
              <a:rPr lang="en-US" altLang="zh-TW" dirty="0"/>
              <a:t>Physical Memory</a:t>
            </a:r>
          </a:p>
          <a:p>
            <a:pPr lvl="1"/>
            <a:r>
              <a:rPr lang="en-US" altLang="zh-TW" dirty="0"/>
              <a:t>Physical</a:t>
            </a:r>
            <a:r>
              <a:rPr lang="zh-TW" altLang="en-US" dirty="0"/>
              <a:t> </a:t>
            </a:r>
            <a:r>
              <a:rPr lang="en-US" altLang="zh-TW" dirty="0"/>
              <a:t>Memory</a:t>
            </a:r>
            <a:r>
              <a:rPr lang="zh-TW" altLang="en-US" dirty="0"/>
              <a:t> </a:t>
            </a:r>
            <a:r>
              <a:rPr lang="en-US" altLang="zh-TW" dirty="0"/>
              <a:t>Allocation</a:t>
            </a:r>
            <a:r>
              <a:rPr lang="zh-TW" altLang="en-US" dirty="0"/>
              <a:t> </a:t>
            </a:r>
            <a:r>
              <a:rPr lang="en-US" altLang="zh-TW" dirty="0"/>
              <a:t>(Buddy</a:t>
            </a:r>
            <a:r>
              <a:rPr lang="zh-TW" altLang="en-US" dirty="0"/>
              <a:t> </a:t>
            </a:r>
            <a:r>
              <a:rPr lang="en-US" altLang="zh-TW" dirty="0"/>
              <a:t>System)</a:t>
            </a:r>
          </a:p>
          <a:p>
            <a:pPr lvl="1"/>
            <a:r>
              <a:rPr lang="en-US" altLang="zh-TW" dirty="0"/>
              <a:t>Slab Layer</a:t>
            </a:r>
          </a:p>
          <a:p>
            <a:r>
              <a:rPr lang="en-US" altLang="zh-TW" dirty="0"/>
              <a:t>Virtual</a:t>
            </a:r>
            <a:r>
              <a:rPr lang="zh-TW" altLang="en-US" dirty="0"/>
              <a:t> </a:t>
            </a:r>
            <a:r>
              <a:rPr lang="en-US" altLang="zh-TW" dirty="0"/>
              <a:t>Memory</a:t>
            </a:r>
          </a:p>
          <a:p>
            <a:pPr lvl="1"/>
            <a:r>
              <a:rPr kumimoji="1" lang="en-US" altLang="zh-TW" dirty="0"/>
              <a:t>Paging</a:t>
            </a:r>
            <a:r>
              <a:rPr kumimoji="1" lang="zh-TW" altLang="en-US" dirty="0"/>
              <a:t> </a:t>
            </a:r>
            <a:r>
              <a:rPr kumimoji="1" lang="en-US" altLang="zh-TW" dirty="0"/>
              <a:t>(Page</a:t>
            </a:r>
            <a:r>
              <a:rPr kumimoji="1" lang="zh-TW" altLang="en-US" dirty="0"/>
              <a:t> </a:t>
            </a:r>
            <a:r>
              <a:rPr kumimoji="1" lang="en-US" altLang="zh-TW" dirty="0"/>
              <a:t>Table</a:t>
            </a:r>
            <a:r>
              <a:rPr kumimoji="1" lang="zh-TW" altLang="en-US" dirty="0"/>
              <a:t> </a:t>
            </a:r>
            <a:r>
              <a:rPr kumimoji="1" lang="en-US" altLang="zh-TW" dirty="0"/>
              <a:t>Walk),</a:t>
            </a:r>
            <a:r>
              <a:rPr kumimoji="1" lang="zh-TW" altLang="en-US" dirty="0"/>
              <a:t> </a:t>
            </a:r>
            <a:r>
              <a:rPr kumimoji="1" lang="en-US" altLang="zh-TW" dirty="0"/>
              <a:t>Huge</a:t>
            </a:r>
            <a:r>
              <a:rPr kumimoji="1" lang="zh-TW" altLang="en-US" dirty="0"/>
              <a:t> </a:t>
            </a:r>
            <a:r>
              <a:rPr kumimoji="1" lang="en-US" altLang="zh-TW" dirty="0"/>
              <a:t>Page</a:t>
            </a:r>
          </a:p>
          <a:p>
            <a:pPr lvl="1"/>
            <a:r>
              <a:rPr lang="en-US" altLang="zh-TW" dirty="0"/>
              <a:t>Page</a:t>
            </a:r>
            <a:r>
              <a:rPr lang="zh-TW" altLang="en-US" dirty="0"/>
              <a:t> </a:t>
            </a:r>
            <a:r>
              <a:rPr lang="en-US" altLang="zh-TW" dirty="0"/>
              <a:t>Fault</a:t>
            </a:r>
            <a:r>
              <a:rPr lang="zh-TW" altLang="en-US" dirty="0"/>
              <a:t> </a:t>
            </a:r>
            <a:r>
              <a:rPr lang="en-US" altLang="zh-TW" dirty="0"/>
              <a:t>Handler</a:t>
            </a:r>
          </a:p>
          <a:p>
            <a:pPr lvl="1"/>
            <a:r>
              <a:rPr lang="en-US" altLang="zh-TW" dirty="0"/>
              <a:t>Page</a:t>
            </a:r>
            <a:r>
              <a:rPr lang="zh-TW" altLang="en-US" dirty="0"/>
              <a:t> </a:t>
            </a:r>
            <a:r>
              <a:rPr lang="en-US" altLang="zh-TW" dirty="0"/>
              <a:t>Replacement (LRU and others)</a:t>
            </a:r>
          </a:p>
          <a:p>
            <a:pPr lvl="1"/>
            <a:r>
              <a:rPr kumimoji="1" lang="en-US" altLang="zh-TW" dirty="0"/>
              <a:t>Swapping</a:t>
            </a:r>
          </a:p>
          <a:p>
            <a:r>
              <a:rPr lang="en-US" altLang="zh-TW" dirty="0"/>
              <a:t>Memory Hierarchy (Cache vs Memory vs Storage)</a:t>
            </a:r>
          </a:p>
          <a:p>
            <a:pPr lvl="1"/>
            <a:r>
              <a:rPr lang="en-US" altLang="zh-TW" dirty="0"/>
              <a:t>Design</a:t>
            </a:r>
            <a:r>
              <a:rPr lang="zh-TW" altLang="en-US" dirty="0"/>
              <a:t> </a:t>
            </a:r>
            <a:r>
              <a:rPr lang="en-US" altLang="zh-TW" dirty="0"/>
              <a:t>concerns</a:t>
            </a:r>
            <a:r>
              <a:rPr lang="zh-TW" altLang="en-US" dirty="0"/>
              <a:t> </a:t>
            </a:r>
            <a:r>
              <a:rPr lang="en-US" altLang="zh-TW" dirty="0"/>
              <a:t>for</a:t>
            </a:r>
            <a:r>
              <a:rPr lang="zh-TW" altLang="en-US" dirty="0"/>
              <a:t> </a:t>
            </a:r>
            <a:r>
              <a:rPr lang="en-US" altLang="zh-TW" dirty="0"/>
              <a:t>each</a:t>
            </a:r>
            <a:r>
              <a:rPr lang="zh-TW" altLang="en-US" dirty="0"/>
              <a:t> </a:t>
            </a:r>
            <a:r>
              <a:rPr lang="en-US" altLang="zh-TW" dirty="0"/>
              <a:t>layer</a:t>
            </a:r>
          </a:p>
          <a:p>
            <a:pPr lvl="1"/>
            <a:r>
              <a:rPr lang="en-US" altLang="zh-TW" dirty="0"/>
              <a:t>Non-Uniform</a:t>
            </a:r>
            <a:r>
              <a:rPr lang="zh-TW" altLang="en-US" dirty="0"/>
              <a:t> </a:t>
            </a:r>
            <a:r>
              <a:rPr lang="en-US" altLang="zh-TW" dirty="0"/>
              <a:t>Memory</a:t>
            </a:r>
            <a:r>
              <a:rPr lang="zh-TW" altLang="en-US" dirty="0"/>
              <a:t> </a:t>
            </a:r>
            <a:r>
              <a:rPr lang="en-US" altLang="zh-TW" dirty="0"/>
              <a:t>Access</a:t>
            </a:r>
            <a:r>
              <a:rPr lang="zh-TW" altLang="en-US" dirty="0"/>
              <a:t> </a:t>
            </a:r>
            <a:r>
              <a:rPr lang="en-US" altLang="zh-TW" dirty="0"/>
              <a:t>(NUMA)</a:t>
            </a:r>
          </a:p>
          <a:p>
            <a:r>
              <a:rPr lang="en-US" altLang="zh-TW" dirty="0"/>
              <a:t>Advance</a:t>
            </a:r>
            <a:r>
              <a:rPr lang="zh-TW" altLang="en-US" dirty="0"/>
              <a:t> </a:t>
            </a:r>
            <a:r>
              <a:rPr lang="en-US" altLang="zh-TW" dirty="0"/>
              <a:t>Research Topics: </a:t>
            </a:r>
          </a:p>
          <a:p>
            <a:pPr lvl="1"/>
            <a:r>
              <a:rPr lang="en-US" altLang="zh-TW" dirty="0"/>
              <a:t>(1) Main Memory Extension</a:t>
            </a:r>
          </a:p>
          <a:p>
            <a:pPr lvl="1"/>
            <a:r>
              <a:rPr lang="en-US" altLang="zh-TW" dirty="0"/>
              <a:t>(2) Rethink page size </a:t>
            </a:r>
          </a:p>
          <a:p>
            <a:pPr lvl="1"/>
            <a:r>
              <a:rPr lang="en-US" altLang="zh-TW" dirty="0"/>
              <a:t>(3)</a:t>
            </a:r>
            <a:r>
              <a:rPr lang="zh-TW" altLang="en-US" dirty="0"/>
              <a:t> </a:t>
            </a:r>
            <a:r>
              <a:rPr lang="en-US" altLang="zh-TW" dirty="0"/>
              <a:t>Rethink</a:t>
            </a:r>
            <a:r>
              <a:rPr lang="zh-TW" altLang="en-US" dirty="0"/>
              <a:t> </a:t>
            </a:r>
            <a:r>
              <a:rPr lang="en-US" altLang="zh-TW" dirty="0"/>
              <a:t>page</a:t>
            </a:r>
            <a:r>
              <a:rPr lang="zh-TW" altLang="en-US" dirty="0"/>
              <a:t> </a:t>
            </a:r>
            <a:r>
              <a:rPr lang="en-US" altLang="zh-TW" dirty="0"/>
              <a:t>fault</a:t>
            </a:r>
            <a:r>
              <a:rPr lang="zh-TW" altLang="en-US" dirty="0"/>
              <a:t> </a:t>
            </a:r>
            <a:r>
              <a:rPr lang="en-US" altLang="zh-TW" dirty="0"/>
              <a:t>handler</a:t>
            </a:r>
          </a:p>
        </p:txBody>
      </p:sp>
      <p:sp>
        <p:nvSpPr>
          <p:cNvPr id="4" name="投影片編號版面配置區 3">
            <a:extLst>
              <a:ext uri="{FF2B5EF4-FFF2-40B4-BE49-F238E27FC236}">
                <a16:creationId xmlns:a16="http://schemas.microsoft.com/office/drawing/2014/main" id="{91AE2619-3F0E-2ADE-FD9B-43C3CD788C1B}"/>
              </a:ext>
            </a:extLst>
          </p:cNvPr>
          <p:cNvSpPr>
            <a:spLocks noGrp="1"/>
          </p:cNvSpPr>
          <p:nvPr>
            <p:ph type="sldNum" sz="quarter" idx="4"/>
          </p:nvPr>
        </p:nvSpPr>
        <p:spPr/>
        <p:txBody>
          <a:bodyPr/>
          <a:lstStyle/>
          <a:p>
            <a:fld id="{E24E6636-6BA5-4AAC-8485-BE8D914D288B}" type="slidenum">
              <a:rPr lang="zh-TW" altLang="en-US" smtClean="0"/>
              <a:pPr/>
              <a:t>18</a:t>
            </a:fld>
            <a:endParaRPr lang="zh-TW" altLang="en-US" dirty="0"/>
          </a:p>
        </p:txBody>
      </p:sp>
      <p:sp>
        <p:nvSpPr>
          <p:cNvPr id="16" name="文字方塊 15">
            <a:extLst>
              <a:ext uri="{FF2B5EF4-FFF2-40B4-BE49-F238E27FC236}">
                <a16:creationId xmlns:a16="http://schemas.microsoft.com/office/drawing/2014/main" id="{4C7CFC3A-896D-E980-2D38-673BD04E8147}"/>
              </a:ext>
            </a:extLst>
          </p:cNvPr>
          <p:cNvSpPr txBox="1"/>
          <p:nvPr/>
        </p:nvSpPr>
        <p:spPr>
          <a:xfrm>
            <a:off x="0" y="6598099"/>
            <a:ext cx="5598777" cy="276999"/>
          </a:xfrm>
          <a:prstGeom prst="rect">
            <a:avLst/>
          </a:prstGeom>
          <a:noFill/>
        </p:spPr>
        <p:txBody>
          <a:bodyPr wrap="none" rtlCol="0">
            <a:spAutoFit/>
          </a:bodyPr>
          <a:lstStyle/>
          <a:p>
            <a:r>
              <a:rPr kumimoji="1" lang="en-US" altLang="zh-TW" sz="1200" dirty="0">
                <a:solidFill>
                  <a:schemeClr val="bg1">
                    <a:lumMod val="75000"/>
                  </a:schemeClr>
                </a:solidFill>
              </a:rPr>
              <a:t>[1] </a:t>
            </a:r>
            <a:r>
              <a:rPr kumimoji="1" lang="en-US" altLang="zh-TW" sz="1200" dirty="0" err="1">
                <a:solidFill>
                  <a:schemeClr val="bg1">
                    <a:lumMod val="75000"/>
                  </a:schemeClr>
                </a:solidFill>
              </a:rPr>
              <a:t>Mauerer</a:t>
            </a:r>
            <a:r>
              <a:rPr kumimoji="1" lang="en-US" altLang="zh-TW" sz="1200" dirty="0">
                <a:solidFill>
                  <a:schemeClr val="bg1">
                    <a:lumMod val="75000"/>
                  </a:schemeClr>
                </a:solidFill>
              </a:rPr>
              <a:t>, Wolfgang. Professional Linux kernel architecture. John Wiley &amp; Sons, 2010</a:t>
            </a:r>
            <a:endParaRPr kumimoji="1" lang="zh-TW" altLang="en-US" sz="1200" dirty="0">
              <a:solidFill>
                <a:schemeClr val="bg1">
                  <a:lumMod val="75000"/>
                </a:schemeClr>
              </a:solidFill>
            </a:endParaRPr>
          </a:p>
        </p:txBody>
      </p:sp>
      <p:grpSp>
        <p:nvGrpSpPr>
          <p:cNvPr id="54" name="群組 53">
            <a:extLst>
              <a:ext uri="{FF2B5EF4-FFF2-40B4-BE49-F238E27FC236}">
                <a16:creationId xmlns:a16="http://schemas.microsoft.com/office/drawing/2014/main" id="{35D9E339-EBA2-BF78-0491-74D571B97F3D}"/>
              </a:ext>
            </a:extLst>
          </p:cNvPr>
          <p:cNvGrpSpPr/>
          <p:nvPr/>
        </p:nvGrpSpPr>
        <p:grpSpPr>
          <a:xfrm>
            <a:off x="7926939" y="4237168"/>
            <a:ext cx="2819400" cy="2265388"/>
            <a:chOff x="7926939" y="4237168"/>
            <a:chExt cx="2819400" cy="2265388"/>
          </a:xfrm>
        </p:grpSpPr>
        <p:sp>
          <p:nvSpPr>
            <p:cNvPr id="22" name="三角形 21">
              <a:extLst>
                <a:ext uri="{FF2B5EF4-FFF2-40B4-BE49-F238E27FC236}">
                  <a16:creationId xmlns:a16="http://schemas.microsoft.com/office/drawing/2014/main" id="{06C0CFE2-D2ED-67D9-5676-7E6FFA758E63}"/>
                </a:ext>
              </a:extLst>
            </p:cNvPr>
            <p:cNvSpPr/>
            <p:nvPr/>
          </p:nvSpPr>
          <p:spPr>
            <a:xfrm>
              <a:off x="7926939" y="4263962"/>
              <a:ext cx="2819400" cy="2196710"/>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 name="三角形 22">
              <a:extLst>
                <a:ext uri="{FF2B5EF4-FFF2-40B4-BE49-F238E27FC236}">
                  <a16:creationId xmlns:a16="http://schemas.microsoft.com/office/drawing/2014/main" id="{250AE4BD-2659-D902-6F18-01187C39FE58}"/>
                </a:ext>
              </a:extLst>
            </p:cNvPr>
            <p:cNvSpPr/>
            <p:nvPr/>
          </p:nvSpPr>
          <p:spPr>
            <a:xfrm>
              <a:off x="8331584" y="4237168"/>
              <a:ext cx="2068348" cy="1605134"/>
            </a:xfrm>
            <a:custGeom>
              <a:avLst/>
              <a:gdLst>
                <a:gd name="connsiteX0" fmla="*/ 0 w 2819400"/>
                <a:gd name="connsiteY0" fmla="*/ 1063625 h 1063625"/>
                <a:gd name="connsiteX1" fmla="*/ 1409700 w 2819400"/>
                <a:gd name="connsiteY1" fmla="*/ 0 h 1063625"/>
                <a:gd name="connsiteX2" fmla="*/ 2819400 w 2819400"/>
                <a:gd name="connsiteY2" fmla="*/ 1063625 h 1063625"/>
                <a:gd name="connsiteX3" fmla="*/ 0 w 2819400"/>
                <a:gd name="connsiteY3" fmla="*/ 1063625 h 1063625"/>
                <a:gd name="connsiteX0" fmla="*/ 0 w 2105346"/>
                <a:gd name="connsiteY0" fmla="*/ 1079036 h 1079036"/>
                <a:gd name="connsiteX1" fmla="*/ 695646 w 2105346"/>
                <a:gd name="connsiteY1" fmla="*/ 0 h 1079036"/>
                <a:gd name="connsiteX2" fmla="*/ 2105346 w 2105346"/>
                <a:gd name="connsiteY2" fmla="*/ 1063625 h 1079036"/>
                <a:gd name="connsiteX3" fmla="*/ 0 w 2105346"/>
                <a:gd name="connsiteY3" fmla="*/ 1079036 h 1079036"/>
                <a:gd name="connsiteX0" fmla="*/ 0 w 1411840"/>
                <a:gd name="connsiteY0" fmla="*/ 1079036 h 1079036"/>
                <a:gd name="connsiteX1" fmla="*/ 695646 w 1411840"/>
                <a:gd name="connsiteY1" fmla="*/ 0 h 1079036"/>
                <a:gd name="connsiteX2" fmla="*/ 1411840 w 1411840"/>
                <a:gd name="connsiteY2" fmla="*/ 1073899 h 1079036"/>
                <a:gd name="connsiteX3" fmla="*/ 0 w 1411840"/>
                <a:gd name="connsiteY3" fmla="*/ 1079036 h 1079036"/>
                <a:gd name="connsiteX0" fmla="*/ 0 w 1401566"/>
                <a:gd name="connsiteY0" fmla="*/ 1079036 h 1079036"/>
                <a:gd name="connsiteX1" fmla="*/ 695646 w 1401566"/>
                <a:gd name="connsiteY1" fmla="*/ 0 h 1079036"/>
                <a:gd name="connsiteX2" fmla="*/ 1401566 w 1401566"/>
                <a:gd name="connsiteY2" fmla="*/ 1073899 h 1079036"/>
                <a:gd name="connsiteX3" fmla="*/ 0 w 1401566"/>
                <a:gd name="connsiteY3" fmla="*/ 1079036 h 1079036"/>
                <a:gd name="connsiteX0" fmla="*/ 0 w 1807395"/>
                <a:gd name="connsiteY0" fmla="*/ 1088877 h 1088877"/>
                <a:gd name="connsiteX1" fmla="*/ 1101475 w 1807395"/>
                <a:gd name="connsiteY1" fmla="*/ 0 h 1088877"/>
                <a:gd name="connsiteX2" fmla="*/ 1807395 w 1807395"/>
                <a:gd name="connsiteY2" fmla="*/ 1073899 h 1088877"/>
                <a:gd name="connsiteX3" fmla="*/ 0 w 1807395"/>
                <a:gd name="connsiteY3" fmla="*/ 1088877 h 1088877"/>
                <a:gd name="connsiteX0" fmla="*/ 0 w 2166991"/>
                <a:gd name="connsiteY0" fmla="*/ 1088877 h 1088877"/>
                <a:gd name="connsiteX1" fmla="*/ 1101475 w 2166991"/>
                <a:gd name="connsiteY1" fmla="*/ 0 h 1088877"/>
                <a:gd name="connsiteX2" fmla="*/ 2166991 w 2166991"/>
                <a:gd name="connsiteY2" fmla="*/ 1057497 h 1088877"/>
                <a:gd name="connsiteX3" fmla="*/ 0 w 2166991"/>
                <a:gd name="connsiteY3" fmla="*/ 1088877 h 1088877"/>
                <a:gd name="connsiteX0" fmla="*/ 0 w 2081266"/>
                <a:gd name="connsiteY0" fmla="*/ 1088877 h 1088877"/>
                <a:gd name="connsiteX1" fmla="*/ 1101475 w 2081266"/>
                <a:gd name="connsiteY1" fmla="*/ 0 h 1088877"/>
                <a:gd name="connsiteX2" fmla="*/ 2081266 w 2081266"/>
                <a:gd name="connsiteY2" fmla="*/ 970313 h 1088877"/>
                <a:gd name="connsiteX3" fmla="*/ 0 w 2081266"/>
                <a:gd name="connsiteY3" fmla="*/ 1088877 h 1088877"/>
                <a:gd name="connsiteX0" fmla="*/ 0 w 1960616"/>
                <a:gd name="connsiteY0" fmla="*/ 981419 h 981419"/>
                <a:gd name="connsiteX1" fmla="*/ 980825 w 1960616"/>
                <a:gd name="connsiteY1" fmla="*/ 0 h 981419"/>
                <a:gd name="connsiteX2" fmla="*/ 1960616 w 1960616"/>
                <a:gd name="connsiteY2" fmla="*/ 970313 h 981419"/>
                <a:gd name="connsiteX3" fmla="*/ 0 w 1960616"/>
                <a:gd name="connsiteY3" fmla="*/ 981419 h 981419"/>
                <a:gd name="connsiteX0" fmla="*/ 0 w 2043166"/>
                <a:gd name="connsiteY0" fmla="*/ 981419 h 1051414"/>
                <a:gd name="connsiteX1" fmla="*/ 980825 w 2043166"/>
                <a:gd name="connsiteY1" fmla="*/ 0 h 1051414"/>
                <a:gd name="connsiteX2" fmla="*/ 2043166 w 2043166"/>
                <a:gd name="connsiteY2" fmla="*/ 1051414 h 1051414"/>
                <a:gd name="connsiteX3" fmla="*/ 0 w 2043166"/>
                <a:gd name="connsiteY3" fmla="*/ 981419 h 1051414"/>
                <a:gd name="connsiteX0" fmla="*/ 0 w 2100316"/>
                <a:gd name="connsiteY0" fmla="*/ 1030079 h 1051414"/>
                <a:gd name="connsiteX1" fmla="*/ 1037975 w 2100316"/>
                <a:gd name="connsiteY1" fmla="*/ 0 h 1051414"/>
                <a:gd name="connsiteX2" fmla="*/ 2100316 w 2100316"/>
                <a:gd name="connsiteY2" fmla="*/ 1051414 h 1051414"/>
                <a:gd name="connsiteX3" fmla="*/ 0 w 2100316"/>
                <a:gd name="connsiteY3" fmla="*/ 1030079 h 1051414"/>
                <a:gd name="connsiteX0" fmla="*/ 0 w 2032810"/>
                <a:gd name="connsiteY0" fmla="*/ 971294 h 1051414"/>
                <a:gd name="connsiteX1" fmla="*/ 970469 w 2032810"/>
                <a:gd name="connsiteY1" fmla="*/ 0 h 1051414"/>
                <a:gd name="connsiteX2" fmla="*/ 2032810 w 2032810"/>
                <a:gd name="connsiteY2" fmla="*/ 1051414 h 1051414"/>
                <a:gd name="connsiteX3" fmla="*/ 0 w 2032810"/>
                <a:gd name="connsiteY3" fmla="*/ 971294 h 1051414"/>
                <a:gd name="connsiteX0" fmla="*/ 0 w 1965304"/>
                <a:gd name="connsiteY0" fmla="*/ 971294 h 988710"/>
                <a:gd name="connsiteX1" fmla="*/ 970469 w 1965304"/>
                <a:gd name="connsiteY1" fmla="*/ 0 h 988710"/>
                <a:gd name="connsiteX2" fmla="*/ 1965304 w 1965304"/>
                <a:gd name="connsiteY2" fmla="*/ 988710 h 988710"/>
                <a:gd name="connsiteX3" fmla="*/ 0 w 1965304"/>
                <a:gd name="connsiteY3" fmla="*/ 971294 h 988710"/>
                <a:gd name="connsiteX0" fmla="*/ 0 w 1974829"/>
                <a:gd name="connsiteY0" fmla="*/ 971294 h 988710"/>
                <a:gd name="connsiteX1" fmla="*/ 979994 w 1974829"/>
                <a:gd name="connsiteY1" fmla="*/ 0 h 988710"/>
                <a:gd name="connsiteX2" fmla="*/ 1974829 w 1974829"/>
                <a:gd name="connsiteY2" fmla="*/ 988710 h 988710"/>
                <a:gd name="connsiteX3" fmla="*/ 0 w 1974829"/>
                <a:gd name="connsiteY3" fmla="*/ 971294 h 988710"/>
                <a:gd name="connsiteX0" fmla="*/ 0 w 1958954"/>
                <a:gd name="connsiteY0" fmla="*/ 971294 h 982627"/>
                <a:gd name="connsiteX1" fmla="*/ 979994 w 1958954"/>
                <a:gd name="connsiteY1" fmla="*/ 0 h 982627"/>
                <a:gd name="connsiteX2" fmla="*/ 1958954 w 1958954"/>
                <a:gd name="connsiteY2" fmla="*/ 982627 h 982627"/>
                <a:gd name="connsiteX3" fmla="*/ 0 w 1958954"/>
                <a:gd name="connsiteY3" fmla="*/ 971294 h 982627"/>
                <a:gd name="connsiteX0" fmla="*/ 0 w 1974829"/>
                <a:gd name="connsiteY0" fmla="*/ 971294 h 978572"/>
                <a:gd name="connsiteX1" fmla="*/ 979994 w 1974829"/>
                <a:gd name="connsiteY1" fmla="*/ 0 h 978572"/>
                <a:gd name="connsiteX2" fmla="*/ 1974829 w 1974829"/>
                <a:gd name="connsiteY2" fmla="*/ 978572 h 978572"/>
                <a:gd name="connsiteX3" fmla="*/ 0 w 1974829"/>
                <a:gd name="connsiteY3" fmla="*/ 971294 h 978572"/>
                <a:gd name="connsiteX0" fmla="*/ 0 w 2044102"/>
                <a:gd name="connsiteY0" fmla="*/ 1035438 h 1035438"/>
                <a:gd name="connsiteX1" fmla="*/ 1049267 w 2044102"/>
                <a:gd name="connsiteY1" fmla="*/ 0 h 1035438"/>
                <a:gd name="connsiteX2" fmla="*/ 2044102 w 2044102"/>
                <a:gd name="connsiteY2" fmla="*/ 978572 h 1035438"/>
                <a:gd name="connsiteX3" fmla="*/ 0 w 2044102"/>
                <a:gd name="connsiteY3" fmla="*/ 1035438 h 1035438"/>
                <a:gd name="connsiteX0" fmla="*/ 0 w 2089129"/>
                <a:gd name="connsiteY0" fmla="*/ 1035438 h 1035438"/>
                <a:gd name="connsiteX1" fmla="*/ 1049267 w 2089129"/>
                <a:gd name="connsiteY1" fmla="*/ 0 h 1035438"/>
                <a:gd name="connsiteX2" fmla="*/ 2089129 w 2089129"/>
                <a:gd name="connsiteY2" fmla="*/ 1029445 h 1035438"/>
                <a:gd name="connsiteX3" fmla="*/ 0 w 2089129"/>
                <a:gd name="connsiteY3" fmla="*/ 1035438 h 1035438"/>
                <a:gd name="connsiteX0" fmla="*/ 0 w 2064884"/>
                <a:gd name="connsiteY0" fmla="*/ 1015531 h 1029445"/>
                <a:gd name="connsiteX1" fmla="*/ 1025022 w 2064884"/>
                <a:gd name="connsiteY1" fmla="*/ 0 h 1029445"/>
                <a:gd name="connsiteX2" fmla="*/ 2064884 w 2064884"/>
                <a:gd name="connsiteY2" fmla="*/ 1029445 h 1029445"/>
                <a:gd name="connsiteX3" fmla="*/ 0 w 2064884"/>
                <a:gd name="connsiteY3" fmla="*/ 1015531 h 1029445"/>
                <a:gd name="connsiteX0" fmla="*/ 0 w 2047566"/>
                <a:gd name="connsiteY0" fmla="*/ 1015531 h 1015531"/>
                <a:gd name="connsiteX1" fmla="*/ 1025022 w 2047566"/>
                <a:gd name="connsiteY1" fmla="*/ 0 h 1015531"/>
                <a:gd name="connsiteX2" fmla="*/ 2047566 w 2047566"/>
                <a:gd name="connsiteY2" fmla="*/ 1011750 h 1015531"/>
                <a:gd name="connsiteX3" fmla="*/ 0 w 2047566"/>
                <a:gd name="connsiteY3" fmla="*/ 1015531 h 1015531"/>
                <a:gd name="connsiteX0" fmla="*/ 0 w 2068348"/>
                <a:gd name="connsiteY0" fmla="*/ 1015531 h 1025021"/>
                <a:gd name="connsiteX1" fmla="*/ 1025022 w 2068348"/>
                <a:gd name="connsiteY1" fmla="*/ 0 h 1025021"/>
                <a:gd name="connsiteX2" fmla="*/ 2068348 w 2068348"/>
                <a:gd name="connsiteY2" fmla="*/ 1025021 h 1025021"/>
                <a:gd name="connsiteX3" fmla="*/ 0 w 2068348"/>
                <a:gd name="connsiteY3" fmla="*/ 1015531 h 1025021"/>
              </a:gdLst>
              <a:ahLst/>
              <a:cxnLst>
                <a:cxn ang="0">
                  <a:pos x="connsiteX0" y="connsiteY0"/>
                </a:cxn>
                <a:cxn ang="0">
                  <a:pos x="connsiteX1" y="connsiteY1"/>
                </a:cxn>
                <a:cxn ang="0">
                  <a:pos x="connsiteX2" y="connsiteY2"/>
                </a:cxn>
                <a:cxn ang="0">
                  <a:pos x="connsiteX3" y="connsiteY3"/>
                </a:cxn>
              </a:cxnLst>
              <a:rect l="l" t="t" r="r" b="b"/>
              <a:pathLst>
                <a:path w="2068348" h="1025021">
                  <a:moveTo>
                    <a:pt x="0" y="1015531"/>
                  </a:moveTo>
                  <a:lnTo>
                    <a:pt x="1025022" y="0"/>
                  </a:lnTo>
                  <a:lnTo>
                    <a:pt x="2068348" y="1025021"/>
                  </a:lnTo>
                  <a:lnTo>
                    <a:pt x="0" y="1015531"/>
                  </a:lnTo>
                  <a:close/>
                </a:path>
              </a:pathLst>
            </a:custGeom>
            <a:solidFill>
              <a:schemeClr val="accent1">
                <a:lumMod val="60000"/>
                <a:lumOff val="40000"/>
              </a:schemeClr>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24" name="三角形 22">
              <a:extLst>
                <a:ext uri="{FF2B5EF4-FFF2-40B4-BE49-F238E27FC236}">
                  <a16:creationId xmlns:a16="http://schemas.microsoft.com/office/drawing/2014/main" id="{BA34D9B8-9749-EFCE-A026-5EB32A5B673F}"/>
                </a:ext>
              </a:extLst>
            </p:cNvPr>
            <p:cNvSpPr/>
            <p:nvPr/>
          </p:nvSpPr>
          <p:spPr>
            <a:xfrm>
              <a:off x="8311616" y="4272059"/>
              <a:ext cx="2068348" cy="1605134"/>
            </a:xfrm>
            <a:custGeom>
              <a:avLst/>
              <a:gdLst>
                <a:gd name="connsiteX0" fmla="*/ 0 w 2819400"/>
                <a:gd name="connsiteY0" fmla="*/ 1063625 h 1063625"/>
                <a:gd name="connsiteX1" fmla="*/ 1409700 w 2819400"/>
                <a:gd name="connsiteY1" fmla="*/ 0 h 1063625"/>
                <a:gd name="connsiteX2" fmla="*/ 2819400 w 2819400"/>
                <a:gd name="connsiteY2" fmla="*/ 1063625 h 1063625"/>
                <a:gd name="connsiteX3" fmla="*/ 0 w 2819400"/>
                <a:gd name="connsiteY3" fmla="*/ 1063625 h 1063625"/>
                <a:gd name="connsiteX0" fmla="*/ 0 w 2105346"/>
                <a:gd name="connsiteY0" fmla="*/ 1079036 h 1079036"/>
                <a:gd name="connsiteX1" fmla="*/ 695646 w 2105346"/>
                <a:gd name="connsiteY1" fmla="*/ 0 h 1079036"/>
                <a:gd name="connsiteX2" fmla="*/ 2105346 w 2105346"/>
                <a:gd name="connsiteY2" fmla="*/ 1063625 h 1079036"/>
                <a:gd name="connsiteX3" fmla="*/ 0 w 2105346"/>
                <a:gd name="connsiteY3" fmla="*/ 1079036 h 1079036"/>
                <a:gd name="connsiteX0" fmla="*/ 0 w 1411840"/>
                <a:gd name="connsiteY0" fmla="*/ 1079036 h 1079036"/>
                <a:gd name="connsiteX1" fmla="*/ 695646 w 1411840"/>
                <a:gd name="connsiteY1" fmla="*/ 0 h 1079036"/>
                <a:gd name="connsiteX2" fmla="*/ 1411840 w 1411840"/>
                <a:gd name="connsiteY2" fmla="*/ 1073899 h 1079036"/>
                <a:gd name="connsiteX3" fmla="*/ 0 w 1411840"/>
                <a:gd name="connsiteY3" fmla="*/ 1079036 h 1079036"/>
                <a:gd name="connsiteX0" fmla="*/ 0 w 1401566"/>
                <a:gd name="connsiteY0" fmla="*/ 1079036 h 1079036"/>
                <a:gd name="connsiteX1" fmla="*/ 695646 w 1401566"/>
                <a:gd name="connsiteY1" fmla="*/ 0 h 1079036"/>
                <a:gd name="connsiteX2" fmla="*/ 1401566 w 1401566"/>
                <a:gd name="connsiteY2" fmla="*/ 1073899 h 1079036"/>
                <a:gd name="connsiteX3" fmla="*/ 0 w 1401566"/>
                <a:gd name="connsiteY3" fmla="*/ 1079036 h 1079036"/>
                <a:gd name="connsiteX0" fmla="*/ 0 w 1807395"/>
                <a:gd name="connsiteY0" fmla="*/ 1088877 h 1088877"/>
                <a:gd name="connsiteX1" fmla="*/ 1101475 w 1807395"/>
                <a:gd name="connsiteY1" fmla="*/ 0 h 1088877"/>
                <a:gd name="connsiteX2" fmla="*/ 1807395 w 1807395"/>
                <a:gd name="connsiteY2" fmla="*/ 1073899 h 1088877"/>
                <a:gd name="connsiteX3" fmla="*/ 0 w 1807395"/>
                <a:gd name="connsiteY3" fmla="*/ 1088877 h 1088877"/>
                <a:gd name="connsiteX0" fmla="*/ 0 w 2166991"/>
                <a:gd name="connsiteY0" fmla="*/ 1088877 h 1088877"/>
                <a:gd name="connsiteX1" fmla="*/ 1101475 w 2166991"/>
                <a:gd name="connsiteY1" fmla="*/ 0 h 1088877"/>
                <a:gd name="connsiteX2" fmla="*/ 2166991 w 2166991"/>
                <a:gd name="connsiteY2" fmla="*/ 1057497 h 1088877"/>
                <a:gd name="connsiteX3" fmla="*/ 0 w 2166991"/>
                <a:gd name="connsiteY3" fmla="*/ 1088877 h 1088877"/>
                <a:gd name="connsiteX0" fmla="*/ 0 w 2081266"/>
                <a:gd name="connsiteY0" fmla="*/ 1088877 h 1088877"/>
                <a:gd name="connsiteX1" fmla="*/ 1101475 w 2081266"/>
                <a:gd name="connsiteY1" fmla="*/ 0 h 1088877"/>
                <a:gd name="connsiteX2" fmla="*/ 2081266 w 2081266"/>
                <a:gd name="connsiteY2" fmla="*/ 970313 h 1088877"/>
                <a:gd name="connsiteX3" fmla="*/ 0 w 2081266"/>
                <a:gd name="connsiteY3" fmla="*/ 1088877 h 1088877"/>
                <a:gd name="connsiteX0" fmla="*/ 0 w 1960616"/>
                <a:gd name="connsiteY0" fmla="*/ 981419 h 981419"/>
                <a:gd name="connsiteX1" fmla="*/ 980825 w 1960616"/>
                <a:gd name="connsiteY1" fmla="*/ 0 h 981419"/>
                <a:gd name="connsiteX2" fmla="*/ 1960616 w 1960616"/>
                <a:gd name="connsiteY2" fmla="*/ 970313 h 981419"/>
                <a:gd name="connsiteX3" fmla="*/ 0 w 1960616"/>
                <a:gd name="connsiteY3" fmla="*/ 981419 h 981419"/>
                <a:gd name="connsiteX0" fmla="*/ 0 w 2043166"/>
                <a:gd name="connsiteY0" fmla="*/ 981419 h 1051414"/>
                <a:gd name="connsiteX1" fmla="*/ 980825 w 2043166"/>
                <a:gd name="connsiteY1" fmla="*/ 0 h 1051414"/>
                <a:gd name="connsiteX2" fmla="*/ 2043166 w 2043166"/>
                <a:gd name="connsiteY2" fmla="*/ 1051414 h 1051414"/>
                <a:gd name="connsiteX3" fmla="*/ 0 w 2043166"/>
                <a:gd name="connsiteY3" fmla="*/ 981419 h 1051414"/>
                <a:gd name="connsiteX0" fmla="*/ 0 w 2100316"/>
                <a:gd name="connsiteY0" fmla="*/ 1030079 h 1051414"/>
                <a:gd name="connsiteX1" fmla="*/ 1037975 w 2100316"/>
                <a:gd name="connsiteY1" fmla="*/ 0 h 1051414"/>
                <a:gd name="connsiteX2" fmla="*/ 2100316 w 2100316"/>
                <a:gd name="connsiteY2" fmla="*/ 1051414 h 1051414"/>
                <a:gd name="connsiteX3" fmla="*/ 0 w 2100316"/>
                <a:gd name="connsiteY3" fmla="*/ 1030079 h 1051414"/>
                <a:gd name="connsiteX0" fmla="*/ 0 w 2032810"/>
                <a:gd name="connsiteY0" fmla="*/ 971294 h 1051414"/>
                <a:gd name="connsiteX1" fmla="*/ 970469 w 2032810"/>
                <a:gd name="connsiteY1" fmla="*/ 0 h 1051414"/>
                <a:gd name="connsiteX2" fmla="*/ 2032810 w 2032810"/>
                <a:gd name="connsiteY2" fmla="*/ 1051414 h 1051414"/>
                <a:gd name="connsiteX3" fmla="*/ 0 w 2032810"/>
                <a:gd name="connsiteY3" fmla="*/ 971294 h 1051414"/>
                <a:gd name="connsiteX0" fmla="*/ 0 w 1965304"/>
                <a:gd name="connsiteY0" fmla="*/ 971294 h 988710"/>
                <a:gd name="connsiteX1" fmla="*/ 970469 w 1965304"/>
                <a:gd name="connsiteY1" fmla="*/ 0 h 988710"/>
                <a:gd name="connsiteX2" fmla="*/ 1965304 w 1965304"/>
                <a:gd name="connsiteY2" fmla="*/ 988710 h 988710"/>
                <a:gd name="connsiteX3" fmla="*/ 0 w 1965304"/>
                <a:gd name="connsiteY3" fmla="*/ 971294 h 988710"/>
                <a:gd name="connsiteX0" fmla="*/ 0 w 1974829"/>
                <a:gd name="connsiteY0" fmla="*/ 971294 h 988710"/>
                <a:gd name="connsiteX1" fmla="*/ 979994 w 1974829"/>
                <a:gd name="connsiteY1" fmla="*/ 0 h 988710"/>
                <a:gd name="connsiteX2" fmla="*/ 1974829 w 1974829"/>
                <a:gd name="connsiteY2" fmla="*/ 988710 h 988710"/>
                <a:gd name="connsiteX3" fmla="*/ 0 w 1974829"/>
                <a:gd name="connsiteY3" fmla="*/ 971294 h 988710"/>
                <a:gd name="connsiteX0" fmla="*/ 0 w 1958954"/>
                <a:gd name="connsiteY0" fmla="*/ 971294 h 982627"/>
                <a:gd name="connsiteX1" fmla="*/ 979994 w 1958954"/>
                <a:gd name="connsiteY1" fmla="*/ 0 h 982627"/>
                <a:gd name="connsiteX2" fmla="*/ 1958954 w 1958954"/>
                <a:gd name="connsiteY2" fmla="*/ 982627 h 982627"/>
                <a:gd name="connsiteX3" fmla="*/ 0 w 1958954"/>
                <a:gd name="connsiteY3" fmla="*/ 971294 h 982627"/>
                <a:gd name="connsiteX0" fmla="*/ 0 w 1974829"/>
                <a:gd name="connsiteY0" fmla="*/ 971294 h 978572"/>
                <a:gd name="connsiteX1" fmla="*/ 979994 w 1974829"/>
                <a:gd name="connsiteY1" fmla="*/ 0 h 978572"/>
                <a:gd name="connsiteX2" fmla="*/ 1974829 w 1974829"/>
                <a:gd name="connsiteY2" fmla="*/ 978572 h 978572"/>
                <a:gd name="connsiteX3" fmla="*/ 0 w 1974829"/>
                <a:gd name="connsiteY3" fmla="*/ 971294 h 978572"/>
                <a:gd name="connsiteX0" fmla="*/ 0 w 2044102"/>
                <a:gd name="connsiteY0" fmla="*/ 1035438 h 1035438"/>
                <a:gd name="connsiteX1" fmla="*/ 1049267 w 2044102"/>
                <a:gd name="connsiteY1" fmla="*/ 0 h 1035438"/>
                <a:gd name="connsiteX2" fmla="*/ 2044102 w 2044102"/>
                <a:gd name="connsiteY2" fmla="*/ 978572 h 1035438"/>
                <a:gd name="connsiteX3" fmla="*/ 0 w 2044102"/>
                <a:gd name="connsiteY3" fmla="*/ 1035438 h 1035438"/>
                <a:gd name="connsiteX0" fmla="*/ 0 w 2089129"/>
                <a:gd name="connsiteY0" fmla="*/ 1035438 h 1035438"/>
                <a:gd name="connsiteX1" fmla="*/ 1049267 w 2089129"/>
                <a:gd name="connsiteY1" fmla="*/ 0 h 1035438"/>
                <a:gd name="connsiteX2" fmla="*/ 2089129 w 2089129"/>
                <a:gd name="connsiteY2" fmla="*/ 1029445 h 1035438"/>
                <a:gd name="connsiteX3" fmla="*/ 0 w 2089129"/>
                <a:gd name="connsiteY3" fmla="*/ 1035438 h 1035438"/>
                <a:gd name="connsiteX0" fmla="*/ 0 w 2064884"/>
                <a:gd name="connsiteY0" fmla="*/ 1015531 h 1029445"/>
                <a:gd name="connsiteX1" fmla="*/ 1025022 w 2064884"/>
                <a:gd name="connsiteY1" fmla="*/ 0 h 1029445"/>
                <a:gd name="connsiteX2" fmla="*/ 2064884 w 2064884"/>
                <a:gd name="connsiteY2" fmla="*/ 1029445 h 1029445"/>
                <a:gd name="connsiteX3" fmla="*/ 0 w 2064884"/>
                <a:gd name="connsiteY3" fmla="*/ 1015531 h 1029445"/>
                <a:gd name="connsiteX0" fmla="*/ 0 w 2047566"/>
                <a:gd name="connsiteY0" fmla="*/ 1015531 h 1015531"/>
                <a:gd name="connsiteX1" fmla="*/ 1025022 w 2047566"/>
                <a:gd name="connsiteY1" fmla="*/ 0 h 1015531"/>
                <a:gd name="connsiteX2" fmla="*/ 2047566 w 2047566"/>
                <a:gd name="connsiteY2" fmla="*/ 1011750 h 1015531"/>
                <a:gd name="connsiteX3" fmla="*/ 0 w 2047566"/>
                <a:gd name="connsiteY3" fmla="*/ 1015531 h 1015531"/>
                <a:gd name="connsiteX0" fmla="*/ 0 w 2068348"/>
                <a:gd name="connsiteY0" fmla="*/ 1015531 h 1025021"/>
                <a:gd name="connsiteX1" fmla="*/ 1025022 w 2068348"/>
                <a:gd name="connsiteY1" fmla="*/ 0 h 1025021"/>
                <a:gd name="connsiteX2" fmla="*/ 2068348 w 2068348"/>
                <a:gd name="connsiteY2" fmla="*/ 1025021 h 1025021"/>
                <a:gd name="connsiteX3" fmla="*/ 0 w 2068348"/>
                <a:gd name="connsiteY3" fmla="*/ 1015531 h 1025021"/>
              </a:gdLst>
              <a:ahLst/>
              <a:cxnLst>
                <a:cxn ang="0">
                  <a:pos x="connsiteX0" y="connsiteY0"/>
                </a:cxn>
                <a:cxn ang="0">
                  <a:pos x="connsiteX1" y="connsiteY1"/>
                </a:cxn>
                <a:cxn ang="0">
                  <a:pos x="connsiteX2" y="connsiteY2"/>
                </a:cxn>
                <a:cxn ang="0">
                  <a:pos x="connsiteX3" y="connsiteY3"/>
                </a:cxn>
              </a:cxnLst>
              <a:rect l="l" t="t" r="r" b="b"/>
              <a:pathLst>
                <a:path w="2068348" h="1025021">
                  <a:moveTo>
                    <a:pt x="0" y="1015531"/>
                  </a:moveTo>
                  <a:lnTo>
                    <a:pt x="1025022" y="0"/>
                  </a:lnTo>
                  <a:lnTo>
                    <a:pt x="2068348" y="1025021"/>
                  </a:lnTo>
                  <a:lnTo>
                    <a:pt x="0" y="1015531"/>
                  </a:lnTo>
                  <a:close/>
                </a:path>
              </a:pathLst>
            </a:custGeom>
            <a:solidFill>
              <a:schemeClr val="accent1">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33" name="三角形 22">
              <a:extLst>
                <a:ext uri="{FF2B5EF4-FFF2-40B4-BE49-F238E27FC236}">
                  <a16:creationId xmlns:a16="http://schemas.microsoft.com/office/drawing/2014/main" id="{3BC32BAD-ABB0-7F5A-D9E2-987BE7B6EFE3}"/>
                </a:ext>
              </a:extLst>
            </p:cNvPr>
            <p:cNvSpPr/>
            <p:nvPr/>
          </p:nvSpPr>
          <p:spPr>
            <a:xfrm>
              <a:off x="8492440" y="4249911"/>
              <a:ext cx="1696313" cy="1342214"/>
            </a:xfrm>
            <a:custGeom>
              <a:avLst/>
              <a:gdLst>
                <a:gd name="connsiteX0" fmla="*/ 0 w 2819400"/>
                <a:gd name="connsiteY0" fmla="*/ 1063625 h 1063625"/>
                <a:gd name="connsiteX1" fmla="*/ 1409700 w 2819400"/>
                <a:gd name="connsiteY1" fmla="*/ 0 h 1063625"/>
                <a:gd name="connsiteX2" fmla="*/ 2819400 w 2819400"/>
                <a:gd name="connsiteY2" fmla="*/ 1063625 h 1063625"/>
                <a:gd name="connsiteX3" fmla="*/ 0 w 2819400"/>
                <a:gd name="connsiteY3" fmla="*/ 1063625 h 1063625"/>
                <a:gd name="connsiteX0" fmla="*/ 0 w 2105346"/>
                <a:gd name="connsiteY0" fmla="*/ 1079036 h 1079036"/>
                <a:gd name="connsiteX1" fmla="*/ 695646 w 2105346"/>
                <a:gd name="connsiteY1" fmla="*/ 0 h 1079036"/>
                <a:gd name="connsiteX2" fmla="*/ 2105346 w 2105346"/>
                <a:gd name="connsiteY2" fmla="*/ 1063625 h 1079036"/>
                <a:gd name="connsiteX3" fmla="*/ 0 w 2105346"/>
                <a:gd name="connsiteY3" fmla="*/ 1079036 h 1079036"/>
                <a:gd name="connsiteX0" fmla="*/ 0 w 1411840"/>
                <a:gd name="connsiteY0" fmla="*/ 1079036 h 1079036"/>
                <a:gd name="connsiteX1" fmla="*/ 695646 w 1411840"/>
                <a:gd name="connsiteY1" fmla="*/ 0 h 1079036"/>
                <a:gd name="connsiteX2" fmla="*/ 1411840 w 1411840"/>
                <a:gd name="connsiteY2" fmla="*/ 1073899 h 1079036"/>
                <a:gd name="connsiteX3" fmla="*/ 0 w 1411840"/>
                <a:gd name="connsiteY3" fmla="*/ 1079036 h 1079036"/>
                <a:gd name="connsiteX0" fmla="*/ 0 w 1401566"/>
                <a:gd name="connsiteY0" fmla="*/ 1079036 h 1079036"/>
                <a:gd name="connsiteX1" fmla="*/ 695646 w 1401566"/>
                <a:gd name="connsiteY1" fmla="*/ 0 h 1079036"/>
                <a:gd name="connsiteX2" fmla="*/ 1401566 w 1401566"/>
                <a:gd name="connsiteY2" fmla="*/ 1073899 h 1079036"/>
                <a:gd name="connsiteX3" fmla="*/ 0 w 1401566"/>
                <a:gd name="connsiteY3" fmla="*/ 1079036 h 1079036"/>
                <a:gd name="connsiteX0" fmla="*/ 0 w 1807395"/>
                <a:gd name="connsiteY0" fmla="*/ 1088877 h 1088877"/>
                <a:gd name="connsiteX1" fmla="*/ 1101475 w 1807395"/>
                <a:gd name="connsiteY1" fmla="*/ 0 h 1088877"/>
                <a:gd name="connsiteX2" fmla="*/ 1807395 w 1807395"/>
                <a:gd name="connsiteY2" fmla="*/ 1073899 h 1088877"/>
                <a:gd name="connsiteX3" fmla="*/ 0 w 1807395"/>
                <a:gd name="connsiteY3" fmla="*/ 1088877 h 1088877"/>
                <a:gd name="connsiteX0" fmla="*/ 0 w 2166991"/>
                <a:gd name="connsiteY0" fmla="*/ 1088877 h 1088877"/>
                <a:gd name="connsiteX1" fmla="*/ 1101475 w 2166991"/>
                <a:gd name="connsiteY1" fmla="*/ 0 h 1088877"/>
                <a:gd name="connsiteX2" fmla="*/ 2166991 w 2166991"/>
                <a:gd name="connsiteY2" fmla="*/ 1057497 h 1088877"/>
                <a:gd name="connsiteX3" fmla="*/ 0 w 2166991"/>
                <a:gd name="connsiteY3" fmla="*/ 1088877 h 1088877"/>
                <a:gd name="connsiteX0" fmla="*/ 0 w 2081266"/>
                <a:gd name="connsiteY0" fmla="*/ 1088877 h 1088877"/>
                <a:gd name="connsiteX1" fmla="*/ 1101475 w 2081266"/>
                <a:gd name="connsiteY1" fmla="*/ 0 h 1088877"/>
                <a:gd name="connsiteX2" fmla="*/ 2081266 w 2081266"/>
                <a:gd name="connsiteY2" fmla="*/ 970313 h 1088877"/>
                <a:gd name="connsiteX3" fmla="*/ 0 w 2081266"/>
                <a:gd name="connsiteY3" fmla="*/ 1088877 h 1088877"/>
                <a:gd name="connsiteX0" fmla="*/ 0 w 1960616"/>
                <a:gd name="connsiteY0" fmla="*/ 981419 h 981419"/>
                <a:gd name="connsiteX1" fmla="*/ 980825 w 1960616"/>
                <a:gd name="connsiteY1" fmla="*/ 0 h 981419"/>
                <a:gd name="connsiteX2" fmla="*/ 1960616 w 1960616"/>
                <a:gd name="connsiteY2" fmla="*/ 970313 h 981419"/>
                <a:gd name="connsiteX3" fmla="*/ 0 w 1960616"/>
                <a:gd name="connsiteY3" fmla="*/ 981419 h 981419"/>
                <a:gd name="connsiteX0" fmla="*/ 0 w 2043166"/>
                <a:gd name="connsiteY0" fmla="*/ 981419 h 1051414"/>
                <a:gd name="connsiteX1" fmla="*/ 980825 w 2043166"/>
                <a:gd name="connsiteY1" fmla="*/ 0 h 1051414"/>
                <a:gd name="connsiteX2" fmla="*/ 2043166 w 2043166"/>
                <a:gd name="connsiteY2" fmla="*/ 1051414 h 1051414"/>
                <a:gd name="connsiteX3" fmla="*/ 0 w 2043166"/>
                <a:gd name="connsiteY3" fmla="*/ 981419 h 1051414"/>
                <a:gd name="connsiteX0" fmla="*/ 0 w 2100316"/>
                <a:gd name="connsiteY0" fmla="*/ 1030079 h 1051414"/>
                <a:gd name="connsiteX1" fmla="*/ 1037975 w 2100316"/>
                <a:gd name="connsiteY1" fmla="*/ 0 h 1051414"/>
                <a:gd name="connsiteX2" fmla="*/ 2100316 w 2100316"/>
                <a:gd name="connsiteY2" fmla="*/ 1051414 h 1051414"/>
                <a:gd name="connsiteX3" fmla="*/ 0 w 2100316"/>
                <a:gd name="connsiteY3" fmla="*/ 1030079 h 1051414"/>
                <a:gd name="connsiteX0" fmla="*/ 0 w 2032810"/>
                <a:gd name="connsiteY0" fmla="*/ 971294 h 1051414"/>
                <a:gd name="connsiteX1" fmla="*/ 970469 w 2032810"/>
                <a:gd name="connsiteY1" fmla="*/ 0 h 1051414"/>
                <a:gd name="connsiteX2" fmla="*/ 2032810 w 2032810"/>
                <a:gd name="connsiteY2" fmla="*/ 1051414 h 1051414"/>
                <a:gd name="connsiteX3" fmla="*/ 0 w 2032810"/>
                <a:gd name="connsiteY3" fmla="*/ 971294 h 1051414"/>
                <a:gd name="connsiteX0" fmla="*/ 0 w 1965304"/>
                <a:gd name="connsiteY0" fmla="*/ 971294 h 988710"/>
                <a:gd name="connsiteX1" fmla="*/ 970469 w 1965304"/>
                <a:gd name="connsiteY1" fmla="*/ 0 h 988710"/>
                <a:gd name="connsiteX2" fmla="*/ 1965304 w 1965304"/>
                <a:gd name="connsiteY2" fmla="*/ 988710 h 988710"/>
                <a:gd name="connsiteX3" fmla="*/ 0 w 1965304"/>
                <a:gd name="connsiteY3" fmla="*/ 971294 h 988710"/>
                <a:gd name="connsiteX0" fmla="*/ 0 w 1974829"/>
                <a:gd name="connsiteY0" fmla="*/ 971294 h 988710"/>
                <a:gd name="connsiteX1" fmla="*/ 979994 w 1974829"/>
                <a:gd name="connsiteY1" fmla="*/ 0 h 988710"/>
                <a:gd name="connsiteX2" fmla="*/ 1974829 w 1974829"/>
                <a:gd name="connsiteY2" fmla="*/ 988710 h 988710"/>
                <a:gd name="connsiteX3" fmla="*/ 0 w 1974829"/>
                <a:gd name="connsiteY3" fmla="*/ 971294 h 988710"/>
                <a:gd name="connsiteX0" fmla="*/ 0 w 1958954"/>
                <a:gd name="connsiteY0" fmla="*/ 971294 h 982627"/>
                <a:gd name="connsiteX1" fmla="*/ 979994 w 1958954"/>
                <a:gd name="connsiteY1" fmla="*/ 0 h 982627"/>
                <a:gd name="connsiteX2" fmla="*/ 1958954 w 1958954"/>
                <a:gd name="connsiteY2" fmla="*/ 982627 h 982627"/>
                <a:gd name="connsiteX3" fmla="*/ 0 w 1958954"/>
                <a:gd name="connsiteY3" fmla="*/ 971294 h 982627"/>
                <a:gd name="connsiteX0" fmla="*/ 0 w 1974829"/>
                <a:gd name="connsiteY0" fmla="*/ 971294 h 978572"/>
                <a:gd name="connsiteX1" fmla="*/ 979994 w 1974829"/>
                <a:gd name="connsiteY1" fmla="*/ 0 h 978572"/>
                <a:gd name="connsiteX2" fmla="*/ 1974829 w 1974829"/>
                <a:gd name="connsiteY2" fmla="*/ 978572 h 978572"/>
                <a:gd name="connsiteX3" fmla="*/ 0 w 1974829"/>
                <a:gd name="connsiteY3" fmla="*/ 971294 h 978572"/>
                <a:gd name="connsiteX0" fmla="*/ 0 w 2044102"/>
                <a:gd name="connsiteY0" fmla="*/ 1035438 h 1035438"/>
                <a:gd name="connsiteX1" fmla="*/ 1049267 w 2044102"/>
                <a:gd name="connsiteY1" fmla="*/ 0 h 1035438"/>
                <a:gd name="connsiteX2" fmla="*/ 2044102 w 2044102"/>
                <a:gd name="connsiteY2" fmla="*/ 978572 h 1035438"/>
                <a:gd name="connsiteX3" fmla="*/ 0 w 2044102"/>
                <a:gd name="connsiteY3" fmla="*/ 1035438 h 1035438"/>
                <a:gd name="connsiteX0" fmla="*/ 0 w 2089129"/>
                <a:gd name="connsiteY0" fmla="*/ 1035438 h 1035438"/>
                <a:gd name="connsiteX1" fmla="*/ 1049267 w 2089129"/>
                <a:gd name="connsiteY1" fmla="*/ 0 h 1035438"/>
                <a:gd name="connsiteX2" fmla="*/ 2089129 w 2089129"/>
                <a:gd name="connsiteY2" fmla="*/ 1029445 h 1035438"/>
                <a:gd name="connsiteX3" fmla="*/ 0 w 2089129"/>
                <a:gd name="connsiteY3" fmla="*/ 1035438 h 1035438"/>
                <a:gd name="connsiteX0" fmla="*/ 0 w 2064884"/>
                <a:gd name="connsiteY0" fmla="*/ 1015531 h 1029445"/>
                <a:gd name="connsiteX1" fmla="*/ 1025022 w 2064884"/>
                <a:gd name="connsiteY1" fmla="*/ 0 h 1029445"/>
                <a:gd name="connsiteX2" fmla="*/ 2064884 w 2064884"/>
                <a:gd name="connsiteY2" fmla="*/ 1029445 h 1029445"/>
                <a:gd name="connsiteX3" fmla="*/ 0 w 2064884"/>
                <a:gd name="connsiteY3" fmla="*/ 1015531 h 1029445"/>
                <a:gd name="connsiteX0" fmla="*/ 0 w 2047566"/>
                <a:gd name="connsiteY0" fmla="*/ 1015531 h 1015531"/>
                <a:gd name="connsiteX1" fmla="*/ 1025022 w 2047566"/>
                <a:gd name="connsiteY1" fmla="*/ 0 h 1015531"/>
                <a:gd name="connsiteX2" fmla="*/ 2047566 w 2047566"/>
                <a:gd name="connsiteY2" fmla="*/ 1011750 h 1015531"/>
                <a:gd name="connsiteX3" fmla="*/ 0 w 2047566"/>
                <a:gd name="connsiteY3" fmla="*/ 1015531 h 1015531"/>
                <a:gd name="connsiteX0" fmla="*/ 0 w 2068348"/>
                <a:gd name="connsiteY0" fmla="*/ 1015531 h 1025021"/>
                <a:gd name="connsiteX1" fmla="*/ 1025022 w 2068348"/>
                <a:gd name="connsiteY1" fmla="*/ 0 h 1025021"/>
                <a:gd name="connsiteX2" fmla="*/ 2068348 w 2068348"/>
                <a:gd name="connsiteY2" fmla="*/ 1025021 h 1025021"/>
                <a:gd name="connsiteX3" fmla="*/ 0 w 2068348"/>
                <a:gd name="connsiteY3" fmla="*/ 1015531 h 1025021"/>
                <a:gd name="connsiteX0" fmla="*/ 0 w 1933878"/>
                <a:gd name="connsiteY0" fmla="*/ 923934 h 1025021"/>
                <a:gd name="connsiteX1" fmla="*/ 890552 w 1933878"/>
                <a:gd name="connsiteY1" fmla="*/ 0 h 1025021"/>
                <a:gd name="connsiteX2" fmla="*/ 1933878 w 1933878"/>
                <a:gd name="connsiteY2" fmla="*/ 1025021 h 1025021"/>
                <a:gd name="connsiteX3" fmla="*/ 0 w 1933878"/>
                <a:gd name="connsiteY3" fmla="*/ 923934 h 1025021"/>
                <a:gd name="connsiteX0" fmla="*/ 0 w 1803890"/>
                <a:gd name="connsiteY0" fmla="*/ 923934 h 939149"/>
                <a:gd name="connsiteX1" fmla="*/ 890552 w 1803890"/>
                <a:gd name="connsiteY1" fmla="*/ 0 h 939149"/>
                <a:gd name="connsiteX2" fmla="*/ 1803890 w 1803890"/>
                <a:gd name="connsiteY2" fmla="*/ 939149 h 939149"/>
                <a:gd name="connsiteX3" fmla="*/ 0 w 1803890"/>
                <a:gd name="connsiteY3" fmla="*/ 923934 h 939149"/>
                <a:gd name="connsiteX0" fmla="*/ 0 w 1763548"/>
                <a:gd name="connsiteY0" fmla="*/ 923934 h 923934"/>
                <a:gd name="connsiteX1" fmla="*/ 890552 w 1763548"/>
                <a:gd name="connsiteY1" fmla="*/ 0 h 923934"/>
                <a:gd name="connsiteX2" fmla="*/ 1763548 w 1763548"/>
                <a:gd name="connsiteY2" fmla="*/ 919113 h 923934"/>
                <a:gd name="connsiteX3" fmla="*/ 0 w 1763548"/>
                <a:gd name="connsiteY3" fmla="*/ 923934 h 923934"/>
                <a:gd name="connsiteX0" fmla="*/ 0 w 1727689"/>
                <a:gd name="connsiteY0" fmla="*/ 901035 h 919113"/>
                <a:gd name="connsiteX1" fmla="*/ 854693 w 1727689"/>
                <a:gd name="connsiteY1" fmla="*/ 0 h 919113"/>
                <a:gd name="connsiteX2" fmla="*/ 1727689 w 1727689"/>
                <a:gd name="connsiteY2" fmla="*/ 919113 h 919113"/>
                <a:gd name="connsiteX3" fmla="*/ 0 w 1727689"/>
                <a:gd name="connsiteY3" fmla="*/ 901035 h 919113"/>
                <a:gd name="connsiteX0" fmla="*/ 0 w 1714242"/>
                <a:gd name="connsiteY0" fmla="*/ 901035 h 910526"/>
                <a:gd name="connsiteX1" fmla="*/ 854693 w 1714242"/>
                <a:gd name="connsiteY1" fmla="*/ 0 h 910526"/>
                <a:gd name="connsiteX2" fmla="*/ 1714242 w 1714242"/>
                <a:gd name="connsiteY2" fmla="*/ 910526 h 910526"/>
                <a:gd name="connsiteX3" fmla="*/ 0 w 1714242"/>
                <a:gd name="connsiteY3" fmla="*/ 901035 h 910526"/>
                <a:gd name="connsiteX0" fmla="*/ 0 w 1700795"/>
                <a:gd name="connsiteY0" fmla="*/ 901035 h 901035"/>
                <a:gd name="connsiteX1" fmla="*/ 854693 w 1700795"/>
                <a:gd name="connsiteY1" fmla="*/ 0 h 901035"/>
                <a:gd name="connsiteX2" fmla="*/ 1700795 w 1700795"/>
                <a:gd name="connsiteY2" fmla="*/ 893352 h 901035"/>
                <a:gd name="connsiteX3" fmla="*/ 0 w 1700795"/>
                <a:gd name="connsiteY3" fmla="*/ 901035 h 901035"/>
                <a:gd name="connsiteX0" fmla="*/ 0 w 1696313"/>
                <a:gd name="connsiteY0" fmla="*/ 883861 h 893352"/>
                <a:gd name="connsiteX1" fmla="*/ 850211 w 1696313"/>
                <a:gd name="connsiteY1" fmla="*/ 0 h 893352"/>
                <a:gd name="connsiteX2" fmla="*/ 1696313 w 1696313"/>
                <a:gd name="connsiteY2" fmla="*/ 893352 h 893352"/>
                <a:gd name="connsiteX3" fmla="*/ 0 w 1696313"/>
                <a:gd name="connsiteY3" fmla="*/ 883861 h 893352"/>
              </a:gdLst>
              <a:ahLst/>
              <a:cxnLst>
                <a:cxn ang="0">
                  <a:pos x="connsiteX0" y="connsiteY0"/>
                </a:cxn>
                <a:cxn ang="0">
                  <a:pos x="connsiteX1" y="connsiteY1"/>
                </a:cxn>
                <a:cxn ang="0">
                  <a:pos x="connsiteX2" y="connsiteY2"/>
                </a:cxn>
                <a:cxn ang="0">
                  <a:pos x="connsiteX3" y="connsiteY3"/>
                </a:cxn>
              </a:cxnLst>
              <a:rect l="l" t="t" r="r" b="b"/>
              <a:pathLst>
                <a:path w="1696313" h="893352">
                  <a:moveTo>
                    <a:pt x="0" y="883861"/>
                  </a:moveTo>
                  <a:lnTo>
                    <a:pt x="850211" y="0"/>
                  </a:lnTo>
                  <a:lnTo>
                    <a:pt x="1696313" y="893352"/>
                  </a:lnTo>
                  <a:lnTo>
                    <a:pt x="0" y="883861"/>
                  </a:lnTo>
                  <a:close/>
                </a:path>
              </a:pathLst>
            </a:custGeom>
            <a:solidFill>
              <a:schemeClr val="accent1">
                <a:lumMod val="60000"/>
                <a:lumOff val="4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grpSp>
          <p:nvGrpSpPr>
            <p:cNvPr id="35" name="群組 34">
              <a:extLst>
                <a:ext uri="{FF2B5EF4-FFF2-40B4-BE49-F238E27FC236}">
                  <a16:creationId xmlns:a16="http://schemas.microsoft.com/office/drawing/2014/main" id="{B5A3D1CF-A89D-9A90-FE88-BBC5977F75DD}"/>
                </a:ext>
              </a:extLst>
            </p:cNvPr>
            <p:cNvGrpSpPr/>
            <p:nvPr/>
          </p:nvGrpSpPr>
          <p:grpSpPr>
            <a:xfrm>
              <a:off x="8787042" y="4260486"/>
              <a:ext cx="1117007" cy="929039"/>
              <a:chOff x="9718857" y="1048313"/>
              <a:chExt cx="1117007" cy="929039"/>
            </a:xfrm>
          </p:grpSpPr>
          <p:sp>
            <p:nvSpPr>
              <p:cNvPr id="23" name="三角形 22">
                <a:extLst>
                  <a:ext uri="{FF2B5EF4-FFF2-40B4-BE49-F238E27FC236}">
                    <a16:creationId xmlns:a16="http://schemas.microsoft.com/office/drawing/2014/main" id="{27929C01-2D43-65F5-092F-0C3480FC327B}"/>
                  </a:ext>
                </a:extLst>
              </p:cNvPr>
              <p:cNvSpPr/>
              <p:nvPr/>
            </p:nvSpPr>
            <p:spPr>
              <a:xfrm>
                <a:off x="9718857" y="1048313"/>
                <a:ext cx="1117007" cy="929039"/>
              </a:xfrm>
              <a:custGeom>
                <a:avLst/>
                <a:gdLst>
                  <a:gd name="connsiteX0" fmla="*/ 0 w 2819400"/>
                  <a:gd name="connsiteY0" fmla="*/ 1063625 h 1063625"/>
                  <a:gd name="connsiteX1" fmla="*/ 1409700 w 2819400"/>
                  <a:gd name="connsiteY1" fmla="*/ 0 h 1063625"/>
                  <a:gd name="connsiteX2" fmla="*/ 2819400 w 2819400"/>
                  <a:gd name="connsiteY2" fmla="*/ 1063625 h 1063625"/>
                  <a:gd name="connsiteX3" fmla="*/ 0 w 2819400"/>
                  <a:gd name="connsiteY3" fmla="*/ 1063625 h 1063625"/>
                  <a:gd name="connsiteX0" fmla="*/ 0 w 2105346"/>
                  <a:gd name="connsiteY0" fmla="*/ 1079036 h 1079036"/>
                  <a:gd name="connsiteX1" fmla="*/ 695646 w 2105346"/>
                  <a:gd name="connsiteY1" fmla="*/ 0 h 1079036"/>
                  <a:gd name="connsiteX2" fmla="*/ 2105346 w 2105346"/>
                  <a:gd name="connsiteY2" fmla="*/ 1063625 h 1079036"/>
                  <a:gd name="connsiteX3" fmla="*/ 0 w 2105346"/>
                  <a:gd name="connsiteY3" fmla="*/ 1079036 h 1079036"/>
                  <a:gd name="connsiteX0" fmla="*/ 0 w 1411840"/>
                  <a:gd name="connsiteY0" fmla="*/ 1079036 h 1079036"/>
                  <a:gd name="connsiteX1" fmla="*/ 695646 w 1411840"/>
                  <a:gd name="connsiteY1" fmla="*/ 0 h 1079036"/>
                  <a:gd name="connsiteX2" fmla="*/ 1411840 w 1411840"/>
                  <a:gd name="connsiteY2" fmla="*/ 1073899 h 1079036"/>
                  <a:gd name="connsiteX3" fmla="*/ 0 w 1411840"/>
                  <a:gd name="connsiteY3" fmla="*/ 1079036 h 1079036"/>
                  <a:gd name="connsiteX0" fmla="*/ 0 w 1401566"/>
                  <a:gd name="connsiteY0" fmla="*/ 1079036 h 1079036"/>
                  <a:gd name="connsiteX1" fmla="*/ 695646 w 1401566"/>
                  <a:gd name="connsiteY1" fmla="*/ 0 h 1079036"/>
                  <a:gd name="connsiteX2" fmla="*/ 1401566 w 1401566"/>
                  <a:gd name="connsiteY2" fmla="*/ 1073899 h 1079036"/>
                  <a:gd name="connsiteX3" fmla="*/ 0 w 1401566"/>
                  <a:gd name="connsiteY3" fmla="*/ 1079036 h 1079036"/>
                  <a:gd name="connsiteX0" fmla="*/ 0 w 1297982"/>
                  <a:gd name="connsiteY0" fmla="*/ 1079036 h 1079036"/>
                  <a:gd name="connsiteX1" fmla="*/ 695646 w 1297982"/>
                  <a:gd name="connsiteY1" fmla="*/ 0 h 1079036"/>
                  <a:gd name="connsiteX2" fmla="*/ 1297982 w 1297982"/>
                  <a:gd name="connsiteY2" fmla="*/ 913164 h 1079036"/>
                  <a:gd name="connsiteX3" fmla="*/ 0 w 1297982"/>
                  <a:gd name="connsiteY3" fmla="*/ 1079036 h 1079036"/>
                  <a:gd name="connsiteX0" fmla="*/ 0 w 1278932"/>
                  <a:gd name="connsiteY0" fmla="*/ 1079036 h 1079036"/>
                  <a:gd name="connsiteX1" fmla="*/ 695646 w 1278932"/>
                  <a:gd name="connsiteY1" fmla="*/ 0 h 1079036"/>
                  <a:gd name="connsiteX2" fmla="*/ 1278932 w 1278932"/>
                  <a:gd name="connsiteY2" fmla="*/ 922689 h 1079036"/>
                  <a:gd name="connsiteX3" fmla="*/ 0 w 1278932"/>
                  <a:gd name="connsiteY3" fmla="*/ 1079036 h 1079036"/>
                  <a:gd name="connsiteX0" fmla="*/ 0 w 1151932"/>
                  <a:gd name="connsiteY0" fmla="*/ 888536 h 922689"/>
                  <a:gd name="connsiteX1" fmla="*/ 568646 w 1151932"/>
                  <a:gd name="connsiteY1" fmla="*/ 0 h 922689"/>
                  <a:gd name="connsiteX2" fmla="*/ 1151932 w 1151932"/>
                  <a:gd name="connsiteY2" fmla="*/ 922689 h 922689"/>
                  <a:gd name="connsiteX3" fmla="*/ 0 w 1151932"/>
                  <a:gd name="connsiteY3" fmla="*/ 888536 h 922689"/>
                  <a:gd name="connsiteX0" fmla="*/ 0 w 1158282"/>
                  <a:gd name="connsiteY0" fmla="*/ 910761 h 922689"/>
                  <a:gd name="connsiteX1" fmla="*/ 574996 w 1158282"/>
                  <a:gd name="connsiteY1" fmla="*/ 0 h 922689"/>
                  <a:gd name="connsiteX2" fmla="*/ 1158282 w 1158282"/>
                  <a:gd name="connsiteY2" fmla="*/ 922689 h 922689"/>
                  <a:gd name="connsiteX3" fmla="*/ 0 w 1158282"/>
                  <a:gd name="connsiteY3" fmla="*/ 910761 h 922689"/>
                  <a:gd name="connsiteX0" fmla="*/ 0 w 1129707"/>
                  <a:gd name="connsiteY0" fmla="*/ 910761 h 910761"/>
                  <a:gd name="connsiteX1" fmla="*/ 574996 w 1129707"/>
                  <a:gd name="connsiteY1" fmla="*/ 0 h 910761"/>
                  <a:gd name="connsiteX2" fmla="*/ 1129707 w 1129707"/>
                  <a:gd name="connsiteY2" fmla="*/ 909989 h 910761"/>
                  <a:gd name="connsiteX3" fmla="*/ 0 w 1129707"/>
                  <a:gd name="connsiteY3" fmla="*/ 910761 h 910761"/>
                  <a:gd name="connsiteX0" fmla="*/ 0 w 1104307"/>
                  <a:gd name="connsiteY0" fmla="*/ 913936 h 913936"/>
                  <a:gd name="connsiteX1" fmla="*/ 549596 w 1104307"/>
                  <a:gd name="connsiteY1" fmla="*/ 0 h 913936"/>
                  <a:gd name="connsiteX2" fmla="*/ 1104307 w 1104307"/>
                  <a:gd name="connsiteY2" fmla="*/ 909989 h 913936"/>
                  <a:gd name="connsiteX3" fmla="*/ 0 w 1104307"/>
                  <a:gd name="connsiteY3" fmla="*/ 913936 h 913936"/>
                  <a:gd name="connsiteX0" fmla="*/ 0 w 1117007"/>
                  <a:gd name="connsiteY0" fmla="*/ 913936 h 929039"/>
                  <a:gd name="connsiteX1" fmla="*/ 549596 w 1117007"/>
                  <a:gd name="connsiteY1" fmla="*/ 0 h 929039"/>
                  <a:gd name="connsiteX2" fmla="*/ 1117007 w 1117007"/>
                  <a:gd name="connsiteY2" fmla="*/ 929039 h 929039"/>
                  <a:gd name="connsiteX3" fmla="*/ 0 w 1117007"/>
                  <a:gd name="connsiteY3" fmla="*/ 913936 h 929039"/>
                </a:gdLst>
                <a:ahLst/>
                <a:cxnLst>
                  <a:cxn ang="0">
                    <a:pos x="connsiteX0" y="connsiteY0"/>
                  </a:cxn>
                  <a:cxn ang="0">
                    <a:pos x="connsiteX1" y="connsiteY1"/>
                  </a:cxn>
                  <a:cxn ang="0">
                    <a:pos x="connsiteX2" y="connsiteY2"/>
                  </a:cxn>
                  <a:cxn ang="0">
                    <a:pos x="connsiteX3" y="connsiteY3"/>
                  </a:cxn>
                </a:cxnLst>
                <a:rect l="l" t="t" r="r" b="b"/>
                <a:pathLst>
                  <a:path w="1117007" h="929039">
                    <a:moveTo>
                      <a:pt x="0" y="913936"/>
                    </a:moveTo>
                    <a:lnTo>
                      <a:pt x="549596" y="0"/>
                    </a:lnTo>
                    <a:lnTo>
                      <a:pt x="1117007" y="929039"/>
                    </a:lnTo>
                    <a:lnTo>
                      <a:pt x="0" y="913936"/>
                    </a:lnTo>
                    <a:close/>
                  </a:path>
                </a:pathLst>
              </a:custGeom>
              <a:solidFill>
                <a:schemeClr val="accent1">
                  <a:lumMod val="40000"/>
                  <a:lumOff val="6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400" dirty="0">
                  <a:solidFill>
                    <a:schemeClr val="tx1"/>
                  </a:solidFill>
                </a:endParaRPr>
              </a:p>
            </p:txBody>
          </p:sp>
          <p:sp>
            <p:nvSpPr>
              <p:cNvPr id="29" name="文字方塊 28">
                <a:extLst>
                  <a:ext uri="{FF2B5EF4-FFF2-40B4-BE49-F238E27FC236}">
                    <a16:creationId xmlns:a16="http://schemas.microsoft.com/office/drawing/2014/main" id="{8DC86505-A5F4-CC6D-FF41-E898AA9C4941}"/>
                  </a:ext>
                </a:extLst>
              </p:cNvPr>
              <p:cNvSpPr txBox="1"/>
              <p:nvPr/>
            </p:nvSpPr>
            <p:spPr>
              <a:xfrm>
                <a:off x="9949500" y="1418150"/>
                <a:ext cx="652743" cy="461665"/>
              </a:xfrm>
              <a:prstGeom prst="rect">
                <a:avLst/>
              </a:prstGeom>
              <a:noFill/>
            </p:spPr>
            <p:txBody>
              <a:bodyPr wrap="none" rtlCol="0">
                <a:spAutoFit/>
              </a:bodyPr>
              <a:lstStyle/>
              <a:p>
                <a:pPr algn="ctr"/>
                <a:r>
                  <a:rPr kumimoji="1" lang="en-US" altLang="zh-TW" sz="1200" dirty="0"/>
                  <a:t>Cache</a:t>
                </a:r>
                <a:br>
                  <a:rPr kumimoji="1" lang="en-US" altLang="zh-TW" sz="1200" dirty="0"/>
                </a:br>
                <a:r>
                  <a:rPr kumimoji="1" lang="en-US" altLang="zh-TW" sz="1200" dirty="0"/>
                  <a:t>(SRAM)</a:t>
                </a:r>
                <a:endParaRPr kumimoji="1" lang="zh-TW" altLang="en-US" sz="1200" dirty="0"/>
              </a:p>
            </p:txBody>
          </p:sp>
        </p:grpSp>
        <p:sp>
          <p:nvSpPr>
            <p:cNvPr id="31" name="文字方塊 30">
              <a:extLst>
                <a:ext uri="{FF2B5EF4-FFF2-40B4-BE49-F238E27FC236}">
                  <a16:creationId xmlns:a16="http://schemas.microsoft.com/office/drawing/2014/main" id="{F6221588-CFEC-39DE-2B6F-34CACF55548F}"/>
                </a:ext>
              </a:extLst>
            </p:cNvPr>
            <p:cNvSpPr txBox="1"/>
            <p:nvPr/>
          </p:nvSpPr>
          <p:spPr>
            <a:xfrm>
              <a:off x="8931630" y="6040891"/>
              <a:ext cx="868251" cy="461665"/>
            </a:xfrm>
            <a:prstGeom prst="rect">
              <a:avLst/>
            </a:prstGeom>
            <a:noFill/>
          </p:spPr>
          <p:txBody>
            <a:bodyPr wrap="none" rtlCol="0">
              <a:spAutoFit/>
            </a:bodyPr>
            <a:lstStyle/>
            <a:p>
              <a:pPr algn="ctr"/>
              <a:r>
                <a:rPr kumimoji="1" lang="en-US" altLang="zh-TW" sz="1200" dirty="0"/>
                <a:t>Storage</a:t>
              </a:r>
              <a:br>
                <a:rPr kumimoji="1" lang="en-US" altLang="zh-TW" sz="1200" dirty="0"/>
              </a:br>
              <a:r>
                <a:rPr kumimoji="1" lang="en-US" altLang="zh-TW" sz="1200" dirty="0"/>
                <a:t>(HDD, SSD)</a:t>
              </a:r>
              <a:endParaRPr kumimoji="1" lang="zh-TW" altLang="en-US" sz="1200" dirty="0"/>
            </a:p>
          </p:txBody>
        </p:sp>
        <p:sp>
          <p:nvSpPr>
            <p:cNvPr id="34" name="文字方塊 33">
              <a:extLst>
                <a:ext uri="{FF2B5EF4-FFF2-40B4-BE49-F238E27FC236}">
                  <a16:creationId xmlns:a16="http://schemas.microsoft.com/office/drawing/2014/main" id="{8729D8A2-04C1-A2D3-5862-99C7F8A67B79}"/>
                </a:ext>
              </a:extLst>
            </p:cNvPr>
            <p:cNvSpPr txBox="1"/>
            <p:nvPr/>
          </p:nvSpPr>
          <p:spPr>
            <a:xfrm>
              <a:off x="9063431" y="5592125"/>
              <a:ext cx="604653" cy="276999"/>
            </a:xfrm>
            <a:prstGeom prst="rect">
              <a:avLst/>
            </a:prstGeom>
            <a:noFill/>
          </p:spPr>
          <p:txBody>
            <a:bodyPr wrap="none" rtlCol="0">
              <a:spAutoFit/>
            </a:bodyPr>
            <a:lstStyle/>
            <a:p>
              <a:pPr algn="ctr"/>
              <a:r>
                <a:rPr kumimoji="1" lang="en-US" altLang="zh-TW" sz="1200" dirty="0"/>
                <a:t>NUMA</a:t>
              </a:r>
              <a:endParaRPr kumimoji="1" lang="zh-TW" altLang="en-US" sz="1200" dirty="0"/>
            </a:p>
          </p:txBody>
        </p:sp>
        <p:sp>
          <p:nvSpPr>
            <p:cNvPr id="30" name="文字方塊 29">
              <a:extLst>
                <a:ext uri="{FF2B5EF4-FFF2-40B4-BE49-F238E27FC236}">
                  <a16:creationId xmlns:a16="http://schemas.microsoft.com/office/drawing/2014/main" id="{1245E3E1-9DE5-A8DC-6388-23FAC4D99C06}"/>
                </a:ext>
              </a:extLst>
            </p:cNvPr>
            <p:cNvSpPr txBox="1"/>
            <p:nvPr/>
          </p:nvSpPr>
          <p:spPr>
            <a:xfrm>
              <a:off x="9005339" y="5146976"/>
              <a:ext cx="720838" cy="461665"/>
            </a:xfrm>
            <a:prstGeom prst="rect">
              <a:avLst/>
            </a:prstGeom>
            <a:noFill/>
          </p:spPr>
          <p:txBody>
            <a:bodyPr wrap="none" rtlCol="0">
              <a:spAutoFit/>
            </a:bodyPr>
            <a:lstStyle/>
            <a:p>
              <a:pPr algn="ctr"/>
              <a:r>
                <a:rPr kumimoji="1" lang="en-US" altLang="zh-TW" sz="1200" dirty="0"/>
                <a:t>Memory</a:t>
              </a:r>
              <a:br>
                <a:rPr kumimoji="1" lang="en-US" altLang="zh-TW" sz="1200" dirty="0"/>
              </a:br>
              <a:r>
                <a:rPr kumimoji="1" lang="en-US" altLang="zh-TW" sz="1200" dirty="0"/>
                <a:t>(DRAM)</a:t>
              </a:r>
              <a:endParaRPr kumimoji="1" lang="zh-TW" altLang="en-US" sz="1200" dirty="0"/>
            </a:p>
          </p:txBody>
        </p:sp>
        <p:cxnSp>
          <p:nvCxnSpPr>
            <p:cNvPr id="39" name="直線箭頭接點 38">
              <a:extLst>
                <a:ext uri="{FF2B5EF4-FFF2-40B4-BE49-F238E27FC236}">
                  <a16:creationId xmlns:a16="http://schemas.microsoft.com/office/drawing/2014/main" id="{10BB8159-12AF-6648-8253-D9B801D44798}"/>
                </a:ext>
              </a:extLst>
            </p:cNvPr>
            <p:cNvCxnSpPr>
              <a:cxnSpLocks/>
            </p:cNvCxnSpPr>
            <p:nvPr/>
          </p:nvCxnSpPr>
          <p:spPr>
            <a:xfrm>
              <a:off x="10496468" y="5777829"/>
              <a:ext cx="0" cy="182590"/>
            </a:xfrm>
            <a:prstGeom prst="straightConnector1">
              <a:avLst/>
            </a:prstGeom>
            <a:ln w="19050">
              <a:headEnd type="stealth"/>
              <a:tailEnd type="stealth"/>
            </a:ln>
          </p:spPr>
          <p:style>
            <a:lnRef idx="1">
              <a:schemeClr val="accent1"/>
            </a:lnRef>
            <a:fillRef idx="0">
              <a:schemeClr val="accent1"/>
            </a:fillRef>
            <a:effectRef idx="0">
              <a:schemeClr val="accent1"/>
            </a:effectRef>
            <a:fontRef idx="minor">
              <a:schemeClr val="tx1"/>
            </a:fontRef>
          </p:style>
        </p:cxnSp>
      </p:grpSp>
      <p:sp>
        <p:nvSpPr>
          <p:cNvPr id="38" name="文字方塊 37">
            <a:extLst>
              <a:ext uri="{FF2B5EF4-FFF2-40B4-BE49-F238E27FC236}">
                <a16:creationId xmlns:a16="http://schemas.microsoft.com/office/drawing/2014/main" id="{AE3CA8BE-62F1-649E-574A-45A26F5B0ACB}"/>
              </a:ext>
            </a:extLst>
          </p:cNvPr>
          <p:cNvSpPr txBox="1"/>
          <p:nvPr/>
        </p:nvSpPr>
        <p:spPr>
          <a:xfrm>
            <a:off x="6753877" y="3645297"/>
            <a:ext cx="2217466" cy="369332"/>
          </a:xfrm>
          <a:prstGeom prst="rect">
            <a:avLst/>
          </a:prstGeom>
          <a:noFill/>
        </p:spPr>
        <p:txBody>
          <a:bodyPr wrap="none" rtlCol="0">
            <a:spAutoFit/>
          </a:bodyPr>
          <a:lstStyle/>
          <a:p>
            <a:pPr algn="ctr"/>
            <a:r>
              <a:rPr kumimoji="1" lang="en-US" altLang="zh-TW" dirty="0">
                <a:solidFill>
                  <a:srgbClr val="C00000"/>
                </a:solidFill>
              </a:rPr>
              <a:t>Virtual Address Space</a:t>
            </a:r>
            <a:endParaRPr kumimoji="1" lang="zh-TW" altLang="en-US" dirty="0">
              <a:solidFill>
                <a:srgbClr val="C00000"/>
              </a:solidFill>
            </a:endParaRPr>
          </a:p>
        </p:txBody>
      </p:sp>
      <p:sp>
        <p:nvSpPr>
          <p:cNvPr id="40" name="文字方塊 39">
            <a:extLst>
              <a:ext uri="{FF2B5EF4-FFF2-40B4-BE49-F238E27FC236}">
                <a16:creationId xmlns:a16="http://schemas.microsoft.com/office/drawing/2014/main" id="{D6EF5001-65C8-E899-CE81-F5AC6A3B7C1D}"/>
              </a:ext>
            </a:extLst>
          </p:cNvPr>
          <p:cNvSpPr txBox="1"/>
          <p:nvPr/>
        </p:nvSpPr>
        <p:spPr>
          <a:xfrm>
            <a:off x="9942181" y="3645641"/>
            <a:ext cx="2217466" cy="369332"/>
          </a:xfrm>
          <a:prstGeom prst="rect">
            <a:avLst/>
          </a:prstGeom>
          <a:noFill/>
        </p:spPr>
        <p:txBody>
          <a:bodyPr wrap="none" rtlCol="0">
            <a:spAutoFit/>
          </a:bodyPr>
          <a:lstStyle/>
          <a:p>
            <a:pPr algn="ctr"/>
            <a:r>
              <a:rPr kumimoji="1" lang="en-US" altLang="zh-TW" dirty="0">
                <a:solidFill>
                  <a:srgbClr val="C00000"/>
                </a:solidFill>
              </a:rPr>
              <a:t>Virtual Address Space</a:t>
            </a:r>
            <a:endParaRPr kumimoji="1" lang="zh-TW" altLang="en-US" dirty="0">
              <a:solidFill>
                <a:srgbClr val="C00000"/>
              </a:solidFill>
            </a:endParaRPr>
          </a:p>
        </p:txBody>
      </p:sp>
      <p:grpSp>
        <p:nvGrpSpPr>
          <p:cNvPr id="41" name="群組 40">
            <a:extLst>
              <a:ext uri="{FF2B5EF4-FFF2-40B4-BE49-F238E27FC236}">
                <a16:creationId xmlns:a16="http://schemas.microsoft.com/office/drawing/2014/main" id="{F7336884-A1E1-B4D3-207D-C85902AC9AB8}"/>
              </a:ext>
            </a:extLst>
          </p:cNvPr>
          <p:cNvGrpSpPr/>
          <p:nvPr/>
        </p:nvGrpSpPr>
        <p:grpSpPr>
          <a:xfrm>
            <a:off x="7535431" y="1262893"/>
            <a:ext cx="5398436" cy="2467443"/>
            <a:chOff x="7345412" y="2759075"/>
            <a:chExt cx="4530466" cy="1747937"/>
          </a:xfrm>
        </p:grpSpPr>
        <p:pic>
          <p:nvPicPr>
            <p:cNvPr id="42" name="圖片 41">
              <a:extLst>
                <a:ext uri="{FF2B5EF4-FFF2-40B4-BE49-F238E27FC236}">
                  <a16:creationId xmlns:a16="http://schemas.microsoft.com/office/drawing/2014/main" id="{266F4303-9770-0EF7-0B72-D0BF266A03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5412" y="2987925"/>
              <a:ext cx="4392143" cy="1519087"/>
            </a:xfrm>
            <a:prstGeom prst="rect">
              <a:avLst/>
            </a:prstGeom>
          </p:spPr>
        </p:pic>
        <p:sp>
          <p:nvSpPr>
            <p:cNvPr id="43" name="矩形 42">
              <a:extLst>
                <a:ext uri="{FF2B5EF4-FFF2-40B4-BE49-F238E27FC236}">
                  <a16:creationId xmlns:a16="http://schemas.microsoft.com/office/drawing/2014/main" id="{AB2175D0-2B87-5AFF-0DD5-59642664C86E}"/>
                </a:ext>
              </a:extLst>
            </p:cNvPr>
            <p:cNvSpPr/>
            <p:nvPr/>
          </p:nvSpPr>
          <p:spPr>
            <a:xfrm>
              <a:off x="10961478" y="2759075"/>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44" name="文字方塊 43">
            <a:extLst>
              <a:ext uri="{FF2B5EF4-FFF2-40B4-BE49-F238E27FC236}">
                <a16:creationId xmlns:a16="http://schemas.microsoft.com/office/drawing/2014/main" id="{6B39FD3F-D9DC-7DEC-5B34-6AB9CE45655E}"/>
              </a:ext>
            </a:extLst>
          </p:cNvPr>
          <p:cNvSpPr txBox="1"/>
          <p:nvPr/>
        </p:nvSpPr>
        <p:spPr>
          <a:xfrm>
            <a:off x="8890540" y="1184101"/>
            <a:ext cx="1832168" cy="369332"/>
          </a:xfrm>
          <a:prstGeom prst="rect">
            <a:avLst/>
          </a:prstGeom>
          <a:noFill/>
        </p:spPr>
        <p:txBody>
          <a:bodyPr wrap="none" rtlCol="0">
            <a:spAutoFit/>
          </a:bodyPr>
          <a:lstStyle/>
          <a:p>
            <a:r>
              <a:rPr kumimoji="1" lang="en-US" altLang="zh-TW" dirty="0">
                <a:solidFill>
                  <a:schemeClr val="accent5">
                    <a:lumMod val="75000"/>
                  </a:schemeClr>
                </a:solidFill>
              </a:rPr>
              <a:t>Page Frame (4KB)</a:t>
            </a:r>
            <a:endParaRPr kumimoji="1" lang="zh-TW" altLang="en-US" dirty="0">
              <a:solidFill>
                <a:schemeClr val="accent5">
                  <a:lumMod val="75000"/>
                </a:schemeClr>
              </a:solidFill>
            </a:endParaRPr>
          </a:p>
        </p:txBody>
      </p:sp>
      <p:cxnSp>
        <p:nvCxnSpPr>
          <p:cNvPr id="45" name="直線箭頭接點 44">
            <a:extLst>
              <a:ext uri="{FF2B5EF4-FFF2-40B4-BE49-F238E27FC236}">
                <a16:creationId xmlns:a16="http://schemas.microsoft.com/office/drawing/2014/main" id="{530F0570-714F-FDD0-2CC1-79425368D504}"/>
              </a:ext>
            </a:extLst>
          </p:cNvPr>
          <p:cNvCxnSpPr>
            <a:cxnSpLocks/>
          </p:cNvCxnSpPr>
          <p:nvPr/>
        </p:nvCxnSpPr>
        <p:spPr>
          <a:xfrm>
            <a:off x="9459641" y="1495683"/>
            <a:ext cx="173" cy="219384"/>
          </a:xfrm>
          <a:prstGeom prst="straightConnector1">
            <a:avLst/>
          </a:prstGeom>
          <a:ln w="25400">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grpSp>
        <p:nvGrpSpPr>
          <p:cNvPr id="46" name="群組 45">
            <a:extLst>
              <a:ext uri="{FF2B5EF4-FFF2-40B4-BE49-F238E27FC236}">
                <a16:creationId xmlns:a16="http://schemas.microsoft.com/office/drawing/2014/main" id="{6B80BEA3-B4D7-0AD7-18B6-D8FCDE266D32}"/>
              </a:ext>
            </a:extLst>
          </p:cNvPr>
          <p:cNvGrpSpPr/>
          <p:nvPr/>
        </p:nvGrpSpPr>
        <p:grpSpPr>
          <a:xfrm>
            <a:off x="7638210" y="1184101"/>
            <a:ext cx="631455" cy="475824"/>
            <a:chOff x="6662281" y="2699762"/>
            <a:chExt cx="631455" cy="475824"/>
          </a:xfrm>
        </p:grpSpPr>
        <p:sp>
          <p:nvSpPr>
            <p:cNvPr id="47" name="文字方塊 46">
              <a:extLst>
                <a:ext uri="{FF2B5EF4-FFF2-40B4-BE49-F238E27FC236}">
                  <a16:creationId xmlns:a16="http://schemas.microsoft.com/office/drawing/2014/main" id="{2C02FE10-3A05-6042-FBF7-CF8FA3FC9F28}"/>
                </a:ext>
              </a:extLst>
            </p:cNvPr>
            <p:cNvSpPr txBox="1"/>
            <p:nvPr/>
          </p:nvSpPr>
          <p:spPr>
            <a:xfrm>
              <a:off x="6662281" y="2699762"/>
              <a:ext cx="631455" cy="369332"/>
            </a:xfrm>
            <a:prstGeom prst="rect">
              <a:avLst/>
            </a:prstGeom>
            <a:noFill/>
          </p:spPr>
          <p:txBody>
            <a:bodyPr wrap="none" rtlCol="0">
              <a:spAutoFit/>
            </a:bodyPr>
            <a:lstStyle/>
            <a:p>
              <a:r>
                <a:rPr kumimoji="1" lang="en-US" altLang="zh-TW" dirty="0">
                  <a:solidFill>
                    <a:schemeClr val="accent5">
                      <a:lumMod val="75000"/>
                    </a:schemeClr>
                  </a:solidFill>
                </a:rPr>
                <a:t>Page</a:t>
              </a:r>
              <a:endParaRPr kumimoji="1" lang="zh-TW" altLang="en-US" dirty="0">
                <a:solidFill>
                  <a:schemeClr val="accent5">
                    <a:lumMod val="75000"/>
                  </a:schemeClr>
                </a:solidFill>
              </a:endParaRPr>
            </a:p>
          </p:txBody>
        </p:sp>
        <p:cxnSp>
          <p:nvCxnSpPr>
            <p:cNvPr id="48" name="直線箭頭接點 47">
              <a:extLst>
                <a:ext uri="{FF2B5EF4-FFF2-40B4-BE49-F238E27FC236}">
                  <a16:creationId xmlns:a16="http://schemas.microsoft.com/office/drawing/2014/main" id="{83E8C49E-E822-2B87-F13D-9A19A75C3ECD}"/>
                </a:ext>
              </a:extLst>
            </p:cNvPr>
            <p:cNvCxnSpPr>
              <a:cxnSpLocks/>
            </p:cNvCxnSpPr>
            <p:nvPr/>
          </p:nvCxnSpPr>
          <p:spPr>
            <a:xfrm>
              <a:off x="6978009" y="3011344"/>
              <a:ext cx="0" cy="164242"/>
            </a:xfrm>
            <a:prstGeom prst="straightConnector1">
              <a:avLst/>
            </a:prstGeom>
            <a:ln w="25400">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49" name="文字方塊 48">
            <a:extLst>
              <a:ext uri="{FF2B5EF4-FFF2-40B4-BE49-F238E27FC236}">
                <a16:creationId xmlns:a16="http://schemas.microsoft.com/office/drawing/2014/main" id="{26EB8BD9-BCED-F61B-037B-7F77C5C1273F}"/>
              </a:ext>
            </a:extLst>
          </p:cNvPr>
          <p:cNvSpPr txBox="1"/>
          <p:nvPr/>
        </p:nvSpPr>
        <p:spPr>
          <a:xfrm>
            <a:off x="8318447" y="3066244"/>
            <a:ext cx="2330959" cy="369332"/>
          </a:xfrm>
          <a:prstGeom prst="rect">
            <a:avLst/>
          </a:prstGeom>
          <a:noFill/>
        </p:spPr>
        <p:txBody>
          <a:bodyPr wrap="none" rtlCol="0">
            <a:spAutoFit/>
          </a:bodyPr>
          <a:lstStyle/>
          <a:p>
            <a:r>
              <a:rPr kumimoji="1" lang="en-US" altLang="zh-TW" dirty="0">
                <a:solidFill>
                  <a:srgbClr val="C00000"/>
                </a:solidFill>
              </a:rPr>
              <a:t>Physical Address Space</a:t>
            </a:r>
            <a:endParaRPr kumimoji="1" lang="zh-TW" altLang="en-US" dirty="0">
              <a:solidFill>
                <a:srgbClr val="C00000"/>
              </a:solidFill>
            </a:endParaRPr>
          </a:p>
        </p:txBody>
      </p:sp>
      <p:sp>
        <p:nvSpPr>
          <p:cNvPr id="50" name="矩形 49">
            <a:extLst>
              <a:ext uri="{FF2B5EF4-FFF2-40B4-BE49-F238E27FC236}">
                <a16:creationId xmlns:a16="http://schemas.microsoft.com/office/drawing/2014/main" id="{C886754B-B4CE-8620-BD47-AA092C77CDC7}"/>
              </a:ext>
            </a:extLst>
          </p:cNvPr>
          <p:cNvSpPr/>
          <p:nvPr/>
        </p:nvSpPr>
        <p:spPr>
          <a:xfrm>
            <a:off x="9837217" y="2449500"/>
            <a:ext cx="720000" cy="2470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51" name="群組 50">
            <a:extLst>
              <a:ext uri="{FF2B5EF4-FFF2-40B4-BE49-F238E27FC236}">
                <a16:creationId xmlns:a16="http://schemas.microsoft.com/office/drawing/2014/main" id="{34CA9C8C-2BD8-33BC-84D1-1D52779B19B5}"/>
              </a:ext>
            </a:extLst>
          </p:cNvPr>
          <p:cNvGrpSpPr/>
          <p:nvPr/>
        </p:nvGrpSpPr>
        <p:grpSpPr>
          <a:xfrm>
            <a:off x="8267150" y="1109279"/>
            <a:ext cx="679610" cy="727613"/>
            <a:chOff x="6662281" y="2447973"/>
            <a:chExt cx="679610" cy="727613"/>
          </a:xfrm>
        </p:grpSpPr>
        <p:sp>
          <p:nvSpPr>
            <p:cNvPr id="52" name="文字方塊 51">
              <a:extLst>
                <a:ext uri="{FF2B5EF4-FFF2-40B4-BE49-F238E27FC236}">
                  <a16:creationId xmlns:a16="http://schemas.microsoft.com/office/drawing/2014/main" id="{B98F788A-1F14-F9C0-267B-6C401C2E938F}"/>
                </a:ext>
              </a:extLst>
            </p:cNvPr>
            <p:cNvSpPr txBox="1"/>
            <p:nvPr/>
          </p:nvSpPr>
          <p:spPr>
            <a:xfrm>
              <a:off x="6662281" y="2447973"/>
              <a:ext cx="679610" cy="646331"/>
            </a:xfrm>
            <a:prstGeom prst="rect">
              <a:avLst/>
            </a:prstGeom>
            <a:noFill/>
          </p:spPr>
          <p:txBody>
            <a:bodyPr wrap="none" rtlCol="0">
              <a:spAutoFit/>
            </a:bodyPr>
            <a:lstStyle/>
            <a:p>
              <a:r>
                <a:rPr kumimoji="1" lang="en-US" altLang="zh-TW" dirty="0">
                  <a:solidFill>
                    <a:schemeClr val="accent5">
                      <a:lumMod val="75000"/>
                    </a:schemeClr>
                  </a:solidFill>
                </a:rPr>
                <a:t>Page</a:t>
              </a:r>
            </a:p>
            <a:p>
              <a:r>
                <a:rPr kumimoji="1" lang="en-US" altLang="zh-TW" dirty="0">
                  <a:solidFill>
                    <a:schemeClr val="accent5">
                      <a:lumMod val="75000"/>
                    </a:schemeClr>
                  </a:solidFill>
                </a:rPr>
                <a:t>Table</a:t>
              </a:r>
              <a:endParaRPr kumimoji="1" lang="zh-TW" altLang="en-US" dirty="0">
                <a:solidFill>
                  <a:schemeClr val="accent5">
                    <a:lumMod val="75000"/>
                  </a:schemeClr>
                </a:solidFill>
              </a:endParaRPr>
            </a:p>
          </p:txBody>
        </p:sp>
        <p:cxnSp>
          <p:nvCxnSpPr>
            <p:cNvPr id="53" name="直線箭頭接點 52">
              <a:extLst>
                <a:ext uri="{FF2B5EF4-FFF2-40B4-BE49-F238E27FC236}">
                  <a16:creationId xmlns:a16="http://schemas.microsoft.com/office/drawing/2014/main" id="{1BE9C83B-029E-061F-C17D-88402B13C67A}"/>
                </a:ext>
              </a:extLst>
            </p:cNvPr>
            <p:cNvCxnSpPr>
              <a:cxnSpLocks/>
            </p:cNvCxnSpPr>
            <p:nvPr/>
          </p:nvCxnSpPr>
          <p:spPr>
            <a:xfrm>
              <a:off x="6978009" y="3011344"/>
              <a:ext cx="0" cy="164242"/>
            </a:xfrm>
            <a:prstGeom prst="straightConnector1">
              <a:avLst/>
            </a:prstGeom>
            <a:ln w="25400">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77081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fade">
                                      <p:cBhvr>
                                        <p:cTn id="30" dur="500"/>
                                        <p:tgtEl>
                                          <p:spTgt spid="3">
                                            <p:txEl>
                                              <p:pRg st="10" end="1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animEffect transition="in" filter="fade">
                                      <p:cBhvr>
                                        <p:cTn id="33" dur="500"/>
                                        <p:tgtEl>
                                          <p:spTgt spid="3">
                                            <p:txEl>
                                              <p:pRg st="11" end="11"/>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2" end="12"/>
                                            </p:txEl>
                                          </p:spTgt>
                                        </p:tgtEl>
                                        <p:attrNameLst>
                                          <p:attrName>style.visibility</p:attrName>
                                        </p:attrNameLst>
                                      </p:cBhvr>
                                      <p:to>
                                        <p:strVal val="visible"/>
                                      </p:to>
                                    </p:set>
                                    <p:animEffect transition="in" filter="fade">
                                      <p:cBhvr>
                                        <p:cTn id="36" dur="500"/>
                                        <p:tgtEl>
                                          <p:spTgt spid="3">
                                            <p:txEl>
                                              <p:pRg st="12" end="12"/>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Effect transition="in" filter="fade">
                                      <p:cBhvr>
                                        <p:cTn id="39" dur="500"/>
                                        <p:tgtEl>
                                          <p:spTgt spid="3">
                                            <p:txEl>
                                              <p:pRg st="13" end="13"/>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4" end="14"/>
                                            </p:txEl>
                                          </p:spTgt>
                                        </p:tgtEl>
                                        <p:attrNameLst>
                                          <p:attrName>style.visibility</p:attrName>
                                        </p:attrNameLst>
                                      </p:cBhvr>
                                      <p:to>
                                        <p:strVal val="visible"/>
                                      </p:to>
                                    </p:set>
                                    <p:animEffect transition="in" filter="fade">
                                      <p:cBhvr>
                                        <p:cTn id="42" dur="500"/>
                                        <p:tgtEl>
                                          <p:spTgt spid="3">
                                            <p:txEl>
                                              <p:pRg st="14" end="14"/>
                                            </p:txEl>
                                          </p:spTgt>
                                        </p:tgtEl>
                                      </p:cBhvr>
                                    </p:animEffect>
                                  </p:childTnLst>
                                </p:cTn>
                              </p:par>
                              <p:par>
                                <p:cTn id="43" presetID="22" presetClass="entr" presetSubtype="1" fill="hold" nodeType="withEffect">
                                  <p:stCondLst>
                                    <p:cond delay="0"/>
                                  </p:stCondLst>
                                  <p:childTnLst>
                                    <p:set>
                                      <p:cBhvr>
                                        <p:cTn id="44" dur="1" fill="hold">
                                          <p:stCondLst>
                                            <p:cond delay="0"/>
                                          </p:stCondLst>
                                        </p:cTn>
                                        <p:tgtEl>
                                          <p:spTgt spid="54"/>
                                        </p:tgtEl>
                                        <p:attrNameLst>
                                          <p:attrName>style.visibility</p:attrName>
                                        </p:attrNameLst>
                                      </p:cBhvr>
                                      <p:to>
                                        <p:strVal val="visible"/>
                                      </p:to>
                                    </p:set>
                                    <p:animEffect transition="in" filter="wipe(up)">
                                      <p:cBhvr>
                                        <p:cTn id="45"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2DA1FA-9B04-2E5B-E516-478253CDC9AF}"/>
              </a:ext>
            </a:extLst>
          </p:cNvPr>
          <p:cNvSpPr>
            <a:spLocks noGrp="1"/>
          </p:cNvSpPr>
          <p:nvPr>
            <p:ph type="title"/>
          </p:nvPr>
        </p:nvSpPr>
        <p:spPr/>
        <p:txBody>
          <a:bodyPr/>
          <a:lstStyle/>
          <a:p>
            <a:r>
              <a:rPr kumimoji="1" lang="en-US" altLang="zh-TW" dirty="0"/>
              <a:t>I/O Devices &amp; </a:t>
            </a:r>
            <a:r>
              <a:rPr lang="en-US" altLang="zh-TW" dirty="0"/>
              <a:t>I/O</a:t>
            </a:r>
            <a:r>
              <a:rPr lang="zh-TW" altLang="en-US" dirty="0"/>
              <a:t> </a:t>
            </a:r>
            <a:r>
              <a:rPr lang="en-US" altLang="zh-TW" dirty="0"/>
              <a:t>Systems</a:t>
            </a:r>
            <a:endParaRPr kumimoji="1" lang="zh-TW" altLang="en-US" dirty="0"/>
          </a:p>
        </p:txBody>
      </p:sp>
      <p:sp>
        <p:nvSpPr>
          <p:cNvPr id="3" name="內容版面配置區 2">
            <a:extLst>
              <a:ext uri="{FF2B5EF4-FFF2-40B4-BE49-F238E27FC236}">
                <a16:creationId xmlns:a16="http://schemas.microsoft.com/office/drawing/2014/main" id="{794A23E4-FA12-AF97-3BCA-FCCA13BED030}"/>
              </a:ext>
            </a:extLst>
          </p:cNvPr>
          <p:cNvSpPr>
            <a:spLocks noGrp="1"/>
          </p:cNvSpPr>
          <p:nvPr>
            <p:ph idx="1"/>
          </p:nvPr>
        </p:nvSpPr>
        <p:spPr>
          <a:xfrm>
            <a:off x="177800" y="1226375"/>
            <a:ext cx="11836400" cy="6171953"/>
          </a:xfrm>
        </p:spPr>
        <p:txBody>
          <a:bodyPr>
            <a:normAutofit/>
          </a:bodyPr>
          <a:lstStyle/>
          <a:p>
            <a:r>
              <a:rPr kumimoji="1" lang="en-US" altLang="zh-TW" dirty="0"/>
              <a:t>How</a:t>
            </a:r>
            <a:r>
              <a:rPr kumimoji="1" lang="zh-TW" altLang="en-US" dirty="0"/>
              <a:t> </a:t>
            </a:r>
            <a:r>
              <a:rPr kumimoji="1" lang="en-US" altLang="zh-TW" dirty="0"/>
              <a:t>data</a:t>
            </a:r>
            <a:r>
              <a:rPr kumimoji="1" lang="zh-TW" altLang="en-US" dirty="0"/>
              <a:t> </a:t>
            </a:r>
            <a:r>
              <a:rPr kumimoji="1" lang="en-US" altLang="zh-TW" dirty="0"/>
              <a:t>stored</a:t>
            </a:r>
            <a:r>
              <a:rPr kumimoji="1" lang="zh-TW" altLang="en-US" dirty="0"/>
              <a:t> </a:t>
            </a:r>
            <a:r>
              <a:rPr kumimoji="1" lang="en-US" altLang="zh-TW" dirty="0"/>
              <a:t>in</a:t>
            </a:r>
            <a:r>
              <a:rPr kumimoji="1" lang="zh-TW" altLang="en-US" dirty="0"/>
              <a:t> </a:t>
            </a:r>
            <a:r>
              <a:rPr kumimoji="1" lang="en-US" altLang="zh-TW" dirty="0"/>
              <a:t>I/O</a:t>
            </a:r>
            <a:r>
              <a:rPr kumimoji="1" lang="zh-TW" altLang="en-US" dirty="0"/>
              <a:t> </a:t>
            </a:r>
            <a:r>
              <a:rPr kumimoji="1" lang="en-US" altLang="zh-TW" dirty="0"/>
              <a:t>devices:</a:t>
            </a:r>
          </a:p>
          <a:p>
            <a:pPr lvl="1"/>
            <a:r>
              <a:rPr lang="en-US" altLang="zh-TW" dirty="0"/>
              <a:t>NAND-Flash-based</a:t>
            </a:r>
            <a:r>
              <a:rPr lang="zh-TW" altLang="en-US" dirty="0"/>
              <a:t> </a:t>
            </a:r>
            <a:r>
              <a:rPr lang="en-US" altLang="zh-TW" u="sng" dirty="0"/>
              <a:t>S</a:t>
            </a:r>
            <a:r>
              <a:rPr lang="en-US" altLang="zh-TW" dirty="0"/>
              <a:t>olid</a:t>
            </a:r>
            <a:r>
              <a:rPr lang="zh-TW" altLang="en-US" dirty="0"/>
              <a:t> </a:t>
            </a:r>
            <a:r>
              <a:rPr lang="en-US" altLang="zh-TW" u="sng" dirty="0"/>
              <a:t>S</a:t>
            </a:r>
            <a:r>
              <a:rPr lang="en-US" altLang="zh-TW" dirty="0"/>
              <a:t>tate</a:t>
            </a:r>
            <a:r>
              <a:rPr lang="zh-TW" altLang="en-US" dirty="0"/>
              <a:t> </a:t>
            </a:r>
            <a:r>
              <a:rPr lang="en-US" altLang="zh-TW" u="sng" dirty="0"/>
              <a:t>D</a:t>
            </a:r>
            <a:r>
              <a:rPr lang="en-US" altLang="zh-TW" dirty="0"/>
              <a:t>rive</a:t>
            </a:r>
            <a:r>
              <a:rPr lang="zh-TW" altLang="en-US" dirty="0"/>
              <a:t> </a:t>
            </a:r>
            <a:r>
              <a:rPr lang="en-US" altLang="zh-TW" dirty="0"/>
              <a:t>(SSD)</a:t>
            </a:r>
            <a:endParaRPr kumimoji="1" lang="en-US" altLang="zh-TW" dirty="0"/>
          </a:p>
          <a:p>
            <a:pPr lvl="1"/>
            <a:r>
              <a:rPr kumimoji="1" lang="en-US" altLang="zh-TW" u="sng" dirty="0"/>
              <a:t>H</a:t>
            </a:r>
            <a:r>
              <a:rPr kumimoji="1" lang="en-US" altLang="zh-TW" dirty="0"/>
              <a:t>ard</a:t>
            </a:r>
            <a:r>
              <a:rPr kumimoji="1" lang="zh-TW" altLang="en-US" dirty="0"/>
              <a:t> </a:t>
            </a:r>
            <a:r>
              <a:rPr kumimoji="1" lang="en-US" altLang="zh-TW" u="sng" dirty="0"/>
              <a:t>D</a:t>
            </a:r>
            <a:r>
              <a:rPr kumimoji="1" lang="en-US" altLang="zh-TW" dirty="0"/>
              <a:t>isk</a:t>
            </a:r>
            <a:r>
              <a:rPr kumimoji="1" lang="zh-TW" altLang="en-US" dirty="0"/>
              <a:t> </a:t>
            </a:r>
            <a:r>
              <a:rPr kumimoji="1" lang="en-US" altLang="zh-TW" u="sng" dirty="0"/>
              <a:t>D</a:t>
            </a:r>
            <a:r>
              <a:rPr kumimoji="1" lang="en-US" altLang="zh-TW" dirty="0"/>
              <a:t>rive</a:t>
            </a:r>
            <a:r>
              <a:rPr kumimoji="1" lang="zh-TW" altLang="en-US" dirty="0"/>
              <a:t> </a:t>
            </a:r>
            <a:r>
              <a:rPr kumimoji="1" lang="en-US" altLang="zh-TW" dirty="0"/>
              <a:t>(HDD)</a:t>
            </a:r>
          </a:p>
          <a:p>
            <a:pPr lvl="1"/>
            <a:r>
              <a:rPr kumimoji="1" lang="en-US" altLang="zh-TW" u="sng" dirty="0"/>
              <a:t>S</a:t>
            </a:r>
            <a:r>
              <a:rPr kumimoji="1" lang="en-US" altLang="zh-TW" dirty="0"/>
              <a:t>hingled</a:t>
            </a:r>
            <a:r>
              <a:rPr kumimoji="1" lang="zh-TW" altLang="en-US" dirty="0"/>
              <a:t> </a:t>
            </a:r>
            <a:r>
              <a:rPr kumimoji="1" lang="en-US" altLang="zh-TW" u="sng" dirty="0"/>
              <a:t>M</a:t>
            </a:r>
            <a:r>
              <a:rPr kumimoji="1" lang="en-US" altLang="zh-TW" dirty="0"/>
              <a:t>agnetic</a:t>
            </a:r>
            <a:r>
              <a:rPr kumimoji="1" lang="zh-TW" altLang="en-US" dirty="0"/>
              <a:t> </a:t>
            </a:r>
            <a:r>
              <a:rPr kumimoji="1" lang="en-US" altLang="zh-TW" u="sng" dirty="0"/>
              <a:t>D</a:t>
            </a:r>
            <a:r>
              <a:rPr kumimoji="1" lang="en-US" altLang="zh-TW" dirty="0"/>
              <a:t>rive</a:t>
            </a:r>
            <a:r>
              <a:rPr kumimoji="1" lang="zh-TW" altLang="en-US" dirty="0"/>
              <a:t> </a:t>
            </a:r>
            <a:r>
              <a:rPr kumimoji="1" lang="en-US" altLang="zh-TW" dirty="0"/>
              <a:t>(SMR)</a:t>
            </a:r>
          </a:p>
          <a:p>
            <a:r>
              <a:rPr lang="en-US" altLang="zh-TW" dirty="0"/>
              <a:t>Device</a:t>
            </a:r>
            <a:r>
              <a:rPr lang="zh-TW" altLang="en-US" dirty="0"/>
              <a:t> </a:t>
            </a:r>
            <a:r>
              <a:rPr lang="en-US" altLang="zh-TW" dirty="0"/>
              <a:t>Driver</a:t>
            </a:r>
          </a:p>
          <a:p>
            <a:pPr lvl="1"/>
            <a:r>
              <a:rPr kumimoji="1" lang="en-US" altLang="zh-TW" dirty="0"/>
              <a:t>More</a:t>
            </a:r>
            <a:r>
              <a:rPr kumimoji="1" lang="zh-TW" altLang="en-US" dirty="0"/>
              <a:t> </a:t>
            </a:r>
            <a:r>
              <a:rPr lang="en-US" altLang="zh-TW" dirty="0"/>
              <a:t>about</a:t>
            </a:r>
            <a:r>
              <a:rPr lang="zh-TW" altLang="en-US" dirty="0"/>
              <a:t> </a:t>
            </a:r>
            <a:r>
              <a:rPr lang="en-US" altLang="zh-TW" dirty="0"/>
              <a:t>interrupts:</a:t>
            </a:r>
            <a:r>
              <a:rPr lang="zh-TW" altLang="en-US" dirty="0"/>
              <a:t> </a:t>
            </a:r>
            <a:r>
              <a:rPr lang="en-US" altLang="zh-TW" dirty="0"/>
              <a:t>Top-Halves</a:t>
            </a:r>
            <a:r>
              <a:rPr lang="zh-TW" altLang="en-US" dirty="0"/>
              <a:t> </a:t>
            </a:r>
            <a:r>
              <a:rPr lang="en-US" altLang="zh-TW" dirty="0"/>
              <a:t>vs</a:t>
            </a:r>
            <a:r>
              <a:rPr lang="zh-TW" altLang="en-US" dirty="0"/>
              <a:t> </a:t>
            </a:r>
            <a:r>
              <a:rPr lang="en-US" altLang="zh-TW" dirty="0"/>
              <a:t>Bottom-Halves</a:t>
            </a:r>
            <a:endParaRPr kumimoji="1" lang="en-US" altLang="zh-TW" dirty="0"/>
          </a:p>
          <a:p>
            <a:pPr lvl="1"/>
            <a:r>
              <a:rPr lang="en-US" altLang="zh-TW" dirty="0"/>
              <a:t>How to</a:t>
            </a:r>
            <a:r>
              <a:rPr lang="zh-TW" altLang="en-US" dirty="0"/>
              <a:t> </a:t>
            </a:r>
            <a:r>
              <a:rPr lang="en-US" altLang="zh-TW" dirty="0"/>
              <a:t>write a device</a:t>
            </a:r>
            <a:r>
              <a:rPr lang="zh-TW" altLang="en-US" dirty="0"/>
              <a:t> </a:t>
            </a:r>
            <a:r>
              <a:rPr lang="en-US" altLang="zh-TW" dirty="0"/>
              <a:t>driver</a:t>
            </a:r>
          </a:p>
          <a:p>
            <a:r>
              <a:rPr kumimoji="1" lang="en-US" altLang="zh-TW" dirty="0"/>
              <a:t>Block</a:t>
            </a:r>
            <a:r>
              <a:rPr kumimoji="1" lang="zh-TW" altLang="en-US" dirty="0"/>
              <a:t> </a:t>
            </a:r>
            <a:r>
              <a:rPr kumimoji="1" lang="en-US" altLang="zh-TW" dirty="0"/>
              <a:t>I/O</a:t>
            </a:r>
            <a:r>
              <a:rPr kumimoji="1" lang="zh-TW" altLang="en-US" dirty="0"/>
              <a:t> </a:t>
            </a:r>
            <a:r>
              <a:rPr kumimoji="1" lang="en-US" altLang="zh-TW" dirty="0"/>
              <a:t>Layer</a:t>
            </a:r>
          </a:p>
          <a:p>
            <a:pPr lvl="1"/>
            <a:r>
              <a:rPr lang="en-US" altLang="zh-TW" dirty="0"/>
              <a:t>What is BIO</a:t>
            </a:r>
          </a:p>
          <a:p>
            <a:pPr lvl="1"/>
            <a:r>
              <a:rPr lang="en-US" altLang="zh-TW" dirty="0"/>
              <a:t>Merge and Coalesce I/O Operations</a:t>
            </a:r>
          </a:p>
          <a:p>
            <a:pPr lvl="1"/>
            <a:r>
              <a:rPr lang="en-US" altLang="zh-TW" dirty="0"/>
              <a:t>I/O Scheduler</a:t>
            </a:r>
          </a:p>
          <a:p>
            <a:r>
              <a:rPr lang="en-US" altLang="zh-TW" dirty="0"/>
              <a:t>Advance</a:t>
            </a:r>
            <a:r>
              <a:rPr lang="zh-TW" altLang="en-US" dirty="0"/>
              <a:t> </a:t>
            </a:r>
            <a:r>
              <a:rPr lang="en-US" altLang="zh-TW" dirty="0"/>
              <a:t>Topic:</a:t>
            </a:r>
          </a:p>
          <a:p>
            <a:pPr lvl="1"/>
            <a:r>
              <a:rPr lang="en-US" altLang="zh-TW" dirty="0" err="1"/>
              <a:t>NVMe</a:t>
            </a:r>
            <a:r>
              <a:rPr lang="zh-TW" altLang="en-US" dirty="0"/>
              <a:t> </a:t>
            </a:r>
            <a:r>
              <a:rPr lang="en-US" altLang="zh-TW" dirty="0"/>
              <a:t>Protocol</a:t>
            </a:r>
          </a:p>
          <a:p>
            <a:pPr lvl="1"/>
            <a:r>
              <a:rPr lang="en-US" altLang="zh-TW" dirty="0"/>
              <a:t>Device</a:t>
            </a:r>
            <a:r>
              <a:rPr lang="zh-TW" altLang="en-US" dirty="0"/>
              <a:t> </a:t>
            </a:r>
            <a:r>
              <a:rPr lang="en-US" altLang="zh-TW" dirty="0"/>
              <a:t>Mapper</a:t>
            </a:r>
          </a:p>
          <a:p>
            <a:pPr lvl="1"/>
            <a:endParaRPr kumimoji="1" lang="en-US" altLang="zh-TW" dirty="0"/>
          </a:p>
        </p:txBody>
      </p:sp>
      <p:sp>
        <p:nvSpPr>
          <p:cNvPr id="4" name="投影片編號版面配置區 3">
            <a:extLst>
              <a:ext uri="{FF2B5EF4-FFF2-40B4-BE49-F238E27FC236}">
                <a16:creationId xmlns:a16="http://schemas.microsoft.com/office/drawing/2014/main" id="{91AE2619-3F0E-2ADE-FD9B-43C3CD788C1B}"/>
              </a:ext>
            </a:extLst>
          </p:cNvPr>
          <p:cNvSpPr>
            <a:spLocks noGrp="1"/>
          </p:cNvSpPr>
          <p:nvPr>
            <p:ph type="sldNum" sz="quarter" idx="4"/>
          </p:nvPr>
        </p:nvSpPr>
        <p:spPr/>
        <p:txBody>
          <a:bodyPr/>
          <a:lstStyle/>
          <a:p>
            <a:fld id="{E24E6636-6BA5-4AAC-8485-BE8D914D288B}" type="slidenum">
              <a:rPr lang="zh-TW" altLang="en-US" smtClean="0"/>
              <a:pPr/>
              <a:t>19</a:t>
            </a:fld>
            <a:endParaRPr lang="zh-TW" altLang="en-US" dirty="0"/>
          </a:p>
        </p:txBody>
      </p:sp>
      <p:sp>
        <p:nvSpPr>
          <p:cNvPr id="27" name="矩形 57">
            <a:extLst>
              <a:ext uri="{FF2B5EF4-FFF2-40B4-BE49-F238E27FC236}">
                <a16:creationId xmlns:a16="http://schemas.microsoft.com/office/drawing/2014/main" id="{8074A4A4-961F-854A-45E9-C7066960EE77}"/>
              </a:ext>
            </a:extLst>
          </p:cNvPr>
          <p:cNvSpPr/>
          <p:nvPr/>
        </p:nvSpPr>
        <p:spPr>
          <a:xfrm>
            <a:off x="9713254" y="978102"/>
            <a:ext cx="1567121" cy="5400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Process</a:t>
            </a:r>
            <a:endParaRPr kumimoji="1" lang="zh-TW" altLang="en-US" sz="1600" dirty="0">
              <a:solidFill>
                <a:schemeClr val="tx1"/>
              </a:solidFill>
              <a:cs typeface="Arial" panose="020B0604020202020204" pitchFamily="34" charset="0"/>
            </a:endParaRPr>
          </a:p>
        </p:txBody>
      </p:sp>
      <p:sp>
        <p:nvSpPr>
          <p:cNvPr id="28" name="矩形 57">
            <a:extLst>
              <a:ext uri="{FF2B5EF4-FFF2-40B4-BE49-F238E27FC236}">
                <a16:creationId xmlns:a16="http://schemas.microsoft.com/office/drawing/2014/main" id="{2EAAE5C4-BBBC-95C2-2CF5-9749BBE97B51}"/>
              </a:ext>
            </a:extLst>
          </p:cNvPr>
          <p:cNvSpPr/>
          <p:nvPr/>
        </p:nvSpPr>
        <p:spPr>
          <a:xfrm>
            <a:off x="9713254" y="2288100"/>
            <a:ext cx="1567121"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Virtual</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File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System</a:t>
            </a:r>
            <a:endParaRPr kumimoji="1" lang="zh-TW" altLang="en-US" sz="1600" dirty="0">
              <a:solidFill>
                <a:schemeClr val="tx1"/>
              </a:solidFill>
              <a:cs typeface="Arial" panose="020B0604020202020204" pitchFamily="34" charset="0"/>
            </a:endParaRPr>
          </a:p>
        </p:txBody>
      </p:sp>
      <p:sp>
        <p:nvSpPr>
          <p:cNvPr id="29" name="矩形 57">
            <a:extLst>
              <a:ext uri="{FF2B5EF4-FFF2-40B4-BE49-F238E27FC236}">
                <a16:creationId xmlns:a16="http://schemas.microsoft.com/office/drawing/2014/main" id="{7A641741-1284-6416-5E6F-69126752E22D}"/>
              </a:ext>
            </a:extLst>
          </p:cNvPr>
          <p:cNvSpPr/>
          <p:nvPr/>
        </p:nvSpPr>
        <p:spPr>
          <a:xfrm>
            <a:off x="9713255" y="3067183"/>
            <a:ext cx="921104"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Page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Cache</a:t>
            </a:r>
            <a:endParaRPr kumimoji="1" lang="zh-TW" altLang="en-US" sz="1600" dirty="0">
              <a:solidFill>
                <a:schemeClr val="tx1"/>
              </a:solidFill>
              <a:cs typeface="Arial" panose="020B0604020202020204" pitchFamily="34" charset="0"/>
            </a:endParaRPr>
          </a:p>
        </p:txBody>
      </p:sp>
      <p:sp>
        <p:nvSpPr>
          <p:cNvPr id="30" name="矩形 57">
            <a:extLst>
              <a:ext uri="{FF2B5EF4-FFF2-40B4-BE49-F238E27FC236}">
                <a16:creationId xmlns:a16="http://schemas.microsoft.com/office/drawing/2014/main" id="{FBE3D638-7371-F598-3802-25C37B143225}"/>
              </a:ext>
            </a:extLst>
          </p:cNvPr>
          <p:cNvSpPr/>
          <p:nvPr/>
        </p:nvSpPr>
        <p:spPr>
          <a:xfrm>
            <a:off x="9713254" y="3846266"/>
            <a:ext cx="1567121"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Mapping</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Layer</a:t>
            </a:r>
            <a:br>
              <a:rPr kumimoji="1" lang="en-US" altLang="zh-TW" sz="1600" dirty="0">
                <a:solidFill>
                  <a:schemeClr val="tx1"/>
                </a:solidFill>
                <a:cs typeface="Arial" panose="020B0604020202020204" pitchFamily="34" charset="0"/>
              </a:rPr>
            </a:br>
            <a:r>
              <a:rPr kumimoji="1" lang="en-US" altLang="zh-TW" sz="1600" dirty="0">
                <a:solidFill>
                  <a:schemeClr val="tx1"/>
                </a:solidFill>
                <a:cs typeface="Arial" panose="020B0604020202020204" pitchFamily="34" charset="0"/>
              </a:rPr>
              <a:t>(FS</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Specific)</a:t>
            </a:r>
            <a:endParaRPr kumimoji="1" lang="zh-TW" altLang="en-US" sz="1600" dirty="0">
              <a:solidFill>
                <a:schemeClr val="tx1"/>
              </a:solidFill>
              <a:cs typeface="Arial" panose="020B0604020202020204" pitchFamily="34" charset="0"/>
            </a:endParaRPr>
          </a:p>
        </p:txBody>
      </p:sp>
      <p:cxnSp>
        <p:nvCxnSpPr>
          <p:cNvPr id="35" name="直線接點 34">
            <a:extLst>
              <a:ext uri="{FF2B5EF4-FFF2-40B4-BE49-F238E27FC236}">
                <a16:creationId xmlns:a16="http://schemas.microsoft.com/office/drawing/2014/main" id="{A3568A74-6323-8FAA-1880-EB913C1C68BF}"/>
              </a:ext>
            </a:extLst>
          </p:cNvPr>
          <p:cNvCxnSpPr>
            <a:cxnSpLocks/>
          </p:cNvCxnSpPr>
          <p:nvPr/>
        </p:nvCxnSpPr>
        <p:spPr>
          <a:xfrm>
            <a:off x="9073896" y="2060330"/>
            <a:ext cx="284583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8" name="文字方塊 37">
            <a:extLst>
              <a:ext uri="{FF2B5EF4-FFF2-40B4-BE49-F238E27FC236}">
                <a16:creationId xmlns:a16="http://schemas.microsoft.com/office/drawing/2014/main" id="{805BF980-6F95-22D8-EFAD-C90B79FAE33C}"/>
              </a:ext>
            </a:extLst>
          </p:cNvPr>
          <p:cNvSpPr txBox="1"/>
          <p:nvPr/>
        </p:nvSpPr>
        <p:spPr>
          <a:xfrm>
            <a:off x="8979426" y="1723348"/>
            <a:ext cx="570990" cy="338554"/>
          </a:xfrm>
          <a:prstGeom prst="rect">
            <a:avLst/>
          </a:prstGeom>
          <a:noFill/>
        </p:spPr>
        <p:txBody>
          <a:bodyPr wrap="none" rtlCol="0">
            <a:spAutoFit/>
          </a:bodyPr>
          <a:lstStyle/>
          <a:p>
            <a:r>
              <a:rPr kumimoji="1" lang="en-US" altLang="zh-TW" sz="1600" dirty="0"/>
              <a:t>User</a:t>
            </a:r>
            <a:endParaRPr kumimoji="1" lang="zh-TW" altLang="en-US" sz="1600" dirty="0"/>
          </a:p>
        </p:txBody>
      </p:sp>
      <p:sp>
        <p:nvSpPr>
          <p:cNvPr id="39" name="文字方塊 38">
            <a:extLst>
              <a:ext uri="{FF2B5EF4-FFF2-40B4-BE49-F238E27FC236}">
                <a16:creationId xmlns:a16="http://schemas.microsoft.com/office/drawing/2014/main" id="{51929897-E7DA-565E-9B54-FE20006F0C83}"/>
              </a:ext>
            </a:extLst>
          </p:cNvPr>
          <p:cNvSpPr txBox="1"/>
          <p:nvPr/>
        </p:nvSpPr>
        <p:spPr>
          <a:xfrm>
            <a:off x="8979426" y="2043084"/>
            <a:ext cx="719556" cy="338554"/>
          </a:xfrm>
          <a:prstGeom prst="rect">
            <a:avLst/>
          </a:prstGeom>
          <a:noFill/>
        </p:spPr>
        <p:txBody>
          <a:bodyPr wrap="none" rtlCol="0">
            <a:spAutoFit/>
          </a:bodyPr>
          <a:lstStyle/>
          <a:p>
            <a:r>
              <a:rPr kumimoji="1" lang="en-US" altLang="zh-TW" sz="1600" dirty="0"/>
              <a:t>Kernel</a:t>
            </a:r>
            <a:endParaRPr kumimoji="1" lang="zh-TW" altLang="en-US" sz="1600" dirty="0"/>
          </a:p>
        </p:txBody>
      </p:sp>
      <p:sp>
        <p:nvSpPr>
          <p:cNvPr id="40" name="文字方塊 39">
            <a:extLst>
              <a:ext uri="{FF2B5EF4-FFF2-40B4-BE49-F238E27FC236}">
                <a16:creationId xmlns:a16="http://schemas.microsoft.com/office/drawing/2014/main" id="{1A9BEE5F-332C-8492-9BF0-2B0485738AC4}"/>
              </a:ext>
            </a:extLst>
          </p:cNvPr>
          <p:cNvSpPr txBox="1"/>
          <p:nvPr/>
        </p:nvSpPr>
        <p:spPr>
          <a:xfrm>
            <a:off x="10793743" y="1495260"/>
            <a:ext cx="1095364" cy="584775"/>
          </a:xfrm>
          <a:prstGeom prst="rect">
            <a:avLst/>
          </a:prstGeom>
          <a:noFill/>
        </p:spPr>
        <p:txBody>
          <a:bodyPr wrap="none" rtlCol="0">
            <a:spAutoFit/>
          </a:bodyPr>
          <a:lstStyle/>
          <a:p>
            <a:r>
              <a:rPr kumimoji="1" lang="en-US" altLang="zh-TW" sz="1600" dirty="0"/>
              <a:t>sys_read()</a:t>
            </a:r>
          </a:p>
          <a:p>
            <a:r>
              <a:rPr kumimoji="1" lang="en-US" altLang="zh-TW" sz="1600" dirty="0"/>
              <a:t>sys_write()</a:t>
            </a:r>
            <a:endParaRPr kumimoji="1" lang="zh-TW" altLang="en-US" sz="1600" dirty="0"/>
          </a:p>
        </p:txBody>
      </p:sp>
      <p:cxnSp>
        <p:nvCxnSpPr>
          <p:cNvPr id="42" name="直線箭頭接點 41">
            <a:extLst>
              <a:ext uri="{FF2B5EF4-FFF2-40B4-BE49-F238E27FC236}">
                <a16:creationId xmlns:a16="http://schemas.microsoft.com/office/drawing/2014/main" id="{F4E4F138-DFEF-B847-9063-B3D1AFE9C9A6}"/>
              </a:ext>
            </a:extLst>
          </p:cNvPr>
          <p:cNvCxnSpPr>
            <a:cxnSpLocks/>
          </p:cNvCxnSpPr>
          <p:nvPr/>
        </p:nvCxnSpPr>
        <p:spPr>
          <a:xfrm>
            <a:off x="10941457" y="2828100"/>
            <a:ext cx="0" cy="101816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直線箭頭接點 45">
            <a:extLst>
              <a:ext uri="{FF2B5EF4-FFF2-40B4-BE49-F238E27FC236}">
                <a16:creationId xmlns:a16="http://schemas.microsoft.com/office/drawing/2014/main" id="{74A05AB7-7C0C-17C9-D0E9-5AF1EB8C8607}"/>
              </a:ext>
            </a:extLst>
          </p:cNvPr>
          <p:cNvCxnSpPr>
            <a:cxnSpLocks/>
            <a:stCxn id="27" idx="2"/>
          </p:cNvCxnSpPr>
          <p:nvPr/>
        </p:nvCxnSpPr>
        <p:spPr>
          <a:xfrm flipH="1">
            <a:off x="10476554" y="1518102"/>
            <a:ext cx="0" cy="77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7" name="群組 6">
            <a:extLst>
              <a:ext uri="{FF2B5EF4-FFF2-40B4-BE49-F238E27FC236}">
                <a16:creationId xmlns:a16="http://schemas.microsoft.com/office/drawing/2014/main" id="{5F181D5B-FF97-B4F8-CDF0-50776087560B}"/>
              </a:ext>
            </a:extLst>
          </p:cNvPr>
          <p:cNvGrpSpPr/>
          <p:nvPr/>
        </p:nvGrpSpPr>
        <p:grpSpPr>
          <a:xfrm>
            <a:off x="9713254" y="5944432"/>
            <a:ext cx="1567121" cy="779082"/>
            <a:chOff x="9713254" y="5944432"/>
            <a:chExt cx="1567121" cy="779082"/>
          </a:xfrm>
        </p:grpSpPr>
        <p:sp>
          <p:nvSpPr>
            <p:cNvPr id="33" name="矩形 57">
              <a:extLst>
                <a:ext uri="{FF2B5EF4-FFF2-40B4-BE49-F238E27FC236}">
                  <a16:creationId xmlns:a16="http://schemas.microsoft.com/office/drawing/2014/main" id="{94959379-720C-9393-D32E-416FA1A6D8DA}"/>
                </a:ext>
              </a:extLst>
            </p:cNvPr>
            <p:cNvSpPr/>
            <p:nvPr/>
          </p:nvSpPr>
          <p:spPr>
            <a:xfrm>
              <a:off x="9713254" y="6183514"/>
              <a:ext cx="1567121" cy="540000"/>
            </a:xfrm>
            <a:prstGeom prst="rect">
              <a:avLst/>
            </a:prstGeom>
            <a:solidFill>
              <a:srgbClr val="F2F2F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Devices</a:t>
              </a:r>
              <a:r>
                <a:rPr kumimoji="1" lang="zh-TW" altLang="en-US" sz="1600" dirty="0">
                  <a:solidFill>
                    <a:schemeClr val="tx1"/>
                  </a:solidFill>
                  <a:cs typeface="Arial" panose="020B0604020202020204" pitchFamily="34" charset="0"/>
                </a:rPr>
                <a:t> </a:t>
              </a:r>
              <a:endParaRPr kumimoji="1" lang="en-US" altLang="zh-TW" sz="1600" dirty="0">
                <a:solidFill>
                  <a:schemeClr val="tx1"/>
                </a:solidFill>
                <a:cs typeface="Arial" panose="020B0604020202020204" pitchFamily="34" charset="0"/>
              </a:endParaRPr>
            </a:p>
            <a:p>
              <a:pPr algn="ctr"/>
              <a:r>
                <a:rPr kumimoji="1" lang="en-US" altLang="zh-TW" sz="1600" dirty="0">
                  <a:solidFill>
                    <a:schemeClr val="tx1"/>
                  </a:solidFill>
                  <a:cs typeface="Arial" panose="020B0604020202020204" pitchFamily="34" charset="0"/>
                </a:rPr>
                <a:t>(e.g.,</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HDD,</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SSD)</a:t>
              </a:r>
              <a:endParaRPr kumimoji="1" lang="zh-TW" altLang="en-US" sz="1600" dirty="0">
                <a:solidFill>
                  <a:schemeClr val="tx1"/>
                </a:solidFill>
                <a:cs typeface="Arial" panose="020B0604020202020204" pitchFamily="34" charset="0"/>
              </a:endParaRPr>
            </a:p>
          </p:txBody>
        </p:sp>
        <p:cxnSp>
          <p:nvCxnSpPr>
            <p:cNvPr id="48" name="直線箭頭接點 47">
              <a:extLst>
                <a:ext uri="{FF2B5EF4-FFF2-40B4-BE49-F238E27FC236}">
                  <a16:creationId xmlns:a16="http://schemas.microsoft.com/office/drawing/2014/main" id="{61930ECB-D583-86B7-27F8-E842F245CEF1}"/>
                </a:ext>
              </a:extLst>
            </p:cNvPr>
            <p:cNvCxnSpPr>
              <a:cxnSpLocks/>
              <a:stCxn id="32" idx="2"/>
            </p:cNvCxnSpPr>
            <p:nvPr/>
          </p:nvCxnSpPr>
          <p:spPr>
            <a:xfrm flipH="1">
              <a:off x="10496813" y="5944432"/>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6" name="群組 5">
            <a:extLst>
              <a:ext uri="{FF2B5EF4-FFF2-40B4-BE49-F238E27FC236}">
                <a16:creationId xmlns:a16="http://schemas.microsoft.com/office/drawing/2014/main" id="{58A72B7A-8CC7-49BF-6DDD-65DE90C9E787}"/>
              </a:ext>
            </a:extLst>
          </p:cNvPr>
          <p:cNvGrpSpPr/>
          <p:nvPr/>
        </p:nvGrpSpPr>
        <p:grpSpPr>
          <a:xfrm>
            <a:off x="9713254" y="5143606"/>
            <a:ext cx="1567121" cy="800826"/>
            <a:chOff x="9713254" y="5143606"/>
            <a:chExt cx="1567121" cy="800826"/>
          </a:xfrm>
        </p:grpSpPr>
        <p:sp>
          <p:nvSpPr>
            <p:cNvPr id="32" name="矩形 57">
              <a:extLst>
                <a:ext uri="{FF2B5EF4-FFF2-40B4-BE49-F238E27FC236}">
                  <a16:creationId xmlns:a16="http://schemas.microsoft.com/office/drawing/2014/main" id="{80ECE979-814B-0283-67C0-2A8950F90C4E}"/>
                </a:ext>
              </a:extLst>
            </p:cNvPr>
            <p:cNvSpPr/>
            <p:nvPr/>
          </p:nvSpPr>
          <p:spPr>
            <a:xfrm>
              <a:off x="9713254" y="5404432"/>
              <a:ext cx="1567121" cy="540000"/>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Block</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Device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Driver</a:t>
              </a:r>
              <a:endParaRPr kumimoji="1" lang="zh-TW" altLang="en-US" sz="1600" dirty="0">
                <a:solidFill>
                  <a:schemeClr val="tx1"/>
                </a:solidFill>
                <a:cs typeface="Arial" panose="020B0604020202020204" pitchFamily="34" charset="0"/>
              </a:endParaRPr>
            </a:p>
          </p:txBody>
        </p:sp>
        <p:cxnSp>
          <p:nvCxnSpPr>
            <p:cNvPr id="50" name="直線箭頭接點 49">
              <a:extLst>
                <a:ext uri="{FF2B5EF4-FFF2-40B4-BE49-F238E27FC236}">
                  <a16:creationId xmlns:a16="http://schemas.microsoft.com/office/drawing/2014/main" id="{4CB7DD8A-206E-BD91-296C-E69018602E9E}"/>
                </a:ext>
              </a:extLst>
            </p:cNvPr>
            <p:cNvCxnSpPr>
              <a:cxnSpLocks/>
            </p:cNvCxnSpPr>
            <p:nvPr/>
          </p:nvCxnSpPr>
          <p:spPr>
            <a:xfrm flipH="1">
              <a:off x="10470620" y="5143606"/>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5" name="群組 4">
            <a:extLst>
              <a:ext uri="{FF2B5EF4-FFF2-40B4-BE49-F238E27FC236}">
                <a16:creationId xmlns:a16="http://schemas.microsoft.com/office/drawing/2014/main" id="{2BC6E848-2E56-110B-BB89-70DAC51DD291}"/>
              </a:ext>
            </a:extLst>
          </p:cNvPr>
          <p:cNvGrpSpPr/>
          <p:nvPr/>
        </p:nvGrpSpPr>
        <p:grpSpPr>
          <a:xfrm>
            <a:off x="9713254" y="4386266"/>
            <a:ext cx="1567121" cy="779083"/>
            <a:chOff x="9713254" y="4386266"/>
            <a:chExt cx="1567121" cy="779083"/>
          </a:xfrm>
        </p:grpSpPr>
        <p:sp>
          <p:nvSpPr>
            <p:cNvPr id="31" name="矩形 57">
              <a:extLst>
                <a:ext uri="{FF2B5EF4-FFF2-40B4-BE49-F238E27FC236}">
                  <a16:creationId xmlns:a16="http://schemas.microsoft.com/office/drawing/2014/main" id="{80405E10-CF66-ECB2-04F9-4F20E93391EE}"/>
                </a:ext>
              </a:extLst>
            </p:cNvPr>
            <p:cNvSpPr/>
            <p:nvPr/>
          </p:nvSpPr>
          <p:spPr>
            <a:xfrm>
              <a:off x="9713254" y="4625349"/>
              <a:ext cx="1567121" cy="540000"/>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Block</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I/O</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Layer</a:t>
              </a:r>
              <a:endParaRPr kumimoji="1" lang="zh-TW" altLang="en-US" sz="1600" dirty="0">
                <a:solidFill>
                  <a:schemeClr val="tx1"/>
                </a:solidFill>
                <a:cs typeface="Arial" panose="020B0604020202020204" pitchFamily="34" charset="0"/>
              </a:endParaRPr>
            </a:p>
          </p:txBody>
        </p:sp>
        <p:cxnSp>
          <p:nvCxnSpPr>
            <p:cNvPr id="51" name="直線箭頭接點 50">
              <a:extLst>
                <a:ext uri="{FF2B5EF4-FFF2-40B4-BE49-F238E27FC236}">
                  <a16:creationId xmlns:a16="http://schemas.microsoft.com/office/drawing/2014/main" id="{D19932F1-3B59-E774-F83F-8F19024C62FB}"/>
                </a:ext>
              </a:extLst>
            </p:cNvPr>
            <p:cNvCxnSpPr>
              <a:cxnSpLocks/>
            </p:cNvCxnSpPr>
            <p:nvPr/>
          </p:nvCxnSpPr>
          <p:spPr>
            <a:xfrm flipH="1">
              <a:off x="10470618" y="4386266"/>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52" name="直線箭頭接點 51">
            <a:extLst>
              <a:ext uri="{FF2B5EF4-FFF2-40B4-BE49-F238E27FC236}">
                <a16:creationId xmlns:a16="http://schemas.microsoft.com/office/drawing/2014/main" id="{6763DFB0-1347-6FF8-4A7B-FDA1F64FF12B}"/>
              </a:ext>
            </a:extLst>
          </p:cNvPr>
          <p:cNvCxnSpPr>
            <a:cxnSpLocks/>
          </p:cNvCxnSpPr>
          <p:nvPr/>
        </p:nvCxnSpPr>
        <p:spPr>
          <a:xfrm flipH="1">
            <a:off x="10167873" y="3606034"/>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直線箭頭接點 52">
            <a:extLst>
              <a:ext uri="{FF2B5EF4-FFF2-40B4-BE49-F238E27FC236}">
                <a16:creationId xmlns:a16="http://schemas.microsoft.com/office/drawing/2014/main" id="{E0318CBC-592E-04B4-006C-21EE405C9FB1}"/>
              </a:ext>
            </a:extLst>
          </p:cNvPr>
          <p:cNvCxnSpPr>
            <a:cxnSpLocks/>
          </p:cNvCxnSpPr>
          <p:nvPr/>
        </p:nvCxnSpPr>
        <p:spPr>
          <a:xfrm flipH="1">
            <a:off x="10167871" y="2818632"/>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矩形 53">
            <a:extLst>
              <a:ext uri="{FF2B5EF4-FFF2-40B4-BE49-F238E27FC236}">
                <a16:creationId xmlns:a16="http://schemas.microsoft.com/office/drawing/2014/main" id="{9232D1AE-DCDE-ADB0-1A36-F65C545D749D}"/>
              </a:ext>
            </a:extLst>
          </p:cNvPr>
          <p:cNvSpPr/>
          <p:nvPr/>
        </p:nvSpPr>
        <p:spPr>
          <a:xfrm>
            <a:off x="9698981" y="4624893"/>
            <a:ext cx="1581393" cy="2098611"/>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5" name="文字方塊 54">
            <a:extLst>
              <a:ext uri="{FF2B5EF4-FFF2-40B4-BE49-F238E27FC236}">
                <a16:creationId xmlns:a16="http://schemas.microsoft.com/office/drawing/2014/main" id="{F7E38FD0-BC5F-9804-541A-2D33F46DF828}"/>
              </a:ext>
            </a:extLst>
          </p:cNvPr>
          <p:cNvSpPr txBox="1"/>
          <p:nvPr/>
        </p:nvSpPr>
        <p:spPr>
          <a:xfrm>
            <a:off x="0" y="6598099"/>
            <a:ext cx="3822585" cy="276999"/>
          </a:xfrm>
          <a:prstGeom prst="rect">
            <a:avLst/>
          </a:prstGeom>
          <a:noFill/>
        </p:spPr>
        <p:txBody>
          <a:bodyPr wrap="none" rtlCol="0">
            <a:spAutoFit/>
          </a:bodyPr>
          <a:lstStyle/>
          <a:p>
            <a:r>
              <a:rPr kumimoji="1" lang="en-US" altLang="zh-TW" sz="1200" dirty="0">
                <a:solidFill>
                  <a:schemeClr val="bg1">
                    <a:lumMod val="75000"/>
                  </a:schemeClr>
                </a:solidFill>
              </a:rPr>
              <a:t>http://</a:t>
            </a:r>
            <a:r>
              <a:rPr kumimoji="1" lang="en-US" altLang="zh-TW" sz="1200" dirty="0" err="1">
                <a:solidFill>
                  <a:schemeClr val="bg1">
                    <a:lumMod val="75000"/>
                  </a:schemeClr>
                </a:solidFill>
              </a:rPr>
              <a:t>byteliu.com</a:t>
            </a:r>
            <a:r>
              <a:rPr kumimoji="1" lang="en-US" altLang="zh-TW" sz="1200" dirty="0">
                <a:solidFill>
                  <a:schemeClr val="bg1">
                    <a:lumMod val="75000"/>
                  </a:schemeClr>
                </a:solidFill>
              </a:rPr>
              <a:t>/2019/05/10/Linux-The-block-I-O-layer/</a:t>
            </a:r>
          </a:p>
        </p:txBody>
      </p:sp>
    </p:spTree>
    <p:extLst>
      <p:ext uri="{BB962C8B-B14F-4D97-AF65-F5344CB8AC3E}">
        <p14:creationId xmlns:p14="http://schemas.microsoft.com/office/powerpoint/2010/main" val="3595298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fade">
                                      <p:cBhvr>
                                        <p:cTn id="12" dur="500"/>
                                        <p:tgtEl>
                                          <p:spTgt spid="5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fade">
                                      <p:cBhvr>
                                        <p:cTn id="18" dur="500"/>
                                        <p:tgtEl>
                                          <p:spTgt spid="52"/>
                                        </p:tgtEl>
                                      </p:cBhvr>
                                    </p:animEffect>
                                  </p:childTnLst>
                                </p:cTn>
                              </p:par>
                              <p:par>
                                <p:cTn id="19" presetID="10"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4"/>
                                        </p:tgtEl>
                                        <p:attrNameLst>
                                          <p:attrName>style.visibility</p:attrName>
                                        </p:attrNameLst>
                                      </p:cBhvr>
                                      <p:to>
                                        <p:strVal val="visible"/>
                                      </p:to>
                                    </p:set>
                                    <p:animEffect transition="in" filter="fade">
                                      <p:cBhvr>
                                        <p:cTn id="46" dur="500"/>
                                        <p:tgtEl>
                                          <p:spTgt spid="5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0" end="0"/>
                                            </p:txEl>
                                          </p:spTgt>
                                        </p:tgtEl>
                                        <p:attrNameLst>
                                          <p:attrName>style.visibility</p:attrName>
                                        </p:attrNameLst>
                                      </p:cBhvr>
                                      <p:to>
                                        <p:strVal val="visible"/>
                                      </p:to>
                                    </p:set>
                                    <p:animEffect transition="in" filter="fade">
                                      <p:cBhvr>
                                        <p:cTn id="51" dur="500"/>
                                        <p:tgtEl>
                                          <p:spTgt spid="3">
                                            <p:txEl>
                                              <p:pRg st="0" end="0"/>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3">
                                            <p:txEl>
                                              <p:pRg st="1" end="1"/>
                                            </p:txEl>
                                          </p:spTgt>
                                        </p:tgtEl>
                                        <p:attrNameLst>
                                          <p:attrName>style.visibility</p:attrName>
                                        </p:attrNameLst>
                                      </p:cBhvr>
                                      <p:to>
                                        <p:strVal val="visible"/>
                                      </p:to>
                                    </p:set>
                                    <p:animEffect transition="in" filter="fade">
                                      <p:cBhvr>
                                        <p:cTn id="54" dur="500"/>
                                        <p:tgtEl>
                                          <p:spTgt spid="3">
                                            <p:txEl>
                                              <p:pRg st="1" end="1"/>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3">
                                            <p:txEl>
                                              <p:pRg st="2" end="2"/>
                                            </p:txEl>
                                          </p:spTgt>
                                        </p:tgtEl>
                                        <p:attrNameLst>
                                          <p:attrName>style.visibility</p:attrName>
                                        </p:attrNameLst>
                                      </p:cBhvr>
                                      <p:to>
                                        <p:strVal val="visible"/>
                                      </p:to>
                                    </p:set>
                                    <p:animEffect transition="in" filter="fade">
                                      <p:cBhvr>
                                        <p:cTn id="57" dur="500"/>
                                        <p:tgtEl>
                                          <p:spTgt spid="3">
                                            <p:txEl>
                                              <p:pRg st="2" end="2"/>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3">
                                            <p:txEl>
                                              <p:pRg st="3" end="3"/>
                                            </p:txEl>
                                          </p:spTgt>
                                        </p:tgtEl>
                                        <p:attrNameLst>
                                          <p:attrName>style.visibility</p:attrName>
                                        </p:attrNameLst>
                                      </p:cBhvr>
                                      <p:to>
                                        <p:strVal val="visible"/>
                                      </p:to>
                                    </p:set>
                                    <p:animEffect transition="in" filter="fade">
                                      <p:cBhvr>
                                        <p:cTn id="60" dur="500"/>
                                        <p:tgtEl>
                                          <p:spTgt spid="3">
                                            <p:txEl>
                                              <p:pRg st="3" end="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
                                            <p:txEl>
                                              <p:pRg st="4" end="4"/>
                                            </p:txEl>
                                          </p:spTgt>
                                        </p:tgtEl>
                                        <p:attrNameLst>
                                          <p:attrName>style.visibility</p:attrName>
                                        </p:attrNameLst>
                                      </p:cBhvr>
                                      <p:to>
                                        <p:strVal val="visible"/>
                                      </p:to>
                                    </p:set>
                                    <p:animEffect transition="in" filter="fade">
                                      <p:cBhvr>
                                        <p:cTn id="65" dur="500"/>
                                        <p:tgtEl>
                                          <p:spTgt spid="3">
                                            <p:txEl>
                                              <p:pRg st="4" end="4"/>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3">
                                            <p:txEl>
                                              <p:pRg st="5" end="5"/>
                                            </p:txEl>
                                          </p:spTgt>
                                        </p:tgtEl>
                                        <p:attrNameLst>
                                          <p:attrName>style.visibility</p:attrName>
                                        </p:attrNameLst>
                                      </p:cBhvr>
                                      <p:to>
                                        <p:strVal val="visible"/>
                                      </p:to>
                                    </p:set>
                                    <p:animEffect transition="in" filter="fade">
                                      <p:cBhvr>
                                        <p:cTn id="68" dur="500"/>
                                        <p:tgtEl>
                                          <p:spTgt spid="3">
                                            <p:txEl>
                                              <p:pRg st="5" end="5"/>
                                            </p:txEl>
                                          </p:spTgt>
                                        </p:tgtEl>
                                      </p:cBhvr>
                                    </p:animEffect>
                                  </p:childTnLst>
                                </p:cTn>
                              </p:par>
                              <p:par>
                                <p:cTn id="69" presetID="10" presetClass="entr" presetSubtype="0" fill="hold" nodeType="withEffect">
                                  <p:stCondLst>
                                    <p:cond delay="0"/>
                                  </p:stCondLst>
                                  <p:childTnLst>
                                    <p:set>
                                      <p:cBhvr>
                                        <p:cTn id="70" dur="1" fill="hold">
                                          <p:stCondLst>
                                            <p:cond delay="0"/>
                                          </p:stCondLst>
                                        </p:cTn>
                                        <p:tgtEl>
                                          <p:spTgt spid="3">
                                            <p:txEl>
                                              <p:pRg st="6" end="6"/>
                                            </p:txEl>
                                          </p:spTgt>
                                        </p:tgtEl>
                                        <p:attrNameLst>
                                          <p:attrName>style.visibility</p:attrName>
                                        </p:attrNameLst>
                                      </p:cBhvr>
                                      <p:to>
                                        <p:strVal val="visible"/>
                                      </p:to>
                                    </p:set>
                                    <p:animEffect transition="in" filter="fade">
                                      <p:cBhvr>
                                        <p:cTn id="71" dur="500"/>
                                        <p:tgtEl>
                                          <p:spTgt spid="3">
                                            <p:txEl>
                                              <p:pRg st="6" end="6"/>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3">
                                            <p:txEl>
                                              <p:pRg st="7" end="7"/>
                                            </p:txEl>
                                          </p:spTgt>
                                        </p:tgtEl>
                                        <p:attrNameLst>
                                          <p:attrName>style.visibility</p:attrName>
                                        </p:attrNameLst>
                                      </p:cBhvr>
                                      <p:to>
                                        <p:strVal val="visible"/>
                                      </p:to>
                                    </p:set>
                                    <p:animEffect transition="in" filter="fade">
                                      <p:cBhvr>
                                        <p:cTn id="76" dur="500"/>
                                        <p:tgtEl>
                                          <p:spTgt spid="3">
                                            <p:txEl>
                                              <p:pRg st="7" end="7"/>
                                            </p:txEl>
                                          </p:spTgt>
                                        </p:tgtEl>
                                      </p:cBhvr>
                                    </p:animEffect>
                                  </p:childTnLst>
                                </p:cTn>
                              </p:par>
                              <p:par>
                                <p:cTn id="77" presetID="10" presetClass="entr" presetSubtype="0" fill="hold" nodeType="withEffect">
                                  <p:stCondLst>
                                    <p:cond delay="0"/>
                                  </p:stCondLst>
                                  <p:childTnLst>
                                    <p:set>
                                      <p:cBhvr>
                                        <p:cTn id="78" dur="1" fill="hold">
                                          <p:stCondLst>
                                            <p:cond delay="0"/>
                                          </p:stCondLst>
                                        </p:cTn>
                                        <p:tgtEl>
                                          <p:spTgt spid="3">
                                            <p:txEl>
                                              <p:pRg st="8" end="8"/>
                                            </p:txEl>
                                          </p:spTgt>
                                        </p:tgtEl>
                                        <p:attrNameLst>
                                          <p:attrName>style.visibility</p:attrName>
                                        </p:attrNameLst>
                                      </p:cBhvr>
                                      <p:to>
                                        <p:strVal val="visible"/>
                                      </p:to>
                                    </p:set>
                                    <p:animEffect transition="in" filter="fade">
                                      <p:cBhvr>
                                        <p:cTn id="79" dur="500"/>
                                        <p:tgtEl>
                                          <p:spTgt spid="3">
                                            <p:txEl>
                                              <p:pRg st="8" end="8"/>
                                            </p:txEl>
                                          </p:spTgt>
                                        </p:tgtEl>
                                      </p:cBhvr>
                                    </p:animEffect>
                                  </p:childTnLst>
                                </p:cTn>
                              </p:par>
                              <p:par>
                                <p:cTn id="80" presetID="10" presetClass="entr" presetSubtype="0" fill="hold" nodeType="withEffect">
                                  <p:stCondLst>
                                    <p:cond delay="0"/>
                                  </p:stCondLst>
                                  <p:childTnLst>
                                    <p:set>
                                      <p:cBhvr>
                                        <p:cTn id="81" dur="1" fill="hold">
                                          <p:stCondLst>
                                            <p:cond delay="0"/>
                                          </p:stCondLst>
                                        </p:cTn>
                                        <p:tgtEl>
                                          <p:spTgt spid="3">
                                            <p:txEl>
                                              <p:pRg st="9" end="9"/>
                                            </p:txEl>
                                          </p:spTgt>
                                        </p:tgtEl>
                                        <p:attrNameLst>
                                          <p:attrName>style.visibility</p:attrName>
                                        </p:attrNameLst>
                                      </p:cBhvr>
                                      <p:to>
                                        <p:strVal val="visible"/>
                                      </p:to>
                                    </p:set>
                                    <p:animEffect transition="in" filter="fade">
                                      <p:cBhvr>
                                        <p:cTn id="82" dur="500"/>
                                        <p:tgtEl>
                                          <p:spTgt spid="3">
                                            <p:txEl>
                                              <p:pRg st="9" end="9"/>
                                            </p:txEl>
                                          </p:spTgt>
                                        </p:tgtEl>
                                      </p:cBhvr>
                                    </p:animEffect>
                                  </p:childTnLst>
                                </p:cTn>
                              </p:par>
                              <p:par>
                                <p:cTn id="83" presetID="10" presetClass="entr" presetSubtype="0" fill="hold" nodeType="withEffect">
                                  <p:stCondLst>
                                    <p:cond delay="0"/>
                                  </p:stCondLst>
                                  <p:childTnLst>
                                    <p:set>
                                      <p:cBhvr>
                                        <p:cTn id="84" dur="1" fill="hold">
                                          <p:stCondLst>
                                            <p:cond delay="0"/>
                                          </p:stCondLst>
                                        </p:cTn>
                                        <p:tgtEl>
                                          <p:spTgt spid="3">
                                            <p:txEl>
                                              <p:pRg st="10" end="10"/>
                                            </p:txEl>
                                          </p:spTgt>
                                        </p:tgtEl>
                                        <p:attrNameLst>
                                          <p:attrName>style.visibility</p:attrName>
                                        </p:attrNameLst>
                                      </p:cBhvr>
                                      <p:to>
                                        <p:strVal val="visible"/>
                                      </p:to>
                                    </p:set>
                                    <p:animEffect transition="in" filter="fade">
                                      <p:cBhvr>
                                        <p:cTn id="85" dur="500"/>
                                        <p:tgtEl>
                                          <p:spTgt spid="3">
                                            <p:txEl>
                                              <p:pRg st="10" end="1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3">
                                            <p:txEl>
                                              <p:pRg st="11" end="11"/>
                                            </p:txEl>
                                          </p:spTgt>
                                        </p:tgtEl>
                                        <p:attrNameLst>
                                          <p:attrName>style.visibility</p:attrName>
                                        </p:attrNameLst>
                                      </p:cBhvr>
                                      <p:to>
                                        <p:strVal val="visible"/>
                                      </p:to>
                                    </p:set>
                                    <p:animEffect transition="in" filter="fade">
                                      <p:cBhvr>
                                        <p:cTn id="90" dur="500"/>
                                        <p:tgtEl>
                                          <p:spTgt spid="3">
                                            <p:txEl>
                                              <p:pRg st="11" end="11"/>
                                            </p:txEl>
                                          </p:spTgt>
                                        </p:tgtEl>
                                      </p:cBhvr>
                                    </p:animEffect>
                                  </p:childTnLst>
                                </p:cTn>
                              </p:par>
                              <p:par>
                                <p:cTn id="91" presetID="10" presetClass="entr" presetSubtype="0" fill="hold" nodeType="withEffect">
                                  <p:stCondLst>
                                    <p:cond delay="0"/>
                                  </p:stCondLst>
                                  <p:childTnLst>
                                    <p:set>
                                      <p:cBhvr>
                                        <p:cTn id="92" dur="1" fill="hold">
                                          <p:stCondLst>
                                            <p:cond delay="0"/>
                                          </p:stCondLst>
                                        </p:cTn>
                                        <p:tgtEl>
                                          <p:spTgt spid="3">
                                            <p:txEl>
                                              <p:pRg st="12" end="12"/>
                                            </p:txEl>
                                          </p:spTgt>
                                        </p:tgtEl>
                                        <p:attrNameLst>
                                          <p:attrName>style.visibility</p:attrName>
                                        </p:attrNameLst>
                                      </p:cBhvr>
                                      <p:to>
                                        <p:strVal val="visible"/>
                                      </p:to>
                                    </p:set>
                                    <p:animEffect transition="in" filter="fade">
                                      <p:cBhvr>
                                        <p:cTn id="93" dur="500"/>
                                        <p:tgtEl>
                                          <p:spTgt spid="3">
                                            <p:txEl>
                                              <p:pRg st="12" end="12"/>
                                            </p:txEl>
                                          </p:spTgt>
                                        </p:tgtEl>
                                      </p:cBhvr>
                                    </p:animEffect>
                                  </p:childTnLst>
                                </p:cTn>
                              </p:par>
                              <p:par>
                                <p:cTn id="94" presetID="10" presetClass="entr" presetSubtype="0" fill="hold" nodeType="withEffect">
                                  <p:stCondLst>
                                    <p:cond delay="0"/>
                                  </p:stCondLst>
                                  <p:childTnLst>
                                    <p:set>
                                      <p:cBhvr>
                                        <p:cTn id="95" dur="1" fill="hold">
                                          <p:stCondLst>
                                            <p:cond delay="0"/>
                                          </p:stCondLst>
                                        </p:cTn>
                                        <p:tgtEl>
                                          <p:spTgt spid="3">
                                            <p:txEl>
                                              <p:pRg st="13" end="13"/>
                                            </p:txEl>
                                          </p:spTgt>
                                        </p:tgtEl>
                                        <p:attrNameLst>
                                          <p:attrName>style.visibility</p:attrName>
                                        </p:attrNameLst>
                                      </p:cBhvr>
                                      <p:to>
                                        <p:strVal val="visible"/>
                                      </p:to>
                                    </p:set>
                                    <p:animEffect transition="in" filter="fade">
                                      <p:cBhvr>
                                        <p:cTn id="96"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5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2DA1FA-9B04-2E5B-E516-478253CDC9AF}"/>
              </a:ext>
            </a:extLst>
          </p:cNvPr>
          <p:cNvSpPr>
            <a:spLocks noGrp="1"/>
          </p:cNvSpPr>
          <p:nvPr>
            <p:ph type="title"/>
          </p:nvPr>
        </p:nvSpPr>
        <p:spPr/>
        <p:txBody>
          <a:bodyPr/>
          <a:lstStyle/>
          <a:p>
            <a:r>
              <a:rPr kumimoji="1" lang="en-US" altLang="zh-TW" dirty="0"/>
              <a:t>File</a:t>
            </a:r>
            <a:r>
              <a:rPr kumimoji="1" lang="zh-TW" altLang="en-US" dirty="0"/>
              <a:t> </a:t>
            </a:r>
            <a:r>
              <a:rPr kumimoji="1" lang="en-US" altLang="zh-TW" dirty="0"/>
              <a:t>System</a:t>
            </a:r>
            <a:endParaRPr kumimoji="1" lang="zh-TW" altLang="en-US" dirty="0"/>
          </a:p>
        </p:txBody>
      </p:sp>
      <p:sp>
        <p:nvSpPr>
          <p:cNvPr id="3" name="內容版面配置區 2">
            <a:extLst>
              <a:ext uri="{FF2B5EF4-FFF2-40B4-BE49-F238E27FC236}">
                <a16:creationId xmlns:a16="http://schemas.microsoft.com/office/drawing/2014/main" id="{794A23E4-FA12-AF97-3BCA-FCCA13BED030}"/>
              </a:ext>
            </a:extLst>
          </p:cNvPr>
          <p:cNvSpPr>
            <a:spLocks noGrp="1"/>
          </p:cNvSpPr>
          <p:nvPr>
            <p:ph idx="1"/>
          </p:nvPr>
        </p:nvSpPr>
        <p:spPr/>
        <p:txBody>
          <a:bodyPr/>
          <a:lstStyle/>
          <a:p>
            <a:r>
              <a:rPr kumimoji="1" lang="en-US" altLang="zh-TW" dirty="0"/>
              <a:t>Virtual</a:t>
            </a:r>
            <a:r>
              <a:rPr kumimoji="1" lang="zh-TW" altLang="en-US" dirty="0"/>
              <a:t> </a:t>
            </a:r>
            <a:r>
              <a:rPr kumimoji="1" lang="en-US" altLang="zh-TW" dirty="0"/>
              <a:t>File</a:t>
            </a:r>
            <a:r>
              <a:rPr kumimoji="1" lang="zh-TW" altLang="en-US" dirty="0"/>
              <a:t> </a:t>
            </a:r>
            <a:r>
              <a:rPr kumimoji="1" lang="en-US" altLang="zh-TW" dirty="0"/>
              <a:t>System</a:t>
            </a:r>
          </a:p>
          <a:p>
            <a:r>
              <a:rPr lang="en-US" altLang="zh-TW" dirty="0"/>
              <a:t>File</a:t>
            </a:r>
            <a:r>
              <a:rPr lang="zh-TW" altLang="en-US" dirty="0"/>
              <a:t> </a:t>
            </a:r>
            <a:r>
              <a:rPr lang="en-US" altLang="zh-TW" dirty="0"/>
              <a:t>System</a:t>
            </a:r>
          </a:p>
          <a:p>
            <a:pPr lvl="1"/>
            <a:r>
              <a:rPr lang="en-US" altLang="zh-TW" dirty="0"/>
              <a:t>Organization (Files &amp; Directories)</a:t>
            </a:r>
          </a:p>
          <a:p>
            <a:pPr lvl="1"/>
            <a:r>
              <a:rPr lang="en-US" altLang="zh-TW" dirty="0"/>
              <a:t>Interface (Functions)</a:t>
            </a:r>
          </a:p>
          <a:p>
            <a:r>
              <a:rPr lang="en-US" altLang="zh-TW" dirty="0"/>
              <a:t>Page</a:t>
            </a:r>
            <a:r>
              <a:rPr lang="zh-TW" altLang="en-US" dirty="0"/>
              <a:t> </a:t>
            </a:r>
            <a:r>
              <a:rPr lang="en-US" altLang="zh-TW" dirty="0"/>
              <a:t>Cache</a:t>
            </a:r>
          </a:p>
          <a:p>
            <a:pPr lvl="1"/>
            <a:r>
              <a:rPr lang="en-US" altLang="zh-TW" dirty="0"/>
              <a:t>Cache</a:t>
            </a:r>
            <a:r>
              <a:rPr lang="zh-TW" altLang="en-US" dirty="0"/>
              <a:t> </a:t>
            </a:r>
            <a:r>
              <a:rPr lang="en-US" altLang="zh-TW" dirty="0"/>
              <a:t>Eviction</a:t>
            </a:r>
            <a:r>
              <a:rPr lang="zh-TW" altLang="en-US" dirty="0"/>
              <a:t> </a:t>
            </a:r>
            <a:r>
              <a:rPr lang="en-US" altLang="zh-TW" dirty="0"/>
              <a:t>(Linux</a:t>
            </a:r>
            <a:r>
              <a:rPr lang="zh-TW" altLang="en-US" dirty="0"/>
              <a:t> </a:t>
            </a:r>
            <a:r>
              <a:rPr lang="en-US" altLang="zh-TW" dirty="0"/>
              <a:t>Two-List</a:t>
            </a:r>
            <a:r>
              <a:rPr lang="zh-TW" altLang="en-US" dirty="0"/>
              <a:t> </a:t>
            </a:r>
            <a:r>
              <a:rPr lang="en-US" altLang="zh-TW" dirty="0"/>
              <a:t>Strategy)</a:t>
            </a:r>
          </a:p>
          <a:p>
            <a:pPr lvl="1"/>
            <a:r>
              <a:rPr lang="en-US" altLang="zh-TW" dirty="0"/>
              <a:t>The</a:t>
            </a:r>
            <a:r>
              <a:rPr lang="zh-TW" altLang="en-US" dirty="0"/>
              <a:t> </a:t>
            </a:r>
            <a:r>
              <a:rPr lang="en-US" altLang="zh-TW" dirty="0"/>
              <a:t>Flusher</a:t>
            </a:r>
            <a:r>
              <a:rPr lang="zh-TW" altLang="en-US" dirty="0"/>
              <a:t> </a:t>
            </a:r>
            <a:r>
              <a:rPr lang="en-US" altLang="zh-TW" dirty="0"/>
              <a:t>Threads</a:t>
            </a:r>
          </a:p>
          <a:p>
            <a:r>
              <a:rPr lang="en-US" altLang="zh-TW" dirty="0"/>
              <a:t>Memory</a:t>
            </a:r>
            <a:r>
              <a:rPr lang="zh-TW" altLang="en-US" dirty="0"/>
              <a:t> </a:t>
            </a:r>
            <a:r>
              <a:rPr lang="en-US" altLang="zh-TW" dirty="0"/>
              <a:t>Mapping</a:t>
            </a:r>
            <a:r>
              <a:rPr lang="zh-TW" altLang="en-US" dirty="0"/>
              <a:t> </a:t>
            </a:r>
            <a:r>
              <a:rPr lang="en-US" altLang="zh-TW" dirty="0"/>
              <a:t>(</a:t>
            </a:r>
            <a:r>
              <a:rPr lang="en-US" altLang="zh-TW" dirty="0" err="1"/>
              <a:t>mmap</a:t>
            </a:r>
            <a:r>
              <a:rPr lang="en-US" altLang="zh-TW" dirty="0"/>
              <a:t>)</a:t>
            </a:r>
          </a:p>
          <a:p>
            <a:r>
              <a:rPr lang="en-US" altLang="zh-TW" dirty="0"/>
              <a:t>Advance</a:t>
            </a:r>
            <a:r>
              <a:rPr lang="zh-TW" altLang="en-US" dirty="0"/>
              <a:t> </a:t>
            </a:r>
            <a:r>
              <a:rPr lang="en-US" altLang="zh-TW" dirty="0"/>
              <a:t>Research</a:t>
            </a:r>
            <a:r>
              <a:rPr lang="zh-TW" altLang="en-US" dirty="0"/>
              <a:t> </a:t>
            </a:r>
            <a:r>
              <a:rPr lang="en-US" altLang="zh-TW" dirty="0"/>
              <a:t>Topic:</a:t>
            </a:r>
          </a:p>
          <a:p>
            <a:pPr lvl="1"/>
            <a:r>
              <a:rPr lang="en-US" altLang="zh-TW" dirty="0"/>
              <a:t>In-Memory</a:t>
            </a:r>
            <a:r>
              <a:rPr lang="zh-TW" altLang="en-US" dirty="0"/>
              <a:t> </a:t>
            </a:r>
            <a:r>
              <a:rPr lang="en-US" altLang="zh-TW" dirty="0"/>
              <a:t>File</a:t>
            </a:r>
            <a:r>
              <a:rPr lang="zh-TW" altLang="en-US" dirty="0"/>
              <a:t> </a:t>
            </a:r>
            <a:r>
              <a:rPr lang="en-US" altLang="zh-TW" dirty="0"/>
              <a:t>System</a:t>
            </a:r>
          </a:p>
          <a:p>
            <a:pPr lvl="1"/>
            <a:endParaRPr kumimoji="1" lang="en-US" altLang="zh-TW" dirty="0"/>
          </a:p>
        </p:txBody>
      </p:sp>
      <p:sp>
        <p:nvSpPr>
          <p:cNvPr id="4" name="投影片編號版面配置區 3">
            <a:extLst>
              <a:ext uri="{FF2B5EF4-FFF2-40B4-BE49-F238E27FC236}">
                <a16:creationId xmlns:a16="http://schemas.microsoft.com/office/drawing/2014/main" id="{91AE2619-3F0E-2ADE-FD9B-43C3CD788C1B}"/>
              </a:ext>
            </a:extLst>
          </p:cNvPr>
          <p:cNvSpPr>
            <a:spLocks noGrp="1"/>
          </p:cNvSpPr>
          <p:nvPr>
            <p:ph type="sldNum" sz="quarter" idx="4"/>
          </p:nvPr>
        </p:nvSpPr>
        <p:spPr/>
        <p:txBody>
          <a:bodyPr/>
          <a:lstStyle/>
          <a:p>
            <a:fld id="{E24E6636-6BA5-4AAC-8485-BE8D914D288B}" type="slidenum">
              <a:rPr lang="zh-TW" altLang="en-US" smtClean="0"/>
              <a:pPr/>
              <a:t>20</a:t>
            </a:fld>
            <a:endParaRPr lang="zh-TW" altLang="en-US" dirty="0"/>
          </a:p>
        </p:txBody>
      </p:sp>
      <p:sp>
        <p:nvSpPr>
          <p:cNvPr id="7" name="矩形 57">
            <a:extLst>
              <a:ext uri="{FF2B5EF4-FFF2-40B4-BE49-F238E27FC236}">
                <a16:creationId xmlns:a16="http://schemas.microsoft.com/office/drawing/2014/main" id="{B33EBE6E-E909-7D66-1616-C2D132C6A5E0}"/>
              </a:ext>
            </a:extLst>
          </p:cNvPr>
          <p:cNvSpPr/>
          <p:nvPr/>
        </p:nvSpPr>
        <p:spPr>
          <a:xfrm>
            <a:off x="9713254" y="978102"/>
            <a:ext cx="1567121" cy="540000"/>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Process</a:t>
            </a:r>
            <a:endParaRPr kumimoji="1" lang="zh-TW" altLang="en-US" sz="1600" dirty="0">
              <a:solidFill>
                <a:schemeClr val="tx1"/>
              </a:solidFill>
              <a:cs typeface="Arial" panose="020B0604020202020204" pitchFamily="34" charset="0"/>
            </a:endParaRPr>
          </a:p>
        </p:txBody>
      </p:sp>
      <p:sp>
        <p:nvSpPr>
          <p:cNvPr id="8" name="矩形 57">
            <a:extLst>
              <a:ext uri="{FF2B5EF4-FFF2-40B4-BE49-F238E27FC236}">
                <a16:creationId xmlns:a16="http://schemas.microsoft.com/office/drawing/2014/main" id="{75C8E702-BCEA-E6F6-A338-3693260AEFCC}"/>
              </a:ext>
            </a:extLst>
          </p:cNvPr>
          <p:cNvSpPr/>
          <p:nvPr/>
        </p:nvSpPr>
        <p:spPr>
          <a:xfrm>
            <a:off x="9713254" y="2288100"/>
            <a:ext cx="1567121"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Virtual</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File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System</a:t>
            </a:r>
            <a:endParaRPr kumimoji="1" lang="zh-TW" altLang="en-US" sz="1600" dirty="0">
              <a:solidFill>
                <a:schemeClr val="tx1"/>
              </a:solidFill>
              <a:cs typeface="Arial" panose="020B0604020202020204" pitchFamily="34" charset="0"/>
            </a:endParaRPr>
          </a:p>
        </p:txBody>
      </p:sp>
      <p:sp>
        <p:nvSpPr>
          <p:cNvPr id="9" name="矩形 57">
            <a:extLst>
              <a:ext uri="{FF2B5EF4-FFF2-40B4-BE49-F238E27FC236}">
                <a16:creationId xmlns:a16="http://schemas.microsoft.com/office/drawing/2014/main" id="{98F0E8B8-B258-F2E6-EB7E-05790719EAC4}"/>
              </a:ext>
            </a:extLst>
          </p:cNvPr>
          <p:cNvSpPr/>
          <p:nvPr/>
        </p:nvSpPr>
        <p:spPr>
          <a:xfrm>
            <a:off x="9713255" y="3067183"/>
            <a:ext cx="921104"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Page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Cache</a:t>
            </a:r>
            <a:endParaRPr kumimoji="1" lang="zh-TW" altLang="en-US" sz="1600" dirty="0">
              <a:solidFill>
                <a:schemeClr val="tx1"/>
              </a:solidFill>
              <a:cs typeface="Arial" panose="020B0604020202020204" pitchFamily="34" charset="0"/>
            </a:endParaRPr>
          </a:p>
        </p:txBody>
      </p:sp>
      <p:sp>
        <p:nvSpPr>
          <p:cNvPr id="10" name="矩形 57">
            <a:extLst>
              <a:ext uri="{FF2B5EF4-FFF2-40B4-BE49-F238E27FC236}">
                <a16:creationId xmlns:a16="http://schemas.microsoft.com/office/drawing/2014/main" id="{F2CBB324-9BD8-F157-68CD-FF4535E88D27}"/>
              </a:ext>
            </a:extLst>
          </p:cNvPr>
          <p:cNvSpPr/>
          <p:nvPr/>
        </p:nvSpPr>
        <p:spPr>
          <a:xfrm>
            <a:off x="9713254" y="3846266"/>
            <a:ext cx="1567121" cy="540000"/>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Mapping</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Layer</a:t>
            </a:r>
            <a:br>
              <a:rPr kumimoji="1" lang="en-US" altLang="zh-TW" sz="1600" dirty="0">
                <a:solidFill>
                  <a:schemeClr val="tx1"/>
                </a:solidFill>
                <a:cs typeface="Arial" panose="020B0604020202020204" pitchFamily="34" charset="0"/>
              </a:rPr>
            </a:br>
            <a:r>
              <a:rPr kumimoji="1" lang="en-US" altLang="zh-TW" sz="1600" dirty="0">
                <a:solidFill>
                  <a:schemeClr val="tx1"/>
                </a:solidFill>
                <a:cs typeface="Arial" panose="020B0604020202020204" pitchFamily="34" charset="0"/>
              </a:rPr>
              <a:t>(FS</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Specific)</a:t>
            </a:r>
            <a:endParaRPr kumimoji="1" lang="zh-TW" altLang="en-US" sz="1600" dirty="0">
              <a:solidFill>
                <a:schemeClr val="tx1"/>
              </a:solidFill>
              <a:cs typeface="Arial" panose="020B0604020202020204" pitchFamily="34" charset="0"/>
            </a:endParaRPr>
          </a:p>
        </p:txBody>
      </p:sp>
      <p:sp>
        <p:nvSpPr>
          <p:cNvPr id="11" name="矩形 57">
            <a:extLst>
              <a:ext uri="{FF2B5EF4-FFF2-40B4-BE49-F238E27FC236}">
                <a16:creationId xmlns:a16="http://schemas.microsoft.com/office/drawing/2014/main" id="{95487C6D-4EB2-7E94-1BAE-03A5C5D33644}"/>
              </a:ext>
            </a:extLst>
          </p:cNvPr>
          <p:cNvSpPr/>
          <p:nvPr/>
        </p:nvSpPr>
        <p:spPr>
          <a:xfrm>
            <a:off x="9713254" y="4625349"/>
            <a:ext cx="1567121" cy="540000"/>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Block</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I/O</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Layer</a:t>
            </a:r>
            <a:endParaRPr kumimoji="1" lang="zh-TW" altLang="en-US" sz="1600" dirty="0">
              <a:solidFill>
                <a:schemeClr val="tx1"/>
              </a:solidFill>
              <a:cs typeface="Arial" panose="020B0604020202020204" pitchFamily="34" charset="0"/>
            </a:endParaRPr>
          </a:p>
        </p:txBody>
      </p:sp>
      <p:sp>
        <p:nvSpPr>
          <p:cNvPr id="12" name="矩形 57">
            <a:extLst>
              <a:ext uri="{FF2B5EF4-FFF2-40B4-BE49-F238E27FC236}">
                <a16:creationId xmlns:a16="http://schemas.microsoft.com/office/drawing/2014/main" id="{770B3F0B-F4C6-A522-7F69-E7FB1CD315FD}"/>
              </a:ext>
            </a:extLst>
          </p:cNvPr>
          <p:cNvSpPr/>
          <p:nvPr/>
        </p:nvSpPr>
        <p:spPr>
          <a:xfrm>
            <a:off x="9713254" y="5404432"/>
            <a:ext cx="1567121" cy="540000"/>
          </a:xfrm>
          <a:prstGeom prst="rect">
            <a:avLst/>
          </a:prstGeom>
          <a:solidFill>
            <a:schemeClr val="accent6">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Block</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Device</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Driver</a:t>
            </a:r>
            <a:endParaRPr kumimoji="1" lang="zh-TW" altLang="en-US" sz="1600" dirty="0">
              <a:solidFill>
                <a:schemeClr val="tx1"/>
              </a:solidFill>
              <a:cs typeface="Arial" panose="020B0604020202020204" pitchFamily="34" charset="0"/>
            </a:endParaRPr>
          </a:p>
        </p:txBody>
      </p:sp>
      <p:sp>
        <p:nvSpPr>
          <p:cNvPr id="13" name="矩形 57">
            <a:extLst>
              <a:ext uri="{FF2B5EF4-FFF2-40B4-BE49-F238E27FC236}">
                <a16:creationId xmlns:a16="http://schemas.microsoft.com/office/drawing/2014/main" id="{56B6D599-B2F6-6018-9ABE-CF394F1B3AB2}"/>
              </a:ext>
            </a:extLst>
          </p:cNvPr>
          <p:cNvSpPr/>
          <p:nvPr/>
        </p:nvSpPr>
        <p:spPr>
          <a:xfrm>
            <a:off x="9713254" y="6183514"/>
            <a:ext cx="1567121" cy="540000"/>
          </a:xfrm>
          <a:prstGeom prst="rect">
            <a:avLst/>
          </a:prstGeom>
          <a:solidFill>
            <a:srgbClr val="F2F2F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solidFill>
                  <a:schemeClr val="tx1"/>
                </a:solidFill>
                <a:cs typeface="Arial" panose="020B0604020202020204" pitchFamily="34" charset="0"/>
              </a:rPr>
              <a:t>Devices</a:t>
            </a:r>
            <a:r>
              <a:rPr kumimoji="1" lang="zh-TW" altLang="en-US" sz="1600" dirty="0">
                <a:solidFill>
                  <a:schemeClr val="tx1"/>
                </a:solidFill>
                <a:cs typeface="Arial" panose="020B0604020202020204" pitchFamily="34" charset="0"/>
              </a:rPr>
              <a:t> </a:t>
            </a:r>
            <a:endParaRPr kumimoji="1" lang="en-US" altLang="zh-TW" sz="1600" dirty="0">
              <a:solidFill>
                <a:schemeClr val="tx1"/>
              </a:solidFill>
              <a:cs typeface="Arial" panose="020B0604020202020204" pitchFamily="34" charset="0"/>
            </a:endParaRPr>
          </a:p>
          <a:p>
            <a:pPr algn="ctr"/>
            <a:r>
              <a:rPr kumimoji="1" lang="en-US" altLang="zh-TW" sz="1600" dirty="0">
                <a:solidFill>
                  <a:schemeClr val="tx1"/>
                </a:solidFill>
                <a:cs typeface="Arial" panose="020B0604020202020204" pitchFamily="34" charset="0"/>
              </a:rPr>
              <a:t>(e.g.,</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HDD,</a:t>
            </a:r>
            <a:r>
              <a:rPr kumimoji="1" lang="zh-TW" altLang="en-US" sz="1600" dirty="0">
                <a:solidFill>
                  <a:schemeClr val="tx1"/>
                </a:solidFill>
                <a:cs typeface="Arial" panose="020B0604020202020204" pitchFamily="34" charset="0"/>
              </a:rPr>
              <a:t> </a:t>
            </a:r>
            <a:r>
              <a:rPr kumimoji="1" lang="en-US" altLang="zh-TW" sz="1600" dirty="0">
                <a:solidFill>
                  <a:schemeClr val="tx1"/>
                </a:solidFill>
                <a:cs typeface="Arial" panose="020B0604020202020204" pitchFamily="34" charset="0"/>
              </a:rPr>
              <a:t>SSD)</a:t>
            </a:r>
            <a:endParaRPr kumimoji="1" lang="zh-TW" altLang="en-US" sz="1600" dirty="0">
              <a:solidFill>
                <a:schemeClr val="tx1"/>
              </a:solidFill>
              <a:cs typeface="Arial" panose="020B0604020202020204" pitchFamily="34" charset="0"/>
            </a:endParaRPr>
          </a:p>
        </p:txBody>
      </p:sp>
      <p:cxnSp>
        <p:nvCxnSpPr>
          <p:cNvPr id="14" name="直線接點 13">
            <a:extLst>
              <a:ext uri="{FF2B5EF4-FFF2-40B4-BE49-F238E27FC236}">
                <a16:creationId xmlns:a16="http://schemas.microsoft.com/office/drawing/2014/main" id="{8F5E330E-6CD5-013D-D989-0128FEF60ACF}"/>
              </a:ext>
            </a:extLst>
          </p:cNvPr>
          <p:cNvCxnSpPr>
            <a:cxnSpLocks/>
          </p:cNvCxnSpPr>
          <p:nvPr/>
        </p:nvCxnSpPr>
        <p:spPr>
          <a:xfrm>
            <a:off x="9073896" y="2060330"/>
            <a:ext cx="284583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id="{F62858BC-0ED4-341D-17DC-03EEB7AAC579}"/>
              </a:ext>
            </a:extLst>
          </p:cNvPr>
          <p:cNvSpPr txBox="1"/>
          <p:nvPr/>
        </p:nvSpPr>
        <p:spPr>
          <a:xfrm>
            <a:off x="8979426" y="1723348"/>
            <a:ext cx="570990" cy="338554"/>
          </a:xfrm>
          <a:prstGeom prst="rect">
            <a:avLst/>
          </a:prstGeom>
          <a:noFill/>
        </p:spPr>
        <p:txBody>
          <a:bodyPr wrap="none" rtlCol="0">
            <a:spAutoFit/>
          </a:bodyPr>
          <a:lstStyle/>
          <a:p>
            <a:r>
              <a:rPr kumimoji="1" lang="en-US" altLang="zh-TW" sz="1600" dirty="0"/>
              <a:t>User</a:t>
            </a:r>
            <a:endParaRPr kumimoji="1" lang="zh-TW" altLang="en-US" sz="1600" dirty="0"/>
          </a:p>
        </p:txBody>
      </p:sp>
      <p:sp>
        <p:nvSpPr>
          <p:cNvPr id="16" name="文字方塊 15">
            <a:extLst>
              <a:ext uri="{FF2B5EF4-FFF2-40B4-BE49-F238E27FC236}">
                <a16:creationId xmlns:a16="http://schemas.microsoft.com/office/drawing/2014/main" id="{ED4573EF-9CA5-9920-C267-262D3087E8F2}"/>
              </a:ext>
            </a:extLst>
          </p:cNvPr>
          <p:cNvSpPr txBox="1"/>
          <p:nvPr/>
        </p:nvSpPr>
        <p:spPr>
          <a:xfrm>
            <a:off x="8979426" y="2043084"/>
            <a:ext cx="719556" cy="338554"/>
          </a:xfrm>
          <a:prstGeom prst="rect">
            <a:avLst/>
          </a:prstGeom>
          <a:noFill/>
        </p:spPr>
        <p:txBody>
          <a:bodyPr wrap="none" rtlCol="0">
            <a:spAutoFit/>
          </a:bodyPr>
          <a:lstStyle/>
          <a:p>
            <a:r>
              <a:rPr kumimoji="1" lang="en-US" altLang="zh-TW" sz="1600" dirty="0"/>
              <a:t>Kernel</a:t>
            </a:r>
            <a:endParaRPr kumimoji="1" lang="zh-TW" altLang="en-US" sz="1600" dirty="0"/>
          </a:p>
        </p:txBody>
      </p:sp>
      <p:sp>
        <p:nvSpPr>
          <p:cNvPr id="17" name="文字方塊 16">
            <a:extLst>
              <a:ext uri="{FF2B5EF4-FFF2-40B4-BE49-F238E27FC236}">
                <a16:creationId xmlns:a16="http://schemas.microsoft.com/office/drawing/2014/main" id="{D7F33C77-9F9C-A220-A56A-AB175F6017C8}"/>
              </a:ext>
            </a:extLst>
          </p:cNvPr>
          <p:cNvSpPr txBox="1"/>
          <p:nvPr/>
        </p:nvSpPr>
        <p:spPr>
          <a:xfrm>
            <a:off x="10793743" y="1495260"/>
            <a:ext cx="1095364" cy="584775"/>
          </a:xfrm>
          <a:prstGeom prst="rect">
            <a:avLst/>
          </a:prstGeom>
          <a:noFill/>
        </p:spPr>
        <p:txBody>
          <a:bodyPr wrap="none" rtlCol="0">
            <a:spAutoFit/>
          </a:bodyPr>
          <a:lstStyle/>
          <a:p>
            <a:r>
              <a:rPr kumimoji="1" lang="en-US" altLang="zh-TW" sz="1600" dirty="0"/>
              <a:t>sys_read()</a:t>
            </a:r>
          </a:p>
          <a:p>
            <a:r>
              <a:rPr kumimoji="1" lang="en-US" altLang="zh-TW" sz="1600" dirty="0"/>
              <a:t>sys_write()</a:t>
            </a:r>
            <a:endParaRPr kumimoji="1" lang="zh-TW" altLang="en-US" sz="1600" dirty="0"/>
          </a:p>
        </p:txBody>
      </p:sp>
      <p:cxnSp>
        <p:nvCxnSpPr>
          <p:cNvPr id="18" name="直線箭頭接點 17">
            <a:extLst>
              <a:ext uri="{FF2B5EF4-FFF2-40B4-BE49-F238E27FC236}">
                <a16:creationId xmlns:a16="http://schemas.microsoft.com/office/drawing/2014/main" id="{61C0485E-DBC9-0C94-B8E7-0D48CD16FCBA}"/>
              </a:ext>
            </a:extLst>
          </p:cNvPr>
          <p:cNvCxnSpPr>
            <a:cxnSpLocks/>
          </p:cNvCxnSpPr>
          <p:nvPr/>
        </p:nvCxnSpPr>
        <p:spPr>
          <a:xfrm>
            <a:off x="10941457" y="2828100"/>
            <a:ext cx="0" cy="101816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直線箭頭接點 18">
            <a:extLst>
              <a:ext uri="{FF2B5EF4-FFF2-40B4-BE49-F238E27FC236}">
                <a16:creationId xmlns:a16="http://schemas.microsoft.com/office/drawing/2014/main" id="{A6EC5BAD-77A9-AAA3-894A-86BB9852D34E}"/>
              </a:ext>
            </a:extLst>
          </p:cNvPr>
          <p:cNvCxnSpPr>
            <a:cxnSpLocks/>
            <a:stCxn id="7" idx="2"/>
          </p:cNvCxnSpPr>
          <p:nvPr/>
        </p:nvCxnSpPr>
        <p:spPr>
          <a:xfrm flipH="1">
            <a:off x="10476554" y="1518102"/>
            <a:ext cx="0" cy="77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箭頭接點 19">
            <a:extLst>
              <a:ext uri="{FF2B5EF4-FFF2-40B4-BE49-F238E27FC236}">
                <a16:creationId xmlns:a16="http://schemas.microsoft.com/office/drawing/2014/main" id="{4933A3EC-EBE9-9522-5718-062B601E665D}"/>
              </a:ext>
            </a:extLst>
          </p:cNvPr>
          <p:cNvCxnSpPr>
            <a:cxnSpLocks/>
            <a:stCxn id="12" idx="2"/>
          </p:cNvCxnSpPr>
          <p:nvPr/>
        </p:nvCxnSpPr>
        <p:spPr>
          <a:xfrm flipH="1">
            <a:off x="10496813" y="5944432"/>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箭頭接點 20">
            <a:extLst>
              <a:ext uri="{FF2B5EF4-FFF2-40B4-BE49-F238E27FC236}">
                <a16:creationId xmlns:a16="http://schemas.microsoft.com/office/drawing/2014/main" id="{2FACF51A-67A1-5830-BE4B-14D0B753D279}"/>
              </a:ext>
            </a:extLst>
          </p:cNvPr>
          <p:cNvCxnSpPr>
            <a:cxnSpLocks/>
          </p:cNvCxnSpPr>
          <p:nvPr/>
        </p:nvCxnSpPr>
        <p:spPr>
          <a:xfrm flipH="1">
            <a:off x="10470620" y="5143606"/>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線箭頭接點 21">
            <a:extLst>
              <a:ext uri="{FF2B5EF4-FFF2-40B4-BE49-F238E27FC236}">
                <a16:creationId xmlns:a16="http://schemas.microsoft.com/office/drawing/2014/main" id="{AAA08E83-15B1-6179-85E8-87644925C484}"/>
              </a:ext>
            </a:extLst>
          </p:cNvPr>
          <p:cNvCxnSpPr>
            <a:cxnSpLocks/>
          </p:cNvCxnSpPr>
          <p:nvPr/>
        </p:nvCxnSpPr>
        <p:spPr>
          <a:xfrm flipH="1">
            <a:off x="10470618" y="4386266"/>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直線箭頭接點 22">
            <a:extLst>
              <a:ext uri="{FF2B5EF4-FFF2-40B4-BE49-F238E27FC236}">
                <a16:creationId xmlns:a16="http://schemas.microsoft.com/office/drawing/2014/main" id="{0E7991CC-87B9-E248-099F-D716630A20DC}"/>
              </a:ext>
            </a:extLst>
          </p:cNvPr>
          <p:cNvCxnSpPr>
            <a:cxnSpLocks/>
          </p:cNvCxnSpPr>
          <p:nvPr/>
        </p:nvCxnSpPr>
        <p:spPr>
          <a:xfrm flipH="1">
            <a:off x="10167873" y="3606034"/>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箭頭接點 23">
            <a:extLst>
              <a:ext uri="{FF2B5EF4-FFF2-40B4-BE49-F238E27FC236}">
                <a16:creationId xmlns:a16="http://schemas.microsoft.com/office/drawing/2014/main" id="{DBB24427-37FF-3B4E-3D42-4EAD5D57BE56}"/>
              </a:ext>
            </a:extLst>
          </p:cNvPr>
          <p:cNvCxnSpPr>
            <a:cxnSpLocks/>
          </p:cNvCxnSpPr>
          <p:nvPr/>
        </p:nvCxnSpPr>
        <p:spPr>
          <a:xfrm flipH="1">
            <a:off x="10167871" y="2818632"/>
            <a:ext cx="2" cy="23862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D6DE7510-76D1-1FE9-C6DC-F75CF9802C1E}"/>
              </a:ext>
            </a:extLst>
          </p:cNvPr>
          <p:cNvSpPr/>
          <p:nvPr/>
        </p:nvSpPr>
        <p:spPr>
          <a:xfrm>
            <a:off x="9698982" y="2276556"/>
            <a:ext cx="1581393" cy="2098611"/>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029577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fade">
                                      <p:cBhvr>
                                        <p:cTn id="18" dur="500"/>
                                        <p:tgtEl>
                                          <p:spTgt spid="3">
                                            <p:txEl>
                                              <p:pRg st="7" end="7"/>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fade">
                                      <p:cBhvr>
                                        <p:cTn id="23" dur="500"/>
                                        <p:tgtEl>
                                          <p:spTgt spid="3">
                                            <p:txEl>
                                              <p:pRg st="8" end="8"/>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fade">
                                      <p:cBhvr>
                                        <p:cTn id="2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2DA1FA-9B04-2E5B-E516-478253CDC9AF}"/>
              </a:ext>
            </a:extLst>
          </p:cNvPr>
          <p:cNvSpPr>
            <a:spLocks noGrp="1"/>
          </p:cNvSpPr>
          <p:nvPr>
            <p:ph type="title"/>
          </p:nvPr>
        </p:nvSpPr>
        <p:spPr/>
        <p:txBody>
          <a:bodyPr/>
          <a:lstStyle/>
          <a:p>
            <a:r>
              <a:rPr kumimoji="1" lang="en-US" altLang="zh-TW" dirty="0"/>
              <a:t>Applications</a:t>
            </a:r>
            <a:r>
              <a:rPr kumimoji="1" lang="zh-TW" altLang="en-US" dirty="0"/>
              <a:t> </a:t>
            </a:r>
            <a:r>
              <a:rPr lang="en-US" altLang="zh-TW" dirty="0"/>
              <a:t>(Optional)</a:t>
            </a:r>
            <a:endParaRPr kumimoji="1" lang="zh-TW" altLang="en-US" dirty="0"/>
          </a:p>
        </p:txBody>
      </p:sp>
      <p:sp>
        <p:nvSpPr>
          <p:cNvPr id="3" name="內容版面配置區 2">
            <a:extLst>
              <a:ext uri="{FF2B5EF4-FFF2-40B4-BE49-F238E27FC236}">
                <a16:creationId xmlns:a16="http://schemas.microsoft.com/office/drawing/2014/main" id="{794A23E4-FA12-AF97-3BCA-FCCA13BED030}"/>
              </a:ext>
            </a:extLst>
          </p:cNvPr>
          <p:cNvSpPr>
            <a:spLocks noGrp="1"/>
          </p:cNvSpPr>
          <p:nvPr>
            <p:ph idx="1"/>
          </p:nvPr>
        </p:nvSpPr>
        <p:spPr/>
        <p:txBody>
          <a:bodyPr>
            <a:normAutofit lnSpcReduction="10000"/>
          </a:bodyPr>
          <a:lstStyle/>
          <a:p>
            <a:r>
              <a:rPr lang="en-US" altLang="zh-TW" dirty="0">
                <a:solidFill>
                  <a:schemeClr val="tx1"/>
                </a:solidFill>
                <a:cs typeface="Arial" panose="020B0604020202020204" pitchFamily="34" charset="0"/>
              </a:rPr>
              <a:t>Graph Systems</a:t>
            </a:r>
          </a:p>
          <a:p>
            <a:pPr lvl="1"/>
            <a:r>
              <a:rPr lang="en-US" altLang="zh-TW" dirty="0">
                <a:solidFill>
                  <a:schemeClr val="tx1"/>
                </a:solidFill>
                <a:cs typeface="Arial" panose="020B0604020202020204" pitchFamily="34" charset="0"/>
              </a:rPr>
              <a:t>How</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to</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run</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graph</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system</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on</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personal</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computer (</a:t>
            </a:r>
            <a:r>
              <a:rPr lang="en-US" altLang="zh-TW" dirty="0" err="1">
                <a:solidFill>
                  <a:schemeClr val="tx1"/>
                </a:solidFill>
                <a:cs typeface="Arial" panose="020B0604020202020204" pitchFamily="34" charset="0"/>
              </a:rPr>
              <a:t>GraphChi</a:t>
            </a:r>
            <a:r>
              <a:rPr lang="en-US" altLang="zh-TW" dirty="0">
                <a:solidFill>
                  <a:schemeClr val="tx1"/>
                </a:solidFill>
                <a:cs typeface="Arial" panose="020B0604020202020204" pitchFamily="34" charset="0"/>
              </a:rPr>
              <a:t>)</a:t>
            </a:r>
          </a:p>
          <a:p>
            <a:pPr lvl="1"/>
            <a:r>
              <a:rPr lang="en-US" altLang="zh-TW" dirty="0">
                <a:solidFill>
                  <a:schemeClr val="tx1"/>
                </a:solidFill>
                <a:cs typeface="Arial" panose="020B0604020202020204" pitchFamily="34" charset="0"/>
              </a:rPr>
              <a:t>How</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to</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process dynamic graph</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a:t>
            </a:r>
            <a:r>
              <a:rPr lang="en-US" altLang="zh-TW" dirty="0" err="1">
                <a:solidFill>
                  <a:schemeClr val="tx1"/>
                </a:solidFill>
                <a:cs typeface="Arial" panose="020B0604020202020204" pitchFamily="34" charset="0"/>
              </a:rPr>
              <a:t>GraphOne</a:t>
            </a:r>
            <a:r>
              <a:rPr lang="en-US" altLang="zh-TW" dirty="0">
                <a:solidFill>
                  <a:schemeClr val="tx1"/>
                </a:solidFill>
                <a:cs typeface="Arial" panose="020B0604020202020204" pitchFamily="34" charset="0"/>
              </a:rPr>
              <a:t>)</a:t>
            </a:r>
          </a:p>
          <a:p>
            <a:r>
              <a:rPr lang="en-US" altLang="zh-TW" dirty="0">
                <a:solidFill>
                  <a:schemeClr val="tx1"/>
                </a:solidFill>
                <a:cs typeface="Arial" panose="020B0604020202020204" pitchFamily="34" charset="0"/>
              </a:rPr>
              <a:t>Deep Recommendation System</a:t>
            </a:r>
          </a:p>
          <a:p>
            <a:pPr lvl="1"/>
            <a:r>
              <a:rPr lang="en-US" altLang="zh-TW" dirty="0">
                <a:solidFill>
                  <a:schemeClr val="tx1"/>
                </a:solidFill>
                <a:cs typeface="Arial" panose="020B0604020202020204" pitchFamily="34" charset="0"/>
              </a:rPr>
              <a:t>General</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Recommendation</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System (Facebook DLRM)</a:t>
            </a:r>
          </a:p>
          <a:p>
            <a:pPr lvl="1"/>
            <a:r>
              <a:rPr lang="en-US" altLang="zh-TW" dirty="0">
                <a:solidFill>
                  <a:schemeClr val="tx1"/>
                </a:solidFill>
                <a:cs typeface="Arial" panose="020B0604020202020204" pitchFamily="34" charset="0"/>
              </a:rPr>
              <a:t>GNN-based</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Social</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Recommendation</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System</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(Jindong </a:t>
            </a:r>
            <a:r>
              <a:rPr lang="en-US" altLang="zh-TW" dirty="0" err="1">
                <a:solidFill>
                  <a:schemeClr val="tx1"/>
                </a:solidFill>
                <a:cs typeface="Arial" panose="020B0604020202020204" pitchFamily="34" charset="0"/>
              </a:rPr>
              <a:t>GraphRec</a:t>
            </a:r>
            <a:r>
              <a:rPr lang="en-US" altLang="zh-TW" dirty="0">
                <a:solidFill>
                  <a:schemeClr val="tx1"/>
                </a:solidFill>
                <a:cs typeface="Arial" panose="020B0604020202020204" pitchFamily="34" charset="0"/>
              </a:rPr>
              <a:t>)</a:t>
            </a:r>
          </a:p>
          <a:p>
            <a:r>
              <a:rPr lang="en-US" altLang="zh-TW" dirty="0">
                <a:solidFill>
                  <a:schemeClr val="tx1"/>
                </a:solidFill>
                <a:cs typeface="Arial" panose="020B0604020202020204" pitchFamily="34" charset="0"/>
              </a:rPr>
              <a:t>Key-Value Database (For Storage)</a:t>
            </a:r>
          </a:p>
          <a:p>
            <a:pPr lvl="1"/>
            <a:r>
              <a:rPr lang="en-US" altLang="zh-TW" dirty="0">
                <a:solidFill>
                  <a:schemeClr val="tx1"/>
                </a:solidFill>
                <a:cs typeface="Arial" panose="020B0604020202020204" pitchFamily="34" charset="0"/>
              </a:rPr>
              <a:t>Log-Structured</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Merged (LSM)</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Database (Google)</a:t>
            </a:r>
          </a:p>
          <a:p>
            <a:pPr lvl="1"/>
            <a:r>
              <a:rPr lang="en-US" altLang="zh-TW" dirty="0">
                <a:solidFill>
                  <a:schemeClr val="tx1"/>
                </a:solidFill>
                <a:cs typeface="Arial" panose="020B0604020202020204" pitchFamily="34" charset="0"/>
              </a:rPr>
              <a:t>LSM</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on</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SSDs</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a:t>
            </a:r>
            <a:r>
              <a:rPr lang="en-US" altLang="zh-TW" dirty="0" err="1">
                <a:solidFill>
                  <a:schemeClr val="tx1"/>
                </a:solidFill>
                <a:cs typeface="Arial" panose="020B0604020202020204" pitchFamily="34" charset="0"/>
              </a:rPr>
              <a:t>WiscKey</a:t>
            </a:r>
            <a:r>
              <a:rPr lang="en-US" altLang="zh-TW" dirty="0">
                <a:solidFill>
                  <a:schemeClr val="tx1"/>
                </a:solidFill>
                <a:cs typeface="Arial" panose="020B0604020202020204" pitchFamily="34" charset="0"/>
              </a:rPr>
              <a:t>)</a:t>
            </a:r>
          </a:p>
          <a:p>
            <a:pPr lvl="1"/>
            <a:r>
              <a:rPr lang="en-US" altLang="zh-TW" dirty="0">
                <a:solidFill>
                  <a:schemeClr val="tx1"/>
                </a:solidFill>
                <a:cs typeface="Arial" panose="020B0604020202020204" pitchFamily="34" charset="0"/>
              </a:rPr>
              <a:t>Learned Index</a:t>
            </a:r>
          </a:p>
          <a:p>
            <a:r>
              <a:rPr lang="en-US" altLang="zh-TW" dirty="0">
                <a:solidFill>
                  <a:schemeClr val="tx1"/>
                </a:solidFill>
                <a:cs typeface="Arial" panose="020B0604020202020204" pitchFamily="34" charset="0"/>
              </a:rPr>
              <a:t>Data Center (Cloud)</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Computing</a:t>
            </a:r>
          </a:p>
          <a:p>
            <a:pPr lvl="1"/>
            <a:r>
              <a:rPr lang="en-US" altLang="zh-TW" dirty="0">
                <a:solidFill>
                  <a:schemeClr val="tx1"/>
                </a:solidFill>
                <a:cs typeface="Arial" panose="020B0604020202020204" pitchFamily="34" charset="0"/>
              </a:rPr>
              <a:t>Data</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Deduplication</a:t>
            </a:r>
          </a:p>
          <a:p>
            <a:pPr lvl="1"/>
            <a:r>
              <a:rPr lang="en-US" altLang="zh-TW" dirty="0">
                <a:solidFill>
                  <a:schemeClr val="tx1"/>
                </a:solidFill>
                <a:cs typeface="Arial" panose="020B0604020202020204" pitchFamily="34" charset="0"/>
              </a:rPr>
              <a:t>In-memory File System</a:t>
            </a:r>
          </a:p>
          <a:p>
            <a:pPr lvl="1"/>
            <a:r>
              <a:rPr lang="en-US" altLang="zh-TW" dirty="0">
                <a:solidFill>
                  <a:schemeClr val="tx1"/>
                </a:solidFill>
                <a:cs typeface="Arial" panose="020B0604020202020204" pitchFamily="34" charset="0"/>
              </a:rPr>
              <a:t>Distributed</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File</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System</a:t>
            </a:r>
            <a:r>
              <a:rPr lang="zh-TW" altLang="en-US" dirty="0">
                <a:solidFill>
                  <a:schemeClr val="tx1"/>
                </a:solidFill>
                <a:cs typeface="Arial" panose="020B0604020202020204" pitchFamily="34" charset="0"/>
              </a:rPr>
              <a:t> </a:t>
            </a:r>
            <a:r>
              <a:rPr lang="en-US" altLang="zh-TW" dirty="0">
                <a:solidFill>
                  <a:schemeClr val="tx1"/>
                </a:solidFill>
                <a:cs typeface="Arial" panose="020B0604020202020204" pitchFamily="34" charset="0"/>
              </a:rPr>
              <a:t>(Ceph)</a:t>
            </a:r>
          </a:p>
          <a:p>
            <a:r>
              <a:rPr lang="en-US" altLang="zh-TW" dirty="0">
                <a:solidFill>
                  <a:schemeClr val="tx1"/>
                </a:solidFill>
                <a:cs typeface="Arial" panose="020B0604020202020204" pitchFamily="34" charset="0"/>
              </a:rPr>
              <a:t>Virtualization Concepts</a:t>
            </a:r>
            <a:endParaRPr lang="en-US" altLang="zh-TW" sz="3200" dirty="0">
              <a:solidFill>
                <a:schemeClr val="tx1"/>
              </a:solidFill>
              <a:cs typeface="Arial" panose="020B0604020202020204" pitchFamily="34" charset="0"/>
            </a:endParaRPr>
          </a:p>
          <a:p>
            <a:endParaRPr kumimoji="1" lang="en-US" altLang="zh-TW" dirty="0"/>
          </a:p>
        </p:txBody>
      </p:sp>
      <p:sp>
        <p:nvSpPr>
          <p:cNvPr id="4" name="投影片編號版面配置區 3">
            <a:extLst>
              <a:ext uri="{FF2B5EF4-FFF2-40B4-BE49-F238E27FC236}">
                <a16:creationId xmlns:a16="http://schemas.microsoft.com/office/drawing/2014/main" id="{91AE2619-3F0E-2ADE-FD9B-43C3CD788C1B}"/>
              </a:ext>
            </a:extLst>
          </p:cNvPr>
          <p:cNvSpPr>
            <a:spLocks noGrp="1"/>
          </p:cNvSpPr>
          <p:nvPr>
            <p:ph type="sldNum" sz="quarter" idx="4"/>
          </p:nvPr>
        </p:nvSpPr>
        <p:spPr/>
        <p:txBody>
          <a:bodyPr/>
          <a:lstStyle/>
          <a:p>
            <a:fld id="{E24E6636-6BA5-4AAC-8485-BE8D914D288B}" type="slidenum">
              <a:rPr lang="zh-TW" altLang="en-US" smtClean="0"/>
              <a:pPr/>
              <a:t>21</a:t>
            </a:fld>
            <a:endParaRPr lang="zh-TW" altLang="en-US" dirty="0"/>
          </a:p>
        </p:txBody>
      </p:sp>
    </p:spTree>
    <p:extLst>
      <p:ext uri="{BB962C8B-B14F-4D97-AF65-F5344CB8AC3E}">
        <p14:creationId xmlns:p14="http://schemas.microsoft.com/office/powerpoint/2010/main" val="2452056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Effect transition="in" filter="fade">
                                      <p:cBhvr>
                                        <p:cTn id="35" dur="500"/>
                                        <p:tgtEl>
                                          <p:spTgt spid="3">
                                            <p:txEl>
                                              <p:pRg st="11" end="1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12" end="12"/>
                                            </p:txEl>
                                          </p:spTgt>
                                        </p:tgtEl>
                                        <p:attrNameLst>
                                          <p:attrName>style.visibility</p:attrName>
                                        </p:attrNameLst>
                                      </p:cBhvr>
                                      <p:to>
                                        <p:strVal val="visible"/>
                                      </p:to>
                                    </p:set>
                                    <p:animEffect transition="in" filter="fade">
                                      <p:cBhvr>
                                        <p:cTn id="38" dur="500"/>
                                        <p:tgtEl>
                                          <p:spTgt spid="3">
                                            <p:txEl>
                                              <p:pRg st="12" end="12"/>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animEffect transition="in" filter="fade">
                                      <p:cBhvr>
                                        <p:cTn id="41" dur="500"/>
                                        <p:tgtEl>
                                          <p:spTgt spid="3">
                                            <p:txEl>
                                              <p:pRg st="13" end="1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14" end="14"/>
                                            </p:txEl>
                                          </p:spTgt>
                                        </p:tgtEl>
                                        <p:attrNameLst>
                                          <p:attrName>style.visibility</p:attrName>
                                        </p:attrNameLst>
                                      </p:cBhvr>
                                      <p:to>
                                        <p:strVal val="visible"/>
                                      </p:to>
                                    </p:set>
                                    <p:animEffect transition="in" filter="fade">
                                      <p:cBhvr>
                                        <p:cTn id="46"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2"/>
          <p:cNvSpPr>
            <a:spLocks noGrp="1"/>
          </p:cNvSpPr>
          <p:nvPr>
            <p:ph type="title"/>
          </p:nvPr>
        </p:nvSpPr>
        <p:spPr>
          <a:xfrm>
            <a:off x="342900" y="2289175"/>
            <a:ext cx="11506200" cy="787400"/>
          </a:xfrm>
        </p:spPr>
        <p:txBody>
          <a:bodyPr>
            <a:normAutofit fontScale="90000"/>
          </a:bodyPr>
          <a:lstStyle/>
          <a:p>
            <a:pPr algn="ctr"/>
            <a:r>
              <a:rPr lang="en-US" altLang="zh-TW" sz="4800" b="0" i="1" dirty="0">
                <a:latin typeface="Palatino Linotype" panose="02040502050505030304" pitchFamily="18" charset="0"/>
                <a:cs typeface="Arial" panose="020B0604020202020204" pitchFamily="34" charset="0"/>
              </a:rPr>
              <a:t>Thanks for your attention</a:t>
            </a:r>
            <a:br>
              <a:rPr lang="en-US" altLang="zh-TW" sz="4800" b="0" i="1" dirty="0">
                <a:latin typeface="Palatino Linotype" panose="02040502050505030304" pitchFamily="18" charset="0"/>
                <a:cs typeface="Arial" panose="020B0604020202020204" pitchFamily="34" charset="0"/>
              </a:rPr>
            </a:br>
            <a:r>
              <a:rPr lang="en-US" altLang="zh-TW" sz="4800" b="0" i="1" dirty="0">
                <a:latin typeface="Palatino Linotype" panose="02040502050505030304" pitchFamily="18" charset="0"/>
                <a:cs typeface="Arial" panose="020B0604020202020204" pitchFamily="34" charset="0"/>
              </a:rPr>
              <a:t>Q &amp; A</a:t>
            </a:r>
            <a:endParaRPr lang="zh-TW" altLang="en-US" sz="4800" b="0" i="1" dirty="0">
              <a:latin typeface="Palatino Linotype" panose="02040502050505030304" pitchFamily="18" charset="0"/>
              <a:cs typeface="Arial" panose="020B0604020202020204" pitchFamily="34" charset="0"/>
            </a:endParaRPr>
          </a:p>
        </p:txBody>
      </p:sp>
      <p:sp>
        <p:nvSpPr>
          <p:cNvPr id="4" name="Slide Number Placeholder 3"/>
          <p:cNvSpPr>
            <a:spLocks noGrp="1"/>
          </p:cNvSpPr>
          <p:nvPr>
            <p:ph type="sldNum" sz="quarter" idx="4"/>
          </p:nvPr>
        </p:nvSpPr>
        <p:spPr/>
        <p:txBody>
          <a:bodyPr/>
          <a:lstStyle/>
          <a:p>
            <a:fld id="{E24E6636-6BA5-4AAC-8485-BE8D914D288B}" type="slidenum">
              <a:rPr lang="zh-TW" altLang="en-US" smtClean="0"/>
              <a:pPr/>
              <a:t>22</a:t>
            </a:fld>
            <a:endParaRPr lang="zh-TW" altLang="en-US" dirty="0"/>
          </a:p>
        </p:txBody>
      </p:sp>
      <p:pic>
        <p:nvPicPr>
          <p:cNvPr id="7" name="圖片 5"/>
          <p:cNvPicPr>
            <a:picLocks noChangeAspect="1"/>
          </p:cNvPicPr>
          <p:nvPr/>
        </p:nvPicPr>
        <p:blipFill>
          <a:blip r:embed="rId3"/>
          <a:stretch>
            <a:fillRect/>
          </a:stretch>
        </p:blipFill>
        <p:spPr>
          <a:xfrm>
            <a:off x="7581403" y="3159125"/>
            <a:ext cx="4610596" cy="3508375"/>
          </a:xfrm>
          <a:prstGeom prst="rect">
            <a:avLst/>
          </a:prstGeom>
        </p:spPr>
      </p:pic>
      <p:pic>
        <p:nvPicPr>
          <p:cNvPr id="3" name="圖片 2"/>
          <p:cNvPicPr>
            <a:picLocks noChangeAspect="1"/>
          </p:cNvPicPr>
          <p:nvPr/>
        </p:nvPicPr>
        <p:blipFill>
          <a:blip r:embed="rId4"/>
          <a:stretch>
            <a:fillRect/>
          </a:stretch>
        </p:blipFill>
        <p:spPr>
          <a:xfrm>
            <a:off x="0" y="2501900"/>
            <a:ext cx="5012719" cy="4356100"/>
          </a:xfrm>
          <a:prstGeom prst="rect">
            <a:avLst/>
          </a:prstGeom>
        </p:spPr>
      </p:pic>
    </p:spTree>
    <p:extLst>
      <p:ext uri="{BB962C8B-B14F-4D97-AF65-F5344CB8AC3E}">
        <p14:creationId xmlns:p14="http://schemas.microsoft.com/office/powerpoint/2010/main" val="4177900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148235</TotalTime>
  <Words>4348</Words>
  <Application>Microsoft Office PowerPoint</Application>
  <PresentationFormat>寬螢幕</PresentationFormat>
  <Paragraphs>497</Paragraphs>
  <Slides>22</Slides>
  <Notes>19</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22</vt:i4>
      </vt:variant>
    </vt:vector>
  </HeadingPairs>
  <TitlesOfParts>
    <vt:vector size="29" baseType="lpstr">
      <vt:lpstr>Bradley Hand</vt:lpstr>
      <vt:lpstr>Kaiti TC</vt:lpstr>
      <vt:lpstr>Arial</vt:lpstr>
      <vt:lpstr>Calibri</vt:lpstr>
      <vt:lpstr>Calibri Light</vt:lpstr>
      <vt:lpstr>Palatino Linotype</vt:lpstr>
      <vt:lpstr>Office Theme</vt:lpstr>
      <vt:lpstr>PowerPoint 簡報</vt:lpstr>
      <vt:lpstr>A Few Heads Up</vt:lpstr>
      <vt:lpstr>Remind– Paper Presentation</vt:lpstr>
      <vt:lpstr>PowerPoint 簡報</vt:lpstr>
      <vt:lpstr>Agenda</vt:lpstr>
      <vt:lpstr>Computer Organization</vt:lpstr>
      <vt:lpstr>Roles of Operating System (OS)</vt:lpstr>
      <vt:lpstr>Roles of Operating System (Count.)</vt:lpstr>
      <vt:lpstr>What is Linux Kernel</vt:lpstr>
      <vt:lpstr>What is Linux Kernel (Count.)</vt:lpstr>
      <vt:lpstr>What is Linux Kernel (Count.)</vt:lpstr>
      <vt:lpstr>How to Trigger/Request Kernel Services</vt:lpstr>
      <vt:lpstr>Put it all together: A High-Level Overview</vt:lpstr>
      <vt:lpstr>Emerging I/O Technologies</vt:lpstr>
      <vt:lpstr>System Trend – Rethinking OS</vt:lpstr>
      <vt:lpstr>Agenda</vt:lpstr>
      <vt:lpstr>Process &amp; Interrupt</vt:lpstr>
      <vt:lpstr>Main Memory Management</vt:lpstr>
      <vt:lpstr>I/O Devices &amp; I/O Systems</vt:lpstr>
      <vt:lpstr>File System</vt:lpstr>
      <vt:lpstr>Applications (Optional)</vt:lpstr>
      <vt:lpstr>Thanks for your attention 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 Ming-Chang</dc:creator>
  <cp:lastModifiedBy>温揚</cp:lastModifiedBy>
  <cp:revision>1273</cp:revision>
  <dcterms:created xsi:type="dcterms:W3CDTF">2017-10-03T14:18:54Z</dcterms:created>
  <dcterms:modified xsi:type="dcterms:W3CDTF">2025-10-29T03:39:00Z</dcterms:modified>
</cp:coreProperties>
</file>